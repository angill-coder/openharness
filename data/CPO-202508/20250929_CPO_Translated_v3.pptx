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8.xml" ContentType="application/vnd.openxmlformats-officedocument.presentationml.notesSlide+xml"/>
  <Override PartName="/ppt/tags/tag70.xml" ContentType="application/vnd.openxmlformats-officedocument.presentationml.tags+xml"/>
  <Override PartName="/ppt/notesSlides/notesSlide9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notesSlides/notesSlide10.xml" ContentType="application/vnd.openxmlformats-officedocument.presentationml.notesSlide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1.xml" ContentType="application/vnd.openxmlformats-officedocument.presentationml.notesSlide+xml"/>
  <Override PartName="/ppt/tags/tag85.xml" ContentType="application/vnd.openxmlformats-officedocument.presentationml.tags+xml"/>
  <Override PartName="/ppt/notesSlides/notesSlide12.xml" ContentType="application/vnd.openxmlformats-officedocument.presentationml.notesSlide+xml"/>
  <Override PartName="/ppt/tags/tag86.xml" ContentType="application/vnd.openxmlformats-officedocument.presentationml.tags+xml"/>
  <Override PartName="/ppt/notesSlides/notesSlide13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4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26.xml" ContentType="application/vnd.openxmlformats-officedocument.presentationml.tags+xml"/>
  <Override PartName="/ppt/notesSlides/notesSlide16.xml" ContentType="application/vnd.openxmlformats-officedocument.presentationml.notesSlide+xml"/>
  <Override PartName="/ppt/tags/tag127.xml" ContentType="application/vnd.openxmlformats-officedocument.presentationml.tags+xml"/>
  <Override PartName="/ppt/notesSlides/notesSlide17.xml" ContentType="application/vnd.openxmlformats-officedocument.presentationml.notesSlide+xml"/>
  <Override PartName="/ppt/tags/tag128.xml" ContentType="application/vnd.openxmlformats-officedocument.presentationml.tags+xml"/>
  <Override PartName="/ppt/notesSlides/notesSlide18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9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1.xml" ContentType="application/vnd.openxmlformats-officedocument.drawingml.chart+xml"/>
  <Override PartName="/ppt/tags/tag192.xml" ContentType="application/vnd.openxmlformats-officedocument.presentationml.tags+xml"/>
  <Override PartName="/ppt/notesSlides/notesSlide22.xml" ContentType="application/vnd.openxmlformats-officedocument.presentationml.notesSlid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93.xml" ContentType="application/vnd.openxmlformats-officedocument.presentationml.tags+xml"/>
  <Override PartName="/ppt/notesSlides/notesSlide23.xml" ContentType="application/vnd.openxmlformats-officedocument.presentationml.notesSlid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notesSlides/notesSlide24.xml" ContentType="application/vnd.openxmlformats-officedocument.presentationml.notesSlide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25.xml" ContentType="application/vnd.openxmlformats-officedocument.presentationml.notesSlide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notesSlides/notesSlide26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224.xml" ContentType="application/vnd.openxmlformats-officedocument.presentationml.tags+xml"/>
  <Override PartName="/ppt/notesSlides/notesSlide27.xml" ContentType="application/vnd.openxmlformats-officedocument.presentationml.notesSlide+xml"/>
  <Override PartName="/ppt/tags/tag225.xml" ContentType="application/vnd.openxmlformats-officedocument.presentationml.tags+xml"/>
  <Override PartName="/ppt/notesSlides/notesSlide28.xml" ContentType="application/vnd.openxmlformats-officedocument.presentationml.notesSlide+xml"/>
  <Override PartName="/ppt/tags/tag2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336" r:id="rId3"/>
    <p:sldId id="386" r:id="rId4"/>
    <p:sldId id="362" r:id="rId5"/>
    <p:sldId id="338" r:id="rId6"/>
    <p:sldId id="332" r:id="rId7"/>
    <p:sldId id="319" r:id="rId8"/>
    <p:sldId id="2147473081" r:id="rId9"/>
    <p:sldId id="317" r:id="rId10"/>
    <p:sldId id="321" r:id="rId11"/>
    <p:sldId id="2147473082" r:id="rId12"/>
    <p:sldId id="2147473078" r:id="rId13"/>
    <p:sldId id="334" r:id="rId14"/>
    <p:sldId id="2147473074" r:id="rId15"/>
    <p:sldId id="320" r:id="rId16"/>
    <p:sldId id="364" r:id="rId17"/>
    <p:sldId id="2147473075" r:id="rId18"/>
    <p:sldId id="326" r:id="rId19"/>
    <p:sldId id="315" r:id="rId20"/>
    <p:sldId id="344" r:id="rId21"/>
    <p:sldId id="342" r:id="rId22"/>
    <p:sldId id="367" r:id="rId23"/>
    <p:sldId id="370" r:id="rId24"/>
    <p:sldId id="372" r:id="rId25"/>
    <p:sldId id="327" r:id="rId26"/>
    <p:sldId id="2147473076" r:id="rId27"/>
    <p:sldId id="328" r:id="rId28"/>
    <p:sldId id="331" r:id="rId29"/>
    <p:sldId id="339" r:id="rId30"/>
    <p:sldId id="363" r:id="rId31"/>
    <p:sldId id="2147473077" r:id="rId32"/>
    <p:sldId id="341" r:id="rId33"/>
    <p:sldId id="322" r:id="rId34"/>
    <p:sldId id="283" r:id="rId35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6"/>
          </p14:sldIdLst>
        </p14:section>
        <p14:section name="1. Why CPO?" id="{200816D2-54B9-45F9-8CDC-D4443BE7A066}">
          <p14:sldIdLst>
            <p14:sldId id="386"/>
            <p14:sldId id="362"/>
          </p14:sldIdLst>
        </p14:section>
        <p14:section name="2. Why optical? Why co-packaged?" id="{9A5BC1CD-E46C-43F3-91AB-DCB40303C4FD}">
          <p14:sldIdLst>
            <p14:sldId id="338"/>
            <p14:sldId id="332"/>
            <p14:sldId id="319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2.2. CPO has constrains; NPO is Needed" id="{1DFC2E5C-5892-407B-8318-9A8FF74D27C9}">
          <p14:sldIdLst>
            <p14:sldId id="2147473082"/>
            <p14:sldId id="2147473078"/>
          </p14:sldIdLst>
        </p14:section>
        <p14:section name="3. Where CPO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75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42"/>
            <p14:sldId id="367"/>
            <p14:sldId id="370"/>
            <p14:sldId id="372"/>
            <p14:sldId id="327"/>
            <p14:sldId id="2147473076"/>
            <p14:sldId id="328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E94D12"/>
    <a:srgbClr val="F2F2F2"/>
    <a:srgbClr val="ECF6FF"/>
    <a:srgbClr val="DDE3F1"/>
    <a:srgbClr val="C1E1FE"/>
    <a:srgbClr val="9ABBFF"/>
    <a:srgbClr val="A6A6A6"/>
    <a:srgbClr val="9A9D9F"/>
    <a:srgbClr val="EBF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02" autoAdjust="0"/>
    <p:restoredTop sz="91262" autoAdjust="0"/>
  </p:normalViewPr>
  <p:slideViewPr>
    <p:cSldViewPr snapToGrid="0">
      <p:cViewPr>
        <p:scale>
          <a:sx n="125" d="100"/>
          <a:sy n="125" d="100"/>
        </p:scale>
        <p:origin x="145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3" d="100"/>
        <a:sy n="8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rgbClr val="C1E1FE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056853854203"/>
          <c:y val="7.6243607624360762E-2"/>
          <c:w val="0.87129403557725849"/>
          <c:h val="0.8470478847047884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303-432B-AD1E-C42EBAE3B62A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03-432B-AD1E-C42EBAE3B6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712247759"/>
        <c:axId val="1"/>
      </c:barChart>
      <c:catAx>
        <c:axId val="17122477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2247759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4775160599571735"/>
          <c:w val="0.72258064516129028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2-4ECB-904A-5DBA6E9A2E6A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11349036402569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752-4ECB-904A-5DBA6E9A2E6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2-4ECB-904A-5DBA6E9A2E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06786015"/>
        <c:axId val="1"/>
      </c:barChart>
      <c:catAx>
        <c:axId val="140678601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40678601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4775160599571735"/>
          <c:w val="0.92817679558011046"/>
          <c:h val="0.7489293361884368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87366167023554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E4-4DFF-955C-D9401872E6C6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19164882226980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BE4-4DFF-955C-D9401872E6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E4-4DFF-955C-D9401872E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81938383"/>
        <c:axId val="1"/>
      </c:barChart>
      <c:catAx>
        <c:axId val="281938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81938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46FF-4627-AD04-29F063A7CAC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6FF-4627-AD04-29F063A7CAC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6FF-4627-AD04-29F063A7CA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FF-4627-AD04-29F063A7C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6137791"/>
        <c:axId val="1"/>
      </c:barChart>
      <c:catAx>
        <c:axId val="7261377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61377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4470616226504874E-2"/>
          <c:y val="7.9325935059597202E-2"/>
          <c:w val="0.86581013561741615"/>
          <c:h val="0.78914919852034526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348-4575-B5CF-1CB658B9D019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348-4575-B5CF-1CB658B9D019}"/>
                </c:ext>
              </c:extLst>
            </c:dLbl>
            <c:dLbl>
              <c:idx val="2"/>
              <c:layout>
                <c:manualLayout>
                  <c:x val="0"/>
                  <c:y val="-4.2745581586518699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80</c:v>
                </c:pt>
                <c:pt idx="1">
                  <c:v>67</c:v>
                </c:pt>
                <c:pt idx="2">
                  <c:v>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7348-4575-B5CF-1CB658B9D019}"/>
            </c:ext>
          </c:extLst>
        </c:ser>
        <c:ser>
          <c:idx val="2"/>
          <c:order val="2"/>
          <c:spPr>
            <a:ln w="19050" cmpd="sng" algn="ctr">
              <a:solidFill>
                <a:schemeClr val="accent1"/>
              </a:solidFill>
              <a:prstDash val="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4268379728765169E-2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7348-4575-B5CF-1CB658B9D019}"/>
                </c:ext>
              </c:extLst>
            </c:dLbl>
            <c:dLbl>
              <c:idx val="1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7348-4575-B5CF-1CB658B9D019}"/>
                </c:ext>
              </c:extLst>
            </c:dLbl>
            <c:dLbl>
              <c:idx val="2"/>
              <c:layout>
                <c:manualLayout>
                  <c:x val="0"/>
                  <c:y val="4.315659679408138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7348-4575-B5CF-1CB658B9D0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Sheet1!$A$4:$C$4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27.500000000000004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7348-4575-B5CF-1CB658B9D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730609828300769E-2"/>
          <c:y val="0.1318622174381055"/>
          <c:w val="0.8099467140319716"/>
          <c:h val="0.736275565123789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36B-4E1A-88B8-6329369F1BAD}"/>
              </c:ext>
            </c:extLst>
          </c:dPt>
          <c:dPt>
            <c:idx val="1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136B-4E1A-88B8-6329369F1BAD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136B-4E1A-88B8-6329369F1BAD}"/>
              </c:ext>
            </c:extLst>
          </c:dPt>
          <c:dLbls>
            <c:dLbl>
              <c:idx val="0"/>
              <c:layout>
                <c:manualLayout>
                  <c:x val="1.9538188277087035E-2"/>
                  <c:y val="-5.920344456404736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36B-4E1A-88B8-6329369F1BAD}"/>
                </c:ext>
              </c:extLst>
            </c:dLbl>
            <c:dLbl>
              <c:idx val="1"/>
              <c:layout>
                <c:manualLayout>
                  <c:x val="-1.6577856719952634E-2"/>
                  <c:y val="9.1496232508073202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36B-4E1A-88B8-6329369F1BAD}"/>
                </c:ext>
              </c:extLst>
            </c:dLbl>
            <c:dLbl>
              <c:idx val="2"/>
              <c:layout>
                <c:manualLayout>
                  <c:x val="-1.0657193605683837E-2"/>
                  <c:y val="-3.9289558665231435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36B-4E1A-88B8-6329369F1B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39.473684210526315</c:v>
                </c:pt>
                <c:pt idx="1">
                  <c:v>52.631578947368418</c:v>
                </c:pt>
                <c:pt idx="2">
                  <c:v>7.8947368421052628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36B-4E1A-88B8-6329369F1B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Sheet1!$B$1:$B$19</c:f>
              <c:numCache>
                <c:formatCode>General</c:formatCode>
                <c:ptCount val="19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C7C-4E5E-A622-D699D6F25D33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  <c:pt idx="10">
                  <c:v>19723</c:v>
                </c:pt>
                <c:pt idx="11">
                  <c:v>19358</c:v>
                </c:pt>
              </c:numCache>
            </c:numRef>
          </c:xVal>
          <c:yVal>
            <c:numRef>
              <c:f>Sheet1!$C$1:$C$19</c:f>
              <c:numCache>
                <c:formatCode>General</c:formatCode>
                <c:ptCount val="19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  <c:pt idx="10">
                  <c:v>177</c:v>
                </c:pt>
                <c:pt idx="11">
                  <c:v>51.2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C7C-4E5E-A622-D699D6F25D33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3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C7C-4E5E-A622-D699D6F25D33}"/>
              </c:ext>
            </c:extLst>
          </c:dPt>
          <c:xVal>
            <c:numRef>
              <c:f>Sheet1!$A$1:$A$19</c:f>
              <c:numCache>
                <c:formatCode>General</c:formatCode>
                <c:ptCount val="19"/>
                <c:pt idx="12">
                  <c:v>19723</c:v>
                </c:pt>
                <c:pt idx="13">
                  <c:v>20089</c:v>
                </c:pt>
                <c:pt idx="14">
                  <c:v>20089</c:v>
                </c:pt>
                <c:pt idx="15">
                  <c:v>19723</c:v>
                </c:pt>
                <c:pt idx="16">
                  <c:v>18993</c:v>
                </c:pt>
              </c:numCache>
            </c:numRef>
          </c:xVal>
          <c:yVal>
            <c:numRef>
              <c:f>Sheet1!$D$1:$D$19</c:f>
              <c:numCache>
                <c:formatCode>General</c:formatCode>
                <c:ptCount val="19"/>
                <c:pt idx="12">
                  <c:v>2615</c:v>
                </c:pt>
                <c:pt idx="13">
                  <c:v>5000</c:v>
                </c:pt>
                <c:pt idx="14">
                  <c:v>4600</c:v>
                </c:pt>
                <c:pt idx="15">
                  <c:v>1835</c:v>
                </c:pt>
                <c:pt idx="16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C7C-4E5E-A622-D699D6F25D33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Sheet1!$A$1:$A$19</c:f>
              <c:numCache>
                <c:formatCode>General</c:formatCode>
                <c:ptCount val="19"/>
                <c:pt idx="17">
                  <c:v>20089</c:v>
                </c:pt>
                <c:pt idx="18">
                  <c:v>19358</c:v>
                </c:pt>
              </c:numCache>
            </c:numRef>
          </c:xVal>
          <c:yVal>
            <c:numRef>
              <c:f>Sheet1!$E$1:$E$19</c:f>
              <c:numCache>
                <c:formatCode>General</c:formatCode>
                <c:ptCount val="19"/>
                <c:pt idx="17">
                  <c:v>800</c:v>
                </c:pt>
                <c:pt idx="18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C7C-4E5E-A622-D699D6F25D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991087"/>
        <c:axId val="1"/>
      </c:scatterChart>
      <c:valAx>
        <c:axId val="103599108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599108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7668182257971086E-2"/>
          <c:y val="0.11551276055928993"/>
          <c:w val="0.80432110171008009"/>
          <c:h val="0.8176951071850392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17-4999-A788-42C823432753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044761443574113E-2"/>
                  <c:y val="0.2383975604898250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317-4999-A788-42C823432753}"/>
                </c:ext>
              </c:extLst>
            </c:dLbl>
            <c:dLbl>
              <c:idx val="1"/>
              <c:layout>
                <c:manualLayout>
                  <c:x val="2.4068193831947745E-2"/>
                  <c:y val="0.2209549253792847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317-4999-A788-42C823432753}"/>
                </c:ext>
              </c:extLst>
            </c:dLbl>
            <c:dLbl>
              <c:idx val="2"/>
              <c:layout>
                <c:manualLayout>
                  <c:x val="3.0680387931092332E-2"/>
                  <c:y val="0.167166181268574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317-4999-A788-42C82343275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317-4999-A788-42C8234327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098411808"/>
        <c:crosses val="max"/>
        <c:crossBetween val="between"/>
        <c:minorUnit val="0.1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8.1327906500388486E-2"/>
          <c:y val="0.8780523639706429"/>
          <c:w val="0.80693091620705704"/>
          <c:h val="0.121947742470450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3899-E58D-4544-83CD-A08957EFA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9D700C-F719-AAD4-3EB4-44C2DEA53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AFFDF1-2B37-95BA-C7CF-B4F54C1BA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D15356-A1D5-F2E8-1B1E-506F6CD91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11571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1F68-11FD-1292-EC7D-18A6CDC7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8CD9AD-DE28-1BFD-E2F7-7F627DBB5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8FC3CB-D7FE-3D98-3487-48DE61C97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7E4A2A-D3F8-78B6-DE17-4661656A8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164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A656E-EAEA-8D4A-1CED-12B29598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475089-A630-7400-0A7F-2EDDD8BE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7CFBF1-A7DD-97D5-1C46-06E719797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1BC9FA-B046-79AD-EAB1-CE96EA49F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132800-FE64-4159-8F62-EF1F0A4E3E2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850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83AB-BA7C-DD8C-C418-E95DBC348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70EFF-4685-F733-FC4D-715EFE659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17D006D-3A81-EE25-94C2-12CC7BC30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761D6F-24C1-86CE-7D65-53B8CB893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690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6449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7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9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13.xml"/><Relationship Id="rId21" Type="http://schemas.openxmlformats.org/officeDocument/2006/relationships/chart" Target="../charts/chart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8.emf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oleObject" Target="../embeddings/oleObject6.bin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29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.xml"/><Relationship Id="rId10" Type="http://schemas.openxmlformats.org/officeDocument/2006/relationships/chart" Target="../charts/chart3.xml"/><Relationship Id="rId4" Type="http://schemas.openxmlformats.org/officeDocument/2006/relationships/tags" Target="../tags/tag30.xml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4.xml"/><Relationship Id="rId21" Type="http://schemas.openxmlformats.org/officeDocument/2006/relationships/image" Target="../media/image8.emf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20" Type="http://schemas.openxmlformats.org/officeDocument/2006/relationships/oleObject" Target="../embeddings/oleObject8.bin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19" Type="http://schemas.openxmlformats.org/officeDocument/2006/relationships/notesSlide" Target="../notesSlides/notesSlide7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Relationship Id="rId22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tags" Target="../tags/tag61.xml"/><Relationship Id="rId18" Type="http://schemas.openxmlformats.org/officeDocument/2006/relationships/tags" Target="../tags/tag66.xml"/><Relationship Id="rId26" Type="http://schemas.openxmlformats.org/officeDocument/2006/relationships/image" Target="../media/image19.png"/><Relationship Id="rId3" Type="http://schemas.openxmlformats.org/officeDocument/2006/relationships/tags" Target="../tags/tag51.xml"/><Relationship Id="rId21" Type="http://schemas.openxmlformats.org/officeDocument/2006/relationships/tags" Target="../tags/tag69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17" Type="http://schemas.openxmlformats.org/officeDocument/2006/relationships/tags" Target="../tags/tag65.xml"/><Relationship Id="rId25" Type="http://schemas.openxmlformats.org/officeDocument/2006/relationships/image" Target="../media/image18.emf"/><Relationship Id="rId2" Type="http://schemas.openxmlformats.org/officeDocument/2006/relationships/tags" Target="../tags/tag50.xml"/><Relationship Id="rId16" Type="http://schemas.openxmlformats.org/officeDocument/2006/relationships/tags" Target="../tags/tag64.xml"/><Relationship Id="rId20" Type="http://schemas.openxmlformats.org/officeDocument/2006/relationships/tags" Target="../tags/tag68.xml"/><Relationship Id="rId29" Type="http://schemas.openxmlformats.org/officeDocument/2006/relationships/image" Target="../media/image22.png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24" Type="http://schemas.openxmlformats.org/officeDocument/2006/relationships/oleObject" Target="../embeddings/oleObject9.bin"/><Relationship Id="rId5" Type="http://schemas.openxmlformats.org/officeDocument/2006/relationships/tags" Target="../tags/tag53.xml"/><Relationship Id="rId15" Type="http://schemas.openxmlformats.org/officeDocument/2006/relationships/tags" Target="../tags/tag63.xml"/><Relationship Id="rId23" Type="http://schemas.openxmlformats.org/officeDocument/2006/relationships/notesSlide" Target="../notesSlides/notesSlide8.xml"/><Relationship Id="rId28" Type="http://schemas.openxmlformats.org/officeDocument/2006/relationships/image" Target="../media/image21.png"/><Relationship Id="rId10" Type="http://schemas.openxmlformats.org/officeDocument/2006/relationships/tags" Target="../tags/tag58.xml"/><Relationship Id="rId19" Type="http://schemas.openxmlformats.org/officeDocument/2006/relationships/tags" Target="../tags/tag67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tags" Target="../tags/tag62.xml"/><Relationship Id="rId22" Type="http://schemas.openxmlformats.org/officeDocument/2006/relationships/slideLayout" Target="../slideLayouts/slideLayout2.xml"/><Relationship Id="rId27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9.png"/><Relationship Id="rId3" Type="http://schemas.openxmlformats.org/officeDocument/2006/relationships/tags" Target="../tags/tag73.xml"/><Relationship Id="rId7" Type="http://schemas.openxmlformats.org/officeDocument/2006/relationships/notesSlide" Target="../notesSlides/notesSlide10.xml"/><Relationship Id="rId12" Type="http://schemas.openxmlformats.org/officeDocument/2006/relationships/image" Target="../media/image25.pn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5" Type="http://schemas.openxmlformats.org/officeDocument/2006/relationships/tags" Target="../tags/tag75.xml"/><Relationship Id="rId1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tags" Target="../tags/tag74.xml"/><Relationship Id="rId9" Type="http://schemas.openxmlformats.org/officeDocument/2006/relationships/image" Target="../media/image18.emf"/><Relationship Id="rId1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image" Target="../media/image18.emf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8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9" Type="http://schemas.openxmlformats.org/officeDocument/2006/relationships/tags" Target="../tags/tag8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notesSlide" Target="../notesSlides/notesSlide13.xml"/><Relationship Id="rId7" Type="http://schemas.microsoft.com/office/2007/relationships/hdphoto" Target="../media/hdphoto2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6" Type="http://schemas.openxmlformats.org/officeDocument/2006/relationships/image" Target="../media/image26.png"/><Relationship Id="rId11" Type="http://schemas.microsoft.com/office/2007/relationships/hdphoto" Target="../media/hdphoto4.wdp"/><Relationship Id="rId5" Type="http://schemas.openxmlformats.org/officeDocument/2006/relationships/image" Target="../media/image8.emf"/><Relationship Id="rId10" Type="http://schemas.openxmlformats.org/officeDocument/2006/relationships/image" Target="../media/image28.png"/><Relationship Id="rId4" Type="http://schemas.openxmlformats.org/officeDocument/2006/relationships/oleObject" Target="../embeddings/oleObject14.bin"/><Relationship Id="rId9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oleObject" Target="../embeddings/oleObject15.bin"/><Relationship Id="rId7" Type="http://schemas.microsoft.com/office/2007/relationships/hdphoto" Target="../media/hdphoto5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Relationship Id="rId6" Type="http://schemas.openxmlformats.org/officeDocument/2006/relationships/image" Target="../media/image29.png"/><Relationship Id="rId11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31.png"/><Relationship Id="rId4" Type="http://schemas.openxmlformats.org/officeDocument/2006/relationships/image" Target="../media/image8.emf"/><Relationship Id="rId9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35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0.png"/><Relationship Id="rId12" Type="http://schemas.openxmlformats.org/officeDocument/2006/relationships/image" Target="../media/image3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Relationship Id="rId6" Type="http://schemas.openxmlformats.org/officeDocument/2006/relationships/image" Target="../media/image9.png"/><Relationship Id="rId11" Type="http://schemas.openxmlformats.org/officeDocument/2006/relationships/image" Target="../media/image33.png"/><Relationship Id="rId5" Type="http://schemas.openxmlformats.org/officeDocument/2006/relationships/image" Target="../media/image8.emf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6.png"/><Relationship Id="rId1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101.xml"/><Relationship Id="rId18" Type="http://schemas.openxmlformats.org/officeDocument/2006/relationships/tags" Target="../tags/tag106.xml"/><Relationship Id="rId26" Type="http://schemas.openxmlformats.org/officeDocument/2006/relationships/tags" Target="../tags/tag114.xml"/><Relationship Id="rId39" Type="http://schemas.openxmlformats.org/officeDocument/2006/relationships/notesSlide" Target="../notesSlides/notesSlide15.xml"/><Relationship Id="rId21" Type="http://schemas.openxmlformats.org/officeDocument/2006/relationships/tags" Target="../tags/tag109.xml"/><Relationship Id="rId34" Type="http://schemas.openxmlformats.org/officeDocument/2006/relationships/tags" Target="../tags/tag122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6" Type="http://schemas.openxmlformats.org/officeDocument/2006/relationships/tags" Target="../tags/tag104.xml"/><Relationship Id="rId29" Type="http://schemas.openxmlformats.org/officeDocument/2006/relationships/tags" Target="../tags/tag117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tags" Target="../tags/tag99.xml"/><Relationship Id="rId24" Type="http://schemas.openxmlformats.org/officeDocument/2006/relationships/tags" Target="../tags/tag112.xml"/><Relationship Id="rId32" Type="http://schemas.openxmlformats.org/officeDocument/2006/relationships/tags" Target="../tags/tag120.xml"/><Relationship Id="rId37" Type="http://schemas.openxmlformats.org/officeDocument/2006/relationships/tags" Target="../tags/tag125.xml"/><Relationship Id="rId40" Type="http://schemas.openxmlformats.org/officeDocument/2006/relationships/oleObject" Target="../embeddings/oleObject17.bin"/><Relationship Id="rId45" Type="http://schemas.openxmlformats.org/officeDocument/2006/relationships/image" Target="../media/image38.png"/><Relationship Id="rId5" Type="http://schemas.openxmlformats.org/officeDocument/2006/relationships/tags" Target="../tags/tag93.xml"/><Relationship Id="rId15" Type="http://schemas.openxmlformats.org/officeDocument/2006/relationships/tags" Target="../tags/tag103.xml"/><Relationship Id="rId23" Type="http://schemas.openxmlformats.org/officeDocument/2006/relationships/tags" Target="../tags/tag111.xml"/><Relationship Id="rId28" Type="http://schemas.openxmlformats.org/officeDocument/2006/relationships/tags" Target="../tags/tag116.xml"/><Relationship Id="rId36" Type="http://schemas.openxmlformats.org/officeDocument/2006/relationships/tags" Target="../tags/tag124.xml"/><Relationship Id="rId10" Type="http://schemas.openxmlformats.org/officeDocument/2006/relationships/tags" Target="../tags/tag98.xml"/><Relationship Id="rId19" Type="http://schemas.openxmlformats.org/officeDocument/2006/relationships/tags" Target="../tags/tag107.xml"/><Relationship Id="rId31" Type="http://schemas.openxmlformats.org/officeDocument/2006/relationships/tags" Target="../tags/tag119.xml"/><Relationship Id="rId44" Type="http://schemas.openxmlformats.org/officeDocument/2006/relationships/chart" Target="../charts/chart7.xml"/><Relationship Id="rId4" Type="http://schemas.openxmlformats.org/officeDocument/2006/relationships/tags" Target="../tags/tag92.xml"/><Relationship Id="rId9" Type="http://schemas.openxmlformats.org/officeDocument/2006/relationships/tags" Target="../tags/tag97.xml"/><Relationship Id="rId14" Type="http://schemas.openxmlformats.org/officeDocument/2006/relationships/tags" Target="../tags/tag102.xml"/><Relationship Id="rId22" Type="http://schemas.openxmlformats.org/officeDocument/2006/relationships/tags" Target="../tags/tag110.xml"/><Relationship Id="rId27" Type="http://schemas.openxmlformats.org/officeDocument/2006/relationships/tags" Target="../tags/tag115.xml"/><Relationship Id="rId30" Type="http://schemas.openxmlformats.org/officeDocument/2006/relationships/tags" Target="../tags/tag118.xml"/><Relationship Id="rId35" Type="http://schemas.openxmlformats.org/officeDocument/2006/relationships/tags" Target="../tags/tag123.xml"/><Relationship Id="rId43" Type="http://schemas.openxmlformats.org/officeDocument/2006/relationships/chart" Target="../charts/chart6.xml"/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12" Type="http://schemas.openxmlformats.org/officeDocument/2006/relationships/tags" Target="../tags/tag100.xml"/><Relationship Id="rId17" Type="http://schemas.openxmlformats.org/officeDocument/2006/relationships/tags" Target="../tags/tag105.xml"/><Relationship Id="rId25" Type="http://schemas.openxmlformats.org/officeDocument/2006/relationships/tags" Target="../tags/tag113.xml"/><Relationship Id="rId33" Type="http://schemas.openxmlformats.org/officeDocument/2006/relationships/tags" Target="../tags/tag121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108.xml"/><Relationship Id="rId41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40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Relationship Id="rId6" Type="http://schemas.openxmlformats.org/officeDocument/2006/relationships/image" Target="../media/image3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2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notesSlide" Target="../notesSlides/notesSlide17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Relationship Id="rId6" Type="http://schemas.openxmlformats.org/officeDocument/2006/relationships/image" Target="../media/image43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46.png"/><Relationship Id="rId4" Type="http://schemas.openxmlformats.org/officeDocument/2006/relationships/oleObject" Target="../embeddings/oleObject19.bin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2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47.png"/><Relationship Id="rId12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Relationship Id="rId6" Type="http://schemas.openxmlformats.org/officeDocument/2006/relationships/image" Target="../media/image19.png"/><Relationship Id="rId11" Type="http://schemas.openxmlformats.org/officeDocument/2006/relationships/image" Target="../media/image50.png"/><Relationship Id="rId5" Type="http://schemas.openxmlformats.org/officeDocument/2006/relationships/image" Target="../media/image8.emf"/><Relationship Id="rId10" Type="http://schemas.openxmlformats.org/officeDocument/2006/relationships/image" Target="../media/image49.png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4.png"/><Relationship Id="rId1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21" Type="http://schemas.openxmlformats.org/officeDocument/2006/relationships/image" Target="../media/image62.png"/><Relationship Id="rId42" Type="http://schemas.openxmlformats.org/officeDocument/2006/relationships/image" Target="../media/image31.png"/><Relationship Id="rId47" Type="http://schemas.openxmlformats.org/officeDocument/2006/relationships/image" Target="../media/image77.png"/><Relationship Id="rId63" Type="http://schemas.microsoft.com/office/2007/relationships/hdphoto" Target="../media/hdphoto29.wdp"/><Relationship Id="rId68" Type="http://schemas.openxmlformats.org/officeDocument/2006/relationships/image" Target="../media/image86.png"/><Relationship Id="rId16" Type="http://schemas.openxmlformats.org/officeDocument/2006/relationships/image" Target="../media/image59.png"/><Relationship Id="rId11" Type="http://schemas.microsoft.com/office/2007/relationships/hdphoto" Target="../media/hdphoto12.wdp"/><Relationship Id="rId32" Type="http://schemas.openxmlformats.org/officeDocument/2006/relationships/image" Target="../media/image69.png"/><Relationship Id="rId37" Type="http://schemas.openxmlformats.org/officeDocument/2006/relationships/image" Target="../media/image72.png"/><Relationship Id="rId53" Type="http://schemas.openxmlformats.org/officeDocument/2006/relationships/image" Target="../media/image30.png"/><Relationship Id="rId58" Type="http://schemas.openxmlformats.org/officeDocument/2006/relationships/image" Target="../media/image81.png"/><Relationship Id="rId74" Type="http://schemas.microsoft.com/office/2007/relationships/hdphoto" Target="../media/hdphoto33.wdp"/><Relationship Id="rId79" Type="http://schemas.openxmlformats.org/officeDocument/2006/relationships/image" Target="../media/image92.png"/><Relationship Id="rId5" Type="http://schemas.openxmlformats.org/officeDocument/2006/relationships/image" Target="../media/image53.png"/><Relationship Id="rId61" Type="http://schemas.microsoft.com/office/2007/relationships/hdphoto" Target="../media/hdphoto28.wdp"/><Relationship Id="rId82" Type="http://schemas.microsoft.com/office/2007/relationships/hdphoto" Target="../media/hdphoto37.wdp"/><Relationship Id="rId19" Type="http://schemas.openxmlformats.org/officeDocument/2006/relationships/image" Target="../media/image20.png"/><Relationship Id="rId14" Type="http://schemas.openxmlformats.org/officeDocument/2006/relationships/image" Target="../media/image58.png"/><Relationship Id="rId22" Type="http://schemas.openxmlformats.org/officeDocument/2006/relationships/image" Target="../media/image63.png"/><Relationship Id="rId27" Type="http://schemas.openxmlformats.org/officeDocument/2006/relationships/image" Target="../media/image66.png"/><Relationship Id="rId30" Type="http://schemas.openxmlformats.org/officeDocument/2006/relationships/image" Target="../media/image68.png"/><Relationship Id="rId35" Type="http://schemas.microsoft.com/office/2007/relationships/hdphoto" Target="../media/hdphoto20.wdp"/><Relationship Id="rId43" Type="http://schemas.openxmlformats.org/officeDocument/2006/relationships/image" Target="../media/image75.png"/><Relationship Id="rId48" Type="http://schemas.microsoft.com/office/2007/relationships/hdphoto" Target="../media/hdphoto24.wdp"/><Relationship Id="rId56" Type="http://schemas.microsoft.com/office/2007/relationships/hdphoto" Target="../media/hdphoto26.wdp"/><Relationship Id="rId64" Type="http://schemas.openxmlformats.org/officeDocument/2006/relationships/image" Target="../media/image84.png"/><Relationship Id="rId69" Type="http://schemas.microsoft.com/office/2007/relationships/hdphoto" Target="../media/hdphoto32.wdp"/><Relationship Id="rId77" Type="http://schemas.openxmlformats.org/officeDocument/2006/relationships/image" Target="../media/image91.png"/><Relationship Id="rId8" Type="http://schemas.openxmlformats.org/officeDocument/2006/relationships/image" Target="../media/image55.png"/><Relationship Id="rId51" Type="http://schemas.openxmlformats.org/officeDocument/2006/relationships/image" Target="../media/image29.png"/><Relationship Id="rId72" Type="http://schemas.openxmlformats.org/officeDocument/2006/relationships/image" Target="../media/image88.png"/><Relationship Id="rId80" Type="http://schemas.microsoft.com/office/2007/relationships/hdphoto" Target="../media/hdphoto36.wdp"/><Relationship Id="rId3" Type="http://schemas.openxmlformats.org/officeDocument/2006/relationships/oleObject" Target="../embeddings/oleObject21.bin"/><Relationship Id="rId12" Type="http://schemas.openxmlformats.org/officeDocument/2006/relationships/image" Target="../media/image57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3.png"/><Relationship Id="rId46" Type="http://schemas.microsoft.com/office/2007/relationships/hdphoto" Target="../media/hdphoto23.wdp"/><Relationship Id="rId59" Type="http://schemas.microsoft.com/office/2007/relationships/hdphoto" Target="../media/hdphoto27.wdp"/><Relationship Id="rId67" Type="http://schemas.microsoft.com/office/2007/relationships/hdphoto" Target="../media/hdphoto31.wdp"/><Relationship Id="rId20" Type="http://schemas.openxmlformats.org/officeDocument/2006/relationships/image" Target="../media/image61.png"/><Relationship Id="rId41" Type="http://schemas.microsoft.com/office/2007/relationships/hdphoto" Target="../media/hdphoto21.wdp"/><Relationship Id="rId54" Type="http://schemas.microsoft.com/office/2007/relationships/hdphoto" Target="../media/hdphoto6.wdp"/><Relationship Id="rId62" Type="http://schemas.openxmlformats.org/officeDocument/2006/relationships/image" Target="../media/image83.png"/><Relationship Id="rId70" Type="http://schemas.openxmlformats.org/officeDocument/2006/relationships/image" Target="../media/image47.png"/><Relationship Id="rId75" Type="http://schemas.openxmlformats.org/officeDocument/2006/relationships/image" Target="../media/image90.png"/><Relationship Id="rId83" Type="http://schemas.openxmlformats.org/officeDocument/2006/relationships/image" Target="../media/image94.png"/><Relationship Id="rId1" Type="http://schemas.openxmlformats.org/officeDocument/2006/relationships/tags" Target="../tags/tag129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1.png"/><Relationship Id="rId49" Type="http://schemas.openxmlformats.org/officeDocument/2006/relationships/image" Target="../media/image78.png"/><Relationship Id="rId57" Type="http://schemas.openxmlformats.org/officeDocument/2006/relationships/image" Target="../media/image80.png"/><Relationship Id="rId10" Type="http://schemas.openxmlformats.org/officeDocument/2006/relationships/image" Target="../media/image56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5.wdp"/><Relationship Id="rId60" Type="http://schemas.openxmlformats.org/officeDocument/2006/relationships/image" Target="../media/image82.png"/><Relationship Id="rId65" Type="http://schemas.microsoft.com/office/2007/relationships/hdphoto" Target="../media/hdphoto30.wdp"/><Relationship Id="rId73" Type="http://schemas.openxmlformats.org/officeDocument/2006/relationships/image" Target="../media/image89.png"/><Relationship Id="rId78" Type="http://schemas.microsoft.com/office/2007/relationships/hdphoto" Target="../media/hdphoto35.wdp"/><Relationship Id="rId81" Type="http://schemas.openxmlformats.org/officeDocument/2006/relationships/image" Target="../media/image93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19.png"/><Relationship Id="rId18" Type="http://schemas.openxmlformats.org/officeDocument/2006/relationships/image" Target="../media/image60.png"/><Relationship Id="rId39" Type="http://schemas.openxmlformats.org/officeDocument/2006/relationships/image" Target="../media/image49.png"/><Relationship Id="rId34" Type="http://schemas.openxmlformats.org/officeDocument/2006/relationships/image" Target="../media/image70.png"/><Relationship Id="rId50" Type="http://schemas.microsoft.com/office/2007/relationships/hdphoto" Target="../media/hdphoto25.wdp"/><Relationship Id="rId55" Type="http://schemas.openxmlformats.org/officeDocument/2006/relationships/image" Target="../media/image79.png"/><Relationship Id="rId76" Type="http://schemas.microsoft.com/office/2007/relationships/hdphoto" Target="../media/hdphoto34.wdp"/><Relationship Id="rId7" Type="http://schemas.openxmlformats.org/officeDocument/2006/relationships/image" Target="../media/image54.png"/><Relationship Id="rId71" Type="http://schemas.openxmlformats.org/officeDocument/2006/relationships/image" Target="../media/image87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7.png"/><Relationship Id="rId24" Type="http://schemas.openxmlformats.org/officeDocument/2006/relationships/image" Target="../media/image64.png"/><Relationship Id="rId40" Type="http://schemas.openxmlformats.org/officeDocument/2006/relationships/image" Target="../media/image74.png"/><Relationship Id="rId45" Type="http://schemas.openxmlformats.org/officeDocument/2006/relationships/image" Target="../media/image76.png"/><Relationship Id="rId66" Type="http://schemas.openxmlformats.org/officeDocument/2006/relationships/image" Target="../media/image8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9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5.png"/><Relationship Id="rId18" Type="http://schemas.openxmlformats.org/officeDocument/2006/relationships/image" Target="../media/image97.png"/><Relationship Id="rId26" Type="http://schemas.openxmlformats.org/officeDocument/2006/relationships/image" Target="../media/image78.png"/><Relationship Id="rId3" Type="http://schemas.openxmlformats.org/officeDocument/2006/relationships/tags" Target="../tags/tag133.xml"/><Relationship Id="rId21" Type="http://schemas.microsoft.com/office/2007/relationships/hdphoto" Target="../media/hdphoto39.wdp"/><Relationship Id="rId7" Type="http://schemas.openxmlformats.org/officeDocument/2006/relationships/image" Target="../media/image49.png"/><Relationship Id="rId12" Type="http://schemas.openxmlformats.org/officeDocument/2006/relationships/image" Target="../media/image57.png"/><Relationship Id="rId17" Type="http://schemas.openxmlformats.org/officeDocument/2006/relationships/image" Target="../media/image31.png"/><Relationship Id="rId25" Type="http://schemas.openxmlformats.org/officeDocument/2006/relationships/image" Target="../media/image99.png"/><Relationship Id="rId2" Type="http://schemas.openxmlformats.org/officeDocument/2006/relationships/tags" Target="../tags/tag132.xml"/><Relationship Id="rId16" Type="http://schemas.microsoft.com/office/2007/relationships/hdphoto" Target="../media/hdphoto23.wdp"/><Relationship Id="rId20" Type="http://schemas.openxmlformats.org/officeDocument/2006/relationships/image" Target="../media/image98.png"/><Relationship Id="rId1" Type="http://schemas.openxmlformats.org/officeDocument/2006/relationships/tags" Target="../tags/tag131.xml"/><Relationship Id="rId6" Type="http://schemas.openxmlformats.org/officeDocument/2006/relationships/image" Target="../media/image18.emf"/><Relationship Id="rId11" Type="http://schemas.openxmlformats.org/officeDocument/2006/relationships/image" Target="../media/image19.png"/><Relationship Id="rId24" Type="http://schemas.openxmlformats.org/officeDocument/2006/relationships/image" Target="../media/image71.png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76.png"/><Relationship Id="rId23" Type="http://schemas.microsoft.com/office/2007/relationships/hdphoto" Target="../media/hdphoto34.wdp"/><Relationship Id="rId10" Type="http://schemas.openxmlformats.org/officeDocument/2006/relationships/image" Target="../media/image87.png"/><Relationship Id="rId19" Type="http://schemas.microsoft.com/office/2007/relationships/hdphoto" Target="../media/hdphoto38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6.png"/><Relationship Id="rId14" Type="http://schemas.microsoft.com/office/2007/relationships/hdphoto" Target="../media/hdphoto22.wdp"/><Relationship Id="rId22" Type="http://schemas.openxmlformats.org/officeDocument/2006/relationships/image" Target="../media/image90.png"/><Relationship Id="rId27" Type="http://schemas.microsoft.com/office/2007/relationships/hdphoto" Target="../media/hdphoto25.wdp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41.xml"/><Relationship Id="rId13" Type="http://schemas.openxmlformats.org/officeDocument/2006/relationships/tags" Target="../tags/tag146.xml"/><Relationship Id="rId18" Type="http://schemas.openxmlformats.org/officeDocument/2006/relationships/chart" Target="../charts/chart9.xml"/><Relationship Id="rId3" Type="http://schemas.openxmlformats.org/officeDocument/2006/relationships/tags" Target="../tags/tag136.xml"/><Relationship Id="rId7" Type="http://schemas.openxmlformats.org/officeDocument/2006/relationships/tags" Target="../tags/tag140.xml"/><Relationship Id="rId12" Type="http://schemas.openxmlformats.org/officeDocument/2006/relationships/tags" Target="../tags/tag145.xml"/><Relationship Id="rId17" Type="http://schemas.openxmlformats.org/officeDocument/2006/relationships/image" Target="../media/image18.emf"/><Relationship Id="rId2" Type="http://schemas.openxmlformats.org/officeDocument/2006/relationships/tags" Target="../tags/tag135.xml"/><Relationship Id="rId16" Type="http://schemas.openxmlformats.org/officeDocument/2006/relationships/oleObject" Target="../embeddings/oleObject24.bin"/><Relationship Id="rId1" Type="http://schemas.openxmlformats.org/officeDocument/2006/relationships/tags" Target="../tags/tag134.xml"/><Relationship Id="rId6" Type="http://schemas.openxmlformats.org/officeDocument/2006/relationships/tags" Target="../tags/tag139.xml"/><Relationship Id="rId11" Type="http://schemas.openxmlformats.org/officeDocument/2006/relationships/tags" Target="../tags/tag144.xml"/><Relationship Id="rId5" Type="http://schemas.openxmlformats.org/officeDocument/2006/relationships/tags" Target="../tags/tag138.xml"/><Relationship Id="rId15" Type="http://schemas.openxmlformats.org/officeDocument/2006/relationships/notesSlide" Target="../notesSlides/notesSlide20.xml"/><Relationship Id="rId10" Type="http://schemas.openxmlformats.org/officeDocument/2006/relationships/tags" Target="../tags/tag143.xml"/><Relationship Id="rId19" Type="http://schemas.openxmlformats.org/officeDocument/2006/relationships/chart" Target="../charts/chart10.xml"/><Relationship Id="rId4" Type="http://schemas.openxmlformats.org/officeDocument/2006/relationships/tags" Target="../tags/tag137.xml"/><Relationship Id="rId9" Type="http://schemas.openxmlformats.org/officeDocument/2006/relationships/tags" Target="../tags/tag142.xml"/><Relationship Id="rId1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tags" Target="../tags/tag159.xml"/><Relationship Id="rId18" Type="http://schemas.openxmlformats.org/officeDocument/2006/relationships/tags" Target="../tags/tag164.xml"/><Relationship Id="rId26" Type="http://schemas.openxmlformats.org/officeDocument/2006/relationships/tags" Target="../tags/tag172.xml"/><Relationship Id="rId39" Type="http://schemas.openxmlformats.org/officeDocument/2006/relationships/tags" Target="../tags/tag185.xml"/><Relationship Id="rId21" Type="http://schemas.openxmlformats.org/officeDocument/2006/relationships/tags" Target="../tags/tag167.xml"/><Relationship Id="rId34" Type="http://schemas.openxmlformats.org/officeDocument/2006/relationships/tags" Target="../tags/tag180.xml"/><Relationship Id="rId42" Type="http://schemas.openxmlformats.org/officeDocument/2006/relationships/tags" Target="../tags/tag188.xml"/><Relationship Id="rId47" Type="http://schemas.openxmlformats.org/officeDocument/2006/relationships/notesSlide" Target="../notesSlides/notesSlide21.xml"/><Relationship Id="rId50" Type="http://schemas.openxmlformats.org/officeDocument/2006/relationships/chart" Target="../charts/chart11.xml"/><Relationship Id="rId7" Type="http://schemas.openxmlformats.org/officeDocument/2006/relationships/tags" Target="../tags/tag153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29" Type="http://schemas.openxmlformats.org/officeDocument/2006/relationships/tags" Target="../tags/tag175.xml"/><Relationship Id="rId11" Type="http://schemas.openxmlformats.org/officeDocument/2006/relationships/tags" Target="../tags/tag157.xml"/><Relationship Id="rId24" Type="http://schemas.openxmlformats.org/officeDocument/2006/relationships/tags" Target="../tags/tag170.xml"/><Relationship Id="rId32" Type="http://schemas.openxmlformats.org/officeDocument/2006/relationships/tags" Target="../tags/tag178.xml"/><Relationship Id="rId37" Type="http://schemas.openxmlformats.org/officeDocument/2006/relationships/tags" Target="../tags/tag183.xml"/><Relationship Id="rId40" Type="http://schemas.openxmlformats.org/officeDocument/2006/relationships/tags" Target="../tags/tag186.xml"/><Relationship Id="rId45" Type="http://schemas.openxmlformats.org/officeDocument/2006/relationships/tags" Target="../tags/tag191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23" Type="http://schemas.openxmlformats.org/officeDocument/2006/relationships/tags" Target="../tags/tag169.xml"/><Relationship Id="rId28" Type="http://schemas.openxmlformats.org/officeDocument/2006/relationships/tags" Target="../tags/tag174.xml"/><Relationship Id="rId36" Type="http://schemas.openxmlformats.org/officeDocument/2006/relationships/tags" Target="../tags/tag182.xml"/><Relationship Id="rId49" Type="http://schemas.openxmlformats.org/officeDocument/2006/relationships/image" Target="../media/image18.emf"/><Relationship Id="rId10" Type="http://schemas.openxmlformats.org/officeDocument/2006/relationships/tags" Target="../tags/tag156.xml"/><Relationship Id="rId19" Type="http://schemas.openxmlformats.org/officeDocument/2006/relationships/tags" Target="../tags/tag165.xml"/><Relationship Id="rId31" Type="http://schemas.openxmlformats.org/officeDocument/2006/relationships/tags" Target="../tags/tag177.xml"/><Relationship Id="rId44" Type="http://schemas.openxmlformats.org/officeDocument/2006/relationships/tags" Target="../tags/tag190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Relationship Id="rId22" Type="http://schemas.openxmlformats.org/officeDocument/2006/relationships/tags" Target="../tags/tag168.xml"/><Relationship Id="rId27" Type="http://schemas.openxmlformats.org/officeDocument/2006/relationships/tags" Target="../tags/tag173.xml"/><Relationship Id="rId30" Type="http://schemas.openxmlformats.org/officeDocument/2006/relationships/tags" Target="../tags/tag176.xml"/><Relationship Id="rId35" Type="http://schemas.openxmlformats.org/officeDocument/2006/relationships/tags" Target="../tags/tag181.xml"/><Relationship Id="rId43" Type="http://schemas.openxmlformats.org/officeDocument/2006/relationships/tags" Target="../tags/tag189.xml"/><Relationship Id="rId48" Type="http://schemas.openxmlformats.org/officeDocument/2006/relationships/oleObject" Target="../embeddings/oleObject25.bin"/><Relationship Id="rId8" Type="http://schemas.openxmlformats.org/officeDocument/2006/relationships/tags" Target="../tags/tag154.xml"/><Relationship Id="rId3" Type="http://schemas.openxmlformats.org/officeDocument/2006/relationships/tags" Target="../tags/tag149.xml"/><Relationship Id="rId12" Type="http://schemas.openxmlformats.org/officeDocument/2006/relationships/tags" Target="../tags/tag158.xml"/><Relationship Id="rId17" Type="http://schemas.openxmlformats.org/officeDocument/2006/relationships/tags" Target="../tags/tag163.xml"/><Relationship Id="rId25" Type="http://schemas.openxmlformats.org/officeDocument/2006/relationships/tags" Target="../tags/tag171.xml"/><Relationship Id="rId33" Type="http://schemas.openxmlformats.org/officeDocument/2006/relationships/tags" Target="../tags/tag179.xml"/><Relationship Id="rId38" Type="http://schemas.openxmlformats.org/officeDocument/2006/relationships/tags" Target="../tags/tag184.xml"/><Relationship Id="rId46" Type="http://schemas.openxmlformats.org/officeDocument/2006/relationships/slideLayout" Target="../slideLayouts/slideLayout2.xml"/><Relationship Id="rId20" Type="http://schemas.openxmlformats.org/officeDocument/2006/relationships/tags" Target="../tags/tag166.xml"/><Relationship Id="rId41" Type="http://schemas.openxmlformats.org/officeDocument/2006/relationships/tags" Target="../tags/tag187.xml"/><Relationship Id="rId1" Type="http://schemas.openxmlformats.org/officeDocument/2006/relationships/tags" Target="../tags/tag147.xml"/><Relationship Id="rId6" Type="http://schemas.openxmlformats.org/officeDocument/2006/relationships/tags" Target="../tags/tag15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0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2.xml"/><Relationship Id="rId6" Type="http://schemas.openxmlformats.org/officeDocument/2006/relationships/chart" Target="../charts/char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6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03.svg"/><Relationship Id="rId12" Type="http://schemas.openxmlformats.org/officeDocument/2006/relationships/image" Target="../media/image19.png"/><Relationship Id="rId17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8.png"/><Relationship Id="rId1" Type="http://schemas.openxmlformats.org/officeDocument/2006/relationships/tags" Target="../tags/tag193.xml"/><Relationship Id="rId6" Type="http://schemas.openxmlformats.org/officeDocument/2006/relationships/image" Target="../media/image102.png"/><Relationship Id="rId11" Type="http://schemas.openxmlformats.org/officeDocument/2006/relationships/chart" Target="../charts/chart14.xml"/><Relationship Id="rId5" Type="http://schemas.openxmlformats.org/officeDocument/2006/relationships/image" Target="../media/image18.emf"/><Relationship Id="rId15" Type="http://schemas.openxmlformats.org/officeDocument/2006/relationships/image" Target="../media/image95.png"/><Relationship Id="rId10" Type="http://schemas.openxmlformats.org/officeDocument/2006/relationships/chart" Target="../charts/chart13.xml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05.svg"/><Relationship Id="rId14" Type="http://schemas.openxmlformats.org/officeDocument/2006/relationships/image" Target="../media/image10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tags" Target="../tags/tag196.xml"/><Relationship Id="rId21" Type="http://schemas.openxmlformats.org/officeDocument/2006/relationships/image" Target="../media/image116.png"/><Relationship Id="rId7" Type="http://schemas.openxmlformats.org/officeDocument/2006/relationships/tags" Target="../tags/tag200.xml"/><Relationship Id="rId12" Type="http://schemas.openxmlformats.org/officeDocument/2006/relationships/image" Target="../media/image54.png"/><Relationship Id="rId17" Type="http://schemas.openxmlformats.org/officeDocument/2006/relationships/image" Target="../media/image113.png"/><Relationship Id="rId25" Type="http://schemas.openxmlformats.org/officeDocument/2006/relationships/image" Target="../media/image118.png"/><Relationship Id="rId2" Type="http://schemas.openxmlformats.org/officeDocument/2006/relationships/tags" Target="../tags/tag195.xml"/><Relationship Id="rId16" Type="http://schemas.openxmlformats.org/officeDocument/2006/relationships/image" Target="../media/image112.jpeg"/><Relationship Id="rId20" Type="http://schemas.openxmlformats.org/officeDocument/2006/relationships/image" Target="../media/image57.png"/><Relationship Id="rId1" Type="http://schemas.openxmlformats.org/officeDocument/2006/relationships/tags" Target="../tags/tag194.xml"/><Relationship Id="rId6" Type="http://schemas.openxmlformats.org/officeDocument/2006/relationships/tags" Target="../tags/tag199.xml"/><Relationship Id="rId11" Type="http://schemas.openxmlformats.org/officeDocument/2006/relationships/image" Target="../media/image18.emf"/><Relationship Id="rId24" Type="http://schemas.openxmlformats.org/officeDocument/2006/relationships/image" Target="../media/image117.png"/><Relationship Id="rId5" Type="http://schemas.openxmlformats.org/officeDocument/2006/relationships/tags" Target="../tags/tag198.xml"/><Relationship Id="rId15" Type="http://schemas.openxmlformats.org/officeDocument/2006/relationships/image" Target="../media/image111.png"/><Relationship Id="rId23" Type="http://schemas.microsoft.com/office/2007/relationships/hdphoto" Target="../media/hdphoto38.wdp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115.png"/><Relationship Id="rId4" Type="http://schemas.openxmlformats.org/officeDocument/2006/relationships/tags" Target="../tags/tag197.xml"/><Relationship Id="rId9" Type="http://schemas.openxmlformats.org/officeDocument/2006/relationships/notesSlide" Target="../notesSlides/notesSlide24.xml"/><Relationship Id="rId14" Type="http://schemas.openxmlformats.org/officeDocument/2006/relationships/image" Target="../media/image110.png"/><Relationship Id="rId22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Relationship Id="rId4" Type="http://schemas.openxmlformats.org/officeDocument/2006/relationships/image" Target="../media/image18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20.png"/><Relationship Id="rId12" Type="http://schemas.openxmlformats.org/officeDocument/2006/relationships/image" Target="../media/image1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6" Type="http://schemas.openxmlformats.org/officeDocument/2006/relationships/image" Target="../media/image119.png"/><Relationship Id="rId11" Type="http://schemas.openxmlformats.org/officeDocument/2006/relationships/image" Target="../media/image122.png"/><Relationship Id="rId5" Type="http://schemas.openxmlformats.org/officeDocument/2006/relationships/image" Target="../media/image8.emf"/><Relationship Id="rId10" Type="http://schemas.openxmlformats.org/officeDocument/2006/relationships/image" Target="../media/image121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tags" Target="../tags/tag220.xml"/><Relationship Id="rId26" Type="http://schemas.openxmlformats.org/officeDocument/2006/relationships/chart" Target="../charts/chart16.xml"/><Relationship Id="rId3" Type="http://schemas.openxmlformats.org/officeDocument/2006/relationships/tags" Target="../tags/tag205.xml"/><Relationship Id="rId21" Type="http://schemas.openxmlformats.org/officeDocument/2006/relationships/tags" Target="../tags/tag223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5" Type="http://schemas.openxmlformats.org/officeDocument/2006/relationships/image" Target="../media/image8.emf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20" Type="http://schemas.openxmlformats.org/officeDocument/2006/relationships/tags" Target="../tags/tag222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24" Type="http://schemas.openxmlformats.org/officeDocument/2006/relationships/oleObject" Target="../embeddings/oleObject31.bin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23" Type="http://schemas.openxmlformats.org/officeDocument/2006/relationships/notesSlide" Target="../notesSlides/notesSlide26.xml"/><Relationship Id="rId10" Type="http://schemas.openxmlformats.org/officeDocument/2006/relationships/tags" Target="../tags/tag212.xml"/><Relationship Id="rId19" Type="http://schemas.openxmlformats.org/officeDocument/2006/relationships/tags" Target="../tags/tag221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126.png"/><Relationship Id="rId18" Type="http://schemas.openxmlformats.org/officeDocument/2006/relationships/image" Target="../media/image131.pn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9.png"/><Relationship Id="rId12" Type="http://schemas.openxmlformats.org/officeDocument/2006/relationships/image" Target="../media/image96.png"/><Relationship Id="rId17" Type="http://schemas.openxmlformats.org/officeDocument/2006/relationships/image" Target="../media/image13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9.png"/><Relationship Id="rId1" Type="http://schemas.openxmlformats.org/officeDocument/2006/relationships/tags" Target="../tags/tag225.xml"/><Relationship Id="rId6" Type="http://schemas.openxmlformats.org/officeDocument/2006/relationships/image" Target="../media/image124.png"/><Relationship Id="rId11" Type="http://schemas.openxmlformats.org/officeDocument/2006/relationships/image" Target="../media/image125.png"/><Relationship Id="rId5" Type="http://schemas.openxmlformats.org/officeDocument/2006/relationships/image" Target="../media/image18.emf"/><Relationship Id="rId15" Type="http://schemas.openxmlformats.org/officeDocument/2006/relationships/image" Target="../media/image128.png"/><Relationship Id="rId10" Type="http://schemas.openxmlformats.org/officeDocument/2006/relationships/image" Target="../media/image49.png"/><Relationship Id="rId19" Type="http://schemas.openxmlformats.org/officeDocument/2006/relationships/image" Target="../media/image132.png"/><Relationship Id="rId4" Type="http://schemas.openxmlformats.org/officeDocument/2006/relationships/oleObject" Target="../embeddings/oleObject33.bin"/><Relationship Id="rId9" Type="http://schemas.openxmlformats.org/officeDocument/2006/relationships/image" Target="../media/image72.png"/><Relationship Id="rId14" Type="http://schemas.openxmlformats.org/officeDocument/2006/relationships/image" Target="../media/image127.jpe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6.png"/><Relationship Id="rId18" Type="http://schemas.openxmlformats.org/officeDocument/2006/relationships/image" Target="../media/image139.png"/><Relationship Id="rId26" Type="http://schemas.openxmlformats.org/officeDocument/2006/relationships/image" Target="../media/image145.png"/><Relationship Id="rId39" Type="http://schemas.openxmlformats.org/officeDocument/2006/relationships/image" Target="../media/image155.png"/><Relationship Id="rId21" Type="http://schemas.openxmlformats.org/officeDocument/2006/relationships/image" Target="../media/image142.png"/><Relationship Id="rId34" Type="http://schemas.openxmlformats.org/officeDocument/2006/relationships/image" Target="../media/image73.png"/><Relationship Id="rId42" Type="http://schemas.openxmlformats.org/officeDocument/2006/relationships/image" Target="../media/image157.png"/><Relationship Id="rId47" Type="http://schemas.openxmlformats.org/officeDocument/2006/relationships/image" Target="../media/image161.png"/><Relationship Id="rId50" Type="http://schemas.openxmlformats.org/officeDocument/2006/relationships/image" Target="../media/image61.png"/><Relationship Id="rId55" Type="http://schemas.openxmlformats.org/officeDocument/2006/relationships/image" Target="../media/image167.png"/><Relationship Id="rId63" Type="http://schemas.openxmlformats.org/officeDocument/2006/relationships/image" Target="../media/image174.png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7.png"/><Relationship Id="rId29" Type="http://schemas.openxmlformats.org/officeDocument/2006/relationships/image" Target="../media/image148.png"/><Relationship Id="rId11" Type="http://schemas.openxmlformats.org/officeDocument/2006/relationships/image" Target="../media/image20.png"/><Relationship Id="rId24" Type="http://schemas.openxmlformats.org/officeDocument/2006/relationships/image" Target="../media/image143.png"/><Relationship Id="rId32" Type="http://schemas.openxmlformats.org/officeDocument/2006/relationships/image" Target="../media/image72.png"/><Relationship Id="rId37" Type="http://schemas.openxmlformats.org/officeDocument/2006/relationships/image" Target="../media/image153.png"/><Relationship Id="rId40" Type="http://schemas.openxmlformats.org/officeDocument/2006/relationships/image" Target="../media/image156.png"/><Relationship Id="rId45" Type="http://schemas.openxmlformats.org/officeDocument/2006/relationships/image" Target="../media/image159.png"/><Relationship Id="rId53" Type="http://schemas.openxmlformats.org/officeDocument/2006/relationships/image" Target="../media/image165.png"/><Relationship Id="rId58" Type="http://schemas.openxmlformats.org/officeDocument/2006/relationships/image" Target="../media/image170.png"/><Relationship Id="rId5" Type="http://schemas.openxmlformats.org/officeDocument/2006/relationships/image" Target="../media/image133.png"/><Relationship Id="rId61" Type="http://schemas.openxmlformats.org/officeDocument/2006/relationships/image" Target="../media/image60.png"/><Relationship Id="rId19" Type="http://schemas.openxmlformats.org/officeDocument/2006/relationships/image" Target="../media/image140.png"/><Relationship Id="rId14" Type="http://schemas.openxmlformats.org/officeDocument/2006/relationships/image" Target="../media/image137.png"/><Relationship Id="rId22" Type="http://schemas.openxmlformats.org/officeDocument/2006/relationships/image" Target="../media/image87.png"/><Relationship Id="rId27" Type="http://schemas.openxmlformats.org/officeDocument/2006/relationships/image" Target="../media/image146.png"/><Relationship Id="rId30" Type="http://schemas.openxmlformats.org/officeDocument/2006/relationships/image" Target="../media/image149.png"/><Relationship Id="rId35" Type="http://schemas.openxmlformats.org/officeDocument/2006/relationships/image" Target="../media/image151.png"/><Relationship Id="rId43" Type="http://schemas.openxmlformats.org/officeDocument/2006/relationships/image" Target="../media/image49.png"/><Relationship Id="rId48" Type="http://schemas.openxmlformats.org/officeDocument/2006/relationships/image" Target="../media/image162.png"/><Relationship Id="rId56" Type="http://schemas.openxmlformats.org/officeDocument/2006/relationships/image" Target="../media/image168.png"/><Relationship Id="rId8" Type="http://schemas.openxmlformats.org/officeDocument/2006/relationships/image" Target="../media/image135.png"/><Relationship Id="rId51" Type="http://schemas.openxmlformats.org/officeDocument/2006/relationships/image" Target="../media/image163.png"/><Relationship Id="rId3" Type="http://schemas.openxmlformats.org/officeDocument/2006/relationships/oleObject" Target="../embeddings/oleObject34.bin"/><Relationship Id="rId12" Type="http://schemas.openxmlformats.org/officeDocument/2006/relationships/image" Target="../media/image124.png"/><Relationship Id="rId17" Type="http://schemas.openxmlformats.org/officeDocument/2006/relationships/image" Target="../media/image138.png"/><Relationship Id="rId25" Type="http://schemas.openxmlformats.org/officeDocument/2006/relationships/image" Target="../media/image144.png"/><Relationship Id="rId33" Type="http://schemas.openxmlformats.org/officeDocument/2006/relationships/image" Target="../media/image150.png"/><Relationship Id="rId38" Type="http://schemas.openxmlformats.org/officeDocument/2006/relationships/image" Target="../media/image154.png"/><Relationship Id="rId46" Type="http://schemas.openxmlformats.org/officeDocument/2006/relationships/image" Target="../media/image160.png"/><Relationship Id="rId59" Type="http://schemas.openxmlformats.org/officeDocument/2006/relationships/image" Target="../media/image171.png"/><Relationship Id="rId20" Type="http://schemas.openxmlformats.org/officeDocument/2006/relationships/image" Target="../media/image141.png"/><Relationship Id="rId41" Type="http://schemas.openxmlformats.org/officeDocument/2006/relationships/image" Target="../media/image67.png"/><Relationship Id="rId54" Type="http://schemas.openxmlformats.org/officeDocument/2006/relationships/image" Target="../media/image166.png"/><Relationship Id="rId62" Type="http://schemas.openxmlformats.org/officeDocument/2006/relationships/image" Target="../media/image173.png"/><Relationship Id="rId1" Type="http://schemas.openxmlformats.org/officeDocument/2006/relationships/tags" Target="../tags/tag226.xml"/><Relationship Id="rId6" Type="http://schemas.openxmlformats.org/officeDocument/2006/relationships/image" Target="../media/image134.png"/><Relationship Id="rId15" Type="http://schemas.openxmlformats.org/officeDocument/2006/relationships/image" Target="../media/image62.png"/><Relationship Id="rId23" Type="http://schemas.openxmlformats.org/officeDocument/2006/relationships/image" Target="../media/image88.png"/><Relationship Id="rId28" Type="http://schemas.openxmlformats.org/officeDocument/2006/relationships/image" Target="../media/image147.png"/><Relationship Id="rId36" Type="http://schemas.openxmlformats.org/officeDocument/2006/relationships/image" Target="../media/image152.png"/><Relationship Id="rId49" Type="http://schemas.openxmlformats.org/officeDocument/2006/relationships/image" Target="../media/image65.png"/><Relationship Id="rId57" Type="http://schemas.openxmlformats.org/officeDocument/2006/relationships/image" Target="../media/image169.png"/><Relationship Id="rId10" Type="http://schemas.openxmlformats.org/officeDocument/2006/relationships/image" Target="../media/image31.png"/><Relationship Id="rId31" Type="http://schemas.openxmlformats.org/officeDocument/2006/relationships/image" Target="../media/image71.png"/><Relationship Id="rId44" Type="http://schemas.openxmlformats.org/officeDocument/2006/relationships/image" Target="../media/image158.png"/><Relationship Id="rId52" Type="http://schemas.openxmlformats.org/officeDocument/2006/relationships/image" Target="../media/image164.png"/><Relationship Id="rId60" Type="http://schemas.openxmlformats.org/officeDocument/2006/relationships/image" Target="../media/image172.png"/><Relationship Id="rId4" Type="http://schemas.openxmlformats.org/officeDocument/2006/relationships/image" Target="../media/image18.emf"/><Relationship Id="rId9" Type="http://schemas.openxmlformats.org/officeDocument/2006/relationships/image" Target="../media/image10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95973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2025/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09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Co-packaged Optics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5866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349" imgH="350" progId="TCLayout.ActiveDocument.1">
                  <p:embed/>
                </p:oleObj>
              </mc:Choice>
              <mc:Fallback>
                <p:oleObj name="think-cell 幻灯片" r:id="rId8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7" name="Rectangle 3">
            <a:extLst>
              <a:ext uri="{FF2B5EF4-FFF2-40B4-BE49-F238E27FC236}">
                <a16:creationId xmlns:a16="http://schemas.microsoft.com/office/drawing/2014/main" id="{0E5FD172-F0A8-5034-8CBA-1F583F5E0DB8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4249034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Why the Focus on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Copper to Optical? Why Pluggable to C</a:t>
            </a:r>
            <a:r>
              <a:rPr lang="en-US" altLang="zh-CN" sz="1600" dirty="0">
                <a:solidFill>
                  <a:prstClr val="black"/>
                </a:solidFill>
              </a:rPr>
              <a:t>o-packaged?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Which Segment Matters Most?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 and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C38A9D3-E26D-76B9-5256-41C855B27326}"/>
              </a:ext>
            </a:extLst>
          </p:cNvPr>
          <p:cNvGrpSpPr/>
          <p:nvPr/>
        </p:nvGrpSpPr>
        <p:grpSpPr>
          <a:xfrm>
            <a:off x="1244740" y="1773311"/>
            <a:ext cx="1833093" cy="1492635"/>
            <a:chOff x="1244742" y="2055191"/>
            <a:chExt cx="1833093" cy="1492635"/>
          </a:xfrm>
        </p:grpSpPr>
        <p:sp>
          <p:nvSpPr>
            <p:cNvPr id="59" name="Rectangle 3">
              <a:extLst>
                <a:ext uri="{FF2B5EF4-FFF2-40B4-BE49-F238E27FC236}">
                  <a16:creationId xmlns:a16="http://schemas.microsoft.com/office/drawing/2014/main" id="{66DC64BD-ECC4-3DAC-C3DB-2B0ED0EC975F}"/>
                </a:ext>
              </a:extLst>
            </p:cNvPr>
            <p:cNvSpPr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1300336" y="2055191"/>
              <a:ext cx="1352711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b="1" dirty="0">
                  <a:solidFill>
                    <a:srgbClr val="0052D9"/>
                  </a:solidFill>
                </a:rPr>
                <a:t>Tech</a:t>
              </a:r>
              <a:endPara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E558451-A235-2B74-CC6E-E9F4D0F630AF}"/>
                </a:ext>
              </a:extLst>
            </p:cNvPr>
            <p:cNvSpPr txBox="1"/>
            <p:nvPr/>
          </p:nvSpPr>
          <p:spPr>
            <a:xfrm>
              <a:off x="1244742" y="2645015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Interconnect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Optical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CPO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9E50D06-AF41-43E8-63B7-1E98F01C22C2}"/>
              </a:ext>
            </a:extLst>
          </p:cNvPr>
          <p:cNvGrpSpPr/>
          <p:nvPr/>
        </p:nvGrpSpPr>
        <p:grpSpPr>
          <a:xfrm>
            <a:off x="1244741" y="4180810"/>
            <a:ext cx="1833093" cy="1581607"/>
            <a:chOff x="1244742" y="4113360"/>
            <a:chExt cx="1833093" cy="1581607"/>
          </a:xfrm>
        </p:grpSpPr>
        <p:sp>
          <p:nvSpPr>
            <p:cNvPr id="62" name="Rectangle 3">
              <a:extLst>
                <a:ext uri="{FF2B5EF4-FFF2-40B4-BE49-F238E27FC236}">
                  <a16:creationId xmlns:a16="http://schemas.microsoft.com/office/drawing/2014/main" id="{AE265D59-EBB0-FF67-33E9-BD13DB5E1BD0}"/>
                </a:ext>
              </a:extLst>
            </p:cNvPr>
            <p:cNvSpPr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1328241" y="4113360"/>
              <a:ext cx="1721906" cy="52079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78998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solidFill>
                    <a:srgbClr val="0052D9"/>
                  </a:solidFill>
                  <a:effectLst/>
                  <a:uLnTx/>
                  <a:uFillTx/>
                </a:rPr>
                <a:t>Markets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E11F60-EAF1-1828-DD1D-836B1FC571EE}"/>
                </a:ext>
              </a:extLst>
            </p:cNvPr>
            <p:cNvSpPr txBox="1"/>
            <p:nvPr/>
          </p:nvSpPr>
          <p:spPr>
            <a:xfrm>
              <a:off x="1244742" y="4792156"/>
              <a:ext cx="1833093" cy="9028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Sizing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Segments</a:t>
              </a:r>
            </a:p>
            <a:p>
              <a:pPr lvl="0" defTabSz="978998" fontAlgn="base">
                <a:spcBef>
                  <a:spcPts val="500"/>
                </a:spcBef>
                <a:spcAft>
                  <a:spcPts val="500"/>
                </a:spcAft>
                <a:defRPr/>
              </a:pPr>
              <a:r>
                <a:rPr lang="en-US" altLang="zh-CN" sz="1200" dirty="0">
                  <a:solidFill>
                    <a:srgbClr val="0052D9"/>
                  </a:solidFill>
                </a:rPr>
                <a:t>Players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032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2999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Nvidia, Broadcom, and DeepSeek</a:t>
            </a:r>
            <a:endParaRPr lang="en-US" dirty="0"/>
          </a:p>
        </p:txBody>
      </p:sp>
      <p:sp>
        <p:nvSpPr>
          <p:cNvPr id="2" name="Rechteck 52">
            <a:extLst>
              <a:ext uri="{FF2B5EF4-FFF2-40B4-BE49-F238E27FC236}">
                <a16:creationId xmlns:a16="http://schemas.microsoft.com/office/drawing/2014/main" id="{FE2110A6-EDBD-8697-B5F7-4B336BB31161}"/>
              </a:ext>
            </a:extLst>
          </p:cNvPr>
          <p:cNvSpPr>
            <a:spLocks/>
          </p:cNvSpPr>
          <p:nvPr/>
        </p:nvSpPr>
        <p:spPr>
          <a:xfrm>
            <a:off x="407987" y="2518957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634A095-ABD0-527D-E2B1-46D80EE1E49A}"/>
              </a:ext>
            </a:extLst>
          </p:cNvPr>
          <p:cNvSpPr txBox="1">
            <a:spLocks/>
          </p:cNvSpPr>
          <p:nvPr/>
        </p:nvSpPr>
        <p:spPr>
          <a:xfrm>
            <a:off x="474582" y="4889151"/>
            <a:ext cx="3563744" cy="50783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altLang="zh-CN" sz="1400" dirty="0"/>
              <a:t>Pivots from Copper to Optics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Launches 2 CPO Switches</a:t>
            </a:r>
            <a:endParaRPr lang="en-US" sz="1400" dirty="0"/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F3F9DCEA-95C5-231D-DDE1-741629D3FFE7}"/>
              </a:ext>
            </a:extLst>
          </p:cNvPr>
          <p:cNvSpPr txBox="1">
            <a:spLocks/>
          </p:cNvSpPr>
          <p:nvPr/>
        </p:nvSpPr>
        <p:spPr bwMode="gray">
          <a:xfrm>
            <a:off x="437170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Premieres advanced CPO switches</a:t>
            </a:r>
            <a:endParaRPr lang="en-US" sz="1400" dirty="0">
              <a:solidFill>
                <a:srgbClr val="0052D9"/>
              </a:solidFill>
            </a:endParaRPr>
          </a:p>
        </p:txBody>
      </p:sp>
      <p:sp>
        <p:nvSpPr>
          <p:cNvPr id="6" name="Rechteck 22">
            <a:extLst>
              <a:ext uri="{FF2B5EF4-FFF2-40B4-BE49-F238E27FC236}">
                <a16:creationId xmlns:a16="http://schemas.microsoft.com/office/drawing/2014/main" id="{2E50D80A-1704-3509-9D6E-FF86D2EDA342}"/>
              </a:ext>
            </a:extLst>
          </p:cNvPr>
          <p:cNvSpPr>
            <a:spLocks/>
          </p:cNvSpPr>
          <p:nvPr/>
        </p:nvSpPr>
        <p:spPr>
          <a:xfrm>
            <a:off x="1524259" y="1337390"/>
            <a:ext cx="2627798" cy="6715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  <a:sym typeface="Futura"/>
              </a:rPr>
              <a:t>GTC 2025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0F00AE-79C7-64B9-F55F-63167A365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631" y="1513532"/>
            <a:ext cx="443699" cy="319247"/>
          </a:xfrm>
          <a:prstGeom prst="rect">
            <a:avLst/>
          </a:prstGeom>
          <a:noFill/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42ACC8-7E17-BB78-EF6C-B7F4644430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330" y="1573189"/>
            <a:ext cx="740492" cy="199933"/>
          </a:xfrm>
          <a:prstGeom prst="rect">
            <a:avLst/>
          </a:prstGeom>
          <a:noFill/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73BC45A2-D98F-47EB-BEC6-315762D7D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48" y="2506344"/>
            <a:ext cx="3142640" cy="1901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 53">
            <a:extLst>
              <a:ext uri="{FF2B5EF4-FFF2-40B4-BE49-F238E27FC236}">
                <a16:creationId xmlns:a16="http://schemas.microsoft.com/office/drawing/2014/main" id="{A3D89242-83E7-0754-DC42-B6C7A9C3DB38}"/>
              </a:ext>
            </a:extLst>
          </p:cNvPr>
          <p:cNvSpPr>
            <a:spLocks/>
          </p:cNvSpPr>
          <p:nvPr/>
        </p:nvSpPr>
        <p:spPr>
          <a:xfrm>
            <a:off x="8242203" y="2518957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AD8FE314-262A-C078-EDB0-5CA09AA3D723}"/>
              </a:ext>
            </a:extLst>
          </p:cNvPr>
          <p:cNvSpPr txBox="1">
            <a:spLocks/>
          </p:cNvSpPr>
          <p:nvPr/>
        </p:nvSpPr>
        <p:spPr>
          <a:xfrm>
            <a:off x="8256794" y="4889151"/>
            <a:ext cx="3660375" cy="72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Bandwidth limitation restricts training, inference, and network strategies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CPO: higher bandwidth &amp; energy efficiency</a:t>
            </a:r>
          </a:p>
        </p:txBody>
      </p:sp>
      <p:sp>
        <p:nvSpPr>
          <p:cNvPr id="11" name="Rechteck 22">
            <a:extLst>
              <a:ext uri="{FF2B5EF4-FFF2-40B4-BE49-F238E27FC236}">
                <a16:creationId xmlns:a16="http://schemas.microsoft.com/office/drawing/2014/main" id="{D122097B-3085-F1BA-955F-93F0AF30E4E8}"/>
              </a:ext>
            </a:extLst>
          </p:cNvPr>
          <p:cNvSpPr>
            <a:spLocks/>
          </p:cNvSpPr>
          <p:nvPr/>
        </p:nvSpPr>
        <p:spPr>
          <a:xfrm>
            <a:off x="9538802" y="1337390"/>
            <a:ext cx="2627798" cy="67153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  <a:sym typeface="Futura"/>
              </a:rPr>
              <a:t>《Insights into DS-V3》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3D30D61-CEC3-4A04-6835-9D269EB0DA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2" b="88889" l="3125" r="94697">
                        <a14:foregroundMark x1="6155" y1="31418" x2="6155" y2="31418"/>
                        <a14:foregroundMark x1="11364" y1="83525" x2="11364" y2="83525"/>
                        <a14:foregroundMark x1="3125" y1="59387" x2="3125" y2="59387"/>
                        <a14:foregroundMark x1="32576" y1="59387" x2="32576" y2="59387"/>
                        <a14:foregroundMark x1="41098" y1="55556" x2="41098" y2="55556"/>
                        <a14:foregroundMark x1="49242" y1="54789" x2="49242" y2="54789"/>
                        <a14:foregroundMark x1="57765" y1="56705" x2="57765" y2="56705"/>
                        <a14:foregroundMark x1="68845" y1="55939" x2="68845" y2="55939"/>
                        <a14:foregroundMark x1="78030" y1="57088" x2="78030" y2="57088"/>
                        <a14:foregroundMark x1="82765" y1="54023" x2="82765" y2="54023"/>
                        <a14:foregroundMark x1="91288" y1="54406" x2="91288" y2="54406"/>
                        <a14:foregroundMark x1="94697" y1="55556" x2="94697" y2="555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60787" y="1510354"/>
            <a:ext cx="1317379" cy="325602"/>
          </a:xfrm>
          <a:prstGeom prst="rect">
            <a:avLst/>
          </a:prstGeom>
        </p:spPr>
      </p:pic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F68D50D-414D-635E-2792-0BEAB0496A59}"/>
              </a:ext>
            </a:extLst>
          </p:cNvPr>
          <p:cNvSpPr txBox="1">
            <a:spLocks/>
          </p:cNvSpPr>
          <p:nvPr/>
        </p:nvSpPr>
        <p:spPr bwMode="gray">
          <a:xfrm>
            <a:off x="8256795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CPO matters</a:t>
            </a:r>
            <a:r>
              <a:rPr lang="zh-CN" altLang="en-US" b="1" dirty="0"/>
              <a:t> </a:t>
            </a:r>
            <a:r>
              <a:rPr lang="en-US" altLang="zh-CN" b="1" dirty="0"/>
              <a:t>under limited</a:t>
            </a:r>
            <a:r>
              <a:rPr lang="zh-CN" altLang="en-US" b="1" dirty="0"/>
              <a:t> </a:t>
            </a:r>
            <a:r>
              <a:rPr lang="en-US" altLang="zh-CN" b="1" dirty="0"/>
              <a:t>bandwidth in China</a:t>
            </a:r>
            <a:endParaRPr lang="en-US" sz="1400" dirty="0">
              <a:solidFill>
                <a:srgbClr val="0052D9"/>
              </a:solidFill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D943F7C-E7EF-9207-A884-3A534698B846}"/>
              </a:ext>
            </a:extLst>
          </p:cNvPr>
          <p:cNvGrpSpPr/>
          <p:nvPr/>
        </p:nvGrpSpPr>
        <p:grpSpPr>
          <a:xfrm>
            <a:off x="8206661" y="2501169"/>
            <a:ext cx="3509584" cy="1911646"/>
            <a:chOff x="7440021" y="1361951"/>
            <a:chExt cx="3509584" cy="1911646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0234BB60-FB48-622D-A498-75516FE24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2594A99E-9B03-0559-EB83-31733FA28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b="68697"/>
            <a:stretch/>
          </p:blipFill>
          <p:spPr>
            <a:xfrm>
              <a:off x="7440021" y="1877371"/>
              <a:ext cx="3444240" cy="1396226"/>
            </a:xfrm>
            <a:prstGeom prst="rect">
              <a:avLst/>
            </a:prstGeom>
          </p:spPr>
        </p:pic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09EA39E-0613-8F9A-4489-6AACB923E3C7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Rechteck 54">
            <a:extLst>
              <a:ext uri="{FF2B5EF4-FFF2-40B4-BE49-F238E27FC236}">
                <a16:creationId xmlns:a16="http://schemas.microsoft.com/office/drawing/2014/main" id="{3D6A41AE-49DF-B3A5-B25A-942FE82A13C1}"/>
              </a:ext>
            </a:extLst>
          </p:cNvPr>
          <p:cNvSpPr>
            <a:spLocks/>
          </p:cNvSpPr>
          <p:nvPr/>
        </p:nvSpPr>
        <p:spPr>
          <a:xfrm>
            <a:off x="4154770" y="2496855"/>
            <a:ext cx="3563744" cy="158027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cap="all" spc="100">
                <a:solidFill>
                  <a:schemeClr val="accent5"/>
                </a:solidFill>
              </a:rPr>
              <a:t>IMAGE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44AEC338-DA13-8B7F-9021-2039CE822D21}"/>
              </a:ext>
            </a:extLst>
          </p:cNvPr>
          <p:cNvSpPr txBox="1">
            <a:spLocks/>
          </p:cNvSpPr>
          <p:nvPr/>
        </p:nvSpPr>
        <p:spPr>
          <a:xfrm>
            <a:off x="4169362" y="4889151"/>
            <a:ext cx="3563744" cy="72327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6725" indent="-2222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725" indent="-2174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900113" indent="-1936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1136650" indent="-18573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1400" dirty="0"/>
              <a:t>TH4: 1</a:t>
            </a:r>
            <a:r>
              <a:rPr lang="en-US" sz="1400" baseline="30000" dirty="0"/>
              <a:t>st</a:t>
            </a:r>
            <a:r>
              <a:rPr lang="en-US" sz="1400" dirty="0"/>
              <a:t> CPO switch chip</a:t>
            </a:r>
          </a:p>
          <a:p>
            <a:pPr>
              <a:spcBef>
                <a:spcPts val="600"/>
              </a:spcBef>
            </a:pPr>
            <a:r>
              <a:rPr lang="en-US" altLang="zh-CN" sz="1400" dirty="0"/>
              <a:t>TH6: fastest CPO switch chip, announced in April</a:t>
            </a:r>
            <a:endParaRPr lang="en-US" sz="1400" dirty="0"/>
          </a:p>
        </p:txBody>
      </p:sp>
      <p:sp>
        <p:nvSpPr>
          <p:cNvPr id="23" name="Rechteck 23">
            <a:extLst>
              <a:ext uri="{FF2B5EF4-FFF2-40B4-BE49-F238E27FC236}">
                <a16:creationId xmlns:a16="http://schemas.microsoft.com/office/drawing/2014/main" id="{D46FDC1B-0589-0C6F-14BE-04FAC0134390}"/>
              </a:ext>
            </a:extLst>
          </p:cNvPr>
          <p:cNvSpPr>
            <a:spLocks/>
          </p:cNvSpPr>
          <p:nvPr/>
        </p:nvSpPr>
        <p:spPr>
          <a:xfrm>
            <a:off x="5576150" y="1381593"/>
            <a:ext cx="2627798" cy="58312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ctr"/>
          <a:lstStyle/>
          <a:p>
            <a:pPr>
              <a:buClr>
                <a:srgbClr val="000000"/>
              </a:buClr>
            </a:pPr>
            <a:r>
              <a:rPr lang="en-US" altLang="zh-CN" sz="1400" b="1" dirty="0">
                <a:solidFill>
                  <a:schemeClr val="accent1"/>
                </a:solidFill>
              </a:rPr>
              <a:t>Tomahawk Switches</a:t>
            </a:r>
            <a:endParaRPr lang="en-US" sz="1400" b="1" dirty="0">
              <a:solidFill>
                <a:schemeClr val="accent1"/>
              </a:solidFill>
              <a:sym typeface="Futura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BBA7B24-CECB-4D5E-2109-668B333CB5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296" y="1523092"/>
            <a:ext cx="312632" cy="30012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16E62E3A-EFCC-484A-7059-19CC0144FB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37992" y="1610438"/>
            <a:ext cx="861094" cy="125435"/>
          </a:xfrm>
          <a:prstGeom prst="rect">
            <a:avLst/>
          </a:prstGeom>
        </p:spPr>
      </p:pic>
      <p:sp>
        <p:nvSpPr>
          <p:cNvPr id="31" name="Textplatzhalter 9">
            <a:extLst>
              <a:ext uri="{FF2B5EF4-FFF2-40B4-BE49-F238E27FC236}">
                <a16:creationId xmlns:a16="http://schemas.microsoft.com/office/drawing/2014/main" id="{C5A4A542-2958-433B-B7FD-8AE91883B95C}"/>
              </a:ext>
            </a:extLst>
          </p:cNvPr>
          <p:cNvSpPr txBox="1">
            <a:spLocks/>
          </p:cNvSpPr>
          <p:nvPr/>
        </p:nvSpPr>
        <p:spPr bwMode="gray">
          <a:xfrm>
            <a:off x="4248295" y="1929720"/>
            <a:ext cx="3563744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rgbClr val="000000"/>
              </a:buClr>
            </a:pPr>
            <a:r>
              <a:rPr lang="en-US" altLang="zh-CN" b="1" dirty="0"/>
              <a:t>Accelerates CPO ecosystem adoption</a:t>
            </a:r>
            <a:endParaRPr lang="en-US" sz="1400" dirty="0">
              <a:solidFill>
                <a:srgbClr val="0052D9"/>
              </a:solidFill>
            </a:endParaRPr>
          </a:p>
        </p:txBody>
      </p:sp>
      <p:pic>
        <p:nvPicPr>
          <p:cNvPr id="33" name="图片 32" descr="男人戴着眼镜&#10;&#10;AI 生成的内容可能不正确。">
            <a:extLst>
              <a:ext uri="{FF2B5EF4-FFF2-40B4-BE49-F238E27FC236}">
                <a16:creationId xmlns:a16="http://schemas.microsoft.com/office/drawing/2014/main" id="{519DC953-2C84-BF8C-246B-B569654A26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97" t="4454" r="24533" b="12287"/>
          <a:stretch/>
        </p:blipFill>
        <p:spPr>
          <a:xfrm>
            <a:off x="4248295" y="2510615"/>
            <a:ext cx="3141178" cy="18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C0F53BD-CF13-09D7-CD70-30CD58C3C89C}"/>
              </a:ext>
            </a:extLst>
          </p:cNvPr>
          <p:cNvGrpSpPr/>
          <p:nvPr/>
        </p:nvGrpSpPr>
        <p:grpSpPr>
          <a:xfrm>
            <a:off x="1525684" y="1686290"/>
            <a:ext cx="4001871" cy="1366256"/>
            <a:chOff x="248972" y="4321548"/>
            <a:chExt cx="4001871" cy="1366256"/>
          </a:xfrm>
        </p:grpSpPr>
        <p:sp>
          <p:nvSpPr>
            <p:cNvPr id="42" name="Bullet2">
              <a:extLst>
                <a:ext uri="{FF2B5EF4-FFF2-40B4-BE49-F238E27FC236}">
                  <a16:creationId xmlns:a16="http://schemas.microsoft.com/office/drawing/2014/main" id="{AD7E5E9D-5BB8-E5F7-B5D6-8BDBDE8FCCB6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Speed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43" name="Text2">
              <a:extLst>
                <a:ext uri="{FF2B5EF4-FFF2-40B4-BE49-F238E27FC236}">
                  <a16:creationId xmlns:a16="http://schemas.microsoft.com/office/drawing/2014/main" id="{0B1BFAA2-8A23-4D8A-51B5-EAC207FF8428}"/>
                </a:ext>
              </a:extLst>
            </p:cNvPr>
            <p:cNvSpPr>
              <a:spLocks/>
            </p:cNvSpPr>
            <p:nvPr/>
          </p:nvSpPr>
          <p:spPr>
            <a:xfrm flipH="1">
              <a:off x="248972" y="4879942"/>
              <a:ext cx="3378225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/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Low power + extended distance requires reduced data rates or bandwidth</a:t>
              </a:r>
            </a:p>
          </p:txBody>
        </p:sp>
        <p:sp>
          <p:nvSpPr>
            <p:cNvPr id="41" name="Number2">
              <a:extLst>
                <a:ext uri="{FF2B5EF4-FFF2-40B4-BE49-F238E27FC236}">
                  <a16:creationId xmlns:a16="http://schemas.microsoft.com/office/drawing/2014/main" id="{88D41197-0323-1967-31F4-7F86FD4170ED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1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A9B9F577-638B-7FAE-9CD2-4143C9451290}"/>
              </a:ext>
            </a:extLst>
          </p:cNvPr>
          <p:cNvGrpSpPr/>
          <p:nvPr/>
        </p:nvGrpSpPr>
        <p:grpSpPr>
          <a:xfrm>
            <a:off x="8202929" y="4727558"/>
            <a:ext cx="3613544" cy="1366256"/>
            <a:chOff x="7960810" y="4321548"/>
            <a:chExt cx="3613544" cy="1366256"/>
          </a:xfrm>
        </p:grpSpPr>
        <p:sp>
          <p:nvSpPr>
            <p:cNvPr id="37" name="Bullet3">
              <a:extLst>
                <a:ext uri="{FF2B5EF4-FFF2-40B4-BE49-F238E27FC236}">
                  <a16:creationId xmlns:a16="http://schemas.microsoft.com/office/drawing/2014/main" id="{5EB07114-1B64-7AB3-881D-2F910A3D00A4}"/>
                </a:ext>
              </a:extLst>
            </p:cNvPr>
            <p:cNvSpPr>
              <a:spLocks/>
            </p:cNvSpPr>
            <p:nvPr/>
          </p:nvSpPr>
          <p:spPr>
            <a:xfrm>
              <a:off x="8584456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Power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38" name="Text3">
              <a:extLst>
                <a:ext uri="{FF2B5EF4-FFF2-40B4-BE49-F238E27FC236}">
                  <a16:creationId xmlns:a16="http://schemas.microsoft.com/office/drawing/2014/main" id="{B0D4B49A-57E2-9478-02C9-086D3221DF1E}"/>
                </a:ext>
              </a:extLst>
            </p:cNvPr>
            <p:cNvSpPr>
              <a:spLocks/>
            </p:cNvSpPr>
            <p:nvPr/>
          </p:nvSpPr>
          <p:spPr>
            <a:xfrm>
              <a:off x="8584456" y="4879942"/>
              <a:ext cx="2989898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 lnSpcReduction="10000"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Long-distance suffers signal attenuation, requiring power compensation</a:t>
              </a:r>
            </a:p>
            <a:p>
              <a:pPr>
                <a:lnSpc>
                  <a:spcPct val="120000"/>
                </a:lnSpc>
              </a:pP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36" name="Number3">
              <a:extLst>
                <a:ext uri="{FF2B5EF4-FFF2-40B4-BE49-F238E27FC236}">
                  <a16:creationId xmlns:a16="http://schemas.microsoft.com/office/drawing/2014/main" id="{92787A42-58EB-D724-89E3-05CC3AC7C96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960810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3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Impossible Triangle in IDCs: Speed, Distance, Power</a:t>
            </a: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1261C36-B73F-FD1B-4AB6-0A3AF886EE6D}"/>
              </a:ext>
            </a:extLst>
          </p:cNvPr>
          <p:cNvGrpSpPr/>
          <p:nvPr/>
        </p:nvGrpSpPr>
        <p:grpSpPr>
          <a:xfrm>
            <a:off x="459341" y="4721387"/>
            <a:ext cx="3558090" cy="1366256"/>
            <a:chOff x="692753" y="4321548"/>
            <a:chExt cx="3558090" cy="1366256"/>
          </a:xfrm>
        </p:grpSpPr>
        <p:sp>
          <p:nvSpPr>
            <p:cNvPr id="15" name="Bullet2">
              <a:extLst>
                <a:ext uri="{FF2B5EF4-FFF2-40B4-BE49-F238E27FC236}">
                  <a16:creationId xmlns:a16="http://schemas.microsoft.com/office/drawing/2014/main" id="{020D2B8C-297B-1DE8-7205-1FCC7FF548A2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321548"/>
              <a:ext cx="2934444" cy="549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r"/>
              <a:r>
                <a:rPr kumimoji="1" lang="en-US" altLang="zh-CN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Distance</a:t>
              </a:r>
              <a:endParaRPr lang="en-US" altLang="zh-CN" b="1" dirty="0">
                <a:cs typeface="Arial" panose="020B0604020202020204" pitchFamily="34" charset="0"/>
              </a:endParaRPr>
            </a:p>
          </p:txBody>
        </p:sp>
        <p:sp>
          <p:nvSpPr>
            <p:cNvPr id="16" name="Text2">
              <a:extLst>
                <a:ext uri="{FF2B5EF4-FFF2-40B4-BE49-F238E27FC236}">
                  <a16:creationId xmlns:a16="http://schemas.microsoft.com/office/drawing/2014/main" id="{5009F1E3-5AC0-17B2-CC3B-ED261A33494A}"/>
                </a:ext>
              </a:extLst>
            </p:cNvPr>
            <p:cNvSpPr>
              <a:spLocks/>
            </p:cNvSpPr>
            <p:nvPr/>
          </p:nvSpPr>
          <p:spPr>
            <a:xfrm flipH="1">
              <a:off x="692753" y="4879942"/>
              <a:ext cx="2934444" cy="80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0">
              <a:norm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</a:rPr>
                <a:t>High-speed transmission consumes significant power 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" name="Number2">
              <a:extLst>
                <a:ext uri="{FF2B5EF4-FFF2-40B4-BE49-F238E27FC236}">
                  <a16:creationId xmlns:a16="http://schemas.microsoft.com/office/drawing/2014/main" id="{15E7B3D2-FCDE-F42D-CD2F-EDACC50481DB}"/>
                </a:ext>
              </a:extLst>
            </p:cNvPr>
            <p:cNvSpPr txBox="1">
              <a:spLocks noChangeAspect="1"/>
            </p:cNvSpPr>
            <p:nvPr/>
          </p:nvSpPr>
          <p:spPr>
            <a:xfrm flipH="1">
              <a:off x="3710843" y="4509933"/>
              <a:ext cx="540000" cy="540000"/>
            </a:xfrm>
            <a:prstGeom prst="roundRect">
              <a:avLst>
                <a:gd name="adj" fmla="val 50000"/>
              </a:avLst>
            </a:prstGeom>
            <a:solidFill>
              <a:srgbClr val="0052D9"/>
            </a:solidFill>
            <a:ln w="12700" cap="flat">
              <a:noFill/>
              <a:prstDash val="solid"/>
              <a:miter/>
            </a:ln>
            <a:effectLst>
              <a:outerShdw blurRad="127000" dist="63500" dir="2700000" algn="tl" rotWithShape="0">
                <a:schemeClr val="accent1">
                  <a:alpha val="40000"/>
                </a:schemeClr>
              </a:outerShdw>
            </a:effectLst>
          </p:spPr>
          <p:txBody>
            <a:bodyPr wrap="none" rtlCol="0" anchor="ctr"/>
            <a:lstStyle>
              <a:defPPr>
                <a:defRPr lang="zh-CN"/>
              </a:defPPr>
              <a:lvl1pPr algn="ctr">
                <a:defRPr b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dirty="0">
                  <a:latin typeface="+mn-lt"/>
                  <a:ea typeface="+mn-ea"/>
                  <a:sym typeface="Arial" panose="020B0604020202020204" pitchFamily="34" charset="0"/>
                </a:rPr>
                <a:t>2</a:t>
              </a:r>
              <a:endParaRPr lang="zh-CN" altLang="en-US" dirty="0">
                <a:latin typeface="+mn-lt"/>
                <a:ea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0CAD9-B853-308F-68B2-80168C22CC05}"/>
              </a:ext>
            </a:extLst>
          </p:cNvPr>
          <p:cNvSpPr txBox="1"/>
          <p:nvPr/>
        </p:nvSpPr>
        <p:spPr>
          <a:xfrm>
            <a:off x="511331" y="954770"/>
            <a:ext cx="10837646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 (BER)¹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: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the core metric for IDC data communications, measuring transmission reliability.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Transmission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speed</a:t>
            </a:r>
            <a:r>
              <a:rPr lang="en-US" altLang="zh-CN" dirty="0"/>
              <a:t> </a:t>
            </a:r>
            <a:r>
              <a:rPr lang="zh-CN" altLang="en-US" dirty="0"/>
              <a:t>↑</a:t>
            </a:r>
            <a:r>
              <a:rPr lang="en-US" altLang="zh-CN" dirty="0"/>
              <a:t>,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distance</a:t>
            </a:r>
            <a:r>
              <a:rPr lang="en-US" altLang="zh-CN" dirty="0"/>
              <a:t> </a:t>
            </a:r>
            <a:r>
              <a:rPr lang="zh-CN" altLang="en-US" dirty="0"/>
              <a:t>↑</a:t>
            </a:r>
            <a:r>
              <a:rPr lang="en-US" altLang="zh-CN" dirty="0"/>
              <a:t>, and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power</a:t>
            </a:r>
            <a:r>
              <a:rPr lang="en-US" altLang="zh-CN" dirty="0"/>
              <a:t> consumption </a:t>
            </a:r>
            <a:r>
              <a:rPr lang="zh-CN" altLang="en-US" dirty="0"/>
              <a:t>↓</a:t>
            </a:r>
            <a:r>
              <a:rPr lang="en-US" altLang="zh-CN" dirty="0"/>
              <a:t> =&gt; BER </a:t>
            </a:r>
            <a:r>
              <a:rPr lang="zh-CN" altLang="en-US" dirty="0"/>
              <a:t>↑</a:t>
            </a:r>
            <a:endParaRPr lang="en-US" altLang="zh-CN" dirty="0"/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70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0310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9" imgW="404" imgH="405" progId="TCLayout.ActiveDocument.1">
                  <p:embed/>
                </p:oleObj>
              </mc:Choice>
              <mc:Fallback>
                <p:oleObj name="think-cell 幻灯片" r:id="rId19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352177"/>
              </p:ext>
            </p:extLst>
          </p:nvPr>
        </p:nvGraphicFramePr>
        <p:xfrm>
          <a:off x="654578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110873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110873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518263-54BA-16B5-9CE4-5D013E91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1017415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The Copper Speed Wall in Data Center; Breaking Through with Optical Interconnects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95403" y="599016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wall: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18199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43599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400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8100076" y="459645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H100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009249" y="499203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A100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9075724" y="410027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B100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470238"/>
              </p:ext>
            </p:extLst>
          </p:nvPr>
        </p:nvGraphicFramePr>
        <p:xfrm>
          <a:off x="40601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224 Gbps =&gt; 400 Gbps/line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59814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93973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98191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Training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5"/>
                </a:solidFill>
                <a:cs typeface="+mn-ea"/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503653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69933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83205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20730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28490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28565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47630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406204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5"/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16924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38754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47449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9C5F783-6020-FF55-773A-563228759864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7718750" y="499203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3.0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E7945A8-88A7-97FB-E1A1-7881D746439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9747732" y="410027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5.0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6B069D73-4078-A6F3-4081-998A04DE5155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747379" y="4596451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4.0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1B0E99A9-0CF8-651E-AF1C-431C57E5D7E3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10871403" y="387215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 err="1">
                <a:latin typeface="+mn-lt"/>
                <a:ea typeface="+mn-ea"/>
                <a:cs typeface="+mn-ea"/>
                <a:sym typeface="+mn-lt"/>
              </a:rPr>
              <a:t>NVLink</a:t>
            </a: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 6.0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99395" y="387215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Rubin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720530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828420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926944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/>
              <a:t>Transceiver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8609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/>
              <a:t>Transceiver/CPO</a:t>
            </a:r>
            <a:endParaRPr lang="zh-CN" altLang="en-US" sz="12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61903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15812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GPU interconnect: &gt;5m;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10k-GPU clusters interconnect 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km-scale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42100" y="5379624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2.5m-3m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r>
              <a:rPr lang="zh-CN" altLang="en-US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”</a:t>
            </a:r>
            <a:endParaRPr lang="en-US" altLang="zh-CN" sz="16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29779" y="3335044"/>
            <a:ext cx="4876" cy="2766695"/>
          </a:xfrm>
          <a:prstGeom prst="bentConnector3">
            <a:avLst>
              <a:gd name="adj1" fmla="val -781382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01" name="组合 3700">
            <a:extLst>
              <a:ext uri="{FF2B5EF4-FFF2-40B4-BE49-F238E27FC236}">
                <a16:creationId xmlns:a16="http://schemas.microsoft.com/office/drawing/2014/main" id="{AB83E71C-3E91-228C-61D0-151F9FC1C746}"/>
              </a:ext>
            </a:extLst>
          </p:cNvPr>
          <p:cNvGrpSpPr/>
          <p:nvPr/>
        </p:nvGrpSpPr>
        <p:grpSpPr>
          <a:xfrm>
            <a:off x="601424" y="2723554"/>
            <a:ext cx="2494891" cy="1997276"/>
            <a:chOff x="1226694" y="2091768"/>
            <a:chExt cx="2376970" cy="1902874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EA2216E7-D054-6911-62F1-6485D495319D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0323601-200F-D610-B725-2585A75D42C9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C59263FE-BD23-D3B9-1040-E7FADE1E688F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F4CBB76F-D749-0385-8424-4155C0662DEC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7AB78D5B-48DF-973F-5192-397F55E79838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26" name="矩形: 圆角 25">
                <a:extLst>
                  <a:ext uri="{FF2B5EF4-FFF2-40B4-BE49-F238E27FC236}">
                    <a16:creationId xmlns:a16="http://schemas.microsoft.com/office/drawing/2014/main" id="{1EA575A3-1765-6B76-30F7-2A70C9DDF344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DE4AD6F4-43A3-1B09-9A95-C30B6409F240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64496906-EA71-71DB-2065-706EBA29BAF6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C015E140-7A1D-7F16-C4EE-332851B5DB38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40" name="连接符: 肘形 39">
              <a:extLst>
                <a:ext uri="{FF2B5EF4-FFF2-40B4-BE49-F238E27FC236}">
                  <a16:creationId xmlns:a16="http://schemas.microsoft.com/office/drawing/2014/main" id="{7CC20260-5585-8F7B-0939-3015A660DE6B}"/>
                </a:ext>
              </a:extLst>
            </p:cNvPr>
            <p:cNvCxnSpPr>
              <a:cxnSpLocks/>
              <a:stCxn id="18" idx="0"/>
              <a:endCxn id="26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84B9174-6976-1A7E-F9FF-3976F29D8BEC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3680" name="矩形: 圆角 3679">
              <a:extLst>
                <a:ext uri="{FF2B5EF4-FFF2-40B4-BE49-F238E27FC236}">
                  <a16:creationId xmlns:a16="http://schemas.microsoft.com/office/drawing/2014/main" id="{08C830D4-FADA-DEE1-76AB-5CF7450C0330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735" y="5203964"/>
            <a:ext cx="3183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06" name="文本框 3705">
            <a:extLst>
              <a:ext uri="{FF2B5EF4-FFF2-40B4-BE49-F238E27FC236}">
                <a16:creationId xmlns:a16="http://schemas.microsoft.com/office/drawing/2014/main" id="{073D2CD5-53C8-625B-57DA-625CF473DDC6}"/>
              </a:ext>
            </a:extLst>
          </p:cNvPr>
          <p:cNvSpPr txBox="1"/>
          <p:nvPr/>
        </p:nvSpPr>
        <p:spPr>
          <a:xfrm>
            <a:off x="6427695" y="1478376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Copper's effective reach at 112Gbps: ~2.5m;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Optics’ effective reach at 112Gbps : </a:t>
            </a:r>
            <a:r>
              <a:rPr lang="en-US" altLang="zh-CN" b="1" dirty="0">
                <a:solidFill>
                  <a:srgbClr val="0052D9"/>
                </a:solidFill>
              </a:rPr>
              <a:t>&gt;100m</a:t>
            </a:r>
            <a:r>
              <a:rPr lang="en-US" altLang="zh-CN" dirty="0"/>
              <a:t>.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144728"/>
              </p:ext>
            </p:extLst>
          </p:nvPr>
        </p:nvGraphicFramePr>
        <p:xfrm>
          <a:off x="6841656" y="2792616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364824" y="2278998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536185" y="4240819"/>
            <a:ext cx="636413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2.5m</a:t>
            </a: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515839" y="3822289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593360" y="2396116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100m-2km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264578" y="2609427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299325" y="2646309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417465" y="4601408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34" name="直接箭头连接符 1033">
            <a:extLst>
              <a:ext uri="{FF2B5EF4-FFF2-40B4-BE49-F238E27FC236}">
                <a16:creationId xmlns:a16="http://schemas.microsoft.com/office/drawing/2014/main" id="{1E7B5A71-1378-25BA-844E-D629AD194426}"/>
              </a:ext>
            </a:extLst>
          </p:cNvPr>
          <p:cNvCxnSpPr>
            <a:cxnSpLocks/>
          </p:cNvCxnSpPr>
          <p:nvPr/>
        </p:nvCxnSpPr>
        <p:spPr>
          <a:xfrm flipH="1">
            <a:off x="7299325" y="464374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Copper Interconnect Reach: A Bottleneck for IDC Scaling; Optical Interconnect Breaks the Limit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372462" y="649505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856515" y="4247169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requires longer interconnects​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0603" y="2722655"/>
            <a:ext cx="2489923" cy="1993299"/>
            <a:chOff x="1226694" y="2091768"/>
            <a:chExt cx="2376970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504814" y="2143165"/>
              <a:ext cx="1816564" cy="5876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cs typeface="+mn-ea"/>
                  <a:sym typeface="+mn-lt"/>
                </a:rPr>
                <a:t>Rack &amp; Rack</a:t>
              </a:r>
            </a:p>
            <a:p>
              <a:pPr algn="ctr"/>
              <a:r>
                <a:rPr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&gt;5m</a:t>
              </a:r>
              <a:endParaRPr lang="zh-CN" altLang="en-US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393329" y="2613147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44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0" imgW="404" imgH="405" progId="TCLayout.ActiveDocument.1">
                  <p:embed/>
                </p:oleObj>
              </mc:Choice>
              <mc:Fallback>
                <p:oleObj name="think-cell 幻灯片" r:id="rId2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68503" y="6261465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122871" y="1285874"/>
            <a:ext cx="54436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2014;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(~30W), account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7.3%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-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60%+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module power;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43" name="Chart 3">
            <a:extLst>
              <a:ext uri="{FF2B5EF4-FFF2-40B4-BE49-F238E27FC236}">
                <a16:creationId xmlns:a16="http://schemas.microsoft.com/office/drawing/2014/main" id="{F842513F-2F58-496A-C459-D1BC09FFE7E9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67870178"/>
              </p:ext>
            </p:extLst>
          </p:nvPr>
        </p:nvGraphicFramePr>
        <p:xfrm>
          <a:off x="855663" y="2255838"/>
          <a:ext cx="4551362" cy="3414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5101B2D-DB47-B323-F276-D4233223343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019300" y="2451100"/>
            <a:ext cx="0" cy="12668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3640F1-B1C7-693D-B63F-79B79801C75F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019300" y="2451100"/>
            <a:ext cx="12827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DFE6433-2919-1E8F-C8DB-9E96D7C473F7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3020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 flipV="1">
            <a:off x="3378200" y="2451100"/>
            <a:ext cx="0" cy="23336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818ECE0-82B7-DC06-95A8-1C90DA9721B2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3378200" y="2451100"/>
            <a:ext cx="12842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9F3D5B60-BF92-80CF-B129-E4261AE538EC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4662488" y="2451100"/>
            <a:ext cx="0" cy="19272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1820863" y="4445000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3-5</a:t>
            </a:r>
            <a:endParaRPr lang="zh-CN" altLang="en-US" sz="18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722438" y="5467350"/>
            <a:ext cx="5937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Copper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3141663" y="3929063"/>
            <a:ext cx="3968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bg1"/>
                </a:solidFill>
                <a:cs typeface="+mn-ea"/>
                <a:sym typeface="+mn-lt"/>
              </a:rPr>
              <a:t>5-8</a:t>
            </a:r>
            <a:endParaRPr lang="zh-CN" altLang="en-US" sz="1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205163" y="5467350"/>
            <a:ext cx="269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cs"/>
                <a:sym typeface="+mn-lt"/>
              </a:rPr>
              <a:t>PO</a:t>
            </a:r>
            <a:endParaRPr lang="zh-CN" altLang="en-US" sz="1400" dirty="0">
              <a:solidFill>
                <a:srgbClr val="000000"/>
              </a:solidFill>
              <a:cs typeface="+mn-cs"/>
              <a:sym typeface="+mn-lt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4470400" y="4775200"/>
            <a:ext cx="3841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800" b="1" smtClean="0">
                <a:solidFill>
                  <a:schemeClr val="tx2"/>
                </a:solidFill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800" b="1" dirty="0">
                <a:solidFill>
                  <a:schemeClr val="tx2"/>
                </a:solidFill>
                <a:effectLst/>
                <a:cs typeface="+mn-ea"/>
                <a:sym typeface="+mn-lt"/>
              </a:rPr>
              <a:t>.4</a:t>
            </a:r>
            <a:endParaRPr lang="zh-CN" altLang="en-US" sz="1800" b="1" dirty="0">
              <a:solidFill>
                <a:schemeClr val="tx2"/>
              </a:solidFill>
              <a:cs typeface="+mn-ea"/>
              <a:sym typeface="+mn-lt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464050" y="5467350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  <a:sym typeface="+mn-lt"/>
              </a:rPr>
              <a:pPr/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C80778E-D083-5825-5919-86855107A5C6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2243138" y="2257425"/>
            <a:ext cx="836613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effectLst/>
                <a:cs typeface="+mn-cs"/>
              </a:rPr>
              <a:t>60%+</a:t>
            </a:r>
            <a:endParaRPr lang="zh-CN" altLang="en-US" sz="1800" b="1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3641725" y="2257425"/>
            <a:ext cx="755650" cy="388938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800" b="1" smtClean="0">
                <a:effectLst/>
                <a:cs typeface="+mn-ea"/>
                <a:sym typeface="+mn-lt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800" b="1" dirty="0">
              <a:cs typeface="+mn-ea"/>
              <a:sym typeface="+mn-lt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00530C14-FEC1-EEF4-F50D-D7B9DAE15A48}"/>
              </a:ext>
            </a:extLst>
          </p:cNvPr>
          <p:cNvSpPr/>
          <p:nvPr/>
        </p:nvSpPr>
        <p:spPr>
          <a:xfrm>
            <a:off x="6199187" y="3963194"/>
            <a:ext cx="5196700" cy="1937708"/>
          </a:xfrm>
          <a:prstGeom prst="roundRect">
            <a:avLst>
              <a:gd name="adj" fmla="val 368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“CPO primarily replaces traditional POs and does not replace copper interconnects in the short term.​​</a:t>
            </a:r>
          </a:p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​CPO solution reduces power consumption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70% (33W → 9W)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and lowers overall (switch) costs by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30%, 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offering clear competitive advantages.​​”</a:t>
            </a:r>
          </a:p>
          <a:p>
            <a:pPr algn="r"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—Nvidia expert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601663" y="1852613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400" dirty="0">
                <a:latin typeface="+mn-lt"/>
                <a:ea typeface="+mn-ea"/>
                <a:cs typeface="+mn-ea"/>
                <a:sym typeface="+mn-lt"/>
              </a:rPr>
              <a:t>Power(W/line)</a:t>
            </a:r>
            <a:endParaRPr lang="zh-CN" altLang="en-US" sz="14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Power Issues in Copper-to-Optical Transition; CPO Cuts Power Consumption Significantly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4" y="6531893"/>
            <a:ext cx="1074969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768370" y="1285874"/>
            <a:ext cx="4873586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PO,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921365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1" imgH="401" progId="TCLayout.ActiveDocument.1">
                  <p:embed/>
                </p:oleObj>
              </mc:Choice>
              <mc:Fallback>
                <p:oleObj name="think-cell 幻灯片" r:id="rId2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BF9BDCD-BD28-6FC8-A4C4-6FAFD7E8EF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63D56B0-4EE6-27F5-93FD-1B38E75F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Three Consensus Optical Interconnect Solutions: PO, NPO, and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276308"/>
            <a:ext cx="8183112" cy="4343337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6418" y="9746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of Single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18143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61980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8833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Hight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032566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F2F2F2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89216" y="4954257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22-30W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541806" y="3219992"/>
            <a:ext cx="2330252" cy="536996"/>
            <a:chOff x="2166754" y="4777695"/>
            <a:chExt cx="2330252" cy="536996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12-18W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21583" y="2019111"/>
            <a:ext cx="1975668" cy="536996"/>
            <a:chOff x="2166754" y="4777695"/>
            <a:chExt cx="1975668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5.5-9W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6086133" y="373919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Short-term</a:t>
            </a: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8510458" y="2598431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solidFill>
                  <a:srgbClr val="0052D9"/>
                </a:solidFill>
                <a:ea typeface="Verdana" pitchFamily="34" charset="0"/>
              </a:rPr>
              <a:t>Long-term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192DB1D0-E9EF-7F5F-4DBD-5D1458C34DB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13684583" y="3547389"/>
            <a:ext cx="2723335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ea typeface="Verdana" pitchFamily="34" charset="0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4530406" y="9746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534398" y="-1120402"/>
            <a:ext cx="5473700" cy="11880104"/>
          </a:xfrm>
          <a:prstGeom prst="arc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39429" y="204250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3146638" y="2025775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zh-CN" altLang="en-US" sz="1600" b="1" dirty="0">
                <a:ea typeface="Verdana" pitchFamily="34" charset="0"/>
              </a:rPr>
              <a:t>①</a:t>
            </a:r>
            <a:r>
              <a:rPr lang="en-US" altLang="zh-CN" sz="1600" b="1" dirty="0">
                <a:ea typeface="Verdana" pitchFamily="34" charset="0"/>
              </a:rPr>
              <a:t>​ 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965137" y="3620391"/>
            <a:ext cx="1934013" cy="148124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328051"/>
            <a:ext cx="1107757" cy="792969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5864020" y="358009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316416" y="229410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>
          <a:xfrm>
            <a:off x="5070298" y="4697908"/>
            <a:ext cx="2487695" cy="26737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zh-CN" altLang="en-US" sz="1600" b="1" dirty="0">
                <a:ea typeface="Verdana" pitchFamily="34" charset="0"/>
              </a:rPr>
              <a:t>②</a:t>
            </a:r>
            <a:r>
              <a:rPr lang="en-US" altLang="zh-CN" sz="1600" b="1" dirty="0">
                <a:ea typeface="Verdana" pitchFamily="34" charset="0"/>
              </a:rPr>
              <a:t> 2022: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56685" y="5073663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101019" y="5045885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89" name="TextBox 39">
            <a:extLst>
              <a:ext uri="{FF2B5EF4-FFF2-40B4-BE49-F238E27FC236}">
                <a16:creationId xmlns:a16="http://schemas.microsoft.com/office/drawing/2014/main" id="{A1F45303-3B63-F6D7-0893-AFA6C7ABB244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6096000" y="2470143"/>
            <a:ext cx="183135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400" dirty="0">
                <a:ea typeface="Verdana" pitchFamily="34" charset="0"/>
              </a:rPr>
              <a:t>S</a:t>
            </a:r>
            <a:r>
              <a:rPr lang="en-US" altLang="zh-CN" sz="1400" dirty="0">
                <a:ea typeface="Verdana" pitchFamily="34" charset="0"/>
              </a:rPr>
              <a:t>ignal loss &amp; distortion of PCB solved</a:t>
            </a:r>
            <a:endParaRPr lang="en-US" sz="1400" dirty="0">
              <a:ea typeface="Verdana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91084" y="5098413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ea typeface="Verdana" pitchFamily="34" charset="0"/>
              </a:rPr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302320" y="2009242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208758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859549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217436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Overcomes PO’s Constrains: Signal Loss, Power Consumption, and Speed Limitations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2865436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150331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:​​ PCB traces cause high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signal 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under 200Gbps/line;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298577" y="633467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1716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238626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227475" y="2303966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238626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12.8+Tbps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43348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PO Dominates Mainstream; CPO Becomes the Focus of Tech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591800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6275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Medium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12BFE29-888F-9E49-4EC1-44B14D6925BA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101850" y="17780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弧 155">
            <a:extLst>
              <a:ext uri="{FF2B5EF4-FFF2-40B4-BE49-F238E27FC236}">
                <a16:creationId xmlns:a16="http://schemas.microsoft.com/office/drawing/2014/main" id="{2951776E-1A62-A9CD-5D1E-9DF41ED6A0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101850" y="1778000"/>
            <a:ext cx="187325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4F0B813F-32EE-EB79-187C-85AF6F62ABF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16700" y="1790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弧 155">
            <a:extLst>
              <a:ext uri="{FF2B5EF4-FFF2-40B4-BE49-F238E27FC236}">
                <a16:creationId xmlns:a16="http://schemas.microsoft.com/office/drawing/2014/main" id="{8979A53B-A0DE-2250-D385-2828F07FC3C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16701" y="1790700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1" name="椭圆 90">
            <a:extLst>
              <a:ext uri="{FF2B5EF4-FFF2-40B4-BE49-F238E27FC236}">
                <a16:creationId xmlns:a16="http://schemas.microsoft.com/office/drawing/2014/main" id="{D9609890-EC78-519E-A870-70859BE2F8E7}"/>
              </a:ext>
            </a:extLst>
          </p:cNvPr>
          <p:cNvSpPr/>
          <p:nvPr/>
        </p:nvSpPr>
        <p:spPr>
          <a:xfrm>
            <a:off x="2046288" y="2230438"/>
            <a:ext cx="488950" cy="488950"/>
          </a:xfrm>
          <a:prstGeom prst="ellipse">
            <a:avLst/>
          </a:prstGeom>
          <a:solidFill>
            <a:srgbClr val="0052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DCF9ED99-140F-0C08-740C-0D6F2007712D}"/>
              </a:ext>
            </a:extLst>
          </p:cNvPr>
          <p:cNvGrpSpPr/>
          <p:nvPr/>
        </p:nvGrpSpPr>
        <p:grpSpPr>
          <a:xfrm>
            <a:off x="6681788" y="2314575"/>
            <a:ext cx="2971800" cy="307975"/>
            <a:chOff x="5410439" y="2582719"/>
            <a:chExt cx="2970624" cy="307777"/>
          </a:xfrm>
        </p:grpSpPr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6DC493-6BA9-C9D8-1CDB-AB108B52E3F6}"/>
                </a:ext>
              </a:extLst>
            </p:cNvPr>
            <p:cNvSpPr/>
            <p:nvPr/>
          </p:nvSpPr>
          <p:spPr>
            <a:xfrm>
              <a:off x="5410439" y="2702157"/>
              <a:ext cx="100683" cy="100683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9B844F1B-C95E-1A69-4E59-4E369A0B197F}"/>
                </a:ext>
              </a:extLst>
            </p:cNvPr>
            <p:cNvSpPr txBox="1"/>
            <p:nvPr/>
          </p:nvSpPr>
          <p:spPr>
            <a:xfrm>
              <a:off x="5593413" y="2582719"/>
              <a:ext cx="2787650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$10mn-scale</a:t>
              </a:r>
              <a:endPara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667125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CR3: 50%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，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Q4'24: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370046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Q2’25: Spectrum-X CPO switch delivery.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Q2’26E: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delivery.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626725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4E21-B7D7-BE38-FADE-CB8B7B41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853B9516-AA57-80CD-E1AF-A9E80A03B0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605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F4C983E-BCB7-E682-7462-113607DEA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545" y="89860"/>
            <a:ext cx="10071100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</a:rPr>
              <a:t>CPO Faces 3 Hurdles; NPO Proposed As The Bridge to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E59D84E-2AC0-8A03-8B00-ED0283593370}"/>
              </a:ext>
            </a:extLst>
          </p:cNvPr>
          <p:cNvSpPr txBox="1"/>
          <p:nvPr/>
        </p:nvSpPr>
        <p:spPr>
          <a:xfrm>
            <a:off x="473702" y="3102414"/>
            <a:ext cx="1294622" cy="4620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Cost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964C937-BEBE-7A7A-9C6C-196C90BCA623}"/>
              </a:ext>
            </a:extLst>
          </p:cNvPr>
          <p:cNvGrpSpPr/>
          <p:nvPr/>
        </p:nvGrpSpPr>
        <p:grpSpPr>
          <a:xfrm>
            <a:off x="6637338" y="961744"/>
            <a:ext cx="4106863" cy="442913"/>
            <a:chOff x="3873011" y="995866"/>
            <a:chExt cx="2534139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B53B72C8-173F-BC06-A179-722C1927F153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53413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18844DE-5732-79CD-634E-75A87DFD423E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NPO (Near-Packaged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7541B82E-988A-D7A9-D01E-654F16018BAC}"/>
              </a:ext>
            </a:extLst>
          </p:cNvPr>
          <p:cNvSpPr txBox="1"/>
          <p:nvPr/>
        </p:nvSpPr>
        <p:spPr>
          <a:xfrm>
            <a:off x="472812" y="1668872"/>
            <a:ext cx="1291099" cy="77876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Architecture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74DD5A5-24F6-5C3F-E372-31E422131C23}"/>
              </a:ext>
            </a:extLst>
          </p:cNvPr>
          <p:cNvGrpSpPr/>
          <p:nvPr/>
        </p:nvGrpSpPr>
        <p:grpSpPr>
          <a:xfrm>
            <a:off x="1985963" y="963613"/>
            <a:ext cx="4110037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E0DFE11C-81A3-ACA9-BAB9-A2D252999D69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08956BAB-C473-737A-C0A3-8D27C823972B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65728FD-8312-0292-DD06-4FF13CA901F5}"/>
              </a:ext>
            </a:extLst>
          </p:cNvPr>
          <p:cNvSpPr txBox="1"/>
          <p:nvPr/>
        </p:nvSpPr>
        <p:spPr>
          <a:xfrm>
            <a:off x="341335" y="6225296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Yole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BAD623B-1210-3D8C-38B6-B419E327380C}"/>
              </a:ext>
            </a:extLst>
          </p:cNvPr>
          <p:cNvSpPr/>
          <p:nvPr/>
        </p:nvSpPr>
        <p:spPr>
          <a:xfrm>
            <a:off x="2044692" y="2115661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8F099A-08EF-8EDB-FB75-D88E92F33995}"/>
              </a:ext>
            </a:extLst>
          </p:cNvPr>
          <p:cNvSpPr/>
          <p:nvPr/>
        </p:nvSpPr>
        <p:spPr>
          <a:xfrm>
            <a:off x="2706865" y="2121882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B9B730F-620F-665B-D75C-E40D51AFC78A}"/>
              </a:ext>
            </a:extLst>
          </p:cNvPr>
          <p:cNvSpPr/>
          <p:nvPr/>
        </p:nvSpPr>
        <p:spPr>
          <a:xfrm>
            <a:off x="1990725" y="2280939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E2F2E6C-52A6-5861-9D72-3EE910A47C8B}"/>
              </a:ext>
            </a:extLst>
          </p:cNvPr>
          <p:cNvSpPr/>
          <p:nvPr/>
        </p:nvSpPr>
        <p:spPr>
          <a:xfrm>
            <a:off x="2008980" y="2238302"/>
            <a:ext cx="1441121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55233783-4416-9C0A-C507-C37C114FF33F}"/>
              </a:ext>
            </a:extLst>
          </p:cNvPr>
          <p:cNvCxnSpPr>
            <a:cxnSpLocks/>
            <a:stCxn id="7" idx="2"/>
            <a:endCxn id="9" idx="2"/>
          </p:cNvCxnSpPr>
          <p:nvPr/>
        </p:nvCxnSpPr>
        <p:spPr>
          <a:xfrm rot="16200000" flipH="1">
            <a:off x="2578418" y="2014535"/>
            <a:ext cx="6221" cy="447588"/>
          </a:xfrm>
          <a:prstGeom prst="bentConnector3">
            <a:avLst>
              <a:gd name="adj1" fmla="val 474249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61F55CE-4332-354C-99B7-3E29E7949730}"/>
              </a:ext>
            </a:extLst>
          </p:cNvPr>
          <p:cNvSpPr txBox="1"/>
          <p:nvPr/>
        </p:nvSpPr>
        <p:spPr>
          <a:xfrm>
            <a:off x="1938288" y="1893619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ASIC Chip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F913675-5B79-37B4-134D-83D95363B237}"/>
              </a:ext>
            </a:extLst>
          </p:cNvPr>
          <p:cNvSpPr txBox="1"/>
          <p:nvPr/>
        </p:nvSpPr>
        <p:spPr>
          <a:xfrm>
            <a:off x="3593206" y="2025051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 Substrate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C33624C-FDB9-9386-1049-5351760C9525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 flipV="1">
            <a:off x="3450101" y="2148162"/>
            <a:ext cx="143105" cy="113000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CFFA8CA-0B95-C717-BC96-3D54B8FB52DF}"/>
              </a:ext>
            </a:extLst>
          </p:cNvPr>
          <p:cNvSpPr/>
          <p:nvPr/>
        </p:nvSpPr>
        <p:spPr>
          <a:xfrm>
            <a:off x="6718043" y="2048999"/>
            <a:ext cx="626083" cy="119558"/>
          </a:xfrm>
          <a:prstGeom prst="roundRect">
            <a:avLst>
              <a:gd name="adj" fmla="val 2414"/>
            </a:avLst>
          </a:prstGeom>
          <a:solidFill>
            <a:schemeClr val="accent6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B442AE-5D9E-0D1C-4E44-8436723A72AD}"/>
              </a:ext>
            </a:extLst>
          </p:cNvPr>
          <p:cNvSpPr/>
          <p:nvPr/>
        </p:nvSpPr>
        <p:spPr>
          <a:xfrm>
            <a:off x="8051790" y="2100139"/>
            <a:ext cx="196913" cy="11955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8469237-21B5-B182-2550-1F55472DBFB7}"/>
              </a:ext>
            </a:extLst>
          </p:cNvPr>
          <p:cNvSpPr/>
          <p:nvPr/>
        </p:nvSpPr>
        <p:spPr>
          <a:xfrm>
            <a:off x="6664076" y="2277777"/>
            <a:ext cx="2588124" cy="66209"/>
          </a:xfrm>
          <a:prstGeom prst="roundRect">
            <a:avLst>
              <a:gd name="adj" fmla="val 2414"/>
            </a:avLst>
          </a:prstGeom>
          <a:solidFill>
            <a:schemeClr val="accent5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D314A75-177E-3E55-A2F2-78CA9A77A1F0}"/>
              </a:ext>
            </a:extLst>
          </p:cNvPr>
          <p:cNvSpPr/>
          <p:nvPr/>
        </p:nvSpPr>
        <p:spPr>
          <a:xfrm>
            <a:off x="6682332" y="2171640"/>
            <a:ext cx="1055144" cy="45719"/>
          </a:xfrm>
          <a:prstGeom prst="roundRect">
            <a:avLst>
              <a:gd name="adj" fmla="val 2414"/>
            </a:avLst>
          </a:prstGeom>
          <a:solidFill>
            <a:schemeClr val="accent2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4D66D3D-28C6-C75C-43F7-EA36A1DDE890}"/>
              </a:ext>
            </a:extLst>
          </p:cNvPr>
          <p:cNvSpPr/>
          <p:nvPr/>
        </p:nvSpPr>
        <p:spPr>
          <a:xfrm>
            <a:off x="6670427" y="2222553"/>
            <a:ext cx="1609975" cy="53622"/>
          </a:xfrm>
          <a:prstGeom prst="roundRect">
            <a:avLst>
              <a:gd name="adj" fmla="val 2414"/>
            </a:avLst>
          </a:prstGeom>
          <a:solidFill>
            <a:srgbClr val="FFC000"/>
          </a:solidFill>
          <a:ln w="6350">
            <a:solidFill>
              <a:srgbClr val="0052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E8471808-4AAB-37A2-930E-3CA9ECB7D892}"/>
              </a:ext>
            </a:extLst>
          </p:cNvPr>
          <p:cNvCxnSpPr>
            <a:cxnSpLocks/>
            <a:stCxn id="36" idx="2"/>
            <a:endCxn id="37" idx="2"/>
          </p:cNvCxnSpPr>
          <p:nvPr/>
        </p:nvCxnSpPr>
        <p:spPr>
          <a:xfrm rot="16200000" flipH="1">
            <a:off x="7565096" y="1634546"/>
            <a:ext cx="51140" cy="1119162"/>
          </a:xfrm>
          <a:prstGeom prst="bentConnector3">
            <a:avLst>
              <a:gd name="adj1" fmla="val 165188"/>
            </a:avLst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5CC630B-93ED-3D5F-E219-9D85C4F42996}"/>
              </a:ext>
            </a:extLst>
          </p:cNvPr>
          <p:cNvSpPr txBox="1"/>
          <p:nvPr/>
        </p:nvSpPr>
        <p:spPr>
          <a:xfrm>
            <a:off x="4958950" y="2161355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PCB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EED7490-3AD7-0F4B-7842-CFB4E386D6C0}"/>
              </a:ext>
            </a:extLst>
          </p:cNvPr>
          <p:cNvCxnSpPr>
            <a:cxnSpLocks/>
            <a:stCxn id="10" idx="3"/>
            <a:endCxn id="55" idx="1"/>
          </p:cNvCxnSpPr>
          <p:nvPr/>
        </p:nvCxnSpPr>
        <p:spPr>
          <a:xfrm flipV="1">
            <a:off x="4578849" y="2284466"/>
            <a:ext cx="380101" cy="29578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16BFC944-90B2-B57F-C86F-552C91F7FCFB}"/>
              </a:ext>
            </a:extLst>
          </p:cNvPr>
          <p:cNvSpPr txBox="1"/>
          <p:nvPr/>
        </p:nvSpPr>
        <p:spPr>
          <a:xfrm>
            <a:off x="8964509" y="2015059"/>
            <a:ext cx="221547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High-performance Substrate</a:t>
            </a:r>
            <a:endParaRPr lang="zh-CN" altLang="zh-CN" sz="1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320F622F-4D2C-4178-601A-F25D5660D2A0}"/>
              </a:ext>
            </a:extLst>
          </p:cNvPr>
          <p:cNvCxnSpPr>
            <a:cxnSpLocks/>
            <a:stCxn id="49" idx="3"/>
            <a:endCxn id="67" idx="1"/>
          </p:cNvCxnSpPr>
          <p:nvPr/>
        </p:nvCxnSpPr>
        <p:spPr>
          <a:xfrm flipV="1">
            <a:off x="8280402" y="2138170"/>
            <a:ext cx="684107" cy="111194"/>
          </a:xfrm>
          <a:prstGeom prst="line">
            <a:avLst/>
          </a:prstGeom>
          <a:ln w="6350"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A2988693-B2A6-22CB-5849-D28EE8EA49F0}"/>
              </a:ext>
            </a:extLst>
          </p:cNvPr>
          <p:cNvSpPr txBox="1"/>
          <p:nvPr/>
        </p:nvSpPr>
        <p:spPr>
          <a:xfrm>
            <a:off x="6618503" y="1831385"/>
            <a:ext cx="1385936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ASIC Chip</a:t>
            </a:r>
            <a:endParaRPr lang="zh-CN" altLang="zh-CN" sz="10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733B496-A9C7-95F0-6643-3630A672D087}"/>
              </a:ext>
            </a:extLst>
          </p:cNvPr>
          <p:cNvSpPr txBox="1"/>
          <p:nvPr/>
        </p:nvSpPr>
        <p:spPr>
          <a:xfrm>
            <a:off x="7971053" y="2040609"/>
            <a:ext cx="43950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OE</a:t>
            </a:r>
            <a:endParaRPr lang="zh-CN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B05F774-B99C-2625-EE25-2275A7754C58}"/>
              </a:ext>
            </a:extLst>
          </p:cNvPr>
          <p:cNvSpPr txBox="1"/>
          <p:nvPr/>
        </p:nvSpPr>
        <p:spPr>
          <a:xfrm>
            <a:off x="1908439" y="149422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co-packaged on package substrate.</a:t>
            </a:r>
            <a:endParaRPr lang="zh-CN" altLang="en-US" sz="16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D63A4226-28FE-D851-4F72-883BCF21B426}"/>
              </a:ext>
            </a:extLst>
          </p:cNvPr>
          <p:cNvSpPr txBox="1"/>
          <p:nvPr/>
        </p:nvSpPr>
        <p:spPr>
          <a:xfrm>
            <a:off x="6616700" y="149232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near-packaged on high-performance substrate.</a:t>
            </a:r>
            <a:endParaRPr lang="zh-CN" altLang="en-US" sz="1600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57740914-CF70-663E-015B-98494C7B7081}"/>
              </a:ext>
            </a:extLst>
          </p:cNvPr>
          <p:cNvSpPr txBox="1"/>
          <p:nvPr/>
        </p:nvSpPr>
        <p:spPr>
          <a:xfrm>
            <a:off x="2625649" y="2064419"/>
            <a:ext cx="43950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cs typeface="+mn-ea"/>
                <a:sym typeface="+mn-lt"/>
              </a:rPr>
              <a:t>OE</a:t>
            </a:r>
            <a:endParaRPr lang="zh-CN" altLang="zh-CN" sz="1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等腰三角形 94">
            <a:extLst>
              <a:ext uri="{FF2B5EF4-FFF2-40B4-BE49-F238E27FC236}">
                <a16:creationId xmlns:a16="http://schemas.microsoft.com/office/drawing/2014/main" id="{208C3962-53AD-CC75-944E-1736D0E0DC80}"/>
              </a:ext>
            </a:extLst>
          </p:cNvPr>
          <p:cNvSpPr/>
          <p:nvPr/>
        </p:nvSpPr>
        <p:spPr>
          <a:xfrm rot="10800000">
            <a:off x="3131342" y="2701147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9AF85D4-C979-6384-189D-71EF0284C461}"/>
              </a:ext>
            </a:extLst>
          </p:cNvPr>
          <p:cNvSpPr txBox="1"/>
          <p:nvPr/>
        </p:nvSpPr>
        <p:spPr>
          <a:xfrm>
            <a:off x="473703" y="4135820"/>
            <a:ext cx="1294622" cy="631772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Supply Chain Maturity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6DD385C-0E01-AA55-6ED4-672236BF9662}"/>
              </a:ext>
            </a:extLst>
          </p:cNvPr>
          <p:cNvSpPr txBox="1"/>
          <p:nvPr/>
        </p:nvSpPr>
        <p:spPr>
          <a:xfrm>
            <a:off x="473710" y="5297383"/>
            <a:ext cx="1294419" cy="631772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Maintainability</a:t>
            </a:r>
          </a:p>
        </p:txBody>
      </p:sp>
      <p:sp>
        <p:nvSpPr>
          <p:cNvPr id="109" name="等腰三角形 108">
            <a:extLst>
              <a:ext uri="{FF2B5EF4-FFF2-40B4-BE49-F238E27FC236}">
                <a16:creationId xmlns:a16="http://schemas.microsoft.com/office/drawing/2014/main" id="{437E2DC5-E7B4-80BB-9597-350F9CED3CF8}"/>
              </a:ext>
            </a:extLst>
          </p:cNvPr>
          <p:cNvSpPr/>
          <p:nvPr/>
        </p:nvSpPr>
        <p:spPr>
          <a:xfrm rot="10800000">
            <a:off x="8119165" y="2701147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0C47E4A4-9607-602E-3C1C-541B7E596E05}"/>
              </a:ext>
            </a:extLst>
          </p:cNvPr>
          <p:cNvSpPr txBox="1"/>
          <p:nvPr/>
        </p:nvSpPr>
        <p:spPr>
          <a:xfrm>
            <a:off x="2035857" y="3102414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8-10x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of PO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2.5D/3D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packaging brings low yield.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51D1C203-1125-2AA5-1AC7-D73676314360}"/>
              </a:ext>
            </a:extLst>
          </p:cNvPr>
          <p:cNvSpPr txBox="1"/>
          <p:nvPr/>
        </p:nvSpPr>
        <p:spPr>
          <a:xfrm>
            <a:off x="6627543" y="3102414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4-5x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of PO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PCB &amp; IC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packaging.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85A41CB6-4DFB-BA90-BF54-FBC76492E79F}"/>
              </a:ext>
            </a:extLst>
          </p:cNvPr>
          <p:cNvSpPr txBox="1"/>
          <p:nvPr/>
        </p:nvSpPr>
        <p:spPr>
          <a:xfrm>
            <a:off x="2357733" y="4183570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Low</a:t>
            </a: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E632BB8-8143-3362-A091-86B3553CFF65}"/>
              </a:ext>
            </a:extLst>
          </p:cNvPr>
          <p:cNvSpPr txBox="1"/>
          <p:nvPr/>
        </p:nvSpPr>
        <p:spPr>
          <a:xfrm>
            <a:off x="2024583" y="4538717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Supply Chain Realignment: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Deep collaboration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required.​</a:t>
            </a: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70234AB7-CD92-0D13-78C2-4CDA7C495509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014538" y="4213225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33" name="弧形 1032">
            <a:extLst>
              <a:ext uri="{FF2B5EF4-FFF2-40B4-BE49-F238E27FC236}">
                <a16:creationId xmlns:a16="http://schemas.microsoft.com/office/drawing/2014/main" id="{4E8F1CB0-63B1-9080-B662-650B37EEA9AA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2014538" y="4213225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文本框 1024">
            <a:extLst>
              <a:ext uri="{FF2B5EF4-FFF2-40B4-BE49-F238E27FC236}">
                <a16:creationId xmlns:a16="http://schemas.microsoft.com/office/drawing/2014/main" id="{E47D282C-CECD-4D00-1973-3C1458AFE097}"/>
              </a:ext>
            </a:extLst>
          </p:cNvPr>
          <p:cNvSpPr txBox="1"/>
          <p:nvPr/>
        </p:nvSpPr>
        <p:spPr>
          <a:xfrm>
            <a:off x="6949850" y="4177960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High</a:t>
            </a:r>
          </a:p>
        </p:txBody>
      </p:sp>
      <p:sp>
        <p:nvSpPr>
          <p:cNvPr id="1026" name="文本框 1025">
            <a:extLst>
              <a:ext uri="{FF2B5EF4-FFF2-40B4-BE49-F238E27FC236}">
                <a16:creationId xmlns:a16="http://schemas.microsoft.com/office/drawing/2014/main" id="{B0352FA0-469B-6339-190D-4E43731B0951}"/>
              </a:ext>
            </a:extLst>
          </p:cNvPr>
          <p:cNvSpPr txBox="1"/>
          <p:nvPr/>
        </p:nvSpPr>
        <p:spPr>
          <a:xfrm>
            <a:off x="6616700" y="4533107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Co-design &amp; maintains the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current industry structure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1027" name="椭圆 1026">
            <a:extLst>
              <a:ext uri="{FF2B5EF4-FFF2-40B4-BE49-F238E27FC236}">
                <a16:creationId xmlns:a16="http://schemas.microsoft.com/office/drawing/2014/main" id="{401F36A6-B1A0-D739-3D8A-0CE48528D4AC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637338" y="4203700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28" name="弧形 1027">
            <a:extLst>
              <a:ext uri="{FF2B5EF4-FFF2-40B4-BE49-F238E27FC236}">
                <a16:creationId xmlns:a16="http://schemas.microsoft.com/office/drawing/2014/main" id="{D16FB5A9-0D41-4848-E607-F63ACF61E51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6637338" y="4203700"/>
            <a:ext cx="187324" cy="187324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0" name="文本框 1029">
            <a:extLst>
              <a:ext uri="{FF2B5EF4-FFF2-40B4-BE49-F238E27FC236}">
                <a16:creationId xmlns:a16="http://schemas.microsoft.com/office/drawing/2014/main" id="{6856E800-E43B-D706-1314-D4368207C57C}"/>
              </a:ext>
            </a:extLst>
          </p:cNvPr>
          <p:cNvSpPr txBox="1"/>
          <p:nvPr/>
        </p:nvSpPr>
        <p:spPr>
          <a:xfrm>
            <a:off x="2369007" y="5335051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Low</a:t>
            </a:r>
          </a:p>
        </p:txBody>
      </p:sp>
      <p:sp>
        <p:nvSpPr>
          <p:cNvPr id="1031" name="文本框 1030">
            <a:extLst>
              <a:ext uri="{FF2B5EF4-FFF2-40B4-BE49-F238E27FC236}">
                <a16:creationId xmlns:a16="http://schemas.microsoft.com/office/drawing/2014/main" id="{DA613A83-A4A7-BBB6-5C4D-DCE2F4A438C9}"/>
              </a:ext>
            </a:extLst>
          </p:cNvPr>
          <p:cNvSpPr txBox="1"/>
          <p:nvPr/>
        </p:nvSpPr>
        <p:spPr>
          <a:xfrm>
            <a:off x="2035857" y="5690198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Full board 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(including ASIC) replacement.</a:t>
            </a:r>
          </a:p>
        </p:txBody>
      </p:sp>
      <p:sp>
        <p:nvSpPr>
          <p:cNvPr id="1035" name="椭圆 1034">
            <a:extLst>
              <a:ext uri="{FF2B5EF4-FFF2-40B4-BE49-F238E27FC236}">
                <a16:creationId xmlns:a16="http://schemas.microsoft.com/office/drawing/2014/main" id="{C1877431-EB48-C57A-D6EE-2212F183CCB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2012950" y="53673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37" name="弧形 1036">
            <a:extLst>
              <a:ext uri="{FF2B5EF4-FFF2-40B4-BE49-F238E27FC236}">
                <a16:creationId xmlns:a16="http://schemas.microsoft.com/office/drawing/2014/main" id="{57383745-DE2E-9F8E-FD26-A2D36D26AE15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2012950" y="5367338"/>
            <a:ext cx="187325" cy="187325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9" name="文本框 1038">
            <a:extLst>
              <a:ext uri="{FF2B5EF4-FFF2-40B4-BE49-F238E27FC236}">
                <a16:creationId xmlns:a16="http://schemas.microsoft.com/office/drawing/2014/main" id="{799882CD-BB06-FD0A-9DE6-FF9C959FD5FC}"/>
              </a:ext>
            </a:extLst>
          </p:cNvPr>
          <p:cNvSpPr txBox="1"/>
          <p:nvPr/>
        </p:nvSpPr>
        <p:spPr>
          <a:xfrm>
            <a:off x="6949850" y="5335051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Medium</a:t>
            </a:r>
          </a:p>
        </p:txBody>
      </p:sp>
      <p:sp>
        <p:nvSpPr>
          <p:cNvPr id="1041" name="文本框 1040">
            <a:extLst>
              <a:ext uri="{FF2B5EF4-FFF2-40B4-BE49-F238E27FC236}">
                <a16:creationId xmlns:a16="http://schemas.microsoft.com/office/drawing/2014/main" id="{48365BCE-6D88-161C-10F5-150145E5E595}"/>
              </a:ext>
            </a:extLst>
          </p:cNvPr>
          <p:cNvSpPr txBox="1"/>
          <p:nvPr/>
        </p:nvSpPr>
        <p:spPr>
          <a:xfrm>
            <a:off x="6616700" y="5690198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OE and ASIC 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separate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replacement.</a:t>
            </a:r>
          </a:p>
        </p:txBody>
      </p:sp>
      <p:sp>
        <p:nvSpPr>
          <p:cNvPr id="1043" name="椭圆 1042">
            <a:extLst>
              <a:ext uri="{FF2B5EF4-FFF2-40B4-BE49-F238E27FC236}">
                <a16:creationId xmlns:a16="http://schemas.microsoft.com/office/drawing/2014/main" id="{F1448868-B858-BC2D-F156-2028A5BFBA75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637338" y="53673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44" name="弧形 1043">
            <a:extLst>
              <a:ext uri="{FF2B5EF4-FFF2-40B4-BE49-F238E27FC236}">
                <a16:creationId xmlns:a16="http://schemas.microsoft.com/office/drawing/2014/main" id="{AF300494-2EDD-B692-489A-AB9D228A6F8D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637338" y="5367338"/>
            <a:ext cx="187324" cy="187324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34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40E1-E544-342B-A526-CB3088141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036F0F49-9FAB-C5EE-E100-8B057D58669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7700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7B622327-C610-ACB2-C11D-8032C1D4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78" y="160493"/>
            <a:ext cx="10030697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</a:rPr>
              <a:t>NPO Deployed First in IDCs; CPO As The Endgame for Aggressive Giants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34429349-E311-207A-02F7-77C94D8F5E70}"/>
              </a:ext>
            </a:extLst>
          </p:cNvPr>
          <p:cNvSpPr txBox="1"/>
          <p:nvPr/>
        </p:nvSpPr>
        <p:spPr>
          <a:xfrm>
            <a:off x="364253" y="6455554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 Alibaba Cloud,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Guangfa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Security,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ServeTheHome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Yole.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CC64C4E-A0E6-DD86-9F2F-D8DFC42E585C}"/>
              </a:ext>
            </a:extLst>
          </p:cNvPr>
          <p:cNvSpPr/>
          <p:nvPr/>
        </p:nvSpPr>
        <p:spPr>
          <a:xfrm>
            <a:off x="387989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E5AD29B7-8E70-B14A-EBC4-F6A474B72819}"/>
              </a:ext>
            </a:extLst>
          </p:cNvPr>
          <p:cNvSpPr/>
          <p:nvPr/>
        </p:nvSpPr>
        <p:spPr>
          <a:xfrm>
            <a:off x="882278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E0257DA0-AAA5-E007-CA8D-169D416F566B}"/>
              </a:ext>
            </a:extLst>
          </p:cNvPr>
          <p:cNvSpPr/>
          <p:nvPr/>
        </p:nvSpPr>
        <p:spPr>
          <a:xfrm>
            <a:off x="636354" y="1742810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E7A86A6-0FFA-F6A0-C779-468A14E0A42F}"/>
              </a:ext>
            </a:extLst>
          </p:cNvPr>
          <p:cNvSpPr/>
          <p:nvPr/>
        </p:nvSpPr>
        <p:spPr>
          <a:xfrm>
            <a:off x="600243" y="370145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NPO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4" name="矩形 1023">
            <a:extLst>
              <a:ext uri="{FF2B5EF4-FFF2-40B4-BE49-F238E27FC236}">
                <a16:creationId xmlns:a16="http://schemas.microsoft.com/office/drawing/2014/main" id="{FCE4767A-1B33-73F9-DE88-463C175E9E37}"/>
              </a:ext>
            </a:extLst>
          </p:cNvPr>
          <p:cNvSpPr/>
          <p:nvPr/>
        </p:nvSpPr>
        <p:spPr>
          <a:xfrm>
            <a:off x="628403" y="540424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5" name="矩形 1024">
            <a:extLst>
              <a:ext uri="{FF2B5EF4-FFF2-40B4-BE49-F238E27FC236}">
                <a16:creationId xmlns:a16="http://schemas.microsoft.com/office/drawing/2014/main" id="{F8E96B75-D0C9-F98D-D496-BBBCB7AB362D}"/>
              </a:ext>
            </a:extLst>
          </p:cNvPr>
          <p:cNvSpPr/>
          <p:nvPr/>
        </p:nvSpPr>
        <p:spPr>
          <a:xfrm>
            <a:off x="6346346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800G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27" name="矩形 1026">
            <a:extLst>
              <a:ext uri="{FF2B5EF4-FFF2-40B4-BE49-F238E27FC236}">
                <a16:creationId xmlns:a16="http://schemas.microsoft.com/office/drawing/2014/main" id="{F04E27EF-80A6-31F2-9AF2-A0D6E48206AD}"/>
              </a:ext>
            </a:extLst>
          </p:cNvPr>
          <p:cNvSpPr/>
          <p:nvPr/>
        </p:nvSpPr>
        <p:spPr>
          <a:xfrm>
            <a:off x="7564811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FC08ED15-8090-62F0-D83D-9A566157EC48}"/>
              </a:ext>
            </a:extLst>
          </p:cNvPr>
          <p:cNvSpPr txBox="1"/>
          <p:nvPr/>
        </p:nvSpPr>
        <p:spPr>
          <a:xfrm>
            <a:off x="1424250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2021</a:t>
            </a:r>
            <a:endParaRPr lang="zh-CN" altLang="en-US" dirty="0"/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E7CECB11-EAB4-D4F1-A4D7-ADAC90579D30}"/>
              </a:ext>
            </a:extLst>
          </p:cNvPr>
          <p:cNvSpPr txBox="1"/>
          <p:nvPr/>
        </p:nvSpPr>
        <p:spPr>
          <a:xfrm>
            <a:off x="3888518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2023</a:t>
            </a:r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171BAABB-AE66-6A4D-FF9B-9AAF146BE438}"/>
              </a:ext>
            </a:extLst>
          </p:cNvPr>
          <p:cNvSpPr txBox="1"/>
          <p:nvPr/>
        </p:nvSpPr>
        <p:spPr>
          <a:xfrm>
            <a:off x="6362447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2025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B931E8E-A3AF-2B7D-D792-FD1BF58BE630}"/>
              </a:ext>
            </a:extLst>
          </p:cNvPr>
          <p:cNvSpPr txBox="1"/>
          <p:nvPr/>
        </p:nvSpPr>
        <p:spPr>
          <a:xfrm>
            <a:off x="8817056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2027</a:t>
            </a:r>
            <a:endParaRPr lang="zh-CN" altLang="en-US" dirty="0"/>
          </a:p>
        </p:txBody>
      </p:sp>
      <p:sp>
        <p:nvSpPr>
          <p:cNvPr id="192" name="矩形 191">
            <a:extLst>
              <a:ext uri="{FF2B5EF4-FFF2-40B4-BE49-F238E27FC236}">
                <a16:creationId xmlns:a16="http://schemas.microsoft.com/office/drawing/2014/main" id="{DC225C8A-D510-9B71-93EB-C36E49BB0E1C}"/>
              </a:ext>
            </a:extLst>
          </p:cNvPr>
          <p:cNvSpPr/>
          <p:nvPr/>
        </p:nvSpPr>
        <p:spPr>
          <a:xfrm>
            <a:off x="7061302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3.2T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496DBE60-D9BE-C995-3B44-BE500107B923}"/>
              </a:ext>
            </a:extLst>
          </p:cNvPr>
          <p:cNvSpPr/>
          <p:nvPr/>
        </p:nvSpPr>
        <p:spPr>
          <a:xfrm>
            <a:off x="8272818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6.4T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4316EB98-C0CE-A313-3EE2-E286C5E57C1A}"/>
              </a:ext>
            </a:extLst>
          </p:cNvPr>
          <p:cNvSpPr/>
          <p:nvPr/>
        </p:nvSpPr>
        <p:spPr>
          <a:xfrm>
            <a:off x="3845558" y="5058143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51.2T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DA8976A9-1108-33B0-38B8-B87CABD5CF77}"/>
              </a:ext>
            </a:extLst>
          </p:cNvPr>
          <p:cNvSpPr/>
          <p:nvPr/>
        </p:nvSpPr>
        <p:spPr>
          <a:xfrm>
            <a:off x="6266652" y="5058143"/>
            <a:ext cx="919720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102.4T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94C09CA8-D743-F664-35A2-B2F113C3D22B}"/>
              </a:ext>
            </a:extLst>
          </p:cNvPr>
          <p:cNvSpPr/>
          <p:nvPr/>
        </p:nvSpPr>
        <p:spPr>
          <a:xfrm>
            <a:off x="1406422" y="1473271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CC5D96FD-89B2-3794-D876-A3DD01577B04}"/>
              </a:ext>
            </a:extLst>
          </p:cNvPr>
          <p:cNvSpPr/>
          <p:nvPr/>
        </p:nvSpPr>
        <p:spPr>
          <a:xfrm>
            <a:off x="2647547" y="5058143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25.6T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3ED8E2B2-0CE5-69CE-66AF-D7957D0A54BD}"/>
              </a:ext>
            </a:extLst>
          </p:cNvPr>
          <p:cNvSpPr txBox="1"/>
          <p:nvPr/>
        </p:nvSpPr>
        <p:spPr>
          <a:xfrm>
            <a:off x="9964844" y="896001"/>
            <a:ext cx="889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Future</a:t>
            </a:r>
            <a:endParaRPr lang="zh-CN" altLang="en-US" dirty="0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DD3B8617-0B13-EDF9-A9C1-823B0FF4F4A8}"/>
              </a:ext>
            </a:extLst>
          </p:cNvPr>
          <p:cNvSpPr txBox="1"/>
          <p:nvPr/>
        </p:nvSpPr>
        <p:spPr>
          <a:xfrm>
            <a:off x="7584920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2026</a:t>
            </a:r>
            <a:endParaRPr lang="zh-CN" altLang="en-US" dirty="0"/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E28C7B98-145C-983D-E900-8E6E3D640357}"/>
              </a:ext>
            </a:extLst>
          </p:cNvPr>
          <p:cNvSpPr txBox="1"/>
          <p:nvPr/>
        </p:nvSpPr>
        <p:spPr>
          <a:xfrm>
            <a:off x="5120652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2024</a:t>
            </a:r>
            <a:endParaRPr lang="zh-CN" altLang="en-US" dirty="0"/>
          </a:p>
        </p:txBody>
      </p:sp>
      <p:sp>
        <p:nvSpPr>
          <p:cNvPr id="210" name="文本框 209">
            <a:extLst>
              <a:ext uri="{FF2B5EF4-FFF2-40B4-BE49-F238E27FC236}">
                <a16:creationId xmlns:a16="http://schemas.microsoft.com/office/drawing/2014/main" id="{4C816922-BC40-E591-E08B-EBA7F3B601A2}"/>
              </a:ext>
            </a:extLst>
          </p:cNvPr>
          <p:cNvSpPr txBox="1"/>
          <p:nvPr/>
        </p:nvSpPr>
        <p:spPr>
          <a:xfrm>
            <a:off x="2656384" y="896742"/>
            <a:ext cx="72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25BE418D-AD87-6363-D6B1-2FD4AA1F37A8}"/>
              </a:ext>
            </a:extLst>
          </p:cNvPr>
          <p:cNvSpPr/>
          <p:nvPr/>
        </p:nvSpPr>
        <p:spPr>
          <a:xfrm>
            <a:off x="2156995" y="3875857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400G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F04F6F12-1612-41E7-D167-9382971BFC7B}"/>
              </a:ext>
            </a:extLst>
          </p:cNvPr>
          <p:cNvSpPr/>
          <p:nvPr/>
        </p:nvSpPr>
        <p:spPr>
          <a:xfrm>
            <a:off x="8170775" y="5058143"/>
            <a:ext cx="919720" cy="364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204.8T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BA0B21B7-4179-6B3E-4D26-819D61DF9E25}"/>
              </a:ext>
            </a:extLst>
          </p:cNvPr>
          <p:cNvSpPr/>
          <p:nvPr/>
        </p:nvSpPr>
        <p:spPr>
          <a:xfrm>
            <a:off x="10022918" y="3279044"/>
            <a:ext cx="752203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12.8T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B9140CE1-44BC-90E1-28F9-C8039348F128}"/>
              </a:ext>
            </a:extLst>
          </p:cNvPr>
          <p:cNvCxnSpPr>
            <a:cxnSpLocks/>
            <a:endCxn id="234" idx="12"/>
          </p:cNvCxnSpPr>
          <p:nvPr/>
        </p:nvCxnSpPr>
        <p:spPr>
          <a:xfrm flipV="1">
            <a:off x="1115153" y="1923374"/>
            <a:ext cx="7989263" cy="6547"/>
          </a:xfrm>
          <a:prstGeom prst="line">
            <a:avLst/>
          </a:prstGeom>
          <a:ln>
            <a:solidFill>
              <a:srgbClr val="E94D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iconfont-1018-792472">
            <a:extLst>
              <a:ext uri="{FF2B5EF4-FFF2-40B4-BE49-F238E27FC236}">
                <a16:creationId xmlns:a16="http://schemas.microsoft.com/office/drawing/2014/main" id="{CD4B04F7-8ACA-F360-705F-EE66A0E60DE0}"/>
              </a:ext>
            </a:extLst>
          </p:cNvPr>
          <p:cNvSpPr/>
          <p:nvPr/>
        </p:nvSpPr>
        <p:spPr>
          <a:xfrm>
            <a:off x="1679633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iconfont-1018-792472">
            <a:extLst>
              <a:ext uri="{FF2B5EF4-FFF2-40B4-BE49-F238E27FC236}">
                <a16:creationId xmlns:a16="http://schemas.microsoft.com/office/drawing/2014/main" id="{55A38308-015A-C91E-2929-BF8DBB02BE02}"/>
              </a:ext>
            </a:extLst>
          </p:cNvPr>
          <p:cNvSpPr/>
          <p:nvPr/>
        </p:nvSpPr>
        <p:spPr>
          <a:xfrm>
            <a:off x="4153102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iconfont-1018-792472">
            <a:extLst>
              <a:ext uri="{FF2B5EF4-FFF2-40B4-BE49-F238E27FC236}">
                <a16:creationId xmlns:a16="http://schemas.microsoft.com/office/drawing/2014/main" id="{352D3C95-1D4E-D1DA-67D0-03FA5B669FD4}"/>
              </a:ext>
            </a:extLst>
          </p:cNvPr>
          <p:cNvSpPr/>
          <p:nvPr/>
        </p:nvSpPr>
        <p:spPr>
          <a:xfrm>
            <a:off x="6619556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iconfont-1018-792472">
            <a:extLst>
              <a:ext uri="{FF2B5EF4-FFF2-40B4-BE49-F238E27FC236}">
                <a16:creationId xmlns:a16="http://schemas.microsoft.com/office/drawing/2014/main" id="{D7509375-AD24-AB96-0480-71EA5817F9E3}"/>
              </a:ext>
            </a:extLst>
          </p:cNvPr>
          <p:cNvSpPr/>
          <p:nvPr/>
        </p:nvSpPr>
        <p:spPr>
          <a:xfrm>
            <a:off x="9095992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iconfont-1018-792472">
            <a:extLst>
              <a:ext uri="{FF2B5EF4-FFF2-40B4-BE49-F238E27FC236}">
                <a16:creationId xmlns:a16="http://schemas.microsoft.com/office/drawing/2014/main" id="{31BC23AF-1B33-5C96-C220-F38D9D4CA72A}"/>
              </a:ext>
            </a:extLst>
          </p:cNvPr>
          <p:cNvSpPr/>
          <p:nvPr/>
        </p:nvSpPr>
        <p:spPr>
          <a:xfrm>
            <a:off x="7841743" y="1820482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iconfont-1018-792472">
            <a:extLst>
              <a:ext uri="{FF2B5EF4-FFF2-40B4-BE49-F238E27FC236}">
                <a16:creationId xmlns:a16="http://schemas.microsoft.com/office/drawing/2014/main" id="{AC205E22-63DC-C616-87AB-2DEA8BBF55EC}"/>
              </a:ext>
            </a:extLst>
          </p:cNvPr>
          <p:cNvSpPr/>
          <p:nvPr/>
        </p:nvSpPr>
        <p:spPr>
          <a:xfrm>
            <a:off x="7324631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iconfont-1018-792472">
            <a:extLst>
              <a:ext uri="{FF2B5EF4-FFF2-40B4-BE49-F238E27FC236}">
                <a16:creationId xmlns:a16="http://schemas.microsoft.com/office/drawing/2014/main" id="{82C5B57D-F038-BECE-1165-773DA379D8F3}"/>
              </a:ext>
            </a:extLst>
          </p:cNvPr>
          <p:cNvSpPr/>
          <p:nvPr/>
        </p:nvSpPr>
        <p:spPr>
          <a:xfrm>
            <a:off x="8546028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iconfont-1018-792472">
            <a:extLst>
              <a:ext uri="{FF2B5EF4-FFF2-40B4-BE49-F238E27FC236}">
                <a16:creationId xmlns:a16="http://schemas.microsoft.com/office/drawing/2014/main" id="{6ED6CA94-5527-E74F-6945-FC1B1826C905}"/>
              </a:ext>
            </a:extLst>
          </p:cNvPr>
          <p:cNvSpPr/>
          <p:nvPr/>
        </p:nvSpPr>
        <p:spPr>
          <a:xfrm>
            <a:off x="2931693" y="3944115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iconfont-1018-792472">
            <a:extLst>
              <a:ext uri="{FF2B5EF4-FFF2-40B4-BE49-F238E27FC236}">
                <a16:creationId xmlns:a16="http://schemas.microsoft.com/office/drawing/2014/main" id="{2C8633A8-C81E-E797-D4A8-F2EAD1F702E6}"/>
              </a:ext>
            </a:extLst>
          </p:cNvPr>
          <p:cNvSpPr/>
          <p:nvPr/>
        </p:nvSpPr>
        <p:spPr>
          <a:xfrm>
            <a:off x="10286247" y="3678148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E94D12"/>
          </a:solidFill>
          <a:ln>
            <a:solidFill>
              <a:srgbClr val="E94D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67902325-E9AA-9A78-D929-3BA20FBC29E8}"/>
              </a:ext>
            </a:extLst>
          </p:cNvPr>
          <p:cNvCxnSpPr>
            <a:cxnSpLocks/>
            <a:stCxn id="238" idx="3"/>
          </p:cNvCxnSpPr>
          <p:nvPr/>
        </p:nvCxnSpPr>
        <p:spPr>
          <a:xfrm>
            <a:off x="7530414" y="3781040"/>
            <a:ext cx="3569386" cy="0"/>
          </a:xfrm>
          <a:prstGeom prst="straightConnector1">
            <a:avLst/>
          </a:prstGeom>
          <a:ln w="9525">
            <a:solidFill>
              <a:srgbClr val="E94D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iconfont-1018-792472">
            <a:extLst>
              <a:ext uri="{FF2B5EF4-FFF2-40B4-BE49-F238E27FC236}">
                <a16:creationId xmlns:a16="http://schemas.microsoft.com/office/drawing/2014/main" id="{464CD2D3-956E-134F-E4F3-21697837F126}"/>
              </a:ext>
            </a:extLst>
          </p:cNvPr>
          <p:cNvSpPr/>
          <p:nvPr/>
        </p:nvSpPr>
        <p:spPr>
          <a:xfrm>
            <a:off x="6618511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iconfont-1018-792472">
            <a:extLst>
              <a:ext uri="{FF2B5EF4-FFF2-40B4-BE49-F238E27FC236}">
                <a16:creationId xmlns:a16="http://schemas.microsoft.com/office/drawing/2014/main" id="{DF76FC0A-39D0-4777-7942-1B8588B80BF2}"/>
              </a:ext>
            </a:extLst>
          </p:cNvPr>
          <p:cNvSpPr/>
          <p:nvPr/>
        </p:nvSpPr>
        <p:spPr>
          <a:xfrm>
            <a:off x="8546028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iconfont-1018-792472">
            <a:extLst>
              <a:ext uri="{FF2B5EF4-FFF2-40B4-BE49-F238E27FC236}">
                <a16:creationId xmlns:a16="http://schemas.microsoft.com/office/drawing/2014/main" id="{750E1ABC-EEEF-7A71-118B-8423DE6118AA}"/>
              </a:ext>
            </a:extLst>
          </p:cNvPr>
          <p:cNvSpPr/>
          <p:nvPr/>
        </p:nvSpPr>
        <p:spPr>
          <a:xfrm>
            <a:off x="10286247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iconfont-1018-792472">
            <a:extLst>
              <a:ext uri="{FF2B5EF4-FFF2-40B4-BE49-F238E27FC236}">
                <a16:creationId xmlns:a16="http://schemas.microsoft.com/office/drawing/2014/main" id="{C72306BB-6BA9-9570-E6DB-677E3502E2D2}"/>
              </a:ext>
            </a:extLst>
          </p:cNvPr>
          <p:cNvSpPr/>
          <p:nvPr/>
        </p:nvSpPr>
        <p:spPr>
          <a:xfrm>
            <a:off x="4128901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iconfont-1018-792472">
            <a:extLst>
              <a:ext uri="{FF2B5EF4-FFF2-40B4-BE49-F238E27FC236}">
                <a16:creationId xmlns:a16="http://schemas.microsoft.com/office/drawing/2014/main" id="{31AC85FB-AEA5-3072-65C5-9E1EB24CD3A8}"/>
              </a:ext>
            </a:extLst>
          </p:cNvPr>
          <p:cNvSpPr/>
          <p:nvPr/>
        </p:nvSpPr>
        <p:spPr>
          <a:xfrm>
            <a:off x="2896557" y="5483830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5" name="直接连接符 1094">
            <a:extLst>
              <a:ext uri="{FF2B5EF4-FFF2-40B4-BE49-F238E27FC236}">
                <a16:creationId xmlns:a16="http://schemas.microsoft.com/office/drawing/2014/main" id="{E7DD9156-855A-D353-002E-34F52E93F72B}"/>
              </a:ext>
            </a:extLst>
          </p:cNvPr>
          <p:cNvCxnSpPr>
            <a:cxnSpLocks/>
          </p:cNvCxnSpPr>
          <p:nvPr/>
        </p:nvCxnSpPr>
        <p:spPr>
          <a:xfrm>
            <a:off x="1115153" y="1336805"/>
            <a:ext cx="9984647" cy="0"/>
          </a:xfrm>
          <a:prstGeom prst="line">
            <a:avLst/>
          </a:prstGeom>
          <a:ln>
            <a:solidFill>
              <a:schemeClr val="accent6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7" name="任意多边形: 形状 1096">
            <a:extLst>
              <a:ext uri="{FF2B5EF4-FFF2-40B4-BE49-F238E27FC236}">
                <a16:creationId xmlns:a16="http://schemas.microsoft.com/office/drawing/2014/main" id="{9720371E-C2AF-C325-B1FD-0FA143C5A7A0}"/>
              </a:ext>
            </a:extLst>
          </p:cNvPr>
          <p:cNvSpPr/>
          <p:nvPr/>
        </p:nvSpPr>
        <p:spPr>
          <a:xfrm flipV="1">
            <a:off x="5810715" y="1925502"/>
            <a:ext cx="1522166" cy="1802780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E94D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1" name="矩形 1100">
            <a:extLst>
              <a:ext uri="{FF2B5EF4-FFF2-40B4-BE49-F238E27FC236}">
                <a16:creationId xmlns:a16="http://schemas.microsoft.com/office/drawing/2014/main" id="{84CF0086-2CF3-4661-BDAE-97F8471B9A47}"/>
              </a:ext>
            </a:extLst>
          </p:cNvPr>
          <p:cNvSpPr/>
          <p:nvPr/>
        </p:nvSpPr>
        <p:spPr>
          <a:xfrm>
            <a:off x="9929278" y="5041809"/>
            <a:ext cx="919720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409.6T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1102" name="直接箭头连接符 1101">
            <a:extLst>
              <a:ext uri="{FF2B5EF4-FFF2-40B4-BE49-F238E27FC236}">
                <a16:creationId xmlns:a16="http://schemas.microsoft.com/office/drawing/2014/main" id="{7863259A-AC8E-3E4F-363B-14D88E98164B}"/>
              </a:ext>
            </a:extLst>
          </p:cNvPr>
          <p:cNvCxnSpPr>
            <a:cxnSpLocks/>
          </p:cNvCxnSpPr>
          <p:nvPr/>
        </p:nvCxnSpPr>
        <p:spPr>
          <a:xfrm>
            <a:off x="1238631" y="5583619"/>
            <a:ext cx="9861169" cy="0"/>
          </a:xfrm>
          <a:prstGeom prst="straightConnector1">
            <a:avLst/>
          </a:prstGeom>
          <a:ln w="9525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4" name="任意多边形: 形状 1103">
            <a:extLst>
              <a:ext uri="{FF2B5EF4-FFF2-40B4-BE49-F238E27FC236}">
                <a16:creationId xmlns:a16="http://schemas.microsoft.com/office/drawing/2014/main" id="{19B0AB06-0A84-EC50-6BE5-869095120002}"/>
              </a:ext>
            </a:extLst>
          </p:cNvPr>
          <p:cNvSpPr/>
          <p:nvPr/>
        </p:nvSpPr>
        <p:spPr>
          <a:xfrm>
            <a:off x="1878647" y="4112460"/>
            <a:ext cx="1074407" cy="1471158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6" name="任意多边形: 形状 1105">
            <a:extLst>
              <a:ext uri="{FF2B5EF4-FFF2-40B4-BE49-F238E27FC236}">
                <a16:creationId xmlns:a16="http://schemas.microsoft.com/office/drawing/2014/main" id="{79B62841-7785-6EC7-709E-6A9845F695FA}"/>
              </a:ext>
            </a:extLst>
          </p:cNvPr>
          <p:cNvSpPr/>
          <p:nvPr/>
        </p:nvSpPr>
        <p:spPr>
          <a:xfrm>
            <a:off x="6826315" y="4090835"/>
            <a:ext cx="525392" cy="1492783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7" name="iconfont-1018-792472">
            <a:extLst>
              <a:ext uri="{FF2B5EF4-FFF2-40B4-BE49-F238E27FC236}">
                <a16:creationId xmlns:a16="http://schemas.microsoft.com/office/drawing/2014/main" id="{74D4BFC6-7AE8-8B8C-7D91-E95DFE1332BC}"/>
              </a:ext>
            </a:extLst>
          </p:cNvPr>
          <p:cNvSpPr/>
          <p:nvPr/>
        </p:nvSpPr>
        <p:spPr>
          <a:xfrm>
            <a:off x="7323948" y="3939603"/>
            <a:ext cx="205783" cy="205783"/>
          </a:xfrm>
          <a:custGeom>
            <a:avLst/>
            <a:gdLst>
              <a:gd name="T0" fmla="*/ 1876 w 12800"/>
              <a:gd name="T1" fmla="*/ 1876 h 12800"/>
              <a:gd name="T2" fmla="*/ 6400 w 12800"/>
              <a:gd name="T3" fmla="*/ 0 h 12800"/>
              <a:gd name="T4" fmla="*/ 10924 w 12800"/>
              <a:gd name="T5" fmla="*/ 1876 h 12800"/>
              <a:gd name="T6" fmla="*/ 12800 w 12800"/>
              <a:gd name="T7" fmla="*/ 6400 h 12800"/>
              <a:gd name="T8" fmla="*/ 10924 w 12800"/>
              <a:gd name="T9" fmla="*/ 10924 h 12800"/>
              <a:gd name="T10" fmla="*/ 6400 w 12800"/>
              <a:gd name="T11" fmla="*/ 12800 h 12800"/>
              <a:gd name="T12" fmla="*/ 1876 w 12800"/>
              <a:gd name="T13" fmla="*/ 10924 h 12800"/>
              <a:gd name="T14" fmla="*/ 0 w 12800"/>
              <a:gd name="T15" fmla="*/ 6400 h 12800"/>
              <a:gd name="T16" fmla="*/ 1876 w 12800"/>
              <a:gd name="T17" fmla="*/ 1876 h 12800"/>
              <a:gd name="T18" fmla="*/ 6400 w 12800"/>
              <a:gd name="T19" fmla="*/ 524 h 12800"/>
              <a:gd name="T20" fmla="*/ 3446 w 12800"/>
              <a:gd name="T21" fmla="*/ 1308 h 12800"/>
              <a:gd name="T22" fmla="*/ 1308 w 12800"/>
              <a:gd name="T23" fmla="*/ 3446 h 12800"/>
              <a:gd name="T24" fmla="*/ 524 w 12800"/>
              <a:gd name="T25" fmla="*/ 6400 h 12800"/>
              <a:gd name="T26" fmla="*/ 2246 w 12800"/>
              <a:gd name="T27" fmla="*/ 10554 h 12800"/>
              <a:gd name="T28" fmla="*/ 6400 w 12800"/>
              <a:gd name="T29" fmla="*/ 12276 h 12800"/>
              <a:gd name="T30" fmla="*/ 10554 w 12800"/>
              <a:gd name="T31" fmla="*/ 10554 h 12800"/>
              <a:gd name="T32" fmla="*/ 12276 w 12800"/>
              <a:gd name="T33" fmla="*/ 6400 h 12800"/>
              <a:gd name="T34" fmla="*/ 10554 w 12800"/>
              <a:gd name="T35" fmla="*/ 2246 h 12800"/>
              <a:gd name="T36" fmla="*/ 6400 w 12800"/>
              <a:gd name="T37" fmla="*/ 524 h 12800"/>
              <a:gd name="T38" fmla="*/ 6400 w 12800"/>
              <a:gd name="T39" fmla="*/ 3200 h 12800"/>
              <a:gd name="T40" fmla="*/ 5123 w 12800"/>
              <a:gd name="T41" fmla="*/ 3461 h 12800"/>
              <a:gd name="T42" fmla="*/ 4061 w 12800"/>
              <a:gd name="T43" fmla="*/ 4154 h 12800"/>
              <a:gd name="T44" fmla="*/ 3369 w 12800"/>
              <a:gd name="T45" fmla="*/ 5215 h 12800"/>
              <a:gd name="T46" fmla="*/ 3108 w 12800"/>
              <a:gd name="T47" fmla="*/ 6492 h 12800"/>
              <a:gd name="T48" fmla="*/ 3369 w 12800"/>
              <a:gd name="T49" fmla="*/ 7770 h 12800"/>
              <a:gd name="T50" fmla="*/ 4061 w 12800"/>
              <a:gd name="T51" fmla="*/ 8831 h 12800"/>
              <a:gd name="T52" fmla="*/ 5123 w 12800"/>
              <a:gd name="T53" fmla="*/ 9523 h 12800"/>
              <a:gd name="T54" fmla="*/ 6400 w 12800"/>
              <a:gd name="T55" fmla="*/ 9784 h 12800"/>
              <a:gd name="T56" fmla="*/ 7677 w 12800"/>
              <a:gd name="T57" fmla="*/ 9523 h 12800"/>
              <a:gd name="T58" fmla="*/ 8739 w 12800"/>
              <a:gd name="T59" fmla="*/ 8831 h 12800"/>
              <a:gd name="T60" fmla="*/ 9431 w 12800"/>
              <a:gd name="T61" fmla="*/ 7770 h 12800"/>
              <a:gd name="T62" fmla="*/ 9692 w 12800"/>
              <a:gd name="T63" fmla="*/ 6492 h 12800"/>
              <a:gd name="T64" fmla="*/ 9431 w 12800"/>
              <a:gd name="T65" fmla="*/ 5215 h 12800"/>
              <a:gd name="T66" fmla="*/ 8739 w 12800"/>
              <a:gd name="T67" fmla="*/ 4154 h 12800"/>
              <a:gd name="T68" fmla="*/ 7677 w 12800"/>
              <a:gd name="T69" fmla="*/ 3461 h 12800"/>
              <a:gd name="T70" fmla="*/ 6400 w 12800"/>
              <a:gd name="T71" fmla="*/ 3200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2800" h="12800">
                <a:moveTo>
                  <a:pt x="1876" y="1876"/>
                </a:moveTo>
                <a:cubicBezTo>
                  <a:pt x="3128" y="626"/>
                  <a:pt x="4636" y="0"/>
                  <a:pt x="6400" y="0"/>
                </a:cubicBezTo>
                <a:cubicBezTo>
                  <a:pt x="8164" y="0"/>
                  <a:pt x="9672" y="626"/>
                  <a:pt x="10924" y="1876"/>
                </a:cubicBezTo>
                <a:cubicBezTo>
                  <a:pt x="12174" y="3128"/>
                  <a:pt x="12800" y="4636"/>
                  <a:pt x="12800" y="6400"/>
                </a:cubicBezTo>
                <a:cubicBezTo>
                  <a:pt x="12800" y="8165"/>
                  <a:pt x="12174" y="9673"/>
                  <a:pt x="10924" y="10924"/>
                </a:cubicBezTo>
                <a:cubicBezTo>
                  <a:pt x="9672" y="12174"/>
                  <a:pt x="8164" y="12800"/>
                  <a:pt x="6400" y="12800"/>
                </a:cubicBezTo>
                <a:cubicBezTo>
                  <a:pt x="4636" y="12800"/>
                  <a:pt x="3128" y="12174"/>
                  <a:pt x="1876" y="10924"/>
                </a:cubicBezTo>
                <a:cubicBezTo>
                  <a:pt x="626" y="9673"/>
                  <a:pt x="0" y="8165"/>
                  <a:pt x="0" y="6400"/>
                </a:cubicBezTo>
                <a:cubicBezTo>
                  <a:pt x="0" y="4636"/>
                  <a:pt x="626" y="3128"/>
                  <a:pt x="1876" y="1876"/>
                </a:cubicBezTo>
                <a:close/>
                <a:moveTo>
                  <a:pt x="6400" y="524"/>
                </a:moveTo>
                <a:cubicBezTo>
                  <a:pt x="5334" y="524"/>
                  <a:pt x="4348" y="785"/>
                  <a:pt x="3446" y="1308"/>
                </a:cubicBezTo>
                <a:cubicBezTo>
                  <a:pt x="2543" y="1830"/>
                  <a:pt x="1830" y="2543"/>
                  <a:pt x="1308" y="3446"/>
                </a:cubicBezTo>
                <a:cubicBezTo>
                  <a:pt x="785" y="4349"/>
                  <a:pt x="524" y="5334"/>
                  <a:pt x="524" y="6400"/>
                </a:cubicBezTo>
                <a:cubicBezTo>
                  <a:pt x="524" y="8020"/>
                  <a:pt x="1098" y="9405"/>
                  <a:pt x="2246" y="10554"/>
                </a:cubicBezTo>
                <a:cubicBezTo>
                  <a:pt x="3395" y="11703"/>
                  <a:pt x="4780" y="12276"/>
                  <a:pt x="6400" y="12276"/>
                </a:cubicBezTo>
                <a:cubicBezTo>
                  <a:pt x="8020" y="12276"/>
                  <a:pt x="9405" y="11703"/>
                  <a:pt x="10554" y="10554"/>
                </a:cubicBezTo>
                <a:cubicBezTo>
                  <a:pt x="11703" y="9405"/>
                  <a:pt x="12276" y="8020"/>
                  <a:pt x="12276" y="6400"/>
                </a:cubicBezTo>
                <a:cubicBezTo>
                  <a:pt x="12276" y="4780"/>
                  <a:pt x="11702" y="3396"/>
                  <a:pt x="10554" y="2246"/>
                </a:cubicBezTo>
                <a:cubicBezTo>
                  <a:pt x="9405" y="1097"/>
                  <a:pt x="8020" y="524"/>
                  <a:pt x="6400" y="524"/>
                </a:cubicBezTo>
                <a:close/>
                <a:moveTo>
                  <a:pt x="6400" y="3200"/>
                </a:moveTo>
                <a:cubicBezTo>
                  <a:pt x="5948" y="3200"/>
                  <a:pt x="5523" y="3288"/>
                  <a:pt x="5123" y="3461"/>
                </a:cubicBezTo>
                <a:cubicBezTo>
                  <a:pt x="4723" y="3636"/>
                  <a:pt x="4369" y="3867"/>
                  <a:pt x="4061" y="4154"/>
                </a:cubicBezTo>
                <a:cubicBezTo>
                  <a:pt x="3775" y="4461"/>
                  <a:pt x="3543" y="4815"/>
                  <a:pt x="3369" y="5215"/>
                </a:cubicBezTo>
                <a:cubicBezTo>
                  <a:pt x="3195" y="5614"/>
                  <a:pt x="3108" y="6042"/>
                  <a:pt x="3108" y="6492"/>
                </a:cubicBezTo>
                <a:cubicBezTo>
                  <a:pt x="3108" y="6944"/>
                  <a:pt x="3195" y="7369"/>
                  <a:pt x="3369" y="7770"/>
                </a:cubicBezTo>
                <a:cubicBezTo>
                  <a:pt x="3543" y="8170"/>
                  <a:pt x="3775" y="8524"/>
                  <a:pt x="4061" y="8831"/>
                </a:cubicBezTo>
                <a:cubicBezTo>
                  <a:pt x="4369" y="9119"/>
                  <a:pt x="4723" y="9349"/>
                  <a:pt x="5123" y="9523"/>
                </a:cubicBezTo>
                <a:cubicBezTo>
                  <a:pt x="5523" y="9697"/>
                  <a:pt x="5948" y="9784"/>
                  <a:pt x="6400" y="9784"/>
                </a:cubicBezTo>
                <a:cubicBezTo>
                  <a:pt x="6852" y="9784"/>
                  <a:pt x="7277" y="9697"/>
                  <a:pt x="7677" y="9523"/>
                </a:cubicBezTo>
                <a:cubicBezTo>
                  <a:pt x="8077" y="9349"/>
                  <a:pt x="8431" y="9119"/>
                  <a:pt x="8739" y="8831"/>
                </a:cubicBezTo>
                <a:cubicBezTo>
                  <a:pt x="9025" y="8524"/>
                  <a:pt x="9257" y="8169"/>
                  <a:pt x="9431" y="7770"/>
                </a:cubicBezTo>
                <a:cubicBezTo>
                  <a:pt x="9605" y="7370"/>
                  <a:pt x="9692" y="6944"/>
                  <a:pt x="9692" y="6492"/>
                </a:cubicBezTo>
                <a:cubicBezTo>
                  <a:pt x="9692" y="6042"/>
                  <a:pt x="9605" y="5615"/>
                  <a:pt x="9431" y="5215"/>
                </a:cubicBezTo>
                <a:cubicBezTo>
                  <a:pt x="9257" y="4814"/>
                  <a:pt x="9025" y="4462"/>
                  <a:pt x="8739" y="4154"/>
                </a:cubicBezTo>
                <a:cubicBezTo>
                  <a:pt x="8431" y="3867"/>
                  <a:pt x="8077" y="3636"/>
                  <a:pt x="7677" y="3461"/>
                </a:cubicBezTo>
                <a:cubicBezTo>
                  <a:pt x="7277" y="3288"/>
                  <a:pt x="6852" y="3200"/>
                  <a:pt x="6400" y="3200"/>
                </a:cubicBezTo>
                <a:close/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9" name="矩形 1108">
            <a:extLst>
              <a:ext uri="{FF2B5EF4-FFF2-40B4-BE49-F238E27FC236}">
                <a16:creationId xmlns:a16="http://schemas.microsoft.com/office/drawing/2014/main" id="{33C28C0F-1BEE-3684-C0B4-C981797FB09A}"/>
              </a:ext>
            </a:extLst>
          </p:cNvPr>
          <p:cNvSpPr/>
          <p:nvPr/>
        </p:nvSpPr>
        <p:spPr>
          <a:xfrm>
            <a:off x="6125769" y="3869548"/>
            <a:ext cx="1153872" cy="3649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800G/1.6T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cxnSp>
        <p:nvCxnSpPr>
          <p:cNvPr id="1110" name="直接连接符 1109">
            <a:extLst>
              <a:ext uri="{FF2B5EF4-FFF2-40B4-BE49-F238E27FC236}">
                <a16:creationId xmlns:a16="http://schemas.microsoft.com/office/drawing/2014/main" id="{AC442583-E0DD-9135-D2C9-7BDBC5C10B5A}"/>
              </a:ext>
            </a:extLst>
          </p:cNvPr>
          <p:cNvCxnSpPr>
            <a:cxnSpLocks/>
            <a:endCxn id="1114" idx="0"/>
          </p:cNvCxnSpPr>
          <p:nvPr/>
        </p:nvCxnSpPr>
        <p:spPr>
          <a:xfrm flipV="1">
            <a:off x="7529731" y="4049037"/>
            <a:ext cx="1730576" cy="4"/>
          </a:xfrm>
          <a:prstGeom prst="lin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4" name="任意多边形: 形状 1113">
            <a:extLst>
              <a:ext uri="{FF2B5EF4-FFF2-40B4-BE49-F238E27FC236}">
                <a16:creationId xmlns:a16="http://schemas.microsoft.com/office/drawing/2014/main" id="{F7C79248-532D-8889-375A-E3315E3D222D}"/>
              </a:ext>
            </a:extLst>
          </p:cNvPr>
          <p:cNvSpPr/>
          <p:nvPr/>
        </p:nvSpPr>
        <p:spPr>
          <a:xfrm flipV="1">
            <a:off x="9260307" y="4049037"/>
            <a:ext cx="1024508" cy="153457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0052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7" name="upper-right-arrow-black-symbol_39545">
            <a:extLst>
              <a:ext uri="{FF2B5EF4-FFF2-40B4-BE49-F238E27FC236}">
                <a16:creationId xmlns:a16="http://schemas.microsoft.com/office/drawing/2014/main" id="{9FD4765A-4DA9-6863-B444-B8759D91BF88}"/>
              </a:ext>
            </a:extLst>
          </p:cNvPr>
          <p:cNvSpPr/>
          <p:nvPr/>
        </p:nvSpPr>
        <p:spPr>
          <a:xfrm rot="2722466">
            <a:off x="2446503" y="5538657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8" name="upper-right-arrow-black-symbol_39545">
            <a:extLst>
              <a:ext uri="{FF2B5EF4-FFF2-40B4-BE49-F238E27FC236}">
                <a16:creationId xmlns:a16="http://schemas.microsoft.com/office/drawing/2014/main" id="{6892A344-CC34-C156-8952-31EF47C3F7D2}"/>
              </a:ext>
            </a:extLst>
          </p:cNvPr>
          <p:cNvSpPr/>
          <p:nvPr/>
        </p:nvSpPr>
        <p:spPr>
          <a:xfrm rot="20255652">
            <a:off x="2481169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upper-right-arrow-black-symbol_39545">
            <a:extLst>
              <a:ext uri="{FF2B5EF4-FFF2-40B4-BE49-F238E27FC236}">
                <a16:creationId xmlns:a16="http://schemas.microsoft.com/office/drawing/2014/main" id="{7C0AE32C-13E4-698C-765C-434D7599EA07}"/>
              </a:ext>
            </a:extLst>
          </p:cNvPr>
          <p:cNvSpPr/>
          <p:nvPr/>
        </p:nvSpPr>
        <p:spPr>
          <a:xfrm rot="2722466">
            <a:off x="7088998" y="5546429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upper-right-arrow-black-symbol_39545">
            <a:extLst>
              <a:ext uri="{FF2B5EF4-FFF2-40B4-BE49-F238E27FC236}">
                <a16:creationId xmlns:a16="http://schemas.microsoft.com/office/drawing/2014/main" id="{6C2BB717-D6E7-E9CC-65EF-745A99EBE04C}"/>
              </a:ext>
            </a:extLst>
          </p:cNvPr>
          <p:cNvSpPr/>
          <p:nvPr/>
        </p:nvSpPr>
        <p:spPr>
          <a:xfrm rot="7156952">
            <a:off x="9769655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upper-right-arrow-black-symbol_39545">
            <a:extLst>
              <a:ext uri="{FF2B5EF4-FFF2-40B4-BE49-F238E27FC236}">
                <a16:creationId xmlns:a16="http://schemas.microsoft.com/office/drawing/2014/main" id="{09E7CDA3-908E-9906-5D4B-77C6A44DE405}"/>
              </a:ext>
            </a:extLst>
          </p:cNvPr>
          <p:cNvSpPr/>
          <p:nvPr/>
        </p:nvSpPr>
        <p:spPr>
          <a:xfrm rot="19393142">
            <a:off x="7098527" y="467726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upper-right-arrow-black-symbol_39545">
            <a:extLst>
              <a:ext uri="{FF2B5EF4-FFF2-40B4-BE49-F238E27FC236}">
                <a16:creationId xmlns:a16="http://schemas.microsoft.com/office/drawing/2014/main" id="{AD4189DB-2BA4-3885-AE4A-8A1DC1C5C0C4}"/>
              </a:ext>
            </a:extLst>
          </p:cNvPr>
          <p:cNvSpPr/>
          <p:nvPr/>
        </p:nvSpPr>
        <p:spPr>
          <a:xfrm rot="2722466">
            <a:off x="6313010" y="1889882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upper-right-arrow-black-symbol_39545">
            <a:extLst>
              <a:ext uri="{FF2B5EF4-FFF2-40B4-BE49-F238E27FC236}">
                <a16:creationId xmlns:a16="http://schemas.microsoft.com/office/drawing/2014/main" id="{EA9B3575-12CD-3C0C-EF1D-B46A90EA0D2A}"/>
              </a:ext>
            </a:extLst>
          </p:cNvPr>
          <p:cNvSpPr/>
          <p:nvPr/>
        </p:nvSpPr>
        <p:spPr>
          <a:xfrm rot="7000073">
            <a:off x="6633743" y="282995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upper-right-arrow-black-symbol_39545">
            <a:extLst>
              <a:ext uri="{FF2B5EF4-FFF2-40B4-BE49-F238E27FC236}">
                <a16:creationId xmlns:a16="http://schemas.microsoft.com/office/drawing/2014/main" id="{A8851DC4-5DFD-0CD5-54EF-049524FCBE28}"/>
              </a:ext>
            </a:extLst>
          </p:cNvPr>
          <p:cNvSpPr/>
          <p:nvPr/>
        </p:nvSpPr>
        <p:spPr>
          <a:xfrm rot="2789154">
            <a:off x="8016318" y="3741344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E94D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任意多边形: 形状 1125">
            <a:extLst>
              <a:ext uri="{FF2B5EF4-FFF2-40B4-BE49-F238E27FC236}">
                <a16:creationId xmlns:a16="http://schemas.microsoft.com/office/drawing/2014/main" id="{8279A413-B057-179D-47A8-574F482AD9AF}"/>
              </a:ext>
            </a:extLst>
          </p:cNvPr>
          <p:cNvSpPr/>
          <p:nvPr/>
        </p:nvSpPr>
        <p:spPr>
          <a:xfrm flipV="1">
            <a:off x="8077840" y="3780834"/>
            <a:ext cx="525392" cy="1706437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>
            <a:solidFill>
              <a:srgbClr val="E94D1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8" name="文本框 1127">
            <a:extLst>
              <a:ext uri="{FF2B5EF4-FFF2-40B4-BE49-F238E27FC236}">
                <a16:creationId xmlns:a16="http://schemas.microsoft.com/office/drawing/2014/main" id="{4BACA574-5586-ACEC-597F-7386D6A52F2F}"/>
              </a:ext>
            </a:extLst>
          </p:cNvPr>
          <p:cNvSpPr txBox="1"/>
          <p:nvPr/>
        </p:nvSpPr>
        <p:spPr>
          <a:xfrm>
            <a:off x="9440697" y="1792507"/>
            <a:ext cx="1688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Limits of PO reached</a:t>
            </a:r>
            <a:endParaRPr lang="zh-CN" altLang="en-US" sz="1200" dirty="0"/>
          </a:p>
        </p:txBody>
      </p:sp>
      <p:grpSp>
        <p:nvGrpSpPr>
          <p:cNvPr id="1137" name="组合 1136">
            <a:extLst>
              <a:ext uri="{FF2B5EF4-FFF2-40B4-BE49-F238E27FC236}">
                <a16:creationId xmlns:a16="http://schemas.microsoft.com/office/drawing/2014/main" id="{46200647-3C02-B7EC-548E-A0FEBEE83C64}"/>
              </a:ext>
            </a:extLst>
          </p:cNvPr>
          <p:cNvGrpSpPr/>
          <p:nvPr/>
        </p:nvGrpSpPr>
        <p:grpSpPr>
          <a:xfrm>
            <a:off x="364253" y="6113134"/>
            <a:ext cx="8044343" cy="423291"/>
            <a:chOff x="364253" y="5986134"/>
            <a:chExt cx="8044343" cy="423291"/>
          </a:xfrm>
        </p:grpSpPr>
        <p:cxnSp>
          <p:nvCxnSpPr>
            <p:cNvPr id="1129" name="直接连接符 1128">
              <a:extLst>
                <a:ext uri="{FF2B5EF4-FFF2-40B4-BE49-F238E27FC236}">
                  <a16:creationId xmlns:a16="http://schemas.microsoft.com/office/drawing/2014/main" id="{4EF83BB6-5B84-C903-F9FF-4A4928C8D3A9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3" y="6089026"/>
              <a:ext cx="543797" cy="0"/>
            </a:xfrm>
            <a:prstGeom prst="line">
              <a:avLst/>
            </a:prstGeom>
            <a:ln>
              <a:solidFill>
                <a:srgbClr val="E94D1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1" name="iconfont-1018-792472">
              <a:extLst>
                <a:ext uri="{FF2B5EF4-FFF2-40B4-BE49-F238E27FC236}">
                  <a16:creationId xmlns:a16="http://schemas.microsoft.com/office/drawing/2014/main" id="{52836F31-4B44-F778-CF60-A76C80924A4F}"/>
                </a:ext>
              </a:extLst>
            </p:cNvPr>
            <p:cNvSpPr/>
            <p:nvPr/>
          </p:nvSpPr>
          <p:spPr>
            <a:xfrm>
              <a:off x="533259" y="5986134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rgbClr val="E94D12"/>
            </a:solidFill>
            <a:ln>
              <a:solidFill>
                <a:srgbClr val="E94D1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2" name="文本框 1131">
              <a:extLst>
                <a:ext uri="{FF2B5EF4-FFF2-40B4-BE49-F238E27FC236}">
                  <a16:creationId xmlns:a16="http://schemas.microsoft.com/office/drawing/2014/main" id="{A859F0F8-7B48-CA1C-C663-3FFE60B3E8D7}"/>
                </a:ext>
              </a:extLst>
            </p:cNvPr>
            <p:cNvSpPr txBox="1"/>
            <p:nvPr/>
          </p:nvSpPr>
          <p:spPr>
            <a:xfrm>
              <a:off x="1012455" y="5987150"/>
              <a:ext cx="7396141" cy="42227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Alibaba Cloud Data Center Deployment Roadmap</a:t>
              </a:r>
              <a:endPara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36" name="组合 1135">
            <a:extLst>
              <a:ext uri="{FF2B5EF4-FFF2-40B4-BE49-F238E27FC236}">
                <a16:creationId xmlns:a16="http://schemas.microsoft.com/office/drawing/2014/main" id="{0D36F2EA-9619-06BC-DD6C-93F2051E593F}"/>
              </a:ext>
            </a:extLst>
          </p:cNvPr>
          <p:cNvGrpSpPr/>
          <p:nvPr/>
        </p:nvGrpSpPr>
        <p:grpSpPr>
          <a:xfrm>
            <a:off x="4710525" y="6101004"/>
            <a:ext cx="8044343" cy="423291"/>
            <a:chOff x="364253" y="6278234"/>
            <a:chExt cx="8044343" cy="423291"/>
          </a:xfrm>
        </p:grpSpPr>
        <p:cxnSp>
          <p:nvCxnSpPr>
            <p:cNvPr id="1133" name="直接连接符 1132">
              <a:extLst>
                <a:ext uri="{FF2B5EF4-FFF2-40B4-BE49-F238E27FC236}">
                  <a16:creationId xmlns:a16="http://schemas.microsoft.com/office/drawing/2014/main" id="{8F2CD8FF-3E56-D94F-01F6-BAFBE4EFDCB4}"/>
                </a:ext>
              </a:extLst>
            </p:cNvPr>
            <p:cNvCxnSpPr>
              <a:cxnSpLocks/>
            </p:cNvCxnSpPr>
            <p:nvPr/>
          </p:nvCxnSpPr>
          <p:spPr>
            <a:xfrm>
              <a:off x="364253" y="6381126"/>
              <a:ext cx="543797" cy="0"/>
            </a:xfrm>
            <a:prstGeom prst="line">
              <a:avLst/>
            </a:prstGeom>
            <a:ln>
              <a:solidFill>
                <a:srgbClr val="0052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4" name="iconfont-1018-792472">
              <a:extLst>
                <a:ext uri="{FF2B5EF4-FFF2-40B4-BE49-F238E27FC236}">
                  <a16:creationId xmlns:a16="http://schemas.microsoft.com/office/drawing/2014/main" id="{D12499ED-70DA-701D-648D-05746E0FF638}"/>
                </a:ext>
              </a:extLst>
            </p:cNvPr>
            <p:cNvSpPr/>
            <p:nvPr/>
          </p:nvSpPr>
          <p:spPr>
            <a:xfrm>
              <a:off x="533259" y="6278234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5" name="文本框 1134">
              <a:extLst>
                <a:ext uri="{FF2B5EF4-FFF2-40B4-BE49-F238E27FC236}">
                  <a16:creationId xmlns:a16="http://schemas.microsoft.com/office/drawing/2014/main" id="{F2B68480-BAA6-8DB8-CEB5-620AD74803A9}"/>
                </a:ext>
              </a:extLst>
            </p:cNvPr>
            <p:cNvSpPr txBox="1"/>
            <p:nvPr/>
          </p:nvSpPr>
          <p:spPr>
            <a:xfrm>
              <a:off x="1012455" y="6279250"/>
              <a:ext cx="7396141" cy="42227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2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Broadcom Development Roadmap</a:t>
              </a:r>
              <a:endParaRPr kumimoji="1" lang="zh-CN" altLang="en-US" sz="12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156" name="文本框 1155">
            <a:extLst>
              <a:ext uri="{FF2B5EF4-FFF2-40B4-BE49-F238E27FC236}">
                <a16:creationId xmlns:a16="http://schemas.microsoft.com/office/drawing/2014/main" id="{FCCDCD9A-C9CE-5AFA-A006-3E4D9619A964}"/>
              </a:ext>
            </a:extLst>
          </p:cNvPr>
          <p:cNvSpPr txBox="1"/>
          <p:nvPr/>
        </p:nvSpPr>
        <p:spPr>
          <a:xfrm>
            <a:off x="429624" y="4434912"/>
            <a:ext cx="1953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/>
              <a:t>Proposed NPO to succeed CPO 1.0 </a:t>
            </a:r>
            <a:endParaRPr lang="zh-CN" altLang="en-US" sz="1200" dirty="0"/>
          </a:p>
        </p:txBody>
      </p:sp>
      <p:sp>
        <p:nvSpPr>
          <p:cNvPr id="1157" name="文本框 1156">
            <a:extLst>
              <a:ext uri="{FF2B5EF4-FFF2-40B4-BE49-F238E27FC236}">
                <a16:creationId xmlns:a16="http://schemas.microsoft.com/office/drawing/2014/main" id="{BC23DD94-C98F-2D70-A04A-A6245C056B16}"/>
              </a:ext>
            </a:extLst>
          </p:cNvPr>
          <p:cNvSpPr txBox="1"/>
          <p:nvPr/>
        </p:nvSpPr>
        <p:spPr>
          <a:xfrm>
            <a:off x="5539137" y="4434912"/>
            <a:ext cx="15221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/>
              <a:t>NPO advancement resumed</a:t>
            </a:r>
            <a:endParaRPr lang="zh-CN" altLang="en-US" sz="1200" dirty="0"/>
          </a:p>
        </p:txBody>
      </p:sp>
      <p:sp>
        <p:nvSpPr>
          <p:cNvPr id="1159" name="文本框 1158">
            <a:extLst>
              <a:ext uri="{FF2B5EF4-FFF2-40B4-BE49-F238E27FC236}">
                <a16:creationId xmlns:a16="http://schemas.microsoft.com/office/drawing/2014/main" id="{F2CD0610-4C42-282E-B9CF-4FBE7FEF7D59}"/>
              </a:ext>
            </a:extLst>
          </p:cNvPr>
          <p:cNvSpPr txBox="1"/>
          <p:nvPr/>
        </p:nvSpPr>
        <p:spPr>
          <a:xfrm>
            <a:off x="9879906" y="4434912"/>
            <a:ext cx="1616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NPO replaced by CPO around 2028</a:t>
            </a:r>
            <a:endParaRPr lang="zh-CN" altLang="en-US" sz="1200" dirty="0"/>
          </a:p>
        </p:txBody>
      </p:sp>
      <p:sp>
        <p:nvSpPr>
          <p:cNvPr id="1164" name="文本框 1163">
            <a:extLst>
              <a:ext uri="{FF2B5EF4-FFF2-40B4-BE49-F238E27FC236}">
                <a16:creationId xmlns:a16="http://schemas.microsoft.com/office/drawing/2014/main" id="{0577E821-FEBC-40A1-B5B8-C6607809C66B}"/>
              </a:ext>
            </a:extLst>
          </p:cNvPr>
          <p:cNvSpPr txBox="1"/>
          <p:nvPr/>
        </p:nvSpPr>
        <p:spPr>
          <a:xfrm>
            <a:off x="3177152" y="3903994"/>
            <a:ext cx="1522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NPO postponed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8769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38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IDC Interconnect by Distance: Scale-up vs. Scale-out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70434" y="2381267"/>
            <a:ext cx="3322825" cy="328255"/>
            <a:chOff x="1177467" y="2702667"/>
            <a:chExt cx="3322825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interconnection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69927"/>
            <a:ext cx="3070238" cy="646361"/>
            <a:chOff x="944683" y="5439665"/>
            <a:chExt cx="3070238" cy="646361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39665"/>
              <a:ext cx="3070238" cy="328255"/>
              <a:chOff x="1177467" y="2702232"/>
              <a:chExt cx="3070238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98265" y="2702232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interconnection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5408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Single-rack; direct &amp; full interconnect; distance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&lt;5m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5329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interconnect; distance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&gt;&gt;5m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346379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323579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544942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5383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52919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7987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CPO </a:t>
            </a: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Swtich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5003052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84608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944329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82840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235A3A5E-53B1-BB1F-17FD-2FB400D90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cs typeface="+mn-ea"/>
              </a:rPr>
              <a:t>​Overseas: CPO for Scale Out first; Domestic: CPO for Scale Up first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3732B22-A2E7-7704-E64B-75C5CB506E4D}"/>
              </a:ext>
            </a:extLst>
          </p:cNvPr>
          <p:cNvSpPr txBox="1"/>
          <p:nvPr/>
        </p:nvSpPr>
        <p:spPr>
          <a:xfrm>
            <a:off x="652531" y="5142643"/>
            <a:ext cx="1340313" cy="75542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algn="ctr">
              <a:buNone/>
              <a:defRPr kumimoji="1" sz="16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​CPO Initial Adoption</a:t>
            </a:r>
            <a:endParaRPr lang="en-US" altLang="zh-CN" dirty="0"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836027" y="16015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2105234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916400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763299" y="11335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Scale-up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2350668" y="1932880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7039471" y="19772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058" y="1928739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2853432" y="3311460"/>
            <a:ext cx="30044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electronics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DEA6A49-3436-45CE-8A28-49F0C87992A5}"/>
              </a:ext>
            </a:extLst>
          </p:cNvPr>
          <p:cNvSpPr txBox="1"/>
          <p:nvPr/>
        </p:nvSpPr>
        <p:spPr>
          <a:xfrm>
            <a:off x="646528" y="1880365"/>
            <a:ext cx="1352317" cy="595046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Restrictions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730EC1-9D33-CB54-2CFC-74E7E487599E}"/>
              </a:ext>
            </a:extLst>
          </p:cNvPr>
          <p:cNvSpPr txBox="1"/>
          <p:nvPr/>
        </p:nvSpPr>
        <p:spPr>
          <a:xfrm>
            <a:off x="654100" y="3334812"/>
            <a:ext cx="1340313" cy="127703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Industry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479" y="19145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r>
              <a:rPr kumimoji="0" lang="en-US" altLang="zh-CN" sz="1800" b="1" i="0" u="none" strike="noStrike" cap="none" normalizeH="0" baseline="30000" dirty="0">
                <a:ln>
                  <a:noFill/>
                </a:ln>
                <a:solidFill>
                  <a:schemeClr val="tx1"/>
                </a:solidFill>
                <a:effectLst/>
              </a:rPr>
              <a:t>1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7987935" y="3311460"/>
            <a:ext cx="23658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optics</a:t>
            </a:r>
          </a:p>
        </p:txBody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FA09F23E-B6CE-E640-247C-D1170D40F5BD}"/>
              </a:ext>
            </a:extLst>
          </p:cNvPr>
          <p:cNvSpPr/>
          <p:nvPr/>
        </p:nvSpPr>
        <p:spPr>
          <a:xfrm rot="10800000">
            <a:off x="3120436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1809A83B-AD48-958C-BFB3-EB2646F08B44}"/>
              </a:ext>
            </a:extLst>
          </p:cNvPr>
          <p:cNvSpPr/>
          <p:nvPr/>
        </p:nvSpPr>
        <p:spPr>
          <a:xfrm rot="10800000">
            <a:off x="7941744" y="2795819"/>
            <a:ext cx="1691096" cy="147942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2200445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 Out: </a:t>
            </a:r>
            <a:r>
              <a:rPr lang="en-US" altLang="zh-CN" b="1" dirty="0">
                <a:solidFill>
                  <a:srgbClr val="0052D9"/>
                </a:solidFill>
              </a:rPr>
              <a:t>2025-2026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Faster path to </a:t>
            </a:r>
            <a:r>
              <a:rPr lang="en-US" altLang="zh-CN" sz="1400" b="1" dirty="0">
                <a:solidFill>
                  <a:srgbClr val="0052D9"/>
                </a:solidFill>
              </a:rPr>
              <a:t>commercialization</a:t>
            </a:r>
            <a:r>
              <a:rPr lang="en-US" altLang="zh-CN" sz="1400" dirty="0"/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Scale Up mass production: 2027-2028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4056451" y="394123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80%+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/DSP chip</a:t>
            </a:r>
            <a:r>
              <a:rPr lang="en-US" altLang="zh-CN" sz="1400" i="0" dirty="0">
                <a:effectLst/>
              </a:rPr>
              <a:t> market</a:t>
            </a:r>
            <a:endParaRPr lang="zh-CN" altLang="en-US" sz="14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32B1AA71-8DBA-436A-A1BD-27AAF8AD6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196" y="3927328"/>
            <a:ext cx="325584" cy="312561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A48E1699-6FD9-4CC1-CD64-6F077D9E31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84761" y="3933129"/>
            <a:ext cx="642530" cy="244993"/>
          </a:xfrm>
          <a:prstGeom prst="rect">
            <a:avLst/>
          </a:prstGeom>
        </p:spPr>
      </p:pic>
      <p:pic>
        <p:nvPicPr>
          <p:cNvPr id="50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872CFBC6-B8AA-ABA9-2C27-7E708B4465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8256" t="17821" b="20152"/>
          <a:stretch/>
        </p:blipFill>
        <p:spPr bwMode="auto">
          <a:xfrm>
            <a:off x="6961660" y="4271640"/>
            <a:ext cx="795476" cy="277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图像" descr="图像">
            <a:extLst>
              <a:ext uri="{FF2B5EF4-FFF2-40B4-BE49-F238E27FC236}">
                <a16:creationId xmlns:a16="http://schemas.microsoft.com/office/drawing/2014/main" id="{DC6A92A6-AC30-3119-2689-5CFB930D7D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860" y="4284659"/>
            <a:ext cx="965100" cy="285957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06948" y="642907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 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98753" y="4108269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0754605A-E031-7BC5-E6F4-C816BEB88A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2687" y="4022501"/>
            <a:ext cx="845672" cy="123188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8281023" y="3922911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6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0%</a:t>
            </a:r>
          </a:p>
          <a:p>
            <a:r>
              <a:rPr lang="en-US" altLang="zh-CN" sz="1400" i="0" dirty="0">
                <a:effectLst/>
              </a:rPr>
              <a:t>800G optical module market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7823325" y="4089948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907846" y="5120244"/>
            <a:ext cx="39849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/>
              <a:t>Scale Up: </a:t>
            </a:r>
            <a:r>
              <a:rPr lang="en-US" altLang="zh-CN" b="1" dirty="0">
                <a:solidFill>
                  <a:srgbClr val="0052D9"/>
                </a:solidFill>
              </a:rPr>
              <a:t>~2027</a:t>
            </a:r>
            <a:endParaRPr lang="en-US" altLang="zh-CN" dirty="0">
              <a:solidFill>
                <a:srgbClr val="0052D9"/>
              </a:solidFill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</a:rPr>
              <a:t>Compensate</a:t>
            </a:r>
            <a:r>
              <a:rPr lang="en-US" altLang="zh-CN" sz="1400" dirty="0"/>
              <a:t> for electrical weaknesses.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Amplify optical strengths</a:t>
            </a:r>
          </a:p>
        </p:txBody>
      </p:sp>
      <p:cxnSp>
        <p:nvCxnSpPr>
          <p:cNvPr id="76" name="直线连接符 34">
            <a:extLst>
              <a:ext uri="{FF2B5EF4-FFF2-40B4-BE49-F238E27FC236}">
                <a16:creationId xmlns:a16="http://schemas.microsoft.com/office/drawing/2014/main" id="{7BCBF591-831F-1A23-EFCF-1369DEDB04DA}"/>
              </a:ext>
            </a:extLst>
          </p:cNvPr>
          <p:cNvCxnSpPr>
            <a:cxnSpLocks/>
          </p:cNvCxnSpPr>
          <p:nvPr/>
        </p:nvCxnSpPr>
        <p:spPr>
          <a:xfrm>
            <a:off x="6849727" y="1522594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34">
            <a:extLst>
              <a:ext uri="{FF2B5EF4-FFF2-40B4-BE49-F238E27FC236}">
                <a16:creationId xmlns:a16="http://schemas.microsoft.com/office/drawing/2014/main" id="{FBBD434B-CD1E-5F61-CAAB-31E011343DA4}"/>
              </a:ext>
            </a:extLst>
          </p:cNvPr>
          <p:cNvCxnSpPr>
            <a:cxnSpLocks/>
          </p:cNvCxnSpPr>
          <p:nvPr/>
        </p:nvCxnSpPr>
        <p:spPr>
          <a:xfrm>
            <a:off x="654100" y="4907144"/>
            <a:ext cx="10177077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62744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0741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10287402" cy="731520"/>
          </a:xfr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dirty="0">
                <a:latin typeface="+mn-lt"/>
                <a:cs typeface="+mn-ea"/>
              </a:rPr>
              <a:t>Overseas: Pursue Scale-out &amp; Scale-up Parallelly; CPO Initial Focus on Scale-out (1-2 Years)</a:t>
            </a:r>
            <a:endParaRPr lang="zh-CN" alt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746750"/>
            <a:ext cx="936104" cy="572571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Strategy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129649"/>
            <a:ext cx="936104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 roadmap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2572431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56880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69709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58574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7570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123898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129247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123173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131662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3456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230994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2303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4236020"/>
            <a:ext cx="936104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roadmap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794590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 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Aggressively transitioning from copper to CPO.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1559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25Q2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1853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1795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0557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25.07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1940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Rubin 288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3673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359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26Q2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2610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2945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5499383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5499383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982873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123144" y="5470487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746749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dominator;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Betting on CPO to expand from Out to Up in 5 years.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294599"/>
            <a:ext cx="200705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4400188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26Q1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3945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7417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7537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2794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309511"/>
            <a:ext cx="200167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3433672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25.06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399243" y="5295410"/>
            <a:ext cx="464136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​Scale-Out: 2025–2026​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​Scale-Up: ~2028(per Broadcom)</a:t>
            </a: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02472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44090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B53ED52-958D-42EB-5D68-EE7AA6A2B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4186" y="971862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 Transceiver power consumption is based on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highlight>
                  <a:srgbClr val="FFFF00"/>
                </a:highlight>
                <a:cs typeface="+mn-ea"/>
                <a:sym typeface="+mn-lt"/>
              </a:rPr>
              <a:t>10W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(400G PO); Ascend 910C single-card power ≈800W.​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22091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43693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2.5m</a:t>
            </a:r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8B021EB7-28CB-335B-0718-DFB63C8F947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40247823"/>
              </p:ext>
            </p:extLst>
          </p:nvPr>
        </p:nvGraphicFramePr>
        <p:xfrm>
          <a:off x="236538" y="2859088"/>
          <a:ext cx="295275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2832100"/>
            <a:ext cx="0" cy="17176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2681288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0" name="Chart 3">
            <a:extLst>
              <a:ext uri="{FF2B5EF4-FFF2-40B4-BE49-F238E27FC236}">
                <a16:creationId xmlns:a16="http://schemas.microsoft.com/office/drawing/2014/main" id="{2A4C4DF0-9FA4-6081-971C-2B8B09D34679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59717625"/>
              </p:ext>
            </p:extLst>
          </p:nvPr>
        </p:nvGraphicFramePr>
        <p:xfrm>
          <a:off x="3205163" y="2859088"/>
          <a:ext cx="2298700" cy="2965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2832100"/>
            <a:ext cx="0" cy="1077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2832100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2832100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26812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55" name="Chart 3">
            <a:extLst>
              <a:ext uri="{FF2B5EF4-FFF2-40B4-BE49-F238E27FC236}">
                <a16:creationId xmlns:a16="http://schemas.microsoft.com/office/drawing/2014/main" id="{F16EA35B-7C0B-66AC-0D88-7AEE63BFFA46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169752568"/>
              </p:ext>
            </p:extLst>
          </p:nvPr>
        </p:nvGraphicFramePr>
        <p:xfrm>
          <a:off x="8926513" y="224472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43217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43217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166395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44090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≈1/3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≈1.7x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33203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33203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32727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32727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35902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2134808249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W/TFLOPS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6CD55-FB77-A3AC-E199-52E1D5F9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664165-D337-BD98-86DD-A31B0D6CD5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29668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" name="文本框 245">
            <a:extLst>
              <a:ext uri="{FF2B5EF4-FFF2-40B4-BE49-F238E27FC236}">
                <a16:creationId xmlns:a16="http://schemas.microsoft.com/office/drawing/2014/main" id="{EA5C795C-C515-BC8D-C257-AFA9FF9F423B}"/>
              </a:ext>
            </a:extLst>
          </p:cNvPr>
          <p:cNvSpPr txBox="1"/>
          <p:nvPr/>
        </p:nvSpPr>
        <p:spPr>
          <a:xfrm>
            <a:off x="6623128" y="2290686"/>
            <a:ext cx="5364632" cy="4560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rgbClr val="DCDEE0">
                    <a:lumMod val="1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Potential Ports: </a:t>
            </a:r>
            <a:r>
              <a:rPr kumimoji="1" lang="en-US" altLang="zh-CN" sz="1600" dirty="0">
                <a:solidFill>
                  <a:srgbClr val="DCDEE0">
                    <a:lumMod val="1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GPUs/ASICs + switches using 800G/1.6T/3.2T transceivers. 2030E shipments: ​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100mn</a:t>
            </a:r>
            <a:r>
              <a:rPr kumimoji="1" lang="en-US" altLang="zh-CN" sz="1600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.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6D3086-13FE-1D29-38B8-E5C5C498FDD3}"/>
              </a:ext>
            </a:extLst>
          </p:cNvPr>
          <p:cNvSpPr txBox="1"/>
          <p:nvPr/>
        </p:nvSpPr>
        <p:spPr>
          <a:xfrm>
            <a:off x="6537633" y="2848913"/>
            <a:ext cx="53646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Penetration Rate: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Supported by new HPC cluster construction. 2030E penetration: 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40%.</a:t>
            </a: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27F10C0B-C23E-88BE-46D2-0F936EECF229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Morgan Stanley Research,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LightCounting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SemiAnalysis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Broadcom expert.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0E159DE-54C8-6C37-B46D-FF12E3B08587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500" b="0" i="0" u="none" strike="noStrike" kern="1200" cap="none" spc="0" normalizeH="0" baseline="0" noProof="0" dirty="0">
                <a:ln w="6350" cap="flat">
                  <a:noFill/>
                  <a:miter lim="800000"/>
                </a:ln>
                <a:solidFill>
                  <a:srgbClr val="53585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CPO: A Multi-Billion Dollar Market Paved by Data Rate Scaling</a:t>
            </a:r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4C8FE088-9018-7181-2F90-D0428928D736}"/>
              </a:ext>
            </a:extLst>
          </p:cNvPr>
          <p:cNvGrpSpPr/>
          <p:nvPr/>
        </p:nvGrpSpPr>
        <p:grpSpPr>
          <a:xfrm>
            <a:off x="373525" y="2787152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7E71F5F1-653B-B5A0-1A03-4A14140FD997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C2933873-1A82-A7F9-31CC-CC5E9A88B1F5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52D9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Base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28D8599-510F-84E1-32F5-0AFC97C92A17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918C1CBB-A30C-CF11-53E9-2DE4696E1092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69813FA2-FCC4-9F84-F7C6-9552509CA901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lvl="0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172%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zh-CN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2030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E</a:t>
                </a:r>
                <a:r>
                  <a:rPr kumimoji="1" lang="zh-CN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 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cs typeface="+mn-ea"/>
                    <a:sym typeface="+mn-lt"/>
                  </a:rPr>
                  <a:t>Revenue: </a:t>
                </a:r>
                <a:r>
                  <a:rPr kumimoji="1" lang="en-US" altLang="zh-CN" sz="1600" b="1" dirty="0">
                    <a:solidFill>
                      <a:srgbClr val="0052D9"/>
                    </a:solidFill>
                    <a:latin typeface="Arial"/>
                    <a:ea typeface="楷体"/>
                    <a:cs typeface="+mn-ea"/>
                    <a:sym typeface="+mn-lt"/>
                  </a:rPr>
                  <a:t>~$</a:t>
                </a:r>
                <a:r>
                  <a:rPr kumimoji="1" lang="zh-CN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9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.</a:t>
                </a:r>
                <a:r>
                  <a:rPr kumimoji="1" lang="zh-CN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3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52D9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bn;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lvl="0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NVIDIA Rubin + Broadcom TH7 lead high-end pluggable module replacement; penetration ~40%.</a:t>
                </a:r>
                <a:endParaRPr kumimoji="1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3014FA72-4F3E-9274-7B07-15A87AE4E15F}"/>
              </a:ext>
            </a:extLst>
          </p:cNvPr>
          <p:cNvGrpSpPr/>
          <p:nvPr/>
        </p:nvGrpSpPr>
        <p:grpSpPr>
          <a:xfrm>
            <a:off x="333768" y="885069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2CC4547C-DD76-5143-213D-C0203683C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6624975-0981-D3F9-F854-E1C8F0149307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5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Bull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E27FD0E-E4FE-C07B-7940-A3C005F152C2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9E33F0B5-71D6-18C3-066D-C723F07AAE06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rgbClr val="FFFFFF"/>
                  </a:solidFill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E85FB7E-4715-B017-F84B-229D98780F76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210%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2030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E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 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Revenue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latin typeface="Arial"/>
                    <a:ea typeface="楷体"/>
                    <a:cs typeface="+mn-ea"/>
                    <a:sym typeface="+mn-lt"/>
                  </a:rPr>
                  <a:t>: </a:t>
                </a: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 </a:t>
                </a:r>
                <a:r>
                  <a:rPr kumimoji="1" lang="en-US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~$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27</a:t>
                </a:r>
                <a:r>
                  <a:rPr kumimoji="1" lang="en-US" altLang="zh-CN" sz="1600" b="1" dirty="0">
                    <a:solidFill>
                      <a:schemeClr val="accent5"/>
                    </a:solidFill>
                    <a:latin typeface="Arial"/>
                    <a:ea typeface="楷体"/>
                    <a:cs typeface="+mn-ea"/>
                    <a:sym typeface="+mn-lt"/>
                  </a:rPr>
                  <a:t>bn;</a:t>
                </a:r>
                <a:endParaRPr kumimoji="1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3585F">
                      <a:lumMod val="50000"/>
                    </a:srgb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CPO becomes mainstream in 800G/1.6T nodes; penetration &gt;60%, extends to 400G.</a:t>
                </a: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27311E0F-4485-4C28-38B6-7F3E77D40AD7}"/>
              </a:ext>
            </a:extLst>
          </p:cNvPr>
          <p:cNvGrpSpPr/>
          <p:nvPr/>
        </p:nvGrpSpPr>
        <p:grpSpPr>
          <a:xfrm>
            <a:off x="333768" y="466781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BCF078E-651C-DCF7-9B47-E30DF6BA447C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rPr>
                <a:t>Bear case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515180D-B682-5D59-5818-E29380D6C1B2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0698B97B-F638-0BA9-2DFD-235A76E50698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6A2E8E1-C152-F9E3-6C3B-BE5675788C2A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CAGR 107%</a:t>
                </a:r>
                <a:r>
                  <a:rPr kumimoji="1" lang="en-US" altLang="zh-CN" sz="1600" dirty="0">
                    <a:solidFill>
                      <a:srgbClr val="53585F">
                        <a:lumMod val="50000"/>
                      </a:srgbClr>
                    </a:solidFill>
                    <a:latin typeface="Arial"/>
                    <a:ea typeface="楷体"/>
                    <a:cs typeface="+mn-ea"/>
                    <a:sym typeface="+mn-lt"/>
                  </a:rPr>
                  <a:t>, </a:t>
                </a: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585F">
                        <a:lumMod val="50000"/>
                      </a:srgb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2030E Revenue: </a:t>
                </a:r>
                <a:r>
                  <a:rPr kumimoji="1" lang="en-US" altLang="zh-C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~$1B;</a:t>
                </a:r>
                <a:endPara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  <a:p>
                <a:pPr marL="185738" marR="0" lvl="0" indent="-185738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6">
                        <a:lumMod val="10000"/>
                      </a:schemeClr>
                    </a:solidFill>
                    <a:effectLst/>
                    <a:uLnTx/>
                    <a:uFillTx/>
                    <a:latin typeface="Arial"/>
                    <a:ea typeface="楷体"/>
                    <a:cs typeface="+mn-ea"/>
                    <a:sym typeface="+mn-lt"/>
                  </a:rPr>
                  <a:t>Piloted only in ultra-high-end AI clusters; penetration ≤15%.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uLnTx/>
                  <a:uFillTx/>
                  <a:latin typeface="Arial"/>
                  <a:ea typeface="楷体"/>
                  <a:cs typeface="+mn-ea"/>
                  <a:sym typeface="+mn-lt"/>
                </a:endParaRPr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4D043F2A-5C28-3691-4374-9746B8A90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3EB973E8-1FEE-DB70-288F-C31A26AD01C9}"/>
              </a:ext>
            </a:extLst>
          </p:cNvPr>
          <p:cNvSpPr txBox="1"/>
          <p:nvPr/>
        </p:nvSpPr>
        <p:spPr>
          <a:xfrm>
            <a:off x="6426846" y="146123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4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6306EB-26B0-672C-CB1F-CF34879874A6}"/>
              </a:ext>
            </a:extLst>
          </p:cNvPr>
          <p:cNvSpPr txBox="1"/>
          <p:nvPr/>
        </p:nvSpPr>
        <p:spPr>
          <a:xfrm>
            <a:off x="7418928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=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826D3C-C9F7-864C-F674-04C05058C2CB}"/>
              </a:ext>
            </a:extLst>
          </p:cNvPr>
          <p:cNvSpPr txBox="1"/>
          <p:nvPr/>
        </p:nvSpPr>
        <p:spPr>
          <a:xfrm>
            <a:off x="7865920" y="1404158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Potential Ports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A5821CD-80A0-4FCB-263B-885A20102CFC}"/>
              </a:ext>
            </a:extLst>
          </p:cNvPr>
          <p:cNvSpPr txBox="1"/>
          <p:nvPr/>
        </p:nvSpPr>
        <p:spPr>
          <a:xfrm>
            <a:off x="9354650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×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629C8D-0F4C-1F8A-C6AF-5658B92D4CF7}"/>
              </a:ext>
            </a:extLst>
          </p:cNvPr>
          <p:cNvSpPr txBox="1"/>
          <p:nvPr/>
        </p:nvSpPr>
        <p:spPr>
          <a:xfrm>
            <a:off x="9786325" y="1404158"/>
            <a:ext cx="118227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Penetration Rate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7548F9-0DB3-1240-3009-65902E935706}"/>
              </a:ext>
            </a:extLst>
          </p:cNvPr>
          <p:cNvSpPr txBox="1"/>
          <p:nvPr/>
        </p:nvSpPr>
        <p:spPr>
          <a:xfrm>
            <a:off x="10888133" y="1461237"/>
            <a:ext cx="505839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×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0940DD8-7E7B-B743-CE39-C879F166600D}"/>
              </a:ext>
            </a:extLst>
          </p:cNvPr>
          <p:cNvSpPr txBox="1"/>
          <p:nvPr/>
        </p:nvSpPr>
        <p:spPr>
          <a:xfrm>
            <a:off x="11157942" y="1461237"/>
            <a:ext cx="80179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Unit Price</a:t>
            </a:r>
            <a:endParaRPr kumimoji="1" lang="zh-CN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DEA6416-A15E-24FF-A739-2C1A7889CF85}"/>
              </a:ext>
            </a:extLst>
          </p:cNvPr>
          <p:cNvSpPr txBox="1"/>
          <p:nvPr/>
        </p:nvSpPr>
        <p:spPr>
          <a:xfrm>
            <a:off x="8422103" y="1750602"/>
            <a:ext cx="50584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①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E85336B-EB47-75C6-541C-B4372D1F89BE}"/>
              </a:ext>
            </a:extLst>
          </p:cNvPr>
          <p:cNvSpPr txBox="1"/>
          <p:nvPr/>
        </p:nvSpPr>
        <p:spPr>
          <a:xfrm>
            <a:off x="9568359" y="1750602"/>
            <a:ext cx="161820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②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52D9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B758D26-69FF-1190-7338-40D57D987C0C}"/>
              </a:ext>
            </a:extLst>
          </p:cNvPr>
          <p:cNvSpPr/>
          <p:nvPr/>
        </p:nvSpPr>
        <p:spPr>
          <a:xfrm>
            <a:off x="7865920" y="1209512"/>
            <a:ext cx="1618207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D45858-BC08-8DBF-06F4-2536BC2DE452}"/>
              </a:ext>
            </a:extLst>
          </p:cNvPr>
          <p:cNvSpPr/>
          <p:nvPr/>
        </p:nvSpPr>
        <p:spPr>
          <a:xfrm>
            <a:off x="9748009" y="1210811"/>
            <a:ext cx="1237480" cy="8697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C47B5B7-12E5-FFB0-4B6D-B3BFC15CED54}"/>
              </a:ext>
            </a:extLst>
          </p:cNvPr>
          <p:cNvSpPr txBox="1"/>
          <p:nvPr/>
        </p:nvSpPr>
        <p:spPr>
          <a:xfrm>
            <a:off x="6585164" y="473520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New IDCs prefer CPO to avoid future replacement costs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Amazon, Meta, Google, x.AI require optical interconnects for 10k-clusters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0D81AA9-A5AA-AFCB-5127-F8AC893064A6}"/>
              </a:ext>
            </a:extLst>
          </p:cNvPr>
          <p:cNvSpPr/>
          <p:nvPr/>
        </p:nvSpPr>
        <p:spPr>
          <a:xfrm>
            <a:off x="6585164" y="3614123"/>
            <a:ext cx="5269570" cy="995304"/>
          </a:xfrm>
          <a:prstGeom prst="roundRect">
            <a:avLst>
              <a:gd name="adj" fmla="val 3687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“</a:t>
            </a:r>
            <a:r>
              <a:rPr kumimoji="0" lang="en-US" altLang="zh-CN" sz="1600" b="1" i="1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35% 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of Meta’s HPC cluster interconnects have applied CPO.</a:t>
            </a:r>
            <a:r>
              <a: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”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  <a:p>
            <a:pPr marL="0" marR="0" lvl="0" indent="0" algn="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—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Broadcom expert</a:t>
            </a:r>
          </a:p>
        </p:txBody>
      </p:sp>
      <p:sp>
        <p:nvSpPr>
          <p:cNvPr id="2" name="梯形 1">
            <a:extLst>
              <a:ext uri="{FF2B5EF4-FFF2-40B4-BE49-F238E27FC236}">
                <a16:creationId xmlns:a16="http://schemas.microsoft.com/office/drawing/2014/main" id="{FAB954A1-EA08-9875-CD96-4EC71B65B32B}"/>
              </a:ext>
            </a:extLst>
          </p:cNvPr>
          <p:cNvSpPr/>
          <p:nvPr/>
        </p:nvSpPr>
        <p:spPr>
          <a:xfrm rot="16200000">
            <a:off x="3691051" y="3465152"/>
            <a:ext cx="4799248" cy="370109"/>
          </a:xfrm>
          <a:prstGeom prst="trapezoid">
            <a:avLst>
              <a:gd name="adj" fmla="val 502268"/>
            </a:avLst>
          </a:prstGeom>
          <a:gradFill flip="none" rotWithShape="1">
            <a:gsLst>
              <a:gs pos="18000">
                <a:srgbClr val="BDD4FF"/>
              </a:gs>
              <a:gs pos="0">
                <a:schemeClr val="accent1">
                  <a:lumMod val="5000"/>
                  <a:lumOff val="95000"/>
                </a:schemeClr>
              </a:gs>
              <a:gs pos="100000">
                <a:srgbClr val="0052D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130">
            <a:extLst>
              <a:ext uri="{FF2B5EF4-FFF2-40B4-BE49-F238E27FC236}">
                <a16:creationId xmlns:a16="http://schemas.microsoft.com/office/drawing/2014/main" id="{4C4401D9-94DB-E122-8EEB-A71C05351D29}"/>
              </a:ext>
            </a:extLst>
          </p:cNvPr>
          <p:cNvSpPr/>
          <p:nvPr/>
        </p:nvSpPr>
        <p:spPr>
          <a:xfrm>
            <a:off x="6415288" y="1083069"/>
            <a:ext cx="5611611" cy="5101831"/>
          </a:xfrm>
          <a:prstGeom prst="roundRect">
            <a:avLst>
              <a:gd name="adj" fmla="val 5634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rgbClr val="FFFFFF"/>
              </a:solidFill>
              <a:latin typeface="Arial"/>
              <a:ea typeface="楷体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5419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56505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Key Modules: Silicon Photonics Chip, Electrical IC, Switch ASIC, and Integration &amp; Delivery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5355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5355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5355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5915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2264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1361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0918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2527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1255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1255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1165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1255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5355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6582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3680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3680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27233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2527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6951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37255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38522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1406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37912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5723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4033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49039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38673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4401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4957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1474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Integration¹: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C8B1F2-7CEF-4519-ED3C-8D9DE918E770}"/>
              </a:ext>
            </a:extLst>
          </p:cNvPr>
          <p:cNvSpPr txBox="1"/>
          <p:nvPr/>
        </p:nvSpPr>
        <p:spPr>
          <a:xfrm>
            <a:off x="406273" y="635610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Foundry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included.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9782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50" y="94209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9" name="文本框 5178">
            <a:extLst>
              <a:ext uri="{FF2B5EF4-FFF2-40B4-BE49-F238E27FC236}">
                <a16:creationId xmlns:a16="http://schemas.microsoft.com/office/drawing/2014/main" id="{E4A184E9-3A80-ADD9-90D0-3BD2A6D536F2}"/>
              </a:ext>
            </a:extLst>
          </p:cNvPr>
          <p:cNvSpPr txBox="1"/>
          <p:nvPr/>
        </p:nvSpPr>
        <p:spPr>
          <a:xfrm>
            <a:off x="1612731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3" name="文本框 5182">
            <a:extLst>
              <a:ext uri="{FF2B5EF4-FFF2-40B4-BE49-F238E27FC236}">
                <a16:creationId xmlns:a16="http://schemas.microsoft.com/office/drawing/2014/main" id="{C394D483-8024-A943-E588-73ECFBF0CC3A}"/>
              </a:ext>
            </a:extLst>
          </p:cNvPr>
          <p:cNvSpPr txBox="1"/>
          <p:nvPr/>
        </p:nvSpPr>
        <p:spPr>
          <a:xfrm>
            <a:off x="4234660" y="483921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506902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545429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457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463" y="3760737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91286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889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92754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131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1" name="文本框 2100">
            <a:extLst>
              <a:ext uri="{FF2B5EF4-FFF2-40B4-BE49-F238E27FC236}">
                <a16:creationId xmlns:a16="http://schemas.microsoft.com/office/drawing/2014/main" id="{E6FD4056-43C1-8C5D-644C-0CE9689C106D}"/>
              </a:ext>
            </a:extLst>
          </p:cNvPr>
          <p:cNvSpPr txBox="1"/>
          <p:nvPr/>
        </p:nvSpPr>
        <p:spPr>
          <a:xfrm>
            <a:off x="9469715" y="4839218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02" name="文本框 2101">
            <a:extLst>
              <a:ext uri="{FF2B5EF4-FFF2-40B4-BE49-F238E27FC236}">
                <a16:creationId xmlns:a16="http://schemas.microsoft.com/office/drawing/2014/main" id="{DBA9FF02-34D5-43C4-E252-A278D8CB7EC8}"/>
              </a:ext>
            </a:extLst>
          </p:cNvPr>
          <p:cNvSpPr txBox="1"/>
          <p:nvPr/>
        </p:nvSpPr>
        <p:spPr>
          <a:xfrm>
            <a:off x="7232627" y="4833313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1067351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1067453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2020-2025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270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836584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008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834674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339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China</a:t>
            </a:r>
          </a:p>
        </p:txBody>
      </p:sp>
      <p:sp>
        <p:nvSpPr>
          <p:cNvPr id="5218" name="文本框 5217">
            <a:extLst>
              <a:ext uri="{FF2B5EF4-FFF2-40B4-BE49-F238E27FC236}">
                <a16:creationId xmlns:a16="http://schemas.microsoft.com/office/drawing/2014/main" id="{4C1EB8A8-F3ED-32C3-1B4C-CAC5276F4410}"/>
              </a:ext>
            </a:extLst>
          </p:cNvPr>
          <p:cNvSpPr txBox="1"/>
          <p:nvPr/>
        </p:nvSpPr>
        <p:spPr>
          <a:xfrm>
            <a:off x="1612731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19" name="文本框 5218">
            <a:extLst>
              <a:ext uri="{FF2B5EF4-FFF2-40B4-BE49-F238E27FC236}">
                <a16:creationId xmlns:a16="http://schemas.microsoft.com/office/drawing/2014/main" id="{4F9A7E07-DD5E-5903-A969-AC77CC548F8C}"/>
              </a:ext>
            </a:extLst>
          </p:cNvPr>
          <p:cNvSpPr txBox="1"/>
          <p:nvPr/>
        </p:nvSpPr>
        <p:spPr>
          <a:xfrm>
            <a:off x="4234660" y="5492964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0" name="文本框 5219">
            <a:extLst>
              <a:ext uri="{FF2B5EF4-FFF2-40B4-BE49-F238E27FC236}">
                <a16:creationId xmlns:a16="http://schemas.microsoft.com/office/drawing/2014/main" id="{B13376BB-EF7B-B812-AE85-BEE99F9CBB28}"/>
              </a:ext>
            </a:extLst>
          </p:cNvPr>
          <p:cNvSpPr txBox="1"/>
          <p:nvPr/>
        </p:nvSpPr>
        <p:spPr>
          <a:xfrm>
            <a:off x="7232627" y="5487059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1" name="文本框 5220">
            <a:extLst>
              <a:ext uri="{FF2B5EF4-FFF2-40B4-BE49-F238E27FC236}">
                <a16:creationId xmlns:a16="http://schemas.microsoft.com/office/drawing/2014/main" id="{5A3B8B9F-F479-B849-C8F0-3690A588B4B8}"/>
              </a:ext>
            </a:extLst>
          </p:cNvPr>
          <p:cNvSpPr txBox="1"/>
          <p:nvPr/>
        </p:nvSpPr>
        <p:spPr>
          <a:xfrm>
            <a:off x="9469715" y="5492964"/>
            <a:ext cx="675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9y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8" name="图像" descr="图像">
            <a:extLst>
              <a:ext uri="{FF2B5EF4-FFF2-40B4-BE49-F238E27FC236}">
                <a16:creationId xmlns:a16="http://schemas.microsoft.com/office/drawing/2014/main" id="{DB893361-6B45-7E8C-9755-E37F2155A5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5320" y="3760737"/>
            <a:ext cx="770002" cy="2281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3735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6690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6759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6740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6690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6759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6669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57337" y="1890146"/>
            <a:ext cx="8402638" cy="827356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5B6B8E-B98F-0CB7-E285-D8CC98B8C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6740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778846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48823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6208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0866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0910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1055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0910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3807072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3803139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9133" y="4174099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0317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3546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19876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7630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0219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49157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49390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49877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28276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7896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0104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30128" y="3774348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6447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6886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58066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58896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6293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4217809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023675"/>
            <a:ext cx="574356" cy="2213303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D544ED39-3EF7-50CB-502E-B74080C01BB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37419" y="3045997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311481" y="18819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96462" y="24347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l="5884" t="22886" r="3998" b="18237"/>
          <a:stretch>
            <a:fillRect/>
          </a:stretch>
        </p:blipFill>
        <p:spPr>
          <a:xfrm>
            <a:off x="11200086" y="5363148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687657" y="19491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3497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19158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542610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19985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3909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3878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6520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037197"/>
            <a:ext cx="475097" cy="89818"/>
          </a:xfrm>
          <a:prstGeom prst="rect">
            <a:avLst/>
          </a:prstGeom>
        </p:spPr>
      </p:pic>
      <p:sp>
        <p:nvSpPr>
          <p:cNvPr id="2058" name="Rectangle 8">
            <a:extLst>
              <a:ext uri="{FF2B5EF4-FFF2-40B4-BE49-F238E27FC236}">
                <a16:creationId xmlns:a16="http://schemas.microsoft.com/office/drawing/2014/main" id="{2137F4A7-010E-E86A-CB33-ED2C7C50C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2745084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b="1" dirty="0">
                <a:solidFill>
                  <a:srgbClr val="000000"/>
                </a:solidFill>
                <a:cs typeface="+mn-ea"/>
                <a:sym typeface="+mn-lt"/>
              </a:rPr>
              <a:t>光模块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021993"/>
            <a:ext cx="431753" cy="164625"/>
          </a:xfrm>
          <a:prstGeom prst="rect">
            <a:avLst/>
          </a:prstGeom>
        </p:spPr>
      </p:pic>
      <p:pic>
        <p:nvPicPr>
          <p:cNvPr id="3074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96190A70-1AB2-1B66-22BC-1684BE086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638" y="2946742"/>
            <a:ext cx="703555" cy="32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3872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3152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6247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0510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49716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9846" y="4217809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6520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28242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0328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2895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4347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4347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4347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19369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3730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19547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3909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171279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946682" y="20083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301" y="19930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19547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3909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28242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82626" y="3794478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9397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228365" y="3774101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图片 1037">
            <a:extLst>
              <a:ext uri="{FF2B5EF4-FFF2-40B4-BE49-F238E27FC236}">
                <a16:creationId xmlns:a16="http://schemas.microsoft.com/office/drawing/2014/main" id="{6877E9FB-C6BE-A359-B45E-CEF71A89623E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0589" y="2987295"/>
            <a:ext cx="590782" cy="225262"/>
          </a:xfrm>
          <a:prstGeom prst="rect">
            <a:avLst/>
          </a:prstGeom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8" cstate="print"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27762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6058873" y="50022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49265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71"/>
          <a:srcRect t="29736" r="12" b="29739"/>
          <a:stretch>
            <a:fillRect/>
          </a:stretch>
        </p:blipFill>
        <p:spPr>
          <a:xfrm>
            <a:off x="9353452" y="53782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2"/>
          <a:srcRect l="10181" t="33840" r="8725" b="35390"/>
          <a:stretch>
            <a:fillRect/>
          </a:stretch>
        </p:blipFill>
        <p:spPr>
          <a:xfrm>
            <a:off x="9910587" y="50409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6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26F952F8-BD30-39B8-0710-DB5BDE7A0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3281" y="5616691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图片 1046">
            <a:extLst>
              <a:ext uri="{FF2B5EF4-FFF2-40B4-BE49-F238E27FC236}">
                <a16:creationId xmlns:a16="http://schemas.microsoft.com/office/drawing/2014/main" id="{748D2AFE-B7CC-31D4-6479-FF122053DAE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42941" y="5667052"/>
            <a:ext cx="431753" cy="164625"/>
          </a:xfrm>
          <a:prstGeom prst="rect">
            <a:avLst/>
          </a:prstGeom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5625" y="3801417"/>
            <a:ext cx="504030" cy="133869"/>
          </a:xfrm>
          <a:prstGeom prst="rect">
            <a:avLst/>
          </a:prstGeom>
        </p:spPr>
      </p:pic>
      <p:sp>
        <p:nvSpPr>
          <p:cNvPr id="1051" name="矩形 1050">
            <a:extLst>
              <a:ext uri="{FF2B5EF4-FFF2-40B4-BE49-F238E27FC236}">
                <a16:creationId xmlns:a16="http://schemas.microsoft.com/office/drawing/2014/main" id="{9CA8FAD8-3AFF-D22F-C790-600157E53E3D}"/>
              </a:ext>
            </a:extLst>
          </p:cNvPr>
          <p:cNvSpPr/>
          <p:nvPr/>
        </p:nvSpPr>
        <p:spPr>
          <a:xfrm>
            <a:off x="1565012" y="5634135"/>
            <a:ext cx="897642" cy="493426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3778846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2619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38041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0467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38066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27802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6869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7450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946682" y="3781929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8582919" y="3799845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14490" y="3782705"/>
            <a:ext cx="681323" cy="1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FE54A-B213-CE75-427F-8AA3404D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5558F73-8357-A1DD-7EB5-F81BF51530B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89747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FBBE0B0-01BF-CB4A-40C0-09FFDB8A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Broadcom: First to Commercialize CPO with a Sustained Lead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E1DD30-7FDB-3F47-7AEF-E5C2244C3CE7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 switch chips prioritized in timeline.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46B5D6ED-707E-C6B1-912C-1C81B662A5CB}"/>
              </a:ext>
            </a:extLst>
          </p:cNvPr>
          <p:cNvGrpSpPr/>
          <p:nvPr/>
        </p:nvGrpSpPr>
        <p:grpSpPr>
          <a:xfrm>
            <a:off x="419231" y="831408"/>
            <a:ext cx="11063882" cy="855636"/>
            <a:chOff x="419231" y="831408"/>
            <a:chExt cx="11063882" cy="855636"/>
          </a:xfrm>
        </p:grpSpPr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ED932BCA-CA28-E081-AD9C-A046286F0419}"/>
                </a:ext>
              </a:extLst>
            </p:cNvPr>
            <p:cNvSpPr/>
            <p:nvPr/>
          </p:nvSpPr>
          <p:spPr>
            <a:xfrm>
              <a:off x="419231" y="831408"/>
              <a:ext cx="11063882" cy="842892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F81A6C3-9205-443D-8828-1B7234874E73}"/>
                </a:ext>
              </a:extLst>
            </p:cNvPr>
            <p:cNvSpPr txBox="1"/>
            <p:nvPr/>
          </p:nvSpPr>
          <p:spPr>
            <a:xfrm>
              <a:off x="474403" y="856047"/>
              <a:ext cx="10782877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Competitive Positioning: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≈1-year lead</a:t>
              </a:r>
              <a:r>
                <a:rPr lang="en-US" altLang="zh-CN" sz="1600" dirty="0"/>
                <a:t> over ​NVIDIA;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The only vendor with publicly confirmed mass production of CPO switches/chips;​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altLang="zh-CN" sz="1600" dirty="0"/>
                <a:t>TH4 &amp; TH5: Industry’s </a:t>
              </a:r>
              <a:r>
                <a:rPr lang="en-US" altLang="zh-CN" sz="1600" b="1" dirty="0">
                  <a:solidFill>
                    <a:srgbClr val="0052D9"/>
                  </a:solidFill>
                </a:rPr>
                <a:t>first CPO switch chips </a:t>
              </a:r>
              <a:r>
                <a:rPr lang="en-US" altLang="zh-CN" sz="1600" dirty="0"/>
                <a:t>to enter volume production.</a:t>
              </a:r>
            </a:p>
          </p:txBody>
        </p:sp>
      </p:grpSp>
      <p:sp>
        <p:nvSpPr>
          <p:cNvPr id="110" name="文本框 13">
            <a:extLst>
              <a:ext uri="{FF2B5EF4-FFF2-40B4-BE49-F238E27FC236}">
                <a16:creationId xmlns:a16="http://schemas.microsoft.com/office/drawing/2014/main" id="{E2C45565-EC1B-5D1D-99A3-5A79B14DD9AA}"/>
              </a:ext>
            </a:extLst>
          </p:cNvPr>
          <p:cNvSpPr txBox="1"/>
          <p:nvPr/>
        </p:nvSpPr>
        <p:spPr>
          <a:xfrm>
            <a:off x="5910123" y="1100639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45D36808-52C5-27C7-514E-CA0FED831006}"/>
              </a:ext>
            </a:extLst>
          </p:cNvPr>
          <p:cNvCxnSpPr>
            <a:cxnSpLocks/>
          </p:cNvCxnSpPr>
          <p:nvPr/>
        </p:nvCxnSpPr>
        <p:spPr>
          <a:xfrm>
            <a:off x="1407961" y="5798954"/>
            <a:ext cx="96267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C7DE9DED-194E-1502-E490-1F6920A95A4F}"/>
              </a:ext>
            </a:extLst>
          </p:cNvPr>
          <p:cNvCxnSpPr>
            <a:cxnSpLocks/>
          </p:cNvCxnSpPr>
          <p:nvPr/>
        </p:nvCxnSpPr>
        <p:spPr>
          <a:xfrm flipV="1">
            <a:off x="1407962" y="2367508"/>
            <a:ext cx="0" cy="3426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文本框 1042">
            <a:extLst>
              <a:ext uri="{FF2B5EF4-FFF2-40B4-BE49-F238E27FC236}">
                <a16:creationId xmlns:a16="http://schemas.microsoft.com/office/drawing/2014/main" id="{600B4EB6-1EE8-4CC7-CF0C-980549956770}"/>
              </a:ext>
            </a:extLst>
          </p:cNvPr>
          <p:cNvSpPr txBox="1"/>
          <p:nvPr/>
        </p:nvSpPr>
        <p:spPr>
          <a:xfrm>
            <a:off x="751310" y="5139056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12.8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4" name="文本框 1043">
            <a:extLst>
              <a:ext uri="{FF2B5EF4-FFF2-40B4-BE49-F238E27FC236}">
                <a16:creationId xmlns:a16="http://schemas.microsoft.com/office/drawing/2014/main" id="{2ECF937A-BCE8-7B42-925C-83B3E3B77D06}"/>
              </a:ext>
            </a:extLst>
          </p:cNvPr>
          <p:cNvSpPr txBox="1"/>
          <p:nvPr/>
        </p:nvSpPr>
        <p:spPr>
          <a:xfrm>
            <a:off x="751310" y="4337143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25.6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5" name="文本框 1044">
            <a:extLst>
              <a:ext uri="{FF2B5EF4-FFF2-40B4-BE49-F238E27FC236}">
                <a16:creationId xmlns:a16="http://schemas.microsoft.com/office/drawing/2014/main" id="{52F3FB11-5937-AA18-30B9-0AB44CA4074D}"/>
              </a:ext>
            </a:extLst>
          </p:cNvPr>
          <p:cNvSpPr txBox="1"/>
          <p:nvPr/>
        </p:nvSpPr>
        <p:spPr>
          <a:xfrm>
            <a:off x="751310" y="3535229"/>
            <a:ext cx="67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51.2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FEC53B9-1D54-FBF6-8971-E6DB3E7C220D}"/>
              </a:ext>
            </a:extLst>
          </p:cNvPr>
          <p:cNvSpPr txBox="1"/>
          <p:nvPr/>
        </p:nvSpPr>
        <p:spPr>
          <a:xfrm>
            <a:off x="656291" y="2733315"/>
            <a:ext cx="867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102.4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52" name="文本框 1051">
            <a:extLst>
              <a:ext uri="{FF2B5EF4-FFF2-40B4-BE49-F238E27FC236}">
                <a16:creationId xmlns:a16="http://schemas.microsoft.com/office/drawing/2014/main" id="{9515409C-F418-0A19-0F53-073B69E48FF5}"/>
              </a:ext>
            </a:extLst>
          </p:cNvPr>
          <p:cNvSpPr txBox="1"/>
          <p:nvPr/>
        </p:nvSpPr>
        <p:spPr>
          <a:xfrm>
            <a:off x="587360" y="1872409"/>
            <a:ext cx="10051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cs typeface="+mn-ea"/>
                <a:sym typeface="+mn-lt"/>
              </a:rPr>
              <a:t>ASIC</a:t>
            </a:r>
          </a:p>
          <a:p>
            <a:pPr algn="ctr"/>
            <a:r>
              <a:rPr lang="en-US" altLang="zh-CN" sz="1400" dirty="0">
                <a:cs typeface="+mn-ea"/>
                <a:sym typeface="+mn-lt"/>
              </a:rPr>
              <a:t>Capacity</a:t>
            </a:r>
            <a:r>
              <a:rPr lang="zh-CN" altLang="en-US" sz="1400" dirty="0">
                <a:cs typeface="+mn-ea"/>
                <a:sym typeface="+mn-lt"/>
              </a:rPr>
              <a:t>（</a:t>
            </a:r>
            <a:r>
              <a:rPr lang="en-US" altLang="zh-CN" sz="1400" dirty="0" err="1">
                <a:cs typeface="+mn-ea"/>
                <a:sym typeface="+mn-lt"/>
              </a:rPr>
              <a:t>Tbps</a:t>
            </a:r>
            <a:r>
              <a:rPr lang="zh-CN" altLang="en-US" sz="1400" dirty="0">
                <a:cs typeface="+mn-ea"/>
                <a:sym typeface="+mn-lt"/>
              </a:rPr>
              <a:t>）</a:t>
            </a:r>
          </a:p>
        </p:txBody>
      </p:sp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CE6789BA-E003-ED21-8313-C7D3E2FD3A15}"/>
              </a:ext>
            </a:extLst>
          </p:cNvPr>
          <p:cNvGrpSpPr/>
          <p:nvPr/>
        </p:nvGrpSpPr>
        <p:grpSpPr>
          <a:xfrm>
            <a:off x="3013249" y="5691528"/>
            <a:ext cx="754380" cy="549547"/>
            <a:chOff x="2302741" y="5497808"/>
            <a:chExt cx="754380" cy="549547"/>
          </a:xfrm>
        </p:grpSpPr>
        <p:sp>
          <p:nvSpPr>
            <p:cNvPr id="1028" name="iconfont-1018-792472">
              <a:extLst>
                <a:ext uri="{FF2B5EF4-FFF2-40B4-BE49-F238E27FC236}">
                  <a16:creationId xmlns:a16="http://schemas.microsoft.com/office/drawing/2014/main" id="{A28C6252-82D4-448A-5630-CA8489B87C7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9" name="文本框 1028">
              <a:extLst>
                <a:ext uri="{FF2B5EF4-FFF2-40B4-BE49-F238E27FC236}">
                  <a16:creationId xmlns:a16="http://schemas.microsoft.com/office/drawing/2014/main" id="{75D40222-E86A-AF05-53F7-23934033CE7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2021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6E9B963C-0085-6B82-A034-F954D71BF01E}"/>
              </a:ext>
            </a:extLst>
          </p:cNvPr>
          <p:cNvGrpSpPr/>
          <p:nvPr/>
        </p:nvGrpSpPr>
        <p:grpSpPr>
          <a:xfrm>
            <a:off x="2921849" y="4354834"/>
            <a:ext cx="885326" cy="430416"/>
            <a:chOff x="1946450" y="4289861"/>
            <a:chExt cx="885326" cy="430416"/>
          </a:xfrm>
        </p:grpSpPr>
        <p:pic>
          <p:nvPicPr>
            <p:cNvPr id="1049" name="图像" descr="图像">
              <a:extLst>
                <a:ext uri="{FF2B5EF4-FFF2-40B4-BE49-F238E27FC236}">
                  <a16:creationId xmlns:a16="http://schemas.microsoft.com/office/drawing/2014/main" id="{7AF4D924-6A75-3F6D-4627-C84130164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8" name="文本框 1057">
              <a:extLst>
                <a:ext uri="{FF2B5EF4-FFF2-40B4-BE49-F238E27FC236}">
                  <a16:creationId xmlns:a16="http://schemas.microsoft.com/office/drawing/2014/main" id="{E3BA46B7-301B-16B7-39BA-CAF291B19DE5}"/>
                </a:ext>
              </a:extLst>
            </p:cNvPr>
            <p:cNvSpPr txBox="1"/>
            <p:nvPr/>
          </p:nvSpPr>
          <p:spPr>
            <a:xfrm>
              <a:off x="1946450" y="4458667"/>
              <a:ext cx="8673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3F4E0275-E15B-E18B-CFFB-6ED4DB288D4E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98BB9851-94C4-A458-B69A-395D12803CD8}"/>
              </a:ext>
            </a:extLst>
          </p:cNvPr>
          <p:cNvGrpSpPr/>
          <p:nvPr/>
        </p:nvGrpSpPr>
        <p:grpSpPr>
          <a:xfrm>
            <a:off x="6223825" y="5691528"/>
            <a:ext cx="754380" cy="549547"/>
            <a:chOff x="2302741" y="5497808"/>
            <a:chExt cx="754380" cy="549547"/>
          </a:xfrm>
        </p:grpSpPr>
        <p:sp>
          <p:nvSpPr>
            <p:cNvPr id="1034" name="iconfont-1018-792472">
              <a:extLst>
                <a:ext uri="{FF2B5EF4-FFF2-40B4-BE49-F238E27FC236}">
                  <a16:creationId xmlns:a16="http://schemas.microsoft.com/office/drawing/2014/main" id="{72BB9B27-9D6A-BFA8-D830-B57600B6C4E1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5" name="文本框 1034">
              <a:extLst>
                <a:ext uri="{FF2B5EF4-FFF2-40B4-BE49-F238E27FC236}">
                  <a16:creationId xmlns:a16="http://schemas.microsoft.com/office/drawing/2014/main" id="{23286744-0EF7-17DC-E3E3-6759EA76B90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2023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6" name="组合 1065">
            <a:extLst>
              <a:ext uri="{FF2B5EF4-FFF2-40B4-BE49-F238E27FC236}">
                <a16:creationId xmlns:a16="http://schemas.microsoft.com/office/drawing/2014/main" id="{73BC98C6-518F-6801-762D-326AC7DDB754}"/>
              </a:ext>
            </a:extLst>
          </p:cNvPr>
          <p:cNvGrpSpPr/>
          <p:nvPr/>
        </p:nvGrpSpPr>
        <p:grpSpPr>
          <a:xfrm>
            <a:off x="6050643" y="3554943"/>
            <a:ext cx="1088697" cy="433036"/>
            <a:chOff x="1854080" y="4289861"/>
            <a:chExt cx="1088697" cy="433036"/>
          </a:xfrm>
        </p:grpSpPr>
        <p:pic>
          <p:nvPicPr>
            <p:cNvPr id="1067" name="图像" descr="图像">
              <a:extLst>
                <a:ext uri="{FF2B5EF4-FFF2-40B4-BE49-F238E27FC236}">
                  <a16:creationId xmlns:a16="http://schemas.microsoft.com/office/drawing/2014/main" id="{C61455A4-C0B8-0935-FFFC-5DD3D66C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8" name="文本框 1067">
              <a:extLst>
                <a:ext uri="{FF2B5EF4-FFF2-40B4-BE49-F238E27FC236}">
                  <a16:creationId xmlns:a16="http://schemas.microsoft.com/office/drawing/2014/main" id="{72796B5A-F4DF-46A5-C791-2794CB79275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9" name="文本框 1068">
              <a:extLst>
                <a:ext uri="{FF2B5EF4-FFF2-40B4-BE49-F238E27FC236}">
                  <a16:creationId xmlns:a16="http://schemas.microsoft.com/office/drawing/2014/main" id="{DD5B1B47-7BBA-93F3-A3FD-4A22FA9F9F1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D3C0140A-BFB7-5CB5-591C-1D43983BCB59}"/>
              </a:ext>
            </a:extLst>
          </p:cNvPr>
          <p:cNvGrpSpPr/>
          <p:nvPr/>
        </p:nvGrpSpPr>
        <p:grpSpPr>
          <a:xfrm>
            <a:off x="1524782" y="5691528"/>
            <a:ext cx="754380" cy="549547"/>
            <a:chOff x="2302741" y="5497808"/>
            <a:chExt cx="754380" cy="549547"/>
          </a:xfrm>
        </p:grpSpPr>
        <p:sp>
          <p:nvSpPr>
            <p:cNvPr id="125" name="iconfont-1018-792472">
              <a:extLst>
                <a:ext uri="{FF2B5EF4-FFF2-40B4-BE49-F238E27FC236}">
                  <a16:creationId xmlns:a16="http://schemas.microsoft.com/office/drawing/2014/main" id="{2713C143-9FCD-8037-8466-015AAA9AF72E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12818448-3ACC-1AA6-1E27-5691A0932808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2020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7398A127-81D9-93B8-23A9-EA5EC5A48436}"/>
              </a:ext>
            </a:extLst>
          </p:cNvPr>
          <p:cNvGrpSpPr/>
          <p:nvPr/>
        </p:nvGrpSpPr>
        <p:grpSpPr>
          <a:xfrm>
            <a:off x="1434852" y="5166795"/>
            <a:ext cx="1028945" cy="439944"/>
            <a:chOff x="1658959" y="4966727"/>
            <a:chExt cx="1028945" cy="439944"/>
          </a:xfrm>
        </p:grpSpPr>
        <p:pic>
          <p:nvPicPr>
            <p:cNvPr id="1050" name="图片 1049">
              <a:extLst>
                <a:ext uri="{FF2B5EF4-FFF2-40B4-BE49-F238E27FC236}">
                  <a16:creationId xmlns:a16="http://schemas.microsoft.com/office/drawing/2014/main" id="{E0DDA59C-5705-417E-70E7-DDB256B43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39899" y="5027245"/>
              <a:ext cx="246630" cy="158302"/>
            </a:xfrm>
            <a:prstGeom prst="rect">
              <a:avLst/>
            </a:prstGeom>
          </p:spPr>
        </p:pic>
        <p:grpSp>
          <p:nvGrpSpPr>
            <p:cNvPr id="1078" name="组合 1077">
              <a:extLst>
                <a:ext uri="{FF2B5EF4-FFF2-40B4-BE49-F238E27FC236}">
                  <a16:creationId xmlns:a16="http://schemas.microsoft.com/office/drawing/2014/main" id="{EA6D8339-D84C-06DE-8624-47C705CC6B00}"/>
                </a:ext>
              </a:extLst>
            </p:cNvPr>
            <p:cNvGrpSpPr/>
            <p:nvPr/>
          </p:nvGrpSpPr>
          <p:grpSpPr>
            <a:xfrm>
              <a:off x="1658959" y="4966727"/>
              <a:ext cx="1028945" cy="439944"/>
              <a:chOff x="1992505" y="4285065"/>
              <a:chExt cx="1028945" cy="439944"/>
            </a:xfrm>
          </p:grpSpPr>
          <p:sp>
            <p:nvSpPr>
              <p:cNvPr id="1080" name="文本框 1079">
                <a:extLst>
                  <a:ext uri="{FF2B5EF4-FFF2-40B4-BE49-F238E27FC236}">
                    <a16:creationId xmlns:a16="http://schemas.microsoft.com/office/drawing/2014/main" id="{5621A35E-478A-7106-EFBB-5152625053B1}"/>
                  </a:ext>
                </a:extLst>
              </p:cNvPr>
              <p:cNvSpPr txBox="1"/>
              <p:nvPr/>
            </p:nvSpPr>
            <p:spPr>
              <a:xfrm>
                <a:off x="1992505" y="4471093"/>
                <a:ext cx="992180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Demo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1" name="文本框 1080">
                <a:extLst>
                  <a:ext uri="{FF2B5EF4-FFF2-40B4-BE49-F238E27FC236}">
                    <a16:creationId xmlns:a16="http://schemas.microsoft.com/office/drawing/2014/main" id="{2CF1D84A-9BD8-3B4D-E2CD-B3C399E3E197}"/>
                  </a:ext>
                </a:extLst>
              </p:cNvPr>
              <p:cNvSpPr txBox="1"/>
              <p:nvPr/>
            </p:nvSpPr>
            <p:spPr>
              <a:xfrm>
                <a:off x="2248593" y="4285065"/>
                <a:ext cx="7728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altLang="zh-CN" sz="12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WEDGE</a:t>
                </a:r>
              </a:p>
            </p:txBody>
          </p:sp>
        </p:grp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A33B33FC-2DA3-942C-DE66-EE387FA2C122}"/>
              </a:ext>
            </a:extLst>
          </p:cNvPr>
          <p:cNvSpPr/>
          <p:nvPr/>
        </p:nvSpPr>
        <p:spPr>
          <a:xfrm>
            <a:off x="9405316" y="2079030"/>
            <a:ext cx="1496514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Broadcom edge</a:t>
            </a:r>
          </a:p>
          <a:p>
            <a:pPr algn="ctr"/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~1 year</a:t>
            </a:r>
          </a:p>
        </p:txBody>
      </p:sp>
      <p:grpSp>
        <p:nvGrpSpPr>
          <p:cNvPr id="1030" name="组合 1029">
            <a:extLst>
              <a:ext uri="{FF2B5EF4-FFF2-40B4-BE49-F238E27FC236}">
                <a16:creationId xmlns:a16="http://schemas.microsoft.com/office/drawing/2014/main" id="{8A6504AE-10E6-54EA-417B-181B252CDDB4}"/>
              </a:ext>
            </a:extLst>
          </p:cNvPr>
          <p:cNvGrpSpPr/>
          <p:nvPr/>
        </p:nvGrpSpPr>
        <p:grpSpPr>
          <a:xfrm>
            <a:off x="4618537" y="5691528"/>
            <a:ext cx="754380" cy="549547"/>
            <a:chOff x="2302741" y="5497808"/>
            <a:chExt cx="754380" cy="549547"/>
          </a:xfrm>
        </p:grpSpPr>
        <p:sp>
          <p:nvSpPr>
            <p:cNvPr id="1031" name="iconfont-1018-792472">
              <a:extLst>
                <a:ext uri="{FF2B5EF4-FFF2-40B4-BE49-F238E27FC236}">
                  <a16:creationId xmlns:a16="http://schemas.microsoft.com/office/drawing/2014/main" id="{E5A154C5-8C07-50CE-AB81-8B604CA7B02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2" name="文本框 1031">
              <a:extLst>
                <a:ext uri="{FF2B5EF4-FFF2-40B4-BE49-F238E27FC236}">
                  <a16:creationId xmlns:a16="http://schemas.microsoft.com/office/drawing/2014/main" id="{773FF216-651E-6EF6-0EAF-AD2BE6194F95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2022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62" name="组合 1061">
            <a:extLst>
              <a:ext uri="{FF2B5EF4-FFF2-40B4-BE49-F238E27FC236}">
                <a16:creationId xmlns:a16="http://schemas.microsoft.com/office/drawing/2014/main" id="{149A79A5-076E-7FD2-47D9-F4FEB636EADE}"/>
              </a:ext>
            </a:extLst>
          </p:cNvPr>
          <p:cNvGrpSpPr/>
          <p:nvPr/>
        </p:nvGrpSpPr>
        <p:grpSpPr>
          <a:xfrm>
            <a:off x="4322349" y="4337143"/>
            <a:ext cx="1405254" cy="423965"/>
            <a:chOff x="1671560" y="4289861"/>
            <a:chExt cx="1405254" cy="423965"/>
          </a:xfrm>
        </p:grpSpPr>
        <p:pic>
          <p:nvPicPr>
            <p:cNvPr id="1063" name="图像" descr="图像">
              <a:extLst>
                <a:ext uri="{FF2B5EF4-FFF2-40B4-BE49-F238E27FC236}">
                  <a16:creationId xmlns:a16="http://schemas.microsoft.com/office/drawing/2014/main" id="{F8C501A1-7860-CDE5-0E52-C429F059D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64" name="文本框 1063">
              <a:extLst>
                <a:ext uri="{FF2B5EF4-FFF2-40B4-BE49-F238E27FC236}">
                  <a16:creationId xmlns:a16="http://schemas.microsoft.com/office/drawing/2014/main" id="{5784DEBF-5A58-A220-CDC0-07E083A49F5C}"/>
                </a:ext>
              </a:extLst>
            </p:cNvPr>
            <p:cNvSpPr txBox="1"/>
            <p:nvPr/>
          </p:nvSpPr>
          <p:spPr>
            <a:xfrm>
              <a:off x="1671560" y="4459910"/>
              <a:ext cx="140525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Joint Deployment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4C1640B9-5ECC-4EDF-CAFD-BA8B6053D1E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TH4</a:t>
              </a:r>
            </a:p>
          </p:txBody>
        </p:sp>
      </p:grpSp>
      <p:grpSp>
        <p:nvGrpSpPr>
          <p:cNvPr id="1087" name="组合 1086">
            <a:extLst>
              <a:ext uri="{FF2B5EF4-FFF2-40B4-BE49-F238E27FC236}">
                <a16:creationId xmlns:a16="http://schemas.microsoft.com/office/drawing/2014/main" id="{67C8A49E-89B4-B8F5-F84A-AF029453D0F9}"/>
              </a:ext>
            </a:extLst>
          </p:cNvPr>
          <p:cNvGrpSpPr/>
          <p:nvPr/>
        </p:nvGrpSpPr>
        <p:grpSpPr>
          <a:xfrm>
            <a:off x="4504869" y="3553362"/>
            <a:ext cx="1088697" cy="433036"/>
            <a:chOff x="1854080" y="4289861"/>
            <a:chExt cx="1088697" cy="433036"/>
          </a:xfrm>
        </p:grpSpPr>
        <p:pic>
          <p:nvPicPr>
            <p:cNvPr id="1088" name="图像" descr="图像">
              <a:extLst>
                <a:ext uri="{FF2B5EF4-FFF2-40B4-BE49-F238E27FC236}">
                  <a16:creationId xmlns:a16="http://schemas.microsoft.com/office/drawing/2014/main" id="{B3F769CA-D87D-11C6-2FBC-891CD4D84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89" name="文本框 1088">
              <a:extLst>
                <a:ext uri="{FF2B5EF4-FFF2-40B4-BE49-F238E27FC236}">
                  <a16:creationId xmlns:a16="http://schemas.microsoft.com/office/drawing/2014/main" id="{5EC1C477-C2A5-2410-E6C0-89C029A637B7}"/>
                </a:ext>
              </a:extLst>
            </p:cNvPr>
            <p:cNvSpPr txBox="1"/>
            <p:nvPr/>
          </p:nvSpPr>
          <p:spPr>
            <a:xfrm>
              <a:off x="1854080" y="4461287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Announced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90" name="文本框 1089">
              <a:extLst>
                <a:ext uri="{FF2B5EF4-FFF2-40B4-BE49-F238E27FC236}">
                  <a16:creationId xmlns:a16="http://schemas.microsoft.com/office/drawing/2014/main" id="{FF520904-5D9C-19BD-8AE7-41A4FF563207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D955C9-C9A3-CCCE-E717-A5B5A391E55E}"/>
              </a:ext>
            </a:extLst>
          </p:cNvPr>
          <p:cNvGrpSpPr/>
          <p:nvPr/>
        </p:nvGrpSpPr>
        <p:grpSpPr>
          <a:xfrm>
            <a:off x="4562046" y="3910992"/>
            <a:ext cx="1602019" cy="412422"/>
            <a:chOff x="3809830" y="4477461"/>
            <a:chExt cx="1602019" cy="41242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56F8D4-C5B1-AE7C-812D-B21452A66E3C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 err="1">
                  <a:solidFill>
                    <a:schemeClr val="accent6">
                      <a:lumMod val="10000"/>
                    </a:schemeClr>
                  </a:solidFill>
                  <a:cs typeface="+mn-ea"/>
                </a:rPr>
                <a:t>Teralynx</a:t>
              </a:r>
              <a:endParaRPr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</a:endParaRPr>
            </a:p>
          </p:txBody>
        </p:sp>
        <p:pic>
          <p:nvPicPr>
            <p:cNvPr id="4" name="图像" descr="图像">
              <a:extLst>
                <a:ext uri="{FF2B5EF4-FFF2-40B4-BE49-F238E27FC236}">
                  <a16:creationId xmlns:a16="http://schemas.microsoft.com/office/drawing/2014/main" id="{E6A22A77-7A62-7A4E-D357-868438744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0C5CD62-2D3F-2D2E-2D15-B48B81AE95C9}"/>
                </a:ext>
              </a:extLst>
            </p:cNvPr>
            <p:cNvSpPr txBox="1"/>
            <p:nvPr/>
          </p:nvSpPr>
          <p:spPr>
            <a:xfrm>
              <a:off x="3809830" y="4628273"/>
              <a:ext cx="10886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Demo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3AD19CF5-AC7C-5F60-B9DE-3668CE65FF81}"/>
              </a:ext>
            </a:extLst>
          </p:cNvPr>
          <p:cNvGrpSpPr/>
          <p:nvPr/>
        </p:nvGrpSpPr>
        <p:grpSpPr>
          <a:xfrm>
            <a:off x="7829113" y="5691528"/>
            <a:ext cx="754380" cy="549547"/>
            <a:chOff x="2302741" y="5497808"/>
            <a:chExt cx="754380" cy="549547"/>
          </a:xfrm>
        </p:grpSpPr>
        <p:sp>
          <p:nvSpPr>
            <p:cNvPr id="1037" name="iconfont-1018-792472">
              <a:extLst>
                <a:ext uri="{FF2B5EF4-FFF2-40B4-BE49-F238E27FC236}">
                  <a16:creationId xmlns:a16="http://schemas.microsoft.com/office/drawing/2014/main" id="{EBB5E8EE-6325-FAE7-4474-198D7B57724C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984C29D9-A50C-80E3-8A44-5F8EC7CF14CD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2024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E602BF3A-9CF1-E5A2-1133-27AABA328861}"/>
              </a:ext>
            </a:extLst>
          </p:cNvPr>
          <p:cNvGrpSpPr/>
          <p:nvPr/>
        </p:nvGrpSpPr>
        <p:grpSpPr>
          <a:xfrm>
            <a:off x="7451507" y="3550871"/>
            <a:ext cx="1273746" cy="414636"/>
            <a:chOff x="1758058" y="4289861"/>
            <a:chExt cx="1273746" cy="414636"/>
          </a:xfrm>
        </p:grpSpPr>
        <p:pic>
          <p:nvPicPr>
            <p:cNvPr id="1071" name="图像" descr="图像">
              <a:extLst>
                <a:ext uri="{FF2B5EF4-FFF2-40B4-BE49-F238E27FC236}">
                  <a16:creationId xmlns:a16="http://schemas.microsoft.com/office/drawing/2014/main" id="{C980E913-4E30-300C-EF62-BDD26B412B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EA8F9B55-A1AA-2EE9-DA55-0B9997FF346D}"/>
                </a:ext>
              </a:extLst>
            </p:cNvPr>
            <p:cNvSpPr txBox="1"/>
            <p:nvPr/>
          </p:nvSpPr>
          <p:spPr>
            <a:xfrm>
              <a:off x="1758058" y="4450581"/>
              <a:ext cx="12737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3" name="文本框 1072">
              <a:extLst>
                <a:ext uri="{FF2B5EF4-FFF2-40B4-BE49-F238E27FC236}">
                  <a16:creationId xmlns:a16="http://schemas.microsoft.com/office/drawing/2014/main" id="{76E2EE8F-1735-4673-60DD-5E9408493BDB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TH5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C38BBD4-9A9E-3AC1-4501-B00C8778DAE9}"/>
              </a:ext>
            </a:extLst>
          </p:cNvPr>
          <p:cNvGrpSpPr/>
          <p:nvPr/>
        </p:nvGrpSpPr>
        <p:grpSpPr>
          <a:xfrm>
            <a:off x="7540739" y="3910992"/>
            <a:ext cx="1602019" cy="566310"/>
            <a:chOff x="3809830" y="4477461"/>
            <a:chExt cx="1602019" cy="5663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7F8740F-3118-ECA2-6F87-C8EEA43B212D}"/>
                </a:ext>
              </a:extLst>
            </p:cNvPr>
            <p:cNvSpPr txBox="1"/>
            <p:nvPr/>
          </p:nvSpPr>
          <p:spPr>
            <a:xfrm>
              <a:off x="4272760" y="4477461"/>
              <a:ext cx="11390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b="1" dirty="0">
                  <a:solidFill>
                    <a:srgbClr val="A6A6A6"/>
                  </a:solidFill>
                  <a:cs typeface="+mn-ea"/>
                </a:rPr>
                <a:t>Teralynx10</a:t>
              </a:r>
            </a:p>
          </p:txBody>
        </p:sp>
        <p:pic>
          <p:nvPicPr>
            <p:cNvPr id="15" name="图像" descr="图像">
              <a:extLst>
                <a:ext uri="{FF2B5EF4-FFF2-40B4-BE49-F238E27FC236}">
                  <a16:creationId xmlns:a16="http://schemas.microsoft.com/office/drawing/2014/main" id="{BCA805E4-99C2-F829-CD9B-3A17621E6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849008" y="4534458"/>
              <a:ext cx="497769" cy="147488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7EF852-4BE8-7C4C-2624-345DDB40618E}"/>
                </a:ext>
              </a:extLst>
            </p:cNvPr>
            <p:cNvSpPr txBox="1"/>
            <p:nvPr/>
          </p:nvSpPr>
          <p:spPr>
            <a:xfrm>
              <a:off x="3809830" y="4628273"/>
              <a:ext cx="1381195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Mass production</a:t>
              </a:r>
              <a:r>
                <a:rPr lang="zh-CN" altLang="en-US" sz="1050" dirty="0">
                  <a:solidFill>
                    <a:srgbClr val="A6A6A6"/>
                  </a:solidFill>
                  <a:cs typeface="+mn-ea"/>
                  <a:sym typeface="+mn-lt"/>
                </a:rPr>
                <a:t> </a:t>
              </a:r>
              <a:r>
                <a:rPr lang="en-US" altLang="zh-CN" sz="1050" dirty="0">
                  <a:solidFill>
                    <a:srgbClr val="A6A6A6"/>
                  </a:solidFill>
                  <a:cs typeface="+mn-ea"/>
                  <a:sym typeface="+mn-lt"/>
                </a:rPr>
                <a:t>(not CPO)</a:t>
              </a:r>
              <a:endParaRPr lang="zh-CN" altLang="en-US" sz="1050" dirty="0">
                <a:solidFill>
                  <a:srgbClr val="A6A6A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9594C2-28B8-80C5-B266-B933F316C10A}"/>
              </a:ext>
            </a:extLst>
          </p:cNvPr>
          <p:cNvCxnSpPr>
            <a:cxnSpLocks/>
          </p:cNvCxnSpPr>
          <p:nvPr/>
        </p:nvCxnSpPr>
        <p:spPr>
          <a:xfrm>
            <a:off x="2315177" y="4995164"/>
            <a:ext cx="185586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15AB933-0C8A-C8A5-1639-FE116E3B205F}"/>
              </a:ext>
            </a:extLst>
          </p:cNvPr>
          <p:cNvCxnSpPr>
            <a:cxnSpLocks/>
          </p:cNvCxnSpPr>
          <p:nvPr/>
        </p:nvCxnSpPr>
        <p:spPr>
          <a:xfrm>
            <a:off x="4137309" y="3961026"/>
            <a:ext cx="0" cy="103758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6E28EF1-ADEF-25FF-86AF-EDB1F3CC2312}"/>
              </a:ext>
            </a:extLst>
          </p:cNvPr>
          <p:cNvCxnSpPr>
            <a:cxnSpLocks/>
          </p:cNvCxnSpPr>
          <p:nvPr/>
        </p:nvCxnSpPr>
        <p:spPr>
          <a:xfrm>
            <a:off x="4138001" y="3951720"/>
            <a:ext cx="471934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7C61D60-D220-929E-1FD4-EBB2AE970DF3}"/>
              </a:ext>
            </a:extLst>
          </p:cNvPr>
          <p:cNvCxnSpPr>
            <a:cxnSpLocks/>
          </p:cNvCxnSpPr>
          <p:nvPr/>
        </p:nvCxnSpPr>
        <p:spPr>
          <a:xfrm>
            <a:off x="8850140" y="3319356"/>
            <a:ext cx="0" cy="64167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73CB896F-F638-3A63-C316-677D350ACB29}"/>
              </a:ext>
            </a:extLst>
          </p:cNvPr>
          <p:cNvCxnSpPr>
            <a:cxnSpLocks/>
          </p:cNvCxnSpPr>
          <p:nvPr/>
        </p:nvCxnSpPr>
        <p:spPr>
          <a:xfrm>
            <a:off x="8850140" y="3303510"/>
            <a:ext cx="1338643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A1D43493-F922-E438-2BFE-3037D8D810A2}"/>
              </a:ext>
            </a:extLst>
          </p:cNvPr>
          <p:cNvGrpSpPr/>
          <p:nvPr/>
        </p:nvGrpSpPr>
        <p:grpSpPr>
          <a:xfrm>
            <a:off x="9434403" y="5691528"/>
            <a:ext cx="754380" cy="549547"/>
            <a:chOff x="2302741" y="5497808"/>
            <a:chExt cx="754380" cy="549547"/>
          </a:xfrm>
        </p:grpSpPr>
        <p:sp>
          <p:nvSpPr>
            <p:cNvPr id="1024" name="iconfont-1018-792472">
              <a:extLst>
                <a:ext uri="{FF2B5EF4-FFF2-40B4-BE49-F238E27FC236}">
                  <a16:creationId xmlns:a16="http://schemas.microsoft.com/office/drawing/2014/main" id="{7AF0C5E6-FB4F-D850-064D-0E2342108A0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>
                <a:cs typeface="+mn-ea"/>
                <a:sym typeface="+mn-lt"/>
              </a:endParaRPr>
            </a:p>
          </p:txBody>
        </p:sp>
        <p:sp>
          <p:nvSpPr>
            <p:cNvPr id="1025" name="文本框 1024">
              <a:extLst>
                <a:ext uri="{FF2B5EF4-FFF2-40B4-BE49-F238E27FC236}">
                  <a16:creationId xmlns:a16="http://schemas.microsoft.com/office/drawing/2014/main" id="{23D0C599-611C-273C-24CF-A34740DECC5A}"/>
                </a:ext>
              </a:extLst>
            </p:cNvPr>
            <p:cNvSpPr txBox="1"/>
            <p:nvPr/>
          </p:nvSpPr>
          <p:spPr>
            <a:xfrm>
              <a:off x="2302741" y="5739578"/>
              <a:ext cx="7543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cs typeface="+mn-ea"/>
                  <a:sym typeface="+mn-lt"/>
                </a:rPr>
                <a:t>2025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1074" name="组合 1073">
            <a:extLst>
              <a:ext uri="{FF2B5EF4-FFF2-40B4-BE49-F238E27FC236}">
                <a16:creationId xmlns:a16="http://schemas.microsoft.com/office/drawing/2014/main" id="{C1C15FF8-B38E-2347-E6BF-0AA597530D07}"/>
              </a:ext>
            </a:extLst>
          </p:cNvPr>
          <p:cNvGrpSpPr/>
          <p:nvPr/>
        </p:nvGrpSpPr>
        <p:grpSpPr>
          <a:xfrm>
            <a:off x="8963373" y="2692573"/>
            <a:ext cx="1385065" cy="739456"/>
            <a:chOff x="1699272" y="4289861"/>
            <a:chExt cx="1385065" cy="739456"/>
          </a:xfrm>
        </p:grpSpPr>
        <p:pic>
          <p:nvPicPr>
            <p:cNvPr id="1075" name="图像" descr="图像">
              <a:extLst>
                <a:ext uri="{FF2B5EF4-FFF2-40B4-BE49-F238E27FC236}">
                  <a16:creationId xmlns:a16="http://schemas.microsoft.com/office/drawing/2014/main" id="{A6744F7E-615C-3075-A124-F1955C3CF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0289" y="4336130"/>
              <a:ext cx="306120" cy="147594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76" name="文本框 1075">
              <a:extLst>
                <a:ext uri="{FF2B5EF4-FFF2-40B4-BE49-F238E27FC236}">
                  <a16:creationId xmlns:a16="http://schemas.microsoft.com/office/drawing/2014/main" id="{7F1B6AD4-6C8B-B494-A452-8E980E9C3488}"/>
                </a:ext>
              </a:extLst>
            </p:cNvPr>
            <p:cNvSpPr txBox="1"/>
            <p:nvPr/>
          </p:nvSpPr>
          <p:spPr>
            <a:xfrm>
              <a:off x="1699272" y="4452236"/>
              <a:ext cx="138506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25.06</a:t>
              </a:r>
            </a:p>
            <a:p>
              <a:pPr algn="ctr"/>
              <a:r>
                <a:rPr lang="en-US" altLang="zh-CN" sz="1050" dirty="0">
                  <a:cs typeface="+mn-ea"/>
                  <a:sym typeface="+mn-lt"/>
                </a:rPr>
                <a:t>Mass production</a:t>
              </a:r>
              <a:endParaRPr lang="zh-CN" altLang="en-US" sz="1050" dirty="0">
                <a:cs typeface="+mn-ea"/>
                <a:sym typeface="+mn-lt"/>
              </a:endParaRPr>
            </a:p>
            <a:p>
              <a:pPr algn="ctr"/>
              <a:endParaRPr lang="zh-CN" altLang="en-US" sz="1050" dirty="0">
                <a:cs typeface="+mn-ea"/>
                <a:sym typeface="+mn-lt"/>
              </a:endParaRPr>
            </a:p>
          </p:txBody>
        </p:sp>
        <p:sp>
          <p:nvSpPr>
            <p:cNvPr id="1077" name="文本框 1076">
              <a:extLst>
                <a:ext uri="{FF2B5EF4-FFF2-40B4-BE49-F238E27FC236}">
                  <a16:creationId xmlns:a16="http://schemas.microsoft.com/office/drawing/2014/main" id="{1924BB38-0D65-1DD3-A576-58761C9BB514}"/>
                </a:ext>
              </a:extLst>
            </p:cNvPr>
            <p:cNvSpPr txBox="1"/>
            <p:nvPr/>
          </p:nvSpPr>
          <p:spPr>
            <a:xfrm>
              <a:off x="2277248" y="4289861"/>
              <a:ext cx="5545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12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TH6</a:t>
              </a: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7C48F1A3-D786-E4DF-401A-917C46558707}"/>
              </a:ext>
            </a:extLst>
          </p:cNvPr>
          <p:cNvGrpSpPr/>
          <p:nvPr/>
        </p:nvGrpSpPr>
        <p:grpSpPr>
          <a:xfrm>
            <a:off x="10217127" y="2706121"/>
            <a:ext cx="1372061" cy="743067"/>
            <a:chOff x="4812563" y="3071024"/>
            <a:chExt cx="1372061" cy="743067"/>
          </a:xfrm>
        </p:grpSpPr>
        <p:pic>
          <p:nvPicPr>
            <p:cNvPr id="1048" name="图像" descr="图像">
              <a:extLst>
                <a:ext uri="{FF2B5EF4-FFF2-40B4-BE49-F238E27FC236}">
                  <a16:creationId xmlns:a16="http://schemas.microsoft.com/office/drawing/2014/main" id="{0683585B-22F3-9DA0-E9C8-2DF87DF7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1083" name="组合 1082">
              <a:extLst>
                <a:ext uri="{FF2B5EF4-FFF2-40B4-BE49-F238E27FC236}">
                  <a16:creationId xmlns:a16="http://schemas.microsoft.com/office/drawing/2014/main" id="{C4025FA0-2555-83B8-81C1-C52CC2E937DD}"/>
                </a:ext>
              </a:extLst>
            </p:cNvPr>
            <p:cNvGrpSpPr/>
            <p:nvPr/>
          </p:nvGrpSpPr>
          <p:grpSpPr>
            <a:xfrm>
              <a:off x="4812563" y="3071024"/>
              <a:ext cx="1372061" cy="743067"/>
              <a:chOff x="1680977" y="4286017"/>
              <a:chExt cx="1372061" cy="743067"/>
            </a:xfrm>
          </p:grpSpPr>
          <p:sp>
            <p:nvSpPr>
              <p:cNvPr id="1085" name="文本框 1084">
                <a:extLst>
                  <a:ext uri="{FF2B5EF4-FFF2-40B4-BE49-F238E27FC236}">
                    <a16:creationId xmlns:a16="http://schemas.microsoft.com/office/drawing/2014/main" id="{47EDAC5D-A457-72C6-852E-2E505182A312}"/>
                  </a:ext>
                </a:extLst>
              </p:cNvPr>
              <p:cNvSpPr txBox="1"/>
              <p:nvPr/>
            </p:nvSpPr>
            <p:spPr>
              <a:xfrm>
                <a:off x="1680977" y="4452003"/>
                <a:ext cx="1332686" cy="577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26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  <a:p>
                <a:pPr algn="ctr"/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1086" name="文本框 1085">
                <a:extLst>
                  <a:ext uri="{FF2B5EF4-FFF2-40B4-BE49-F238E27FC236}">
                    <a16:creationId xmlns:a16="http://schemas.microsoft.com/office/drawing/2014/main" id="{8F3793D4-D5A8-BCF6-548D-919A35D9B7D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6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E3579D6F-B950-0FFD-EC91-DAE986419410}"/>
              </a:ext>
            </a:extLst>
          </p:cNvPr>
          <p:cNvGrpSpPr/>
          <p:nvPr/>
        </p:nvGrpSpPr>
        <p:grpSpPr>
          <a:xfrm>
            <a:off x="9119384" y="3542631"/>
            <a:ext cx="1433592" cy="620092"/>
            <a:chOff x="4751032" y="3071024"/>
            <a:chExt cx="1433592" cy="620092"/>
          </a:xfrm>
        </p:grpSpPr>
        <p:pic>
          <p:nvPicPr>
            <p:cNvPr id="63" name="图像" descr="图像">
              <a:extLst>
                <a:ext uri="{FF2B5EF4-FFF2-40B4-BE49-F238E27FC236}">
                  <a16:creationId xmlns:a16="http://schemas.microsoft.com/office/drawing/2014/main" id="{7CE4FE3A-99AE-78A5-1B03-679226B27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516" y="3094070"/>
              <a:ext cx="258700" cy="205784"/>
            </a:xfrm>
            <a:prstGeom prst="rect">
              <a:avLst/>
            </a:prstGeom>
            <a:ln w="12700">
              <a:miter lim="400000"/>
            </a:ln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034F3584-850E-22C1-4065-516B8D2304BD}"/>
                </a:ext>
              </a:extLst>
            </p:cNvPr>
            <p:cNvGrpSpPr/>
            <p:nvPr/>
          </p:nvGrpSpPr>
          <p:grpSpPr>
            <a:xfrm>
              <a:off x="4751032" y="3071024"/>
              <a:ext cx="1433592" cy="620092"/>
              <a:chOff x="1619446" y="4286017"/>
              <a:chExt cx="1433592" cy="620092"/>
            </a:xfrm>
          </p:grpSpPr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0D7EB8BB-BF22-FAE5-806B-A6E29FC24C57}"/>
                  </a:ext>
                </a:extLst>
              </p:cNvPr>
              <p:cNvSpPr txBox="1"/>
              <p:nvPr/>
            </p:nvSpPr>
            <p:spPr>
              <a:xfrm>
                <a:off x="1619446" y="4490611"/>
                <a:ext cx="133864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Announced</a:t>
                </a:r>
              </a:p>
              <a:p>
                <a:pPr algn="ctr"/>
                <a:r>
                  <a:rPr lang="en-US" altLang="zh-CN" sz="1050" dirty="0">
                    <a:cs typeface="+mn-ea"/>
                    <a:sym typeface="+mn-lt"/>
                  </a:rPr>
                  <a:t>Mass production</a:t>
                </a:r>
                <a:endParaRPr lang="zh-CN" altLang="en-US" sz="1050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B011860-7AA9-694B-D98D-56EB50211C52}"/>
                  </a:ext>
                </a:extLst>
              </p:cNvPr>
              <p:cNvSpPr txBox="1"/>
              <p:nvPr/>
            </p:nvSpPr>
            <p:spPr>
              <a:xfrm>
                <a:off x="1944111" y="4286017"/>
                <a:ext cx="110892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00" b="1" dirty="0">
                    <a:solidFill>
                      <a:schemeClr val="accent6">
                        <a:lumMod val="10000"/>
                      </a:schemeClr>
                    </a:solidFill>
                    <a:cs typeface="+mn-ea"/>
                    <a:sym typeface="+mn-lt"/>
                  </a:rPr>
                  <a:t>Spectrum 5</a:t>
                </a:r>
              </a:p>
            </p:txBody>
          </p:sp>
        </p:grpSp>
      </p:grp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5592A4CA-65CA-0A51-BE23-797E10DFF4A3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0153573" y="2575944"/>
            <a:ext cx="0" cy="729455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7F6C77D9-FFDD-A14B-B57A-D85A6E9445E2}"/>
              </a:ext>
            </a:extLst>
          </p:cNvPr>
          <p:cNvSpPr/>
          <p:nvPr/>
        </p:nvSpPr>
        <p:spPr>
          <a:xfrm>
            <a:off x="3763917" y="1677643"/>
            <a:ext cx="5199456" cy="496914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Timeline of CPO Switch Chip Milestones</a:t>
            </a:r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(2020–2025)​</a:t>
            </a:r>
          </a:p>
        </p:txBody>
      </p:sp>
    </p:spTree>
    <p:extLst>
      <p:ext uri="{BB962C8B-B14F-4D97-AF65-F5344CB8AC3E}">
        <p14:creationId xmlns:p14="http://schemas.microsoft.com/office/powerpoint/2010/main" val="13267439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4659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sp>
        <p:nvSpPr>
          <p:cNvPr id="72" name="标题 1">
            <a:extLst>
              <a:ext uri="{FF2B5EF4-FFF2-40B4-BE49-F238E27FC236}">
                <a16:creationId xmlns:a16="http://schemas.microsoft.com/office/drawing/2014/main" id="{A1810013-68A2-F16E-DBA1-099AC577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/>
          <a:lstStyle/>
          <a:p>
            <a:r>
              <a:rPr lang="en-US" altLang="zh-CN" dirty="0">
                <a:ea typeface="+mn-ea"/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ea typeface="+mn-ea"/>
              <a:cs typeface="+mn-ea"/>
              <a:sym typeface="+mn-lt"/>
            </a:endParaRP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strongest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66735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401" imgH="401" progId="TCLayout.ActiveDocument.1">
                  <p:embed/>
                </p:oleObj>
              </mc:Choice>
              <mc:Fallback>
                <p:oleObj name="think-cell 幻灯片" r:id="rId1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B5B65-05AC-E9CA-651E-FCBC7F2CAA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文本框 75">
            <a:extLst>
              <a:ext uri="{FF2B5EF4-FFF2-40B4-BE49-F238E27FC236}">
                <a16:creationId xmlns:a16="http://schemas.microsoft.com/office/drawing/2014/main" id="{DAD59D82-61AE-8A79-DEFC-018A8CBAF289}"/>
              </a:ext>
            </a:extLst>
          </p:cNvPr>
          <p:cNvSpPr txBox="1"/>
          <p:nvPr/>
        </p:nvSpPr>
        <p:spPr>
          <a:xfrm>
            <a:off x="6105525" y="3858418"/>
            <a:ext cx="1662113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DE6BB8-FA89-3E25-EA44-004C929EE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</a:t>
            </a:r>
          </a:p>
        </p:txBody>
      </p:sp>
      <p:graphicFrame>
        <p:nvGraphicFramePr>
          <p:cNvPr id="34" name="Chart 3">
            <a:extLst>
              <a:ext uri="{FF2B5EF4-FFF2-40B4-BE49-F238E27FC236}">
                <a16:creationId xmlns:a16="http://schemas.microsoft.com/office/drawing/2014/main" id="{A1FB8181-D34E-060F-1075-6718B82EBCA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40897875"/>
              </p:ext>
            </p:extLst>
          </p:nvPr>
        </p:nvGraphicFramePr>
        <p:xfrm>
          <a:off x="577850" y="2249488"/>
          <a:ext cx="6672263" cy="38623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3789363" y="4075113"/>
            <a:ext cx="3508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4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628650" y="2122488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Shipment Portion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  <a:latin typeface="PingFang SC"/>
              </a:rPr>
              <a:t>%</a:t>
            </a:r>
            <a:r>
              <a:rPr lang="zh-CN" altLang="en-US" sz="1400" dirty="0">
                <a:solidFill>
                  <a:srgbClr val="000000"/>
                </a:solidFill>
                <a:latin typeface="PingFang SC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8CDAD01-36A1-CF67-846C-CAABF8345DFC}"/>
              </a:ext>
            </a:extLst>
          </p:cNvPr>
          <p:cNvSpPr txBox="1"/>
          <p:nvPr/>
        </p:nvSpPr>
        <p:spPr>
          <a:xfrm>
            <a:off x="5283834" y="2899352"/>
            <a:ext cx="5626100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26E,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surpass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GPU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24AEC0F4-E29C-AD43-22E2-4740D7678743}"/>
              </a:ext>
            </a:extLst>
          </p:cNvPr>
          <p:cNvSpPr txBox="1"/>
          <p:nvPr/>
        </p:nvSpPr>
        <p:spPr>
          <a:xfrm>
            <a:off x="4008438" y="5000625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ByteDance</a:t>
            </a: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943DA313-5994-5C1E-B018-417A0A4C3D3B}"/>
              </a:ext>
            </a:extLst>
          </p:cNvPr>
          <p:cNvSpPr txBox="1"/>
          <p:nvPr/>
        </p:nvSpPr>
        <p:spPr>
          <a:xfrm>
            <a:off x="6089650" y="4587080"/>
            <a:ext cx="1660525" cy="101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Google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Meta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ByteDance</a:t>
            </a:r>
          </a:p>
          <a:p>
            <a:r>
              <a:rPr lang="en-US" altLang="zh-CN" sz="1200" dirty="0">
                <a:solidFill>
                  <a:srgbClr val="0052D9"/>
                </a:solidFill>
                <a:latin typeface="PingFang SC"/>
              </a:rPr>
              <a:t>OpenAI</a:t>
            </a:r>
          </a:p>
          <a:p>
            <a:r>
              <a:rPr lang="en-US" altLang="zh-CN" sz="1200" dirty="0" err="1">
                <a:solidFill>
                  <a:srgbClr val="0052D9"/>
                </a:solidFill>
                <a:latin typeface="PingFang SC"/>
              </a:rPr>
              <a:t>xAI</a:t>
            </a:r>
            <a:endParaRPr lang="en-US" altLang="zh-CN" sz="1200" dirty="0">
              <a:solidFill>
                <a:srgbClr val="0052D9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2433638" y="6126163"/>
            <a:ext cx="231775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48163FD0-FFF7-9ABC-9D0A-768743A88758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3252788" y="6126163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4062413" y="6126163"/>
            <a:ext cx="190500" cy="0"/>
          </a:xfrm>
          <a:prstGeom prst="line">
            <a:avLst/>
          </a:prstGeom>
          <a:ln w="19050" cap="rnd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725738" y="6027738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828DF58-8F6B-50C8-8A1F-70A0C4A238BF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544888" y="602773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764266F-E44F-445E-86DA-50010A4C62D3}" type="datetime'''''''''G''''''''''''''P''''''''''''''''U'">
              <a:rPr lang="en-US" altLang="en-US" sz="1400" smtClean="0">
                <a:cs typeface="+mn-cs"/>
              </a:rPr>
              <a:pPr/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333875" y="6027738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B018FD-CABA-9F0D-4320-90336A0C6383}"/>
              </a:ext>
            </a:extLst>
          </p:cNvPr>
          <p:cNvSpPr txBox="1"/>
          <p:nvPr/>
        </p:nvSpPr>
        <p:spPr>
          <a:xfrm>
            <a:off x="8224679" y="231615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2025E Main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</a:rPr>
              <a:t>Vendors’s</a:t>
            </a:r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Shipment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04E9696-50D4-422E-7328-86E1EFE26E7E}"/>
              </a:ext>
            </a:extLst>
          </p:cNvPr>
          <p:cNvSpPr txBox="1"/>
          <p:nvPr/>
        </p:nvSpPr>
        <p:spPr>
          <a:xfrm>
            <a:off x="4008438" y="4273550"/>
            <a:ext cx="1660525" cy="646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Amazon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MSFT</a:t>
            </a: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Intel</a:t>
            </a:r>
          </a:p>
        </p:txBody>
      </p:sp>
      <p:sp>
        <p:nvSpPr>
          <p:cNvPr id="986" name="矩形 985">
            <a:extLst>
              <a:ext uri="{FF2B5EF4-FFF2-40B4-BE49-F238E27FC236}">
                <a16:creationId xmlns:a16="http://schemas.microsoft.com/office/drawing/2014/main" id="{BAE37BE9-FE2A-7B0D-051E-278867DB87D0}"/>
              </a:ext>
            </a:extLst>
          </p:cNvPr>
          <p:cNvSpPr/>
          <p:nvPr/>
        </p:nvSpPr>
        <p:spPr>
          <a:xfrm>
            <a:off x="649816" y="1072007"/>
            <a:ext cx="10989734" cy="1022549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The inevitable trend. Broadcom plays a central role.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HPCs seek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computing autonomy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 &amp; cost control​ → More players partner with Broadcom;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​​OpenAI, </a:t>
            </a:r>
            <a:r>
              <a:rPr lang="en-US" altLang="zh-CN" sz="1600" dirty="0" err="1">
                <a:solidFill>
                  <a:schemeClr val="accent6">
                    <a:lumMod val="10000"/>
                  </a:schemeClr>
                </a:solidFill>
                <a:latin typeface="PingFang SC"/>
              </a:rPr>
              <a:t>xAI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: New volume production orders in 2026 will ​bring forward the “ASIC &gt; GPU” inflection point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from 2027–28 to 2026.</a:t>
            </a:r>
            <a:endParaRPr lang="zh-CN" altLang="en-US" sz="1600" b="1" dirty="0">
              <a:solidFill>
                <a:srgbClr val="0052D9"/>
              </a:solidFill>
              <a:latin typeface="PingFang SC"/>
            </a:endParaRPr>
          </a:p>
        </p:txBody>
      </p:sp>
      <p:graphicFrame>
        <p:nvGraphicFramePr>
          <p:cNvPr id="1037" name="Chart 3">
            <a:extLst>
              <a:ext uri="{FF2B5EF4-FFF2-40B4-BE49-F238E27FC236}">
                <a16:creationId xmlns:a16="http://schemas.microsoft.com/office/drawing/2014/main" id="{1EB0A3BD-C493-117D-7087-AD8A70B0E6D1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871480184"/>
              </p:ext>
            </p:extLst>
          </p:nvPr>
        </p:nvGraphicFramePr>
        <p:xfrm>
          <a:off x="8145463" y="3005138"/>
          <a:ext cx="2681287" cy="294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993" name="Text Placeholder 4">
            <a:extLst>
              <a:ext uri="{FF2B5EF4-FFF2-40B4-BE49-F238E27FC236}">
                <a16:creationId xmlns:a16="http://schemas.microsoft.com/office/drawing/2014/main" id="{72510644-12DD-8B05-2EAA-33747E79196C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10577513" y="3968750"/>
            <a:ext cx="6508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64BDAC4-288A-4BD7-9E68-6148510A5DDB}" type="datetime'''A''''''''''''''''''ma''''''''z''o''''''''''''''''''''''n'''">
              <a:rPr lang="en-US" altLang="en-US" sz="1400" smtClean="0">
                <a:cs typeface="+mn-cs"/>
              </a:rPr>
              <a:pPr/>
              <a:t>Amazon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4" name="Text Placeholder 4">
            <a:extLst>
              <a:ext uri="{FF2B5EF4-FFF2-40B4-BE49-F238E27FC236}">
                <a16:creationId xmlns:a16="http://schemas.microsoft.com/office/drawing/2014/main" id="{C9F2E315-66A9-0EC9-1AFD-6C45ACD181FE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7950200" y="5060950"/>
            <a:ext cx="571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01C0738-3EE2-4505-B79A-4516277350D1}" type="datetime'G''''''oog''''''''''''''''''''''l''''''''''''''''''''''e'">
              <a:rPr lang="en-US" altLang="en-US" sz="1400" smtClean="0">
                <a:cs typeface="+mn-cs"/>
              </a:rPr>
              <a:pPr/>
              <a:t>Google</a:t>
            </a:fld>
            <a:endParaRPr lang="zh-CN" altLang="en-US" sz="1400" dirty="0">
              <a:cs typeface="+mn-cs"/>
            </a:endParaRPr>
          </a:p>
        </p:txBody>
      </p:sp>
      <p:sp>
        <p:nvSpPr>
          <p:cNvPr id="995" name="Text Placeholder 4">
            <a:extLst>
              <a:ext uri="{FF2B5EF4-FFF2-40B4-BE49-F238E27FC236}">
                <a16:creationId xmlns:a16="http://schemas.microsoft.com/office/drawing/2014/main" id="{E9F40228-5429-4545-FCDD-4FFE85605CF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94763" y="3173413"/>
            <a:ext cx="3937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3685E308-D38A-491F-9826-5B717361118F}" type="datetime'M''''''''''''''''''''''''''''''e''''''''''''''ta'">
              <a:rPr lang="en-US" altLang="en-US" sz="1400" smtClean="0">
                <a:cs typeface="+mn-cs"/>
              </a:rPr>
              <a:pPr/>
              <a:t>Meta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18" name="文本框 1017">
            <a:extLst>
              <a:ext uri="{FF2B5EF4-FFF2-40B4-BE49-F238E27FC236}">
                <a16:creationId xmlns:a16="http://schemas.microsoft.com/office/drawing/2014/main" id="{8073F76C-E6A4-0018-4D76-8F318BFCE52A}"/>
              </a:ext>
            </a:extLst>
          </p:cNvPr>
          <p:cNvSpPr txBox="1"/>
          <p:nvPr/>
        </p:nvSpPr>
        <p:spPr>
          <a:xfrm>
            <a:off x="8791151" y="294322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100-300k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2" name="文本框 1021">
            <a:extLst>
              <a:ext uri="{FF2B5EF4-FFF2-40B4-BE49-F238E27FC236}">
                <a16:creationId xmlns:a16="http://schemas.microsoft.com/office/drawing/2014/main" id="{BAF251EB-D043-0852-4E82-8EAEBBF6E444}"/>
              </a:ext>
            </a:extLst>
          </p:cNvPr>
          <p:cNvSpPr txBox="1"/>
          <p:nvPr/>
        </p:nvSpPr>
        <p:spPr>
          <a:xfrm>
            <a:off x="10474431" y="3747156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1400-1500k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  <p:sp>
        <p:nvSpPr>
          <p:cNvPr id="1023" name="文本框 1022">
            <a:extLst>
              <a:ext uri="{FF2B5EF4-FFF2-40B4-BE49-F238E27FC236}">
                <a16:creationId xmlns:a16="http://schemas.microsoft.com/office/drawing/2014/main" id="{E11EB400-8654-69BA-2A6A-22A13588DD25}"/>
              </a:ext>
            </a:extLst>
          </p:cNvPr>
          <p:cNvSpPr txBox="1"/>
          <p:nvPr/>
        </p:nvSpPr>
        <p:spPr>
          <a:xfrm>
            <a:off x="7531100" y="5216960"/>
            <a:ext cx="299190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0052D9"/>
                </a:solidFill>
                <a:latin typeface="PingFang SC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1500-2000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units</a:t>
            </a: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6321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401" imgH="401" progId="TCLayout.ActiveDocument.1">
                  <p:embed/>
                </p:oleObj>
              </mc:Choice>
              <mc:Fallback>
                <p:oleObj name="think-cell 幻灯片" r:id="rId48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1F44BCD-E96A-EC37-D488-0C77B9DB4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49" y="172212"/>
            <a:ext cx="10751185" cy="731520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Why Broadcom Bets on CPO: Aligning with HPC's In-House ASIC Trend + Network Support for Ecosystem Positioning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7" name="Chart 3">
            <a:extLst>
              <a:ext uri="{FF2B5EF4-FFF2-40B4-BE49-F238E27FC236}">
                <a16:creationId xmlns:a16="http://schemas.microsoft.com/office/drawing/2014/main" id="{5B981BC7-9560-7465-B7E9-3FBD863794A5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84124000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3375"/>
            <a:ext cx="4762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523A816-CF35-DCF4-A607-3C74BF7DAB4F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3906838" y="5461000"/>
            <a:ext cx="16510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66237" y="5984875"/>
            <a:ext cx="19256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217988" y="5276850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 useBgFill="1">
        <p:nvSpPr>
          <p:cNvPr id="777" name="Text Placeholder 4">
            <a:extLst>
              <a:ext uri="{FF2B5EF4-FFF2-40B4-BE49-F238E27FC236}">
                <a16:creationId xmlns:a16="http://schemas.microsoft.com/office/drawing/2014/main" id="{E98B94FD-306F-3CF1-4E96-49A821D92747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5753100" y="5287963"/>
            <a:ext cx="1019175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BD81C13-0B36-4EE4-AD3B-BAC462CE44E9}" type="datetime'''''''''M''''e''''''ta''-''M''''TI''A ''''V''2'''''''''''">
              <a:rPr lang="en-US" altLang="en-US" sz="1200" smtClean="0">
                <a:cs typeface="+mn-cs"/>
              </a:rPr>
              <a:pPr/>
              <a:t>Meta-MTIA V2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8" name="Text Placeholder 4">
            <a:extLst>
              <a:ext uri="{FF2B5EF4-FFF2-40B4-BE49-F238E27FC236}">
                <a16:creationId xmlns:a16="http://schemas.microsoft.com/office/drawing/2014/main" id="{5A109F75-CD81-6FBD-10C4-46D24855A279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887663" y="5305425"/>
            <a:ext cx="1019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18FAF74-62C6-4C98-80A5-D0BF6C5C2F3D}" type="datetime'Meta-''''''''''''M''T''''''I''A'''''''' ''''V''''1'''">
              <a:rPr lang="en-US" altLang="en-US" sz="1200" smtClean="0">
                <a:cs typeface="+mn-cs"/>
              </a:rPr>
              <a:pPr/>
              <a:t>Meta-MTIA V1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5507038" y="4579938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 useBgFill="1"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gray">
          <a:xfrm>
            <a:off x="3187699" y="5135563"/>
            <a:ext cx="947738" cy="182563"/>
          </a:xfrm>
          <a:prstGeom prst="rect">
            <a:avLst/>
          </a:prstGeom>
          <a:ln>
            <a:noFill/>
          </a:ln>
          <a:effectLst/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7362825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4"/>
            </p:custDataLst>
          </p:nvPr>
        </p:nvSpPr>
        <p:spPr bwMode="auto">
          <a:xfrm>
            <a:off x="4629150" y="5995988"/>
            <a:ext cx="25511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Compute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 bwMode="auto">
          <a:xfrm>
            <a:off x="7583488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266006" y="4644501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 ASIC per-card performance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≈ ​40%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same-gen GPU​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expected to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like ​Google, Amazon​ now evolving toward ​CPO.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30448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Robo-Technik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728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472427"/>
            <a:ext cx="3110118" cy="2919963"/>
            <a:chOff x="1052162" y="3649002"/>
            <a:chExt cx="3110118" cy="2919963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649002"/>
              <a:ext cx="3110118" cy="2919963"/>
              <a:chOff x="923365" y="3511524"/>
              <a:chExt cx="3110118" cy="2919963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33488" y="3511524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Breakdown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6003" y="4437422"/>
              <a:ext cx="124208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2025.06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2959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811A02-3CE0-3DE8-0365-8A8A4512D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FiconTEC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: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Robo-Technik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57192" y="4540299"/>
            <a:ext cx="15574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Standard- hardware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92" name="图表 91">
            <a:extLst>
              <a:ext uri="{FF2B5EF4-FFF2-40B4-BE49-F238E27FC236}">
                <a16:creationId xmlns:a16="http://schemas.microsoft.com/office/drawing/2014/main" id="{19260879-9433-0847-8209-2001BC7786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751624"/>
              </p:ext>
            </p:extLst>
          </p:nvPr>
        </p:nvGraphicFramePr>
        <p:xfrm>
          <a:off x="397687" y="2541712"/>
          <a:ext cx="5701757" cy="349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(approx. -30%);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Rate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397687" y="2510156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65000"/>
                  </a:schemeClr>
                </a:solidFill>
                <a:cs typeface="+mn-ea"/>
                <a:sym typeface="+mn-lt"/>
              </a:rPr>
              <a:t>0.1b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5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1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F48045EE-3F8C-A4F8-0B54-F9AE0FBB3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6743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258FC10A-6E48-BF6C-E338-E510C5B04ADC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4DE523-707B-F6F1-6098-29369A44CF08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194B2D-9F90-B8AC-9359-DF7456CD05EC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42B7A158-75DD-349F-D01C-DE1C1004D9D3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3064033-D000-FE10-E7DE-5DC21087055C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2024.10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A1B8F5-D0BC-3FA4-D0DA-9ABACEB52E9C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75A6610-4812-1CF8-1C74-D7202344167B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D226C5-B38E-E0E7-1A77-1F5FA7951C5A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E774ABCF-B9C8-DEB5-E991-EFE99AFF9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5933F121-97EB-551B-9981-34C7F075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40B2241A-E239-5296-5E0C-6CA6D4B1BE28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6F3C28AB-26FD-E807-11D4-16D3A5BFD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1A493E5D-976D-1969-CD52-F15156262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87C040F-25B6-0304-0507-B8FCC732CC67}"/>
              </a:ext>
            </a:extLst>
          </p:cNvPr>
          <p:cNvGrpSpPr/>
          <p:nvPr/>
        </p:nvGrpSpPr>
        <p:grpSpPr>
          <a:xfrm>
            <a:off x="8672513" y="894588"/>
            <a:ext cx="2016125" cy="338554"/>
            <a:chOff x="1471613" y="4870565"/>
            <a:chExt cx="2015690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7453A26C-8BE4-EA01-9579-8E86CCDC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A06B55FA-4D2C-EDAE-36C9-3C12F2223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BB41C948-5BE5-98E3-AE9D-EFF7476EC14A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2740787D-1C41-228C-5546-E6DD974C012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69AF700F-B4A4-6E59-D887-E8164F4034F3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5E24262-AB4B-C86E-19A4-9CC7609326E8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9D56FF0-0966-1199-4264-B8CC4002FA50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2C58AC-E8A5-5485-3388-FC0E87A44BD1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E18C78DE-9EA7-95F6-75F6-C9402BD3D9AC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12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D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189C4BBC-1B9A-3768-0BDA-3C0DE94B5E01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68987912-A982-02D0-2828-5A83FC0EF287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179DB382-7110-2064-3FD5-9E55A0AAECA0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64344FB6-DFC6-B58F-3334-A76CC6193946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468BC916-BDF7-630D-6A02-4D900E2E7FCC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69A26B94-4056-BC1F-E0A2-ABB627D795D3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25H2: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starts,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2027: m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4AF2211-68D9-70E5-9D3A-F7A1FB0D215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941743-B058-8529-42C0-C198AB8446FD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.02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D676E2D-99E8-7C9A-0B6F-398D345A1656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=&gt;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2D829332-790A-E490-D346-C1A4CC61A474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8643D068-FE9C-2B31-B7A1-70D8909EB09F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56A92FA1-6A3D-3E9A-217E-A6914A65D79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2026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B611AC5F-5F3B-E82A-F692-B854476F64C1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9E7D85C-02C0-7F73-1270-C01EB70788B2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2024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.10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Series D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32A83826-B3F1-624C-0729-DB811B97141E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=&gt;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00469C01-E62F-C7FE-4E90-FCF2BFA040E9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11EFAFA0-D9C9-C20C-4647-54BA0999893A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ACDA7873-203F-94DB-9669-2A442C0F434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5EA0FD5-41DB-BB51-A835-19A4FB8372E4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​Optical Full-Stack Solutions</a:t>
            </a:r>
            <a:endParaRPr lang="zh-CN" altLang="zh-CN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422046B8-56DB-B1DE-F63D-EB7DDBE0B18D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1531831-1D5B-F3AC-F72A-89CB663AF497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556073A-01C0-DBC5-8B89-C9D4C5946C33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2BAB08-826A-EB9F-5F5B-D2AA9A949795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7CE49E3B-AA16-B54A-2488-5DA1BC02F00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D0317A9C-D233-0ECC-6C89-C86D1FC398AB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140F0C6F-6001-D662-0F30-93376921F213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EDFA2CFF-A692-CB23-28AD-ED488BB305F4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ECE36DD8-20E0-8AFB-2FF8-5AE5493152DF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81E82B5-4E56-D670-69BD-78A21C96D3F0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8EB4E003-929A-2EFF-2140-D552D89CE73D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E74D20E-4E5D-CEA7-1F06-A5BC86F90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0109CB79-72CC-E638-67C3-318EF815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64885C04-A843-E56C-F1A9-6074FEF3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BC0FB846-1F99-DC19-E265-2614538284BB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 Startups Comparison: Ayar Labs, </a:t>
            </a:r>
            <a:r>
              <a:rPr lang="en-US" altLang="zh-CN" dirty="0" err="1">
                <a:latin typeface="+mn-lt"/>
                <a:ea typeface="+mn-ea"/>
                <a:cs typeface="+mn-ea"/>
                <a:sym typeface="+mn-lt"/>
              </a:rPr>
              <a:t>Lightmatter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, Celestial AI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711F5F-8D89-9156-64DF-5DF7EFA2CB46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1F92B-1D06-7BF6-A21C-E264A7818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0D1F202F-80A5-1AB6-736B-5449905FA3E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ECC74C7F-32D0-426A-8DF9-4AB5C55B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1B87E95-14B6-6953-DC10-BF87285DCF2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655BCD29-D6E9-6683-4E50-864993F11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B4FC1512-01C0-FBFB-7831-5F748031E6D5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4787BB34-9E57-82F4-CB65-C9DE68DFB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246221"/>
          </a:xfrm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8416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Bandwidth,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6143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 Bandwidth and Inference Rate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7132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43ABF5-1FF2-0AE9-7070-1BB344EC8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Prospectus;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Electricity, Weak in Optics; Domestic Vise Versa - Industry Evidence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6266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7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1657479281933120774E+00&quot;&gt;&lt;m_msothmcolidx val=&quot;0&quot;/&gt;&lt;m_rgb r=&quot;00&quot; g=&quot;52&quot; b=&quot;D9&quot;/&gt;&lt;/elem&gt;&lt;elem m_fUsage=&quot;1.50094635296999207030E-01&quot;&gt;&lt;m_msothmcolidx val=&quot;0&quot;/&gt;&lt;m_rgb r=&quot;C1&quot; g=&quot;E1&quot; b=&quot;FE&quot;/&gt;&lt;/elem&gt;&lt;elem m_fUsage=&quot;1.09418989131512434110E-01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9AGnnBaZltFpC79uhRNkEU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NAGnnBaZltFpC79uhRNkEUDRGF0YQAWAAAAAlBlcnNvbmFsSWQAAQAAAAAAAk5hbWUACwAAAFBlcnNvbmFsSWQAEFZlcnNpb24AAAAAAAlMYXN0V3JpdGUAs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8880348"/>
  <p:tag name="EMPOWERCHARTSPROPERTIES_A_LENGTH" val="24576"/>
  <p:tag name="RUNTIME_ID" val="a42a71d3-1212-4f7b-9f92-078c8c21d33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BE7s2sUq.CqF9g8mj._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WrU2aXqYquu2kM3NqwQ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PEnZm1vuGMZRZdHEPaJ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zcKw3iHuXeXx11ylZa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IfMePetepor.EpMvLIl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zBjMrX2tboR_nIej0YV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gWc73Dbls8NwEOMv9Mo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zKy9Ca9e9p40r5qy0hE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sXZ7CwQoMy2ztWQLodw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60GeuDc1gEqYzYhfCBh2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pZUwOTYTKIYIGj5Twhmd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FRMzAE7Q8ZCMcY0cJK4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K7FCJg_ZrpFQz764vGQw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WlYIAXCcTeXwuibQcoC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j8LBM5T7QCLWeuZMX1y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Z_OeLo0II57f1ElqidIK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rGakZUBQecW1ZsS3P78Q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1_odSW06WOa3VG2BIyY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xsU7ACpff8RuV8KvUVu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5e9ozXdlYWnliYhtW0Kw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bkA9M_H2DnFUnZmgT07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BsNp3x1IMgMsCb.TqhUa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9Ho0eMYLkOwrc_D2S0J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QOj_w.aboWve.s06Gb5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nYFqo0nbms3jjRchkNtg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tmSuhW5xMD1W7aBGJdc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SPugWYXmHeFlv.QcWgf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43410</TotalTime>
  <Words>3573</Words>
  <Application>Microsoft Office PowerPoint</Application>
  <PresentationFormat>宽屏</PresentationFormat>
  <Paragraphs>952</Paragraphs>
  <Slides>34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8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CPO</vt:lpstr>
      <vt:lpstr>Table of contents</vt:lpstr>
      <vt:lpstr>Why the Focus on CPO? Nvidia, Broadcom, and DeepSeek</vt:lpstr>
      <vt:lpstr>PowerPoint 演示文稿</vt:lpstr>
      <vt:lpstr>The Copper Speed Wall in Data Center; Breaking Through with Optical Interconnects</vt:lpstr>
      <vt:lpstr>PowerPoint 演示文稿</vt:lpstr>
      <vt:lpstr>PowerPoint 演示文稿</vt:lpstr>
      <vt:lpstr>Three Consensus Optical Interconnect Solutions: PO, NPO, and CPO</vt:lpstr>
      <vt:lpstr>PowerPoint 演示文稿</vt:lpstr>
      <vt:lpstr>PO Dominates Mainstream; CPO Becomes the Focus of Tech Giants</vt:lpstr>
      <vt:lpstr>CPO Faces 3 Hurdles; NPO Proposed As The Bridge to CPO</vt:lpstr>
      <vt:lpstr>NPO Deployed First in IDCs; CPO As The Endgame for Aggressive Giants</vt:lpstr>
      <vt:lpstr>IDC Interconnect by Distance: Scale-up vs. Scale-out</vt:lpstr>
      <vt:lpstr>​Overseas: CPO for Scale Out first; Domestic: CPO for Scale Up first</vt:lpstr>
      <vt:lpstr>Overseas: Pursue Scale-out &amp; Scale-up Parallelly; CPO Initial Focus on Scale-out (1-2 Years)</vt:lpstr>
      <vt:lpstr>Domestic Vendors Rely on Scale-Up to Close Performance Gap at High Power Cost</vt:lpstr>
      <vt:lpstr>PowerPoint 演示文稿</vt:lpstr>
      <vt:lpstr>CPO Key Modules: Silicon Photonics Chip, Electrical IC, Switch ASIC, and Integration &amp; Delivery</vt:lpstr>
      <vt:lpstr>Supply Chain: EICs &amp; Switch Chips - Large Scale, High Margin, Long R&amp;D</vt:lpstr>
      <vt:lpstr>​Supply Chain Focus: Broadcom-Led Integrated Giants and Strategic Domestic Startups like FiconTEC</vt:lpstr>
      <vt:lpstr>Broadcom: First to Commercialize CPO with a Sustained Lead</vt:lpstr>
      <vt:lpstr>Broadcom: The Most Comprehensive CPO Capability Profile</vt:lpstr>
      <vt:lpstr>Why Broadcom Bets on CPO: Aligning with HPC's In-House ASIC Trend + Network Support for Ecosystem Positioning</vt:lpstr>
      <vt:lpstr>Why Broadcom Bets on CPO: Aligning with HPC's In-House ASIC Trend + Network Support for Ecosystem Positioning</vt:lpstr>
      <vt:lpstr>FiconTEC: Key Player for Domestic Substitution in CPO</vt:lpstr>
      <vt:lpstr>FiconTEC: Key Player for Domestic Substitution in CPO</vt:lpstr>
      <vt:lpstr>PowerPoint 演示文稿</vt:lpstr>
      <vt:lpstr>Summary</vt:lpstr>
      <vt:lpstr>DeepSeek: Domestic LLM Restricted by GPU Interconnection Bandwidth, CPO as Priority Exploration Direction</vt:lpstr>
      <vt:lpstr>DeepSeek: H800 Bandwidth and Inference Rate</vt:lpstr>
      <vt:lpstr>Overseas Strong in Electricity, Weak in Optics; Domestic Vise Versa - Industry Evidence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5046</cp:revision>
  <dcterms:created xsi:type="dcterms:W3CDTF">2025-06-16T21:28:33Z</dcterms:created>
  <dcterms:modified xsi:type="dcterms:W3CDTF">2025-09-30T06:52:57Z</dcterms:modified>
</cp:coreProperties>
</file>