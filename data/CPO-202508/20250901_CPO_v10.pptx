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55.xml" ContentType="application/vnd.openxmlformats-officedocument.presentationml.tags+xml"/>
  <Override PartName="/ppt/notesSlides/notesSlide5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6.xml" ContentType="application/vnd.openxmlformats-officedocument.presentationml.notesSlide+xml"/>
  <Override PartName="/ppt/tags/tag63.xml" ContentType="application/vnd.openxmlformats-officedocument.presentationml.tags+xml"/>
  <Override PartName="/ppt/notesSlides/notesSlide7.xml" ContentType="application/vnd.openxmlformats-officedocument.presentationml.notesSlide+xml"/>
  <Override PartName="/ppt/tags/tag64.xml" ContentType="application/vnd.openxmlformats-officedocument.presentationml.tags+xml"/>
  <Override PartName="/ppt/notesSlides/notesSlide8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0.xml" ContentType="application/vnd.openxmlformats-officedocument.presentationml.notesSlide+xml"/>
  <Override PartName="/ppt/tags/tag1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1.xml" ContentType="application/vnd.openxmlformats-officedocument.presentationml.tags+xml"/>
  <Override PartName="/ppt/notesSlides/notesSlide12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13.xml" ContentType="application/vnd.openxmlformats-officedocument.presentationml.notesSlide+xml"/>
  <Override PartName="/ppt/tags/tag129.xml" ContentType="application/vnd.openxmlformats-officedocument.presentationml.tags+xml"/>
  <Override PartName="/ppt/notesSlides/notesSlide14.xml" ContentType="application/vnd.openxmlformats-officedocument.presentationml.notesSlide+xml"/>
  <Override PartName="/ppt/tags/tag130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1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2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3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16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17.xml" ContentType="application/vnd.openxmlformats-officedocument.presentationml.notesSlide+xml"/>
  <Override PartName="/ppt/tags/tag1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338" r:id="rId3"/>
    <p:sldId id="332" r:id="rId4"/>
    <p:sldId id="319" r:id="rId5"/>
    <p:sldId id="336" r:id="rId6"/>
    <p:sldId id="321" r:id="rId7"/>
    <p:sldId id="317" r:id="rId8"/>
    <p:sldId id="334" r:id="rId9"/>
    <p:sldId id="339" r:id="rId10"/>
    <p:sldId id="320" r:id="rId11"/>
    <p:sldId id="313" r:id="rId12"/>
    <p:sldId id="335" r:id="rId13"/>
    <p:sldId id="326" r:id="rId14"/>
    <p:sldId id="315" r:id="rId15"/>
    <p:sldId id="344" r:id="rId16"/>
    <p:sldId id="342" r:id="rId17"/>
    <p:sldId id="343" r:id="rId18"/>
    <p:sldId id="327" r:id="rId19"/>
    <p:sldId id="328" r:id="rId20"/>
    <p:sldId id="331" r:id="rId21"/>
    <p:sldId id="341" r:id="rId22"/>
    <p:sldId id="322" r:id="rId23"/>
    <p:sldId id="283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8"/>
            <p14:sldId id="332"/>
            <p14:sldId id="319"/>
            <p14:sldId id="336"/>
            <p14:sldId id="321"/>
            <p14:sldId id="317"/>
            <p14:sldId id="334"/>
            <p14:sldId id="339"/>
            <p14:sldId id="320"/>
            <p14:sldId id="313"/>
            <p14:sldId id="335"/>
            <p14:sldId id="326"/>
            <p14:sldId id="315"/>
            <p14:sldId id="344"/>
            <p14:sldId id="342"/>
            <p14:sldId id="343"/>
            <p14:sldId id="327"/>
            <p14:sldId id="328"/>
            <p14:sldId id="331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0365C0"/>
    <a:srgbClr val="8C929A"/>
    <a:srgbClr val="C2C5C9"/>
    <a:srgbClr val="FF7201"/>
    <a:srgbClr val="FFFFFF"/>
    <a:srgbClr val="DCDEE0"/>
    <a:srgbClr val="EBF1FF"/>
    <a:srgbClr val="DDE3F1"/>
    <a:srgbClr val="EE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9" autoAdjust="0"/>
    <p:restoredTop sz="92207" autoAdjust="0"/>
  </p:normalViewPr>
  <p:slideViewPr>
    <p:cSldViewPr snapToGrid="0">
      <p:cViewPr>
        <p:scale>
          <a:sx n="66" d="100"/>
          <a:sy n="66" d="100"/>
        </p:scale>
        <p:origin x="4232" y="1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算力与传输速率!$M$2</c:f>
              <c:strCache>
                <c:ptCount val="1"/>
                <c:pt idx="0">
                  <c:v>每line速率（Gbps）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算力与传输速率!$L$3:$L$6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算力与传输速率!$M$3:$M$6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86B-426D-8E47-AA62801BC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16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7181186613901992"/>
          <c:y val="0.88719030460072612"/>
          <c:w val="0.51716575965549116"/>
          <c:h val="7.36445470126995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20000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110091743119266E-2"/>
          <c:y val="8.5526315789473686E-2"/>
          <c:w val="0.88880733944954127"/>
          <c:h val="0.8289473684210526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85F-48E6-B583-8D7ACAF5DEEF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5F-48E6-B583-8D7ACAF5D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23044000"/>
        <c:axId val="1"/>
      </c:barChart>
      <c:catAx>
        <c:axId val="9230440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3044000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522388059701492"/>
          <c:y val="0.11201392919326755"/>
          <c:w val="0.82752902155887231"/>
          <c:h val="0.7759721416134648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845618107951247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2F2-4FF3-8C8F-AB1F24AB3604}"/>
                </c:ext>
              </c:extLst>
            </c:dLbl>
            <c:dLbl>
              <c:idx val="1"/>
              <c:layout>
                <c:manualLayout>
                  <c:x val="0"/>
                  <c:y val="-0.3917585606500290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2F2-4FF3-8C8F-AB1F24AB360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351.57831325301203</c:v>
                </c:pt>
                <c:pt idx="1">
                  <c:v>886.37349397590367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F2-4FF3-8C8F-AB1F24AB3604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2F2-4FF3-8C8F-AB1F24AB3604}"/>
              </c:ext>
            </c:extLst>
          </c:dPt>
          <c:dLbls>
            <c:dLbl>
              <c:idx val="0"/>
              <c:layout>
                <c:manualLayout>
                  <c:x val="0"/>
                  <c:y val="9.86651189785258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2F2-4FF3-8C8F-AB1F24AB3604}"/>
                </c:ext>
              </c:extLst>
            </c:dLbl>
            <c:dLbl>
              <c:idx val="1"/>
              <c:layout>
                <c:manualLayout>
                  <c:x val="0"/>
                  <c:y val="-4.236796285548462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2F2-4FF3-8C8F-AB1F24AB360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3.5157831325301205</c:v>
                </c:pt>
                <c:pt idx="1">
                  <c:v>70.909879518072302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2F2-4FF3-8C8F-AB1F24AB3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74070096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val>
            <c:numRef>
              <c:f>Sheet1!$A$3:$B$3</c:f>
              <c:numCache>
                <c:formatCode>General</c:formatCode>
                <c:ptCount val="2"/>
                <c:pt idx="0">
                  <c:v>0.01</c:v>
                </c:pt>
                <c:pt idx="1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2F2-4FF3-8C8F-AB1F24AB3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3740700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4070096"/>
        <c:crosses val="min"/>
        <c:crossBetween val="between"/>
        <c:majorUnit val="2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0.1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284128020901372"/>
          <c:y val="0.17797356828193833"/>
          <c:w val="0.83017635532331813"/>
          <c:h val="0.6519823788546255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66519823788546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369-489E-A21E-C3AB5D0B4249}"/>
                </c:ext>
              </c:extLst>
            </c:dLbl>
            <c:dLbl>
              <c:idx val="1"/>
              <c:layout>
                <c:manualLayout>
                  <c:x val="0"/>
                  <c:y val="-0.220264317180616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369-489E-A21E-C3AB5D0B4249}"/>
                </c:ext>
              </c:extLst>
            </c:dLbl>
            <c:dLbl>
              <c:idx val="2"/>
              <c:layout>
                <c:manualLayout>
                  <c:x val="0"/>
                  <c:y val="-0.1383259911894273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369-489E-A21E-C3AB5D0B4249}"/>
                </c:ext>
              </c:extLst>
            </c:dLbl>
            <c:dLbl>
              <c:idx val="3"/>
              <c:layout>
                <c:manualLayout>
                  <c:x val="0"/>
                  <c:y val="-0.1057268722466960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369-489E-A21E-C3AB5D0B424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69-489E-A21E-C3AB5D0B42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98808272"/>
        <c:axId val="1"/>
      </c:barChart>
      <c:catAx>
        <c:axId val="4988082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808272"/>
        <c:crosses val="min"/>
        <c:crossBetween val="between"/>
        <c:majorUnit val="5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20104166666666667"/>
          <c:w val="0.75137783221065524"/>
          <c:h val="0.5979166666666666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364583333333333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4BF-40A0-89F2-8EB1BCA4A98C}"/>
                </c:ext>
              </c:extLst>
            </c:dLbl>
            <c:dLbl>
              <c:idx val="1"/>
              <c:layout>
                <c:manualLayout>
                  <c:x val="0"/>
                  <c:y val="-0.2656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4BF-40A0-89F2-8EB1BCA4A98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BF-40A0-89F2-8EB1BCA4A98C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4BF-40A0-89F2-8EB1BCA4A98C}"/>
              </c:ext>
            </c:extLst>
          </c:dPt>
          <c:dLbls>
            <c:dLbl>
              <c:idx val="0"/>
              <c:layout>
                <c:manualLayout>
                  <c:x val="0"/>
                  <c:y val="-4.166666666666666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4BF-40A0-89F2-8EB1BCA4A98C}"/>
                </c:ext>
              </c:extLst>
            </c:dLbl>
            <c:dLbl>
              <c:idx val="1"/>
              <c:layout>
                <c:manualLayout>
                  <c:x val="0"/>
                  <c:y val="-0.3250000000000000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4BF-40A0-89F2-8EB1BCA4A98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4BF-40A0-89F2-8EB1BCA4A9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917965040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F4BF-40A0-89F2-8EB1BCA4A9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9179650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7965040"/>
        <c:crosses val="max"/>
        <c:crossBetween val="between"/>
        <c:majorUnit val="5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5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038412291933419"/>
          <c:y val="0.19734151329243355"/>
          <c:w val="0.76632522407170289"/>
          <c:h val="0.6053169734151329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300613496932515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3D0-4337-9CC7-DC491061245C}"/>
                </c:ext>
              </c:extLst>
            </c:dLbl>
            <c:dLbl>
              <c:idx val="1"/>
              <c:layout>
                <c:manualLayout>
                  <c:x val="0"/>
                  <c:y val="-9.100204498977505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3D0-4337-9CC7-DC49106124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7.2</c:v>
                </c:pt>
                <c:pt idx="1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D0-4337-9CC7-DC491061245C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860940695296523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3D0-4337-9CC7-DC491061245C}"/>
                </c:ext>
              </c:extLst>
            </c:dLbl>
            <c:dLbl>
              <c:idx val="1"/>
              <c:layout>
                <c:manualLayout>
                  <c:x val="0"/>
                  <c:y val="-0.301635991820040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C3D0-4337-9CC7-DC49106124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5.18</c:v>
                </c:pt>
                <c:pt idx="1">
                  <c:v>10.75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3D0-4337-9CC7-DC49106124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862003840"/>
        <c:axId val="1"/>
      </c:barChart>
      <c:catAx>
        <c:axId val="8620038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62003840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709677419354838"/>
          <c:y val="0.25674418604651161"/>
          <c:w val="0.72634408602150535"/>
          <c:h val="0.5637209302325580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90697674418604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B86-4EC4-8F04-DAC63B8679F3}"/>
                </c:ext>
              </c:extLst>
            </c:dLbl>
            <c:dLbl>
              <c:idx val="1"/>
              <c:layout>
                <c:manualLayout>
                  <c:x val="0"/>
                  <c:y val="-0.1553488372093023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B86-4EC4-8F04-DAC63B8679F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2500</c:v>
                </c:pt>
                <c:pt idx="1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86-4EC4-8F04-DAC63B8679F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6511627906976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B86-4EC4-8F04-DAC63B8679F3}"/>
                </c:ext>
              </c:extLst>
            </c:dLbl>
            <c:dLbl>
              <c:idx val="1"/>
              <c:layout>
                <c:manualLayout>
                  <c:x val="0"/>
                  <c:y val="-4.744186046511628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B86-4EC4-8F04-DAC63B8679F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180</c:v>
                </c:pt>
                <c:pt idx="1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B86-4EC4-8F04-DAC63B8679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53090880"/>
        <c:axId val="1"/>
      </c:barChart>
      <c:catAx>
        <c:axId val="153090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09088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1063196930447839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营收（左）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净利润（左）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毛利率（右）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397209602633906"/>
          <c:y val="0.20277245578292413"/>
          <c:w val="0.26602790397366088"/>
          <c:h val="0.59445427900527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光互连及</a:t>
            </a:r>
            <a:r>
              <a:rPr lang="en-US" altLang="zh-CN" dirty="0"/>
              <a:t>CPO</a:t>
            </a:r>
            <a:r>
              <a:rPr lang="zh-CN" altLang="en-US" dirty="0"/>
              <a:t>是什么、为什么重要？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及</a:t>
            </a:r>
            <a:r>
              <a:rPr lang="en-US" altLang="zh-CN" dirty="0"/>
              <a:t>OIO</a:t>
            </a:r>
            <a:r>
              <a:rPr lang="zh-CN" altLang="en-US" dirty="0"/>
              <a:t>市场怎么样，会有什么公司机会？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上述技术路线如何解决三大难题？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光解决速率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解决功耗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IDC</a:t>
            </a:r>
            <a:r>
              <a:rPr lang="zh-CN" altLang="en-US" dirty="0"/>
              <a:t>的迅猛扩张，算力、卡数增长带来三大互联难题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上述技术路线如何解决三大难题？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光解决速率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解决功耗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为了解决互连难题，过去出现了四条技术路线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四种技术是并行的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为了支撑传输速率从</a:t>
            </a:r>
            <a:r>
              <a:rPr lang="en-US" altLang="zh-CN" dirty="0"/>
              <a:t>Gbps</a:t>
            </a:r>
            <a:r>
              <a:rPr lang="zh-CN" altLang="en-US" dirty="0"/>
              <a:t>到</a:t>
            </a:r>
            <a:r>
              <a:rPr lang="en-US" altLang="zh-CN" dirty="0" err="1"/>
              <a:t>Tbps</a:t>
            </a:r>
            <a:r>
              <a:rPr lang="zh-CN" altLang="en-US" dirty="0"/>
              <a:t>，每种技术不断发展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铜和可插拔光模块共存了很长一段时间，未来铜互联、可插拔光模块、</a:t>
            </a:r>
            <a:r>
              <a:rPr lang="en-US" altLang="zh-CN" dirty="0"/>
              <a:t>CPO</a:t>
            </a:r>
            <a:r>
              <a:rPr lang="zh-CN" altLang="en-US" dirty="0"/>
              <a:t>仍将共存一段时间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38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光互连大势所趋，开始详细讲光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宏观视角，光的三种技术路径的差异，以及当前所处阶段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差异：连接距离，速率上限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阶段：规模看市场成熟度，动向看商业化阶段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讲完光的宏观，进入微观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相比可插拔到底解决了什么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从图上看，拆分整合（光引擎、光源）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缩距降低功耗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拆分光源解决散热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：芯片中负责低速并行信号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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高速串行信号的模块，速率受限于芯片制程，影响互连带宽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是高速率的源头，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速率低则整体速率低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海外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从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56=&gt;112=&gt;224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范式迁移下存在着变与不变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不变：三层对应关系不变，周边硬件等低附加值、接口芯片层、封装层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变：迁移过程中，新玩家涌入，投资关注点迁移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06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For</a:t>
            </a:r>
            <a:r>
              <a:rPr lang="zh-CN" altLang="en-US" dirty="0"/>
              <a:t>简单理解</a:t>
            </a:r>
            <a:r>
              <a:rPr lang="en-US" altLang="zh-CN" dirty="0"/>
              <a:t>CPO</a:t>
            </a:r>
            <a:r>
              <a:rPr lang="zh-CN" altLang="en-US" dirty="0"/>
              <a:t>关键环节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用跨语言通话理解：当我和一个说韩语的人打电话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光纤：电话线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激光器：喇叭。这俩没那么重要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硅光：翻译官，光电互译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电光：声音润色，让声音更大，听得更清楚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交换机：末端首脑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83AB-BA7C-DD8C-C418-E95DBC34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70EFF-4685-F733-FC4D-715EFE659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D006D-3A81-EE25-94C2-12CC7BC30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761D6F-24C1-86CE-7D65-53B8CB893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690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4A0E1-D00F-46B9-73D8-430CF7BB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626B03-19EF-2DE2-00DB-92BB4C379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0D0A6F-89AE-4F21-9A68-F65A4AE64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9B180D-30E9-1482-AB2F-AA58CA77C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215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44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7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chart" Target="../charts/chart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image" Target="../media/image7.emf"/><Relationship Id="rId2" Type="http://schemas.openxmlformats.org/officeDocument/2006/relationships/tags" Target="../tags/tag5.xml"/><Relationship Id="rId16" Type="http://schemas.openxmlformats.org/officeDocument/2006/relationships/oleObject" Target="../embeddings/oleObject3.bin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13.xml"/><Relationship Id="rId19" Type="http://schemas.openxmlformats.org/officeDocument/2006/relationships/chart" Target="../charts/chart2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1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1.xml"/><Relationship Id="rId10" Type="http://schemas.openxmlformats.org/officeDocument/2006/relationships/chart" Target="../charts/chart3.xml"/><Relationship Id="rId4" Type="http://schemas.openxmlformats.org/officeDocument/2006/relationships/tags" Target="../tags/tag20.xml"/><Relationship Id="rId9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26" Type="http://schemas.openxmlformats.org/officeDocument/2006/relationships/tags" Target="../tags/tag47.xml"/><Relationship Id="rId39" Type="http://schemas.openxmlformats.org/officeDocument/2006/relationships/chart" Target="../charts/chart5.xml"/><Relationship Id="rId21" Type="http://schemas.openxmlformats.org/officeDocument/2006/relationships/tags" Target="../tags/tag42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tags" Target="../tags/tag46.xml"/><Relationship Id="rId33" Type="http://schemas.openxmlformats.org/officeDocument/2006/relationships/tags" Target="../tags/tag54.xml"/><Relationship Id="rId38" Type="http://schemas.openxmlformats.org/officeDocument/2006/relationships/chart" Target="../charts/chart4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29" Type="http://schemas.openxmlformats.org/officeDocument/2006/relationships/tags" Target="../tags/tag50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tags" Target="../tags/tag45.xml"/><Relationship Id="rId32" Type="http://schemas.openxmlformats.org/officeDocument/2006/relationships/tags" Target="../tags/tag53.xml"/><Relationship Id="rId37" Type="http://schemas.openxmlformats.org/officeDocument/2006/relationships/image" Target="../media/image7.emf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tags" Target="../tags/tag44.xml"/><Relationship Id="rId28" Type="http://schemas.openxmlformats.org/officeDocument/2006/relationships/tags" Target="../tags/tag49.xml"/><Relationship Id="rId36" Type="http://schemas.openxmlformats.org/officeDocument/2006/relationships/oleObject" Target="../embeddings/oleObject5.bin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31" Type="http://schemas.openxmlformats.org/officeDocument/2006/relationships/tags" Target="../tags/tag52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tags" Target="../tags/tag43.xml"/><Relationship Id="rId27" Type="http://schemas.openxmlformats.org/officeDocument/2006/relationships/tags" Target="../tags/tag48.xml"/><Relationship Id="rId30" Type="http://schemas.openxmlformats.org/officeDocument/2006/relationships/tags" Target="../tags/tag51.xml"/><Relationship Id="rId35" Type="http://schemas.openxmlformats.org/officeDocument/2006/relationships/notesSlide" Target="../notesSlides/notesSlide4.xml"/><Relationship Id="rId8" Type="http://schemas.openxmlformats.org/officeDocument/2006/relationships/tags" Target="../tags/tag29.xml"/><Relationship Id="rId3" Type="http://schemas.openxmlformats.org/officeDocument/2006/relationships/tags" Target="../tags/tag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tags" Target="../tags/tag58.xml"/><Relationship Id="rId21" Type="http://schemas.openxmlformats.org/officeDocument/2006/relationships/image" Target="../media/image18.png"/><Relationship Id="rId7" Type="http://schemas.openxmlformats.org/officeDocument/2006/relationships/tags" Target="../tags/tag62.xm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tags" Target="../tags/tag57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8.emf"/><Relationship Id="rId5" Type="http://schemas.openxmlformats.org/officeDocument/2006/relationships/tags" Target="../tags/tag60.xml"/><Relationship Id="rId15" Type="http://schemas.openxmlformats.org/officeDocument/2006/relationships/image" Target="../media/image12.png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6.png"/><Relationship Id="rId4" Type="http://schemas.openxmlformats.org/officeDocument/2006/relationships/tags" Target="../tags/tag59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8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7.emf"/><Relationship Id="rId10" Type="http://schemas.openxmlformats.org/officeDocument/2006/relationships/image" Target="../media/image22.png"/><Relationship Id="rId4" Type="http://schemas.openxmlformats.org/officeDocument/2006/relationships/oleObject" Target="../embeddings/oleObject9.bin"/><Relationship Id="rId9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77.xml"/><Relationship Id="rId18" Type="http://schemas.openxmlformats.org/officeDocument/2006/relationships/tags" Target="../tags/tag82.xml"/><Relationship Id="rId26" Type="http://schemas.openxmlformats.org/officeDocument/2006/relationships/tags" Target="../tags/tag90.xml"/><Relationship Id="rId39" Type="http://schemas.openxmlformats.org/officeDocument/2006/relationships/tags" Target="../tags/tag103.xml"/><Relationship Id="rId21" Type="http://schemas.openxmlformats.org/officeDocument/2006/relationships/tags" Target="../tags/tag85.xml"/><Relationship Id="rId34" Type="http://schemas.openxmlformats.org/officeDocument/2006/relationships/tags" Target="../tags/tag98.xml"/><Relationship Id="rId42" Type="http://schemas.openxmlformats.org/officeDocument/2006/relationships/tags" Target="../tags/tag106.xml"/><Relationship Id="rId47" Type="http://schemas.openxmlformats.org/officeDocument/2006/relationships/image" Target="../media/image7.emf"/><Relationship Id="rId50" Type="http://schemas.openxmlformats.org/officeDocument/2006/relationships/chart" Target="../charts/chart8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29" Type="http://schemas.openxmlformats.org/officeDocument/2006/relationships/tags" Target="../tags/tag93.xml"/><Relationship Id="rId11" Type="http://schemas.openxmlformats.org/officeDocument/2006/relationships/tags" Target="../tags/tag75.xml"/><Relationship Id="rId24" Type="http://schemas.openxmlformats.org/officeDocument/2006/relationships/tags" Target="../tags/tag88.xml"/><Relationship Id="rId32" Type="http://schemas.openxmlformats.org/officeDocument/2006/relationships/tags" Target="../tags/tag96.xml"/><Relationship Id="rId37" Type="http://schemas.openxmlformats.org/officeDocument/2006/relationships/tags" Target="../tags/tag101.xml"/><Relationship Id="rId40" Type="http://schemas.openxmlformats.org/officeDocument/2006/relationships/tags" Target="../tags/tag104.xml"/><Relationship Id="rId45" Type="http://schemas.openxmlformats.org/officeDocument/2006/relationships/notesSlide" Target="../notesSlides/notesSlide9.xml"/><Relationship Id="rId53" Type="http://schemas.microsoft.com/office/2007/relationships/hdphoto" Target="../media/hdphoto1.wdp"/><Relationship Id="rId5" Type="http://schemas.openxmlformats.org/officeDocument/2006/relationships/tags" Target="../tags/tag69.xml"/><Relationship Id="rId10" Type="http://schemas.openxmlformats.org/officeDocument/2006/relationships/tags" Target="../tags/tag74.xml"/><Relationship Id="rId19" Type="http://schemas.openxmlformats.org/officeDocument/2006/relationships/tags" Target="../tags/tag83.xml"/><Relationship Id="rId31" Type="http://schemas.openxmlformats.org/officeDocument/2006/relationships/tags" Target="../tags/tag95.xml"/><Relationship Id="rId44" Type="http://schemas.openxmlformats.org/officeDocument/2006/relationships/slideLayout" Target="../slideLayouts/slideLayout2.xml"/><Relationship Id="rId52" Type="http://schemas.openxmlformats.org/officeDocument/2006/relationships/image" Target="../media/image20.png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Relationship Id="rId22" Type="http://schemas.openxmlformats.org/officeDocument/2006/relationships/tags" Target="../tags/tag86.xml"/><Relationship Id="rId27" Type="http://schemas.openxmlformats.org/officeDocument/2006/relationships/tags" Target="../tags/tag91.xml"/><Relationship Id="rId30" Type="http://schemas.openxmlformats.org/officeDocument/2006/relationships/tags" Target="../tags/tag94.xml"/><Relationship Id="rId35" Type="http://schemas.openxmlformats.org/officeDocument/2006/relationships/tags" Target="../tags/tag99.xml"/><Relationship Id="rId43" Type="http://schemas.openxmlformats.org/officeDocument/2006/relationships/tags" Target="../tags/tag107.xml"/><Relationship Id="rId48" Type="http://schemas.openxmlformats.org/officeDocument/2006/relationships/chart" Target="../charts/chart6.xml"/><Relationship Id="rId8" Type="http://schemas.openxmlformats.org/officeDocument/2006/relationships/tags" Target="../tags/tag72.xml"/><Relationship Id="rId51" Type="http://schemas.openxmlformats.org/officeDocument/2006/relationships/chart" Target="../charts/chart9.xml"/><Relationship Id="rId3" Type="http://schemas.openxmlformats.org/officeDocument/2006/relationships/tags" Target="../tags/tag67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5" Type="http://schemas.openxmlformats.org/officeDocument/2006/relationships/tags" Target="../tags/tag89.xml"/><Relationship Id="rId33" Type="http://schemas.openxmlformats.org/officeDocument/2006/relationships/tags" Target="../tags/tag97.xml"/><Relationship Id="rId38" Type="http://schemas.openxmlformats.org/officeDocument/2006/relationships/tags" Target="../tags/tag102.xml"/><Relationship Id="rId46" Type="http://schemas.openxmlformats.org/officeDocument/2006/relationships/oleObject" Target="../embeddings/oleObject10.bin"/><Relationship Id="rId20" Type="http://schemas.openxmlformats.org/officeDocument/2006/relationships/tags" Target="../tags/tag84.xml"/><Relationship Id="rId41" Type="http://schemas.openxmlformats.org/officeDocument/2006/relationships/tags" Target="../tags/tag105.xml"/><Relationship Id="rId54" Type="http://schemas.openxmlformats.org/officeDocument/2006/relationships/image" Target="../media/image23.png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5" Type="http://schemas.openxmlformats.org/officeDocument/2006/relationships/tags" Target="../tags/tag79.xml"/><Relationship Id="rId23" Type="http://schemas.openxmlformats.org/officeDocument/2006/relationships/tags" Target="../tags/tag87.xml"/><Relationship Id="rId28" Type="http://schemas.openxmlformats.org/officeDocument/2006/relationships/tags" Target="../tags/tag92.xml"/><Relationship Id="rId36" Type="http://schemas.openxmlformats.org/officeDocument/2006/relationships/tags" Target="../tags/tag100.xml"/><Relationship Id="rId49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24.png"/><Relationship Id="rId12" Type="http://schemas.openxmlformats.org/officeDocument/2006/relationships/image" Target="../media/image2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Relationship Id="rId6" Type="http://schemas.openxmlformats.org/officeDocument/2006/relationships/image" Target="../media/image13.png"/><Relationship Id="rId11" Type="http://schemas.openxmlformats.org/officeDocument/2006/relationships/image" Target="../media/image28.png"/><Relationship Id="rId5" Type="http://schemas.openxmlformats.org/officeDocument/2006/relationships/image" Target="../media/image12.png"/><Relationship Id="rId15" Type="http://schemas.openxmlformats.org/officeDocument/2006/relationships/image" Target="../media/image32.png"/><Relationship Id="rId10" Type="http://schemas.openxmlformats.org/officeDocument/2006/relationships/image" Target="../media/image27.jpeg"/><Relationship Id="rId4" Type="http://schemas.openxmlformats.org/officeDocument/2006/relationships/image" Target="../media/image7.emf"/><Relationship Id="rId9" Type="http://schemas.openxmlformats.org/officeDocument/2006/relationships/image" Target="../media/image26.png"/><Relationship Id="rId1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4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Relationship Id="rId6" Type="http://schemas.openxmlformats.org/officeDocument/2006/relationships/image" Target="../media/image3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notesSlide" Target="../notesSlides/notesSlide12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Relationship Id="rId6" Type="http://schemas.openxmlformats.org/officeDocument/2006/relationships/image" Target="../media/image37.png"/><Relationship Id="rId11" Type="http://schemas.microsoft.com/office/2007/relationships/hdphoto" Target="../media/hdphoto5.wdp"/><Relationship Id="rId5" Type="http://schemas.openxmlformats.org/officeDocument/2006/relationships/image" Target="../media/image7.emf"/><Relationship Id="rId10" Type="http://schemas.openxmlformats.org/officeDocument/2006/relationships/image" Target="../media/image40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image" Target="../media/image41.png"/><Relationship Id="rId18" Type="http://schemas.openxmlformats.org/officeDocument/2006/relationships/image" Target="../media/image16.png"/><Relationship Id="rId3" Type="http://schemas.openxmlformats.org/officeDocument/2006/relationships/tags" Target="../tags/tag114.xml"/><Relationship Id="rId21" Type="http://schemas.openxmlformats.org/officeDocument/2006/relationships/image" Target="../media/image46.jpeg"/><Relationship Id="rId7" Type="http://schemas.openxmlformats.org/officeDocument/2006/relationships/tags" Target="../tags/tag118.xml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tags" Target="../tags/tag113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image" Target="../media/image7.emf"/><Relationship Id="rId24" Type="http://schemas.openxmlformats.org/officeDocument/2006/relationships/image" Target="../media/image49.jpeg"/><Relationship Id="rId5" Type="http://schemas.openxmlformats.org/officeDocument/2006/relationships/tags" Target="../tags/tag116.xml"/><Relationship Id="rId15" Type="http://schemas.openxmlformats.org/officeDocument/2006/relationships/image" Target="../media/image43.png"/><Relationship Id="rId23" Type="http://schemas.openxmlformats.org/officeDocument/2006/relationships/image" Target="../media/image48.png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45.png"/><Relationship Id="rId4" Type="http://schemas.openxmlformats.org/officeDocument/2006/relationships/tags" Target="../tags/tag115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42.jpeg"/><Relationship Id="rId22" Type="http://schemas.openxmlformats.org/officeDocument/2006/relationships/image" Target="../media/image47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image" Target="../media/image41.png"/><Relationship Id="rId18" Type="http://schemas.openxmlformats.org/officeDocument/2006/relationships/image" Target="../media/image16.png"/><Relationship Id="rId3" Type="http://schemas.openxmlformats.org/officeDocument/2006/relationships/tags" Target="../tags/tag122.xml"/><Relationship Id="rId21" Type="http://schemas.openxmlformats.org/officeDocument/2006/relationships/image" Target="../media/image46.jpeg"/><Relationship Id="rId7" Type="http://schemas.openxmlformats.org/officeDocument/2006/relationships/tags" Target="../tags/tag126.xml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tags" Target="../tags/tag121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image" Target="../media/image7.emf"/><Relationship Id="rId24" Type="http://schemas.openxmlformats.org/officeDocument/2006/relationships/image" Target="../media/image49.jpeg"/><Relationship Id="rId5" Type="http://schemas.openxmlformats.org/officeDocument/2006/relationships/tags" Target="../tags/tag124.xml"/><Relationship Id="rId15" Type="http://schemas.openxmlformats.org/officeDocument/2006/relationships/image" Target="../media/image43.png"/><Relationship Id="rId23" Type="http://schemas.openxmlformats.org/officeDocument/2006/relationships/image" Target="../media/image48.png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45.png"/><Relationship Id="rId4" Type="http://schemas.openxmlformats.org/officeDocument/2006/relationships/tags" Target="../tags/tag123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42.jpeg"/><Relationship Id="rId22" Type="http://schemas.openxmlformats.org/officeDocument/2006/relationships/image" Target="../media/image47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Relationship Id="rId6" Type="http://schemas.openxmlformats.org/officeDocument/2006/relationships/image" Target="../media/image50.png"/><Relationship Id="rId5" Type="http://schemas.openxmlformats.org/officeDocument/2006/relationships/image" Target="../media/image8.emf"/><Relationship Id="rId10" Type="http://schemas.openxmlformats.org/officeDocument/2006/relationships/image" Target="../media/image18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Relationship Id="rId6" Type="http://schemas.openxmlformats.org/officeDocument/2006/relationships/image" Target="../media/image52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chart" Target="../charts/chart11.xml"/><Relationship Id="rId18" Type="http://schemas.openxmlformats.org/officeDocument/2006/relationships/image" Target="../media/image18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54.svg"/><Relationship Id="rId12" Type="http://schemas.openxmlformats.org/officeDocument/2006/relationships/image" Target="../media/image58.png"/><Relationship Id="rId17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20" Type="http://schemas.openxmlformats.org/officeDocument/2006/relationships/chart" Target="../charts/chart13.xml"/><Relationship Id="rId1" Type="http://schemas.openxmlformats.org/officeDocument/2006/relationships/tags" Target="../tags/tag130.xml"/><Relationship Id="rId6" Type="http://schemas.openxmlformats.org/officeDocument/2006/relationships/image" Target="../media/image53.png"/><Relationship Id="rId11" Type="http://schemas.openxmlformats.org/officeDocument/2006/relationships/image" Target="../media/image57.png"/><Relationship Id="rId5" Type="http://schemas.openxmlformats.org/officeDocument/2006/relationships/image" Target="../media/image8.emf"/><Relationship Id="rId15" Type="http://schemas.openxmlformats.org/officeDocument/2006/relationships/image" Target="../media/image14.png"/><Relationship Id="rId10" Type="http://schemas.openxmlformats.org/officeDocument/2006/relationships/chart" Target="../charts/chart10.xml"/><Relationship Id="rId19" Type="http://schemas.openxmlformats.org/officeDocument/2006/relationships/image" Target="../media/image60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56.svg"/><Relationship Id="rId14" Type="http://schemas.openxmlformats.org/officeDocument/2006/relationships/chart" Target="../charts/char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45.png"/><Relationship Id="rId18" Type="http://schemas.openxmlformats.org/officeDocument/2006/relationships/image" Target="../media/image64.png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image" Target="../media/image16.png"/><Relationship Id="rId17" Type="http://schemas.openxmlformats.org/officeDocument/2006/relationships/image" Target="../media/image63.png"/><Relationship Id="rId2" Type="http://schemas.openxmlformats.org/officeDocument/2006/relationships/tags" Target="../tags/tag132.xml"/><Relationship Id="rId16" Type="http://schemas.openxmlformats.org/officeDocument/2006/relationships/image" Target="../media/image62.jpeg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image" Target="../media/image8.emf"/><Relationship Id="rId5" Type="http://schemas.openxmlformats.org/officeDocument/2006/relationships/tags" Target="../tags/tag135.xml"/><Relationship Id="rId15" Type="http://schemas.openxmlformats.org/officeDocument/2006/relationships/image" Target="../media/image61.png"/><Relationship Id="rId10" Type="http://schemas.openxmlformats.org/officeDocument/2006/relationships/oleObject" Target="../embeddings/oleObject19.bin"/><Relationship Id="rId4" Type="http://schemas.openxmlformats.org/officeDocument/2006/relationships/tags" Target="../tags/tag134.xml"/><Relationship Id="rId9" Type="http://schemas.openxmlformats.org/officeDocument/2006/relationships/notesSlide" Target="../notesSlides/notesSlide16.xml"/><Relationship Id="rId1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Relationship Id="rId4" Type="http://schemas.openxmlformats.org/officeDocument/2006/relationships/image" Target="../media/image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3.png"/><Relationship Id="rId1" Type="http://schemas.openxmlformats.org/officeDocument/2006/relationships/tags" Target="../tags/tag139.xml"/><Relationship Id="rId6" Type="http://schemas.openxmlformats.org/officeDocument/2006/relationships/image" Target="../media/image65.png"/><Relationship Id="rId11" Type="http://schemas.openxmlformats.org/officeDocument/2006/relationships/image" Target="../media/image68.png"/><Relationship Id="rId5" Type="http://schemas.openxmlformats.org/officeDocument/2006/relationships/image" Target="../media/image8.emf"/><Relationship Id="rId15" Type="http://schemas.openxmlformats.org/officeDocument/2006/relationships/image" Target="../media/image72.png"/><Relationship Id="rId10" Type="http://schemas.openxmlformats.org/officeDocument/2006/relationships/image" Target="../media/image51.png"/><Relationship Id="rId19" Type="http://schemas.openxmlformats.org/officeDocument/2006/relationships/image" Target="../media/image76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67.png"/><Relationship Id="rId14" Type="http://schemas.openxmlformats.org/officeDocument/2006/relationships/image" Target="../media/image71.jpe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png"/><Relationship Id="rId18" Type="http://schemas.openxmlformats.org/officeDocument/2006/relationships/image" Target="../media/image86.png"/><Relationship Id="rId26" Type="http://schemas.openxmlformats.org/officeDocument/2006/relationships/image" Target="../media/image93.png"/><Relationship Id="rId39" Type="http://schemas.openxmlformats.org/officeDocument/2006/relationships/image" Target="../media/image105.png"/><Relationship Id="rId21" Type="http://schemas.openxmlformats.org/officeDocument/2006/relationships/image" Target="../media/image89.png"/><Relationship Id="rId34" Type="http://schemas.openxmlformats.org/officeDocument/2006/relationships/image" Target="../media/image100.png"/><Relationship Id="rId42" Type="http://schemas.openxmlformats.org/officeDocument/2006/relationships/image" Target="../media/image108.png"/><Relationship Id="rId47" Type="http://schemas.openxmlformats.org/officeDocument/2006/relationships/image" Target="../media/image112.png"/><Relationship Id="rId50" Type="http://schemas.openxmlformats.org/officeDocument/2006/relationships/image" Target="../media/image115.png"/><Relationship Id="rId55" Type="http://schemas.openxmlformats.org/officeDocument/2006/relationships/image" Target="../media/image120.png"/><Relationship Id="rId63" Type="http://schemas.openxmlformats.org/officeDocument/2006/relationships/image" Target="../media/image128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png"/><Relationship Id="rId29" Type="http://schemas.openxmlformats.org/officeDocument/2006/relationships/image" Target="../media/image96.png"/><Relationship Id="rId11" Type="http://schemas.openxmlformats.org/officeDocument/2006/relationships/image" Target="../media/image81.png"/><Relationship Id="rId24" Type="http://schemas.openxmlformats.org/officeDocument/2006/relationships/image" Target="../media/image91.png"/><Relationship Id="rId32" Type="http://schemas.openxmlformats.org/officeDocument/2006/relationships/image" Target="../media/image67.png"/><Relationship Id="rId37" Type="http://schemas.openxmlformats.org/officeDocument/2006/relationships/image" Target="../media/image103.png"/><Relationship Id="rId40" Type="http://schemas.openxmlformats.org/officeDocument/2006/relationships/image" Target="../media/image106.png"/><Relationship Id="rId45" Type="http://schemas.openxmlformats.org/officeDocument/2006/relationships/image" Target="../media/image110.png"/><Relationship Id="rId53" Type="http://schemas.openxmlformats.org/officeDocument/2006/relationships/image" Target="../media/image118.png"/><Relationship Id="rId58" Type="http://schemas.openxmlformats.org/officeDocument/2006/relationships/image" Target="../media/image123.png"/><Relationship Id="rId5" Type="http://schemas.openxmlformats.org/officeDocument/2006/relationships/image" Target="../media/image77.png"/><Relationship Id="rId61" Type="http://schemas.openxmlformats.org/officeDocument/2006/relationships/image" Target="../media/image126.png"/><Relationship Id="rId19" Type="http://schemas.openxmlformats.org/officeDocument/2006/relationships/image" Target="../media/image87.png"/><Relationship Id="rId14" Type="http://schemas.openxmlformats.org/officeDocument/2006/relationships/image" Target="../media/image83.png"/><Relationship Id="rId22" Type="http://schemas.openxmlformats.org/officeDocument/2006/relationships/image" Target="../media/image66.png"/><Relationship Id="rId27" Type="http://schemas.openxmlformats.org/officeDocument/2006/relationships/image" Target="../media/image94.png"/><Relationship Id="rId30" Type="http://schemas.openxmlformats.org/officeDocument/2006/relationships/image" Target="../media/image97.png"/><Relationship Id="rId35" Type="http://schemas.openxmlformats.org/officeDocument/2006/relationships/image" Target="../media/image101.png"/><Relationship Id="rId43" Type="http://schemas.openxmlformats.org/officeDocument/2006/relationships/image" Target="../media/image51.png"/><Relationship Id="rId48" Type="http://schemas.openxmlformats.org/officeDocument/2006/relationships/image" Target="../media/image113.png"/><Relationship Id="rId56" Type="http://schemas.openxmlformats.org/officeDocument/2006/relationships/image" Target="../media/image121.png"/><Relationship Id="rId8" Type="http://schemas.openxmlformats.org/officeDocument/2006/relationships/image" Target="../media/image79.png"/><Relationship Id="rId51" Type="http://schemas.openxmlformats.org/officeDocument/2006/relationships/image" Target="../media/image116.png"/><Relationship Id="rId3" Type="http://schemas.openxmlformats.org/officeDocument/2006/relationships/oleObject" Target="../embeddings/oleObject22.bin"/><Relationship Id="rId12" Type="http://schemas.openxmlformats.org/officeDocument/2006/relationships/image" Target="../media/image65.png"/><Relationship Id="rId17" Type="http://schemas.openxmlformats.org/officeDocument/2006/relationships/image" Target="../media/image85.png"/><Relationship Id="rId25" Type="http://schemas.openxmlformats.org/officeDocument/2006/relationships/image" Target="../media/image92.png"/><Relationship Id="rId33" Type="http://schemas.openxmlformats.org/officeDocument/2006/relationships/image" Target="../media/image99.png"/><Relationship Id="rId38" Type="http://schemas.openxmlformats.org/officeDocument/2006/relationships/image" Target="../media/image104.png"/><Relationship Id="rId46" Type="http://schemas.openxmlformats.org/officeDocument/2006/relationships/image" Target="../media/image111.png"/><Relationship Id="rId59" Type="http://schemas.openxmlformats.org/officeDocument/2006/relationships/image" Target="../media/image124.png"/><Relationship Id="rId20" Type="http://schemas.openxmlformats.org/officeDocument/2006/relationships/image" Target="../media/image88.png"/><Relationship Id="rId41" Type="http://schemas.openxmlformats.org/officeDocument/2006/relationships/image" Target="../media/image107.png"/><Relationship Id="rId54" Type="http://schemas.openxmlformats.org/officeDocument/2006/relationships/image" Target="../media/image119.png"/><Relationship Id="rId62" Type="http://schemas.openxmlformats.org/officeDocument/2006/relationships/image" Target="../media/image127.png"/><Relationship Id="rId1" Type="http://schemas.openxmlformats.org/officeDocument/2006/relationships/tags" Target="../tags/tag140.xml"/><Relationship Id="rId6" Type="http://schemas.openxmlformats.org/officeDocument/2006/relationships/image" Target="../media/image78.png"/><Relationship Id="rId15" Type="http://schemas.openxmlformats.org/officeDocument/2006/relationships/image" Target="../media/image84.png"/><Relationship Id="rId23" Type="http://schemas.openxmlformats.org/officeDocument/2006/relationships/image" Target="../media/image90.png"/><Relationship Id="rId28" Type="http://schemas.openxmlformats.org/officeDocument/2006/relationships/image" Target="../media/image95.png"/><Relationship Id="rId36" Type="http://schemas.openxmlformats.org/officeDocument/2006/relationships/image" Target="../media/image102.png"/><Relationship Id="rId49" Type="http://schemas.openxmlformats.org/officeDocument/2006/relationships/image" Target="../media/image114.png"/><Relationship Id="rId57" Type="http://schemas.openxmlformats.org/officeDocument/2006/relationships/image" Target="../media/image122.png"/><Relationship Id="rId10" Type="http://schemas.openxmlformats.org/officeDocument/2006/relationships/image" Target="../media/image80.png"/><Relationship Id="rId31" Type="http://schemas.openxmlformats.org/officeDocument/2006/relationships/image" Target="../media/image98.png"/><Relationship Id="rId44" Type="http://schemas.openxmlformats.org/officeDocument/2006/relationships/image" Target="../media/image109.png"/><Relationship Id="rId52" Type="http://schemas.openxmlformats.org/officeDocument/2006/relationships/image" Target="../media/image117.png"/><Relationship Id="rId60" Type="http://schemas.openxmlformats.org/officeDocument/2006/relationships/image" Target="../media/image125.png"/><Relationship Id="rId4" Type="http://schemas.openxmlformats.org/officeDocument/2006/relationships/image" Target="../media/image8.emf"/><Relationship Id="rId9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22597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2025/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08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4925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04" imgH="405" progId="TCLayout.ActiveDocument.1">
                  <p:embed/>
                </p:oleObj>
              </mc:Choice>
              <mc:Fallback>
                <p:oleObj name="think-cell 幻灯片" r:id="rId1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图表 169">
            <a:extLst>
              <a:ext uri="{FF2B5EF4-FFF2-40B4-BE49-F238E27FC236}">
                <a16:creationId xmlns:a16="http://schemas.microsoft.com/office/drawing/2014/main" id="{1987FD83-4562-496F-1F5C-FF0AE6A9FE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4729566"/>
              </p:ext>
            </p:extLst>
          </p:nvPr>
        </p:nvGraphicFramePr>
        <p:xfrm>
          <a:off x="6586723" y="2583928"/>
          <a:ext cx="4398145" cy="370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91" name="矩形 90">
            <a:extLst>
              <a:ext uri="{FF2B5EF4-FFF2-40B4-BE49-F238E27FC236}">
                <a16:creationId xmlns:a16="http://schemas.microsoft.com/office/drawing/2014/main" id="{2A75B2E2-D37D-930E-3B33-EF1FA065535C}"/>
              </a:ext>
            </a:extLst>
          </p:cNvPr>
          <p:cNvSpPr/>
          <p:nvPr/>
        </p:nvSpPr>
        <p:spPr>
          <a:xfrm>
            <a:off x="7245978" y="2370863"/>
            <a:ext cx="3543325" cy="1748238"/>
          </a:xfrm>
          <a:prstGeom prst="rect">
            <a:avLst/>
          </a:prstGeom>
          <a:solidFill>
            <a:srgbClr val="C1E1FE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1C27984-14BA-3117-3032-E80831A01721}"/>
              </a:ext>
            </a:extLst>
          </p:cNvPr>
          <p:cNvSpPr/>
          <p:nvPr/>
        </p:nvSpPr>
        <p:spPr>
          <a:xfrm>
            <a:off x="7204719" y="4149805"/>
            <a:ext cx="3584584" cy="1368023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6617" y="332572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光互连</a:t>
            </a: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EEB2B4E0-7BAA-AEAB-AF03-71285B868F3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252353" y="2833483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lt"/>
                <a:ea typeface="+mn-ea"/>
                <a:cs typeface="+mn-ea"/>
                <a:sym typeface="+mn-lt"/>
              </a:rPr>
              <a:t>上限</a:t>
            </a:r>
            <a:r>
              <a:rPr lang="en-US" altLang="zh-CN" sz="1200" dirty="0">
                <a:latin typeface="+mn-lt"/>
                <a:ea typeface="+mn-ea"/>
                <a:cs typeface="+mn-ea"/>
                <a:sym typeface="+mn-lt"/>
              </a:rPr>
              <a:t>1.6Tbp/s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atin typeface="+mn-lt"/>
                <a:ea typeface="+mn-ea"/>
                <a:cs typeface="+mn-ea"/>
                <a:sym typeface="+mn-lt"/>
              </a:rPr>
              <a:t>可插拔光模块</a:t>
            </a:r>
            <a:endParaRPr lang="en-US" altLang="zh-CN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F7E52F83-B906-C63C-D683-335A742EE24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252353" y="2428571"/>
            <a:ext cx="1231792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lt"/>
                <a:ea typeface="+mn-ea"/>
                <a:cs typeface="+mn-ea"/>
                <a:sym typeface="+mn-lt"/>
              </a:rPr>
              <a:t>上限</a:t>
            </a:r>
            <a:r>
              <a:rPr lang="en-US" altLang="zh-CN" sz="1200" dirty="0">
                <a:latin typeface="+mn-lt"/>
                <a:ea typeface="+mn-ea"/>
                <a:cs typeface="+mn-ea"/>
                <a:sym typeface="+mn-lt"/>
              </a:rPr>
              <a:t>6.4Tbp/s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lt"/>
                <a:ea typeface="+mn-ea"/>
                <a:cs typeface="+mn-ea"/>
                <a:sym typeface="+mn-lt"/>
              </a:rPr>
              <a:t>CPO</a:t>
            </a: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10962789" y="460960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铜互连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B3E2BD4A-657D-A020-D137-31054771F2F9}"/>
              </a:ext>
            </a:extLst>
          </p:cNvPr>
          <p:cNvCxnSpPr>
            <a:cxnSpLocks/>
          </p:cNvCxnSpPr>
          <p:nvPr/>
        </p:nvCxnSpPr>
        <p:spPr>
          <a:xfrm>
            <a:off x="7314725" y="2762164"/>
            <a:ext cx="337948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铜互连速率成为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算力释放瓶颈，光互连突破速率极限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95404" y="599016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网卡带宽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：有效传输速率，保证误码率不超过可用临界值的稳定传输速率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单通道触达</a:t>
            </a:r>
            <a:r>
              <a:rPr kumimoji="1" lang="zh-CN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铜互连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有效</a:t>
            </a:r>
            <a:r>
              <a:rPr kumimoji="1" lang="zh-CN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传输速率</a:t>
            </a:r>
            <a:r>
              <a:rPr kumimoji="1" lang="en-US" altLang="zh-CN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极限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224Gbps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，光互连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&gt;800Gbp/s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可支持算力扩充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297035" y="474013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H100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7420040" y="506999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A100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9150041" y="421028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B100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BF7C0A-CA93-B1DB-60ED-1D840E44339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552697"/>
              </p:ext>
            </p:extLst>
          </p:nvPr>
        </p:nvGraphicFramePr>
        <p:xfrm>
          <a:off x="406016" y="2028367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铜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光：传输速率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224Gbps =&gt; 800Gbps+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通信速率：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基于铜互连的通信速率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4x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，落后于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算力增幅，通信速率成为集群算力瓶颈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362654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推理算力</a:t>
            </a:r>
            <a:endParaRPr kumimoji="1"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32x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5003514" y="4092392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chemeClr val="accent5"/>
                </a:solidFill>
                <a:cs typeface="+mn-ea"/>
                <a:sym typeface="+mn-lt"/>
              </a:rPr>
              <a:t>训练算力</a:t>
            </a:r>
            <a:endParaRPr kumimoji="1" lang="en-US" altLang="zh-CN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03514" y="4793295"/>
            <a:ext cx="102870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rgbClr val="0052D9"/>
                </a:solidFill>
                <a:cs typeface="+mn-ea"/>
                <a:sym typeface="+mn-lt"/>
              </a:rPr>
              <a:t>网络带宽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720789" y="2344499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FP4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3235768" y="4075891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354919" y="4338960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516277" y="4400604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679366" y="4597608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95238" y="4696136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</a:t>
            </a:r>
            <a:r>
              <a:rPr kumimoji="1" lang="en-US" altLang="zh-CN" sz="1200" dirty="0" err="1">
                <a:solidFill>
                  <a:schemeClr val="accent5"/>
                </a:solidFill>
                <a:cs typeface="+mn-ea"/>
                <a:sym typeface="+mn-lt"/>
              </a:rPr>
              <a:t>Tflops</a:t>
            </a:r>
            <a:endParaRPr kumimoji="1" lang="en-US" altLang="zh-CN" sz="1200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170117" y="4368991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</a:t>
            </a:r>
            <a:r>
              <a:rPr kumimoji="1" lang="en-US" altLang="zh-CN" sz="1200" dirty="0" err="1">
                <a:solidFill>
                  <a:schemeClr val="accent5"/>
                </a:solidFill>
                <a:cs typeface="+mn-ea"/>
                <a:sym typeface="+mn-lt"/>
              </a:rPr>
              <a:t>Tflops</a:t>
            </a:r>
            <a:endParaRPr kumimoji="1" lang="en-US" altLang="zh-CN" sz="1200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70117" y="5031623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05569" y="5108011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98412" y="51974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9C5F783-6020-FF55-773A-56322875986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7420040" y="452443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3.0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E7945A8-88A7-97FB-E1A1-7881D746439B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076133" y="371917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5.0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6B069D73-4078-A6F3-4081-998A04DE515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8264640" y="410624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4.0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B0E99A9-0CF8-651E-AF1C-431C57E5D7E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9994099" y="371917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6.0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9985817" y="421028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Rubin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3892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专家访谈、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Microsoft Research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4" y="1459243"/>
            <a:ext cx="492862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机柜间互连距离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，万卡集群千米级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223912"/>
            <a:ext cx="4919043" cy="1112155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铜互连的极限是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2.5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米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-3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米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，因此铜互连能承载的集群上限大约是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万卡规模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A05983-BC9A-C222-BB48-2B7148A3E89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438272-DD80-325F-F941-5CEC1B69D10D}"/>
              </a:ext>
            </a:extLst>
          </p:cNvPr>
          <p:cNvSpPr/>
          <p:nvPr/>
        </p:nvSpPr>
        <p:spPr>
          <a:xfrm>
            <a:off x="13063447" y="2218327"/>
            <a:ext cx="4445496" cy="930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归因不用那么细，归因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check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3"/>
            <a:endCxn id="3681" idx="3"/>
          </p:cNvCxnSpPr>
          <p:nvPr/>
        </p:nvCxnSpPr>
        <p:spPr>
          <a:xfrm>
            <a:off x="3750646" y="2936414"/>
            <a:ext cx="12700" cy="2416207"/>
          </a:xfrm>
          <a:prstGeom prst="bentConnector3">
            <a:avLst>
              <a:gd name="adj1" fmla="val 39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01" name="组合 3700">
            <a:extLst>
              <a:ext uri="{FF2B5EF4-FFF2-40B4-BE49-F238E27FC236}">
                <a16:creationId xmlns:a16="http://schemas.microsoft.com/office/drawing/2014/main" id="{AB83E71C-3E91-228C-61D0-151F9FC1C746}"/>
              </a:ext>
            </a:extLst>
          </p:cNvPr>
          <p:cNvGrpSpPr/>
          <p:nvPr/>
        </p:nvGrpSpPr>
        <p:grpSpPr>
          <a:xfrm>
            <a:off x="1136180" y="1889913"/>
            <a:ext cx="2614466" cy="2093001"/>
            <a:chOff x="1226694" y="2091768"/>
            <a:chExt cx="2376970" cy="190287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A2216E7-D054-6911-62F1-6485D495319D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0323601-200F-D610-B725-2585A75D42C9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C59263FE-BD23-D3B9-1040-E7FADE1E688F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F4CBB76F-D749-0385-8424-4155C0662DEC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AB78D5B-48DF-973F-5192-397F55E79838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1EA575A3-1765-6B76-30F7-2A70C9DDF344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DE4AD6F4-43A3-1B09-9A95-C30B6409F240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64496906-EA71-71DB-2065-706EBA29BAF6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015E140-7A1D-7F16-C4EE-332851B5DB38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7CC20260-5585-8F7B-0939-3015A660DE6B}"/>
                </a:ext>
              </a:extLst>
            </p:cNvPr>
            <p:cNvCxnSpPr>
              <a:cxnSpLocks/>
              <a:stCxn id="18" idx="0"/>
              <a:endCxn id="26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84B9174-6976-1A7E-F9FF-3976F29D8BEC}"/>
                </a:ext>
              </a:extLst>
            </p:cNvPr>
            <p:cNvSpPr txBox="1"/>
            <p:nvPr/>
          </p:nvSpPr>
          <p:spPr>
            <a:xfrm>
              <a:off x="1504814" y="2160304"/>
              <a:ext cx="1816564" cy="839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  <a:r>
                <a:rPr lang="zh-CN" altLang="en-US" dirty="0">
                  <a:cs typeface="+mn-ea"/>
                  <a:sym typeface="+mn-lt"/>
                </a:rPr>
                <a:t>（</a:t>
              </a:r>
              <a:r>
                <a:rPr lang="en-US" altLang="zh-CN" dirty="0">
                  <a:cs typeface="+mn-ea"/>
                  <a:sym typeface="+mn-lt"/>
                </a:rPr>
                <a:t>Scale Out</a:t>
              </a:r>
              <a:r>
                <a:rPr lang="zh-CN" altLang="en-US" dirty="0">
                  <a:cs typeface="+mn-ea"/>
                  <a:sym typeface="+mn-lt"/>
                </a:rPr>
                <a:t>）</a:t>
              </a:r>
              <a:endParaRPr lang="en-US" altLang="zh-CN" dirty="0">
                <a:cs typeface="+mn-ea"/>
                <a:sym typeface="+mn-lt"/>
              </a:endParaRP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3680" name="矩形: 圆角 3679">
              <a:extLst>
                <a:ext uri="{FF2B5EF4-FFF2-40B4-BE49-F238E27FC236}">
                  <a16:creationId xmlns:a16="http://schemas.microsoft.com/office/drawing/2014/main" id="{08C830D4-FADA-DEE1-76AB-5CF7450C0330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E017D33-248C-7348-763F-F47A52E406D2}"/>
              </a:ext>
            </a:extLst>
          </p:cNvPr>
          <p:cNvGrpSpPr/>
          <p:nvPr/>
        </p:nvGrpSpPr>
        <p:grpSpPr>
          <a:xfrm>
            <a:off x="1250863" y="4990145"/>
            <a:ext cx="1038358" cy="957617"/>
            <a:chOff x="926656" y="3512102"/>
            <a:chExt cx="944034" cy="87062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E087F5E8-D41E-9D1B-A2DD-72E90944A592}"/>
                </a:ext>
              </a:extLst>
            </p:cNvPr>
            <p:cNvSpPr/>
            <p:nvPr/>
          </p:nvSpPr>
          <p:spPr>
            <a:xfrm>
              <a:off x="926656" y="3512102"/>
              <a:ext cx="944034" cy="87062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30A02888-98A3-9114-4706-90C23E112CF2}"/>
                </a:ext>
              </a:extLst>
            </p:cNvPr>
            <p:cNvSpPr/>
            <p:nvPr/>
          </p:nvSpPr>
          <p:spPr>
            <a:xfrm>
              <a:off x="1065914" y="4001538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F8CAB8A-42A1-DE23-5E1A-AD8334B0C412}"/>
                </a:ext>
              </a:extLst>
            </p:cNvPr>
            <p:cNvSpPr/>
            <p:nvPr/>
          </p:nvSpPr>
          <p:spPr>
            <a:xfrm>
              <a:off x="1065914" y="3667525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C68D6FA-1762-B32E-40FF-2881E4769510}"/>
              </a:ext>
            </a:extLst>
          </p:cNvPr>
          <p:cNvGrpSpPr/>
          <p:nvPr/>
        </p:nvGrpSpPr>
        <p:grpSpPr>
          <a:xfrm>
            <a:off x="2607422" y="4990145"/>
            <a:ext cx="1038358" cy="957617"/>
            <a:chOff x="926656" y="3512102"/>
            <a:chExt cx="944034" cy="870628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880930B2-B29B-AC72-3A35-3275EE335150}"/>
                </a:ext>
              </a:extLst>
            </p:cNvPr>
            <p:cNvSpPr/>
            <p:nvPr/>
          </p:nvSpPr>
          <p:spPr>
            <a:xfrm>
              <a:off x="926656" y="3512102"/>
              <a:ext cx="944034" cy="87062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475BD99-3F1E-7E1F-9391-08F883480FEA}"/>
                </a:ext>
              </a:extLst>
            </p:cNvPr>
            <p:cNvSpPr/>
            <p:nvPr/>
          </p:nvSpPr>
          <p:spPr>
            <a:xfrm>
              <a:off x="1065914" y="4001538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4C827F6-93BB-2D32-C04F-C541CEFF6B23}"/>
                </a:ext>
              </a:extLst>
            </p:cNvPr>
            <p:cNvSpPr/>
            <p:nvPr/>
          </p:nvSpPr>
          <p:spPr>
            <a:xfrm>
              <a:off x="1065914" y="3667525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39FE69A5-72F3-2176-4942-3BE38760A4CB}"/>
              </a:ext>
            </a:extLst>
          </p:cNvPr>
          <p:cNvSpPr txBox="1"/>
          <p:nvPr/>
        </p:nvSpPr>
        <p:spPr>
          <a:xfrm>
            <a:off x="2069849" y="5261323"/>
            <a:ext cx="74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1" name="矩形: 圆角 3680">
            <a:extLst>
              <a:ext uri="{FF2B5EF4-FFF2-40B4-BE49-F238E27FC236}">
                <a16:creationId xmlns:a16="http://schemas.microsoft.com/office/drawing/2014/main" id="{EBE39A50-9430-9AB5-39D4-BB14C062824E}"/>
              </a:ext>
            </a:extLst>
          </p:cNvPr>
          <p:cNvSpPr/>
          <p:nvPr/>
        </p:nvSpPr>
        <p:spPr>
          <a:xfrm>
            <a:off x="1136180" y="4306120"/>
            <a:ext cx="2614466" cy="2093001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4076121" y="3778412"/>
            <a:ext cx="1816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m~km</a:t>
            </a:r>
            <a:endParaRPr lang="zh-CN" altLang="en-US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702" name="连接符: 肘形 3701">
            <a:extLst>
              <a:ext uri="{FF2B5EF4-FFF2-40B4-BE49-F238E27FC236}">
                <a16:creationId xmlns:a16="http://schemas.microsoft.com/office/drawing/2014/main" id="{5CE3D939-1865-66FD-287A-EDCE347EA12A}"/>
              </a:ext>
            </a:extLst>
          </p:cNvPr>
          <p:cNvCxnSpPr>
            <a:cxnSpLocks/>
            <a:stCxn id="30" idx="0"/>
            <a:endCxn id="34" idx="0"/>
          </p:cNvCxnSpPr>
          <p:nvPr/>
        </p:nvCxnSpPr>
        <p:spPr>
          <a:xfrm rot="5400000" flipH="1" flipV="1">
            <a:off x="2448321" y="4311866"/>
            <a:ext cx="12700" cy="1356559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目前通用速率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112Gbps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下，铜互连有效传输距离仅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2.5m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，需采用光互连取代铜互连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859857"/>
              </p:ext>
            </p:extLst>
          </p:nvPr>
        </p:nvGraphicFramePr>
        <p:xfrm>
          <a:off x="6841656" y="2744991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269738" y="221972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有效传输距离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193194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955150" y="3785904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112G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铜互联</a:t>
            </a: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9099655" y="2359032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976311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&gt;&gt;50m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200G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光互联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74103" y="2561802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926685" y="2555976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598684"/>
            <a:ext cx="1629561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553783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596116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铜互连传输距离成为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扩量瓶颈，光互连突破距离极限</a:t>
            </a: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372462" y="649505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：有效传输距离，保证误码率不超过可用临界值的稳定传输距离</a:t>
            </a: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0075095" y="432147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传输速率（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Gbps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铜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光：传输距离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10m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级</a:t>
              </a: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距离：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67088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6" imgW="404" imgH="405" progId="TCLayout.ActiveDocument.1">
                  <p:embed/>
                </p:oleObj>
              </mc:Choice>
              <mc:Fallback>
                <p:oleObj name="think-cell 幻灯片" r:id="rId3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397159" y="1552454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方案：降低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60%+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光模块功耗，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万卡集群整体电费降低数百万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RMB/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261" name="Chart 3">
            <a:extLst>
              <a:ext uri="{FF2B5EF4-FFF2-40B4-BE49-F238E27FC236}">
                <a16:creationId xmlns:a16="http://schemas.microsoft.com/office/drawing/2014/main" id="{60E08A6A-2FF2-73CB-6B93-4B7C75623DB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95829090"/>
              </p:ext>
            </p:extLst>
          </p:nvPr>
        </p:nvGraphicFramePr>
        <p:xfrm>
          <a:off x="6954838" y="2543175"/>
          <a:ext cx="4325937" cy="241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V="1">
            <a:off x="9274175" y="2620963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274175" y="2620963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556875" y="2620962"/>
            <a:ext cx="0" cy="14049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7794625" y="4041775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3-5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897813" y="4808538"/>
            <a:ext cx="190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A78955D-E5A0-49B9-B7E1-CCC82A47AB9E}" type="datetime'铜'''''">
              <a:rPr lang="zh-CN" altLang="en-US" sz="1400" smtClean="0">
                <a:solidFill>
                  <a:srgbClr val="000000"/>
                </a:solidFill>
                <a:cs typeface="+mn-ea"/>
                <a:sym typeface="+mn-lt"/>
              </a:rPr>
              <a:pPr/>
              <a:t>铜</a:t>
            </a:fld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9075738" y="3684588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5-8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734425" y="4808538"/>
            <a:ext cx="1079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1C365C8-0CB0-4B88-9626-3C99A0890C17}" type="datetime'''可''''''''插拔''''''''''''''''光''''模''''块'''''''''''">
              <a:rPr lang="zh-CN" altLang="en-US" sz="1400" smtClean="0">
                <a:solidFill>
                  <a:srgbClr val="000000"/>
                </a:solidFill>
                <a:cs typeface="+mn-ea"/>
                <a:sym typeface="+mn-lt"/>
              </a:rPr>
              <a:pPr/>
              <a:t>可插拔光模块</a:t>
            </a:fld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10364788" y="4270375"/>
            <a:ext cx="3841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800" b="1" smtClean="0">
                <a:solidFill>
                  <a:schemeClr val="tx2"/>
                </a:solidFill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800" b="1" dirty="0">
                <a:solidFill>
                  <a:schemeClr val="tx2"/>
                </a:solidFill>
                <a:effectLst/>
                <a:cs typeface="+mn-ea"/>
                <a:sym typeface="+mn-lt"/>
              </a:rPr>
              <a:t>.4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358439" y="4808538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cs typeface="+mn-ea"/>
                <a:sym typeface="+mn-lt"/>
              </a:rPr>
              <a:pPr/>
              <a:t>CPO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9537699" y="2427288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800" b="1" smtClean="0"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800" b="1" dirty="0">
              <a:cs typeface="+mn-ea"/>
              <a:sym typeface="+mn-lt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781990" y="5152756"/>
            <a:ext cx="5003610" cy="1289682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主要替代传统可插拔光模块，短期不替代铜互连。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功耗降低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70%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33W→9W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），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（交换机）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整体成本降低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，具备明确竞争优势。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英伟达网络方案架构师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B543A-19AC-3561-C18B-2FDB92856FB1}"/>
              </a:ext>
            </a:extLst>
          </p:cNvPr>
          <p:cNvSpPr/>
          <p:nvPr/>
        </p:nvSpPr>
        <p:spPr>
          <a:xfrm>
            <a:off x="11217383" y="608842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262" name="Chart 3">
            <a:extLst>
              <a:ext uri="{FF2B5EF4-FFF2-40B4-BE49-F238E27FC236}">
                <a16:creationId xmlns:a16="http://schemas.microsoft.com/office/drawing/2014/main" id="{24008895-D9E2-6C70-A8FF-44A97D3617B1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753314800"/>
              </p:ext>
            </p:extLst>
          </p:nvPr>
        </p:nvGraphicFramePr>
        <p:xfrm>
          <a:off x="682625" y="2460625"/>
          <a:ext cx="4786313" cy="2735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71BDA12-AEE8-4134-5C60-C6EA46F4A231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5386388" y="4889500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C350DA0-781F-9001-54A5-56F3DBC39223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5386388" y="4465638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D7EB9F4-2DBC-160E-4D54-E65265566121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5386388" y="4040188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D93D83C-858F-8F88-AAB8-6F68D3618D3E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5386388" y="361632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D3C59829-087F-B8B1-F707-6F9BF88AA173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5386388" y="319087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16E45A7-247C-8DC0-B553-0A8E733A01A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5562600" y="47831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0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9B97D8B3-5266-2982-1A1F-9A307773FD81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5562600" y="4359275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6FAF003-FD49-49EC-A5CD-EE15446ABF3A}" type="datetime'''''''''''0''''''''''''.''''''''''''''0''''''''''''2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0.02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4E25710A-4DC0-8907-7590-6CEF0E5A923B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5562600" y="3933825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39CD60-979E-4089-86ED-23B8B68F8E3F}" type="datetime'''''''''''''''''''''''''''''0.''''''''''0''4''''''''''''''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0.04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6C80E67A-470D-8548-FB10-606F145B5E7A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5562600" y="3509963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CB4B8D3-B3CF-4530-BC82-221C78930947}" type="datetime'''''''''''''''''''''''''''''''''''0.0''''''''''''''6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0.06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0467F350-8FBE-C0E8-9D8D-531F456902E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5562600" y="3084513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EFC418C-195B-4165-BB51-73FBADC048E5}" type="datetime'''''''''''''0''.''''''''''''0''''8''''''''''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0.08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5200A85-AF67-5FF8-729C-7A44BBF011F7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5562600" y="26606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effectLst/>
                <a:cs typeface="+mn-ea"/>
                <a:sym typeface="+mn-lt"/>
              </a:rPr>
              <a:t>10%</a:t>
            </a:r>
            <a:endParaRPr lang="zh-CN" altLang="en-US" sz="1400" dirty="0">
              <a:cs typeface="+mn-ea"/>
              <a:sym typeface="+mn-lt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F0CD128-9BD1-B8D7-EA7E-068A7EC90C01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 flipV="1">
            <a:off x="2770188" y="2543175"/>
            <a:ext cx="0" cy="20621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2A43F2C-0E85-4B49-D0A9-9BB8540853B2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 bwMode="auto">
          <a:xfrm>
            <a:off x="2770188" y="2543175"/>
            <a:ext cx="19796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EDF609F-E657-C2FD-4D2E-3AB028971542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4749800" y="2543174"/>
            <a:ext cx="0" cy="19192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7" name="Text Placeholder 4">
            <a:extLst>
              <a:ext uri="{FF2B5EF4-FFF2-40B4-BE49-F238E27FC236}">
                <a16:creationId xmlns:a16="http://schemas.microsoft.com/office/drawing/2014/main" id="{1B137E7D-F8D1-DF59-71D2-9DAF521A528C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2376488" y="4316413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ea"/>
                <a:sym typeface="+mn-lt"/>
              </a:rPr>
              <a:t>1%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050F4A4-ABCB-746C-BD33-7AF4E959EDF5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2212975" y="4948238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D9E166-2607-4DFE-ABC8-C2961A8612B8}" type="datetime'''''''''''''2''0''''''''2''''''''''''2'''''">
              <a:rPr lang="zh-CN" altLang="en-US" sz="1400" smtClean="0">
                <a:cs typeface="+mn-ea"/>
                <a:sym typeface="+mn-lt"/>
              </a:rPr>
              <a:pPr/>
              <a:t>2022</a:t>
            </a:fld>
            <a:endParaRPr lang="zh-CN" altLang="en-US" sz="1400" dirty="0">
              <a:cs typeface="+mn-ea"/>
              <a:sym typeface="+mn-lt"/>
            </a:endParaRPr>
          </a:p>
        </p:txBody>
      </p:sp>
      <p:sp useBgFill="1">
        <p:nvSpPr>
          <p:cNvPr id="20" name="Text Placeholder 4">
            <a:extLst>
              <a:ext uri="{FF2B5EF4-FFF2-40B4-BE49-F238E27FC236}">
                <a16:creationId xmlns:a16="http://schemas.microsoft.com/office/drawing/2014/main" id="{EF9DA3AD-365B-44CB-6ACE-B99CBCF24974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4241800" y="3084513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8%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7BDD456-B124-C560-0DF8-F98741042E38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4192588" y="4948238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CCF0963-CF58-4147-8F99-C875A2430581}" type="datetime'''''2''0''''''2''''''''''8'''">
              <a:rPr lang="zh-CN" altLang="en-US" sz="1400" smtClean="0">
                <a:cs typeface="+mn-ea"/>
                <a:sym typeface="+mn-lt"/>
              </a:rPr>
              <a:pPr/>
              <a:t>2028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C79F64D-9132-1AFA-69C8-A6066192A3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3549650" y="2392363"/>
            <a:ext cx="419100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ea"/>
                <a:sym typeface="+mn-lt"/>
              </a:rPr>
              <a:t>20</a:t>
            </a:r>
            <a:r>
              <a:rPr lang="en-US" altLang="zh-CN" sz="1400" b="1" dirty="0">
                <a:effectLst/>
                <a:cs typeface="+mn-ea"/>
                <a:sym typeface="+mn-lt"/>
              </a:rPr>
              <a:t>x</a:t>
            </a:r>
            <a:endParaRPr lang="zh-CN" altLang="en-US" sz="1400" b="1" dirty="0">
              <a:cs typeface="+mn-ea"/>
              <a:sym typeface="+mn-lt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30601F6-BB29-C5BD-FF3F-CF124258903F}"/>
              </a:ext>
            </a:extLst>
          </p:cNvPr>
          <p:cNvGrpSpPr/>
          <p:nvPr/>
        </p:nvGrpSpPr>
        <p:grpSpPr>
          <a:xfrm>
            <a:off x="762722" y="5525986"/>
            <a:ext cx="1490664" cy="147564"/>
            <a:chOff x="7056423" y="8136268"/>
            <a:chExt cx="1490965" cy="147564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0D6B96B-9FCC-2D3B-A6CB-D2E01750C713}"/>
                </a:ext>
              </a:extLst>
            </p:cNvPr>
            <p:cNvCxnSpPr/>
            <p:nvPr/>
          </p:nvCxnSpPr>
          <p:spPr>
            <a:xfrm>
              <a:off x="7056423" y="8227060"/>
              <a:ext cx="249238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CB6E258-D6B1-5657-55E4-2196B3AC2876}"/>
                </a:ext>
              </a:extLst>
            </p:cNvPr>
            <p:cNvSpPr txBox="1"/>
            <p:nvPr/>
          </p:nvSpPr>
          <p:spPr>
            <a:xfrm>
              <a:off x="7399069" y="8136268"/>
              <a:ext cx="1148319" cy="147564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光模块功耗占比（右轴） 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13C72FB-3311-2BD6-62C0-8221FF098A64}"/>
              </a:ext>
            </a:extLst>
          </p:cNvPr>
          <p:cNvGrpSpPr/>
          <p:nvPr/>
        </p:nvGrpSpPr>
        <p:grpSpPr>
          <a:xfrm>
            <a:off x="2621459" y="5473562"/>
            <a:ext cx="1467302" cy="252413"/>
            <a:chOff x="7119936" y="8370638"/>
            <a:chExt cx="1468517" cy="252413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53150B7-DADE-FE5C-F739-F581D84BE5FA}"/>
                </a:ext>
              </a:extLst>
            </p:cNvPr>
            <p:cNvSpPr txBox="1"/>
            <p:nvPr/>
          </p:nvSpPr>
          <p:spPr>
            <a:xfrm>
              <a:off x="7510927" y="8370638"/>
              <a:ext cx="10775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全球</a:t>
              </a:r>
              <a:r>
                <a:rPr lang="en-US" altLang="zh-CN" sz="1400" dirty="0">
                  <a:cs typeface="+mn-ea"/>
                  <a:sym typeface="+mn-lt"/>
                </a:rPr>
                <a:t>IDC</a:t>
              </a:r>
              <a:r>
                <a:rPr lang="zh-CN" altLang="en-US" sz="1400" dirty="0">
                  <a:cs typeface="+mn-ea"/>
                  <a:sym typeface="+mn-lt"/>
                </a:rPr>
                <a:t>用电量（左轴） 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F604937-B6F7-CB2D-A025-6E7491B8BDE6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DC1B323-BF9F-2AE2-67C3-C56A5BDD6497}"/>
              </a:ext>
            </a:extLst>
          </p:cNvPr>
          <p:cNvGrpSpPr/>
          <p:nvPr/>
        </p:nvGrpSpPr>
        <p:grpSpPr>
          <a:xfrm>
            <a:off x="4456834" y="5452131"/>
            <a:ext cx="1312864" cy="295275"/>
            <a:chOff x="7119936" y="8356358"/>
            <a:chExt cx="1312552" cy="294870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FD540D0-E5E0-E180-C919-307C496DA945}"/>
                </a:ext>
              </a:extLst>
            </p:cNvPr>
            <p:cNvSpPr txBox="1"/>
            <p:nvPr/>
          </p:nvSpPr>
          <p:spPr>
            <a:xfrm>
              <a:off x="7470716" y="8356358"/>
              <a:ext cx="961772" cy="29487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光模块功耗（左轴） 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DBB7B26-19F1-A695-7DEF-D885AF11D420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8F19C2D3-5E9F-DE88-25AF-CCC2D6738615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至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2028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年，预计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光模块能耗占比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1%=&gt;8%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，增长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20x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，成为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能耗重要组成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76F9CD6-3D3D-562C-F111-32376BB40DFF}"/>
              </a:ext>
            </a:extLst>
          </p:cNvPr>
          <p:cNvSpPr txBox="1"/>
          <p:nvPr/>
        </p:nvSpPr>
        <p:spPr>
          <a:xfrm>
            <a:off x="568326" y="2215431"/>
            <a:ext cx="61499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TWh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6388540" y="2235454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单通道功耗（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w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解决可插拔光模块能耗问题</a:t>
            </a:r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3329CC76-C3AA-EDF8-5B5F-E2B4AA273236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EE179372-5D6A-E866-3D02-CC41FA1BEB85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可插拔光模块 </a:t>
              </a:r>
              <a:r>
                <a:rPr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=&gt; CPO</a:t>
              </a:r>
              <a:r>
                <a:rPr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：功耗下降</a:t>
              </a:r>
              <a:r>
                <a:rPr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60%+</a:t>
              </a:r>
              <a:endPara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E492E42F-26BC-586E-DDFB-7A784C29C62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32" name="直线连接符 38">
              <a:extLst>
                <a:ext uri="{FF2B5EF4-FFF2-40B4-BE49-F238E27FC236}">
                  <a16:creationId xmlns:a16="http://schemas.microsoft.com/office/drawing/2014/main" id="{5EE3F395-4CD3-AE72-963B-51836EBFA5E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B53395C7-1F28-C0E5-5F0F-4716C13A71D2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能耗：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34" name="直线连接符 38">
              <a:extLst>
                <a:ext uri="{FF2B5EF4-FFF2-40B4-BE49-F238E27FC236}">
                  <a16:creationId xmlns:a16="http://schemas.microsoft.com/office/drawing/2014/main" id="{50214BAF-0171-18BB-B779-50D92AB69249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4" y="653189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：按照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扩展方案，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组网架构层数计算</a:t>
            </a: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D45EE13-2B26-1D5F-2E19-261ED39E3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9779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BF972847-AA9B-2D36-4351-F2FFBF0E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1450"/>
            <a:ext cx="9677400" cy="731838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互连技术变革：铜互连、可插拔光模块、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OIO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AAA254-D873-7B76-2772-399B02402AC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3FD1E53-9FE0-147D-3B6D-26B62A742416}"/>
              </a:ext>
            </a:extLst>
          </p:cNvPr>
          <p:cNvCxnSpPr>
            <a:cxnSpLocks/>
          </p:cNvCxnSpPr>
          <p:nvPr/>
        </p:nvCxnSpPr>
        <p:spPr>
          <a:xfrm>
            <a:off x="933075" y="5600700"/>
            <a:ext cx="10599420" cy="0"/>
          </a:xfrm>
          <a:prstGeom prst="straightConnector1">
            <a:avLst/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iconfont-1018-792472">
            <a:extLst>
              <a:ext uri="{FF2B5EF4-FFF2-40B4-BE49-F238E27FC236}">
                <a16:creationId xmlns:a16="http://schemas.microsoft.com/office/drawing/2014/main" id="{AC7D3654-D8DA-F367-A98F-9D4BD20E305D}"/>
              </a:ext>
            </a:extLst>
          </p:cNvPr>
          <p:cNvSpPr/>
          <p:nvPr/>
        </p:nvSpPr>
        <p:spPr>
          <a:xfrm>
            <a:off x="1401683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EBE5EBD-4417-3B84-AF2F-A82C6929D7FC}"/>
              </a:ext>
            </a:extLst>
          </p:cNvPr>
          <p:cNvSpPr txBox="1"/>
          <p:nvPr/>
        </p:nvSpPr>
        <p:spPr>
          <a:xfrm>
            <a:off x="1127384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1997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4F8D3D-8527-F7CE-F036-E5FFB83EA138}"/>
              </a:ext>
            </a:extLst>
          </p:cNvPr>
          <p:cNvGrpSpPr/>
          <p:nvPr/>
        </p:nvGrpSpPr>
        <p:grpSpPr>
          <a:xfrm>
            <a:off x="2302741" y="5497808"/>
            <a:ext cx="754380" cy="611102"/>
            <a:chOff x="2302741" y="5497808"/>
            <a:chExt cx="754380" cy="611102"/>
          </a:xfrm>
        </p:grpSpPr>
        <p:sp>
          <p:nvSpPr>
            <p:cNvPr id="100" name="iconfont-1018-792472">
              <a:extLst>
                <a:ext uri="{FF2B5EF4-FFF2-40B4-BE49-F238E27FC236}">
                  <a16:creationId xmlns:a16="http://schemas.microsoft.com/office/drawing/2014/main" id="{C2411CC2-A45F-CCBB-60AE-F895A1A86F5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5F898082-1866-FC02-D6D5-9A1975DC11C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2014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03" name="iconfont-1018-792472">
            <a:extLst>
              <a:ext uri="{FF2B5EF4-FFF2-40B4-BE49-F238E27FC236}">
                <a16:creationId xmlns:a16="http://schemas.microsoft.com/office/drawing/2014/main" id="{B6FABA63-608D-04FD-3BF7-A628FB6A3C18}"/>
              </a:ext>
            </a:extLst>
          </p:cNvPr>
          <p:cNvSpPr/>
          <p:nvPr/>
        </p:nvSpPr>
        <p:spPr>
          <a:xfrm>
            <a:off x="3745240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B7CB96D-3384-4EDE-4C46-BC94184B5E7C}"/>
              </a:ext>
            </a:extLst>
          </p:cNvPr>
          <p:cNvSpPr txBox="1"/>
          <p:nvPr/>
        </p:nvSpPr>
        <p:spPr>
          <a:xfrm>
            <a:off x="3478098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2016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6" name="iconfont-1018-792472">
            <a:extLst>
              <a:ext uri="{FF2B5EF4-FFF2-40B4-BE49-F238E27FC236}">
                <a16:creationId xmlns:a16="http://schemas.microsoft.com/office/drawing/2014/main" id="{F46B675D-898A-3BE2-AD38-072DE7CDBA0A}"/>
              </a:ext>
            </a:extLst>
          </p:cNvPr>
          <p:cNvSpPr/>
          <p:nvPr/>
        </p:nvSpPr>
        <p:spPr>
          <a:xfrm>
            <a:off x="4917019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5A4EF93-B0CF-C1C5-B53B-853F0221E8EB}"/>
              </a:ext>
            </a:extLst>
          </p:cNvPr>
          <p:cNvSpPr txBox="1"/>
          <p:nvPr/>
        </p:nvSpPr>
        <p:spPr>
          <a:xfrm>
            <a:off x="4653455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2018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9" name="iconfont-1018-792472">
            <a:extLst>
              <a:ext uri="{FF2B5EF4-FFF2-40B4-BE49-F238E27FC236}">
                <a16:creationId xmlns:a16="http://schemas.microsoft.com/office/drawing/2014/main" id="{AE3CC971-61BA-E737-E160-334CDA5B2CE2}"/>
              </a:ext>
            </a:extLst>
          </p:cNvPr>
          <p:cNvSpPr/>
          <p:nvPr/>
        </p:nvSpPr>
        <p:spPr>
          <a:xfrm>
            <a:off x="6088797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0983A09-B9E4-988B-357B-FA6275482492}"/>
              </a:ext>
            </a:extLst>
          </p:cNvPr>
          <p:cNvSpPr txBox="1"/>
          <p:nvPr/>
        </p:nvSpPr>
        <p:spPr>
          <a:xfrm>
            <a:off x="5360075" y="5739578"/>
            <a:ext cx="175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2020-2021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2" name="iconfont-1018-792472">
            <a:extLst>
              <a:ext uri="{FF2B5EF4-FFF2-40B4-BE49-F238E27FC236}">
                <a16:creationId xmlns:a16="http://schemas.microsoft.com/office/drawing/2014/main" id="{4BEC9973-D0F5-6716-1698-7BEF33D1C310}"/>
              </a:ext>
            </a:extLst>
          </p:cNvPr>
          <p:cNvSpPr/>
          <p:nvPr/>
        </p:nvSpPr>
        <p:spPr>
          <a:xfrm>
            <a:off x="7260575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E6BD08F-AEDB-0847-80DC-7C0A52669B2F}"/>
              </a:ext>
            </a:extLst>
          </p:cNvPr>
          <p:cNvSpPr txBox="1"/>
          <p:nvPr/>
        </p:nvSpPr>
        <p:spPr>
          <a:xfrm>
            <a:off x="6986276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2023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5" name="iconfont-1018-792472">
            <a:extLst>
              <a:ext uri="{FF2B5EF4-FFF2-40B4-BE49-F238E27FC236}">
                <a16:creationId xmlns:a16="http://schemas.microsoft.com/office/drawing/2014/main" id="{3B3721F7-75A8-73E8-DA1C-081233DCEE89}"/>
              </a:ext>
            </a:extLst>
          </p:cNvPr>
          <p:cNvSpPr/>
          <p:nvPr/>
        </p:nvSpPr>
        <p:spPr>
          <a:xfrm>
            <a:off x="8432353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B1C6FC0-8810-7EBA-8A3D-C9A6FBFE7885}"/>
              </a:ext>
            </a:extLst>
          </p:cNvPr>
          <p:cNvSpPr txBox="1"/>
          <p:nvPr/>
        </p:nvSpPr>
        <p:spPr>
          <a:xfrm>
            <a:off x="8153562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2025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8" name="iconfont-1018-792472">
            <a:extLst>
              <a:ext uri="{FF2B5EF4-FFF2-40B4-BE49-F238E27FC236}">
                <a16:creationId xmlns:a16="http://schemas.microsoft.com/office/drawing/2014/main" id="{21C3A0DF-BA5D-0371-1C6D-4363309F999A}"/>
              </a:ext>
            </a:extLst>
          </p:cNvPr>
          <p:cNvSpPr/>
          <p:nvPr/>
        </p:nvSpPr>
        <p:spPr>
          <a:xfrm>
            <a:off x="9604131" y="5497809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704391B-F74E-45D3-4177-6ACBD9CD4EFB}"/>
              </a:ext>
            </a:extLst>
          </p:cNvPr>
          <p:cNvSpPr txBox="1"/>
          <p:nvPr/>
        </p:nvSpPr>
        <p:spPr>
          <a:xfrm>
            <a:off x="9289883" y="5739578"/>
            <a:ext cx="92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2027E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1" name="iconfont-1018-792472">
            <a:extLst>
              <a:ext uri="{FF2B5EF4-FFF2-40B4-BE49-F238E27FC236}">
                <a16:creationId xmlns:a16="http://schemas.microsoft.com/office/drawing/2014/main" id="{71DE8BD8-4A1C-1E9A-05BC-29E641EE7E5E}"/>
              </a:ext>
            </a:extLst>
          </p:cNvPr>
          <p:cNvSpPr/>
          <p:nvPr/>
        </p:nvSpPr>
        <p:spPr>
          <a:xfrm>
            <a:off x="10775911" y="5497809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D184813B-4407-065E-F15B-330244C2DBB3}"/>
              </a:ext>
            </a:extLst>
          </p:cNvPr>
          <p:cNvSpPr txBox="1"/>
          <p:nvPr/>
        </p:nvSpPr>
        <p:spPr>
          <a:xfrm>
            <a:off x="10460009" y="5739578"/>
            <a:ext cx="92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2030E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46A5AC6-3F67-C01B-8E4E-4B1A2D998481}"/>
              </a:ext>
            </a:extLst>
          </p:cNvPr>
          <p:cNvSpPr txBox="1"/>
          <p:nvPr/>
        </p:nvSpPr>
        <p:spPr>
          <a:xfrm>
            <a:off x="-402337" y="5291359"/>
            <a:ext cx="206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Speed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E6357F8-B683-ABA3-CB77-96E128A0B7F8}"/>
              </a:ext>
            </a:extLst>
          </p:cNvPr>
          <p:cNvSpPr txBox="1"/>
          <p:nvPr/>
        </p:nvSpPr>
        <p:spPr>
          <a:xfrm>
            <a:off x="49469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FAC97D7-E9E5-5BA1-6097-148B73639866}"/>
              </a:ext>
            </a:extLst>
          </p:cNvPr>
          <p:cNvSpPr txBox="1"/>
          <p:nvPr/>
        </p:nvSpPr>
        <p:spPr>
          <a:xfrm>
            <a:off x="1695831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043AB13-FE5B-2D10-7C09-2D09FF6992CC}"/>
              </a:ext>
            </a:extLst>
          </p:cNvPr>
          <p:cNvSpPr txBox="1"/>
          <p:nvPr/>
        </p:nvSpPr>
        <p:spPr>
          <a:xfrm>
            <a:off x="5199385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400/800G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A415130-5F83-2176-DFC7-3C1FC6C51EC7}"/>
              </a:ext>
            </a:extLst>
          </p:cNvPr>
          <p:cNvSpPr txBox="1"/>
          <p:nvPr/>
        </p:nvSpPr>
        <p:spPr>
          <a:xfrm>
            <a:off x="6329398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EC67923-703A-0361-49A9-099FFE7E13F6}"/>
              </a:ext>
            </a:extLst>
          </p:cNvPr>
          <p:cNvSpPr txBox="1"/>
          <p:nvPr/>
        </p:nvSpPr>
        <p:spPr>
          <a:xfrm>
            <a:off x="7466358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7A4CBAF-8A2C-84FB-6753-C3858EFADB52}"/>
              </a:ext>
            </a:extLst>
          </p:cNvPr>
          <p:cNvSpPr txBox="1"/>
          <p:nvPr/>
        </p:nvSpPr>
        <p:spPr>
          <a:xfrm>
            <a:off x="867642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3.2T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3A8DCB8-EE2E-65BA-9C51-B9CD67209086}"/>
              </a:ext>
            </a:extLst>
          </p:cNvPr>
          <p:cNvSpPr txBox="1"/>
          <p:nvPr/>
        </p:nvSpPr>
        <p:spPr>
          <a:xfrm>
            <a:off x="984820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6.4T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840527B2-9761-2BAE-5099-3A1743076ED7}"/>
              </a:ext>
            </a:extLst>
          </p:cNvPr>
          <p:cNvGrpSpPr/>
          <p:nvPr/>
        </p:nvGrpSpPr>
        <p:grpSpPr>
          <a:xfrm>
            <a:off x="1401684" y="4097438"/>
            <a:ext cx="9490042" cy="645195"/>
            <a:chOff x="1485504" y="4097438"/>
            <a:chExt cx="9490042" cy="645195"/>
          </a:xfrm>
        </p:grpSpPr>
        <p:sp>
          <p:nvSpPr>
            <p:cNvPr id="136" name="箭头: 右 135">
              <a:extLst>
                <a:ext uri="{FF2B5EF4-FFF2-40B4-BE49-F238E27FC236}">
                  <a16:creationId xmlns:a16="http://schemas.microsoft.com/office/drawing/2014/main" id="{E7CBD5E6-75D7-8A1E-51AD-DD8E61B76C0F}"/>
                </a:ext>
              </a:extLst>
            </p:cNvPr>
            <p:cNvSpPr/>
            <p:nvPr/>
          </p:nvSpPr>
          <p:spPr>
            <a:xfrm>
              <a:off x="7070096" y="4097438"/>
              <a:ext cx="3905450" cy="645195"/>
            </a:xfrm>
            <a:prstGeom prst="rightArrow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75000"/>
                    </a:schemeClr>
                  </a:solidFill>
                  <a:cs typeface="+mn-ea"/>
                  <a:sym typeface="+mn-lt"/>
                </a:rPr>
                <a:t>    ?</a:t>
              </a:r>
              <a:endParaRPr lang="zh-CN" altLang="en-US" dirty="0">
                <a:solidFill>
                  <a:schemeClr val="accent6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2" name="箭头: 右 131">
              <a:extLst>
                <a:ext uri="{FF2B5EF4-FFF2-40B4-BE49-F238E27FC236}">
                  <a16:creationId xmlns:a16="http://schemas.microsoft.com/office/drawing/2014/main" id="{1AA29896-608D-0C44-8340-392B192086B5}"/>
                </a:ext>
              </a:extLst>
            </p:cNvPr>
            <p:cNvSpPr/>
            <p:nvPr/>
          </p:nvSpPr>
          <p:spPr>
            <a:xfrm>
              <a:off x="1485504" y="4097438"/>
              <a:ext cx="7116058" cy="645195"/>
            </a:xfrm>
            <a:prstGeom prst="right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endPara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CCA4DF44-D9A5-BA4A-E55E-0E7350AD4348}"/>
              </a:ext>
            </a:extLst>
          </p:cNvPr>
          <p:cNvCxnSpPr/>
          <p:nvPr/>
        </p:nvCxnSpPr>
        <p:spPr>
          <a:xfrm flipV="1">
            <a:off x="11026440" y="1363684"/>
            <a:ext cx="0" cy="33789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9F94007B-700C-BDB6-058E-20F471A9CA12}"/>
              </a:ext>
            </a:extLst>
          </p:cNvPr>
          <p:cNvSpPr txBox="1"/>
          <p:nvPr/>
        </p:nvSpPr>
        <p:spPr>
          <a:xfrm rot="16200000">
            <a:off x="10453724" y="2743677"/>
            <a:ext cx="206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Power efficiency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Complexity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70107C66-7D40-492A-D4A5-6BAA808C8A50}"/>
              </a:ext>
            </a:extLst>
          </p:cNvPr>
          <p:cNvGrpSpPr/>
          <p:nvPr/>
        </p:nvGrpSpPr>
        <p:grpSpPr>
          <a:xfrm>
            <a:off x="2669057" y="3244175"/>
            <a:ext cx="8222667" cy="645195"/>
            <a:chOff x="2752879" y="4097438"/>
            <a:chExt cx="8222667" cy="645195"/>
          </a:xfrm>
        </p:grpSpPr>
        <p:sp>
          <p:nvSpPr>
            <p:cNvPr id="139" name="箭头: 右 138">
              <a:extLst>
                <a:ext uri="{FF2B5EF4-FFF2-40B4-BE49-F238E27FC236}">
                  <a16:creationId xmlns:a16="http://schemas.microsoft.com/office/drawing/2014/main" id="{A26ADE6B-49CF-0B2B-4CA9-51FA87B47220}"/>
                </a:ext>
              </a:extLst>
            </p:cNvPr>
            <p:cNvSpPr/>
            <p:nvPr/>
          </p:nvSpPr>
          <p:spPr>
            <a:xfrm>
              <a:off x="7070096" y="4097438"/>
              <a:ext cx="3905450" cy="645195"/>
            </a:xfrm>
            <a:prstGeom prst="rightArrow">
              <a:avLst/>
            </a:prstGeom>
            <a:noFill/>
            <a:ln w="12700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/>
                  </a:solidFill>
                  <a:cs typeface="+mn-ea"/>
                  <a:sym typeface="+mn-lt"/>
                </a:rPr>
                <a:t>                              </a:t>
              </a:r>
              <a:r>
                <a:rPr lang="en-US" altLang="zh-CN" dirty="0">
                  <a:solidFill>
                    <a:schemeClr val="accent4"/>
                  </a:solidFill>
                  <a:cs typeface="+mn-ea"/>
                  <a:sym typeface="+mn-lt"/>
                </a:rPr>
                <a:t>?</a:t>
              </a:r>
              <a:endParaRPr lang="zh-CN" altLang="en-US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  <p:sp>
          <p:nvSpPr>
            <p:cNvPr id="140" name="箭头: 右 139">
              <a:extLst>
                <a:ext uri="{FF2B5EF4-FFF2-40B4-BE49-F238E27FC236}">
                  <a16:creationId xmlns:a16="http://schemas.microsoft.com/office/drawing/2014/main" id="{C8395481-E407-1A57-AB3B-745AE68A6769}"/>
                </a:ext>
              </a:extLst>
            </p:cNvPr>
            <p:cNvSpPr/>
            <p:nvPr/>
          </p:nvSpPr>
          <p:spPr>
            <a:xfrm>
              <a:off x="2752879" y="4097438"/>
              <a:ext cx="6721358" cy="645195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Pluggable Optics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3" name="箭头: 右 142">
            <a:extLst>
              <a:ext uri="{FF2B5EF4-FFF2-40B4-BE49-F238E27FC236}">
                <a16:creationId xmlns:a16="http://schemas.microsoft.com/office/drawing/2014/main" id="{F005F9F6-D1E0-9C25-8920-A4ED7442437A}"/>
              </a:ext>
            </a:extLst>
          </p:cNvPr>
          <p:cNvSpPr/>
          <p:nvPr/>
        </p:nvSpPr>
        <p:spPr>
          <a:xfrm>
            <a:off x="4859238" y="2276507"/>
            <a:ext cx="6032487" cy="807573"/>
          </a:xfrm>
          <a:prstGeom prst="rightArrow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   CPO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6" name="箭头: 右 145">
            <a:extLst>
              <a:ext uri="{FF2B5EF4-FFF2-40B4-BE49-F238E27FC236}">
                <a16:creationId xmlns:a16="http://schemas.microsoft.com/office/drawing/2014/main" id="{544170DA-07C0-31F4-D09E-9DCFF12C8C8A}"/>
              </a:ext>
            </a:extLst>
          </p:cNvPr>
          <p:cNvSpPr/>
          <p:nvPr/>
        </p:nvSpPr>
        <p:spPr>
          <a:xfrm>
            <a:off x="3302165" y="1366042"/>
            <a:ext cx="7589559" cy="645195"/>
          </a:xfrm>
          <a:prstGeom prst="rightArrow">
            <a:avLst/>
          </a:prstGeom>
          <a:solidFill>
            <a:schemeClr val="bg1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3A082EE3-531A-D7E3-F422-37FCFACEAAA3}"/>
              </a:ext>
            </a:extLst>
          </p:cNvPr>
          <p:cNvSpPr txBox="1"/>
          <p:nvPr/>
        </p:nvSpPr>
        <p:spPr>
          <a:xfrm>
            <a:off x="8837339" y="3721184"/>
            <a:ext cx="2061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3.2T optics </a:t>
            </a:r>
          </a:p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Hard to continue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C21AE233-BF12-9462-3EFA-8E00F75C6210}"/>
              </a:ext>
            </a:extLst>
          </p:cNvPr>
          <p:cNvGrpSpPr/>
          <p:nvPr/>
        </p:nvGrpSpPr>
        <p:grpSpPr>
          <a:xfrm>
            <a:off x="4593574" y="2577401"/>
            <a:ext cx="1115494" cy="601626"/>
            <a:chOff x="4593574" y="2577401"/>
            <a:chExt cx="1115494" cy="601626"/>
          </a:xfrm>
        </p:grpSpPr>
        <p:sp>
          <p:nvSpPr>
            <p:cNvPr id="148" name="iconfont-1018-792472">
              <a:extLst>
                <a:ext uri="{FF2B5EF4-FFF2-40B4-BE49-F238E27FC236}">
                  <a16:creationId xmlns:a16="http://schemas.microsoft.com/office/drawing/2014/main" id="{DD905833-F9CE-0F1B-7524-51A2C85476AB}"/>
                </a:ext>
              </a:extLst>
            </p:cNvPr>
            <p:cNvSpPr/>
            <p:nvPr/>
          </p:nvSpPr>
          <p:spPr>
            <a:xfrm>
              <a:off x="5048430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6D4864F0-FD40-BF53-3D19-44BD69AC0DD5}"/>
                </a:ext>
              </a:extLst>
            </p:cNvPr>
            <p:cNvSpPr txBox="1"/>
            <p:nvPr/>
          </p:nvSpPr>
          <p:spPr>
            <a:xfrm>
              <a:off x="4593574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Concept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063E9656-86D7-0F80-F1BF-75B868010E23}"/>
              </a:ext>
            </a:extLst>
          </p:cNvPr>
          <p:cNvGrpSpPr/>
          <p:nvPr/>
        </p:nvGrpSpPr>
        <p:grpSpPr>
          <a:xfrm>
            <a:off x="5589742" y="2577401"/>
            <a:ext cx="1115494" cy="601626"/>
            <a:chOff x="5589742" y="2577401"/>
            <a:chExt cx="1115494" cy="601626"/>
          </a:xfrm>
        </p:grpSpPr>
        <p:sp>
          <p:nvSpPr>
            <p:cNvPr id="150" name="iconfont-1018-792472">
              <a:extLst>
                <a:ext uri="{FF2B5EF4-FFF2-40B4-BE49-F238E27FC236}">
                  <a16:creationId xmlns:a16="http://schemas.microsoft.com/office/drawing/2014/main" id="{5C753B97-2F1F-5CA1-DDEE-E05461B1B5E7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4825104B-F905-1774-54F2-F389FD32846C}"/>
                </a:ext>
              </a:extLst>
            </p:cNvPr>
            <p:cNvSpPr txBox="1"/>
            <p:nvPr/>
          </p:nvSpPr>
          <p:spPr>
            <a:xfrm>
              <a:off x="5589742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Demo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E443CD2-5EA6-CBFB-ED56-C7590B49C1E9}"/>
              </a:ext>
            </a:extLst>
          </p:cNvPr>
          <p:cNvGrpSpPr/>
          <p:nvPr/>
        </p:nvGrpSpPr>
        <p:grpSpPr>
          <a:xfrm>
            <a:off x="6796917" y="2577401"/>
            <a:ext cx="1115494" cy="793893"/>
            <a:chOff x="5589742" y="2577401"/>
            <a:chExt cx="1115494" cy="793893"/>
          </a:xfrm>
        </p:grpSpPr>
        <p:sp>
          <p:nvSpPr>
            <p:cNvPr id="154" name="iconfont-1018-792472">
              <a:extLst>
                <a:ext uri="{FF2B5EF4-FFF2-40B4-BE49-F238E27FC236}">
                  <a16:creationId xmlns:a16="http://schemas.microsoft.com/office/drawing/2014/main" id="{35B6F8DE-178E-5CB9-5F05-612F3922D4B6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654C5C5E-DADC-70C9-2057-6775A6684C0D}"/>
                </a:ext>
              </a:extLst>
            </p:cNvPr>
            <p:cNvSpPr txBox="1"/>
            <p:nvPr/>
          </p:nvSpPr>
          <p:spPr>
            <a:xfrm>
              <a:off x="5589742" y="2848074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Proofs of concept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CB9FED42-BE7C-AB74-D637-92D45A612C48}"/>
              </a:ext>
            </a:extLst>
          </p:cNvPr>
          <p:cNvGrpSpPr/>
          <p:nvPr/>
        </p:nvGrpSpPr>
        <p:grpSpPr>
          <a:xfrm>
            <a:off x="7857103" y="2577401"/>
            <a:ext cx="1115494" cy="601626"/>
            <a:chOff x="5589742" y="2577401"/>
            <a:chExt cx="1115494" cy="601626"/>
          </a:xfrm>
        </p:grpSpPr>
        <p:sp>
          <p:nvSpPr>
            <p:cNvPr id="157" name="iconfont-1018-792472">
              <a:extLst>
                <a:ext uri="{FF2B5EF4-FFF2-40B4-BE49-F238E27FC236}">
                  <a16:creationId xmlns:a16="http://schemas.microsoft.com/office/drawing/2014/main" id="{2514C8D7-26D8-670D-A148-A6062DB9DD96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55420642-9F54-696E-1EA1-57A7F06B1B9A}"/>
                </a:ext>
              </a:extLst>
            </p:cNvPr>
            <p:cNvSpPr txBox="1"/>
            <p:nvPr/>
          </p:nvSpPr>
          <p:spPr>
            <a:xfrm>
              <a:off x="5589742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Test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0DFCEDB3-42BA-07AA-77A9-7A4CA9940C08}"/>
              </a:ext>
            </a:extLst>
          </p:cNvPr>
          <p:cNvGrpSpPr/>
          <p:nvPr/>
        </p:nvGrpSpPr>
        <p:grpSpPr>
          <a:xfrm>
            <a:off x="9064419" y="2577401"/>
            <a:ext cx="1115494" cy="780397"/>
            <a:chOff x="5643082" y="2577401"/>
            <a:chExt cx="1115494" cy="780397"/>
          </a:xfrm>
        </p:grpSpPr>
        <p:sp>
          <p:nvSpPr>
            <p:cNvPr id="160" name="iconfont-1018-792472">
              <a:extLst>
                <a:ext uri="{FF2B5EF4-FFF2-40B4-BE49-F238E27FC236}">
                  <a16:creationId xmlns:a16="http://schemas.microsoft.com/office/drawing/2014/main" id="{ED141343-B0E9-0C31-A3D0-574EC161D735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5E960809-1561-50A1-E9EF-B74FCD2FE929}"/>
                </a:ext>
              </a:extLst>
            </p:cNvPr>
            <p:cNvSpPr txBox="1"/>
            <p:nvPr/>
          </p:nvSpPr>
          <p:spPr>
            <a:xfrm>
              <a:off x="5643082" y="2834578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Full scale deployment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1895BE81-56D2-9BDC-9D33-6E7916E63DA3}"/>
              </a:ext>
            </a:extLst>
          </p:cNvPr>
          <p:cNvGrpSpPr/>
          <p:nvPr/>
        </p:nvGrpSpPr>
        <p:grpSpPr>
          <a:xfrm>
            <a:off x="2920351" y="1576885"/>
            <a:ext cx="1115494" cy="646196"/>
            <a:chOff x="3302165" y="1580956"/>
            <a:chExt cx="1115494" cy="646196"/>
          </a:xfrm>
        </p:grpSpPr>
        <p:sp>
          <p:nvSpPr>
            <p:cNvPr id="162" name="iconfont-1018-792472">
              <a:extLst>
                <a:ext uri="{FF2B5EF4-FFF2-40B4-BE49-F238E27FC236}">
                  <a16:creationId xmlns:a16="http://schemas.microsoft.com/office/drawing/2014/main" id="{6AFF8666-6F71-5CD9-3270-95862384C540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645BDF68-1659-28BE-DAB3-B8E754540A7C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Concept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32088448-E8F5-B286-8475-8A90D6C0D946}"/>
              </a:ext>
            </a:extLst>
          </p:cNvPr>
          <p:cNvGrpSpPr/>
          <p:nvPr/>
        </p:nvGrpSpPr>
        <p:grpSpPr>
          <a:xfrm>
            <a:off x="7115179" y="1576885"/>
            <a:ext cx="1115494" cy="646196"/>
            <a:chOff x="3302165" y="1580956"/>
            <a:chExt cx="1115494" cy="646196"/>
          </a:xfrm>
        </p:grpSpPr>
        <p:sp>
          <p:nvSpPr>
            <p:cNvPr id="166" name="iconfont-1018-792472">
              <a:extLst>
                <a:ext uri="{FF2B5EF4-FFF2-40B4-BE49-F238E27FC236}">
                  <a16:creationId xmlns:a16="http://schemas.microsoft.com/office/drawing/2014/main" id="{EE27585B-C766-2515-9E2B-9E86F090A052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FC177F9-61E7-4EE8-8FFC-C2F76BCFF093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Demo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F62B0942-AEAF-3AB0-CBD3-9EFE6C032518}"/>
              </a:ext>
            </a:extLst>
          </p:cNvPr>
          <p:cNvGrpSpPr/>
          <p:nvPr/>
        </p:nvGrpSpPr>
        <p:grpSpPr>
          <a:xfrm>
            <a:off x="7955412" y="1576885"/>
            <a:ext cx="1115494" cy="861639"/>
            <a:chOff x="3302165" y="1580956"/>
            <a:chExt cx="1115494" cy="861639"/>
          </a:xfrm>
        </p:grpSpPr>
        <p:sp>
          <p:nvSpPr>
            <p:cNvPr id="169" name="iconfont-1018-792472">
              <a:extLst>
                <a:ext uri="{FF2B5EF4-FFF2-40B4-BE49-F238E27FC236}">
                  <a16:creationId xmlns:a16="http://schemas.microsoft.com/office/drawing/2014/main" id="{D03D7DB3-FCDA-ABE2-00E8-0132F9452E1E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E180931C-587D-0311-7748-01E124A7A3AB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Proofs of concept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341CC3DA-D7A4-E480-78B5-4E31685CB94A}"/>
              </a:ext>
            </a:extLst>
          </p:cNvPr>
          <p:cNvGrpSpPr/>
          <p:nvPr/>
        </p:nvGrpSpPr>
        <p:grpSpPr>
          <a:xfrm>
            <a:off x="9431425" y="1576885"/>
            <a:ext cx="1115494" cy="861639"/>
            <a:chOff x="3302165" y="1580956"/>
            <a:chExt cx="1115494" cy="861639"/>
          </a:xfrm>
        </p:grpSpPr>
        <p:sp>
          <p:nvSpPr>
            <p:cNvPr id="173" name="iconfont-1018-792472">
              <a:extLst>
                <a:ext uri="{FF2B5EF4-FFF2-40B4-BE49-F238E27FC236}">
                  <a16:creationId xmlns:a16="http://schemas.microsoft.com/office/drawing/2014/main" id="{01B4FF7B-629D-84E1-EAB1-162149FCC25E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74D71DB7-1705-4580-0452-036DB394B81E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Full scale deployment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203FA49B-D6A0-476B-01A8-EFA6A9E871A7}"/>
              </a:ext>
            </a:extLst>
          </p:cNvPr>
          <p:cNvGrpSpPr/>
          <p:nvPr/>
        </p:nvGrpSpPr>
        <p:grpSpPr>
          <a:xfrm>
            <a:off x="8704126" y="1576885"/>
            <a:ext cx="1115494" cy="646196"/>
            <a:chOff x="3302165" y="1580956"/>
            <a:chExt cx="1115494" cy="646196"/>
          </a:xfrm>
        </p:grpSpPr>
        <p:sp>
          <p:nvSpPr>
            <p:cNvPr id="176" name="iconfont-1018-792472">
              <a:extLst>
                <a:ext uri="{FF2B5EF4-FFF2-40B4-BE49-F238E27FC236}">
                  <a16:creationId xmlns:a16="http://schemas.microsoft.com/office/drawing/2014/main" id="{673BF21F-83F9-1979-45EF-481A19F60A0A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01D498CD-C8CA-2590-0FC0-AE400343B879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Test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181" name="iconfont-1018-792472">
            <a:extLst>
              <a:ext uri="{FF2B5EF4-FFF2-40B4-BE49-F238E27FC236}">
                <a16:creationId xmlns:a16="http://schemas.microsoft.com/office/drawing/2014/main" id="{76EE4AAE-AF71-F7F5-5742-42D08A95082A}"/>
              </a:ext>
            </a:extLst>
          </p:cNvPr>
          <p:cNvSpPr/>
          <p:nvPr/>
        </p:nvSpPr>
        <p:spPr>
          <a:xfrm>
            <a:off x="2739994" y="3417945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F9752DE3-0114-40A8-83EB-29643F3A3227}"/>
              </a:ext>
            </a:extLst>
          </p:cNvPr>
          <p:cNvSpPr txBox="1"/>
          <p:nvPr/>
        </p:nvSpPr>
        <p:spPr>
          <a:xfrm>
            <a:off x="2302741" y="3712066"/>
            <a:ext cx="111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Full scale deployment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3" name="iconfont-1018-792472">
            <a:extLst>
              <a:ext uri="{FF2B5EF4-FFF2-40B4-BE49-F238E27FC236}">
                <a16:creationId xmlns:a16="http://schemas.microsoft.com/office/drawing/2014/main" id="{010959CF-D0A9-FF40-4C64-1476C5225674}"/>
              </a:ext>
            </a:extLst>
          </p:cNvPr>
          <p:cNvSpPr/>
          <p:nvPr/>
        </p:nvSpPr>
        <p:spPr>
          <a:xfrm>
            <a:off x="1479214" y="4317611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B9A11310-AA18-B25A-688F-94749B9D6B98}"/>
              </a:ext>
            </a:extLst>
          </p:cNvPr>
          <p:cNvSpPr txBox="1"/>
          <p:nvPr/>
        </p:nvSpPr>
        <p:spPr>
          <a:xfrm>
            <a:off x="1077698" y="4574788"/>
            <a:ext cx="111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scale deployment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639FAB7-B6A1-7230-AD5E-A51673932C2C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</a:p>
        </p:txBody>
      </p:sp>
      <p:sp>
        <p:nvSpPr>
          <p:cNvPr id="4" name="箭头: 直角上 3">
            <a:extLst>
              <a:ext uri="{FF2B5EF4-FFF2-40B4-BE49-F238E27FC236}">
                <a16:creationId xmlns:a16="http://schemas.microsoft.com/office/drawing/2014/main" id="{655E9103-EB90-3CD7-A603-1FCE189DA305}"/>
              </a:ext>
            </a:extLst>
          </p:cNvPr>
          <p:cNvSpPr/>
          <p:nvPr/>
        </p:nvSpPr>
        <p:spPr>
          <a:xfrm rot="16200000" flipV="1">
            <a:off x="1822010" y="3257372"/>
            <a:ext cx="523218" cy="896348"/>
          </a:xfrm>
          <a:prstGeom prst="bentUp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箭头: 直角上 4">
            <a:extLst>
              <a:ext uri="{FF2B5EF4-FFF2-40B4-BE49-F238E27FC236}">
                <a16:creationId xmlns:a16="http://schemas.microsoft.com/office/drawing/2014/main" id="{ECCD6F90-A6A2-CAD1-B9A6-08F425F89C36}"/>
              </a:ext>
            </a:extLst>
          </p:cNvPr>
          <p:cNvSpPr/>
          <p:nvPr/>
        </p:nvSpPr>
        <p:spPr>
          <a:xfrm rot="16200000" flipV="1">
            <a:off x="3771346" y="2209839"/>
            <a:ext cx="485751" cy="1278030"/>
          </a:xfrm>
          <a:prstGeom prst="bentUp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7A30D5-6435-38B1-2536-BD99E8D3C123}"/>
              </a:ext>
            </a:extLst>
          </p:cNvPr>
          <p:cNvSpPr txBox="1"/>
          <p:nvPr/>
        </p:nvSpPr>
        <p:spPr>
          <a:xfrm>
            <a:off x="3388680" y="2338251"/>
            <a:ext cx="1259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Transferring</a:t>
            </a:r>
            <a:endParaRPr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7ACA44-946A-42C9-CABB-D34DB285B74D}"/>
              </a:ext>
            </a:extLst>
          </p:cNvPr>
          <p:cNvSpPr txBox="1"/>
          <p:nvPr/>
        </p:nvSpPr>
        <p:spPr>
          <a:xfrm>
            <a:off x="1517049" y="3139719"/>
            <a:ext cx="1115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Transferred</a:t>
            </a:r>
            <a:endParaRPr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97769EBD-80AC-92E4-783B-810E8FB33583}"/>
              </a:ext>
            </a:extLst>
          </p:cNvPr>
          <p:cNvSpPr/>
          <p:nvPr/>
        </p:nvSpPr>
        <p:spPr>
          <a:xfrm>
            <a:off x="995533" y="1592737"/>
            <a:ext cx="406150" cy="2144840"/>
          </a:xfrm>
          <a:prstGeom prst="leftBrace">
            <a:avLst>
              <a:gd name="adj1" fmla="val 20841"/>
              <a:gd name="adj2" fmla="val 455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F2E993-13C0-D00E-7073-E02E01DC079F}"/>
              </a:ext>
            </a:extLst>
          </p:cNvPr>
          <p:cNvSpPr txBox="1"/>
          <p:nvPr/>
        </p:nvSpPr>
        <p:spPr>
          <a:xfrm>
            <a:off x="-453724" y="2369706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F341C6-C93F-DF5A-9BD3-E471745AC49C}"/>
              </a:ext>
            </a:extLst>
          </p:cNvPr>
          <p:cNvSpPr txBox="1"/>
          <p:nvPr/>
        </p:nvSpPr>
        <p:spPr>
          <a:xfrm>
            <a:off x="-418705" y="4240080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73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28313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5114226" y="3080458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巨头大力布局：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为新一代技术中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最易商业化落地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的路径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7" y="83348"/>
            <a:ext cx="10071100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光互连技术路径：可插拔仍为主流，巨头将商业落地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OIO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初创处于技术验证期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45018" y="3098880"/>
            <a:ext cx="994569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代表厂商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1771776" y="2956049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5200651" y="752031"/>
            <a:ext cx="2535238" cy="443738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CPO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Co-Packaged Optics)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BF70457-AB08-B6CD-2294-70689C320AB2}"/>
              </a:ext>
            </a:extLst>
          </p:cNvPr>
          <p:cNvGrpSpPr/>
          <p:nvPr/>
        </p:nvGrpSpPr>
        <p:grpSpPr>
          <a:xfrm>
            <a:off x="8668562" y="752975"/>
            <a:ext cx="2823252" cy="443738"/>
            <a:chOff x="7489148" y="1004272"/>
            <a:chExt cx="2823252" cy="443738"/>
          </a:xfrm>
        </p:grpSpPr>
        <p:cxnSp>
          <p:nvCxnSpPr>
            <p:cNvPr id="35" name="直线连接符 30">
              <a:extLst>
                <a:ext uri="{FF2B5EF4-FFF2-40B4-BE49-F238E27FC236}">
                  <a16:creationId xmlns:a16="http://schemas.microsoft.com/office/drawing/2014/main" id="{64BF7E5D-564A-FDE0-3825-E5CDFEA8CD23}"/>
                </a:ext>
              </a:extLst>
            </p:cNvPr>
            <p:cNvCxnSpPr>
              <a:cxnSpLocks/>
            </p:cNvCxnSpPr>
            <p:nvPr/>
          </p:nvCxnSpPr>
          <p:spPr>
            <a:xfrm>
              <a:off x="7489148" y="1448010"/>
              <a:ext cx="268568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96278A5-28AB-DF4B-68D8-6B09966A2C4D}"/>
                </a:ext>
              </a:extLst>
            </p:cNvPr>
            <p:cNvSpPr txBox="1"/>
            <p:nvPr/>
          </p:nvSpPr>
          <p:spPr>
            <a:xfrm>
              <a:off x="7489719" y="1004272"/>
              <a:ext cx="282268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OIO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In-Packaged Optical I/O)</a:t>
              </a: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792BF100-A7AB-CF8D-0B2B-E098437F2754}"/>
              </a:ext>
            </a:extLst>
          </p:cNvPr>
          <p:cNvSpPr txBox="1"/>
          <p:nvPr/>
        </p:nvSpPr>
        <p:spPr>
          <a:xfrm>
            <a:off x="8566510" y="3049653"/>
            <a:ext cx="2882293" cy="10934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初创抢先布局：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OIO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一步到位，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绕过巨头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生态制约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41350" y="1778000"/>
            <a:ext cx="994569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801815" y="754741"/>
            <a:ext cx="2928935" cy="443738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PO </a:t>
              </a:r>
              <a:r>
                <a:rPr kumimoji="1" lang="en-US" altLang="zh-CN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195513" y="183356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中：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917701" y="18732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917701" y="18732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5478463" y="181451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2006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2006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1AD8984-35B2-511E-E509-E637AA0E30A4}"/>
              </a:ext>
            </a:extLst>
          </p:cNvPr>
          <p:cNvSpPr txBox="1"/>
          <p:nvPr/>
        </p:nvSpPr>
        <p:spPr>
          <a:xfrm>
            <a:off x="8836025" y="1830388"/>
            <a:ext cx="2787650" cy="306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极高：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12.8T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验证中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5E690DB-6DFF-C54D-9476-B66DB31650CD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5915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3" name="弧 155">
            <a:extLst>
              <a:ext uri="{FF2B5EF4-FFF2-40B4-BE49-F238E27FC236}">
                <a16:creationId xmlns:a16="http://schemas.microsoft.com/office/drawing/2014/main" id="{4B02B27A-C8D1-8361-A3E3-36E55CC6290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5915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41349" y="2355851"/>
            <a:ext cx="994569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市场规模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2023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1862260" y="2325688"/>
            <a:ext cx="489413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398893" y="243522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$bn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级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5266074" y="2409825"/>
            <a:ext cx="2971176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$</a:t>
              </a:r>
              <a:r>
                <a:rPr lang="en-US" altLang="zh-CN" sz="1400" dirty="0" err="1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mn</a:t>
              </a:r>
              <a:r>
                <a:rPr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级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3500EFE-8D19-7E82-EC8C-8E9CCC682BC2}"/>
              </a:ext>
            </a:extLst>
          </p:cNvPr>
          <p:cNvSpPr txBox="1"/>
          <p:nvPr/>
        </p:nvSpPr>
        <p:spPr>
          <a:xfrm>
            <a:off x="8587297" y="2405063"/>
            <a:ext cx="2788169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（未商用）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263545" y="620264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Stanly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AyarLabs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CEO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：仅展示赛道中份额最大的公司</a:t>
            </a: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812683" y="3091746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国产优势：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高速率产品率先实现技术突破，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全球前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10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大厂商中国占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7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成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41349" y="4830173"/>
            <a:ext cx="994569" cy="1042307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最新动向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2902" y="3676082"/>
            <a:ext cx="602198" cy="216791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0414" y="3547358"/>
            <a:ext cx="1016581" cy="38761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664" y="3667374"/>
            <a:ext cx="965649" cy="234206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2833659" y="4180987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6221563" y="3646629"/>
            <a:ext cx="711919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9082" y="3671385"/>
            <a:ext cx="314925" cy="208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9" name="图像" descr="图像">
            <a:extLst>
              <a:ext uri="{FF2B5EF4-FFF2-40B4-BE49-F238E27FC236}">
                <a16:creationId xmlns:a16="http://schemas.microsoft.com/office/drawing/2014/main" id="{10AE3C14-FBC0-4A41-30BC-21EE5C053E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4249" y="3665625"/>
            <a:ext cx="406698" cy="219617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6134764" y="4167592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71%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0D8F1CAE-DB1F-75B2-676D-1B125D2C01E9}"/>
              </a:ext>
            </a:extLst>
          </p:cNvPr>
          <p:cNvSpPr txBox="1"/>
          <p:nvPr/>
        </p:nvSpPr>
        <p:spPr>
          <a:xfrm>
            <a:off x="8983899" y="4171932"/>
            <a:ext cx="22511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（未商用，玩家极少）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B36BC0C1-A345-5C17-8242-A5B9869AA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87297" y="3701824"/>
            <a:ext cx="591492" cy="165307"/>
          </a:xfrm>
          <a:prstGeom prst="rect">
            <a:avLst/>
          </a:prstGeom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C39A2795-83F0-65C8-22DD-B5433D6D75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6755" y="3704115"/>
            <a:ext cx="772710" cy="1607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63DDCF-39D0-471E-0C67-C0EC41499BF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6798" y="3705326"/>
            <a:ext cx="246630" cy="158302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3E62AE80-3B64-D7E6-8384-C5CF3A9E76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10761" y="3700365"/>
            <a:ext cx="740192" cy="168225"/>
          </a:xfrm>
          <a:prstGeom prst="rect">
            <a:avLst/>
          </a:prstGeom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6479" y="5248738"/>
            <a:ext cx="773879" cy="295076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579684" y="5202891"/>
            <a:ext cx="2144624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出货量 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&gt;200w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，全球份额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40%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24Q4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1.6T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率先认证并出货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5920038" y="5131318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Spectrum-X 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交换机交付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交换机交付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5351" y="5302479"/>
            <a:ext cx="261242" cy="257609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1281" y="5350618"/>
            <a:ext cx="435989" cy="161331"/>
          </a:xfrm>
          <a:prstGeom prst="rect">
            <a:avLst/>
          </a:prstGeom>
        </p:spPr>
      </p:pic>
      <p:pic>
        <p:nvPicPr>
          <p:cNvPr id="1080" name="图片 1079">
            <a:extLst>
              <a:ext uri="{FF2B5EF4-FFF2-40B4-BE49-F238E27FC236}">
                <a16:creationId xmlns:a16="http://schemas.microsoft.com/office/drawing/2014/main" id="{3322A9DD-C334-6D42-B03C-458BA57525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5731" y="5313622"/>
            <a:ext cx="591492" cy="165307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1806129" y="4674667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806129" y="4836256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已全面应用于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AIDC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大规模商业落地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5114226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25-26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年将商业化，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技术成熟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55D50945-2A35-6CE4-97E3-C19094ADA71C}"/>
              </a:ext>
            </a:extLst>
          </p:cNvPr>
          <p:cNvSpPr txBox="1"/>
          <p:nvPr/>
        </p:nvSpPr>
        <p:spPr>
          <a:xfrm>
            <a:off x="8629110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以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Demo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为主，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研发与验证阶段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F2358CF0-DFE1-EC42-0D1C-81BBFB5E4E94}"/>
              </a:ext>
            </a:extLst>
          </p:cNvPr>
          <p:cNvSpPr txBox="1"/>
          <p:nvPr/>
        </p:nvSpPr>
        <p:spPr>
          <a:xfrm>
            <a:off x="9418337" y="5118104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年中大批量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产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，出货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1.5w 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TeraPHY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样片给英伟达、台积电等做验证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2489966" y="3996681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5786502" y="3987638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0963FA22-BEF9-2DB2-FC07-0DF184A757EA}"/>
              </a:ext>
            </a:extLst>
          </p:cNvPr>
          <p:cNvSpPr/>
          <p:nvPr/>
        </p:nvSpPr>
        <p:spPr>
          <a:xfrm rot="10800000">
            <a:off x="9227766" y="3996682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F08E8E2-6EA8-7595-7D35-C7F12B36ED29}"/>
              </a:ext>
            </a:extLst>
          </p:cNvPr>
          <p:cNvSpPr/>
          <p:nvPr/>
        </p:nvSpPr>
        <p:spPr>
          <a:xfrm>
            <a:off x="1913979" y="1512070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0A7358-3A58-EAA4-9FCB-7961732207B9}"/>
              </a:ext>
            </a:extLst>
          </p:cNvPr>
          <p:cNvSpPr/>
          <p:nvPr/>
        </p:nvSpPr>
        <p:spPr>
          <a:xfrm>
            <a:off x="1972322" y="13430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B77634-6E73-3575-1DF3-E44087F13340}"/>
              </a:ext>
            </a:extLst>
          </p:cNvPr>
          <p:cNvSpPr/>
          <p:nvPr/>
        </p:nvSpPr>
        <p:spPr>
          <a:xfrm>
            <a:off x="4329566" y="1397313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64DC18-2AC5-C164-EE15-711F93094C75}"/>
              </a:ext>
            </a:extLst>
          </p:cNvPr>
          <p:cNvSpPr/>
          <p:nvPr/>
        </p:nvSpPr>
        <p:spPr>
          <a:xfrm>
            <a:off x="5264974" y="1357776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9FDA30-2F1E-F0B7-BDF0-35D93A14AD15}"/>
              </a:ext>
            </a:extLst>
          </p:cNvPr>
          <p:cNvSpPr/>
          <p:nvPr/>
        </p:nvSpPr>
        <p:spPr>
          <a:xfrm>
            <a:off x="5927147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8B52A9-D8D3-CAAB-F636-AE4BAC34A4AA}"/>
              </a:ext>
            </a:extLst>
          </p:cNvPr>
          <p:cNvSpPr/>
          <p:nvPr/>
        </p:nvSpPr>
        <p:spPr>
          <a:xfrm>
            <a:off x="1928263" y="146478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735AB34-1E3B-0D3E-54B4-9C753D9E9C2C}"/>
              </a:ext>
            </a:extLst>
          </p:cNvPr>
          <p:cNvSpPr/>
          <p:nvPr/>
        </p:nvSpPr>
        <p:spPr>
          <a:xfrm>
            <a:off x="5211007" y="1523054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2371F24-8612-A02E-DAF4-2F6CA161C71A}"/>
              </a:ext>
            </a:extLst>
          </p:cNvPr>
          <p:cNvSpPr/>
          <p:nvPr/>
        </p:nvSpPr>
        <p:spPr>
          <a:xfrm>
            <a:off x="5229262" y="1480417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88C6288-E8BA-2CD4-58C1-710463D9A4C3}"/>
              </a:ext>
            </a:extLst>
          </p:cNvPr>
          <p:cNvSpPr/>
          <p:nvPr/>
        </p:nvSpPr>
        <p:spPr>
          <a:xfrm>
            <a:off x="8773178" y="1358430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1F6A5B-B749-3AD6-F7E8-5A20E6FADD0D}"/>
              </a:ext>
            </a:extLst>
          </p:cNvPr>
          <p:cNvSpPr/>
          <p:nvPr/>
        </p:nvSpPr>
        <p:spPr>
          <a:xfrm>
            <a:off x="9399261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61EB173-67B9-AC7E-5E08-AFD0BE7F29CE}"/>
              </a:ext>
            </a:extLst>
          </p:cNvPr>
          <p:cNvSpPr/>
          <p:nvPr/>
        </p:nvSpPr>
        <p:spPr>
          <a:xfrm>
            <a:off x="8718111" y="1527771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E2907F3-A6D5-42AB-83E2-B4A0DCFC25B2}"/>
              </a:ext>
            </a:extLst>
          </p:cNvPr>
          <p:cNvSpPr/>
          <p:nvPr/>
        </p:nvSpPr>
        <p:spPr>
          <a:xfrm>
            <a:off x="8735526" y="148225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9887032B-5E53-9EE5-83A0-72F538BF4A70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3329586" y="418434"/>
            <a:ext cx="54214" cy="2142659"/>
          </a:xfrm>
          <a:prstGeom prst="bentConnector3">
            <a:avLst>
              <a:gd name="adj1" fmla="val 150756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518E038F-B31E-937D-E340-AA31A690FC8B}"/>
              </a:ext>
            </a:extLst>
          </p:cNvPr>
          <p:cNvCxnSpPr>
            <a:cxnSpLocks/>
            <a:stCxn id="15" idx="2"/>
            <a:endCxn id="16" idx="2"/>
          </p:cNvCxnSpPr>
          <p:nvPr/>
        </p:nvCxnSpPr>
        <p:spPr>
          <a:xfrm rot="16200000" flipH="1">
            <a:off x="5798700" y="1256650"/>
            <a:ext cx="6221" cy="447588"/>
          </a:xfrm>
          <a:prstGeom prst="bentConnector3">
            <a:avLst>
              <a:gd name="adj1" fmla="val 474249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A90A0AE-7AC5-74D8-0A6B-04C89FD7CB52}"/>
              </a:ext>
            </a:extLst>
          </p:cNvPr>
          <p:cNvCxnSpPr>
            <a:cxnSpLocks/>
            <a:stCxn id="33" idx="2"/>
            <a:endCxn id="36" idx="2"/>
          </p:cNvCxnSpPr>
          <p:nvPr/>
        </p:nvCxnSpPr>
        <p:spPr>
          <a:xfrm rot="16200000" flipH="1">
            <a:off x="9289186" y="1275022"/>
            <a:ext cx="5567" cy="411498"/>
          </a:xfrm>
          <a:prstGeom prst="bentConnector3">
            <a:avLst>
              <a:gd name="adj1" fmla="val 584749"/>
            </a:avLst>
          </a:prstGeom>
          <a:ln>
            <a:solidFill>
              <a:srgbClr val="FF720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C39E1B-7EB9-ED06-B5B7-5C17F23B0F71}"/>
              </a:ext>
            </a:extLst>
          </p:cNvPr>
          <p:cNvSpPr txBox="1"/>
          <p:nvPr/>
        </p:nvSpPr>
        <p:spPr>
          <a:xfrm>
            <a:off x="2998405" y="1537514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2461C33-8A9C-4EC5-8A21-6FE5802EFF04}"/>
              </a:ext>
            </a:extLst>
          </p:cNvPr>
          <p:cNvSpPr txBox="1"/>
          <p:nvPr/>
        </p:nvSpPr>
        <p:spPr>
          <a:xfrm>
            <a:off x="2543867" y="1194217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223F204-F625-0B14-E727-B05199BB37BA}"/>
              </a:ext>
            </a:extLst>
          </p:cNvPr>
          <p:cNvSpPr txBox="1"/>
          <p:nvPr/>
        </p:nvSpPr>
        <p:spPr>
          <a:xfrm>
            <a:off x="3737221" y="1199748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光引擎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A684037-5C7B-B76C-54AF-9B0D0C2216CC}"/>
              </a:ext>
            </a:extLst>
          </p:cNvPr>
          <p:cNvSpPr txBox="1"/>
          <p:nvPr/>
        </p:nvSpPr>
        <p:spPr>
          <a:xfrm>
            <a:off x="5477869" y="1529219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80A546C-5A6B-254F-4E22-C20FA5E42301}"/>
              </a:ext>
            </a:extLst>
          </p:cNvPr>
          <p:cNvSpPr txBox="1"/>
          <p:nvPr/>
        </p:nvSpPr>
        <p:spPr>
          <a:xfrm>
            <a:off x="8963821" y="1537513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91AE42F-07B1-8EBB-6377-FDC9B827432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04586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解决可插拔光模块的信息损耗、功耗、速率痛点</a:t>
            </a: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1447849" y="2623982"/>
            <a:ext cx="9910206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298577" y="3224151"/>
            <a:ext cx="1361697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传统方案</a:t>
            </a:r>
            <a:endParaRPr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143532"/>
            <a:ext cx="911703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进阶方案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36146" y="926664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硬制约：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走线带来高信息损耗，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不走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损耗仅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。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224Gbps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下，信息损耗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 &gt;&gt; IEEE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16db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4x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信号强度差距），导致信号中断；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软制约：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长距离需高功耗补偿（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，占光模块整体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2/3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）且限制速率（同等信息损耗下，距离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2x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，信息损耗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2x 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），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10x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级缩距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：功耗均为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1.6Tbps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速率下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350886C-697B-026F-46EB-F4126C039A9E}"/>
              </a:ext>
            </a:extLst>
          </p:cNvPr>
          <p:cNvGrpSpPr/>
          <p:nvPr/>
        </p:nvGrpSpPr>
        <p:grpSpPr>
          <a:xfrm>
            <a:off x="4473209" y="2068100"/>
            <a:ext cx="8187507" cy="4042114"/>
            <a:chOff x="2568076" y="2105163"/>
            <a:chExt cx="8187507" cy="4042114"/>
          </a:xfrm>
        </p:grpSpPr>
        <p:sp>
          <p:nvSpPr>
            <p:cNvPr id="2195" name="矩形: 圆角 2194">
              <a:extLst>
                <a:ext uri="{FF2B5EF4-FFF2-40B4-BE49-F238E27FC236}">
                  <a16:creationId xmlns:a16="http://schemas.microsoft.com/office/drawing/2014/main" id="{1E008CC3-49DA-2C0C-1789-CD0CE484D03C}"/>
                </a:ext>
              </a:extLst>
            </p:cNvPr>
            <p:cNvSpPr/>
            <p:nvPr/>
          </p:nvSpPr>
          <p:spPr>
            <a:xfrm>
              <a:off x="5330856" y="3719775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6" name="文本框 1035">
              <a:extLst>
                <a:ext uri="{FF2B5EF4-FFF2-40B4-BE49-F238E27FC236}">
                  <a16:creationId xmlns:a16="http://schemas.microsoft.com/office/drawing/2014/main" id="{ECCC2ED5-0A88-21E2-49DF-C32546F8E5BC}"/>
                </a:ext>
              </a:extLst>
            </p:cNvPr>
            <p:cNvSpPr txBox="1"/>
            <p:nvPr/>
          </p:nvSpPr>
          <p:spPr>
            <a:xfrm>
              <a:off x="3432101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正面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2583401" y="295890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2685930" y="303090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3259680" y="3290152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4511448" y="3138295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4547034" y="3138295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4513888" y="3325917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4549474" y="3325917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4511448" y="390970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4547034" y="390970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4841648" y="395931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4515178" y="3728301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4550671" y="3728301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4666026" y="348172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4666026" y="362600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4666026" y="355386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4027386" y="3187908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4028672" y="3375530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4029704" y="3676691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4028672" y="3749163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3981667" y="337476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3982953" y="372630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3983985" y="365383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3982953" y="344615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2568076" y="487752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2670605" y="494952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3268663" y="5208772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3427029" y="5383738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4568274" y="5056915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4568273" y="5244537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4568273" y="5828322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4651459" y="587793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4568273" y="5646921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3976273" y="5106528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3976938" y="5294150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3976272" y="5537266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3976539" y="5591536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3930554" y="538325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3930820" y="556867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3930553" y="551440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3931219" y="543502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783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375294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187908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4651459" y="5697064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29338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106528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3868827" y="5383747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06118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57880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37962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93466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3564677" y="5199694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3560034" y="5567772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3294369" y="5379963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83" name="组合 2282">
              <a:extLst>
                <a:ext uri="{FF2B5EF4-FFF2-40B4-BE49-F238E27FC236}">
                  <a16:creationId xmlns:a16="http://schemas.microsoft.com/office/drawing/2014/main" id="{293D0147-C09F-6F8D-A3D3-8B10C8E129D5}"/>
                </a:ext>
              </a:extLst>
            </p:cNvPr>
            <p:cNvGrpSpPr/>
            <p:nvPr/>
          </p:nvGrpSpPr>
          <p:grpSpPr>
            <a:xfrm>
              <a:off x="6777012" y="5355590"/>
              <a:ext cx="180133" cy="51782"/>
              <a:chOff x="7867918" y="2835520"/>
              <a:chExt cx="180133" cy="51782"/>
            </a:xfrm>
          </p:grpSpPr>
          <p:sp>
            <p:nvSpPr>
              <p:cNvPr id="2284" name="椭圆 2283">
                <a:extLst>
                  <a:ext uri="{FF2B5EF4-FFF2-40B4-BE49-F238E27FC236}">
                    <a16:creationId xmlns:a16="http://schemas.microsoft.com/office/drawing/2014/main" id="{AE6FD3A3-80B0-1E9E-F69C-44524BD73C07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85" name="椭圆 2284">
                <a:extLst>
                  <a:ext uri="{FF2B5EF4-FFF2-40B4-BE49-F238E27FC236}">
                    <a16:creationId xmlns:a16="http://schemas.microsoft.com/office/drawing/2014/main" id="{E24357DA-78BF-37D7-9509-F80E141FF0FB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07" name="矩形 2206">
              <a:extLst>
                <a:ext uri="{FF2B5EF4-FFF2-40B4-BE49-F238E27FC236}">
                  <a16:creationId xmlns:a16="http://schemas.microsoft.com/office/drawing/2014/main" id="{9D01AEB0-2411-BFDB-2528-00333FFD822E}"/>
                </a:ext>
              </a:extLst>
            </p:cNvPr>
            <p:cNvSpPr/>
            <p:nvPr/>
          </p:nvSpPr>
          <p:spPr>
            <a:xfrm>
              <a:off x="7970483" y="3468200"/>
              <a:ext cx="583239" cy="246220"/>
            </a:xfrm>
            <a:custGeom>
              <a:avLst/>
              <a:gdLst>
                <a:gd name="connsiteX0" fmla="*/ 0 w 518039"/>
                <a:gd name="connsiteY0" fmla="*/ 0 h 246220"/>
                <a:gd name="connsiteX1" fmla="*/ 518039 w 518039"/>
                <a:gd name="connsiteY1" fmla="*/ 0 h 246220"/>
                <a:gd name="connsiteX2" fmla="*/ 518039 w 518039"/>
                <a:gd name="connsiteY2" fmla="*/ 246220 h 246220"/>
                <a:gd name="connsiteX3" fmla="*/ 0 w 518039"/>
                <a:gd name="connsiteY3" fmla="*/ 246220 h 246220"/>
                <a:gd name="connsiteX4" fmla="*/ 0 w 518039"/>
                <a:gd name="connsiteY4" fmla="*/ 0 h 246220"/>
                <a:gd name="connsiteX0" fmla="*/ 0 w 518039"/>
                <a:gd name="connsiteY0" fmla="*/ 0 h 246220"/>
                <a:gd name="connsiteX1" fmla="*/ 518039 w 518039"/>
                <a:gd name="connsiteY1" fmla="*/ 0 h 246220"/>
                <a:gd name="connsiteX2" fmla="*/ 518039 w 518039"/>
                <a:gd name="connsiteY2" fmla="*/ 246220 h 246220"/>
                <a:gd name="connsiteX3" fmla="*/ 422160 w 518039"/>
                <a:gd name="connsiteY3" fmla="*/ 246030 h 246220"/>
                <a:gd name="connsiteX4" fmla="*/ 0 w 518039"/>
                <a:gd name="connsiteY4" fmla="*/ 246220 h 246220"/>
                <a:gd name="connsiteX5" fmla="*/ 0 w 518039"/>
                <a:gd name="connsiteY5" fmla="*/ 0 h 24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8039" h="246220">
                  <a:moveTo>
                    <a:pt x="0" y="0"/>
                  </a:moveTo>
                  <a:lnTo>
                    <a:pt x="518039" y="0"/>
                  </a:lnTo>
                  <a:lnTo>
                    <a:pt x="518039" y="246220"/>
                  </a:lnTo>
                  <a:lnTo>
                    <a:pt x="422160" y="246030"/>
                  </a:lnTo>
                  <a:lnTo>
                    <a:pt x="0" y="246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2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8" name="椭圆 2217">
              <a:extLst>
                <a:ext uri="{FF2B5EF4-FFF2-40B4-BE49-F238E27FC236}">
                  <a16:creationId xmlns:a16="http://schemas.microsoft.com/office/drawing/2014/main" id="{4F68F8D8-5A4F-9AB0-A2B1-4AA8521AE26C}"/>
                </a:ext>
              </a:extLst>
            </p:cNvPr>
            <p:cNvSpPr/>
            <p:nvPr/>
          </p:nvSpPr>
          <p:spPr>
            <a:xfrm>
              <a:off x="8100201" y="3677084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9" name="椭圆 2218">
              <a:extLst>
                <a:ext uri="{FF2B5EF4-FFF2-40B4-BE49-F238E27FC236}">
                  <a16:creationId xmlns:a16="http://schemas.microsoft.com/office/drawing/2014/main" id="{697FD642-E1C7-984C-84FD-F9BA32AE213D}"/>
                </a:ext>
              </a:extLst>
            </p:cNvPr>
            <p:cNvSpPr/>
            <p:nvPr/>
          </p:nvSpPr>
          <p:spPr>
            <a:xfrm>
              <a:off x="8018472" y="3677908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216" name="组合 2215">
              <a:extLst>
                <a:ext uri="{FF2B5EF4-FFF2-40B4-BE49-F238E27FC236}">
                  <a16:creationId xmlns:a16="http://schemas.microsoft.com/office/drawing/2014/main" id="{88447058-E641-6033-8952-D70647929279}"/>
                </a:ext>
              </a:extLst>
            </p:cNvPr>
            <p:cNvGrpSpPr/>
            <p:nvPr/>
          </p:nvGrpSpPr>
          <p:grpSpPr>
            <a:xfrm>
              <a:off x="5792113" y="3427635"/>
              <a:ext cx="565185" cy="51782"/>
              <a:chOff x="7867918" y="2835520"/>
              <a:chExt cx="565185" cy="51782"/>
            </a:xfrm>
          </p:grpSpPr>
          <p:sp>
            <p:nvSpPr>
              <p:cNvPr id="2210" name="椭圆 2209">
                <a:extLst>
                  <a:ext uri="{FF2B5EF4-FFF2-40B4-BE49-F238E27FC236}">
                    <a16:creationId xmlns:a16="http://schemas.microsoft.com/office/drawing/2014/main" id="{CA5BA9F9-7CBE-A8DC-E632-02874C6EE9DD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2" name="椭圆 2211">
                <a:extLst>
                  <a:ext uri="{FF2B5EF4-FFF2-40B4-BE49-F238E27FC236}">
                    <a16:creationId xmlns:a16="http://schemas.microsoft.com/office/drawing/2014/main" id="{38157B7A-7332-FF4E-39CB-CE4F567035F6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3" name="椭圆 2212">
                <a:extLst>
                  <a:ext uri="{FF2B5EF4-FFF2-40B4-BE49-F238E27FC236}">
                    <a16:creationId xmlns:a16="http://schemas.microsoft.com/office/drawing/2014/main" id="{30AF12B0-CB8E-BA97-2FE1-598E1F01918C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4" name="椭圆 2213">
                <a:extLst>
                  <a:ext uri="{FF2B5EF4-FFF2-40B4-BE49-F238E27FC236}">
                    <a16:creationId xmlns:a16="http://schemas.microsoft.com/office/drawing/2014/main" id="{F8570447-E39D-1361-7A43-AA47875F2729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5" name="椭圆 2214">
                <a:extLst>
                  <a:ext uri="{FF2B5EF4-FFF2-40B4-BE49-F238E27FC236}">
                    <a16:creationId xmlns:a16="http://schemas.microsoft.com/office/drawing/2014/main" id="{48899A2D-3DEA-B68D-20ED-9FB5F2AEA527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203" name="组合 2202">
              <a:extLst>
                <a:ext uri="{FF2B5EF4-FFF2-40B4-BE49-F238E27FC236}">
                  <a16:creationId xmlns:a16="http://schemas.microsoft.com/office/drawing/2014/main" id="{D173D587-F239-6090-3BB5-3FD3512DB4C5}"/>
                </a:ext>
              </a:extLst>
            </p:cNvPr>
            <p:cNvGrpSpPr/>
            <p:nvPr/>
          </p:nvGrpSpPr>
          <p:grpSpPr>
            <a:xfrm>
              <a:off x="5756277" y="3667993"/>
              <a:ext cx="1049169" cy="51782"/>
              <a:chOff x="7142854" y="3452768"/>
              <a:chExt cx="1049169" cy="51782"/>
            </a:xfrm>
          </p:grpSpPr>
          <p:sp>
            <p:nvSpPr>
              <p:cNvPr id="2197" name="椭圆 2196">
                <a:extLst>
                  <a:ext uri="{FF2B5EF4-FFF2-40B4-BE49-F238E27FC236}">
                    <a16:creationId xmlns:a16="http://schemas.microsoft.com/office/drawing/2014/main" id="{8ABCF628-3AF5-004E-C79D-36DC0313349F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98" name="椭圆 2197">
                <a:extLst>
                  <a:ext uri="{FF2B5EF4-FFF2-40B4-BE49-F238E27FC236}">
                    <a16:creationId xmlns:a16="http://schemas.microsoft.com/office/drawing/2014/main" id="{4602E9E2-13BE-B2DE-BE32-81AD1B8D9C35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99" name="椭圆 2198">
                <a:extLst>
                  <a:ext uri="{FF2B5EF4-FFF2-40B4-BE49-F238E27FC236}">
                    <a16:creationId xmlns:a16="http://schemas.microsoft.com/office/drawing/2014/main" id="{C35EC5BA-E3D0-A6BF-8B4D-32CD24E466FE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0" name="椭圆 2199">
                <a:extLst>
                  <a:ext uri="{FF2B5EF4-FFF2-40B4-BE49-F238E27FC236}">
                    <a16:creationId xmlns:a16="http://schemas.microsoft.com/office/drawing/2014/main" id="{86899C8A-820B-5595-CF80-7635EFF3B8FB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1" name="椭圆 2200">
                <a:extLst>
                  <a:ext uri="{FF2B5EF4-FFF2-40B4-BE49-F238E27FC236}">
                    <a16:creationId xmlns:a16="http://schemas.microsoft.com/office/drawing/2014/main" id="{FB518041-1704-7B53-FAC9-036F2F9391CB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2" name="椭圆 2201">
                <a:extLst>
                  <a:ext uri="{FF2B5EF4-FFF2-40B4-BE49-F238E27FC236}">
                    <a16:creationId xmlns:a16="http://schemas.microsoft.com/office/drawing/2014/main" id="{910145BF-E1E5-1AA7-6FD0-D639FBFCFC9F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1938A181-D8E7-F0C8-3BBF-FF91B86C52D1}"/>
                </a:ext>
              </a:extLst>
            </p:cNvPr>
            <p:cNvSpPr txBox="1"/>
            <p:nvPr/>
          </p:nvSpPr>
          <p:spPr>
            <a:xfrm>
              <a:off x="6282008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侧面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B3DB5D86-7298-E069-2C2F-CEA180A43E86}"/>
                </a:ext>
              </a:extLst>
            </p:cNvPr>
            <p:cNvSpPr txBox="1"/>
            <p:nvPr/>
          </p:nvSpPr>
          <p:spPr>
            <a:xfrm>
              <a:off x="5360854" y="3738417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PCB</a:t>
              </a:r>
              <a:endParaRPr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96" name="矩形: 圆角 2195">
              <a:extLst>
                <a:ext uri="{FF2B5EF4-FFF2-40B4-BE49-F238E27FC236}">
                  <a16:creationId xmlns:a16="http://schemas.microsoft.com/office/drawing/2014/main" id="{A9689017-7DD6-76F0-78D5-C96A6E551E36}"/>
                </a:ext>
              </a:extLst>
            </p:cNvPr>
            <p:cNvSpPr/>
            <p:nvPr/>
          </p:nvSpPr>
          <p:spPr>
            <a:xfrm>
              <a:off x="5560302" y="3472402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rgbClr val="0052D9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4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A3BFFFB6-29D2-A4FF-FB48-E365C59291FE}"/>
                </a:ext>
              </a:extLst>
            </p:cNvPr>
            <p:cNvSpPr txBox="1"/>
            <p:nvPr/>
          </p:nvSpPr>
          <p:spPr>
            <a:xfrm>
              <a:off x="5557540" y="3451363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05" name="矩形: 圆角 2204">
              <a:extLst>
                <a:ext uri="{FF2B5EF4-FFF2-40B4-BE49-F238E27FC236}">
                  <a16:creationId xmlns:a16="http://schemas.microsoft.com/office/drawing/2014/main" id="{FC3D11DF-B48F-22F8-3A54-3F120F0497FF}"/>
                </a:ext>
              </a:extLst>
            </p:cNvPr>
            <p:cNvSpPr/>
            <p:nvPr/>
          </p:nvSpPr>
          <p:spPr>
            <a:xfrm>
              <a:off x="5762833" y="3278061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6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0172ECF7-A8D8-FF33-A5CD-62523203A418}"/>
                </a:ext>
              </a:extLst>
            </p:cNvPr>
            <p:cNvSpPr txBox="1"/>
            <p:nvPr/>
          </p:nvSpPr>
          <p:spPr>
            <a:xfrm>
              <a:off x="5874015" y="3233436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ASIC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08" name="矩形 2207">
              <a:extLst>
                <a:ext uri="{FF2B5EF4-FFF2-40B4-BE49-F238E27FC236}">
                  <a16:creationId xmlns:a16="http://schemas.microsoft.com/office/drawing/2014/main" id="{5729BD6E-BD70-026D-D0A9-18CBAA9331F4}"/>
                </a:ext>
              </a:extLst>
            </p:cNvPr>
            <p:cNvSpPr/>
            <p:nvPr/>
          </p:nvSpPr>
          <p:spPr>
            <a:xfrm>
              <a:off x="8180455" y="3552471"/>
              <a:ext cx="196913" cy="12422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24" name="直接连接符 2223">
              <a:extLst>
                <a:ext uri="{FF2B5EF4-FFF2-40B4-BE49-F238E27FC236}">
                  <a16:creationId xmlns:a16="http://schemas.microsoft.com/office/drawing/2014/main" id="{62AA3A83-4266-4CAE-BBFD-2A54070AF530}"/>
                </a:ext>
              </a:extLst>
            </p:cNvPr>
            <p:cNvCxnSpPr>
              <a:cxnSpLocks/>
              <a:stCxn id="2208" idx="3"/>
            </p:cNvCxnSpPr>
            <p:nvPr/>
          </p:nvCxnSpPr>
          <p:spPr>
            <a:xfrm>
              <a:off x="8377368" y="3614581"/>
              <a:ext cx="687160" cy="2331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5" name="椭圆 2224">
              <a:extLst>
                <a:ext uri="{FF2B5EF4-FFF2-40B4-BE49-F238E27FC236}">
                  <a16:creationId xmlns:a16="http://schemas.microsoft.com/office/drawing/2014/main" id="{C7061CA2-8A37-562B-4D0B-B6D8EB4B0A9B}"/>
                </a:ext>
              </a:extLst>
            </p:cNvPr>
            <p:cNvSpPr/>
            <p:nvPr/>
          </p:nvSpPr>
          <p:spPr>
            <a:xfrm>
              <a:off x="8594229" y="3524066"/>
              <a:ext cx="149225" cy="88931"/>
            </a:xfrm>
            <a:prstGeom prst="ellipse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26" name="文本框 2225">
              <a:extLst>
                <a:ext uri="{FF2B5EF4-FFF2-40B4-BE49-F238E27FC236}">
                  <a16:creationId xmlns:a16="http://schemas.microsoft.com/office/drawing/2014/main" id="{455C7CC0-F6B0-B45C-7FA1-54946414C3CC}"/>
                </a:ext>
              </a:extLst>
            </p:cNvPr>
            <p:cNvSpPr txBox="1"/>
            <p:nvPr/>
          </p:nvSpPr>
          <p:spPr>
            <a:xfrm>
              <a:off x="5634495" y="2927195"/>
              <a:ext cx="92286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交换机芯片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27" name="文本框 2226">
              <a:extLst>
                <a:ext uri="{FF2B5EF4-FFF2-40B4-BE49-F238E27FC236}">
                  <a16:creationId xmlns:a16="http://schemas.microsoft.com/office/drawing/2014/main" id="{65F1A0DD-FDE9-FF90-E031-F979EAB49F85}"/>
                </a:ext>
              </a:extLst>
            </p:cNvPr>
            <p:cNvSpPr txBox="1"/>
            <p:nvPr/>
          </p:nvSpPr>
          <p:spPr>
            <a:xfrm>
              <a:off x="6669921" y="2972902"/>
              <a:ext cx="3227870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光模块：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30W</a:t>
              </a:r>
              <a:r>
                <a:rPr kumimoji="1" lang="en-US" altLang="zh-CN" sz="1400" baseline="30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20W (</a:t>
              </a:r>
              <a:r>
                <a:rPr kumimoji="1"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功放</a:t>
              </a: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) + 10W (</a:t>
              </a:r>
              <a:r>
                <a:rPr kumimoji="1"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光引擎，含光源</a:t>
              </a: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)</a:t>
              </a:r>
            </a:p>
          </p:txBody>
        </p:sp>
        <p:cxnSp>
          <p:nvCxnSpPr>
            <p:cNvPr id="2229" name="直接连接符 2228">
              <a:extLst>
                <a:ext uri="{FF2B5EF4-FFF2-40B4-BE49-F238E27FC236}">
                  <a16:creationId xmlns:a16="http://schemas.microsoft.com/office/drawing/2014/main" id="{9557C8EE-3643-9A2D-2E7A-141A75053537}"/>
                </a:ext>
              </a:extLst>
            </p:cNvPr>
            <p:cNvCxnSpPr>
              <a:cxnSpLocks/>
            </p:cNvCxnSpPr>
            <p:nvPr/>
          </p:nvCxnSpPr>
          <p:spPr>
            <a:xfrm>
              <a:off x="6333353" y="3443396"/>
              <a:ext cx="0" cy="72522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直接连接符 2235">
              <a:extLst>
                <a:ext uri="{FF2B5EF4-FFF2-40B4-BE49-F238E27FC236}">
                  <a16:creationId xmlns:a16="http://schemas.microsoft.com/office/drawing/2014/main" id="{0EB20CDE-E882-220D-0F19-FED55ADB4629}"/>
                </a:ext>
              </a:extLst>
            </p:cNvPr>
            <p:cNvCxnSpPr>
              <a:cxnSpLocks/>
            </p:cNvCxnSpPr>
            <p:nvPr/>
          </p:nvCxnSpPr>
          <p:spPr>
            <a:xfrm>
              <a:off x="6331419" y="3512978"/>
              <a:ext cx="246441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直接连接符 2238">
              <a:extLst>
                <a:ext uri="{FF2B5EF4-FFF2-40B4-BE49-F238E27FC236}">
                  <a16:creationId xmlns:a16="http://schemas.microsoft.com/office/drawing/2014/main" id="{3BB8C5A6-EF61-9080-E5D5-A159AE033667}"/>
                </a:ext>
              </a:extLst>
            </p:cNvPr>
            <p:cNvCxnSpPr>
              <a:cxnSpLocks/>
            </p:cNvCxnSpPr>
            <p:nvPr/>
          </p:nvCxnSpPr>
          <p:spPr>
            <a:xfrm>
              <a:off x="6576272" y="3509774"/>
              <a:ext cx="0" cy="246105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直接连接符 2240">
              <a:extLst>
                <a:ext uri="{FF2B5EF4-FFF2-40B4-BE49-F238E27FC236}">
                  <a16:creationId xmlns:a16="http://schemas.microsoft.com/office/drawing/2014/main" id="{8DA9BE6F-0C56-E310-3B45-5ECC625C7DBF}"/>
                </a:ext>
              </a:extLst>
            </p:cNvPr>
            <p:cNvCxnSpPr>
              <a:cxnSpLocks/>
            </p:cNvCxnSpPr>
            <p:nvPr/>
          </p:nvCxnSpPr>
          <p:spPr>
            <a:xfrm>
              <a:off x="6574684" y="3754291"/>
              <a:ext cx="1469679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4" name="直接连接符 2243">
              <a:extLst>
                <a:ext uri="{FF2B5EF4-FFF2-40B4-BE49-F238E27FC236}">
                  <a16:creationId xmlns:a16="http://schemas.microsoft.com/office/drawing/2014/main" id="{58C058FE-4759-2C16-CE42-2F324A539B69}"/>
                </a:ext>
              </a:extLst>
            </p:cNvPr>
            <p:cNvCxnSpPr>
              <a:cxnSpLocks/>
            </p:cNvCxnSpPr>
            <p:nvPr/>
          </p:nvCxnSpPr>
          <p:spPr>
            <a:xfrm>
              <a:off x="8044363" y="3682672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0" name="组合 2249">
              <a:extLst>
                <a:ext uri="{FF2B5EF4-FFF2-40B4-BE49-F238E27FC236}">
                  <a16:creationId xmlns:a16="http://schemas.microsoft.com/office/drawing/2014/main" id="{FA361268-33C5-5237-7382-702CAA895B30}"/>
                </a:ext>
              </a:extLst>
            </p:cNvPr>
            <p:cNvGrpSpPr/>
            <p:nvPr/>
          </p:nvGrpSpPr>
          <p:grpSpPr>
            <a:xfrm>
              <a:off x="5792113" y="5359855"/>
              <a:ext cx="565185" cy="51782"/>
              <a:chOff x="7867918" y="2835520"/>
              <a:chExt cx="565185" cy="51782"/>
            </a:xfrm>
          </p:grpSpPr>
          <p:sp>
            <p:nvSpPr>
              <p:cNvPr id="2251" name="椭圆 2250">
                <a:extLst>
                  <a:ext uri="{FF2B5EF4-FFF2-40B4-BE49-F238E27FC236}">
                    <a16:creationId xmlns:a16="http://schemas.microsoft.com/office/drawing/2014/main" id="{CE867EE8-784B-7EA0-2AE4-38FB744C7858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2" name="椭圆 2251">
                <a:extLst>
                  <a:ext uri="{FF2B5EF4-FFF2-40B4-BE49-F238E27FC236}">
                    <a16:creationId xmlns:a16="http://schemas.microsoft.com/office/drawing/2014/main" id="{512F357D-5791-B114-77F8-EDDD352ACB31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3" name="椭圆 2252">
                <a:extLst>
                  <a:ext uri="{FF2B5EF4-FFF2-40B4-BE49-F238E27FC236}">
                    <a16:creationId xmlns:a16="http://schemas.microsoft.com/office/drawing/2014/main" id="{B1450D27-52E0-8897-595C-4491F2883DC7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4" name="椭圆 2253">
                <a:extLst>
                  <a:ext uri="{FF2B5EF4-FFF2-40B4-BE49-F238E27FC236}">
                    <a16:creationId xmlns:a16="http://schemas.microsoft.com/office/drawing/2014/main" id="{4AB83A58-3FB7-570C-5F2F-2E10CEE141AA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5" name="椭圆 2254">
                <a:extLst>
                  <a:ext uri="{FF2B5EF4-FFF2-40B4-BE49-F238E27FC236}">
                    <a16:creationId xmlns:a16="http://schemas.microsoft.com/office/drawing/2014/main" id="{237EA7FA-0F9D-03AD-06B3-F3C688B2BE6E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256" name="组合 2255">
              <a:extLst>
                <a:ext uri="{FF2B5EF4-FFF2-40B4-BE49-F238E27FC236}">
                  <a16:creationId xmlns:a16="http://schemas.microsoft.com/office/drawing/2014/main" id="{104F4237-0ECE-FAC8-C76A-5C74B430FDEE}"/>
                </a:ext>
              </a:extLst>
            </p:cNvPr>
            <p:cNvGrpSpPr/>
            <p:nvPr/>
          </p:nvGrpSpPr>
          <p:grpSpPr>
            <a:xfrm>
              <a:off x="5756277" y="5600213"/>
              <a:ext cx="1049169" cy="51782"/>
              <a:chOff x="7142854" y="3452768"/>
              <a:chExt cx="1049169" cy="51782"/>
            </a:xfrm>
          </p:grpSpPr>
          <p:sp>
            <p:nvSpPr>
              <p:cNvPr id="2257" name="椭圆 2256">
                <a:extLst>
                  <a:ext uri="{FF2B5EF4-FFF2-40B4-BE49-F238E27FC236}">
                    <a16:creationId xmlns:a16="http://schemas.microsoft.com/office/drawing/2014/main" id="{71E17CA2-D1CB-90B1-1378-AAFEF7CAB994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8" name="椭圆 2257">
                <a:extLst>
                  <a:ext uri="{FF2B5EF4-FFF2-40B4-BE49-F238E27FC236}">
                    <a16:creationId xmlns:a16="http://schemas.microsoft.com/office/drawing/2014/main" id="{AD8B3459-9F75-972C-5BD1-0FA76EEE997C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9" name="椭圆 2258">
                <a:extLst>
                  <a:ext uri="{FF2B5EF4-FFF2-40B4-BE49-F238E27FC236}">
                    <a16:creationId xmlns:a16="http://schemas.microsoft.com/office/drawing/2014/main" id="{19AB80E7-AAE6-1430-0645-C6228172DB21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0" name="椭圆 2259">
                <a:extLst>
                  <a:ext uri="{FF2B5EF4-FFF2-40B4-BE49-F238E27FC236}">
                    <a16:creationId xmlns:a16="http://schemas.microsoft.com/office/drawing/2014/main" id="{B1574E16-4F59-CDE9-8941-ADCF0B47ED1D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1" name="椭圆 2260">
                <a:extLst>
                  <a:ext uri="{FF2B5EF4-FFF2-40B4-BE49-F238E27FC236}">
                    <a16:creationId xmlns:a16="http://schemas.microsoft.com/office/drawing/2014/main" id="{51082EBD-8CE3-8786-8F1B-69B0D0FF5F46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2" name="椭圆 2261">
                <a:extLst>
                  <a:ext uri="{FF2B5EF4-FFF2-40B4-BE49-F238E27FC236}">
                    <a16:creationId xmlns:a16="http://schemas.microsoft.com/office/drawing/2014/main" id="{8DB8E0BF-6BD1-1DCE-7734-AB525E2B7614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64" name="矩形: 圆角 2263">
              <a:extLst>
                <a:ext uri="{FF2B5EF4-FFF2-40B4-BE49-F238E27FC236}">
                  <a16:creationId xmlns:a16="http://schemas.microsoft.com/office/drawing/2014/main" id="{FA1199EA-B4C2-CF1A-6C6B-5DFDEBA7396A}"/>
                </a:ext>
              </a:extLst>
            </p:cNvPr>
            <p:cNvSpPr/>
            <p:nvPr/>
          </p:nvSpPr>
          <p:spPr>
            <a:xfrm>
              <a:off x="5330856" y="5651995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5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9FD425D7-822D-9513-9EAD-EBC21FB6314B}"/>
                </a:ext>
              </a:extLst>
            </p:cNvPr>
            <p:cNvSpPr txBox="1"/>
            <p:nvPr/>
          </p:nvSpPr>
          <p:spPr>
            <a:xfrm>
              <a:off x="5360854" y="5670637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PCB</a:t>
              </a:r>
              <a:endParaRPr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6" name="矩形: 圆角 2265">
              <a:extLst>
                <a:ext uri="{FF2B5EF4-FFF2-40B4-BE49-F238E27FC236}">
                  <a16:creationId xmlns:a16="http://schemas.microsoft.com/office/drawing/2014/main" id="{FE22F93E-1D6A-3B68-0211-EC2A88AE0634}"/>
                </a:ext>
              </a:extLst>
            </p:cNvPr>
            <p:cNvSpPr/>
            <p:nvPr/>
          </p:nvSpPr>
          <p:spPr>
            <a:xfrm>
              <a:off x="5560302" y="5404622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rgbClr val="0052D9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7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C02EEDB5-3528-FAE8-0B9A-EF98C6094930}"/>
                </a:ext>
              </a:extLst>
            </p:cNvPr>
            <p:cNvSpPr txBox="1"/>
            <p:nvPr/>
          </p:nvSpPr>
          <p:spPr>
            <a:xfrm>
              <a:off x="5557540" y="5383583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8" name="矩形: 圆角 2267">
              <a:extLst>
                <a:ext uri="{FF2B5EF4-FFF2-40B4-BE49-F238E27FC236}">
                  <a16:creationId xmlns:a16="http://schemas.microsoft.com/office/drawing/2014/main" id="{C85569D9-DA69-AA91-EE22-A97E96711DB2}"/>
                </a:ext>
              </a:extLst>
            </p:cNvPr>
            <p:cNvSpPr/>
            <p:nvPr/>
          </p:nvSpPr>
          <p:spPr>
            <a:xfrm>
              <a:off x="5762833" y="5210281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9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8EBBBC45-249E-1216-FBF3-27F624E7F983}"/>
                </a:ext>
              </a:extLst>
            </p:cNvPr>
            <p:cNvSpPr txBox="1"/>
            <p:nvPr/>
          </p:nvSpPr>
          <p:spPr>
            <a:xfrm>
              <a:off x="5874015" y="5165656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ASIC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70" name="矩形 2269">
              <a:extLst>
                <a:ext uri="{FF2B5EF4-FFF2-40B4-BE49-F238E27FC236}">
                  <a16:creationId xmlns:a16="http://schemas.microsoft.com/office/drawing/2014/main" id="{F8D7BD25-F9C1-3DA6-3512-B4DB765C4A05}"/>
                </a:ext>
              </a:extLst>
            </p:cNvPr>
            <p:cNvSpPr/>
            <p:nvPr/>
          </p:nvSpPr>
          <p:spPr>
            <a:xfrm>
              <a:off x="8199553" y="5468340"/>
              <a:ext cx="160995" cy="178299"/>
            </a:xfrm>
            <a:prstGeom prst="rect">
              <a:avLst/>
            </a:prstGeom>
            <a:solidFill>
              <a:srgbClr val="D9D9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72" name="直接连接符 2271">
              <a:extLst>
                <a:ext uri="{FF2B5EF4-FFF2-40B4-BE49-F238E27FC236}">
                  <a16:creationId xmlns:a16="http://schemas.microsoft.com/office/drawing/2014/main" id="{E100FBD0-82FA-926D-1539-9BF437657691}"/>
                </a:ext>
              </a:extLst>
            </p:cNvPr>
            <p:cNvCxnSpPr>
              <a:cxnSpLocks/>
            </p:cNvCxnSpPr>
            <p:nvPr/>
          </p:nvCxnSpPr>
          <p:spPr>
            <a:xfrm>
              <a:off x="7317333" y="5549131"/>
              <a:ext cx="1658150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3" name="椭圆 2272">
              <a:extLst>
                <a:ext uri="{FF2B5EF4-FFF2-40B4-BE49-F238E27FC236}">
                  <a16:creationId xmlns:a16="http://schemas.microsoft.com/office/drawing/2014/main" id="{D0FB83C0-5D0D-82B6-CBCD-A5DE0610F40A}"/>
                </a:ext>
              </a:extLst>
            </p:cNvPr>
            <p:cNvSpPr/>
            <p:nvPr/>
          </p:nvSpPr>
          <p:spPr>
            <a:xfrm>
              <a:off x="8594229" y="5456286"/>
              <a:ext cx="149225" cy="88931"/>
            </a:xfrm>
            <a:prstGeom prst="ellipse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74" name="文本框 2273">
              <a:extLst>
                <a:ext uri="{FF2B5EF4-FFF2-40B4-BE49-F238E27FC236}">
                  <a16:creationId xmlns:a16="http://schemas.microsoft.com/office/drawing/2014/main" id="{4CEBBF05-9ED7-45E3-F1CD-E8E480E1E2C2}"/>
                </a:ext>
              </a:extLst>
            </p:cNvPr>
            <p:cNvSpPr txBox="1"/>
            <p:nvPr/>
          </p:nvSpPr>
          <p:spPr>
            <a:xfrm>
              <a:off x="5587594" y="4868277"/>
              <a:ext cx="954142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交换机芯片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75" name="文本框 2274">
              <a:extLst>
                <a:ext uri="{FF2B5EF4-FFF2-40B4-BE49-F238E27FC236}">
                  <a16:creationId xmlns:a16="http://schemas.microsoft.com/office/drawing/2014/main" id="{6391F045-3E0C-4C11-BE09-1E81CE2F8190}"/>
                </a:ext>
              </a:extLst>
            </p:cNvPr>
            <p:cNvSpPr txBox="1"/>
            <p:nvPr/>
          </p:nvSpPr>
          <p:spPr>
            <a:xfrm>
              <a:off x="7644385" y="5092875"/>
              <a:ext cx="1346973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外置光源：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2W</a:t>
              </a:r>
            </a:p>
          </p:txBody>
        </p:sp>
        <p:cxnSp>
          <p:nvCxnSpPr>
            <p:cNvPr id="2276" name="直接连接符 2275">
              <a:extLst>
                <a:ext uri="{FF2B5EF4-FFF2-40B4-BE49-F238E27FC236}">
                  <a16:creationId xmlns:a16="http://schemas.microsoft.com/office/drawing/2014/main" id="{285E3344-6D39-AA0B-6F38-F5AC3941F282}"/>
                </a:ext>
              </a:extLst>
            </p:cNvPr>
            <p:cNvCxnSpPr>
              <a:cxnSpLocks/>
            </p:cNvCxnSpPr>
            <p:nvPr/>
          </p:nvCxnSpPr>
          <p:spPr>
            <a:xfrm>
              <a:off x="6333353" y="5375616"/>
              <a:ext cx="0" cy="72522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直接连接符 2276">
              <a:extLst>
                <a:ext uri="{FF2B5EF4-FFF2-40B4-BE49-F238E27FC236}">
                  <a16:creationId xmlns:a16="http://schemas.microsoft.com/office/drawing/2014/main" id="{1F0623B0-B366-3726-28B5-EC3405D1B9BF}"/>
                </a:ext>
              </a:extLst>
            </p:cNvPr>
            <p:cNvCxnSpPr>
              <a:cxnSpLocks/>
            </p:cNvCxnSpPr>
            <p:nvPr/>
          </p:nvCxnSpPr>
          <p:spPr>
            <a:xfrm>
              <a:off x="6331419" y="5445198"/>
              <a:ext cx="476327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0" name="直接连接符 2279">
              <a:extLst>
                <a:ext uri="{FF2B5EF4-FFF2-40B4-BE49-F238E27FC236}">
                  <a16:creationId xmlns:a16="http://schemas.microsoft.com/office/drawing/2014/main" id="{3CA154A8-D81D-3F84-BD29-5F4C81D1B490}"/>
                </a:ext>
              </a:extLst>
            </p:cNvPr>
            <p:cNvCxnSpPr>
              <a:cxnSpLocks/>
            </p:cNvCxnSpPr>
            <p:nvPr/>
          </p:nvCxnSpPr>
          <p:spPr>
            <a:xfrm>
              <a:off x="6804873" y="5356800"/>
              <a:ext cx="0" cy="89316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2" name="矩形 2281">
              <a:extLst>
                <a:ext uri="{FF2B5EF4-FFF2-40B4-BE49-F238E27FC236}">
                  <a16:creationId xmlns:a16="http://schemas.microsoft.com/office/drawing/2014/main" id="{C4CB0141-DC23-7B97-F507-DDBF687B0693}"/>
                </a:ext>
              </a:extLst>
            </p:cNvPr>
            <p:cNvSpPr/>
            <p:nvPr/>
          </p:nvSpPr>
          <p:spPr>
            <a:xfrm>
              <a:off x="6769328" y="5237672"/>
              <a:ext cx="196913" cy="11955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6" name="文本框 2285">
              <a:extLst>
                <a:ext uri="{FF2B5EF4-FFF2-40B4-BE49-F238E27FC236}">
                  <a16:creationId xmlns:a16="http://schemas.microsoft.com/office/drawing/2014/main" id="{C4F3FA20-ED2F-D8A3-57F6-9D5CAF9BE563}"/>
                </a:ext>
              </a:extLst>
            </p:cNvPr>
            <p:cNvSpPr txBox="1"/>
            <p:nvPr/>
          </p:nvSpPr>
          <p:spPr>
            <a:xfrm>
              <a:off x="6635783" y="4858874"/>
              <a:ext cx="1048633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光引擎：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7W</a:t>
              </a:r>
            </a:p>
          </p:txBody>
        </p:sp>
        <p:cxnSp>
          <p:nvCxnSpPr>
            <p:cNvPr id="2293" name="直接连接符 2292">
              <a:extLst>
                <a:ext uri="{FF2B5EF4-FFF2-40B4-BE49-F238E27FC236}">
                  <a16:creationId xmlns:a16="http://schemas.microsoft.com/office/drawing/2014/main" id="{9A251054-255C-BF2D-077F-658927E18F9F}"/>
                </a:ext>
              </a:extLst>
            </p:cNvPr>
            <p:cNvCxnSpPr>
              <a:cxnSpLocks/>
            </p:cNvCxnSpPr>
            <p:nvPr/>
          </p:nvCxnSpPr>
          <p:spPr>
            <a:xfrm>
              <a:off x="6964908" y="5304656"/>
              <a:ext cx="358775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直接连接符 2294">
              <a:extLst>
                <a:ext uri="{FF2B5EF4-FFF2-40B4-BE49-F238E27FC236}">
                  <a16:creationId xmlns:a16="http://schemas.microsoft.com/office/drawing/2014/main" id="{AEA847F6-D574-A430-6A5E-507518DBE31D}"/>
                </a:ext>
              </a:extLst>
            </p:cNvPr>
            <p:cNvCxnSpPr>
              <a:cxnSpLocks/>
            </p:cNvCxnSpPr>
            <p:nvPr/>
          </p:nvCxnSpPr>
          <p:spPr>
            <a:xfrm>
              <a:off x="7320508" y="5297530"/>
              <a:ext cx="0" cy="25224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7" name="矩形 2296">
              <a:extLst>
                <a:ext uri="{FF2B5EF4-FFF2-40B4-BE49-F238E27FC236}">
                  <a16:creationId xmlns:a16="http://schemas.microsoft.com/office/drawing/2014/main" id="{BDDD23E1-A576-068D-5EFB-FB8F2DF60D2E}"/>
                </a:ext>
              </a:extLst>
            </p:cNvPr>
            <p:cNvSpPr/>
            <p:nvPr/>
          </p:nvSpPr>
          <p:spPr>
            <a:xfrm>
              <a:off x="8166810" y="5521456"/>
              <a:ext cx="238490" cy="496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4" name="连接符: 肘形 3">
              <a:extLst>
                <a:ext uri="{FF2B5EF4-FFF2-40B4-BE49-F238E27FC236}">
                  <a16:creationId xmlns:a16="http://schemas.microsoft.com/office/drawing/2014/main" id="{39F46A2D-EB35-B179-00C5-9AC49FE23C20}"/>
                </a:ext>
              </a:extLst>
            </p:cNvPr>
            <p:cNvCxnSpPr>
              <a:cxnSpLocks/>
              <a:stCxn id="2208" idx="2"/>
              <a:endCxn id="2282" idx="0"/>
            </p:cNvCxnSpPr>
            <p:nvPr/>
          </p:nvCxnSpPr>
          <p:spPr>
            <a:xfrm rot="5400000">
              <a:off x="6792859" y="3751618"/>
              <a:ext cx="1560981" cy="1411127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0052D9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EE17CA1-B873-58C8-C886-BEDAF753562F}"/>
                </a:ext>
              </a:extLst>
            </p:cNvPr>
            <p:cNvSpPr/>
            <p:nvPr/>
          </p:nvSpPr>
          <p:spPr>
            <a:xfrm>
              <a:off x="8004102" y="3553862"/>
              <a:ext cx="163588" cy="12282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5" name="椭圆 2244">
              <a:extLst>
                <a:ext uri="{FF2B5EF4-FFF2-40B4-BE49-F238E27FC236}">
                  <a16:creationId xmlns:a16="http://schemas.microsoft.com/office/drawing/2014/main" id="{493B989A-0BAA-46CC-573B-65C09D39CF00}"/>
                </a:ext>
              </a:extLst>
            </p:cNvPr>
            <p:cNvSpPr/>
            <p:nvPr/>
          </p:nvSpPr>
          <p:spPr>
            <a:xfrm>
              <a:off x="8286097" y="3675867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6" name="椭圆 2245">
              <a:extLst>
                <a:ext uri="{FF2B5EF4-FFF2-40B4-BE49-F238E27FC236}">
                  <a16:creationId xmlns:a16="http://schemas.microsoft.com/office/drawing/2014/main" id="{8E212FC6-BB78-F14B-0660-4327A0CDE51F}"/>
                </a:ext>
              </a:extLst>
            </p:cNvPr>
            <p:cNvSpPr/>
            <p:nvPr/>
          </p:nvSpPr>
          <p:spPr>
            <a:xfrm>
              <a:off x="8204368" y="3676691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47" name="直接连接符 2246">
              <a:extLst>
                <a:ext uri="{FF2B5EF4-FFF2-40B4-BE49-F238E27FC236}">
                  <a16:creationId xmlns:a16="http://schemas.microsoft.com/office/drawing/2014/main" id="{4BEC45EB-6ECD-9D67-10A7-2909C80F2BCA}"/>
                </a:ext>
              </a:extLst>
            </p:cNvPr>
            <p:cNvCxnSpPr>
              <a:cxnSpLocks/>
            </p:cNvCxnSpPr>
            <p:nvPr/>
          </p:nvCxnSpPr>
          <p:spPr>
            <a:xfrm>
              <a:off x="8123238" y="3752339"/>
              <a:ext cx="110037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1" name="直接连接符 2270">
              <a:extLst>
                <a:ext uri="{FF2B5EF4-FFF2-40B4-BE49-F238E27FC236}">
                  <a16:creationId xmlns:a16="http://schemas.microsoft.com/office/drawing/2014/main" id="{7F730EB3-8D5A-9C97-39B7-82D20ADC53BE}"/>
                </a:ext>
              </a:extLst>
            </p:cNvPr>
            <p:cNvCxnSpPr>
              <a:cxnSpLocks/>
            </p:cNvCxnSpPr>
            <p:nvPr/>
          </p:nvCxnSpPr>
          <p:spPr>
            <a:xfrm>
              <a:off x="8233275" y="3680720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7" name="直接连接符 2286">
              <a:extLst>
                <a:ext uri="{FF2B5EF4-FFF2-40B4-BE49-F238E27FC236}">
                  <a16:creationId xmlns:a16="http://schemas.microsoft.com/office/drawing/2014/main" id="{69F62410-1C97-AD9E-0107-EDC00361AFA5}"/>
                </a:ext>
              </a:extLst>
            </p:cNvPr>
            <p:cNvCxnSpPr>
              <a:cxnSpLocks/>
            </p:cNvCxnSpPr>
            <p:nvPr/>
          </p:nvCxnSpPr>
          <p:spPr>
            <a:xfrm>
              <a:off x="8126913" y="3681969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直接箭头连接符 2302">
              <a:extLst>
                <a:ext uri="{FF2B5EF4-FFF2-40B4-BE49-F238E27FC236}">
                  <a16:creationId xmlns:a16="http://schemas.microsoft.com/office/drawing/2014/main" id="{BC55CDD2-E772-C35E-78E6-6D89D2399390}"/>
                </a:ext>
              </a:extLst>
            </p:cNvPr>
            <p:cNvCxnSpPr>
              <a:cxnSpLocks/>
            </p:cNvCxnSpPr>
            <p:nvPr/>
          </p:nvCxnSpPr>
          <p:spPr>
            <a:xfrm>
              <a:off x="8275502" y="4453404"/>
              <a:ext cx="0" cy="1014936"/>
            </a:xfrm>
            <a:prstGeom prst="straightConnector1">
              <a:avLst/>
            </a:prstGeom>
            <a:ln w="952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834DDFF-3CD2-B224-D30A-9AAF270E7E99}"/>
              </a:ext>
            </a:extLst>
          </p:cNvPr>
          <p:cNvGrpSpPr/>
          <p:nvPr/>
        </p:nvGrpSpPr>
        <p:grpSpPr>
          <a:xfrm>
            <a:off x="3021878" y="2068100"/>
            <a:ext cx="4498799" cy="3469687"/>
            <a:chOff x="9988296" y="2105163"/>
            <a:chExt cx="4498799" cy="3469687"/>
          </a:xfrm>
        </p:grpSpPr>
        <p:sp>
          <p:nvSpPr>
            <p:cNvPr id="2309" name="文本框 2308">
              <a:extLst>
                <a:ext uri="{FF2B5EF4-FFF2-40B4-BE49-F238E27FC236}">
                  <a16:creationId xmlns:a16="http://schemas.microsoft.com/office/drawing/2014/main" id="{9BFF16ED-879E-1FC6-ED92-D21BE2559398}"/>
                </a:ext>
              </a:extLst>
            </p:cNvPr>
            <p:cNvSpPr txBox="1"/>
            <p:nvPr/>
          </p:nvSpPr>
          <p:spPr>
            <a:xfrm>
              <a:off x="9995556" y="3406643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1.6T</a:t>
              </a:r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bps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2311" name="文本框 2310">
              <a:extLst>
                <a:ext uri="{FF2B5EF4-FFF2-40B4-BE49-F238E27FC236}">
                  <a16:creationId xmlns:a16="http://schemas.microsoft.com/office/drawing/2014/main" id="{2EEC16A6-73A6-E0A5-1CE1-A674984BCEDC}"/>
                </a:ext>
              </a:extLst>
            </p:cNvPr>
            <p:cNvSpPr txBox="1"/>
            <p:nvPr/>
          </p:nvSpPr>
          <p:spPr>
            <a:xfrm>
              <a:off x="10013520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速率上限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312" name="文本框 2311">
              <a:extLst>
                <a:ext uri="{FF2B5EF4-FFF2-40B4-BE49-F238E27FC236}">
                  <a16:creationId xmlns:a16="http://schemas.microsoft.com/office/drawing/2014/main" id="{B0B135FA-6390-57F1-3CDF-853F2745AFFE}"/>
                </a:ext>
              </a:extLst>
            </p:cNvPr>
            <p:cNvSpPr txBox="1"/>
            <p:nvPr/>
          </p:nvSpPr>
          <p:spPr>
            <a:xfrm>
              <a:off x="9988296" y="5267073"/>
              <a:ext cx="2787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6.4T</a:t>
              </a:r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bps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8383BB54-FB8E-299D-0C94-E730EE99AFD6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74FC330-9EC7-3610-2E02-3B7500EC9A6B}"/>
              </a:ext>
            </a:extLst>
          </p:cNvPr>
          <p:cNvGrpSpPr/>
          <p:nvPr/>
        </p:nvGrpSpPr>
        <p:grpSpPr>
          <a:xfrm>
            <a:off x="1904153" y="2068100"/>
            <a:ext cx="4498799" cy="3469687"/>
            <a:chOff x="9988296" y="2105163"/>
            <a:chExt cx="4498799" cy="346968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69FE1A6-9A83-C9EE-0A19-B32C608D75C8}"/>
                </a:ext>
              </a:extLst>
            </p:cNvPr>
            <p:cNvSpPr txBox="1"/>
            <p:nvPr/>
          </p:nvSpPr>
          <p:spPr>
            <a:xfrm>
              <a:off x="9995556" y="3406643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4-9db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CD45E0C-5835-16E7-8E9C-4B9E7B8184C7}"/>
                </a:ext>
              </a:extLst>
            </p:cNvPr>
            <p:cNvSpPr txBox="1"/>
            <p:nvPr/>
          </p:nvSpPr>
          <p:spPr>
            <a:xfrm>
              <a:off x="10013520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信息损耗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E13A0C2-8BD5-F282-EBFF-1DC4047516D9}"/>
                </a:ext>
              </a:extLst>
            </p:cNvPr>
            <p:cNvSpPr txBox="1"/>
            <p:nvPr/>
          </p:nvSpPr>
          <p:spPr>
            <a:xfrm>
              <a:off x="9988296" y="5267073"/>
              <a:ext cx="2787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22db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64140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41102" y="5265018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082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互连按照距离可分为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与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2901900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604241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467701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70434" y="2052152"/>
            <a:ext cx="3322825" cy="328255"/>
            <a:chOff x="1177467" y="2702667"/>
            <a:chExt cx="3322825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interconnection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040812"/>
            <a:ext cx="3070238" cy="646361"/>
            <a:chOff x="944683" y="5439665"/>
            <a:chExt cx="3070238" cy="646361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39665"/>
              <a:ext cx="3070238" cy="328255"/>
              <a:chOff x="1177467" y="2702232"/>
              <a:chExt cx="3070238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98265" y="2702232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interconnection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141" name="矩形 3140">
            <a:extLst>
              <a:ext uri="{FF2B5EF4-FFF2-40B4-BE49-F238E27FC236}">
                <a16:creationId xmlns:a16="http://schemas.microsoft.com/office/drawing/2014/main" id="{083BC268-5829-F7BC-DD26-9637B32283D1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单机柜叠加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&lt;5m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，高频交互强调低延时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9" y="1552454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算力节点横向互连，距离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，强调可扩展性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017264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4994464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018259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3960032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3843963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474536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474536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2902769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311375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3972214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3844832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486718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486718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403832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079162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512613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486718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187943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187943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215827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62471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200079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65075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018258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061554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375749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322552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3681356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471868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CPO </a:t>
            </a: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Swtich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228367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2950498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3796035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673937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155493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61521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79504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6" imgW="404" imgH="405" progId="TCLayout.ActiveDocument.1">
                  <p:embed/>
                </p:oleObj>
              </mc:Choice>
              <mc:Fallback>
                <p:oleObj name="think-cell 幻灯片" r:id="rId4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国内受限于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GPU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带宽限制，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优先落地于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41" name="矩形 3140">
            <a:extLst>
              <a:ext uri="{FF2B5EF4-FFF2-40B4-BE49-F238E27FC236}">
                <a16:creationId xmlns:a16="http://schemas.microsoft.com/office/drawing/2014/main" id="{272CC209-9CC9-1F05-1D4B-5EE24381A2AA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8D7E0C-453C-6326-7DB9-572A85A52F64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CB66F6D-4F1C-F368-0A38-4BE5AA684159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华为：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CM384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堆卡补性能不足，内部采用光互连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2C45565-EC1B-5D1D-99A3-5A79B14DD9AA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730B3B19-E012-3749-EFB6-6FE3870AA39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25E03D-14AD-5599-B770-2113CC4164C1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 err="1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Deepseek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：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高带宽可解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Up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难题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F64265D1-2B14-B03E-642A-033893A5B82B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50491EA4-7D4D-BEA5-D968-1863C6ACC717}"/>
              </a:ext>
            </a:extLst>
          </p:cNvPr>
          <p:cNvSpPr/>
          <p:nvPr/>
        </p:nvSpPr>
        <p:spPr>
          <a:xfrm>
            <a:off x="13554240" y="1797671"/>
            <a:ext cx="2278050" cy="31800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华为作为直接的证据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总带宽是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1/3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单卡性能更低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用了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Up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6FC2D3-CC41-D863-8592-2436A48789EB}"/>
              </a:ext>
            </a:extLst>
          </p:cNvPr>
          <p:cNvSpPr/>
          <p:nvPr/>
        </p:nvSpPr>
        <p:spPr>
          <a:xfrm>
            <a:off x="12798569" y="5118167"/>
            <a:ext cx="2278050" cy="31800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 V3=&gt;R1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论文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2551B1-0708-745B-E773-E2D8491C8BCA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MoE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All-to-All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专家并行需大量节点通信，国内可得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卡间带宽均受限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=&gt; Scale Up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场景受限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55EC61-093A-8818-4706-DDB9126CA541}"/>
              </a:ext>
            </a:extLst>
          </p:cNvPr>
          <p:cNvSpPr txBox="1"/>
          <p:nvPr/>
        </p:nvSpPr>
        <p:spPr>
          <a:xfrm>
            <a:off x="598141" y="4047331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可提升带宽并降低延迟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=&gt;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显著提升</a:t>
            </a:r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MoE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推理速度，打穿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瓶颈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02F03A-0489-D3AC-8B5B-8CECA2C14357}"/>
              </a:ext>
            </a:extLst>
          </p:cNvPr>
          <p:cNvSpPr txBox="1"/>
          <p:nvPr/>
        </p:nvSpPr>
        <p:spPr>
          <a:xfrm>
            <a:off x="6434966" y="1560261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昇腾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910C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单卡性能相比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更低，但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总体性能相比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更高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2F9AF3-44B2-B791-E664-CA81AF167627}"/>
              </a:ext>
            </a:extLst>
          </p:cNvPr>
          <p:cNvSpPr txBox="1"/>
          <p:nvPr/>
        </p:nvSpPr>
        <p:spPr>
          <a:xfrm>
            <a:off x="6434965" y="4534046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高性能依赖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，互连距离过大采用可插拔光模块，正积极探索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替换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050" name="Chart 3">
            <a:extLst>
              <a:ext uri="{FF2B5EF4-FFF2-40B4-BE49-F238E27FC236}">
                <a16:creationId xmlns:a16="http://schemas.microsoft.com/office/drawing/2014/main" id="{78187516-4CAD-6B7D-2976-E2F7E637AD40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58976236"/>
              </p:ext>
            </p:extLst>
          </p:nvPr>
        </p:nvGraphicFramePr>
        <p:xfrm>
          <a:off x="871538" y="2217738"/>
          <a:ext cx="4860925" cy="1801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9C4EC16F-EE49-4994-E4AD-5BD0B01F134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3127375" y="2832100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AE415A82-48B0-333C-32E6-1555B80EEFAF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127375" y="2832100"/>
            <a:ext cx="10096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3C672C91-C632-C9DA-D52E-C1EF1A6DC1A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137025" y="2832100"/>
            <a:ext cx="0" cy="3698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DBF3196E-CB44-2B4B-E94F-AB04C31815F2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906588" y="37719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9E27F69-8DC0-F665-0B84-DEB116B3435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909888" y="37719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EB7580EA-4515-23F9-A6D1-6C1414A19E03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919538" y="37719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FC6AC66B-27F7-30B6-BA0A-2D1BB6E5B716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976813" y="37719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F04008CC-8CB7-2E16-81E9-61413664032F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38513" y="268128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022F3A51-7A0C-89C2-5F4B-50C1B5A63904}"/>
              </a:ext>
            </a:extLst>
          </p:cNvPr>
          <p:cNvSpPr txBox="1"/>
          <p:nvPr/>
        </p:nvSpPr>
        <p:spPr>
          <a:xfrm>
            <a:off x="720725" y="2144445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卡间带宽（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、华为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044" name="Chart 3">
            <a:extLst>
              <a:ext uri="{FF2B5EF4-FFF2-40B4-BE49-F238E27FC236}">
                <a16:creationId xmlns:a16="http://schemas.microsoft.com/office/drawing/2014/main" id="{50BC8433-A5FD-E805-C583-25609D530E09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969532471"/>
              </p:ext>
            </p:extLst>
          </p:nvPr>
        </p:nvGraphicFramePr>
        <p:xfrm>
          <a:off x="777875" y="4672013"/>
          <a:ext cx="5184775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9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B3714496-5242-281D-D96F-95F7A5260AA6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2646363" y="4732338"/>
            <a:ext cx="0" cy="8397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AB89BD39-D758-CC61-FAE3-04EB7F52A491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2646363" y="4732338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C1EDA45F-F008-3925-BD48-CFE4FDBC8FBF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4594225" y="4732338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821EC7B2-CE29-2D1C-0C12-C67E6036C36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487488" y="5948363"/>
            <a:ext cx="16208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07FF8A4-CF1A-4804-9538-962E7FFA2CB7}" type="datetime'''''H80''0''（Dee''''''p''''''S''e''''''''''''ek）'''''''''''''">
              <a:rPr lang="en-US" altLang="en-US" sz="1400" smtClean="0">
                <a:cs typeface="+mn-cs"/>
              </a:rPr>
              <a:pPr/>
              <a:t>H800（DeepSeek）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1B4C445F-298C-A628-DEBD-0548A42815D7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667125" y="5948363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4A850680-418C-D1F5-964F-197FA53A433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338513" y="4581525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B6B6F6DD-FCE5-5539-1F61-631996B0F554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557338" y="62118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4CFFE22D-D259-CED6-1416-2D17202E0DD1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422650" y="62118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615EB123-1AC8-1AD7-7913-8C85DAA73A41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1858963" y="6207125"/>
            <a:ext cx="1462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20F57CF-62D0-476D-BDA3-336DAA2CB0A3}" type="datetime'''''卡''''''''''间带''宽''''（G''''B''/''''''''''''''''s）'''''''''">
              <a:rPr lang="zh-CN" altLang="en-US" sz="1400" smtClean="0">
                <a:cs typeface="+mn-cs"/>
              </a:rPr>
              <a:pPr/>
              <a:t>卡间带宽（GB/s）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81EA4F54-2727-9F6E-C3A9-363EF10DD65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3724275" y="6207125"/>
            <a:ext cx="16383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3F3DEC2-5C84-44DD-8A91-364DF52DBB34}" type="datetime'''推''理''''速率''（''''''''to''''''''ke''''n''''''/s''''''）'">
              <a:rPr lang="zh-CN" altLang="en-US" sz="1400" smtClean="0">
                <a:solidFill>
                  <a:srgbClr val="000000"/>
                </a:solidFill>
                <a:cs typeface="+mn-cs"/>
              </a:rPr>
              <a:pPr/>
              <a:t>推理速率（token/s）</a:t>
            </a:fld>
            <a:endParaRPr lang="zh-CN" altLang="en-US" sz="1400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3518" name="Chart 3">
            <a:extLst>
              <a:ext uri="{FF2B5EF4-FFF2-40B4-BE49-F238E27FC236}">
                <a16:creationId xmlns:a16="http://schemas.microsoft.com/office/drawing/2014/main" id="{392FCF9C-C388-E1DB-B2C5-7E3392CD298E}"/>
              </a:ext>
            </a:extLst>
          </p:cNvPr>
          <p:cNvGraphicFramePr/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239336012"/>
              </p:ext>
            </p:extLst>
          </p:nvPr>
        </p:nvGraphicFramePr>
        <p:xfrm>
          <a:off x="6373813" y="2168525"/>
          <a:ext cx="2479675" cy="1552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cxnSp>
        <p:nvCxnSpPr>
          <p:cNvPr id="3507" name="直接连接符 3506">
            <a:extLst>
              <a:ext uri="{FF2B5EF4-FFF2-40B4-BE49-F238E27FC236}">
                <a16:creationId xmlns:a16="http://schemas.microsoft.com/office/drawing/2014/main" id="{8D0736D3-D065-BA2D-61F2-295B12FB614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 flipV="1">
            <a:off x="7515225" y="2276475"/>
            <a:ext cx="0" cy="5381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8" name="直接连接符 3507">
            <a:extLst>
              <a:ext uri="{FF2B5EF4-FFF2-40B4-BE49-F238E27FC236}">
                <a16:creationId xmlns:a16="http://schemas.microsoft.com/office/drawing/2014/main" id="{5EB07BB2-3BE9-F6FF-CEA8-0BA42C269966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 bwMode="auto">
          <a:xfrm>
            <a:off x="7515225" y="2276475"/>
            <a:ext cx="950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9" name="直接连接符 3508">
            <a:extLst>
              <a:ext uri="{FF2B5EF4-FFF2-40B4-BE49-F238E27FC236}">
                <a16:creationId xmlns:a16="http://schemas.microsoft.com/office/drawing/2014/main" id="{2E97C1EB-94F2-B2AD-52FC-3802AF353F01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8466138" y="22764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4" name="Text Placeholder 4">
            <a:extLst>
              <a:ext uri="{FF2B5EF4-FFF2-40B4-BE49-F238E27FC236}">
                <a16:creationId xmlns:a16="http://schemas.microsoft.com/office/drawing/2014/main" id="{1BBF06E2-AFD9-5824-820B-6BCAF47B7384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7062788" y="3473449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80E0B90-F2EC-4BD4-B7AB-B1A0D66CAED1}" type="datetime'''''G''B2''''0''0 NV''''''L''''7''''''''''''''''''''''''2''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55" name="Text Placeholder 4">
            <a:extLst>
              <a:ext uri="{FF2B5EF4-FFF2-40B4-BE49-F238E27FC236}">
                <a16:creationId xmlns:a16="http://schemas.microsoft.com/office/drawing/2014/main" id="{127561D8-7634-9545-A6FC-4B835E091F05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auto">
          <a:xfrm>
            <a:off x="7826375" y="3473451"/>
            <a:ext cx="9398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BB59CEC-26EF-449D-8F5A-21BECBFF852B}" type="datetime'华为''''''''''''''''''C''''''''''M''''''''''''''''38''4'''">
              <a:rPr lang="zh-CN" altLang="en-US" sz="1400" smtClean="0">
                <a:cs typeface="+mn-cs"/>
              </a:rPr>
              <a:pPr/>
              <a:t>华为CM384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06" name="Text Placeholder 4">
            <a:extLst>
              <a:ext uri="{FF2B5EF4-FFF2-40B4-BE49-F238E27FC236}">
                <a16:creationId xmlns:a16="http://schemas.microsoft.com/office/drawing/2014/main" id="{E1F9BF98-CF6B-B4BE-3AA1-37631AC7FC60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7596188" y="2125663"/>
            <a:ext cx="7889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CF638F5-99CE-4C75-9ABD-61EE75E8CADE}" type="datetime'''''''''''''+1''''''''''''''''''0''''''''''''8%'''''''''''">
              <a:rPr lang="en-US" altLang="en-US" sz="1400" b="1" smtClean="0">
                <a:effectLst/>
                <a:cs typeface="+mn-cs"/>
              </a:rPr>
              <a:pPr/>
              <a:t>+108%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492" name="矩形 3491">
            <a:extLst>
              <a:ext uri="{FF2B5EF4-FFF2-40B4-BE49-F238E27FC236}">
                <a16:creationId xmlns:a16="http://schemas.microsoft.com/office/drawing/2014/main" id="{F1528EAF-2D97-25A4-4B42-AADB220A6821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6646863" y="4002088"/>
            <a:ext cx="196850" cy="147638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3" name="矩形 3492">
            <a:extLst>
              <a:ext uri="{FF2B5EF4-FFF2-40B4-BE49-F238E27FC236}">
                <a16:creationId xmlns:a16="http://schemas.microsoft.com/office/drawing/2014/main" id="{564EC2E1-325E-C284-2B41-EB8C0756C1D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6646863" y="4221163"/>
            <a:ext cx="196850" cy="147638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8" name="Text Placeholder 4">
            <a:extLst>
              <a:ext uri="{FF2B5EF4-FFF2-40B4-BE49-F238E27FC236}">
                <a16:creationId xmlns:a16="http://schemas.microsoft.com/office/drawing/2014/main" id="{C526EF43-87BD-2DA2-A2D0-85180DA50F43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6894513" y="3997325"/>
            <a:ext cx="169386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8154251-9828-49D4-B9A3-53BFAFC280C4}" type="datetime'单''''''''''''卡''''Scale Up''带''宽（''T''''B''''/''s''''''）'''">
              <a:rPr lang="zh-CN" altLang="en-US" sz="11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单卡Scale Up带宽（TB/s）</a:t>
            </a:fld>
            <a:endParaRPr lang="zh-CN" altLang="en-US" sz="1100" dirty="0">
              <a:cs typeface="+mn-cs"/>
            </a:endParaRPr>
          </a:p>
        </p:txBody>
      </p:sp>
      <p:sp>
        <p:nvSpPr>
          <p:cNvPr id="3490" name="Text Placeholder 4">
            <a:extLst>
              <a:ext uri="{FF2B5EF4-FFF2-40B4-BE49-F238E27FC236}">
                <a16:creationId xmlns:a16="http://schemas.microsoft.com/office/drawing/2014/main" id="{1E32C81E-041E-4134-7F3C-5A841DCE55C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6894513" y="4216400"/>
            <a:ext cx="192722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9B3EB26-8097-4888-82C8-5017011D0414}" type="datetime'整''体''S''c''''a''le ''''Up''带宽''（''''1''00TB''/''''''s''''）'">
              <a:rPr lang="zh-CN" altLang="en-US" sz="11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整体Scale Up带宽（100TB/s）</a:t>
            </a:fld>
            <a:endParaRPr lang="zh-CN" altLang="en-US" sz="1100" dirty="0">
              <a:cs typeface="+mn-cs"/>
            </a:endParaRPr>
          </a:p>
        </p:txBody>
      </p:sp>
      <p:graphicFrame>
        <p:nvGraphicFramePr>
          <p:cNvPr id="3572" name="Chart 3">
            <a:extLst>
              <a:ext uri="{FF2B5EF4-FFF2-40B4-BE49-F238E27FC236}">
                <a16:creationId xmlns:a16="http://schemas.microsoft.com/office/drawing/2014/main" id="{532E39A6-0B15-3188-4BAF-1CA43D67CA3E}"/>
              </a:ext>
            </a:extLst>
          </p:cNvPr>
          <p:cNvGraphicFramePr/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4057666661"/>
              </p:ext>
            </p:extLst>
          </p:nvPr>
        </p:nvGraphicFramePr>
        <p:xfrm>
          <a:off x="8869363" y="2014538"/>
          <a:ext cx="2952750" cy="1706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1"/>
          </a:graphicData>
        </a:graphic>
      </p:graphicFrame>
      <p:cxnSp>
        <p:nvCxnSpPr>
          <p:cNvPr id="3561" name="直接连接符 3560">
            <a:extLst>
              <a:ext uri="{FF2B5EF4-FFF2-40B4-BE49-F238E27FC236}">
                <a16:creationId xmlns:a16="http://schemas.microsoft.com/office/drawing/2014/main" id="{C15C7BD4-E8F3-A5B3-6275-BC3A4E3F7E57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 flipV="1">
            <a:off x="10001250" y="2649538"/>
            <a:ext cx="0" cy="4191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62" name="直接连接符 3561">
            <a:extLst>
              <a:ext uri="{FF2B5EF4-FFF2-40B4-BE49-F238E27FC236}">
                <a16:creationId xmlns:a16="http://schemas.microsoft.com/office/drawing/2014/main" id="{957541C4-500A-31D6-E930-416A74FE9FFD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 bwMode="auto">
          <a:xfrm>
            <a:off x="10001250" y="2649538"/>
            <a:ext cx="10731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63" name="直接连接符 3562">
            <a:extLst>
              <a:ext uri="{FF2B5EF4-FFF2-40B4-BE49-F238E27FC236}">
                <a16:creationId xmlns:a16="http://schemas.microsoft.com/office/drawing/2014/main" id="{BB0002DF-6AC2-0A7F-0D98-37B4A03DF00A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11074400" y="2649539"/>
            <a:ext cx="0" cy="3730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29" name="Text Placeholder 4">
            <a:extLst>
              <a:ext uri="{FF2B5EF4-FFF2-40B4-BE49-F238E27FC236}">
                <a16:creationId xmlns:a16="http://schemas.microsoft.com/office/drawing/2014/main" id="{0F06CEA7-F087-CF16-1D55-8DB57B710E91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526588" y="34734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14D188F-F096-46DB-8328-266E07EC387F}" type="datetime'''G''''B''''''''''''''''''20''''''''0'''''' ''''''NVL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46" name="Text Placeholder 4">
            <a:extLst>
              <a:ext uri="{FF2B5EF4-FFF2-40B4-BE49-F238E27FC236}">
                <a16:creationId xmlns:a16="http://schemas.microsoft.com/office/drawing/2014/main" id="{B5997DD6-06AB-B64A-5181-4DD1CD6647D3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10412413" y="3473450"/>
            <a:ext cx="9398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AA01D2-5E41-4187-8F24-F9287EE9C068}" type="datetime'''''''''''''''''华''为''''''''''''C''''''M''''''38''4'''''">
              <a:rPr lang="zh-CN" altLang="en-US" sz="1400" smtClean="0">
                <a:cs typeface="+mn-cs"/>
              </a:rPr>
              <a:pPr/>
              <a:t>华为CM384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59" name="Text Placeholder 4">
            <a:extLst>
              <a:ext uri="{FF2B5EF4-FFF2-40B4-BE49-F238E27FC236}">
                <a16:creationId xmlns:a16="http://schemas.microsoft.com/office/drawing/2014/main" id="{50C32339-6D13-3361-2533-D0C137C7AB3B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auto">
          <a:xfrm>
            <a:off x="10213975" y="2498725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AAB7371-CC3D-42BA-867D-B76CFA543086}" type="datetime'''''+''''''''''''''6''''''''''''''''''7''%''''''''''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573" name="矩形 3572">
            <a:extLst>
              <a:ext uri="{FF2B5EF4-FFF2-40B4-BE49-F238E27FC236}">
                <a16:creationId xmlns:a16="http://schemas.microsoft.com/office/drawing/2014/main" id="{3FD3F05F-89C4-25F5-2A27-506158D258A4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9313863" y="4002088"/>
            <a:ext cx="196850" cy="147638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4" name="矩形 3573">
            <a:extLst>
              <a:ext uri="{FF2B5EF4-FFF2-40B4-BE49-F238E27FC236}">
                <a16:creationId xmlns:a16="http://schemas.microsoft.com/office/drawing/2014/main" id="{71C072DE-5243-6ADA-D16C-20CF6270E225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313863" y="4221163"/>
            <a:ext cx="196850" cy="147638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9" name="Text Placeholder 4">
            <a:extLst>
              <a:ext uri="{FF2B5EF4-FFF2-40B4-BE49-F238E27FC236}">
                <a16:creationId xmlns:a16="http://schemas.microsoft.com/office/drawing/2014/main" id="{9595CAA3-C5D6-62AD-1084-23C9DA20FE44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9561513" y="4216400"/>
            <a:ext cx="23225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53283BA-E61F-4311-8C92-AFB8DF9B4F62}" type="datetime'''整体''B''F1''6 ''''密''集''计''算性''能（''''''''''''PF''''LOPS）'''''">
              <a:rPr lang="zh-CN" altLang="en-US" sz="11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整体BF16 密集计算性能（PFLOPS）</a:t>
            </a:fld>
            <a:endParaRPr lang="zh-CN" altLang="en-US" sz="1100" dirty="0">
              <a:cs typeface="+mn-cs"/>
            </a:endParaRPr>
          </a:p>
        </p:txBody>
      </p:sp>
      <p:sp>
        <p:nvSpPr>
          <p:cNvPr id="3571" name="Text Placeholder 4">
            <a:extLst>
              <a:ext uri="{FF2B5EF4-FFF2-40B4-BE49-F238E27FC236}">
                <a16:creationId xmlns:a16="http://schemas.microsoft.com/office/drawing/2014/main" id="{1F881DD5-6BFB-4BCC-08F9-DBB17DED5F9F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9561513" y="3997325"/>
            <a:ext cx="231457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4E46D0A-3C4C-41DF-8BD5-C5B36B566090}" type="datetime'''单卡B''''F''''16'' ''''密''集计算''''''性能（''TFLO''''''''PS''''）'''">
              <a:rPr lang="zh-CN" altLang="en-US" sz="11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单卡BF16 密集计算性能（TFLOPS）</a:t>
            </a:fld>
            <a:endParaRPr lang="zh-CN" altLang="en-US" sz="1100" dirty="0">
              <a:cs typeface="+mn-cs"/>
            </a:endParaRPr>
          </a:p>
        </p:txBody>
      </p:sp>
      <p:pic>
        <p:nvPicPr>
          <p:cNvPr id="3578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0360AE72-6245-FCAF-39F0-2EACE930D8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2" cstate="print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6883009" y="5215558"/>
            <a:ext cx="339501" cy="117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1" name="左大括号 3580">
            <a:extLst>
              <a:ext uri="{FF2B5EF4-FFF2-40B4-BE49-F238E27FC236}">
                <a16:creationId xmlns:a16="http://schemas.microsoft.com/office/drawing/2014/main" id="{937C9845-897D-DA48-DB06-94880BEBDAEC}"/>
              </a:ext>
            </a:extLst>
          </p:cNvPr>
          <p:cNvSpPr/>
          <p:nvPr/>
        </p:nvSpPr>
        <p:spPr>
          <a:xfrm rot="10800000">
            <a:off x="7409855" y="5559068"/>
            <a:ext cx="130492" cy="631371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2" name="文本框 3581">
            <a:extLst>
              <a:ext uri="{FF2B5EF4-FFF2-40B4-BE49-F238E27FC236}">
                <a16:creationId xmlns:a16="http://schemas.microsoft.com/office/drawing/2014/main" id="{300BAE11-E826-7FD4-4EED-C3BD7C5AB34B}"/>
              </a:ext>
            </a:extLst>
          </p:cNvPr>
          <p:cNvSpPr txBox="1"/>
          <p:nvPr/>
        </p:nvSpPr>
        <p:spPr>
          <a:xfrm>
            <a:off x="7599880" y="5725774"/>
            <a:ext cx="766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&lt; 2.5m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83" name="文本框 3582">
            <a:extLst>
              <a:ext uri="{FF2B5EF4-FFF2-40B4-BE49-F238E27FC236}">
                <a16:creationId xmlns:a16="http://schemas.microsoft.com/office/drawing/2014/main" id="{842E0762-E757-7616-1634-8D8B65949C06}"/>
              </a:ext>
            </a:extLst>
          </p:cNvPr>
          <p:cNvSpPr txBox="1"/>
          <p:nvPr/>
        </p:nvSpPr>
        <p:spPr>
          <a:xfrm>
            <a:off x="6174086" y="6467122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3591" name="组合 3590">
            <a:extLst>
              <a:ext uri="{FF2B5EF4-FFF2-40B4-BE49-F238E27FC236}">
                <a16:creationId xmlns:a16="http://schemas.microsoft.com/office/drawing/2014/main" id="{BE6D1C55-29DA-7B88-F9C1-C649C2F46EBD}"/>
              </a:ext>
            </a:extLst>
          </p:cNvPr>
          <p:cNvGrpSpPr/>
          <p:nvPr/>
        </p:nvGrpSpPr>
        <p:grpSpPr>
          <a:xfrm>
            <a:off x="10001250" y="5238843"/>
            <a:ext cx="1892520" cy="1471056"/>
            <a:chOff x="9001041" y="5252249"/>
            <a:chExt cx="1892520" cy="1471056"/>
          </a:xfrm>
        </p:grpSpPr>
        <p:pic>
          <p:nvPicPr>
            <p:cNvPr id="3580" name="图片 3579">
              <a:extLst>
                <a:ext uri="{FF2B5EF4-FFF2-40B4-BE49-F238E27FC236}">
                  <a16:creationId xmlns:a16="http://schemas.microsoft.com/office/drawing/2014/main" id="{D91EC555-7022-F8B5-2BD5-4090EFBCC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9380912" y="5252249"/>
              <a:ext cx="1144622" cy="1157779"/>
            </a:xfrm>
            <a:prstGeom prst="rect">
              <a:avLst/>
            </a:prstGeom>
          </p:spPr>
        </p:pic>
        <p:sp>
          <p:nvSpPr>
            <p:cNvPr id="3584" name="文本框 3583">
              <a:extLst>
                <a:ext uri="{FF2B5EF4-FFF2-40B4-BE49-F238E27FC236}">
                  <a16:creationId xmlns:a16="http://schemas.microsoft.com/office/drawing/2014/main" id="{C8511B76-0B28-35D3-1E85-DB6064C9BA8F}"/>
                </a:ext>
              </a:extLst>
            </p:cNvPr>
            <p:cNvSpPr txBox="1"/>
            <p:nvPr/>
          </p:nvSpPr>
          <p:spPr>
            <a:xfrm>
              <a:off x="9001041" y="6467751"/>
              <a:ext cx="1892520" cy="255554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CM384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3586" name="左大括号 3585">
              <a:extLst>
                <a:ext uri="{FF2B5EF4-FFF2-40B4-BE49-F238E27FC236}">
                  <a16:creationId xmlns:a16="http://schemas.microsoft.com/office/drawing/2014/main" id="{CCED9811-244C-AA15-6C45-DDE55F466A4A}"/>
                </a:ext>
              </a:extLst>
            </p:cNvPr>
            <p:cNvSpPr/>
            <p:nvPr/>
          </p:nvSpPr>
          <p:spPr>
            <a:xfrm>
              <a:off x="9172184" y="5559068"/>
              <a:ext cx="130492" cy="631371"/>
            </a:xfrm>
            <a:prstGeom prst="leftBrace">
              <a:avLst/>
            </a:prstGeom>
            <a:ln>
              <a:solidFill>
                <a:srgbClr val="0052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BDC45F85-1D99-DA76-582F-3263AC58D903}"/>
              </a:ext>
            </a:extLst>
          </p:cNvPr>
          <p:cNvSpPr txBox="1"/>
          <p:nvPr/>
        </p:nvSpPr>
        <p:spPr>
          <a:xfrm>
            <a:off x="8912533" y="5637868"/>
            <a:ext cx="13856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 × 16</a:t>
            </a: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2.5m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90" name="文本框 3589">
            <a:extLst>
              <a:ext uri="{FF2B5EF4-FFF2-40B4-BE49-F238E27FC236}">
                <a16:creationId xmlns:a16="http://schemas.microsoft.com/office/drawing/2014/main" id="{C0B04EC4-8097-9C40-11C7-A26EA72E415F}"/>
              </a:ext>
            </a:extLst>
          </p:cNvPr>
          <p:cNvSpPr txBox="1"/>
          <p:nvPr/>
        </p:nvSpPr>
        <p:spPr>
          <a:xfrm>
            <a:off x="8957152" y="5173987"/>
            <a:ext cx="1365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LPO × 3840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592" name="文本框 3591">
            <a:extLst>
              <a:ext uri="{FF2B5EF4-FFF2-40B4-BE49-F238E27FC236}">
                <a16:creationId xmlns:a16="http://schemas.microsoft.com/office/drawing/2014/main" id="{CFDBC58A-7441-3E09-D310-71B85B05C878}"/>
              </a:ext>
            </a:extLst>
          </p:cNvPr>
          <p:cNvSpPr txBox="1"/>
          <p:nvPr/>
        </p:nvSpPr>
        <p:spPr>
          <a:xfrm>
            <a:off x="7377076" y="5188440"/>
            <a:ext cx="1365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铜缆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× 5184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593" name="箭头: 右 3592">
            <a:extLst>
              <a:ext uri="{FF2B5EF4-FFF2-40B4-BE49-F238E27FC236}">
                <a16:creationId xmlns:a16="http://schemas.microsoft.com/office/drawing/2014/main" id="{E8382BD4-BD8B-8116-F4F4-30C9AE8873A1}"/>
              </a:ext>
            </a:extLst>
          </p:cNvPr>
          <p:cNvSpPr/>
          <p:nvPr/>
        </p:nvSpPr>
        <p:spPr>
          <a:xfrm>
            <a:off x="8514487" y="5795434"/>
            <a:ext cx="437992" cy="172204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9405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897753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海外巨头并行布局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与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落地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1-2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年内看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413385"/>
            <a:ext cx="936104" cy="187921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战略定位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953258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Up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产品布局</a:t>
            </a: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3454405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26786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363730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28480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495683D-ACD8-6EC3-BE9F-61E2A87DD8FB}"/>
              </a:ext>
            </a:extLst>
          </p:cNvPr>
          <p:cNvSpPr txBox="1"/>
          <p:nvPr/>
        </p:nvSpPr>
        <p:spPr>
          <a:xfrm>
            <a:off x="1802912" y="2798608"/>
            <a:ext cx="415430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GTC 2025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着重介绍了其与台积电等合作伙伴开发的首款基于1.6T硅光引擎的CPO交换机系列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4580647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487" y="93804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186" y="99153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109" y="93079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806" y="101568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5169271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505460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以太网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 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C75DB03-7494-0929-C943-8E6E786633E3}"/>
              </a:ext>
            </a:extLst>
          </p:cNvPr>
          <p:cNvGrpSpPr/>
          <p:nvPr/>
        </p:nvGrpSpPr>
        <p:grpSpPr>
          <a:xfrm>
            <a:off x="1653999" y="1813261"/>
            <a:ext cx="4319790" cy="886261"/>
            <a:chOff x="6380443" y="5056839"/>
            <a:chExt cx="4146591" cy="927865"/>
          </a:xfrm>
        </p:grpSpPr>
        <p:pic>
          <p:nvPicPr>
            <p:cNvPr id="102" name="Picture 41" descr="Ausriss-gross">
              <a:extLst>
                <a:ext uri="{FF2B5EF4-FFF2-40B4-BE49-F238E27FC236}">
                  <a16:creationId xmlns:a16="http://schemas.microsoft.com/office/drawing/2014/main" id="{752C2E75-D563-E684-6588-E32A451277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文本框 177">
              <a:extLst>
                <a:ext uri="{FF2B5EF4-FFF2-40B4-BE49-F238E27FC236}">
                  <a16:creationId xmlns:a16="http://schemas.microsoft.com/office/drawing/2014/main" id="{6C0517C0-9C03-4EF7-6FD7-7FDEF25635A6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“</a:t>
              </a:r>
              <a:r>
                <a:rPr kumimoji="1" lang="zh-CN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NVL72使用铜缆互连较光模块大幅节省了成本，铜缆高速连接的成本仅为光模块的20%</a:t>
              </a: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”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—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黄仁勋，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GTC 2024</a:t>
              </a: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5053921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5059629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Out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产品布局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461225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统治地位，强推铜到强推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1957829" y="5571116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4008939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4041562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1957829" y="459739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25.07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4017639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Rubin 288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321656" y="456582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321656" y="557111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4084673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5118208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6096017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6096017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807778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基于铜互连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2915624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基于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413384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统治地位，</a:t>
            </a:r>
            <a:r>
              <a:rPr kumimoji="1" lang="zh-CN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未来5年押注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实现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的渗透</a:t>
            </a:r>
            <a:endParaRPr kumimoji="1" lang="zh-CN" altLang="zh-CN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251152D-8156-E033-5400-805507FAE389}"/>
              </a:ext>
            </a:extLst>
          </p:cNvPr>
          <p:cNvGrpSpPr/>
          <p:nvPr/>
        </p:nvGrpSpPr>
        <p:grpSpPr>
          <a:xfrm>
            <a:off x="6447847" y="1820204"/>
            <a:ext cx="4926088" cy="886261"/>
            <a:chOff x="6380443" y="5056839"/>
            <a:chExt cx="4146591" cy="927865"/>
          </a:xfrm>
        </p:grpSpPr>
        <p:pic>
          <p:nvPicPr>
            <p:cNvPr id="82" name="Picture 41" descr="Ausriss-gross">
              <a:extLst>
                <a:ext uri="{FF2B5EF4-FFF2-40B4-BE49-F238E27FC236}">
                  <a16:creationId xmlns:a16="http://schemas.microsoft.com/office/drawing/2014/main" id="{86A8C24A-F751-B001-13C5-63B17D26ECB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文本框 177">
              <a:extLst>
                <a:ext uri="{FF2B5EF4-FFF2-40B4-BE49-F238E27FC236}">
                  <a16:creationId xmlns:a16="http://schemas.microsoft.com/office/drawing/2014/main" id="{EBE25E6A-AA85-E69A-5E99-5189EB13BF28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“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是应对 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AI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集群带宽需求的关键技术，其集成化设计可显著提升系统能效”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—</a:t>
              </a:r>
              <a:r>
                <a:rPr lang="en-US" altLang="zh-CN" sz="1400" dirty="0">
                  <a:cs typeface="+mn-ea"/>
                  <a:sym typeface="+mn-lt"/>
                </a:rPr>
                <a:t>Hock Tan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25Q2 Conference Call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936DE709-FEFC-64A4-3B75-B2BB3A7693D6}"/>
              </a:ext>
            </a:extLst>
          </p:cNvPr>
          <p:cNvSpPr txBox="1"/>
          <p:nvPr/>
        </p:nvSpPr>
        <p:spPr>
          <a:xfrm>
            <a:off x="6550109" y="2769653"/>
            <a:ext cx="4926088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于23年开始联合产业伙伴推动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方案，目前已在各环节实现单环节测试可靠性，但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未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完整部署并获得运营数据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5118208"/>
            <a:ext cx="17326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以太网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5223797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26Q1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5218125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3565386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整机交付为主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3577403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交换机核心组件为主，积极布局整机</a:t>
            </a: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4103035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4133120"/>
            <a:ext cx="15844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芯片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4257281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25.06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</a:t>
            </a: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26543AD-3823-A230-D15F-C420F3F10183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5840513" y="5919956"/>
            <a:ext cx="673454" cy="1525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635011" y="6051732"/>
            <a:ext cx="2951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1-2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年内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密集落地于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Scale Out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906D0C-63E0-E1ED-5D8B-710370B55FE3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3020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" name="文本框 232">
            <a:extLst>
              <a:ext uri="{FF2B5EF4-FFF2-40B4-BE49-F238E27FC236}">
                <a16:creationId xmlns:a16="http://schemas.microsoft.com/office/drawing/2014/main" id="{605C4544-84E9-82E5-A95E-0DF727A07A98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Morgan Stanley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专家访谈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CB530C4-67EE-5F36-A764-580DBAB3BDCD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万卡集群扩展支撑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百亿级市场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1119B0E3-6C87-C2F3-B496-E09B199A6ED0}"/>
              </a:ext>
            </a:extLst>
          </p:cNvPr>
          <p:cNvGrpSpPr/>
          <p:nvPr/>
        </p:nvGrpSpPr>
        <p:grpSpPr>
          <a:xfrm>
            <a:off x="6229850" y="906950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2BA9EE65-39D9-DC2A-B670-0553D7AAC8D8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551816-CB9E-FE4B-9923-232237321159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Base case</a:t>
              </a:r>
              <a:endParaRPr kumimoji="1" lang="zh-CN" altLang="en-US" sz="1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8700E79-336F-457D-B468-C9D59E46DC82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62DF4FF9-8427-C473-880D-9B4B4268F820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E8B579A-7D5F-B81A-8B7A-A9495A39441C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172 %，2030e 收入约 </a:t>
                </a:r>
                <a:r>
                  <a:rPr kumimoji="1" lang="zh-CN" altLang="zh-CN" sz="1600" b="1" dirty="0">
                    <a:solidFill>
                      <a:srgbClr val="0052D9"/>
                    </a:solidFill>
                    <a:cs typeface="+mn-ea"/>
                    <a:sym typeface="+mn-lt"/>
                  </a:rPr>
                  <a:t>93 </a:t>
                </a:r>
                <a:r>
                  <a:rPr kumimoji="1" lang="zh-CN" altLang="zh-CN" sz="16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NVIDIA Rubin＋Broadcom TH7 开始全面替换高端可插拔模块，渗透率 ~45 %</a:t>
                </a: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5B16F916-6606-2C5F-F989-1167F32C7BE5}"/>
              </a:ext>
            </a:extLst>
          </p:cNvPr>
          <p:cNvGrpSpPr/>
          <p:nvPr/>
        </p:nvGrpSpPr>
        <p:grpSpPr>
          <a:xfrm>
            <a:off x="6229850" y="2758836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AED32677-2246-9991-6357-BC5CB658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26C1BE3-5CB0-12C0-DDA9-24E13907921F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A6A6A6"/>
                  </a:solidFill>
                  <a:cs typeface="+mn-ea"/>
                  <a:sym typeface="+mn-lt"/>
                </a:rPr>
                <a:t>Bull case</a:t>
              </a:r>
              <a:endParaRPr kumimoji="1" lang="zh-CN" altLang="en-US" sz="1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70F10C9-99E6-CE03-F2DF-EC8DBECE0140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553E7BD9-CD76-BBAF-856D-034AB9935C45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6E73D90-BAFB-4FD4-1E91-68E18BB1AEF8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210 %，2030e 收入约 </a:t>
                </a:r>
                <a:r>
                  <a:rPr kumimoji="1" lang="zh-CN" altLang="zh-CN" sz="1600" b="1" dirty="0">
                    <a:solidFill>
                      <a:srgbClr val="A6A6A6"/>
                    </a:solidFill>
                    <a:cs typeface="+mn-ea"/>
                    <a:sym typeface="+mn-lt"/>
                  </a:rPr>
                  <a:t>270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 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假设 CPO 方案在 800G</a:t>
                </a:r>
                <a:r>
                  <a:rPr kumimoji="1" lang="en-US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/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1.6T 所有节点都成为主流，渗透率&gt;60 %，并向 400 G 量级下沉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0B5357ED-5A4E-2ECA-BADF-9C8B2A83B0AA}"/>
              </a:ext>
            </a:extLst>
          </p:cNvPr>
          <p:cNvGrpSpPr/>
          <p:nvPr/>
        </p:nvGrpSpPr>
        <p:grpSpPr>
          <a:xfrm>
            <a:off x="6229850" y="464876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785EF29-3E3B-1056-EDFA-9A957B95F60D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  <a:cs typeface="+mn-ea"/>
                  <a:sym typeface="+mn-lt"/>
                </a:rPr>
                <a:t>Bear case</a:t>
              </a:r>
              <a:endParaRPr kumimoji="1" lang="zh-CN" altLang="en-US" sz="1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6B887FB-C16F-F745-166B-FBC2FD6C77A8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39FBF59B-ED41-C0EB-9B27-64B470BE56E1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CECCE4C-671F-75C0-ADA8-19D6C9B92977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107 %，2030e 收入约 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  <a:cs typeface="+mn-ea"/>
                    <a:sym typeface="+mn-lt"/>
                  </a:rPr>
                  <a:t>10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亿美元</a:t>
                </a:r>
                <a:endParaRPr kumimoji="1" lang="zh-CN" altLang="en-US" sz="16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dirty="0">
                    <a:cs typeface="+mn-ea"/>
                    <a:sym typeface="+mn-lt"/>
                  </a:rPr>
                  <a:t>只在极高端 AI 集群试点，渗透率≤15 % （渗透难点）</a:t>
                </a:r>
                <a:endParaRPr lang="zh-CN" altLang="zh-CN" dirty="0">
                  <a:cs typeface="+mn-ea"/>
                  <a:sym typeface="+mn-lt"/>
                </a:endParaRPr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2280765D-1A3A-785E-BBE1-EE0D12CB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246" name="文本框 245">
            <a:extLst>
              <a:ext uri="{FF2B5EF4-FFF2-40B4-BE49-F238E27FC236}">
                <a16:creationId xmlns:a16="http://schemas.microsoft.com/office/drawing/2014/main" id="{007138D0-E65D-096F-D2A3-D906A9C3C210}"/>
              </a:ext>
            </a:extLst>
          </p:cNvPr>
          <p:cNvSpPr txBox="1"/>
          <p:nvPr/>
        </p:nvSpPr>
        <p:spPr>
          <a:xfrm>
            <a:off x="531791" y="2350374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① 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潜在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端口数：</a:t>
            </a:r>
            <a:r>
              <a:rPr lang="zh-CN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AI/HPC GPU＋交换机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需要 800 G/1.6 T端口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数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 2030E 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亿级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5E0D94-A845-FF91-EE9E-7AB523459935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2425D9-C516-09AD-5E94-049557EDF712}"/>
              </a:ext>
            </a:extLst>
          </p:cNvPr>
          <p:cNvSpPr txBox="1"/>
          <p:nvPr/>
        </p:nvSpPr>
        <p:spPr>
          <a:xfrm>
            <a:off x="298001" y="1354549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规模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7BAE9F-9823-B237-4957-68FCA5F5A095}"/>
              </a:ext>
            </a:extLst>
          </p:cNvPr>
          <p:cNvSpPr txBox="1"/>
          <p:nvPr/>
        </p:nvSpPr>
        <p:spPr>
          <a:xfrm>
            <a:off x="1365555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=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DACD5B-DE16-69DE-2066-BC3879A9CC55}"/>
              </a:ext>
            </a:extLst>
          </p:cNvPr>
          <p:cNvSpPr txBox="1"/>
          <p:nvPr/>
        </p:nvSpPr>
        <p:spPr>
          <a:xfrm>
            <a:off x="1812547" y="1297470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潜在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端口数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9D7279-47FF-2F21-0A47-281BCE8ECF50}"/>
              </a:ext>
            </a:extLst>
          </p:cNvPr>
          <p:cNvSpPr txBox="1"/>
          <p:nvPr/>
        </p:nvSpPr>
        <p:spPr>
          <a:xfrm>
            <a:off x="3330591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×</a:t>
            </a:r>
            <a:endParaRPr kumimoji="1" lang="zh-CN" altLang="zh-CN" sz="16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438D37-34DE-F2B2-50A8-7BE8D5349F7D}"/>
              </a:ext>
            </a:extLst>
          </p:cNvPr>
          <p:cNvSpPr txBox="1"/>
          <p:nvPr/>
        </p:nvSpPr>
        <p:spPr>
          <a:xfrm>
            <a:off x="3695892" y="1297470"/>
            <a:ext cx="102951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渗透率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6084F8-3C2E-95F7-D987-4E998EAC842D}"/>
              </a:ext>
            </a:extLst>
          </p:cNvPr>
          <p:cNvSpPr txBox="1"/>
          <p:nvPr/>
        </p:nvSpPr>
        <p:spPr>
          <a:xfrm>
            <a:off x="4536869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×</a:t>
            </a:r>
            <a:endParaRPr kumimoji="1" lang="zh-CN" altLang="zh-CN" sz="16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4EFB10A-3910-C3DA-C6B6-9D01AAFD7F45}"/>
              </a:ext>
            </a:extLst>
          </p:cNvPr>
          <p:cNvSpPr txBox="1"/>
          <p:nvPr/>
        </p:nvSpPr>
        <p:spPr>
          <a:xfrm>
            <a:off x="4878167" y="1354549"/>
            <a:ext cx="80179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单价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D970D7C-F5F9-ECFD-AD67-E3D4600CD30E}"/>
              </a:ext>
            </a:extLst>
          </p:cNvPr>
          <p:cNvSpPr txBox="1"/>
          <p:nvPr/>
        </p:nvSpPr>
        <p:spPr>
          <a:xfrm>
            <a:off x="2368730" y="1643914"/>
            <a:ext cx="50584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①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93D6221-5B57-F054-67C1-B25529A7F405}"/>
              </a:ext>
            </a:extLst>
          </p:cNvPr>
          <p:cNvSpPr txBox="1"/>
          <p:nvPr/>
        </p:nvSpPr>
        <p:spPr>
          <a:xfrm>
            <a:off x="3401547" y="1643914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②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AE4E23-3BC8-BD0D-4C64-FA8CA2612388}"/>
              </a:ext>
            </a:extLst>
          </p:cNvPr>
          <p:cNvSpPr/>
          <p:nvPr/>
        </p:nvSpPr>
        <p:spPr>
          <a:xfrm>
            <a:off x="1812547" y="1102824"/>
            <a:ext cx="1618207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BFDE41-5061-F099-1BC2-01148CE5B2EA}"/>
              </a:ext>
            </a:extLst>
          </p:cNvPr>
          <p:cNvSpPr/>
          <p:nvPr/>
        </p:nvSpPr>
        <p:spPr>
          <a:xfrm>
            <a:off x="3770013" y="1104123"/>
            <a:ext cx="846345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337F170-FF3C-B0FB-45C8-D91B37556731}"/>
              </a:ext>
            </a:extLst>
          </p:cNvPr>
          <p:cNvSpPr txBox="1"/>
          <p:nvPr/>
        </p:nvSpPr>
        <p:spPr>
          <a:xfrm>
            <a:off x="531791" y="4628517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新建优先渗透：为避免重置成本，新建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对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的态度为能用则用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Amazon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Meta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、谷歌、</a:t>
            </a:r>
            <a:r>
              <a:rPr kumimoji="1" lang="en-US" altLang="zh-CN" sz="16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xAI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建立十万卡集群，必须用光互连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349C5BE-A87A-77D9-6DB7-D19BE60C5476}"/>
              </a:ext>
            </a:extLst>
          </p:cNvPr>
          <p:cNvSpPr/>
          <p:nvPr/>
        </p:nvSpPr>
        <p:spPr>
          <a:xfrm>
            <a:off x="531791" y="3337336"/>
            <a:ext cx="5269570" cy="1165403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Meta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HPC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集群中，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35%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的连接方案已采用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5963EA-EBFF-93D4-982F-2F493F18C7FF}"/>
              </a:ext>
            </a:extLst>
          </p:cNvPr>
          <p:cNvSpPr txBox="1"/>
          <p:nvPr/>
        </p:nvSpPr>
        <p:spPr>
          <a:xfrm>
            <a:off x="436729" y="2873004"/>
            <a:ext cx="7406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②</a:t>
            </a: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渗透率：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HPC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集群新建支撑高渗透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E3CE0BBF-9994-4AD6-A649-87D5C200E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040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1229F559-6349-7093-3523-BD18CF0D5EB5}"/>
              </a:ext>
            </a:extLst>
          </p:cNvPr>
          <p:cNvGrpSpPr/>
          <p:nvPr/>
        </p:nvGrpSpPr>
        <p:grpSpPr>
          <a:xfrm>
            <a:off x="3984798" y="2908263"/>
            <a:ext cx="1480717" cy="983134"/>
            <a:chOff x="3057321" y="2990360"/>
            <a:chExt cx="1480717" cy="983134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802B6849-8BD3-5037-7F80-3542AD40AC84}"/>
                </a:ext>
              </a:extLst>
            </p:cNvPr>
            <p:cNvGrpSpPr/>
            <p:nvPr/>
          </p:nvGrpSpPr>
          <p:grpSpPr>
            <a:xfrm>
              <a:off x="3057321" y="2990360"/>
              <a:ext cx="1480717" cy="983134"/>
              <a:chOff x="3041057" y="3910778"/>
              <a:chExt cx="1480717" cy="983134"/>
            </a:xfrm>
          </p:grpSpPr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EBDF5A6E-5D4C-D8AF-811D-2D6A7EB957F8}"/>
                  </a:ext>
                </a:extLst>
              </p:cNvPr>
              <p:cNvSpPr/>
              <p:nvPr/>
            </p:nvSpPr>
            <p:spPr>
              <a:xfrm>
                <a:off x="3494132" y="3910778"/>
                <a:ext cx="565200" cy="5652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D77BE2C8-6BE5-DF2A-CE04-591001B9F949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cs typeface="+mn-ea"/>
                    <a:sym typeface="+mn-lt"/>
                  </a:rPr>
                  <a:t>新易盛</a:t>
                </a:r>
                <a:endParaRPr lang="en-US" altLang="zh-CN" sz="1000" dirty="0">
                  <a:cs typeface="+mn-ea"/>
                  <a:sym typeface="+mn-lt"/>
                </a:endParaRPr>
              </a:p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2008</a:t>
                </a:r>
                <a:r>
                  <a:rPr lang="en-US" altLang="zh-CN" sz="1000" baseline="30000" dirty="0">
                    <a:cs typeface="+mn-ea"/>
                    <a:sym typeface="+mn-lt"/>
                  </a:rPr>
                  <a:t>1</a:t>
                </a:r>
              </a:p>
            </p:txBody>
          </p:sp>
        </p:grp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2B35EC03-62E4-3CBA-4945-3320AE652D4A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294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19D8D22-6E43-8138-D098-C77CC3575224}"/>
              </a:ext>
            </a:extLst>
          </p:cNvPr>
          <p:cNvGrpSpPr/>
          <p:nvPr/>
        </p:nvGrpSpPr>
        <p:grpSpPr>
          <a:xfrm>
            <a:off x="7342117" y="1466164"/>
            <a:ext cx="1480717" cy="1021140"/>
            <a:chOff x="2854288" y="1498237"/>
            <a:chExt cx="1480717" cy="102114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D2057720-8647-C162-D7DB-D09E13E54079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LightMatter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2024 D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045BDFD1-047E-3AC9-9666-9CF88163EA1E}"/>
                </a:ext>
              </a:extLst>
            </p:cNvPr>
            <p:cNvGrpSpPr/>
            <p:nvPr/>
          </p:nvGrpSpPr>
          <p:grpSpPr>
            <a:xfrm>
              <a:off x="3239844" y="1498237"/>
              <a:ext cx="684000" cy="684000"/>
              <a:chOff x="3749018" y="1403528"/>
              <a:chExt cx="684000" cy="684000"/>
            </a:xfrm>
          </p:grpSpPr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6E888A2D-7C24-3464-F071-59D009A78896}"/>
                  </a:ext>
                </a:extLst>
              </p:cNvPr>
              <p:cNvSpPr/>
              <p:nvPr/>
            </p:nvSpPr>
            <p:spPr>
              <a:xfrm>
                <a:off x="3749018" y="1403528"/>
                <a:ext cx="684000" cy="68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25553AA-8FBC-CFE0-A0B5-06F72A7136DB}"/>
                  </a:ext>
                </a:extLst>
              </p:cNvPr>
              <p:cNvSpPr txBox="1"/>
              <p:nvPr/>
            </p:nvSpPr>
            <p:spPr>
              <a:xfrm>
                <a:off x="3809078" y="1622417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4.4B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71474D3-1584-BCB1-6F7B-C9DF3CED2E14}"/>
              </a:ext>
            </a:extLst>
          </p:cNvPr>
          <p:cNvGrpSpPr/>
          <p:nvPr/>
        </p:nvGrpSpPr>
        <p:grpSpPr>
          <a:xfrm>
            <a:off x="7238044" y="3455964"/>
            <a:ext cx="1480717" cy="712522"/>
            <a:chOff x="2854288" y="1806855"/>
            <a:chExt cx="1480717" cy="71252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41DF03C-7F9E-2D12-E9DF-78979F8E6D54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AyarLabs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2024 D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3E00C53D-550A-0449-61D5-93B181545914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E1DB967-06E2-C9F8-F5BB-9AC980FB6662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BF3B015-06B4-4E21-8C05-EF5F6D82D47B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1B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9872BA1E-85BB-C62A-88FE-B0519CC259FB}"/>
              </a:ext>
            </a:extLst>
          </p:cNvPr>
          <p:cNvGrpSpPr/>
          <p:nvPr/>
        </p:nvGrpSpPr>
        <p:grpSpPr>
          <a:xfrm>
            <a:off x="3350315" y="2881245"/>
            <a:ext cx="1480717" cy="1018888"/>
            <a:chOff x="3057321" y="2954606"/>
            <a:chExt cx="1480717" cy="1018888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77621AF1-9C82-C981-030C-E6A977F0FC5D}"/>
                </a:ext>
              </a:extLst>
            </p:cNvPr>
            <p:cNvGrpSpPr/>
            <p:nvPr/>
          </p:nvGrpSpPr>
          <p:grpSpPr>
            <a:xfrm>
              <a:off x="3057321" y="2954606"/>
              <a:ext cx="1480717" cy="1018888"/>
              <a:chOff x="3041057" y="3875024"/>
              <a:chExt cx="1480717" cy="1018888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7C06EB8-FD88-22F9-C353-08C3495495B2}"/>
                  </a:ext>
                </a:extLst>
              </p:cNvPr>
              <p:cNvSpPr/>
              <p:nvPr/>
            </p:nvSpPr>
            <p:spPr>
              <a:xfrm>
                <a:off x="3472224" y="3875024"/>
                <a:ext cx="624038" cy="624038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87DD744-1279-D2A2-2768-6254C29CC9E6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cs typeface="+mn-ea"/>
                    <a:sym typeface="+mn-lt"/>
                  </a:rPr>
                  <a:t>中际旭创</a:t>
                </a:r>
                <a:endParaRPr lang="en-US" altLang="zh-CN" sz="1000" dirty="0">
                  <a:cs typeface="+mn-ea"/>
                  <a:sym typeface="+mn-lt"/>
                </a:endParaRPr>
              </a:p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2008</a:t>
                </a:r>
                <a:r>
                  <a:rPr lang="en-US" altLang="zh-CN" sz="1000" baseline="30000" dirty="0">
                    <a:cs typeface="+mn-ea"/>
                    <a:sym typeface="+mn-lt"/>
                  </a:rPr>
                  <a:t>1</a:t>
                </a:r>
              </a:p>
            </p:txBody>
          </p:sp>
        </p:grp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80BA3FB8-B5C9-49AE-AF72-2EB77069E852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356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741E33D-4C1A-087D-3EF4-F5DCF13D57DD}"/>
              </a:ext>
            </a:extLst>
          </p:cNvPr>
          <p:cNvCxnSpPr/>
          <p:nvPr/>
        </p:nvCxnSpPr>
        <p:spPr>
          <a:xfrm flipV="1">
            <a:off x="3582182" y="1229210"/>
            <a:ext cx="1853989" cy="12637"/>
          </a:xfrm>
          <a:prstGeom prst="line">
            <a:avLst/>
          </a:prstGeom>
          <a:ln w="9525"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D268B22-3EAF-1933-4115-BF6BB0FC43E7}"/>
              </a:ext>
            </a:extLst>
          </p:cNvPr>
          <p:cNvCxnSpPr>
            <a:cxnSpLocks/>
          </p:cNvCxnSpPr>
          <p:nvPr/>
        </p:nvCxnSpPr>
        <p:spPr>
          <a:xfrm flipV="1">
            <a:off x="7124896" y="1223335"/>
            <a:ext cx="1674011" cy="11410"/>
          </a:xfrm>
          <a:prstGeom prst="line">
            <a:avLst/>
          </a:prstGeom>
          <a:ln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3187ED2-1948-F696-AA6D-2F00191AC35D}"/>
              </a:ext>
            </a:extLst>
          </p:cNvPr>
          <p:cNvSpPr/>
          <p:nvPr/>
        </p:nvSpPr>
        <p:spPr>
          <a:xfrm>
            <a:off x="5436171" y="3508536"/>
            <a:ext cx="1696452" cy="508319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光芯片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光源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15%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FDBCAE-7D21-6AD9-72CF-643FC3F3483C}"/>
              </a:ext>
            </a:extLst>
          </p:cNvPr>
          <p:cNvSpPr/>
          <p:nvPr/>
        </p:nvSpPr>
        <p:spPr>
          <a:xfrm>
            <a:off x="8798907" y="3138460"/>
            <a:ext cx="1696452" cy="87839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硅光芯片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光源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20%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EA29F5-B85E-9C3A-C776-CC26850F45F7}"/>
              </a:ext>
            </a:extLst>
          </p:cNvPr>
          <p:cNvSpPr/>
          <p:nvPr/>
        </p:nvSpPr>
        <p:spPr>
          <a:xfrm>
            <a:off x="1887060" y="4525527"/>
            <a:ext cx="1696452" cy="1360035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AD96954-7025-3347-6507-86E08C12979D}"/>
              </a:ext>
            </a:extLst>
          </p:cNvPr>
          <p:cNvCxnSpPr>
            <a:cxnSpLocks/>
          </p:cNvCxnSpPr>
          <p:nvPr/>
        </p:nvCxnSpPr>
        <p:spPr>
          <a:xfrm flipV="1">
            <a:off x="1044399" y="5882580"/>
            <a:ext cx="10479997" cy="1189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287F89-B6AC-F19F-C067-2B014E2E84DA}"/>
              </a:ext>
            </a:extLst>
          </p:cNvPr>
          <p:cNvSpPr txBox="1"/>
          <p:nvPr/>
        </p:nvSpPr>
        <p:spPr>
          <a:xfrm>
            <a:off x="1594728" y="786008"/>
            <a:ext cx="227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铜互连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EF94ED-F03C-93FE-0760-B5F9FDFDDBB5}"/>
              </a:ext>
            </a:extLst>
          </p:cNvPr>
          <p:cNvSpPr txBox="1"/>
          <p:nvPr/>
        </p:nvSpPr>
        <p:spPr>
          <a:xfrm>
            <a:off x="4599165" y="786008"/>
            <a:ext cx="325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可插拔光模块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B85036-4D9C-BABA-F3E6-1B0422DCF3C0}"/>
              </a:ext>
            </a:extLst>
          </p:cNvPr>
          <p:cNvSpPr txBox="1"/>
          <p:nvPr/>
        </p:nvSpPr>
        <p:spPr>
          <a:xfrm>
            <a:off x="8425868" y="773571"/>
            <a:ext cx="2442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CPO/OIO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58BDA8-598E-7F0D-31B3-D9B5DB69D94D}"/>
              </a:ext>
            </a:extLst>
          </p:cNvPr>
          <p:cNvSpPr/>
          <p:nvPr/>
        </p:nvSpPr>
        <p:spPr>
          <a:xfrm>
            <a:off x="1885730" y="1241847"/>
            <a:ext cx="1696452" cy="1797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连接器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线缆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6C877AC-DFA1-B3A6-3BDD-197638C97CDF}"/>
              </a:ext>
            </a:extLst>
          </p:cNvPr>
          <p:cNvSpPr/>
          <p:nvPr/>
        </p:nvSpPr>
        <p:spPr>
          <a:xfrm>
            <a:off x="5436171" y="2993641"/>
            <a:ext cx="1696452" cy="465118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电光接口芯片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2C30F79-704D-EDCA-62DA-762FF5185B7A}"/>
              </a:ext>
            </a:extLst>
          </p:cNvPr>
          <p:cNvSpPr/>
          <p:nvPr/>
        </p:nvSpPr>
        <p:spPr>
          <a:xfrm>
            <a:off x="5436171" y="1229211"/>
            <a:ext cx="1696452" cy="1714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光模块盒子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74B6B21-3EDF-5857-FF13-E9B3825AD96D}"/>
              </a:ext>
            </a:extLst>
          </p:cNvPr>
          <p:cNvSpPr/>
          <p:nvPr/>
        </p:nvSpPr>
        <p:spPr>
          <a:xfrm>
            <a:off x="5436171" y="4061552"/>
            <a:ext cx="1696452" cy="182401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9507488-9579-D735-186F-A4B19598F8C3}"/>
              </a:ext>
            </a:extLst>
          </p:cNvPr>
          <p:cNvSpPr/>
          <p:nvPr/>
        </p:nvSpPr>
        <p:spPr>
          <a:xfrm>
            <a:off x="8798907" y="2430584"/>
            <a:ext cx="1696452" cy="653572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电光接口芯片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（高速接口）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15%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458DE78-FF25-460B-DD9F-EB84CF8D3BFA}"/>
              </a:ext>
            </a:extLst>
          </p:cNvPr>
          <p:cNvSpPr/>
          <p:nvPr/>
        </p:nvSpPr>
        <p:spPr>
          <a:xfrm>
            <a:off x="8798907" y="4061552"/>
            <a:ext cx="1696452" cy="182401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3BA684A-C8E7-351B-CD78-7657E05AFD99}"/>
              </a:ext>
            </a:extLst>
          </p:cNvPr>
          <p:cNvSpPr/>
          <p:nvPr/>
        </p:nvSpPr>
        <p:spPr>
          <a:xfrm>
            <a:off x="8798907" y="1229210"/>
            <a:ext cx="1696452" cy="11526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光引擎封装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EF5ABABB-ED9A-ABDA-9DE0-B0D64C9D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49990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互连技术范式变革带来新的市场机会</a:t>
            </a: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CB43920-42D5-86FB-D43B-7FED7D566651}"/>
              </a:ext>
            </a:extLst>
          </p:cNvPr>
          <p:cNvSpPr/>
          <p:nvPr/>
        </p:nvSpPr>
        <p:spPr>
          <a:xfrm>
            <a:off x="-585647" y="3643810"/>
            <a:ext cx="10346" cy="2367"/>
          </a:xfrm>
          <a:custGeom>
            <a:avLst/>
            <a:gdLst>
              <a:gd name="connsiteX0" fmla="*/ 10346 w 10346"/>
              <a:gd name="connsiteY0" fmla="*/ 0 h 2367"/>
              <a:gd name="connsiteX1" fmla="*/ 10346 w 10346"/>
              <a:gd name="connsiteY1" fmla="*/ 2250 h 2367"/>
              <a:gd name="connsiteX2" fmla="*/ 0 w 10346"/>
              <a:gd name="connsiteY2" fmla="*/ 2367 h 2367"/>
              <a:gd name="connsiteX3" fmla="*/ 10346 w 10346"/>
              <a:gd name="connsiteY3" fmla="*/ 0 h 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6" h="2367">
                <a:moveTo>
                  <a:pt x="10346" y="0"/>
                </a:moveTo>
                <a:lnTo>
                  <a:pt x="10346" y="2250"/>
                </a:lnTo>
                <a:lnTo>
                  <a:pt x="0" y="2367"/>
                </a:lnTo>
                <a:lnTo>
                  <a:pt x="10346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DDC55DAB-922D-52D6-3B06-4F8C8CADAB19}"/>
              </a:ext>
            </a:extLst>
          </p:cNvPr>
          <p:cNvGrpSpPr/>
          <p:nvPr/>
        </p:nvGrpSpPr>
        <p:grpSpPr>
          <a:xfrm>
            <a:off x="4213318" y="5794529"/>
            <a:ext cx="1675054" cy="832663"/>
            <a:chOff x="3456969" y="5923128"/>
            <a:chExt cx="1675054" cy="832663"/>
          </a:xfrm>
        </p:grpSpPr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DBC73AFA-A015-A0D9-E1A9-5A96738DA8EA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13E93844-E199-894B-3018-F62ED0A49D53}"/>
                </a:ext>
              </a:extLst>
            </p:cNvPr>
            <p:cNvSpPr txBox="1"/>
            <p:nvPr/>
          </p:nvSpPr>
          <p:spPr>
            <a:xfrm>
              <a:off x="3456969" y="6017127"/>
              <a:ext cx="16750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2010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光模块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公司批量创立</a:t>
              </a:r>
              <a:endParaRPr lang="en-US" altLang="zh-CN" sz="1200" dirty="0">
                <a:solidFill>
                  <a:srgbClr val="000000"/>
                </a:solidFill>
                <a:cs typeface="+mn-ea"/>
                <a:sym typeface="+mn-lt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陆续成为行业龙头</a:t>
              </a:r>
              <a:endParaRPr lang="zh-CN" altLang="zh-CN" sz="12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6FD4A2-0D97-C957-8CF1-A55E7DE80662}"/>
              </a:ext>
            </a:extLst>
          </p:cNvPr>
          <p:cNvGrpSpPr/>
          <p:nvPr/>
        </p:nvGrpSpPr>
        <p:grpSpPr>
          <a:xfrm>
            <a:off x="6763154" y="5798093"/>
            <a:ext cx="1352621" cy="842175"/>
            <a:chOff x="3616629" y="5923128"/>
            <a:chExt cx="1352621" cy="842175"/>
          </a:xfrm>
        </p:grpSpPr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61BBDB74-4FC1-8872-B09E-F468B6BD73CC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BDB373B-B879-9393-C6D9-61FED60A6FF9}"/>
                </a:ext>
              </a:extLst>
            </p:cNvPr>
            <p:cNvSpPr txBox="1"/>
            <p:nvPr/>
          </p:nvSpPr>
          <p:spPr>
            <a:xfrm>
              <a:off x="3616629" y="6026639"/>
              <a:ext cx="13526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2020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巨头入局，相关初创获资本青睐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F761921-86DA-BE0F-CA00-6190FC8C2FC1}"/>
              </a:ext>
            </a:extLst>
          </p:cNvPr>
          <p:cNvGrpSpPr/>
          <p:nvPr/>
        </p:nvGrpSpPr>
        <p:grpSpPr>
          <a:xfrm>
            <a:off x="10374130" y="5794529"/>
            <a:ext cx="1352621" cy="530715"/>
            <a:chOff x="3618185" y="5923128"/>
            <a:chExt cx="1352621" cy="530715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9CCE399-5418-F28C-6F9D-CB74F57675AE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47AD2A6B-1CD8-740B-F0A0-56331323BD0E}"/>
                </a:ext>
              </a:extLst>
            </p:cNvPr>
            <p:cNvSpPr txBox="1"/>
            <p:nvPr/>
          </p:nvSpPr>
          <p:spPr>
            <a:xfrm>
              <a:off x="3618185" y="6084511"/>
              <a:ext cx="13526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2030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6593CF7-F4B7-FCBA-D04F-0DBADBB67DFE}"/>
              </a:ext>
            </a:extLst>
          </p:cNvPr>
          <p:cNvSpPr txBox="1"/>
          <p:nvPr/>
        </p:nvSpPr>
        <p:spPr>
          <a:xfrm>
            <a:off x="130417" y="6607096"/>
            <a:ext cx="7396141" cy="27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：日期为公司成立日</a:t>
            </a:r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AF376F2D-4238-E92B-E360-E06A18F221AE}"/>
              </a:ext>
            </a:extLst>
          </p:cNvPr>
          <p:cNvGrpSpPr/>
          <p:nvPr/>
        </p:nvGrpSpPr>
        <p:grpSpPr>
          <a:xfrm>
            <a:off x="299389" y="1230174"/>
            <a:ext cx="1314896" cy="276999"/>
            <a:chOff x="301960" y="960085"/>
            <a:chExt cx="1314896" cy="276999"/>
          </a:xfrm>
        </p:grpSpPr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9ED6EE5B-D0A8-EDCA-E1E0-1DA4EBC79000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C640DFA-62E4-CEB7-DCDE-D2181F343CC7}"/>
                </a:ext>
              </a:extLst>
            </p:cNvPr>
            <p:cNvSpPr txBox="1"/>
            <p:nvPr/>
          </p:nvSpPr>
          <p:spPr>
            <a:xfrm>
              <a:off x="470607" y="960085"/>
              <a:ext cx="11462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市值（十亿元）</a:t>
              </a: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CDA6D744-A6A0-189E-13D9-35A8CFB36A71}"/>
              </a:ext>
            </a:extLst>
          </p:cNvPr>
          <p:cNvGrpSpPr/>
          <p:nvPr/>
        </p:nvGrpSpPr>
        <p:grpSpPr>
          <a:xfrm>
            <a:off x="3118448" y="2133406"/>
            <a:ext cx="1480717" cy="712522"/>
            <a:chOff x="2854288" y="1806855"/>
            <a:chExt cx="1480717" cy="712522"/>
          </a:xfrm>
        </p:grpSpPr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28CBCE1F-0CD1-1CE3-4AA2-90A455088810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天孚通信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2005</a:t>
              </a:r>
              <a:r>
                <a:rPr lang="en-US" altLang="zh-CN" sz="1000" baseline="30000" dirty="0">
                  <a:cs typeface="+mn-ea"/>
                  <a:sym typeface="+mn-lt"/>
                </a:rPr>
                <a:t>1</a:t>
              </a:r>
            </a:p>
          </p:txBody>
        </p: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6709C6EA-64A7-1691-34CA-DCE9AACF3476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42E463DA-43DF-2946-8741-8038DEE9660E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6C4EFD4E-A2CB-F52E-A8DB-25719E5FEB98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100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9030235D-3962-E93B-7209-63EA4143648F}"/>
              </a:ext>
            </a:extLst>
          </p:cNvPr>
          <p:cNvGrpSpPr/>
          <p:nvPr/>
        </p:nvGrpSpPr>
        <p:grpSpPr>
          <a:xfrm>
            <a:off x="3224969" y="4884958"/>
            <a:ext cx="1480717" cy="639109"/>
            <a:chOff x="2865717" y="1835536"/>
            <a:chExt cx="1480717" cy="639109"/>
          </a:xfrm>
        </p:grpSpPr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F761F661-9F75-54D2-773E-C0C26FBF3422}"/>
                </a:ext>
              </a:extLst>
            </p:cNvPr>
            <p:cNvSpPr txBox="1"/>
            <p:nvPr/>
          </p:nvSpPr>
          <p:spPr>
            <a:xfrm>
              <a:off x="2865717" y="2074535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剑桥科技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2006</a:t>
              </a:r>
              <a:r>
                <a:rPr lang="en-US" altLang="zh-CN" sz="1000" baseline="30000" dirty="0">
                  <a:cs typeface="+mn-ea"/>
                  <a:sym typeface="+mn-lt"/>
                </a:rPr>
                <a:t>2</a:t>
              </a:r>
            </a:p>
          </p:txBody>
        </p: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9239C01C-E091-5BB3-F2BE-49CF09D60773}"/>
                </a:ext>
              </a:extLst>
            </p:cNvPr>
            <p:cNvGrpSpPr/>
            <p:nvPr/>
          </p:nvGrpSpPr>
          <p:grpSpPr>
            <a:xfrm>
              <a:off x="3324135" y="1835536"/>
              <a:ext cx="563880" cy="246221"/>
              <a:chOff x="3833309" y="1740827"/>
              <a:chExt cx="563880" cy="246221"/>
            </a:xfrm>
          </p:grpSpPr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79E6C63C-2331-A751-D9B7-F7337E062C7D}"/>
                  </a:ext>
                </a:extLst>
              </p:cNvPr>
              <p:cNvSpPr/>
              <p:nvPr/>
            </p:nvSpPr>
            <p:spPr>
              <a:xfrm>
                <a:off x="4031820" y="1778403"/>
                <a:ext cx="166861" cy="16686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7E8AC346-F5A4-C03C-02F8-567D3A52D94F}"/>
                  </a:ext>
                </a:extLst>
              </p:cNvPr>
              <p:cNvSpPr txBox="1"/>
              <p:nvPr/>
            </p:nvSpPr>
            <p:spPr>
              <a:xfrm>
                <a:off x="3833309" y="1740827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20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85" name="箭头: V 形 184">
            <a:extLst>
              <a:ext uri="{FF2B5EF4-FFF2-40B4-BE49-F238E27FC236}">
                <a16:creationId xmlns:a16="http://schemas.microsoft.com/office/drawing/2014/main" id="{4F46F690-1EE5-6A9D-785F-B194D55BD8BC}"/>
              </a:ext>
            </a:extLst>
          </p:cNvPr>
          <p:cNvSpPr/>
          <p:nvPr/>
        </p:nvSpPr>
        <p:spPr>
          <a:xfrm>
            <a:off x="3514491" y="804994"/>
            <a:ext cx="1951024" cy="331360"/>
          </a:xfrm>
          <a:prstGeom prst="chevron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云计算、移动互联网爆发</a:t>
            </a:r>
            <a:endParaRPr lang="en-US" altLang="zh-CN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带宽需求持续放大</a:t>
            </a:r>
          </a:p>
        </p:txBody>
      </p:sp>
      <p:sp>
        <p:nvSpPr>
          <p:cNvPr id="186" name="箭头: V 形 185">
            <a:extLst>
              <a:ext uri="{FF2B5EF4-FFF2-40B4-BE49-F238E27FC236}">
                <a16:creationId xmlns:a16="http://schemas.microsoft.com/office/drawing/2014/main" id="{D204EDEF-0DF3-E76D-E557-F1047FFD574D}"/>
              </a:ext>
            </a:extLst>
          </p:cNvPr>
          <p:cNvSpPr/>
          <p:nvPr/>
        </p:nvSpPr>
        <p:spPr>
          <a:xfrm>
            <a:off x="7124897" y="807513"/>
            <a:ext cx="1951024" cy="326323"/>
          </a:xfrm>
          <a:prstGeom prst="chevron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rgbClr val="000000"/>
                </a:solidFill>
                <a:cs typeface="+mn-ea"/>
                <a:sym typeface="+mn-lt"/>
              </a:rPr>
              <a:t>AI爆发</a:t>
            </a:r>
            <a:endParaRPr lang="en-US" altLang="zh-CN" sz="1000" dirty="0">
              <a:solidFill>
                <a:srgbClr val="000000"/>
              </a:solidFill>
              <a:cs typeface="+mn-ea"/>
              <a:sym typeface="+mn-lt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/>
                </a:solidFill>
                <a:cs typeface="+mn-ea"/>
                <a:sym typeface="+mn-lt"/>
              </a:rPr>
              <a:t>高速光模块需求持续放大</a:t>
            </a:r>
            <a:endParaRPr lang="en-US" altLang="zh-CN" sz="1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571BFB-94C0-23CC-FB68-52E8955A83D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8AA9C9-D930-E4D6-0852-76F64C0F4888}"/>
              </a:ext>
            </a:extLst>
          </p:cNvPr>
          <p:cNvSpPr txBox="1"/>
          <p:nvPr/>
        </p:nvSpPr>
        <p:spPr>
          <a:xfrm>
            <a:off x="115880" y="1241847"/>
            <a:ext cx="56388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x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91D3D7A-B9AA-FD1C-D3A1-9B43069C3F83}"/>
              </a:ext>
            </a:extLst>
          </p:cNvPr>
          <p:cNvGrpSpPr/>
          <p:nvPr/>
        </p:nvGrpSpPr>
        <p:grpSpPr>
          <a:xfrm>
            <a:off x="299389" y="1623892"/>
            <a:ext cx="1499275" cy="276999"/>
            <a:chOff x="301960" y="960085"/>
            <a:chExt cx="1499275" cy="276999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3F6B8640-A920-7B2A-23C7-628A5D5F28D6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FFA3FF0-CA0F-04C4-AE62-D3FFAAF45BEF}"/>
                </a:ext>
              </a:extLst>
            </p:cNvPr>
            <p:cNvSpPr txBox="1"/>
            <p:nvPr/>
          </p:nvSpPr>
          <p:spPr>
            <a:xfrm>
              <a:off x="470607" y="960085"/>
              <a:ext cx="13306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估值（十亿美元）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F7F3BCAE-39C4-8E7A-B7C2-9A3D5DA6926A}"/>
              </a:ext>
            </a:extLst>
          </p:cNvPr>
          <p:cNvSpPr txBox="1"/>
          <p:nvPr/>
        </p:nvSpPr>
        <p:spPr>
          <a:xfrm>
            <a:off x="117996" y="1639280"/>
            <a:ext cx="56388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xB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6CE72BB-1679-E7E0-1193-FA7A6A726BE9}"/>
              </a:ext>
            </a:extLst>
          </p:cNvPr>
          <p:cNvGrpSpPr/>
          <p:nvPr/>
        </p:nvGrpSpPr>
        <p:grpSpPr>
          <a:xfrm>
            <a:off x="7727602" y="2882025"/>
            <a:ext cx="1480717" cy="891820"/>
            <a:chOff x="2854288" y="1627557"/>
            <a:chExt cx="1480717" cy="8918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AED42A9-93F9-2EF6-7CB6-A331EC10C5E3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Celestial AI</a:t>
              </a: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2025 C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798B39EC-96C8-1552-64A1-C3CFE70BAB64}"/>
                </a:ext>
              </a:extLst>
            </p:cNvPr>
            <p:cNvGrpSpPr/>
            <p:nvPr/>
          </p:nvGrpSpPr>
          <p:grpSpPr>
            <a:xfrm>
              <a:off x="3302218" y="1627557"/>
              <a:ext cx="563880" cy="514800"/>
              <a:chOff x="3811392" y="1532848"/>
              <a:chExt cx="563880" cy="514800"/>
            </a:xfrm>
          </p:grpSpPr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36E0C9F0-06C3-116B-BDB9-6B81F9D2D9E6}"/>
                  </a:ext>
                </a:extLst>
              </p:cNvPr>
              <p:cNvSpPr/>
              <p:nvPr/>
            </p:nvSpPr>
            <p:spPr>
              <a:xfrm>
                <a:off x="3846420" y="1532848"/>
                <a:ext cx="514800" cy="5148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58468C2-3CAA-B518-1D3E-C3962DEF62F2}"/>
                  </a:ext>
                </a:extLst>
              </p:cNvPr>
              <p:cNvSpPr txBox="1"/>
              <p:nvPr/>
            </p:nvSpPr>
            <p:spPr>
              <a:xfrm>
                <a:off x="3811392" y="1668796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2.5B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1F40269-8EB9-75ED-BF17-F0DEC6B88679}"/>
              </a:ext>
            </a:extLst>
          </p:cNvPr>
          <p:cNvGrpSpPr/>
          <p:nvPr/>
        </p:nvGrpSpPr>
        <p:grpSpPr>
          <a:xfrm>
            <a:off x="6657290" y="1932011"/>
            <a:ext cx="1480717" cy="782538"/>
            <a:chOff x="2743937" y="1891061"/>
            <a:chExt cx="1480717" cy="782538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AB92A23-CE73-C7BC-9000-C97559F394EB}"/>
                </a:ext>
              </a:extLst>
            </p:cNvPr>
            <p:cNvSpPr txBox="1"/>
            <p:nvPr/>
          </p:nvSpPr>
          <p:spPr>
            <a:xfrm>
              <a:off x="2743937" y="2119601"/>
              <a:ext cx="148071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FiconTec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2019</a:t>
              </a:r>
            </a:p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并购启动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ECBD9CFD-9D1E-39A4-2546-4188DF98CD41}"/>
                </a:ext>
              </a:extLst>
            </p:cNvPr>
            <p:cNvGrpSpPr/>
            <p:nvPr/>
          </p:nvGrpSpPr>
          <p:grpSpPr>
            <a:xfrm>
              <a:off x="3180954" y="1891061"/>
              <a:ext cx="563880" cy="251296"/>
              <a:chOff x="3690128" y="1796352"/>
              <a:chExt cx="563880" cy="251296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91489960-0F1C-83D0-473C-2125F01F7ED5}"/>
                  </a:ext>
                </a:extLst>
              </p:cNvPr>
              <p:cNvSpPr/>
              <p:nvPr/>
            </p:nvSpPr>
            <p:spPr>
              <a:xfrm>
                <a:off x="3846420" y="1796352"/>
                <a:ext cx="251296" cy="2512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FBD6DAD-39BD-692A-A5D0-069A9F5AC0D9}"/>
                  </a:ext>
                </a:extLst>
              </p:cNvPr>
              <p:cNvSpPr txBox="1"/>
              <p:nvPr/>
            </p:nvSpPr>
            <p:spPr>
              <a:xfrm>
                <a:off x="3690128" y="1820421"/>
                <a:ext cx="563880" cy="20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0.17B</a:t>
                </a:r>
                <a:endParaRPr lang="zh-CN" altLang="en-US" sz="7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51" name="矩形 50">
            <a:extLst>
              <a:ext uri="{FF2B5EF4-FFF2-40B4-BE49-F238E27FC236}">
                <a16:creationId xmlns:a16="http://schemas.microsoft.com/office/drawing/2014/main" id="{C51ED416-8324-95E0-84F5-A9E27B4B1437}"/>
              </a:ext>
            </a:extLst>
          </p:cNvPr>
          <p:cNvSpPr/>
          <p:nvPr/>
        </p:nvSpPr>
        <p:spPr>
          <a:xfrm>
            <a:off x="1887060" y="3099484"/>
            <a:ext cx="1696452" cy="136003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物理层接口芯片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（高速传输接口）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30%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E40A5DF-83E5-6142-DAF5-0C4AC2FE59BF}"/>
              </a:ext>
            </a:extLst>
          </p:cNvPr>
          <p:cNvGrpSpPr/>
          <p:nvPr/>
        </p:nvGrpSpPr>
        <p:grpSpPr>
          <a:xfrm>
            <a:off x="688202" y="5782570"/>
            <a:ext cx="1427975" cy="657509"/>
            <a:chOff x="3616629" y="5923128"/>
            <a:chExt cx="1427975" cy="657509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CA609B8-F79F-2A54-B3D6-6DFBB6944568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38D6BB7-F906-3D4D-E631-57CA185DAA33}"/>
                </a:ext>
              </a:extLst>
            </p:cNvPr>
            <p:cNvSpPr txBox="1"/>
            <p:nvPr/>
          </p:nvSpPr>
          <p:spPr>
            <a:xfrm>
              <a:off x="3616629" y="6026639"/>
              <a:ext cx="142797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2000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铜连接大范围应用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686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20829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关键模块：硅光芯片、电光芯片、交换机芯片及封装</a:t>
            </a: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617802" y="1358351"/>
            <a:ext cx="2300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光的产生与接收</a:t>
            </a: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3621132" y="1362135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光信号中枢，光</a:t>
            </a:r>
            <a:r>
              <a:rPr lang="en-US" altLang="zh-CN" sz="1600" i="1" dirty="0">
                <a:cs typeface="+mn-ea"/>
                <a:sym typeface="Wingdings" panose="05000000000000000000" pitchFamily="2" charset="2"/>
              </a:rPr>
              <a:t></a:t>
            </a:r>
            <a:r>
              <a:rPr lang="zh-CN" altLang="en-US" sz="1600" i="1" dirty="0">
                <a:cs typeface="+mn-ea"/>
                <a:sym typeface="+mn-lt"/>
              </a:rPr>
              <a:t>电</a:t>
            </a: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7036335" y="1367069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电信号控制中枢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09857" y="2448690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182085" y="3083560"/>
            <a:ext cx="3459485" cy="1213338"/>
          </a:xfrm>
          <a:prstGeom prst="rect">
            <a:avLst/>
          </a:prstGeom>
          <a:solidFill>
            <a:schemeClr val="bg2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593676" y="4993309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243201" y="4948982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  <a:sym typeface="+mn-lt"/>
              </a:rPr>
              <a:t>激光器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32297" y="3109827"/>
            <a:ext cx="2175647" cy="1213338"/>
          </a:xfrm>
          <a:prstGeom prst="rect">
            <a:avLst/>
          </a:prstGeom>
          <a:solidFill>
            <a:schemeClr val="bg2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6928295" y="982651"/>
            <a:ext cx="1924628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放大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+ 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优化</a:t>
            </a: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8947359" y="982651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交换机芯片</a:t>
            </a: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747322" y="973707"/>
            <a:ext cx="1379386" cy="295991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出入口</a:t>
            </a: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982651"/>
            <a:ext cx="4612713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行走通道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+ 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转换</a:t>
            </a: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9409097" y="1358351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信号处理</a:t>
            </a: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89027" y="3516325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  <a:sym typeface="+mn-lt"/>
              </a:rPr>
              <a:t>光纤</a:t>
            </a: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521561" y="3500936"/>
            <a:ext cx="1266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硅光芯片</a:t>
            </a: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62627" y="3486810"/>
            <a:ext cx="1266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电光芯片</a:t>
            </a: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10019156" y="2522284"/>
            <a:ext cx="8951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cs typeface="+mn-ea"/>
                <a:sym typeface="+mn-lt"/>
              </a:rPr>
              <a:t>中介层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173143" y="3109914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00681" y="3552248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697698" y="3582692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646586" y="3709334"/>
            <a:ext cx="4934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243869" y="1997735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566928" y="3648410"/>
            <a:ext cx="696411" cy="1993389"/>
          </a:xfrm>
          <a:prstGeom prst="bent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02DB029A-34DC-7439-48BD-552FDD20957D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3788157" y="3464728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9401" y="326568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722" y="4761053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45877" y="3826510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200122" y="3161157"/>
            <a:ext cx="1266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交换机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芯片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78371" y="-2465666"/>
            <a:ext cx="238588" cy="8521301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4485223" y="2003710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封装</a:t>
            </a: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358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产业链：集成交付环节、光电信号中枢优先关注</a:t>
            </a: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189697" y="1029464"/>
            <a:ext cx="3219590" cy="387904"/>
          </a:xfrm>
          <a:prstGeom prst="homePlate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光信号中枢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532548" y="1038407"/>
            <a:ext cx="2647705" cy="370017"/>
          </a:xfrm>
          <a:prstGeom prst="chevron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电信号中枢</a:t>
            </a:r>
          </a:p>
        </p:txBody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7303515" y="1047351"/>
            <a:ext cx="2647705" cy="370017"/>
          </a:xfrm>
          <a:prstGeom prst="chevron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集成交付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F8C7F5-E1FA-F8B4-3AFF-AF4DB968D28C}"/>
              </a:ext>
            </a:extLst>
          </p:cNvPr>
          <p:cNvSpPr txBox="1"/>
          <p:nvPr/>
        </p:nvSpPr>
        <p:spPr>
          <a:xfrm>
            <a:off x="240584" y="3652733"/>
            <a:ext cx="445216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大厂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27FDB3-6C32-9552-2CB8-9F66D8956BB0}"/>
              </a:ext>
            </a:extLst>
          </p:cNvPr>
          <p:cNvSpPr txBox="1"/>
          <p:nvPr/>
        </p:nvSpPr>
        <p:spPr>
          <a:xfrm>
            <a:off x="240584" y="4892050"/>
            <a:ext cx="936104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初创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BE8A2F9-6A41-EFC9-6A32-2A586A0D8C4C}"/>
              </a:ext>
            </a:extLst>
          </p:cNvPr>
          <p:cNvGrpSpPr/>
          <p:nvPr/>
        </p:nvGrpSpPr>
        <p:grpSpPr>
          <a:xfrm>
            <a:off x="1119726" y="1490343"/>
            <a:ext cx="1141776" cy="916619"/>
            <a:chOff x="331424" y="2282556"/>
            <a:chExt cx="1141776" cy="91661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34F6EE5-3C5F-CB90-31B5-E7EAE274DB4C}"/>
                </a:ext>
              </a:extLst>
            </p:cNvPr>
            <p:cNvSpPr txBox="1"/>
            <p:nvPr/>
          </p:nvSpPr>
          <p:spPr>
            <a:xfrm>
              <a:off x="331424" y="2891398"/>
              <a:ext cx="1141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cs typeface="+mn-ea"/>
                  <a:sym typeface="+mn-lt"/>
                </a:rPr>
                <a:t>外置激光器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063E6CD-A762-B27C-BDC3-5AD185D0DD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60" y="2282556"/>
              <a:ext cx="936105" cy="657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A09CA3B-900C-D3D8-4EE8-C50040D79793}"/>
              </a:ext>
            </a:extLst>
          </p:cNvPr>
          <p:cNvSpPr txBox="1"/>
          <p:nvPr/>
        </p:nvSpPr>
        <p:spPr>
          <a:xfrm>
            <a:off x="2310371" y="1505304"/>
            <a:ext cx="781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光纤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2EC28C-4DEF-A840-A33B-B608E4A221E9}"/>
              </a:ext>
            </a:extLst>
          </p:cNvPr>
          <p:cNvSpPr txBox="1"/>
          <p:nvPr/>
        </p:nvSpPr>
        <p:spPr>
          <a:xfrm>
            <a:off x="3218733" y="2089799"/>
            <a:ext cx="114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55E0"/>
                </a:solidFill>
                <a:cs typeface="+mn-ea"/>
                <a:sym typeface="+mn-lt"/>
              </a:rPr>
              <a:t>硅光芯片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A2A7036-7763-DE9F-28E2-76D310EBEF8D}"/>
              </a:ext>
            </a:extLst>
          </p:cNvPr>
          <p:cNvCxnSpPr>
            <a:cxnSpLocks/>
            <a:stCxn id="2050" idx="3"/>
          </p:cNvCxnSpPr>
          <p:nvPr/>
        </p:nvCxnSpPr>
        <p:spPr>
          <a:xfrm>
            <a:off x="2158667" y="1819302"/>
            <a:ext cx="10751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18082D1E-4314-9FA9-2794-1F08741FFD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3851" y="1605029"/>
            <a:ext cx="777859" cy="43872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2FBB7D99-A1DB-A738-678B-AB64E3E6FAD5}"/>
              </a:ext>
            </a:extLst>
          </p:cNvPr>
          <p:cNvSpPr txBox="1"/>
          <p:nvPr/>
        </p:nvSpPr>
        <p:spPr>
          <a:xfrm>
            <a:off x="5147556" y="2152909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EIC</a:t>
            </a:r>
            <a:r>
              <a:rPr lang="zh-CN" altLang="en-US" sz="1400" dirty="0">
                <a:cs typeface="+mn-ea"/>
                <a:sym typeface="+mn-lt"/>
              </a:rPr>
              <a:t>（电光芯片）</a:t>
            </a:r>
          </a:p>
        </p:txBody>
      </p:sp>
      <p:pic>
        <p:nvPicPr>
          <p:cNvPr id="2056" name="Picture 8" descr="什么是交换机的光口与电口？光纤常用8种接口与5种连接器_山东科普">
            <a:extLst>
              <a:ext uri="{FF2B5EF4-FFF2-40B4-BE49-F238E27FC236}">
                <a16:creationId xmlns:a16="http://schemas.microsoft.com/office/drawing/2014/main" id="{482D47ED-F7B2-3B41-BA41-8ED0BEEFA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78"/>
          <a:stretch/>
        </p:blipFill>
        <p:spPr bwMode="auto">
          <a:xfrm>
            <a:off x="2367949" y="1918537"/>
            <a:ext cx="673384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6FB2887F-EFDC-3542-64A6-258BB75BBB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0162" y="3665662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20DB015-8079-36A1-6ED6-D369A1546B4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5877" y="3748852"/>
            <a:ext cx="576840" cy="2781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10106478" y="1038407"/>
            <a:ext cx="1609803" cy="370017"/>
          </a:xfrm>
          <a:prstGeom prst="chevron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1EABA44-55F7-2866-FFF8-533EAFE642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1299" y="4978156"/>
            <a:ext cx="908907" cy="23765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D4B1F81-7D33-D40F-2752-DB51E1BEB901}"/>
              </a:ext>
            </a:extLst>
          </p:cNvPr>
          <p:cNvSpPr txBox="1"/>
          <p:nvPr/>
        </p:nvSpPr>
        <p:spPr>
          <a:xfrm>
            <a:off x="10140869" y="5226409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cs typeface="+mn-ea"/>
                <a:sym typeface="+mn-lt"/>
              </a:rPr>
              <a:t>光电子封测隐形冠军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244608" y="1714347"/>
            <a:ext cx="931725" cy="877125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环节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66B2A0-F3D5-BC90-474C-40D5825F919C}"/>
              </a:ext>
            </a:extLst>
          </p:cNvPr>
          <p:cNvSpPr txBox="1"/>
          <p:nvPr/>
        </p:nvSpPr>
        <p:spPr>
          <a:xfrm>
            <a:off x="240584" y="2772715"/>
            <a:ext cx="936104" cy="751411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2223600" y="2394300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14%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222E30-5B06-C520-7AAA-1FABCBE91457}"/>
              </a:ext>
            </a:extLst>
          </p:cNvPr>
          <p:cNvSpPr txBox="1"/>
          <p:nvPr/>
        </p:nvSpPr>
        <p:spPr>
          <a:xfrm>
            <a:off x="5068541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>
                <a:cs typeface="+mn-ea"/>
                <a:sym typeface="+mn-lt"/>
              </a:rPr>
              <a:t>14%</a:t>
            </a:r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14F6207-297E-DD41-92C8-FE805C76B3A7}"/>
              </a:ext>
            </a:extLst>
          </p:cNvPr>
          <p:cNvSpPr txBox="1"/>
          <p:nvPr/>
        </p:nvSpPr>
        <p:spPr>
          <a:xfrm>
            <a:off x="7863921" y="2402128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>
                <a:cs typeface="+mn-ea"/>
                <a:sym typeface="+mn-lt"/>
              </a:rPr>
              <a:t>15%</a:t>
            </a:r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B14EAD-FFB5-DC67-1805-790EFA47386E}"/>
              </a:ext>
            </a:extLst>
          </p:cNvPr>
          <p:cNvSpPr txBox="1"/>
          <p:nvPr/>
        </p:nvSpPr>
        <p:spPr>
          <a:xfrm>
            <a:off x="10171158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>
                <a:cs typeface="+mn-ea"/>
                <a:sym typeface="+mn-lt"/>
              </a:rPr>
              <a:t>7%</a:t>
            </a:r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2A42301-2F9B-5290-06B7-4F1F77DE5D6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363663" y="306387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弧 155">
            <a:extLst>
              <a:ext uri="{FF2B5EF4-FFF2-40B4-BE49-F238E27FC236}">
                <a16:creationId xmlns:a16="http://schemas.microsoft.com/office/drawing/2014/main" id="{5AC23980-DD06-7632-BE6A-72E1FE17C0F4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363663" y="306387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DD0B4C5-6F8E-EFF5-F02D-599D589610B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573588" y="307022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弧 155">
            <a:extLst>
              <a:ext uri="{FF2B5EF4-FFF2-40B4-BE49-F238E27FC236}">
                <a16:creationId xmlns:a16="http://schemas.microsoft.com/office/drawing/2014/main" id="{2D5766E9-E04E-47DF-B260-4EF35D9B4347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4573588" y="307022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BD61F91-E6A5-C742-DB7A-09CD67F7735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110788" y="3074988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1" name="弧 28">
            <a:extLst>
              <a:ext uri="{FF2B5EF4-FFF2-40B4-BE49-F238E27FC236}">
                <a16:creationId xmlns:a16="http://schemas.microsoft.com/office/drawing/2014/main" id="{6E41E0B2-1086-F700-5EC8-8411141379C6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0110788" y="3074988"/>
            <a:ext cx="215900" cy="21590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B2A6734-33FF-4688-76C3-4E381BCEDDEF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354888" y="3074988"/>
            <a:ext cx="215900" cy="215900"/>
          </a:xfrm>
          <a:prstGeom prst="ellipse">
            <a:avLst/>
          </a:prstGeom>
          <a:solidFill>
            <a:schemeClr val="accent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1E6B595-983E-90F2-D771-0EED19F03680}"/>
              </a:ext>
            </a:extLst>
          </p:cNvPr>
          <p:cNvSpPr txBox="1"/>
          <p:nvPr/>
        </p:nvSpPr>
        <p:spPr>
          <a:xfrm>
            <a:off x="1636712" y="2946400"/>
            <a:ext cx="2636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0055E0"/>
                </a:solidFill>
                <a:cs typeface="+mn-ea"/>
                <a:sym typeface="+mn-lt"/>
              </a:rPr>
              <a:t>中：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门槛高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绑定硅光设计服务，毛利可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达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55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+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%</a:t>
            </a:r>
            <a:endParaRPr lang="zh-CN" altLang="zh-CN" sz="1200" dirty="0"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F916413-5861-A019-C796-D31CE1E70419}"/>
              </a:ext>
            </a:extLst>
          </p:cNvPr>
          <p:cNvSpPr txBox="1"/>
          <p:nvPr/>
        </p:nvSpPr>
        <p:spPr>
          <a:xfrm>
            <a:off x="4789488" y="2944813"/>
            <a:ext cx="226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>
                <a:latin typeface="+mn-lt"/>
                <a:cs typeface="+mn-ea"/>
                <a:sym typeface="+mn-lt"/>
              </a:rPr>
              <a:t>中：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国内无成熟 300mm SOI产线，政策补贴力度大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7D164DD-89CD-C436-39A1-F490AE28BA33}"/>
              </a:ext>
            </a:extLst>
          </p:cNvPr>
          <p:cNvSpPr txBox="1"/>
          <p:nvPr/>
        </p:nvSpPr>
        <p:spPr>
          <a:xfrm>
            <a:off x="7641731" y="2881651"/>
            <a:ext cx="226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>
                <a:latin typeface="+mn-lt"/>
                <a:cs typeface="+mn-ea"/>
                <a:sym typeface="+mn-lt"/>
              </a:rPr>
              <a:t>高：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光电异构封装国内基本空白，有政策红利；一旦突破可锁核心环节</a:t>
            </a:r>
          </a:p>
          <a:p>
            <a:endParaRPr lang="zh-CN" altLang="zh-CN" sz="1200" b="0" dirty="0">
              <a:solidFill>
                <a:schemeClr val="accent6">
                  <a:lumMod val="10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BA6FBA8-DA9B-131C-0536-D1055FCA0537}"/>
              </a:ext>
            </a:extLst>
          </p:cNvPr>
          <p:cNvSpPr txBox="1"/>
          <p:nvPr/>
        </p:nvSpPr>
        <p:spPr>
          <a:xfrm>
            <a:off x="10361268" y="2881651"/>
            <a:ext cx="1462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>
                <a:latin typeface="+mn-lt"/>
                <a:cs typeface="+mn-ea"/>
                <a:sym typeface="+mn-lt"/>
              </a:rPr>
              <a:t>低：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资本密集+代工属性，低margin</a:t>
            </a:r>
            <a:r>
              <a:rPr lang="zh-CN" alt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，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国内产能稀缺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1E2431F-FB8D-4D8A-2957-A8DFE80AA1B1}"/>
              </a:ext>
            </a:extLst>
          </p:cNvPr>
          <p:cNvSpPr txBox="1"/>
          <p:nvPr/>
        </p:nvSpPr>
        <p:spPr>
          <a:xfrm>
            <a:off x="322592" y="6156830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bill of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meterial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，便于从环节价格角度来拆分评估收益空间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传统模块/不存在新技术和变量的部分，如集成框、高级面板等未单独列出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价值评分逻辑：0.4*margin+0.3*稀缺度+0.3*国产替代（国内缺口、政策/市场拉动强度、本土供应链成熟度）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696966E-FD59-D5B4-A168-51C92A99A090}"/>
              </a:ext>
            </a:extLst>
          </p:cNvPr>
          <p:cNvSpPr txBox="1"/>
          <p:nvPr/>
        </p:nvSpPr>
        <p:spPr>
          <a:xfrm>
            <a:off x="726350" y="3652733"/>
            <a:ext cx="445216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FD57385-92FC-7695-D49E-CF7FC0E3DDA6}"/>
              </a:ext>
            </a:extLst>
          </p:cNvPr>
          <p:cNvSpPr txBox="1"/>
          <p:nvPr/>
        </p:nvSpPr>
        <p:spPr>
          <a:xfrm>
            <a:off x="718416" y="4218314"/>
            <a:ext cx="453149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国产替代</a:t>
            </a: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908025EE-42A7-2008-1E6E-660274DE7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075" y="4197552"/>
            <a:ext cx="3317875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熹联：100G/lane出货～10K 200G/lane出货～100K；</a:t>
            </a:r>
            <a:r>
              <a:rPr lang="zh-CN" altLang="zh-CN" sz="900" dirty="0">
                <a:solidFill>
                  <a:srgbClr val="000000"/>
                </a:solidFill>
                <a:cs typeface="+mn-ea"/>
                <a:sym typeface="+mn-lt"/>
              </a:rPr>
              <a:t>羲禾 ：100G/lane出货超百万</a:t>
            </a:r>
            <a:r>
              <a:rPr lang="en-US" altLang="zh-CN" sz="900" dirty="0">
                <a:solidFill>
                  <a:srgbClr val="000000"/>
                </a:solidFill>
                <a:cs typeface="+mn-ea"/>
                <a:sym typeface="+mn-lt"/>
              </a:rPr>
              <a:t>;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赛丽：100G/lane出货超百万 200G/lane小批量出货；(前两家为tx现有jdm合作方）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08B321CB-7C00-D2A4-ECCD-3B8467EFE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0" y="4331498"/>
            <a:ext cx="21907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傲科、中晟：出样，需场景批量落地；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43429E07-26F4-B895-DDEF-C3ADA94FB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4179208"/>
            <a:ext cx="261954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中际旭创：对外宣布800 G 光学引擎年产&gt;100 K，CPO试线运行；Accelink/海信：对外宣布400 G批量，CPO工程团队组建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2" name="Rectangle 10">
            <a:extLst>
              <a:ext uri="{FF2B5EF4-FFF2-40B4-BE49-F238E27FC236}">
                <a16:creationId xmlns:a16="http://schemas.microsoft.com/office/drawing/2014/main" id="{8CC03B0D-6A2C-7E70-EBD8-04EBCF783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739540"/>
            <a:ext cx="208826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Macom/Marvell / Semtech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5906A869-E2CD-23DB-35FA-0BC5F45F2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3736141"/>
            <a:ext cx="226536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Broadcom/Intel/Ranovus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48" name="图片 2047">
            <a:extLst>
              <a:ext uri="{FF2B5EF4-FFF2-40B4-BE49-F238E27FC236}">
                <a16:creationId xmlns:a16="http://schemas.microsoft.com/office/drawing/2014/main" id="{E53E366E-5E59-7FA1-9018-2ACCC3C64E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9560" y="5031114"/>
            <a:ext cx="775992" cy="216870"/>
          </a:xfrm>
          <a:prstGeom prst="rect">
            <a:avLst/>
          </a:prstGeom>
        </p:spPr>
      </p:pic>
      <p:sp>
        <p:nvSpPr>
          <p:cNvPr id="2051" name="文本框 2050">
            <a:extLst>
              <a:ext uri="{FF2B5EF4-FFF2-40B4-BE49-F238E27FC236}">
                <a16:creationId xmlns:a16="http://schemas.microsoft.com/office/drawing/2014/main" id="{62857581-4F3E-269A-1776-12E93A939F47}"/>
              </a:ext>
            </a:extLst>
          </p:cNvPr>
          <p:cNvSpPr txBox="1"/>
          <p:nvPr/>
        </p:nvSpPr>
        <p:spPr>
          <a:xfrm>
            <a:off x="4831785" y="5278330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>
                <a:cs typeface="+mn-ea"/>
                <a:sym typeface="+mn-lt"/>
              </a:rPr>
              <a:t>光互连 </a:t>
            </a:r>
            <a:r>
              <a:rPr lang="en-US" altLang="zh-CN" dirty="0" err="1">
                <a:cs typeface="+mn-ea"/>
                <a:sym typeface="+mn-lt"/>
              </a:rPr>
              <a:t>Chiplet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头部企业</a:t>
            </a:r>
          </a:p>
        </p:txBody>
      </p:sp>
      <p:sp>
        <p:nvSpPr>
          <p:cNvPr id="2052" name="Rectangle 13">
            <a:extLst>
              <a:ext uri="{FF2B5EF4-FFF2-40B4-BE49-F238E27FC236}">
                <a16:creationId xmlns:a16="http://schemas.microsoft.com/office/drawing/2014/main" id="{6A29D2DC-BD93-312D-1ADB-7DDAFD88B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0783" y="496755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53" name="Rectangle 13">
            <a:extLst>
              <a:ext uri="{FF2B5EF4-FFF2-40B4-BE49-F238E27FC236}">
                <a16:creationId xmlns:a16="http://schemas.microsoft.com/office/drawing/2014/main" id="{DD6E1916-A421-AA04-B6BF-B4E0FB664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398" y="500897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57" name="图片 2056">
            <a:extLst>
              <a:ext uri="{FF2B5EF4-FFF2-40B4-BE49-F238E27FC236}">
                <a16:creationId xmlns:a16="http://schemas.microsoft.com/office/drawing/2014/main" id="{00AE2D27-05FC-B693-7607-50E3CA97EFC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62838" y="4946475"/>
            <a:ext cx="1229948" cy="279934"/>
          </a:xfrm>
          <a:prstGeom prst="rect">
            <a:avLst/>
          </a:prstGeom>
        </p:spPr>
      </p:pic>
      <p:sp>
        <p:nvSpPr>
          <p:cNvPr id="2058" name="Rectangle 13">
            <a:extLst>
              <a:ext uri="{FF2B5EF4-FFF2-40B4-BE49-F238E27FC236}">
                <a16:creationId xmlns:a16="http://schemas.microsoft.com/office/drawing/2014/main" id="{C15BC35C-A3F6-051A-DC1A-4FF8BCC8F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534" y="497480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61" name="图片 2060">
            <a:extLst>
              <a:ext uri="{FF2B5EF4-FFF2-40B4-BE49-F238E27FC236}">
                <a16:creationId xmlns:a16="http://schemas.microsoft.com/office/drawing/2014/main" id="{433C58BF-324A-3769-18C1-4559A3DC9D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1028" y="4425304"/>
            <a:ext cx="908907" cy="237650"/>
          </a:xfrm>
          <a:prstGeom prst="rect">
            <a:avLst/>
          </a:prstGeom>
        </p:spPr>
      </p:pic>
      <p:sp>
        <p:nvSpPr>
          <p:cNvPr id="2062" name="文本框 2061">
            <a:extLst>
              <a:ext uri="{FF2B5EF4-FFF2-40B4-BE49-F238E27FC236}">
                <a16:creationId xmlns:a16="http://schemas.microsoft.com/office/drawing/2014/main" id="{0691C520-9669-2602-58CB-95C999DE7A9E}"/>
              </a:ext>
            </a:extLst>
          </p:cNvPr>
          <p:cNvSpPr txBox="1"/>
          <p:nvPr/>
        </p:nvSpPr>
        <p:spPr>
          <a:xfrm>
            <a:off x="7433086" y="5251802"/>
            <a:ext cx="181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zh-CN" dirty="0">
                <a:cs typeface="+mn-ea"/>
                <a:sym typeface="+mn-lt"/>
              </a:rPr>
              <a:t>scale-up场景下光学全栈</a:t>
            </a:r>
            <a:r>
              <a:rPr lang="zh-CN" altLang="en-US" dirty="0">
                <a:cs typeface="+mn-ea"/>
                <a:sym typeface="+mn-lt"/>
              </a:rPr>
              <a:t>供应商</a:t>
            </a:r>
            <a:endParaRPr lang="zh-CN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65" name="文本框 2064">
            <a:extLst>
              <a:ext uri="{FF2B5EF4-FFF2-40B4-BE49-F238E27FC236}">
                <a16:creationId xmlns:a16="http://schemas.microsoft.com/office/drawing/2014/main" id="{303B213F-E597-656A-0A2C-E01CC33BBCCA}"/>
              </a:ext>
            </a:extLst>
          </p:cNvPr>
          <p:cNvSpPr txBox="1"/>
          <p:nvPr/>
        </p:nvSpPr>
        <p:spPr>
          <a:xfrm>
            <a:off x="1834344" y="5285972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>
                <a:cs typeface="+mn-ea"/>
                <a:sym typeface="+mn-lt"/>
              </a:rPr>
              <a:t>硅光子 </a:t>
            </a:r>
            <a:r>
              <a:rPr lang="en-US" altLang="zh-CN" dirty="0">
                <a:cs typeface="+mn-ea"/>
                <a:sym typeface="+mn-lt"/>
              </a:rPr>
              <a:t>AI </a:t>
            </a:r>
            <a:r>
              <a:rPr lang="zh-CN" altLang="en-US" dirty="0">
                <a:cs typeface="+mn-ea"/>
                <a:sym typeface="+mn-lt"/>
              </a:rPr>
              <a:t>处理器前沿企业</a:t>
            </a:r>
          </a:p>
        </p:txBody>
      </p:sp>
      <p:grpSp>
        <p:nvGrpSpPr>
          <p:cNvPr id="2067" name="组合 2066">
            <a:extLst>
              <a:ext uri="{FF2B5EF4-FFF2-40B4-BE49-F238E27FC236}">
                <a16:creationId xmlns:a16="http://schemas.microsoft.com/office/drawing/2014/main" id="{6E74ECFD-F589-D155-3E51-8A7D7FD0B8CE}"/>
              </a:ext>
            </a:extLst>
          </p:cNvPr>
          <p:cNvGrpSpPr/>
          <p:nvPr/>
        </p:nvGrpSpPr>
        <p:grpSpPr>
          <a:xfrm>
            <a:off x="1765776" y="5001847"/>
            <a:ext cx="1887360" cy="276999"/>
            <a:chOff x="1471613" y="4870565"/>
            <a:chExt cx="1887360" cy="276999"/>
          </a:xfrm>
        </p:grpSpPr>
        <p:pic>
          <p:nvPicPr>
            <p:cNvPr id="2064" name="图片 2063">
              <a:extLst>
                <a:ext uri="{FF2B5EF4-FFF2-40B4-BE49-F238E27FC236}">
                  <a16:creationId xmlns:a16="http://schemas.microsoft.com/office/drawing/2014/main" id="{DA0172D4-6CDB-0579-FF63-7CB53AE0C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2066" name="Rectangle 13">
              <a:extLst>
                <a:ext uri="{FF2B5EF4-FFF2-40B4-BE49-F238E27FC236}">
                  <a16:creationId xmlns:a16="http://schemas.microsoft.com/office/drawing/2014/main" id="{A581996D-7E5A-648F-FC48-B050726D6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7500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2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068" name="矩形 2067">
            <a:extLst>
              <a:ext uri="{FF2B5EF4-FFF2-40B4-BE49-F238E27FC236}">
                <a16:creationId xmlns:a16="http://schemas.microsoft.com/office/drawing/2014/main" id="{E4C60512-68F3-7283-3BF6-268DDAD1AAF8}"/>
              </a:ext>
            </a:extLst>
          </p:cNvPr>
          <p:cNvSpPr/>
          <p:nvPr/>
        </p:nvSpPr>
        <p:spPr>
          <a:xfrm>
            <a:off x="12335442" y="332094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为什么看那四家？（怎么写一句话？）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5D34643A-5962-8E37-F692-BC82446C64C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8972" y="3731820"/>
            <a:ext cx="908907" cy="2376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3D6372B-3266-5710-EA96-F6F92D128304}"/>
              </a:ext>
            </a:extLst>
          </p:cNvPr>
          <p:cNvSpPr/>
          <p:nvPr/>
        </p:nvSpPr>
        <p:spPr>
          <a:xfrm>
            <a:off x="12417427" y="87924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重点讲博通（落脚点）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博通的布局，靠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从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切份额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顺带提和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tx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合作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122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C5123D1C-B84C-3ED4-C846-FE17DFAEA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7" t="1802" r="1544" b="3329"/>
          <a:stretch/>
        </p:blipFill>
        <p:spPr bwMode="auto">
          <a:xfrm>
            <a:off x="5454224" y="1568869"/>
            <a:ext cx="777859" cy="55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AD41C849-D973-4FA9-3677-6EDE55CA10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4" t="3794" r="58994" b="52807"/>
          <a:stretch/>
        </p:blipFill>
        <p:spPr bwMode="auto">
          <a:xfrm>
            <a:off x="7354888" y="1527762"/>
            <a:ext cx="1140121" cy="55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锐捷发布首款CPO交换机 硅光+液冷引领下一代数据中心风向_天极网">
            <a:extLst>
              <a:ext uri="{FF2B5EF4-FFF2-40B4-BE49-F238E27FC236}">
                <a16:creationId xmlns:a16="http://schemas.microsoft.com/office/drawing/2014/main" id="{76595D61-845D-5488-BFF7-1B4E9F100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534" y="1556641"/>
            <a:ext cx="1230689" cy="55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0B394DC-8733-D406-6358-4A4C830011D0}"/>
              </a:ext>
            </a:extLst>
          </p:cNvPr>
          <p:cNvSpPr txBox="1"/>
          <p:nvPr/>
        </p:nvSpPr>
        <p:spPr>
          <a:xfrm>
            <a:off x="7852754" y="2152908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光电异构封装</a:t>
            </a:r>
          </a:p>
        </p:txBody>
      </p:sp>
      <p:pic>
        <p:nvPicPr>
          <p:cNvPr id="5126" name="Picture 6" descr="新型液冷技术工作原理_腾讯视频">
            <a:extLst>
              <a:ext uri="{FF2B5EF4-FFF2-40B4-BE49-F238E27FC236}">
                <a16:creationId xmlns:a16="http://schemas.microsoft.com/office/drawing/2014/main" id="{12F7FCC0-49B3-BEF8-F6DE-F08AE08E6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582" y="1560533"/>
            <a:ext cx="845686" cy="47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5A0C795-2F17-8202-F67A-BEAED2E6192E}"/>
              </a:ext>
            </a:extLst>
          </p:cNvPr>
          <p:cNvSpPr txBox="1"/>
          <p:nvPr/>
        </p:nvSpPr>
        <p:spPr>
          <a:xfrm>
            <a:off x="10106478" y="2120172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液冷、连接器等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010253-CFE6-4DBB-BE40-73E91D0EA19A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FB7D4F-6CAA-D3F1-8FB3-CF3F03CEF5BD}"/>
              </a:ext>
            </a:extLst>
          </p:cNvPr>
          <p:cNvSpPr/>
          <p:nvPr/>
        </p:nvSpPr>
        <p:spPr>
          <a:xfrm>
            <a:off x="7598021" y="704292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集成：国内能做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的公司（华进、中电）。中际旭创这些不一定能做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D6F108-C088-F8C4-41B8-0718BFC535F5}"/>
              </a:ext>
            </a:extLst>
          </p:cNvPr>
          <p:cNvSpPr/>
          <p:nvPr/>
        </p:nvSpPr>
        <p:spPr>
          <a:xfrm>
            <a:off x="8795383" y="7151327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主要供应方：羲禾（最大）、熹联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D40F11-15B1-E40E-C9EB-E3734C950B12}"/>
              </a:ext>
            </a:extLst>
          </p:cNvPr>
          <p:cNvSpPr/>
          <p:nvPr/>
        </p:nvSpPr>
        <p:spPr>
          <a:xfrm>
            <a:off x="12357182" y="524455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价值这一行可以打开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价值的客观标准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可以放两页，很重要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产业链：集成交付环节、光电信号中枢优先关注</a:t>
            </a: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67751C98-91BC-D8A6-5060-2D0C7CD81981}"/>
              </a:ext>
            </a:extLst>
          </p:cNvPr>
          <p:cNvSpPr/>
          <p:nvPr/>
        </p:nvSpPr>
        <p:spPr>
          <a:xfrm>
            <a:off x="1189697" y="1029464"/>
            <a:ext cx="3219590" cy="387904"/>
          </a:xfrm>
          <a:prstGeom prst="homePlate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光信号中枢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9757EFEA-291D-4BB3-0C3F-9FE458DC2555}"/>
              </a:ext>
            </a:extLst>
          </p:cNvPr>
          <p:cNvSpPr/>
          <p:nvPr/>
        </p:nvSpPr>
        <p:spPr>
          <a:xfrm>
            <a:off x="4532548" y="1038407"/>
            <a:ext cx="2647705" cy="370017"/>
          </a:xfrm>
          <a:prstGeom prst="chevron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电信号中枢</a:t>
            </a:r>
          </a:p>
        </p:txBody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4D52167B-CC45-1CDD-7DD3-769DD7163C31}"/>
              </a:ext>
            </a:extLst>
          </p:cNvPr>
          <p:cNvSpPr/>
          <p:nvPr/>
        </p:nvSpPr>
        <p:spPr>
          <a:xfrm>
            <a:off x="7303515" y="1047351"/>
            <a:ext cx="2647705" cy="370017"/>
          </a:xfrm>
          <a:prstGeom prst="chevron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集成交付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240584" y="3652733"/>
            <a:ext cx="445216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大厂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240584" y="4892050"/>
            <a:ext cx="936104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初创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E1B6FC8-59F8-8EAA-370D-FDB6254392A1}"/>
              </a:ext>
            </a:extLst>
          </p:cNvPr>
          <p:cNvGrpSpPr/>
          <p:nvPr/>
        </p:nvGrpSpPr>
        <p:grpSpPr>
          <a:xfrm>
            <a:off x="1119726" y="1490343"/>
            <a:ext cx="1141776" cy="916619"/>
            <a:chOff x="331424" y="2282556"/>
            <a:chExt cx="1141776" cy="91661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C67E79C-CB26-F6E7-6B63-E376DDFCAF66}"/>
                </a:ext>
              </a:extLst>
            </p:cNvPr>
            <p:cNvSpPr txBox="1"/>
            <p:nvPr/>
          </p:nvSpPr>
          <p:spPr>
            <a:xfrm>
              <a:off x="331424" y="2891398"/>
              <a:ext cx="1141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cs typeface="+mn-ea"/>
                  <a:sym typeface="+mn-lt"/>
                </a:rPr>
                <a:t>外置激光器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42CF33FF-4F6C-E621-9A47-CBF1B97ABD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60" y="2282556"/>
              <a:ext cx="936105" cy="657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AF94A625-8D19-02D8-371A-C2D167C89456}"/>
              </a:ext>
            </a:extLst>
          </p:cNvPr>
          <p:cNvSpPr txBox="1"/>
          <p:nvPr/>
        </p:nvSpPr>
        <p:spPr>
          <a:xfrm>
            <a:off x="2310371" y="1505304"/>
            <a:ext cx="781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光纤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8BB1C01-2EB0-465C-7CF0-8C57C5028E03}"/>
              </a:ext>
            </a:extLst>
          </p:cNvPr>
          <p:cNvSpPr txBox="1"/>
          <p:nvPr/>
        </p:nvSpPr>
        <p:spPr>
          <a:xfrm>
            <a:off x="3218733" y="2089799"/>
            <a:ext cx="114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55E0"/>
                </a:solidFill>
                <a:cs typeface="+mn-ea"/>
                <a:sym typeface="+mn-lt"/>
              </a:rPr>
              <a:t>硅光芯片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B7C5F7D-A1ED-F8D1-2A1D-2044A7C8BADC}"/>
              </a:ext>
            </a:extLst>
          </p:cNvPr>
          <p:cNvCxnSpPr>
            <a:cxnSpLocks/>
            <a:stCxn id="2050" idx="3"/>
          </p:cNvCxnSpPr>
          <p:nvPr/>
        </p:nvCxnSpPr>
        <p:spPr>
          <a:xfrm>
            <a:off x="2158667" y="1819302"/>
            <a:ext cx="10751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E46044CB-E5C3-C183-43D6-554D6DDB67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3851" y="1605029"/>
            <a:ext cx="777859" cy="43872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209A8EE5-9028-1ABC-9222-0244D319F359}"/>
              </a:ext>
            </a:extLst>
          </p:cNvPr>
          <p:cNvSpPr txBox="1"/>
          <p:nvPr/>
        </p:nvSpPr>
        <p:spPr>
          <a:xfrm>
            <a:off x="5147556" y="2152909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EIC</a:t>
            </a:r>
            <a:r>
              <a:rPr lang="zh-CN" altLang="en-US" sz="1400" dirty="0">
                <a:cs typeface="+mn-ea"/>
                <a:sym typeface="+mn-lt"/>
              </a:rPr>
              <a:t>（电光芯片）</a:t>
            </a:r>
          </a:p>
        </p:txBody>
      </p:sp>
      <p:pic>
        <p:nvPicPr>
          <p:cNvPr id="2056" name="Picture 8" descr="什么是交换机的光口与电口？光纤常用8种接口与5种连接器_山东科普">
            <a:extLst>
              <a:ext uri="{FF2B5EF4-FFF2-40B4-BE49-F238E27FC236}">
                <a16:creationId xmlns:a16="http://schemas.microsoft.com/office/drawing/2014/main" id="{894F12E6-416E-F1FA-EEE0-5F1B5179C6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78"/>
          <a:stretch/>
        </p:blipFill>
        <p:spPr bwMode="auto">
          <a:xfrm>
            <a:off x="2367949" y="1918537"/>
            <a:ext cx="673384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0162" y="3665662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5877" y="3748852"/>
            <a:ext cx="576840" cy="2781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箭头: V 形 6">
            <a:extLst>
              <a:ext uri="{FF2B5EF4-FFF2-40B4-BE49-F238E27FC236}">
                <a16:creationId xmlns:a16="http://schemas.microsoft.com/office/drawing/2014/main" id="{8AF2C984-0E3A-1BEF-A0C8-1B1B92179314}"/>
              </a:ext>
            </a:extLst>
          </p:cNvPr>
          <p:cNvSpPr/>
          <p:nvPr/>
        </p:nvSpPr>
        <p:spPr>
          <a:xfrm>
            <a:off x="10106478" y="1038407"/>
            <a:ext cx="1609803" cy="370017"/>
          </a:xfrm>
          <a:prstGeom prst="chevron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CD735AD-071B-73E3-B23F-A6E1F149807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1299" y="4978156"/>
            <a:ext cx="908907" cy="23765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B664AD2-55A9-CBD6-6F11-AD41EDFA8EBA}"/>
              </a:ext>
            </a:extLst>
          </p:cNvPr>
          <p:cNvSpPr txBox="1"/>
          <p:nvPr/>
        </p:nvSpPr>
        <p:spPr>
          <a:xfrm>
            <a:off x="10140869" y="5226409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cs typeface="+mn-ea"/>
                <a:sym typeface="+mn-lt"/>
              </a:rPr>
              <a:t>光电子封测隐形冠军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145F93-FD30-4ED8-00CA-78498F2B2853}"/>
              </a:ext>
            </a:extLst>
          </p:cNvPr>
          <p:cNvSpPr txBox="1"/>
          <p:nvPr/>
        </p:nvSpPr>
        <p:spPr>
          <a:xfrm>
            <a:off x="244608" y="1714347"/>
            <a:ext cx="931725" cy="877125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环节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1643B19-8C90-2972-5F93-F711680D3AAA}"/>
              </a:ext>
            </a:extLst>
          </p:cNvPr>
          <p:cNvSpPr txBox="1"/>
          <p:nvPr/>
        </p:nvSpPr>
        <p:spPr>
          <a:xfrm>
            <a:off x="240584" y="2772715"/>
            <a:ext cx="936104" cy="751411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CCD4B6-C65D-D7FA-D8EA-0CE375E89627}"/>
              </a:ext>
            </a:extLst>
          </p:cNvPr>
          <p:cNvSpPr txBox="1"/>
          <p:nvPr/>
        </p:nvSpPr>
        <p:spPr>
          <a:xfrm>
            <a:off x="2223600" y="2394300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14%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F8813E-2B41-8BB0-06A7-5D1ACF5C2EFF}"/>
              </a:ext>
            </a:extLst>
          </p:cNvPr>
          <p:cNvSpPr txBox="1"/>
          <p:nvPr/>
        </p:nvSpPr>
        <p:spPr>
          <a:xfrm>
            <a:off x="5068541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>
                <a:cs typeface="+mn-ea"/>
                <a:sym typeface="+mn-lt"/>
              </a:rPr>
              <a:t>14%</a:t>
            </a:r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4D00691-4B7C-C3D2-C65B-EE082CCC2930}"/>
              </a:ext>
            </a:extLst>
          </p:cNvPr>
          <p:cNvSpPr txBox="1"/>
          <p:nvPr/>
        </p:nvSpPr>
        <p:spPr>
          <a:xfrm>
            <a:off x="7863921" y="2402128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>
                <a:cs typeface="+mn-ea"/>
                <a:sym typeface="+mn-lt"/>
              </a:rPr>
              <a:t>15%</a:t>
            </a:r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D16CB0-29B4-3D34-A36C-DC8E227038C6}"/>
              </a:ext>
            </a:extLst>
          </p:cNvPr>
          <p:cNvSpPr txBox="1"/>
          <p:nvPr/>
        </p:nvSpPr>
        <p:spPr>
          <a:xfrm>
            <a:off x="10171158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>
                <a:cs typeface="+mn-ea"/>
                <a:sym typeface="+mn-lt"/>
              </a:rPr>
              <a:t>7%</a:t>
            </a:r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29E9E2BD-5462-AB02-C04D-DC8F2DE8A859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363663" y="306387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弧 155">
            <a:extLst>
              <a:ext uri="{FF2B5EF4-FFF2-40B4-BE49-F238E27FC236}">
                <a16:creationId xmlns:a16="http://schemas.microsoft.com/office/drawing/2014/main" id="{A355A52F-2B49-3605-D180-05E370C40732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363663" y="306387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1F9F43F7-B88E-7D28-188A-1284AFC5BF1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573588" y="307022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弧 155">
            <a:extLst>
              <a:ext uri="{FF2B5EF4-FFF2-40B4-BE49-F238E27FC236}">
                <a16:creationId xmlns:a16="http://schemas.microsoft.com/office/drawing/2014/main" id="{E37BE571-6D74-8034-16B0-9F91716094EB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4573588" y="307022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C1BC2817-82C9-75D8-FA59-32367F238518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110788" y="3074988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1" name="弧 28">
            <a:extLst>
              <a:ext uri="{FF2B5EF4-FFF2-40B4-BE49-F238E27FC236}">
                <a16:creationId xmlns:a16="http://schemas.microsoft.com/office/drawing/2014/main" id="{E0482CF2-293E-E4B7-4CE4-A15DBD64DD54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0110788" y="3074988"/>
            <a:ext cx="215900" cy="21590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5CE4DB3B-E764-CFF4-C0E7-B9129F7B51AD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354888" y="3074988"/>
            <a:ext cx="215900" cy="215900"/>
          </a:xfrm>
          <a:prstGeom prst="ellipse">
            <a:avLst/>
          </a:prstGeom>
          <a:solidFill>
            <a:schemeClr val="accent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F15F1B1-982F-1288-10C1-2099836B8A88}"/>
              </a:ext>
            </a:extLst>
          </p:cNvPr>
          <p:cNvSpPr txBox="1"/>
          <p:nvPr/>
        </p:nvSpPr>
        <p:spPr>
          <a:xfrm>
            <a:off x="1636712" y="2946400"/>
            <a:ext cx="2636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0055E0"/>
                </a:solidFill>
                <a:cs typeface="+mn-ea"/>
                <a:sym typeface="+mn-lt"/>
              </a:rPr>
              <a:t>中：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门槛高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绑定硅光设计服务，毛利可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达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55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+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%</a:t>
            </a:r>
            <a:endParaRPr lang="zh-CN" altLang="zh-CN" sz="1200" dirty="0"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0466B21-21AE-D5DA-CA95-0451641154C3}"/>
              </a:ext>
            </a:extLst>
          </p:cNvPr>
          <p:cNvSpPr txBox="1"/>
          <p:nvPr/>
        </p:nvSpPr>
        <p:spPr>
          <a:xfrm>
            <a:off x="4789488" y="2944813"/>
            <a:ext cx="226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>
                <a:latin typeface="+mn-lt"/>
                <a:cs typeface="+mn-ea"/>
                <a:sym typeface="+mn-lt"/>
              </a:rPr>
              <a:t>中：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国内无成熟 300mm SOI产线，政策补贴力度大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0CE3216-8C99-E0D5-BCB5-39124C5724CB}"/>
              </a:ext>
            </a:extLst>
          </p:cNvPr>
          <p:cNvSpPr txBox="1"/>
          <p:nvPr/>
        </p:nvSpPr>
        <p:spPr>
          <a:xfrm>
            <a:off x="7641731" y="2881651"/>
            <a:ext cx="226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>
                <a:latin typeface="+mn-lt"/>
                <a:cs typeface="+mn-ea"/>
                <a:sym typeface="+mn-lt"/>
              </a:rPr>
              <a:t>高：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光电异构封装国内基本空白，有政策红利；一旦突破可锁核心环节</a:t>
            </a:r>
          </a:p>
          <a:p>
            <a:endParaRPr lang="zh-CN" altLang="zh-CN" sz="1200" b="0" dirty="0">
              <a:solidFill>
                <a:schemeClr val="accent6">
                  <a:lumMod val="10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06C1C4C-ABCE-16B3-153B-4F83E0A3DD37}"/>
              </a:ext>
            </a:extLst>
          </p:cNvPr>
          <p:cNvSpPr txBox="1"/>
          <p:nvPr/>
        </p:nvSpPr>
        <p:spPr>
          <a:xfrm>
            <a:off x="10361268" y="2881651"/>
            <a:ext cx="1462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>
                <a:latin typeface="+mn-lt"/>
                <a:cs typeface="+mn-ea"/>
                <a:sym typeface="+mn-lt"/>
              </a:rPr>
              <a:t>低：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资本密集+代工属性，低margin</a:t>
            </a:r>
            <a:r>
              <a:rPr lang="zh-CN" alt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，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国内产能稀缺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22592" y="6156830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bill of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meterial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，便于从环节价格角度来拆分评估收益空间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传统模块/不存在新技术和变量的部分，如集成框、高级面板等未单独列出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价值评分逻辑：0.4*margin+0.3*稀缺度+0.3*国产替代（国内缺口、政策/市场拉动强度、本土供应链成熟度）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1891330-14A6-D389-7F3A-6E650D1AD02C}"/>
              </a:ext>
            </a:extLst>
          </p:cNvPr>
          <p:cNvSpPr txBox="1"/>
          <p:nvPr/>
        </p:nvSpPr>
        <p:spPr>
          <a:xfrm>
            <a:off x="726350" y="3652733"/>
            <a:ext cx="445216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718416" y="4218314"/>
            <a:ext cx="453149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国产替代</a:t>
            </a: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97CE8B0A-AE08-3FE1-356F-DDBD2437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075" y="4197552"/>
            <a:ext cx="3317875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熹联：100G/lane出货～10K 200G/lane出货～100K；</a:t>
            </a:r>
            <a:r>
              <a:rPr lang="zh-CN" altLang="zh-CN" sz="900" dirty="0">
                <a:solidFill>
                  <a:srgbClr val="000000"/>
                </a:solidFill>
                <a:cs typeface="+mn-ea"/>
                <a:sym typeface="+mn-lt"/>
              </a:rPr>
              <a:t>羲禾 ：100G/lane出货超百万</a:t>
            </a:r>
            <a:r>
              <a:rPr lang="en-US" altLang="zh-CN" sz="900" dirty="0">
                <a:solidFill>
                  <a:srgbClr val="000000"/>
                </a:solidFill>
                <a:cs typeface="+mn-ea"/>
                <a:sym typeface="+mn-lt"/>
              </a:rPr>
              <a:t>;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赛丽：100G/lane出货超百万 200G/lane小批量出货；(前两家为tx现有jdm合作方）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0" y="4331498"/>
            <a:ext cx="21907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傲科、中晟：出样，需场景批量落地；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1779492B-210F-3AEF-2FD5-60E6F2C04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4179208"/>
            <a:ext cx="261954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中际旭创：对外宣布800 G 光学引擎年产&gt;100 K，CPO试线运行；Accelink/海信：对外宣布400 G批量，CPO工程团队组建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2" name="Rectangle 10">
            <a:extLst>
              <a:ext uri="{FF2B5EF4-FFF2-40B4-BE49-F238E27FC236}">
                <a16:creationId xmlns:a16="http://schemas.microsoft.com/office/drawing/2014/main" id="{DD52BBF1-529D-7C5D-02B0-BA73A7643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739540"/>
            <a:ext cx="208826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Macom/Marvell / Semtech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20E5ECE5-0288-D659-4D5F-3B1A05415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3736141"/>
            <a:ext cx="226536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Broadcom/Intel/Ranovus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48" name="图片 2047">
            <a:extLst>
              <a:ext uri="{FF2B5EF4-FFF2-40B4-BE49-F238E27FC236}">
                <a16:creationId xmlns:a16="http://schemas.microsoft.com/office/drawing/2014/main" id="{725E1AA1-EA32-0803-07E3-53063541D17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9560" y="5031114"/>
            <a:ext cx="775992" cy="216870"/>
          </a:xfrm>
          <a:prstGeom prst="rect">
            <a:avLst/>
          </a:prstGeom>
        </p:spPr>
      </p:pic>
      <p:sp>
        <p:nvSpPr>
          <p:cNvPr id="2051" name="文本框 2050">
            <a:extLst>
              <a:ext uri="{FF2B5EF4-FFF2-40B4-BE49-F238E27FC236}">
                <a16:creationId xmlns:a16="http://schemas.microsoft.com/office/drawing/2014/main" id="{79FC791A-1B81-59DC-387B-7D87D0135850}"/>
              </a:ext>
            </a:extLst>
          </p:cNvPr>
          <p:cNvSpPr txBox="1"/>
          <p:nvPr/>
        </p:nvSpPr>
        <p:spPr>
          <a:xfrm>
            <a:off x="4831785" y="5278330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>
                <a:cs typeface="+mn-ea"/>
                <a:sym typeface="+mn-lt"/>
              </a:rPr>
              <a:t>光互连 </a:t>
            </a:r>
            <a:r>
              <a:rPr lang="en-US" altLang="zh-CN" dirty="0" err="1">
                <a:cs typeface="+mn-ea"/>
                <a:sym typeface="+mn-lt"/>
              </a:rPr>
              <a:t>Chiplet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头部企业</a:t>
            </a:r>
          </a:p>
        </p:txBody>
      </p:sp>
      <p:sp>
        <p:nvSpPr>
          <p:cNvPr id="2052" name="Rectangle 13">
            <a:extLst>
              <a:ext uri="{FF2B5EF4-FFF2-40B4-BE49-F238E27FC236}">
                <a16:creationId xmlns:a16="http://schemas.microsoft.com/office/drawing/2014/main" id="{0C492580-E46B-7C0D-C8E2-05A0489F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0783" y="496755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53" name="Rectangle 13">
            <a:extLst>
              <a:ext uri="{FF2B5EF4-FFF2-40B4-BE49-F238E27FC236}">
                <a16:creationId xmlns:a16="http://schemas.microsoft.com/office/drawing/2014/main" id="{332996B5-ADF8-426A-95B7-DE341572E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398" y="500897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57" name="图片 2056">
            <a:extLst>
              <a:ext uri="{FF2B5EF4-FFF2-40B4-BE49-F238E27FC236}">
                <a16:creationId xmlns:a16="http://schemas.microsoft.com/office/drawing/2014/main" id="{480A9723-00A9-E98E-A233-2F7C6E60C54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62838" y="4946475"/>
            <a:ext cx="1229948" cy="279934"/>
          </a:xfrm>
          <a:prstGeom prst="rect">
            <a:avLst/>
          </a:prstGeom>
        </p:spPr>
      </p:pic>
      <p:sp>
        <p:nvSpPr>
          <p:cNvPr id="2058" name="Rectangle 13">
            <a:extLst>
              <a:ext uri="{FF2B5EF4-FFF2-40B4-BE49-F238E27FC236}">
                <a16:creationId xmlns:a16="http://schemas.microsoft.com/office/drawing/2014/main" id="{A50EF503-C0F5-804F-35FF-1BC48360F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534" y="497480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61" name="图片 2060">
            <a:extLst>
              <a:ext uri="{FF2B5EF4-FFF2-40B4-BE49-F238E27FC236}">
                <a16:creationId xmlns:a16="http://schemas.microsoft.com/office/drawing/2014/main" id="{DC1A86FA-6C94-51BE-E996-141809E690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1028" y="4425304"/>
            <a:ext cx="908907" cy="237650"/>
          </a:xfrm>
          <a:prstGeom prst="rect">
            <a:avLst/>
          </a:prstGeom>
        </p:spPr>
      </p:pic>
      <p:sp>
        <p:nvSpPr>
          <p:cNvPr id="2062" name="文本框 2061">
            <a:extLst>
              <a:ext uri="{FF2B5EF4-FFF2-40B4-BE49-F238E27FC236}">
                <a16:creationId xmlns:a16="http://schemas.microsoft.com/office/drawing/2014/main" id="{1E4BBEE1-227C-49E8-6ABE-DE471024B417}"/>
              </a:ext>
            </a:extLst>
          </p:cNvPr>
          <p:cNvSpPr txBox="1"/>
          <p:nvPr/>
        </p:nvSpPr>
        <p:spPr>
          <a:xfrm>
            <a:off x="7433086" y="5251802"/>
            <a:ext cx="181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zh-CN" dirty="0">
                <a:cs typeface="+mn-ea"/>
                <a:sym typeface="+mn-lt"/>
              </a:rPr>
              <a:t>scale-up场景下光学全栈</a:t>
            </a:r>
            <a:r>
              <a:rPr lang="zh-CN" altLang="en-US" dirty="0">
                <a:cs typeface="+mn-ea"/>
                <a:sym typeface="+mn-lt"/>
              </a:rPr>
              <a:t>供应商</a:t>
            </a:r>
            <a:endParaRPr lang="zh-CN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65" name="文本框 2064">
            <a:extLst>
              <a:ext uri="{FF2B5EF4-FFF2-40B4-BE49-F238E27FC236}">
                <a16:creationId xmlns:a16="http://schemas.microsoft.com/office/drawing/2014/main" id="{0CF7001F-F141-255B-3F31-11840C72D21D}"/>
              </a:ext>
            </a:extLst>
          </p:cNvPr>
          <p:cNvSpPr txBox="1"/>
          <p:nvPr/>
        </p:nvSpPr>
        <p:spPr>
          <a:xfrm>
            <a:off x="1834344" y="5285972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>
                <a:cs typeface="+mn-ea"/>
                <a:sym typeface="+mn-lt"/>
              </a:rPr>
              <a:t>硅光子 </a:t>
            </a:r>
            <a:r>
              <a:rPr lang="en-US" altLang="zh-CN" dirty="0">
                <a:cs typeface="+mn-ea"/>
                <a:sym typeface="+mn-lt"/>
              </a:rPr>
              <a:t>AI </a:t>
            </a:r>
            <a:r>
              <a:rPr lang="zh-CN" altLang="en-US" dirty="0">
                <a:cs typeface="+mn-ea"/>
                <a:sym typeface="+mn-lt"/>
              </a:rPr>
              <a:t>处理器前沿企业</a:t>
            </a:r>
          </a:p>
        </p:txBody>
      </p:sp>
      <p:grpSp>
        <p:nvGrpSpPr>
          <p:cNvPr id="2067" name="组合 2066">
            <a:extLst>
              <a:ext uri="{FF2B5EF4-FFF2-40B4-BE49-F238E27FC236}">
                <a16:creationId xmlns:a16="http://schemas.microsoft.com/office/drawing/2014/main" id="{9997002A-8D54-EDB4-6A98-558A1EBA19FE}"/>
              </a:ext>
            </a:extLst>
          </p:cNvPr>
          <p:cNvGrpSpPr/>
          <p:nvPr/>
        </p:nvGrpSpPr>
        <p:grpSpPr>
          <a:xfrm>
            <a:off x="1765776" y="5001847"/>
            <a:ext cx="1887360" cy="276999"/>
            <a:chOff x="1471613" y="4870565"/>
            <a:chExt cx="1887360" cy="276999"/>
          </a:xfrm>
        </p:grpSpPr>
        <p:pic>
          <p:nvPicPr>
            <p:cNvPr id="2064" name="图片 2063">
              <a:extLst>
                <a:ext uri="{FF2B5EF4-FFF2-40B4-BE49-F238E27FC236}">
                  <a16:creationId xmlns:a16="http://schemas.microsoft.com/office/drawing/2014/main" id="{EDC5345B-D06D-8A64-C28F-BCAFBFEF3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2066" name="Rectangle 13">
              <a:extLst>
                <a:ext uri="{FF2B5EF4-FFF2-40B4-BE49-F238E27FC236}">
                  <a16:creationId xmlns:a16="http://schemas.microsoft.com/office/drawing/2014/main" id="{8BF44E87-E951-2E0C-6306-435649D92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7500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2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068" name="矩形 2067">
            <a:extLst>
              <a:ext uri="{FF2B5EF4-FFF2-40B4-BE49-F238E27FC236}">
                <a16:creationId xmlns:a16="http://schemas.microsoft.com/office/drawing/2014/main" id="{D25F78F9-A7BD-4E2E-460F-38195B2F370B}"/>
              </a:ext>
            </a:extLst>
          </p:cNvPr>
          <p:cNvSpPr/>
          <p:nvPr/>
        </p:nvSpPr>
        <p:spPr>
          <a:xfrm>
            <a:off x="12335442" y="332094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为什么看那四家？（怎么写一句话？）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D544ED39-3EF7-50CB-502E-B74080C01BB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8972" y="3731820"/>
            <a:ext cx="908907" cy="2376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10E3EC4-D332-C6F1-1338-A1EEFDF3848A}"/>
              </a:ext>
            </a:extLst>
          </p:cNvPr>
          <p:cNvSpPr/>
          <p:nvPr/>
        </p:nvSpPr>
        <p:spPr>
          <a:xfrm>
            <a:off x="12417427" y="87924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重点讲博通（落脚点）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博通的布局，靠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从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切份额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顺带提和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tx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合作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122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3CCCDAEE-F05E-4D42-93BB-9CDA59DD8A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7" t="1802" r="1544" b="3329"/>
          <a:stretch/>
        </p:blipFill>
        <p:spPr bwMode="auto">
          <a:xfrm>
            <a:off x="5454224" y="1568869"/>
            <a:ext cx="777859" cy="55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7ED67C75-52B8-5A6F-F666-029B32E9E9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4" t="3794" r="58994" b="52807"/>
          <a:stretch/>
        </p:blipFill>
        <p:spPr bwMode="auto">
          <a:xfrm>
            <a:off x="7354888" y="1527762"/>
            <a:ext cx="1140121" cy="55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锐捷发布首款CPO交换机 硅光+液冷引领下一代数据中心风向_天极网">
            <a:extLst>
              <a:ext uri="{FF2B5EF4-FFF2-40B4-BE49-F238E27FC236}">
                <a16:creationId xmlns:a16="http://schemas.microsoft.com/office/drawing/2014/main" id="{D8E6218C-0DF7-2F60-EA4B-CBD9CA0B7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534" y="1556641"/>
            <a:ext cx="1230689" cy="55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A875E0A-CC5B-7012-00D6-80C0239BD9BF}"/>
              </a:ext>
            </a:extLst>
          </p:cNvPr>
          <p:cNvSpPr txBox="1"/>
          <p:nvPr/>
        </p:nvSpPr>
        <p:spPr>
          <a:xfrm>
            <a:off x="7852754" y="2152908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光电异构封装</a:t>
            </a:r>
          </a:p>
        </p:txBody>
      </p:sp>
      <p:pic>
        <p:nvPicPr>
          <p:cNvPr id="5126" name="Picture 6" descr="新型液冷技术工作原理_腾讯视频">
            <a:extLst>
              <a:ext uri="{FF2B5EF4-FFF2-40B4-BE49-F238E27FC236}">
                <a16:creationId xmlns:a16="http://schemas.microsoft.com/office/drawing/2014/main" id="{B3E3BC7F-0059-4CF2-85EA-A4B8D9BCE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582" y="1560533"/>
            <a:ext cx="845686" cy="47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C289FCD-C274-7155-15B0-473CEFB0C873}"/>
              </a:ext>
            </a:extLst>
          </p:cNvPr>
          <p:cNvSpPr txBox="1"/>
          <p:nvPr/>
        </p:nvSpPr>
        <p:spPr>
          <a:xfrm>
            <a:off x="10106478" y="2120172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液冷、连接器等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E6936E-573A-3D5C-B48D-8BB703250116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602A55-9E35-80E3-64EB-9AEF629AF017}"/>
              </a:ext>
            </a:extLst>
          </p:cNvPr>
          <p:cNvSpPr/>
          <p:nvPr/>
        </p:nvSpPr>
        <p:spPr>
          <a:xfrm>
            <a:off x="7598021" y="704292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集成：国内能做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的公司（华进、中电）。中际旭创这些不一定能做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D226E7-63CF-F2E0-EF6A-BCC1C734E8EB}"/>
              </a:ext>
            </a:extLst>
          </p:cNvPr>
          <p:cNvSpPr/>
          <p:nvPr/>
        </p:nvSpPr>
        <p:spPr>
          <a:xfrm>
            <a:off x="8795383" y="7151327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主要供应方：羲禾（最大）、熹联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991EDF-1419-EB68-37C4-72FD09066140}"/>
              </a:ext>
            </a:extLst>
          </p:cNvPr>
          <p:cNvSpPr/>
          <p:nvPr/>
        </p:nvSpPr>
        <p:spPr>
          <a:xfrm>
            <a:off x="12357182" y="524455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价值这一行可以打开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价值的客观标准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可以放两页，很重要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E54A-B213-CE75-427F-8AA3404D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5558F73-8357-A1DD-7EB5-F81BF51530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4487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FBBE0B0-01BF-CB4A-40C0-09FFDB8A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博通：从芯片到设备率先全面布局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E1DD30-7FDB-3F47-7AEF-E5C2244C3CE7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F81A6C3-9205-443D-8828-1B7234874E73}"/>
              </a:ext>
            </a:extLst>
          </p:cNvPr>
          <p:cNvSpPr txBox="1"/>
          <p:nvPr/>
        </p:nvSpPr>
        <p:spPr>
          <a:xfrm>
            <a:off x="158751" y="1366528"/>
            <a:ext cx="6033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博通于</a:t>
            </a:r>
            <a:r>
              <a:rPr lang="en-US" altLang="zh-CN" sz="1600" dirty="0"/>
              <a:t>2021</a:t>
            </a:r>
            <a:r>
              <a:rPr lang="zh-CN" altLang="en-US" sz="1600" dirty="0"/>
              <a:t>年推出</a:t>
            </a:r>
            <a:r>
              <a:rPr lang="en-US" altLang="zh-CN" sz="1600" dirty="0"/>
              <a:t>TH4 CPO</a:t>
            </a:r>
            <a:r>
              <a:rPr lang="zh-CN" altLang="en-US" sz="1600" dirty="0"/>
              <a:t>芯片组，为全球率先推动</a:t>
            </a:r>
            <a:r>
              <a:rPr lang="en-US" altLang="zh-CN" sz="1600" dirty="0"/>
              <a:t>CPO</a:t>
            </a:r>
            <a:r>
              <a:rPr lang="zh-CN" altLang="en-US" sz="1600" dirty="0"/>
              <a:t>技术落地的厂商之一。</a:t>
            </a:r>
            <a:r>
              <a:rPr lang="zh-CN" altLang="en-US" sz="1600" dirty="0">
                <a:cs typeface="+mn-ea"/>
                <a:sym typeface="+mn-lt"/>
              </a:rPr>
              <a:t>博通量产交付领先对手</a:t>
            </a:r>
            <a:r>
              <a:rPr lang="en-US" altLang="zh-CN" sz="1600" dirty="0">
                <a:cs typeface="+mn-ea"/>
                <a:sym typeface="+mn-lt"/>
              </a:rPr>
              <a:t>1-2</a:t>
            </a:r>
            <a:r>
              <a:rPr lang="zh-CN" altLang="en-US" sz="1600" dirty="0">
                <a:cs typeface="+mn-ea"/>
                <a:sym typeface="+mn-lt"/>
              </a:rPr>
              <a:t>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6564CB-03C0-10D4-448B-6B4ED5AF7C8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620248A6-4A25-573B-56B2-A8CA76525775}"/>
              </a:ext>
            </a:extLst>
          </p:cNvPr>
          <p:cNvSpPr/>
          <p:nvPr/>
        </p:nvSpPr>
        <p:spPr>
          <a:xfrm>
            <a:off x="12443250" y="1661501"/>
            <a:ext cx="3207820" cy="43639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驱动力，争夺制定权，打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时间线，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前几代的情况可以放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给具体的动作，从新闻和动向看出其站位，比如出货量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机构给博通的判断确保方向不错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78263787-8F29-F6EE-CF36-CF983DE06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796" y="2533615"/>
            <a:ext cx="5755555" cy="2373331"/>
          </a:xfrm>
          <a:prstGeom prst="rect">
            <a:avLst/>
          </a:prstGeom>
        </p:spPr>
      </p:pic>
      <p:sp>
        <p:nvSpPr>
          <p:cNvPr id="104" name="文本框 103">
            <a:extLst>
              <a:ext uri="{FF2B5EF4-FFF2-40B4-BE49-F238E27FC236}">
                <a16:creationId xmlns:a16="http://schemas.microsoft.com/office/drawing/2014/main" id="{B0E756CC-CDF2-E2A6-D81D-8464FDF8DF28}"/>
              </a:ext>
            </a:extLst>
          </p:cNvPr>
          <p:cNvSpPr txBox="1"/>
          <p:nvPr/>
        </p:nvSpPr>
        <p:spPr>
          <a:xfrm>
            <a:off x="6286057" y="1366280"/>
            <a:ext cx="5747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博通全面参与</a:t>
            </a:r>
            <a:r>
              <a:rPr lang="en-US" altLang="zh-CN" sz="1600" dirty="0"/>
              <a:t>CPO</a:t>
            </a:r>
            <a:r>
              <a:rPr lang="zh-CN" altLang="en-US" sz="1600" dirty="0"/>
              <a:t>生态各个环节，以定制的合作模式推动</a:t>
            </a:r>
            <a:r>
              <a:rPr lang="en-US" altLang="zh-CN" sz="1600" dirty="0"/>
              <a:t>CPO</a:t>
            </a:r>
            <a:r>
              <a:rPr lang="zh-CN" altLang="en-US" sz="1600" dirty="0"/>
              <a:t>各环节成熟，同时布局了</a:t>
            </a:r>
            <a:r>
              <a:rPr lang="en-US" altLang="zh-CN" sz="1600" dirty="0"/>
              <a:t>IP</a:t>
            </a:r>
            <a:endParaRPr lang="zh-CN" altLang="en-US" sz="1600" dirty="0"/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088D7E0C-453C-6326-7DB9-572A85A52F64}"/>
              </a:ext>
            </a:extLst>
          </p:cNvPr>
          <p:cNvGrpSpPr/>
          <p:nvPr/>
        </p:nvGrpSpPr>
        <p:grpSpPr>
          <a:xfrm>
            <a:off x="241888" y="898506"/>
            <a:ext cx="12099377" cy="503758"/>
            <a:chOff x="504186" y="971862"/>
            <a:chExt cx="12099377" cy="503758"/>
          </a:xfrm>
        </p:grpSpPr>
        <p:sp>
          <p:nvSpPr>
            <p:cNvPr id="109" name="文本框 12">
              <a:extLst>
                <a:ext uri="{FF2B5EF4-FFF2-40B4-BE49-F238E27FC236}">
                  <a16:creationId xmlns:a16="http://schemas.microsoft.com/office/drawing/2014/main" id="{FCB66F6D-4F1C-F368-0A38-4BE5AA684159}"/>
                </a:ext>
              </a:extLst>
            </p:cNvPr>
            <p:cNvSpPr txBox="1"/>
            <p:nvPr/>
          </p:nvSpPr>
          <p:spPr>
            <a:xfrm>
              <a:off x="6717654" y="991071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博通为布局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最全的厂商之一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0" name="文本框 13">
              <a:extLst>
                <a:ext uri="{FF2B5EF4-FFF2-40B4-BE49-F238E27FC236}">
                  <a16:creationId xmlns:a16="http://schemas.microsoft.com/office/drawing/2014/main" id="{E2C45565-EC1B-5D1D-99A3-5A79B14DD9AA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11" name="直线连接符 38">
              <a:extLst>
                <a:ext uri="{FF2B5EF4-FFF2-40B4-BE49-F238E27FC236}">
                  <a16:creationId xmlns:a16="http://schemas.microsoft.com/office/drawing/2014/main" id="{730B3B19-E012-3749-EFB6-6FE3870AA39A}"/>
                </a:ext>
              </a:extLst>
            </p:cNvPr>
            <p:cNvCxnSpPr>
              <a:cxnSpLocks/>
            </p:cNvCxnSpPr>
            <p:nvPr/>
          </p:nvCxnSpPr>
          <p:spPr>
            <a:xfrm>
              <a:off x="6717654" y="1321896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5">
              <a:extLst>
                <a:ext uri="{FF2B5EF4-FFF2-40B4-BE49-F238E27FC236}">
                  <a16:creationId xmlns:a16="http://schemas.microsoft.com/office/drawing/2014/main" id="{5825E03D-14AD-5599-B770-2113CC4164C1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博通为最早落地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、布局最全的厂商之一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13" name="直线连接符 38">
              <a:extLst>
                <a:ext uri="{FF2B5EF4-FFF2-40B4-BE49-F238E27FC236}">
                  <a16:creationId xmlns:a16="http://schemas.microsoft.com/office/drawing/2014/main" id="{F64265D1-2B14-B03E-642A-033893A5B82B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45D36808-52C5-27C7-514E-CA0FED831006}"/>
              </a:ext>
            </a:extLst>
          </p:cNvPr>
          <p:cNvCxnSpPr>
            <a:cxnSpLocks/>
          </p:cNvCxnSpPr>
          <p:nvPr/>
        </p:nvCxnSpPr>
        <p:spPr>
          <a:xfrm>
            <a:off x="864401" y="5804455"/>
            <a:ext cx="5182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D3C0140A-BFB7-5CB5-591C-1D43983BCB59}"/>
              </a:ext>
            </a:extLst>
          </p:cNvPr>
          <p:cNvGrpSpPr/>
          <p:nvPr/>
        </p:nvGrpSpPr>
        <p:grpSpPr>
          <a:xfrm>
            <a:off x="864401" y="5696815"/>
            <a:ext cx="754380" cy="549547"/>
            <a:chOff x="2302741" y="5497808"/>
            <a:chExt cx="754380" cy="549547"/>
          </a:xfrm>
        </p:grpSpPr>
        <p:sp>
          <p:nvSpPr>
            <p:cNvPr id="125" name="iconfont-1018-792472">
              <a:extLst>
                <a:ext uri="{FF2B5EF4-FFF2-40B4-BE49-F238E27FC236}">
                  <a16:creationId xmlns:a16="http://schemas.microsoft.com/office/drawing/2014/main" id="{2713C143-9FCD-8037-8466-015AAA9AF72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12818448-3ACC-1AA6-1E27-5691A0932808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2020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D43493-F922-E438-2BFE-3037D8D810A2}"/>
              </a:ext>
            </a:extLst>
          </p:cNvPr>
          <p:cNvGrpSpPr/>
          <p:nvPr/>
        </p:nvGrpSpPr>
        <p:grpSpPr>
          <a:xfrm>
            <a:off x="5121441" y="5696815"/>
            <a:ext cx="754380" cy="549547"/>
            <a:chOff x="2302741" y="5497808"/>
            <a:chExt cx="754380" cy="549547"/>
          </a:xfrm>
        </p:grpSpPr>
        <p:sp>
          <p:nvSpPr>
            <p:cNvPr id="1024" name="iconfont-1018-792472">
              <a:extLst>
                <a:ext uri="{FF2B5EF4-FFF2-40B4-BE49-F238E27FC236}">
                  <a16:creationId xmlns:a16="http://schemas.microsoft.com/office/drawing/2014/main" id="{7AF0C5E6-FB4F-D850-064D-0E2342108A0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5" name="文本框 1024">
              <a:extLst>
                <a:ext uri="{FF2B5EF4-FFF2-40B4-BE49-F238E27FC236}">
                  <a16:creationId xmlns:a16="http://schemas.microsoft.com/office/drawing/2014/main" id="{23D0C599-611C-273C-24CF-A34740DECC5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2025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CE6789BA-E003-ED21-8313-C7D3E2FD3A15}"/>
              </a:ext>
            </a:extLst>
          </p:cNvPr>
          <p:cNvGrpSpPr/>
          <p:nvPr/>
        </p:nvGrpSpPr>
        <p:grpSpPr>
          <a:xfrm>
            <a:off x="1715809" y="5696815"/>
            <a:ext cx="754380" cy="549547"/>
            <a:chOff x="2302741" y="5497808"/>
            <a:chExt cx="754380" cy="549547"/>
          </a:xfrm>
        </p:grpSpPr>
        <p:sp>
          <p:nvSpPr>
            <p:cNvPr id="1028" name="iconfont-1018-792472">
              <a:extLst>
                <a:ext uri="{FF2B5EF4-FFF2-40B4-BE49-F238E27FC236}">
                  <a16:creationId xmlns:a16="http://schemas.microsoft.com/office/drawing/2014/main" id="{A28C6252-82D4-448A-5630-CA8489B87C7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75D40222-E86A-AF05-53F7-23934033CE7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2021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30" name="组合 1029">
            <a:extLst>
              <a:ext uri="{FF2B5EF4-FFF2-40B4-BE49-F238E27FC236}">
                <a16:creationId xmlns:a16="http://schemas.microsoft.com/office/drawing/2014/main" id="{8A6504AE-10E6-54EA-417B-181B252CDDB4}"/>
              </a:ext>
            </a:extLst>
          </p:cNvPr>
          <p:cNvGrpSpPr/>
          <p:nvPr/>
        </p:nvGrpSpPr>
        <p:grpSpPr>
          <a:xfrm>
            <a:off x="2567217" y="5696815"/>
            <a:ext cx="754380" cy="549547"/>
            <a:chOff x="2302741" y="5497808"/>
            <a:chExt cx="754380" cy="549547"/>
          </a:xfrm>
        </p:grpSpPr>
        <p:sp>
          <p:nvSpPr>
            <p:cNvPr id="1031" name="iconfont-1018-792472">
              <a:extLst>
                <a:ext uri="{FF2B5EF4-FFF2-40B4-BE49-F238E27FC236}">
                  <a16:creationId xmlns:a16="http://schemas.microsoft.com/office/drawing/2014/main" id="{E5A154C5-8C07-50CE-AB81-8B604CA7B02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2" name="文本框 1031">
              <a:extLst>
                <a:ext uri="{FF2B5EF4-FFF2-40B4-BE49-F238E27FC236}">
                  <a16:creationId xmlns:a16="http://schemas.microsoft.com/office/drawing/2014/main" id="{773FF216-651E-6EF6-0EAF-AD2BE6194F9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2022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33" name="组合 1032">
            <a:extLst>
              <a:ext uri="{FF2B5EF4-FFF2-40B4-BE49-F238E27FC236}">
                <a16:creationId xmlns:a16="http://schemas.microsoft.com/office/drawing/2014/main" id="{98BB9851-94C4-A458-B69A-395D12803CD8}"/>
              </a:ext>
            </a:extLst>
          </p:cNvPr>
          <p:cNvGrpSpPr/>
          <p:nvPr/>
        </p:nvGrpSpPr>
        <p:grpSpPr>
          <a:xfrm>
            <a:off x="3418625" y="5696815"/>
            <a:ext cx="754380" cy="549547"/>
            <a:chOff x="2302741" y="5497808"/>
            <a:chExt cx="754380" cy="549547"/>
          </a:xfrm>
        </p:grpSpPr>
        <p:sp>
          <p:nvSpPr>
            <p:cNvPr id="1034" name="iconfont-1018-792472">
              <a:extLst>
                <a:ext uri="{FF2B5EF4-FFF2-40B4-BE49-F238E27FC236}">
                  <a16:creationId xmlns:a16="http://schemas.microsoft.com/office/drawing/2014/main" id="{72BB9B27-9D6A-BFA8-D830-B57600B6C4E1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5" name="文本框 1034">
              <a:extLst>
                <a:ext uri="{FF2B5EF4-FFF2-40B4-BE49-F238E27FC236}">
                  <a16:creationId xmlns:a16="http://schemas.microsoft.com/office/drawing/2014/main" id="{23286744-0EF7-17DC-E3E3-6759EA76B90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2023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3AD19CF5-AC7C-5F60-B9DE-3668CE65FF81}"/>
              </a:ext>
            </a:extLst>
          </p:cNvPr>
          <p:cNvGrpSpPr/>
          <p:nvPr/>
        </p:nvGrpSpPr>
        <p:grpSpPr>
          <a:xfrm>
            <a:off x="4270033" y="5696815"/>
            <a:ext cx="754380" cy="549547"/>
            <a:chOff x="2302741" y="5497808"/>
            <a:chExt cx="754380" cy="549547"/>
          </a:xfrm>
        </p:grpSpPr>
        <p:sp>
          <p:nvSpPr>
            <p:cNvPr id="1037" name="iconfont-1018-792472">
              <a:extLst>
                <a:ext uri="{FF2B5EF4-FFF2-40B4-BE49-F238E27FC236}">
                  <a16:creationId xmlns:a16="http://schemas.microsoft.com/office/drawing/2014/main" id="{EBB5E8EE-6325-FAE7-4474-198D7B57724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984C29D9-A50C-80E3-8A44-5F8EC7CF14CD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2024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C7DE9DED-194E-1502-E490-1F6920A95A4F}"/>
              </a:ext>
            </a:extLst>
          </p:cNvPr>
          <p:cNvCxnSpPr>
            <a:cxnSpLocks/>
          </p:cNvCxnSpPr>
          <p:nvPr/>
        </p:nvCxnSpPr>
        <p:spPr>
          <a:xfrm flipV="1">
            <a:off x="864402" y="2373009"/>
            <a:ext cx="0" cy="342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文本框 1042">
            <a:extLst>
              <a:ext uri="{FF2B5EF4-FFF2-40B4-BE49-F238E27FC236}">
                <a16:creationId xmlns:a16="http://schemas.microsoft.com/office/drawing/2014/main" id="{600B4EB6-1EE8-4CC7-CF0C-980549956770}"/>
              </a:ext>
            </a:extLst>
          </p:cNvPr>
          <p:cNvSpPr txBox="1"/>
          <p:nvPr/>
        </p:nvSpPr>
        <p:spPr>
          <a:xfrm>
            <a:off x="166905" y="5144557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12.8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4" name="文本框 1043">
            <a:extLst>
              <a:ext uri="{FF2B5EF4-FFF2-40B4-BE49-F238E27FC236}">
                <a16:creationId xmlns:a16="http://schemas.microsoft.com/office/drawing/2014/main" id="{2ECF937A-BCE8-7B42-925C-83B3E3B77D06}"/>
              </a:ext>
            </a:extLst>
          </p:cNvPr>
          <p:cNvSpPr txBox="1"/>
          <p:nvPr/>
        </p:nvSpPr>
        <p:spPr>
          <a:xfrm>
            <a:off x="187118" y="4342644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25.6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52F3FB11-5937-AA18-30B9-0AB44CA4074D}"/>
              </a:ext>
            </a:extLst>
          </p:cNvPr>
          <p:cNvSpPr txBox="1"/>
          <p:nvPr/>
        </p:nvSpPr>
        <p:spPr>
          <a:xfrm>
            <a:off x="187118" y="3540730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51.2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8FEC53B9-1D54-FBF6-8971-E6DB3E7C220D}"/>
              </a:ext>
            </a:extLst>
          </p:cNvPr>
          <p:cNvSpPr txBox="1"/>
          <p:nvPr/>
        </p:nvSpPr>
        <p:spPr>
          <a:xfrm>
            <a:off x="92099" y="2738816"/>
            <a:ext cx="867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102.4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48" name="图像" descr="图像">
            <a:extLst>
              <a:ext uri="{FF2B5EF4-FFF2-40B4-BE49-F238E27FC236}">
                <a16:creationId xmlns:a16="http://schemas.microsoft.com/office/drawing/2014/main" id="{0683585B-22F3-9DA0-E9C8-2DF87DF7CF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157" y="3075078"/>
            <a:ext cx="258700" cy="205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1" name="图像" descr="图像">
            <a:extLst>
              <a:ext uri="{FF2B5EF4-FFF2-40B4-BE49-F238E27FC236}">
                <a16:creationId xmlns:a16="http://schemas.microsoft.com/office/drawing/2014/main" id="{71968A77-E658-9B49-8D2C-99B905580F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9062" y="1951055"/>
            <a:ext cx="238843" cy="188089"/>
          </a:xfrm>
          <a:prstGeom prst="rect">
            <a:avLst/>
          </a:prstGeom>
          <a:ln w="12700">
            <a:miter lim="400000"/>
          </a:ln>
        </p:spPr>
      </p:pic>
      <p:sp>
        <p:nvSpPr>
          <p:cNvPr id="1052" name="文本框 1051">
            <a:extLst>
              <a:ext uri="{FF2B5EF4-FFF2-40B4-BE49-F238E27FC236}">
                <a16:creationId xmlns:a16="http://schemas.microsoft.com/office/drawing/2014/main" id="{9515409C-F418-0A19-0F53-073B69E48FF5}"/>
              </a:ext>
            </a:extLst>
          </p:cNvPr>
          <p:cNvSpPr txBox="1"/>
          <p:nvPr/>
        </p:nvSpPr>
        <p:spPr>
          <a:xfrm>
            <a:off x="23168" y="2108820"/>
            <a:ext cx="1005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交换容量（</a:t>
            </a:r>
            <a:r>
              <a:rPr lang="en-US" altLang="zh-CN" sz="1400" dirty="0" err="1">
                <a:cs typeface="+mn-ea"/>
                <a:sym typeface="+mn-lt"/>
              </a:rPr>
              <a:t>Tbps</a:t>
            </a:r>
            <a:r>
              <a:rPr lang="zh-CN" altLang="en-US" sz="1400" dirty="0">
                <a:cs typeface="+mn-ea"/>
                <a:sym typeface="+mn-lt"/>
              </a:rPr>
              <a:t>）</a:t>
            </a: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6E9B963C-0085-6B82-A034-F954D71BF01E}"/>
              </a:ext>
            </a:extLst>
          </p:cNvPr>
          <p:cNvGrpSpPr/>
          <p:nvPr/>
        </p:nvGrpSpPr>
        <p:grpSpPr>
          <a:xfrm>
            <a:off x="1626573" y="4460592"/>
            <a:ext cx="885326" cy="430416"/>
            <a:chOff x="1946450" y="4289861"/>
            <a:chExt cx="885326" cy="430416"/>
          </a:xfrm>
        </p:grpSpPr>
        <p:pic>
          <p:nvPicPr>
            <p:cNvPr id="1049" name="图像" descr="图像">
              <a:extLst>
                <a:ext uri="{FF2B5EF4-FFF2-40B4-BE49-F238E27FC236}">
                  <a16:creationId xmlns:a16="http://schemas.microsoft.com/office/drawing/2014/main" id="{7AF4D924-6A75-3F6D-4627-C84130164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58" name="文本框 1057">
              <a:extLst>
                <a:ext uri="{FF2B5EF4-FFF2-40B4-BE49-F238E27FC236}">
                  <a16:creationId xmlns:a16="http://schemas.microsoft.com/office/drawing/2014/main" id="{E3BA46B7-301B-16B7-39BA-CAF291B19DE5}"/>
                </a:ext>
              </a:extLst>
            </p:cNvPr>
            <p:cNvSpPr txBox="1"/>
            <p:nvPr/>
          </p:nvSpPr>
          <p:spPr>
            <a:xfrm>
              <a:off x="1946450" y="4458667"/>
              <a:ext cx="8673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方案发布</a:t>
              </a:r>
            </a:p>
          </p:txBody>
        </p:sp>
        <p:sp>
          <p:nvSpPr>
            <p:cNvPr id="1060" name="文本框 1059">
              <a:extLst>
                <a:ext uri="{FF2B5EF4-FFF2-40B4-BE49-F238E27FC236}">
                  <a16:creationId xmlns:a16="http://schemas.microsoft.com/office/drawing/2014/main" id="{3F4E0275-E15B-E18B-CFFB-6ED4DB288D4E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62" name="组合 1061">
            <a:extLst>
              <a:ext uri="{FF2B5EF4-FFF2-40B4-BE49-F238E27FC236}">
                <a16:creationId xmlns:a16="http://schemas.microsoft.com/office/drawing/2014/main" id="{149A79A5-076E-7FD2-47D9-F4FEB636EADE}"/>
              </a:ext>
            </a:extLst>
          </p:cNvPr>
          <p:cNvGrpSpPr/>
          <p:nvPr/>
        </p:nvGrpSpPr>
        <p:grpSpPr>
          <a:xfrm>
            <a:off x="2405795" y="4460592"/>
            <a:ext cx="1088697" cy="433036"/>
            <a:chOff x="1854080" y="4289861"/>
            <a:chExt cx="1088697" cy="433036"/>
          </a:xfrm>
        </p:grpSpPr>
        <p:pic>
          <p:nvPicPr>
            <p:cNvPr id="1063" name="图像" descr="图像">
              <a:extLst>
                <a:ext uri="{FF2B5EF4-FFF2-40B4-BE49-F238E27FC236}">
                  <a16:creationId xmlns:a16="http://schemas.microsoft.com/office/drawing/2014/main" id="{F8C501A1-7860-CDE5-0E52-C429F059D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4" name="文本框 1063">
              <a:extLst>
                <a:ext uri="{FF2B5EF4-FFF2-40B4-BE49-F238E27FC236}">
                  <a16:creationId xmlns:a16="http://schemas.microsoft.com/office/drawing/2014/main" id="{5784DEBF-5A58-A220-CDC0-07E083A49F5C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合作部署</a:t>
              </a:r>
            </a:p>
          </p:txBody>
        </p: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4C1640B9-5ECC-4EDF-CAFD-BA8B6053D1E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66" name="组合 1065">
            <a:extLst>
              <a:ext uri="{FF2B5EF4-FFF2-40B4-BE49-F238E27FC236}">
                <a16:creationId xmlns:a16="http://schemas.microsoft.com/office/drawing/2014/main" id="{73BC98C6-518F-6801-762D-326AC7DDB754}"/>
              </a:ext>
            </a:extLst>
          </p:cNvPr>
          <p:cNvGrpSpPr/>
          <p:nvPr/>
        </p:nvGrpSpPr>
        <p:grpSpPr>
          <a:xfrm>
            <a:off x="3198356" y="3536040"/>
            <a:ext cx="1088697" cy="433036"/>
            <a:chOff x="1854080" y="4289861"/>
            <a:chExt cx="1088697" cy="433036"/>
          </a:xfrm>
        </p:grpSpPr>
        <p:pic>
          <p:nvPicPr>
            <p:cNvPr id="1067" name="图像" descr="图像">
              <a:extLst>
                <a:ext uri="{FF2B5EF4-FFF2-40B4-BE49-F238E27FC236}">
                  <a16:creationId xmlns:a16="http://schemas.microsoft.com/office/drawing/2014/main" id="{C61455A4-C0B8-0935-FFFC-5DD3D66C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8" name="文本框 1067">
              <a:extLst>
                <a:ext uri="{FF2B5EF4-FFF2-40B4-BE49-F238E27FC236}">
                  <a16:creationId xmlns:a16="http://schemas.microsoft.com/office/drawing/2014/main" id="{72796B5A-F4DF-46A5-C791-2794CB79275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9" name="文本框 1068">
              <a:extLst>
                <a:ext uri="{FF2B5EF4-FFF2-40B4-BE49-F238E27FC236}">
                  <a16:creationId xmlns:a16="http://schemas.microsoft.com/office/drawing/2014/main" id="{DD5B1B47-7BBA-93F3-A3FD-4A22FA9F9F1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E602BF3A-9CF1-E5A2-1133-27AABA328861}"/>
              </a:ext>
            </a:extLst>
          </p:cNvPr>
          <p:cNvGrpSpPr/>
          <p:nvPr/>
        </p:nvGrpSpPr>
        <p:grpSpPr>
          <a:xfrm>
            <a:off x="4099295" y="3536040"/>
            <a:ext cx="1088697" cy="433036"/>
            <a:chOff x="1854080" y="4289861"/>
            <a:chExt cx="1088697" cy="433036"/>
          </a:xfrm>
        </p:grpSpPr>
        <p:pic>
          <p:nvPicPr>
            <p:cNvPr id="1071" name="图像" descr="图像">
              <a:extLst>
                <a:ext uri="{FF2B5EF4-FFF2-40B4-BE49-F238E27FC236}">
                  <a16:creationId xmlns:a16="http://schemas.microsoft.com/office/drawing/2014/main" id="{C980E913-4E30-300C-EF62-BDD26B412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EA8F9B55-A1AA-2EE9-DA55-0B9997FF346D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量产交付</a:t>
              </a:r>
            </a:p>
          </p:txBody>
        </p:sp>
        <p:sp>
          <p:nvSpPr>
            <p:cNvPr id="1073" name="文本框 1072">
              <a:extLst>
                <a:ext uri="{FF2B5EF4-FFF2-40B4-BE49-F238E27FC236}">
                  <a16:creationId xmlns:a16="http://schemas.microsoft.com/office/drawing/2014/main" id="{76E2EE8F-1735-4673-60DD-5E9408493BDB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074" name="组合 1073">
            <a:extLst>
              <a:ext uri="{FF2B5EF4-FFF2-40B4-BE49-F238E27FC236}">
                <a16:creationId xmlns:a16="http://schemas.microsoft.com/office/drawing/2014/main" id="{C1C15FF8-B38E-2347-E6BF-0AA597530D07}"/>
              </a:ext>
            </a:extLst>
          </p:cNvPr>
          <p:cNvGrpSpPr/>
          <p:nvPr/>
        </p:nvGrpSpPr>
        <p:grpSpPr>
          <a:xfrm>
            <a:off x="4958343" y="2638804"/>
            <a:ext cx="1088697" cy="433036"/>
            <a:chOff x="1854080" y="4289861"/>
            <a:chExt cx="1088697" cy="433036"/>
          </a:xfrm>
        </p:grpSpPr>
        <p:pic>
          <p:nvPicPr>
            <p:cNvPr id="1075" name="图像" descr="图像">
              <a:extLst>
                <a:ext uri="{FF2B5EF4-FFF2-40B4-BE49-F238E27FC236}">
                  <a16:creationId xmlns:a16="http://schemas.microsoft.com/office/drawing/2014/main" id="{A6744F7E-615C-3075-A124-F1955C3CF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6" name="文本框 1075">
              <a:extLst>
                <a:ext uri="{FF2B5EF4-FFF2-40B4-BE49-F238E27FC236}">
                  <a16:creationId xmlns:a16="http://schemas.microsoft.com/office/drawing/2014/main" id="{7F1B6AD4-6C8B-B494-A452-8E980E9C3488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芯片发布</a:t>
              </a:r>
            </a:p>
          </p:txBody>
        </p:sp>
        <p:sp>
          <p:nvSpPr>
            <p:cNvPr id="1077" name="文本框 1076">
              <a:extLst>
                <a:ext uri="{FF2B5EF4-FFF2-40B4-BE49-F238E27FC236}">
                  <a16:creationId xmlns:a16="http://schemas.microsoft.com/office/drawing/2014/main" id="{1924BB38-0D65-1DD3-A576-58761C9BB514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TH6</a:t>
              </a:r>
            </a:p>
          </p:txBody>
        </p:sp>
      </p:grpSp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7398A127-81D9-93B8-23A9-EA5EC5A48436}"/>
              </a:ext>
            </a:extLst>
          </p:cNvPr>
          <p:cNvGrpSpPr/>
          <p:nvPr/>
        </p:nvGrpSpPr>
        <p:grpSpPr>
          <a:xfrm>
            <a:off x="891292" y="5172296"/>
            <a:ext cx="1028945" cy="439944"/>
            <a:chOff x="1658959" y="4966727"/>
            <a:chExt cx="1028945" cy="439944"/>
          </a:xfrm>
        </p:grpSpPr>
        <p:pic>
          <p:nvPicPr>
            <p:cNvPr id="1050" name="图片 1049">
              <a:extLst>
                <a:ext uri="{FF2B5EF4-FFF2-40B4-BE49-F238E27FC236}">
                  <a16:creationId xmlns:a16="http://schemas.microsoft.com/office/drawing/2014/main" id="{E0DDA59C-5705-417E-70E7-DDB256B43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739899" y="5027245"/>
              <a:ext cx="246630" cy="158302"/>
            </a:xfrm>
            <a:prstGeom prst="rect">
              <a:avLst/>
            </a:prstGeom>
          </p:spPr>
        </p:pic>
        <p:grpSp>
          <p:nvGrpSpPr>
            <p:cNvPr id="1078" name="组合 1077">
              <a:extLst>
                <a:ext uri="{FF2B5EF4-FFF2-40B4-BE49-F238E27FC236}">
                  <a16:creationId xmlns:a16="http://schemas.microsoft.com/office/drawing/2014/main" id="{EA6D8339-D84C-06DE-8624-47C705CC6B00}"/>
                </a:ext>
              </a:extLst>
            </p:cNvPr>
            <p:cNvGrpSpPr/>
            <p:nvPr/>
          </p:nvGrpSpPr>
          <p:grpSpPr>
            <a:xfrm>
              <a:off x="1658959" y="4966727"/>
              <a:ext cx="1028945" cy="439944"/>
              <a:chOff x="1992505" y="4285065"/>
              <a:chExt cx="1028945" cy="439944"/>
            </a:xfrm>
          </p:grpSpPr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5621A35E-478A-7106-EFBB-5152625053B1}"/>
                  </a:ext>
                </a:extLst>
              </p:cNvPr>
              <p:cNvSpPr txBox="1"/>
              <p:nvPr/>
            </p:nvSpPr>
            <p:spPr>
              <a:xfrm>
                <a:off x="1992505" y="4471093"/>
                <a:ext cx="99218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Demo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2CF1D84A-9BD8-3B4D-E2CD-B3C399E3E197}"/>
                  </a:ext>
                </a:extLst>
              </p:cNvPr>
              <p:cNvSpPr txBox="1"/>
              <p:nvPr/>
            </p:nvSpPr>
            <p:spPr>
              <a:xfrm>
                <a:off x="2248593" y="4285065"/>
                <a:ext cx="7728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12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WEDGE</a:t>
                </a:r>
              </a:p>
            </p:txBody>
          </p:sp>
        </p:grpSp>
      </p:grpSp>
      <p:grpSp>
        <p:nvGrpSpPr>
          <p:cNvPr id="1083" name="组合 1082">
            <a:extLst>
              <a:ext uri="{FF2B5EF4-FFF2-40B4-BE49-F238E27FC236}">
                <a16:creationId xmlns:a16="http://schemas.microsoft.com/office/drawing/2014/main" id="{C4025FA0-2555-83B8-81C1-C52CC2E937DD}"/>
              </a:ext>
            </a:extLst>
          </p:cNvPr>
          <p:cNvGrpSpPr/>
          <p:nvPr/>
        </p:nvGrpSpPr>
        <p:grpSpPr>
          <a:xfrm>
            <a:off x="4950703" y="3049971"/>
            <a:ext cx="1088697" cy="433036"/>
            <a:chOff x="1854080" y="4289861"/>
            <a:chExt cx="1088697" cy="433036"/>
          </a:xfrm>
        </p:grpSpPr>
        <p:sp>
          <p:nvSpPr>
            <p:cNvPr id="1085" name="文本框 1084">
              <a:extLst>
                <a:ext uri="{FF2B5EF4-FFF2-40B4-BE49-F238E27FC236}">
                  <a16:creationId xmlns:a16="http://schemas.microsoft.com/office/drawing/2014/main" id="{47EDAC5D-A457-72C6-852E-2E505182A312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试产</a:t>
              </a:r>
            </a:p>
          </p:txBody>
        </p:sp>
        <p:sp>
          <p:nvSpPr>
            <p:cNvPr id="1086" name="文本框 1085">
              <a:extLst>
                <a:ext uri="{FF2B5EF4-FFF2-40B4-BE49-F238E27FC236}">
                  <a16:creationId xmlns:a16="http://schemas.microsoft.com/office/drawing/2014/main" id="{8F3793D4-D5A8-BCF6-548D-919A35D9B7D2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QT-X</a:t>
              </a:r>
            </a:p>
          </p:txBody>
        </p:sp>
      </p:grp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67C8A49E-89B4-B8F5-F84A-AF029453D0F9}"/>
              </a:ext>
            </a:extLst>
          </p:cNvPr>
          <p:cNvGrpSpPr/>
          <p:nvPr/>
        </p:nvGrpSpPr>
        <p:grpSpPr>
          <a:xfrm>
            <a:off x="2390894" y="3546979"/>
            <a:ext cx="1088697" cy="433036"/>
            <a:chOff x="1854080" y="4289861"/>
            <a:chExt cx="1088697" cy="433036"/>
          </a:xfrm>
        </p:grpSpPr>
        <p:pic>
          <p:nvPicPr>
            <p:cNvPr id="1088" name="图像" descr="图像">
              <a:extLst>
                <a:ext uri="{FF2B5EF4-FFF2-40B4-BE49-F238E27FC236}">
                  <a16:creationId xmlns:a16="http://schemas.microsoft.com/office/drawing/2014/main" id="{B3F769CA-D87D-11C6-2FBC-891CD4D8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89" name="文本框 1088">
              <a:extLst>
                <a:ext uri="{FF2B5EF4-FFF2-40B4-BE49-F238E27FC236}">
                  <a16:creationId xmlns:a16="http://schemas.microsoft.com/office/drawing/2014/main" id="{5EC1C477-C2A5-2410-E6C0-89C029A637B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方案发布</a:t>
              </a:r>
            </a:p>
          </p:txBody>
        </p:sp>
        <p:sp>
          <p:nvSpPr>
            <p:cNvPr id="1090" name="文本框 1089">
              <a:extLst>
                <a:ext uri="{FF2B5EF4-FFF2-40B4-BE49-F238E27FC236}">
                  <a16:creationId xmlns:a16="http://schemas.microsoft.com/office/drawing/2014/main" id="{FF520904-5D9C-19BD-8AE7-41A4FF56320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674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C669-A64E-A202-1EF8-FADA80A6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0527924-3CB2-5186-6135-844E69676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1466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558F73-8357-A1DD-7EB5-F81BF51530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90D4125-22B7-9B05-5F5E-8E5B8356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博通：押注以太网胜出，争夺网络规则制定权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D9A7A5-434F-DDC2-B927-FEF2AB0EFB54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E36631-2FD4-1B1C-15AD-323CF2C58AA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A647D1A-1200-DC93-8897-68329A8848AB}"/>
              </a:ext>
            </a:extLst>
          </p:cNvPr>
          <p:cNvSpPr/>
          <p:nvPr/>
        </p:nvSpPr>
        <p:spPr>
          <a:xfrm>
            <a:off x="12489126" y="541122"/>
            <a:ext cx="3207820" cy="43639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驱动力，争夺制定权，打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时间线，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前几代的情况可以放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给具体的动作，从新闻和动向看出其站位，比如出货量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机构给博通的判断确保方向不错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1ADD36CF-FEF0-5557-646B-028F3CFE8111}"/>
              </a:ext>
            </a:extLst>
          </p:cNvPr>
          <p:cNvGrpSpPr/>
          <p:nvPr/>
        </p:nvGrpSpPr>
        <p:grpSpPr>
          <a:xfrm>
            <a:off x="241887" y="898506"/>
            <a:ext cx="12099378" cy="503758"/>
            <a:chOff x="504185" y="971862"/>
            <a:chExt cx="12099378" cy="503758"/>
          </a:xfrm>
        </p:grpSpPr>
        <p:sp>
          <p:nvSpPr>
            <p:cNvPr id="109" name="文本框 12">
              <a:extLst>
                <a:ext uri="{FF2B5EF4-FFF2-40B4-BE49-F238E27FC236}">
                  <a16:creationId xmlns:a16="http://schemas.microsoft.com/office/drawing/2014/main" id="{EE32AE7C-6813-7096-65A7-A3B7B4E50C98}"/>
                </a:ext>
              </a:extLst>
            </p:cNvPr>
            <p:cNvSpPr txBox="1"/>
            <p:nvPr/>
          </p:nvSpPr>
          <p:spPr>
            <a:xfrm>
              <a:off x="6717654" y="991071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博通押注以太网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方案对抗英伟达，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HPC buy in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博通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0" name="文本框 13">
              <a:extLst>
                <a:ext uri="{FF2B5EF4-FFF2-40B4-BE49-F238E27FC236}">
                  <a16:creationId xmlns:a16="http://schemas.microsoft.com/office/drawing/2014/main" id="{CF53F793-FA5B-1170-7AB8-5286E96C6BCE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11" name="直线连接符 38">
              <a:extLst>
                <a:ext uri="{FF2B5EF4-FFF2-40B4-BE49-F238E27FC236}">
                  <a16:creationId xmlns:a16="http://schemas.microsoft.com/office/drawing/2014/main" id="{C11A1D55-A163-DC7F-2881-805E5AE3A9D8}"/>
                </a:ext>
              </a:extLst>
            </p:cNvPr>
            <p:cNvCxnSpPr>
              <a:cxnSpLocks/>
            </p:cNvCxnSpPr>
            <p:nvPr/>
          </p:nvCxnSpPr>
          <p:spPr>
            <a:xfrm>
              <a:off x="6717654" y="1321896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5">
              <a:extLst>
                <a:ext uri="{FF2B5EF4-FFF2-40B4-BE49-F238E27FC236}">
                  <a16:creationId xmlns:a16="http://schemas.microsoft.com/office/drawing/2014/main" id="{371702AE-C2A7-0C71-73C9-E7EA720FA01D}"/>
                </a:ext>
              </a:extLst>
            </p:cNvPr>
            <p:cNvSpPr txBox="1"/>
            <p:nvPr/>
          </p:nvSpPr>
          <p:spPr>
            <a:xfrm>
              <a:off x="504185" y="971862"/>
              <a:ext cx="595063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以太网或在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AI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节点通信协议争夺中胜出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13" name="直线连接符 38">
              <a:extLst>
                <a:ext uri="{FF2B5EF4-FFF2-40B4-BE49-F238E27FC236}">
                  <a16:creationId xmlns:a16="http://schemas.microsoft.com/office/drawing/2014/main" id="{4C87F793-AFC5-8A08-F860-16FE72E13061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6" name="表格 115">
            <a:extLst>
              <a:ext uri="{FF2B5EF4-FFF2-40B4-BE49-F238E27FC236}">
                <a16:creationId xmlns:a16="http://schemas.microsoft.com/office/drawing/2014/main" id="{EED4B3EF-DA94-1CA1-E026-C587495E1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287090"/>
              </p:ext>
            </p:extLst>
          </p:nvPr>
        </p:nvGraphicFramePr>
        <p:xfrm>
          <a:off x="6391657" y="2459395"/>
          <a:ext cx="5527336" cy="4087531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839524">
                  <a:extLst>
                    <a:ext uri="{9D8B030D-6E8A-4147-A177-3AD203B41FA5}">
                      <a16:colId xmlns:a16="http://schemas.microsoft.com/office/drawing/2014/main" val="2231899009"/>
                    </a:ext>
                  </a:extLst>
                </a:gridCol>
                <a:gridCol w="2147812">
                  <a:extLst>
                    <a:ext uri="{9D8B030D-6E8A-4147-A177-3AD203B41FA5}">
                      <a16:colId xmlns:a16="http://schemas.microsoft.com/office/drawing/2014/main" val="43690167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499043871"/>
                    </a:ext>
                  </a:extLst>
                </a:gridCol>
              </a:tblGrid>
              <a:tr h="274088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博通 </a:t>
                      </a:r>
                      <a:r>
                        <a:rPr lang="en-US" altLang="zh-CN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Broadcom) - ​</a:t>
                      </a:r>
                      <a:r>
                        <a:rPr lang="zh-CN" altLang="en-US" sz="1100" u="none" strike="noStrike">
                          <a:effectLst/>
                        </a:rPr>
                        <a:t>赋能者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英伟达 </a:t>
                      </a:r>
                      <a:r>
                        <a:rPr lang="en-US" altLang="zh-CN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NVIDIA) - ​</a:t>
                      </a:r>
                      <a:r>
                        <a:rPr lang="zh-CN" altLang="en-US" sz="1100" u="none" strike="noStrike">
                          <a:effectLst/>
                        </a:rPr>
                        <a:t>统治者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056898"/>
                  </a:ext>
                </a:extLst>
              </a:tr>
              <a:tr h="49361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​核心网络标准​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​以太网 ，</a:t>
                      </a:r>
                      <a:r>
                        <a:rPr lang="en-US" altLang="zh-CN" sz="1100" u="none" strike="noStrike" dirty="0">
                          <a:effectLst/>
                        </a:rPr>
                        <a:t>IEEE</a:t>
                      </a:r>
                      <a:r>
                        <a:rPr lang="zh-CN" altLang="en-US" sz="1100" u="none" strike="noStrike" dirty="0">
                          <a:effectLst/>
                        </a:rPr>
                        <a:t>标准，开放且通用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​</a:t>
                      </a:r>
                      <a:r>
                        <a:rPr lang="en-US" altLang="zh-CN" sz="1100" u="none" strike="noStrike">
                          <a:effectLst/>
                        </a:rPr>
                        <a:t>InfiniBand</a:t>
                      </a:r>
                      <a:r>
                        <a:rPr lang="zh-CN" altLang="en-US" sz="1100" u="none" strike="noStrike">
                          <a:effectLst/>
                        </a:rPr>
                        <a:t>​，​英伟达私有协议，封闭且专用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124846"/>
                  </a:ext>
                </a:extLst>
              </a:tr>
              <a:tr h="38966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​生态策略​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反对供应商锁定​：客户可自由选择硬件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• ​​“GPU+NVLink+IB”</a:t>
                      </a:r>
                      <a:r>
                        <a:rPr lang="zh-CN" altLang="en-US" sz="1100" u="none" strike="noStrike">
                          <a:effectLst/>
                        </a:rPr>
                        <a:t>软硬件全栈锁定​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281195"/>
                  </a:ext>
                </a:extLst>
              </a:tr>
              <a:tr h="12320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​玩家绑定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 </a:t>
                      </a:r>
                      <a:r>
                        <a:rPr lang="en-US" sz="1100" u="none" strike="noStrike" dirty="0" err="1">
                          <a:effectLst/>
                        </a:rPr>
                        <a:t>Hyperscalers：Meta</a:t>
                      </a:r>
                      <a:r>
                        <a:rPr lang="en-US" sz="1100" u="none" strike="noStrike" dirty="0">
                          <a:effectLst/>
                        </a:rPr>
                        <a:t>、</a:t>
                      </a:r>
                      <a:r>
                        <a:rPr lang="zh-CN" altLang="en-US" sz="1100" u="none" strike="noStrike" dirty="0">
                          <a:effectLst/>
                        </a:rPr>
                        <a:t>微软、谷歌</a:t>
                      </a:r>
                      <a:endParaRPr lang="en-US" altLang="zh-CN" sz="11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合作伙伴：博通、</a:t>
                      </a:r>
                      <a:r>
                        <a:rPr lang="en-US" altLang="zh-CN" sz="1100" u="none" strike="noStrike" dirty="0">
                          <a:effectLst/>
                        </a:rPr>
                        <a:t>Marvell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u="none" strike="noStrike" dirty="0">
                          <a:effectLst/>
                        </a:rPr>
                        <a:t>倾向与博通合作，通过白牌硬件和自有设计打造定制集群，避免</a:t>
                      </a:r>
                      <a:r>
                        <a:rPr lang="en-US" altLang="zh-CN" sz="1100" u="none" strike="noStrike" dirty="0">
                          <a:effectLst/>
                        </a:rPr>
                        <a:t>NV</a:t>
                      </a:r>
                      <a:r>
                        <a:rPr lang="zh-CN" altLang="en-US" sz="1100" u="none" strike="noStrike" dirty="0">
                          <a:effectLst/>
                        </a:rPr>
                        <a:t>过度依赖</a:t>
                      </a:r>
                      <a:endParaRPr lang="en-US" altLang="zh-CN" sz="1100" u="none" strike="noStrike" dirty="0">
                        <a:effectLst/>
                      </a:endParaRPr>
                    </a:p>
                    <a:p>
                      <a:pPr algn="ctr" fontAlgn="ctr"/>
                      <a:endParaRPr lang="en-US" altLang="zh-CN" sz="1100" u="none" strike="noStrike" dirty="0">
                        <a:effectLst/>
                      </a:endParaRPr>
                    </a:p>
                    <a:p>
                      <a:pPr marL="342900" indent="-342900" algn="ctr" fontAlgn="ctr">
                        <a:buAutoNum type="arabicPeriod"/>
                      </a:pPr>
                      <a:r>
                        <a:rPr lang="en-US" altLang="zh-CN" sz="1100" u="none" strike="noStrike" dirty="0">
                          <a:effectLst/>
                        </a:rPr>
                        <a:t>CPO Collaboration</a:t>
                      </a:r>
                      <a:r>
                        <a:rPr lang="zh-CN" altLang="en-US" sz="1100" u="none" strike="noStrike" dirty="0">
                          <a:effectLst/>
                        </a:rPr>
                        <a:t>：倡导开放</a:t>
                      </a:r>
                      <a:r>
                        <a:rPr lang="en-US" altLang="zh-CN" sz="1100" u="none" strike="noStrike" dirty="0">
                          <a:effectLst/>
                        </a:rPr>
                        <a:t>CPO</a:t>
                      </a:r>
                      <a:r>
                        <a:rPr lang="zh-CN" altLang="en-US" sz="1100" u="none" strike="noStrike" dirty="0">
                          <a:effectLst/>
                        </a:rPr>
                        <a:t>（</a:t>
                      </a:r>
                      <a:r>
                        <a:rPr lang="en-US" altLang="zh-CN" sz="1100" u="none" strike="noStrike" dirty="0">
                          <a:effectLst/>
                        </a:rPr>
                        <a:t>2019</a:t>
                      </a:r>
                      <a:r>
                        <a:rPr lang="zh-CN" altLang="en-US" sz="1100" u="none" strike="noStrike" dirty="0">
                          <a:effectLst/>
                        </a:rPr>
                        <a:t>）</a:t>
                      </a:r>
                      <a:endParaRPr lang="en-US" altLang="zh-CN" sz="1100" u="none" strike="noStrike" dirty="0">
                        <a:effectLst/>
                      </a:endParaRPr>
                    </a:p>
                    <a:p>
                      <a:pPr marL="342900" indent="-342900" algn="ctr" fontAlgn="ctr">
                        <a:buAutoNum type="arabicPeriod"/>
                      </a:pP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微软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altLang="zh-CN" sz="1100" u="none" strike="noStrike" dirty="0">
                          <a:effectLst/>
                        </a:rPr>
                        <a:t>Meta</a:t>
                      </a:r>
                      <a:r>
                        <a:rPr lang="zh-CN" altLang="en-US" sz="1100" u="none" strike="noStrike" dirty="0">
                          <a:effectLst/>
                        </a:rPr>
                        <a:t>于</a:t>
                      </a:r>
                      <a:r>
                        <a:rPr lang="en-US" altLang="zh-CN" sz="1100" u="none" strike="noStrike" dirty="0">
                          <a:effectLst/>
                        </a:rPr>
                        <a:t>OCP</a:t>
                      </a:r>
                      <a:r>
                        <a:rPr lang="zh-CN" altLang="en-US" sz="1100" u="none" strike="noStrike" dirty="0">
                          <a:effectLst/>
                        </a:rPr>
                        <a:t>会议上明确表示，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其未来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数据中心将采用</a:t>
                      </a:r>
                      <a:r>
                        <a:rPr lang="zh-CN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单一、超大规模、基于以太网（</a:t>
                      </a:r>
                      <a:r>
                        <a:rPr lang="en-US" altLang="zh-CN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RoCEv2</a:t>
                      </a:r>
                      <a:r>
                        <a:rPr lang="zh-CN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）的集群网络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CPO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是实现这一目标的关键技术；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​特定云厂商​：</a:t>
                      </a:r>
                      <a:r>
                        <a:rPr lang="en-US" altLang="zh-CN" sz="1100" u="none" strike="noStrike" dirty="0">
                          <a:effectLst/>
                        </a:rPr>
                        <a:t>• ​Oracle</a:t>
                      </a:r>
                      <a:r>
                        <a:rPr lang="zh-CN" altLang="en-US" sz="1100" u="none" strike="noStrike" dirty="0">
                          <a:effectLst/>
                        </a:rPr>
                        <a:t>、</a:t>
                      </a:r>
                      <a:r>
                        <a:rPr lang="en-US" altLang="zh-CN" sz="1100" u="none" strike="noStrike" dirty="0" err="1">
                          <a:effectLst/>
                        </a:rPr>
                        <a:t>CoreWeave</a:t>
                      </a:r>
                      <a:r>
                        <a:rPr lang="en-US" altLang="zh-CN" sz="1100" u="none" strike="noStrike" dirty="0">
                          <a:effectLst/>
                        </a:rPr>
                        <a:t>​ - </a:t>
                      </a:r>
                      <a:r>
                        <a:rPr lang="zh-CN" altLang="en-US" sz="1100" u="none" strike="noStrike" dirty="0">
                          <a:effectLst/>
                        </a:rPr>
                        <a:t>深度依赖英伟达全栈方案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780686"/>
                  </a:ext>
                </a:extLst>
              </a:tr>
              <a:tr h="5825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​硬件伙伴​：</a:t>
                      </a:r>
                      <a:r>
                        <a:rPr lang="en-US" altLang="zh-CN" sz="1100" u="none" strike="noStrike" dirty="0">
                          <a:effectLst/>
                        </a:rPr>
                        <a:t>• </a:t>
                      </a:r>
                      <a:r>
                        <a:rPr lang="zh-CN" altLang="en-US" sz="1100" u="none" strike="noStrike" dirty="0">
                          <a:effectLst/>
                        </a:rPr>
                        <a:t>白牌交换机厂商（如</a:t>
                      </a:r>
                      <a:r>
                        <a:rPr lang="en-US" altLang="zh-CN" sz="1100" u="none" strike="noStrike" dirty="0">
                          <a:effectLst/>
                        </a:rPr>
                        <a:t>Arista</a:t>
                      </a:r>
                      <a:r>
                        <a:rPr lang="zh-CN" altLang="en-US" sz="1100" u="none" strike="noStrike" dirty="0">
                          <a:effectLst/>
                        </a:rPr>
                        <a:t>），</a:t>
                      </a:r>
                      <a:r>
                        <a:rPr lang="en-US" altLang="zh-CN" sz="1100" u="none" strike="noStrike" dirty="0">
                          <a:effectLst/>
                        </a:rPr>
                        <a:t>• </a:t>
                      </a:r>
                      <a:r>
                        <a:rPr lang="zh-CN" altLang="en-US" sz="1100" u="none" strike="noStrike" dirty="0">
                          <a:effectLst/>
                        </a:rPr>
                        <a:t>光模块</a:t>
                      </a:r>
                      <a:r>
                        <a:rPr lang="en-US" altLang="zh-CN" sz="1100" u="none" strike="noStrike" dirty="0">
                          <a:effectLst/>
                        </a:rPr>
                        <a:t>/</a:t>
                      </a:r>
                      <a:r>
                        <a:rPr lang="zh-CN" altLang="en-US" sz="1100" u="none" strike="noStrike" dirty="0">
                          <a:effectLst/>
                        </a:rPr>
                        <a:t>组件供应商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u="none" strike="noStrike" dirty="0">
                          <a:effectLst/>
                        </a:rPr>
                        <a:t>​传统</a:t>
                      </a:r>
                      <a:r>
                        <a:rPr lang="en-US" altLang="zh-CN" sz="1100" u="none" strike="noStrike" dirty="0">
                          <a:effectLst/>
                        </a:rPr>
                        <a:t>OEM/</a:t>
                      </a:r>
                      <a:r>
                        <a:rPr lang="zh-CN" altLang="en-US" sz="1100" u="none" strike="noStrike" dirty="0">
                          <a:effectLst/>
                        </a:rPr>
                        <a:t>系统集成商​：</a:t>
                      </a:r>
                      <a:r>
                        <a:rPr lang="en-US" altLang="zh-CN" sz="1100" u="none" strike="noStrike" dirty="0">
                          <a:effectLst/>
                        </a:rPr>
                        <a:t>• ​</a:t>
                      </a:r>
                      <a:r>
                        <a:rPr lang="zh-CN" altLang="en-US" sz="1100" u="none" strike="noStrike" dirty="0">
                          <a:effectLst/>
                        </a:rPr>
                        <a:t>戴尔</a:t>
                      </a:r>
                      <a:r>
                        <a:rPr lang="en-US" altLang="zh-CN" sz="1100" u="none" strike="noStrike" dirty="0">
                          <a:effectLst/>
                        </a:rPr>
                        <a:t>(Dell)​</a:t>
                      </a:r>
                      <a:r>
                        <a:rPr lang="zh-CN" altLang="en-US" sz="1100" u="none" strike="noStrike" dirty="0">
                          <a:effectLst/>
                        </a:rPr>
                        <a:t>、慧与</a:t>
                      </a:r>
                      <a:r>
                        <a:rPr lang="en-US" altLang="zh-CN" sz="1100" u="none" strike="noStrike" dirty="0">
                          <a:effectLst/>
                        </a:rPr>
                        <a:t>(HPE)​​ - </a:t>
                      </a:r>
                      <a:r>
                        <a:rPr lang="zh-CN" altLang="en-US" sz="1100" u="none" strike="noStrike" dirty="0">
                          <a:effectLst/>
                        </a:rPr>
                        <a:t>销售英伟达整机系统</a:t>
                      </a:r>
                      <a:endParaRPr lang="en-US" altLang="zh-CN" sz="1100" u="none" strike="noStrike" dirty="0">
                        <a:effectLst/>
                      </a:endParaRPr>
                    </a:p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59226"/>
                  </a:ext>
                </a:extLst>
              </a:tr>
            </a:tbl>
          </a:graphicData>
        </a:graphic>
      </p:graphicFrame>
      <p:sp>
        <p:nvSpPr>
          <p:cNvPr id="117" name="文本框 116">
            <a:extLst>
              <a:ext uri="{FF2B5EF4-FFF2-40B4-BE49-F238E27FC236}">
                <a16:creationId xmlns:a16="http://schemas.microsoft.com/office/drawing/2014/main" id="{0B537D4F-DA45-4DAC-671B-CB871440142D}"/>
              </a:ext>
            </a:extLst>
          </p:cNvPr>
          <p:cNvSpPr txBox="1"/>
          <p:nvPr/>
        </p:nvSpPr>
        <p:spPr>
          <a:xfrm>
            <a:off x="6455356" y="1348712"/>
            <a:ext cx="60337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PingFang SC"/>
              </a:defRPr>
            </a:lvl1pPr>
          </a:lstStyle>
          <a:p>
            <a:r>
              <a:rPr lang="zh-CN" altLang="en-US" dirty="0"/>
              <a:t>博通 </a:t>
            </a:r>
            <a:r>
              <a:rPr lang="en-US" altLang="zh-CN" dirty="0"/>
              <a:t>CPO</a:t>
            </a:r>
            <a:r>
              <a:rPr lang="zh-CN" altLang="en-US" dirty="0"/>
              <a:t>技术完全基于以太网标准，英伟达主推</a:t>
            </a:r>
            <a:r>
              <a:rPr lang="en-US" altLang="zh-CN" dirty="0" err="1"/>
              <a:t>Infiniband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579F27-4C15-6213-A0CA-FDAFF7985B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231" y="2797851"/>
            <a:ext cx="5129703" cy="257889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DE8E5F4-4EE8-9A5F-3E69-44ED8712D963}"/>
              </a:ext>
            </a:extLst>
          </p:cNvPr>
          <p:cNvSpPr txBox="1"/>
          <p:nvPr/>
        </p:nvSpPr>
        <p:spPr>
          <a:xfrm>
            <a:off x="241887" y="1344696"/>
            <a:ext cx="56255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短期：</a:t>
            </a:r>
            <a:r>
              <a:rPr lang="en-US" altLang="zh-CN" sz="1600" dirty="0" err="1">
                <a:solidFill>
                  <a:srgbClr val="000000"/>
                </a:solidFill>
                <a:latin typeface="PingFang SC"/>
              </a:rPr>
              <a:t>NVLink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因技术成熟度占据主导（尤其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NVIDIA 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生态）</a:t>
            </a:r>
            <a:endParaRPr lang="en-US" altLang="zh-CN" sz="1600" dirty="0">
              <a:solidFill>
                <a:srgbClr val="000000"/>
              </a:solidFill>
              <a:latin typeface="PingFang S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长期：以太网性能跟上，且凭借生态与运营优势，逐步扩大份额，预计本十年内将成为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Scale Up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的主流技术</a:t>
            </a:r>
            <a:endParaRPr lang="zh-CN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45CCD2-B452-D892-ADF3-DC3105355C12}"/>
              </a:ext>
            </a:extLst>
          </p:cNvPr>
          <p:cNvSpPr txBox="1"/>
          <p:nvPr/>
        </p:nvSpPr>
        <p:spPr>
          <a:xfrm>
            <a:off x="6455356" y="1780935"/>
            <a:ext cx="55273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PingFang SC"/>
              </a:defRPr>
            </a:lvl1pPr>
          </a:lstStyle>
          <a:p>
            <a:r>
              <a:rPr lang="en-US" altLang="zh-CN" dirty="0">
                <a:sym typeface="+mn-lt"/>
              </a:rPr>
              <a:t>AI</a:t>
            </a:r>
            <a:r>
              <a:rPr lang="zh-CN" altLang="en-US" dirty="0">
                <a:sym typeface="+mn-lt"/>
              </a:rPr>
              <a:t>大厂更偏好博通的开放以太网</a:t>
            </a:r>
            <a:r>
              <a:rPr lang="en-US" altLang="zh-CN" dirty="0">
                <a:sym typeface="+mn-lt"/>
              </a:rPr>
              <a:t>CPO</a:t>
            </a:r>
            <a:r>
              <a:rPr lang="zh-CN" altLang="en-US" dirty="0">
                <a:sym typeface="+mn-lt"/>
              </a:rPr>
              <a:t>方案，英伟达选择绑定传统</a:t>
            </a:r>
            <a:r>
              <a:rPr lang="en-US" altLang="zh-CN" dirty="0">
                <a:sym typeface="+mn-lt"/>
              </a:rPr>
              <a:t>OEM</a:t>
            </a:r>
            <a:r>
              <a:rPr lang="zh-CN" altLang="en-US" dirty="0">
                <a:sym typeface="+mn-lt"/>
              </a:rPr>
              <a:t>与特定新兴云厂商</a:t>
            </a:r>
          </a:p>
          <a:p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43173E-C33B-9235-02FB-70422E216FB8}"/>
              </a:ext>
            </a:extLst>
          </p:cNvPr>
          <p:cNvSpPr/>
          <p:nvPr/>
        </p:nvSpPr>
        <p:spPr>
          <a:xfrm>
            <a:off x="12489126" y="5110223"/>
            <a:ext cx="3207820" cy="13593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会有什么产业链上的后果</a:t>
            </a:r>
          </a:p>
        </p:txBody>
      </p:sp>
    </p:spTree>
    <p:extLst>
      <p:ext uri="{BB962C8B-B14F-4D97-AF65-F5344CB8AC3E}">
        <p14:creationId xmlns:p14="http://schemas.microsoft.com/office/powerpoint/2010/main" val="489190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22224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E3E93333-C2DA-51E9-F8F2-0D234A8DBA1C}"/>
              </a:ext>
            </a:extLst>
          </p:cNvPr>
          <p:cNvSpPr txBox="1"/>
          <p:nvPr/>
        </p:nvSpPr>
        <p:spPr>
          <a:xfrm>
            <a:off x="9418476" y="3763774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产能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</a:t>
            </a:r>
            <a:endParaRPr lang="en-US" altLang="zh-CN" sz="1200" dirty="0">
              <a:solidFill>
                <a:srgbClr val="000000"/>
              </a:solidFill>
              <a:cs typeface="+mn-ea"/>
              <a:sym typeface="+mn-lt"/>
            </a:endParaRPr>
          </a:p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产量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</a:t>
            </a:r>
            <a:endParaRPr lang="en-US" altLang="zh-CN" sz="1200" dirty="0">
              <a:solidFill>
                <a:srgbClr val="000000"/>
              </a:solidFill>
              <a:cs typeface="+mn-ea"/>
              <a:sym typeface="+mn-lt"/>
            </a:endParaRPr>
          </a:p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销量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：德国老牌光子装配测试龙头，中企收购卡位国产替代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291221" y="6542459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公司官网、深交所最新文件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EB19848-9D68-08F5-C2C7-2A996090D4E4}"/>
              </a:ext>
            </a:extLst>
          </p:cNvPr>
          <p:cNvGrpSpPr/>
          <p:nvPr/>
        </p:nvGrpSpPr>
        <p:grpSpPr>
          <a:xfrm>
            <a:off x="7429705" y="3769324"/>
            <a:ext cx="1733694" cy="727564"/>
            <a:chOff x="6959734" y="4207316"/>
            <a:chExt cx="1733694" cy="727564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5CBB0C1F-1419-39CB-99F8-FD1C008D0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A33FA5D-AF12-AEDE-BF2A-14A3F1F71718}"/>
                </a:ext>
              </a:extLst>
            </p:cNvPr>
            <p:cNvSpPr txBox="1"/>
            <p:nvPr/>
          </p:nvSpPr>
          <p:spPr>
            <a:xfrm>
              <a:off x="6959734" y="4657881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全球交付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1CC8B27-833B-CC11-9AAB-EB903FD5F1DA}"/>
                </a:ext>
              </a:extLst>
            </p:cNvPr>
            <p:cNvSpPr txBox="1"/>
            <p:nvPr/>
          </p:nvSpPr>
          <p:spPr>
            <a:xfrm>
              <a:off x="7817128" y="4341443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台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08F035B-C693-C9D2-0CDA-B424A364E561}"/>
              </a:ext>
            </a:extLst>
          </p:cNvPr>
          <p:cNvGrpSpPr/>
          <p:nvPr/>
        </p:nvGrpSpPr>
        <p:grpSpPr>
          <a:xfrm>
            <a:off x="6270295" y="3739181"/>
            <a:ext cx="1975459" cy="787851"/>
            <a:chOff x="9332675" y="4153814"/>
            <a:chExt cx="1975459" cy="787851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1AEC6F0E-3F2B-217A-F3AA-113E3102C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D79BFB2-DC58-1312-158C-251EE0EE6A26}"/>
                </a:ext>
              </a:extLst>
            </p:cNvPr>
            <p:cNvSpPr txBox="1"/>
            <p:nvPr/>
          </p:nvSpPr>
          <p:spPr>
            <a:xfrm>
              <a:off x="9332675" y="4664666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平均ASP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3F49F91-9576-C1A5-7026-ED1C6C5C66D4}"/>
                </a:ext>
              </a:extLst>
            </p:cNvPr>
            <p:cNvSpPr txBox="1"/>
            <p:nvPr/>
          </p:nvSpPr>
          <p:spPr>
            <a:xfrm>
              <a:off x="9878454" y="4346175"/>
              <a:ext cx="14296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235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万/台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D919944B-853D-E731-257B-222A179CF891}"/>
              </a:ext>
            </a:extLst>
          </p:cNvPr>
          <p:cNvSpPr txBox="1"/>
          <p:nvPr/>
        </p:nvSpPr>
        <p:spPr>
          <a:xfrm>
            <a:off x="10407292" y="5349824"/>
            <a:ext cx="1343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标准机硬件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长期委外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49936" y="799727"/>
            <a:ext cx="117833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市场地位：</a:t>
            </a:r>
            <a:r>
              <a:rPr lang="zh-CN" altLang="en-US" sz="16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全球极少数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能够为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以上硅光电子、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光模块提供</a:t>
            </a:r>
            <a:r>
              <a:rPr lang="zh-CN" altLang="en-US" sz="16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全自动封装耦合设备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的企业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前景：</a:t>
            </a:r>
            <a:r>
              <a:rPr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高精度封装能力的重要性在更重视光学的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时代会提升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3DA17BF-D6BA-66A2-06AF-C9AE7DFE0159}"/>
              </a:ext>
            </a:extLst>
          </p:cNvPr>
          <p:cNvSpPr txBox="1"/>
          <p:nvPr/>
        </p:nvSpPr>
        <p:spPr>
          <a:xfrm>
            <a:off x="6274160" y="3296273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低量高价，重交付，</a:t>
            </a: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产能利用率85%（销量&gt;产能，靠去库存发货，产能利用率大概率是交付节奏束缚）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8F36E1-E717-FEC7-FD69-6C33AF472ACB}"/>
              </a:ext>
            </a:extLst>
          </p:cNvPr>
          <p:cNvSpPr/>
          <p:nvPr/>
        </p:nvSpPr>
        <p:spPr>
          <a:xfrm>
            <a:off x="11188364" y="386977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7600D4-8EFC-4BEB-F372-2AC496A90423}"/>
              </a:ext>
            </a:extLst>
          </p:cNvPr>
          <p:cNvSpPr txBox="1"/>
          <p:nvPr/>
        </p:nvSpPr>
        <p:spPr>
          <a:xfrm>
            <a:off x="238261" y="1610833"/>
            <a:ext cx="57684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中企收购弥补国内技术空白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BDC90A3-7CAF-E5F6-70E3-C28E50B2F340}"/>
              </a:ext>
            </a:extLst>
          </p:cNvPr>
          <p:cNvGrpSpPr/>
          <p:nvPr/>
        </p:nvGrpSpPr>
        <p:grpSpPr>
          <a:xfrm>
            <a:off x="-26308" y="1967324"/>
            <a:ext cx="5948680" cy="1104923"/>
            <a:chOff x="27699" y="2598831"/>
            <a:chExt cx="5948680" cy="110492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95F44A2-C061-5D7D-8391-320D4C0B5020}"/>
                </a:ext>
              </a:extLst>
            </p:cNvPr>
            <p:cNvGrpSpPr/>
            <p:nvPr/>
          </p:nvGrpSpPr>
          <p:grpSpPr>
            <a:xfrm>
              <a:off x="27699" y="2598831"/>
              <a:ext cx="5948680" cy="684606"/>
              <a:chOff x="-21769" y="3068770"/>
              <a:chExt cx="5948680" cy="684606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0678657-096D-B78D-191E-F3A961E120A8}"/>
                  </a:ext>
                </a:extLst>
              </p:cNvPr>
              <p:cNvSpPr txBox="1"/>
              <p:nvPr/>
            </p:nvSpPr>
            <p:spPr>
              <a:xfrm>
                <a:off x="3379076" y="3073288"/>
                <a:ext cx="254783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被中国上市公司RoboTechnik以10.11亿</a:t>
                </a: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 RMB</a:t>
                </a:r>
                <a:r>
                  <a:rPr lang="en-US" altLang="zh-CN" sz="1400" dirty="0">
                    <a:solidFill>
                      <a:srgbClr val="000000"/>
                    </a:solidFill>
                    <a:cs typeface="+mn-ea"/>
                    <a:sym typeface="+mn-lt"/>
                  </a:rPr>
                  <a:t> 100%</a:t>
                </a:r>
                <a:r>
                  <a:rPr lang="zh-CN" altLang="en-US" sz="1400" dirty="0">
                    <a:solidFill>
                      <a:srgbClr val="000000"/>
                    </a:solidFill>
                    <a:cs typeface="+mn-ea"/>
                    <a:sym typeface="+mn-lt"/>
                  </a:rPr>
                  <a:t>收购</a:t>
                </a:r>
                <a:endPara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0B5CBD8-B142-509A-526A-B947849110E3}"/>
                  </a:ext>
                </a:extLst>
              </p:cNvPr>
              <p:cNvSpPr txBox="1"/>
              <p:nvPr/>
            </p:nvSpPr>
            <p:spPr>
              <a:xfrm>
                <a:off x="1685745" y="3068770"/>
                <a:ext cx="13962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获德国mic</a:t>
                </a: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 </a:t>
                </a: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seed轮投资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86D9C25-13C6-F2D7-5457-4E1AB9466572}"/>
                  </a:ext>
                </a:extLst>
              </p:cNvPr>
              <p:cNvSpPr txBox="1"/>
              <p:nvPr/>
            </p:nvSpPr>
            <p:spPr>
              <a:xfrm>
                <a:off x="-21769" y="3073404"/>
                <a:ext cx="22021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于德国成立</a:t>
                </a:r>
                <a:endPara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专用设备供应商</a:t>
                </a:r>
                <a:endPara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2733F027-A8A6-A925-8AD6-9E76BA7DC9A4}"/>
                  </a:ext>
                </a:extLst>
              </p:cNvPr>
              <p:cNvCxnSpPr/>
              <p:nvPr/>
            </p:nvCxnSpPr>
            <p:spPr>
              <a:xfrm>
                <a:off x="688894" y="3753376"/>
                <a:ext cx="49828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B5D8CDE-AE66-371A-E90F-DA8720FF0DEE}"/>
                </a:ext>
              </a:extLst>
            </p:cNvPr>
            <p:cNvGrpSpPr/>
            <p:nvPr/>
          </p:nvGrpSpPr>
          <p:grpSpPr>
            <a:xfrm>
              <a:off x="799791" y="3181688"/>
              <a:ext cx="754380" cy="508801"/>
              <a:chOff x="2380429" y="5497808"/>
              <a:chExt cx="754380" cy="508801"/>
            </a:xfrm>
          </p:grpSpPr>
          <p:sp>
            <p:nvSpPr>
              <p:cNvPr id="19" name="iconfont-1018-792472">
                <a:extLst>
                  <a:ext uri="{FF2B5EF4-FFF2-40B4-BE49-F238E27FC236}">
                    <a16:creationId xmlns:a16="http://schemas.microsoft.com/office/drawing/2014/main" id="{EA814B08-CD52-C99A-FC8F-44F9D9CF41C3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13A64F3-F6F8-C5E7-1730-DC0120AEDA39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2001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0F82009A-1C4D-7B9A-C8FC-7ED364E2601A}"/>
                </a:ext>
              </a:extLst>
            </p:cNvPr>
            <p:cNvGrpSpPr/>
            <p:nvPr/>
          </p:nvGrpSpPr>
          <p:grpSpPr>
            <a:xfrm>
              <a:off x="2079898" y="3180229"/>
              <a:ext cx="754380" cy="508801"/>
              <a:chOff x="2380429" y="5497808"/>
              <a:chExt cx="754380" cy="508801"/>
            </a:xfrm>
          </p:grpSpPr>
          <p:sp>
            <p:nvSpPr>
              <p:cNvPr id="23" name="iconfont-1018-792472">
                <a:extLst>
                  <a:ext uri="{FF2B5EF4-FFF2-40B4-BE49-F238E27FC236}">
                    <a16:creationId xmlns:a16="http://schemas.microsoft.com/office/drawing/2014/main" id="{519F1AE7-5299-0A4E-7D76-85AA281803A3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BD83B27-AFD4-55EA-5D0E-5F07B18765DA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2002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1114B66-5026-3686-F582-3B3346627BEE}"/>
                </a:ext>
              </a:extLst>
            </p:cNvPr>
            <p:cNvGrpSpPr/>
            <p:nvPr/>
          </p:nvGrpSpPr>
          <p:grpSpPr>
            <a:xfrm>
              <a:off x="4299663" y="3194953"/>
              <a:ext cx="754380" cy="508801"/>
              <a:chOff x="2380429" y="5497808"/>
              <a:chExt cx="754380" cy="508801"/>
            </a:xfrm>
          </p:grpSpPr>
          <p:sp>
            <p:nvSpPr>
              <p:cNvPr id="30" name="iconfont-1018-792472">
                <a:extLst>
                  <a:ext uri="{FF2B5EF4-FFF2-40B4-BE49-F238E27FC236}">
                    <a16:creationId xmlns:a16="http://schemas.microsoft.com/office/drawing/2014/main" id="{0BEE1C87-1BCF-4B35-4846-2AF0E32B8080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95C5602-CF13-CA75-F2EB-4D1EF5788514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2025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-1977" y="3623765"/>
            <a:ext cx="4395613" cy="2453028"/>
            <a:chOff x="1052162" y="4115937"/>
            <a:chExt cx="4395613" cy="245302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4115937"/>
              <a:ext cx="3690025" cy="2453028"/>
              <a:chOff x="923365" y="3978459"/>
              <a:chExt cx="3690025" cy="2453028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54454941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0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1594251" y="5046125"/>
                  <a:ext cx="102548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zh-CN" altLang="en-US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微组装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613395" y="3978459"/>
                <a:ext cx="299999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2023A </a:t>
                </a:r>
                <a:r>
                  <a:rPr kumimoji="0" lang="zh-CN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营收拆分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64" y="4679637"/>
              <a:ext cx="28777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测试设备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等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57A45E6-15A6-97FB-DE1D-2FCB5BB56D57}"/>
              </a:ext>
            </a:extLst>
          </p:cNvPr>
          <p:cNvGrpSpPr/>
          <p:nvPr/>
        </p:nvGrpSpPr>
        <p:grpSpPr>
          <a:xfrm>
            <a:off x="3106241" y="3433912"/>
            <a:ext cx="3124462" cy="1391828"/>
            <a:chOff x="3402950" y="3532009"/>
            <a:chExt cx="3124462" cy="1391828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39043B5-5736-EAAC-43D6-478C75A51656}"/>
                </a:ext>
              </a:extLst>
            </p:cNvPr>
            <p:cNvSpPr txBox="1"/>
            <p:nvPr/>
          </p:nvSpPr>
          <p:spPr>
            <a:xfrm>
              <a:off x="3402950" y="4547131"/>
              <a:ext cx="3124462" cy="376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475"/>
                </a:lnSpc>
                <a:spcAft>
                  <a:spcPts val="1125"/>
                </a:spcAft>
              </a:pP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测试</a:t>
              </a:r>
              <a:r>
                <a:rPr lang="en-US" altLang="zh-CN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清洁</a:t>
              </a:r>
              <a:r>
                <a:rPr lang="en-US" altLang="zh-CN" sz="1400" dirty="0">
                  <a:solidFill>
                    <a:srgbClr val="333333"/>
                  </a:solidFill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修复三合一设备</a:t>
              </a:r>
              <a:endParaRPr lang="zh-CN" altLang="en-US" sz="1400" b="0" i="0" dirty="0">
                <a:solidFill>
                  <a:srgbClr val="333333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6FDB0F42-0C94-1A8D-4A9A-2ED09947B9B1}"/>
                </a:ext>
              </a:extLst>
            </p:cNvPr>
            <p:cNvSpPr txBox="1"/>
            <p:nvPr/>
          </p:nvSpPr>
          <p:spPr>
            <a:xfrm>
              <a:off x="4457376" y="3532009"/>
              <a:ext cx="177849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硅光修复</a:t>
              </a:r>
              <a:r>
                <a:rPr lang="en-US" altLang="zh-CN" sz="1400" dirty="0">
                  <a:solidFill>
                    <a:srgbClr val="333333"/>
                  </a:solidFill>
                  <a:cs typeface="+mn-ea"/>
                  <a:sym typeface="+mn-lt"/>
                </a:rPr>
                <a:t>0-1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突破</a:t>
              </a:r>
              <a:endParaRPr lang="en-US" altLang="zh-CN" sz="1400" dirty="0">
                <a:solidFill>
                  <a:srgbClr val="333333"/>
                </a:solidFill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u="sng" dirty="0">
                  <a:solidFill>
                    <a:srgbClr val="333333"/>
                  </a:solidFill>
                  <a:cs typeface="+mn-ea"/>
                  <a:sym typeface="+mn-lt"/>
                </a:rPr>
                <a:t>台积电迫切想要但产能被英伟达包圆</a:t>
              </a:r>
              <a:endParaRPr lang="en-US" altLang="zh-CN" sz="1400" u="sng" dirty="0">
                <a:solidFill>
                  <a:srgbClr val="333333"/>
                </a:solidFill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2603556" y="5276780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2603556" y="4247623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35EB4309-6DB0-3A01-8B1B-2E4EEAEBD593}"/>
              </a:ext>
            </a:extLst>
          </p:cNvPr>
          <p:cNvGrpSpPr/>
          <p:nvPr/>
        </p:nvGrpSpPr>
        <p:grpSpPr>
          <a:xfrm>
            <a:off x="3104432" y="4925713"/>
            <a:ext cx="2805323" cy="1229926"/>
            <a:chOff x="3613696" y="3795302"/>
            <a:chExt cx="2805323" cy="1229926"/>
          </a:xfrm>
        </p:grpSpPr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F5E6549A-406A-1198-A9FE-001AA2FD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80668" y="3820493"/>
              <a:ext cx="794640" cy="838986"/>
            </a:xfrm>
            <a:prstGeom prst="rect">
              <a:avLst/>
            </a:prstGeom>
          </p:spPr>
        </p:pic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5BCA0442-1230-9A00-EB53-12F4962257B3}"/>
                </a:ext>
              </a:extLst>
            </p:cNvPr>
            <p:cNvSpPr txBox="1"/>
            <p:nvPr/>
          </p:nvSpPr>
          <p:spPr>
            <a:xfrm>
              <a:off x="3613696" y="4653523"/>
              <a:ext cx="2066744" cy="371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475"/>
                </a:lnSpc>
                <a:spcAft>
                  <a:spcPts val="1125"/>
                </a:spcAft>
              </a:pPr>
              <a:r>
                <a:rPr lang="en-US" altLang="zh-CN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ASSEMBLYLINE </a:t>
              </a: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系列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C449F9DE-04A3-C679-0A3E-51CD7E98111D}"/>
                </a:ext>
              </a:extLst>
            </p:cNvPr>
            <p:cNvSpPr txBox="1"/>
            <p:nvPr/>
          </p:nvSpPr>
          <p:spPr>
            <a:xfrm>
              <a:off x="4640526" y="3795302"/>
              <a:ext cx="177849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自动微光学组装</a:t>
              </a:r>
              <a:endPara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cs typeface="+mn-ea"/>
                  <a:sym typeface="+mn-lt"/>
                </a:rPr>
                <a:t>5nm</a:t>
              </a:r>
              <a:r>
                <a:rPr lang="zh-CN" altLang="en-US" sz="1400" dirty="0">
                  <a:cs typeface="+mn-ea"/>
                  <a:sym typeface="+mn-lt"/>
                </a:rPr>
                <a:t>精度光耦</a:t>
              </a:r>
              <a:endParaRPr lang="en-US" altLang="zh-CN" sz="1400" dirty="0"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cs typeface="+mn-ea"/>
                  <a:sym typeface="+mn-lt"/>
                </a:rPr>
                <a:t>精度</a:t>
              </a:r>
              <a:r>
                <a:rPr lang="en-US" altLang="zh-CN" sz="1400" dirty="0"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cs typeface="+mn-ea"/>
                  <a:sym typeface="+mn-lt"/>
                </a:rPr>
                <a:t>集成度全球领先</a:t>
              </a:r>
            </a:p>
          </p:txBody>
        </p:sp>
      </p:grp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8608" y="3866264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3239082" y="356842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2025.06</a:t>
            </a:r>
            <a:endParaRPr lang="zh-CN" altLang="en-US" sz="1400" dirty="0"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279378"/>
              </p:ext>
            </p:extLst>
          </p:nvPr>
        </p:nvGraphicFramePr>
        <p:xfrm>
          <a:off x="6458084" y="1974032"/>
          <a:ext cx="5129857" cy="1235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CDB7C8FB-2497-6267-B3E8-7C588F7D8706}"/>
              </a:ext>
            </a:extLst>
          </p:cNvPr>
          <p:cNvSpPr txBox="1"/>
          <p:nvPr/>
        </p:nvSpPr>
        <p:spPr>
          <a:xfrm>
            <a:off x="6271284" y="1567676"/>
            <a:ext cx="5527016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盈利：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毛利超封测行业平均值（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~30% 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），亏损持续收窄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F30BF220-4359-8CC2-7E44-546FD86E08B1}"/>
              </a:ext>
            </a:extLst>
          </p:cNvPr>
          <p:cNvGrpSpPr/>
          <p:nvPr/>
        </p:nvGrpSpPr>
        <p:grpSpPr>
          <a:xfrm>
            <a:off x="10706523" y="3840556"/>
            <a:ext cx="1536288" cy="585101"/>
            <a:chOff x="10926477" y="4990752"/>
            <a:chExt cx="1536288" cy="58510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9ACACC4B-4082-0599-A9C3-506CC36B5034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6432E317-E7B9-701E-A911-28C5ABBBBE35}"/>
                </a:ext>
              </a:extLst>
            </p:cNvPr>
            <p:cNvSpPr txBox="1"/>
            <p:nvPr/>
          </p:nvSpPr>
          <p:spPr>
            <a:xfrm>
              <a:off x="10926477" y="5298854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产能利用率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8B1550BD-1D69-EC16-44B1-065FE1BB6B04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306CD657-DB77-3194-3368-C2D64FB788C4}"/>
              </a:ext>
            </a:extLst>
          </p:cNvPr>
          <p:cNvSpPr/>
          <p:nvPr/>
        </p:nvSpPr>
        <p:spPr>
          <a:xfrm rot="16200000">
            <a:off x="8903129" y="4062312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2" name="箭头: 右 101">
            <a:extLst>
              <a:ext uri="{FF2B5EF4-FFF2-40B4-BE49-F238E27FC236}">
                <a16:creationId xmlns:a16="http://schemas.microsoft.com/office/drawing/2014/main" id="{FC442DF0-BADE-8275-3AB9-49B2EB9FACCE}"/>
              </a:ext>
            </a:extLst>
          </p:cNvPr>
          <p:cNvSpPr/>
          <p:nvPr/>
        </p:nvSpPr>
        <p:spPr>
          <a:xfrm>
            <a:off x="10350154" y="4073447"/>
            <a:ext cx="269664" cy="119318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10AC663-CC66-FF6B-3712-A1AFCCA8DBAD}"/>
              </a:ext>
            </a:extLst>
          </p:cNvPr>
          <p:cNvSpPr txBox="1"/>
          <p:nvPr/>
        </p:nvSpPr>
        <p:spPr>
          <a:xfrm>
            <a:off x="6271284" y="4692291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上下游：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巨头客户占比大，供应商集中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6" name="圆角矩形 1636">
            <a:extLst>
              <a:ext uri="{FF2B5EF4-FFF2-40B4-BE49-F238E27FC236}">
                <a16:creationId xmlns:a16="http://schemas.microsoft.com/office/drawing/2014/main" id="{083FE0B3-A52B-9965-A9F0-9A5055540272}"/>
              </a:ext>
            </a:extLst>
          </p:cNvPr>
          <p:cNvSpPr/>
          <p:nvPr/>
        </p:nvSpPr>
        <p:spPr>
          <a:xfrm>
            <a:off x="238261" y="1473290"/>
            <a:ext cx="5712301" cy="4992746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0763911-E411-2B21-6E2A-8FB9F5CBF7F9}"/>
              </a:ext>
            </a:extLst>
          </p:cNvPr>
          <p:cNvSpPr txBox="1"/>
          <p:nvPr/>
        </p:nvSpPr>
        <p:spPr>
          <a:xfrm>
            <a:off x="291221" y="3203909"/>
            <a:ext cx="9097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光电器件微组装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+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自动化测试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垄断地位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9" name="圆角矩形 1636">
            <a:extLst>
              <a:ext uri="{FF2B5EF4-FFF2-40B4-BE49-F238E27FC236}">
                <a16:creationId xmlns:a16="http://schemas.microsoft.com/office/drawing/2014/main" id="{AD0371B0-D2D6-0324-BB5A-277C944BF757}"/>
              </a:ext>
            </a:extLst>
          </p:cNvPr>
          <p:cNvSpPr/>
          <p:nvPr/>
        </p:nvSpPr>
        <p:spPr>
          <a:xfrm>
            <a:off x="6130599" y="1473290"/>
            <a:ext cx="5712301" cy="4992746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00BD308-531F-5D9B-D859-6BBCD44F85F2}"/>
              </a:ext>
            </a:extLst>
          </p:cNvPr>
          <p:cNvSpPr txBox="1"/>
          <p:nvPr/>
        </p:nvSpPr>
        <p:spPr>
          <a:xfrm>
            <a:off x="6297675" y="1782548"/>
            <a:ext cx="1429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cs typeface="+mn-ea"/>
                <a:sym typeface="+mn-lt"/>
              </a:rPr>
              <a:t>亿美元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F6E869D7-9532-DA1C-EE6B-46E52FFD3DF7}"/>
              </a:ext>
            </a:extLst>
          </p:cNvPr>
          <p:cNvGrpSpPr/>
          <p:nvPr/>
        </p:nvGrpSpPr>
        <p:grpSpPr>
          <a:xfrm>
            <a:off x="5844455" y="502335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C62B12CD-DEA7-D4E4-84A2-81C21616FD1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00961070"/>
                </p:ext>
              </p:extLst>
            </p:nvPr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0208D120-F248-D8FE-B872-D1C9ACC1571F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EEC84D2-0E0F-BC65-9770-3EB1A8687544}"/>
              </a:ext>
            </a:extLst>
          </p:cNvPr>
          <p:cNvSpPr txBox="1"/>
          <p:nvPr/>
        </p:nvSpPr>
        <p:spPr>
          <a:xfrm>
            <a:off x="6561747" y="4946889"/>
            <a:ext cx="13877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客户占比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2A01A2D0-1BA7-691B-2D62-0DE10A07590E}"/>
              </a:ext>
            </a:extLst>
          </p:cNvPr>
          <p:cNvSpPr/>
          <p:nvPr/>
        </p:nvSpPr>
        <p:spPr>
          <a:xfrm>
            <a:off x="7652532" y="541428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711EB7-779D-687C-2D46-ACC9EBC20E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6330" y="569354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CCC31D5B-5C11-3CCA-5F1F-B960072E2B8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6483" y="567062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505F9A0-8D42-91F8-00F6-D04A26784C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65972" y="527245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7E52CD9D-56D1-36B2-1406-1B685F9A0A4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8343" y="527950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2E31E35-034B-9EC4-2D14-AA717B9E047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96554" y="601282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34375ADA-0D9F-CA4A-2A46-8FBBB873A1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1643370"/>
              </p:ext>
            </p:extLst>
          </p:nvPr>
        </p:nvGraphicFramePr>
        <p:xfrm>
          <a:off x="8524091" y="501289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9FA1ED81-34B6-8BDF-ED5A-0DF9E89CBF5B}"/>
              </a:ext>
            </a:extLst>
          </p:cNvPr>
          <p:cNvSpPr txBox="1"/>
          <p:nvPr/>
        </p:nvSpPr>
        <p:spPr>
          <a:xfrm>
            <a:off x="9317262" y="4957447"/>
            <a:ext cx="13877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供应商占比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48045EE-3F8C-A4F8-0B54-F9AE0FBB3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743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1BFB9DB-E3DF-4C8C-3B60-3D8B55BD316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8FC10A-6E48-BF6C-E338-E510C5B04ADC}"/>
              </a:ext>
            </a:extLst>
          </p:cNvPr>
          <p:cNvSpPr txBox="1"/>
          <p:nvPr/>
        </p:nvSpPr>
        <p:spPr>
          <a:xfrm>
            <a:off x="461963" y="1486366"/>
            <a:ext cx="936625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业务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核心产品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4DE523-707B-F6F1-6098-29369A44CF08}"/>
              </a:ext>
            </a:extLst>
          </p:cNvPr>
          <p:cNvSpPr txBox="1"/>
          <p:nvPr/>
        </p:nvSpPr>
        <p:spPr>
          <a:xfrm>
            <a:off x="461963" y="3850640"/>
            <a:ext cx="936625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核心优势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194B2D-9F90-B8AC-9359-DF7456CD05EC}"/>
              </a:ext>
            </a:extLst>
          </p:cNvPr>
          <p:cNvSpPr txBox="1"/>
          <p:nvPr/>
        </p:nvSpPr>
        <p:spPr>
          <a:xfrm>
            <a:off x="461963" y="4875698"/>
            <a:ext cx="936625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落地进展</a:t>
            </a: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42B7A158-75DD-349F-D01C-DE1C1004D9D3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3064033-D000-FE10-E7DE-5DC21087055C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2024.10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：过去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18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个月已小批量出货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15k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颗芯粒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：首批高量产客户（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加速卡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交换机）上机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1B8F5-D0BC-3FA4-D0DA-9ABACEB52E9C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芯粒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制造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5A6610-4812-1CF8-1C74-D7202344167B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硅光子单片集成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 </a:t>
            </a:r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标准化生态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技术被纳入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PCIe 6.0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标准，形成生态壁垒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D226C5-B38E-E0E7-1A77-1F5FA7951C5A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E774ABCF-B9C8-DEB5-E991-EFE99AFF9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5933F121-97EB-551B-9981-34C7F0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0B2241A-E239-5296-5E0C-6CA6D4B1BE28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F3C28AB-26FD-E807-11D4-16D3A5BFD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1A493E5D-976D-1969-CD52-F15156262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87C040F-25B6-0304-0507-B8FCC732CC6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453A26C-8BE4-EA01-9579-8E86CCDCF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A06B55FA-4D2C-EDAE-36C9-3C12F222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BB41C948-5BE5-98E3-AE9D-EFF7476EC14A}"/>
              </a:ext>
            </a:extLst>
          </p:cNvPr>
          <p:cNvSpPr txBox="1"/>
          <p:nvPr/>
        </p:nvSpPr>
        <p:spPr>
          <a:xfrm>
            <a:off x="461963" y="2724903"/>
            <a:ext cx="936625" cy="10088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估值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融资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740787D-1C41-228C-5546-E6DD974C01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9AF700F-B4A4-6E59-D887-E8164F4034F3}"/>
              </a:ext>
            </a:extLst>
          </p:cNvPr>
          <p:cNvSpPr txBox="1"/>
          <p:nvPr/>
        </p:nvSpPr>
        <p:spPr>
          <a:xfrm>
            <a:off x="2592388" y="1836401"/>
            <a:ext cx="1949450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512Gbps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I/O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带宽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功耗低至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419CFA3E-0A90-B5CC-D463-A5802821C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3267610"/>
            <a:ext cx="3081338" cy="3077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Intel Capital、Nvidia、AMD、GlobalFoundries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5E24262-AB4B-C86E-19A4-9CC7609326E8}"/>
              </a:ext>
            </a:extLst>
          </p:cNvPr>
          <p:cNvGrpSpPr/>
          <p:nvPr/>
        </p:nvGrpSpPr>
        <p:grpSpPr>
          <a:xfrm>
            <a:off x="1037636" y="2930962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9D56FF0-0966-1199-4264-B8CC4002FA50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2C58AC-E8A5-5485-3388-FC0E87A44BD1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E18C78DE-9EA7-95F6-75F6-C9402BD3D9AC}"/>
              </a:ext>
            </a:extLst>
          </p:cNvPr>
          <p:cNvSpPr txBox="1"/>
          <p:nvPr/>
        </p:nvSpPr>
        <p:spPr>
          <a:xfrm>
            <a:off x="1858374" y="2899841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12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D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$1.55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89C4BBC-1B9A-3768-0BDA-3C0DE94B5E01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量产之间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8987912-A982-02D0-2828-5A83FC0EF28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179DB382-7110-2064-3FD5-9E55A0AAECA0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64344FB6-DFC6-B58F-3334-A76CC6193946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468BC916-BDF7-630D-6A02-4D900E2E7FCC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9A26B94-4056-BC1F-E0A2-ABB627D795D3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公司宣称已与匿名头部制造商开始设计导入阶段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2025 H2开始送样、2026年后见到搭载产品、2027年量产爬坡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4AF2211-68D9-70E5-9D3A-F7A1FB0D215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系统级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方案，验证周期长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跨越控制/交换芯片、硅光芯片、封装热-机械协同等多个环节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5B80E58D-453E-F82F-6561-D8B2B87A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438" y="3379091"/>
            <a:ext cx="3624263" cy="3079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AMD Ventures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Samsung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A941743-B058-8529-42C0-C198AB8446FD}"/>
              </a:ext>
            </a:extLst>
          </p:cNvPr>
          <p:cNvSpPr txBox="1"/>
          <p:nvPr/>
        </p:nvSpPr>
        <p:spPr>
          <a:xfrm>
            <a:off x="5567363" y="2916966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$2.5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D676E2D-99E8-7C9A-0B6F-398D345A1656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验证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-&gt;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设计导入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早期送样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D829332-790A-E490-D346-C1A4CC61A474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8643D068-FE9C-2B31-B7A1-70D8909EB09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6A92FA1-6A3D-3E9A-217E-A6914A65D79D}"/>
              </a:ext>
            </a:extLst>
          </p:cNvPr>
          <p:cNvSpPr txBox="1"/>
          <p:nvPr/>
        </p:nvSpPr>
        <p:spPr>
          <a:xfrm>
            <a:off x="8661400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Passage中介层先行、与 OSAT/代工/SerDes伙伴协同推进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25年夏供货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；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2026 L200 CPO芯粒计划面向客户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611AC5F-5F3B-E82A-F692-B854476F64C1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zh-CN" altLang="zh-CN" dirty="0">
                <a:latin typeface="+mn-lt"/>
                <a:cs typeface="+mn-ea"/>
                <a:sym typeface="+mn-lt"/>
              </a:rPr>
              <a:t>兼容 Broadcom CPO 生态，链条成熟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zh-CN" altLang="zh-CN" dirty="0">
                <a:latin typeface="+mn-lt"/>
                <a:cs typeface="+mn-ea"/>
                <a:sym typeface="+mn-lt"/>
              </a:rPr>
              <a:t>封装层抽</a:t>
            </a:r>
            <a:r>
              <a:rPr lang="zh-CN" altLang="en-US" dirty="0">
                <a:latin typeface="+mn-lt"/>
                <a:cs typeface="+mn-ea"/>
                <a:sym typeface="+mn-lt"/>
              </a:rPr>
              <a:t>象</a:t>
            </a:r>
            <a:r>
              <a:rPr lang="zh-CN" altLang="zh-CN" dirty="0">
                <a:latin typeface="+mn-lt"/>
                <a:cs typeface="+mn-ea"/>
                <a:sym typeface="+mn-lt"/>
              </a:rPr>
              <a:t>成硬件，</a:t>
            </a:r>
            <a:r>
              <a:rPr lang="zh-CN" altLang="en-US" dirty="0">
                <a:latin typeface="+mn-lt"/>
                <a:cs typeface="+mn-ea"/>
                <a:sym typeface="+mn-lt"/>
              </a:rPr>
              <a:t>交付</a:t>
            </a:r>
            <a:r>
              <a:rPr lang="zh-CN" altLang="zh-CN" dirty="0">
                <a:latin typeface="+mn-lt"/>
                <a:cs typeface="+mn-ea"/>
                <a:sym typeface="+mn-lt"/>
              </a:rPr>
              <a:t>更可控</a:t>
            </a: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341B75F0-F07E-E3EF-11C6-EA414970A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438" y="3371204"/>
            <a:ext cx="3624263" cy="3079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Google Ventures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9E7D85C-02C0-7F73-1270-C01EB70788B2}"/>
              </a:ext>
            </a:extLst>
          </p:cNvPr>
          <p:cNvSpPr txBox="1"/>
          <p:nvPr/>
        </p:nvSpPr>
        <p:spPr>
          <a:xfrm>
            <a:off x="9174163" y="2923330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.10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D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2A83826-B3F1-624C-0729-DB811B97141E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验证 → 设计导入阶段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0469C01-E62F-C7FE-4E90-FCF2BFA040E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11EFAFA0-D9C9-C20C-4647-54BA0999893A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DA7873-203F-94DB-9669-2A442C0F4343}"/>
              </a:ext>
            </a:extLst>
          </p:cNvPr>
          <p:cNvSpPr txBox="1"/>
          <p:nvPr/>
        </p:nvSpPr>
        <p:spPr>
          <a:xfrm>
            <a:off x="1571625" y="2388822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TeraPHY芯粒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5EA0FD5-41DB-BB51-A835-19A4FB8372E4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</a:t>
            </a:r>
            <a:r>
              <a:rPr lang="zh-CN" altLang="zh-CN" dirty="0">
                <a:cs typeface="+mn-ea"/>
                <a:sym typeface="+mn-lt"/>
              </a:rPr>
              <a:t>cale</a:t>
            </a:r>
            <a:r>
              <a:rPr lang="en-US" altLang="zh-CN" dirty="0">
                <a:cs typeface="+mn-ea"/>
                <a:sym typeface="+mn-lt"/>
              </a:rPr>
              <a:t> U</a:t>
            </a:r>
            <a:r>
              <a:rPr lang="zh-CN" altLang="zh-CN" dirty="0">
                <a:cs typeface="+mn-ea"/>
                <a:sym typeface="+mn-lt"/>
              </a:rPr>
              <a:t>p光学</a:t>
            </a:r>
            <a:r>
              <a:rPr lang="zh-CN" altLang="zh-CN" u="sng" dirty="0">
                <a:cs typeface="+mn-ea"/>
                <a:sym typeface="+mn-lt"/>
              </a:rPr>
              <a:t>全栈</a:t>
            </a:r>
            <a:r>
              <a:rPr lang="zh-CN" altLang="en-US" dirty="0">
                <a:cs typeface="+mn-ea"/>
                <a:sym typeface="+mn-lt"/>
              </a:rPr>
              <a:t>供应</a:t>
            </a:r>
            <a:endParaRPr lang="zh-CN" altLang="zh-CN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22046B8-56DB-B1DE-F63D-EB7DDBE0B18D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卡间：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1531831-1D5B-F3AC-F72A-89CB663AF497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方案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556073A-01C0-DBC5-8B89-C9D4C5946C33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连接层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光学硬件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62BAB08-826A-EB9F-5F5B-D2AA9A949795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系列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7CE49E3B-AA16-B54A-2488-5DA1BC02F00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0317A9C-D233-0ECC-6C89-C86D1FC398AB}"/>
              </a:ext>
            </a:extLst>
          </p:cNvPr>
          <p:cNvGrpSpPr/>
          <p:nvPr/>
        </p:nvGrpSpPr>
        <p:grpSpPr>
          <a:xfrm>
            <a:off x="4649788" y="2893021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40F0C6F-6001-D662-0F30-93376921F213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EDFA2CFF-A692-CB23-28AD-ED488BB305F4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CE36DD8-20E0-8AFB-2FF8-5AE5493152DF}"/>
              </a:ext>
            </a:extLst>
          </p:cNvPr>
          <p:cNvGrpSpPr/>
          <p:nvPr/>
        </p:nvGrpSpPr>
        <p:grpSpPr>
          <a:xfrm>
            <a:off x="8215313" y="2839904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81E82B5-4E56-D670-69BD-78A21C96D3F0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EB4E003-929A-2EFF-2140-D552D89CE73D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E74D20E-4E5D-CEA7-1F06-A5BC86F9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0109CB79-72CC-E638-67C3-318EF815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64885C04-A843-E56C-F1A9-6074FEF3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50" y="1812402"/>
            <a:ext cx="1627188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可采购的中介层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自有硅光芯片 + 模块级封装方案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BC0FB846-1F99-DC19-E265-2614538284BB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核心初创对比：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AyarLabs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Celestial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3348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9AFA2C-107E-1D15-C507-81856CD320AF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636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博通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布局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ED49AF-BC4A-7485-F051-DB8ECFF48339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>
            <a:off x="11636373" y="3199913"/>
            <a:ext cx="305690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r>
              <a:rPr sz="1400"/>
              <a:t>终端用户</a:t>
            </a:r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34908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交换机芯片晶圆</a:t>
            </a:r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9001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电芯片晶圆</a:t>
            </a:r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116954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硅光芯片晶圆</a:t>
            </a:r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5137245" y="2551265"/>
            <a:ext cx="148373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交换机芯片+CPO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7348396" y="2551264"/>
            <a:ext cx="197586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 err="1"/>
              <a:t>交换机芯片+CPO+Lens</a:t>
            </a:r>
            <a:endParaRPr sz="1400" dirty="0"/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10172602" y="2557743"/>
            <a:ext cx="102047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CPO交换机</a:t>
            </a:r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635367" y="5189775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 err="1"/>
              <a:t>光源芯片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837163" y="5181946"/>
            <a:ext cx="115031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ELS光源模块</a:t>
            </a:r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5140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光缆</a:t>
            </a:r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1657"/>
            <a:ext cx="502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设计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1657"/>
            <a:ext cx="502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代工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5087926" y="1401657"/>
            <a:ext cx="91306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集成封装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7400043" y="1401657"/>
            <a:ext cx="1323437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光学组件耦合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716068" y="1401657"/>
            <a:ext cx="91306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成本拼装</a:t>
            </a:r>
            <a:endParaRPr sz="16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24B5294-E9FE-7F35-4441-A572C7F94852}"/>
              </a:ext>
            </a:extLst>
          </p:cNvPr>
          <p:cNvSpPr/>
          <p:nvPr/>
        </p:nvSpPr>
        <p:spPr>
          <a:xfrm>
            <a:off x="12443250" y="1661501"/>
            <a:ext cx="3207820" cy="43639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驱动力，争夺制定权，打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时间线，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前几代的情况可以放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给具体的动作，从新闻和动向看出其站位，比如出货量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机构给博通的判断确保方向不错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06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附录：产业和公司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144F7BF4-72B1-7488-8630-4693F68E0990}"/>
              </a:ext>
            </a:extLst>
          </p:cNvPr>
          <p:cNvSpPr/>
          <p:nvPr/>
        </p:nvSpPr>
        <p:spPr>
          <a:xfrm>
            <a:off x="-2397904" y="1010331"/>
            <a:ext cx="2081026" cy="719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为什么看那四家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C47217-AE45-D9DC-B66D-5FF91E2E5A6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6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7.58019215803000978582E+00&quot;&gt;&lt;m_msothmcolidx val=&quot;0&quot;/&gt;&lt;m_rgb r=&quot;00&quot; g=&quot;52&quot; b=&quot;D9&quot;/&gt;&lt;/elem&gt;&lt;elem m_fUsage=&quot;5.31441000000000163261E-01&quot;&gt;&lt;m_msothmcolidx val=&quot;0&quot;/&gt;&lt;m_rgb r=&quot;C1&quot; g=&quot;E1&quot; b=&quot;FE&quot;/&gt;&lt;/elem&gt;&lt;elem m_fUsage=&quot;3.87420489000000145552E-01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qm0vI1V49ST3h9Q7pCw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vHWTMhowxUONXR_hekN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hRW1xOBkvVqwAAFnWNk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oPQvrzd9YC8KfbLMrdH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nxdmp91xG5TXX7.jsvt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5ILBKezJ1c7qvroj_Yl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oLUs26IP2FZ9q1xYdvR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oIlM.sW33F1_2stjYc8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JzYEC.Sl_fndokAHD3Z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MHR9LOnyO0qZ8BEE1f0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2ydvwTDNnGhVswObjsFq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bP0TCfz8QT7cQyOnma6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MqL52dYY8TxLU9YY67Oi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doysm5N.Ur8DTLHFXbh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AyVTLvxVwnGtdPylDrH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F32_dXScAbrpEPSe0Hj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2CERrkVG7Wl8ybPDAFw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8241CGGGD9.0f6KL.QT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hFPjfi5NcaF8vWC7hsE0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fHUlm.9WQpq9ykvzoU.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2WKoKyPKMPXtVm.nY1S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rz3l7cKKg0tn90KREFv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8xCH4SHkXboASQFVlmg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tqzIg.th3zx3aFscxkPx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MkQAPiPbGcAAa00k_mk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vKWQ5ZpYs2ctt35ii5m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1U1ObGI9q0uyMaXGxzLr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5TAUPJ3yUSpYrKxt6Sn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8iD4zmtyNj2GQnDlLJ2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sJXSpmqrQfl061yP87g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Za8Zt0bzBflrHzWjrcn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I6FNYM6X9JV.Wj_RhQn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Od8jiZ7OT6aX.XpE8b2x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HUSbhpaB6BV.51sfOdY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BrwOo1YyavqqJ6S69y3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na7Po_JRBNLIuQ0RAU4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NaD6GXfqgBUYavcONmlY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0PJ3JmXrU4otm.PS_lj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59CMaail2CuxSzJEuFQo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2a79jlIREynphsjV_L9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J.bfsjJFgJFBnosCXld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6Ahexcul3x1.02a.Htsa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vNRFCnSsMFBtR2av2rX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ydANGGY0CYM8xJmlumc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R4u7OtvHDoAHTWd6mrT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79biq0PN128j_OTunEA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5ty79CieRekgxjVnIRLA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9DOt8naUP48FH0Qikme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a0BPHJx82cX3rpLknbk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xm8ZyDIweUFRe83hrKu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buQZ54bw6ea1sSoJPRu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R4u7OtvHDoAHTWd6mrT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79biq0PN128j_OTunEA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5ty79CieRekgxjVnIRLA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9DOt8naUP48FH0Qikme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a0BPHJx82cX3rpLknbk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xm8ZyDIweUFRe83hrKu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buQZ54bw6ea1sSoJPRu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25992</TotalTime>
  <Words>4647</Words>
  <Application>Microsoft Office PowerPoint</Application>
  <PresentationFormat>宽屏</PresentationFormat>
  <Paragraphs>884</Paragraphs>
  <Slides>23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PingFang SC</vt:lpstr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铜互连速率成为IDC算力释放瓶颈，光互连突破速率极限</vt:lpstr>
      <vt:lpstr>PowerPoint 演示文稿</vt:lpstr>
      <vt:lpstr>PowerPoint 演示文稿</vt:lpstr>
      <vt:lpstr>互连技术变革：铜互连、可插拔光模块、CPO、OIO</vt:lpstr>
      <vt:lpstr>光互连技术路径：可插拔仍为主流，巨头将商业落地 CPO，OIO初创处于技术验证期</vt:lpstr>
      <vt:lpstr>PowerPoint 演示文稿</vt:lpstr>
      <vt:lpstr>IDC互连按照距离可分为 Scale Up与 Scale Out</vt:lpstr>
      <vt:lpstr>国内受限于GPU带宽限制，CPO优先落地于Scale Up</vt:lpstr>
      <vt:lpstr>海外巨头并行布局 Scale Out与 Scale Up，CPO落地1-2年内看Scale Out</vt:lpstr>
      <vt:lpstr>PowerPoint 演示文稿</vt:lpstr>
      <vt:lpstr>互连技术范式变革带来新的市场机会</vt:lpstr>
      <vt:lpstr>CPO关键模块：硅光芯片、电光芯片、交换机芯片及封装</vt:lpstr>
      <vt:lpstr>产业链：集成交付环节、光电信号中枢优先关注</vt:lpstr>
      <vt:lpstr>产业链：集成交付环节、光电信号中枢优先关注</vt:lpstr>
      <vt:lpstr>博通：从芯片到设备率先全面布局CPO</vt:lpstr>
      <vt:lpstr>博通：押注以太网胜出，争夺网络规则制定权</vt:lpstr>
      <vt:lpstr>FiconTec：德国老牌光子装配测试龙头，中企收购卡位国产替代</vt:lpstr>
      <vt:lpstr>PowerPoint 演示文稿</vt:lpstr>
      <vt:lpstr>总结</vt:lpstr>
      <vt:lpstr>博通CPO布局</vt:lpstr>
      <vt:lpstr>附录：产业和公司Map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2544</cp:revision>
  <dcterms:created xsi:type="dcterms:W3CDTF">2025-06-16T21:28:33Z</dcterms:created>
  <dcterms:modified xsi:type="dcterms:W3CDTF">2025-09-02T07:27:16Z</dcterms:modified>
</cp:coreProperties>
</file>