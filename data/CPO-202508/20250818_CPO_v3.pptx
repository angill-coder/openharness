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3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319" r:id="rId3"/>
    <p:sldId id="321" r:id="rId4"/>
    <p:sldId id="317" r:id="rId5"/>
    <p:sldId id="314" r:id="rId6"/>
    <p:sldId id="320" r:id="rId7"/>
    <p:sldId id="313" r:id="rId8"/>
    <p:sldId id="326" r:id="rId9"/>
    <p:sldId id="315" r:id="rId10"/>
    <p:sldId id="325" r:id="rId11"/>
    <p:sldId id="316" r:id="rId12"/>
    <p:sldId id="323" r:id="rId13"/>
    <p:sldId id="324" r:id="rId14"/>
    <p:sldId id="322" r:id="rId15"/>
    <p:sldId id="283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19"/>
            <p14:sldId id="321"/>
            <p14:sldId id="317"/>
            <p14:sldId id="314"/>
            <p14:sldId id="320"/>
            <p14:sldId id="313"/>
            <p14:sldId id="326"/>
            <p14:sldId id="315"/>
            <p14:sldId id="325"/>
            <p14:sldId id="316"/>
            <p14:sldId id="323"/>
            <p14:sldId id="324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D9D9D9"/>
    <a:srgbClr val="FF7201"/>
    <a:srgbClr val="A6A6A6"/>
    <a:srgbClr val="DDE3F1"/>
    <a:srgbClr val="04647C"/>
    <a:srgbClr val="3776F5"/>
    <a:srgbClr val="0365C0"/>
    <a:srgbClr val="C1E1FE"/>
    <a:srgbClr val="DCD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93" autoAdjust="0"/>
    <p:restoredTop sz="86779" autoAdjust="0"/>
  </p:normalViewPr>
  <p:slideViewPr>
    <p:cSldViewPr snapToGrid="0">
      <p:cViewPr>
        <p:scale>
          <a:sx n="125" d="100"/>
          <a:sy n="125" d="100"/>
        </p:scale>
        <p:origin x="1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Sheet1!$M$2</c:f>
              <c:strCache>
                <c:ptCount val="1"/>
                <c:pt idx="0">
                  <c:v>单通道带宽（Gb/s）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Sheet1!$M$3:$M$6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lineChart>
        <c:grouping val="standard"/>
        <c:varyColors val="0"/>
        <c:ser>
          <c:idx val="0"/>
          <c:order val="1"/>
          <c:tx>
            <c:strRef>
              <c:f>Sheet1!$N$2</c:f>
              <c:strCache>
                <c:ptCount val="1"/>
                <c:pt idx="0">
                  <c:v>算力（TFLOPS，FP16）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Sheet1!$N$3:$N$6</c:f>
              <c:numCache>
                <c:formatCode>General</c:formatCode>
                <c:ptCount val="4"/>
                <c:pt idx="0">
                  <c:v>312</c:v>
                </c:pt>
                <c:pt idx="1">
                  <c:v>1000</c:v>
                </c:pt>
                <c:pt idx="2">
                  <c:v>1750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0973295"/>
        <c:axId val="2070979055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16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valAx>
        <c:axId val="2070979055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70973295"/>
        <c:crosses val="max"/>
        <c:crossBetween val="between"/>
      </c:valAx>
      <c:catAx>
        <c:axId val="20709732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709790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291828793774319E-2"/>
          <c:y val="0.20146137787056367"/>
          <c:w val="0.94941634241245132"/>
          <c:h val="0.5970772442588726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43841336116910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F99-467A-A68D-B4023C54391F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F99-467A-A68D-B4023C5439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99-467A-A68D-B4023C54391F}"/>
            </c:ext>
          </c:extLst>
        </c:ser>
        <c:ser>
          <c:idx val="1"/>
          <c:order val="1"/>
          <c:spPr>
            <a:solidFill>
              <a:schemeClr val="accent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43841336116910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F99-467A-A68D-B4023C54391F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F99-467A-A68D-B4023C5439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60</c:v>
                </c:pt>
                <c:pt idx="1">
                  <c:v>30.000000000000004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F99-467A-A68D-B4023C5439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5461951"/>
        <c:axId val="1"/>
      </c:barChart>
      <c:catAx>
        <c:axId val="16854619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54619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1140159767610751E-2"/>
          <c:y val="0.10699588477366255"/>
          <c:w val="0.88997821350762529"/>
          <c:h val="0.786008230452674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51-4CE8-BE1E-7F5F056E9E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4455631"/>
        <c:axId val="1"/>
      </c:barChart>
      <c:catAx>
        <c:axId val="1244556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4455631"/>
        <c:crosses val="min"/>
        <c:crossBetween val="between"/>
        <c:majorUnit val="2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98397669337218"/>
          <c:y val="0.21832579185520362"/>
          <c:w val="0.86707938820101971"/>
          <c:h val="0.5633484162895927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221719457013574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FF-45C7-A181-10CEFF6A673C}"/>
                </c:ext>
              </c:extLst>
            </c:dLbl>
            <c:dLbl>
              <c:idx val="1"/>
              <c:layout>
                <c:manualLayout>
                  <c:x val="0"/>
                  <c:y val="-0.1312217194570135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EFF-45C7-A181-10CEFF6A673C}"/>
                </c:ext>
              </c:extLst>
            </c:dLbl>
            <c:dLbl>
              <c:idx val="2"/>
              <c:layout>
                <c:manualLayout>
                  <c:x val="0"/>
                  <c:y val="-0.140271493212669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FF-45C7-A181-10CEFF6A673C}"/>
                </c:ext>
              </c:extLst>
            </c:dLbl>
            <c:dLbl>
              <c:idx val="3"/>
              <c:layout>
                <c:manualLayout>
                  <c:x val="0"/>
                  <c:y val="-0.15950226244343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EFF-45C7-A181-10CEFF6A673C}"/>
                </c:ext>
              </c:extLst>
            </c:dLbl>
            <c:dLbl>
              <c:idx val="4"/>
              <c:layout>
                <c:manualLayout>
                  <c:x val="0"/>
                  <c:y val="-0.1787330316742081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EFF-45C7-A181-10CEFF6A673C}"/>
                </c:ext>
              </c:extLst>
            </c:dLbl>
            <c:dLbl>
              <c:idx val="5"/>
              <c:layout>
                <c:manualLayout>
                  <c:x val="0"/>
                  <c:y val="-0.226244343891402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FEFF-45C7-A181-10CEFF6A673C}"/>
                </c:ext>
              </c:extLst>
            </c:dLbl>
            <c:dLbl>
              <c:idx val="6"/>
              <c:layout>
                <c:manualLayout>
                  <c:x val="0"/>
                  <c:y val="-0.3201357466063348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EFF-45C7-A181-10CEFF6A673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14</c:v>
                </c:pt>
                <c:pt idx="6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EFF-45C7-A181-10CEFF6A67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5276191"/>
        <c:axId val="1"/>
      </c:barChart>
      <c:catAx>
        <c:axId val="1685276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85276191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98397669337218"/>
          <c:y val="0.17561419472247497"/>
          <c:w val="0.86707938820101971"/>
          <c:h val="0.6487716105550500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466787989080982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B49-43BD-9B8F-7EE1528E651F}"/>
                </c:ext>
              </c:extLst>
            </c:dLbl>
            <c:dLbl>
              <c:idx val="1"/>
              <c:layout>
                <c:manualLayout>
                  <c:x val="0"/>
                  <c:y val="-0.2383985441310282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B49-43BD-9B8F-7EE1528E651F}"/>
                </c:ext>
              </c:extLst>
            </c:dLbl>
            <c:dLbl>
              <c:idx val="2"/>
              <c:layout>
                <c:manualLayout>
                  <c:x val="0"/>
                  <c:y val="-0.151046405823475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B49-43BD-9B8F-7EE1528E651F}"/>
                </c:ext>
              </c:extLst>
            </c:dLbl>
            <c:dLbl>
              <c:idx val="3"/>
              <c:layout>
                <c:manualLayout>
                  <c:x val="0"/>
                  <c:y val="-0.1301182893539581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B49-43BD-9B8F-7EE1528E651F}"/>
                </c:ext>
              </c:extLst>
            </c:dLbl>
            <c:dLbl>
              <c:idx val="4"/>
              <c:layout>
                <c:manualLayout>
                  <c:x val="0"/>
                  <c:y val="-0.107370336669699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B49-43BD-9B8F-7EE1528E651F}"/>
                </c:ext>
              </c:extLst>
            </c:dLbl>
            <c:dLbl>
              <c:idx val="5"/>
              <c:layout>
                <c:manualLayout>
                  <c:x val="0"/>
                  <c:y val="-0.107370336669699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B49-43BD-9B8F-7EE1528E651F}"/>
                </c:ext>
              </c:extLst>
            </c:dLbl>
            <c:dLbl>
              <c:idx val="6"/>
              <c:layout>
                <c:manualLayout>
                  <c:x val="0"/>
                  <c:y val="-9.736123748862601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EB49-43BD-9B8F-7EE1528E651F}"/>
                </c:ext>
              </c:extLst>
            </c:dLbl>
            <c:dLbl>
              <c:idx val="7"/>
              <c:layout>
                <c:manualLayout>
                  <c:x val="0"/>
                  <c:y val="-9.736123748862601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EB49-43BD-9B8F-7EE1528E65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Sheet1!$A$1:$H$1</c:f>
              <c:numCache>
                <c:formatCode>General</c:formatCode>
                <c:ptCount val="8"/>
                <c:pt idx="0">
                  <c:v>25</c:v>
                </c:pt>
                <c:pt idx="1">
                  <c:v>15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B49-43BD-9B8F-7EE1528E6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95634559"/>
        <c:axId val="1"/>
      </c:barChart>
      <c:catAx>
        <c:axId val="15956345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95634559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747742136406104E-2"/>
          <c:y val="0.20294426919032596"/>
          <c:w val="0.88632824665213328"/>
          <c:h val="0.5941114616193480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1BD-423D-8891-EDFD147C7076}"/>
              </c:ext>
            </c:extLst>
          </c:dPt>
          <c:dLbls>
            <c:dLbl>
              <c:idx val="1"/>
              <c:layout>
                <c:manualLayout>
                  <c:x val="0"/>
                  <c:y val="-0.100946372239747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1BD-423D-8891-EDFD147C7076}"/>
                </c:ext>
              </c:extLst>
            </c:dLbl>
            <c:dLbl>
              <c:idx val="2"/>
              <c:layout>
                <c:manualLayout>
                  <c:x val="0"/>
                  <c:y val="-0.1335436382754994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1BD-423D-8891-EDFD147C7076}"/>
                </c:ext>
              </c:extLst>
            </c:dLbl>
            <c:dLbl>
              <c:idx val="3"/>
              <c:layout>
                <c:manualLayout>
                  <c:x val="0"/>
                  <c:y val="-0.3375394321766561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1BD-423D-8891-EDFD147C707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0</c:v>
                </c:pt>
                <c:pt idx="1">
                  <c:v>2.9000000000000004</c:v>
                </c:pt>
                <c:pt idx="2">
                  <c:v>9.5</c:v>
                </c:pt>
                <c:pt idx="3">
                  <c:v>50.6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BD-423D-8891-EDFD147C7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195609280"/>
        <c:axId val="1"/>
      </c:barChart>
      <c:catAx>
        <c:axId val="11956092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95609280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307166220636337E-2"/>
          <c:y val="0.15477145148356056"/>
          <c:w val="0.79542075527802558"/>
          <c:h val="0.690457097032878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1E-4EF7-926E-3C11374B3389}"/>
                </c:ext>
              </c:extLst>
            </c:dLbl>
            <c:dLbl>
              <c:idx val="2"/>
              <c:layout>
                <c:manualLayout>
                  <c:x val="0"/>
                  <c:y val="-8.019246190858059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1E-4EF7-926E-3C11374B3389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1E-4EF7-926E-3C11374B3389}"/>
                </c:ext>
              </c:extLst>
            </c:dLbl>
            <c:dLbl>
              <c:idx val="4"/>
              <c:layout>
                <c:manualLayout>
                  <c:x val="0"/>
                  <c:y val="-8.019246190858059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1E-4EF7-926E-3C11374B3389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61E-4EF7-926E-3C11374B338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3.5</c:v>
                </c:pt>
                <c:pt idx="1">
                  <c:v>5.8</c:v>
                </c:pt>
                <c:pt idx="2">
                  <c:v>10.9</c:v>
                </c:pt>
                <c:pt idx="3">
                  <c:v>15.8</c:v>
                </c:pt>
                <c:pt idx="4">
                  <c:v>15.7</c:v>
                </c:pt>
                <c:pt idx="5">
                  <c:v>18.899999999999999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1E-4EF7-926E-3C11374B3389}"/>
            </c:ext>
          </c:extLst>
        </c:ser>
        <c:ser>
          <c:idx val="1"/>
          <c:order val="1"/>
          <c:spPr>
            <a:solidFill>
              <a:schemeClr val="accent6"/>
            </a:solidFill>
            <a:ln>
              <a:noFill/>
            </a:ln>
          </c:spPr>
          <c:invertIfNegative val="0"/>
          <c:val>
            <c:numRef>
              <c:f>Sheet1!$A$2:$F$2</c:f>
              <c:numCache>
                <c:formatCode>General</c:formatCode>
                <c:ptCount val="6"/>
                <c:pt idx="0">
                  <c:v>3.5</c:v>
                </c:pt>
                <c:pt idx="1">
                  <c:v>3.0000000000000009</c:v>
                </c:pt>
                <c:pt idx="2">
                  <c:v>2.9000000000000004</c:v>
                </c:pt>
                <c:pt idx="3">
                  <c:v>3.6999999999999993</c:v>
                </c:pt>
                <c:pt idx="4">
                  <c:v>2.5</c:v>
                </c:pt>
                <c:pt idx="5">
                  <c:v>2.1999999999999993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61E-4EF7-926E-3C11374B3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64876063"/>
        <c:axId val="1"/>
      </c:barChart>
      <c:lineChart>
        <c:grouping val="standard"/>
        <c:varyColors val="0"/>
        <c:ser>
          <c:idx val="2"/>
          <c:order val="2"/>
          <c:spPr>
            <a:ln w="28575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Sheet1!$A$3:$F$3</c:f>
              <c:numCache>
                <c:formatCode>General</c:formatCode>
                <c:ptCount val="6"/>
                <c:pt idx="0">
                  <c:v>50</c:v>
                </c:pt>
                <c:pt idx="1">
                  <c:v>65.909090909090907</c:v>
                </c:pt>
                <c:pt idx="2">
                  <c:v>78.985507246376812</c:v>
                </c:pt>
                <c:pt idx="3">
                  <c:v>81.025641025641022</c:v>
                </c:pt>
                <c:pt idx="4">
                  <c:v>86.263736263736263</c:v>
                </c:pt>
                <c:pt idx="5">
                  <c:v>89.573459715639814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61E-4EF7-926E-3C11374B3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2648760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64876063"/>
        <c:crosses val="min"/>
        <c:crossBetween val="between"/>
        <c:majorUnit val="1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ax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）以自身背景出发，也经历了从纯技术背景出身，过渡到偏商业分析的场景，也经历了不爱画</a:t>
            </a:r>
            <a:r>
              <a:rPr lang="en-US" altLang="zh-CN" dirty="0"/>
              <a:t>PPT </a:t>
            </a:r>
            <a:r>
              <a:rPr lang="zh-CN" altLang="en-US" dirty="0"/>
              <a:t>到 不讨厌画</a:t>
            </a:r>
            <a:r>
              <a:rPr lang="en-US" altLang="zh-CN" dirty="0"/>
              <a:t>PPT</a:t>
            </a:r>
            <a:r>
              <a:rPr lang="zh-CN" altLang="en-US" dirty="0"/>
              <a:t>的过程；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）讲好一个故事 </a:t>
            </a:r>
            <a:r>
              <a:rPr lang="en-US" altLang="zh-CN" dirty="0"/>
              <a:t>&amp; </a:t>
            </a:r>
            <a:r>
              <a:rPr lang="zh-CN" altLang="en-US" dirty="0"/>
              <a:t>以</a:t>
            </a:r>
            <a:r>
              <a:rPr lang="en-US" altLang="zh-CN" dirty="0"/>
              <a:t>PPT</a:t>
            </a:r>
            <a:r>
              <a:rPr lang="zh-CN" altLang="en-US" dirty="0"/>
              <a:t>的形式来呈现，是工作当中非常重要的技能；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7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3" Type="http://schemas.openxmlformats.org/officeDocument/2006/relationships/tags" Target="../tags/tag6.xml"/><Relationship Id="rId21" Type="http://schemas.openxmlformats.org/officeDocument/2006/relationships/tags" Target="../tags/tag24.xml"/><Relationship Id="rId34" Type="http://schemas.openxmlformats.org/officeDocument/2006/relationships/chart" Target="../charts/chart3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chart" Target="../charts/chart2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29" Type="http://schemas.openxmlformats.org/officeDocument/2006/relationships/oleObject" Target="../embeddings/oleObject3.bin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image" Target="../media/image8.png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notesSlide" Target="../notesSlides/notesSlide2.xml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31" Type="http://schemas.openxmlformats.org/officeDocument/2006/relationships/chart" Target="../charts/chart1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slideLayout" Target="../slideLayouts/slideLayout2.xml"/><Relationship Id="rId30" Type="http://schemas.openxmlformats.org/officeDocument/2006/relationships/image" Target="../media/image7.emf"/><Relationship Id="rId35" Type="http://schemas.openxmlformats.org/officeDocument/2006/relationships/image" Target="../media/image9.png"/><Relationship Id="rId8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oleObject" Target="../embeddings/oleObject4.bin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tags" Target="../tags/tag30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jpe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emf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30.png"/><Relationship Id="rId5" Type="http://schemas.openxmlformats.org/officeDocument/2006/relationships/image" Target="../media/image7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3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tags" Target="../tags/tag49.xml"/><Relationship Id="rId26" Type="http://schemas.openxmlformats.org/officeDocument/2006/relationships/tags" Target="../tags/tag57.xml"/><Relationship Id="rId3" Type="http://schemas.openxmlformats.org/officeDocument/2006/relationships/tags" Target="../tags/tag34.xml"/><Relationship Id="rId21" Type="http://schemas.openxmlformats.org/officeDocument/2006/relationships/tags" Target="../tags/tag52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5" Type="http://schemas.openxmlformats.org/officeDocument/2006/relationships/tags" Target="../tags/tag56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0" Type="http://schemas.openxmlformats.org/officeDocument/2006/relationships/tags" Target="../tags/tag51.xml"/><Relationship Id="rId29" Type="http://schemas.openxmlformats.org/officeDocument/2006/relationships/image" Target="../media/image7.emf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24" Type="http://schemas.openxmlformats.org/officeDocument/2006/relationships/tags" Target="../tags/tag55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23" Type="http://schemas.openxmlformats.org/officeDocument/2006/relationships/tags" Target="../tags/tag54.xml"/><Relationship Id="rId28" Type="http://schemas.openxmlformats.org/officeDocument/2006/relationships/oleObject" Target="../embeddings/oleObject6.bin"/><Relationship Id="rId10" Type="http://schemas.openxmlformats.org/officeDocument/2006/relationships/tags" Target="../tags/tag41.xml"/><Relationship Id="rId19" Type="http://schemas.openxmlformats.org/officeDocument/2006/relationships/tags" Target="../tags/tag50.xml"/><Relationship Id="rId31" Type="http://schemas.openxmlformats.org/officeDocument/2006/relationships/chart" Target="../charts/chart5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tags" Target="../tags/tag53.xml"/><Relationship Id="rId27" Type="http://schemas.openxmlformats.org/officeDocument/2006/relationships/slideLayout" Target="../slideLayouts/slideLayout2.xml"/><Relationship Id="rId30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oleObject" Target="../embeddings/oleObject7.bin"/><Relationship Id="rId7" Type="http://schemas.openxmlformats.org/officeDocument/2006/relationships/image" Target="../media/image35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6" Type="http://schemas.openxmlformats.org/officeDocument/2006/relationships/image" Target="../media/image12.png"/><Relationship Id="rId11" Type="http://schemas.openxmlformats.org/officeDocument/2006/relationships/image" Target="../media/image39.png"/><Relationship Id="rId5" Type="http://schemas.openxmlformats.org/officeDocument/2006/relationships/image" Target="../media/image11.png"/><Relationship Id="rId15" Type="http://schemas.openxmlformats.org/officeDocument/2006/relationships/image" Target="../media/image43.png"/><Relationship Id="rId10" Type="http://schemas.openxmlformats.org/officeDocument/2006/relationships/image" Target="../media/image38.jpeg"/><Relationship Id="rId4" Type="http://schemas.openxmlformats.org/officeDocument/2006/relationships/image" Target="../media/image7.emf"/><Relationship Id="rId9" Type="http://schemas.openxmlformats.org/officeDocument/2006/relationships/image" Target="../media/image37.png"/><Relationship Id="rId14" Type="http://schemas.openxmlformats.org/officeDocument/2006/relationships/image" Target="../media/image42.jpe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71.xml"/><Relationship Id="rId18" Type="http://schemas.openxmlformats.org/officeDocument/2006/relationships/tags" Target="../tags/tag76.xml"/><Relationship Id="rId26" Type="http://schemas.openxmlformats.org/officeDocument/2006/relationships/notesSlide" Target="../notesSlides/notesSlide4.xml"/><Relationship Id="rId3" Type="http://schemas.openxmlformats.org/officeDocument/2006/relationships/tags" Target="../tags/tag61.xml"/><Relationship Id="rId21" Type="http://schemas.openxmlformats.org/officeDocument/2006/relationships/tags" Target="../tags/tag79.xml"/><Relationship Id="rId34" Type="http://schemas.openxmlformats.org/officeDocument/2006/relationships/chart" Target="../charts/chart7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25" Type="http://schemas.openxmlformats.org/officeDocument/2006/relationships/slideLayout" Target="../slideLayouts/slideLayout2.xml"/><Relationship Id="rId33" Type="http://schemas.openxmlformats.org/officeDocument/2006/relationships/chart" Target="../charts/chart6.xml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20" Type="http://schemas.openxmlformats.org/officeDocument/2006/relationships/tags" Target="../tags/tag78.xml"/><Relationship Id="rId29" Type="http://schemas.openxmlformats.org/officeDocument/2006/relationships/image" Target="../media/image44.png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24" Type="http://schemas.openxmlformats.org/officeDocument/2006/relationships/tags" Target="../tags/tag82.xml"/><Relationship Id="rId32" Type="http://schemas.openxmlformats.org/officeDocument/2006/relationships/image" Target="../media/image47.svg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23" Type="http://schemas.openxmlformats.org/officeDocument/2006/relationships/tags" Target="../tags/tag81.xml"/><Relationship Id="rId28" Type="http://schemas.openxmlformats.org/officeDocument/2006/relationships/image" Target="../media/image7.emf"/><Relationship Id="rId10" Type="http://schemas.openxmlformats.org/officeDocument/2006/relationships/tags" Target="../tags/tag68.xml"/><Relationship Id="rId19" Type="http://schemas.openxmlformats.org/officeDocument/2006/relationships/tags" Target="../tags/tag77.xml"/><Relationship Id="rId31" Type="http://schemas.openxmlformats.org/officeDocument/2006/relationships/image" Target="../media/image46.png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Relationship Id="rId22" Type="http://schemas.openxmlformats.org/officeDocument/2006/relationships/tags" Target="../tags/tag80.xml"/><Relationship Id="rId27" Type="http://schemas.openxmlformats.org/officeDocument/2006/relationships/oleObject" Target="../embeddings/oleObject8.bin"/><Relationship Id="rId30" Type="http://schemas.openxmlformats.org/officeDocument/2006/relationships/image" Target="../media/image45.svg"/><Relationship Id="rId35" Type="http://schemas.openxmlformats.org/officeDocument/2006/relationships/image" Target="../media/image48.png"/><Relationship Id="rId8" Type="http://schemas.openxmlformats.org/officeDocument/2006/relationships/tags" Target="../tags/tag6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Relationship Id="rId5" Type="http://schemas.openxmlformats.org/officeDocument/2006/relationships/image" Target="../media/image49.jpeg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2.png"/><Relationship Id="rId39" Type="http://schemas.openxmlformats.org/officeDocument/2006/relationships/image" Target="../media/image84.png"/><Relationship Id="rId21" Type="http://schemas.openxmlformats.org/officeDocument/2006/relationships/image" Target="../media/image22.png"/><Relationship Id="rId34" Type="http://schemas.openxmlformats.org/officeDocument/2006/relationships/image" Target="../media/image79.png"/><Relationship Id="rId42" Type="http://schemas.openxmlformats.org/officeDocument/2006/relationships/image" Target="../media/image14.png"/><Relationship Id="rId47" Type="http://schemas.openxmlformats.org/officeDocument/2006/relationships/image" Target="../media/image91.png"/><Relationship Id="rId50" Type="http://schemas.openxmlformats.org/officeDocument/2006/relationships/image" Target="../media/image94.png"/><Relationship Id="rId55" Type="http://schemas.openxmlformats.org/officeDocument/2006/relationships/image" Target="../media/image99.png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3.png"/><Relationship Id="rId29" Type="http://schemas.openxmlformats.org/officeDocument/2006/relationships/image" Target="../media/image75.png"/><Relationship Id="rId11" Type="http://schemas.openxmlformats.org/officeDocument/2006/relationships/image" Target="../media/image58.png"/><Relationship Id="rId24" Type="http://schemas.openxmlformats.org/officeDocument/2006/relationships/image" Target="../media/image70.png"/><Relationship Id="rId32" Type="http://schemas.openxmlformats.org/officeDocument/2006/relationships/image" Target="../media/image77.png"/><Relationship Id="rId37" Type="http://schemas.openxmlformats.org/officeDocument/2006/relationships/image" Target="../media/image82.png"/><Relationship Id="rId40" Type="http://schemas.openxmlformats.org/officeDocument/2006/relationships/image" Target="../media/image85.png"/><Relationship Id="rId45" Type="http://schemas.openxmlformats.org/officeDocument/2006/relationships/image" Target="../media/image89.png"/><Relationship Id="rId53" Type="http://schemas.openxmlformats.org/officeDocument/2006/relationships/image" Target="../media/image97.png"/><Relationship Id="rId58" Type="http://schemas.openxmlformats.org/officeDocument/2006/relationships/image" Target="../media/image102.png"/><Relationship Id="rId5" Type="http://schemas.openxmlformats.org/officeDocument/2006/relationships/image" Target="../media/image53.png"/><Relationship Id="rId61" Type="http://schemas.openxmlformats.org/officeDocument/2006/relationships/image" Target="../media/image105.png"/><Relationship Id="rId19" Type="http://schemas.openxmlformats.org/officeDocument/2006/relationships/image" Target="../media/image66.png"/><Relationship Id="rId14" Type="http://schemas.openxmlformats.org/officeDocument/2006/relationships/image" Target="../media/image61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80.png"/><Relationship Id="rId43" Type="http://schemas.openxmlformats.org/officeDocument/2006/relationships/image" Target="../media/image87.png"/><Relationship Id="rId48" Type="http://schemas.openxmlformats.org/officeDocument/2006/relationships/image" Target="../media/image92.png"/><Relationship Id="rId56" Type="http://schemas.openxmlformats.org/officeDocument/2006/relationships/image" Target="../media/image100.png"/><Relationship Id="rId8" Type="http://schemas.openxmlformats.org/officeDocument/2006/relationships/image" Target="../media/image55.png"/><Relationship Id="rId51" Type="http://schemas.openxmlformats.org/officeDocument/2006/relationships/image" Target="../media/image95.png"/><Relationship Id="rId3" Type="http://schemas.openxmlformats.org/officeDocument/2006/relationships/oleObject" Target="../embeddings/oleObject11.bin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1.png"/><Relationship Id="rId33" Type="http://schemas.openxmlformats.org/officeDocument/2006/relationships/image" Target="../media/image78.png"/><Relationship Id="rId38" Type="http://schemas.openxmlformats.org/officeDocument/2006/relationships/image" Target="../media/image83.png"/><Relationship Id="rId46" Type="http://schemas.openxmlformats.org/officeDocument/2006/relationships/image" Target="../media/image90.png"/><Relationship Id="rId59" Type="http://schemas.openxmlformats.org/officeDocument/2006/relationships/image" Target="../media/image103.png"/><Relationship Id="rId20" Type="http://schemas.openxmlformats.org/officeDocument/2006/relationships/image" Target="../media/image67.png"/><Relationship Id="rId41" Type="http://schemas.openxmlformats.org/officeDocument/2006/relationships/image" Target="../media/image86.png"/><Relationship Id="rId54" Type="http://schemas.openxmlformats.org/officeDocument/2006/relationships/image" Target="../media/image98.png"/><Relationship Id="rId62" Type="http://schemas.openxmlformats.org/officeDocument/2006/relationships/image" Target="../media/image106.png"/><Relationship Id="rId1" Type="http://schemas.openxmlformats.org/officeDocument/2006/relationships/tags" Target="../tags/tag85.xml"/><Relationship Id="rId6" Type="http://schemas.openxmlformats.org/officeDocument/2006/relationships/image" Target="../media/image13.png"/><Relationship Id="rId15" Type="http://schemas.openxmlformats.org/officeDocument/2006/relationships/image" Target="../media/image62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36" Type="http://schemas.openxmlformats.org/officeDocument/2006/relationships/image" Target="../media/image81.png"/><Relationship Id="rId49" Type="http://schemas.openxmlformats.org/officeDocument/2006/relationships/image" Target="../media/image93.png"/><Relationship Id="rId57" Type="http://schemas.openxmlformats.org/officeDocument/2006/relationships/image" Target="../media/image101.png"/><Relationship Id="rId10" Type="http://schemas.openxmlformats.org/officeDocument/2006/relationships/image" Target="../media/image57.png"/><Relationship Id="rId31" Type="http://schemas.openxmlformats.org/officeDocument/2006/relationships/image" Target="../media/image25.png"/><Relationship Id="rId44" Type="http://schemas.openxmlformats.org/officeDocument/2006/relationships/image" Target="../media/image88.png"/><Relationship Id="rId52" Type="http://schemas.openxmlformats.org/officeDocument/2006/relationships/image" Target="../media/image96.png"/><Relationship Id="rId60" Type="http://schemas.openxmlformats.org/officeDocument/2006/relationships/image" Target="../media/image104.png"/><Relationship Id="rId4" Type="http://schemas.openxmlformats.org/officeDocument/2006/relationships/image" Target="../media/image10.emf"/><Relationship Id="rId9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1.png"/><Relationship Id="rId39" Type="http://schemas.openxmlformats.org/officeDocument/2006/relationships/image" Target="../media/image83.png"/><Relationship Id="rId21" Type="http://schemas.openxmlformats.org/officeDocument/2006/relationships/image" Target="../media/image67.png"/><Relationship Id="rId34" Type="http://schemas.openxmlformats.org/officeDocument/2006/relationships/image" Target="../media/image78.png"/><Relationship Id="rId42" Type="http://schemas.openxmlformats.org/officeDocument/2006/relationships/image" Target="../media/image86.png"/><Relationship Id="rId47" Type="http://schemas.openxmlformats.org/officeDocument/2006/relationships/image" Target="../media/image90.png"/><Relationship Id="rId50" Type="http://schemas.openxmlformats.org/officeDocument/2006/relationships/image" Target="../media/image93.png"/><Relationship Id="rId55" Type="http://schemas.openxmlformats.org/officeDocument/2006/relationships/image" Target="../media/image98.png"/><Relationship Id="rId63" Type="http://schemas.openxmlformats.org/officeDocument/2006/relationships/image" Target="../media/image106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2.png"/><Relationship Id="rId29" Type="http://schemas.openxmlformats.org/officeDocument/2006/relationships/image" Target="../media/image74.png"/><Relationship Id="rId11" Type="http://schemas.openxmlformats.org/officeDocument/2006/relationships/image" Target="../media/image57.png"/><Relationship Id="rId24" Type="http://schemas.openxmlformats.org/officeDocument/2006/relationships/image" Target="../media/image69.png"/><Relationship Id="rId32" Type="http://schemas.openxmlformats.org/officeDocument/2006/relationships/image" Target="../media/image25.png"/><Relationship Id="rId37" Type="http://schemas.openxmlformats.org/officeDocument/2006/relationships/image" Target="../media/image81.png"/><Relationship Id="rId40" Type="http://schemas.openxmlformats.org/officeDocument/2006/relationships/image" Target="../media/image84.png"/><Relationship Id="rId45" Type="http://schemas.openxmlformats.org/officeDocument/2006/relationships/image" Target="../media/image88.png"/><Relationship Id="rId53" Type="http://schemas.openxmlformats.org/officeDocument/2006/relationships/image" Target="../media/image96.png"/><Relationship Id="rId58" Type="http://schemas.openxmlformats.org/officeDocument/2006/relationships/image" Target="../media/image101.png"/><Relationship Id="rId5" Type="http://schemas.openxmlformats.org/officeDocument/2006/relationships/image" Target="../media/image108.png"/><Relationship Id="rId61" Type="http://schemas.openxmlformats.org/officeDocument/2006/relationships/image" Target="../media/image104.png"/><Relationship Id="rId19" Type="http://schemas.openxmlformats.org/officeDocument/2006/relationships/image" Target="../media/image65.png"/><Relationship Id="rId14" Type="http://schemas.openxmlformats.org/officeDocument/2006/relationships/image" Target="../media/image60.png"/><Relationship Id="rId22" Type="http://schemas.openxmlformats.org/officeDocument/2006/relationships/image" Target="../media/image22.png"/><Relationship Id="rId27" Type="http://schemas.openxmlformats.org/officeDocument/2006/relationships/image" Target="../media/image72.png"/><Relationship Id="rId30" Type="http://schemas.openxmlformats.org/officeDocument/2006/relationships/image" Target="../media/image75.png"/><Relationship Id="rId35" Type="http://schemas.openxmlformats.org/officeDocument/2006/relationships/image" Target="../media/image79.png"/><Relationship Id="rId43" Type="http://schemas.openxmlformats.org/officeDocument/2006/relationships/image" Target="../media/image14.png"/><Relationship Id="rId48" Type="http://schemas.openxmlformats.org/officeDocument/2006/relationships/image" Target="../media/image91.png"/><Relationship Id="rId56" Type="http://schemas.openxmlformats.org/officeDocument/2006/relationships/image" Target="../media/image99.png"/><Relationship Id="rId8" Type="http://schemas.openxmlformats.org/officeDocument/2006/relationships/image" Target="../media/image54.png"/><Relationship Id="rId51" Type="http://schemas.openxmlformats.org/officeDocument/2006/relationships/image" Target="../media/image94.png"/><Relationship Id="rId3" Type="http://schemas.openxmlformats.org/officeDocument/2006/relationships/oleObject" Target="../embeddings/oleObject12.bin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0.png"/><Relationship Id="rId33" Type="http://schemas.openxmlformats.org/officeDocument/2006/relationships/image" Target="../media/image77.png"/><Relationship Id="rId38" Type="http://schemas.openxmlformats.org/officeDocument/2006/relationships/image" Target="../media/image82.png"/><Relationship Id="rId46" Type="http://schemas.openxmlformats.org/officeDocument/2006/relationships/image" Target="../media/image89.png"/><Relationship Id="rId59" Type="http://schemas.openxmlformats.org/officeDocument/2006/relationships/image" Target="../media/image102.png"/><Relationship Id="rId20" Type="http://schemas.openxmlformats.org/officeDocument/2006/relationships/image" Target="../media/image66.png"/><Relationship Id="rId41" Type="http://schemas.openxmlformats.org/officeDocument/2006/relationships/image" Target="../media/image85.png"/><Relationship Id="rId54" Type="http://schemas.openxmlformats.org/officeDocument/2006/relationships/image" Target="../media/image97.png"/><Relationship Id="rId62" Type="http://schemas.openxmlformats.org/officeDocument/2006/relationships/image" Target="../media/image105.png"/><Relationship Id="rId1" Type="http://schemas.openxmlformats.org/officeDocument/2006/relationships/tags" Target="../tags/tag86.xml"/><Relationship Id="rId6" Type="http://schemas.openxmlformats.org/officeDocument/2006/relationships/image" Target="../media/image53.png"/><Relationship Id="rId15" Type="http://schemas.openxmlformats.org/officeDocument/2006/relationships/image" Target="../media/image61.png"/><Relationship Id="rId23" Type="http://schemas.openxmlformats.org/officeDocument/2006/relationships/image" Target="../media/image68.png"/><Relationship Id="rId28" Type="http://schemas.openxmlformats.org/officeDocument/2006/relationships/image" Target="../media/image73.png"/><Relationship Id="rId36" Type="http://schemas.openxmlformats.org/officeDocument/2006/relationships/image" Target="../media/image80.png"/><Relationship Id="rId49" Type="http://schemas.openxmlformats.org/officeDocument/2006/relationships/image" Target="../media/image92.png"/><Relationship Id="rId57" Type="http://schemas.openxmlformats.org/officeDocument/2006/relationships/image" Target="../media/image100.png"/><Relationship Id="rId10" Type="http://schemas.openxmlformats.org/officeDocument/2006/relationships/image" Target="../media/image56.png"/><Relationship Id="rId31" Type="http://schemas.openxmlformats.org/officeDocument/2006/relationships/image" Target="../media/image76.png"/><Relationship Id="rId44" Type="http://schemas.openxmlformats.org/officeDocument/2006/relationships/image" Target="../media/image87.png"/><Relationship Id="rId52" Type="http://schemas.openxmlformats.org/officeDocument/2006/relationships/image" Target="../media/image95.png"/><Relationship Id="rId60" Type="http://schemas.openxmlformats.org/officeDocument/2006/relationships/image" Target="../media/image103.png"/><Relationship Id="rId4" Type="http://schemas.openxmlformats.org/officeDocument/2006/relationships/image" Target="../media/image10.emf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32252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/>
              <a:t>2025/</a:t>
            </a:r>
            <a:r>
              <a:rPr lang="en-US" altLang="zh-CN" dirty="0"/>
              <a:t>08</a:t>
            </a:r>
            <a:endParaRPr lang="zh-CN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/>
              <a:t>CPO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5992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9" imgW="404" imgH="405" progId="TCLayout.ActiveDocument.1">
                  <p:embed/>
                </p:oleObj>
              </mc:Choice>
              <mc:Fallback>
                <p:oleObj name="think-cell 幻灯片" r:id="rId29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图表 169">
            <a:extLst>
              <a:ext uri="{FF2B5EF4-FFF2-40B4-BE49-F238E27FC236}">
                <a16:creationId xmlns:a16="http://schemas.microsoft.com/office/drawing/2014/main" id="{FD31AF14-B73B-A8E9-0FE7-F8D55AB2C1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562208"/>
              </p:ext>
            </p:extLst>
          </p:nvPr>
        </p:nvGraphicFramePr>
        <p:xfrm>
          <a:off x="908842" y="2700079"/>
          <a:ext cx="4444361" cy="3522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85" name="矩形 84">
            <a:extLst>
              <a:ext uri="{FF2B5EF4-FFF2-40B4-BE49-F238E27FC236}">
                <a16:creationId xmlns:a16="http://schemas.microsoft.com/office/drawing/2014/main" id="{FF1EFA6A-B5E2-37F1-2E1C-3E8A3409FD65}"/>
              </a:ext>
            </a:extLst>
          </p:cNvPr>
          <p:cNvSpPr/>
          <p:nvPr/>
        </p:nvSpPr>
        <p:spPr>
          <a:xfrm>
            <a:off x="1345949" y="4278581"/>
            <a:ext cx="3562602" cy="1366985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EFB85BF-305F-E33D-92EE-2DE82D3AE658}"/>
              </a:ext>
            </a:extLst>
          </p:cNvPr>
          <p:cNvSpPr/>
          <p:nvPr/>
        </p:nvSpPr>
        <p:spPr>
          <a:xfrm>
            <a:off x="3647440" y="3858793"/>
            <a:ext cx="816610" cy="404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ECB916C-5AEC-9474-D7DA-340428AA075F}"/>
              </a:ext>
            </a:extLst>
          </p:cNvPr>
          <p:cNvSpPr/>
          <p:nvPr/>
        </p:nvSpPr>
        <p:spPr>
          <a:xfrm>
            <a:off x="1365225" y="2896560"/>
            <a:ext cx="3543325" cy="1356678"/>
          </a:xfrm>
          <a:prstGeom prst="rect">
            <a:avLst/>
          </a:prstGeom>
          <a:solidFill>
            <a:srgbClr val="C1E1FE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0E03A28A-3F06-F45A-3EC7-F294C5E0102D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5215602" y="350012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52D9"/>
                </a:solidFill>
                <a:latin typeface="+mn-lt"/>
                <a:ea typeface="+mn-ea"/>
                <a:cs typeface="+mn-cs"/>
              </a:rPr>
              <a:t>光互连</a:t>
            </a:r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0C4BD4AD-4E1C-96ED-BBA8-99930409182F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412349" y="3436247"/>
            <a:ext cx="1231792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800" dirty="0">
                <a:latin typeface="+mn-lt"/>
                <a:ea typeface="+mn-ea"/>
                <a:cs typeface="+mn-cs"/>
              </a:rPr>
              <a:t>400-800Gbp/s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dirty="0"/>
              <a:t>可插拔光模块</a:t>
            </a:r>
            <a:endParaRPr lang="en-US" altLang="zh-CN" sz="1000" b="1" dirty="0"/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0BAE0DE9-4212-1ACF-B85A-227E056632B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412349" y="2749550"/>
            <a:ext cx="1231792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800" dirty="0">
                <a:latin typeface="+mn-lt"/>
                <a:ea typeface="+mn-ea"/>
                <a:cs typeface="+mn-cs"/>
              </a:rPr>
              <a:t>800-1600Gbp/s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CPO</a:t>
            </a: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CB616965-4BBA-BE5C-A44C-CB5B7EACF93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211773" y="479679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铜互连</a:t>
            </a: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2145DC05-4BE5-FDDC-6F47-6C6D47525797}"/>
              </a:ext>
            </a:extLst>
          </p:cNvPr>
          <p:cNvCxnSpPr>
            <a:cxnSpLocks/>
          </p:cNvCxnSpPr>
          <p:nvPr/>
        </p:nvCxnSpPr>
        <p:spPr>
          <a:xfrm>
            <a:off x="1446629" y="3189288"/>
            <a:ext cx="337948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C8D3D418-40A8-74BF-381B-3B8F9B2D8EA6}"/>
              </a:ext>
            </a:extLst>
          </p:cNvPr>
          <p:cNvCxnSpPr>
            <a:cxnSpLocks/>
          </p:cNvCxnSpPr>
          <p:nvPr/>
        </p:nvCxnSpPr>
        <p:spPr>
          <a:xfrm flipV="1">
            <a:off x="3632617" y="3782593"/>
            <a:ext cx="831433" cy="435251"/>
          </a:xfrm>
          <a:prstGeom prst="line">
            <a:avLst/>
          </a:prstGeom>
          <a:ln w="28575">
            <a:solidFill>
              <a:srgbClr val="3776F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3A8EF30C-01C4-5A4D-BA06-CA312802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光进铜退，光互连打破算力释放瓶颈并大幅降低</a:t>
            </a:r>
            <a:r>
              <a:rPr lang="en-US" altLang="zh-CN" dirty="0" err="1"/>
              <a:t>Opex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37E1BD-8AB9-CCEF-E6FA-328D12C1C0D2}"/>
              </a:ext>
            </a:extLst>
          </p:cNvPr>
          <p:cNvSpPr/>
          <p:nvPr/>
        </p:nvSpPr>
        <p:spPr>
          <a:xfrm>
            <a:off x="-3874111" y="1211262"/>
            <a:ext cx="3664561" cy="265518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铜到光的变化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 by 2 matrix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： 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横轴：时间轴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纵轴：算力 、 卡间互联速度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F76A16-6ACA-3FF8-EA47-440929F8F2E1}"/>
              </a:ext>
            </a:extLst>
          </p:cNvPr>
          <p:cNvSpPr/>
          <p:nvPr/>
        </p:nvSpPr>
        <p:spPr>
          <a:xfrm>
            <a:off x="-3874111" y="3995483"/>
            <a:ext cx="3664561" cy="58445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Call out box for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单通道速度 用铜的话，快达到极限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5168A3-66D3-32AB-59E5-E2A163F11CBD}"/>
              </a:ext>
            </a:extLst>
          </p:cNvPr>
          <p:cNvSpPr/>
          <p:nvPr/>
        </p:nvSpPr>
        <p:spPr>
          <a:xfrm>
            <a:off x="12216452" y="-634733"/>
            <a:ext cx="4112355" cy="265518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可插拔光模块到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的变化：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部件成本节省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+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Opex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功耗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EB054B-860C-6119-EE78-C9F49426F4CE}"/>
              </a:ext>
            </a:extLst>
          </p:cNvPr>
          <p:cNvSpPr/>
          <p:nvPr/>
        </p:nvSpPr>
        <p:spPr>
          <a:xfrm>
            <a:off x="12255653" y="2240421"/>
            <a:ext cx="1887478" cy="10442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目前找到的数据为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2022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年，只支持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AIDC 50-60%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的论断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593744" y="629373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zh-CN" altLang="zh-CN" sz="1200" dirty="0">
                <a:solidFill>
                  <a:schemeClr val="tx1">
                    <a:lumMod val="50000"/>
                  </a:schemeClr>
                </a:solidFill>
              </a:rPr>
              <a:t>阿里云专家访谈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：有效传输速率，指在给定距离内，保证误码率不超过可用临界值的稳定传输速率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2912538-B799-7D65-AD3E-B2E340B2B4FA}"/>
              </a:ext>
            </a:extLst>
          </p:cNvPr>
          <p:cNvSpPr txBox="1"/>
          <p:nvPr/>
        </p:nvSpPr>
        <p:spPr>
          <a:xfrm>
            <a:off x="593842" y="925513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铜</a:t>
            </a:r>
            <a:r>
              <a:rPr lang="zh-CN" altLang="en-US" sz="1600" b="1" dirty="0"/>
              <a:t>互连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光</a:t>
            </a:r>
            <a:r>
              <a:rPr lang="zh-CN" altLang="en-US" sz="1600" b="1" dirty="0"/>
              <a:t>互连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：突破传输速率极限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235EA0E-F6AA-1CB6-0B48-7FEF9AAE7D54}"/>
              </a:ext>
            </a:extLst>
          </p:cNvPr>
          <p:cNvSpPr txBox="1"/>
          <p:nvPr/>
        </p:nvSpPr>
        <p:spPr>
          <a:xfrm>
            <a:off x="526048" y="1098550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FCD2634-59DE-8F39-5610-C55A55AA4B9F}"/>
              </a:ext>
            </a:extLst>
          </p:cNvPr>
          <p:cNvSpPr txBox="1"/>
          <p:nvPr/>
        </p:nvSpPr>
        <p:spPr>
          <a:xfrm>
            <a:off x="535626" y="1185863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0A19E09-9315-06F8-B87B-C0BAB1F84086}"/>
              </a:ext>
            </a:extLst>
          </p:cNvPr>
          <p:cNvCxnSpPr>
            <a:cxnSpLocks/>
          </p:cNvCxnSpPr>
          <p:nvPr/>
        </p:nvCxnSpPr>
        <p:spPr>
          <a:xfrm>
            <a:off x="593842" y="123666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02389C66-484B-8D1E-7609-0B4CC52E2D90}"/>
              </a:ext>
            </a:extLst>
          </p:cNvPr>
          <p:cNvSpPr txBox="1"/>
          <p:nvPr/>
        </p:nvSpPr>
        <p:spPr>
          <a:xfrm>
            <a:off x="593842" y="1354138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即将触达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铜互连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有效</a:t>
            </a:r>
            <a:r>
              <a:rPr kumimoji="1" lang="zh-CN" altLang="zh-CN" sz="1600" b="1" dirty="0">
                <a:solidFill>
                  <a:schemeClr val="tx1">
                    <a:lumMod val="50000"/>
                  </a:schemeClr>
                </a:solidFill>
              </a:rPr>
              <a:t>传输速率</a:t>
            </a:r>
            <a:r>
              <a:rPr kumimoji="1" lang="en-US" altLang="zh-CN" sz="1600" b="1" baseline="300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极限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224Gbp/s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，光互连上限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400-800Gbp/s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可支持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扩充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A100 =&gt; B100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 算力增长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5.6x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，单通道带宽仅增长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，连接成为硬件能力释放瓶颈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830AB16E-C972-BBF8-D1C8-D71FAA3DEA7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273105" y="4913365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H100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0452812A-49EE-56BD-9B7F-70336DF81FC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408769" y="528296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A100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E705A99E-4D86-52C8-0AD9-E2E91CD08F0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3210469" y="431320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B100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8CCE80E4-31EE-417D-C895-F988DE7DBE3F}"/>
              </a:ext>
            </a:extLst>
          </p:cNvPr>
          <p:cNvSpPr txBox="1"/>
          <p:nvPr/>
        </p:nvSpPr>
        <p:spPr>
          <a:xfrm>
            <a:off x="6355333" y="920750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可插拔光模块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=&gt;CPO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显著降低功耗并降低</a:t>
            </a:r>
            <a:r>
              <a:rPr lang="en-US" altLang="zh-CN" sz="1600" b="1" dirty="0" err="1">
                <a:solidFill>
                  <a:schemeClr val="tx1">
                    <a:lumMod val="50000"/>
                  </a:schemeClr>
                </a:solidFill>
              </a:rPr>
              <a:t>Opex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41A9180C-80D1-3377-9D69-56C91B740D2B}"/>
              </a:ext>
            </a:extLst>
          </p:cNvPr>
          <p:cNvSpPr txBox="1"/>
          <p:nvPr/>
        </p:nvSpPr>
        <p:spPr>
          <a:xfrm>
            <a:off x="6293189" y="1098550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57ABF4B0-F1CD-A26C-6E97-9FDC7A0485CD}"/>
              </a:ext>
            </a:extLst>
          </p:cNvPr>
          <p:cNvSpPr txBox="1"/>
          <p:nvPr/>
        </p:nvSpPr>
        <p:spPr>
          <a:xfrm>
            <a:off x="6302767" y="1185863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80" name="直线连接符 38">
            <a:extLst>
              <a:ext uri="{FF2B5EF4-FFF2-40B4-BE49-F238E27FC236}">
                <a16:creationId xmlns:a16="http://schemas.microsoft.com/office/drawing/2014/main" id="{33AC93B9-61D7-CD01-23F1-C701BAD35A85}"/>
              </a:ext>
            </a:extLst>
          </p:cNvPr>
          <p:cNvCxnSpPr>
            <a:cxnSpLocks/>
          </p:cNvCxnSpPr>
          <p:nvPr/>
        </p:nvCxnSpPr>
        <p:spPr>
          <a:xfrm>
            <a:off x="6360983" y="123666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文本框 180">
            <a:extLst>
              <a:ext uri="{FF2B5EF4-FFF2-40B4-BE49-F238E27FC236}">
                <a16:creationId xmlns:a16="http://schemas.microsoft.com/office/drawing/2014/main" id="{D4656004-4D79-6CA0-4E54-C1C75A2F0891}"/>
              </a:ext>
            </a:extLst>
          </p:cNvPr>
          <p:cNvSpPr txBox="1"/>
          <p:nvPr/>
        </p:nvSpPr>
        <p:spPr>
          <a:xfrm>
            <a:off x="6360983" y="1354138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传统通算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O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pex中电费占比35-40%，而智算中心电费占比65-70%；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355333" y="3605627"/>
            <a:ext cx="5550916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方案：将光模块进一步缩小集成，可降低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~60%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单通道功耗，对应节约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xx AIDC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电费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42C12AA-9375-448D-AD60-8BB241436DB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6591300" y="4313238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单通道功耗（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w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）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8BABA9A-A629-A6C4-D09C-2400856429E6}"/>
              </a:ext>
            </a:extLst>
          </p:cNvPr>
          <p:cNvSpPr/>
          <p:nvPr/>
        </p:nvSpPr>
        <p:spPr>
          <a:xfrm>
            <a:off x="12241242" y="5593023"/>
            <a:ext cx="2511408" cy="129176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电费占比饼图，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transceiver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功耗占电费饼图，（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GTC2025 Rubin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功耗），成本拆分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296FA3-CE51-38FB-A7FC-D242807229AE}"/>
              </a:ext>
            </a:extLst>
          </p:cNvPr>
          <p:cNvSpPr/>
          <p:nvPr/>
        </p:nvSpPr>
        <p:spPr>
          <a:xfrm>
            <a:off x="12241242" y="3941027"/>
            <a:ext cx="4351308" cy="14867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>
                    <a:lumMod val="50000"/>
                  </a:schemeClr>
                </a:solidFill>
              </a:rPr>
              <a:t>Meta</a:t>
            </a:r>
            <a:r>
              <a:rPr lang="zh-CN" altLang="en-US" sz="1200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文章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明确指出封装内光互联和硅光子技术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是突破当前AI硬件带宽和能效瓶颈的关键方向，需通过硬件-软件-网络协同设计实现以下目标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带宽扩展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能效提升（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将通信能耗占比从当前的30%以上降至10%以内）、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大规模扩展性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（百万级GPU集群的低延迟全局连接）的目标。</a:t>
            </a:r>
            <a:endParaRPr lang="zh-CN" altLang="zh-CN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669F4FF-8E69-30B4-5EFA-FE13E9DCE8F6}"/>
              </a:ext>
            </a:extLst>
          </p:cNvPr>
          <p:cNvSpPr/>
          <p:nvPr/>
        </p:nvSpPr>
        <p:spPr>
          <a:xfrm>
            <a:off x="-3719737" y="5969827"/>
            <a:ext cx="3664561" cy="58445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算力增长不均衡有宏观报告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EFF4A1E8-97EA-6C71-4457-B4D250BF3135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272629" y="2074593"/>
            <a:ext cx="2160511" cy="1352053"/>
          </a:xfrm>
          <a:prstGeom prst="rect">
            <a:avLst/>
          </a:prstGeom>
        </p:spPr>
      </p:pic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30DEE2F1-B360-42AD-7974-1C7DE681E056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 flipV="1">
            <a:off x="8828088" y="2513013"/>
            <a:ext cx="687388" cy="271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70" name="Chart 3">
            <a:extLst>
              <a:ext uri="{FF2B5EF4-FFF2-40B4-BE49-F238E27FC236}">
                <a16:creationId xmlns:a16="http://schemas.microsoft.com/office/drawing/2014/main" id="{2CBE6C48-A822-284E-2FE2-A32D797443B3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275760471"/>
              </p:ext>
            </p:extLst>
          </p:nvPr>
        </p:nvGraphicFramePr>
        <p:xfrm>
          <a:off x="7540625" y="1933575"/>
          <a:ext cx="3263900" cy="1520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57DEA29-69C9-3227-F981-E9AF681903CB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8059738" y="3206750"/>
            <a:ext cx="674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13621E3-1431-44B2-8A7C-85FC0172AD7D}" type="datetime'传''''''统I''''''''''''''D''''''C'''''''''''''''''''''''">
              <a:rPr lang="zh-CN" altLang="en-US" sz="1400" smtClean="0">
                <a:cs typeface="+mn-cs"/>
              </a:rPr>
              <a:pPr/>
              <a:t>传统IDC</a:t>
            </a:fld>
            <a:endParaRPr lang="zh-CN" altLang="en-US" sz="1400" dirty="0">
              <a:cs typeface="+mn-cs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A087442A-F585-1C3B-3BA7-1351B01D1084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9726613" y="3206750"/>
            <a:ext cx="4381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1FDB5359-8672-4B0A-B32E-3C60B64948EE}" type="datetime'''''AI''''''''''D''''''''''''C'''''''''''''">
              <a:rPr lang="en-US" altLang="en-US" sz="1400" smtClean="0">
                <a:cs typeface="+mn-cs"/>
              </a:rPr>
              <a:pPr/>
              <a:t>AIDC</a:t>
            </a:fld>
            <a:endParaRPr lang="zh-CN" altLang="en-US" sz="1400" dirty="0">
              <a:cs typeface="+mn-cs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E11775AD-5E85-EB55-81D2-F731D8212242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7467600" y="2405063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7B0FCD70-F18B-4D1C-BDF8-A5C530345B39}" type="datetime'其''''''''''''''''''他'''''''''''''''''''''''''''''''">
              <a:rPr lang="zh-CN" altLang="en-US" sz="1400" smtClean="0">
                <a:cs typeface="+mn-cs"/>
              </a:rPr>
              <a:pPr/>
              <a:t>其他</a:t>
            </a:fld>
            <a:endParaRPr lang="zh-CN" altLang="en-US" sz="1400" dirty="0">
              <a:cs typeface="+mn-cs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2BDAC27-D752-D4B0-437A-93AD49C0A359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67600" y="2859088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C931152-9BB7-450D-9CC8-02AD5DB4329A}" type="datetime'''''''''''''电''''''''''''''''''''''''''''''''''''''''''费'''''">
              <a:rPr lang="zh-CN" altLang="en-US" sz="1400" smtClean="0">
                <a:cs typeface="+mn-cs"/>
              </a:rPr>
              <a:pPr/>
              <a:t>电费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EBFD7C1-5585-51B0-02E2-7E49EC84C264}"/>
              </a:ext>
            </a:extLst>
          </p:cNvPr>
          <p:cNvSpPr txBox="1"/>
          <p:nvPr/>
        </p:nvSpPr>
        <p:spPr>
          <a:xfrm>
            <a:off x="6610511" y="1924494"/>
            <a:ext cx="5040559" cy="2524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数据中心电费占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Opex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比</a:t>
            </a:r>
          </a:p>
        </p:txBody>
      </p:sp>
      <p:graphicFrame>
        <p:nvGraphicFramePr>
          <p:cNvPr id="368" name="Chart 3">
            <a:extLst>
              <a:ext uri="{FF2B5EF4-FFF2-40B4-BE49-F238E27FC236}">
                <a16:creationId xmlns:a16="http://schemas.microsoft.com/office/drawing/2014/main" id="{41117AB1-CC98-A302-11C0-31F0905F8F6D}"/>
              </a:ext>
            </a:extLst>
          </p:cNvPr>
          <p:cNvGraphicFramePr/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671967633"/>
              </p:ext>
            </p:extLst>
          </p:nvPr>
        </p:nvGraphicFramePr>
        <p:xfrm>
          <a:off x="6835775" y="4541838"/>
          <a:ext cx="4371975" cy="1928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cxnSp>
        <p:nvCxnSpPr>
          <p:cNvPr id="269" name="直接连接符 268">
            <a:extLst>
              <a:ext uri="{FF2B5EF4-FFF2-40B4-BE49-F238E27FC236}">
                <a16:creationId xmlns:a16="http://schemas.microsoft.com/office/drawing/2014/main" id="{C108E948-70E2-F4FC-12B5-C72C81F60C47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 flipV="1">
            <a:off x="9178925" y="4805363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F6578B86-2335-88C4-B9C8-631C4C8F9A79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9178925" y="4805363"/>
            <a:ext cx="12969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10475913" y="4805363"/>
            <a:ext cx="0" cy="9667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7729538" y="5778500"/>
            <a:ext cx="306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</a:rPr>
              <a:t>3-5</a:t>
            </a:r>
            <a:endParaRPr lang="zh-CN" altLang="en-US" sz="14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7786688" y="6323013"/>
            <a:ext cx="190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2D55D17-8FFB-46F4-A7BF-C2EF9B990784}" type="datetime'''''铜'''''''''">
              <a:rPr lang="zh-CN" altLang="en-US" sz="1400" smtClean="0">
                <a:cs typeface="+mn-cs"/>
              </a:rPr>
              <a:pPr/>
              <a:t>铜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9026525" y="5541963"/>
            <a:ext cx="306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</a:rPr>
              <a:t>5-8</a:t>
            </a:r>
            <a:endParaRPr lang="zh-CN" altLang="en-US" sz="14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8639175" y="6323013"/>
            <a:ext cx="1079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E127392-BFE0-4860-83BD-5CFAE24C683C}" type="datetime'''''''''''可''''''''''''插''''''''''''''''''拔光''''模''''块'''">
              <a:rPr lang="zh-CN" altLang="en-US" sz="1400" smtClean="0">
                <a:cs typeface="+mn-cs"/>
              </a:rPr>
              <a:pPr/>
              <a:t>可插拔光模块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10328275" y="5930900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400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400" dirty="0">
                <a:solidFill>
                  <a:schemeClr val="tx2"/>
                </a:solidFill>
                <a:effectLst/>
                <a:cs typeface="+mn-cs"/>
              </a:rPr>
              <a:t>.4</a:t>
            </a:r>
            <a:endParaRPr lang="zh-CN" altLang="en-US" sz="14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10277475" y="6323013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cs typeface="+mn-cs"/>
              </a:rPr>
              <a:pPr/>
              <a:t>CPO</a:t>
            </a:fld>
            <a:endParaRPr lang="zh-CN" altLang="en-US" sz="1400" dirty="0">
              <a:cs typeface="+mn-cs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9532938" y="46545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400" b="1" dirty="0"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DDBF6DD-60A7-1C22-CB47-4CE8A11EA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0300" y="6926876"/>
            <a:ext cx="8362950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8890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光模块技术路径选择：巨头布局</a:t>
            </a:r>
            <a:r>
              <a:rPr lang="en-US" altLang="zh-CN" dirty="0"/>
              <a:t>CPO</a:t>
            </a:r>
            <a:r>
              <a:rPr lang="zh-CN" altLang="en-US" dirty="0"/>
              <a:t>，初创布局</a:t>
            </a:r>
            <a:r>
              <a:rPr lang="en-US" altLang="zh-CN" dirty="0"/>
              <a:t>OIO</a:t>
            </a:r>
            <a:r>
              <a:rPr lang="zh-CN" altLang="en-US" dirty="0"/>
              <a:t>（加上</a:t>
            </a:r>
            <a:r>
              <a:rPr lang="en-US" altLang="zh-CN" dirty="0"/>
              <a:t>FPP</a:t>
            </a:r>
            <a:r>
              <a:rPr lang="zh-CN" altLang="en-US" dirty="0"/>
              <a:t>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DC95DE2-3311-E9ED-688C-8DD5EA4430CE}"/>
              </a:ext>
            </a:extLst>
          </p:cNvPr>
          <p:cNvSpPr/>
          <p:nvPr/>
        </p:nvSpPr>
        <p:spPr>
          <a:xfrm>
            <a:off x="12428376" y="2034582"/>
            <a:ext cx="4735635" cy="41909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新一页（讲完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的必要性后）技术路径选择，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不细讲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博通：最好商用的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，技术路线规划图（左）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创业公司：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一步到位，不用被大厂生态制约（右）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重点突出一些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的早期和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的成熟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各家的动作：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的产品发布、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的合作和导入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博通的图可以不放，直接一句话总结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C1B0D0-D3FE-AF36-2AC7-554F19B3489C}"/>
              </a:ext>
            </a:extLst>
          </p:cNvPr>
          <p:cNvSpPr txBox="1"/>
          <p:nvPr/>
        </p:nvSpPr>
        <p:spPr>
          <a:xfrm>
            <a:off x="694471" y="1953046"/>
            <a:ext cx="936104" cy="8214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路径对比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94471" y="3063575"/>
            <a:ext cx="936104" cy="626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主要玩家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60A4822-D7A2-03C6-FC9D-D8DABC059119}"/>
              </a:ext>
            </a:extLst>
          </p:cNvPr>
          <p:cNvSpPr txBox="1"/>
          <p:nvPr/>
        </p:nvSpPr>
        <p:spPr>
          <a:xfrm>
            <a:off x="695400" y="4081718"/>
            <a:ext cx="936104" cy="12244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布局环节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1991544" y="2954493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0">
            <a:extLst>
              <a:ext uri="{FF2B5EF4-FFF2-40B4-BE49-F238E27FC236}">
                <a16:creationId xmlns:a16="http://schemas.microsoft.com/office/drawing/2014/main" id="{64BF7E5D-564A-FDE0-3825-E5CDFEA8CD23}"/>
              </a:ext>
            </a:extLst>
          </p:cNvPr>
          <p:cNvCxnSpPr>
            <a:cxnSpLocks/>
          </p:cNvCxnSpPr>
          <p:nvPr/>
        </p:nvCxnSpPr>
        <p:spPr>
          <a:xfrm>
            <a:off x="6986282" y="1448010"/>
            <a:ext cx="4474146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792BF100-A7AB-CF8D-0B2B-E098437F2754}"/>
              </a:ext>
            </a:extLst>
          </p:cNvPr>
          <p:cNvSpPr txBox="1"/>
          <p:nvPr/>
        </p:nvSpPr>
        <p:spPr>
          <a:xfrm>
            <a:off x="6986282" y="3055839"/>
            <a:ext cx="4474146" cy="10934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初创：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一步到位从而绕过巨头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生态制约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9494FF3-E904-C618-C411-ADFA82260737}"/>
              </a:ext>
            </a:extLst>
          </p:cNvPr>
          <p:cNvSpPr txBox="1"/>
          <p:nvPr/>
        </p:nvSpPr>
        <p:spPr>
          <a:xfrm>
            <a:off x="6986449" y="1953046"/>
            <a:ext cx="4474146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通过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2.5D/3D 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集成技术将光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I/O 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芯片与计算芯片集成于同一多芯片封装，实现芯片间直接光通信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本质：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光信号替代电信号直接完成芯片间互连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2" name="直线连接符 34">
            <a:extLst>
              <a:ext uri="{FF2B5EF4-FFF2-40B4-BE49-F238E27FC236}">
                <a16:creationId xmlns:a16="http://schemas.microsoft.com/office/drawing/2014/main" id="{92AE7B20-0E62-6537-08C9-4B4B44AD472D}"/>
              </a:ext>
            </a:extLst>
          </p:cNvPr>
          <p:cNvCxnSpPr>
            <a:cxnSpLocks/>
          </p:cNvCxnSpPr>
          <p:nvPr/>
        </p:nvCxnSpPr>
        <p:spPr>
          <a:xfrm>
            <a:off x="2114550" y="1448010"/>
            <a:ext cx="4473575" cy="1588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56DAA0BA-6916-61F6-44E6-348BEED0985A}"/>
              </a:ext>
            </a:extLst>
          </p:cNvPr>
          <p:cNvSpPr txBox="1"/>
          <p:nvPr/>
        </p:nvSpPr>
        <p:spPr>
          <a:xfrm>
            <a:off x="2114550" y="1953046"/>
            <a:ext cx="4473575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将光模块和交换芯片紧邻封装在一起，显著降低功耗、提高信号完整性、减少延迟，并且缩小体积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本质：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缩短电信号路径，未突破电信号底层限制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0F05AC7-7CFD-0E60-3FDD-2CCEFB3069E8}"/>
              </a:ext>
            </a:extLst>
          </p:cNvPr>
          <p:cNvSpPr txBox="1"/>
          <p:nvPr/>
        </p:nvSpPr>
        <p:spPr>
          <a:xfrm>
            <a:off x="2114550" y="100427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（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Co-Packaged Optics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）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96278A5-28AB-DF4B-68D8-6B09966A2C4D}"/>
              </a:ext>
            </a:extLst>
          </p:cNvPr>
          <p:cNvSpPr txBox="1"/>
          <p:nvPr/>
        </p:nvSpPr>
        <p:spPr>
          <a:xfrm>
            <a:off x="6986853" y="100427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</a:rPr>
              <a:t>OIO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（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In-Packaged Optical I/O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）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E94BF99-C1A7-188F-866F-B10A5E174762}"/>
              </a:ext>
            </a:extLst>
          </p:cNvPr>
          <p:cNvSpPr txBox="1"/>
          <p:nvPr/>
        </p:nvSpPr>
        <p:spPr>
          <a:xfrm>
            <a:off x="2113797" y="1538344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光通信进阶方案，技术成熟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63527A4-38F5-2583-88D9-82E94A2685BF}"/>
              </a:ext>
            </a:extLst>
          </p:cNvPr>
          <p:cNvSpPr txBox="1"/>
          <p:nvPr/>
        </p:nvSpPr>
        <p:spPr>
          <a:xfrm>
            <a:off x="6986282" y="1543876"/>
            <a:ext cx="3168000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光通信终极形态，研发与验证阶段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88FB5E51-9ECE-7368-8C10-FDA37AC76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275" y="3479844"/>
            <a:ext cx="487382" cy="350678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448C6786-1751-A660-4813-8EE9706460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4657" y="3545375"/>
            <a:ext cx="813396" cy="219617"/>
          </a:xfrm>
          <a:prstGeom prst="rect">
            <a:avLst/>
          </a:prstGeom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7568" y="3500758"/>
            <a:ext cx="640577" cy="30885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E35BBAA-6792-5AE8-3612-7B8020700E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7184" y="3461761"/>
            <a:ext cx="491231" cy="38684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B36BC0C1-A345-5C17-8242-A5B9869AA5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338" y="3517208"/>
            <a:ext cx="775992" cy="21687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659E0D8A-2DDE-C04F-7C5B-AA2A723EE182}"/>
              </a:ext>
            </a:extLst>
          </p:cNvPr>
          <p:cNvGrpSpPr/>
          <p:nvPr/>
        </p:nvGrpSpPr>
        <p:grpSpPr>
          <a:xfrm>
            <a:off x="2059300" y="4574601"/>
            <a:ext cx="4499185" cy="1796391"/>
            <a:chOff x="2124557" y="4097423"/>
            <a:chExt cx="4499185" cy="1796391"/>
          </a:xfrm>
        </p:grpSpPr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1A7A49E1-7BED-61D0-1680-353995049012}"/>
                </a:ext>
              </a:extLst>
            </p:cNvPr>
            <p:cNvGrpSpPr/>
            <p:nvPr/>
          </p:nvGrpSpPr>
          <p:grpSpPr>
            <a:xfrm>
              <a:off x="2124557" y="4274892"/>
              <a:ext cx="482518" cy="391794"/>
              <a:chOff x="2041466" y="4860623"/>
              <a:chExt cx="750630" cy="609495"/>
            </a:xfrm>
          </p:grpSpPr>
          <p:pic>
            <p:nvPicPr>
              <p:cNvPr id="68" name="图像" descr="图像">
                <a:extLst>
                  <a:ext uri="{FF2B5EF4-FFF2-40B4-BE49-F238E27FC236}">
                    <a16:creationId xmlns:a16="http://schemas.microsoft.com/office/drawing/2014/main" id="{09B8B26C-67BD-06AA-B0EA-BA10E51CF3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96493" y="5010946"/>
                <a:ext cx="640576" cy="308849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73" name="圆角矩形">
                <a:extLst>
                  <a:ext uri="{FF2B5EF4-FFF2-40B4-BE49-F238E27FC236}">
                    <a16:creationId xmlns:a16="http://schemas.microsoft.com/office/drawing/2014/main" id="{92F0854B-B506-0060-3934-18DFC95FC56D}"/>
                  </a:ext>
                </a:extLst>
              </p:cNvPr>
              <p:cNvSpPr/>
              <p:nvPr/>
            </p:nvSpPr>
            <p:spPr>
              <a:xfrm>
                <a:off x="2041466" y="4860623"/>
                <a:ext cx="750630" cy="609495"/>
              </a:xfrm>
              <a:prstGeom prst="roundRect">
                <a:avLst>
                  <a:gd name="adj" fmla="val 15903"/>
                </a:avLst>
              </a:prstGeom>
              <a:ln w="12700">
                <a:solidFill>
                  <a:schemeClr val="accent1"/>
                </a:solidFill>
                <a:miter/>
              </a:ln>
            </p:spPr>
            <p:txBody>
              <a:bodyPr lIns="45719" rIns="45719" anchor="ctr"/>
              <a:lstStyle/>
              <a:p>
                <a:endParaRPr/>
              </a:p>
            </p:txBody>
          </p:sp>
        </p:grpSp>
        <p:sp>
          <p:nvSpPr>
            <p:cNvPr id="74" name="线条">
              <a:extLst>
                <a:ext uri="{FF2B5EF4-FFF2-40B4-BE49-F238E27FC236}">
                  <a16:creationId xmlns:a16="http://schemas.microsoft.com/office/drawing/2014/main" id="{2A4E6EFD-23A8-7558-A178-D303E9A1AB63}"/>
                </a:ext>
              </a:extLst>
            </p:cNvPr>
            <p:cNvSpPr/>
            <p:nvPr/>
          </p:nvSpPr>
          <p:spPr>
            <a:xfrm>
              <a:off x="2607075" y="4481994"/>
              <a:ext cx="197685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E7C973EE-8B69-2D18-6B24-EF3220A380DE}"/>
                </a:ext>
              </a:extLst>
            </p:cNvPr>
            <p:cNvGrpSpPr/>
            <p:nvPr/>
          </p:nvGrpSpPr>
          <p:grpSpPr>
            <a:xfrm>
              <a:off x="2845702" y="4278094"/>
              <a:ext cx="934309" cy="385746"/>
              <a:chOff x="3047024" y="4842775"/>
              <a:chExt cx="934309" cy="385746"/>
            </a:xfrm>
          </p:grpSpPr>
          <p:pic>
            <p:nvPicPr>
              <p:cNvPr id="69" name="图像" descr="图像">
                <a:extLst>
                  <a:ext uri="{FF2B5EF4-FFF2-40B4-BE49-F238E27FC236}">
                    <a16:creationId xmlns:a16="http://schemas.microsoft.com/office/drawing/2014/main" id="{EC4165D5-ADA9-5BC7-B51E-BA03F10FBA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53908" y="4925314"/>
                <a:ext cx="300993" cy="237032"/>
              </a:xfrm>
              <a:prstGeom prst="rect">
                <a:avLst/>
              </a:prstGeom>
              <a:ln w="12700">
                <a:miter lim="400000"/>
              </a:ln>
            </p:spPr>
          </p:pic>
          <p:grpSp>
            <p:nvGrpSpPr>
              <p:cNvPr id="70" name="成组">
                <a:extLst>
                  <a:ext uri="{FF2B5EF4-FFF2-40B4-BE49-F238E27FC236}">
                    <a16:creationId xmlns:a16="http://schemas.microsoft.com/office/drawing/2014/main" id="{E04D72DD-19A3-C61B-7826-49A075D18165}"/>
                  </a:ext>
                </a:extLst>
              </p:cNvPr>
              <p:cNvGrpSpPr/>
              <p:nvPr/>
            </p:nvGrpSpPr>
            <p:grpSpPr>
              <a:xfrm>
                <a:off x="3047024" y="4842775"/>
                <a:ext cx="934309" cy="385746"/>
                <a:chOff x="0" y="0"/>
                <a:chExt cx="1500840" cy="619648"/>
              </a:xfrm>
            </p:grpSpPr>
            <p:sp>
              <p:nvSpPr>
                <p:cNvPr id="71" name="圆角矩形">
                  <a:extLst>
                    <a:ext uri="{FF2B5EF4-FFF2-40B4-BE49-F238E27FC236}">
                      <a16:creationId xmlns:a16="http://schemas.microsoft.com/office/drawing/2014/main" id="{D76D1C3F-6BD7-71D2-5106-061D3A9331AD}"/>
                    </a:ext>
                  </a:extLst>
                </p:cNvPr>
                <p:cNvSpPr/>
                <p:nvPr/>
              </p:nvSpPr>
              <p:spPr>
                <a:xfrm>
                  <a:off x="0" y="5077"/>
                  <a:ext cx="1500841" cy="609495"/>
                </a:xfrm>
                <a:prstGeom prst="roundRect">
                  <a:avLst>
                    <a:gd name="adj" fmla="val 15903"/>
                  </a:avLst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72" name="线条">
                  <a:extLst>
                    <a:ext uri="{FF2B5EF4-FFF2-40B4-BE49-F238E27FC236}">
                      <a16:creationId xmlns:a16="http://schemas.microsoft.com/office/drawing/2014/main" id="{94EF1FEF-19CE-AE46-498E-85E401134267}"/>
                    </a:ext>
                  </a:extLst>
                </p:cNvPr>
                <p:cNvSpPr/>
                <p:nvPr/>
              </p:nvSpPr>
              <p:spPr>
                <a:xfrm flipV="1">
                  <a:off x="778341" y="0"/>
                  <a:ext cx="1" cy="619649"/>
                </a:xfrm>
                <a:prstGeom prst="line">
                  <a:avLst/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/>
                </a:p>
              </p:txBody>
            </p:sp>
          </p:grpSp>
          <p:pic>
            <p:nvPicPr>
              <p:cNvPr id="75" name="图像" descr="图像">
                <a:extLst>
                  <a:ext uri="{FF2B5EF4-FFF2-40B4-BE49-F238E27FC236}">
                    <a16:creationId xmlns:a16="http://schemas.microsoft.com/office/drawing/2014/main" id="{B5E79CE6-B18F-A2F8-BBF0-195FAD4769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31177" y="4947712"/>
                <a:ext cx="227013" cy="192235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76" name="线条">
                <a:extLst>
                  <a:ext uri="{FF2B5EF4-FFF2-40B4-BE49-F238E27FC236}">
                    <a16:creationId xmlns:a16="http://schemas.microsoft.com/office/drawing/2014/main" id="{83F8CAD9-A7D4-015F-7E91-9D0FD7B14457}"/>
                  </a:ext>
                </a:extLst>
              </p:cNvPr>
              <p:cNvSpPr/>
              <p:nvPr/>
            </p:nvSpPr>
            <p:spPr>
              <a:xfrm>
                <a:off x="3486065" y="5045583"/>
                <a:ext cx="136903" cy="1"/>
              </a:xfrm>
              <a:prstGeom prst="line">
                <a:avLst/>
              </a:prstGeom>
              <a:ln w="25400">
                <a:solidFill>
                  <a:schemeClr val="accent4">
                    <a:lumOff val="-6980"/>
                  </a:schemeClr>
                </a:solidFill>
                <a:miter/>
                <a:tailEnd type="triangle"/>
              </a:ln>
            </p:spPr>
            <p:txBody>
              <a:bodyPr lIns="45719" rIns="45719"/>
              <a:lstStyle/>
              <a:p>
                <a:endParaRPr/>
              </a:p>
            </p:txBody>
          </p:sp>
        </p:grpSp>
        <p:sp>
          <p:nvSpPr>
            <p:cNvPr id="79" name="电芯片晶圆">
              <a:extLst>
                <a:ext uri="{FF2B5EF4-FFF2-40B4-BE49-F238E27FC236}">
                  <a16:creationId xmlns:a16="http://schemas.microsoft.com/office/drawing/2014/main" id="{962FF06B-D866-8D70-609B-2D790C28983D}"/>
                </a:ext>
              </a:extLst>
            </p:cNvPr>
            <p:cNvSpPr txBox="1"/>
            <p:nvPr/>
          </p:nvSpPr>
          <p:spPr>
            <a:xfrm>
              <a:off x="3089525" y="4109154"/>
              <a:ext cx="502700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800">
                  <a:solidFill>
                    <a:schemeClr val="accent3"/>
                  </a:solidFill>
                </a:defRPr>
              </a:lvl1pPr>
            </a:lstStyle>
            <a:p>
              <a:r>
                <a:rPr dirty="0" err="1"/>
                <a:t>芯片晶圆</a:t>
              </a:r>
              <a:endParaRPr dirty="0"/>
            </a:p>
          </p:txBody>
        </p:sp>
        <p:pic>
          <p:nvPicPr>
            <p:cNvPr id="106" name="图像" descr="图像">
              <a:extLst>
                <a:ext uri="{FF2B5EF4-FFF2-40B4-BE49-F238E27FC236}">
                  <a16:creationId xmlns:a16="http://schemas.microsoft.com/office/drawing/2014/main" id="{618CFFCD-5677-1595-C9AA-B63A7D55F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401191" y="5588157"/>
              <a:ext cx="280649" cy="90115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99" name="光缆">
              <a:extLst>
                <a:ext uri="{FF2B5EF4-FFF2-40B4-BE49-F238E27FC236}">
                  <a16:creationId xmlns:a16="http://schemas.microsoft.com/office/drawing/2014/main" id="{07AE6739-0B8D-644B-1F6D-865D1E81A6DC}"/>
                </a:ext>
              </a:extLst>
            </p:cNvPr>
            <p:cNvSpPr txBox="1"/>
            <p:nvPr/>
          </p:nvSpPr>
          <p:spPr>
            <a:xfrm>
              <a:off x="3176567" y="4661590"/>
              <a:ext cx="307341" cy="2311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800">
                  <a:solidFill>
                    <a:schemeClr val="accent3"/>
                  </a:solidFill>
                </a:defRPr>
              </a:lvl1pPr>
            </a:lstStyle>
            <a:p>
              <a:r>
                <a:rPr dirty="0" err="1"/>
                <a:t>光缆</a:t>
              </a:r>
              <a:endParaRPr dirty="0"/>
            </a:p>
          </p:txBody>
        </p: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B5DD2C33-3498-8573-13FE-EF4392ABBE60}"/>
                </a:ext>
              </a:extLst>
            </p:cNvPr>
            <p:cNvGrpSpPr/>
            <p:nvPr/>
          </p:nvGrpSpPr>
          <p:grpSpPr>
            <a:xfrm>
              <a:off x="2125731" y="4828973"/>
              <a:ext cx="482518" cy="391794"/>
              <a:chOff x="2041466" y="4860623"/>
              <a:chExt cx="750630" cy="609495"/>
            </a:xfrm>
          </p:grpSpPr>
          <p:pic>
            <p:nvPicPr>
              <p:cNvPr id="108" name="图像" descr="图像">
                <a:extLst>
                  <a:ext uri="{FF2B5EF4-FFF2-40B4-BE49-F238E27FC236}">
                    <a16:creationId xmlns:a16="http://schemas.microsoft.com/office/drawing/2014/main" id="{A03A7C8E-FC80-3377-69AF-C906CFAB79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96493" y="5010946"/>
                <a:ext cx="640576" cy="308849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109" name="圆角矩形">
                <a:extLst>
                  <a:ext uri="{FF2B5EF4-FFF2-40B4-BE49-F238E27FC236}">
                    <a16:creationId xmlns:a16="http://schemas.microsoft.com/office/drawing/2014/main" id="{86E1AFA0-EFC8-E356-8C4E-7AD1F0350CF7}"/>
                  </a:ext>
                </a:extLst>
              </p:cNvPr>
              <p:cNvSpPr/>
              <p:nvPr/>
            </p:nvSpPr>
            <p:spPr>
              <a:xfrm>
                <a:off x="2041466" y="4860623"/>
                <a:ext cx="750630" cy="609495"/>
              </a:xfrm>
              <a:prstGeom prst="roundRect">
                <a:avLst>
                  <a:gd name="adj" fmla="val 15903"/>
                </a:avLst>
              </a:prstGeom>
              <a:ln w="12700">
                <a:solidFill>
                  <a:schemeClr val="accent1"/>
                </a:solidFill>
                <a:miter/>
              </a:ln>
            </p:spPr>
            <p:txBody>
              <a:bodyPr lIns="45719" rIns="45719" anchor="ctr"/>
              <a:lstStyle/>
              <a:p>
                <a:endParaRPr/>
              </a:p>
            </p:txBody>
          </p:sp>
        </p:grpSp>
        <p:sp>
          <p:nvSpPr>
            <p:cNvPr id="117" name="线条">
              <a:extLst>
                <a:ext uri="{FF2B5EF4-FFF2-40B4-BE49-F238E27FC236}">
                  <a16:creationId xmlns:a16="http://schemas.microsoft.com/office/drawing/2014/main" id="{D081659F-CACA-1EA9-4388-455814ABB2BA}"/>
                </a:ext>
              </a:extLst>
            </p:cNvPr>
            <p:cNvSpPr/>
            <p:nvPr/>
          </p:nvSpPr>
          <p:spPr>
            <a:xfrm>
              <a:off x="2607075" y="5034805"/>
              <a:ext cx="197685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AD20CC46-89D4-F480-FABC-F9464EBFF902}"/>
                </a:ext>
              </a:extLst>
            </p:cNvPr>
            <p:cNvGrpSpPr/>
            <p:nvPr/>
          </p:nvGrpSpPr>
          <p:grpSpPr>
            <a:xfrm>
              <a:off x="2843194" y="4831360"/>
              <a:ext cx="934309" cy="385746"/>
              <a:chOff x="3048198" y="5396856"/>
              <a:chExt cx="934309" cy="385746"/>
            </a:xfrm>
          </p:grpSpPr>
          <p:pic>
            <p:nvPicPr>
              <p:cNvPr id="95" name="图像" descr="图像">
                <a:extLst>
                  <a:ext uri="{FF2B5EF4-FFF2-40B4-BE49-F238E27FC236}">
                    <a16:creationId xmlns:a16="http://schemas.microsoft.com/office/drawing/2014/main" id="{3AAF40AD-39B1-0059-A79F-6B3E63B437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97193" y="5523593"/>
                <a:ext cx="347588" cy="161800"/>
              </a:xfrm>
              <a:prstGeom prst="rect">
                <a:avLst/>
              </a:prstGeom>
              <a:ln w="12700">
                <a:miter lim="400000"/>
              </a:ln>
            </p:spPr>
          </p:pic>
          <p:grpSp>
            <p:nvGrpSpPr>
              <p:cNvPr id="110" name="组合 109">
                <a:extLst>
                  <a:ext uri="{FF2B5EF4-FFF2-40B4-BE49-F238E27FC236}">
                    <a16:creationId xmlns:a16="http://schemas.microsoft.com/office/drawing/2014/main" id="{2E5E64C4-ADFD-5419-14DD-B635BEFC42E6}"/>
                  </a:ext>
                </a:extLst>
              </p:cNvPr>
              <p:cNvGrpSpPr/>
              <p:nvPr/>
            </p:nvGrpSpPr>
            <p:grpSpPr>
              <a:xfrm>
                <a:off x="3048198" y="5396856"/>
                <a:ext cx="934309" cy="385746"/>
                <a:chOff x="3273599" y="4845799"/>
                <a:chExt cx="934309" cy="385746"/>
              </a:xfrm>
            </p:grpSpPr>
            <p:grpSp>
              <p:nvGrpSpPr>
                <p:cNvPr id="112" name="成组">
                  <a:extLst>
                    <a:ext uri="{FF2B5EF4-FFF2-40B4-BE49-F238E27FC236}">
                      <a16:creationId xmlns:a16="http://schemas.microsoft.com/office/drawing/2014/main" id="{9E9FC385-1523-9E38-63AE-8F79837866BC}"/>
                    </a:ext>
                  </a:extLst>
                </p:cNvPr>
                <p:cNvGrpSpPr/>
                <p:nvPr/>
              </p:nvGrpSpPr>
              <p:grpSpPr>
                <a:xfrm>
                  <a:off x="3273599" y="4845799"/>
                  <a:ext cx="934309" cy="385746"/>
                  <a:chOff x="0" y="0"/>
                  <a:chExt cx="1500840" cy="619648"/>
                </a:xfrm>
              </p:grpSpPr>
              <p:sp>
                <p:nvSpPr>
                  <p:cNvPr id="115" name="圆角矩形">
                    <a:extLst>
                      <a:ext uri="{FF2B5EF4-FFF2-40B4-BE49-F238E27FC236}">
                        <a16:creationId xmlns:a16="http://schemas.microsoft.com/office/drawing/2014/main" id="{0F6ACD3B-02A9-A62D-B6C2-E7CCC52D15CB}"/>
                      </a:ext>
                    </a:extLst>
                  </p:cNvPr>
                  <p:cNvSpPr/>
                  <p:nvPr/>
                </p:nvSpPr>
                <p:spPr>
                  <a:xfrm>
                    <a:off x="0" y="5077"/>
                    <a:ext cx="1500841" cy="609495"/>
                  </a:xfrm>
                  <a:prstGeom prst="roundRect">
                    <a:avLst>
                      <a:gd name="adj" fmla="val 15903"/>
                    </a:avLst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116" name="线条">
                    <a:extLst>
                      <a:ext uri="{FF2B5EF4-FFF2-40B4-BE49-F238E27FC236}">
                        <a16:creationId xmlns:a16="http://schemas.microsoft.com/office/drawing/2014/main" id="{9657F2EB-10CF-6DAA-5F10-8FD101A50498}"/>
                      </a:ext>
                    </a:extLst>
                  </p:cNvPr>
                  <p:cNvSpPr/>
                  <p:nvPr/>
                </p:nvSpPr>
                <p:spPr>
                  <a:xfrm flipV="1">
                    <a:off x="778341" y="0"/>
                    <a:ext cx="1" cy="619649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114" name="线条">
                  <a:extLst>
                    <a:ext uri="{FF2B5EF4-FFF2-40B4-BE49-F238E27FC236}">
                      <a16:creationId xmlns:a16="http://schemas.microsoft.com/office/drawing/2014/main" id="{EFCACB44-E6BE-5DD0-1FF1-5E8EE08BA097}"/>
                    </a:ext>
                  </a:extLst>
                </p:cNvPr>
                <p:cNvSpPr/>
                <p:nvPr/>
              </p:nvSpPr>
              <p:spPr>
                <a:xfrm>
                  <a:off x="3712640" y="5048607"/>
                  <a:ext cx="136903" cy="1"/>
                </a:xfrm>
                <a:prstGeom prst="line">
                  <a:avLst/>
                </a:prstGeom>
                <a:ln w="25400">
                  <a:solidFill>
                    <a:schemeClr val="accent4">
                      <a:lumOff val="-6980"/>
                    </a:schemeClr>
                  </a:solidFill>
                  <a:miter/>
                  <a:tailEnd type="triangle"/>
                </a:ln>
              </p:spPr>
              <p:txBody>
                <a:bodyPr lIns="45719" rIns="45719"/>
                <a:lstStyle/>
                <a:p>
                  <a:endParaRPr/>
                </a:p>
              </p:txBody>
            </p:sp>
          </p:grpSp>
          <p:pic>
            <p:nvPicPr>
              <p:cNvPr id="118" name="图像" descr="图像">
                <a:extLst>
                  <a:ext uri="{FF2B5EF4-FFF2-40B4-BE49-F238E27FC236}">
                    <a16:creationId xmlns:a16="http://schemas.microsoft.com/office/drawing/2014/main" id="{2E478550-2FD2-7554-8D12-3E7EAB85DB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62254" y="5494922"/>
                <a:ext cx="286562" cy="208336"/>
              </a:xfrm>
              <a:prstGeom prst="rect">
                <a:avLst/>
              </a:prstGeom>
              <a:ln w="12700">
                <a:miter lim="400000"/>
              </a:ln>
            </p:spPr>
          </p:pic>
        </p:grpSp>
        <p:sp>
          <p:nvSpPr>
            <p:cNvPr id="122" name="光缆">
              <a:extLst>
                <a:ext uri="{FF2B5EF4-FFF2-40B4-BE49-F238E27FC236}">
                  <a16:creationId xmlns:a16="http://schemas.microsoft.com/office/drawing/2014/main" id="{1D5F6698-080A-D0E4-4EBE-A8078DADE45F}"/>
                </a:ext>
              </a:extLst>
            </p:cNvPr>
            <p:cNvSpPr txBox="1"/>
            <p:nvPr/>
          </p:nvSpPr>
          <p:spPr>
            <a:xfrm>
              <a:off x="3430879" y="5240274"/>
              <a:ext cx="698266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800">
                  <a:solidFill>
                    <a:schemeClr val="accent3"/>
                  </a:solidFill>
                </a:defRPr>
              </a:lvl1pPr>
            </a:lstStyle>
            <a:p>
              <a:r>
                <a:rPr lang="en-US" altLang="zh-CN" dirty="0"/>
                <a:t>ELS</a:t>
              </a:r>
              <a:r>
                <a:rPr lang="zh-CN" altLang="en-US" dirty="0"/>
                <a:t>光源模块</a:t>
              </a:r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A3761C46-1292-F4CB-1934-D34AD01FF482}"/>
                </a:ext>
              </a:extLst>
            </p:cNvPr>
            <p:cNvGrpSpPr/>
            <p:nvPr/>
          </p:nvGrpSpPr>
          <p:grpSpPr>
            <a:xfrm>
              <a:off x="3288327" y="5420673"/>
              <a:ext cx="934310" cy="385747"/>
              <a:chOff x="3273599" y="4845799"/>
              <a:chExt cx="934310" cy="385747"/>
            </a:xfrm>
          </p:grpSpPr>
          <p:grpSp>
            <p:nvGrpSpPr>
              <p:cNvPr id="127" name="成组">
                <a:extLst>
                  <a:ext uri="{FF2B5EF4-FFF2-40B4-BE49-F238E27FC236}">
                    <a16:creationId xmlns:a16="http://schemas.microsoft.com/office/drawing/2014/main" id="{62051C0D-DAAB-3DB2-70FD-F8903B697D3D}"/>
                  </a:ext>
                </a:extLst>
              </p:cNvPr>
              <p:cNvGrpSpPr/>
              <p:nvPr/>
            </p:nvGrpSpPr>
            <p:grpSpPr>
              <a:xfrm>
                <a:off x="3273599" y="4845799"/>
                <a:ext cx="934310" cy="385747"/>
                <a:chOff x="0" y="0"/>
                <a:chExt cx="1500842" cy="619649"/>
              </a:xfrm>
            </p:grpSpPr>
            <p:sp>
              <p:nvSpPr>
                <p:cNvPr id="129" name="圆角矩形">
                  <a:extLst>
                    <a:ext uri="{FF2B5EF4-FFF2-40B4-BE49-F238E27FC236}">
                      <a16:creationId xmlns:a16="http://schemas.microsoft.com/office/drawing/2014/main" id="{29EFD920-9E88-B5EF-F879-64639D94F4C8}"/>
                    </a:ext>
                  </a:extLst>
                </p:cNvPr>
                <p:cNvSpPr/>
                <p:nvPr/>
              </p:nvSpPr>
              <p:spPr>
                <a:xfrm>
                  <a:off x="0" y="5078"/>
                  <a:ext cx="1500842" cy="609497"/>
                </a:xfrm>
                <a:prstGeom prst="roundRect">
                  <a:avLst>
                    <a:gd name="adj" fmla="val 15903"/>
                  </a:avLst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30" name="线条">
                  <a:extLst>
                    <a:ext uri="{FF2B5EF4-FFF2-40B4-BE49-F238E27FC236}">
                      <a16:creationId xmlns:a16="http://schemas.microsoft.com/office/drawing/2014/main" id="{C6D2D0A3-C456-A2E8-9C19-B94B0200CE12}"/>
                    </a:ext>
                  </a:extLst>
                </p:cNvPr>
                <p:cNvSpPr/>
                <p:nvPr/>
              </p:nvSpPr>
              <p:spPr>
                <a:xfrm flipV="1">
                  <a:off x="778341" y="0"/>
                  <a:ext cx="1" cy="619649"/>
                </a:xfrm>
                <a:prstGeom prst="line">
                  <a:avLst/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/>
                </a:p>
              </p:txBody>
            </p:sp>
          </p:grpSp>
          <p:sp>
            <p:nvSpPr>
              <p:cNvPr id="128" name="线条">
                <a:extLst>
                  <a:ext uri="{FF2B5EF4-FFF2-40B4-BE49-F238E27FC236}">
                    <a16:creationId xmlns:a16="http://schemas.microsoft.com/office/drawing/2014/main" id="{0D8AADAF-3080-164C-A401-F5113EA53756}"/>
                  </a:ext>
                </a:extLst>
              </p:cNvPr>
              <p:cNvSpPr/>
              <p:nvPr/>
            </p:nvSpPr>
            <p:spPr>
              <a:xfrm>
                <a:off x="3712640" y="5048607"/>
                <a:ext cx="136903" cy="1"/>
              </a:xfrm>
              <a:prstGeom prst="line">
                <a:avLst/>
              </a:prstGeom>
              <a:ln w="25400">
                <a:solidFill>
                  <a:schemeClr val="accent4">
                    <a:lumOff val="-6980"/>
                  </a:schemeClr>
                </a:solidFill>
                <a:miter/>
                <a:tailEnd type="triangle"/>
              </a:ln>
            </p:spPr>
            <p:txBody>
              <a:bodyPr lIns="45719" rIns="45719"/>
              <a:lstStyle/>
              <a:p>
                <a:endParaRPr/>
              </a:p>
            </p:txBody>
          </p:sp>
        </p:grpSp>
        <p:sp>
          <p:nvSpPr>
            <p:cNvPr id="125" name="线条">
              <a:extLst>
                <a:ext uri="{FF2B5EF4-FFF2-40B4-BE49-F238E27FC236}">
                  <a16:creationId xmlns:a16="http://schemas.microsoft.com/office/drawing/2014/main" id="{5F54B3B3-0328-BDA0-3BA5-9D7B745047F0}"/>
                </a:ext>
              </a:extLst>
            </p:cNvPr>
            <p:cNvSpPr/>
            <p:nvPr/>
          </p:nvSpPr>
          <p:spPr>
            <a:xfrm>
              <a:off x="3072151" y="5630400"/>
              <a:ext cx="184729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B839AA27-ABE8-28B9-5594-F679B781FAAE}"/>
                </a:ext>
              </a:extLst>
            </p:cNvPr>
            <p:cNvGrpSpPr/>
            <p:nvPr/>
          </p:nvGrpSpPr>
          <p:grpSpPr>
            <a:xfrm>
              <a:off x="2132462" y="5420673"/>
              <a:ext cx="934310" cy="385747"/>
              <a:chOff x="2112714" y="6435603"/>
              <a:chExt cx="934310" cy="385747"/>
            </a:xfrm>
          </p:grpSpPr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BC2F7A91-1254-DAC2-9569-4703019B6026}"/>
                  </a:ext>
                </a:extLst>
              </p:cNvPr>
              <p:cNvGrpSpPr/>
              <p:nvPr/>
            </p:nvGrpSpPr>
            <p:grpSpPr>
              <a:xfrm>
                <a:off x="2112714" y="6435603"/>
                <a:ext cx="934310" cy="385747"/>
                <a:chOff x="3273599" y="4845799"/>
                <a:chExt cx="934310" cy="385747"/>
              </a:xfrm>
            </p:grpSpPr>
            <p:grpSp>
              <p:nvGrpSpPr>
                <p:cNvPr id="135" name="成组">
                  <a:extLst>
                    <a:ext uri="{FF2B5EF4-FFF2-40B4-BE49-F238E27FC236}">
                      <a16:creationId xmlns:a16="http://schemas.microsoft.com/office/drawing/2014/main" id="{934B7CE2-E88C-62E3-44CB-7B686F21D258}"/>
                    </a:ext>
                  </a:extLst>
                </p:cNvPr>
                <p:cNvGrpSpPr/>
                <p:nvPr/>
              </p:nvGrpSpPr>
              <p:grpSpPr>
                <a:xfrm>
                  <a:off x="3273599" y="4845799"/>
                  <a:ext cx="934310" cy="385747"/>
                  <a:chOff x="0" y="0"/>
                  <a:chExt cx="1500842" cy="619649"/>
                </a:xfrm>
              </p:grpSpPr>
              <p:sp>
                <p:nvSpPr>
                  <p:cNvPr id="137" name="圆角矩形">
                    <a:extLst>
                      <a:ext uri="{FF2B5EF4-FFF2-40B4-BE49-F238E27FC236}">
                        <a16:creationId xmlns:a16="http://schemas.microsoft.com/office/drawing/2014/main" id="{1AC6D3E6-ECBB-6062-044C-5D2A710DD1C0}"/>
                      </a:ext>
                    </a:extLst>
                  </p:cNvPr>
                  <p:cNvSpPr/>
                  <p:nvPr/>
                </p:nvSpPr>
                <p:spPr>
                  <a:xfrm>
                    <a:off x="0" y="5078"/>
                    <a:ext cx="1500842" cy="609497"/>
                  </a:xfrm>
                  <a:prstGeom prst="roundRect">
                    <a:avLst>
                      <a:gd name="adj" fmla="val 15903"/>
                    </a:avLst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138" name="线条">
                    <a:extLst>
                      <a:ext uri="{FF2B5EF4-FFF2-40B4-BE49-F238E27FC236}">
                        <a16:creationId xmlns:a16="http://schemas.microsoft.com/office/drawing/2014/main" id="{B2FB895E-12FE-5189-D144-F9656F898106}"/>
                      </a:ext>
                    </a:extLst>
                  </p:cNvPr>
                  <p:cNvSpPr/>
                  <p:nvPr/>
                </p:nvSpPr>
                <p:spPr>
                  <a:xfrm flipV="1">
                    <a:off x="778341" y="0"/>
                    <a:ext cx="1" cy="619649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136" name="线条">
                  <a:extLst>
                    <a:ext uri="{FF2B5EF4-FFF2-40B4-BE49-F238E27FC236}">
                      <a16:creationId xmlns:a16="http://schemas.microsoft.com/office/drawing/2014/main" id="{D9994785-1B36-5554-C4D9-DD12DAF4916F}"/>
                    </a:ext>
                  </a:extLst>
                </p:cNvPr>
                <p:cNvSpPr/>
                <p:nvPr/>
              </p:nvSpPr>
              <p:spPr>
                <a:xfrm>
                  <a:off x="3712640" y="5048607"/>
                  <a:ext cx="136903" cy="1"/>
                </a:xfrm>
                <a:prstGeom prst="line">
                  <a:avLst/>
                </a:prstGeom>
                <a:ln w="25400">
                  <a:solidFill>
                    <a:schemeClr val="accent4">
                      <a:lumOff val="-6980"/>
                    </a:schemeClr>
                  </a:solidFill>
                  <a:miter/>
                  <a:tailEnd type="triangle"/>
                </a:ln>
              </p:spPr>
              <p:txBody>
                <a:bodyPr lIns="45719" rIns="45719"/>
                <a:lstStyle/>
                <a:p>
                  <a:endParaRPr/>
                </a:p>
              </p:txBody>
            </p:sp>
          </p:grpSp>
          <p:pic>
            <p:nvPicPr>
              <p:cNvPr id="139" name="图像" descr="图像">
                <a:extLst>
                  <a:ext uri="{FF2B5EF4-FFF2-40B4-BE49-F238E27FC236}">
                    <a16:creationId xmlns:a16="http://schemas.microsoft.com/office/drawing/2014/main" id="{F2F0FBF1-0491-5640-0835-68DC6A19C9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49169" y="6520117"/>
                <a:ext cx="411773" cy="198534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140" name="图像" descr="图像">
                <a:extLst>
                  <a:ext uri="{FF2B5EF4-FFF2-40B4-BE49-F238E27FC236}">
                    <a16:creationId xmlns:a16="http://schemas.microsoft.com/office/drawing/2014/main" id="{2B103692-2C72-B6D1-52A3-3B81C4A114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89168" y="6586321"/>
                <a:ext cx="308961" cy="104179"/>
              </a:xfrm>
              <a:prstGeom prst="rect">
                <a:avLst/>
              </a:prstGeom>
              <a:ln w="12700">
                <a:miter lim="400000"/>
              </a:ln>
            </p:spPr>
          </p:pic>
        </p:grpSp>
        <p:pic>
          <p:nvPicPr>
            <p:cNvPr id="141" name="RLM_CUSTOMER_MODEL_REV_A 1.png" descr="RLM_CUSTOMER_MODEL_REV_A 1.png">
              <a:extLst>
                <a:ext uri="{FF2B5EF4-FFF2-40B4-BE49-F238E27FC236}">
                  <a16:creationId xmlns:a16="http://schemas.microsoft.com/office/drawing/2014/main" id="{25D27526-BB85-58C8-1EC0-49767B910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9276" t="8882" r="6682" b="11663"/>
            <a:stretch>
              <a:fillRect/>
            </a:stretch>
          </p:blipFill>
          <p:spPr>
            <a:xfrm>
              <a:off x="3891570" y="5541116"/>
              <a:ext cx="285670" cy="1443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9" h="21599" extrusionOk="0">
                  <a:moveTo>
                    <a:pt x="19763" y="0"/>
                  </a:moveTo>
                  <a:cubicBezTo>
                    <a:pt x="19223" y="1"/>
                    <a:pt x="19110" y="69"/>
                    <a:pt x="16964" y="1738"/>
                  </a:cubicBezTo>
                  <a:cubicBezTo>
                    <a:pt x="15885" y="2576"/>
                    <a:pt x="14953" y="3295"/>
                    <a:pt x="14887" y="3348"/>
                  </a:cubicBezTo>
                  <a:cubicBezTo>
                    <a:pt x="14773" y="3439"/>
                    <a:pt x="14764" y="3460"/>
                    <a:pt x="14745" y="3732"/>
                  </a:cubicBezTo>
                  <a:cubicBezTo>
                    <a:pt x="14723" y="4047"/>
                    <a:pt x="14713" y="4077"/>
                    <a:pt x="14332" y="4345"/>
                  </a:cubicBezTo>
                  <a:lnTo>
                    <a:pt x="14177" y="4447"/>
                  </a:lnTo>
                  <a:lnTo>
                    <a:pt x="14087" y="4294"/>
                  </a:lnTo>
                  <a:lnTo>
                    <a:pt x="13997" y="4141"/>
                  </a:lnTo>
                  <a:lnTo>
                    <a:pt x="13300" y="4703"/>
                  </a:lnTo>
                  <a:cubicBezTo>
                    <a:pt x="12521" y="5312"/>
                    <a:pt x="12574" y="5286"/>
                    <a:pt x="12345" y="4907"/>
                  </a:cubicBezTo>
                  <a:cubicBezTo>
                    <a:pt x="12286" y="4809"/>
                    <a:pt x="11905" y="4289"/>
                    <a:pt x="11494" y="3757"/>
                  </a:cubicBezTo>
                  <a:lnTo>
                    <a:pt x="10746" y="2811"/>
                  </a:lnTo>
                  <a:lnTo>
                    <a:pt x="10552" y="2939"/>
                  </a:lnTo>
                  <a:cubicBezTo>
                    <a:pt x="10250" y="3163"/>
                    <a:pt x="1763" y="9772"/>
                    <a:pt x="1754" y="9789"/>
                  </a:cubicBezTo>
                  <a:cubicBezTo>
                    <a:pt x="1750" y="9798"/>
                    <a:pt x="1727" y="10227"/>
                    <a:pt x="1703" y="10761"/>
                  </a:cubicBezTo>
                  <a:cubicBezTo>
                    <a:pt x="1679" y="11294"/>
                    <a:pt x="1643" y="11773"/>
                    <a:pt x="1625" y="11809"/>
                  </a:cubicBezTo>
                  <a:cubicBezTo>
                    <a:pt x="1608" y="11844"/>
                    <a:pt x="1339" y="12055"/>
                    <a:pt x="1032" y="12294"/>
                  </a:cubicBezTo>
                  <a:lnTo>
                    <a:pt x="477" y="12729"/>
                  </a:lnTo>
                  <a:lnTo>
                    <a:pt x="490" y="13087"/>
                  </a:lnTo>
                  <a:cubicBezTo>
                    <a:pt x="497" y="13306"/>
                    <a:pt x="486" y="13471"/>
                    <a:pt x="464" y="13521"/>
                  </a:cubicBezTo>
                  <a:cubicBezTo>
                    <a:pt x="441" y="13578"/>
                    <a:pt x="434" y="13882"/>
                    <a:pt x="439" y="14492"/>
                  </a:cubicBezTo>
                  <a:cubicBezTo>
                    <a:pt x="442" y="14976"/>
                    <a:pt x="427" y="15625"/>
                    <a:pt x="413" y="15924"/>
                  </a:cubicBezTo>
                  <a:lnTo>
                    <a:pt x="387" y="16461"/>
                  </a:lnTo>
                  <a:lnTo>
                    <a:pt x="219" y="16588"/>
                  </a:lnTo>
                  <a:cubicBezTo>
                    <a:pt x="123" y="16665"/>
                    <a:pt x="38" y="16757"/>
                    <a:pt x="26" y="16793"/>
                  </a:cubicBezTo>
                  <a:cubicBezTo>
                    <a:pt x="14" y="16829"/>
                    <a:pt x="0" y="17012"/>
                    <a:pt x="0" y="17176"/>
                  </a:cubicBezTo>
                  <a:lnTo>
                    <a:pt x="0" y="17457"/>
                  </a:lnTo>
                  <a:lnTo>
                    <a:pt x="232" y="17815"/>
                  </a:lnTo>
                  <a:cubicBezTo>
                    <a:pt x="360" y="18011"/>
                    <a:pt x="464" y="18198"/>
                    <a:pt x="464" y="18224"/>
                  </a:cubicBezTo>
                  <a:cubicBezTo>
                    <a:pt x="464" y="18250"/>
                    <a:pt x="418" y="18305"/>
                    <a:pt x="361" y="18352"/>
                  </a:cubicBezTo>
                  <a:cubicBezTo>
                    <a:pt x="271" y="18427"/>
                    <a:pt x="263" y="18454"/>
                    <a:pt x="271" y="18608"/>
                  </a:cubicBezTo>
                  <a:cubicBezTo>
                    <a:pt x="279" y="18763"/>
                    <a:pt x="376" y="18947"/>
                    <a:pt x="1187" y="20192"/>
                  </a:cubicBezTo>
                  <a:cubicBezTo>
                    <a:pt x="1695" y="20973"/>
                    <a:pt x="2135" y="21599"/>
                    <a:pt x="2167" y="21598"/>
                  </a:cubicBezTo>
                  <a:cubicBezTo>
                    <a:pt x="2199" y="21597"/>
                    <a:pt x="2375" y="21471"/>
                    <a:pt x="2567" y="21317"/>
                  </a:cubicBezTo>
                  <a:cubicBezTo>
                    <a:pt x="2871" y="21074"/>
                    <a:pt x="2927" y="21042"/>
                    <a:pt x="2967" y="21113"/>
                  </a:cubicBezTo>
                  <a:cubicBezTo>
                    <a:pt x="3039" y="21239"/>
                    <a:pt x="3091" y="21228"/>
                    <a:pt x="3535" y="20883"/>
                  </a:cubicBezTo>
                  <a:lnTo>
                    <a:pt x="3947" y="20550"/>
                  </a:lnTo>
                  <a:lnTo>
                    <a:pt x="4051" y="20704"/>
                  </a:lnTo>
                  <a:cubicBezTo>
                    <a:pt x="4142" y="20842"/>
                    <a:pt x="4176" y="20866"/>
                    <a:pt x="4296" y="20831"/>
                  </a:cubicBezTo>
                  <a:cubicBezTo>
                    <a:pt x="4371" y="20810"/>
                    <a:pt x="4576" y="20669"/>
                    <a:pt x="4760" y="20525"/>
                  </a:cubicBezTo>
                  <a:cubicBezTo>
                    <a:pt x="4944" y="20381"/>
                    <a:pt x="5242" y="20174"/>
                    <a:pt x="5418" y="20039"/>
                  </a:cubicBezTo>
                  <a:cubicBezTo>
                    <a:pt x="5594" y="19905"/>
                    <a:pt x="6595" y="19123"/>
                    <a:pt x="7650" y="18301"/>
                  </a:cubicBezTo>
                  <a:cubicBezTo>
                    <a:pt x="10516" y="16067"/>
                    <a:pt x="11035" y="15667"/>
                    <a:pt x="12320" y="14671"/>
                  </a:cubicBezTo>
                  <a:lnTo>
                    <a:pt x="13494" y="13751"/>
                  </a:lnTo>
                  <a:lnTo>
                    <a:pt x="13584" y="13879"/>
                  </a:lnTo>
                  <a:cubicBezTo>
                    <a:pt x="13635" y="13954"/>
                    <a:pt x="13686" y="14032"/>
                    <a:pt x="13700" y="14032"/>
                  </a:cubicBezTo>
                  <a:cubicBezTo>
                    <a:pt x="13733" y="14032"/>
                    <a:pt x="14713" y="13254"/>
                    <a:pt x="14861" y="13112"/>
                  </a:cubicBezTo>
                  <a:cubicBezTo>
                    <a:pt x="14925" y="13051"/>
                    <a:pt x="15058" y="12932"/>
                    <a:pt x="15158" y="12857"/>
                  </a:cubicBezTo>
                  <a:cubicBezTo>
                    <a:pt x="15301" y="12749"/>
                    <a:pt x="15338" y="12704"/>
                    <a:pt x="15325" y="12627"/>
                  </a:cubicBezTo>
                  <a:cubicBezTo>
                    <a:pt x="15305" y="12497"/>
                    <a:pt x="15340" y="12446"/>
                    <a:pt x="15790" y="12090"/>
                  </a:cubicBezTo>
                  <a:cubicBezTo>
                    <a:pt x="16116" y="11832"/>
                    <a:pt x="16168" y="11778"/>
                    <a:pt x="16177" y="11655"/>
                  </a:cubicBezTo>
                  <a:cubicBezTo>
                    <a:pt x="16190" y="11459"/>
                    <a:pt x="16217" y="11425"/>
                    <a:pt x="16280" y="11502"/>
                  </a:cubicBezTo>
                  <a:cubicBezTo>
                    <a:pt x="16365" y="11606"/>
                    <a:pt x="16551" y="11430"/>
                    <a:pt x="16551" y="11246"/>
                  </a:cubicBezTo>
                  <a:cubicBezTo>
                    <a:pt x="16551" y="11050"/>
                    <a:pt x="16590" y="11004"/>
                    <a:pt x="16680" y="11144"/>
                  </a:cubicBezTo>
                  <a:lnTo>
                    <a:pt x="16757" y="11272"/>
                  </a:lnTo>
                  <a:lnTo>
                    <a:pt x="17067" y="11016"/>
                  </a:lnTo>
                  <a:cubicBezTo>
                    <a:pt x="17339" y="10796"/>
                    <a:pt x="17390" y="10748"/>
                    <a:pt x="17467" y="10531"/>
                  </a:cubicBezTo>
                  <a:lnTo>
                    <a:pt x="17557" y="10275"/>
                  </a:lnTo>
                  <a:lnTo>
                    <a:pt x="17570" y="9125"/>
                  </a:lnTo>
                  <a:cubicBezTo>
                    <a:pt x="17580" y="7809"/>
                    <a:pt x="17592" y="7609"/>
                    <a:pt x="17763" y="7284"/>
                  </a:cubicBezTo>
                  <a:cubicBezTo>
                    <a:pt x="17856" y="7110"/>
                    <a:pt x="18109" y="6913"/>
                    <a:pt x="19376" y="5930"/>
                  </a:cubicBezTo>
                  <a:cubicBezTo>
                    <a:pt x="20197" y="5293"/>
                    <a:pt x="20939" y="4686"/>
                    <a:pt x="21027" y="4601"/>
                  </a:cubicBezTo>
                  <a:cubicBezTo>
                    <a:pt x="21115" y="4515"/>
                    <a:pt x="21250" y="4349"/>
                    <a:pt x="21324" y="4217"/>
                  </a:cubicBezTo>
                  <a:lnTo>
                    <a:pt x="21453" y="3962"/>
                  </a:lnTo>
                  <a:lnTo>
                    <a:pt x="21517" y="3297"/>
                  </a:lnTo>
                  <a:cubicBezTo>
                    <a:pt x="21600" y="2415"/>
                    <a:pt x="21598" y="1836"/>
                    <a:pt x="21517" y="1508"/>
                  </a:cubicBezTo>
                  <a:cubicBezTo>
                    <a:pt x="21435" y="1170"/>
                    <a:pt x="21190" y="762"/>
                    <a:pt x="20950" y="536"/>
                  </a:cubicBezTo>
                  <a:cubicBezTo>
                    <a:pt x="20840" y="433"/>
                    <a:pt x="20732" y="310"/>
                    <a:pt x="20705" y="281"/>
                  </a:cubicBezTo>
                  <a:cubicBezTo>
                    <a:pt x="20585" y="153"/>
                    <a:pt x="20064" y="-1"/>
                    <a:pt x="19763" y="0"/>
                  </a:cubicBezTo>
                  <a:close/>
                  <a:moveTo>
                    <a:pt x="19350" y="1636"/>
                  </a:moveTo>
                  <a:lnTo>
                    <a:pt x="19815" y="2351"/>
                  </a:lnTo>
                  <a:cubicBezTo>
                    <a:pt x="20411" y="3265"/>
                    <a:pt x="20429" y="3286"/>
                    <a:pt x="20382" y="3374"/>
                  </a:cubicBezTo>
                  <a:cubicBezTo>
                    <a:pt x="20362" y="3412"/>
                    <a:pt x="19512" y="4071"/>
                    <a:pt x="18499" y="4856"/>
                  </a:cubicBezTo>
                  <a:cubicBezTo>
                    <a:pt x="17485" y="5642"/>
                    <a:pt x="16640" y="6338"/>
                    <a:pt x="16615" y="6390"/>
                  </a:cubicBezTo>
                  <a:cubicBezTo>
                    <a:pt x="16574" y="6477"/>
                    <a:pt x="16533" y="6432"/>
                    <a:pt x="16138" y="5827"/>
                  </a:cubicBezTo>
                  <a:cubicBezTo>
                    <a:pt x="15825" y="5347"/>
                    <a:pt x="15712" y="5125"/>
                    <a:pt x="15712" y="5035"/>
                  </a:cubicBezTo>
                  <a:cubicBezTo>
                    <a:pt x="15712" y="4863"/>
                    <a:pt x="15850" y="4451"/>
                    <a:pt x="15945" y="4319"/>
                  </a:cubicBezTo>
                  <a:cubicBezTo>
                    <a:pt x="15988" y="4258"/>
                    <a:pt x="16696" y="3679"/>
                    <a:pt x="17518" y="3041"/>
                  </a:cubicBezTo>
                  <a:cubicBezTo>
                    <a:pt x="18341" y="2404"/>
                    <a:pt x="19088" y="1837"/>
                    <a:pt x="19182" y="1763"/>
                  </a:cubicBezTo>
                  <a:lnTo>
                    <a:pt x="19350" y="1636"/>
                  </a:lnTo>
                  <a:close/>
                </a:path>
              </a:pathLst>
            </a:custGeom>
            <a:ln w="12700">
              <a:miter lim="400000"/>
            </a:ln>
          </p:spPr>
        </p:pic>
        <p:pic>
          <p:nvPicPr>
            <p:cNvPr id="143" name="图像" descr="图像">
              <a:extLst>
                <a:ext uri="{FF2B5EF4-FFF2-40B4-BE49-F238E27FC236}">
                  <a16:creationId xmlns:a16="http://schemas.microsoft.com/office/drawing/2014/main" id="{59BF8559-C9C6-9EC2-CEB9-BD0262FC9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t="29736" b="29786"/>
            <a:stretch>
              <a:fillRect/>
            </a:stretch>
          </p:blipFill>
          <p:spPr>
            <a:xfrm>
              <a:off x="5274713" y="4441874"/>
              <a:ext cx="314263" cy="56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686"/>
                  </a:lnTo>
                  <a:lnTo>
                    <a:pt x="4832" y="686"/>
                  </a:lnTo>
                  <a:cubicBezTo>
                    <a:pt x="9969" y="652"/>
                    <a:pt x="10193" y="636"/>
                    <a:pt x="9266" y="1166"/>
                  </a:cubicBezTo>
                  <a:cubicBezTo>
                    <a:pt x="8789" y="1438"/>
                    <a:pt x="8072" y="2110"/>
                    <a:pt x="7651" y="2674"/>
                  </a:cubicBezTo>
                  <a:lnTo>
                    <a:pt x="7316" y="3154"/>
                  </a:lnTo>
                  <a:lnTo>
                    <a:pt x="7266" y="4594"/>
                  </a:lnTo>
                  <a:cubicBezTo>
                    <a:pt x="7238" y="5380"/>
                    <a:pt x="7224" y="6007"/>
                    <a:pt x="7229" y="6034"/>
                  </a:cubicBezTo>
                  <a:cubicBezTo>
                    <a:pt x="7234" y="6062"/>
                    <a:pt x="7336" y="5958"/>
                    <a:pt x="7453" y="5760"/>
                  </a:cubicBezTo>
                  <a:cubicBezTo>
                    <a:pt x="7705" y="5332"/>
                    <a:pt x="8346" y="4367"/>
                    <a:pt x="8707" y="3909"/>
                  </a:cubicBezTo>
                  <a:cubicBezTo>
                    <a:pt x="9236" y="3238"/>
                    <a:pt x="10439" y="2121"/>
                    <a:pt x="10856" y="1920"/>
                  </a:cubicBezTo>
                  <a:cubicBezTo>
                    <a:pt x="10943" y="1878"/>
                    <a:pt x="11173" y="1815"/>
                    <a:pt x="11365" y="1714"/>
                  </a:cubicBezTo>
                  <a:cubicBezTo>
                    <a:pt x="11557" y="1614"/>
                    <a:pt x="11881" y="1486"/>
                    <a:pt x="12086" y="1440"/>
                  </a:cubicBezTo>
                  <a:cubicBezTo>
                    <a:pt x="12469" y="1354"/>
                    <a:pt x="12471" y="1240"/>
                    <a:pt x="12123" y="1029"/>
                  </a:cubicBezTo>
                  <a:cubicBezTo>
                    <a:pt x="12042" y="979"/>
                    <a:pt x="11974" y="891"/>
                    <a:pt x="11974" y="823"/>
                  </a:cubicBezTo>
                  <a:cubicBezTo>
                    <a:pt x="11974" y="700"/>
                    <a:pt x="13458" y="568"/>
                    <a:pt x="13514" y="686"/>
                  </a:cubicBezTo>
                  <a:cubicBezTo>
                    <a:pt x="13532" y="725"/>
                    <a:pt x="13526" y="934"/>
                    <a:pt x="13489" y="1440"/>
                  </a:cubicBezTo>
                  <a:cubicBezTo>
                    <a:pt x="13460" y="1837"/>
                    <a:pt x="13396" y="2762"/>
                    <a:pt x="13353" y="3429"/>
                  </a:cubicBezTo>
                  <a:lnTo>
                    <a:pt x="13278" y="4594"/>
                  </a:lnTo>
                  <a:lnTo>
                    <a:pt x="13986" y="4594"/>
                  </a:lnTo>
                  <a:lnTo>
                    <a:pt x="14694" y="4526"/>
                  </a:lnTo>
                  <a:lnTo>
                    <a:pt x="14731" y="3771"/>
                  </a:lnTo>
                  <a:cubicBezTo>
                    <a:pt x="14781" y="2480"/>
                    <a:pt x="14813" y="2644"/>
                    <a:pt x="14309" y="2606"/>
                  </a:cubicBezTo>
                  <a:cubicBezTo>
                    <a:pt x="13799" y="2567"/>
                    <a:pt x="13832" y="2667"/>
                    <a:pt x="13936" y="1371"/>
                  </a:cubicBezTo>
                  <a:lnTo>
                    <a:pt x="13986" y="617"/>
                  </a:lnTo>
                  <a:lnTo>
                    <a:pt x="14682" y="617"/>
                  </a:lnTo>
                  <a:cubicBezTo>
                    <a:pt x="15063" y="617"/>
                    <a:pt x="15384" y="653"/>
                    <a:pt x="15390" y="686"/>
                  </a:cubicBezTo>
                  <a:cubicBezTo>
                    <a:pt x="15399" y="738"/>
                    <a:pt x="15378" y="1498"/>
                    <a:pt x="15327" y="3086"/>
                  </a:cubicBezTo>
                  <a:lnTo>
                    <a:pt x="15315" y="3497"/>
                  </a:lnTo>
                  <a:lnTo>
                    <a:pt x="15539" y="3497"/>
                  </a:lnTo>
                  <a:lnTo>
                    <a:pt x="15762" y="3497"/>
                  </a:lnTo>
                  <a:lnTo>
                    <a:pt x="15824" y="2126"/>
                  </a:lnTo>
                  <a:lnTo>
                    <a:pt x="15899" y="686"/>
                  </a:lnTo>
                  <a:lnTo>
                    <a:pt x="16073" y="686"/>
                  </a:lnTo>
                  <a:cubicBezTo>
                    <a:pt x="16170" y="666"/>
                    <a:pt x="16260" y="690"/>
                    <a:pt x="16271" y="754"/>
                  </a:cubicBezTo>
                  <a:cubicBezTo>
                    <a:pt x="16285" y="827"/>
                    <a:pt x="16270" y="1350"/>
                    <a:pt x="16234" y="2126"/>
                  </a:cubicBezTo>
                  <a:cubicBezTo>
                    <a:pt x="16202" y="2811"/>
                    <a:pt x="16172" y="3390"/>
                    <a:pt x="16172" y="3429"/>
                  </a:cubicBezTo>
                  <a:cubicBezTo>
                    <a:pt x="16172" y="3467"/>
                    <a:pt x="16287" y="3498"/>
                    <a:pt x="16420" y="3497"/>
                  </a:cubicBezTo>
                  <a:lnTo>
                    <a:pt x="16656" y="3497"/>
                  </a:lnTo>
                  <a:lnTo>
                    <a:pt x="16743" y="2126"/>
                  </a:lnTo>
                  <a:lnTo>
                    <a:pt x="16843" y="686"/>
                  </a:lnTo>
                  <a:lnTo>
                    <a:pt x="17551" y="686"/>
                  </a:lnTo>
                  <a:lnTo>
                    <a:pt x="18259" y="686"/>
                  </a:lnTo>
                  <a:lnTo>
                    <a:pt x="18246" y="1029"/>
                  </a:lnTo>
                  <a:cubicBezTo>
                    <a:pt x="18242" y="1198"/>
                    <a:pt x="18223" y="1477"/>
                    <a:pt x="18209" y="1714"/>
                  </a:cubicBezTo>
                  <a:cubicBezTo>
                    <a:pt x="18180" y="2201"/>
                    <a:pt x="18224" y="2145"/>
                    <a:pt x="17725" y="2743"/>
                  </a:cubicBezTo>
                  <a:cubicBezTo>
                    <a:pt x="17542" y="2962"/>
                    <a:pt x="17369" y="3217"/>
                    <a:pt x="17352" y="3291"/>
                  </a:cubicBezTo>
                  <a:cubicBezTo>
                    <a:pt x="17326" y="3409"/>
                    <a:pt x="17228" y="5196"/>
                    <a:pt x="17228" y="5554"/>
                  </a:cubicBezTo>
                  <a:cubicBezTo>
                    <a:pt x="17228" y="5625"/>
                    <a:pt x="17387" y="5443"/>
                    <a:pt x="17576" y="5143"/>
                  </a:cubicBezTo>
                  <a:cubicBezTo>
                    <a:pt x="17956" y="4538"/>
                    <a:pt x="18085" y="4434"/>
                    <a:pt x="18072" y="4731"/>
                  </a:cubicBezTo>
                  <a:cubicBezTo>
                    <a:pt x="18068" y="4834"/>
                    <a:pt x="18047" y="5422"/>
                    <a:pt x="18023" y="6034"/>
                  </a:cubicBezTo>
                  <a:cubicBezTo>
                    <a:pt x="17999" y="6647"/>
                    <a:pt x="17964" y="7192"/>
                    <a:pt x="17948" y="7269"/>
                  </a:cubicBezTo>
                  <a:cubicBezTo>
                    <a:pt x="17933" y="7345"/>
                    <a:pt x="17792" y="7624"/>
                    <a:pt x="17638" y="7886"/>
                  </a:cubicBezTo>
                  <a:cubicBezTo>
                    <a:pt x="17483" y="8147"/>
                    <a:pt x="17341" y="8430"/>
                    <a:pt x="17327" y="8503"/>
                  </a:cubicBezTo>
                  <a:cubicBezTo>
                    <a:pt x="17299" y="8647"/>
                    <a:pt x="17198" y="10945"/>
                    <a:pt x="17215" y="11040"/>
                  </a:cubicBezTo>
                  <a:cubicBezTo>
                    <a:pt x="17221" y="11072"/>
                    <a:pt x="17358" y="10831"/>
                    <a:pt x="17514" y="10560"/>
                  </a:cubicBezTo>
                  <a:cubicBezTo>
                    <a:pt x="17669" y="10289"/>
                    <a:pt x="17794" y="10168"/>
                    <a:pt x="17799" y="10217"/>
                  </a:cubicBezTo>
                  <a:cubicBezTo>
                    <a:pt x="17805" y="10266"/>
                    <a:pt x="17771" y="11153"/>
                    <a:pt x="17725" y="12206"/>
                  </a:cubicBezTo>
                  <a:lnTo>
                    <a:pt x="17650" y="14126"/>
                  </a:lnTo>
                  <a:lnTo>
                    <a:pt x="17315" y="14194"/>
                  </a:lnTo>
                  <a:lnTo>
                    <a:pt x="16979" y="14194"/>
                  </a:lnTo>
                  <a:lnTo>
                    <a:pt x="16930" y="15291"/>
                  </a:lnTo>
                  <a:lnTo>
                    <a:pt x="16880" y="16389"/>
                  </a:lnTo>
                  <a:lnTo>
                    <a:pt x="17377" y="16389"/>
                  </a:lnTo>
                  <a:cubicBezTo>
                    <a:pt x="17926" y="16389"/>
                    <a:pt x="18001" y="16305"/>
                    <a:pt x="18072" y="15703"/>
                  </a:cubicBezTo>
                  <a:cubicBezTo>
                    <a:pt x="18094" y="15525"/>
                    <a:pt x="18229" y="12893"/>
                    <a:pt x="18371" y="9806"/>
                  </a:cubicBezTo>
                  <a:cubicBezTo>
                    <a:pt x="18512" y="6719"/>
                    <a:pt x="18639" y="4053"/>
                    <a:pt x="18656" y="3909"/>
                  </a:cubicBezTo>
                  <a:cubicBezTo>
                    <a:pt x="18680" y="3705"/>
                    <a:pt x="18731" y="3612"/>
                    <a:pt x="18867" y="3497"/>
                  </a:cubicBezTo>
                  <a:cubicBezTo>
                    <a:pt x="19492" y="2970"/>
                    <a:pt x="19789" y="2764"/>
                    <a:pt x="19811" y="2811"/>
                  </a:cubicBezTo>
                  <a:cubicBezTo>
                    <a:pt x="19840" y="2870"/>
                    <a:pt x="19822" y="3713"/>
                    <a:pt x="19787" y="3909"/>
                  </a:cubicBezTo>
                  <a:cubicBezTo>
                    <a:pt x="19776" y="3967"/>
                    <a:pt x="19586" y="4027"/>
                    <a:pt x="19364" y="4046"/>
                  </a:cubicBezTo>
                  <a:lnTo>
                    <a:pt x="18954" y="4046"/>
                  </a:lnTo>
                  <a:lnTo>
                    <a:pt x="18942" y="4389"/>
                  </a:lnTo>
                  <a:cubicBezTo>
                    <a:pt x="18934" y="4559"/>
                    <a:pt x="18913" y="4887"/>
                    <a:pt x="18905" y="5143"/>
                  </a:cubicBezTo>
                  <a:lnTo>
                    <a:pt x="18892" y="5623"/>
                  </a:lnTo>
                  <a:lnTo>
                    <a:pt x="19302" y="5623"/>
                  </a:lnTo>
                  <a:cubicBezTo>
                    <a:pt x="19525" y="5623"/>
                    <a:pt x="19706" y="5640"/>
                    <a:pt x="19712" y="5691"/>
                  </a:cubicBezTo>
                  <a:cubicBezTo>
                    <a:pt x="19718" y="5743"/>
                    <a:pt x="19716" y="5952"/>
                    <a:pt x="19700" y="6171"/>
                  </a:cubicBezTo>
                  <a:lnTo>
                    <a:pt x="19662" y="6583"/>
                  </a:lnTo>
                  <a:lnTo>
                    <a:pt x="19252" y="6651"/>
                  </a:lnTo>
                  <a:lnTo>
                    <a:pt x="18843" y="6651"/>
                  </a:lnTo>
                  <a:lnTo>
                    <a:pt x="18818" y="7131"/>
                  </a:lnTo>
                  <a:cubicBezTo>
                    <a:pt x="18804" y="7404"/>
                    <a:pt x="18789" y="7835"/>
                    <a:pt x="18780" y="8023"/>
                  </a:cubicBezTo>
                  <a:lnTo>
                    <a:pt x="18756" y="8297"/>
                  </a:lnTo>
                  <a:lnTo>
                    <a:pt x="19165" y="8297"/>
                  </a:lnTo>
                  <a:cubicBezTo>
                    <a:pt x="19507" y="8297"/>
                    <a:pt x="19577" y="8345"/>
                    <a:pt x="19588" y="8503"/>
                  </a:cubicBezTo>
                  <a:cubicBezTo>
                    <a:pt x="19595" y="8606"/>
                    <a:pt x="19591" y="8813"/>
                    <a:pt x="19575" y="8914"/>
                  </a:cubicBezTo>
                  <a:cubicBezTo>
                    <a:pt x="19553" y="9065"/>
                    <a:pt x="19464" y="9051"/>
                    <a:pt x="19128" y="9051"/>
                  </a:cubicBezTo>
                  <a:lnTo>
                    <a:pt x="18718" y="9051"/>
                  </a:lnTo>
                  <a:lnTo>
                    <a:pt x="18681" y="9874"/>
                  </a:lnTo>
                  <a:cubicBezTo>
                    <a:pt x="18661" y="10315"/>
                    <a:pt x="18644" y="10730"/>
                    <a:pt x="18644" y="10766"/>
                  </a:cubicBezTo>
                  <a:cubicBezTo>
                    <a:pt x="18644" y="10801"/>
                    <a:pt x="18828" y="10816"/>
                    <a:pt x="19054" y="10834"/>
                  </a:cubicBezTo>
                  <a:lnTo>
                    <a:pt x="19476" y="10903"/>
                  </a:lnTo>
                  <a:lnTo>
                    <a:pt x="19476" y="11177"/>
                  </a:lnTo>
                  <a:cubicBezTo>
                    <a:pt x="19476" y="11336"/>
                    <a:pt x="19446" y="12026"/>
                    <a:pt x="19414" y="12754"/>
                  </a:cubicBezTo>
                  <a:cubicBezTo>
                    <a:pt x="19358" y="14004"/>
                    <a:pt x="19353" y="14087"/>
                    <a:pt x="19302" y="14057"/>
                  </a:cubicBezTo>
                  <a:cubicBezTo>
                    <a:pt x="19272" y="14040"/>
                    <a:pt x="19201" y="13786"/>
                    <a:pt x="19153" y="13509"/>
                  </a:cubicBezTo>
                  <a:cubicBezTo>
                    <a:pt x="19064" y="12990"/>
                    <a:pt x="19067" y="12850"/>
                    <a:pt x="19116" y="11931"/>
                  </a:cubicBezTo>
                  <a:cubicBezTo>
                    <a:pt x="19126" y="11734"/>
                    <a:pt x="19101" y="11657"/>
                    <a:pt x="18867" y="11657"/>
                  </a:cubicBezTo>
                  <a:lnTo>
                    <a:pt x="18607" y="11657"/>
                  </a:lnTo>
                  <a:lnTo>
                    <a:pt x="18507" y="13920"/>
                  </a:lnTo>
                  <a:cubicBezTo>
                    <a:pt x="18450" y="15138"/>
                    <a:pt x="18395" y="16173"/>
                    <a:pt x="18395" y="16251"/>
                  </a:cubicBezTo>
                  <a:cubicBezTo>
                    <a:pt x="18395" y="16351"/>
                    <a:pt x="18472" y="16389"/>
                    <a:pt x="18644" y="16389"/>
                  </a:cubicBezTo>
                  <a:cubicBezTo>
                    <a:pt x="18889" y="16389"/>
                    <a:pt x="18896" y="16427"/>
                    <a:pt x="18917" y="16114"/>
                  </a:cubicBezTo>
                  <a:lnTo>
                    <a:pt x="18942" y="15771"/>
                  </a:lnTo>
                  <a:lnTo>
                    <a:pt x="19041" y="16114"/>
                  </a:lnTo>
                  <a:lnTo>
                    <a:pt x="19141" y="16389"/>
                  </a:lnTo>
                  <a:lnTo>
                    <a:pt x="19960" y="16389"/>
                  </a:lnTo>
                  <a:lnTo>
                    <a:pt x="20768" y="16320"/>
                  </a:lnTo>
                  <a:lnTo>
                    <a:pt x="20805" y="15497"/>
                  </a:lnTo>
                  <a:cubicBezTo>
                    <a:pt x="20825" y="15053"/>
                    <a:pt x="20852" y="14622"/>
                    <a:pt x="20867" y="14469"/>
                  </a:cubicBezTo>
                  <a:lnTo>
                    <a:pt x="20904" y="14194"/>
                  </a:lnTo>
                  <a:lnTo>
                    <a:pt x="20395" y="14194"/>
                  </a:lnTo>
                  <a:cubicBezTo>
                    <a:pt x="20113" y="14194"/>
                    <a:pt x="19881" y="14121"/>
                    <a:pt x="19873" y="14057"/>
                  </a:cubicBezTo>
                  <a:cubicBezTo>
                    <a:pt x="19866" y="13995"/>
                    <a:pt x="19874" y="13820"/>
                    <a:pt x="19886" y="13646"/>
                  </a:cubicBezTo>
                  <a:lnTo>
                    <a:pt x="19911" y="13303"/>
                  </a:lnTo>
                  <a:lnTo>
                    <a:pt x="20259" y="13234"/>
                  </a:lnTo>
                  <a:lnTo>
                    <a:pt x="20619" y="13234"/>
                  </a:lnTo>
                  <a:lnTo>
                    <a:pt x="20656" y="12480"/>
                  </a:lnTo>
                  <a:lnTo>
                    <a:pt x="20693" y="11726"/>
                  </a:lnTo>
                  <a:lnTo>
                    <a:pt x="20333" y="11657"/>
                  </a:lnTo>
                  <a:cubicBezTo>
                    <a:pt x="20002" y="11599"/>
                    <a:pt x="19987" y="11617"/>
                    <a:pt x="19985" y="11383"/>
                  </a:cubicBezTo>
                  <a:cubicBezTo>
                    <a:pt x="19981" y="10731"/>
                    <a:pt x="20003" y="10698"/>
                    <a:pt x="20358" y="10697"/>
                  </a:cubicBezTo>
                  <a:cubicBezTo>
                    <a:pt x="20779" y="10697"/>
                    <a:pt x="20800" y="10642"/>
                    <a:pt x="20880" y="9326"/>
                  </a:cubicBezTo>
                  <a:cubicBezTo>
                    <a:pt x="20934" y="8429"/>
                    <a:pt x="20943" y="8358"/>
                    <a:pt x="21029" y="8297"/>
                  </a:cubicBezTo>
                  <a:cubicBezTo>
                    <a:pt x="21111" y="8238"/>
                    <a:pt x="21113" y="8271"/>
                    <a:pt x="21140" y="7680"/>
                  </a:cubicBezTo>
                  <a:cubicBezTo>
                    <a:pt x="21185" y="6719"/>
                    <a:pt x="21183" y="6446"/>
                    <a:pt x="21116" y="6446"/>
                  </a:cubicBezTo>
                  <a:cubicBezTo>
                    <a:pt x="21084" y="6446"/>
                    <a:pt x="21047" y="6398"/>
                    <a:pt x="21041" y="6309"/>
                  </a:cubicBezTo>
                  <a:cubicBezTo>
                    <a:pt x="21035" y="6220"/>
                    <a:pt x="21053" y="5651"/>
                    <a:pt x="21078" y="5074"/>
                  </a:cubicBezTo>
                  <a:cubicBezTo>
                    <a:pt x="21103" y="4498"/>
                    <a:pt x="21128" y="4028"/>
                    <a:pt x="21128" y="3977"/>
                  </a:cubicBezTo>
                  <a:cubicBezTo>
                    <a:pt x="21128" y="3926"/>
                    <a:pt x="20946" y="3840"/>
                    <a:pt x="20731" y="3840"/>
                  </a:cubicBezTo>
                  <a:cubicBezTo>
                    <a:pt x="20499" y="3840"/>
                    <a:pt x="20329" y="3843"/>
                    <a:pt x="20321" y="3771"/>
                  </a:cubicBezTo>
                  <a:cubicBezTo>
                    <a:pt x="20297" y="3558"/>
                    <a:pt x="20361" y="2605"/>
                    <a:pt x="20408" y="2469"/>
                  </a:cubicBezTo>
                  <a:cubicBezTo>
                    <a:pt x="20435" y="2388"/>
                    <a:pt x="20665" y="2347"/>
                    <a:pt x="21016" y="2331"/>
                  </a:cubicBezTo>
                  <a:lnTo>
                    <a:pt x="21600" y="2331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783" y="1303"/>
                  </a:moveTo>
                  <a:lnTo>
                    <a:pt x="696" y="2400"/>
                  </a:lnTo>
                  <a:lnTo>
                    <a:pt x="609" y="3429"/>
                  </a:lnTo>
                  <a:lnTo>
                    <a:pt x="1851" y="3497"/>
                  </a:lnTo>
                  <a:cubicBezTo>
                    <a:pt x="3226" y="3566"/>
                    <a:pt x="3181" y="3534"/>
                    <a:pt x="3341" y="4389"/>
                  </a:cubicBezTo>
                  <a:cubicBezTo>
                    <a:pt x="3399" y="4696"/>
                    <a:pt x="3416" y="4902"/>
                    <a:pt x="3416" y="5280"/>
                  </a:cubicBezTo>
                  <a:cubicBezTo>
                    <a:pt x="3416" y="5684"/>
                    <a:pt x="3397" y="5834"/>
                    <a:pt x="3304" y="6377"/>
                  </a:cubicBezTo>
                  <a:cubicBezTo>
                    <a:pt x="3115" y="7478"/>
                    <a:pt x="2813" y="8359"/>
                    <a:pt x="2211" y="9463"/>
                  </a:cubicBezTo>
                  <a:lnTo>
                    <a:pt x="1888" y="10011"/>
                  </a:lnTo>
                  <a:lnTo>
                    <a:pt x="2372" y="12686"/>
                  </a:lnTo>
                  <a:lnTo>
                    <a:pt x="2869" y="15291"/>
                  </a:lnTo>
                  <a:lnTo>
                    <a:pt x="3403" y="15291"/>
                  </a:lnTo>
                  <a:cubicBezTo>
                    <a:pt x="3753" y="15294"/>
                    <a:pt x="3937" y="15237"/>
                    <a:pt x="3937" y="15154"/>
                  </a:cubicBezTo>
                  <a:cubicBezTo>
                    <a:pt x="3937" y="14929"/>
                    <a:pt x="3467" y="12404"/>
                    <a:pt x="3205" y="11246"/>
                  </a:cubicBezTo>
                  <a:cubicBezTo>
                    <a:pt x="3064" y="10627"/>
                    <a:pt x="2958" y="10137"/>
                    <a:pt x="2969" y="10080"/>
                  </a:cubicBezTo>
                  <a:cubicBezTo>
                    <a:pt x="2979" y="10023"/>
                    <a:pt x="3069" y="9874"/>
                    <a:pt x="3167" y="9806"/>
                  </a:cubicBezTo>
                  <a:cubicBezTo>
                    <a:pt x="3654" y="9466"/>
                    <a:pt x="4036" y="8338"/>
                    <a:pt x="4198" y="6720"/>
                  </a:cubicBezTo>
                  <a:cubicBezTo>
                    <a:pt x="4257" y="6130"/>
                    <a:pt x="4260" y="5943"/>
                    <a:pt x="4260" y="5006"/>
                  </a:cubicBezTo>
                  <a:cubicBezTo>
                    <a:pt x="4260" y="4075"/>
                    <a:pt x="4256" y="3862"/>
                    <a:pt x="4198" y="3291"/>
                  </a:cubicBezTo>
                  <a:cubicBezTo>
                    <a:pt x="4088" y="2194"/>
                    <a:pt x="3884" y="1595"/>
                    <a:pt x="3528" y="1371"/>
                  </a:cubicBezTo>
                  <a:cubicBezTo>
                    <a:pt x="3430" y="1310"/>
                    <a:pt x="3092" y="1307"/>
                    <a:pt x="2596" y="1303"/>
                  </a:cubicBezTo>
                  <a:cubicBezTo>
                    <a:pt x="2431" y="1301"/>
                    <a:pt x="2247" y="1297"/>
                    <a:pt x="2049" y="1303"/>
                  </a:cubicBezTo>
                  <a:lnTo>
                    <a:pt x="783" y="1303"/>
                  </a:lnTo>
                  <a:close/>
                  <a:moveTo>
                    <a:pt x="14992" y="4114"/>
                  </a:moveTo>
                  <a:lnTo>
                    <a:pt x="14918" y="5897"/>
                  </a:lnTo>
                  <a:cubicBezTo>
                    <a:pt x="14831" y="7969"/>
                    <a:pt x="14731" y="10401"/>
                    <a:pt x="14731" y="10560"/>
                  </a:cubicBezTo>
                  <a:cubicBezTo>
                    <a:pt x="14731" y="10622"/>
                    <a:pt x="14946" y="10697"/>
                    <a:pt x="15216" y="10697"/>
                  </a:cubicBezTo>
                  <a:cubicBezTo>
                    <a:pt x="15481" y="10697"/>
                    <a:pt x="15706" y="10711"/>
                    <a:pt x="15712" y="10766"/>
                  </a:cubicBezTo>
                  <a:cubicBezTo>
                    <a:pt x="15719" y="10821"/>
                    <a:pt x="15711" y="11114"/>
                    <a:pt x="15700" y="11383"/>
                  </a:cubicBezTo>
                  <a:cubicBezTo>
                    <a:pt x="15689" y="11652"/>
                    <a:pt x="15682" y="12054"/>
                    <a:pt x="15675" y="12274"/>
                  </a:cubicBezTo>
                  <a:cubicBezTo>
                    <a:pt x="15668" y="12495"/>
                    <a:pt x="15631" y="13219"/>
                    <a:pt x="15601" y="13920"/>
                  </a:cubicBezTo>
                  <a:cubicBezTo>
                    <a:pt x="15533" y="15450"/>
                    <a:pt x="15533" y="16075"/>
                    <a:pt x="15588" y="16251"/>
                  </a:cubicBezTo>
                  <a:cubicBezTo>
                    <a:pt x="15612" y="16327"/>
                    <a:pt x="15840" y="16386"/>
                    <a:pt x="16160" y="16389"/>
                  </a:cubicBezTo>
                  <a:lnTo>
                    <a:pt x="16681" y="16389"/>
                  </a:lnTo>
                  <a:lnTo>
                    <a:pt x="16731" y="15497"/>
                  </a:lnTo>
                  <a:cubicBezTo>
                    <a:pt x="16753" y="15002"/>
                    <a:pt x="16787" y="14519"/>
                    <a:pt x="16806" y="14400"/>
                  </a:cubicBezTo>
                  <a:cubicBezTo>
                    <a:pt x="16838" y="14194"/>
                    <a:pt x="16816" y="14194"/>
                    <a:pt x="16495" y="14194"/>
                  </a:cubicBezTo>
                  <a:cubicBezTo>
                    <a:pt x="16308" y="14194"/>
                    <a:pt x="16153" y="14108"/>
                    <a:pt x="16147" y="14057"/>
                  </a:cubicBezTo>
                  <a:cubicBezTo>
                    <a:pt x="16132" y="13919"/>
                    <a:pt x="16244" y="11015"/>
                    <a:pt x="16271" y="10834"/>
                  </a:cubicBezTo>
                  <a:cubicBezTo>
                    <a:pt x="16285" y="10741"/>
                    <a:pt x="16350" y="10698"/>
                    <a:pt x="16433" y="10697"/>
                  </a:cubicBezTo>
                  <a:cubicBezTo>
                    <a:pt x="16615" y="10696"/>
                    <a:pt x="16720" y="10503"/>
                    <a:pt x="16793" y="10080"/>
                  </a:cubicBezTo>
                  <a:cubicBezTo>
                    <a:pt x="16843" y="9790"/>
                    <a:pt x="16863" y="9423"/>
                    <a:pt x="16917" y="7954"/>
                  </a:cubicBezTo>
                  <a:cubicBezTo>
                    <a:pt x="16960" y="6789"/>
                    <a:pt x="16971" y="6241"/>
                    <a:pt x="16955" y="6240"/>
                  </a:cubicBezTo>
                  <a:cubicBezTo>
                    <a:pt x="16926" y="6239"/>
                    <a:pt x="16509" y="6859"/>
                    <a:pt x="16495" y="6926"/>
                  </a:cubicBezTo>
                  <a:cubicBezTo>
                    <a:pt x="16490" y="6950"/>
                    <a:pt x="16466" y="7426"/>
                    <a:pt x="16445" y="7954"/>
                  </a:cubicBezTo>
                  <a:lnTo>
                    <a:pt x="16408" y="8914"/>
                  </a:lnTo>
                  <a:lnTo>
                    <a:pt x="15824" y="8983"/>
                  </a:lnTo>
                  <a:cubicBezTo>
                    <a:pt x="15423" y="9026"/>
                    <a:pt x="15223" y="9080"/>
                    <a:pt x="15178" y="9189"/>
                  </a:cubicBezTo>
                  <a:cubicBezTo>
                    <a:pt x="15136" y="9291"/>
                    <a:pt x="15105" y="9266"/>
                    <a:pt x="15091" y="9189"/>
                  </a:cubicBezTo>
                  <a:cubicBezTo>
                    <a:pt x="15077" y="9111"/>
                    <a:pt x="15112" y="8918"/>
                    <a:pt x="15191" y="8640"/>
                  </a:cubicBezTo>
                  <a:lnTo>
                    <a:pt x="15315" y="8229"/>
                  </a:lnTo>
                  <a:lnTo>
                    <a:pt x="15352" y="7200"/>
                  </a:lnTo>
                  <a:cubicBezTo>
                    <a:pt x="15375" y="6631"/>
                    <a:pt x="15403" y="6115"/>
                    <a:pt x="15414" y="6034"/>
                  </a:cubicBezTo>
                  <a:cubicBezTo>
                    <a:pt x="15428" y="5933"/>
                    <a:pt x="15564" y="5856"/>
                    <a:pt x="15837" y="5829"/>
                  </a:cubicBezTo>
                  <a:cubicBezTo>
                    <a:pt x="16212" y="5791"/>
                    <a:pt x="16241" y="5795"/>
                    <a:pt x="16358" y="5486"/>
                  </a:cubicBezTo>
                  <a:cubicBezTo>
                    <a:pt x="16460" y="5217"/>
                    <a:pt x="16623" y="4822"/>
                    <a:pt x="16942" y="4183"/>
                  </a:cubicBezTo>
                  <a:cubicBezTo>
                    <a:pt x="16961" y="4146"/>
                    <a:pt x="16531" y="4120"/>
                    <a:pt x="15986" y="4114"/>
                  </a:cubicBezTo>
                  <a:lnTo>
                    <a:pt x="14992" y="4114"/>
                  </a:lnTo>
                  <a:close/>
                  <a:moveTo>
                    <a:pt x="4596" y="4457"/>
                  </a:moveTo>
                  <a:lnTo>
                    <a:pt x="4571" y="4937"/>
                  </a:lnTo>
                  <a:cubicBezTo>
                    <a:pt x="4436" y="7970"/>
                    <a:pt x="4245" y="12569"/>
                    <a:pt x="4236" y="13029"/>
                  </a:cubicBezTo>
                  <a:cubicBezTo>
                    <a:pt x="4214" y="14134"/>
                    <a:pt x="4360" y="14878"/>
                    <a:pt x="4633" y="15154"/>
                  </a:cubicBezTo>
                  <a:cubicBezTo>
                    <a:pt x="4790" y="15313"/>
                    <a:pt x="5685" y="15168"/>
                    <a:pt x="5912" y="14949"/>
                  </a:cubicBezTo>
                  <a:cubicBezTo>
                    <a:pt x="6018" y="14847"/>
                    <a:pt x="6148" y="14660"/>
                    <a:pt x="6198" y="14537"/>
                  </a:cubicBezTo>
                  <a:cubicBezTo>
                    <a:pt x="6303" y="14280"/>
                    <a:pt x="6422" y="13606"/>
                    <a:pt x="6471" y="12960"/>
                  </a:cubicBezTo>
                  <a:cubicBezTo>
                    <a:pt x="6518" y="12344"/>
                    <a:pt x="6696" y="8243"/>
                    <a:pt x="6832" y="4731"/>
                  </a:cubicBezTo>
                  <a:lnTo>
                    <a:pt x="6844" y="4457"/>
                  </a:lnTo>
                  <a:lnTo>
                    <a:pt x="6484" y="4457"/>
                  </a:lnTo>
                  <a:lnTo>
                    <a:pt x="6124" y="4457"/>
                  </a:lnTo>
                  <a:lnTo>
                    <a:pt x="6061" y="6309"/>
                  </a:lnTo>
                  <a:cubicBezTo>
                    <a:pt x="5893" y="11101"/>
                    <a:pt x="5818" y="12346"/>
                    <a:pt x="5627" y="12891"/>
                  </a:cubicBezTo>
                  <a:cubicBezTo>
                    <a:pt x="5525" y="13180"/>
                    <a:pt x="5296" y="13309"/>
                    <a:pt x="5180" y="13166"/>
                  </a:cubicBezTo>
                  <a:cubicBezTo>
                    <a:pt x="5044" y="12998"/>
                    <a:pt x="4993" y="12759"/>
                    <a:pt x="4993" y="12206"/>
                  </a:cubicBezTo>
                  <a:cubicBezTo>
                    <a:pt x="4993" y="11960"/>
                    <a:pt x="5068" y="10165"/>
                    <a:pt x="5155" y="8229"/>
                  </a:cubicBezTo>
                  <a:cubicBezTo>
                    <a:pt x="5241" y="6292"/>
                    <a:pt x="5304" y="4655"/>
                    <a:pt x="5304" y="4594"/>
                  </a:cubicBezTo>
                  <a:cubicBezTo>
                    <a:pt x="5304" y="4534"/>
                    <a:pt x="5153" y="4457"/>
                    <a:pt x="4956" y="4457"/>
                  </a:cubicBezTo>
                  <a:lnTo>
                    <a:pt x="4596" y="4457"/>
                  </a:lnTo>
                  <a:close/>
                  <a:moveTo>
                    <a:pt x="11837" y="4457"/>
                  </a:moveTo>
                  <a:cubicBezTo>
                    <a:pt x="11532" y="4467"/>
                    <a:pt x="11316" y="4643"/>
                    <a:pt x="11092" y="5143"/>
                  </a:cubicBezTo>
                  <a:cubicBezTo>
                    <a:pt x="10625" y="6182"/>
                    <a:pt x="10303" y="8169"/>
                    <a:pt x="10235" y="10354"/>
                  </a:cubicBezTo>
                  <a:cubicBezTo>
                    <a:pt x="10158" y="12820"/>
                    <a:pt x="10471" y="14758"/>
                    <a:pt x="11017" y="15154"/>
                  </a:cubicBezTo>
                  <a:cubicBezTo>
                    <a:pt x="11309" y="15365"/>
                    <a:pt x="11858" y="14938"/>
                    <a:pt x="12185" y="14263"/>
                  </a:cubicBezTo>
                  <a:lnTo>
                    <a:pt x="12297" y="14057"/>
                  </a:lnTo>
                  <a:lnTo>
                    <a:pt x="12359" y="12754"/>
                  </a:lnTo>
                  <a:cubicBezTo>
                    <a:pt x="12389" y="12058"/>
                    <a:pt x="12411" y="11473"/>
                    <a:pt x="12409" y="11451"/>
                  </a:cubicBezTo>
                  <a:cubicBezTo>
                    <a:pt x="12406" y="11430"/>
                    <a:pt x="12336" y="11581"/>
                    <a:pt x="12259" y="11794"/>
                  </a:cubicBezTo>
                  <a:cubicBezTo>
                    <a:pt x="12071" y="12318"/>
                    <a:pt x="11686" y="13036"/>
                    <a:pt x="11514" y="13166"/>
                  </a:cubicBezTo>
                  <a:cubicBezTo>
                    <a:pt x="11349" y="13290"/>
                    <a:pt x="11201" y="13158"/>
                    <a:pt x="11117" y="12823"/>
                  </a:cubicBezTo>
                  <a:cubicBezTo>
                    <a:pt x="11043" y="12529"/>
                    <a:pt x="10964" y="11741"/>
                    <a:pt x="10993" y="11589"/>
                  </a:cubicBezTo>
                  <a:cubicBezTo>
                    <a:pt x="11004" y="11529"/>
                    <a:pt x="11265" y="11214"/>
                    <a:pt x="11576" y="10903"/>
                  </a:cubicBezTo>
                  <a:cubicBezTo>
                    <a:pt x="12174" y="10304"/>
                    <a:pt x="12335" y="10054"/>
                    <a:pt x="12483" y="9463"/>
                  </a:cubicBezTo>
                  <a:cubicBezTo>
                    <a:pt x="12582" y="9066"/>
                    <a:pt x="12630" y="8694"/>
                    <a:pt x="12669" y="7886"/>
                  </a:cubicBezTo>
                  <a:cubicBezTo>
                    <a:pt x="12732" y="6603"/>
                    <a:pt x="12564" y="5287"/>
                    <a:pt x="12272" y="4731"/>
                  </a:cubicBezTo>
                  <a:cubicBezTo>
                    <a:pt x="12138" y="4477"/>
                    <a:pt x="12078" y="4449"/>
                    <a:pt x="11837" y="4457"/>
                  </a:cubicBezTo>
                  <a:close/>
                  <a:moveTo>
                    <a:pt x="10235" y="4800"/>
                  </a:moveTo>
                  <a:lnTo>
                    <a:pt x="10073" y="4937"/>
                  </a:lnTo>
                  <a:cubicBezTo>
                    <a:pt x="9985" y="4982"/>
                    <a:pt x="9820" y="5068"/>
                    <a:pt x="9713" y="5143"/>
                  </a:cubicBezTo>
                  <a:lnTo>
                    <a:pt x="9527" y="5280"/>
                  </a:lnTo>
                  <a:lnTo>
                    <a:pt x="9490" y="6171"/>
                  </a:lnTo>
                  <a:cubicBezTo>
                    <a:pt x="9470" y="6659"/>
                    <a:pt x="9403" y="7925"/>
                    <a:pt x="9353" y="9051"/>
                  </a:cubicBezTo>
                  <a:cubicBezTo>
                    <a:pt x="9302" y="10178"/>
                    <a:pt x="9253" y="11660"/>
                    <a:pt x="9229" y="12274"/>
                  </a:cubicBezTo>
                  <a:cubicBezTo>
                    <a:pt x="9205" y="12889"/>
                    <a:pt x="9165" y="13802"/>
                    <a:pt x="9142" y="14331"/>
                  </a:cubicBezTo>
                  <a:lnTo>
                    <a:pt x="9092" y="15291"/>
                  </a:lnTo>
                  <a:lnTo>
                    <a:pt x="9440" y="15291"/>
                  </a:lnTo>
                  <a:lnTo>
                    <a:pt x="9775" y="15291"/>
                  </a:lnTo>
                  <a:lnTo>
                    <a:pt x="9912" y="12274"/>
                  </a:lnTo>
                  <a:cubicBezTo>
                    <a:pt x="9983" y="10619"/>
                    <a:pt x="10082" y="8284"/>
                    <a:pt x="10135" y="7063"/>
                  </a:cubicBezTo>
                  <a:lnTo>
                    <a:pt x="10235" y="4800"/>
                  </a:lnTo>
                  <a:close/>
                  <a:moveTo>
                    <a:pt x="1043" y="5006"/>
                  </a:moveTo>
                  <a:lnTo>
                    <a:pt x="981" y="6034"/>
                  </a:lnTo>
                  <a:cubicBezTo>
                    <a:pt x="942" y="6631"/>
                    <a:pt x="828" y="8304"/>
                    <a:pt x="733" y="9737"/>
                  </a:cubicBezTo>
                  <a:cubicBezTo>
                    <a:pt x="638" y="11171"/>
                    <a:pt x="526" y="12929"/>
                    <a:pt x="484" y="13577"/>
                  </a:cubicBezTo>
                  <a:cubicBezTo>
                    <a:pt x="443" y="14226"/>
                    <a:pt x="406" y="14828"/>
                    <a:pt x="397" y="14949"/>
                  </a:cubicBezTo>
                  <a:cubicBezTo>
                    <a:pt x="382" y="15155"/>
                    <a:pt x="400" y="15186"/>
                    <a:pt x="820" y="15154"/>
                  </a:cubicBezTo>
                  <a:lnTo>
                    <a:pt x="1267" y="15086"/>
                  </a:lnTo>
                  <a:lnTo>
                    <a:pt x="1391" y="13371"/>
                  </a:lnTo>
                  <a:cubicBezTo>
                    <a:pt x="1511" y="11576"/>
                    <a:pt x="1753" y="7833"/>
                    <a:pt x="1851" y="6309"/>
                  </a:cubicBezTo>
                  <a:cubicBezTo>
                    <a:pt x="1881" y="5831"/>
                    <a:pt x="1917" y="5331"/>
                    <a:pt x="1925" y="5211"/>
                  </a:cubicBezTo>
                  <a:cubicBezTo>
                    <a:pt x="1940" y="5009"/>
                    <a:pt x="1907" y="5005"/>
                    <a:pt x="1491" y="5006"/>
                  </a:cubicBezTo>
                  <a:lnTo>
                    <a:pt x="1043" y="5006"/>
                  </a:lnTo>
                  <a:close/>
                  <a:moveTo>
                    <a:pt x="9055" y="5623"/>
                  </a:moveTo>
                  <a:cubicBezTo>
                    <a:pt x="9050" y="5595"/>
                    <a:pt x="8883" y="5664"/>
                    <a:pt x="8695" y="5829"/>
                  </a:cubicBezTo>
                  <a:lnTo>
                    <a:pt x="8359" y="6171"/>
                  </a:lnTo>
                  <a:lnTo>
                    <a:pt x="8173" y="10217"/>
                  </a:lnTo>
                  <a:cubicBezTo>
                    <a:pt x="7927" y="15628"/>
                    <a:pt x="7867" y="16689"/>
                    <a:pt x="7726" y="17554"/>
                  </a:cubicBezTo>
                  <a:cubicBezTo>
                    <a:pt x="7641" y="18075"/>
                    <a:pt x="7422" y="18721"/>
                    <a:pt x="7291" y="18857"/>
                  </a:cubicBezTo>
                  <a:cubicBezTo>
                    <a:pt x="7224" y="18927"/>
                    <a:pt x="7227" y="18960"/>
                    <a:pt x="7204" y="19611"/>
                  </a:cubicBezTo>
                  <a:cubicBezTo>
                    <a:pt x="7190" y="19997"/>
                    <a:pt x="7164" y="20469"/>
                    <a:pt x="7154" y="20640"/>
                  </a:cubicBezTo>
                  <a:lnTo>
                    <a:pt x="7142" y="20914"/>
                  </a:lnTo>
                  <a:lnTo>
                    <a:pt x="6695" y="20983"/>
                  </a:lnTo>
                  <a:cubicBezTo>
                    <a:pt x="6449" y="21001"/>
                    <a:pt x="6234" y="20974"/>
                    <a:pt x="6223" y="20914"/>
                  </a:cubicBezTo>
                  <a:cubicBezTo>
                    <a:pt x="6212" y="20853"/>
                    <a:pt x="6227" y="20690"/>
                    <a:pt x="6260" y="20571"/>
                  </a:cubicBezTo>
                  <a:cubicBezTo>
                    <a:pt x="6352" y="20241"/>
                    <a:pt x="6346" y="19742"/>
                    <a:pt x="6235" y="19337"/>
                  </a:cubicBezTo>
                  <a:cubicBezTo>
                    <a:pt x="6095" y="18826"/>
                    <a:pt x="6116" y="18555"/>
                    <a:pt x="6310" y="18583"/>
                  </a:cubicBezTo>
                  <a:cubicBezTo>
                    <a:pt x="6409" y="18597"/>
                    <a:pt x="6437" y="18583"/>
                    <a:pt x="6446" y="18377"/>
                  </a:cubicBezTo>
                  <a:cubicBezTo>
                    <a:pt x="6457" y="18149"/>
                    <a:pt x="6444" y="18170"/>
                    <a:pt x="6273" y="18171"/>
                  </a:cubicBezTo>
                  <a:cubicBezTo>
                    <a:pt x="6049" y="18174"/>
                    <a:pt x="5972" y="18314"/>
                    <a:pt x="5962" y="18857"/>
                  </a:cubicBezTo>
                  <a:cubicBezTo>
                    <a:pt x="5956" y="19198"/>
                    <a:pt x="5970" y="19254"/>
                    <a:pt x="6049" y="19543"/>
                  </a:cubicBezTo>
                  <a:cubicBezTo>
                    <a:pt x="6150" y="19910"/>
                    <a:pt x="6161" y="20000"/>
                    <a:pt x="6111" y="20229"/>
                  </a:cubicBezTo>
                  <a:cubicBezTo>
                    <a:pt x="6087" y="20337"/>
                    <a:pt x="6030" y="20355"/>
                    <a:pt x="5937" y="20297"/>
                  </a:cubicBezTo>
                  <a:cubicBezTo>
                    <a:pt x="5804" y="20214"/>
                    <a:pt x="5808" y="20226"/>
                    <a:pt x="5801" y="20571"/>
                  </a:cubicBezTo>
                  <a:cubicBezTo>
                    <a:pt x="5788" y="21178"/>
                    <a:pt x="5726" y="21093"/>
                    <a:pt x="5614" y="20229"/>
                  </a:cubicBezTo>
                  <a:cubicBezTo>
                    <a:pt x="5557" y="19786"/>
                    <a:pt x="5515" y="19368"/>
                    <a:pt x="5515" y="19337"/>
                  </a:cubicBezTo>
                  <a:cubicBezTo>
                    <a:pt x="5515" y="19306"/>
                    <a:pt x="5581" y="19018"/>
                    <a:pt x="5664" y="18720"/>
                  </a:cubicBezTo>
                  <a:lnTo>
                    <a:pt x="5813" y="18171"/>
                  </a:lnTo>
                  <a:lnTo>
                    <a:pt x="5714" y="18171"/>
                  </a:lnTo>
                  <a:cubicBezTo>
                    <a:pt x="5623" y="18139"/>
                    <a:pt x="5590" y="18187"/>
                    <a:pt x="5490" y="18583"/>
                  </a:cubicBezTo>
                  <a:cubicBezTo>
                    <a:pt x="5314" y="19280"/>
                    <a:pt x="5299" y="19045"/>
                    <a:pt x="5428" y="17349"/>
                  </a:cubicBezTo>
                  <a:cubicBezTo>
                    <a:pt x="5442" y="17161"/>
                    <a:pt x="5441" y="17143"/>
                    <a:pt x="5353" y="17143"/>
                  </a:cubicBezTo>
                  <a:lnTo>
                    <a:pt x="5242" y="17143"/>
                  </a:lnTo>
                  <a:lnTo>
                    <a:pt x="5192" y="18103"/>
                  </a:lnTo>
                  <a:cubicBezTo>
                    <a:pt x="5108" y="19428"/>
                    <a:pt x="5008" y="20654"/>
                    <a:pt x="4981" y="20846"/>
                  </a:cubicBezTo>
                  <a:cubicBezTo>
                    <a:pt x="4965" y="20957"/>
                    <a:pt x="4917" y="21008"/>
                    <a:pt x="4807" y="20983"/>
                  </a:cubicBezTo>
                  <a:lnTo>
                    <a:pt x="4645" y="20914"/>
                  </a:lnTo>
                  <a:lnTo>
                    <a:pt x="4658" y="20571"/>
                  </a:lnTo>
                  <a:cubicBezTo>
                    <a:pt x="4678" y="19543"/>
                    <a:pt x="4828" y="18557"/>
                    <a:pt x="4956" y="18651"/>
                  </a:cubicBezTo>
                  <a:cubicBezTo>
                    <a:pt x="5012" y="18693"/>
                    <a:pt x="5043" y="18555"/>
                    <a:pt x="5043" y="18240"/>
                  </a:cubicBezTo>
                  <a:cubicBezTo>
                    <a:pt x="5043" y="18180"/>
                    <a:pt x="4939" y="18157"/>
                    <a:pt x="4819" y="18171"/>
                  </a:cubicBezTo>
                  <a:lnTo>
                    <a:pt x="4608" y="18171"/>
                  </a:lnTo>
                  <a:lnTo>
                    <a:pt x="4558" y="18857"/>
                  </a:lnTo>
                  <a:cubicBezTo>
                    <a:pt x="4538" y="19233"/>
                    <a:pt x="4503" y="19905"/>
                    <a:pt x="4472" y="20297"/>
                  </a:cubicBezTo>
                  <a:lnTo>
                    <a:pt x="4409" y="20983"/>
                  </a:lnTo>
                  <a:lnTo>
                    <a:pt x="4298" y="20983"/>
                  </a:lnTo>
                  <a:cubicBezTo>
                    <a:pt x="4155" y="20983"/>
                    <a:pt x="4140" y="20809"/>
                    <a:pt x="4248" y="20503"/>
                  </a:cubicBezTo>
                  <a:cubicBezTo>
                    <a:pt x="4414" y="20031"/>
                    <a:pt x="4486" y="18952"/>
                    <a:pt x="4385" y="18446"/>
                  </a:cubicBezTo>
                  <a:cubicBezTo>
                    <a:pt x="4348" y="18262"/>
                    <a:pt x="4296" y="18206"/>
                    <a:pt x="4149" y="18171"/>
                  </a:cubicBezTo>
                  <a:cubicBezTo>
                    <a:pt x="3980" y="18132"/>
                    <a:pt x="3945" y="18156"/>
                    <a:pt x="3838" y="18446"/>
                  </a:cubicBezTo>
                  <a:cubicBezTo>
                    <a:pt x="3652" y="18947"/>
                    <a:pt x="3586" y="19984"/>
                    <a:pt x="3701" y="20571"/>
                  </a:cubicBezTo>
                  <a:cubicBezTo>
                    <a:pt x="3732" y="20729"/>
                    <a:pt x="3747" y="20870"/>
                    <a:pt x="3739" y="20914"/>
                  </a:cubicBezTo>
                  <a:cubicBezTo>
                    <a:pt x="3718" y="21027"/>
                    <a:pt x="3267" y="21028"/>
                    <a:pt x="3254" y="20914"/>
                  </a:cubicBezTo>
                  <a:cubicBezTo>
                    <a:pt x="3249" y="20863"/>
                    <a:pt x="3344" y="20191"/>
                    <a:pt x="3465" y="19474"/>
                  </a:cubicBezTo>
                  <a:lnTo>
                    <a:pt x="3689" y="18171"/>
                  </a:lnTo>
                  <a:lnTo>
                    <a:pt x="3590" y="18171"/>
                  </a:lnTo>
                  <a:cubicBezTo>
                    <a:pt x="3500" y="18133"/>
                    <a:pt x="3493" y="18142"/>
                    <a:pt x="3366" y="18926"/>
                  </a:cubicBezTo>
                  <a:cubicBezTo>
                    <a:pt x="3293" y="19374"/>
                    <a:pt x="3227" y="19713"/>
                    <a:pt x="3217" y="19680"/>
                  </a:cubicBezTo>
                  <a:cubicBezTo>
                    <a:pt x="3207" y="19647"/>
                    <a:pt x="3188" y="19268"/>
                    <a:pt x="3180" y="18857"/>
                  </a:cubicBezTo>
                  <a:lnTo>
                    <a:pt x="3167" y="18103"/>
                  </a:lnTo>
                  <a:lnTo>
                    <a:pt x="3068" y="18103"/>
                  </a:lnTo>
                  <a:cubicBezTo>
                    <a:pt x="2974" y="18103"/>
                    <a:pt x="2967" y="18157"/>
                    <a:pt x="2844" y="18994"/>
                  </a:cubicBezTo>
                  <a:cubicBezTo>
                    <a:pt x="2714" y="19886"/>
                    <a:pt x="2683" y="19994"/>
                    <a:pt x="2683" y="19406"/>
                  </a:cubicBezTo>
                  <a:cubicBezTo>
                    <a:pt x="2683" y="19222"/>
                    <a:pt x="2666" y="18839"/>
                    <a:pt x="2658" y="18583"/>
                  </a:cubicBezTo>
                  <a:cubicBezTo>
                    <a:pt x="2645" y="18139"/>
                    <a:pt x="2642" y="18103"/>
                    <a:pt x="2559" y="18103"/>
                  </a:cubicBezTo>
                  <a:cubicBezTo>
                    <a:pt x="2456" y="18103"/>
                    <a:pt x="2460" y="18130"/>
                    <a:pt x="2509" y="19680"/>
                  </a:cubicBezTo>
                  <a:cubicBezTo>
                    <a:pt x="2528" y="20279"/>
                    <a:pt x="2541" y="20780"/>
                    <a:pt x="2534" y="20846"/>
                  </a:cubicBezTo>
                  <a:cubicBezTo>
                    <a:pt x="2515" y="21011"/>
                    <a:pt x="2254" y="21013"/>
                    <a:pt x="2236" y="20846"/>
                  </a:cubicBezTo>
                  <a:cubicBezTo>
                    <a:pt x="2227" y="20772"/>
                    <a:pt x="2234" y="20647"/>
                    <a:pt x="2248" y="20571"/>
                  </a:cubicBezTo>
                  <a:cubicBezTo>
                    <a:pt x="2291" y="20337"/>
                    <a:pt x="2277" y="20224"/>
                    <a:pt x="2211" y="20297"/>
                  </a:cubicBezTo>
                  <a:cubicBezTo>
                    <a:pt x="2108" y="20411"/>
                    <a:pt x="2091" y="20200"/>
                    <a:pt x="2149" y="19406"/>
                  </a:cubicBezTo>
                  <a:cubicBezTo>
                    <a:pt x="2197" y="18748"/>
                    <a:pt x="2197" y="18688"/>
                    <a:pt x="2285" y="18651"/>
                  </a:cubicBezTo>
                  <a:cubicBezTo>
                    <a:pt x="2354" y="18623"/>
                    <a:pt x="2389" y="18558"/>
                    <a:pt x="2397" y="18377"/>
                  </a:cubicBezTo>
                  <a:cubicBezTo>
                    <a:pt x="2407" y="18174"/>
                    <a:pt x="2396" y="18103"/>
                    <a:pt x="2335" y="18103"/>
                  </a:cubicBezTo>
                  <a:cubicBezTo>
                    <a:pt x="2245" y="18103"/>
                    <a:pt x="2219" y="18059"/>
                    <a:pt x="2248" y="17760"/>
                  </a:cubicBezTo>
                  <a:cubicBezTo>
                    <a:pt x="2267" y="17565"/>
                    <a:pt x="2267" y="17484"/>
                    <a:pt x="2223" y="17486"/>
                  </a:cubicBezTo>
                  <a:cubicBezTo>
                    <a:pt x="2132" y="17489"/>
                    <a:pt x="2073" y="17655"/>
                    <a:pt x="2062" y="17897"/>
                  </a:cubicBezTo>
                  <a:cubicBezTo>
                    <a:pt x="2054" y="18053"/>
                    <a:pt x="2026" y="18103"/>
                    <a:pt x="1987" y="18103"/>
                  </a:cubicBezTo>
                  <a:cubicBezTo>
                    <a:pt x="1955" y="18103"/>
                    <a:pt x="1938" y="18143"/>
                    <a:pt x="1938" y="18171"/>
                  </a:cubicBezTo>
                  <a:cubicBezTo>
                    <a:pt x="1938" y="18200"/>
                    <a:pt x="1932" y="18347"/>
                    <a:pt x="1925" y="18446"/>
                  </a:cubicBezTo>
                  <a:cubicBezTo>
                    <a:pt x="1917" y="18558"/>
                    <a:pt x="1922" y="18610"/>
                    <a:pt x="1950" y="18651"/>
                  </a:cubicBezTo>
                  <a:cubicBezTo>
                    <a:pt x="1995" y="18716"/>
                    <a:pt x="2006" y="18713"/>
                    <a:pt x="1950" y="19474"/>
                  </a:cubicBezTo>
                  <a:cubicBezTo>
                    <a:pt x="1919" y="19899"/>
                    <a:pt x="1884" y="20392"/>
                    <a:pt x="1888" y="20571"/>
                  </a:cubicBezTo>
                  <a:cubicBezTo>
                    <a:pt x="1894" y="20869"/>
                    <a:pt x="1892" y="20947"/>
                    <a:pt x="1813" y="20983"/>
                  </a:cubicBezTo>
                  <a:cubicBezTo>
                    <a:pt x="1681" y="21043"/>
                    <a:pt x="1658" y="20941"/>
                    <a:pt x="1702" y="20571"/>
                  </a:cubicBezTo>
                  <a:lnTo>
                    <a:pt x="1739" y="20297"/>
                  </a:lnTo>
                  <a:lnTo>
                    <a:pt x="1565" y="20366"/>
                  </a:lnTo>
                  <a:cubicBezTo>
                    <a:pt x="1413" y="20429"/>
                    <a:pt x="1399" y="20408"/>
                    <a:pt x="1354" y="20160"/>
                  </a:cubicBezTo>
                  <a:cubicBezTo>
                    <a:pt x="1269" y="19689"/>
                    <a:pt x="1316" y="19514"/>
                    <a:pt x="1590" y="19474"/>
                  </a:cubicBezTo>
                  <a:lnTo>
                    <a:pt x="1838" y="19406"/>
                  </a:lnTo>
                  <a:lnTo>
                    <a:pt x="1838" y="18926"/>
                  </a:lnTo>
                  <a:cubicBezTo>
                    <a:pt x="1844" y="18567"/>
                    <a:pt x="1842" y="18426"/>
                    <a:pt x="1813" y="18309"/>
                  </a:cubicBezTo>
                  <a:cubicBezTo>
                    <a:pt x="1760" y="18092"/>
                    <a:pt x="1435" y="18089"/>
                    <a:pt x="1341" y="18309"/>
                  </a:cubicBezTo>
                  <a:cubicBezTo>
                    <a:pt x="1224" y="18586"/>
                    <a:pt x="1143" y="19186"/>
                    <a:pt x="1130" y="19817"/>
                  </a:cubicBezTo>
                  <a:cubicBezTo>
                    <a:pt x="1120" y="20313"/>
                    <a:pt x="1128" y="20382"/>
                    <a:pt x="1180" y="20571"/>
                  </a:cubicBezTo>
                  <a:cubicBezTo>
                    <a:pt x="1212" y="20688"/>
                    <a:pt x="1236" y="20785"/>
                    <a:pt x="1230" y="20846"/>
                  </a:cubicBezTo>
                  <a:cubicBezTo>
                    <a:pt x="1216" y="20967"/>
                    <a:pt x="940" y="21032"/>
                    <a:pt x="919" y="20914"/>
                  </a:cubicBezTo>
                  <a:cubicBezTo>
                    <a:pt x="904" y="20832"/>
                    <a:pt x="925" y="20501"/>
                    <a:pt x="1068" y="18514"/>
                  </a:cubicBezTo>
                  <a:lnTo>
                    <a:pt x="1168" y="17143"/>
                  </a:lnTo>
                  <a:lnTo>
                    <a:pt x="1068" y="17143"/>
                  </a:lnTo>
                  <a:cubicBezTo>
                    <a:pt x="984" y="17143"/>
                    <a:pt x="965" y="17187"/>
                    <a:pt x="944" y="17486"/>
                  </a:cubicBezTo>
                  <a:cubicBezTo>
                    <a:pt x="931" y="17673"/>
                    <a:pt x="903" y="18242"/>
                    <a:pt x="869" y="18720"/>
                  </a:cubicBezTo>
                  <a:cubicBezTo>
                    <a:pt x="836" y="19198"/>
                    <a:pt x="792" y="19622"/>
                    <a:pt x="783" y="19680"/>
                  </a:cubicBezTo>
                  <a:cubicBezTo>
                    <a:pt x="773" y="19738"/>
                    <a:pt x="716" y="19169"/>
                    <a:pt x="646" y="18446"/>
                  </a:cubicBezTo>
                  <a:lnTo>
                    <a:pt x="509" y="17143"/>
                  </a:lnTo>
                  <a:lnTo>
                    <a:pt x="385" y="17143"/>
                  </a:lnTo>
                  <a:lnTo>
                    <a:pt x="261" y="17143"/>
                  </a:lnTo>
                  <a:lnTo>
                    <a:pt x="186" y="18377"/>
                  </a:lnTo>
                  <a:cubicBezTo>
                    <a:pt x="80" y="20088"/>
                    <a:pt x="51" y="20386"/>
                    <a:pt x="25" y="20297"/>
                  </a:cubicBezTo>
                  <a:cubicBezTo>
                    <a:pt x="22" y="20289"/>
                    <a:pt x="27" y="21477"/>
                    <a:pt x="25" y="21600"/>
                  </a:cubicBezTo>
                  <a:lnTo>
                    <a:pt x="21600" y="21600"/>
                  </a:lnTo>
                  <a:lnTo>
                    <a:pt x="21600" y="20914"/>
                  </a:lnTo>
                  <a:lnTo>
                    <a:pt x="14545" y="20914"/>
                  </a:lnTo>
                  <a:cubicBezTo>
                    <a:pt x="9866" y="20914"/>
                    <a:pt x="7506" y="20860"/>
                    <a:pt x="7502" y="20777"/>
                  </a:cubicBezTo>
                  <a:cubicBezTo>
                    <a:pt x="7499" y="20709"/>
                    <a:pt x="7549" y="20593"/>
                    <a:pt x="7614" y="20503"/>
                  </a:cubicBezTo>
                  <a:cubicBezTo>
                    <a:pt x="7806" y="20237"/>
                    <a:pt x="8120" y="19356"/>
                    <a:pt x="8247" y="18720"/>
                  </a:cubicBezTo>
                  <a:cubicBezTo>
                    <a:pt x="8375" y="18083"/>
                    <a:pt x="8493" y="17116"/>
                    <a:pt x="8570" y="16046"/>
                  </a:cubicBezTo>
                  <a:cubicBezTo>
                    <a:pt x="8622" y="15338"/>
                    <a:pt x="9069" y="5712"/>
                    <a:pt x="9055" y="5623"/>
                  </a:cubicBezTo>
                  <a:close/>
                  <a:moveTo>
                    <a:pt x="13241" y="5691"/>
                  </a:moveTo>
                  <a:lnTo>
                    <a:pt x="13203" y="6651"/>
                  </a:lnTo>
                  <a:cubicBezTo>
                    <a:pt x="13182" y="7146"/>
                    <a:pt x="13154" y="7560"/>
                    <a:pt x="13154" y="7611"/>
                  </a:cubicBezTo>
                  <a:cubicBezTo>
                    <a:pt x="13154" y="7663"/>
                    <a:pt x="13254" y="7680"/>
                    <a:pt x="13365" y="7680"/>
                  </a:cubicBezTo>
                  <a:cubicBezTo>
                    <a:pt x="13476" y="7680"/>
                    <a:pt x="13569" y="7755"/>
                    <a:pt x="13576" y="7817"/>
                  </a:cubicBezTo>
                  <a:cubicBezTo>
                    <a:pt x="13592" y="7957"/>
                    <a:pt x="13543" y="9182"/>
                    <a:pt x="13514" y="9394"/>
                  </a:cubicBezTo>
                  <a:cubicBezTo>
                    <a:pt x="13500" y="9499"/>
                    <a:pt x="13420" y="9600"/>
                    <a:pt x="13278" y="9600"/>
                  </a:cubicBezTo>
                  <a:lnTo>
                    <a:pt x="13067" y="9600"/>
                  </a:lnTo>
                  <a:lnTo>
                    <a:pt x="13054" y="10011"/>
                  </a:lnTo>
                  <a:cubicBezTo>
                    <a:pt x="13043" y="10267"/>
                    <a:pt x="13024" y="10715"/>
                    <a:pt x="13017" y="10971"/>
                  </a:cubicBezTo>
                  <a:lnTo>
                    <a:pt x="13005" y="11451"/>
                  </a:lnTo>
                  <a:lnTo>
                    <a:pt x="13203" y="11451"/>
                  </a:lnTo>
                  <a:cubicBezTo>
                    <a:pt x="13356" y="11451"/>
                    <a:pt x="13418" y="11456"/>
                    <a:pt x="13427" y="11589"/>
                  </a:cubicBezTo>
                  <a:cubicBezTo>
                    <a:pt x="13434" y="11685"/>
                    <a:pt x="13415" y="12307"/>
                    <a:pt x="13390" y="12960"/>
                  </a:cubicBezTo>
                  <a:cubicBezTo>
                    <a:pt x="13364" y="13613"/>
                    <a:pt x="13340" y="14514"/>
                    <a:pt x="13340" y="14949"/>
                  </a:cubicBezTo>
                  <a:cubicBezTo>
                    <a:pt x="13340" y="15616"/>
                    <a:pt x="13343" y="15769"/>
                    <a:pt x="13390" y="16046"/>
                  </a:cubicBezTo>
                  <a:lnTo>
                    <a:pt x="13452" y="16389"/>
                  </a:lnTo>
                  <a:lnTo>
                    <a:pt x="13874" y="16389"/>
                  </a:lnTo>
                  <a:lnTo>
                    <a:pt x="14309" y="16389"/>
                  </a:lnTo>
                  <a:lnTo>
                    <a:pt x="14346" y="15497"/>
                  </a:lnTo>
                  <a:cubicBezTo>
                    <a:pt x="14366" y="15002"/>
                    <a:pt x="14377" y="14519"/>
                    <a:pt x="14383" y="14400"/>
                  </a:cubicBezTo>
                  <a:cubicBezTo>
                    <a:pt x="14394" y="14202"/>
                    <a:pt x="14382" y="14194"/>
                    <a:pt x="14135" y="14194"/>
                  </a:cubicBezTo>
                  <a:cubicBezTo>
                    <a:pt x="13986" y="14194"/>
                    <a:pt x="13856" y="14117"/>
                    <a:pt x="13849" y="14057"/>
                  </a:cubicBezTo>
                  <a:cubicBezTo>
                    <a:pt x="13837" y="13951"/>
                    <a:pt x="13913" y="11726"/>
                    <a:pt x="13936" y="11520"/>
                  </a:cubicBezTo>
                  <a:cubicBezTo>
                    <a:pt x="13943" y="11463"/>
                    <a:pt x="14058" y="11451"/>
                    <a:pt x="14185" y="11451"/>
                  </a:cubicBezTo>
                  <a:lnTo>
                    <a:pt x="14408" y="11451"/>
                  </a:lnTo>
                  <a:lnTo>
                    <a:pt x="14433" y="10697"/>
                  </a:lnTo>
                  <a:cubicBezTo>
                    <a:pt x="14449" y="10285"/>
                    <a:pt x="14476" y="9837"/>
                    <a:pt x="14483" y="9737"/>
                  </a:cubicBezTo>
                  <a:cubicBezTo>
                    <a:pt x="14493" y="9586"/>
                    <a:pt x="14450" y="9600"/>
                    <a:pt x="14259" y="9600"/>
                  </a:cubicBezTo>
                  <a:cubicBezTo>
                    <a:pt x="14097" y="9600"/>
                    <a:pt x="14030" y="9505"/>
                    <a:pt x="14023" y="9394"/>
                  </a:cubicBezTo>
                  <a:cubicBezTo>
                    <a:pt x="14018" y="9309"/>
                    <a:pt x="14033" y="8912"/>
                    <a:pt x="14048" y="8503"/>
                  </a:cubicBezTo>
                  <a:lnTo>
                    <a:pt x="14073" y="7749"/>
                  </a:lnTo>
                  <a:lnTo>
                    <a:pt x="14321" y="7680"/>
                  </a:lnTo>
                  <a:lnTo>
                    <a:pt x="14557" y="7680"/>
                  </a:lnTo>
                  <a:lnTo>
                    <a:pt x="14607" y="6789"/>
                  </a:lnTo>
                  <a:cubicBezTo>
                    <a:pt x="14629" y="6311"/>
                    <a:pt x="14644" y="5880"/>
                    <a:pt x="14644" y="5829"/>
                  </a:cubicBezTo>
                  <a:cubicBezTo>
                    <a:pt x="14645" y="5777"/>
                    <a:pt x="14324" y="5691"/>
                    <a:pt x="13936" y="5691"/>
                  </a:cubicBezTo>
                  <a:lnTo>
                    <a:pt x="13241" y="5691"/>
                  </a:lnTo>
                  <a:close/>
                  <a:moveTo>
                    <a:pt x="11837" y="6583"/>
                  </a:moveTo>
                  <a:cubicBezTo>
                    <a:pt x="11888" y="6587"/>
                    <a:pt x="11932" y="6702"/>
                    <a:pt x="11961" y="6857"/>
                  </a:cubicBezTo>
                  <a:cubicBezTo>
                    <a:pt x="12041" y="7270"/>
                    <a:pt x="12041" y="7669"/>
                    <a:pt x="11986" y="8297"/>
                  </a:cubicBezTo>
                  <a:cubicBezTo>
                    <a:pt x="11936" y="8869"/>
                    <a:pt x="11810" y="9503"/>
                    <a:pt x="11701" y="9737"/>
                  </a:cubicBezTo>
                  <a:cubicBezTo>
                    <a:pt x="11665" y="9814"/>
                    <a:pt x="11519" y="9984"/>
                    <a:pt x="11365" y="10149"/>
                  </a:cubicBezTo>
                  <a:cubicBezTo>
                    <a:pt x="11211" y="10313"/>
                    <a:pt x="11071" y="10423"/>
                    <a:pt x="11055" y="10423"/>
                  </a:cubicBezTo>
                  <a:cubicBezTo>
                    <a:pt x="10994" y="10423"/>
                    <a:pt x="10994" y="10069"/>
                    <a:pt x="11067" y="9394"/>
                  </a:cubicBezTo>
                  <a:cubicBezTo>
                    <a:pt x="11232" y="7883"/>
                    <a:pt x="11617" y="6564"/>
                    <a:pt x="11837" y="6583"/>
                  </a:cubicBezTo>
                  <a:close/>
                  <a:moveTo>
                    <a:pt x="7862" y="6720"/>
                  </a:moveTo>
                  <a:cubicBezTo>
                    <a:pt x="7790" y="6704"/>
                    <a:pt x="7214" y="7221"/>
                    <a:pt x="7192" y="7337"/>
                  </a:cubicBezTo>
                  <a:cubicBezTo>
                    <a:pt x="7164" y="7479"/>
                    <a:pt x="6844" y="14684"/>
                    <a:pt x="6844" y="15154"/>
                  </a:cubicBezTo>
                  <a:cubicBezTo>
                    <a:pt x="6844" y="15210"/>
                    <a:pt x="6995" y="15291"/>
                    <a:pt x="7179" y="15291"/>
                  </a:cubicBezTo>
                  <a:lnTo>
                    <a:pt x="7502" y="15291"/>
                  </a:lnTo>
                  <a:lnTo>
                    <a:pt x="7602" y="13234"/>
                  </a:lnTo>
                  <a:cubicBezTo>
                    <a:pt x="7725" y="10425"/>
                    <a:pt x="7875" y="6810"/>
                    <a:pt x="7875" y="6720"/>
                  </a:cubicBezTo>
                  <a:cubicBezTo>
                    <a:pt x="7875" y="6714"/>
                    <a:pt x="7867" y="6721"/>
                    <a:pt x="7862" y="6720"/>
                  </a:cubicBezTo>
                  <a:close/>
                  <a:moveTo>
                    <a:pt x="15054" y="11314"/>
                  </a:moveTo>
                  <a:lnTo>
                    <a:pt x="14980" y="12274"/>
                  </a:lnTo>
                  <a:cubicBezTo>
                    <a:pt x="14940" y="12803"/>
                    <a:pt x="14895" y="13407"/>
                    <a:pt x="14880" y="13646"/>
                  </a:cubicBezTo>
                  <a:lnTo>
                    <a:pt x="14855" y="14126"/>
                  </a:lnTo>
                  <a:lnTo>
                    <a:pt x="14694" y="14126"/>
                  </a:lnTo>
                  <a:lnTo>
                    <a:pt x="14532" y="14194"/>
                  </a:lnTo>
                  <a:lnTo>
                    <a:pt x="14508" y="14811"/>
                  </a:lnTo>
                  <a:cubicBezTo>
                    <a:pt x="14495" y="15167"/>
                    <a:pt x="14478" y="15653"/>
                    <a:pt x="14470" y="15909"/>
                  </a:cubicBezTo>
                  <a:lnTo>
                    <a:pt x="14458" y="16389"/>
                  </a:lnTo>
                  <a:lnTo>
                    <a:pt x="14744" y="16389"/>
                  </a:lnTo>
                  <a:cubicBezTo>
                    <a:pt x="14898" y="16389"/>
                    <a:pt x="15054" y="16324"/>
                    <a:pt x="15091" y="16251"/>
                  </a:cubicBezTo>
                  <a:cubicBezTo>
                    <a:pt x="15152" y="16135"/>
                    <a:pt x="15278" y="15361"/>
                    <a:pt x="15278" y="15086"/>
                  </a:cubicBezTo>
                  <a:cubicBezTo>
                    <a:pt x="15278" y="14904"/>
                    <a:pt x="15502" y="11609"/>
                    <a:pt x="15526" y="11451"/>
                  </a:cubicBezTo>
                  <a:cubicBezTo>
                    <a:pt x="15545" y="11327"/>
                    <a:pt x="15500" y="11314"/>
                    <a:pt x="15303" y="11314"/>
                  </a:cubicBezTo>
                  <a:lnTo>
                    <a:pt x="15054" y="11314"/>
                  </a:lnTo>
                  <a:close/>
                </a:path>
              </a:pathLst>
            </a:custGeom>
            <a:ln w="12700">
              <a:miter lim="400000"/>
            </a:ln>
          </p:spPr>
        </p:pic>
        <p:pic>
          <p:nvPicPr>
            <p:cNvPr id="157" name="Gemini.jpg" descr="Gemini.jpg">
              <a:extLst>
                <a:ext uri="{FF2B5EF4-FFF2-40B4-BE49-F238E27FC236}">
                  <a16:creationId xmlns:a16="http://schemas.microsoft.com/office/drawing/2014/main" id="{0A96F64A-DF37-526A-A38D-A334BD01C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791763" y="4406166"/>
              <a:ext cx="272311" cy="129602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62" name="CPO交换机">
              <a:extLst>
                <a:ext uri="{FF2B5EF4-FFF2-40B4-BE49-F238E27FC236}">
                  <a16:creationId xmlns:a16="http://schemas.microsoft.com/office/drawing/2014/main" id="{8C252137-3E74-8666-1F09-4343040CD989}"/>
                </a:ext>
              </a:extLst>
            </p:cNvPr>
            <p:cNvSpPr txBox="1"/>
            <p:nvPr/>
          </p:nvSpPr>
          <p:spPr>
            <a:xfrm>
              <a:off x="5375150" y="4109154"/>
              <a:ext cx="629107" cy="2311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800">
                  <a:solidFill>
                    <a:schemeClr val="accent3"/>
                  </a:solidFill>
                </a:defRPr>
              </a:lvl1pPr>
            </a:lstStyle>
            <a:p>
              <a:r>
                <a:rPr dirty="0" err="1"/>
                <a:t>CPO交换机</a:t>
              </a:r>
              <a:endParaRPr dirty="0"/>
            </a:p>
          </p:txBody>
        </p: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64730070-651F-86DE-BF77-A72492104DB2}"/>
                </a:ext>
              </a:extLst>
            </p:cNvPr>
            <p:cNvGrpSpPr/>
            <p:nvPr/>
          </p:nvGrpSpPr>
          <p:grpSpPr>
            <a:xfrm>
              <a:off x="4018639" y="4276512"/>
              <a:ext cx="934309" cy="385746"/>
              <a:chOff x="4230445" y="4851134"/>
              <a:chExt cx="934309" cy="385746"/>
            </a:xfrm>
          </p:grpSpPr>
          <p:pic>
            <p:nvPicPr>
              <p:cNvPr id="81" name="图像" descr="图像">
                <a:extLst>
                  <a:ext uri="{FF2B5EF4-FFF2-40B4-BE49-F238E27FC236}">
                    <a16:creationId xmlns:a16="http://schemas.microsoft.com/office/drawing/2014/main" id="{9B13B865-193D-D25F-837D-DF0B918FA9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32165" y="4960068"/>
                <a:ext cx="215406" cy="187096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144" name="图像" descr="图像">
                <a:extLst>
                  <a:ext uri="{FF2B5EF4-FFF2-40B4-BE49-F238E27FC236}">
                    <a16:creationId xmlns:a16="http://schemas.microsoft.com/office/drawing/2014/main" id="{0331A85B-0F16-F1B2-7854-BA5438346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31398" y="4918949"/>
                <a:ext cx="297675" cy="109809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168" name="图像" descr="图像">
                <a:extLst>
                  <a:ext uri="{FF2B5EF4-FFF2-40B4-BE49-F238E27FC236}">
                    <a16:creationId xmlns:a16="http://schemas.microsoft.com/office/drawing/2014/main" id="{E058D778-1A34-C83B-E55D-448BDEE94B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06852" y="5055178"/>
                <a:ext cx="346766" cy="138707"/>
              </a:xfrm>
              <a:prstGeom prst="rect">
                <a:avLst/>
              </a:prstGeom>
              <a:ln w="12700">
                <a:miter lim="400000"/>
              </a:ln>
            </p:spPr>
          </p:pic>
          <p:grpSp>
            <p:nvGrpSpPr>
              <p:cNvPr id="169" name="组合 168">
                <a:extLst>
                  <a:ext uri="{FF2B5EF4-FFF2-40B4-BE49-F238E27FC236}">
                    <a16:creationId xmlns:a16="http://schemas.microsoft.com/office/drawing/2014/main" id="{C37C3685-1A99-85F0-0BAF-8FC589FC0F88}"/>
                  </a:ext>
                </a:extLst>
              </p:cNvPr>
              <p:cNvGrpSpPr/>
              <p:nvPr/>
            </p:nvGrpSpPr>
            <p:grpSpPr>
              <a:xfrm>
                <a:off x="4230445" y="4851134"/>
                <a:ext cx="934309" cy="385746"/>
                <a:chOff x="3047024" y="4842775"/>
                <a:chExt cx="934309" cy="385746"/>
              </a:xfrm>
            </p:grpSpPr>
            <p:grpSp>
              <p:nvGrpSpPr>
                <p:cNvPr id="171" name="成组">
                  <a:extLst>
                    <a:ext uri="{FF2B5EF4-FFF2-40B4-BE49-F238E27FC236}">
                      <a16:creationId xmlns:a16="http://schemas.microsoft.com/office/drawing/2014/main" id="{4B04E7F8-4A01-633D-6ECA-F5C1E44B1E42}"/>
                    </a:ext>
                  </a:extLst>
                </p:cNvPr>
                <p:cNvGrpSpPr/>
                <p:nvPr/>
              </p:nvGrpSpPr>
              <p:grpSpPr>
                <a:xfrm>
                  <a:off x="3047024" y="4842775"/>
                  <a:ext cx="934309" cy="385746"/>
                  <a:chOff x="0" y="0"/>
                  <a:chExt cx="1500840" cy="619648"/>
                </a:xfrm>
              </p:grpSpPr>
              <p:sp>
                <p:nvSpPr>
                  <p:cNvPr id="174" name="圆角矩形">
                    <a:extLst>
                      <a:ext uri="{FF2B5EF4-FFF2-40B4-BE49-F238E27FC236}">
                        <a16:creationId xmlns:a16="http://schemas.microsoft.com/office/drawing/2014/main" id="{652803EA-5285-6C7A-9BF0-A35923D1005B}"/>
                      </a:ext>
                    </a:extLst>
                  </p:cNvPr>
                  <p:cNvSpPr/>
                  <p:nvPr/>
                </p:nvSpPr>
                <p:spPr>
                  <a:xfrm>
                    <a:off x="0" y="5077"/>
                    <a:ext cx="1500841" cy="609495"/>
                  </a:xfrm>
                  <a:prstGeom prst="roundRect">
                    <a:avLst>
                      <a:gd name="adj" fmla="val 15903"/>
                    </a:avLst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175" name="线条">
                    <a:extLst>
                      <a:ext uri="{FF2B5EF4-FFF2-40B4-BE49-F238E27FC236}">
                        <a16:creationId xmlns:a16="http://schemas.microsoft.com/office/drawing/2014/main" id="{F3A7BE6D-0C03-5DB2-B32B-3BB0F5F2D54A}"/>
                      </a:ext>
                    </a:extLst>
                  </p:cNvPr>
                  <p:cNvSpPr/>
                  <p:nvPr/>
                </p:nvSpPr>
                <p:spPr>
                  <a:xfrm flipV="1">
                    <a:off x="778341" y="0"/>
                    <a:ext cx="1" cy="619649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173" name="线条">
                  <a:extLst>
                    <a:ext uri="{FF2B5EF4-FFF2-40B4-BE49-F238E27FC236}">
                      <a16:creationId xmlns:a16="http://schemas.microsoft.com/office/drawing/2014/main" id="{690E2BA5-526B-556E-869C-D1F31C71752F}"/>
                    </a:ext>
                  </a:extLst>
                </p:cNvPr>
                <p:cNvSpPr/>
                <p:nvPr/>
              </p:nvSpPr>
              <p:spPr>
                <a:xfrm>
                  <a:off x="3486065" y="5045583"/>
                  <a:ext cx="136903" cy="1"/>
                </a:xfrm>
                <a:prstGeom prst="line">
                  <a:avLst/>
                </a:prstGeom>
                <a:ln w="25400">
                  <a:solidFill>
                    <a:schemeClr val="accent4">
                      <a:lumOff val="-6980"/>
                    </a:schemeClr>
                  </a:solidFill>
                  <a:miter/>
                  <a:tailEnd type="triangle"/>
                </a:ln>
              </p:spPr>
              <p:txBody>
                <a:bodyPr lIns="45719" rIns="45719"/>
                <a:lstStyle/>
                <a:p>
                  <a:endParaRPr/>
                </a:p>
              </p:txBody>
            </p:sp>
          </p:grpSp>
        </p:grpSp>
        <p:sp>
          <p:nvSpPr>
            <p:cNvPr id="176" name="线条">
              <a:extLst>
                <a:ext uri="{FF2B5EF4-FFF2-40B4-BE49-F238E27FC236}">
                  <a16:creationId xmlns:a16="http://schemas.microsoft.com/office/drawing/2014/main" id="{3E2D9076-414E-C0CB-87E7-A7D06B1845E4}"/>
                </a:ext>
              </a:extLst>
            </p:cNvPr>
            <p:cNvSpPr/>
            <p:nvPr/>
          </p:nvSpPr>
          <p:spPr>
            <a:xfrm>
              <a:off x="3780471" y="4479148"/>
              <a:ext cx="197685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78" name="交换机芯片+CPO+Lens">
              <a:extLst>
                <a:ext uri="{FF2B5EF4-FFF2-40B4-BE49-F238E27FC236}">
                  <a16:creationId xmlns:a16="http://schemas.microsoft.com/office/drawing/2014/main" id="{34854976-6DB1-228D-29DB-C75DCA144508}"/>
                </a:ext>
              </a:extLst>
            </p:cNvPr>
            <p:cNvSpPr txBox="1"/>
            <p:nvPr/>
          </p:nvSpPr>
          <p:spPr>
            <a:xfrm>
              <a:off x="3964203" y="4097423"/>
              <a:ext cx="1171288" cy="2311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800">
                  <a:solidFill>
                    <a:schemeClr val="accent3"/>
                  </a:solidFill>
                </a:defRPr>
              </a:lvl1pPr>
            </a:lstStyle>
            <a:p>
              <a:r>
                <a:rPr dirty="0" err="1"/>
                <a:t>交换机芯片+CPO+Lens</a:t>
              </a:r>
              <a:endParaRPr dirty="0"/>
            </a:p>
          </p:txBody>
        </p:sp>
        <p:grpSp>
          <p:nvGrpSpPr>
            <p:cNvPr id="183" name="组合 182">
              <a:extLst>
                <a:ext uri="{FF2B5EF4-FFF2-40B4-BE49-F238E27FC236}">
                  <a16:creationId xmlns:a16="http://schemas.microsoft.com/office/drawing/2014/main" id="{1B8A448F-AE07-AFBA-3E5B-24DFF0D9F62B}"/>
                </a:ext>
              </a:extLst>
            </p:cNvPr>
            <p:cNvGrpSpPr/>
            <p:nvPr/>
          </p:nvGrpSpPr>
          <p:grpSpPr>
            <a:xfrm>
              <a:off x="5196003" y="4274042"/>
              <a:ext cx="934309" cy="385746"/>
              <a:chOff x="3047024" y="4842775"/>
              <a:chExt cx="934309" cy="385746"/>
            </a:xfrm>
          </p:grpSpPr>
          <p:grpSp>
            <p:nvGrpSpPr>
              <p:cNvPr id="184" name="成组">
                <a:extLst>
                  <a:ext uri="{FF2B5EF4-FFF2-40B4-BE49-F238E27FC236}">
                    <a16:creationId xmlns:a16="http://schemas.microsoft.com/office/drawing/2014/main" id="{A7FBCD15-42EE-674E-A33E-27425618CBF6}"/>
                  </a:ext>
                </a:extLst>
              </p:cNvPr>
              <p:cNvGrpSpPr/>
              <p:nvPr/>
            </p:nvGrpSpPr>
            <p:grpSpPr>
              <a:xfrm>
                <a:off x="3047024" y="4842775"/>
                <a:ext cx="934309" cy="385746"/>
                <a:chOff x="0" y="0"/>
                <a:chExt cx="1500840" cy="619648"/>
              </a:xfrm>
            </p:grpSpPr>
            <p:sp>
              <p:nvSpPr>
                <p:cNvPr id="186" name="圆角矩形">
                  <a:extLst>
                    <a:ext uri="{FF2B5EF4-FFF2-40B4-BE49-F238E27FC236}">
                      <a16:creationId xmlns:a16="http://schemas.microsoft.com/office/drawing/2014/main" id="{0E863A07-365B-ECCB-F476-AF8EDE3D819B}"/>
                    </a:ext>
                  </a:extLst>
                </p:cNvPr>
                <p:cNvSpPr/>
                <p:nvPr/>
              </p:nvSpPr>
              <p:spPr>
                <a:xfrm>
                  <a:off x="0" y="5077"/>
                  <a:ext cx="1500841" cy="609495"/>
                </a:xfrm>
                <a:prstGeom prst="roundRect">
                  <a:avLst>
                    <a:gd name="adj" fmla="val 15903"/>
                  </a:avLst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87" name="线条">
                  <a:extLst>
                    <a:ext uri="{FF2B5EF4-FFF2-40B4-BE49-F238E27FC236}">
                      <a16:creationId xmlns:a16="http://schemas.microsoft.com/office/drawing/2014/main" id="{97CA8665-A88B-7AEC-28DE-36C48823AEA6}"/>
                    </a:ext>
                  </a:extLst>
                </p:cNvPr>
                <p:cNvSpPr/>
                <p:nvPr/>
              </p:nvSpPr>
              <p:spPr>
                <a:xfrm flipV="1">
                  <a:off x="778341" y="0"/>
                  <a:ext cx="1" cy="619649"/>
                </a:xfrm>
                <a:prstGeom prst="line">
                  <a:avLst/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/>
                </a:p>
              </p:txBody>
            </p:sp>
          </p:grpSp>
          <p:sp>
            <p:nvSpPr>
              <p:cNvPr id="185" name="线条">
                <a:extLst>
                  <a:ext uri="{FF2B5EF4-FFF2-40B4-BE49-F238E27FC236}">
                    <a16:creationId xmlns:a16="http://schemas.microsoft.com/office/drawing/2014/main" id="{72C8BB94-5FE1-8B8B-C182-C24A07AC942A}"/>
                  </a:ext>
                </a:extLst>
              </p:cNvPr>
              <p:cNvSpPr/>
              <p:nvPr/>
            </p:nvSpPr>
            <p:spPr>
              <a:xfrm>
                <a:off x="3486065" y="5045583"/>
                <a:ext cx="136903" cy="1"/>
              </a:xfrm>
              <a:prstGeom prst="line">
                <a:avLst/>
              </a:prstGeom>
              <a:ln w="25400">
                <a:solidFill>
                  <a:schemeClr val="accent4">
                    <a:lumOff val="-6980"/>
                  </a:schemeClr>
                </a:solidFill>
                <a:miter/>
                <a:tailEnd type="triangle"/>
              </a:ln>
            </p:spPr>
            <p:txBody>
              <a:bodyPr lIns="45719" rIns="45719"/>
              <a:lstStyle/>
              <a:p>
                <a:endParaRPr/>
              </a:p>
            </p:txBody>
          </p:sp>
        </p:grpSp>
        <p:sp>
          <p:nvSpPr>
            <p:cNvPr id="188" name="线条">
              <a:extLst>
                <a:ext uri="{FF2B5EF4-FFF2-40B4-BE49-F238E27FC236}">
                  <a16:creationId xmlns:a16="http://schemas.microsoft.com/office/drawing/2014/main" id="{50D3E415-DAA2-D6E0-D20E-C079817B4161}"/>
                </a:ext>
              </a:extLst>
            </p:cNvPr>
            <p:cNvSpPr/>
            <p:nvPr/>
          </p:nvSpPr>
          <p:spPr>
            <a:xfrm>
              <a:off x="4957835" y="4476678"/>
              <a:ext cx="197685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89" name="线条">
              <a:extLst>
                <a:ext uri="{FF2B5EF4-FFF2-40B4-BE49-F238E27FC236}">
                  <a16:creationId xmlns:a16="http://schemas.microsoft.com/office/drawing/2014/main" id="{BDDF5D22-1B32-A1FE-71B2-619B83836BA4}"/>
                </a:ext>
              </a:extLst>
            </p:cNvPr>
            <p:cNvSpPr/>
            <p:nvPr/>
          </p:nvSpPr>
          <p:spPr>
            <a:xfrm flipV="1">
              <a:off x="6402582" y="4179860"/>
              <a:ext cx="0" cy="1713954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90" name="线条">
              <a:extLst>
                <a:ext uri="{FF2B5EF4-FFF2-40B4-BE49-F238E27FC236}">
                  <a16:creationId xmlns:a16="http://schemas.microsoft.com/office/drawing/2014/main" id="{2A056CEC-D38B-602A-E549-3B8FBAB4360C}"/>
                </a:ext>
              </a:extLst>
            </p:cNvPr>
            <p:cNvSpPr/>
            <p:nvPr/>
          </p:nvSpPr>
          <p:spPr>
            <a:xfrm>
              <a:off x="4223317" y="5604455"/>
              <a:ext cx="2146333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92" name="终端用户">
              <a:extLst>
                <a:ext uri="{FF2B5EF4-FFF2-40B4-BE49-F238E27FC236}">
                  <a16:creationId xmlns:a16="http://schemas.microsoft.com/office/drawing/2014/main" id="{C7F25935-84ED-4F27-3897-5D5CDE811703}"/>
                </a:ext>
              </a:extLst>
            </p:cNvPr>
            <p:cNvSpPr txBox="1"/>
            <p:nvPr/>
          </p:nvSpPr>
          <p:spPr>
            <a:xfrm>
              <a:off x="6411332" y="4721946"/>
              <a:ext cx="212410" cy="70788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>
                <a:defRPr sz="1600">
                  <a:solidFill>
                    <a:schemeClr val="accent2"/>
                  </a:solidFill>
                </a:defRPr>
              </a:lvl1pPr>
            </a:lstStyle>
            <a:p>
              <a:r>
                <a:rPr sz="1000" dirty="0" err="1">
                  <a:solidFill>
                    <a:schemeClr val="accent3"/>
                  </a:solidFill>
                </a:rPr>
                <a:t>终端用户</a:t>
              </a:r>
              <a:endParaRPr sz="1000" dirty="0">
                <a:solidFill>
                  <a:schemeClr val="accent3"/>
                </a:solidFill>
              </a:endParaRPr>
            </a:p>
          </p:txBody>
        </p:sp>
        <p:sp>
          <p:nvSpPr>
            <p:cNvPr id="193" name="线条">
              <a:extLst>
                <a:ext uri="{FF2B5EF4-FFF2-40B4-BE49-F238E27FC236}">
                  <a16:creationId xmlns:a16="http://schemas.microsoft.com/office/drawing/2014/main" id="{56E11754-9925-1FC9-A113-B1EC5FC14FD3}"/>
                </a:ext>
              </a:extLst>
            </p:cNvPr>
            <p:cNvSpPr/>
            <p:nvPr/>
          </p:nvSpPr>
          <p:spPr>
            <a:xfrm>
              <a:off x="6130313" y="4478994"/>
              <a:ext cx="239337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cxnSp>
          <p:nvCxnSpPr>
            <p:cNvPr id="201" name="连接符: 肘形 200">
              <a:extLst>
                <a:ext uri="{FF2B5EF4-FFF2-40B4-BE49-F238E27FC236}">
                  <a16:creationId xmlns:a16="http://schemas.microsoft.com/office/drawing/2014/main" id="{63BBC94D-1260-7918-09FE-F69EA7F7C61C}"/>
                </a:ext>
              </a:extLst>
            </p:cNvPr>
            <p:cNvCxnSpPr>
              <a:cxnSpLocks/>
              <a:stCxn id="115" idx="3"/>
            </p:cNvCxnSpPr>
            <p:nvPr/>
          </p:nvCxnSpPr>
          <p:spPr>
            <a:xfrm flipV="1">
              <a:off x="3777504" y="4476678"/>
              <a:ext cx="1260341" cy="547556"/>
            </a:xfrm>
            <a:prstGeom prst="bentConnector3">
              <a:avLst>
                <a:gd name="adj1" fmla="val 9957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2113797" y="3076130"/>
            <a:ext cx="4224038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巨头：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为新一代技术中最易商业化落地的路径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06" name="直线连接符 8">
            <a:extLst>
              <a:ext uri="{FF2B5EF4-FFF2-40B4-BE49-F238E27FC236}">
                <a16:creationId xmlns:a16="http://schemas.microsoft.com/office/drawing/2014/main" id="{E35DCE34-0796-486F-D72A-4696FB25FC09}"/>
              </a:ext>
            </a:extLst>
          </p:cNvPr>
          <p:cNvCxnSpPr>
            <a:cxnSpLocks/>
          </p:cNvCxnSpPr>
          <p:nvPr/>
        </p:nvCxnSpPr>
        <p:spPr>
          <a:xfrm>
            <a:off x="1991544" y="4007582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博通全面参与CPO生态各个环节，以定制的合作模式推动CPO各环节成熟，同时布局了IP。">
            <a:extLst>
              <a:ext uri="{FF2B5EF4-FFF2-40B4-BE49-F238E27FC236}">
                <a16:creationId xmlns:a16="http://schemas.microsoft.com/office/drawing/2014/main" id="{19677C26-51D1-9BC3-A5B0-97830F28702A}"/>
              </a:ext>
            </a:extLst>
          </p:cNvPr>
          <p:cNvSpPr txBox="1"/>
          <p:nvPr/>
        </p:nvSpPr>
        <p:spPr>
          <a:xfrm>
            <a:off x="2018373" y="4072949"/>
            <a:ext cx="4012713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以</a:t>
            </a:r>
            <a:r>
              <a:rPr sz="1400" dirty="0" err="1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博通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为例，</a:t>
            </a:r>
            <a:r>
              <a:rPr lang="zh-CN" altLang="en-US" sz="1400" b="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巨头</a:t>
            </a:r>
            <a:r>
              <a:rPr sz="1400" b="0" dirty="0" err="1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全面参与CPO生态各个环节，以定制的合作模式推动CPO各环节成熟，同时布局IP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C39A2795-83F0-65C8-22DD-B5433D6D75A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63140" y="3514095"/>
            <a:ext cx="1108830" cy="2306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63DDCF-39D0-471E-0C67-C0EC41499BF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90889" y="3521629"/>
            <a:ext cx="347588" cy="223103"/>
          </a:xfrm>
          <a:prstGeom prst="rect">
            <a:avLst/>
          </a:prstGeom>
        </p:spPr>
      </p:pic>
      <p:sp>
        <p:nvSpPr>
          <p:cNvPr id="8" name="博通全面参与CPO生态各个环节，以定制的合作模式推动CPO各环节成熟，同时布局了IP。">
            <a:extLst>
              <a:ext uri="{FF2B5EF4-FFF2-40B4-BE49-F238E27FC236}">
                <a16:creationId xmlns:a16="http://schemas.microsoft.com/office/drawing/2014/main" id="{06CD9759-F9B2-30D3-99FC-8F35107434ED}"/>
              </a:ext>
            </a:extLst>
          </p:cNvPr>
          <p:cNvSpPr txBox="1"/>
          <p:nvPr/>
        </p:nvSpPr>
        <p:spPr>
          <a:xfrm>
            <a:off x="6912087" y="4079002"/>
            <a:ext cx="473563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zh-CN" altLang="en-US" sz="1400" b="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以</a:t>
            </a:r>
            <a:r>
              <a:rPr lang="en-US" altLang="zh-CN" sz="1400" b="0" dirty="0" err="1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AyarLabs</a:t>
            </a:r>
            <a:r>
              <a:rPr lang="zh-CN" altLang="en-US" sz="1400" b="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为例，局限在</a:t>
            </a:r>
            <a:r>
              <a:rPr lang="en-US" altLang="zh-CN" sz="1400" b="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OIO</a:t>
            </a:r>
            <a:r>
              <a:rPr lang="zh-CN" altLang="en-US" sz="1400" b="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光模块的验证和早期商用之间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966AD4-8D1D-1122-D9F7-C37F30BBC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238" y="4409727"/>
            <a:ext cx="2739072" cy="1792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D935C54-E4AF-A54E-A218-D82EB011F65F}"/>
              </a:ext>
            </a:extLst>
          </p:cNvPr>
          <p:cNvSpPr txBox="1"/>
          <p:nvPr/>
        </p:nvSpPr>
        <p:spPr>
          <a:xfrm>
            <a:off x="7811995" y="6225522"/>
            <a:ext cx="26215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 err="1"/>
              <a:t>TeraPHY</a:t>
            </a:r>
            <a:r>
              <a:rPr lang="en-US" altLang="zh-CN" sz="1000" dirty="0"/>
              <a:t> </a:t>
            </a:r>
            <a:r>
              <a:rPr lang="zh-CN" altLang="en-US" sz="1000" dirty="0"/>
              <a:t>芯粒与</a:t>
            </a:r>
            <a:r>
              <a:rPr lang="en-US" altLang="zh-CN" sz="1000" dirty="0" err="1"/>
              <a:t>SuperNova</a:t>
            </a:r>
            <a:r>
              <a:rPr lang="en-US" altLang="zh-CN" sz="1000" dirty="0"/>
              <a:t> </a:t>
            </a:r>
            <a:r>
              <a:rPr lang="zh-CN" altLang="en-US" sz="1000" dirty="0"/>
              <a:t>激光箱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C95DE2-3311-E9ED-688C-8DD5EA4430CE}"/>
              </a:ext>
            </a:extLst>
          </p:cNvPr>
          <p:cNvSpPr/>
          <p:nvPr/>
        </p:nvSpPr>
        <p:spPr>
          <a:xfrm>
            <a:off x="12428209" y="-50053"/>
            <a:ext cx="4735635" cy="20015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FPP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的市占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玩家动作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79AB08-4893-B6F5-8C84-441C48C7B4DE}"/>
              </a:ext>
            </a:extLst>
          </p:cNvPr>
          <p:cNvSpPr txBox="1"/>
          <p:nvPr/>
        </p:nvSpPr>
        <p:spPr>
          <a:xfrm>
            <a:off x="706053" y="5461355"/>
            <a:ext cx="936104" cy="12244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市占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-71545" y="2152170"/>
            <a:ext cx="936104" cy="12244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速率</a:t>
            </a: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6218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图片 22">
            <a:extLst>
              <a:ext uri="{FF2B5EF4-FFF2-40B4-BE49-F238E27FC236}">
                <a16:creationId xmlns:a16="http://schemas.microsoft.com/office/drawing/2014/main" id="{A80F1336-BC28-842F-2EC1-95B265983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7832" y="2866301"/>
            <a:ext cx="1219289" cy="137242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87C10F0-E484-4901-D545-C8F24F47C68C}"/>
              </a:ext>
            </a:extLst>
          </p:cNvPr>
          <p:cNvSpPr/>
          <p:nvPr/>
        </p:nvSpPr>
        <p:spPr>
          <a:xfrm>
            <a:off x="12285234" y="382992"/>
            <a:ext cx="4112355" cy="41367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回溯过往两次技术范式变化带来的市场格局变化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）纯铜互联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-》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可插拔光模块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）可插拔光模块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-&gt; CPO 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分别解释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FPP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的科普项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目的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结构（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fpp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vs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pos. cons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，降低能耗、成本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vs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不好维护）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调一下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UI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71FE5C4-028C-8CAB-BDE6-49D6F0D2A4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577" y="6923990"/>
            <a:ext cx="10809524" cy="4571429"/>
          </a:xfrm>
          <a:prstGeom prst="rect">
            <a:avLst/>
          </a:prstGeom>
        </p:spPr>
      </p:pic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3246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CPO</a:t>
            </a:r>
            <a:r>
              <a:rPr lang="zh-CN" altLang="en-US" dirty="0"/>
              <a:t>解决了什么问题？</a:t>
            </a:r>
            <a:r>
              <a:rPr lang="en-US" altLang="zh-CN" dirty="0"/>
              <a:t>FPP</a:t>
            </a:r>
            <a:r>
              <a:rPr lang="zh-CN" altLang="en-US" dirty="0"/>
              <a:t>到</a:t>
            </a:r>
            <a:r>
              <a:rPr lang="en-US" altLang="zh-CN" dirty="0"/>
              <a:t>CPO</a:t>
            </a:r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C262AB9-64BB-C3EC-AD4B-2C26A7402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037" y="6923990"/>
            <a:ext cx="7490042" cy="3640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箭头: 下 1034">
            <a:extLst>
              <a:ext uri="{FF2B5EF4-FFF2-40B4-BE49-F238E27FC236}">
                <a16:creationId xmlns:a16="http://schemas.microsoft.com/office/drawing/2014/main" id="{E3C9F55A-614C-4F6E-870B-24CD974682AE}"/>
              </a:ext>
            </a:extLst>
          </p:cNvPr>
          <p:cNvSpPr/>
          <p:nvPr/>
        </p:nvSpPr>
        <p:spPr>
          <a:xfrm>
            <a:off x="760787" y="2884042"/>
            <a:ext cx="526452" cy="3271329"/>
          </a:xfrm>
          <a:prstGeom prst="downArrow">
            <a:avLst/>
          </a:prstGeom>
          <a:gradFill>
            <a:gsLst>
              <a:gs pos="0">
                <a:schemeClr val="accent5"/>
              </a:gs>
              <a:gs pos="74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2239971" y="2623982"/>
            <a:ext cx="808512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>
            <a:extLst>
              <a:ext uri="{FF2B5EF4-FFF2-40B4-BE49-F238E27FC236}">
                <a16:creationId xmlns:a16="http://schemas.microsoft.com/office/drawing/2014/main" id="{3B5CCAD9-355F-4D8A-0A69-AAC6B0790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9951" y="-228656"/>
            <a:ext cx="5956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1419603" y="3253555"/>
            <a:ext cx="785926" cy="92333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FPP</a:t>
            </a: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传统方案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1413016" y="5088404"/>
            <a:ext cx="785926" cy="92333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CPO</a:t>
            </a: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进阶方案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775010" y="1123200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去除：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去除占地大的外部接口模块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机械壳体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笼子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散热片成本消失，电表面积出清</a:t>
            </a:r>
            <a:endParaRPr lang="en-US" altLang="zh-CN" sz="1400" u="sng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合并：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OE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与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ASIC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共封装同一基板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热源远离（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OE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远离光适配器），良率提升 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+ 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物料节省</a:t>
            </a:r>
            <a:endParaRPr lang="en-US" altLang="zh-CN" sz="1400" u="sng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缩距：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大幅缩短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OE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与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ASIC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距离（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级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mm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级）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降低传输代价、复用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ASIC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能力，利润链前移至先进封装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/ASIC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巨头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B068064-0AA2-79B9-DA7D-738738D0ACAF}"/>
              </a:ext>
            </a:extLst>
          </p:cNvPr>
          <p:cNvGrpSpPr/>
          <p:nvPr/>
        </p:nvGrpSpPr>
        <p:grpSpPr>
          <a:xfrm>
            <a:off x="2568076" y="2080016"/>
            <a:ext cx="5337600" cy="4067261"/>
            <a:chOff x="2568076" y="2080016"/>
            <a:chExt cx="5337600" cy="4067261"/>
          </a:xfrm>
        </p:grpSpPr>
        <p:sp>
          <p:nvSpPr>
            <p:cNvPr id="1036" name="文本框 1035">
              <a:extLst>
                <a:ext uri="{FF2B5EF4-FFF2-40B4-BE49-F238E27FC236}">
                  <a16:creationId xmlns:a16="http://schemas.microsoft.com/office/drawing/2014/main" id="{ECCC2ED5-0A88-21E2-49DF-C32546F8E5BC}"/>
                </a:ext>
              </a:extLst>
            </p:cNvPr>
            <p:cNvSpPr txBox="1"/>
            <p:nvPr/>
          </p:nvSpPr>
          <p:spPr>
            <a:xfrm>
              <a:off x="3432101" y="2080016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</a:rPr>
                <a:t>正面</a:t>
              </a:r>
              <a:endParaRPr kumimoji="1" lang="en-US" altLang="zh-CN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2583401" y="295890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2685930" y="303090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3259680" y="3290152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ASIC</a:t>
                </a:r>
                <a:endParaRPr lang="zh-CN" altLang="en-US" sz="1000" dirty="0"/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4511448" y="3138295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4547034" y="3138295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4513888" y="3325917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4549474" y="3325917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4511448" y="390970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4547034" y="390970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4841648" y="395931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4515178" y="3728301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4550671" y="3728301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4666026" y="348172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4666026" y="362600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4666026" y="355386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4027386" y="3187908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4028672" y="3375530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4029704" y="3676691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4028672" y="3749163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3981667" y="337476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3982953" y="372630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3983985" y="365383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3982953" y="344615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2568076" y="487752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2670605" y="494952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3268663" y="5208772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3427029" y="5383738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/>
                <a:t>ASIC</a:t>
              </a:r>
              <a:endParaRPr lang="zh-CN" altLang="en-US" sz="700" dirty="0"/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4568274" y="5056915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4568273" y="5244537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4568273" y="5828322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4651459" y="587793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4568273" y="5646921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3976273" y="5106528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3976938" y="5294150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3976272" y="5537266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3976539" y="5591536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3930554" y="538325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3930820" y="556867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3930553" y="551440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3931219" y="543502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783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375294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187908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4651459" y="5697064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29338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106528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3868827" y="5383747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06118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57880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37962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93466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3564677" y="5199694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3560034" y="5567772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3294369" y="5379963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07" name="三角形 53">
              <a:extLst>
                <a:ext uri="{FF2B5EF4-FFF2-40B4-BE49-F238E27FC236}">
                  <a16:creationId xmlns:a16="http://schemas.microsoft.com/office/drawing/2014/main" id="{48AA5F8E-D232-A3C4-8C23-751CDD503C2C}"/>
                </a:ext>
              </a:extLst>
            </p:cNvPr>
            <p:cNvSpPr/>
            <p:nvPr/>
          </p:nvSpPr>
          <p:spPr>
            <a:xfrm rot="10800000">
              <a:off x="3156950" y="4470843"/>
              <a:ext cx="949286" cy="195383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kumimoji="1" lang="zh-CN" alt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128DC7B3-9ED3-4B47-3CAE-633A0B661A2A}"/>
              </a:ext>
            </a:extLst>
          </p:cNvPr>
          <p:cNvSpPr txBox="1"/>
          <p:nvPr/>
        </p:nvSpPr>
        <p:spPr>
          <a:xfrm>
            <a:off x="9552229" y="2060057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b="1" dirty="0">
                <a:solidFill>
                  <a:schemeClr val="accent6">
                    <a:lumMod val="10000"/>
                  </a:schemeClr>
                </a:solidFill>
              </a:rPr>
              <a:t>实物</a:t>
            </a:r>
            <a:endParaRPr kumimoji="1"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C49537-4E56-3225-97B2-9FE0117F6CEA}"/>
              </a:ext>
            </a:extLst>
          </p:cNvPr>
          <p:cNvSpPr/>
          <p:nvPr/>
        </p:nvSpPr>
        <p:spPr>
          <a:xfrm>
            <a:off x="9338053" y="3527443"/>
            <a:ext cx="700027" cy="669576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2C09A64-B21C-35B9-EE03-6E516E2A996E}"/>
              </a:ext>
            </a:extLst>
          </p:cNvPr>
          <p:cNvSpPr txBox="1"/>
          <p:nvPr/>
        </p:nvSpPr>
        <p:spPr>
          <a:xfrm>
            <a:off x="8769379" y="2773228"/>
            <a:ext cx="59554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b="1" dirty="0">
                <a:solidFill>
                  <a:schemeClr val="accent6">
                    <a:lumMod val="10000"/>
                  </a:schemeClr>
                </a:solidFill>
              </a:rPr>
              <a:t>交换机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95A158FD-A0ED-AA15-5025-6EAA0B9B4A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8053" y="4854794"/>
            <a:ext cx="1182525" cy="1267752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14030CBD-D1BA-A4B3-7A9D-D1E82ED5D06C}"/>
              </a:ext>
            </a:extLst>
          </p:cNvPr>
          <p:cNvSpPr txBox="1"/>
          <p:nvPr/>
        </p:nvSpPr>
        <p:spPr>
          <a:xfrm>
            <a:off x="10014916" y="3683217"/>
            <a:ext cx="53931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b="1" dirty="0">
                <a:solidFill>
                  <a:schemeClr val="accent6">
                    <a:lumMod val="10000"/>
                  </a:schemeClr>
                </a:solidFill>
              </a:rPr>
              <a:t>可插拔光模块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AC7162C-331B-64C2-58BC-C11B907A7AD8}"/>
              </a:ext>
            </a:extLst>
          </p:cNvPr>
          <p:cNvGrpSpPr/>
          <p:nvPr/>
        </p:nvGrpSpPr>
        <p:grpSpPr>
          <a:xfrm>
            <a:off x="5300191" y="2054110"/>
            <a:ext cx="5455392" cy="4112852"/>
            <a:chOff x="6649635" y="2024572"/>
            <a:chExt cx="5455392" cy="4112852"/>
          </a:xfrm>
        </p:grpSpPr>
        <p:grpSp>
          <p:nvGrpSpPr>
            <p:cNvPr id="2283" name="组合 2282">
              <a:extLst>
                <a:ext uri="{FF2B5EF4-FFF2-40B4-BE49-F238E27FC236}">
                  <a16:creationId xmlns:a16="http://schemas.microsoft.com/office/drawing/2014/main" id="{293D0147-C09F-6F8D-A3D3-8B10C8E129D5}"/>
                </a:ext>
              </a:extLst>
            </p:cNvPr>
            <p:cNvGrpSpPr/>
            <p:nvPr/>
          </p:nvGrpSpPr>
          <p:grpSpPr>
            <a:xfrm>
              <a:off x="8103528" y="5502465"/>
              <a:ext cx="180133" cy="51782"/>
              <a:chOff x="7867918" y="2835520"/>
              <a:chExt cx="180133" cy="51782"/>
            </a:xfrm>
          </p:grpSpPr>
          <p:sp>
            <p:nvSpPr>
              <p:cNvPr id="2284" name="椭圆 2283">
                <a:extLst>
                  <a:ext uri="{FF2B5EF4-FFF2-40B4-BE49-F238E27FC236}">
                    <a16:creationId xmlns:a16="http://schemas.microsoft.com/office/drawing/2014/main" id="{AE6FD3A3-80B0-1E9E-F69C-44524BD73C07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5" name="椭圆 2284">
                <a:extLst>
                  <a:ext uri="{FF2B5EF4-FFF2-40B4-BE49-F238E27FC236}">
                    <a16:creationId xmlns:a16="http://schemas.microsoft.com/office/drawing/2014/main" id="{E24357DA-78BF-37D7-9509-F80E141FF0FB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07" name="矩形 2206">
              <a:extLst>
                <a:ext uri="{FF2B5EF4-FFF2-40B4-BE49-F238E27FC236}">
                  <a16:creationId xmlns:a16="http://schemas.microsoft.com/office/drawing/2014/main" id="{9D01AEB0-2411-BFDB-2528-00333FFD822E}"/>
                </a:ext>
              </a:extLst>
            </p:cNvPr>
            <p:cNvSpPr/>
            <p:nvPr/>
          </p:nvSpPr>
          <p:spPr>
            <a:xfrm>
              <a:off x="9441349" y="3610619"/>
              <a:ext cx="518039" cy="246220"/>
            </a:xfrm>
            <a:prstGeom prst="rect">
              <a:avLst/>
            </a:prstGeom>
            <a:solidFill>
              <a:srgbClr val="A6A6A6">
                <a:alpha val="2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17" name="组合 2216">
              <a:extLst>
                <a:ext uri="{FF2B5EF4-FFF2-40B4-BE49-F238E27FC236}">
                  <a16:creationId xmlns:a16="http://schemas.microsoft.com/office/drawing/2014/main" id="{48080AC9-D97C-506D-38BB-04B462535459}"/>
                </a:ext>
              </a:extLst>
            </p:cNvPr>
            <p:cNvGrpSpPr/>
            <p:nvPr/>
          </p:nvGrpSpPr>
          <p:grpSpPr>
            <a:xfrm>
              <a:off x="9505867" y="3819503"/>
              <a:ext cx="180133" cy="51782"/>
              <a:chOff x="7867918" y="2835520"/>
              <a:chExt cx="180133" cy="51782"/>
            </a:xfrm>
          </p:grpSpPr>
          <p:sp>
            <p:nvSpPr>
              <p:cNvPr id="2218" name="椭圆 2217">
                <a:extLst>
                  <a:ext uri="{FF2B5EF4-FFF2-40B4-BE49-F238E27FC236}">
                    <a16:creationId xmlns:a16="http://schemas.microsoft.com/office/drawing/2014/main" id="{4F68F8D8-5A4F-9AB0-A2B1-4AA8521AE26C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9" name="椭圆 2218">
                <a:extLst>
                  <a:ext uri="{FF2B5EF4-FFF2-40B4-BE49-F238E27FC236}">
                    <a16:creationId xmlns:a16="http://schemas.microsoft.com/office/drawing/2014/main" id="{697FD642-E1C7-984C-84FD-F9BA32AE213D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16" name="组合 2215">
              <a:extLst>
                <a:ext uri="{FF2B5EF4-FFF2-40B4-BE49-F238E27FC236}">
                  <a16:creationId xmlns:a16="http://schemas.microsoft.com/office/drawing/2014/main" id="{88447058-E641-6033-8952-D70647929279}"/>
                </a:ext>
              </a:extLst>
            </p:cNvPr>
            <p:cNvGrpSpPr/>
            <p:nvPr/>
          </p:nvGrpSpPr>
          <p:grpSpPr>
            <a:xfrm>
              <a:off x="7197779" y="3570054"/>
              <a:ext cx="565185" cy="51782"/>
              <a:chOff x="7867918" y="2835520"/>
              <a:chExt cx="565185" cy="51782"/>
            </a:xfrm>
          </p:grpSpPr>
          <p:sp>
            <p:nvSpPr>
              <p:cNvPr id="2210" name="椭圆 2209">
                <a:extLst>
                  <a:ext uri="{FF2B5EF4-FFF2-40B4-BE49-F238E27FC236}">
                    <a16:creationId xmlns:a16="http://schemas.microsoft.com/office/drawing/2014/main" id="{CA5BA9F9-7CBE-A8DC-E632-02874C6EE9DD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2" name="椭圆 2211">
                <a:extLst>
                  <a:ext uri="{FF2B5EF4-FFF2-40B4-BE49-F238E27FC236}">
                    <a16:creationId xmlns:a16="http://schemas.microsoft.com/office/drawing/2014/main" id="{38157B7A-7332-FF4E-39CB-CE4F567035F6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3" name="椭圆 2212">
                <a:extLst>
                  <a:ext uri="{FF2B5EF4-FFF2-40B4-BE49-F238E27FC236}">
                    <a16:creationId xmlns:a16="http://schemas.microsoft.com/office/drawing/2014/main" id="{30AF12B0-CB8E-BA97-2FE1-598E1F01918C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4" name="椭圆 2213">
                <a:extLst>
                  <a:ext uri="{FF2B5EF4-FFF2-40B4-BE49-F238E27FC236}">
                    <a16:creationId xmlns:a16="http://schemas.microsoft.com/office/drawing/2014/main" id="{F8570447-E39D-1361-7A43-AA47875F2729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5" name="椭圆 2214">
                <a:extLst>
                  <a:ext uri="{FF2B5EF4-FFF2-40B4-BE49-F238E27FC236}">
                    <a16:creationId xmlns:a16="http://schemas.microsoft.com/office/drawing/2014/main" id="{48899A2D-3DEA-B68D-20ED-9FB5F2AEA527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03" name="组合 2202">
              <a:extLst>
                <a:ext uri="{FF2B5EF4-FFF2-40B4-BE49-F238E27FC236}">
                  <a16:creationId xmlns:a16="http://schemas.microsoft.com/office/drawing/2014/main" id="{D173D587-F239-6090-3BB5-3FD3512DB4C5}"/>
                </a:ext>
              </a:extLst>
            </p:cNvPr>
            <p:cNvGrpSpPr/>
            <p:nvPr/>
          </p:nvGrpSpPr>
          <p:grpSpPr>
            <a:xfrm>
              <a:off x="7161943" y="3810412"/>
              <a:ext cx="1049169" cy="51782"/>
              <a:chOff x="7142854" y="3452768"/>
              <a:chExt cx="1049169" cy="51782"/>
            </a:xfrm>
          </p:grpSpPr>
          <p:sp>
            <p:nvSpPr>
              <p:cNvPr id="2197" name="椭圆 2196">
                <a:extLst>
                  <a:ext uri="{FF2B5EF4-FFF2-40B4-BE49-F238E27FC236}">
                    <a16:creationId xmlns:a16="http://schemas.microsoft.com/office/drawing/2014/main" id="{8ABCF628-3AF5-004E-C79D-36DC0313349F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8" name="椭圆 2197">
                <a:extLst>
                  <a:ext uri="{FF2B5EF4-FFF2-40B4-BE49-F238E27FC236}">
                    <a16:creationId xmlns:a16="http://schemas.microsoft.com/office/drawing/2014/main" id="{4602E9E2-13BE-B2DE-BE32-81AD1B8D9C35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9" name="椭圆 2198">
                <a:extLst>
                  <a:ext uri="{FF2B5EF4-FFF2-40B4-BE49-F238E27FC236}">
                    <a16:creationId xmlns:a16="http://schemas.microsoft.com/office/drawing/2014/main" id="{C35EC5BA-E3D0-A6BF-8B4D-32CD24E466FE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0" name="椭圆 2199">
                <a:extLst>
                  <a:ext uri="{FF2B5EF4-FFF2-40B4-BE49-F238E27FC236}">
                    <a16:creationId xmlns:a16="http://schemas.microsoft.com/office/drawing/2014/main" id="{86899C8A-820B-5595-CF80-7635EFF3B8FB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1" name="椭圆 2200">
                <a:extLst>
                  <a:ext uri="{FF2B5EF4-FFF2-40B4-BE49-F238E27FC236}">
                    <a16:creationId xmlns:a16="http://schemas.microsoft.com/office/drawing/2014/main" id="{FB518041-1704-7B53-FAC9-036F2F9391CB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2" name="椭圆 2201">
                <a:extLst>
                  <a:ext uri="{FF2B5EF4-FFF2-40B4-BE49-F238E27FC236}">
                    <a16:creationId xmlns:a16="http://schemas.microsoft.com/office/drawing/2014/main" id="{910145BF-E1E5-1AA7-6FD0-D639FBFCFC9F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2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73D05B80-0CB0-534F-3D2A-AD2B0E106071}"/>
                </a:ext>
              </a:extLst>
            </p:cNvPr>
            <p:cNvSpPr txBox="1"/>
            <p:nvPr/>
          </p:nvSpPr>
          <p:spPr>
            <a:xfrm>
              <a:off x="6662025" y="2862862"/>
              <a:ext cx="3178233" cy="2769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2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Front-Panel Pluggable Optics(FPP)</a:t>
              </a:r>
              <a:endParaRPr sz="1200" dirty="0">
                <a:solidFill>
                  <a:schemeClr val="accent6">
                    <a:lumMod val="10000"/>
                  </a:schemeClr>
                </a:solidFill>
                <a:latin typeface="+mj-lt"/>
              </a:endParaRPr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1938A181-D8E7-F0C8-3BBF-FF91B86C52D1}"/>
                </a:ext>
              </a:extLst>
            </p:cNvPr>
            <p:cNvSpPr txBox="1"/>
            <p:nvPr/>
          </p:nvSpPr>
          <p:spPr>
            <a:xfrm>
              <a:off x="7631452" y="2024572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</a:rPr>
                <a:t>侧面</a:t>
              </a:r>
              <a:endParaRPr kumimoji="1" lang="en-US" altLang="zh-CN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2195" name="矩形: 圆角 2194">
              <a:extLst>
                <a:ext uri="{FF2B5EF4-FFF2-40B4-BE49-F238E27FC236}">
                  <a16:creationId xmlns:a16="http://schemas.microsoft.com/office/drawing/2014/main" id="{1E008CC3-49DA-2C0C-1789-CD0CE484D03C}"/>
                </a:ext>
              </a:extLst>
            </p:cNvPr>
            <p:cNvSpPr/>
            <p:nvPr/>
          </p:nvSpPr>
          <p:spPr>
            <a:xfrm>
              <a:off x="6736522" y="3862194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5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B3DB5D86-7298-E069-2C2F-CEA180A43E86}"/>
                </a:ext>
              </a:extLst>
            </p:cNvPr>
            <p:cNvSpPr txBox="1"/>
            <p:nvPr/>
          </p:nvSpPr>
          <p:spPr>
            <a:xfrm>
              <a:off x="6766520" y="3880836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PCB</a:t>
              </a:r>
              <a:endParaRPr sz="1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196" name="矩形: 圆角 2195">
              <a:extLst>
                <a:ext uri="{FF2B5EF4-FFF2-40B4-BE49-F238E27FC236}">
                  <a16:creationId xmlns:a16="http://schemas.microsoft.com/office/drawing/2014/main" id="{A9689017-7DD6-76F0-78D5-C96A6E551E36}"/>
                </a:ext>
              </a:extLst>
            </p:cNvPr>
            <p:cNvSpPr/>
            <p:nvPr/>
          </p:nvSpPr>
          <p:spPr>
            <a:xfrm>
              <a:off x="6965968" y="3614821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chemeClr val="accent2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4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A3BFFFB6-29D2-A4FF-FB48-E365C59291FE}"/>
                </a:ext>
              </a:extLst>
            </p:cNvPr>
            <p:cNvSpPr txBox="1"/>
            <p:nvPr/>
          </p:nvSpPr>
          <p:spPr>
            <a:xfrm>
              <a:off x="6963206" y="3593782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j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05" name="矩形: 圆角 2204">
              <a:extLst>
                <a:ext uri="{FF2B5EF4-FFF2-40B4-BE49-F238E27FC236}">
                  <a16:creationId xmlns:a16="http://schemas.microsoft.com/office/drawing/2014/main" id="{FC3D11DF-B48F-22F8-3A54-3F120F0497FF}"/>
                </a:ext>
              </a:extLst>
            </p:cNvPr>
            <p:cNvSpPr/>
            <p:nvPr/>
          </p:nvSpPr>
          <p:spPr>
            <a:xfrm>
              <a:off x="7168499" y="3420480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6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0172ECF7-A8D8-FF33-A5CD-62523203A418}"/>
                </a:ext>
              </a:extLst>
            </p:cNvPr>
            <p:cNvSpPr txBox="1"/>
            <p:nvPr/>
          </p:nvSpPr>
          <p:spPr>
            <a:xfrm>
              <a:off x="7279681" y="3375855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j-lt"/>
                </a:rPr>
                <a:t>ASIC</a:t>
              </a:r>
              <a:endParaRPr sz="1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08" name="矩形 2207">
              <a:extLst>
                <a:ext uri="{FF2B5EF4-FFF2-40B4-BE49-F238E27FC236}">
                  <a16:creationId xmlns:a16="http://schemas.microsoft.com/office/drawing/2014/main" id="{5729BD6E-BD70-026D-D0A9-18CBAA9331F4}"/>
                </a:ext>
              </a:extLst>
            </p:cNvPr>
            <p:cNvSpPr/>
            <p:nvPr/>
          </p:nvSpPr>
          <p:spPr>
            <a:xfrm>
              <a:off x="9497076" y="3699551"/>
              <a:ext cx="196913" cy="11955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24" name="直接连接符 2223">
              <a:extLst>
                <a:ext uri="{FF2B5EF4-FFF2-40B4-BE49-F238E27FC236}">
                  <a16:creationId xmlns:a16="http://schemas.microsoft.com/office/drawing/2014/main" id="{62AA3A83-4266-4CAE-BBFD-2A54070AF530}"/>
                </a:ext>
              </a:extLst>
            </p:cNvPr>
            <p:cNvCxnSpPr>
              <a:stCxn id="2208" idx="3"/>
            </p:cNvCxnSpPr>
            <p:nvPr/>
          </p:nvCxnSpPr>
          <p:spPr>
            <a:xfrm>
              <a:off x="9693989" y="3759330"/>
              <a:ext cx="687160" cy="0"/>
            </a:xfrm>
            <a:prstGeom prst="line">
              <a:avLst/>
            </a:prstGeom>
            <a:ln w="12700"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5" name="椭圆 2224">
              <a:extLst>
                <a:ext uri="{FF2B5EF4-FFF2-40B4-BE49-F238E27FC236}">
                  <a16:creationId xmlns:a16="http://schemas.microsoft.com/office/drawing/2014/main" id="{C7061CA2-8A37-562B-4D0B-B6D8EB4B0A9B}"/>
                </a:ext>
              </a:extLst>
            </p:cNvPr>
            <p:cNvSpPr/>
            <p:nvPr/>
          </p:nvSpPr>
          <p:spPr>
            <a:xfrm>
              <a:off x="9999895" y="3666485"/>
              <a:ext cx="149225" cy="88931"/>
            </a:xfrm>
            <a:prstGeom prst="ellipse">
              <a:avLst/>
            </a:prstGeom>
            <a:noFill/>
            <a:ln w="12700">
              <a:solidFill>
                <a:srgbClr val="FF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6" name="文本框 2225">
              <a:extLst>
                <a:ext uri="{FF2B5EF4-FFF2-40B4-BE49-F238E27FC236}">
                  <a16:creationId xmlns:a16="http://schemas.microsoft.com/office/drawing/2014/main" id="{455C7CC0-F6B0-B45C-7FA1-54946414C3CC}"/>
                </a:ext>
              </a:extLst>
            </p:cNvPr>
            <p:cNvSpPr txBox="1"/>
            <p:nvPr/>
          </p:nvSpPr>
          <p:spPr>
            <a:xfrm>
              <a:off x="7040161" y="3069614"/>
              <a:ext cx="92286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200" b="1" dirty="0">
                  <a:solidFill>
                    <a:schemeClr val="accent6">
                      <a:lumMod val="10000"/>
                    </a:schemeClr>
                  </a:solidFill>
                </a:rPr>
                <a:t>交换机芯片</a:t>
              </a:r>
              <a:endParaRPr kumimoji="1" lang="en-US" altLang="zh-CN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2227" name="文本框 2226">
              <a:extLst>
                <a:ext uri="{FF2B5EF4-FFF2-40B4-BE49-F238E27FC236}">
                  <a16:creationId xmlns:a16="http://schemas.microsoft.com/office/drawing/2014/main" id="{65F1A0DD-FDE9-FF90-E031-F979EAB49F85}"/>
                </a:ext>
              </a:extLst>
            </p:cNvPr>
            <p:cNvSpPr txBox="1"/>
            <p:nvPr/>
          </p:nvSpPr>
          <p:spPr>
            <a:xfrm>
              <a:off x="9296901" y="3284986"/>
              <a:ext cx="74066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200" b="1" dirty="0">
                  <a:solidFill>
                    <a:schemeClr val="accent6">
                      <a:lumMod val="10000"/>
                    </a:schemeClr>
                  </a:solidFill>
                </a:rPr>
                <a:t>光模块</a:t>
              </a:r>
              <a:endParaRPr kumimoji="1" lang="en-US" altLang="zh-CN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cxnSp>
          <p:nvCxnSpPr>
            <p:cNvPr id="2229" name="直接连接符 2228">
              <a:extLst>
                <a:ext uri="{FF2B5EF4-FFF2-40B4-BE49-F238E27FC236}">
                  <a16:creationId xmlns:a16="http://schemas.microsoft.com/office/drawing/2014/main" id="{9557C8EE-3643-9A2D-2E7A-141A75053537}"/>
                </a:ext>
              </a:extLst>
            </p:cNvPr>
            <p:cNvCxnSpPr>
              <a:cxnSpLocks/>
            </p:cNvCxnSpPr>
            <p:nvPr/>
          </p:nvCxnSpPr>
          <p:spPr>
            <a:xfrm>
              <a:off x="7739019" y="3585815"/>
              <a:ext cx="0" cy="72522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直接连接符 2235">
              <a:extLst>
                <a:ext uri="{FF2B5EF4-FFF2-40B4-BE49-F238E27FC236}">
                  <a16:creationId xmlns:a16="http://schemas.microsoft.com/office/drawing/2014/main" id="{0EB20CDE-E882-220D-0F19-FED55ADB4629}"/>
                </a:ext>
              </a:extLst>
            </p:cNvPr>
            <p:cNvCxnSpPr>
              <a:cxnSpLocks/>
            </p:cNvCxnSpPr>
            <p:nvPr/>
          </p:nvCxnSpPr>
          <p:spPr>
            <a:xfrm>
              <a:off x="7737085" y="3655397"/>
              <a:ext cx="246441" cy="0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直接连接符 2238">
              <a:extLst>
                <a:ext uri="{FF2B5EF4-FFF2-40B4-BE49-F238E27FC236}">
                  <a16:creationId xmlns:a16="http://schemas.microsoft.com/office/drawing/2014/main" id="{3BB8C5A6-EF61-9080-E5D5-A159AE033667}"/>
                </a:ext>
              </a:extLst>
            </p:cNvPr>
            <p:cNvCxnSpPr>
              <a:cxnSpLocks/>
            </p:cNvCxnSpPr>
            <p:nvPr/>
          </p:nvCxnSpPr>
          <p:spPr>
            <a:xfrm>
              <a:off x="7981938" y="3652193"/>
              <a:ext cx="0" cy="246105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直接连接符 2240">
              <a:extLst>
                <a:ext uri="{FF2B5EF4-FFF2-40B4-BE49-F238E27FC236}">
                  <a16:creationId xmlns:a16="http://schemas.microsoft.com/office/drawing/2014/main" id="{8DA9BE6F-0C56-E310-3B45-5ECC625C7DBF}"/>
                </a:ext>
              </a:extLst>
            </p:cNvPr>
            <p:cNvCxnSpPr>
              <a:cxnSpLocks/>
            </p:cNvCxnSpPr>
            <p:nvPr/>
          </p:nvCxnSpPr>
          <p:spPr>
            <a:xfrm>
              <a:off x="7980350" y="3896710"/>
              <a:ext cx="1547330" cy="0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4" name="直接连接符 2243">
              <a:extLst>
                <a:ext uri="{FF2B5EF4-FFF2-40B4-BE49-F238E27FC236}">
                  <a16:creationId xmlns:a16="http://schemas.microsoft.com/office/drawing/2014/main" id="{58C058FE-4759-2C16-CE42-2F324A539B69}"/>
                </a:ext>
              </a:extLst>
            </p:cNvPr>
            <p:cNvCxnSpPr>
              <a:cxnSpLocks/>
            </p:cNvCxnSpPr>
            <p:nvPr/>
          </p:nvCxnSpPr>
          <p:spPr>
            <a:xfrm>
              <a:off x="9529751" y="3827349"/>
              <a:ext cx="0" cy="72537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0" name="组合 2249">
              <a:extLst>
                <a:ext uri="{FF2B5EF4-FFF2-40B4-BE49-F238E27FC236}">
                  <a16:creationId xmlns:a16="http://schemas.microsoft.com/office/drawing/2014/main" id="{FA361268-33C5-5237-7382-702CAA895B30}"/>
                </a:ext>
              </a:extLst>
            </p:cNvPr>
            <p:cNvGrpSpPr/>
            <p:nvPr/>
          </p:nvGrpSpPr>
          <p:grpSpPr>
            <a:xfrm>
              <a:off x="7118629" y="5506730"/>
              <a:ext cx="565185" cy="51782"/>
              <a:chOff x="7867918" y="2835520"/>
              <a:chExt cx="565185" cy="51782"/>
            </a:xfrm>
          </p:grpSpPr>
          <p:sp>
            <p:nvSpPr>
              <p:cNvPr id="2251" name="椭圆 2250">
                <a:extLst>
                  <a:ext uri="{FF2B5EF4-FFF2-40B4-BE49-F238E27FC236}">
                    <a16:creationId xmlns:a16="http://schemas.microsoft.com/office/drawing/2014/main" id="{CE867EE8-784B-7EA0-2AE4-38FB744C7858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2" name="椭圆 2251">
                <a:extLst>
                  <a:ext uri="{FF2B5EF4-FFF2-40B4-BE49-F238E27FC236}">
                    <a16:creationId xmlns:a16="http://schemas.microsoft.com/office/drawing/2014/main" id="{512F357D-5791-B114-77F8-EDDD352ACB31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3" name="椭圆 2252">
                <a:extLst>
                  <a:ext uri="{FF2B5EF4-FFF2-40B4-BE49-F238E27FC236}">
                    <a16:creationId xmlns:a16="http://schemas.microsoft.com/office/drawing/2014/main" id="{B1450D27-52E0-8897-595C-4491F2883DC7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4" name="椭圆 2253">
                <a:extLst>
                  <a:ext uri="{FF2B5EF4-FFF2-40B4-BE49-F238E27FC236}">
                    <a16:creationId xmlns:a16="http://schemas.microsoft.com/office/drawing/2014/main" id="{4AB83A58-3FB7-570C-5F2F-2E10CEE141AA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5" name="椭圆 2254">
                <a:extLst>
                  <a:ext uri="{FF2B5EF4-FFF2-40B4-BE49-F238E27FC236}">
                    <a16:creationId xmlns:a16="http://schemas.microsoft.com/office/drawing/2014/main" id="{237EA7FA-0F9D-03AD-06B3-F3C688B2BE6E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56" name="组合 2255">
              <a:extLst>
                <a:ext uri="{FF2B5EF4-FFF2-40B4-BE49-F238E27FC236}">
                  <a16:creationId xmlns:a16="http://schemas.microsoft.com/office/drawing/2014/main" id="{104F4237-0ECE-FAC8-C76A-5C74B430FDEE}"/>
                </a:ext>
              </a:extLst>
            </p:cNvPr>
            <p:cNvGrpSpPr/>
            <p:nvPr/>
          </p:nvGrpSpPr>
          <p:grpSpPr>
            <a:xfrm>
              <a:off x="7082793" y="5747088"/>
              <a:ext cx="1049169" cy="51782"/>
              <a:chOff x="7142854" y="3452768"/>
              <a:chExt cx="1049169" cy="51782"/>
            </a:xfrm>
          </p:grpSpPr>
          <p:sp>
            <p:nvSpPr>
              <p:cNvPr id="2257" name="椭圆 2256">
                <a:extLst>
                  <a:ext uri="{FF2B5EF4-FFF2-40B4-BE49-F238E27FC236}">
                    <a16:creationId xmlns:a16="http://schemas.microsoft.com/office/drawing/2014/main" id="{71E17CA2-D1CB-90B1-1378-AAFEF7CAB994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8" name="椭圆 2257">
                <a:extLst>
                  <a:ext uri="{FF2B5EF4-FFF2-40B4-BE49-F238E27FC236}">
                    <a16:creationId xmlns:a16="http://schemas.microsoft.com/office/drawing/2014/main" id="{AD8B3459-9F75-972C-5BD1-0FA76EEE997C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9" name="椭圆 2258">
                <a:extLst>
                  <a:ext uri="{FF2B5EF4-FFF2-40B4-BE49-F238E27FC236}">
                    <a16:creationId xmlns:a16="http://schemas.microsoft.com/office/drawing/2014/main" id="{19AB80E7-AAE6-1430-0645-C6228172DB21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0" name="椭圆 2259">
                <a:extLst>
                  <a:ext uri="{FF2B5EF4-FFF2-40B4-BE49-F238E27FC236}">
                    <a16:creationId xmlns:a16="http://schemas.microsoft.com/office/drawing/2014/main" id="{B1574E16-4F59-CDE9-8941-ADCF0B47ED1D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1" name="椭圆 2260">
                <a:extLst>
                  <a:ext uri="{FF2B5EF4-FFF2-40B4-BE49-F238E27FC236}">
                    <a16:creationId xmlns:a16="http://schemas.microsoft.com/office/drawing/2014/main" id="{51082EBD-8CE3-8786-8F1B-69B0D0FF5F46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2" name="椭圆 2261">
                <a:extLst>
                  <a:ext uri="{FF2B5EF4-FFF2-40B4-BE49-F238E27FC236}">
                    <a16:creationId xmlns:a16="http://schemas.microsoft.com/office/drawing/2014/main" id="{8DB8E0BF-6BD1-1DCE-7734-AB525E2B7614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63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80807F3D-97BA-CD66-4F10-807E6DF5E66F}"/>
                </a:ext>
              </a:extLst>
            </p:cNvPr>
            <p:cNvSpPr txBox="1"/>
            <p:nvPr/>
          </p:nvSpPr>
          <p:spPr>
            <a:xfrm>
              <a:off x="6649635" y="4744241"/>
              <a:ext cx="3797961" cy="2769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2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Co-Packaged Optics(CPO)</a:t>
              </a:r>
              <a:endParaRPr sz="1200" dirty="0">
                <a:solidFill>
                  <a:schemeClr val="accent6">
                    <a:lumMod val="10000"/>
                  </a:schemeClr>
                </a:solidFill>
                <a:latin typeface="+mj-lt"/>
              </a:endParaRPr>
            </a:p>
          </p:txBody>
        </p:sp>
        <p:sp>
          <p:nvSpPr>
            <p:cNvPr id="2264" name="矩形: 圆角 2263">
              <a:extLst>
                <a:ext uri="{FF2B5EF4-FFF2-40B4-BE49-F238E27FC236}">
                  <a16:creationId xmlns:a16="http://schemas.microsoft.com/office/drawing/2014/main" id="{FA1199EA-B4C2-CF1A-6C6B-5DFDEBA7396A}"/>
                </a:ext>
              </a:extLst>
            </p:cNvPr>
            <p:cNvSpPr/>
            <p:nvPr/>
          </p:nvSpPr>
          <p:spPr>
            <a:xfrm>
              <a:off x="6657372" y="5798870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5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5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9FD425D7-822D-9513-9EAD-EBC21FB6314B}"/>
                </a:ext>
              </a:extLst>
            </p:cNvPr>
            <p:cNvSpPr txBox="1"/>
            <p:nvPr/>
          </p:nvSpPr>
          <p:spPr>
            <a:xfrm>
              <a:off x="6687370" y="5817512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PCB</a:t>
              </a:r>
              <a:endParaRPr sz="1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66" name="矩形: 圆角 2265">
              <a:extLst>
                <a:ext uri="{FF2B5EF4-FFF2-40B4-BE49-F238E27FC236}">
                  <a16:creationId xmlns:a16="http://schemas.microsoft.com/office/drawing/2014/main" id="{FE22F93E-1D6A-3B68-0211-EC2A88AE0634}"/>
                </a:ext>
              </a:extLst>
            </p:cNvPr>
            <p:cNvSpPr/>
            <p:nvPr/>
          </p:nvSpPr>
          <p:spPr>
            <a:xfrm>
              <a:off x="6886818" y="5551497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chemeClr val="accent2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7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C02EEDB5-3528-FAE8-0B9A-EF98C6094930}"/>
                </a:ext>
              </a:extLst>
            </p:cNvPr>
            <p:cNvSpPr txBox="1"/>
            <p:nvPr/>
          </p:nvSpPr>
          <p:spPr>
            <a:xfrm>
              <a:off x="6884056" y="5530458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j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68" name="矩形: 圆角 2267">
              <a:extLst>
                <a:ext uri="{FF2B5EF4-FFF2-40B4-BE49-F238E27FC236}">
                  <a16:creationId xmlns:a16="http://schemas.microsoft.com/office/drawing/2014/main" id="{C85569D9-DA69-AA91-EE22-A97E96711DB2}"/>
                </a:ext>
              </a:extLst>
            </p:cNvPr>
            <p:cNvSpPr/>
            <p:nvPr/>
          </p:nvSpPr>
          <p:spPr>
            <a:xfrm>
              <a:off x="7089349" y="5357156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9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8EBBBC45-249E-1216-FBF3-27F624E7F983}"/>
                </a:ext>
              </a:extLst>
            </p:cNvPr>
            <p:cNvSpPr txBox="1"/>
            <p:nvPr/>
          </p:nvSpPr>
          <p:spPr>
            <a:xfrm>
              <a:off x="7200531" y="5312531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j-lt"/>
                </a:rPr>
                <a:t>ASIC</a:t>
              </a:r>
              <a:endParaRPr sz="1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70" name="矩形 2269">
              <a:extLst>
                <a:ext uri="{FF2B5EF4-FFF2-40B4-BE49-F238E27FC236}">
                  <a16:creationId xmlns:a16="http://schemas.microsoft.com/office/drawing/2014/main" id="{F8D7BD25-F9C1-3DA6-3512-B4DB765C4A05}"/>
                </a:ext>
              </a:extLst>
            </p:cNvPr>
            <p:cNvSpPr/>
            <p:nvPr/>
          </p:nvSpPr>
          <p:spPr>
            <a:xfrm>
              <a:off x="9529244" y="5615215"/>
              <a:ext cx="160995" cy="178299"/>
            </a:xfrm>
            <a:prstGeom prst="rect">
              <a:avLst/>
            </a:prstGeom>
            <a:solidFill>
              <a:srgbClr val="D9D9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72" name="直接连接符 2271">
              <a:extLst>
                <a:ext uri="{FF2B5EF4-FFF2-40B4-BE49-F238E27FC236}">
                  <a16:creationId xmlns:a16="http://schemas.microsoft.com/office/drawing/2014/main" id="{E100FBD0-82FA-926D-1539-9BF437657691}"/>
                </a:ext>
              </a:extLst>
            </p:cNvPr>
            <p:cNvCxnSpPr>
              <a:cxnSpLocks/>
            </p:cNvCxnSpPr>
            <p:nvPr/>
          </p:nvCxnSpPr>
          <p:spPr>
            <a:xfrm>
              <a:off x="8643849" y="5696006"/>
              <a:ext cx="1658150" cy="0"/>
            </a:xfrm>
            <a:prstGeom prst="line">
              <a:avLst/>
            </a:prstGeom>
            <a:ln w="12700"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3" name="椭圆 2272">
              <a:extLst>
                <a:ext uri="{FF2B5EF4-FFF2-40B4-BE49-F238E27FC236}">
                  <a16:creationId xmlns:a16="http://schemas.microsoft.com/office/drawing/2014/main" id="{D0FB83C0-5D0D-82B6-CBCD-A5DE0610F40A}"/>
                </a:ext>
              </a:extLst>
            </p:cNvPr>
            <p:cNvSpPr/>
            <p:nvPr/>
          </p:nvSpPr>
          <p:spPr>
            <a:xfrm>
              <a:off x="9920745" y="5603161"/>
              <a:ext cx="149225" cy="88931"/>
            </a:xfrm>
            <a:prstGeom prst="ellipse">
              <a:avLst/>
            </a:prstGeom>
            <a:noFill/>
            <a:ln w="12700">
              <a:solidFill>
                <a:srgbClr val="FF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4" name="文本框 2273">
              <a:extLst>
                <a:ext uri="{FF2B5EF4-FFF2-40B4-BE49-F238E27FC236}">
                  <a16:creationId xmlns:a16="http://schemas.microsoft.com/office/drawing/2014/main" id="{4CEBBF05-9ED7-45E3-F1CD-E8E480E1E2C2}"/>
                </a:ext>
              </a:extLst>
            </p:cNvPr>
            <p:cNvSpPr txBox="1"/>
            <p:nvPr/>
          </p:nvSpPr>
          <p:spPr>
            <a:xfrm>
              <a:off x="7002743" y="5016032"/>
              <a:ext cx="812643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200" b="1" dirty="0">
                  <a:solidFill>
                    <a:schemeClr val="accent6">
                      <a:lumMod val="10000"/>
                    </a:schemeClr>
                  </a:solidFill>
                </a:rPr>
                <a:t>交换机芯片</a:t>
              </a:r>
              <a:endParaRPr kumimoji="1" lang="en-US" altLang="zh-CN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2275" name="文本框 2274">
              <a:extLst>
                <a:ext uri="{FF2B5EF4-FFF2-40B4-BE49-F238E27FC236}">
                  <a16:creationId xmlns:a16="http://schemas.microsoft.com/office/drawing/2014/main" id="{6391F045-3E0C-4C11-BE09-1E81CE2F8190}"/>
                </a:ext>
              </a:extLst>
            </p:cNvPr>
            <p:cNvSpPr txBox="1"/>
            <p:nvPr/>
          </p:nvSpPr>
          <p:spPr>
            <a:xfrm>
              <a:off x="9217751" y="5221662"/>
              <a:ext cx="74066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200" b="1" dirty="0">
                  <a:solidFill>
                    <a:schemeClr val="accent6">
                      <a:lumMod val="10000"/>
                    </a:schemeClr>
                  </a:solidFill>
                </a:rPr>
                <a:t>外置光源</a:t>
              </a:r>
              <a:endParaRPr kumimoji="1" lang="en-US" altLang="zh-CN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cxnSp>
          <p:nvCxnSpPr>
            <p:cNvPr id="2276" name="直接连接符 2275">
              <a:extLst>
                <a:ext uri="{FF2B5EF4-FFF2-40B4-BE49-F238E27FC236}">
                  <a16:creationId xmlns:a16="http://schemas.microsoft.com/office/drawing/2014/main" id="{285E3344-6D39-AA0B-6F38-F5AC3941F282}"/>
                </a:ext>
              </a:extLst>
            </p:cNvPr>
            <p:cNvCxnSpPr>
              <a:cxnSpLocks/>
            </p:cNvCxnSpPr>
            <p:nvPr/>
          </p:nvCxnSpPr>
          <p:spPr>
            <a:xfrm>
              <a:off x="7659869" y="5522491"/>
              <a:ext cx="0" cy="72522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直接连接符 2276">
              <a:extLst>
                <a:ext uri="{FF2B5EF4-FFF2-40B4-BE49-F238E27FC236}">
                  <a16:creationId xmlns:a16="http://schemas.microsoft.com/office/drawing/2014/main" id="{1F0623B0-B366-3726-28B5-EC3405D1B9BF}"/>
                </a:ext>
              </a:extLst>
            </p:cNvPr>
            <p:cNvCxnSpPr>
              <a:cxnSpLocks/>
            </p:cNvCxnSpPr>
            <p:nvPr/>
          </p:nvCxnSpPr>
          <p:spPr>
            <a:xfrm>
              <a:off x="7657935" y="5592073"/>
              <a:ext cx="476327" cy="0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0" name="直接连接符 2279">
              <a:extLst>
                <a:ext uri="{FF2B5EF4-FFF2-40B4-BE49-F238E27FC236}">
                  <a16:creationId xmlns:a16="http://schemas.microsoft.com/office/drawing/2014/main" id="{3CA154A8-D81D-3F84-BD29-5F4C81D1B490}"/>
                </a:ext>
              </a:extLst>
            </p:cNvPr>
            <p:cNvCxnSpPr>
              <a:cxnSpLocks/>
            </p:cNvCxnSpPr>
            <p:nvPr/>
          </p:nvCxnSpPr>
          <p:spPr>
            <a:xfrm>
              <a:off x="8131389" y="5503675"/>
              <a:ext cx="0" cy="89316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2" name="矩形 2281">
              <a:extLst>
                <a:ext uri="{FF2B5EF4-FFF2-40B4-BE49-F238E27FC236}">
                  <a16:creationId xmlns:a16="http://schemas.microsoft.com/office/drawing/2014/main" id="{C4CB0141-DC23-7B97-F507-DDBF687B0693}"/>
                </a:ext>
              </a:extLst>
            </p:cNvPr>
            <p:cNvSpPr/>
            <p:nvPr/>
          </p:nvSpPr>
          <p:spPr>
            <a:xfrm>
              <a:off x="8095844" y="5384547"/>
              <a:ext cx="196913" cy="11955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6" name="文本框 2285">
              <a:extLst>
                <a:ext uri="{FF2B5EF4-FFF2-40B4-BE49-F238E27FC236}">
                  <a16:creationId xmlns:a16="http://schemas.microsoft.com/office/drawing/2014/main" id="{C4F3FA20-ED2F-D8A3-57F6-9D5CAF9BE563}"/>
                </a:ext>
              </a:extLst>
            </p:cNvPr>
            <p:cNvSpPr txBox="1"/>
            <p:nvPr/>
          </p:nvSpPr>
          <p:spPr>
            <a:xfrm>
              <a:off x="7816180" y="5056279"/>
              <a:ext cx="74066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200" b="1" dirty="0">
                  <a:solidFill>
                    <a:schemeClr val="accent6">
                      <a:lumMod val="10000"/>
                    </a:schemeClr>
                  </a:solidFill>
                </a:rPr>
                <a:t>光引擎</a:t>
              </a:r>
              <a:endParaRPr kumimoji="1" lang="en-US" altLang="zh-CN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cxnSp>
          <p:nvCxnSpPr>
            <p:cNvPr id="2293" name="直接连接符 2292">
              <a:extLst>
                <a:ext uri="{FF2B5EF4-FFF2-40B4-BE49-F238E27FC236}">
                  <a16:creationId xmlns:a16="http://schemas.microsoft.com/office/drawing/2014/main" id="{9A251054-255C-BF2D-077F-658927E18F9F}"/>
                </a:ext>
              </a:extLst>
            </p:cNvPr>
            <p:cNvCxnSpPr>
              <a:cxnSpLocks/>
            </p:cNvCxnSpPr>
            <p:nvPr/>
          </p:nvCxnSpPr>
          <p:spPr>
            <a:xfrm>
              <a:off x="8291424" y="5451531"/>
              <a:ext cx="358775" cy="0"/>
            </a:xfrm>
            <a:prstGeom prst="line">
              <a:avLst/>
            </a:prstGeom>
            <a:ln w="12700"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直接连接符 2294">
              <a:extLst>
                <a:ext uri="{FF2B5EF4-FFF2-40B4-BE49-F238E27FC236}">
                  <a16:creationId xmlns:a16="http://schemas.microsoft.com/office/drawing/2014/main" id="{AEA847F6-D574-A430-6A5E-507518DBE31D}"/>
                </a:ext>
              </a:extLst>
            </p:cNvPr>
            <p:cNvCxnSpPr>
              <a:cxnSpLocks/>
            </p:cNvCxnSpPr>
            <p:nvPr/>
          </p:nvCxnSpPr>
          <p:spPr>
            <a:xfrm>
              <a:off x="8647024" y="5444405"/>
              <a:ext cx="0" cy="252240"/>
            </a:xfrm>
            <a:prstGeom prst="line">
              <a:avLst/>
            </a:prstGeom>
            <a:ln w="12700"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7" name="矩形 2296">
              <a:extLst>
                <a:ext uri="{FF2B5EF4-FFF2-40B4-BE49-F238E27FC236}">
                  <a16:creationId xmlns:a16="http://schemas.microsoft.com/office/drawing/2014/main" id="{BDDD23E1-A576-068D-5EFB-FB8F2DF60D2E}"/>
                </a:ext>
              </a:extLst>
            </p:cNvPr>
            <p:cNvSpPr/>
            <p:nvPr/>
          </p:nvSpPr>
          <p:spPr>
            <a:xfrm>
              <a:off x="9493326" y="5668331"/>
              <a:ext cx="238490" cy="49612"/>
            </a:xfrm>
            <a:prstGeom prst="rect">
              <a:avLst/>
            </a:prstGeom>
            <a:solidFill>
              <a:srgbClr val="FF7201"/>
            </a:solidFill>
            <a:ln>
              <a:solidFill>
                <a:srgbClr val="FF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8" name="三角形 53">
              <a:extLst>
                <a:ext uri="{FF2B5EF4-FFF2-40B4-BE49-F238E27FC236}">
                  <a16:creationId xmlns:a16="http://schemas.microsoft.com/office/drawing/2014/main" id="{85251A74-B829-2917-AF7C-D8A9528D1BA6}"/>
                </a:ext>
              </a:extLst>
            </p:cNvPr>
            <p:cNvSpPr/>
            <p:nvPr/>
          </p:nvSpPr>
          <p:spPr>
            <a:xfrm rot="10800000">
              <a:off x="7920847" y="4454451"/>
              <a:ext cx="949286" cy="195383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kumimoji="1" lang="zh-CN" alt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6282009" y="5484680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rgbClr val="FFFF00"/>
                </a:solidFill>
              </a:rPr>
              <a:t> &lt;1mm</a:t>
            </a:r>
            <a:endParaRPr kumimoji="1" lang="en-US" altLang="zh-CN" sz="1050" dirty="0">
              <a:solidFill>
                <a:srgbClr val="FFFF00"/>
              </a:solidFill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7157056" y="3815308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FFFF00"/>
                </a:solidFill>
              </a:rPr>
              <a:t>6-8cm</a:t>
            </a:r>
            <a:endParaRPr kumimoji="1" lang="en-US" altLang="zh-CN" sz="1400" dirty="0">
              <a:solidFill>
                <a:srgbClr val="FFFF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221F891-59AE-9B5E-2CE6-285E743A2B31}"/>
              </a:ext>
            </a:extLst>
          </p:cNvPr>
          <p:cNvSpPr/>
          <p:nvPr/>
        </p:nvSpPr>
        <p:spPr>
          <a:xfrm>
            <a:off x="8031480" y="3373221"/>
            <a:ext cx="621749" cy="669576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4055023-563C-BCC7-12EB-51CBBD59517A}"/>
              </a:ext>
            </a:extLst>
          </p:cNvPr>
          <p:cNvSpPr/>
          <p:nvPr/>
        </p:nvSpPr>
        <p:spPr>
          <a:xfrm>
            <a:off x="5302744" y="3165064"/>
            <a:ext cx="1979167" cy="115292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CC38ABF-33C0-4E5E-25D3-76D7B2CC3949}"/>
              </a:ext>
            </a:extLst>
          </p:cNvPr>
          <p:cNvSpPr/>
          <p:nvPr/>
        </p:nvSpPr>
        <p:spPr>
          <a:xfrm>
            <a:off x="5254986" y="5123899"/>
            <a:ext cx="1223066" cy="115292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1194867-0F2A-9DA3-7EB7-2B9F5A562BC6}"/>
              </a:ext>
            </a:extLst>
          </p:cNvPr>
          <p:cNvSpPr/>
          <p:nvPr/>
        </p:nvSpPr>
        <p:spPr>
          <a:xfrm>
            <a:off x="6584727" y="5119437"/>
            <a:ext cx="517113" cy="575243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93295D2-2513-1A3C-5530-223B2968E3AB}"/>
              </a:ext>
            </a:extLst>
          </p:cNvPr>
          <p:cNvSpPr/>
          <p:nvPr/>
        </p:nvSpPr>
        <p:spPr>
          <a:xfrm>
            <a:off x="9383922" y="5104629"/>
            <a:ext cx="318877" cy="575243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B4C0935-754E-594F-8FBD-4EFAE5B19D16}"/>
              </a:ext>
            </a:extLst>
          </p:cNvPr>
          <p:cNvSpPr txBox="1"/>
          <p:nvPr/>
        </p:nvSpPr>
        <p:spPr>
          <a:xfrm>
            <a:off x="8833391" y="5140455"/>
            <a:ext cx="53931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b="1" dirty="0">
                <a:solidFill>
                  <a:schemeClr val="accent6">
                    <a:lumMod val="10000"/>
                  </a:schemeClr>
                </a:solidFill>
              </a:rPr>
              <a:t>光引擎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E7263E6-867C-8676-8C49-651F12081799}"/>
              </a:ext>
            </a:extLst>
          </p:cNvPr>
          <p:cNvSpPr txBox="1"/>
          <p:nvPr/>
        </p:nvSpPr>
        <p:spPr>
          <a:xfrm>
            <a:off x="9702993" y="5189731"/>
            <a:ext cx="53931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b="1" dirty="0">
                <a:solidFill>
                  <a:schemeClr val="bg1"/>
                </a:solidFill>
              </a:rPr>
              <a:t>ASIC</a:t>
            </a:r>
            <a:endParaRPr kumimoji="1"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DA584F8-46EC-D5E6-6ED8-B743D921F7CD}"/>
              </a:ext>
            </a:extLst>
          </p:cNvPr>
          <p:cNvSpPr/>
          <p:nvPr/>
        </p:nvSpPr>
        <p:spPr>
          <a:xfrm>
            <a:off x="9737834" y="5104629"/>
            <a:ext cx="441960" cy="575243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2522FE83-7E45-A359-610B-14A2436E09EB}"/>
              </a:ext>
            </a:extLst>
          </p:cNvPr>
          <p:cNvCxnSpPr/>
          <p:nvPr/>
        </p:nvCxnSpPr>
        <p:spPr>
          <a:xfrm>
            <a:off x="8653229" y="3527443"/>
            <a:ext cx="394251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0" name="直接连接符 2239">
            <a:extLst>
              <a:ext uri="{FF2B5EF4-FFF2-40B4-BE49-F238E27FC236}">
                <a16:creationId xmlns:a16="http://schemas.microsoft.com/office/drawing/2014/main" id="{1B353A28-207F-2B6A-DCDF-8F7FB348FB6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9047480" y="3527443"/>
            <a:ext cx="290573" cy="334788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8" name="直接连接符 2247">
            <a:extLst>
              <a:ext uri="{FF2B5EF4-FFF2-40B4-BE49-F238E27FC236}">
                <a16:creationId xmlns:a16="http://schemas.microsoft.com/office/drawing/2014/main" id="{84EE4F15-6380-DC04-84C1-B35BD8E9843E}"/>
              </a:ext>
            </a:extLst>
          </p:cNvPr>
          <p:cNvCxnSpPr>
            <a:cxnSpLocks/>
          </p:cNvCxnSpPr>
          <p:nvPr/>
        </p:nvCxnSpPr>
        <p:spPr>
          <a:xfrm>
            <a:off x="7297856" y="3236086"/>
            <a:ext cx="987624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9" name="直接连接符 2248">
            <a:extLst>
              <a:ext uri="{FF2B5EF4-FFF2-40B4-BE49-F238E27FC236}">
                <a16:creationId xmlns:a16="http://schemas.microsoft.com/office/drawing/2014/main" id="{80F2F449-EF95-E497-4134-B2C62D3712E6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8299183" y="2988912"/>
            <a:ext cx="470196" cy="234976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8" name="直接连接符 2287">
            <a:extLst>
              <a:ext uri="{FF2B5EF4-FFF2-40B4-BE49-F238E27FC236}">
                <a16:creationId xmlns:a16="http://schemas.microsoft.com/office/drawing/2014/main" id="{EE4B836B-36B7-194E-79CE-CA75161BC534}"/>
              </a:ext>
            </a:extLst>
          </p:cNvPr>
          <p:cNvCxnSpPr>
            <a:cxnSpLocks/>
          </p:cNvCxnSpPr>
          <p:nvPr/>
        </p:nvCxnSpPr>
        <p:spPr>
          <a:xfrm>
            <a:off x="7118702" y="5254618"/>
            <a:ext cx="2265220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4" name="连接符: 肘形 2293">
            <a:extLst>
              <a:ext uri="{FF2B5EF4-FFF2-40B4-BE49-F238E27FC236}">
                <a16:creationId xmlns:a16="http://schemas.microsoft.com/office/drawing/2014/main" id="{13D46268-FA99-4D9D-FF2C-CCA4FCE26AD2}"/>
              </a:ext>
            </a:extLst>
          </p:cNvPr>
          <p:cNvCxnSpPr>
            <a:stCxn id="56" idx="0"/>
            <a:endCxn id="61" idx="0"/>
          </p:cNvCxnSpPr>
          <p:nvPr/>
        </p:nvCxnSpPr>
        <p:spPr>
          <a:xfrm rot="5400000" flipH="1" flipV="1">
            <a:off x="7903031" y="3068117"/>
            <a:ext cx="19270" cy="4092295"/>
          </a:xfrm>
          <a:prstGeom prst="bentConnector3">
            <a:avLst>
              <a:gd name="adj1" fmla="val 442698"/>
            </a:avLst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7616-CD83-2E38-6A19-512CC15BA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BC957F2-C96F-B8BD-0407-49505FC2A9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8318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8" imgW="404" imgH="405" progId="TCLayout.ActiveDocument.1">
                  <p:embed/>
                </p:oleObj>
              </mc:Choice>
              <mc:Fallback>
                <p:oleObj name="think-cell 幻灯片" r:id="rId28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B5C8006-DEFF-FA32-B8C8-ED621CAB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Scale Up </a:t>
            </a:r>
            <a:r>
              <a:rPr lang="zh-CN" altLang="en-US" dirty="0"/>
              <a:t>与 </a:t>
            </a:r>
            <a:r>
              <a:rPr lang="en-US" altLang="zh-CN" dirty="0"/>
              <a:t>Scale Out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2B33C-AE4D-DBEF-8F6F-F9145BB88B02}"/>
              </a:ext>
            </a:extLst>
          </p:cNvPr>
          <p:cNvSpPr/>
          <p:nvPr/>
        </p:nvSpPr>
        <p:spPr>
          <a:xfrm>
            <a:off x="12346623" y="1343025"/>
            <a:ext cx="2018686" cy="12946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解释光模块在数据中心的环节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有效距离一两个数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E9BF1D2-7A4D-F107-E95F-FC6B2EA20BF3}"/>
              </a:ext>
            </a:extLst>
          </p:cNvPr>
          <p:cNvSpPr txBox="1"/>
          <p:nvPr/>
        </p:nvSpPr>
        <p:spPr>
          <a:xfrm>
            <a:off x="524504" y="847033"/>
            <a:ext cx="4843315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纵向叠加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，卡间距离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cm-m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E7B6C2FB-D58B-D825-9124-913765A83F92}"/>
              </a:ext>
            </a:extLst>
          </p:cNvPr>
          <p:cNvGrpSpPr/>
          <p:nvPr/>
        </p:nvGrpSpPr>
        <p:grpSpPr>
          <a:xfrm>
            <a:off x="3569693" y="1595514"/>
            <a:ext cx="1110580" cy="1550051"/>
            <a:chOff x="2629270" y="2277426"/>
            <a:chExt cx="1041691" cy="1542748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1F52C2FA-0E19-C033-847A-9762C5D4D79C}"/>
                </a:ext>
              </a:extLst>
            </p:cNvPr>
            <p:cNvSpPr/>
            <p:nvPr/>
          </p:nvSpPr>
          <p:spPr>
            <a:xfrm>
              <a:off x="2629270" y="2277426"/>
              <a:ext cx="1041691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527B37F0-943D-2EB4-237D-384F0C546208}"/>
                </a:ext>
              </a:extLst>
            </p:cNvPr>
            <p:cNvSpPr/>
            <p:nvPr/>
          </p:nvSpPr>
          <p:spPr>
            <a:xfrm>
              <a:off x="2761134" y="3441879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B236DA1-D99A-EAB8-C1B8-63928AEC9698}"/>
                </a:ext>
              </a:extLst>
            </p:cNvPr>
            <p:cNvSpPr/>
            <p:nvPr/>
          </p:nvSpPr>
          <p:spPr>
            <a:xfrm>
              <a:off x="2761134" y="3109440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AAEDA846-6884-FA78-F31F-6C37E5106413}"/>
                </a:ext>
              </a:extLst>
            </p:cNvPr>
            <p:cNvSpPr/>
            <p:nvPr/>
          </p:nvSpPr>
          <p:spPr>
            <a:xfrm>
              <a:off x="2761134" y="2444564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EA7EBFC5-1A90-2BC9-3979-0F7A2FD3E817}"/>
                </a:ext>
              </a:extLst>
            </p:cNvPr>
            <p:cNvSpPr/>
            <p:nvPr/>
          </p:nvSpPr>
          <p:spPr>
            <a:xfrm>
              <a:off x="2761133" y="2777002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1215F4A-BD4C-ACF2-BC1F-C1F1FDD9849C}"/>
              </a:ext>
            </a:extLst>
          </p:cNvPr>
          <p:cNvGrpSpPr/>
          <p:nvPr/>
        </p:nvGrpSpPr>
        <p:grpSpPr>
          <a:xfrm>
            <a:off x="1469666" y="1595513"/>
            <a:ext cx="1075291" cy="1550052"/>
            <a:chOff x="2573607" y="2277426"/>
            <a:chExt cx="1070224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C86253CB-C632-1F70-55AC-677BF4F2BD7B}"/>
                </a:ext>
              </a:extLst>
            </p:cNvPr>
            <p:cNvSpPr/>
            <p:nvPr/>
          </p:nvSpPr>
          <p:spPr>
            <a:xfrm>
              <a:off x="2573607" y="2277426"/>
              <a:ext cx="1070224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31316FA-7C98-4079-DD4F-418C016618C4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39E322D6-470A-5F6D-1AAF-CC5DD1F245A9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64FA8E08-AE26-11BB-4814-B67BC2EC1772}"/>
              </a:ext>
            </a:extLst>
          </p:cNvPr>
          <p:cNvSpPr/>
          <p:nvPr/>
        </p:nvSpPr>
        <p:spPr>
          <a:xfrm rot="5400000">
            <a:off x="3032860" y="2241272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D42CB91E-1934-FB96-4A55-FDE99F60B220}"/>
              </a:ext>
            </a:extLst>
          </p:cNvPr>
          <p:cNvSpPr/>
          <p:nvPr/>
        </p:nvSpPr>
        <p:spPr>
          <a:xfrm rot="5400000">
            <a:off x="2240582" y="5125035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3117" name="组合 3116">
            <a:extLst>
              <a:ext uri="{FF2B5EF4-FFF2-40B4-BE49-F238E27FC236}">
                <a16:creationId xmlns:a16="http://schemas.microsoft.com/office/drawing/2014/main" id="{2413CF08-CFDA-B60A-C7ED-99A4F8B5A43C}"/>
              </a:ext>
            </a:extLst>
          </p:cNvPr>
          <p:cNvGrpSpPr/>
          <p:nvPr/>
        </p:nvGrpSpPr>
        <p:grpSpPr>
          <a:xfrm>
            <a:off x="2524710" y="1688003"/>
            <a:ext cx="431456" cy="1040793"/>
            <a:chOff x="2333693" y="3112217"/>
            <a:chExt cx="554199" cy="1336884"/>
          </a:xfrm>
        </p:grpSpPr>
        <p:sp>
          <p:nvSpPr>
            <p:cNvPr id="3115" name="矩形: 圆角 3114">
              <a:extLst>
                <a:ext uri="{FF2B5EF4-FFF2-40B4-BE49-F238E27FC236}">
                  <a16:creationId xmlns:a16="http://schemas.microsoft.com/office/drawing/2014/main" id="{BBB096A3-145D-6A7F-D809-3C1C2A865EF5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16" name="文本框 3115">
              <a:extLst>
                <a:ext uri="{FF2B5EF4-FFF2-40B4-BE49-F238E27FC236}">
                  <a16:creationId xmlns:a16="http://schemas.microsoft.com/office/drawing/2014/main" id="{A97E6CDA-5C5E-87E9-15DA-F58C49CB19DB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3118" name="组合 3117">
            <a:extLst>
              <a:ext uri="{FF2B5EF4-FFF2-40B4-BE49-F238E27FC236}">
                <a16:creationId xmlns:a16="http://schemas.microsoft.com/office/drawing/2014/main" id="{7E6F88E7-9BEE-5938-48B8-30CA439B96D0}"/>
              </a:ext>
            </a:extLst>
          </p:cNvPr>
          <p:cNvGrpSpPr/>
          <p:nvPr/>
        </p:nvGrpSpPr>
        <p:grpSpPr>
          <a:xfrm>
            <a:off x="4651608" y="1670176"/>
            <a:ext cx="431456" cy="1040793"/>
            <a:chOff x="2333693" y="3112217"/>
            <a:chExt cx="554199" cy="1336884"/>
          </a:xfrm>
        </p:grpSpPr>
        <p:sp>
          <p:nvSpPr>
            <p:cNvPr id="3119" name="矩形: 圆角 3118">
              <a:extLst>
                <a:ext uri="{FF2B5EF4-FFF2-40B4-BE49-F238E27FC236}">
                  <a16:creationId xmlns:a16="http://schemas.microsoft.com/office/drawing/2014/main" id="{EFBE3210-BEEE-A084-44C5-E01581E486E5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20" name="文本框 3119">
              <a:extLst>
                <a:ext uri="{FF2B5EF4-FFF2-40B4-BE49-F238E27FC236}">
                  <a16:creationId xmlns:a16="http://schemas.microsoft.com/office/drawing/2014/main" id="{09D0351F-4EF8-9421-9EF8-D96CB4B8EB60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cxnSp>
        <p:nvCxnSpPr>
          <p:cNvPr id="3122" name="连接符: 肘形 3121">
            <a:extLst>
              <a:ext uri="{FF2B5EF4-FFF2-40B4-BE49-F238E27FC236}">
                <a16:creationId xmlns:a16="http://schemas.microsoft.com/office/drawing/2014/main" id="{F1FFC1D3-0B6E-CBA6-0D70-4F94EAEEE477}"/>
              </a:ext>
            </a:extLst>
          </p:cNvPr>
          <p:cNvCxnSpPr>
            <a:stCxn id="53" idx="3"/>
            <a:endCxn id="3115" idx="1"/>
          </p:cNvCxnSpPr>
          <p:nvPr/>
        </p:nvCxnSpPr>
        <p:spPr>
          <a:xfrm flipV="1">
            <a:off x="2389242" y="2312029"/>
            <a:ext cx="321852" cy="225547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3" name="连接符: 肘形 3122">
            <a:extLst>
              <a:ext uri="{FF2B5EF4-FFF2-40B4-BE49-F238E27FC236}">
                <a16:creationId xmlns:a16="http://schemas.microsoft.com/office/drawing/2014/main" id="{A098DE8A-50FF-E0C5-495C-6C93E346A7D3}"/>
              </a:ext>
            </a:extLst>
          </p:cNvPr>
          <p:cNvCxnSpPr>
            <a:cxnSpLocks/>
            <a:stCxn id="52" idx="3"/>
            <a:endCxn id="3115" idx="1"/>
          </p:cNvCxnSpPr>
          <p:nvPr/>
        </p:nvCxnSpPr>
        <p:spPr>
          <a:xfrm flipV="1">
            <a:off x="2389242" y="2312029"/>
            <a:ext cx="321852" cy="559560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6" name="连接符: 肘形 3125">
            <a:extLst>
              <a:ext uri="{FF2B5EF4-FFF2-40B4-BE49-F238E27FC236}">
                <a16:creationId xmlns:a16="http://schemas.microsoft.com/office/drawing/2014/main" id="{AD184443-7D88-41B9-ADAB-23BCA02D152A}"/>
              </a:ext>
            </a:extLst>
          </p:cNvPr>
          <p:cNvCxnSpPr>
            <a:cxnSpLocks/>
            <a:stCxn id="3119" idx="1"/>
            <a:endCxn id="45" idx="3"/>
          </p:cNvCxnSpPr>
          <p:nvPr/>
        </p:nvCxnSpPr>
        <p:spPr>
          <a:xfrm rot="10800000">
            <a:off x="4526914" y="1872224"/>
            <a:ext cx="311078" cy="42197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0" name="连接符: 肘形 3129">
            <a:extLst>
              <a:ext uri="{FF2B5EF4-FFF2-40B4-BE49-F238E27FC236}">
                <a16:creationId xmlns:a16="http://schemas.microsoft.com/office/drawing/2014/main" id="{8D9F271E-A347-7A52-5BFB-85ED70121FF6}"/>
              </a:ext>
            </a:extLst>
          </p:cNvPr>
          <p:cNvCxnSpPr>
            <a:cxnSpLocks/>
            <a:stCxn id="3119" idx="1"/>
            <a:endCxn id="46" idx="3"/>
          </p:cNvCxnSpPr>
          <p:nvPr/>
        </p:nvCxnSpPr>
        <p:spPr>
          <a:xfrm rot="10800000">
            <a:off x="4526914" y="2206236"/>
            <a:ext cx="311079" cy="8796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4" name="连接符: 肘形 3133">
            <a:extLst>
              <a:ext uri="{FF2B5EF4-FFF2-40B4-BE49-F238E27FC236}">
                <a16:creationId xmlns:a16="http://schemas.microsoft.com/office/drawing/2014/main" id="{3AD56A50-B9EB-E228-20E1-7748F7126790}"/>
              </a:ext>
            </a:extLst>
          </p:cNvPr>
          <p:cNvCxnSpPr>
            <a:cxnSpLocks/>
            <a:stCxn id="3119" idx="1"/>
            <a:endCxn id="44" idx="3"/>
          </p:cNvCxnSpPr>
          <p:nvPr/>
        </p:nvCxnSpPr>
        <p:spPr>
          <a:xfrm rot="10800000" flipV="1">
            <a:off x="4526914" y="2294202"/>
            <a:ext cx="311078" cy="24604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连接符: 肘形 3137">
            <a:extLst>
              <a:ext uri="{FF2B5EF4-FFF2-40B4-BE49-F238E27FC236}">
                <a16:creationId xmlns:a16="http://schemas.microsoft.com/office/drawing/2014/main" id="{EB294A51-D7B3-DB8B-B78B-D3C13ACE9382}"/>
              </a:ext>
            </a:extLst>
          </p:cNvPr>
          <p:cNvCxnSpPr>
            <a:cxnSpLocks/>
            <a:stCxn id="3119" idx="1"/>
            <a:endCxn id="43" idx="3"/>
          </p:cNvCxnSpPr>
          <p:nvPr/>
        </p:nvCxnSpPr>
        <p:spPr>
          <a:xfrm rot="10800000" flipV="1">
            <a:off x="4526914" y="2294202"/>
            <a:ext cx="311078" cy="58005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82" name="组合 3181">
            <a:extLst>
              <a:ext uri="{FF2B5EF4-FFF2-40B4-BE49-F238E27FC236}">
                <a16:creationId xmlns:a16="http://schemas.microsoft.com/office/drawing/2014/main" id="{002E0E87-15E2-0A11-5590-1F5C310A321C}"/>
              </a:ext>
            </a:extLst>
          </p:cNvPr>
          <p:cNvGrpSpPr/>
          <p:nvPr/>
        </p:nvGrpSpPr>
        <p:grpSpPr>
          <a:xfrm>
            <a:off x="870255" y="4611893"/>
            <a:ext cx="1177325" cy="1142112"/>
            <a:chOff x="6260068" y="3335726"/>
            <a:chExt cx="1177325" cy="1142112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C2FFA755-BE04-E980-B8C1-03EF3B2356A5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33C9CA0B-92FA-AF3D-9A34-CB8362FA3937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D7A9470E-D53D-2A04-D22A-161A69BF2807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1FDA27EB-EED9-90C4-FEE2-34DB7785C394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43" name="矩形: 圆角 3142">
              <a:extLst>
                <a:ext uri="{FF2B5EF4-FFF2-40B4-BE49-F238E27FC236}">
                  <a16:creationId xmlns:a16="http://schemas.microsoft.com/office/drawing/2014/main" id="{9F0FBEBA-4ABE-4D93-CE38-776232738FA7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cxnSp>
          <p:nvCxnSpPr>
            <p:cNvPr id="3161" name="连接符: 肘形 3160">
              <a:extLst>
                <a:ext uri="{FF2B5EF4-FFF2-40B4-BE49-F238E27FC236}">
                  <a16:creationId xmlns:a16="http://schemas.microsoft.com/office/drawing/2014/main" id="{0E180B26-8C5C-520B-B17F-9486E3EB0C7F}"/>
                </a:ext>
              </a:extLst>
            </p:cNvPr>
            <p:cNvCxnSpPr>
              <a:cxnSpLocks/>
              <a:stCxn id="61" idx="3"/>
              <a:endCxn id="3143" idx="1"/>
            </p:cNvCxnSpPr>
            <p:nvPr/>
          </p:nvCxnSpPr>
          <p:spPr>
            <a:xfrm>
              <a:off x="7061201" y="3667559"/>
              <a:ext cx="321234" cy="249365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4" name="连接符: 肘形 3163">
              <a:extLst>
                <a:ext uri="{FF2B5EF4-FFF2-40B4-BE49-F238E27FC236}">
                  <a16:creationId xmlns:a16="http://schemas.microsoft.com/office/drawing/2014/main" id="{09E29855-6B0E-2CD8-5CC2-7202B785EB44}"/>
                </a:ext>
              </a:extLst>
            </p:cNvPr>
            <p:cNvCxnSpPr>
              <a:cxnSpLocks/>
              <a:stCxn id="62" idx="3"/>
              <a:endCxn id="3143" idx="1"/>
            </p:cNvCxnSpPr>
            <p:nvPr/>
          </p:nvCxnSpPr>
          <p:spPr>
            <a:xfrm flipV="1">
              <a:off x="7061199" y="3916924"/>
              <a:ext cx="321236" cy="239397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83" name="组合 3182">
            <a:extLst>
              <a:ext uri="{FF2B5EF4-FFF2-40B4-BE49-F238E27FC236}">
                <a16:creationId xmlns:a16="http://schemas.microsoft.com/office/drawing/2014/main" id="{BC7BC8B0-0568-CB02-11E6-404A7EF03994}"/>
              </a:ext>
            </a:extLst>
          </p:cNvPr>
          <p:cNvGrpSpPr/>
          <p:nvPr/>
        </p:nvGrpSpPr>
        <p:grpSpPr>
          <a:xfrm>
            <a:off x="2847855" y="3913613"/>
            <a:ext cx="1177325" cy="1142112"/>
            <a:chOff x="6260068" y="3335726"/>
            <a:chExt cx="1177325" cy="1142112"/>
          </a:xfrm>
        </p:grpSpPr>
        <p:grpSp>
          <p:nvGrpSpPr>
            <p:cNvPr id="3184" name="组合 3183">
              <a:extLst>
                <a:ext uri="{FF2B5EF4-FFF2-40B4-BE49-F238E27FC236}">
                  <a16:creationId xmlns:a16="http://schemas.microsoft.com/office/drawing/2014/main" id="{76E3A105-AA17-3CE8-0F62-10EB486A7F68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88" name="矩形: 圆角 3187">
                <a:extLst>
                  <a:ext uri="{FF2B5EF4-FFF2-40B4-BE49-F238E27FC236}">
                    <a16:creationId xmlns:a16="http://schemas.microsoft.com/office/drawing/2014/main" id="{99105415-D9D1-ACE9-47FA-12177BD7B388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9" name="矩形: 圆角 3188">
                <a:extLst>
                  <a:ext uri="{FF2B5EF4-FFF2-40B4-BE49-F238E27FC236}">
                    <a16:creationId xmlns:a16="http://schemas.microsoft.com/office/drawing/2014/main" id="{07B9B9A2-C071-9E0B-010A-1852C3D032E1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90" name="矩形: 圆角 3189">
                <a:extLst>
                  <a:ext uri="{FF2B5EF4-FFF2-40B4-BE49-F238E27FC236}">
                    <a16:creationId xmlns:a16="http://schemas.microsoft.com/office/drawing/2014/main" id="{06A1A2E3-6E34-5B6E-96D4-D9F8D990474C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85" name="矩形: 圆角 3184">
              <a:extLst>
                <a:ext uri="{FF2B5EF4-FFF2-40B4-BE49-F238E27FC236}">
                  <a16:creationId xmlns:a16="http://schemas.microsoft.com/office/drawing/2014/main" id="{514AAB0D-784D-0AA1-3155-06F9170164E4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9" name="组合 3198">
            <a:extLst>
              <a:ext uri="{FF2B5EF4-FFF2-40B4-BE49-F238E27FC236}">
                <a16:creationId xmlns:a16="http://schemas.microsoft.com/office/drawing/2014/main" id="{F5833B61-334A-89AC-19B2-AC9DE1E971AA}"/>
              </a:ext>
            </a:extLst>
          </p:cNvPr>
          <p:cNvGrpSpPr/>
          <p:nvPr/>
        </p:nvGrpSpPr>
        <p:grpSpPr>
          <a:xfrm>
            <a:off x="2871943" y="5344303"/>
            <a:ext cx="1170973" cy="1142112"/>
            <a:chOff x="6260068" y="3335726"/>
            <a:chExt cx="1170973" cy="1142112"/>
          </a:xfrm>
        </p:grpSpPr>
        <p:grpSp>
          <p:nvGrpSpPr>
            <p:cNvPr id="3200" name="组合 3199">
              <a:extLst>
                <a:ext uri="{FF2B5EF4-FFF2-40B4-BE49-F238E27FC236}">
                  <a16:creationId xmlns:a16="http://schemas.microsoft.com/office/drawing/2014/main" id="{A1C952F8-F5C9-E444-AB05-D23DB522CDDF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04" name="矩形: 圆角 3203">
                <a:extLst>
                  <a:ext uri="{FF2B5EF4-FFF2-40B4-BE49-F238E27FC236}">
                    <a16:creationId xmlns:a16="http://schemas.microsoft.com/office/drawing/2014/main" id="{FEB07FF3-5D3A-A2D5-5F78-E736372DA461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5" name="矩形: 圆角 3204">
                <a:extLst>
                  <a:ext uri="{FF2B5EF4-FFF2-40B4-BE49-F238E27FC236}">
                    <a16:creationId xmlns:a16="http://schemas.microsoft.com/office/drawing/2014/main" id="{3618D493-0B4D-1ADC-63B6-AD1EF0B8C023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06" name="矩形: 圆角 3205">
                <a:extLst>
                  <a:ext uri="{FF2B5EF4-FFF2-40B4-BE49-F238E27FC236}">
                    <a16:creationId xmlns:a16="http://schemas.microsoft.com/office/drawing/2014/main" id="{F6231AA1-9FEA-7C6A-4221-3F1022E5E24E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01" name="矩形: 圆角 3200">
              <a:extLst>
                <a:ext uri="{FF2B5EF4-FFF2-40B4-BE49-F238E27FC236}">
                  <a16:creationId xmlns:a16="http://schemas.microsoft.com/office/drawing/2014/main" id="{875EC9FE-D699-D4C2-300B-15779F1D61F3}"/>
                </a:ext>
              </a:extLst>
            </p:cNvPr>
            <p:cNvSpPr/>
            <p:nvPr/>
          </p:nvSpPr>
          <p:spPr>
            <a:xfrm>
              <a:off x="7376083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1" name="组合 3190">
            <a:extLst>
              <a:ext uri="{FF2B5EF4-FFF2-40B4-BE49-F238E27FC236}">
                <a16:creationId xmlns:a16="http://schemas.microsoft.com/office/drawing/2014/main" id="{5875C1E4-4268-A146-928D-D6092DA88AA1}"/>
              </a:ext>
            </a:extLst>
          </p:cNvPr>
          <p:cNvGrpSpPr/>
          <p:nvPr/>
        </p:nvGrpSpPr>
        <p:grpSpPr>
          <a:xfrm>
            <a:off x="4187156" y="3913613"/>
            <a:ext cx="1168206" cy="1142112"/>
            <a:chOff x="5999896" y="3335726"/>
            <a:chExt cx="1168206" cy="1142112"/>
          </a:xfrm>
        </p:grpSpPr>
        <p:grpSp>
          <p:nvGrpSpPr>
            <p:cNvPr id="3192" name="组合 3191">
              <a:extLst>
                <a:ext uri="{FF2B5EF4-FFF2-40B4-BE49-F238E27FC236}">
                  <a16:creationId xmlns:a16="http://schemas.microsoft.com/office/drawing/2014/main" id="{291C1F32-EB2A-D83A-B677-DFE8BEE58442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96" name="矩形: 圆角 3195">
                <a:extLst>
                  <a:ext uri="{FF2B5EF4-FFF2-40B4-BE49-F238E27FC236}">
                    <a16:creationId xmlns:a16="http://schemas.microsoft.com/office/drawing/2014/main" id="{5DB31E67-307E-841A-9BA7-2AB4D2E81D4C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7" name="矩形: 圆角 3196">
                <a:extLst>
                  <a:ext uri="{FF2B5EF4-FFF2-40B4-BE49-F238E27FC236}">
                    <a16:creationId xmlns:a16="http://schemas.microsoft.com/office/drawing/2014/main" id="{8FC70924-A56B-9DF1-283A-D5C6CB032961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198" name="矩形: 圆角 3197">
                <a:extLst>
                  <a:ext uri="{FF2B5EF4-FFF2-40B4-BE49-F238E27FC236}">
                    <a16:creationId xmlns:a16="http://schemas.microsoft.com/office/drawing/2014/main" id="{C5188816-4F3C-D2E5-E0BD-E1DD0F28F423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193" name="矩形: 圆角 3192">
              <a:extLst>
                <a:ext uri="{FF2B5EF4-FFF2-40B4-BE49-F238E27FC236}">
                  <a16:creationId xmlns:a16="http://schemas.microsoft.com/office/drawing/2014/main" id="{ACB5BAC3-0560-6BE5-FC53-7B614EA4D91F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230" name="组合 3229">
            <a:extLst>
              <a:ext uri="{FF2B5EF4-FFF2-40B4-BE49-F238E27FC236}">
                <a16:creationId xmlns:a16="http://schemas.microsoft.com/office/drawing/2014/main" id="{0E59DE1C-B453-6D5C-C159-2B3C7D36F0EF}"/>
              </a:ext>
            </a:extLst>
          </p:cNvPr>
          <p:cNvGrpSpPr/>
          <p:nvPr/>
        </p:nvGrpSpPr>
        <p:grpSpPr>
          <a:xfrm>
            <a:off x="4181899" y="5344303"/>
            <a:ext cx="1168206" cy="1142112"/>
            <a:chOff x="5999896" y="3335726"/>
            <a:chExt cx="1168206" cy="1142112"/>
          </a:xfrm>
        </p:grpSpPr>
        <p:grpSp>
          <p:nvGrpSpPr>
            <p:cNvPr id="3232" name="组合 3231">
              <a:extLst>
                <a:ext uri="{FF2B5EF4-FFF2-40B4-BE49-F238E27FC236}">
                  <a16:creationId xmlns:a16="http://schemas.microsoft.com/office/drawing/2014/main" id="{5779E57B-33E2-3C44-7199-DDF7DC7BD564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35" name="矩形: 圆角 3234">
                <a:extLst>
                  <a:ext uri="{FF2B5EF4-FFF2-40B4-BE49-F238E27FC236}">
                    <a16:creationId xmlns:a16="http://schemas.microsoft.com/office/drawing/2014/main" id="{6EBDA663-1C23-8B38-8B6C-DE2033CB18B5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6" name="矩形: 圆角 3235">
                <a:extLst>
                  <a:ext uri="{FF2B5EF4-FFF2-40B4-BE49-F238E27FC236}">
                    <a16:creationId xmlns:a16="http://schemas.microsoft.com/office/drawing/2014/main" id="{20B9AF5D-1C53-3900-F125-40E291BF8EA1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37" name="矩形: 圆角 3236">
                <a:extLst>
                  <a:ext uri="{FF2B5EF4-FFF2-40B4-BE49-F238E27FC236}">
                    <a16:creationId xmlns:a16="http://schemas.microsoft.com/office/drawing/2014/main" id="{952ADDE8-EB41-55B3-10CB-E97C1C89C3D1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33" name="矩形: 圆角 3232">
              <a:extLst>
                <a:ext uri="{FF2B5EF4-FFF2-40B4-BE49-F238E27FC236}">
                  <a16:creationId xmlns:a16="http://schemas.microsoft.com/office/drawing/2014/main" id="{ABD59FE5-B0DC-6BE9-A4D0-A75A1E2F6D09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cxnSp>
        <p:nvCxnSpPr>
          <p:cNvPr id="3247" name="直接连接符 3246">
            <a:extLst>
              <a:ext uri="{FF2B5EF4-FFF2-40B4-BE49-F238E27FC236}">
                <a16:creationId xmlns:a16="http://schemas.microsoft.com/office/drawing/2014/main" id="{1513F467-284A-2242-4286-F28799C5C3D7}"/>
              </a:ext>
            </a:extLst>
          </p:cNvPr>
          <p:cNvCxnSpPr>
            <a:stCxn id="3185" idx="2"/>
            <a:endCxn id="3233" idx="0"/>
          </p:cNvCxnSpPr>
          <p:nvPr/>
        </p:nvCxnSpPr>
        <p:spPr>
          <a:xfrm>
            <a:off x="3997701" y="4862496"/>
            <a:ext cx="21167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8" name="直接连接符 3247">
            <a:extLst>
              <a:ext uri="{FF2B5EF4-FFF2-40B4-BE49-F238E27FC236}">
                <a16:creationId xmlns:a16="http://schemas.microsoft.com/office/drawing/2014/main" id="{AE4A15C1-D470-2E30-507B-8029E6B54C8A}"/>
              </a:ext>
            </a:extLst>
          </p:cNvPr>
          <p:cNvCxnSpPr>
            <a:cxnSpLocks/>
            <a:stCxn id="3193" idx="2"/>
            <a:endCxn id="3201" idx="0"/>
          </p:cNvCxnSpPr>
          <p:nvPr/>
        </p:nvCxnSpPr>
        <p:spPr>
          <a:xfrm flipH="1">
            <a:off x="4015437" y="4862496"/>
            <a:ext cx="199198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1" name="直接连接符 3250">
            <a:extLst>
              <a:ext uri="{FF2B5EF4-FFF2-40B4-BE49-F238E27FC236}">
                <a16:creationId xmlns:a16="http://schemas.microsoft.com/office/drawing/2014/main" id="{8E81A409-E002-BAD0-AA6E-D9307B06A52A}"/>
              </a:ext>
            </a:extLst>
          </p:cNvPr>
          <p:cNvCxnSpPr>
            <a:cxnSpLocks/>
            <a:stCxn id="3185" idx="2"/>
            <a:endCxn id="3201" idx="0"/>
          </p:cNvCxnSpPr>
          <p:nvPr/>
        </p:nvCxnSpPr>
        <p:spPr>
          <a:xfrm>
            <a:off x="3997701" y="4862496"/>
            <a:ext cx="17736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4" name="直接连接符 3253">
            <a:extLst>
              <a:ext uri="{FF2B5EF4-FFF2-40B4-BE49-F238E27FC236}">
                <a16:creationId xmlns:a16="http://schemas.microsoft.com/office/drawing/2014/main" id="{50F89273-6158-4705-DDF5-9D740EC911FF}"/>
              </a:ext>
            </a:extLst>
          </p:cNvPr>
          <p:cNvCxnSpPr>
            <a:cxnSpLocks/>
            <a:stCxn id="3193" idx="2"/>
            <a:endCxn id="3233" idx="0"/>
          </p:cNvCxnSpPr>
          <p:nvPr/>
        </p:nvCxnSpPr>
        <p:spPr>
          <a:xfrm flipH="1">
            <a:off x="4209378" y="4862496"/>
            <a:ext cx="525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7" name="直接连接符 3256">
            <a:extLst>
              <a:ext uri="{FF2B5EF4-FFF2-40B4-BE49-F238E27FC236}">
                <a16:creationId xmlns:a16="http://schemas.microsoft.com/office/drawing/2014/main" id="{658F9470-FD3C-B8A7-772F-DEC93184C62D}"/>
              </a:ext>
            </a:extLst>
          </p:cNvPr>
          <p:cNvCxnSpPr>
            <a:cxnSpLocks/>
            <a:stCxn id="3185" idx="2"/>
            <a:endCxn id="3193" idx="2"/>
          </p:cNvCxnSpPr>
          <p:nvPr/>
        </p:nvCxnSpPr>
        <p:spPr>
          <a:xfrm>
            <a:off x="3997701" y="4862496"/>
            <a:ext cx="21693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0" name="直接连接符 3259">
            <a:extLst>
              <a:ext uri="{FF2B5EF4-FFF2-40B4-BE49-F238E27FC236}">
                <a16:creationId xmlns:a16="http://schemas.microsoft.com/office/drawing/2014/main" id="{286349B1-29E8-C8D0-BBC8-15F245A3CE9B}"/>
              </a:ext>
            </a:extLst>
          </p:cNvPr>
          <p:cNvCxnSpPr>
            <a:cxnSpLocks/>
            <a:stCxn id="3201" idx="0"/>
            <a:endCxn id="3233" idx="0"/>
          </p:cNvCxnSpPr>
          <p:nvPr/>
        </p:nvCxnSpPr>
        <p:spPr>
          <a:xfrm>
            <a:off x="4015437" y="5557815"/>
            <a:ext cx="19394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22348472-9892-C3DF-000D-BC387E3B1A19}"/>
              </a:ext>
            </a:extLst>
          </p:cNvPr>
          <p:cNvGrpSpPr/>
          <p:nvPr/>
        </p:nvGrpSpPr>
        <p:grpSpPr>
          <a:xfrm>
            <a:off x="517971" y="1216313"/>
            <a:ext cx="2420284" cy="328255"/>
            <a:chOff x="1177467" y="2702667"/>
            <a:chExt cx="2420284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0CA6769B-7DAE-DCF5-4A83-72FFA31733B5}"/>
                </a:ext>
              </a:extLst>
            </p:cNvPr>
            <p:cNvSpPr txBox="1"/>
            <p:nvPr/>
          </p:nvSpPr>
          <p:spPr>
            <a:xfrm>
              <a:off x="1613598" y="2702667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Copper interconnection 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9FE7541C-A33D-F222-D297-59E869D0BF2E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9" name="文本框 3278">
            <a:extLst>
              <a:ext uri="{FF2B5EF4-FFF2-40B4-BE49-F238E27FC236}">
                <a16:creationId xmlns:a16="http://schemas.microsoft.com/office/drawing/2014/main" id="{B4DC88B5-7ABC-E50B-B302-D475C763EE5D}"/>
              </a:ext>
            </a:extLst>
          </p:cNvPr>
          <p:cNvSpPr txBox="1"/>
          <p:nvPr/>
        </p:nvSpPr>
        <p:spPr>
          <a:xfrm>
            <a:off x="524504" y="3407345"/>
            <a:ext cx="531337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算力节点横向互连，节点距离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m-km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280" name="文本框 3279">
            <a:extLst>
              <a:ext uri="{FF2B5EF4-FFF2-40B4-BE49-F238E27FC236}">
                <a16:creationId xmlns:a16="http://schemas.microsoft.com/office/drawing/2014/main" id="{C148A7FD-D712-51F3-5081-166F73B6EB61}"/>
              </a:ext>
            </a:extLst>
          </p:cNvPr>
          <p:cNvSpPr txBox="1"/>
          <p:nvPr/>
        </p:nvSpPr>
        <p:spPr>
          <a:xfrm>
            <a:off x="1740008" y="4546921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1" name="文本框 3280">
            <a:extLst>
              <a:ext uri="{FF2B5EF4-FFF2-40B4-BE49-F238E27FC236}">
                <a16:creationId xmlns:a16="http://schemas.microsoft.com/office/drawing/2014/main" id="{4361F562-DFDE-6B7E-F514-626FA1E56756}"/>
              </a:ext>
            </a:extLst>
          </p:cNvPr>
          <p:cNvSpPr txBox="1"/>
          <p:nvPr/>
        </p:nvSpPr>
        <p:spPr>
          <a:xfrm>
            <a:off x="3650832" y="3875473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2" name="椭圆 3281">
            <a:extLst>
              <a:ext uri="{FF2B5EF4-FFF2-40B4-BE49-F238E27FC236}">
                <a16:creationId xmlns:a16="http://schemas.microsoft.com/office/drawing/2014/main" id="{F3DEAD3A-3B4E-7235-FD38-55144F01FA78}"/>
              </a:ext>
            </a:extLst>
          </p:cNvPr>
          <p:cNvSpPr/>
          <p:nvPr/>
        </p:nvSpPr>
        <p:spPr>
          <a:xfrm>
            <a:off x="3976523" y="4833823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3" name="椭圆 3282">
            <a:extLst>
              <a:ext uri="{FF2B5EF4-FFF2-40B4-BE49-F238E27FC236}">
                <a16:creationId xmlns:a16="http://schemas.microsoft.com/office/drawing/2014/main" id="{60EEC760-1965-A09D-5547-B6E06E6F1BFF}"/>
              </a:ext>
            </a:extLst>
          </p:cNvPr>
          <p:cNvSpPr/>
          <p:nvPr/>
        </p:nvSpPr>
        <p:spPr>
          <a:xfrm>
            <a:off x="4193602" y="483139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4" name="椭圆 3283">
            <a:extLst>
              <a:ext uri="{FF2B5EF4-FFF2-40B4-BE49-F238E27FC236}">
                <a16:creationId xmlns:a16="http://schemas.microsoft.com/office/drawing/2014/main" id="{338C041F-2329-9770-58C2-010826019696}"/>
              </a:ext>
            </a:extLst>
          </p:cNvPr>
          <p:cNvSpPr/>
          <p:nvPr/>
        </p:nvSpPr>
        <p:spPr>
          <a:xfrm>
            <a:off x="3996784" y="5532695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5" name="椭圆 3284">
            <a:extLst>
              <a:ext uri="{FF2B5EF4-FFF2-40B4-BE49-F238E27FC236}">
                <a16:creationId xmlns:a16="http://schemas.microsoft.com/office/drawing/2014/main" id="{9D64F408-8622-DFC1-569E-C3F30849D5FA}"/>
              </a:ext>
            </a:extLst>
          </p:cNvPr>
          <p:cNvSpPr/>
          <p:nvPr/>
        </p:nvSpPr>
        <p:spPr>
          <a:xfrm>
            <a:off x="4187014" y="5536426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87" name="连接符: 肘形 3286">
            <a:extLst>
              <a:ext uri="{FF2B5EF4-FFF2-40B4-BE49-F238E27FC236}">
                <a16:creationId xmlns:a16="http://schemas.microsoft.com/office/drawing/2014/main" id="{179ED056-C4F7-BE77-73B2-34D1C98B902B}"/>
              </a:ext>
            </a:extLst>
          </p:cNvPr>
          <p:cNvCxnSpPr>
            <a:stCxn id="3189" idx="3"/>
            <a:endCxn id="3188" idx="3"/>
          </p:cNvCxnSpPr>
          <p:nvPr/>
        </p:nvCxnSpPr>
        <p:spPr>
          <a:xfrm>
            <a:off x="3648988" y="4245445"/>
            <a:ext cx="106901" cy="239224"/>
          </a:xfrm>
          <a:prstGeom prst="bentConnector3">
            <a:avLst>
              <a:gd name="adj1" fmla="val 52479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9" name="连接符: 肘形 3288">
            <a:extLst>
              <a:ext uri="{FF2B5EF4-FFF2-40B4-BE49-F238E27FC236}">
                <a16:creationId xmlns:a16="http://schemas.microsoft.com/office/drawing/2014/main" id="{E7E888B3-805C-5E34-B8B9-C1325B75C051}"/>
              </a:ext>
            </a:extLst>
          </p:cNvPr>
          <p:cNvCxnSpPr>
            <a:cxnSpLocks/>
            <a:stCxn id="3190" idx="3"/>
            <a:endCxn id="3188" idx="3"/>
          </p:cNvCxnSpPr>
          <p:nvPr/>
        </p:nvCxnSpPr>
        <p:spPr>
          <a:xfrm flipV="1">
            <a:off x="3648986" y="4484669"/>
            <a:ext cx="106903" cy="249538"/>
          </a:xfrm>
          <a:prstGeom prst="bentConnector3">
            <a:avLst>
              <a:gd name="adj1" fmla="val 5248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5" name="椭圆 3294">
            <a:extLst>
              <a:ext uri="{FF2B5EF4-FFF2-40B4-BE49-F238E27FC236}">
                <a16:creationId xmlns:a16="http://schemas.microsoft.com/office/drawing/2014/main" id="{E5DF0D73-C9E2-F4E0-D984-B375E6F18122}"/>
              </a:ext>
            </a:extLst>
          </p:cNvPr>
          <p:cNvSpPr/>
          <p:nvPr/>
        </p:nvSpPr>
        <p:spPr>
          <a:xfrm>
            <a:off x="376252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6" name="椭圆 3295">
            <a:extLst>
              <a:ext uri="{FF2B5EF4-FFF2-40B4-BE49-F238E27FC236}">
                <a16:creationId xmlns:a16="http://schemas.microsoft.com/office/drawing/2014/main" id="{8653CA79-4735-DDC8-50B6-9D2AA3C8D3E3}"/>
              </a:ext>
            </a:extLst>
          </p:cNvPr>
          <p:cNvSpPr/>
          <p:nvPr/>
        </p:nvSpPr>
        <p:spPr>
          <a:xfrm>
            <a:off x="4397965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7" name="椭圆 3296">
            <a:extLst>
              <a:ext uri="{FF2B5EF4-FFF2-40B4-BE49-F238E27FC236}">
                <a16:creationId xmlns:a16="http://schemas.microsoft.com/office/drawing/2014/main" id="{428FF105-C955-4B02-E9DB-2DCDEF0A2475}"/>
              </a:ext>
            </a:extLst>
          </p:cNvPr>
          <p:cNvSpPr/>
          <p:nvPr/>
        </p:nvSpPr>
        <p:spPr>
          <a:xfrm>
            <a:off x="3772919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8" name="椭圆 3297">
            <a:extLst>
              <a:ext uri="{FF2B5EF4-FFF2-40B4-BE49-F238E27FC236}">
                <a16:creationId xmlns:a16="http://schemas.microsoft.com/office/drawing/2014/main" id="{B57F8209-DA60-206E-A92E-4BEA193F4A6D}"/>
              </a:ext>
            </a:extLst>
          </p:cNvPr>
          <p:cNvSpPr/>
          <p:nvPr/>
        </p:nvSpPr>
        <p:spPr>
          <a:xfrm>
            <a:off x="4397965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03" name="连接符: 肘形 3302">
            <a:extLst>
              <a:ext uri="{FF2B5EF4-FFF2-40B4-BE49-F238E27FC236}">
                <a16:creationId xmlns:a16="http://schemas.microsoft.com/office/drawing/2014/main" id="{D90F8067-3661-6D07-4115-4EF10A05363E}"/>
              </a:ext>
            </a:extLst>
          </p:cNvPr>
          <p:cNvCxnSpPr>
            <a:cxnSpLocks/>
            <a:stCxn id="3206" idx="3"/>
            <a:endCxn id="3297" idx="2"/>
          </p:cNvCxnSpPr>
          <p:nvPr/>
        </p:nvCxnSpPr>
        <p:spPr>
          <a:xfrm flipV="1">
            <a:off x="3673074" y="5925498"/>
            <a:ext cx="99845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7" name="连接符: 肘形 3306">
            <a:extLst>
              <a:ext uri="{FF2B5EF4-FFF2-40B4-BE49-F238E27FC236}">
                <a16:creationId xmlns:a16="http://schemas.microsoft.com/office/drawing/2014/main" id="{64D43C6D-FDBF-E180-0573-843E3A227E6A}"/>
              </a:ext>
            </a:extLst>
          </p:cNvPr>
          <p:cNvCxnSpPr>
            <a:cxnSpLocks/>
            <a:stCxn id="3205" idx="3"/>
            <a:endCxn id="3297" idx="2"/>
          </p:cNvCxnSpPr>
          <p:nvPr/>
        </p:nvCxnSpPr>
        <p:spPr>
          <a:xfrm>
            <a:off x="3673076" y="5676135"/>
            <a:ext cx="99843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0" name="连接符: 肘形 3309">
            <a:extLst>
              <a:ext uri="{FF2B5EF4-FFF2-40B4-BE49-F238E27FC236}">
                <a16:creationId xmlns:a16="http://schemas.microsoft.com/office/drawing/2014/main" id="{C2B88ABB-85BD-BA7B-A299-D2B6C2EA061A}"/>
              </a:ext>
            </a:extLst>
          </p:cNvPr>
          <p:cNvCxnSpPr>
            <a:cxnSpLocks/>
            <a:stCxn id="3296" idx="6"/>
            <a:endCxn id="3197" idx="1"/>
          </p:cNvCxnSpPr>
          <p:nvPr/>
        </p:nvCxnSpPr>
        <p:spPr>
          <a:xfrm flipV="1">
            <a:off x="4443684" y="4245445"/>
            <a:ext cx="106275" cy="24142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3" name="连接符: 肘形 3312">
            <a:extLst>
              <a:ext uri="{FF2B5EF4-FFF2-40B4-BE49-F238E27FC236}">
                <a16:creationId xmlns:a16="http://schemas.microsoft.com/office/drawing/2014/main" id="{3CDD6494-4D9F-FA19-90BE-575750010F28}"/>
              </a:ext>
            </a:extLst>
          </p:cNvPr>
          <p:cNvCxnSpPr>
            <a:cxnSpLocks/>
            <a:stCxn id="3198" idx="1"/>
            <a:endCxn id="3296" idx="6"/>
          </p:cNvCxnSpPr>
          <p:nvPr/>
        </p:nvCxnSpPr>
        <p:spPr>
          <a:xfrm rot="10800000">
            <a:off x="4443685" y="4486869"/>
            <a:ext cx="106275" cy="24733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0" name="连接符: 肘形 3319">
            <a:extLst>
              <a:ext uri="{FF2B5EF4-FFF2-40B4-BE49-F238E27FC236}">
                <a16:creationId xmlns:a16="http://schemas.microsoft.com/office/drawing/2014/main" id="{E76F4571-2F06-814E-677F-AFBE3603CF65}"/>
              </a:ext>
            </a:extLst>
          </p:cNvPr>
          <p:cNvCxnSpPr>
            <a:cxnSpLocks/>
            <a:stCxn id="3236" idx="1"/>
            <a:endCxn id="3298" idx="6"/>
          </p:cNvCxnSpPr>
          <p:nvPr/>
        </p:nvCxnSpPr>
        <p:spPr>
          <a:xfrm rot="10800000" flipV="1">
            <a:off x="4443684" y="5676134"/>
            <a:ext cx="101018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3" name="连接符: 肘形 3322">
            <a:extLst>
              <a:ext uri="{FF2B5EF4-FFF2-40B4-BE49-F238E27FC236}">
                <a16:creationId xmlns:a16="http://schemas.microsoft.com/office/drawing/2014/main" id="{9FA99C92-C83D-F097-0EFC-E259C9BCA4AE}"/>
              </a:ext>
            </a:extLst>
          </p:cNvPr>
          <p:cNvCxnSpPr>
            <a:cxnSpLocks/>
            <a:stCxn id="3237" idx="1"/>
            <a:endCxn id="3298" idx="6"/>
          </p:cNvCxnSpPr>
          <p:nvPr/>
        </p:nvCxnSpPr>
        <p:spPr>
          <a:xfrm rot="10800000">
            <a:off x="4443684" y="5925499"/>
            <a:ext cx="101018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6" name="椭圆 3325">
            <a:extLst>
              <a:ext uri="{FF2B5EF4-FFF2-40B4-BE49-F238E27FC236}">
                <a16:creationId xmlns:a16="http://schemas.microsoft.com/office/drawing/2014/main" id="{3FCC2BA2-D450-E61D-79BE-35C9F2B84FF2}"/>
              </a:ext>
            </a:extLst>
          </p:cNvPr>
          <p:cNvSpPr/>
          <p:nvPr/>
        </p:nvSpPr>
        <p:spPr>
          <a:xfrm>
            <a:off x="3924503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7" name="椭圆 3326">
            <a:extLst>
              <a:ext uri="{FF2B5EF4-FFF2-40B4-BE49-F238E27FC236}">
                <a16:creationId xmlns:a16="http://schemas.microsoft.com/office/drawing/2014/main" id="{8DAC3C25-5202-9E1F-1F6C-C65005E11E5E}"/>
              </a:ext>
            </a:extLst>
          </p:cNvPr>
          <p:cNvSpPr/>
          <p:nvPr/>
        </p:nvSpPr>
        <p:spPr>
          <a:xfrm>
            <a:off x="423685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8" name="椭圆 3327">
            <a:extLst>
              <a:ext uri="{FF2B5EF4-FFF2-40B4-BE49-F238E27FC236}">
                <a16:creationId xmlns:a16="http://schemas.microsoft.com/office/drawing/2014/main" id="{E658DC7D-FF2B-F798-4CF3-FEDDA3AA84DD}"/>
              </a:ext>
            </a:extLst>
          </p:cNvPr>
          <p:cNvSpPr/>
          <p:nvPr/>
        </p:nvSpPr>
        <p:spPr>
          <a:xfrm>
            <a:off x="3941539" y="5904991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9" name="椭圆 3328">
            <a:extLst>
              <a:ext uri="{FF2B5EF4-FFF2-40B4-BE49-F238E27FC236}">
                <a16:creationId xmlns:a16="http://schemas.microsoft.com/office/drawing/2014/main" id="{60538A72-931E-810C-D7DE-12A882C184AC}"/>
              </a:ext>
            </a:extLst>
          </p:cNvPr>
          <p:cNvSpPr/>
          <p:nvPr/>
        </p:nvSpPr>
        <p:spPr>
          <a:xfrm>
            <a:off x="4235095" y="590353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30" name="直接连接符 3329">
            <a:extLst>
              <a:ext uri="{FF2B5EF4-FFF2-40B4-BE49-F238E27FC236}">
                <a16:creationId xmlns:a16="http://schemas.microsoft.com/office/drawing/2014/main" id="{D4A53385-8C4F-0E25-BBEB-8F59CD06E132}"/>
              </a:ext>
            </a:extLst>
          </p:cNvPr>
          <p:cNvCxnSpPr>
            <a:cxnSpLocks/>
            <a:stCxn id="3295" idx="6"/>
            <a:endCxn id="3326" idx="2"/>
          </p:cNvCxnSpPr>
          <p:nvPr/>
        </p:nvCxnSpPr>
        <p:spPr>
          <a:xfrm>
            <a:off x="3808246" y="4484669"/>
            <a:ext cx="116257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3" name="直接连接符 3332">
            <a:extLst>
              <a:ext uri="{FF2B5EF4-FFF2-40B4-BE49-F238E27FC236}">
                <a16:creationId xmlns:a16="http://schemas.microsoft.com/office/drawing/2014/main" id="{C3106EA1-D384-87ED-9259-454583658A89}"/>
              </a:ext>
            </a:extLst>
          </p:cNvPr>
          <p:cNvCxnSpPr>
            <a:cxnSpLocks/>
            <a:stCxn id="3327" idx="6"/>
            <a:endCxn id="3296" idx="2"/>
          </p:cNvCxnSpPr>
          <p:nvPr/>
        </p:nvCxnSpPr>
        <p:spPr>
          <a:xfrm>
            <a:off x="4282576" y="4484669"/>
            <a:ext cx="115389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6" name="直接连接符 3335">
            <a:extLst>
              <a:ext uri="{FF2B5EF4-FFF2-40B4-BE49-F238E27FC236}">
                <a16:creationId xmlns:a16="http://schemas.microsoft.com/office/drawing/2014/main" id="{00C9FB13-33F8-76A2-02F6-82395DD3D3F8}"/>
              </a:ext>
            </a:extLst>
          </p:cNvPr>
          <p:cNvCxnSpPr>
            <a:cxnSpLocks/>
            <a:stCxn id="3297" idx="6"/>
            <a:endCxn id="3328" idx="2"/>
          </p:cNvCxnSpPr>
          <p:nvPr/>
        </p:nvCxnSpPr>
        <p:spPr>
          <a:xfrm>
            <a:off x="3818638" y="5925498"/>
            <a:ext cx="122901" cy="235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9" name="直接连接符 3338">
            <a:extLst>
              <a:ext uri="{FF2B5EF4-FFF2-40B4-BE49-F238E27FC236}">
                <a16:creationId xmlns:a16="http://schemas.microsoft.com/office/drawing/2014/main" id="{CB4854F6-E81A-966A-4307-FCE85C932C5B}"/>
              </a:ext>
            </a:extLst>
          </p:cNvPr>
          <p:cNvCxnSpPr>
            <a:cxnSpLocks/>
            <a:stCxn id="3329" idx="6"/>
            <a:endCxn id="3298" idx="2"/>
          </p:cNvCxnSpPr>
          <p:nvPr/>
        </p:nvCxnSpPr>
        <p:spPr>
          <a:xfrm flipV="1">
            <a:off x="4280814" y="5925498"/>
            <a:ext cx="117151" cy="90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35A9D7F8-5A32-8325-E0D2-7CAA8D0C5ED4}"/>
              </a:ext>
            </a:extLst>
          </p:cNvPr>
          <p:cNvGrpSpPr/>
          <p:nvPr/>
        </p:nvGrpSpPr>
        <p:grpSpPr>
          <a:xfrm>
            <a:off x="540317" y="3852677"/>
            <a:ext cx="2420284" cy="645926"/>
            <a:chOff x="944683" y="5440100"/>
            <a:chExt cx="2420284" cy="645926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9A856CE2-4D8E-A5B0-0895-B0A3FE49D9B4}"/>
                </a:ext>
              </a:extLst>
            </p:cNvPr>
            <p:cNvGrpSpPr/>
            <p:nvPr/>
          </p:nvGrpSpPr>
          <p:grpSpPr>
            <a:xfrm>
              <a:off x="944683" y="5440100"/>
              <a:ext cx="2420284" cy="328255"/>
              <a:chOff x="1177467" y="2702667"/>
              <a:chExt cx="2420284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DE2E4076-164F-87A8-1121-C97911561E98}"/>
                  </a:ext>
                </a:extLst>
              </p:cNvPr>
              <p:cNvSpPr txBox="1"/>
              <p:nvPr/>
            </p:nvSpPr>
            <p:spPr>
              <a:xfrm>
                <a:off x="1613598" y="2702667"/>
                <a:ext cx="1984153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000" b="1" dirty="0"/>
                  <a:t>Optical interconnection  </a:t>
                </a:r>
                <a:endParaRPr kumimoji="1" lang="en-US" altLang="zh-CN" sz="1000" dirty="0">
                  <a:solidFill>
                    <a:srgbClr val="0052D9"/>
                  </a:solidFill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8AAC3C28-8C07-26B3-FDB4-1E609F13A3F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24369D3A-9BF2-5FF3-A8CD-A3EDA71406D6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041519C8-2767-A6EB-435B-BCA6F0866A05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Optical module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</p:grpSp>
      <p:sp>
        <p:nvSpPr>
          <p:cNvPr id="3351" name="矩形 3350">
            <a:extLst>
              <a:ext uri="{FF2B5EF4-FFF2-40B4-BE49-F238E27FC236}">
                <a16:creationId xmlns:a16="http://schemas.microsoft.com/office/drawing/2014/main" id="{5BE43975-8665-111F-5AC9-5F046225065B}"/>
              </a:ext>
            </a:extLst>
          </p:cNvPr>
          <p:cNvSpPr/>
          <p:nvPr/>
        </p:nvSpPr>
        <p:spPr>
          <a:xfrm>
            <a:off x="12346623" y="2997731"/>
            <a:ext cx="3664561" cy="267840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简单的制约三角形（可以放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），距离、信息损耗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(BER 40%)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每机架增加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20kW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，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增长率，对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NVL72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意味着什么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现状是什么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FPP=&gt;CPO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，省功耗到底意味着什么，功耗整体会降低多少？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D12E94-372A-6304-56F5-8582FDD68E94}"/>
              </a:ext>
            </a:extLst>
          </p:cNvPr>
          <p:cNvSpPr txBox="1"/>
          <p:nvPr/>
        </p:nvSpPr>
        <p:spPr>
          <a:xfrm>
            <a:off x="5970588" y="827088"/>
            <a:ext cx="5222875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功耗、速率、距离取舍：光模块在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优先适配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7F45F6-F4FA-1297-D368-B356815BA024}"/>
              </a:ext>
            </a:extLst>
          </p:cNvPr>
          <p:cNvSpPr txBox="1"/>
          <p:nvPr/>
        </p:nvSpPr>
        <p:spPr>
          <a:xfrm>
            <a:off x="6073775" y="1343025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暂不适配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：光互联功耗随速度增长显著上升，如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NVL72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因光学链路功耗过高（每机架增加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20kW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）只能采用铜互连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DF8B30-922E-9F3B-9372-41F7C7F3EBAB}"/>
              </a:ext>
            </a:extLst>
          </p:cNvPr>
          <p:cNvSpPr txBox="1"/>
          <p:nvPr/>
        </p:nvSpPr>
        <p:spPr>
          <a:xfrm>
            <a:off x="3992284" y="3875472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189EAF-EE58-88C4-6121-2AED1E173B80}"/>
              </a:ext>
            </a:extLst>
          </p:cNvPr>
          <p:cNvSpPr txBox="1"/>
          <p:nvPr/>
        </p:nvSpPr>
        <p:spPr>
          <a:xfrm>
            <a:off x="3669264" y="6197720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19F3A3-6352-A349-D37E-3FE8F1567F57}"/>
              </a:ext>
            </a:extLst>
          </p:cNvPr>
          <p:cNvSpPr txBox="1"/>
          <p:nvPr/>
        </p:nvSpPr>
        <p:spPr>
          <a:xfrm>
            <a:off x="4010716" y="6197719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71CA81-E195-4738-53AF-31B3C38B5CB7}"/>
              </a:ext>
            </a:extLst>
          </p:cNvPr>
          <p:cNvSpPr txBox="1"/>
          <p:nvPr/>
        </p:nvSpPr>
        <p:spPr>
          <a:xfrm>
            <a:off x="6067426" y="3759200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适配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：传输速率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&lt;=&gt;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传输距离减少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30-50%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，导致超过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5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米的连接需采用光互连取代铜互连。（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vs FPP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）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508" name="Chart 3">
            <a:extLst>
              <a:ext uri="{FF2B5EF4-FFF2-40B4-BE49-F238E27FC236}">
                <a16:creationId xmlns:a16="http://schemas.microsoft.com/office/drawing/2014/main" id="{26788F83-CD79-4ACE-A391-C8C309FB56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5967947"/>
              </p:ext>
            </p:extLst>
          </p:nvPr>
        </p:nvGraphicFramePr>
        <p:xfrm>
          <a:off x="6361113" y="2249488"/>
          <a:ext cx="4359275" cy="140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cxnSp>
        <p:nvCxnSpPr>
          <p:cNvPr id="3420" name="直接连接符 3419">
            <a:extLst>
              <a:ext uri="{FF2B5EF4-FFF2-40B4-BE49-F238E27FC236}">
                <a16:creationId xmlns:a16="http://schemas.microsoft.com/office/drawing/2014/main" id="{9BED46AA-73B5-23D3-2125-D3F5F4AFC3C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9826625" y="2133600"/>
            <a:ext cx="0" cy="5667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1" name="直接连接符 3420">
            <a:extLst>
              <a:ext uri="{FF2B5EF4-FFF2-40B4-BE49-F238E27FC236}">
                <a16:creationId xmlns:a16="http://schemas.microsoft.com/office/drawing/2014/main" id="{8F2C8DD2-D67B-5980-73D8-918B694701B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826625" y="2133600"/>
            <a:ext cx="5397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2" name="直接连接符 3421">
            <a:extLst>
              <a:ext uri="{FF2B5EF4-FFF2-40B4-BE49-F238E27FC236}">
                <a16:creationId xmlns:a16="http://schemas.microsoft.com/office/drawing/2014/main" id="{67377BA1-1E50-1866-5A4E-B6E096EE5D9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366375" y="2133600"/>
            <a:ext cx="0" cy="3032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94" name="Text Placeholder 4">
            <a:extLst>
              <a:ext uri="{FF2B5EF4-FFF2-40B4-BE49-F238E27FC236}">
                <a16:creationId xmlns:a16="http://schemas.microsoft.com/office/drawing/2014/main" id="{7F2740C2-AA09-A4F0-6A85-1D102556672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70725" y="3405188"/>
            <a:ext cx="111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C475EC3-683F-4F67-8116-B29F93B345CD}" type="datetime'''''''''''''''''''''''''''''''1'''''''''''''''''''''">
              <a:rPr lang="zh-CN" altLang="en-US" sz="1400" smtClean="0">
                <a:cs typeface="+mn-cs"/>
              </a:rPr>
              <a:pPr/>
              <a:t>1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99" name="Text Placeholder 4">
            <a:extLst>
              <a:ext uri="{FF2B5EF4-FFF2-40B4-BE49-F238E27FC236}">
                <a16:creationId xmlns:a16="http://schemas.microsoft.com/office/drawing/2014/main" id="{6461AB6D-05AC-F3BB-B944-CA0D42E37B83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56126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042603C-FF20-45F3-91FB-FD2CAC855BA2}" type="datetime'''''''''''''''''''''''''''''''''''''''''''1''''''''''''0'''">
              <a:rPr lang="zh-CN" altLang="en-US" sz="1400" smtClean="0">
                <a:cs typeface="+mn-cs"/>
              </a:rPr>
              <a:pPr/>
              <a:t>10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0" name="Text Placeholder 4">
            <a:extLst>
              <a:ext uri="{FF2B5EF4-FFF2-40B4-BE49-F238E27FC236}">
                <a16:creationId xmlns:a16="http://schemas.microsoft.com/office/drawing/2014/main" id="{7AF25117-69B7-F6EF-B5CE-0CC3CE8C5650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810101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28959A9-BB07-4F93-9DCE-40E63A7CAF1A}" type="datetime'4''''''''''''''''''''''''''''''''''''''''''0'''''">
              <a:rPr lang="zh-CN" altLang="en-US" sz="1400" smtClean="0">
                <a:cs typeface="+mn-cs"/>
              </a:rPr>
              <a:pPr/>
              <a:t>40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6" name="Text Placeholder 4">
            <a:extLst>
              <a:ext uri="{FF2B5EF4-FFF2-40B4-BE49-F238E27FC236}">
                <a16:creationId xmlns:a16="http://schemas.microsoft.com/office/drawing/2014/main" id="{0A0F2972-5969-7C14-2265-B5FB0D67089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5931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07D7B08-8A28-4D1D-8757-D8078690525A}" type="datetime'''''''''''''''''''''10''''''''''''''''''''0'''''''''''">
              <a:rPr lang="zh-CN" altLang="en-US" sz="1400" smtClean="0">
                <a:cs typeface="+mn-cs"/>
              </a:rPr>
              <a:pPr/>
              <a:t>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8" name="Text Placeholder 4">
            <a:extLst>
              <a:ext uri="{FF2B5EF4-FFF2-40B4-BE49-F238E27FC236}">
                <a16:creationId xmlns:a16="http://schemas.microsoft.com/office/drawing/2014/main" id="{E3B9608E-53A5-59DC-81E1-8E2CE975CD34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91328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53AD261-03C4-4BCF-B050-8E555F298E3C}" type="datetime'2''''''''''''''''''''''''''0''''''''''''0'''''''''''''''''''">
              <a:rPr lang="zh-CN" altLang="en-US" sz="1400" smtClean="0">
                <a:cs typeface="+mn-cs"/>
              </a:rPr>
              <a:pPr/>
              <a:t>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9" name="Text Placeholder 4">
            <a:extLst>
              <a:ext uri="{FF2B5EF4-FFF2-40B4-BE49-F238E27FC236}">
                <a16:creationId xmlns:a16="http://schemas.microsoft.com/office/drawing/2014/main" id="{C959A55A-73AF-7C73-6D5A-FF7A4FDDF35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96726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61BDB9E-66BC-4B87-BBF4-A6287BDED399}" type="datetime'''4''''''''''''''''''''''''''''0''''''0'''''">
              <a:rPr lang="zh-CN" altLang="en-US" sz="1400" smtClean="0">
                <a:cs typeface="+mn-cs"/>
              </a:rPr>
              <a:pPr/>
              <a:t>400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11" name="Text Placeholder 4">
            <a:extLst>
              <a:ext uri="{FF2B5EF4-FFF2-40B4-BE49-F238E27FC236}">
                <a16:creationId xmlns:a16="http://schemas.microsoft.com/office/drawing/2014/main" id="{C7734629-A51C-B7AB-8AC3-2184CFD71794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02123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0B71B0D-2E04-4E15-8B39-833BDE05E7D6}" type="datetime'''''''''''''''''8''0''0'''''''''''''''''''">
              <a:rPr lang="zh-CN" altLang="en-US" sz="1400" smtClean="0">
                <a:cs typeface="+mn-cs"/>
              </a:rPr>
              <a:pPr/>
              <a:t>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19" name="Text Placeholder 4">
            <a:extLst>
              <a:ext uri="{FF2B5EF4-FFF2-40B4-BE49-F238E27FC236}">
                <a16:creationId xmlns:a16="http://schemas.microsoft.com/office/drawing/2014/main" id="{3138382D-83D8-3E47-8156-554201C01C12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9772650" y="19827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54794A5-5734-4ECA-8C79-69548A450634}" type="datetime'''''+''''''''''''''''''''''''''7''''''''''''''1''%''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+71%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410" name="Text Placeholder 4">
            <a:extLst>
              <a:ext uri="{FF2B5EF4-FFF2-40B4-BE49-F238E27FC236}">
                <a16:creationId xmlns:a16="http://schemas.microsoft.com/office/drawing/2014/main" id="{007AB20E-ED6B-AB1E-C24A-25ABB6B215F8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5705475" y="2149475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Power(w)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17" name="Text Placeholder 4">
            <a:extLst>
              <a:ext uri="{FF2B5EF4-FFF2-40B4-BE49-F238E27FC236}">
                <a16:creationId xmlns:a16="http://schemas.microsoft.com/office/drawing/2014/main" id="{2C559342-640F-7DE5-32C2-90C2A08D54E6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261600" y="321786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Optical Link Speed(Gbps)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509" name="Chart 3">
            <a:extLst>
              <a:ext uri="{FF2B5EF4-FFF2-40B4-BE49-F238E27FC236}">
                <a16:creationId xmlns:a16="http://schemas.microsoft.com/office/drawing/2014/main" id="{52E0FBC3-254A-29A0-1D0C-213D5AF0FD6A}"/>
              </a:ext>
            </a:extLst>
          </p:cNvPr>
          <p:cNvGraphicFramePr/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682468365"/>
              </p:ext>
            </p:extLst>
          </p:nvPr>
        </p:nvGraphicFramePr>
        <p:xfrm>
          <a:off x="6257925" y="4610100"/>
          <a:ext cx="4359275" cy="1744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3444" name="Text Placeholder 4">
            <a:extLst>
              <a:ext uri="{FF2B5EF4-FFF2-40B4-BE49-F238E27FC236}">
                <a16:creationId xmlns:a16="http://schemas.microsoft.com/office/drawing/2014/main" id="{72797912-6E63-436B-3583-04CE24E2CA21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6935788" y="6107113"/>
            <a:ext cx="111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994EDF5-41AB-44C9-8643-CCA0385B3F12}" type="datetime'''''''''''''''''''''''''''''''''1'''''''''''''''''''">
              <a:rPr lang="zh-CN" altLang="en-US" sz="1400" smtClean="0">
                <a:cs typeface="+mn-cs"/>
              </a:rPr>
              <a:pPr/>
              <a:t>1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5" name="Text Placeholder 4">
            <a:extLst>
              <a:ext uri="{FF2B5EF4-FFF2-40B4-BE49-F238E27FC236}">
                <a16:creationId xmlns:a16="http://schemas.microsoft.com/office/drawing/2014/main" id="{80B96D4A-FB41-A054-CDC8-CDB86D75FC46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7358063" y="6107113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87BC156-6677-4CB3-9399-E9004E5B2912}" type="datetime'''''1''''''''0'''''''''''''''''''''''''''''''''''''''''''''''">
              <a:rPr lang="zh-CN" altLang="en-US" sz="1400" smtClean="0">
                <a:cs typeface="+mn-cs"/>
              </a:rPr>
              <a:pPr/>
              <a:t>10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6" name="Text Placeholder 4">
            <a:extLst>
              <a:ext uri="{FF2B5EF4-FFF2-40B4-BE49-F238E27FC236}">
                <a16:creationId xmlns:a16="http://schemas.microsoft.com/office/drawing/2014/main" id="{4C1B1431-2782-F9D1-12C2-180A0035D77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7831138" y="6107113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A3DA8E2-C6B5-45A5-BEA6-5B5B3D1B543C}" type="datetime'''''2''5'''''''''''''''''''''''''''''''''''''''''">
              <a:rPr lang="zh-CN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7" name="Text Placeholder 4">
            <a:extLst>
              <a:ext uri="{FF2B5EF4-FFF2-40B4-BE49-F238E27FC236}">
                <a16:creationId xmlns:a16="http://schemas.microsoft.com/office/drawing/2014/main" id="{86A5CBFB-9E2E-027F-A5D6-159915B4493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8304213" y="6107113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A007A98-CBC8-4E33-9DEE-1626D01E11A1}" type="datetime'''''''''''''''''''''''''''''50'''''''''''''''''''''''''''''''">
              <a:rPr lang="zh-CN" altLang="en-US" sz="1400" smtClean="0">
                <a:cs typeface="+mn-cs"/>
              </a:rPr>
              <a:pPr/>
              <a:t>50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8" name="Text Placeholder 4">
            <a:extLst>
              <a:ext uri="{FF2B5EF4-FFF2-40B4-BE49-F238E27FC236}">
                <a16:creationId xmlns:a16="http://schemas.microsoft.com/office/drawing/2014/main" id="{2C85E045-1066-0239-CBA1-8280E91C3B51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8726488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E642F2F-4453-40F9-9AED-F23E8C4F1CD3}" type="datetime'''''''''''''''''''''1''''''''''''''''''0''''''0'''''''''''''''">
              <a:rPr lang="zh-CN" altLang="en-US" sz="1400" smtClean="0">
                <a:cs typeface="+mn-cs"/>
              </a:rPr>
              <a:pPr/>
              <a:t>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9" name="Text Placeholder 4">
            <a:extLst>
              <a:ext uri="{FF2B5EF4-FFF2-40B4-BE49-F238E27FC236}">
                <a16:creationId xmlns:a16="http://schemas.microsoft.com/office/drawing/2014/main" id="{1685C138-6FA6-B16D-F90A-152B67C65AEF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9199563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F58903A-B35F-4D96-A381-62AC7A4C2E3E}" type="datetime'''''''2''''''''''''''''''''''''''''''''''0''''''''''''''0'''''">
              <a:rPr lang="zh-CN" altLang="en-US" sz="1400" smtClean="0">
                <a:cs typeface="+mn-cs"/>
              </a:rPr>
              <a:pPr/>
              <a:t>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50" name="Text Placeholder 4">
            <a:extLst>
              <a:ext uri="{FF2B5EF4-FFF2-40B4-BE49-F238E27FC236}">
                <a16:creationId xmlns:a16="http://schemas.microsoft.com/office/drawing/2014/main" id="{82DADAD9-6E5E-938D-63D5-1E30E459FE8C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9671050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1B72D465-9580-42E3-BF8B-1CFE1481F805}" type="datetime'''''''''''''4''''''''''0''''''''''''''''''0'''''''">
              <a:rPr lang="zh-CN" altLang="en-US" sz="1400" smtClean="0">
                <a:cs typeface="+mn-cs"/>
              </a:rPr>
              <a:pPr/>
              <a:t>400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66" name="Text Placeholder 4">
            <a:extLst>
              <a:ext uri="{FF2B5EF4-FFF2-40B4-BE49-F238E27FC236}">
                <a16:creationId xmlns:a16="http://schemas.microsoft.com/office/drawing/2014/main" id="{A4A8FC49-328B-C548-1B80-AD77FAFD4B9D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10144125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EDD58C0-EF92-49F3-B103-5C87F3B42B6C}" type="datetime'''''''''''''''''8''''0''''''''''''''''''''''''''''''''0'">
              <a:rPr lang="zh-CN" altLang="en-US" sz="1400" smtClean="0">
                <a:cs typeface="+mn-cs"/>
              </a:rPr>
              <a:pPr/>
              <a:t>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52" name="Text Placeholder 4">
            <a:extLst>
              <a:ext uri="{FF2B5EF4-FFF2-40B4-BE49-F238E27FC236}">
                <a16:creationId xmlns:a16="http://schemas.microsoft.com/office/drawing/2014/main" id="{1BE121C2-4A87-460E-2F78-3438CE499B7A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6059488" y="444341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Maximum Reach(m)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53" name="Text Placeholder 4">
            <a:extLst>
              <a:ext uri="{FF2B5EF4-FFF2-40B4-BE49-F238E27FC236}">
                <a16:creationId xmlns:a16="http://schemas.microsoft.com/office/drawing/2014/main" id="{CF45473B-42F9-8DA6-227B-4BEF3DFCB5A3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10225088" y="591661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Copper Link Speed(Gbps)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97" name="文本框 3496">
            <a:extLst>
              <a:ext uri="{FF2B5EF4-FFF2-40B4-BE49-F238E27FC236}">
                <a16:creationId xmlns:a16="http://schemas.microsoft.com/office/drawing/2014/main" id="{933520FC-8344-BA84-72A1-58A40D111CDE}"/>
              </a:ext>
            </a:extLst>
          </p:cNvPr>
          <p:cNvSpPr txBox="1"/>
          <p:nvPr/>
        </p:nvSpPr>
        <p:spPr>
          <a:xfrm>
            <a:off x="550345" y="65474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Microsoft Research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04" name="圆角矩形 1636">
            <a:extLst>
              <a:ext uri="{FF2B5EF4-FFF2-40B4-BE49-F238E27FC236}">
                <a16:creationId xmlns:a16="http://schemas.microsoft.com/office/drawing/2014/main" id="{DFA49951-B435-2A87-61EA-557436B70C87}"/>
              </a:ext>
            </a:extLst>
          </p:cNvPr>
          <p:cNvSpPr/>
          <p:nvPr/>
        </p:nvSpPr>
        <p:spPr>
          <a:xfrm>
            <a:off x="447166" y="1207041"/>
            <a:ext cx="5096385" cy="2060430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5" name="圆角矩形 1636">
            <a:extLst>
              <a:ext uri="{FF2B5EF4-FFF2-40B4-BE49-F238E27FC236}">
                <a16:creationId xmlns:a16="http://schemas.microsoft.com/office/drawing/2014/main" id="{7B4B2382-0288-D711-C157-0DC013B7E556}"/>
              </a:ext>
            </a:extLst>
          </p:cNvPr>
          <p:cNvSpPr/>
          <p:nvPr/>
        </p:nvSpPr>
        <p:spPr>
          <a:xfrm>
            <a:off x="448597" y="3791594"/>
            <a:ext cx="5096385" cy="2767204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6" name="圆角矩形 1636">
            <a:extLst>
              <a:ext uri="{FF2B5EF4-FFF2-40B4-BE49-F238E27FC236}">
                <a16:creationId xmlns:a16="http://schemas.microsoft.com/office/drawing/2014/main" id="{0305D1A5-CBDD-690B-42EC-00E749CBAE5A}"/>
              </a:ext>
            </a:extLst>
          </p:cNvPr>
          <p:cNvSpPr/>
          <p:nvPr/>
        </p:nvSpPr>
        <p:spPr>
          <a:xfrm>
            <a:off x="5907128" y="1171575"/>
            <a:ext cx="5813425" cy="5387975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38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1425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897753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巨头并行布局，</a:t>
            </a:r>
            <a:r>
              <a:rPr lang="en-US" altLang="zh-CN" dirty="0"/>
              <a:t>CPO</a:t>
            </a:r>
            <a:r>
              <a:rPr lang="zh-CN" altLang="en-US" dirty="0"/>
              <a:t>落地</a:t>
            </a:r>
            <a:r>
              <a:rPr lang="en-US" altLang="zh-CN" dirty="0"/>
              <a:t>1-2</a:t>
            </a:r>
            <a:r>
              <a:rPr lang="zh-CN" altLang="en-US" dirty="0"/>
              <a:t>年内看</a:t>
            </a:r>
            <a:r>
              <a:rPr lang="en-US" altLang="zh-CN" dirty="0"/>
              <a:t>Scale Out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66ECEC-3ADE-3292-D801-54C86A95723B}"/>
              </a:ext>
            </a:extLst>
          </p:cNvPr>
          <p:cNvSpPr/>
          <p:nvPr/>
        </p:nvSpPr>
        <p:spPr>
          <a:xfrm>
            <a:off x="12423165" y="2570534"/>
            <a:ext cx="3682865" cy="241069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时间上的判断？短期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vs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长期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考虑分成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页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补充大厂当前所处的阶段，比如博通、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 +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内部证据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先用铜堆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，发布的两个机型都是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。分成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两条线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413385"/>
            <a:ext cx="936104" cy="1879214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战略定位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953258"/>
            <a:ext cx="936104" cy="821294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产品布局</a:t>
            </a: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3454405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26786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363730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28480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8495683D-ACD8-6EC3-BE9F-61E2A87DD8FB}"/>
              </a:ext>
            </a:extLst>
          </p:cNvPr>
          <p:cNvSpPr txBox="1"/>
          <p:nvPr/>
        </p:nvSpPr>
        <p:spPr>
          <a:xfrm>
            <a:off x="1802912" y="2798608"/>
            <a:ext cx="4154305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GTC 2025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着重介绍了其与台积电等合作伙伴开发的首款基于1.6T硅光引擎的CPO交换机系列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4580647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487" y="93804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186" y="99153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109" y="93079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806" y="101568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5169271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505460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InfiniBand CPO 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C75DB03-7494-0929-C943-8E6E786633E3}"/>
              </a:ext>
            </a:extLst>
          </p:cNvPr>
          <p:cNvGrpSpPr/>
          <p:nvPr/>
        </p:nvGrpSpPr>
        <p:grpSpPr>
          <a:xfrm>
            <a:off x="1653999" y="1813261"/>
            <a:ext cx="4319790" cy="886261"/>
            <a:chOff x="6380443" y="5056839"/>
            <a:chExt cx="4146591" cy="927865"/>
          </a:xfrm>
        </p:grpSpPr>
        <p:pic>
          <p:nvPicPr>
            <p:cNvPr id="102" name="Picture 41" descr="Ausriss-gross">
              <a:extLst>
                <a:ext uri="{FF2B5EF4-FFF2-40B4-BE49-F238E27FC236}">
                  <a16:creationId xmlns:a16="http://schemas.microsoft.com/office/drawing/2014/main" id="{752C2E75-D563-E684-6588-E32A451277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文本框 177">
              <a:extLst>
                <a:ext uri="{FF2B5EF4-FFF2-40B4-BE49-F238E27FC236}">
                  <a16:creationId xmlns:a16="http://schemas.microsoft.com/office/drawing/2014/main" id="{6C0517C0-9C03-4EF7-6FD7-7FDEF25635A6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6863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kumimoji="1" lang="zh-CN" altLang="zh-CN" sz="1400" dirty="0">
                  <a:solidFill>
                    <a:schemeClr val="tx1">
                      <a:lumMod val="50000"/>
                    </a:schemeClr>
                  </a:solidFill>
                </a:rPr>
                <a:t>NVL72使用铜缆互连较光模块大幅节省了成本，铜缆高速连接的成本仅为光模块的20%</a:t>
              </a:r>
              <a:r>
                <a:rPr lang="zh-CN" altLang="en-US" sz="14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</a:t>
              </a:r>
              <a:endParaRPr lang="en-US" altLang="zh-CN" sz="1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—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黄仁勋，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GTC 2024</a:t>
              </a: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5053921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以太网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8358134-2C9F-AF4B-E784-259A345314DA}"/>
              </a:ext>
            </a:extLst>
          </p:cNvPr>
          <p:cNvSpPr/>
          <p:nvPr/>
        </p:nvSpPr>
        <p:spPr>
          <a:xfrm>
            <a:off x="12423166" y="-370706"/>
            <a:ext cx="3682865" cy="241069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短期看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Scale Out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，长期看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，需要找证据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5059629"/>
            <a:ext cx="936104" cy="720978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Scale Out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产品布局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461225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统治地位，强推铜到强推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1957829" y="5571116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25Q2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4008939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4041562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1957829" y="459739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25.07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4017639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</a:rPr>
              <a:t>Rubin 288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321656" y="456582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321656" y="557111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4084673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5118208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6096017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xx</a:t>
            </a:r>
            <a:endParaRPr lang="zh-CN" altLang="en-US" sz="10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6096017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xx</a:t>
            </a:r>
            <a:endParaRPr lang="zh-CN" altLang="en-US" sz="10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807778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</a:rPr>
              <a:t>基于铜互连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2915624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</a:rPr>
              <a:t>基于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413384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统治地位，</a:t>
            </a:r>
            <a:r>
              <a:rPr kumimoji="1" lang="zh-CN" altLang="zh-CN" sz="1400" i="1" dirty="0">
                <a:solidFill>
                  <a:schemeClr val="tx1">
                    <a:lumMod val="50000"/>
                  </a:schemeClr>
                </a:solidFill>
              </a:rPr>
              <a:t>未来5年押注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实现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的渗透</a:t>
            </a:r>
            <a:endParaRPr kumimoji="1" lang="zh-CN" altLang="zh-CN" sz="1400" i="1" dirty="0">
              <a:solidFill>
                <a:schemeClr val="tx1">
                  <a:lumMod val="50000"/>
                </a:schemeClr>
              </a:solidFill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251152D-8156-E033-5400-805507FAE389}"/>
              </a:ext>
            </a:extLst>
          </p:cNvPr>
          <p:cNvGrpSpPr/>
          <p:nvPr/>
        </p:nvGrpSpPr>
        <p:grpSpPr>
          <a:xfrm>
            <a:off x="6447847" y="1820204"/>
            <a:ext cx="4926088" cy="886261"/>
            <a:chOff x="6380443" y="5056839"/>
            <a:chExt cx="4146591" cy="927865"/>
          </a:xfrm>
        </p:grpSpPr>
        <p:pic>
          <p:nvPicPr>
            <p:cNvPr id="82" name="Picture 41" descr="Ausriss-gross">
              <a:extLst>
                <a:ext uri="{FF2B5EF4-FFF2-40B4-BE49-F238E27FC236}">
                  <a16:creationId xmlns:a16="http://schemas.microsoft.com/office/drawing/2014/main" id="{86A8C24A-F751-B001-13C5-63B17D26ECB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文本框 177">
              <a:extLst>
                <a:ext uri="{FF2B5EF4-FFF2-40B4-BE49-F238E27FC236}">
                  <a16:creationId xmlns:a16="http://schemas.microsoft.com/office/drawing/2014/main" id="{EBE25E6A-AA85-E69A-5E99-5189EB13BF28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“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</a:rPr>
                <a:t>CPO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是应对 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</a:rPr>
                <a:t>AI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集群带宽需求的关键技术，其集成化设计可显著提升系统能效”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—</a:t>
              </a:r>
              <a:r>
                <a:rPr lang="en-US" altLang="zh-CN" sz="1400" dirty="0"/>
                <a:t>Hock Tan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25Q2 Conference Call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936DE709-FEFC-64A4-3B75-B2BB3A7693D6}"/>
              </a:ext>
            </a:extLst>
          </p:cNvPr>
          <p:cNvSpPr txBox="1"/>
          <p:nvPr/>
        </p:nvSpPr>
        <p:spPr>
          <a:xfrm>
            <a:off x="6550109" y="2769653"/>
            <a:ext cx="4926088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于23年开始联合产业伙伴推动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方案，目前已在各环节实现单环节测试可靠性，但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未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完整部署并获得运营数据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5118208"/>
            <a:ext cx="17326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以太网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5223797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</a:rPr>
              <a:t>26Q1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5218125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3565386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整机交付为主</a:t>
            </a:r>
            <a:endParaRPr lang="zh-CN" altLang="en-US" sz="1400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3577403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交换机核心组件为主，积极布局整机</a:t>
            </a: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4103035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4133120"/>
            <a:ext cx="15844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芯片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4257281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</a:rPr>
              <a:t>25.06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Broadcom</a:t>
            </a: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626543AD-3823-A230-D15F-C420F3F10183}"/>
              </a:ext>
            </a:extLst>
          </p:cNvPr>
          <p:cNvCxnSpPr>
            <a:cxnSpLocks/>
            <a:stCxn id="110" idx="2"/>
          </p:cNvCxnSpPr>
          <p:nvPr/>
        </p:nvCxnSpPr>
        <p:spPr>
          <a:xfrm flipH="1">
            <a:off x="5840513" y="5919956"/>
            <a:ext cx="673454" cy="1525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635011" y="6051732"/>
            <a:ext cx="29516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</a:rPr>
              <a:t>1-2</a:t>
            </a:r>
            <a:r>
              <a:rPr kumimoji="1" lang="zh-CN" altLang="en-US" sz="1400" b="1" dirty="0">
                <a:solidFill>
                  <a:srgbClr val="0052D9"/>
                </a:solidFill>
              </a:rPr>
              <a:t>年内</a:t>
            </a:r>
            <a:r>
              <a:rPr kumimoji="1" lang="en-US" altLang="zh-CN" sz="1400" b="1" dirty="0">
                <a:solidFill>
                  <a:srgbClr val="0052D9"/>
                </a:solidFill>
              </a:rPr>
              <a:t>CPO</a:t>
            </a:r>
            <a:r>
              <a:rPr kumimoji="1" lang="zh-CN" altLang="en-US" sz="1400" b="1" dirty="0">
                <a:solidFill>
                  <a:srgbClr val="0052D9"/>
                </a:solidFill>
              </a:rPr>
              <a:t>密集落地于</a:t>
            </a:r>
            <a:r>
              <a:rPr kumimoji="1" lang="en-US" altLang="zh-CN" sz="1400" b="1" dirty="0">
                <a:solidFill>
                  <a:srgbClr val="0052D9"/>
                </a:solidFill>
              </a:rPr>
              <a:t>Scale Out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449724-CABE-3FCB-80B7-50993FAFC5F6}"/>
              </a:ext>
            </a:extLst>
          </p:cNvPr>
          <p:cNvSpPr/>
          <p:nvPr/>
        </p:nvSpPr>
        <p:spPr>
          <a:xfrm>
            <a:off x="12423164" y="5034560"/>
            <a:ext cx="3682865" cy="149209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博通的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6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代芯片用在谁那里，为什么博通的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6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代限制在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source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量的原文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7B2007-B7FD-C68E-DD7F-3E2CE41FC7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675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7" imgW="404" imgH="405" progId="TCLayout.ActiveDocument.1">
                  <p:embed/>
                </p:oleObj>
              </mc:Choice>
              <mc:Fallback>
                <p:oleObj name="think-cell 幻灯片" r:id="rId27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0E43DE8-D421-056F-F08D-7554821323A7}"/>
              </a:ext>
            </a:extLst>
          </p:cNvPr>
          <p:cNvSpPr/>
          <p:nvPr/>
        </p:nvSpPr>
        <p:spPr>
          <a:xfrm>
            <a:off x="12622306" y="4692670"/>
            <a:ext cx="1887478" cy="15178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+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量级问题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605C4544-84E9-82E5-A95E-0DF727A07A98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Morgan Stanley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SemiAnalysis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71" name="矩形 1070">
            <a:extLst>
              <a:ext uri="{FF2B5EF4-FFF2-40B4-BE49-F238E27FC236}">
                <a16:creationId xmlns:a16="http://schemas.microsoft.com/office/drawing/2014/main" id="{26604190-F062-9B07-4569-90802D45EF43}"/>
              </a:ext>
            </a:extLst>
          </p:cNvPr>
          <p:cNvSpPr/>
          <p:nvPr/>
        </p:nvSpPr>
        <p:spPr>
          <a:xfrm>
            <a:off x="12598125" y="906950"/>
            <a:ext cx="6122397" cy="353591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左右结构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什么情况下替换？替换的急迫度、门槛，先发生在哪里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新的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否则需要重置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性能越高的用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CB530C4-67EE-5F36-A764-580DBAB3BDCD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CPO</a:t>
            </a:r>
            <a:r>
              <a:rPr lang="zh-CN" altLang="en-US" dirty="0"/>
              <a:t>优先替换新建、高性能</a:t>
            </a:r>
            <a:r>
              <a:rPr lang="en-US" altLang="zh-CN" dirty="0"/>
              <a:t>IDC</a:t>
            </a:r>
            <a:r>
              <a:rPr lang="zh-CN" altLang="en-US" dirty="0"/>
              <a:t>端口</a:t>
            </a:r>
            <a:endParaRPr lang="en-US" altLang="zh-CN" dirty="0"/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1119B0E3-6C87-C2F3-B496-E09B199A6ED0}"/>
              </a:ext>
            </a:extLst>
          </p:cNvPr>
          <p:cNvGrpSpPr/>
          <p:nvPr/>
        </p:nvGrpSpPr>
        <p:grpSpPr>
          <a:xfrm>
            <a:off x="6229850" y="906950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2BA9EE65-39D9-DC2A-B670-0553D7AAC8D8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551816-CB9E-FE4B-9923-232237321159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0052D9"/>
                  </a:solidFill>
                </a:rPr>
                <a:t>Base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8700E79-336F-457D-B468-C9D59E46DC82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62DF4FF9-8427-C473-880D-9B4B4268F820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E8B579A-7D5F-B81A-8B7A-A9495A39441C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172 %，2030e 收入约 </a:t>
                </a:r>
                <a:r>
                  <a:rPr kumimoji="1" lang="zh-CN" altLang="zh-CN" sz="1600" b="1" dirty="0">
                    <a:solidFill>
                      <a:srgbClr val="0052D9"/>
                    </a:solidFill>
                  </a:rPr>
                  <a:t>93 </a:t>
                </a:r>
                <a:r>
                  <a:rPr kumimoji="1" lang="zh-CN" altLang="zh-CN" sz="1600" dirty="0">
                    <a:solidFill>
                      <a:schemeClr val="accent6">
                        <a:lumMod val="10000"/>
                      </a:schemeClr>
                    </a:solidFill>
                  </a:rPr>
                  <a:t>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NVIDIA Rubin＋Broadcom TH7 开始全面替换高端可插拔模块，渗透率上升到 ~45 %</a:t>
                </a: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5B16F916-6606-2C5F-F989-1167F32C7BE5}"/>
              </a:ext>
            </a:extLst>
          </p:cNvPr>
          <p:cNvGrpSpPr/>
          <p:nvPr/>
        </p:nvGrpSpPr>
        <p:grpSpPr>
          <a:xfrm>
            <a:off x="6229850" y="2758836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AED32677-2246-9991-6357-BC5CB6589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26C1BE3-5CB0-12C0-DDA9-24E13907921F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A6A6A6"/>
                  </a:solidFill>
                </a:rPr>
                <a:t>Bull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70F10C9-99E6-CE03-F2DF-EC8DBECE0140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553E7BD9-CD76-BBAF-856D-034AB9935C45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6E73D90-BAFB-4FD4-1E91-68E18BB1AEF8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210 %，2030e 收入约 </a:t>
                </a:r>
                <a:r>
                  <a:rPr kumimoji="1" lang="zh-CN" altLang="zh-CN" sz="1600" b="1" dirty="0">
                    <a:solidFill>
                      <a:srgbClr val="A6A6A6"/>
                    </a:solidFill>
                  </a:rPr>
                  <a:t>270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 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假设 CPO 方案在 1.6 T-800 G 所有节点都成为主流，渗透率&gt;60 %，并向 400 G 量级下沉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0B5357ED-5A4E-2ECA-BADF-9C8B2A83B0AA}"/>
              </a:ext>
            </a:extLst>
          </p:cNvPr>
          <p:cNvGrpSpPr/>
          <p:nvPr/>
        </p:nvGrpSpPr>
        <p:grpSpPr>
          <a:xfrm>
            <a:off x="6229850" y="464876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785EF29-3E3B-1056-EDFA-9A957B95F60D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</a:rPr>
                <a:t>Bear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6B887FB-C16F-F745-166B-FBC2FD6C77A8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39FBF59B-ED41-C0EB-9B27-64B470BE56E1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CECCE4C-671F-75C0-ADA8-19D6C9B92977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107 %，2030e 收入约 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</a:rPr>
                  <a:t>10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亿美元</a:t>
                </a:r>
                <a:endParaRPr kumimoji="1" lang="zh-CN" altLang="en-US" sz="1600" dirty="0">
                  <a:solidFill>
                    <a:schemeClr val="accent5"/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dirty="0"/>
                  <a:t>只在极高端 AI 集群试点，渗透率≤15 % （渗透难点）</a:t>
                </a:r>
                <a:endParaRPr lang="zh-CN" altLang="zh-CN" dirty="0"/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2280765D-1A3A-785E-BBE1-EE0D12CB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1027" name="文本框 1026">
            <a:extLst>
              <a:ext uri="{FF2B5EF4-FFF2-40B4-BE49-F238E27FC236}">
                <a16:creationId xmlns:a16="http://schemas.microsoft.com/office/drawing/2014/main" id="{81FC385A-96DE-0202-866B-78188FD97433}"/>
              </a:ext>
            </a:extLst>
          </p:cNvPr>
          <p:cNvSpPr txBox="1"/>
          <p:nvPr/>
        </p:nvSpPr>
        <p:spPr>
          <a:xfrm>
            <a:off x="1628246" y="6080125"/>
            <a:ext cx="789517" cy="2524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低性能</a:t>
            </a:r>
          </a:p>
        </p:txBody>
      </p:sp>
      <p:sp>
        <p:nvSpPr>
          <p:cNvPr id="1029" name="文本框 1028">
            <a:extLst>
              <a:ext uri="{FF2B5EF4-FFF2-40B4-BE49-F238E27FC236}">
                <a16:creationId xmlns:a16="http://schemas.microsoft.com/office/drawing/2014/main" id="{ED959D1F-A75E-9F50-46DB-704B1229DAEC}"/>
              </a:ext>
            </a:extLst>
          </p:cNvPr>
          <p:cNvSpPr txBox="1"/>
          <p:nvPr/>
        </p:nvSpPr>
        <p:spPr>
          <a:xfrm>
            <a:off x="3857665" y="6080125"/>
            <a:ext cx="789517" cy="2524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高性能</a:t>
            </a: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5F760E12-EFA7-4315-1F3C-A558AAF0EA04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10084602"/>
              </p:ext>
            </p:extLst>
          </p:nvPr>
        </p:nvGraphicFramePr>
        <p:xfrm>
          <a:off x="419100" y="4556125"/>
          <a:ext cx="5097463" cy="1509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236" name="Text Placeholder 4">
            <a:extLst>
              <a:ext uri="{FF2B5EF4-FFF2-40B4-BE49-F238E27FC236}">
                <a16:creationId xmlns:a16="http://schemas.microsoft.com/office/drawing/2014/main" id="{2F55FFD5-3371-28E9-B48D-206B77F2CF91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1258888" y="5818188"/>
            <a:ext cx="446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66AAAE8-1A3A-4F33-9609-5AEC40C34C2B}" type="datetime'''''''''''''''''''''4''''''0''''0''''''G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400G</a:t>
            </a:fld>
            <a:endParaRPr lang="zh-CN" altLang="en-US" sz="1400" dirty="0">
              <a:cs typeface="+mn-cs"/>
            </a:endParaRPr>
          </a:p>
        </p:txBody>
      </p:sp>
      <p:sp>
        <p:nvSpPr>
          <p:cNvPr id="238" name="Text Placeholder 4">
            <a:extLst>
              <a:ext uri="{FF2B5EF4-FFF2-40B4-BE49-F238E27FC236}">
                <a16:creationId xmlns:a16="http://schemas.microsoft.com/office/drawing/2014/main" id="{D777AEAC-7177-08D5-549E-46C5064922C7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387600" y="5818188"/>
            <a:ext cx="446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11C6DA63-6EB6-4C28-A0FF-80B09DB517C9}" type="datetime'''''''''''8''''''''''''''0''0''''''''''''''G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800G</a:t>
            </a:fld>
            <a:endParaRPr lang="zh-CN" altLang="en-US" sz="1400" dirty="0">
              <a:cs typeface="+mn-cs"/>
            </a:endParaRPr>
          </a:p>
        </p:txBody>
      </p:sp>
      <p:sp>
        <p:nvSpPr>
          <p:cNvPr id="239" name="Text Placeholder 4">
            <a:extLst>
              <a:ext uri="{FF2B5EF4-FFF2-40B4-BE49-F238E27FC236}">
                <a16:creationId xmlns:a16="http://schemas.microsoft.com/office/drawing/2014/main" id="{FA3A03A8-DC3A-BB56-4FF5-2BB2D5C9D82D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3557588" y="5818188"/>
            <a:ext cx="3667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97C8119-DB76-4A5A-BF20-C132DC9B103E}" type="datetime'''''''''''''''''''''''''''1''''''.6T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1.6T</a:t>
            </a:fld>
            <a:endParaRPr lang="zh-CN" altLang="en-US" sz="1400" dirty="0">
              <a:cs typeface="+mn-cs"/>
            </a:endParaRPr>
          </a:p>
        </p:txBody>
      </p:sp>
      <p:sp>
        <p:nvSpPr>
          <p:cNvPr id="240" name="Text Placeholder 4">
            <a:extLst>
              <a:ext uri="{FF2B5EF4-FFF2-40B4-BE49-F238E27FC236}">
                <a16:creationId xmlns:a16="http://schemas.microsoft.com/office/drawing/2014/main" id="{679612F0-F092-193C-7C27-A7092848FD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686300" y="5818188"/>
            <a:ext cx="3667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0909529-56E5-442F-8337-93B8C5A7D10C}" type="datetime'''''''''''''''''3.''''''''''''2''''T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3.2T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84" name="Text Placeholder 4">
            <a:extLst>
              <a:ext uri="{FF2B5EF4-FFF2-40B4-BE49-F238E27FC236}">
                <a16:creationId xmlns:a16="http://schemas.microsoft.com/office/drawing/2014/main" id="{A305FEF0-D139-9647-3592-D9D75967908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1406525" y="5521325"/>
            <a:ext cx="1492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7A3AE8-2F8A-41F3-8D25-D482D15F8936}" type="datetime'''''''''''''''''''''''''''''''''''''''0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67" name="矩形 1066">
            <a:extLst>
              <a:ext uri="{FF2B5EF4-FFF2-40B4-BE49-F238E27FC236}">
                <a16:creationId xmlns:a16="http://schemas.microsoft.com/office/drawing/2014/main" id="{0FBAC1F0-5EC6-BD90-2DD4-83A90501936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825625" y="4508500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0" name="Text Placeholder 4">
            <a:extLst>
              <a:ext uri="{FF2B5EF4-FFF2-40B4-BE49-F238E27FC236}">
                <a16:creationId xmlns:a16="http://schemas.microsoft.com/office/drawing/2014/main" id="{02B2451A-775A-9872-0189-F5F2B0CE175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127250" y="4503738"/>
            <a:ext cx="21240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4A03CFA-7493-4AA5-BAC2-75BF3C4EF0AD}" type="datetime'''''CPO''渗透''''''''率（%''，''2''''''''''''0''''2''9''E''''）'">
              <a:rPr lang="en-US" altLang="en-US" sz="1400" smtClean="0">
                <a:cs typeface="+mn-cs"/>
              </a:rPr>
              <a:pPr/>
              <a:t>CPO渗透率（%，2029E）</a:t>
            </a:fld>
            <a:endParaRPr lang="zh-CN" altLang="en-US" sz="1400" dirty="0">
              <a:cs typeface="+mn-cs"/>
            </a:endParaRP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007138D0-E65D-096F-D2A3-D906A9C3C210}"/>
              </a:ext>
            </a:extLst>
          </p:cNvPr>
          <p:cNvSpPr txBox="1"/>
          <p:nvPr/>
        </p:nvSpPr>
        <p:spPr>
          <a:xfrm>
            <a:off x="476056" y="81280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新建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优先渗透：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① 避免重置成本；②服务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AI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训练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/HPC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（高速、高能耗）占新建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比重大，强需求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F03F1CBD-BC13-DC64-E19E-E7901E7EF69D}"/>
              </a:ext>
            </a:extLst>
          </p:cNvPr>
          <p:cNvSpPr txBox="1"/>
          <p:nvPr/>
        </p:nvSpPr>
        <p:spPr>
          <a:xfrm>
            <a:off x="517926" y="3897313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高性能优先渗透：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2029E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在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3.2T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光引擎的渗透率可达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51%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，保守估计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400G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下难以渗透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1466" name="Chart 3">
            <a:extLst>
              <a:ext uri="{FF2B5EF4-FFF2-40B4-BE49-F238E27FC236}">
                <a16:creationId xmlns:a16="http://schemas.microsoft.com/office/drawing/2014/main" id="{12F95E79-FCE7-6567-71B9-6C3ADA4CD4EA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245325640"/>
              </p:ext>
            </p:extLst>
          </p:nvPr>
        </p:nvGraphicFramePr>
        <p:xfrm>
          <a:off x="419100" y="1331913"/>
          <a:ext cx="5338763" cy="1979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cxnSp>
        <p:nvCxnSpPr>
          <p:cNvPr id="1385" name="直接连接符 1384">
            <a:extLst>
              <a:ext uri="{FF2B5EF4-FFF2-40B4-BE49-F238E27FC236}">
                <a16:creationId xmlns:a16="http://schemas.microsoft.com/office/drawing/2014/main" id="{BDB0A669-F030-8B3F-E102-CDAE4E06A2A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260475" y="2022475"/>
            <a:ext cx="9525" cy="2857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9" name="Text Placeholder 4">
            <a:extLst>
              <a:ext uri="{FF2B5EF4-FFF2-40B4-BE49-F238E27FC236}">
                <a16:creationId xmlns:a16="http://schemas.microsoft.com/office/drawing/2014/main" id="{09868BCC-B81E-11B1-CD94-903191479A3C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054100" y="18097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EC7BE9A-D415-4A44-AE24-68FFBB99E5AB}" type="datetime'''''''''''''''50''''''''''''''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50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409" name="Text Placeholder 4">
            <a:extLst>
              <a:ext uri="{FF2B5EF4-FFF2-40B4-BE49-F238E27FC236}">
                <a16:creationId xmlns:a16="http://schemas.microsoft.com/office/drawing/2014/main" id="{0C14AB77-1B12-ED28-AF9D-F95F5DF47E67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1195388" y="2819400"/>
            <a:ext cx="149225" cy="212725"/>
          </a:xfrm>
          <a:prstGeom prst="rect">
            <a:avLst/>
          </a:prstGeom>
          <a:solidFill>
            <a:srgbClr val="0052D9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678601-379B-4DDB-8EDB-86F6E0DF5FD6}" type="datetime'''''''''''''4'''''''''''''''''''">
              <a:rPr lang="zh-CN" altLang="en-US" sz="1400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 sz="14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238" name="Text Placeholder 4">
            <a:extLst>
              <a:ext uri="{FF2B5EF4-FFF2-40B4-BE49-F238E27FC236}">
                <a16:creationId xmlns:a16="http://schemas.microsoft.com/office/drawing/2014/main" id="{B995715A-2304-BDF0-8B6F-8D22AFDE9032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066800" y="30908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0111558-26D7-44ED-8EAE-AB0E70291193}" type="datetime'''2''''''''0''''''''''''''2''''''''''''3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34" name="Text Placeholder 4">
            <a:extLst>
              <a:ext uri="{FF2B5EF4-FFF2-40B4-BE49-F238E27FC236}">
                <a16:creationId xmlns:a16="http://schemas.microsoft.com/office/drawing/2014/main" id="{292DFD30-7041-4B51-F1E9-C39D21897DD0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1711325" y="17192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3B24726-043A-4D4B-8F8E-A2143975EBC7}" type="datetime'''''6''''''''''''''''''''''''''6''''''''''''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66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39" name="Text Placeholder 4">
            <a:extLst>
              <a:ext uri="{FF2B5EF4-FFF2-40B4-BE49-F238E27FC236}">
                <a16:creationId xmlns:a16="http://schemas.microsoft.com/office/drawing/2014/main" id="{BA3B5D9C-B861-8D22-0ED2-CF274EBAA19E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716088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C36C636-56B0-4951-91FC-5A4FF6EEAB4D}" type="datetime'2''''0''''''''''2''4''''''''''''''''''''E'''''''">
              <a:rPr lang="en-US" altLang="en-US" sz="1400" smtClean="0">
                <a:cs typeface="+mn-cs"/>
              </a:rPr>
              <a:pPr/>
              <a:t>2024E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39" name="Text Placeholder 4">
            <a:extLst>
              <a:ext uri="{FF2B5EF4-FFF2-40B4-BE49-F238E27FC236}">
                <a16:creationId xmlns:a16="http://schemas.microsoft.com/office/drawing/2014/main" id="{6FCBF2E4-060B-EB4E-87F9-1AA3D5C1EF09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2482850" y="1654175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E3ACB73-1C7F-4DF8-B9E2-17E4055E778A}" type="datetime'''7''''''''''''''''''''''''''''''''9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79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40" name="Text Placeholder 4">
            <a:extLst>
              <a:ext uri="{FF2B5EF4-FFF2-40B4-BE49-F238E27FC236}">
                <a16:creationId xmlns:a16="http://schemas.microsoft.com/office/drawing/2014/main" id="{FC9D6364-BA85-7972-0C89-D88AD2AB536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2424113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A25E42-892F-4C49-8B6A-154CD55C2BF3}" type="datetime'''''''2''''''''''''''0''''''2''''''''''''''5E'''''''''">
              <a:rPr lang="en-US" altLang="en-US" sz="1400" smtClean="0">
                <a:cs typeface="+mn-cs"/>
              </a:rPr>
              <a:pPr/>
              <a:t>2025E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18" name="Text Placeholder 4">
            <a:extLst>
              <a:ext uri="{FF2B5EF4-FFF2-40B4-BE49-F238E27FC236}">
                <a16:creationId xmlns:a16="http://schemas.microsoft.com/office/drawing/2014/main" id="{4D40D1D2-4A72-8A44-5941-739704DF3DF8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3208338" y="14668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AF90DE-ACC4-4F36-BB02-9959B1F4FE66}" type="datetime'8''''1''''''''''''''''''''''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81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48" name="Text Placeholder 4">
            <a:extLst>
              <a:ext uri="{FF2B5EF4-FFF2-40B4-BE49-F238E27FC236}">
                <a16:creationId xmlns:a16="http://schemas.microsoft.com/office/drawing/2014/main" id="{2BB81DE5-6BF1-15C4-CF22-A4F38749D190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3130550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02FA593-929E-4872-8B9E-D946B88E82CB}" type="datetime'''''''''2''0''''''''26''''''E'''''''''''''''''''''''''''''''">
              <a:rPr lang="en-US" altLang="en-US" sz="1400" smtClean="0">
                <a:cs typeface="+mn-cs"/>
              </a:rPr>
              <a:pPr/>
              <a:t>2026E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48" name="Text Placeholder 4">
            <a:extLst>
              <a:ext uri="{FF2B5EF4-FFF2-40B4-BE49-F238E27FC236}">
                <a16:creationId xmlns:a16="http://schemas.microsoft.com/office/drawing/2014/main" id="{71E06ED0-9591-6505-235A-2D46BA417588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3957638" y="14144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B8E89EE-AABC-4733-AE91-BFA3E23C257B}" type="datetime'''''''''''''''''''''8''''''''''''''''''6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86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49" name="Text Placeholder 4">
            <a:extLst>
              <a:ext uri="{FF2B5EF4-FFF2-40B4-BE49-F238E27FC236}">
                <a16:creationId xmlns:a16="http://schemas.microsoft.com/office/drawing/2014/main" id="{6E74F4C2-72C8-B331-1A05-C0486FB2BE01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3838575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7D7190E-51D9-491A-A2EC-A92C0602E767}" type="datetime'''2''0''''''''''''''2''''''''''''''7''''E'''''''''''''''">
              <a:rPr lang="en-US" altLang="en-US" sz="1400" smtClean="0">
                <a:cs typeface="+mn-cs"/>
              </a:rPr>
              <a:pPr/>
              <a:t>2027E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53" name="Text Placeholder 4">
            <a:extLst>
              <a:ext uri="{FF2B5EF4-FFF2-40B4-BE49-F238E27FC236}">
                <a16:creationId xmlns:a16="http://schemas.microsoft.com/office/drawing/2014/main" id="{C469AD32-DB2A-10DF-F6D1-B0EACA6E57ED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4621213" y="13954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A3923C1E-1CC6-4D41-8F04-B6BDFC065FAE}" type="datetime'''''''''''''9''''''''''''''''''''''''''''''''''''0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90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50" name="Text Placeholder 4">
            <a:extLst>
              <a:ext uri="{FF2B5EF4-FFF2-40B4-BE49-F238E27FC236}">
                <a16:creationId xmlns:a16="http://schemas.microsoft.com/office/drawing/2014/main" id="{EA8FD88D-17D7-B9D5-4E44-9A13BBD375C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4546600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F7B34D3-CE6C-4D50-9500-65F76524AB47}" type="datetime'''''''''''''2''''''''''''''''''''''''''0''''''''2''8''''''E'">
              <a:rPr lang="en-US" altLang="en-US" sz="1400" smtClean="0">
                <a:cs typeface="+mn-cs"/>
              </a:rPr>
              <a:pPr/>
              <a:t>2028E</a:t>
            </a:fld>
            <a:endParaRPr lang="zh-CN" altLang="en-US" sz="1400" dirty="0">
              <a:cs typeface="+mn-cs"/>
            </a:endParaRPr>
          </a:p>
        </p:txBody>
      </p:sp>
      <p:grpSp>
        <p:nvGrpSpPr>
          <p:cNvPr id="1430" name="组合 1429">
            <a:extLst>
              <a:ext uri="{FF2B5EF4-FFF2-40B4-BE49-F238E27FC236}">
                <a16:creationId xmlns:a16="http://schemas.microsoft.com/office/drawing/2014/main" id="{1BB4EE94-7B0A-BBDF-270F-6624ED2829D7}"/>
              </a:ext>
            </a:extLst>
          </p:cNvPr>
          <p:cNvGrpSpPr/>
          <p:nvPr/>
        </p:nvGrpSpPr>
        <p:grpSpPr>
          <a:xfrm>
            <a:off x="776183" y="3348038"/>
            <a:ext cx="1035259" cy="252413"/>
            <a:chOff x="7119936" y="8112711"/>
            <a:chExt cx="1035259" cy="252413"/>
          </a:xfrm>
        </p:grpSpPr>
        <p:cxnSp>
          <p:nvCxnSpPr>
            <p:cNvPr id="1425" name="直接连接符 1424">
              <a:extLst>
                <a:ext uri="{FF2B5EF4-FFF2-40B4-BE49-F238E27FC236}">
                  <a16:creationId xmlns:a16="http://schemas.microsoft.com/office/drawing/2014/main" id="{E5C09E32-C4CE-377C-D2E9-07AD9BBD3022}"/>
                </a:ext>
              </a:extLst>
            </p:cNvPr>
            <p:cNvCxnSpPr/>
            <p:nvPr/>
          </p:nvCxnSpPr>
          <p:spPr>
            <a:xfrm>
              <a:off x="7119936" y="8239760"/>
              <a:ext cx="249238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6" name="文本框 1425">
              <a:extLst>
                <a:ext uri="{FF2B5EF4-FFF2-40B4-BE49-F238E27FC236}">
                  <a16:creationId xmlns:a16="http://schemas.microsoft.com/office/drawing/2014/main" id="{25FD7562-D650-7AF7-05DE-063A083C390C}"/>
                </a:ext>
              </a:extLst>
            </p:cNvPr>
            <p:cNvSpPr txBox="1"/>
            <p:nvPr/>
          </p:nvSpPr>
          <p:spPr>
            <a:xfrm>
              <a:off x="7399069" y="8112711"/>
              <a:ext cx="7561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fld id="{84C36E56-4B04-41B5-94C2-7063264D624A}" type="datetime'''''A''''I''数''''''''据中心占''''''比''''''（右''''''轴）'">
                <a:rPr lang="en-US" altLang="en-US" sz="1000"/>
                <a:pPr/>
                <a:t>AI数据中心占比（右轴）</a:t>
              </a:fld>
              <a:endParaRPr lang="zh-CN" altLang="en-US" sz="10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endParaRPr>
            </a:p>
          </p:txBody>
        </p:sp>
      </p:grpSp>
      <p:grpSp>
        <p:nvGrpSpPr>
          <p:cNvPr id="1429" name="组合 1428">
            <a:extLst>
              <a:ext uri="{FF2B5EF4-FFF2-40B4-BE49-F238E27FC236}">
                <a16:creationId xmlns:a16="http://schemas.microsoft.com/office/drawing/2014/main" id="{4C8BBDBF-5D55-2A2A-4D12-57F626432DAF}"/>
              </a:ext>
            </a:extLst>
          </p:cNvPr>
          <p:cNvGrpSpPr/>
          <p:nvPr/>
        </p:nvGrpSpPr>
        <p:grpSpPr>
          <a:xfrm>
            <a:off x="2242002" y="3348038"/>
            <a:ext cx="1372736" cy="252413"/>
            <a:chOff x="7119936" y="8382496"/>
            <a:chExt cx="1372736" cy="252413"/>
          </a:xfrm>
        </p:grpSpPr>
        <p:sp>
          <p:nvSpPr>
            <p:cNvPr id="1427" name="文本框 1426">
              <a:extLst>
                <a:ext uri="{FF2B5EF4-FFF2-40B4-BE49-F238E27FC236}">
                  <a16:creationId xmlns:a16="http://schemas.microsoft.com/office/drawing/2014/main" id="{20E8C214-E8E8-CDFD-6402-E07CAFF77CE2}"/>
                </a:ext>
              </a:extLst>
            </p:cNvPr>
            <p:cNvSpPr txBox="1"/>
            <p:nvPr/>
          </p:nvSpPr>
          <p:spPr>
            <a:xfrm>
              <a:off x="7415146" y="8382496"/>
              <a:ext cx="10775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fld id="{35BA35A4-7BCF-47DF-AAF8-CBE55ED44397}" type="datetime'''''''''传统''''''数''''''据''''''中心''新''增装机（''GW，''左''''''轴）'''''">
                <a:rPr lang="zh-CN" altLang="en-US" sz="1000" smtClean="0"/>
                <a:pPr/>
                <a:t>传统数据中心新增装机（GW，左轴）</a:t>
              </a:fld>
              <a:endParaRPr lang="zh-CN" altLang="en-US" sz="10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1428" name="矩形 1427">
              <a:extLst>
                <a:ext uri="{FF2B5EF4-FFF2-40B4-BE49-F238E27FC236}">
                  <a16:creationId xmlns:a16="http://schemas.microsoft.com/office/drawing/2014/main" id="{1B6CE9B7-65BF-DF07-7C66-0EFB0E4C2CD8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31" name="组合 1430">
            <a:extLst>
              <a:ext uri="{FF2B5EF4-FFF2-40B4-BE49-F238E27FC236}">
                <a16:creationId xmlns:a16="http://schemas.microsoft.com/office/drawing/2014/main" id="{81FEBE0A-465E-14D8-1E99-88B591589587}"/>
              </a:ext>
            </a:extLst>
          </p:cNvPr>
          <p:cNvGrpSpPr/>
          <p:nvPr/>
        </p:nvGrpSpPr>
        <p:grpSpPr>
          <a:xfrm>
            <a:off x="4021910" y="3348038"/>
            <a:ext cx="1412291" cy="252413"/>
            <a:chOff x="7119936" y="8381439"/>
            <a:chExt cx="1412291" cy="252413"/>
          </a:xfrm>
        </p:grpSpPr>
        <p:sp>
          <p:nvSpPr>
            <p:cNvPr id="1432" name="文本框 1431">
              <a:extLst>
                <a:ext uri="{FF2B5EF4-FFF2-40B4-BE49-F238E27FC236}">
                  <a16:creationId xmlns:a16="http://schemas.microsoft.com/office/drawing/2014/main" id="{65ADDC06-4C8D-08FD-4217-ABC7F136C6B6}"/>
                </a:ext>
              </a:extLst>
            </p:cNvPr>
            <p:cNvSpPr txBox="1"/>
            <p:nvPr/>
          </p:nvSpPr>
          <p:spPr>
            <a:xfrm>
              <a:off x="7388184" y="8381439"/>
              <a:ext cx="1144043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fld id="{CFD88005-6A91-46C3-936A-55EEC99DB3EA}" type="datetime'''A''IDC''''''新''''增''数''据''''中心''装机''''（''''GW''，''''''左轴''）'">
                <a:rPr lang="en-US" altLang="en-US" sz="1000"/>
                <a:pPr/>
                <a:t>AIDC新增数据中心装机（GW，左轴）</a:t>
              </a:fld>
              <a:endParaRPr lang="zh-CN" altLang="en-US" sz="10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1433" name="矩形 1432">
              <a:extLst>
                <a:ext uri="{FF2B5EF4-FFF2-40B4-BE49-F238E27FC236}">
                  <a16:creationId xmlns:a16="http://schemas.microsoft.com/office/drawing/2014/main" id="{09AE64F6-445F-5300-E298-63B66F8DF713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Picture 4">
            <a:extLst>
              <a:ext uri="{FF2B5EF4-FFF2-40B4-BE49-F238E27FC236}">
                <a16:creationId xmlns:a16="http://schemas.microsoft.com/office/drawing/2014/main" id="{5ABBE95E-F07E-531D-4FED-DF2EB25C16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" r="7467" b="8282"/>
          <a:stretch/>
        </p:blipFill>
        <p:spPr bwMode="auto">
          <a:xfrm>
            <a:off x="12622306" y="6797358"/>
            <a:ext cx="5960871" cy="414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27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CPO</a:t>
            </a:r>
            <a:r>
              <a:rPr lang="zh-CN" altLang="en-US" dirty="0"/>
              <a:t>关键环节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28BB8F-3D30-315E-31EE-E4BE8BD76B23}"/>
              </a:ext>
            </a:extLst>
          </p:cNvPr>
          <p:cNvSpPr/>
          <p:nvPr/>
        </p:nvSpPr>
        <p:spPr>
          <a:xfrm>
            <a:off x="12694295" y="-167003"/>
            <a:ext cx="3481566" cy="9376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过往投半导体的历史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F7BF53-9954-74E7-70AE-ADCA994A8E19}"/>
              </a:ext>
            </a:extLst>
          </p:cNvPr>
          <p:cNvSpPr/>
          <p:nvPr/>
        </p:nvSpPr>
        <p:spPr>
          <a:xfrm>
            <a:off x="12450455" y="1898203"/>
            <a:ext cx="3481566" cy="9376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转换发生在硅光芯片中？</a:t>
            </a:r>
          </a:p>
        </p:txBody>
      </p:sp>
      <p:pic>
        <p:nvPicPr>
          <p:cNvPr id="2054" name="Picture 6" descr="硅光模块结构示意图">
            <a:extLst>
              <a:ext uri="{FF2B5EF4-FFF2-40B4-BE49-F238E27FC236}">
                <a16:creationId xmlns:a16="http://schemas.microsoft.com/office/drawing/2014/main" id="{ED1DE482-0CD6-13FD-21D3-034742292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76" y="1396101"/>
            <a:ext cx="10195607" cy="497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27B342B-213B-AC11-1E44-2868C61190BA}"/>
              </a:ext>
            </a:extLst>
          </p:cNvPr>
          <p:cNvGrpSpPr/>
          <p:nvPr/>
        </p:nvGrpSpPr>
        <p:grpSpPr>
          <a:xfrm>
            <a:off x="8711601" y="988255"/>
            <a:ext cx="1655146" cy="387904"/>
            <a:chOff x="828975" y="1207858"/>
            <a:chExt cx="1655146" cy="387904"/>
          </a:xfrm>
        </p:grpSpPr>
        <p:sp>
          <p:nvSpPr>
            <p:cNvPr id="9" name="箭头: 五边形 8">
              <a:extLst>
                <a:ext uri="{FF2B5EF4-FFF2-40B4-BE49-F238E27FC236}">
                  <a16:creationId xmlns:a16="http://schemas.microsoft.com/office/drawing/2014/main" id="{D588EBAF-B900-2232-2B3F-8FB3ACC5D8A5}"/>
                </a:ext>
              </a:extLst>
            </p:cNvPr>
            <p:cNvSpPr/>
            <p:nvPr/>
          </p:nvSpPr>
          <p:spPr>
            <a:xfrm rot="10800000">
              <a:off x="828975" y="1207858"/>
              <a:ext cx="1655146" cy="387904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6CB388D-768B-B613-78FA-524C88C31609}"/>
                </a:ext>
              </a:extLst>
            </p:cNvPr>
            <p:cNvSpPr txBox="1"/>
            <p:nvPr/>
          </p:nvSpPr>
          <p:spPr>
            <a:xfrm>
              <a:off x="1118068" y="1211436"/>
              <a:ext cx="107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出入口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145954F-9D50-4843-9232-8D8792C3BCCC}"/>
              </a:ext>
            </a:extLst>
          </p:cNvPr>
          <p:cNvGrpSpPr/>
          <p:nvPr/>
        </p:nvGrpSpPr>
        <p:grpSpPr>
          <a:xfrm>
            <a:off x="6002836" y="988256"/>
            <a:ext cx="2740878" cy="375258"/>
            <a:chOff x="2759121" y="1225745"/>
            <a:chExt cx="2783196" cy="375258"/>
          </a:xfrm>
        </p:grpSpPr>
        <p:sp>
          <p:nvSpPr>
            <p:cNvPr id="10" name="箭头: V 形 9">
              <a:extLst>
                <a:ext uri="{FF2B5EF4-FFF2-40B4-BE49-F238E27FC236}">
                  <a16:creationId xmlns:a16="http://schemas.microsoft.com/office/drawing/2014/main" id="{FDB6D48C-3316-9C25-6DAB-D18717961132}"/>
                </a:ext>
              </a:extLst>
            </p:cNvPr>
            <p:cNvSpPr/>
            <p:nvPr/>
          </p:nvSpPr>
          <p:spPr>
            <a:xfrm rot="10800000">
              <a:off x="2796051" y="1225745"/>
              <a:ext cx="2647705" cy="370017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3707656-10F5-0B70-3745-886DE14BFFB6}"/>
                </a:ext>
              </a:extLst>
            </p:cNvPr>
            <p:cNvSpPr txBox="1"/>
            <p:nvPr/>
          </p:nvSpPr>
          <p:spPr>
            <a:xfrm>
              <a:off x="2759121" y="1231671"/>
              <a:ext cx="27831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行走通道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4E13915-4689-1007-ABF3-4051B9959A10}"/>
              </a:ext>
            </a:extLst>
          </p:cNvPr>
          <p:cNvGrpSpPr/>
          <p:nvPr/>
        </p:nvGrpSpPr>
        <p:grpSpPr>
          <a:xfrm>
            <a:off x="3391705" y="981537"/>
            <a:ext cx="2643815" cy="375258"/>
            <a:chOff x="2759121" y="1225745"/>
            <a:chExt cx="2783196" cy="375258"/>
          </a:xfrm>
        </p:grpSpPr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9B452EC7-B89E-F328-6009-FC6904B5E7B8}"/>
                </a:ext>
              </a:extLst>
            </p:cNvPr>
            <p:cNvSpPr/>
            <p:nvPr/>
          </p:nvSpPr>
          <p:spPr>
            <a:xfrm rot="10800000">
              <a:off x="2796051" y="1225745"/>
              <a:ext cx="2647705" cy="370017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DD4922A-8AB1-BEA8-87A4-4D42FC60E8D4}"/>
                </a:ext>
              </a:extLst>
            </p:cNvPr>
            <p:cNvSpPr txBox="1"/>
            <p:nvPr/>
          </p:nvSpPr>
          <p:spPr>
            <a:xfrm>
              <a:off x="2759121" y="1231671"/>
              <a:ext cx="27831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转换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712C5D2-13DE-5AE9-D5FC-40802D83DE4D}"/>
              </a:ext>
            </a:extLst>
          </p:cNvPr>
          <p:cNvGrpSpPr/>
          <p:nvPr/>
        </p:nvGrpSpPr>
        <p:grpSpPr>
          <a:xfrm>
            <a:off x="1236107" y="983015"/>
            <a:ext cx="2188837" cy="375258"/>
            <a:chOff x="2759121" y="1225745"/>
            <a:chExt cx="2783196" cy="375258"/>
          </a:xfrm>
        </p:grpSpPr>
        <p:sp>
          <p:nvSpPr>
            <p:cNvPr id="30" name="箭头: V 形 29">
              <a:extLst>
                <a:ext uri="{FF2B5EF4-FFF2-40B4-BE49-F238E27FC236}">
                  <a16:creationId xmlns:a16="http://schemas.microsoft.com/office/drawing/2014/main" id="{9E1AF347-040B-0D6C-0719-A5BB37085CE8}"/>
                </a:ext>
              </a:extLst>
            </p:cNvPr>
            <p:cNvSpPr/>
            <p:nvPr/>
          </p:nvSpPr>
          <p:spPr>
            <a:xfrm rot="10800000">
              <a:off x="2796051" y="1225745"/>
              <a:ext cx="2647705" cy="370017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C24A946-AA9A-BE9E-8636-57449F48D869}"/>
                </a:ext>
              </a:extLst>
            </p:cNvPr>
            <p:cNvSpPr txBox="1"/>
            <p:nvPr/>
          </p:nvSpPr>
          <p:spPr>
            <a:xfrm>
              <a:off x="2759121" y="1231671"/>
              <a:ext cx="27831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集成交付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7711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CPO</a:t>
            </a:r>
            <a:r>
              <a:rPr lang="zh-CN" altLang="en-US" dirty="0"/>
              <a:t>各关键环节的公司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071FA8-8560-A5A2-6B73-5E870C69A794}"/>
              </a:ext>
            </a:extLst>
          </p:cNvPr>
          <p:cNvSpPr/>
          <p:nvPr/>
        </p:nvSpPr>
        <p:spPr>
          <a:xfrm>
            <a:off x="12694295" y="-167003"/>
            <a:ext cx="3481566" cy="9376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过往投半导体的历史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CD9E88-C29F-F9EC-8144-14C88F1D7963}"/>
              </a:ext>
            </a:extLst>
          </p:cNvPr>
          <p:cNvSpPr/>
          <p:nvPr/>
        </p:nvSpPr>
        <p:spPr>
          <a:xfrm>
            <a:off x="12694295" y="933003"/>
            <a:ext cx="3481566" cy="9376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科普向的示意图、视频</a:t>
            </a: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828975" y="1207858"/>
            <a:ext cx="1655146" cy="38790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出入口</a:t>
            </a:r>
          </a:p>
        </p:txBody>
      </p:sp>
      <p:sp>
        <p:nvSpPr>
          <p:cNvPr id="10" name="箭头: V 形 9">
            <a:extLst>
              <a:ext uri="{FF2B5EF4-FFF2-40B4-BE49-F238E27FC236}">
                <a16:creationId xmlns:a16="http://schemas.microsoft.com/office/drawing/2014/main" id="{704D4958-B0AB-AA3C-26D9-AE4F714A9C62}"/>
              </a:ext>
            </a:extLst>
          </p:cNvPr>
          <p:cNvSpPr/>
          <p:nvPr/>
        </p:nvSpPr>
        <p:spPr>
          <a:xfrm>
            <a:off x="2796051" y="1225745"/>
            <a:ext cx="2647705" cy="37001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行走通道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5755686" y="1225744"/>
            <a:ext cx="2647705" cy="37001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转换</a:t>
            </a:r>
          </a:p>
        </p:txBody>
      </p:sp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8715321" y="1216801"/>
            <a:ext cx="2647705" cy="37001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集成交付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763224" y="1773717"/>
            <a:ext cx="230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/>
              <a:t>光的产生与接受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824014" y="1773717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/>
              <a:t>光的“导管”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717382" y="1778241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/>
              <a:t>电</a:t>
            </a:r>
            <a:r>
              <a:rPr lang="en-US" altLang="zh-CN" i="1" dirty="0">
                <a:sym typeface="Wingdings" panose="05000000000000000000" pitchFamily="2" charset="2"/>
              </a:rPr>
              <a:t></a:t>
            </a:r>
            <a:r>
              <a:rPr lang="zh-CN" altLang="en-US" i="1" dirty="0">
                <a:sym typeface="Wingdings" panose="05000000000000000000" pitchFamily="2" charset="2"/>
              </a:rPr>
              <a:t>光信号转换</a:t>
            </a:r>
            <a:endParaRPr lang="zh-CN" altLang="en-US" i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11F9CC-F753-EFA8-6015-E313041BD336}"/>
              </a:ext>
            </a:extLst>
          </p:cNvPr>
          <p:cNvSpPr txBox="1"/>
          <p:nvPr/>
        </p:nvSpPr>
        <p:spPr>
          <a:xfrm>
            <a:off x="8605362" y="177290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/>
              <a:t>拼装与集成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F8C7F5-E1FA-F8B4-3AFF-AF4DB968D28C}"/>
              </a:ext>
            </a:extLst>
          </p:cNvPr>
          <p:cNvSpPr txBox="1"/>
          <p:nvPr/>
        </p:nvSpPr>
        <p:spPr>
          <a:xfrm>
            <a:off x="295172" y="3652733"/>
            <a:ext cx="936104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大厂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27FDB3-6C32-9552-2CB8-9F66D8956BB0}"/>
              </a:ext>
            </a:extLst>
          </p:cNvPr>
          <p:cNvSpPr txBox="1"/>
          <p:nvPr/>
        </p:nvSpPr>
        <p:spPr>
          <a:xfrm>
            <a:off x="295172" y="4892050"/>
            <a:ext cx="936104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核心初创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BE8A2F9-6A41-EFC9-6A32-2A586A0D8C4C}"/>
              </a:ext>
            </a:extLst>
          </p:cNvPr>
          <p:cNvGrpSpPr/>
          <p:nvPr/>
        </p:nvGrpSpPr>
        <p:grpSpPr>
          <a:xfrm>
            <a:off x="995506" y="2241568"/>
            <a:ext cx="1141776" cy="916619"/>
            <a:chOff x="331424" y="2282556"/>
            <a:chExt cx="1141776" cy="91661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34F6EE5-3C5F-CB90-31B5-E7EAE274DB4C}"/>
                </a:ext>
              </a:extLst>
            </p:cNvPr>
            <p:cNvSpPr txBox="1"/>
            <p:nvPr/>
          </p:nvSpPr>
          <p:spPr>
            <a:xfrm>
              <a:off x="331424" y="2891398"/>
              <a:ext cx="1141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/>
                <a:t>外置激光器</a:t>
              </a: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063E6CD-A762-B27C-BDC3-5AD185D0DD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60" y="2282556"/>
              <a:ext cx="936105" cy="657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A09CA3B-900C-D3D8-4EE8-C50040D79793}"/>
              </a:ext>
            </a:extLst>
          </p:cNvPr>
          <p:cNvSpPr txBox="1"/>
          <p:nvPr/>
        </p:nvSpPr>
        <p:spPr>
          <a:xfrm>
            <a:off x="2308138" y="2293527"/>
            <a:ext cx="781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光纤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2EC28C-4DEF-A840-A33B-B608E4A221E9}"/>
              </a:ext>
            </a:extLst>
          </p:cNvPr>
          <p:cNvSpPr txBox="1"/>
          <p:nvPr/>
        </p:nvSpPr>
        <p:spPr>
          <a:xfrm>
            <a:off x="3362879" y="2835206"/>
            <a:ext cx="114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硅光芯片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A2A7036-7763-DE9F-28E2-76D310EBEF8D}"/>
              </a:ext>
            </a:extLst>
          </p:cNvPr>
          <p:cNvCxnSpPr>
            <a:cxnSpLocks/>
            <a:stCxn id="2050" idx="3"/>
          </p:cNvCxnSpPr>
          <p:nvPr/>
        </p:nvCxnSpPr>
        <p:spPr>
          <a:xfrm flipV="1">
            <a:off x="2034447" y="2555323"/>
            <a:ext cx="1431268" cy="15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18082D1E-4314-9FA9-2794-1F08741FFD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4837" y="2287919"/>
            <a:ext cx="777859" cy="43872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2FBB7D99-A1DB-A738-678B-AB64E3E6FAD5}"/>
              </a:ext>
            </a:extLst>
          </p:cNvPr>
          <p:cNvSpPr txBox="1"/>
          <p:nvPr/>
        </p:nvSpPr>
        <p:spPr>
          <a:xfrm>
            <a:off x="5730252" y="2764888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EIC</a:t>
            </a:r>
            <a:r>
              <a:rPr lang="zh-CN" altLang="en-US" sz="1400" dirty="0"/>
              <a:t>（电光芯片）</a:t>
            </a:r>
          </a:p>
        </p:txBody>
      </p:sp>
      <p:pic>
        <p:nvPicPr>
          <p:cNvPr id="2056" name="Picture 8" descr="什么是交换机的光口与电口？光纤常用8种接口与5种连接器_山东科普">
            <a:extLst>
              <a:ext uri="{FF2B5EF4-FFF2-40B4-BE49-F238E27FC236}">
                <a16:creationId xmlns:a16="http://schemas.microsoft.com/office/drawing/2014/main" id="{482D47ED-F7B2-3B41-BA41-8ED0BEEFA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78"/>
          <a:stretch/>
        </p:blipFill>
        <p:spPr bwMode="auto">
          <a:xfrm>
            <a:off x="2361971" y="2626105"/>
            <a:ext cx="673384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718A-85F5-E6F1-AB46-AC251B7ED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D7C19B9-B5AA-8BC3-A9D0-F5BF48854D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2623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F208904E-34A6-579B-0CA2-2A246A83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CPO</a:t>
            </a:r>
            <a:r>
              <a:rPr lang="zh-CN" altLang="en-US" dirty="0"/>
              <a:t>公司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C93EE504-A62E-1604-E51F-2F70D39C71D5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OSAT</a:t>
            </a: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12C54BC0-F286-044D-B83B-9AD4AA3F188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988D5EAE-20C8-105B-FE00-8CD1D48CBBFE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2BDCF93E-1437-EA80-8429-F60B46B1CE6D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C403DBB4-EE21-1411-2EAD-1B428BAEB396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1015BC49-2FED-1D34-0E04-D2F0BE1B76AA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8F86ACD6-7BA1-3FDD-D992-7B3D6B2DF0E7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25E9A01B-A278-5EFE-BB0E-C1CEFBECC1ED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E4112D93-40BA-6C5C-542B-5DEC134DFC4A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2EC4AD35-938C-6A41-9AAC-DD99033AAA5D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C5BD8C7-6628-CFEA-11E2-E2176433B692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81CF5216-D299-CCDE-B480-3176C6CC0E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70D7A6A7-A225-2E6C-D3B7-4F8D0D173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C6CCFDD4-E61C-2FE5-D8F4-901F758B8C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B36E4578-ADA1-DDFC-CFCF-5BD6B996B6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893235C7-642E-6050-9677-08EB1D809C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AC988C0B-2A5F-5D2A-4E68-0F477B5397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214C02FF-8914-E7A9-8B4B-E3140B212D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4A77DC92-ECAD-4C09-18FB-441847B76E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3BF17EA6-732A-A554-D91F-DA1F11014F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672B12FB-0CF8-2F72-0EBE-A68BD34027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D042F2CD-B835-6105-1873-A89295CE26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C5213C28-734E-5F11-2787-CD23DE50B1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1EF643B0-E441-AF8C-0EEC-26E3F00C704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72F3BAF-12F4-5C1A-492A-96420A0243D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E0BB6DDA-FF75-4C07-6DDB-1F9610502A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0DA08083-6EDA-F79C-A3FE-A0E0AEF2E6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23A14487-EEF2-93F1-23B9-6EF574D518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CC7F741F-F332-5642-C9B9-B5C6428D21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B72DFC74-2CCF-B354-80EE-A571238E579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E455F8BD-0B1F-C4D4-EDE6-4EFA5FB9614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B6FF488C-E020-9B78-0D12-3F4BEC4D451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8A01C8B-85C6-0240-7936-4C71E16A01E6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A6435A18-A99E-A643-3465-8FACE02274AD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2BB9847C-3723-6906-2CEB-16331C3E035C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31F4744D-9CF2-A874-CC05-442421665E17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FDF7B670-2318-36EB-FB95-1817483F8B41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D52D7585-D44E-6E51-6756-EF36FA1C83B0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51442E8A-31C1-BD8B-C113-E9EA6B446E35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285D2AD2-3CAC-91E5-A294-119F9C2B4DD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8ED188AC-F5C4-18CD-278A-E17991989D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圆角矩形">
            <a:extLst>
              <a:ext uri="{FF2B5EF4-FFF2-40B4-BE49-F238E27FC236}">
                <a16:creationId xmlns:a16="http://schemas.microsoft.com/office/drawing/2014/main" id="{AD3E042B-D215-2BB3-4836-BD7E56749D08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9AE29544-3803-05A5-0CA6-AA9B3F7C34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5E2AD635-5E1E-259E-EC71-C059094B96E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CA4094BC-4047-040A-1F10-BD6B1D36539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FC4E4251-A71D-1BA0-51F2-7AFAE2352D08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A1019CA5-1070-5B7B-C7B2-F4B4232C8A12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08900C7E-AEAE-3508-017B-CC98339617D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A47BDD4B-3D2E-0306-2679-E1AFDCDED80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8F52966-FC16-7FBB-5B97-F38F0D75CF50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C77363BA-483E-56F9-22A1-87CA46E9B189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AFAE10A6-1D0D-EC55-A962-864F6E1697F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265293F3-9540-57CB-A003-28774BBE97D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553E9291-4C23-A56D-D8CE-33C3C90419DF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F9C45848-DC3C-618F-383D-B472BD8FBE86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82F449FC-AAED-F75C-743C-B25D52004EDD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CC79EFB1-A60D-61BB-0B24-30B255460DF4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23BC410A-B124-216B-8B12-12F46F34E80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CC77579-32F5-A9F3-6249-EADCDC4B1A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B6FD8E4F-E497-DFDC-5DD1-0A206DD4A9A9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018ECA63-B1B4-8862-47E5-E4889ED9759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147A1966-3A06-1ED8-0CBC-2104103CEAB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D522B703-A34C-9DC7-890E-0819BE5C86D6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E592C9B6-C85D-9678-15A2-73D298A38379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6D143916-813B-453B-7A93-B4EDFC04C95C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2CEC9565-75E8-7590-B2C6-2DE428C72D32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B1C6E651-C2A6-517C-8F35-1176957DEA07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9E9CDBD4-2F38-2BF3-6B06-5A227D69667D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7AE47E94-3C5F-F220-66DE-7D3EE86972ED}"/>
              </a:ext>
            </a:extLst>
          </p:cNvPr>
          <p:cNvPicPr>
            <a:picLocks noChangeAspect="1"/>
          </p:cNvPicPr>
          <p:nvPr/>
        </p:nvPicPr>
        <p:blipFill>
          <a:blip r:embed="rId48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86631B24-A822-22D6-94A4-4B9A648AC4F5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1B9250B1-4331-EE6E-9B97-6CF8B27CE268}"/>
              </a:ext>
            </a:extLst>
          </p:cNvPr>
          <p:cNvPicPr>
            <a:picLocks noChangeAspect="1"/>
          </p:cNvPicPr>
          <p:nvPr/>
        </p:nvPicPr>
        <p:blipFill>
          <a:blip r:embed="rId50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0570C210-2853-F215-D896-B023D79EF040}"/>
              </a:ext>
            </a:extLst>
          </p:cNvPr>
          <p:cNvPicPr>
            <a:picLocks/>
          </p:cNvPicPr>
          <p:nvPr/>
        </p:nvPicPr>
        <p:blipFill>
          <a:blip r:embed="rId51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3285433B-70F6-B137-8A6D-1341D7D04274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386CF0A2-D896-40AC-CC98-1431130484AA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2A12256-21F1-2F2E-3053-35169B3962EB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6093A4EB-35DD-79FB-E947-3AE2127DB75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DB668336-B70E-7335-BB42-D5986FF4A7AA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7660754" y="7299294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5BFB6F36-79EF-98C4-9F28-D5B0E6D8F59E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5217622" y="7305022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04F5221C-B33B-1CA8-62BA-AE9C79F599D2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52BE2D51-11A4-4350-5EBB-65765D3080A8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1ACCF7B5-6978-5CD8-A396-DDD991A1BF5C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6650A702-4E83-2D14-2CF2-12131FC088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7D7CBCB2-56A9-4E72-6513-7F69616790B1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7EF4DAD3-22AB-22E6-2284-C682F8053C31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67CDBB58-F19E-B11B-A712-0D224C3CA81B}"/>
              </a:ext>
            </a:extLst>
          </p:cNvPr>
          <p:cNvPicPr>
            <a:picLocks noChangeAspect="1"/>
          </p:cNvPicPr>
          <p:nvPr/>
        </p:nvPicPr>
        <p:blipFill>
          <a:blip r:embed="rId61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845A33AB-E637-AB34-B95C-D80D24B715A4}"/>
              </a:ext>
            </a:extLst>
          </p:cNvPr>
          <p:cNvPicPr>
            <a:picLocks noChangeAspect="1"/>
          </p:cNvPicPr>
          <p:nvPr/>
        </p:nvPicPr>
        <p:blipFill>
          <a:blip r:embed="rId61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4043BFF7-BC6C-DD47-AE95-783E14622018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19C4597C-DC76-9073-CEB7-8152AE698A85}"/>
              </a:ext>
            </a:extLst>
          </p:cNvPr>
          <p:cNvPicPr>
            <a:picLocks noChangeAspect="1"/>
          </p:cNvPicPr>
          <p:nvPr/>
        </p:nvPicPr>
        <p:blipFill>
          <a:blip r:embed="rId61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51DAFCD5-9007-B20C-07EA-3311BE19AE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矩形 107">
            <a:extLst>
              <a:ext uri="{FF2B5EF4-FFF2-40B4-BE49-F238E27FC236}">
                <a16:creationId xmlns:a16="http://schemas.microsoft.com/office/drawing/2014/main" id="{4EE5DDDF-B22B-D48B-F9EA-C624A84434A9}"/>
              </a:ext>
            </a:extLst>
          </p:cNvPr>
          <p:cNvSpPr/>
          <p:nvPr/>
        </p:nvSpPr>
        <p:spPr>
          <a:xfrm>
            <a:off x="-30667" y="6945235"/>
            <a:ext cx="2081026" cy="719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为什么看那四家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9A594711-8D4D-53A8-D313-D6CB75228429}"/>
              </a:ext>
            </a:extLst>
          </p:cNvPr>
          <p:cNvSpPr/>
          <p:nvPr/>
        </p:nvSpPr>
        <p:spPr>
          <a:xfrm>
            <a:off x="753195" y="915116"/>
            <a:ext cx="2143891" cy="31749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入口</a:t>
            </a:r>
          </a:p>
        </p:txBody>
      </p:sp>
      <p:sp>
        <p:nvSpPr>
          <p:cNvPr id="109" name="副标题 2">
            <a:extLst>
              <a:ext uri="{FF2B5EF4-FFF2-40B4-BE49-F238E27FC236}">
                <a16:creationId xmlns:a16="http://schemas.microsoft.com/office/drawing/2014/main" id="{ED0604CB-AA43-97D3-7661-7FFC1EC3C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244894" y="-573550"/>
            <a:ext cx="9677146" cy="553998"/>
          </a:xfrm>
        </p:spPr>
        <p:txBody>
          <a:bodyPr/>
          <a:lstStyle/>
          <a:p>
            <a:r>
              <a:rPr lang="zh-CN" altLang="en-US" dirty="0"/>
              <a:t>接收链路：光纤→波导→电光芯片（探测器，光信号→电信号）→ </a:t>
            </a:r>
            <a:r>
              <a:rPr lang="en-US" altLang="zh-CN" dirty="0"/>
              <a:t>SerDes</a:t>
            </a:r>
            <a:r>
              <a:rPr lang="zh-CN" altLang="en-US" dirty="0"/>
              <a:t>（高速串行→并行电信号）→ 交换机芯片</a:t>
            </a:r>
          </a:p>
        </p:txBody>
      </p:sp>
    </p:spTree>
    <p:extLst>
      <p:ext uri="{BB962C8B-B14F-4D97-AF65-F5344CB8AC3E}">
        <p14:creationId xmlns:p14="http://schemas.microsoft.com/office/powerpoint/2010/main" val="3289518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54DA5-9714-8E13-FB89-74134EB4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互连技术范式变革带来新的市场机会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D9A0C4-5A04-2B6C-20E9-2AF202CE7DA5}"/>
              </a:ext>
            </a:extLst>
          </p:cNvPr>
          <p:cNvSpPr/>
          <p:nvPr/>
        </p:nvSpPr>
        <p:spPr>
          <a:xfrm>
            <a:off x="9302178" y="916604"/>
            <a:ext cx="5044017" cy="12860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有什么行业机会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CR3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：公司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logo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、时间。只放加粗的部分，加粗需要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9490F9-F2E3-50D9-1D6F-9774C6317FF6}"/>
              </a:ext>
            </a:extLst>
          </p:cNvPr>
          <p:cNvSpPr/>
          <p:nvPr/>
        </p:nvSpPr>
        <p:spPr>
          <a:xfrm>
            <a:off x="7085276" y="6214985"/>
            <a:ext cx="8290893" cy="12860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判断标准：稀缺性、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margin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、国产替代</a:t>
            </a:r>
          </a:p>
        </p:txBody>
      </p:sp>
      <p:sp>
        <p:nvSpPr>
          <p:cNvPr id="8" name="副标题 7">
            <a:extLst>
              <a:ext uri="{FF2B5EF4-FFF2-40B4-BE49-F238E27FC236}">
                <a16:creationId xmlns:a16="http://schemas.microsoft.com/office/drawing/2014/main" id="{3673C6A7-F565-CF94-4172-BEBCB195F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053F648-E863-2A1E-C396-50877B8B2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32" y="1516380"/>
            <a:ext cx="4019349" cy="487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73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B4214-F4FE-6D40-EA5E-397660DE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公司（需要</a:t>
            </a:r>
            <a:r>
              <a:rPr lang="en-US" altLang="zh-CN" dirty="0"/>
              <a:t>insights</a:t>
            </a:r>
            <a:r>
              <a:rPr lang="zh-CN" altLang="en-US" dirty="0"/>
              <a:t>，</a:t>
            </a:r>
            <a:r>
              <a:rPr lang="en-US" altLang="zh-CN" dirty="0"/>
              <a:t>1firm1p</a:t>
            </a:r>
            <a:r>
              <a:rPr lang="zh-CN" altLang="en-US" dirty="0"/>
              <a:t>，</a:t>
            </a:r>
            <a:r>
              <a:rPr lang="en-US" altLang="zh-CN" dirty="0"/>
              <a:t>facts</a:t>
            </a:r>
            <a:r>
              <a:rPr lang="zh-CN" altLang="en-US" dirty="0"/>
              <a:t>之上的</a:t>
            </a:r>
            <a:r>
              <a:rPr lang="en-US" altLang="zh-CN" dirty="0"/>
              <a:t>tag</a:t>
            </a:r>
            <a:r>
              <a:rPr lang="zh-CN" altLang="en-US" dirty="0"/>
              <a:t>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C9CDFC-0863-9EB2-D9A9-797E2EC604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550901-CDF2-7B35-C1B9-8287EB4B96C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004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B0813-57A7-A4F4-C89D-D1E864334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903086-E4AD-5F1F-937F-448B5C1CE2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56FDD3-22A3-3C86-55FB-821A02F2704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827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06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附录：产业和公司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eIC</a:t>
            </a:r>
            <a:endParaRPr dirty="0"/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SiPho</a:t>
            </a:r>
            <a:endParaRPr dirty="0"/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矩形 107">
            <a:extLst>
              <a:ext uri="{FF2B5EF4-FFF2-40B4-BE49-F238E27FC236}">
                <a16:creationId xmlns:a16="http://schemas.microsoft.com/office/drawing/2014/main" id="{144F7BF4-72B1-7488-8630-4693F68E0990}"/>
              </a:ext>
            </a:extLst>
          </p:cNvPr>
          <p:cNvSpPr/>
          <p:nvPr/>
        </p:nvSpPr>
        <p:spPr>
          <a:xfrm>
            <a:off x="-1346596" y="925832"/>
            <a:ext cx="2081026" cy="719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为什么看那四家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6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5.21703100000000041803E+00&quot;&gt;&lt;m_msothmcolidx val=&quot;0&quot;/&gt;&lt;m_rgb r=&quot;00&quot; g=&quot;52&quot; b=&quot;D9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kHEpRoUJsp2eyoC_sRU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mWsU_sZPYkTvpq9aYgjR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HaV60AWnvqsc1t2cKGu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BVAhs1fVg96HMPgNoAV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oHzTCQzKil0LE75AQeq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.SfOyCv0nw70zyzp69I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IS7ErzpOJx83fChD5.M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ApzTnzbitt_I1YR0pnF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6A1UQrzHH.PmpzJVign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9gYV3NyQAFFL1WnKDeh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GWm.nY4ncrB984rdVkd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7HOMZfAB0m7c8Lzbf4M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.lpz7wGOfVDUpH6PaeoH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o0NCDDzIr7.2K.K.lbR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0Uk0Jx7bOol5dO_ROiM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6n1zHWkcG.xjQ6I2SxE5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.gaL8FTlA..x0Lz.tOA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GVbb2mgmpRf_xckY6DM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R4YEu0AuZpy2DgFXyQk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kRKf8es5YSVJOb3Cl2D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TG6lSRozLVXh6trehBY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TrArHPvQdchSyBZMraHi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HACXvsc9hcjFzwksJr3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M6p17.ynE.V5V9eWI8R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3C4LU176qkiIo0QBYXlo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4UFNdrh1axuGKDkBSA_A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6PMrgTtkCFtKmM4OiHu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rbYEdCIl0Dz9uG8IgnZy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dRKIS1_.1H82WoUPx2pj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B3mD69K2.MHNzBz8JT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PMduL.Bd7noSBhr2Mig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PV_oY2iSRbx8JRSXekw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En2Rvp8_GRAWACajpAVa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cwz6nMZAIOlGG2PHWrJ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jIhkeQbhxZfq30fWuDv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aCU4T59kMxZ2jTvVYKP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OcV3Ke35F02orusI5v3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rM50gw9rqN6LWO5eZq6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xS8klVA1eT2LvhEpDKv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.vzi2AtWk_FW6ht.5JN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4xvyLzKvgRGYyue3AY7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ls.fVYp0lbl5h19T8GZh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1RhRLkuDinrr7hxyp2GP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IWpTt3mBgoILUsjLUMj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mlCuXU80l0atI4E15f.y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7JVkPLPEEpMbNqLjaKtt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Z1ObTxS76Ex.j7RvwL3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rREK.f3W3iR6GWfol18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LVe4TObdowQxuf2sSzu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bwV0cc7LFHkrov7y0ynN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Oo0ABusujgXH4fOpuJQ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pIe0jhPfgrp25bgG2z8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Custom 29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6995</TotalTime>
  <Words>1995</Words>
  <Application>Microsoft Office PowerPoint</Application>
  <PresentationFormat>宽屏</PresentationFormat>
  <Paragraphs>362</Paragraphs>
  <Slides>15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光进铜退，光互连打破算力释放瓶颈并大幅降低Opex</vt:lpstr>
      <vt:lpstr>光模块技术路径选择：巨头布局CPO，初创布局OIO（加上FPP）</vt:lpstr>
      <vt:lpstr>PowerPoint 演示文稿</vt:lpstr>
      <vt:lpstr>Scale Up 与 Scale Out</vt:lpstr>
      <vt:lpstr>巨头并行布局，CPO落地1-2年内看Scale Out</vt:lpstr>
      <vt:lpstr>PowerPoint 演示文稿</vt:lpstr>
      <vt:lpstr>CPO关键环节</vt:lpstr>
      <vt:lpstr>CPO各关键环节的公司Map</vt:lpstr>
      <vt:lpstr>CPO公司Map</vt:lpstr>
      <vt:lpstr>互连技术范式变革带来新的市场机会</vt:lpstr>
      <vt:lpstr>公司（需要insights，1firm1p，facts之上的tag）</vt:lpstr>
      <vt:lpstr>PowerPoint 演示文稿</vt:lpstr>
      <vt:lpstr>附录：产业和公司Map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856</cp:revision>
  <dcterms:created xsi:type="dcterms:W3CDTF">2025-06-16T21:28:33Z</dcterms:created>
  <dcterms:modified xsi:type="dcterms:W3CDTF">2025-08-19T11:34:15Z</dcterms:modified>
</cp:coreProperties>
</file>