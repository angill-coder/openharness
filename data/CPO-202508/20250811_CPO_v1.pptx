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313" r:id="rId3"/>
    <p:sldId id="314" r:id="rId4"/>
    <p:sldId id="317" r:id="rId5"/>
    <p:sldId id="315" r:id="rId6"/>
    <p:sldId id="318" r:id="rId7"/>
    <p:sldId id="316" r:id="rId8"/>
    <p:sldId id="28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13"/>
            <p14:sldId id="314"/>
            <p14:sldId id="317"/>
            <p14:sldId id="315"/>
            <p14:sldId id="318"/>
            <p14:sldId id="316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CDDE0"/>
    <a:srgbClr val="7B9EFF"/>
    <a:srgbClr val="A6A6A6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93" autoAdjust="0"/>
    <p:restoredTop sz="86779" autoAdjust="0"/>
  </p:normalViewPr>
  <p:slideViewPr>
    <p:cSldViewPr snapToGrid="0">
      <p:cViewPr varScale="1">
        <p:scale>
          <a:sx n="65" d="100"/>
          <a:sy n="65" d="100"/>
        </p:scale>
        <p:origin x="50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）以自身背景出发，也经历了从纯技术背景出身，过渡到偏商业分析的场景，也经历了不爱画</a:t>
            </a:r>
            <a:r>
              <a:rPr lang="en-US" altLang="zh-CN" dirty="0"/>
              <a:t>PPT </a:t>
            </a:r>
            <a:r>
              <a:rPr lang="zh-CN" altLang="en-US" dirty="0"/>
              <a:t>到 不讨厌画</a:t>
            </a:r>
            <a:r>
              <a:rPr lang="en-US" altLang="zh-CN" dirty="0"/>
              <a:t>PPT</a:t>
            </a:r>
            <a:r>
              <a:rPr lang="zh-CN" altLang="en-US" dirty="0"/>
              <a:t>的过程；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）讲好一个故事 </a:t>
            </a:r>
            <a:r>
              <a:rPr lang="en-US" altLang="zh-CN" dirty="0"/>
              <a:t>&amp; </a:t>
            </a:r>
            <a:r>
              <a:rPr lang="zh-CN" altLang="en-US" dirty="0"/>
              <a:t>以</a:t>
            </a:r>
            <a:r>
              <a:rPr lang="en-US" altLang="zh-CN" dirty="0"/>
              <a:t>PPT</a:t>
            </a:r>
            <a:r>
              <a:rPr lang="zh-CN" altLang="en-US" dirty="0"/>
              <a:t>的形式来呈现，是工作当中非常重要的技能；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7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9.png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32252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/>
              <a:t>2025/</a:t>
            </a:r>
            <a:r>
              <a:rPr lang="en-US" altLang="zh-CN" dirty="0"/>
              <a:t>xx</a:t>
            </a:r>
            <a:r>
              <a:rPr lang="en-US" dirty="0"/>
              <a:t>/xx</a:t>
            </a:r>
            <a:endParaRPr lang="zh-CN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/>
              <a:t>CPO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97B2007-B7FD-C68E-DD7F-3E2CE41FC7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8554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4352C63-C6C6-E9AD-715C-EED90D112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大模型背景下，算力 </a:t>
            </a:r>
            <a:r>
              <a:rPr lang="en-US" altLang="zh-CN" dirty="0"/>
              <a:t>vs </a:t>
            </a:r>
            <a:r>
              <a:rPr lang="zh-CN" altLang="en-US" dirty="0"/>
              <a:t>通信 </a:t>
            </a:r>
            <a:r>
              <a:rPr lang="en-US" altLang="zh-CN" dirty="0"/>
              <a:t>+ </a:t>
            </a:r>
            <a:r>
              <a:rPr lang="zh-CN" altLang="en-US" dirty="0"/>
              <a:t>功耗占比变化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F962C4-5AA7-A209-1B41-12D341CCC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B5FA61-96A5-C8B1-87F1-5C421C12284A}"/>
              </a:ext>
            </a:extLst>
          </p:cNvPr>
          <p:cNvSpPr/>
          <p:nvPr/>
        </p:nvSpPr>
        <p:spPr>
          <a:xfrm>
            <a:off x="1237130" y="1877697"/>
            <a:ext cx="4112355" cy="265518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铜到光的变化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 by 2 matrix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： 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横轴：时间轴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纵轴：算力 、 卡间互联速度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32B0F3-F4EA-0EE9-086E-2EADA5F0A3B1}"/>
              </a:ext>
            </a:extLst>
          </p:cNvPr>
          <p:cNvSpPr/>
          <p:nvPr/>
        </p:nvSpPr>
        <p:spPr>
          <a:xfrm>
            <a:off x="1057022" y="5070853"/>
            <a:ext cx="4664091" cy="58445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Call out box for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单通道速度 用铜的话，快达到极限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997603-9734-77F1-7ECC-6D6A72BC31F7}"/>
              </a:ext>
            </a:extLst>
          </p:cNvPr>
          <p:cNvSpPr/>
          <p:nvPr/>
        </p:nvSpPr>
        <p:spPr>
          <a:xfrm>
            <a:off x="6417897" y="1931485"/>
            <a:ext cx="4112355" cy="265518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可插拔光模块到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的变化：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部件成本节省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+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Opex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功耗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336251-C68A-38D5-3E78-ECE12BC922D2}"/>
              </a:ext>
            </a:extLst>
          </p:cNvPr>
          <p:cNvSpPr/>
          <p:nvPr/>
        </p:nvSpPr>
        <p:spPr>
          <a:xfrm>
            <a:off x="10253994" y="627287"/>
            <a:ext cx="1887478" cy="60984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latency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E43DE8-D421-056F-F08D-7554821323A7}"/>
              </a:ext>
            </a:extLst>
          </p:cNvPr>
          <p:cNvSpPr/>
          <p:nvPr/>
        </p:nvSpPr>
        <p:spPr>
          <a:xfrm>
            <a:off x="10435733" y="5626242"/>
            <a:ext cx="1887478" cy="15178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+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量级问题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考虑分成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页</a:t>
            </a:r>
          </a:p>
        </p:txBody>
      </p:sp>
      <p:pic>
        <p:nvPicPr>
          <p:cNvPr id="13" name="图片 12" descr="折线图&#10;&#10;AI 生成的内容可能不正确。">
            <a:extLst>
              <a:ext uri="{FF2B5EF4-FFF2-40B4-BE49-F238E27FC236}">
                <a16:creationId xmlns:a16="http://schemas.microsoft.com/office/drawing/2014/main" id="{F390AADA-5859-6942-2D5C-285E0E2306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252" y="1425423"/>
            <a:ext cx="3850193" cy="386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76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7616-CD83-2E38-6A19-512CC15BA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BC957F2-C96F-B8BD-0407-49505FC2A9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761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B5C8006-DEFF-FA32-B8C8-ED621CAB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放到数据中心的维度来看，光模块在干什么？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E96A6D-7678-B2DC-4BF6-6DF3FB7DC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F44D32-BBA8-15FA-4E02-77F66C494E2B}"/>
              </a:ext>
            </a:extLst>
          </p:cNvPr>
          <p:cNvSpPr/>
          <p:nvPr/>
        </p:nvSpPr>
        <p:spPr>
          <a:xfrm>
            <a:off x="10763353" y="594214"/>
            <a:ext cx="4112355" cy="112457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 vs scale out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CFD4CB-4879-EB72-2E5C-3DF4EFA0DFB8}"/>
              </a:ext>
            </a:extLst>
          </p:cNvPr>
          <p:cNvSpPr/>
          <p:nvPr/>
        </p:nvSpPr>
        <p:spPr>
          <a:xfrm>
            <a:off x="480022" y="3144167"/>
            <a:ext cx="1495473" cy="320773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机柜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424D52-FF74-D741-587E-C0B2DF8F38C5}"/>
              </a:ext>
            </a:extLst>
          </p:cNvPr>
          <p:cNvSpPr/>
          <p:nvPr/>
        </p:nvSpPr>
        <p:spPr>
          <a:xfrm>
            <a:off x="2846705" y="3144167"/>
            <a:ext cx="1495473" cy="320773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机柜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C6B60C-D897-3B72-99CD-E6DEFDDC7C1D}"/>
              </a:ext>
            </a:extLst>
          </p:cNvPr>
          <p:cNvSpPr/>
          <p:nvPr/>
        </p:nvSpPr>
        <p:spPr>
          <a:xfrm>
            <a:off x="5443209" y="3085489"/>
            <a:ext cx="1495473" cy="320773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机柜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A7364A-6CD3-0433-A798-349186F752C0}"/>
              </a:ext>
            </a:extLst>
          </p:cNvPr>
          <p:cNvSpPr/>
          <p:nvPr/>
        </p:nvSpPr>
        <p:spPr>
          <a:xfrm>
            <a:off x="1975495" y="1951046"/>
            <a:ext cx="2018686" cy="82149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2B33C-AE4D-DBEF-8F6F-F9145BB88B02}"/>
              </a:ext>
            </a:extLst>
          </p:cNvPr>
          <p:cNvSpPr/>
          <p:nvPr/>
        </p:nvSpPr>
        <p:spPr>
          <a:xfrm>
            <a:off x="9345295" y="3658415"/>
            <a:ext cx="2018686" cy="82149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解释光模块在数据中心的环节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B7F02E-094E-F8EF-F314-9D623811C582}"/>
              </a:ext>
            </a:extLst>
          </p:cNvPr>
          <p:cNvSpPr/>
          <p:nvPr/>
        </p:nvSpPr>
        <p:spPr>
          <a:xfrm>
            <a:off x="6772427" y="132026"/>
            <a:ext cx="3682865" cy="241069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时间上的判断？短期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vs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长期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考虑分成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页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补充大厂当前所处的阶段，比如博通、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 + 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内部证据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038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51248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2D3D1CB-743E-6564-795E-4D5E0B5A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Zoom in </a:t>
            </a:r>
            <a:r>
              <a:rPr lang="zh-CN" altLang="en-US" dirty="0"/>
              <a:t>视角：到光模块的变化会带来新变化：敲掉</a:t>
            </a:r>
            <a:r>
              <a:rPr lang="en-US" altLang="zh-CN" dirty="0"/>
              <a:t>2</a:t>
            </a:r>
            <a:r>
              <a:rPr lang="zh-CN" altLang="en-US" dirty="0"/>
              <a:t>个模块，集成到一个模块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D98E9F-F046-AC6E-697E-099FF74597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AF3943-68F0-1EA9-4A29-11F9B34D5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9076" y="2527550"/>
            <a:ext cx="10987557" cy="361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25470DD-5CA1-A075-C25C-A2E0932EFC11}"/>
              </a:ext>
            </a:extLst>
          </p:cNvPr>
          <p:cNvSpPr/>
          <p:nvPr/>
        </p:nvSpPr>
        <p:spPr>
          <a:xfrm>
            <a:off x="8098390" y="5015254"/>
            <a:ext cx="4610303" cy="145717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缺失的部分：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从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component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来看具体包括那些？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7C10F0-E484-4901-D545-C8F24F47C68C}"/>
              </a:ext>
            </a:extLst>
          </p:cNvPr>
          <p:cNvSpPr/>
          <p:nvPr/>
        </p:nvSpPr>
        <p:spPr>
          <a:xfrm>
            <a:off x="9511554" y="523302"/>
            <a:ext cx="4112355" cy="41367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回溯过往两次技术范式变化带来的市场格局变化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）纯铜互联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-》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可插拔光模块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）可插拔光模块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-&gt; CPO 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分别解释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FPP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的科普项</a:t>
            </a: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6470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一个</a:t>
            </a:r>
            <a:r>
              <a:rPr lang="en-US" altLang="zh-CN" dirty="0"/>
              <a:t>CPO</a:t>
            </a:r>
            <a:r>
              <a:rPr lang="zh-CN" altLang="en-US" dirty="0"/>
              <a:t>的生产流程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66FC84-8B82-ABCB-1104-6960AFFA57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6FBFDE-8E35-4035-E21B-4E74889AA189}"/>
              </a:ext>
            </a:extLst>
          </p:cNvPr>
          <p:cNvSpPr/>
          <p:nvPr/>
        </p:nvSpPr>
        <p:spPr>
          <a:xfrm>
            <a:off x="290776" y="1401811"/>
            <a:ext cx="10894562" cy="363828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从生产环节来看：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1.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先由做硅光芯片设计的公司把光路刻进硅片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——&gt;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晶圆厂用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300 mm SOI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工艺把它做成裸片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——&gt;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3.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再配一颗外置外置调制激光器把光打进硅波导；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4.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与此同时，做电光芯片把含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224G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光电转换放大器（购买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授权或自研）的芯片流片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——&gt;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5.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在光电异构封装线把硅光裸片、激光、电光芯片 和交换芯片同封成一个 光电引擎（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oe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——&gt;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6.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封装代工厂（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OSAT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 把这颗引擎连同电源管理、高级基板一起做成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模块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——&gt;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7.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装进服务器交换机并由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CSP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的软件栈调用。</a:t>
            </a:r>
          </a:p>
          <a:p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9490F9-F2E3-50D9-1D6F-9774C6317FF6}"/>
              </a:ext>
            </a:extLst>
          </p:cNvPr>
          <p:cNvSpPr/>
          <p:nvPr/>
        </p:nvSpPr>
        <p:spPr>
          <a:xfrm>
            <a:off x="290776" y="5399759"/>
            <a:ext cx="8290893" cy="12860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判断标准：稀缺性、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margin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、国产替代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071FA8-8560-A5A2-6B73-5E870C69A794}"/>
              </a:ext>
            </a:extLst>
          </p:cNvPr>
          <p:cNvSpPr/>
          <p:nvPr/>
        </p:nvSpPr>
        <p:spPr>
          <a:xfrm>
            <a:off x="8376295" y="25683"/>
            <a:ext cx="3481566" cy="9376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过往投半导体的历史</a:t>
            </a: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803202-3BCE-2239-22C1-CDA59B1EE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AA2388-B8EC-F23A-842A-871144890B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60148F-1D1B-7D1D-7966-A83FDD4A6B4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996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54DA5-9714-8E13-FB89-74134EB4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0604CB-AA43-97D3-7661-7FFC1EC3C0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B510789-0A29-4904-DEB5-28A9B0E01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546811"/>
              </p:ext>
            </p:extLst>
          </p:nvPr>
        </p:nvGraphicFramePr>
        <p:xfrm>
          <a:off x="-722857" y="1513826"/>
          <a:ext cx="8126073" cy="4632704"/>
        </p:xfrm>
        <a:graphic>
          <a:graphicData uri="http://schemas.openxmlformats.org/drawingml/2006/table">
            <a:tbl>
              <a:tblPr/>
              <a:tblGrid>
                <a:gridCol w="902897">
                  <a:extLst>
                    <a:ext uri="{9D8B030D-6E8A-4147-A177-3AD203B41FA5}">
                      <a16:colId xmlns:a16="http://schemas.microsoft.com/office/drawing/2014/main" val="2205582865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561855329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3625596439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2745484187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2869606334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2219216456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3088919400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1338223290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461676843"/>
                    </a:ext>
                  </a:extLst>
                </a:gridCol>
              </a:tblGrid>
              <a:tr h="579088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铜互连（～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2010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cr3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可插拔光模块（～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cr3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cpo（～2030）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cr3（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预测）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897650"/>
                  </a:ext>
                </a:extLst>
              </a:tr>
              <a:tr h="770947">
                <a:tc gridSpan="3"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云计算、数据中心、移动互联网爆发，带宽需求持续放大，</a:t>
                      </a: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10G → 40G → 100G </a:t>
                      </a:r>
                      <a:r>
                        <a:rPr lang="zh-CN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光模块大规模商业化；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400G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光模块与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需求爆发；技术升级期，板卡互连能力的提升只剩光学路径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605147"/>
                  </a:ext>
                </a:extLst>
              </a:tr>
              <a:tr h="579088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连接器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线缆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光芯片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激光器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硅光芯片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外置激光源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60-65%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400994"/>
                  </a:ext>
                </a:extLst>
              </a:tr>
              <a:tr h="579088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pcb/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背板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电光芯片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电光芯片</a:t>
                      </a:r>
                      <a:r>
                        <a:rPr lang="en-US" altLang="zh-CN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224</a:t>
                      </a:r>
                      <a:r>
                        <a:rPr lang="en-US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 SerDes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&gt;75%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586141"/>
                  </a:ext>
                </a:extLst>
              </a:tr>
              <a:tr h="770947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SerDes/PHY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芯片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&gt;70%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光模块组装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ASIC+Optical Engine </a:t>
                      </a:r>
                      <a:r>
                        <a:rPr lang="zh-CN" altLang="en-US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封装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70-80%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839800"/>
                  </a:ext>
                </a:extLst>
              </a:tr>
              <a:tr h="579088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ODM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机框集成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精耦合设备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OSAT 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共封 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高级基板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50-55%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697090"/>
                  </a:ext>
                </a:extLst>
              </a:tr>
              <a:tr h="387229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面板连接器残余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余量线缆 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面板 </a:t>
                      </a: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321468"/>
                  </a:ext>
                </a:extLst>
              </a:tr>
              <a:tr h="387229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odm/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系统软硬件协同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&gt;80%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074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073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Custom 29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672</Words>
  <Application>Microsoft Office PowerPoint</Application>
  <PresentationFormat>宽屏</PresentationFormat>
  <Paragraphs>121</Paragraphs>
  <Slides>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CPO</vt:lpstr>
      <vt:lpstr>大模型背景下，算力 vs 通信 + 功耗占比变化</vt:lpstr>
      <vt:lpstr>放到数据中心的维度来看，光模块在干什么？</vt:lpstr>
      <vt:lpstr>Zoom in 视角：到光模块的变化会带来新变化：敲掉2个模块，集成到一个模块</vt:lpstr>
      <vt:lpstr>一个CPO的生产流程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T186571</cp:lastModifiedBy>
  <cp:revision>22</cp:revision>
  <dcterms:created xsi:type="dcterms:W3CDTF">2025-06-16T21:28:33Z</dcterms:created>
  <dcterms:modified xsi:type="dcterms:W3CDTF">2025-08-13T09:21:24Z</dcterms:modified>
</cp:coreProperties>
</file>