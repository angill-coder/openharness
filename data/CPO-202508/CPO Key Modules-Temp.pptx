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tags/tag68.xml" ContentType="application/vnd.openxmlformats-officedocument.presentationml.tags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69.xml" ContentType="application/vnd.openxmlformats-officedocument.presentationml.tags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26" r:id="rId2"/>
    <p:sldId id="315" r:id="rId3"/>
    <p:sldId id="344" r:id="rId4"/>
    <p:sldId id="342" r:id="rId5"/>
    <p:sldId id="367" r:id="rId6"/>
    <p:sldId id="370" r:id="rId7"/>
    <p:sldId id="372" r:id="rId8"/>
    <p:sldId id="327" r:id="rId9"/>
    <p:sldId id="2147473076" r:id="rId10"/>
    <p:sldId id="32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340" y="8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470616226504874E-2"/>
          <c:y val="7.9325935059597202E-2"/>
          <c:w val="0.86581013561741615"/>
          <c:h val="0.78914919852034526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348-4575-B5CF-1CB658B9D019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1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348-4575-B5CF-1CB658B9D019}"/>
                </c:ext>
              </c:extLst>
            </c:dLbl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80</c:v>
                </c:pt>
                <c:pt idx="1">
                  <c:v>67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348-4575-B5CF-1CB658B9D019}"/>
            </c:ext>
          </c:extLst>
        </c:ser>
        <c:ser>
          <c:idx val="2"/>
          <c:order val="2"/>
          <c:spPr>
            <a:ln w="19050" cmpd="sng" algn="ctr">
              <a:solidFill>
                <a:schemeClr val="accent1"/>
              </a:solidFill>
              <a:prstDash val="dash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4268379728765169E-2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7348-4575-B5CF-1CB658B9D019}"/>
                </c:ext>
              </c:extLst>
            </c:dLbl>
            <c:dLbl>
              <c:idx val="1"/>
              <c:layout>
                <c:manualLayout>
                  <c:x val="0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7348-4575-B5CF-1CB658B9D019}"/>
                </c:ext>
              </c:extLst>
            </c:dLbl>
            <c:dLbl>
              <c:idx val="2"/>
              <c:layout>
                <c:manualLayout>
                  <c:x val="0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Sheet1!$A$4:$C$4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27.500000000000004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7348-4575-B5CF-1CB658B9D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730609828300769E-2"/>
          <c:y val="0.1318622174381055"/>
          <c:w val="0.8099467140319716"/>
          <c:h val="0.73627556512378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36B-4E1A-88B8-6329369F1BAD}"/>
              </c:ext>
            </c:extLst>
          </c:dPt>
          <c:dPt>
            <c:idx val="1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36B-4E1A-88B8-6329369F1BAD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36B-4E1A-88B8-6329369F1BAD}"/>
              </c:ext>
            </c:extLst>
          </c:dPt>
          <c:dLbls>
            <c:dLbl>
              <c:idx val="0"/>
              <c:layout>
                <c:manualLayout>
                  <c:x val="1.9538188277087035E-2"/>
                  <c:y val="-5.920344456404736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36B-4E1A-88B8-6329369F1BAD}"/>
                </c:ext>
              </c:extLst>
            </c:dLbl>
            <c:dLbl>
              <c:idx val="1"/>
              <c:layout>
                <c:manualLayout>
                  <c:x val="-1.6577856719952634E-2"/>
                  <c:y val="9.149623250807320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36B-4E1A-88B8-6329369F1BAD}"/>
                </c:ext>
              </c:extLst>
            </c:dLbl>
            <c:dLbl>
              <c:idx val="2"/>
              <c:layout>
                <c:manualLayout>
                  <c:x val="-1.0657193605683837E-2"/>
                  <c:y val="-3.9289558665231435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36B-4E1A-88B8-6329369F1B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39.473684210526315</c:v>
                </c:pt>
                <c:pt idx="1">
                  <c:v>52.631578947368418</c:v>
                </c:pt>
                <c:pt idx="2">
                  <c:v>7.8947368421052628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6B-4E1A-88B8-6329369F1B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7C-4E5E-A622-D699D6F25D33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7C-4E5E-A622-D699D6F25D33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C7C-4E5E-A622-D699D6F25D33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C7C-4E5E-A622-D699D6F25D33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7C-4E5E-A622-D699D6F25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991087"/>
        <c:axId val="1"/>
      </c:scatterChart>
      <c:valAx>
        <c:axId val="103599108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599108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en-US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668182257971086E-2"/>
          <c:y val="0.11551276055928993"/>
          <c:w val="0.80432110171008009"/>
          <c:h val="0.817695107185039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  <c:minorUnit val="0.1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1327906500388486E-2"/>
          <c:y val="0.8780523639706429"/>
          <c:w val="0.80693091620705704"/>
          <c:h val="0.12194774247045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0F93C-90A7-4BE7-9F41-5F73C325139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C5EF2E-02D6-4A7D-9062-B2AA5D4D6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029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132800-FE64-4159-8F62-EF1F0A4E3E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132800-FE64-4159-8F62-EF1F0A4E3E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83AB-BA7C-DD8C-C418-E95DBC34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570EFF-4685-F733-FC4D-715EFE659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D006D-3A81-EE25-94C2-12CC7BC30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761D6F-24C1-86CE-7D65-53B8CB893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132800-FE64-4159-8F62-EF1F0A4E3E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9690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132800-FE64-4159-8F62-EF1F0A4E3E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132800-FE64-4159-8F62-EF1F0A4E3E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132800-FE64-4159-8F62-EF1F0A4E3E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132800-FE64-4159-8F62-EF1F0A4E3E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132800-FE64-4159-8F62-EF1F0A4E3E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1644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1565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467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2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7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06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44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0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8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74931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51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0654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13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6093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06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11" Type="http://schemas.microsoft.com/office/2007/relationships/hdphoto" Target="../media/hdphoto2.wdp"/><Relationship Id="rId5" Type="http://schemas.openxmlformats.org/officeDocument/2006/relationships/image" Target="../media/image8.emf"/><Relationship Id="rId10" Type="http://schemas.openxmlformats.org/officeDocument/2006/relationships/image" Target="../media/image12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8.emf"/><Relationship Id="rId10" Type="http://schemas.openxmlformats.org/officeDocument/2006/relationships/image" Target="../media/image17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21" Type="http://schemas.openxmlformats.org/officeDocument/2006/relationships/image" Target="../media/image32.png"/><Relationship Id="rId42" Type="http://schemas.openxmlformats.org/officeDocument/2006/relationships/image" Target="../media/image21.png"/><Relationship Id="rId47" Type="http://schemas.openxmlformats.org/officeDocument/2006/relationships/image" Target="../media/image47.png"/><Relationship Id="rId63" Type="http://schemas.microsoft.com/office/2007/relationships/hdphoto" Target="../media/hdphoto24.wdp"/><Relationship Id="rId68" Type="http://schemas.openxmlformats.org/officeDocument/2006/relationships/image" Target="../media/image58.png"/><Relationship Id="rId16" Type="http://schemas.openxmlformats.org/officeDocument/2006/relationships/image" Target="../media/image28.png"/><Relationship Id="rId11" Type="http://schemas.microsoft.com/office/2007/relationships/hdphoto" Target="../media/hdphoto5.wdp"/><Relationship Id="rId32" Type="http://schemas.openxmlformats.org/officeDocument/2006/relationships/image" Target="../media/image39.png"/><Relationship Id="rId37" Type="http://schemas.openxmlformats.org/officeDocument/2006/relationships/image" Target="../media/image42.png"/><Relationship Id="rId53" Type="http://schemas.openxmlformats.org/officeDocument/2006/relationships/image" Target="../media/image50.png"/><Relationship Id="rId58" Type="http://schemas.openxmlformats.org/officeDocument/2006/relationships/image" Target="../media/image53.png"/><Relationship Id="rId74" Type="http://schemas.microsoft.com/office/2007/relationships/hdphoto" Target="../media/hdphoto28.wdp"/><Relationship Id="rId79" Type="http://schemas.openxmlformats.org/officeDocument/2006/relationships/image" Target="../media/image64.png"/><Relationship Id="rId5" Type="http://schemas.openxmlformats.org/officeDocument/2006/relationships/image" Target="../media/image22.png"/><Relationship Id="rId61" Type="http://schemas.microsoft.com/office/2007/relationships/hdphoto" Target="../media/hdphoto23.wdp"/><Relationship Id="rId82" Type="http://schemas.microsoft.com/office/2007/relationships/hdphoto" Target="../media/hdphoto32.wdp"/><Relationship Id="rId19" Type="http://schemas.openxmlformats.org/officeDocument/2006/relationships/image" Target="../media/image30.png"/><Relationship Id="rId14" Type="http://schemas.openxmlformats.org/officeDocument/2006/relationships/image" Target="../media/image27.png"/><Relationship Id="rId22" Type="http://schemas.openxmlformats.org/officeDocument/2006/relationships/image" Target="../media/image33.png"/><Relationship Id="rId27" Type="http://schemas.openxmlformats.org/officeDocument/2006/relationships/image" Target="../media/image36.png"/><Relationship Id="rId30" Type="http://schemas.openxmlformats.org/officeDocument/2006/relationships/image" Target="../media/image38.png"/><Relationship Id="rId35" Type="http://schemas.microsoft.com/office/2007/relationships/hdphoto" Target="../media/hdphoto13.wdp"/><Relationship Id="rId43" Type="http://schemas.openxmlformats.org/officeDocument/2006/relationships/image" Target="../media/image45.png"/><Relationship Id="rId48" Type="http://schemas.microsoft.com/office/2007/relationships/hdphoto" Target="../media/hdphoto17.wdp"/><Relationship Id="rId56" Type="http://schemas.microsoft.com/office/2007/relationships/hdphoto" Target="../media/hdphoto21.wdp"/><Relationship Id="rId64" Type="http://schemas.openxmlformats.org/officeDocument/2006/relationships/image" Target="../media/image56.png"/><Relationship Id="rId69" Type="http://schemas.microsoft.com/office/2007/relationships/hdphoto" Target="../media/hdphoto27.wdp"/><Relationship Id="rId77" Type="http://schemas.openxmlformats.org/officeDocument/2006/relationships/image" Target="../media/image63.png"/><Relationship Id="rId8" Type="http://schemas.openxmlformats.org/officeDocument/2006/relationships/image" Target="../media/image24.png"/><Relationship Id="rId51" Type="http://schemas.openxmlformats.org/officeDocument/2006/relationships/image" Target="../media/image49.png"/><Relationship Id="rId72" Type="http://schemas.openxmlformats.org/officeDocument/2006/relationships/image" Target="../media/image60.png"/><Relationship Id="rId80" Type="http://schemas.microsoft.com/office/2007/relationships/hdphoto" Target="../media/hdphoto31.wdp"/><Relationship Id="rId3" Type="http://schemas.openxmlformats.org/officeDocument/2006/relationships/oleObject" Target="../embeddings/oleObject5.bin"/><Relationship Id="rId12" Type="http://schemas.openxmlformats.org/officeDocument/2006/relationships/image" Target="../media/image26.png"/><Relationship Id="rId17" Type="http://schemas.microsoft.com/office/2007/relationships/hdphoto" Target="../media/hdphoto7.wdp"/><Relationship Id="rId25" Type="http://schemas.microsoft.com/office/2007/relationships/hdphoto" Target="../media/hdphoto9.wdp"/><Relationship Id="rId33" Type="http://schemas.microsoft.com/office/2007/relationships/hdphoto" Target="../media/hdphoto12.wdp"/><Relationship Id="rId38" Type="http://schemas.openxmlformats.org/officeDocument/2006/relationships/image" Target="../media/image43.png"/><Relationship Id="rId46" Type="http://schemas.microsoft.com/office/2007/relationships/hdphoto" Target="../media/hdphoto16.wdp"/><Relationship Id="rId59" Type="http://schemas.microsoft.com/office/2007/relationships/hdphoto" Target="../media/hdphoto22.wdp"/><Relationship Id="rId67" Type="http://schemas.microsoft.com/office/2007/relationships/hdphoto" Target="../media/hdphoto26.wdp"/><Relationship Id="rId20" Type="http://schemas.openxmlformats.org/officeDocument/2006/relationships/image" Target="../media/image31.png"/><Relationship Id="rId41" Type="http://schemas.microsoft.com/office/2007/relationships/hdphoto" Target="../media/hdphoto14.wdp"/><Relationship Id="rId54" Type="http://schemas.microsoft.com/office/2007/relationships/hdphoto" Target="../media/hdphoto20.wdp"/><Relationship Id="rId62" Type="http://schemas.openxmlformats.org/officeDocument/2006/relationships/image" Target="../media/image55.png"/><Relationship Id="rId70" Type="http://schemas.openxmlformats.org/officeDocument/2006/relationships/image" Target="../media/image14.png"/><Relationship Id="rId75" Type="http://schemas.openxmlformats.org/officeDocument/2006/relationships/image" Target="../media/image62.png"/><Relationship Id="rId83" Type="http://schemas.openxmlformats.org/officeDocument/2006/relationships/image" Target="../media/image66.png"/><Relationship Id="rId1" Type="http://schemas.openxmlformats.org/officeDocument/2006/relationships/tags" Target="../tags/tag5.xml"/><Relationship Id="rId6" Type="http://schemas.microsoft.com/office/2007/relationships/hdphoto" Target="../media/hdphoto3.wdp"/><Relationship Id="rId15" Type="http://schemas.microsoft.com/office/2007/relationships/hdphoto" Target="../media/hdphoto6.wdp"/><Relationship Id="rId23" Type="http://schemas.microsoft.com/office/2007/relationships/hdphoto" Target="../media/hdphoto8.wdp"/><Relationship Id="rId28" Type="http://schemas.microsoft.com/office/2007/relationships/hdphoto" Target="../media/hdphoto10.wdp"/><Relationship Id="rId36" Type="http://schemas.openxmlformats.org/officeDocument/2006/relationships/image" Target="../media/image41.png"/><Relationship Id="rId49" Type="http://schemas.openxmlformats.org/officeDocument/2006/relationships/image" Target="../media/image48.png"/><Relationship Id="rId57" Type="http://schemas.openxmlformats.org/officeDocument/2006/relationships/image" Target="../media/image52.png"/><Relationship Id="rId10" Type="http://schemas.openxmlformats.org/officeDocument/2006/relationships/image" Target="../media/image25.png"/><Relationship Id="rId31" Type="http://schemas.microsoft.com/office/2007/relationships/hdphoto" Target="../media/hdphoto11.wdp"/><Relationship Id="rId44" Type="http://schemas.microsoft.com/office/2007/relationships/hdphoto" Target="../media/hdphoto15.wdp"/><Relationship Id="rId52" Type="http://schemas.microsoft.com/office/2007/relationships/hdphoto" Target="../media/hdphoto19.wdp"/><Relationship Id="rId60" Type="http://schemas.openxmlformats.org/officeDocument/2006/relationships/image" Target="../media/image54.png"/><Relationship Id="rId65" Type="http://schemas.microsoft.com/office/2007/relationships/hdphoto" Target="../media/hdphoto25.wdp"/><Relationship Id="rId73" Type="http://schemas.openxmlformats.org/officeDocument/2006/relationships/image" Target="../media/image61.png"/><Relationship Id="rId78" Type="http://schemas.microsoft.com/office/2007/relationships/hdphoto" Target="../media/hdphoto30.wdp"/><Relationship Id="rId81" Type="http://schemas.openxmlformats.org/officeDocument/2006/relationships/image" Target="../media/image65.png"/><Relationship Id="rId4" Type="http://schemas.openxmlformats.org/officeDocument/2006/relationships/image" Target="../media/image8.emf"/><Relationship Id="rId9" Type="http://schemas.microsoft.com/office/2007/relationships/hdphoto" Target="../media/hdphoto4.wdp"/><Relationship Id="rId13" Type="http://schemas.openxmlformats.org/officeDocument/2006/relationships/image" Target="../media/image13.png"/><Relationship Id="rId18" Type="http://schemas.openxmlformats.org/officeDocument/2006/relationships/image" Target="../media/image29.png"/><Relationship Id="rId39" Type="http://schemas.openxmlformats.org/officeDocument/2006/relationships/image" Target="../media/image17.png"/><Relationship Id="rId34" Type="http://schemas.openxmlformats.org/officeDocument/2006/relationships/image" Target="../media/image40.png"/><Relationship Id="rId50" Type="http://schemas.microsoft.com/office/2007/relationships/hdphoto" Target="../media/hdphoto18.wdp"/><Relationship Id="rId55" Type="http://schemas.openxmlformats.org/officeDocument/2006/relationships/image" Target="../media/image51.png"/><Relationship Id="rId76" Type="http://schemas.microsoft.com/office/2007/relationships/hdphoto" Target="../media/hdphoto29.wdp"/><Relationship Id="rId7" Type="http://schemas.openxmlformats.org/officeDocument/2006/relationships/image" Target="../media/image23.png"/><Relationship Id="rId71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37.png"/><Relationship Id="rId24" Type="http://schemas.openxmlformats.org/officeDocument/2006/relationships/image" Target="../media/image34.png"/><Relationship Id="rId40" Type="http://schemas.openxmlformats.org/officeDocument/2006/relationships/image" Target="../media/image44.png"/><Relationship Id="rId45" Type="http://schemas.openxmlformats.org/officeDocument/2006/relationships/image" Target="../media/image46.png"/><Relationship Id="rId66" Type="http://schemas.openxmlformats.org/officeDocument/2006/relationships/image" Target="../media/image5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3.png"/><Relationship Id="rId5" Type="http://schemas.openxmlformats.org/officeDocument/2006/relationships/image" Target="../media/image67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.png"/><Relationship Id="rId18" Type="http://schemas.openxmlformats.org/officeDocument/2006/relationships/image" Target="../media/image70.png"/><Relationship Id="rId26" Type="http://schemas.openxmlformats.org/officeDocument/2006/relationships/image" Target="../media/image48.png"/><Relationship Id="rId3" Type="http://schemas.openxmlformats.org/officeDocument/2006/relationships/tags" Target="../tags/tag9.xml"/><Relationship Id="rId21" Type="http://schemas.microsoft.com/office/2007/relationships/hdphoto" Target="../media/hdphoto34.wdp"/><Relationship Id="rId7" Type="http://schemas.openxmlformats.org/officeDocument/2006/relationships/image" Target="../media/image17.png"/><Relationship Id="rId12" Type="http://schemas.openxmlformats.org/officeDocument/2006/relationships/image" Target="../media/image26.png"/><Relationship Id="rId17" Type="http://schemas.openxmlformats.org/officeDocument/2006/relationships/image" Target="../media/image21.png"/><Relationship Id="rId25" Type="http://schemas.openxmlformats.org/officeDocument/2006/relationships/image" Target="../media/image72.png"/><Relationship Id="rId2" Type="http://schemas.openxmlformats.org/officeDocument/2006/relationships/tags" Target="../tags/tag8.xml"/><Relationship Id="rId16" Type="http://schemas.microsoft.com/office/2007/relationships/hdphoto" Target="../media/hdphoto16.wdp"/><Relationship Id="rId20" Type="http://schemas.openxmlformats.org/officeDocument/2006/relationships/image" Target="../media/image71.png"/><Relationship Id="rId1" Type="http://schemas.openxmlformats.org/officeDocument/2006/relationships/tags" Target="../tags/tag7.xml"/><Relationship Id="rId6" Type="http://schemas.openxmlformats.org/officeDocument/2006/relationships/image" Target="../media/image67.emf"/><Relationship Id="rId11" Type="http://schemas.openxmlformats.org/officeDocument/2006/relationships/image" Target="../media/image13.png"/><Relationship Id="rId24" Type="http://schemas.openxmlformats.org/officeDocument/2006/relationships/image" Target="../media/image41.png"/><Relationship Id="rId5" Type="http://schemas.openxmlformats.org/officeDocument/2006/relationships/oleObject" Target="../embeddings/oleObject7.bin"/><Relationship Id="rId15" Type="http://schemas.openxmlformats.org/officeDocument/2006/relationships/image" Target="../media/image46.png"/><Relationship Id="rId23" Type="http://schemas.microsoft.com/office/2007/relationships/hdphoto" Target="../media/hdphoto29.wdp"/><Relationship Id="rId10" Type="http://schemas.openxmlformats.org/officeDocument/2006/relationships/image" Target="../media/image59.png"/><Relationship Id="rId19" Type="http://schemas.microsoft.com/office/2007/relationships/hdphoto" Target="../media/hdphoto33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69.png"/><Relationship Id="rId14" Type="http://schemas.microsoft.com/office/2007/relationships/hdphoto" Target="../media/hdphoto15.wdp"/><Relationship Id="rId22" Type="http://schemas.openxmlformats.org/officeDocument/2006/relationships/image" Target="../media/image62.png"/><Relationship Id="rId27" Type="http://schemas.microsoft.com/office/2007/relationships/hdphoto" Target="../media/hdphoto18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chart" Target="../charts/chart1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image" Target="../media/image67.emf"/><Relationship Id="rId2" Type="http://schemas.openxmlformats.org/officeDocument/2006/relationships/tags" Target="../tags/tag11.xml"/><Relationship Id="rId16" Type="http://schemas.openxmlformats.org/officeDocument/2006/relationships/oleObject" Target="../embeddings/oleObject8.bin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19.xml"/><Relationship Id="rId19" Type="http://schemas.openxmlformats.org/officeDocument/2006/relationships/chart" Target="../charts/chart2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39" Type="http://schemas.openxmlformats.org/officeDocument/2006/relationships/tags" Target="../tags/tag61.xml"/><Relationship Id="rId21" Type="http://schemas.openxmlformats.org/officeDocument/2006/relationships/tags" Target="../tags/tag43.xml"/><Relationship Id="rId34" Type="http://schemas.openxmlformats.org/officeDocument/2006/relationships/tags" Target="../tags/tag56.xml"/><Relationship Id="rId42" Type="http://schemas.openxmlformats.org/officeDocument/2006/relationships/tags" Target="../tags/tag64.xml"/><Relationship Id="rId47" Type="http://schemas.openxmlformats.org/officeDocument/2006/relationships/notesSlide" Target="../notesSlides/notesSlide5.xml"/><Relationship Id="rId50" Type="http://schemas.openxmlformats.org/officeDocument/2006/relationships/chart" Target="../charts/chart3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9" Type="http://schemas.openxmlformats.org/officeDocument/2006/relationships/tags" Target="../tags/tag51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32" Type="http://schemas.openxmlformats.org/officeDocument/2006/relationships/tags" Target="../tags/tag54.xml"/><Relationship Id="rId37" Type="http://schemas.openxmlformats.org/officeDocument/2006/relationships/tags" Target="../tags/tag59.xml"/><Relationship Id="rId40" Type="http://schemas.openxmlformats.org/officeDocument/2006/relationships/tags" Target="../tags/tag62.xml"/><Relationship Id="rId45" Type="http://schemas.openxmlformats.org/officeDocument/2006/relationships/tags" Target="../tags/tag67.xm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tags" Target="../tags/tag50.xml"/><Relationship Id="rId36" Type="http://schemas.openxmlformats.org/officeDocument/2006/relationships/tags" Target="../tags/tag58.xml"/><Relationship Id="rId49" Type="http://schemas.openxmlformats.org/officeDocument/2006/relationships/image" Target="../media/image67.emf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tags" Target="../tags/tag53.xml"/><Relationship Id="rId44" Type="http://schemas.openxmlformats.org/officeDocument/2006/relationships/tags" Target="../tags/tag66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tags" Target="../tags/tag49.xml"/><Relationship Id="rId30" Type="http://schemas.openxmlformats.org/officeDocument/2006/relationships/tags" Target="../tags/tag52.xml"/><Relationship Id="rId35" Type="http://schemas.openxmlformats.org/officeDocument/2006/relationships/tags" Target="../tags/tag57.xml"/><Relationship Id="rId43" Type="http://schemas.openxmlformats.org/officeDocument/2006/relationships/tags" Target="../tags/tag65.xml"/><Relationship Id="rId48" Type="http://schemas.openxmlformats.org/officeDocument/2006/relationships/oleObject" Target="../embeddings/oleObject9.bin"/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33" Type="http://schemas.openxmlformats.org/officeDocument/2006/relationships/tags" Target="../tags/tag55.xml"/><Relationship Id="rId38" Type="http://schemas.openxmlformats.org/officeDocument/2006/relationships/tags" Target="../tags/tag60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42.xml"/><Relationship Id="rId41" Type="http://schemas.openxmlformats.org/officeDocument/2006/relationships/tags" Target="../tags/tag63.xml"/><Relationship Id="rId1" Type="http://schemas.openxmlformats.org/officeDocument/2006/relationships/tags" Target="../tags/tag23.xml"/><Relationship Id="rId6" Type="http://schemas.openxmlformats.org/officeDocument/2006/relationships/tags" Target="../tags/tag2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6" Type="http://schemas.openxmlformats.org/officeDocument/2006/relationships/chart" Target="../charts/chart4.xml"/><Relationship Id="rId5" Type="http://schemas.openxmlformats.org/officeDocument/2006/relationships/image" Target="../media/image67.emf"/><Relationship Id="rId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79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6.svg"/><Relationship Id="rId12" Type="http://schemas.openxmlformats.org/officeDocument/2006/relationships/image" Target="../media/image13.png"/><Relationship Id="rId17" Type="http://schemas.openxmlformats.org/officeDocument/2006/relationships/chart" Target="../charts/chart7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1.png"/><Relationship Id="rId1" Type="http://schemas.openxmlformats.org/officeDocument/2006/relationships/tags" Target="../tags/tag69.xml"/><Relationship Id="rId6" Type="http://schemas.openxmlformats.org/officeDocument/2006/relationships/image" Target="../media/image75.png"/><Relationship Id="rId11" Type="http://schemas.openxmlformats.org/officeDocument/2006/relationships/chart" Target="../charts/chart6.xml"/><Relationship Id="rId5" Type="http://schemas.openxmlformats.org/officeDocument/2006/relationships/image" Target="../media/image67.emf"/><Relationship Id="rId15" Type="http://schemas.openxmlformats.org/officeDocument/2006/relationships/image" Target="../media/image68.png"/><Relationship Id="rId10" Type="http://schemas.openxmlformats.org/officeDocument/2006/relationships/chart" Target="../charts/chart5.xml"/><Relationship Id="rId4" Type="http://schemas.openxmlformats.org/officeDocument/2006/relationships/oleObject" Target="../embeddings/oleObject11.bin"/><Relationship Id="rId9" Type="http://schemas.openxmlformats.org/officeDocument/2006/relationships/image" Target="../media/image78.svg"/><Relationship Id="rId1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3" Type="http://schemas.openxmlformats.org/officeDocument/2006/relationships/tags" Target="../tags/tag72.xml"/><Relationship Id="rId21" Type="http://schemas.openxmlformats.org/officeDocument/2006/relationships/image" Target="../media/image89.png"/><Relationship Id="rId7" Type="http://schemas.openxmlformats.org/officeDocument/2006/relationships/tags" Target="../tags/tag76.xml"/><Relationship Id="rId12" Type="http://schemas.openxmlformats.org/officeDocument/2006/relationships/image" Target="../media/image23.png"/><Relationship Id="rId17" Type="http://schemas.openxmlformats.org/officeDocument/2006/relationships/image" Target="../media/image86.png"/><Relationship Id="rId25" Type="http://schemas.openxmlformats.org/officeDocument/2006/relationships/image" Target="../media/image91.png"/><Relationship Id="rId2" Type="http://schemas.openxmlformats.org/officeDocument/2006/relationships/tags" Target="../tags/tag71.xml"/><Relationship Id="rId16" Type="http://schemas.openxmlformats.org/officeDocument/2006/relationships/image" Target="../media/image85.jpeg"/><Relationship Id="rId20" Type="http://schemas.openxmlformats.org/officeDocument/2006/relationships/image" Target="../media/image26.png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67.emf"/><Relationship Id="rId24" Type="http://schemas.openxmlformats.org/officeDocument/2006/relationships/image" Target="../media/image90.png"/><Relationship Id="rId5" Type="http://schemas.openxmlformats.org/officeDocument/2006/relationships/tags" Target="../tags/tag74.xml"/><Relationship Id="rId15" Type="http://schemas.openxmlformats.org/officeDocument/2006/relationships/image" Target="../media/image84.png"/><Relationship Id="rId23" Type="http://schemas.microsoft.com/office/2007/relationships/hdphoto" Target="../media/hdphoto33.wdp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88.png"/><Relationship Id="rId4" Type="http://schemas.openxmlformats.org/officeDocument/2006/relationships/tags" Target="../tags/tag73.xml"/><Relationship Id="rId9" Type="http://schemas.openxmlformats.org/officeDocument/2006/relationships/notesSlide" Target="../notesSlides/notesSlide8.xml"/><Relationship Id="rId14" Type="http://schemas.openxmlformats.org/officeDocument/2006/relationships/image" Target="../media/image83.png"/><Relationship Id="rId22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Key Modules: Silicon Photonics Chip, Electrical IC, Switch ASIC, and Integration &amp; Delivery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5355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External Light</a:t>
            </a:r>
            <a:endParaRPr kumimoji="0" lang="zh-CN" altLang="en-US" sz="1400" b="0" i="1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5355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sym typeface="+mn-lt"/>
              </a:rPr>
              <a:t>Routing + Conversion (Optical ↔ Electrical)</a:t>
            </a:r>
            <a:endParaRPr kumimoji="0" lang="zh-CN" altLang="en-US" sz="1400" b="0" i="1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5355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sym typeface="+mn-lt"/>
              </a:rPr>
              <a:t>Amplification + Optimization</a:t>
            </a:r>
            <a:endParaRPr kumimoji="0" lang="zh-CN" altLang="en-US" sz="1400" b="0" i="1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5915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2264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1361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0918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Laser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2527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1255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②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Electrical Signal Hub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1255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③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Switch Chip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1165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Input/Output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1255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Optical Signal Hub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5355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sym typeface="+mn-lt"/>
              </a:rPr>
              <a:t>Control + Signal Processing</a:t>
            </a:r>
            <a:endParaRPr kumimoji="0" lang="zh-CN" altLang="en-US" sz="1400" b="0" i="1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6582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Fiber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3680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Silicon Photonics Chip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SiPh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3680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</a:rPr>
              <a:t>​Electrical IC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</a:rPr>
              <a:t>(EIC)​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27233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Interposer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2527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6951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37255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38522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1406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37912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5723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4033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49039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38673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4401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4957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1474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④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Integration¹: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Advanced Packaging + System Integration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C8B1F2-7CEF-4519-ED3C-8D9DE918E770}"/>
              </a:ext>
            </a:extLst>
          </p:cNvPr>
          <p:cNvSpPr txBox="1"/>
          <p:nvPr/>
        </p:nvSpPr>
        <p:spPr>
          <a:xfrm>
            <a:off x="406273" y="635610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Note: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Foundry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not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included.</a:t>
            </a:r>
            <a:endParaRPr kumimoji="1" lang="zh-CN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0" y="94209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①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②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③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Switch Chip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Market Size</a:t>
            </a:r>
            <a:r>
              <a:rPr kumimoji="1" lang="en-US" altLang="zh-CN" sz="1400" b="1" i="0" u="none" strike="noStrike" kern="1200" cap="none" spc="0" normalizeH="0" baseline="3000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（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2028E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）</a:t>
            </a:r>
            <a:endParaRPr kumimoji="1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Yole, </a:t>
            </a:r>
            <a:r>
              <a:rPr kumimoji="1" lang="en-US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</a:rPr>
              <a:t>TechNavio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</a:rPr>
              <a:t>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</a:rPr>
              <a:t>Huaxin Securities,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</a:rPr>
              <a:t>Broadcom,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</a:rPr>
              <a:t>TSMC,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</a:rPr>
              <a:t>Inphi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ASE, </a:t>
            </a:r>
            <a:r>
              <a:rPr kumimoji="1" lang="en-US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Innolight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Note: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Scope limited in data-com market.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10-20%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$bn</a:t>
              </a:r>
              <a:endPara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CAGR: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40+%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20-30%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CAGR: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20+%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Gross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Margin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40%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50-70%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4y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DSP 3y/gen</a:t>
              </a:r>
              <a:endPara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2015-2025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463" y="3760737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40-70%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2020-2025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2017-2024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④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Integration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CAGR: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15+%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10-50%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3y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20-30%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CAGR: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10+%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2015-2024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2020-2025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2-3y/gen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2005-2012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Over-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China</a:t>
            </a: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7y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10y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7y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9y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10-20%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$bn</a:t>
              </a:r>
              <a:endPara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$bn</a:t>
              </a:r>
              <a:endPara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$bn</a:t>
              </a:r>
              <a:endPara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BOM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18" name="图像" descr="图像">
            <a:extLst>
              <a:ext uri="{FF2B5EF4-FFF2-40B4-BE49-F238E27FC236}">
                <a16:creationId xmlns:a16="http://schemas.microsoft.com/office/drawing/2014/main" id="{DB893361-6B45-7E8C-9755-E37F2155A5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5320" y="3760737"/>
            <a:ext cx="770002" cy="2281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6690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6759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6740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6690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6759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6669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57337" y="1890146"/>
            <a:ext cx="8402638" cy="827356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6740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Global Leading Players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778846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Global Key Startups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Yole</a:t>
            </a:r>
            <a:endParaRPr kumimoji="1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48823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Domestic Key Startups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6208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0866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①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0910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②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1055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③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Switch Chip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0910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④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Integration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3807072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3803139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9133" y="4174099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0317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3546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19876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7630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0219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49157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49390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49877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28276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7896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0104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30128" y="3774348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6447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6886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58066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58896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6293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4217809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023675"/>
            <a:ext cx="574356" cy="2213303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D544ED39-3EF7-50CB-502E-B74080C01BB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7419" y="3045997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311481" y="18819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96462" y="24347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l="5884" t="22886" r="3998" b="18237"/>
          <a:stretch>
            <a:fillRect/>
          </a:stretch>
        </p:blipFill>
        <p:spPr>
          <a:xfrm>
            <a:off x="11200086" y="5363148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687657" y="19491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3497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19158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542610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19985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3909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3878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Switch</a:t>
            </a:r>
            <a:endParaRPr kumimoji="0" lang="zh-CN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6520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037197"/>
            <a:ext cx="475097" cy="89818"/>
          </a:xfrm>
          <a:prstGeom prst="rect">
            <a:avLst/>
          </a:prstGeom>
        </p:spPr>
      </p:pic>
      <p:sp>
        <p:nvSpPr>
          <p:cNvPr id="2058" name="Rectangle 8">
            <a:extLst>
              <a:ext uri="{FF2B5EF4-FFF2-40B4-BE49-F238E27FC236}">
                <a16:creationId xmlns:a16="http://schemas.microsoft.com/office/drawing/2014/main" id="{2137F4A7-010E-E86A-CB33-ED2C7C50C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2745084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光模块</a:t>
            </a:r>
            <a:endParaRPr kumimoji="0" lang="zh-CN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021993"/>
            <a:ext cx="431753" cy="164625"/>
          </a:xfrm>
          <a:prstGeom prst="rect">
            <a:avLst/>
          </a:prstGeom>
        </p:spPr>
      </p:pic>
      <p:pic>
        <p:nvPicPr>
          <p:cNvPr id="3074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96190A70-1AB2-1B66-22BC-1684BE08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638" y="2946742"/>
            <a:ext cx="703555" cy="32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3872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3152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6247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0510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49716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9846" y="4217809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SiPh</a:t>
            </a:r>
            <a:endParaRPr kumimoji="0" lang="zh-CN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Laser</a:t>
            </a:r>
            <a:endParaRPr kumimoji="0" lang="zh-CN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28242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0328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2895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4347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4347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4347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19369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3730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19547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3909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171279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946682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3301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19547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3909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28242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2626" y="3794478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9397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228365" y="3774101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图片 1037">
            <a:extLst>
              <a:ext uri="{FF2B5EF4-FFF2-40B4-BE49-F238E27FC236}">
                <a16:creationId xmlns:a16="http://schemas.microsoft.com/office/drawing/2014/main" id="{6877E9FB-C6BE-A359-B45E-CEF71A89623E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0589" y="2987295"/>
            <a:ext cx="590782" cy="225262"/>
          </a:xfrm>
          <a:prstGeom prst="rect">
            <a:avLst/>
          </a:prstGeom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8" cstate="print"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27762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058873" y="50022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49265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71"/>
          <a:srcRect t="29736" r="12" b="29739"/>
          <a:stretch>
            <a:fillRect/>
          </a:stretch>
        </p:blipFill>
        <p:spPr>
          <a:xfrm>
            <a:off x="9353452" y="53782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2"/>
          <a:srcRect l="10181" t="33840" r="8725" b="35390"/>
          <a:stretch>
            <a:fillRect/>
          </a:stretch>
        </p:blipFill>
        <p:spPr>
          <a:xfrm>
            <a:off x="9910587" y="50409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6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26F952F8-BD30-39B8-0710-DB5BDE7A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281" y="5616691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图片 1046">
            <a:extLst>
              <a:ext uri="{FF2B5EF4-FFF2-40B4-BE49-F238E27FC236}">
                <a16:creationId xmlns:a16="http://schemas.microsoft.com/office/drawing/2014/main" id="{748D2AFE-B7CC-31D4-6479-FF122053DAE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2941" y="5667052"/>
            <a:ext cx="431753" cy="164625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5625" y="3801417"/>
            <a:ext cx="504030" cy="133869"/>
          </a:xfrm>
          <a:prstGeom prst="rect">
            <a:avLst/>
          </a:prstGeom>
        </p:spPr>
      </p:pic>
      <p:sp>
        <p:nvSpPr>
          <p:cNvPr id="1051" name="矩形 1050">
            <a:extLst>
              <a:ext uri="{FF2B5EF4-FFF2-40B4-BE49-F238E27FC236}">
                <a16:creationId xmlns:a16="http://schemas.microsoft.com/office/drawing/2014/main" id="{9CA8FAD8-3AFF-D22F-C790-600157E53E3D}"/>
              </a:ext>
            </a:extLst>
          </p:cNvPr>
          <p:cNvSpPr/>
          <p:nvPr/>
        </p:nvSpPr>
        <p:spPr>
          <a:xfrm>
            <a:off x="1565012" y="5634135"/>
            <a:ext cx="897642" cy="49342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3778846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2619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38041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0467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38066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27802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6869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7450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946682" y="3781929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582919" y="3799845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14490" y="3782705"/>
            <a:ext cx="681323" cy="1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E54A-B213-CE75-427F-8AA3404D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5558F73-8357-A1DD-7EB5-F81BF51530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558F73-8357-A1DD-7EB5-F81BF51530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FBBE0B0-01BF-CB4A-40C0-09FFDB8A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Broadcom: First to Commercialize CPO with a Sustained Lead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E1DD30-7FDB-3F47-7AEF-E5C2244C3CE7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Broadcom,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Nvidia,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Intel,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Cisco,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Marvell;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Note: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CPO switch chips prioritized in timeline.</a:t>
            </a:r>
            <a:endParaRPr kumimoji="1" lang="zh-CN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6B5D6ED-707E-C6B1-912C-1C81B662A5CB}"/>
              </a:ext>
            </a:extLst>
          </p:cNvPr>
          <p:cNvGrpSpPr/>
          <p:nvPr/>
        </p:nvGrpSpPr>
        <p:grpSpPr>
          <a:xfrm>
            <a:off x="419231" y="831408"/>
            <a:ext cx="11063882" cy="855636"/>
            <a:chOff x="419231" y="831408"/>
            <a:chExt cx="11063882" cy="85563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D932BCA-CA28-E081-AD9C-A046286F0419}"/>
                </a:ext>
              </a:extLst>
            </p:cNvPr>
            <p:cNvSpPr/>
            <p:nvPr/>
          </p:nvSpPr>
          <p:spPr>
            <a:xfrm>
              <a:off x="419231" y="831408"/>
              <a:ext cx="11063882" cy="842892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F81A6C3-9205-443D-8828-1B7234874E73}"/>
                </a:ext>
              </a:extLst>
            </p:cNvPr>
            <p:cNvSpPr txBox="1"/>
            <p:nvPr/>
          </p:nvSpPr>
          <p:spPr>
            <a:xfrm>
              <a:off x="474403" y="856047"/>
              <a:ext cx="1078287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cs"/>
                </a:rPr>
                <a:t>Competitive Positioning: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cs"/>
                </a:rPr>
                <a:t>≈1-year lead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cs"/>
                </a:rPr>
                <a:t> over ​NVIDIA;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cs"/>
                </a:rPr>
                <a:t>The only vendor with publicly confirmed mass production of CPO switches/chips;​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cs"/>
                </a:rPr>
                <a:t>TH4 &amp; TH5: Industry’s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cs"/>
                </a:rPr>
                <a:t>first CPO switch chips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cs"/>
                </a:rPr>
                <a:t>to enter volume production.</a:t>
              </a:r>
            </a:p>
          </p:txBody>
        </p:sp>
      </p:grpSp>
      <p:sp>
        <p:nvSpPr>
          <p:cNvPr id="110" name="文本框 13">
            <a:extLst>
              <a:ext uri="{FF2B5EF4-FFF2-40B4-BE49-F238E27FC236}">
                <a16:creationId xmlns:a16="http://schemas.microsoft.com/office/drawing/2014/main" id="{E2C45565-EC1B-5D1D-99A3-5A79B14DD9AA}"/>
              </a:ext>
            </a:extLst>
          </p:cNvPr>
          <p:cNvSpPr txBox="1"/>
          <p:nvPr/>
        </p:nvSpPr>
        <p:spPr>
          <a:xfrm>
            <a:off x="5910123" y="110063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45D36808-52C5-27C7-514E-CA0FED831006}"/>
              </a:ext>
            </a:extLst>
          </p:cNvPr>
          <p:cNvCxnSpPr>
            <a:cxnSpLocks/>
          </p:cNvCxnSpPr>
          <p:nvPr/>
        </p:nvCxnSpPr>
        <p:spPr>
          <a:xfrm>
            <a:off x="1407961" y="5798954"/>
            <a:ext cx="9626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C7DE9DED-194E-1502-E490-1F6920A95A4F}"/>
              </a:ext>
            </a:extLst>
          </p:cNvPr>
          <p:cNvCxnSpPr>
            <a:cxnSpLocks/>
          </p:cNvCxnSpPr>
          <p:nvPr/>
        </p:nvCxnSpPr>
        <p:spPr>
          <a:xfrm flipV="1">
            <a:off x="1407962" y="2367508"/>
            <a:ext cx="0" cy="342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文本框 1042">
            <a:extLst>
              <a:ext uri="{FF2B5EF4-FFF2-40B4-BE49-F238E27FC236}">
                <a16:creationId xmlns:a16="http://schemas.microsoft.com/office/drawing/2014/main" id="{600B4EB6-1EE8-4CC7-CF0C-980549956770}"/>
              </a:ext>
            </a:extLst>
          </p:cNvPr>
          <p:cNvSpPr txBox="1"/>
          <p:nvPr/>
        </p:nvSpPr>
        <p:spPr>
          <a:xfrm>
            <a:off x="751310" y="5139056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12.8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044" name="文本框 1043">
            <a:extLst>
              <a:ext uri="{FF2B5EF4-FFF2-40B4-BE49-F238E27FC236}">
                <a16:creationId xmlns:a16="http://schemas.microsoft.com/office/drawing/2014/main" id="{2ECF937A-BCE8-7B42-925C-83B3E3B77D06}"/>
              </a:ext>
            </a:extLst>
          </p:cNvPr>
          <p:cNvSpPr txBox="1"/>
          <p:nvPr/>
        </p:nvSpPr>
        <p:spPr>
          <a:xfrm>
            <a:off x="751310" y="4337143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25.6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045" name="文本框 1044">
            <a:extLst>
              <a:ext uri="{FF2B5EF4-FFF2-40B4-BE49-F238E27FC236}">
                <a16:creationId xmlns:a16="http://schemas.microsoft.com/office/drawing/2014/main" id="{52F3FB11-5937-AA18-30B9-0AB44CA4074D}"/>
              </a:ext>
            </a:extLst>
          </p:cNvPr>
          <p:cNvSpPr txBox="1"/>
          <p:nvPr/>
        </p:nvSpPr>
        <p:spPr>
          <a:xfrm>
            <a:off x="751310" y="3535229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51.2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8FEC53B9-1D54-FBF6-8971-E6DB3E7C220D}"/>
              </a:ext>
            </a:extLst>
          </p:cNvPr>
          <p:cNvSpPr txBox="1"/>
          <p:nvPr/>
        </p:nvSpPr>
        <p:spPr>
          <a:xfrm>
            <a:off x="656291" y="2733315"/>
            <a:ext cx="867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102.4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052" name="文本框 1051">
            <a:extLst>
              <a:ext uri="{FF2B5EF4-FFF2-40B4-BE49-F238E27FC236}">
                <a16:creationId xmlns:a16="http://schemas.microsoft.com/office/drawing/2014/main" id="{9515409C-F418-0A19-0F53-073B69E48FF5}"/>
              </a:ext>
            </a:extLst>
          </p:cNvPr>
          <p:cNvSpPr txBox="1"/>
          <p:nvPr/>
        </p:nvSpPr>
        <p:spPr>
          <a:xfrm>
            <a:off x="587360" y="1872409"/>
            <a:ext cx="1005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ASIC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Capacity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（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Tbps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）</a:t>
            </a:r>
          </a:p>
        </p:txBody>
      </p:sp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CE6789BA-E003-ED21-8313-C7D3E2FD3A15}"/>
              </a:ext>
            </a:extLst>
          </p:cNvPr>
          <p:cNvGrpSpPr/>
          <p:nvPr/>
        </p:nvGrpSpPr>
        <p:grpSpPr>
          <a:xfrm>
            <a:off x="3013249" y="5691528"/>
            <a:ext cx="754380" cy="549547"/>
            <a:chOff x="2302741" y="5497808"/>
            <a:chExt cx="754380" cy="549547"/>
          </a:xfrm>
        </p:grpSpPr>
        <p:sp>
          <p:nvSpPr>
            <p:cNvPr id="1028" name="iconfont-1018-792472">
              <a:extLst>
                <a:ext uri="{FF2B5EF4-FFF2-40B4-BE49-F238E27FC236}">
                  <a16:creationId xmlns:a16="http://schemas.microsoft.com/office/drawing/2014/main" id="{A28C6252-82D4-448A-5630-CA8489B87C7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75D40222-E86A-AF05-53F7-23934033CE7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2021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6E9B963C-0085-6B82-A034-F954D71BF01E}"/>
              </a:ext>
            </a:extLst>
          </p:cNvPr>
          <p:cNvGrpSpPr/>
          <p:nvPr/>
        </p:nvGrpSpPr>
        <p:grpSpPr>
          <a:xfrm>
            <a:off x="2921849" y="4354834"/>
            <a:ext cx="885326" cy="430416"/>
            <a:chOff x="1946450" y="4289861"/>
            <a:chExt cx="885326" cy="430416"/>
          </a:xfrm>
        </p:grpSpPr>
        <p:pic>
          <p:nvPicPr>
            <p:cNvPr id="1049" name="图像" descr="图像">
              <a:extLst>
                <a:ext uri="{FF2B5EF4-FFF2-40B4-BE49-F238E27FC236}">
                  <a16:creationId xmlns:a16="http://schemas.microsoft.com/office/drawing/2014/main" id="{7AF4D924-6A75-3F6D-4627-C84130164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58" name="文本框 1057">
              <a:extLst>
                <a:ext uri="{FF2B5EF4-FFF2-40B4-BE49-F238E27FC236}">
                  <a16:creationId xmlns:a16="http://schemas.microsoft.com/office/drawing/2014/main" id="{E3BA46B7-301B-16B7-39BA-CAF291B19DE5}"/>
                </a:ext>
              </a:extLst>
            </p:cNvPr>
            <p:cNvSpPr txBox="1"/>
            <p:nvPr/>
          </p:nvSpPr>
          <p:spPr>
            <a:xfrm>
              <a:off x="1946450" y="4458667"/>
              <a:ext cx="8673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Announced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060" name="文本框 1059">
              <a:extLst>
                <a:ext uri="{FF2B5EF4-FFF2-40B4-BE49-F238E27FC236}">
                  <a16:creationId xmlns:a16="http://schemas.microsoft.com/office/drawing/2014/main" id="{3F4E0275-E15B-E18B-CFFB-6ED4DB288D4E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33" name="组合 1032">
            <a:extLst>
              <a:ext uri="{FF2B5EF4-FFF2-40B4-BE49-F238E27FC236}">
                <a16:creationId xmlns:a16="http://schemas.microsoft.com/office/drawing/2014/main" id="{98BB9851-94C4-A458-B69A-395D12803CD8}"/>
              </a:ext>
            </a:extLst>
          </p:cNvPr>
          <p:cNvGrpSpPr/>
          <p:nvPr/>
        </p:nvGrpSpPr>
        <p:grpSpPr>
          <a:xfrm>
            <a:off x="6223825" y="5691528"/>
            <a:ext cx="754380" cy="549547"/>
            <a:chOff x="2302741" y="5497808"/>
            <a:chExt cx="754380" cy="549547"/>
          </a:xfrm>
        </p:grpSpPr>
        <p:sp>
          <p:nvSpPr>
            <p:cNvPr id="1034" name="iconfont-1018-792472">
              <a:extLst>
                <a:ext uri="{FF2B5EF4-FFF2-40B4-BE49-F238E27FC236}">
                  <a16:creationId xmlns:a16="http://schemas.microsoft.com/office/drawing/2014/main" id="{72BB9B27-9D6A-BFA8-D830-B57600B6C4E1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035" name="文本框 1034">
              <a:extLst>
                <a:ext uri="{FF2B5EF4-FFF2-40B4-BE49-F238E27FC236}">
                  <a16:creationId xmlns:a16="http://schemas.microsoft.com/office/drawing/2014/main" id="{23286744-0EF7-17DC-E3E3-6759EA76B90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2023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1066" name="组合 1065">
            <a:extLst>
              <a:ext uri="{FF2B5EF4-FFF2-40B4-BE49-F238E27FC236}">
                <a16:creationId xmlns:a16="http://schemas.microsoft.com/office/drawing/2014/main" id="{73BC98C6-518F-6801-762D-326AC7DDB754}"/>
              </a:ext>
            </a:extLst>
          </p:cNvPr>
          <p:cNvGrpSpPr/>
          <p:nvPr/>
        </p:nvGrpSpPr>
        <p:grpSpPr>
          <a:xfrm>
            <a:off x="6050643" y="3554943"/>
            <a:ext cx="1088697" cy="433036"/>
            <a:chOff x="1854080" y="4289861"/>
            <a:chExt cx="1088697" cy="433036"/>
          </a:xfrm>
        </p:grpSpPr>
        <p:pic>
          <p:nvPicPr>
            <p:cNvPr id="1067" name="图像" descr="图像">
              <a:extLst>
                <a:ext uri="{FF2B5EF4-FFF2-40B4-BE49-F238E27FC236}">
                  <a16:creationId xmlns:a16="http://schemas.microsoft.com/office/drawing/2014/main" id="{C61455A4-C0B8-0935-FFFC-5DD3D66C8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8" name="文本框 1067">
              <a:extLst>
                <a:ext uri="{FF2B5EF4-FFF2-40B4-BE49-F238E27FC236}">
                  <a16:creationId xmlns:a16="http://schemas.microsoft.com/office/drawing/2014/main" id="{72796B5A-F4DF-46A5-C791-2794CB79275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Demo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069" name="文本框 1068">
              <a:extLst>
                <a:ext uri="{FF2B5EF4-FFF2-40B4-BE49-F238E27FC236}">
                  <a16:creationId xmlns:a16="http://schemas.microsoft.com/office/drawing/2014/main" id="{DD5B1B47-7BBA-93F3-A3FD-4A22FA9F9F1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D3C0140A-BFB7-5CB5-591C-1D43983BCB59}"/>
              </a:ext>
            </a:extLst>
          </p:cNvPr>
          <p:cNvGrpSpPr/>
          <p:nvPr/>
        </p:nvGrpSpPr>
        <p:grpSpPr>
          <a:xfrm>
            <a:off x="1524782" y="5691528"/>
            <a:ext cx="754380" cy="549547"/>
            <a:chOff x="2302741" y="5497808"/>
            <a:chExt cx="754380" cy="549547"/>
          </a:xfrm>
        </p:grpSpPr>
        <p:sp>
          <p:nvSpPr>
            <p:cNvPr id="125" name="iconfont-1018-792472">
              <a:extLst>
                <a:ext uri="{FF2B5EF4-FFF2-40B4-BE49-F238E27FC236}">
                  <a16:creationId xmlns:a16="http://schemas.microsoft.com/office/drawing/2014/main" id="{2713C143-9FCD-8037-8466-015AAA9AF72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12818448-3ACC-1AA6-1E27-5691A0932808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2020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7398A127-81D9-93B8-23A9-EA5EC5A48436}"/>
              </a:ext>
            </a:extLst>
          </p:cNvPr>
          <p:cNvGrpSpPr/>
          <p:nvPr/>
        </p:nvGrpSpPr>
        <p:grpSpPr>
          <a:xfrm>
            <a:off x="1434852" y="5166795"/>
            <a:ext cx="1028945" cy="439944"/>
            <a:chOff x="1658959" y="4966727"/>
            <a:chExt cx="1028945" cy="439944"/>
          </a:xfrm>
        </p:grpSpPr>
        <p:pic>
          <p:nvPicPr>
            <p:cNvPr id="1050" name="图片 1049">
              <a:extLst>
                <a:ext uri="{FF2B5EF4-FFF2-40B4-BE49-F238E27FC236}">
                  <a16:creationId xmlns:a16="http://schemas.microsoft.com/office/drawing/2014/main" id="{E0DDA59C-5705-417E-70E7-DDB256B43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39899" y="5027245"/>
              <a:ext cx="246630" cy="158302"/>
            </a:xfrm>
            <a:prstGeom prst="rect">
              <a:avLst/>
            </a:prstGeom>
          </p:spPr>
        </p:pic>
        <p:grpSp>
          <p:nvGrpSpPr>
            <p:cNvPr id="1078" name="组合 1077">
              <a:extLst>
                <a:ext uri="{FF2B5EF4-FFF2-40B4-BE49-F238E27FC236}">
                  <a16:creationId xmlns:a16="http://schemas.microsoft.com/office/drawing/2014/main" id="{EA6D8339-D84C-06DE-8624-47C705CC6B00}"/>
                </a:ext>
              </a:extLst>
            </p:cNvPr>
            <p:cNvGrpSpPr/>
            <p:nvPr/>
          </p:nvGrpSpPr>
          <p:grpSpPr>
            <a:xfrm>
              <a:off x="1658959" y="4966727"/>
              <a:ext cx="1028945" cy="439944"/>
              <a:chOff x="1992505" y="4285065"/>
              <a:chExt cx="1028945" cy="439944"/>
            </a:xfrm>
          </p:grpSpPr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5621A35E-478A-7106-EFBB-5152625053B1}"/>
                  </a:ext>
                </a:extLst>
              </p:cNvPr>
              <p:cNvSpPr txBox="1"/>
              <p:nvPr/>
            </p:nvSpPr>
            <p:spPr>
              <a:xfrm>
                <a:off x="1992505" y="4471093"/>
                <a:ext cx="99218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Demo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2CF1D84A-9BD8-3B4D-E2CD-B3C399E3E197}"/>
                  </a:ext>
                </a:extLst>
              </p:cNvPr>
              <p:cNvSpPr txBox="1"/>
              <p:nvPr/>
            </p:nvSpPr>
            <p:spPr>
              <a:xfrm>
                <a:off x="2248593" y="4285065"/>
                <a:ext cx="7728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DEE0">
                        <a:lumMod val="1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WEDGE</a:t>
                </a:r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A33B33FC-2DA3-942C-DE66-EE387FA2C122}"/>
              </a:ext>
            </a:extLst>
          </p:cNvPr>
          <p:cNvSpPr/>
          <p:nvPr/>
        </p:nvSpPr>
        <p:spPr>
          <a:xfrm>
            <a:off x="9405316" y="2079030"/>
            <a:ext cx="1496514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Broadcom edge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~1 year</a:t>
            </a:r>
          </a:p>
        </p:txBody>
      </p:sp>
      <p:grpSp>
        <p:nvGrpSpPr>
          <p:cNvPr id="1030" name="组合 1029">
            <a:extLst>
              <a:ext uri="{FF2B5EF4-FFF2-40B4-BE49-F238E27FC236}">
                <a16:creationId xmlns:a16="http://schemas.microsoft.com/office/drawing/2014/main" id="{8A6504AE-10E6-54EA-417B-181B252CDDB4}"/>
              </a:ext>
            </a:extLst>
          </p:cNvPr>
          <p:cNvGrpSpPr/>
          <p:nvPr/>
        </p:nvGrpSpPr>
        <p:grpSpPr>
          <a:xfrm>
            <a:off x="4618537" y="5691528"/>
            <a:ext cx="754380" cy="549547"/>
            <a:chOff x="2302741" y="5497808"/>
            <a:chExt cx="754380" cy="549547"/>
          </a:xfrm>
        </p:grpSpPr>
        <p:sp>
          <p:nvSpPr>
            <p:cNvPr id="1031" name="iconfont-1018-792472">
              <a:extLst>
                <a:ext uri="{FF2B5EF4-FFF2-40B4-BE49-F238E27FC236}">
                  <a16:creationId xmlns:a16="http://schemas.microsoft.com/office/drawing/2014/main" id="{E5A154C5-8C07-50CE-AB81-8B604CA7B02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032" name="文本框 1031">
              <a:extLst>
                <a:ext uri="{FF2B5EF4-FFF2-40B4-BE49-F238E27FC236}">
                  <a16:creationId xmlns:a16="http://schemas.microsoft.com/office/drawing/2014/main" id="{773FF216-651E-6EF6-0EAF-AD2BE6194F9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2022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1062" name="组合 1061">
            <a:extLst>
              <a:ext uri="{FF2B5EF4-FFF2-40B4-BE49-F238E27FC236}">
                <a16:creationId xmlns:a16="http://schemas.microsoft.com/office/drawing/2014/main" id="{149A79A5-076E-7FD2-47D9-F4FEB636EADE}"/>
              </a:ext>
            </a:extLst>
          </p:cNvPr>
          <p:cNvGrpSpPr/>
          <p:nvPr/>
        </p:nvGrpSpPr>
        <p:grpSpPr>
          <a:xfrm>
            <a:off x="4322349" y="4337143"/>
            <a:ext cx="1405254" cy="423965"/>
            <a:chOff x="1671560" y="4289861"/>
            <a:chExt cx="1405254" cy="423965"/>
          </a:xfrm>
        </p:grpSpPr>
        <p:pic>
          <p:nvPicPr>
            <p:cNvPr id="1063" name="图像" descr="图像">
              <a:extLst>
                <a:ext uri="{FF2B5EF4-FFF2-40B4-BE49-F238E27FC236}">
                  <a16:creationId xmlns:a16="http://schemas.microsoft.com/office/drawing/2014/main" id="{F8C501A1-7860-CDE5-0E52-C429F059D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4" name="文本框 1063">
              <a:extLst>
                <a:ext uri="{FF2B5EF4-FFF2-40B4-BE49-F238E27FC236}">
                  <a16:creationId xmlns:a16="http://schemas.microsoft.com/office/drawing/2014/main" id="{5784DEBF-5A58-A220-CDC0-07E083A49F5C}"/>
                </a:ext>
              </a:extLst>
            </p:cNvPr>
            <p:cNvSpPr txBox="1"/>
            <p:nvPr/>
          </p:nvSpPr>
          <p:spPr>
            <a:xfrm>
              <a:off x="1671560" y="4459910"/>
              <a:ext cx="140525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Joint Deployment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4C1640B9-5ECC-4EDF-CAFD-BA8B6053D1E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87" name="组合 1086">
            <a:extLst>
              <a:ext uri="{FF2B5EF4-FFF2-40B4-BE49-F238E27FC236}">
                <a16:creationId xmlns:a16="http://schemas.microsoft.com/office/drawing/2014/main" id="{67C8A49E-89B4-B8F5-F84A-AF029453D0F9}"/>
              </a:ext>
            </a:extLst>
          </p:cNvPr>
          <p:cNvGrpSpPr/>
          <p:nvPr/>
        </p:nvGrpSpPr>
        <p:grpSpPr>
          <a:xfrm>
            <a:off x="4504869" y="3553362"/>
            <a:ext cx="1088697" cy="433036"/>
            <a:chOff x="1854080" y="4289861"/>
            <a:chExt cx="1088697" cy="433036"/>
          </a:xfrm>
        </p:grpSpPr>
        <p:pic>
          <p:nvPicPr>
            <p:cNvPr id="1088" name="图像" descr="图像">
              <a:extLst>
                <a:ext uri="{FF2B5EF4-FFF2-40B4-BE49-F238E27FC236}">
                  <a16:creationId xmlns:a16="http://schemas.microsoft.com/office/drawing/2014/main" id="{B3F769CA-D87D-11C6-2FBC-891CD4D84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89" name="文本框 1088">
              <a:extLst>
                <a:ext uri="{FF2B5EF4-FFF2-40B4-BE49-F238E27FC236}">
                  <a16:creationId xmlns:a16="http://schemas.microsoft.com/office/drawing/2014/main" id="{5EC1C477-C2A5-2410-E6C0-89C029A637B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Announced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090" name="文本框 1089">
              <a:extLst>
                <a:ext uri="{FF2B5EF4-FFF2-40B4-BE49-F238E27FC236}">
                  <a16:creationId xmlns:a16="http://schemas.microsoft.com/office/drawing/2014/main" id="{FF520904-5D9C-19BD-8AE7-41A4FF56320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D955C9-C9A3-CCCE-E717-A5B5A391E55E}"/>
              </a:ext>
            </a:extLst>
          </p:cNvPr>
          <p:cNvGrpSpPr/>
          <p:nvPr/>
        </p:nvGrpSpPr>
        <p:grpSpPr>
          <a:xfrm>
            <a:off x="4562046" y="3910992"/>
            <a:ext cx="1602019" cy="412422"/>
            <a:chOff x="3809830" y="4477461"/>
            <a:chExt cx="1602019" cy="41242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56F8D4-C5B1-AE7C-812D-B21452A66E3C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</a:rPr>
                <a:t>Teralynx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</a:endParaRPr>
            </a:p>
          </p:txBody>
        </p:sp>
        <p:pic>
          <p:nvPicPr>
            <p:cNvPr id="4" name="图像" descr="图像">
              <a:extLst>
                <a:ext uri="{FF2B5EF4-FFF2-40B4-BE49-F238E27FC236}">
                  <a16:creationId xmlns:a16="http://schemas.microsoft.com/office/drawing/2014/main" id="{E6A22A77-7A62-7A4E-D357-868438744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0C5CD62-2D3F-2D2E-2D15-B48B81AE95C9}"/>
                </a:ext>
              </a:extLst>
            </p:cNvPr>
            <p:cNvSpPr txBox="1"/>
            <p:nvPr/>
          </p:nvSpPr>
          <p:spPr>
            <a:xfrm>
              <a:off x="3809830" y="4628273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Demo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3AD19CF5-AC7C-5F60-B9DE-3668CE65FF81}"/>
              </a:ext>
            </a:extLst>
          </p:cNvPr>
          <p:cNvGrpSpPr/>
          <p:nvPr/>
        </p:nvGrpSpPr>
        <p:grpSpPr>
          <a:xfrm>
            <a:off x="7829113" y="5691528"/>
            <a:ext cx="754380" cy="549547"/>
            <a:chOff x="2302741" y="5497808"/>
            <a:chExt cx="754380" cy="549547"/>
          </a:xfrm>
        </p:grpSpPr>
        <p:sp>
          <p:nvSpPr>
            <p:cNvPr id="1037" name="iconfont-1018-792472">
              <a:extLst>
                <a:ext uri="{FF2B5EF4-FFF2-40B4-BE49-F238E27FC236}">
                  <a16:creationId xmlns:a16="http://schemas.microsoft.com/office/drawing/2014/main" id="{EBB5E8EE-6325-FAE7-4474-198D7B57724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984C29D9-A50C-80E3-8A44-5F8EC7CF14CD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2024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E602BF3A-9CF1-E5A2-1133-27AABA328861}"/>
              </a:ext>
            </a:extLst>
          </p:cNvPr>
          <p:cNvGrpSpPr/>
          <p:nvPr/>
        </p:nvGrpSpPr>
        <p:grpSpPr>
          <a:xfrm>
            <a:off x="7451507" y="3550871"/>
            <a:ext cx="1273746" cy="414636"/>
            <a:chOff x="1758058" y="4289861"/>
            <a:chExt cx="1273746" cy="414636"/>
          </a:xfrm>
        </p:grpSpPr>
        <p:pic>
          <p:nvPicPr>
            <p:cNvPr id="1071" name="图像" descr="图像">
              <a:extLst>
                <a:ext uri="{FF2B5EF4-FFF2-40B4-BE49-F238E27FC236}">
                  <a16:creationId xmlns:a16="http://schemas.microsoft.com/office/drawing/2014/main" id="{C980E913-4E30-300C-EF62-BDD26B412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EA8F9B55-A1AA-2EE9-DA55-0B9997FF346D}"/>
                </a:ext>
              </a:extLst>
            </p:cNvPr>
            <p:cNvSpPr txBox="1"/>
            <p:nvPr/>
          </p:nvSpPr>
          <p:spPr>
            <a:xfrm>
              <a:off x="1758058" y="4450581"/>
              <a:ext cx="12737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Mass production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073" name="文本框 1072">
              <a:extLst>
                <a:ext uri="{FF2B5EF4-FFF2-40B4-BE49-F238E27FC236}">
                  <a16:creationId xmlns:a16="http://schemas.microsoft.com/office/drawing/2014/main" id="{76E2EE8F-1735-4673-60DD-5E9408493BDB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C38BBD4-9A9E-3AC1-4501-B00C8778DAE9}"/>
              </a:ext>
            </a:extLst>
          </p:cNvPr>
          <p:cNvGrpSpPr/>
          <p:nvPr/>
        </p:nvGrpSpPr>
        <p:grpSpPr>
          <a:xfrm>
            <a:off x="7540739" y="3910992"/>
            <a:ext cx="1602019" cy="566310"/>
            <a:chOff x="3809830" y="4477461"/>
            <a:chExt cx="1602019" cy="56631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7F8740F-3118-ECA2-6F87-C8EEA43B212D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</a:rPr>
                <a:t>Teralynx10</a:t>
              </a:r>
            </a:p>
          </p:txBody>
        </p:sp>
        <p:pic>
          <p:nvPicPr>
            <p:cNvPr id="15" name="图像" descr="图像">
              <a:extLst>
                <a:ext uri="{FF2B5EF4-FFF2-40B4-BE49-F238E27FC236}">
                  <a16:creationId xmlns:a16="http://schemas.microsoft.com/office/drawing/2014/main" id="{BCA805E4-99C2-F829-CD9B-3A17621E6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7EF852-4BE8-7C4C-2624-345DDB40618E}"/>
                </a:ext>
              </a:extLst>
            </p:cNvPr>
            <p:cNvSpPr txBox="1"/>
            <p:nvPr/>
          </p:nvSpPr>
          <p:spPr>
            <a:xfrm>
              <a:off x="3809830" y="4628273"/>
              <a:ext cx="138119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Mass production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(not CPO)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59594C2-28B8-80C5-B266-B933F316C10A}"/>
              </a:ext>
            </a:extLst>
          </p:cNvPr>
          <p:cNvCxnSpPr>
            <a:cxnSpLocks/>
          </p:cNvCxnSpPr>
          <p:nvPr/>
        </p:nvCxnSpPr>
        <p:spPr>
          <a:xfrm>
            <a:off x="2315177" y="4995164"/>
            <a:ext cx="185586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15AB933-0C8A-C8A5-1639-FE116E3B205F}"/>
              </a:ext>
            </a:extLst>
          </p:cNvPr>
          <p:cNvCxnSpPr>
            <a:cxnSpLocks/>
          </p:cNvCxnSpPr>
          <p:nvPr/>
        </p:nvCxnSpPr>
        <p:spPr>
          <a:xfrm>
            <a:off x="4137309" y="3961026"/>
            <a:ext cx="0" cy="103758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6E28EF1-ADEF-25FF-86AF-EDB1F3CC2312}"/>
              </a:ext>
            </a:extLst>
          </p:cNvPr>
          <p:cNvCxnSpPr>
            <a:cxnSpLocks/>
          </p:cNvCxnSpPr>
          <p:nvPr/>
        </p:nvCxnSpPr>
        <p:spPr>
          <a:xfrm>
            <a:off x="4138001" y="3951720"/>
            <a:ext cx="471934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7C61D60-D220-929E-1FD4-EBB2AE970DF3}"/>
              </a:ext>
            </a:extLst>
          </p:cNvPr>
          <p:cNvCxnSpPr>
            <a:cxnSpLocks/>
          </p:cNvCxnSpPr>
          <p:nvPr/>
        </p:nvCxnSpPr>
        <p:spPr>
          <a:xfrm>
            <a:off x="8850140" y="3319356"/>
            <a:ext cx="0" cy="64167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3CB896F-F638-3A63-C316-677D350ACB29}"/>
              </a:ext>
            </a:extLst>
          </p:cNvPr>
          <p:cNvCxnSpPr>
            <a:cxnSpLocks/>
          </p:cNvCxnSpPr>
          <p:nvPr/>
        </p:nvCxnSpPr>
        <p:spPr>
          <a:xfrm>
            <a:off x="8850140" y="3303510"/>
            <a:ext cx="133864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D43493-F922-E438-2BFE-3037D8D810A2}"/>
              </a:ext>
            </a:extLst>
          </p:cNvPr>
          <p:cNvGrpSpPr/>
          <p:nvPr/>
        </p:nvGrpSpPr>
        <p:grpSpPr>
          <a:xfrm>
            <a:off x="9434403" y="5691528"/>
            <a:ext cx="754380" cy="549547"/>
            <a:chOff x="2302741" y="5497808"/>
            <a:chExt cx="754380" cy="549547"/>
          </a:xfrm>
        </p:grpSpPr>
        <p:sp>
          <p:nvSpPr>
            <p:cNvPr id="1024" name="iconfont-1018-792472">
              <a:extLst>
                <a:ext uri="{FF2B5EF4-FFF2-40B4-BE49-F238E27FC236}">
                  <a16:creationId xmlns:a16="http://schemas.microsoft.com/office/drawing/2014/main" id="{7AF0C5E6-FB4F-D850-064D-0E2342108A0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025" name="文本框 1024">
              <a:extLst>
                <a:ext uri="{FF2B5EF4-FFF2-40B4-BE49-F238E27FC236}">
                  <a16:creationId xmlns:a16="http://schemas.microsoft.com/office/drawing/2014/main" id="{23D0C599-611C-273C-24CF-A34740DECC5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2025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1074" name="组合 1073">
            <a:extLst>
              <a:ext uri="{FF2B5EF4-FFF2-40B4-BE49-F238E27FC236}">
                <a16:creationId xmlns:a16="http://schemas.microsoft.com/office/drawing/2014/main" id="{C1C15FF8-B38E-2347-E6BF-0AA597530D07}"/>
              </a:ext>
            </a:extLst>
          </p:cNvPr>
          <p:cNvGrpSpPr/>
          <p:nvPr/>
        </p:nvGrpSpPr>
        <p:grpSpPr>
          <a:xfrm>
            <a:off x="8963373" y="2692573"/>
            <a:ext cx="1385065" cy="739456"/>
            <a:chOff x="1699272" y="4289861"/>
            <a:chExt cx="1385065" cy="739456"/>
          </a:xfrm>
        </p:grpSpPr>
        <p:pic>
          <p:nvPicPr>
            <p:cNvPr id="1075" name="图像" descr="图像">
              <a:extLst>
                <a:ext uri="{FF2B5EF4-FFF2-40B4-BE49-F238E27FC236}">
                  <a16:creationId xmlns:a16="http://schemas.microsoft.com/office/drawing/2014/main" id="{A6744F7E-615C-3075-A124-F1955C3CF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6" name="文本框 1075">
              <a:extLst>
                <a:ext uri="{FF2B5EF4-FFF2-40B4-BE49-F238E27FC236}">
                  <a16:creationId xmlns:a16="http://schemas.microsoft.com/office/drawing/2014/main" id="{7F1B6AD4-6C8B-B494-A452-8E980E9C3488}"/>
                </a:ext>
              </a:extLst>
            </p:cNvPr>
            <p:cNvSpPr txBox="1"/>
            <p:nvPr/>
          </p:nvSpPr>
          <p:spPr>
            <a:xfrm>
              <a:off x="1699272" y="4452236"/>
              <a:ext cx="1385065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25.06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Mass production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077" name="文本框 1076">
              <a:extLst>
                <a:ext uri="{FF2B5EF4-FFF2-40B4-BE49-F238E27FC236}">
                  <a16:creationId xmlns:a16="http://schemas.microsoft.com/office/drawing/2014/main" id="{1924BB38-0D65-1DD3-A576-58761C9BB514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TH6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C48F1A3-D786-E4DF-401A-917C46558707}"/>
              </a:ext>
            </a:extLst>
          </p:cNvPr>
          <p:cNvGrpSpPr/>
          <p:nvPr/>
        </p:nvGrpSpPr>
        <p:grpSpPr>
          <a:xfrm>
            <a:off x="10217127" y="2706121"/>
            <a:ext cx="1372061" cy="743067"/>
            <a:chOff x="4812563" y="3071024"/>
            <a:chExt cx="1372061" cy="743067"/>
          </a:xfrm>
        </p:grpSpPr>
        <p:pic>
          <p:nvPicPr>
            <p:cNvPr id="1048" name="图像" descr="图像">
              <a:extLst>
                <a:ext uri="{FF2B5EF4-FFF2-40B4-BE49-F238E27FC236}">
                  <a16:creationId xmlns:a16="http://schemas.microsoft.com/office/drawing/2014/main" id="{0683585B-22F3-9DA0-E9C8-2DF87DF7C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1083" name="组合 1082">
              <a:extLst>
                <a:ext uri="{FF2B5EF4-FFF2-40B4-BE49-F238E27FC236}">
                  <a16:creationId xmlns:a16="http://schemas.microsoft.com/office/drawing/2014/main" id="{C4025FA0-2555-83B8-81C1-C52CC2E937DD}"/>
                </a:ext>
              </a:extLst>
            </p:cNvPr>
            <p:cNvGrpSpPr/>
            <p:nvPr/>
          </p:nvGrpSpPr>
          <p:grpSpPr>
            <a:xfrm>
              <a:off x="4812563" y="3071024"/>
              <a:ext cx="1372061" cy="743067"/>
              <a:chOff x="1680977" y="4286017"/>
              <a:chExt cx="1372061" cy="743067"/>
            </a:xfrm>
          </p:grpSpPr>
          <p:sp>
            <p:nvSpPr>
              <p:cNvPr id="1085" name="文本框 1084">
                <a:extLst>
                  <a:ext uri="{FF2B5EF4-FFF2-40B4-BE49-F238E27FC236}">
                    <a16:creationId xmlns:a16="http://schemas.microsoft.com/office/drawing/2014/main" id="{47EDAC5D-A457-72C6-852E-2E505182A312}"/>
                  </a:ext>
                </a:extLst>
              </p:cNvPr>
              <p:cNvSpPr txBox="1"/>
              <p:nvPr/>
            </p:nvSpPr>
            <p:spPr>
              <a:xfrm>
                <a:off x="1680977" y="4452003"/>
                <a:ext cx="1332686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26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Mass production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1086" name="文本框 1085">
                <a:extLst>
                  <a:ext uri="{FF2B5EF4-FFF2-40B4-BE49-F238E27FC236}">
                    <a16:creationId xmlns:a16="http://schemas.microsoft.com/office/drawing/2014/main" id="{8F3793D4-D5A8-BCF6-548D-919A35D9B7D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DEE0">
                        <a:lumMod val="1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Spectrum 6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3579D6F-B950-0FFD-EC91-DAE986419410}"/>
              </a:ext>
            </a:extLst>
          </p:cNvPr>
          <p:cNvGrpSpPr/>
          <p:nvPr/>
        </p:nvGrpSpPr>
        <p:grpSpPr>
          <a:xfrm>
            <a:off x="9119384" y="3542631"/>
            <a:ext cx="1433592" cy="620092"/>
            <a:chOff x="4751032" y="3071024"/>
            <a:chExt cx="1433592" cy="620092"/>
          </a:xfrm>
        </p:grpSpPr>
        <p:pic>
          <p:nvPicPr>
            <p:cNvPr id="63" name="图像" descr="图像">
              <a:extLst>
                <a:ext uri="{FF2B5EF4-FFF2-40B4-BE49-F238E27FC236}">
                  <a16:creationId xmlns:a16="http://schemas.microsoft.com/office/drawing/2014/main" id="{7CE4FE3A-99AE-78A5-1B03-679226B27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034F3584-850E-22C1-4065-516B8D2304BD}"/>
                </a:ext>
              </a:extLst>
            </p:cNvPr>
            <p:cNvGrpSpPr/>
            <p:nvPr/>
          </p:nvGrpSpPr>
          <p:grpSpPr>
            <a:xfrm>
              <a:off x="4751032" y="3071024"/>
              <a:ext cx="1433592" cy="620092"/>
              <a:chOff x="1619446" y="4286017"/>
              <a:chExt cx="1433592" cy="620092"/>
            </a:xfrm>
          </p:grpSpPr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D7EB8BB-BF22-FAE5-806B-A6E29FC24C57}"/>
                  </a:ext>
                </a:extLst>
              </p:cNvPr>
              <p:cNvSpPr txBox="1"/>
              <p:nvPr/>
            </p:nvSpPr>
            <p:spPr>
              <a:xfrm>
                <a:off x="1619446" y="4490611"/>
                <a:ext cx="133864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Announced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Mass production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B011860-7AA9-694B-D98D-56EB50211C5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DEE0">
                        <a:lumMod val="1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Spectrum 5</a:t>
                </a:r>
              </a:p>
            </p:txBody>
          </p:sp>
        </p:grpSp>
      </p:grp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5592A4CA-65CA-0A51-BE23-797E10DFF4A3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0153573" y="2575944"/>
            <a:ext cx="0" cy="72945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7F6C77D9-FFDD-A14B-B57A-D85A6E9445E2}"/>
              </a:ext>
            </a:extLst>
          </p:cNvPr>
          <p:cNvSpPr/>
          <p:nvPr/>
        </p:nvSpPr>
        <p:spPr>
          <a:xfrm>
            <a:off x="3763917" y="1677643"/>
            <a:ext cx="5199456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Timeline of CPO Switch Chip Milestones</a:t>
            </a:r>
            <a:r>
              <a:rPr kumimoji="0" lang="en-US" altLang="zh-CN" sz="1600" b="0" i="0" u="none" strike="noStrike" kern="1200" cap="none" spc="0" normalizeH="0" baseline="3000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(2020–2025)​</a:t>
            </a:r>
          </a:p>
        </p:txBody>
      </p:sp>
    </p:spTree>
    <p:extLst>
      <p:ext uri="{BB962C8B-B14F-4D97-AF65-F5344CB8AC3E}">
        <p14:creationId xmlns:p14="http://schemas.microsoft.com/office/powerpoint/2010/main" val="132674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/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cs"/>
              </a:rPr>
              <a:t>Capability Profile of Integrated Giants Across the CPO Value Chain</a:t>
            </a:r>
            <a:r>
              <a:rPr kumimoji="0" lang="en-US" altLang="zh-CN" sz="1400" b="1" i="0" u="none" strike="noStrike" kern="1200" cap="none" spc="0" normalizeH="0" baseline="3000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cs"/>
              </a:rPr>
              <a:t>1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cs"/>
              </a:rPr>
              <a:t>Design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cs"/>
              </a:rPr>
              <a:t>Assembly &amp; Test</a:t>
            </a:r>
            <a:endParaRPr kumimoji="0" lang="en-GB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sp>
        <p:nvSpPr>
          <p:cNvPr id="72" name="标题 1">
            <a:extLst>
              <a:ext uri="{FF2B5EF4-FFF2-40B4-BE49-F238E27FC236}">
                <a16:creationId xmlns:a16="http://schemas.microsoft.com/office/drawing/2014/main" id="{A1810013-68A2-F16E-DBA1-099AC577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/>
          <a:lstStyle/>
          <a:p>
            <a:r>
              <a:rPr lang="en-US" altLang="zh-CN" dirty="0">
                <a:ea typeface="+mn-ea"/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cs"/>
                </a:rPr>
                <a:t>Broadcom leads the CPO ecosystem with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cs"/>
                </a:rPr>
                <a:t>strongest capabilities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cs"/>
                </a:rPr>
                <a:t>.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cs"/>
              </a:rPr>
              <a:t>Final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cs"/>
              </a:rPr>
              <a:t>Packaging 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cs"/>
              </a:rPr>
              <a:t>Foundry</a:t>
            </a:r>
            <a:endParaRPr kumimoji="0" lang="en-GB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Broadcom,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Nvidia,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Intel,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Cisco,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Marvell;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Note: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Not an exhaustive list; focusing on key partners.​</a:t>
            </a: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01" imgH="401" progId="TCLayout.ActiveDocument.1">
                  <p:embed/>
                </p:oleObj>
              </mc:Choice>
              <mc:Fallback>
                <p:oleObj name="think-cell 幻灯片" r:id="rId1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本框 75">
            <a:extLst>
              <a:ext uri="{FF2B5EF4-FFF2-40B4-BE49-F238E27FC236}">
                <a16:creationId xmlns:a16="http://schemas.microsoft.com/office/drawing/2014/main" id="{DAD59D82-61AE-8A79-DEFC-018A8CBAF289}"/>
              </a:ext>
            </a:extLst>
          </p:cNvPr>
          <p:cNvSpPr txBox="1"/>
          <p:nvPr/>
        </p:nvSpPr>
        <p:spPr>
          <a:xfrm>
            <a:off x="6105525" y="3858418"/>
            <a:ext cx="1662113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Amazon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MSFT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Intel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DE6BB8-FA89-3E25-EA44-004C929E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Why Broadcom Bets on CPO: Aligning with HPC's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Nomura Securities,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J.P.Morgan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Fubon Research,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BNP</a:t>
            </a:r>
          </a:p>
        </p:txBody>
      </p:sp>
      <p:graphicFrame>
        <p:nvGraphicFramePr>
          <p:cNvPr id="34" name="Chart 3">
            <a:extLst>
              <a:ext uri="{FF2B5EF4-FFF2-40B4-BE49-F238E27FC236}">
                <a16:creationId xmlns:a16="http://schemas.microsoft.com/office/drawing/2014/main" id="{A1FB8181-D34E-060F-1075-6718B82EBCA1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77850" y="2249488"/>
          <a:ext cx="6672263" cy="3862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3789363" y="4075113"/>
            <a:ext cx="3508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t>&gt;</a:t>
            </a:r>
            <a:fld id="{2757261A-3181-4463-8333-0ED1F2DB49E5}" type="datetime'''''''''3''3'''''''''''''''''''''''''''''''''''''''''''''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33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628650" y="2122488"/>
            <a:ext cx="562610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Shipment Portion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）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8CDAD01-36A1-CF67-846C-CAABF8345DFC}"/>
              </a:ext>
            </a:extLst>
          </p:cNvPr>
          <p:cNvSpPr txBox="1"/>
          <p:nvPr/>
        </p:nvSpPr>
        <p:spPr>
          <a:xfrm>
            <a:off x="5283834" y="2899352"/>
            <a:ext cx="562610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26E,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ASIC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surpass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GPU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PingFang SC"/>
              <a:ea typeface="楷体"/>
              <a:cs typeface="+mn-cs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4008438" y="5000625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Google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Meta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089650" y="4587080"/>
            <a:ext cx="1660525" cy="101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Google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Meta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ByteDance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OpenAI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xAI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PingFang SC"/>
              <a:ea typeface="楷体"/>
              <a:cs typeface="+mn-cs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2433638" y="6126163"/>
            <a:ext cx="231775" cy="0"/>
          </a:xfrm>
          <a:prstGeom prst="line">
            <a:avLst/>
          </a:prstGeom>
          <a:ln w="1905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8163FD0-FFF7-9ABC-9D0A-768743A88758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3252788" y="6126163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4062413" y="6126163"/>
            <a:ext cx="190500" cy="0"/>
          </a:xfrm>
          <a:prstGeom prst="line">
            <a:avLst/>
          </a:prstGeom>
          <a:ln w="19050" cap="rnd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725738" y="6027738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0CA14096-24AE-49D8-9F9F-FD7E7C057D2D}" type="datetime'''''''''''''''''''''''''''''''A''''S''IC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ASIC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8828DF58-8F6B-50C8-8A1F-70A0C4A238BF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544888" y="602773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C764266F-E44F-445E-86DA-50010A4C62D3}" type="datetime'''''''''G''''''''''''''P''''''''''''''''U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GPU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333875" y="6027738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t>Broadcom ASIC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B018FD-CABA-9F0D-4320-90336A0C6383}"/>
              </a:ext>
            </a:extLst>
          </p:cNvPr>
          <p:cNvSpPr txBox="1"/>
          <p:nvPr/>
        </p:nvSpPr>
        <p:spPr>
          <a:xfrm>
            <a:off x="8224679" y="231615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2025E Main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ASIC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Vendors’s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Shipment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04E9696-50D4-422E-7328-86E1EFE26E7E}"/>
              </a:ext>
            </a:extLst>
          </p:cNvPr>
          <p:cNvSpPr txBox="1"/>
          <p:nvPr/>
        </p:nvSpPr>
        <p:spPr>
          <a:xfrm>
            <a:off x="4008438" y="4273550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Amazon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MSFT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Intel</a:t>
            </a:r>
          </a:p>
        </p:txBody>
      </p:sp>
      <p:sp>
        <p:nvSpPr>
          <p:cNvPr id="986" name="矩形 985">
            <a:extLst>
              <a:ext uri="{FF2B5EF4-FFF2-40B4-BE49-F238E27FC236}">
                <a16:creationId xmlns:a16="http://schemas.microsoft.com/office/drawing/2014/main" id="{BAE37BE9-FE2A-7B0D-051E-278867DB87D0}"/>
              </a:ext>
            </a:extLst>
          </p:cNvPr>
          <p:cNvSpPr/>
          <p:nvPr/>
        </p:nvSpPr>
        <p:spPr>
          <a:xfrm>
            <a:off x="649816" y="1072007"/>
            <a:ext cx="10989734" cy="1022549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①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ASIC: The inevitable trend. Broadcom plays a central role.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HPCs seek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computing autonomy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 &amp; cost control​ → More players partner with Broadcom;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14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​​OpenAI,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xAI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: New volume production orders in 2026 will ​bring forward the “ASIC &gt; GPU” inflection point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from 2027–28 to 2026.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PingFang SC"/>
              <a:ea typeface="楷体"/>
              <a:cs typeface="+mn-cs"/>
            </a:endParaRPr>
          </a:p>
        </p:txBody>
      </p:sp>
      <p:graphicFrame>
        <p:nvGraphicFramePr>
          <p:cNvPr id="1037" name="Chart 3">
            <a:extLst>
              <a:ext uri="{FF2B5EF4-FFF2-40B4-BE49-F238E27FC236}">
                <a16:creationId xmlns:a16="http://schemas.microsoft.com/office/drawing/2014/main" id="{1EB0A3BD-C493-117D-7087-AD8A70B0E6D1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8145463" y="3005138"/>
          <a:ext cx="2681287" cy="294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993" name="Text Placeholder 4">
            <a:extLst>
              <a:ext uri="{FF2B5EF4-FFF2-40B4-BE49-F238E27FC236}">
                <a16:creationId xmlns:a16="http://schemas.microsoft.com/office/drawing/2014/main" id="{72510644-12DD-8B05-2EAA-33747E79196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0577513" y="3968750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C64BDAC4-288A-4BD7-9E68-6148510A5DDB}" type="datetime'''A''''''''''''''''''ma''''''''z''o''''''''''''''''''''''n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Amazon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4" name="Text Placeholder 4">
            <a:extLst>
              <a:ext uri="{FF2B5EF4-FFF2-40B4-BE49-F238E27FC236}">
                <a16:creationId xmlns:a16="http://schemas.microsoft.com/office/drawing/2014/main" id="{C9F2E315-66A9-0EC9-1AFD-6C45ACD181F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950200" y="5060950"/>
            <a:ext cx="571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F01C0738-3EE2-4505-B79A-4516277350D1}" type="datetime'G''''''oog''''''''''''''''''''''l''''''''''''''''''''''e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Google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5" name="Text Placeholder 4">
            <a:extLst>
              <a:ext uri="{FF2B5EF4-FFF2-40B4-BE49-F238E27FC236}">
                <a16:creationId xmlns:a16="http://schemas.microsoft.com/office/drawing/2014/main" id="{E9F40228-5429-4545-FCDD-4FFE85605CF2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8894763" y="3173413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3685E308-D38A-491F-9826-5B717361118F}" type="datetime'M''''''''''''''''''''''''''''''e''''''''''''''ta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Meta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18" name="文本框 1017">
            <a:extLst>
              <a:ext uri="{FF2B5EF4-FFF2-40B4-BE49-F238E27FC236}">
                <a16:creationId xmlns:a16="http://schemas.microsoft.com/office/drawing/2014/main" id="{8073F76C-E6A4-0018-4D76-8F318BFCE52A}"/>
              </a:ext>
            </a:extLst>
          </p:cNvPr>
          <p:cNvSpPr txBox="1"/>
          <p:nvPr/>
        </p:nvSpPr>
        <p:spPr>
          <a:xfrm>
            <a:off x="8791151" y="294322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100-300k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units</a:t>
            </a:r>
          </a:p>
        </p:txBody>
      </p:sp>
      <p:sp>
        <p:nvSpPr>
          <p:cNvPr id="1022" name="文本框 1021">
            <a:extLst>
              <a:ext uri="{FF2B5EF4-FFF2-40B4-BE49-F238E27FC236}">
                <a16:creationId xmlns:a16="http://schemas.microsoft.com/office/drawing/2014/main" id="{BAF251EB-D043-0852-4E82-8EAEBBF6E444}"/>
              </a:ext>
            </a:extLst>
          </p:cNvPr>
          <p:cNvSpPr txBox="1"/>
          <p:nvPr/>
        </p:nvSpPr>
        <p:spPr>
          <a:xfrm>
            <a:off x="10474431" y="374715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1400-1500k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units</a:t>
            </a:r>
          </a:p>
        </p:txBody>
      </p:sp>
      <p:sp>
        <p:nvSpPr>
          <p:cNvPr id="1023" name="文本框 1022">
            <a:extLst>
              <a:ext uri="{FF2B5EF4-FFF2-40B4-BE49-F238E27FC236}">
                <a16:creationId xmlns:a16="http://schemas.microsoft.com/office/drawing/2014/main" id="{E11EB400-8654-69BA-2A6A-22A13588DD25}"/>
              </a:ext>
            </a:extLst>
          </p:cNvPr>
          <p:cNvSpPr txBox="1"/>
          <p:nvPr/>
        </p:nvSpPr>
        <p:spPr>
          <a:xfrm>
            <a:off x="7531100" y="521696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1500-2000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units</a:t>
            </a: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1F44BCD-E96A-EC37-D488-0C77B9D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Why Broadcom Bets on CPO: Aligning with HPC's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Fubon Research,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Semiconductor Research, </a:t>
            </a:r>
            <a:r>
              <a:rPr kumimoji="1" lang="en-US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LightCounting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7" name="Chart 3">
            <a:extLst>
              <a:ext uri="{FF2B5EF4-FFF2-40B4-BE49-F238E27FC236}">
                <a16:creationId xmlns:a16="http://schemas.microsoft.com/office/drawing/2014/main" id="{5B981BC7-9560-7465-B7E9-3FBD863794A5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64146F4F-47BE-4702-B85B-421FE5EF85BD}" type="datetime'2''''''''''''''''''''3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23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09CB6826-960E-4612-8416-AEE121A086FC}" type="datetime'''''''''''''''''''''''''''2''''4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24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C04D0655-3735-4378-A611-64403D9586AD}" type="datetime'''''''2''''''''''''''''''''''''''''5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25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415F0CF3-16E9-4197-AEE5-CF017D0A7ADA}" type="datetime'''''''''''''''''2''''''''''6'''''''''''''''''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26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FB89ED49-E183-4C30-8FFF-D92644A6C394}" type="datetime'''''''''''''''''2''''''2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22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66237" y="5984875"/>
            <a:ext cx="1925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t>Year of Mass Production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29822A73-411B-476A-AEEB-C0B1CC742D35}" type="datetime'BF''''16/''''FP1''''''''6'''' ''''''(T''''F''''''LOP''S'')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BF16/FP16 (TFLOPS)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97DBA623-2D57-45ED-9761-80715C6B107D}" type="datetime'''''''G''''''''''''''''''B''2''''''''''''''0''''''''''0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GB200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C89CF6F8-3DFE-41A7-819D-604BB69C1970}" type="datetime'''''''''''''''''''''''''''''''''''''B''''''''''''2''''0''0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B200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4256EE73-22E1-4F10-9011-73DDDDBB05A6}" type="datetime'H''20''''''''''''''0''-''''''''''''''''''''S''''XM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H200-SXM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74E2C4B8-52BE-4587-B4DA-F237F6C4335D}" type="datetime'''H''''''1''''''''0''''''''''''''''''''''''0-''''''''SXM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H100-SXM</a:t>
            </a:fld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CE76C85E-D886-4470-BC5E-E5213013439C}" type="datetime'A8''''''''''''''''0''''''0-S''''''X''M''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A800-SXM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C1995ECD-5DBD-46B8-B0C9-5C5973EDBC8C}" type="datetime'G''''''o''''''''''o''''''''gl''''e-''TPU'''' v6''''''''''e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Google-TPU v6e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3B09CC43-4DEE-4AC8-9A62-42BDFB0C872A}" type="datetime'''G''o''''o''g''''''le-''''''''TP''''''''U'''''' v''''5p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Google-TPU v5p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03C44BA8-37EB-4785-B47D-491B3BF827B7}" type="datetime'''''''''A''WS''''''''-T''r''a''i''n''''''''u''m''3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AWS-Trainum3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275193A0-1B9C-458B-9725-9E41D0E322EA}" type="datetime'''A''W''''''S''''''''''-T''''''''''''r''''an''''iu''m2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AWS-Tranium2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0BD81C13-0B36-4EE4-AD3B-BAC462CE44E9}" type="datetime'''''''''M''''e''''''ta''-''M''''TI''A ''''V''2''''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Meta-MTIA V2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418FAF74-62C6-4C98-80A5-D0BF6C5C2F3D}" type="datetime'Meta-''''''''''''M''T''''''I''A'''''''' ''''V''''1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Meta-MTIA V1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9BD21EBC-5A05-484F-B854-FF6FB66FEE31}" type="datetime'''''A''''MD-M''''''''''''''''I3''25''''x''''''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AMD-MI325x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607B8667-5208-40F9-AC86-FD59038E6E0D}" type="datetime'''''''AM''''D''-M''''''''I''''''''''''''''3''''''''5''5X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AMD-MI355X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29A01359-1439-4648-A683-72B279A68492}" type="datetime'AMD-''''''M''I3''''5''''''''''''''''0''X''''''''''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AMD-MI350X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2EDE3590-D6D1-434B-B988-960D47C45346}" type="datetime'''''''''''''I''n''''t''el''''''-''Ga''''u''di3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Intel-Gaudi3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FAC0DD1A-8534-4EBE-AB0F-7228FE072712}" type="datetime'''I''''nt''e''''''l''''-''G''''a''''''''''''''u''''''''d''i2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Intel-Gaudi2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t>Ascend 910C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t>Ascend 910B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7F0AB4BA-C576-4D40-9D80-775FEA499703}" type="datetime'''Go''o''''''gl''''''''e-''​''''''''''T''P''''''''U v7p​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Google-​TPU v7p​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62825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0448F5BC-ABAF-4C21-8BE7-72C186D7AD6D}" type="datetime'''''''''''G''''''P''''''''''''''''''''''U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GPU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fld id="{6273C0FD-FFEF-43A6-A7F8-49925299CAA2}" type="datetime'''''A''''''SI''''''''''''''C/x''''''PU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3585F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t>ASIC/xPU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551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t>General-Purpose Compute Card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83488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3585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Arial" panose="020B0604020202020204" pitchFamily="34" charset="0"/>
                <a:sym typeface="微软雅黑" panose="020B0503020204020204" pitchFamily="34" charset="-122"/>
              </a:rPr>
              <a:t>Huawei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cs"/>
              </a:rPr>
              <a:t>42%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cs"/>
              </a:rPr>
              <a:t>46%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cs"/>
              </a:rPr>
              <a:t>34%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②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ASIC: Weaker per-card performance, requiring optical interconnect &amp; CPO when scaling.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14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Top ASIC per-card performance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≈ ​40%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of same-gen GPU​ (similar to domestic Scale-up logic);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14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Cloud ASICs expected to drive ​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~80% of transceiver market growth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ngFang SC"/>
                <a:ea typeface="楷体"/>
                <a:cs typeface="+mn-cs"/>
              </a:rPr>
              <a:t>; leaders like ​Google, Amazon​ now evolving toward ​CPO.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PingFang SC"/>
              <a:ea typeface="楷体"/>
              <a:cs typeface="+mn-cs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cs"/>
              </a:rPr>
              <a:t>Reserving CPO interfaces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cs"/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Robo-Technik</a:t>
            </a:r>
            <a:endParaRPr kumimoji="1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728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Market Position: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One of the very few global supplier for automated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SiPh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/CPO module assembly &amp; test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Prospects: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Unmatched high-precision packaging capability, crucial for CPO era.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Seed-round investment. 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2001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2002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2025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472427"/>
            <a:ext cx="3110118" cy="2919963"/>
            <a:chOff x="1052162" y="3649002"/>
            <a:chExt cx="3110118" cy="2919963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649002"/>
              <a:ext cx="3110118" cy="2919963"/>
              <a:chOff x="923365" y="3511524"/>
              <a:chExt cx="3110118" cy="2919963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/>
                      <a:ea typeface="楷体"/>
                      <a:cs typeface="+mn-ea"/>
                      <a:sym typeface="+mn-lt"/>
                    </a:rPr>
                    <a:t>Micro-assembly</a:t>
                  </a:r>
                  <a:endPara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33488" y="3511524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Revenue Breakdown (2023A)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003" y="4437422"/>
              <a:ext cx="124208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75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ASSEMBLYLINE Series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World-leading accuracy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2025.06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Business: 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Dominator of micro-assembly &amp; automated testing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 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53585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</a:rPr>
                <a:t>Roadmap: 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2023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announced a plan to acquire 100% of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Capacity </a:t>
            </a: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94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units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Output </a:t>
            </a: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80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units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Sales </a:t>
            </a: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96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units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811A02-3CE0-3DE8-0365-8A8A4512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Robo-Technik</a:t>
            </a:r>
            <a:endParaRPr kumimoji="1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Global Delivery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700+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units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ASP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RMB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mn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57192" y="4540299"/>
            <a:ext cx="15574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Tech Group AS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Standard- hardware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Delivery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Low-volume, high-price,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heavy on delivery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19260879-9433-0847-8209-2001BC7786A9}"/>
              </a:ext>
            </a:extLst>
          </p:cNvPr>
          <p:cNvGraphicFramePr>
            <a:graphicFrameLocks/>
          </p:cNvGraphicFramePr>
          <p:nvPr/>
        </p:nvGraphicFramePr>
        <p:xfrm>
          <a:off x="397687" y="2541712"/>
          <a:ext cx="5701757" cy="3498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Gross margin: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~40%,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exceeds the industry average for assembly and test (approx. -30%);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Losses: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Capacity Utilization Rate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85%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Customers &amp; Suppliers: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397687" y="251015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$0.1bn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CR5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Customer Proportion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/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Supplier Proportion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Upstream &amp; Downstream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Profitability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F48045EE-3F8C-A4F8-0B54-F9AE0FBB3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045EE-3F8C-A4F8-0B54-F9AE0FBB3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258FC10A-6E48-BF6C-E338-E510C5B04ADC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Business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Products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4DE523-707B-F6F1-6098-29369A44CF08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Advantages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194B2D-9F90-B8AC-9359-DF7456CD05EC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Progress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42B7A158-75DD-349F-D01C-DE1C1004D9D3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3064033-D000-FE10-E7DE-5DC21087055C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2024.10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：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Shipped 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15k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chiplets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in the past 18 months;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26E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：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First high-volume customers.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A1B8F5-D0BC-3FA4-D0DA-9ABACEB52E9C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OIO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Chiplet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75A6610-4812-1CF8-1C74-D7202344167B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Technology integrated into PCIe 6.0 standard;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Ecosystem barrier.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D226C5-B38E-E0E7-1A77-1F5FA7951C5A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E774ABCF-B9C8-DEB5-E991-EFE99AFF9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5933F121-97EB-551B-9981-34C7F0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15</a:t>
              </a:r>
              <a:r>
                <a:rPr kumimoji="0" lang="en-US" altLang="zh-CN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US</a:t>
              </a:r>
              <a:endParaRPr kumimoji="0" lang="zh-CN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0B2241A-E239-5296-5E0C-6CA6D4B1BE28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6F3C28AB-26FD-E807-11D4-16D3A5BFD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1A493E5D-976D-1969-CD52-F15156262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</a:t>
              </a:r>
              <a:r>
                <a:rPr kumimoji="0" lang="en-US" altLang="zh-CN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US</a:t>
              </a:r>
              <a:endParaRPr kumimoji="0" lang="zh-CN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87C040F-25B6-0304-0507-B8FCC732CC6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453A26C-8BE4-EA01-9579-8E86CCDCF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A06B55FA-4D2C-EDAE-36C9-3C12F222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20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17</a:t>
              </a:r>
              <a:r>
                <a:rPr kumimoji="0" lang="en-US" altLang="zh-CN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DCDEE0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US</a:t>
              </a:r>
              <a:endParaRPr kumimoji="0" lang="zh-CN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BB41C948-5BE5-98E3-AE9D-EFF7476EC14A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Funding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740787D-1C41-228C-5546-E6DD974C01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69AF700F-B4A4-6E59-D887-E8164F4034F3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512Gbps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OIO bandwidth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Ultra-low power: 4.9pJ/bit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5E24262-AB4B-C86E-19A4-9CC7609326E8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9D56FF0-0966-1199-4264-B8CC4002FA50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2C58AC-E8A5-5485-3388-FC0E87A44BD1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1B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E18C78DE-9EA7-95F6-75F6-C9402BD3D9AC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2024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Series D: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$155mn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89C4BBC-1B9A-3768-0BDA-3C0DE94B5E01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POC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=&gt; Mass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Production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8987912-A982-02D0-2828-5A83FC0EF28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179DB382-7110-2064-3FD5-9E55A0AAECA0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64344FB6-DFC6-B58F-3334-A76CC6193946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468BC916-BDF7-630D-6A02-4D900E2E7FCC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9A26B94-4056-BC1F-E0A2-ABB627D795D3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25H2: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Sampling starts,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2027: m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ass production.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4AF2211-68D9-70E5-9D3A-F7A1FB0D215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Systematic OIO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with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long R&amp;D cycle;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Cross-layer solution.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A941743-B058-8529-42C0-C198AB8446FD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5.02 Series C1: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$250mn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D676E2D-99E8-7C9A-0B6F-398D345A1656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Certify =&gt;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Design-in / Early Proto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D829332-790A-E490-D346-C1A4CC61A474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8643D068-FE9C-2B31-B7A1-70D8909EB09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6A92FA1-6A3D-3E9A-217E-A6914A65D79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2025 Summer: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interposer shipment;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2026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:</a:t>
            </a: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L200 CPO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chiplet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shipment.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611AC5F-5F3B-E82A-F692-B854476F64C1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Compatible with Broadcom;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Abstracts packaging layer into hardware (controllable delivery).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9E7D85C-02C0-7F73-1270-C01EB70788B2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2024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.10 Series D: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$400mn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2A83826-B3F1-624C-0729-DB811B97141E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Certify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=&gt;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Design-in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0469C01-E62F-C7FE-4E90-FCF2BFA040E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11EFAFA0-D9C9-C20C-4647-54BA0999893A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CDA7873-203F-94DB-9669-2A442C0F434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TeraPHY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5EA0FD5-41DB-BB51-A835-19A4FB8372E4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​Optical Full-Stack Solutions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22046B8-56DB-B1DE-F63D-EB7DDBE0B18D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Card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：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PFLink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，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14.4 Tbps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/die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Switch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：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1531831-1D5B-F3AC-F72A-89CB663AF497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Photonic Fabric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556073A-01C0-DBC5-8B89-C9D4C5946C33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CPO/OIO Passage Interposer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62BAB08-826A-EB9F-5F5B-D2AA9A949795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Passage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Series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7CE49E3B-AA16-B54A-2488-5DA1BC02F00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D0317A9C-D233-0ECC-6C89-C86D1FC398AB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40F0C6F-6001-D662-0F30-93376921F213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EDFA2CFF-A692-CB23-28AD-ED488BB305F4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2.5B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CE36DD8-20E0-8AFB-2FF8-5AE5493152DF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81E82B5-4E56-D670-69BD-78A21C96D3F0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EB4E003-929A-2EFF-2140-D552D89CE73D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4.4B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E74D20E-4E5D-CEA7-1F06-A5BC86F90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0109CB79-72CC-E638-67C3-318EF815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64885C04-A843-E56C-F1A9-6074FEF3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Proprietary silicon photonics chip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EE0">
                    <a:lumMod val="1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Package-level solution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CDEE0">
                  <a:lumMod val="1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BC0FB846-1F99-DC19-E265-2614538284BB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 w="6350" cap="flat">
                  <a:noFill/>
                  <a:miter lim="800000"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CPO Startups Comparison: Ayar Labs, </a:t>
            </a:r>
            <a:r>
              <a:rPr kumimoji="0" lang="en-US" altLang="zh-CN" sz="2500" b="0" i="0" u="none" strike="noStrike" kern="1200" cap="none" spc="0" normalizeH="0" baseline="0" noProof="0" dirty="0" err="1">
                <a:ln w="6350" cap="flat">
                  <a:noFill/>
                  <a:miter lim="800000"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Lightmatter</a:t>
            </a:r>
            <a:r>
              <a:rPr kumimoji="0" lang="en-US" altLang="zh-CN" sz="2500" b="0" i="0" u="none" strike="noStrike" kern="1200" cap="none" spc="0" normalizeH="0" baseline="0" noProof="0" dirty="0">
                <a:ln w="6350" cap="flat">
                  <a:noFill/>
                  <a:miter lim="800000"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Celestial AI</a:t>
            </a:r>
            <a:endParaRPr kumimoji="0" lang="zh-CN" altLang="en-US" sz="2500" b="0" i="0" u="none" strike="noStrike" kern="1200" cap="none" spc="0" normalizeH="0" baseline="0" noProof="0" dirty="0">
              <a:ln w="6350" cap="flat">
                <a:noFill/>
                <a:miter lim="800000"/>
              </a:ln>
              <a:solidFill>
                <a:srgbClr val="53585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711F5F-8D89-9156-64DF-5DF7EFA2CB46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Strategic Investor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1F92B-1D06-7BF6-A21C-E264A7818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0D1F202F-80A5-1AB6-736B-5449905FA3E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ECC74C7F-32D0-426A-8DF9-4AB5C55B4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1B87E95-14B6-6953-DC10-BF87285DCF2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655BCD29-D6E9-6683-4E50-864993F11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B4FC1512-01C0-FBFB-7831-5F748031E6D5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4787BB34-9E57-82F4-CB65-C9DE68DFB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xsU7ACpff8RuV8KvUVu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5e9ozXdlYWnliYhtW0K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bkA9M_H2DnFUnZmgT07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sNp3x1IMgMsCb.TqhUa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9Ho0eMYLkOwrc_D2S0J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QOj_w.aboWve.s06Gb5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1171</Words>
  <Application>Microsoft Office PowerPoint</Application>
  <PresentationFormat>宽屏</PresentationFormat>
  <Paragraphs>339</Paragraphs>
  <Slides>10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Inherit</vt:lpstr>
      <vt:lpstr>PingFang SC</vt:lpstr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 Key Modules: Silicon Photonics Chip, Electrical IC, Switch ASIC, and Integration &amp; Delivery</vt:lpstr>
      <vt:lpstr>Supply Chain: EICs &amp; Switch Chips - Large Scale, High Margin, Long R&amp;D</vt:lpstr>
      <vt:lpstr>​Supply Chain Focus: Broadcom-Led Integrated Giants and Strategic Domestic Startups like FiconTEC</vt:lpstr>
      <vt:lpstr>Broadcom: First to Commercialize CPO with a Sustained Lead</vt:lpstr>
      <vt:lpstr>Broadcom: The Most Comprehensive CPO Capability Profile</vt:lpstr>
      <vt:lpstr>Why Broadcom Bets on CPO: Aligning with HPC's In-House ASIC Trend + Network Support for Ecosystem Positioning</vt:lpstr>
      <vt:lpstr>Why Broadcom Bets on CPO: Aligning with HPC's In-House ASIC Trend + Network Support for Ecosystem Positioning</vt:lpstr>
      <vt:lpstr>FiconTEC: Key Player for Domestic Substitution in CPO</vt:lpstr>
      <vt:lpstr>FiconTEC: Key Player for Domestic Substitution in CPO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Deng Kunyu</dc:creator>
  <cp:lastModifiedBy>Deng Kunyu</cp:lastModifiedBy>
  <cp:revision>1</cp:revision>
  <dcterms:created xsi:type="dcterms:W3CDTF">2025-10-09T07:53:16Z</dcterms:created>
  <dcterms:modified xsi:type="dcterms:W3CDTF">2025-10-09T07:54:26Z</dcterms:modified>
</cp:coreProperties>
</file>