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2.xml" ContentType="application/vnd.openxmlformats-officedocument.presentationml.notesSlide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tags/tag51.xml" ContentType="application/vnd.openxmlformats-officedocument.presentationml.tags+xml"/>
  <Override PartName="/ppt/notesSlides/notesSlide8.xml" ContentType="application/vnd.openxmlformats-officedocument.presentationml.notesSlid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notesSlides/notesSlide9.xml" ContentType="application/vnd.openxmlformats-officedocument.presentationml.notesSlide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notesSlides/notesSlide10.xml" ContentType="application/vnd.openxmlformats-officedocument.presentationml.notesSlide+xml"/>
  <Override PartName="/ppt/tags/tag79.xml" ContentType="application/vnd.openxmlformats-officedocument.presentationml.tags+xml"/>
  <Override PartName="/ppt/notesSlides/notesSlide11.xml" ContentType="application/vnd.openxmlformats-officedocument.presentationml.notesSlide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notesSlides/notesSlide12.xml" ContentType="application/vnd.openxmlformats-officedocument.presentationml.notesSlide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notesSlides/notesSlide13.xml" ContentType="application/vnd.openxmlformats-officedocument.presentationml.notes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notesSlides/notesSlide14.xml" ContentType="application/vnd.openxmlformats-officedocument.presentationml.notesSlide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tags/tag147.xml" ContentType="application/vnd.openxmlformats-officedocument.presentationml.tags+xml"/>
  <Override PartName="/ppt/notesSlides/notesSlide15.xml" ContentType="application/vnd.openxmlformats-officedocument.presentationml.notesSlide+xml"/>
  <Override PartName="/ppt/tags/tag148.xml" ContentType="application/vnd.openxmlformats-officedocument.presentationml.tags+xml"/>
  <Override PartName="/ppt/notesSlides/notesSlide16.xml" ContentType="application/vnd.openxmlformats-officedocument.presentationml.notesSlide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notesSlides/notesSlide17.xml" ContentType="application/vnd.openxmlformats-officedocument.presentationml.notesSlide+xml"/>
  <Override PartName="/ppt/charts/chart14.xml" ContentType="application/vnd.openxmlformats-officedocument.drawingml.chart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notesSlides/notesSlide18.xml" ContentType="application/vnd.openxmlformats-officedocument.presentationml.notesSlide+xml"/>
  <Override PartName="/ppt/charts/chart15.xml" ContentType="application/vnd.openxmlformats-officedocument.drawingml.chart+xml"/>
  <Override PartName="/ppt/tags/tag207.xml" ContentType="application/vnd.openxmlformats-officedocument.presentationml.tags+xml"/>
  <Override PartName="/ppt/notesSlides/notesSlide19.xml" ContentType="application/vnd.openxmlformats-officedocument.presentationml.notesSlide+xml"/>
  <Override PartName="/ppt/charts/chart16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ags/tag208.xml" ContentType="application/vnd.openxmlformats-officedocument.presentationml.tags+xml"/>
  <Override PartName="/ppt/notesSlides/notesSlide20.xml" ContentType="application/vnd.openxmlformats-officedocument.presentationml.notesSlide+xml"/>
  <Override PartName="/ppt/charts/chart17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18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19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notesSlides/notesSlide21.xml" ContentType="application/vnd.openxmlformats-officedocument.presentationml.notesSlide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notesSlides/notesSlide22.xml" ContentType="application/vnd.openxmlformats-officedocument.presentationml.notesSlide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notesSlides/notesSlide23.xml" ContentType="application/vnd.openxmlformats-officedocument.presentationml.notesSlide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tags/tag239.xml" ContentType="application/vnd.openxmlformats-officedocument.presentationml.tags+xml"/>
  <Override PartName="/ppt/notesSlides/notesSlide24.xml" ContentType="application/vnd.openxmlformats-officedocument.presentationml.notesSlide+xml"/>
  <Override PartName="/ppt/tags/tag240.xml" ContentType="application/vnd.openxmlformats-officedocument.presentationml.tags+xml"/>
  <Override PartName="/ppt/notesSlides/notesSlide25.xml" ContentType="application/vnd.openxmlformats-officedocument.presentationml.notesSlide+xml"/>
  <Override PartName="/ppt/tags/tag24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56" r:id="rId2"/>
    <p:sldId id="336" r:id="rId3"/>
    <p:sldId id="386" r:id="rId4"/>
    <p:sldId id="362" r:id="rId5"/>
    <p:sldId id="338" r:id="rId6"/>
    <p:sldId id="332" r:id="rId7"/>
    <p:sldId id="319" r:id="rId8"/>
    <p:sldId id="317" r:id="rId9"/>
    <p:sldId id="321" r:id="rId10"/>
    <p:sldId id="2147473081" r:id="rId11"/>
    <p:sldId id="334" r:id="rId12"/>
    <p:sldId id="2147473074" r:id="rId13"/>
    <p:sldId id="320" r:id="rId14"/>
    <p:sldId id="364" r:id="rId15"/>
    <p:sldId id="2147473083" r:id="rId16"/>
    <p:sldId id="326" r:id="rId17"/>
    <p:sldId id="315" r:id="rId18"/>
    <p:sldId id="344" r:id="rId19"/>
    <p:sldId id="367" r:id="rId20"/>
    <p:sldId id="370" r:id="rId21"/>
    <p:sldId id="372" r:id="rId22"/>
    <p:sldId id="327" r:id="rId23"/>
    <p:sldId id="2147473076" r:id="rId24"/>
    <p:sldId id="2147473084" r:id="rId25"/>
    <p:sldId id="331" r:id="rId26"/>
    <p:sldId id="339" r:id="rId27"/>
    <p:sldId id="363" r:id="rId28"/>
    <p:sldId id="2147473077" r:id="rId29"/>
    <p:sldId id="341" r:id="rId30"/>
    <p:sldId id="322" r:id="rId31"/>
    <p:sldId id="283" r:id="rId32"/>
  </p:sldIdLst>
  <p:sldSz cx="12192000" cy="6858000"/>
  <p:notesSz cx="6858000" cy="9144000"/>
  <p:custDataLst>
    <p:tags r:id="rId3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39A09C8-330C-4419-85BC-2F9D711F0A78}">
          <p14:sldIdLst>
            <p14:sldId id="256"/>
            <p14:sldId id="336"/>
          </p14:sldIdLst>
        </p14:section>
        <p14:section name="1. Why CPO?" id="{200816D2-54B9-45F9-8CDC-D4443BE7A066}">
          <p14:sldIdLst>
            <p14:sldId id="386"/>
            <p14:sldId id="362"/>
          </p14:sldIdLst>
        </p14:section>
        <p14:section name="2. Why optical? Why co-packaged?" id="{9A5BC1CD-E46C-43F3-91AB-DCB40303C4FD}">
          <p14:sldIdLst>
            <p14:sldId id="338"/>
            <p14:sldId id="332"/>
            <p14:sldId id="319"/>
          </p14:sldIdLst>
        </p14:section>
        <p14:section name="2.1. From PO to CPO" id="{AC662842-13A9-4DD4-839E-4873B26B8162}">
          <p14:sldIdLst>
            <p14:sldId id="317"/>
            <p14:sldId id="321"/>
            <p14:sldId id="2147473081"/>
          </p14:sldIdLst>
        </p14:section>
        <p14:section name="3. Where CPO fits first: scale up or scale out?" id="{1A99B8B5-BE1D-46F2-B67F-83B8C3D9DB4A}">
          <p14:sldIdLst>
            <p14:sldId id="334"/>
            <p14:sldId id="2147473074"/>
            <p14:sldId id="320"/>
            <p14:sldId id="364"/>
          </p14:sldIdLst>
        </p14:section>
        <p14:section name="4. How big?" id="{5A34DE6B-36BE-4840-9C61-5B0269E52512}">
          <p14:sldIdLst>
            <p14:sldId id="2147473083"/>
          </p14:sldIdLst>
        </p14:section>
        <p14:section name="5. Which segment matters most?" id="{8B027970-4C5E-4A21-ABEE-C3F2C08A42F2}">
          <p14:sldIdLst>
            <p14:sldId id="326"/>
            <p14:sldId id="315"/>
            <p14:sldId id="344"/>
          </p14:sldIdLst>
        </p14:section>
        <p14:section name="6. Key players to watch: Broadcom and ficonTEC" id="{2FC5CD99-587C-4ED3-8213-2F2A4313F971}">
          <p14:sldIdLst>
            <p14:sldId id="367"/>
            <p14:sldId id="370"/>
            <p14:sldId id="372"/>
            <p14:sldId id="327"/>
            <p14:sldId id="2147473076"/>
            <p14:sldId id="2147473084"/>
            <p14:sldId id="331"/>
          </p14:sldIdLst>
        </p14:section>
        <p14:section name="Appendix" id="{8B5E7F54-8D61-4CE1-89AB-837BCD335EC0}">
          <p14:sldIdLst>
            <p14:sldId id="339"/>
            <p14:sldId id="363"/>
            <p14:sldId id="2147473077"/>
            <p14:sldId id="341"/>
            <p14:sldId id="32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2D9"/>
    <a:srgbClr val="53585F"/>
    <a:srgbClr val="F2F2F2"/>
    <a:srgbClr val="0256FF"/>
    <a:srgbClr val="E94D12"/>
    <a:srgbClr val="ECF6FF"/>
    <a:srgbClr val="DDE3F1"/>
    <a:srgbClr val="C1E1FE"/>
    <a:srgbClr val="9ABBFF"/>
    <a:srgbClr val="A6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02" autoAdjust="0"/>
    <p:restoredTop sz="91262" autoAdjust="0"/>
  </p:normalViewPr>
  <p:slideViewPr>
    <p:cSldViewPr snapToGrid="0">
      <p:cViewPr>
        <p:scale>
          <a:sx n="125" d="100"/>
          <a:sy n="125" d="100"/>
        </p:scale>
        <p:origin x="1452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.xlsb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5.xlsb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6.xlsb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7.xlsb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8.xlsb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9.xlsb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0.xlsb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1.xlsb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2.xlsb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3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0"/>
          <c:tx>
            <c:strRef>
              <c:f>'P5 铜到光'!$M$35</c:f>
              <c:strCache>
                <c:ptCount val="1"/>
                <c:pt idx="0">
                  <c:v>铜（Gbps/line）</c:v>
                </c:pt>
              </c:strCache>
            </c:strRef>
          </c:tx>
          <c:spPr>
            <a:ln w="28575" cap="rnd">
              <a:solidFill>
                <a:schemeClr val="accent5">
                  <a:alpha val="7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numRef>
              <c:f>'P5 铜到光'!$L$36:$L$39</c:f>
              <c:numCache>
                <c:formatCode>General</c:formatCode>
                <c:ptCount val="4"/>
                <c:pt idx="0">
                  <c:v>2020</c:v>
                </c:pt>
                <c:pt idx="1">
                  <c:v>2022</c:v>
                </c:pt>
                <c:pt idx="2">
                  <c:v>2024</c:v>
                </c:pt>
                <c:pt idx="3">
                  <c:v>2026</c:v>
                </c:pt>
              </c:numCache>
            </c:numRef>
          </c:cat>
          <c:val>
            <c:numRef>
              <c:f>'P5 铜到光'!$M$36:$M$39</c:f>
              <c:numCache>
                <c:formatCode>General</c:formatCode>
                <c:ptCount val="4"/>
                <c:pt idx="0">
                  <c:v>50</c:v>
                </c:pt>
                <c:pt idx="1">
                  <c:v>100</c:v>
                </c:pt>
                <c:pt idx="2">
                  <c:v>200</c:v>
                </c:pt>
                <c:pt idx="3">
                  <c:v>200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BF1-4AF4-A519-3C4C4E1281EC}"/>
            </c:ext>
          </c:extLst>
        </c:ser>
        <c:ser>
          <c:idx val="0"/>
          <c:order val="1"/>
          <c:tx>
            <c:strRef>
              <c:f>'P5 铜到光'!$N$35</c:f>
              <c:strCache>
                <c:ptCount val="1"/>
                <c:pt idx="0">
                  <c:v>光模块（Gbps/line）</c:v>
                </c:pt>
              </c:strCache>
            </c:strRef>
          </c:tx>
          <c:spPr>
            <a:ln w="28575" cap="rnd">
              <a:solidFill>
                <a:srgbClr val="0052D9">
                  <a:alpha val="75000"/>
                </a:srgb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52D9"/>
              </a:solidFill>
              <a:ln w="9525">
                <a:solidFill>
                  <a:srgbClr val="0052D9"/>
                </a:solidFill>
              </a:ln>
              <a:effectLst/>
            </c:spPr>
          </c:marker>
          <c:cat>
            <c:numRef>
              <c:f>'P5 铜到光'!$L$36:$L$39</c:f>
              <c:numCache>
                <c:formatCode>General</c:formatCode>
                <c:ptCount val="4"/>
                <c:pt idx="0">
                  <c:v>2020</c:v>
                </c:pt>
                <c:pt idx="1">
                  <c:v>2022</c:v>
                </c:pt>
                <c:pt idx="2">
                  <c:v>2024</c:v>
                </c:pt>
                <c:pt idx="3">
                  <c:v>2026</c:v>
                </c:pt>
              </c:numCache>
            </c:numRef>
          </c:cat>
          <c:val>
            <c:numRef>
              <c:f>'P5 铜到光'!$N$36:$N$39</c:f>
              <c:numCache>
                <c:formatCode>General</c:formatCode>
                <c:ptCount val="4"/>
                <c:pt idx="0">
                  <c:v>50</c:v>
                </c:pt>
                <c:pt idx="1">
                  <c:v>100</c:v>
                </c:pt>
                <c:pt idx="2">
                  <c:v>200</c:v>
                </c:pt>
                <c:pt idx="3">
                  <c:v>400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BF1-4AF4-A519-3C4C4E1281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64581919"/>
        <c:axId val="964586239"/>
      </c:lineChart>
      <c:catAx>
        <c:axId val="9645819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64586239"/>
        <c:crosses val="autoZero"/>
        <c:auto val="1"/>
        <c:lblAlgn val="ctr"/>
        <c:lblOffset val="100"/>
        <c:noMultiLvlLbl val="0"/>
      </c:catAx>
      <c:valAx>
        <c:axId val="964586239"/>
        <c:scaling>
          <c:logBase val="2"/>
          <c:orientation val="minMax"/>
          <c:max val="800"/>
          <c:min val="25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64581919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为什么要看互连!$J$2</c:f>
              <c:strCache>
                <c:ptCount val="1"/>
                <c:pt idx="0">
                  <c:v>推理算力</c:v>
                </c:pt>
              </c:strCache>
            </c:strRef>
          </c:tx>
          <c:spPr>
            <a:ln w="28575" cap="rnd">
              <a:solidFill>
                <a:srgbClr val="A6A6A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A6A6A6"/>
              </a:solidFill>
              <a:ln w="9525">
                <a:solidFill>
                  <a:srgbClr val="A6A6A6"/>
                </a:solidFill>
              </a:ln>
              <a:effectLst/>
            </c:spPr>
          </c:marker>
          <c:cat>
            <c:numRef>
              <c:f>为什么要看互连!$K$1:$O$1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为什么要看互连!$K$2:$O$2</c:f>
              <c:numCache>
                <c:formatCode>General</c:formatCode>
                <c:ptCount val="5"/>
                <c:pt idx="0">
                  <c:v>19</c:v>
                </c:pt>
                <c:pt idx="1">
                  <c:v>130</c:v>
                </c:pt>
                <c:pt idx="2">
                  <c:v>620</c:v>
                </c:pt>
                <c:pt idx="3">
                  <c:v>4000</c:v>
                </c:pt>
                <c:pt idx="4">
                  <c:v>7000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BCF-42DE-BB37-8C72B62C3948}"/>
            </c:ext>
          </c:extLst>
        </c:ser>
        <c:ser>
          <c:idx val="1"/>
          <c:order val="1"/>
          <c:tx>
            <c:strRef>
              <c:f>为什么要看互连!$J$3</c:f>
              <c:strCache>
                <c:ptCount val="1"/>
                <c:pt idx="0">
                  <c:v>训练算力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rgbClr val="C1E1FE"/>
                </a:solidFill>
              </a:ln>
              <a:effectLst/>
            </c:spPr>
          </c:marker>
          <c:cat>
            <c:numRef>
              <c:f>为什么要看互连!$K$1:$O$1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为什么要看互连!$K$3:$O$3</c:f>
              <c:numCache>
                <c:formatCode>General</c:formatCode>
                <c:ptCount val="5"/>
                <c:pt idx="2">
                  <c:v>620</c:v>
                </c:pt>
                <c:pt idx="3">
                  <c:v>1987.1794871794871</c:v>
                </c:pt>
                <c:pt idx="4">
                  <c:v>3477.5641025641025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BCF-42DE-BB37-8C72B62C3948}"/>
            </c:ext>
          </c:extLst>
        </c:ser>
        <c:ser>
          <c:idx val="2"/>
          <c:order val="2"/>
          <c:tx>
            <c:strRef>
              <c:f>为什么要看互连!$J$4</c:f>
              <c:strCache>
                <c:ptCount val="1"/>
                <c:pt idx="0">
                  <c:v>网络带宽</c:v>
                </c:pt>
              </c:strCache>
            </c:strRef>
          </c:tx>
          <c:spPr>
            <a:ln w="28575" cap="rnd">
              <a:solidFill>
                <a:srgbClr val="0052D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52D9"/>
              </a:solidFill>
              <a:ln w="9525">
                <a:solidFill>
                  <a:srgbClr val="0052D9"/>
                </a:solidFill>
              </a:ln>
              <a:effectLst/>
            </c:spPr>
          </c:marker>
          <c:cat>
            <c:numRef>
              <c:f>为什么要看互连!$K$1:$O$1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为什么要看互连!$K$4:$O$4</c:f>
              <c:numCache>
                <c:formatCode>General</c:formatCode>
                <c:ptCount val="5"/>
                <c:pt idx="2">
                  <c:v>620</c:v>
                </c:pt>
                <c:pt idx="3">
                  <c:v>1240</c:v>
                </c:pt>
                <c:pt idx="4">
                  <c:v>2480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BCF-42DE-BB37-8C72B62C39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78269808"/>
        <c:axId val="278280848"/>
      </c:lineChart>
      <c:catAx>
        <c:axId val="278269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8280848"/>
        <c:crosses val="autoZero"/>
        <c:auto val="1"/>
        <c:lblAlgn val="ctr"/>
        <c:lblOffset val="100"/>
        <c:noMultiLvlLbl val="0"/>
      </c:catAx>
      <c:valAx>
        <c:axId val="27828084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78269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8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速率与距离!$B$1</c:f>
              <c:strCache>
                <c:ptCount val="1"/>
                <c:pt idx="0">
                  <c:v>Maximum Reach(m)</c:v>
                </c:pt>
              </c:strCache>
            </c:strRef>
          </c:tx>
          <c:spPr>
            <a:ln w="19050" cap="rnd">
              <a:solidFill>
                <a:srgbClr val="0052D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rgbClr val="0052D9"/>
                </a:solidFill>
              </a:ln>
              <a:effectLst/>
            </c:spPr>
          </c:marker>
          <c:dLbls>
            <c:dLbl>
              <c:idx val="1"/>
              <c:layout>
                <c:manualLayout>
                  <c:x val="-3.2853792621015433E-2"/>
                  <c:y val="-7.910539121855039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697-49D9-85FF-FE7DDDDB6124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altLang="zh-CN" dirty="0"/>
                      <a:t>~1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6697-49D9-85FF-FE7DDDDB6124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altLang="zh-CN" dirty="0"/>
                      <a:t>~0.5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6697-49D9-85FF-FE7DDDDB612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速率与距离!$A$2:$A$8</c:f>
              <c:numCache>
                <c:formatCode>General</c:formatCode>
                <c:ptCount val="7"/>
                <c:pt idx="0">
                  <c:v>1</c:v>
                </c:pt>
                <c:pt idx="1">
                  <c:v>10</c:v>
                </c:pt>
                <c:pt idx="2">
                  <c:v>25</c:v>
                </c:pt>
                <c:pt idx="3">
                  <c:v>50</c:v>
                </c:pt>
                <c:pt idx="4">
                  <c:v>100</c:v>
                </c:pt>
                <c:pt idx="5">
                  <c:v>200</c:v>
                </c:pt>
                <c:pt idx="6">
                  <c:v>400</c:v>
                </c:pt>
              </c:numCache>
            </c:numRef>
          </c:xVal>
          <c:yVal>
            <c:numRef>
              <c:f>速率与距离!$B$2:$B$8</c:f>
              <c:numCache>
                <c:formatCode>0</c:formatCode>
                <c:ptCount val="7"/>
                <c:pt idx="0">
                  <c:v>25.22727272727273</c:v>
                </c:pt>
                <c:pt idx="1">
                  <c:v>15.113636363636365</c:v>
                </c:pt>
                <c:pt idx="2">
                  <c:v>7.1590909090909092</c:v>
                </c:pt>
                <c:pt idx="3">
                  <c:v>5.1136363636363633</c:v>
                </c:pt>
                <c:pt idx="4">
                  <c:v>3.0681818181818183</c:v>
                </c:pt>
                <c:pt idx="5">
                  <c:v>2</c:v>
                </c:pt>
                <c:pt idx="6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F50-48D5-8E5C-85E65537BB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78292368"/>
        <c:axId val="278293328"/>
      </c:scatterChart>
      <c:valAx>
        <c:axId val="278292368"/>
        <c:scaling>
          <c:orientation val="minMax"/>
          <c:max val="40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8293328"/>
        <c:crosses val="autoZero"/>
        <c:crossBetween val="midCat"/>
      </c:valAx>
      <c:valAx>
        <c:axId val="278293328"/>
        <c:scaling>
          <c:orientation val="minMax"/>
        </c:scaling>
        <c:delete val="0"/>
        <c:axPos val="l"/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82923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35667215815485998"/>
          <c:y val="0.24635568513119532"/>
          <c:w val="0.28665568369028005"/>
          <c:h val="0.50728862973760935"/>
        </c:manualLayout>
      </c:layout>
      <c:pieChart>
        <c:varyColors val="0"/>
        <c:ser>
          <c:idx val="0"/>
          <c:order val="0"/>
          <c:dPt>
            <c:idx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79B9-40B6-B89E-5F6041407CC0}"/>
              </c:ext>
            </c:extLst>
          </c:dPt>
          <c:dPt>
            <c:idx val="1"/>
            <c:bubble3D val="0"/>
            <c:spPr>
              <a:solidFill>
                <a:srgbClr val="00777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79B9-40B6-B89E-5F6041407CC0}"/>
              </c:ext>
            </c:extLst>
          </c:dPt>
          <c:dLbls>
            <c:dLbl>
              <c:idx val="1"/>
              <c:layout>
                <c:manualLayout>
                  <c:x val="-2.4711696869851728E-3"/>
                  <c:y val="2.9154518950437316E-2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79B9-40B6-B89E-5F6041407CC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val>
            <c:numRef>
              <c:f>Sheet1!$A$1:$A$2</c:f>
              <c:numCache>
                <c:formatCode>General</c:formatCode>
                <c:ptCount val="2"/>
                <c:pt idx="0">
                  <c:v>5.0000000000000044</c:v>
                </c:pt>
                <c:pt idx="1">
                  <c:v>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9B9-40B6-B89E-5F6041407C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35667215815485998"/>
          <c:y val="0.24635568513119532"/>
          <c:w val="0.28665568369028005"/>
          <c:h val="0.50728862973760935"/>
        </c:manualLayout>
      </c:layout>
      <c:pieChart>
        <c:varyColors val="0"/>
        <c:ser>
          <c:idx val="0"/>
          <c:order val="0"/>
          <c:dPt>
            <c:idx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9909-47BE-AA61-8809672D0D3F}"/>
              </c:ext>
            </c:extLst>
          </c:dPt>
          <c:dPt>
            <c:idx val="1"/>
            <c:bubble3D val="0"/>
            <c:spPr>
              <a:solidFill>
                <a:srgbClr val="00777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9909-47BE-AA61-8809672D0D3F}"/>
              </c:ext>
            </c:extLst>
          </c:dPt>
          <c:dLbls>
            <c:dLbl>
              <c:idx val="0"/>
              <c:layout>
                <c:manualLayout>
                  <c:x val="2.4711696869851728E-3"/>
                  <c:y val="4.3731778425655978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9909-47BE-AA61-8809672D0D3F}"/>
                </c:ext>
              </c:extLst>
            </c:dLbl>
            <c:dLbl>
              <c:idx val="1"/>
              <c:layout>
                <c:manualLayout>
                  <c:x val="-3.2948929159802307E-3"/>
                  <c:y val="-5.8309037900874635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9909-47BE-AA61-8809672D0D3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val>
            <c:numRef>
              <c:f>Sheet1!$A$1:$A$2</c:f>
              <c:numCache>
                <c:formatCode>General</c:formatCode>
                <c:ptCount val="2"/>
                <c:pt idx="0">
                  <c:v>75</c:v>
                </c:pt>
                <c:pt idx="1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909-47BE-AA61-8809672D0D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35667215815485998"/>
          <c:y val="0.24635568513119532"/>
          <c:w val="0.28665568369028005"/>
          <c:h val="0.50728862973760935"/>
        </c:manualLayout>
      </c:layout>
      <c:pieChart>
        <c:varyColors val="0"/>
        <c:ser>
          <c:idx val="0"/>
          <c:order val="0"/>
          <c:dPt>
            <c:idx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4822-4C45-BAAD-03B306B884D5}"/>
              </c:ext>
            </c:extLst>
          </c:dPt>
          <c:dPt>
            <c:idx val="1"/>
            <c:bubble3D val="0"/>
            <c:spPr>
              <a:solidFill>
                <a:srgbClr val="00777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4822-4C45-BAAD-03B306B884D5}"/>
              </c:ext>
            </c:extLst>
          </c:dPt>
          <c:dLbls>
            <c:dLbl>
              <c:idx val="0"/>
              <c:layout>
                <c:manualLayout>
                  <c:x val="3.2948929159802307E-3"/>
                  <c:y val="1.8950437317784258E-2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4822-4C45-BAAD-03B306B884D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val>
            <c:numRef>
              <c:f>Sheet1!$A$1:$A$2</c:f>
              <c:numCache>
                <c:formatCode>General</c:formatCode>
                <c:ptCount val="2"/>
                <c:pt idx="0">
                  <c:v>90</c:v>
                </c:pt>
                <c:pt idx="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822-4C45-BAAD-03B306B884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</c:plotArea>
    <c:plotVisOnly val="0"/>
    <c:dispBlanksAs val="gap"/>
    <c:showDLblsOverMax val="1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3371505557426744"/>
          <c:y val="0.13874788494077833"/>
          <c:w val="0.84877062984169749"/>
          <c:h val="0.7216582064297800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52D9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B57F-48E9-8993-299D1DED358C}"/>
              </c:ext>
            </c:extLst>
          </c:dPt>
          <c:val>
            <c:numRef>
              <c:f>Sheet1!$A$1:$C$1</c:f>
              <c:numCache>
                <c:formatCode>General</c:formatCode>
                <c:ptCount val="3"/>
                <c:pt idx="0">
                  <c:v>4.25</c:v>
                </c:pt>
                <c:pt idx="1">
                  <c:v>15</c:v>
                </c:pt>
                <c:pt idx="2">
                  <c:v>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57F-48E9-8993-299D1DED35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394527472"/>
        <c:axId val="1"/>
      </c:barChart>
      <c:catAx>
        <c:axId val="39452747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5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94527472"/>
        <c:crosses val="min"/>
        <c:crossBetween val="between"/>
        <c:majorUnit val="5"/>
      </c:valAx>
    </c:plotArea>
    <c:plotVisOnly val="0"/>
    <c:dispBlanksAs val="gap"/>
    <c:showDLblsOverMax val="1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3870967741935483"/>
          <c:y val="0.14775160599571735"/>
          <c:w val="0.72258064516129028"/>
          <c:h val="0.74892933618843682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191648822269807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9752-4ECB-904A-5DBA6E9A2E6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2500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752-4ECB-904A-5DBA6E9A2E6A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611349036402569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9752-4ECB-904A-5DBA6E9A2E6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780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752-4ECB-904A-5DBA6E9A2E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406786015"/>
        <c:axId val="1"/>
      </c:barChart>
      <c:catAx>
        <c:axId val="140678601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5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406786015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591160220994475E-2"/>
          <c:y val="0.14775160599571735"/>
          <c:w val="0.92817679558011046"/>
          <c:h val="0.74892933618843682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2687366167023554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4BE4-4DFF-955C-D9401872E6C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180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BE4-4DFF-955C-D9401872E6C6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191648822269807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4BE4-4DFF-955C-D9401872E6C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BE4-4DFF-955C-D9401872E6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281938383"/>
        <c:axId val="1"/>
      </c:barChart>
      <c:catAx>
        <c:axId val="28193838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281938383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3010752688172043"/>
          <c:y val="0.30530973451327431"/>
          <c:w val="0.53978494623655915"/>
          <c:h val="0.48119469026548672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46FF-4627-AD04-29F063A7CAC9}"/>
              </c:ext>
            </c:extLst>
          </c:dPt>
          <c:dLbls>
            <c:dLbl>
              <c:idx val="0"/>
              <c:layout>
                <c:manualLayout>
                  <c:x val="0"/>
                  <c:y val="-0.1603982300884955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46FF-4627-AD04-29F063A7CAC9}"/>
                </c:ext>
              </c:extLst>
            </c:dLbl>
            <c:dLbl>
              <c:idx val="1"/>
              <c:layout>
                <c:manualLayout>
                  <c:x val="0"/>
                  <c:y val="-0.3329646017699114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46FF-4627-AD04-29F063A7CAC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1536</c:v>
                </c:pt>
                <c:pt idx="1">
                  <c:v>5376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FF-4627-AD04-29F063A7CA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26137791"/>
        <c:axId val="1"/>
      </c:barChart>
      <c:catAx>
        <c:axId val="72613779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376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72613779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6049382716049384E-2"/>
          <c:y val="0.28163265306122448"/>
          <c:w val="0.96790123456790123"/>
          <c:h val="0.52142857142857146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E43C-4E79-A180-5C826E8DDDA1}"/>
              </c:ext>
            </c:extLst>
          </c:dPt>
          <c:dPt>
            <c:idx val="4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E43C-4E79-A180-5C826E8DDDA1}"/>
              </c:ext>
            </c:extLst>
          </c:dPt>
          <c:dLbls>
            <c:dLbl>
              <c:idx val="0"/>
              <c:layout>
                <c:manualLayout>
                  <c:x val="0"/>
                  <c:y val="-0.34591836734693876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E43C-4E79-A180-5C826E8DDDA1}"/>
                </c:ext>
              </c:extLst>
            </c:dLbl>
            <c:dLbl>
              <c:idx val="4"/>
              <c:layout>
                <c:manualLayout>
                  <c:x val="0"/>
                  <c:y val="-0.19897959183673469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E43C-4E79-A180-5C826E8DDDA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Sheet1!$A$1:$E$1</c:f>
              <c:numCache>
                <c:formatCode>General</c:formatCode>
                <c:ptCount val="5"/>
                <c:pt idx="0">
                  <c:v>1.8599999999999999</c:v>
                </c:pt>
                <c:pt idx="1">
                  <c:v>1.63</c:v>
                </c:pt>
                <c:pt idx="2">
                  <c:v>1</c:v>
                </c:pt>
                <c:pt idx="3">
                  <c:v>0.81</c:v>
                </c:pt>
                <c:pt idx="4">
                  <c:v>0.81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43C-4E79-A180-5C826E8DDDA1}"/>
            </c:ext>
          </c:extLst>
        </c:ser>
        <c:ser>
          <c:idx val="1"/>
          <c:order val="1"/>
          <c:spPr>
            <a:solidFill>
              <a:schemeClr val="accent5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0"/>
                  <c:y val="0.11632653061224489"/>
                </c:manualLayout>
              </c:layout>
              <c:numFmt formatCode="#,##0.00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E43C-4E79-A180-5C826E8DDDA1}"/>
                </c:ext>
              </c:extLst>
            </c:dLbl>
            <c:dLbl>
              <c:idx val="2"/>
              <c:layout>
                <c:manualLayout>
                  <c:x val="0"/>
                  <c:y val="0.17244897959183675"/>
                </c:manualLayout>
              </c:layout>
              <c:numFmt formatCode="#,##0.00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E43C-4E79-A180-5C826E8DDDA1}"/>
                </c:ext>
              </c:extLst>
            </c:dLbl>
            <c:dLbl>
              <c:idx val="3"/>
              <c:layout>
                <c:manualLayout>
                  <c:x val="0"/>
                  <c:y val="0.11122448979591837"/>
                </c:manualLayout>
              </c:layout>
              <c:numFmt formatCode="#,##0.00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E43C-4E79-A180-5C826E8DDDA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Sheet1!$A$2:$E$2</c:f>
              <c:numCache>
                <c:formatCode>General</c:formatCode>
                <c:ptCount val="5"/>
                <c:pt idx="1">
                  <c:v>0.22999999999999998</c:v>
                </c:pt>
                <c:pt idx="2">
                  <c:v>0.62999999999999989</c:v>
                </c:pt>
                <c:pt idx="3">
                  <c:v>0.18999999999999995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43C-4E79-A180-5C826E8DDD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22341119"/>
        <c:axId val="1"/>
      </c:barChart>
      <c:catAx>
        <c:axId val="72234111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.8599999999999999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72234111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669724770642202E-2"/>
          <c:y val="8.8888888888888892E-2"/>
          <c:w val="0.92660550458715596"/>
          <c:h val="0.82222222222222219"/>
        </c:manualLayout>
      </c:layout>
      <c:lineChart>
        <c:grouping val="standard"/>
        <c:varyColors val="0"/>
        <c:ser>
          <c:idx val="0"/>
          <c:order val="0"/>
          <c:spPr>
            <a:ln w="19050" cmpd="sng" algn="ctr">
              <a:solidFill>
                <a:srgbClr val="C0C0C0"/>
              </a:solidFill>
              <a:prstDash val="solid"/>
            </a:ln>
          </c:spPr>
          <c:marker>
            <c:symbol val="none"/>
          </c:marker>
          <c:val>
            <c:numRef>
              <c:f>Sheet1!$A$1:$C$1</c:f>
              <c:numCache>
                <c:formatCode>General</c:formatCode>
                <c:ptCount val="3"/>
                <c:pt idx="0">
                  <c:v>1</c:v>
                </c:pt>
                <c:pt idx="1">
                  <c:v>12</c:v>
                </c:pt>
                <c:pt idx="2">
                  <c:v>7.0000000000000009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B18-4D3E-8673-056BDBFAAA68}"/>
            </c:ext>
          </c:extLst>
        </c:ser>
        <c:ser>
          <c:idx val="1"/>
          <c:order val="1"/>
          <c:spPr>
            <a:ln w="19050" cmpd="sng" algn="ctr">
              <a:solidFill>
                <a:srgbClr val="0052D9"/>
              </a:solidFill>
              <a:prstDash val="solid"/>
            </a:ln>
          </c:spPr>
          <c:marker>
            <c:symbol val="none"/>
          </c:marker>
          <c:val>
            <c:numRef>
              <c:f>Sheet1!$A$2:$C$2</c:f>
              <c:numCache>
                <c:formatCode>General</c:formatCode>
                <c:ptCount val="3"/>
                <c:pt idx="0">
                  <c:v>5</c:v>
                </c:pt>
                <c:pt idx="1">
                  <c:v>15</c:v>
                </c:pt>
                <c:pt idx="2">
                  <c:v>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B18-4D3E-8673-056BDBFAAA68}"/>
            </c:ext>
          </c:extLst>
        </c:ser>
        <c:ser>
          <c:idx val="2"/>
          <c:order val="2"/>
          <c:spPr>
            <a:ln w="19050" cmpd="sng" algn="ctr">
              <a:solidFill>
                <a:srgbClr val="007770"/>
              </a:solidFill>
              <a:prstDash val="solid"/>
            </a:ln>
          </c:spPr>
          <c:marker>
            <c:symbol val="none"/>
          </c:marker>
          <c:val>
            <c:numRef>
              <c:f>Sheet1!$A$3:$C$3</c:f>
              <c:numCache>
                <c:formatCode>General</c:formatCode>
                <c:ptCount val="3"/>
                <c:pt idx="0">
                  <c:v>0</c:v>
                </c:pt>
                <c:pt idx="1">
                  <c:v>9</c:v>
                </c:pt>
                <c:pt idx="2">
                  <c:v>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B18-4D3E-8673-056BDBFAAA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54197536"/>
        <c:axId val="1"/>
      </c:lineChart>
      <c:catAx>
        <c:axId val="55419753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4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latin typeface="+mn-lt"/>
                <a:ea typeface="+mn-ea"/>
                <a:cs typeface="+mn-cs"/>
              </a:defRPr>
            </a:pPr>
            <a:endParaRPr lang="zh-CN"/>
          </a:p>
        </c:txPr>
        <c:crossAx val="554197536"/>
        <c:crosses val="min"/>
        <c:crossBetween val="midCat"/>
        <c:majorUnit val="20"/>
      </c:valAx>
    </c:plotArea>
    <c:plotVisOnly val="0"/>
    <c:dispBlanksAs val="gap"/>
    <c:showDLblsOverMax val="1"/>
  </c:chart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4123711340206186"/>
          <c:y val="0.23565323565323565"/>
          <c:w val="0.67680412371134024"/>
          <c:h val="0.5286935286935287"/>
        </c:manualLayout>
      </c:layout>
      <c:lineChart>
        <c:grouping val="standard"/>
        <c:varyColors val="0"/>
        <c:ser>
          <c:idx val="0"/>
          <c:order val="0"/>
          <c:spPr>
            <a:ln w="19050" cmpd="sng" algn="ctr">
              <a:solidFill>
                <a:srgbClr val="C0C0C0"/>
              </a:solidFill>
              <a:prstDash val="solid"/>
            </a:ln>
          </c:spPr>
          <c:marker>
            <c:symbol val="none"/>
          </c:marker>
          <c:val>
            <c:numRef>
              <c:f>Sheet1!$A$1:$C$1</c:f>
              <c:numCache>
                <c:formatCode>General</c:formatCode>
                <c:ptCount val="3"/>
                <c:pt idx="0">
                  <c:v>722.22222222222229</c:v>
                </c:pt>
                <c:pt idx="1">
                  <c:v>577.77777777777783</c:v>
                </c:pt>
                <c:pt idx="2">
                  <c:v>462.22222222222229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E9D-49A2-9814-0DCDEBA53F4D}"/>
            </c:ext>
          </c:extLst>
        </c:ser>
        <c:ser>
          <c:idx val="1"/>
          <c:order val="1"/>
          <c:spPr>
            <a:ln w="19050" cmpd="sng" algn="ctr">
              <a:solidFill>
                <a:srgbClr val="0052D9"/>
              </a:solidFill>
              <a:prstDash val="solid"/>
            </a:ln>
          </c:spPr>
          <c:marker>
            <c:symbol val="none"/>
          </c:marker>
          <c:val>
            <c:numRef>
              <c:f>Sheet1!$A$2:$C$2</c:f>
              <c:numCache>
                <c:formatCode>General</c:formatCode>
                <c:ptCount val="3"/>
                <c:pt idx="0">
                  <c:v>1444.4444444444446</c:v>
                </c:pt>
                <c:pt idx="1">
                  <c:v>1155.5555555555557</c:v>
                </c:pt>
                <c:pt idx="2">
                  <c:v>924.44444444444457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E9D-49A2-9814-0DCDEBA53F4D}"/>
            </c:ext>
          </c:extLst>
        </c:ser>
        <c:ser>
          <c:idx val="2"/>
          <c:order val="2"/>
          <c:spPr>
            <a:ln w="19050" cmpd="sng" algn="ctr">
              <a:solidFill>
                <a:srgbClr val="007770"/>
              </a:solidFill>
              <a:prstDash val="solid"/>
            </a:ln>
          </c:spPr>
          <c:marker>
            <c:symbol val="none"/>
          </c:marker>
          <c:dLbls>
            <c:dLbl>
              <c:idx val="2"/>
              <c:layout>
                <c:manualLayout>
                  <c:x val="0"/>
                  <c:y val="-0.1892551892551892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b="1" kern="1200">
                      <a:solidFill>
                        <a:srgbClr val="0052D9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3E9D-49A2-9814-0DCDEBA53F4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Sheet1!$A$3:$C$3</c:f>
              <c:numCache>
                <c:formatCode>General</c:formatCode>
                <c:ptCount val="3"/>
                <c:pt idx="0">
                  <c:v>2888.8888888888891</c:v>
                </c:pt>
                <c:pt idx="1">
                  <c:v>2311.1111111111113</c:v>
                </c:pt>
                <c:pt idx="2">
                  <c:v>1848.8888888888891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3E9D-49A2-9814-0DCDEBA53F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40596591"/>
        <c:axId val="1"/>
      </c:lineChart>
      <c:catAx>
        <c:axId val="204059659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40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040596591"/>
        <c:crosses val="min"/>
        <c:crossBetween val="midCat"/>
        <c:majorUnit val="2000"/>
      </c:valAx>
    </c:plotArea>
    <c:plotVisOnly val="0"/>
    <c:dispBlanksAs val="gap"/>
    <c:showDLblsOverMax val="1"/>
  </c:chart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4924289566479984E-2"/>
          <c:y val="0.12792297111416781"/>
          <c:w val="0.88301182327317984"/>
          <c:h val="0.76203576341127921"/>
        </c:manualLayout>
      </c:layout>
      <c:scatterChart>
        <c:scatterStyle val="lineMarker"/>
        <c:varyColors val="0"/>
        <c:ser>
          <c:idx val="0"/>
          <c:order val="0"/>
          <c:spPr>
            <a:ln w="12700" cmpd="sng" algn="ctr">
              <a:solidFill>
                <a:srgbClr val="0052D9"/>
              </a:solidFill>
              <a:prstDash val="lgDash"/>
            </a:ln>
          </c:spPr>
          <c:marker>
            <c:symbol val="none"/>
          </c:marker>
          <c:dLbls>
            <c:dLbl>
              <c:idx val="2"/>
              <c:layout>
                <c:manualLayout>
                  <c:x val="0"/>
                  <c:y val="-4.4016506189821183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09F3-49A9-A5DF-E5E5A95CDE3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Sheet1!$A$1:$C$1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xVal>
          <c:yVal>
            <c:numRef>
              <c:f>Sheet1!$A$2:$C$2</c:f>
              <c:numCache>
                <c:formatCode>General</c:formatCode>
                <c:ptCount val="3"/>
                <c:pt idx="0">
                  <c:v>20</c:v>
                </c:pt>
                <c:pt idx="1">
                  <c:v>33</c:v>
                </c:pt>
                <c:pt idx="2">
                  <c:v>60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09F3-49A9-A5DF-E5E5A95CDE36}"/>
            </c:ext>
          </c:extLst>
        </c:ser>
        <c:ser>
          <c:idx val="1"/>
          <c:order val="1"/>
          <c:spPr>
            <a:ln w="19050" cmpd="sng" algn="ctr">
              <a:solidFill>
                <a:srgbClr val="C0C0C0"/>
              </a:solidFill>
              <a:prstDash val="solid"/>
            </a:ln>
          </c:spPr>
          <c:marker>
            <c:symbol val="none"/>
          </c:marker>
          <c:dLbls>
            <c:dLbl>
              <c:idx val="0"/>
              <c:layout>
                <c:manualLayout>
                  <c:x val="2.5513378967019291E-2"/>
                  <c:y val="-4.4016506189821183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09F3-49A9-A5DF-E5E5A95CDE36}"/>
                </c:ext>
              </c:extLst>
            </c:dLbl>
            <c:dLbl>
              <c:idx val="1"/>
              <c:layout>
                <c:manualLayout>
                  <c:x val="0"/>
                  <c:y val="-4.4016506189821183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09F3-49A9-A5DF-E5E5A95CDE3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Sheet1!$A$1:$C$1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xVal>
          <c:yVal>
            <c:numRef>
              <c:f>Sheet1!$A$3:$C$3</c:f>
              <c:numCache>
                <c:formatCode>General</c:formatCode>
                <c:ptCount val="3"/>
                <c:pt idx="0">
                  <c:v>11.000000000000002</c:v>
                </c:pt>
                <c:pt idx="1">
                  <c:v>18.150000000000002</c:v>
                </c:pt>
                <c:pt idx="2">
                  <c:v>25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09F3-49A9-A5DF-E5E5A95CDE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"/>
        <c:axId val="5"/>
      </c:scatterChart>
      <c:valAx>
        <c:axId val="4"/>
        <c:scaling>
          <c:orientation val="minMax"/>
          <c:max val="2026"/>
          <c:min val="2024"/>
        </c:scaling>
        <c:delete val="0"/>
        <c:axPos val="b"/>
        <c:majorGridlines>
          <c:spPr>
            <a:ln>
              <a:noFill/>
            </a:ln>
          </c:spPr>
        </c:majorGridlines>
        <c:numFmt formatCode="0;&quot;-&quot;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"/>
        <c:crosses val="min"/>
        <c:crossBetween val="midCat"/>
        <c:majorUnit val="1"/>
      </c:valAx>
      <c:valAx>
        <c:axId val="5"/>
        <c:scaling>
          <c:orientation val="minMax"/>
          <c:max val="6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"/>
        <c:crosses val="min"/>
        <c:crossBetween val="midCat"/>
        <c:majorUnit val="5"/>
      </c:valAx>
    </c:plotArea>
    <c:plotVisOnly val="0"/>
    <c:dispBlanksAs val="gap"/>
    <c:showDLblsOverMax val="1"/>
  </c:chart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3423282083464075E-2"/>
          <c:y val="6.4548162859980135E-2"/>
          <c:w val="0.91841857546281769"/>
          <c:h val="0.87090367428003967"/>
        </c:manualLayout>
      </c:layout>
      <c:scatterChart>
        <c:scatterStyle val="lineMarker"/>
        <c:varyColors val="0"/>
        <c:ser>
          <c:idx val="0"/>
          <c:order val="0"/>
          <c:spPr>
            <a:ln>
              <a:noFill/>
            </a:ln>
          </c:spPr>
          <c:marker>
            <c:symbol val="circle"/>
            <c:size val="7"/>
            <c:spPr>
              <a:solidFill>
                <a:schemeClr val="accent5"/>
              </a:solidFill>
              <a:ln w="9525" cmpd="sng" algn="ctr">
                <a:solidFill>
                  <a:schemeClr val="accent5"/>
                </a:solidFill>
                <a:prstDash val="solid"/>
              </a:ln>
            </c:spPr>
          </c:marker>
          <c:xVal>
            <c:numRef>
              <c:f>Sheet1!$A$1:$A$19</c:f>
              <c:numCache>
                <c:formatCode>General</c:formatCode>
                <c:ptCount val="19"/>
                <c:pt idx="0">
                  <c:v>20089</c:v>
                </c:pt>
                <c:pt idx="1">
                  <c:v>19723</c:v>
                </c:pt>
                <c:pt idx="2">
                  <c:v>19358</c:v>
                </c:pt>
                <c:pt idx="3">
                  <c:v>18993</c:v>
                </c:pt>
                <c:pt idx="4">
                  <c:v>18993</c:v>
                </c:pt>
              </c:numCache>
            </c:numRef>
          </c:xVal>
          <c:yVal>
            <c:numRef>
              <c:f>Sheet1!$B$1:$B$19</c:f>
              <c:numCache>
                <c:formatCode>General</c:formatCode>
                <c:ptCount val="19"/>
                <c:pt idx="0">
                  <c:v>5000</c:v>
                </c:pt>
                <c:pt idx="1">
                  <c:v>2200</c:v>
                </c:pt>
                <c:pt idx="2">
                  <c:v>1979</c:v>
                </c:pt>
                <c:pt idx="3">
                  <c:v>1979</c:v>
                </c:pt>
                <c:pt idx="4">
                  <c:v>312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C7C-4E5E-A622-D699D6F25D33}"/>
            </c:ext>
          </c:extLst>
        </c:ser>
        <c:ser>
          <c:idx val="1"/>
          <c:order val="1"/>
          <c:spPr>
            <a:ln>
              <a:noFill/>
            </a:ln>
          </c:spPr>
          <c:marker>
            <c:symbol val="circle"/>
            <c:size val="7"/>
            <c:spPr>
              <a:solidFill>
                <a:srgbClr val="0052D9"/>
              </a:solidFill>
              <a:ln w="9525" cmpd="sng" algn="ctr">
                <a:solidFill>
                  <a:srgbClr val="0052D9"/>
                </a:solidFill>
                <a:prstDash val="solid"/>
              </a:ln>
            </c:spPr>
          </c:marker>
          <c:xVal>
            <c:numRef>
              <c:f>Sheet1!$A$1:$A$19</c:f>
              <c:numCache>
                <c:formatCode>General</c:formatCode>
                <c:ptCount val="19"/>
                <c:pt idx="5">
                  <c:v>20089</c:v>
                </c:pt>
                <c:pt idx="6">
                  <c:v>19723</c:v>
                </c:pt>
                <c:pt idx="7">
                  <c:v>19358</c:v>
                </c:pt>
                <c:pt idx="8">
                  <c:v>20454</c:v>
                </c:pt>
                <c:pt idx="9">
                  <c:v>19358</c:v>
                </c:pt>
                <c:pt idx="10">
                  <c:v>19723</c:v>
                </c:pt>
                <c:pt idx="11">
                  <c:v>19358</c:v>
                </c:pt>
              </c:numCache>
            </c:numRef>
          </c:xVal>
          <c:yVal>
            <c:numRef>
              <c:f>Sheet1!$C$1:$C$19</c:f>
              <c:numCache>
                <c:formatCode>General</c:formatCode>
                <c:ptCount val="19"/>
                <c:pt idx="5">
                  <c:v>2307</c:v>
                </c:pt>
                <c:pt idx="6">
                  <c:v>918</c:v>
                </c:pt>
                <c:pt idx="7">
                  <c:v>196.5</c:v>
                </c:pt>
                <c:pt idx="8">
                  <c:v>1310</c:v>
                </c:pt>
                <c:pt idx="9">
                  <c:v>667</c:v>
                </c:pt>
                <c:pt idx="10">
                  <c:v>177</c:v>
                </c:pt>
                <c:pt idx="11">
                  <c:v>51.2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3C7C-4E5E-A622-D699D6F25D33}"/>
            </c:ext>
          </c:extLst>
        </c:ser>
        <c:ser>
          <c:idx val="2"/>
          <c:order val="2"/>
          <c:spPr>
            <a:ln>
              <a:noFill/>
            </a:ln>
          </c:spPr>
          <c:marker>
            <c:symbol val="circle"/>
            <c:size val="7"/>
            <c:spPr>
              <a:solidFill>
                <a:srgbClr val="C0C0C0"/>
              </a:solidFill>
              <a:ln w="9525" cmpd="sng" algn="ctr">
                <a:solidFill>
                  <a:srgbClr val="C0C0C0"/>
                </a:solidFill>
                <a:prstDash val="solid"/>
              </a:ln>
            </c:spPr>
          </c:marker>
          <c:dPt>
            <c:idx val="13"/>
            <c:marker>
              <c:spPr>
                <a:solidFill>
                  <a:schemeClr val="accent5"/>
                </a:solidFill>
                <a:ln w="9525" cmpd="sng" algn="ctr">
                  <a:solidFill>
                    <a:schemeClr val="accent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3C7C-4E5E-A622-D699D6F25D33}"/>
              </c:ext>
            </c:extLst>
          </c:dPt>
          <c:xVal>
            <c:numRef>
              <c:f>Sheet1!$A$1:$A$19</c:f>
              <c:numCache>
                <c:formatCode>General</c:formatCode>
                <c:ptCount val="19"/>
                <c:pt idx="12">
                  <c:v>19723</c:v>
                </c:pt>
                <c:pt idx="13">
                  <c:v>20089</c:v>
                </c:pt>
                <c:pt idx="14">
                  <c:v>20089</c:v>
                </c:pt>
                <c:pt idx="15">
                  <c:v>19723</c:v>
                </c:pt>
                <c:pt idx="16">
                  <c:v>18993</c:v>
                </c:pt>
              </c:numCache>
            </c:numRef>
          </c:xVal>
          <c:yVal>
            <c:numRef>
              <c:f>Sheet1!$D$1:$D$19</c:f>
              <c:numCache>
                <c:formatCode>General</c:formatCode>
                <c:ptCount val="19"/>
                <c:pt idx="12">
                  <c:v>2615</c:v>
                </c:pt>
                <c:pt idx="13">
                  <c:v>5000</c:v>
                </c:pt>
                <c:pt idx="14">
                  <c:v>4600</c:v>
                </c:pt>
                <c:pt idx="15">
                  <c:v>1835</c:v>
                </c:pt>
                <c:pt idx="16">
                  <c:v>432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3C7C-4E5E-A622-D699D6F25D33}"/>
            </c:ext>
          </c:extLst>
        </c:ser>
        <c:ser>
          <c:idx val="3"/>
          <c:order val="3"/>
          <c:spPr>
            <a:ln>
              <a:noFill/>
            </a:ln>
          </c:spPr>
          <c:marker>
            <c:symbol val="circle"/>
            <c:size val="7"/>
            <c:spPr>
              <a:solidFill>
                <a:srgbClr val="C30C3E"/>
              </a:solidFill>
              <a:ln w="9525" cmpd="sng" algn="ctr">
                <a:solidFill>
                  <a:srgbClr val="C30C3E"/>
                </a:solidFill>
                <a:prstDash val="solid"/>
              </a:ln>
            </c:spPr>
          </c:marker>
          <c:xVal>
            <c:numRef>
              <c:f>Sheet1!$A$1:$A$19</c:f>
              <c:numCache>
                <c:formatCode>General</c:formatCode>
                <c:ptCount val="19"/>
                <c:pt idx="17">
                  <c:v>20089</c:v>
                </c:pt>
                <c:pt idx="18">
                  <c:v>19358</c:v>
                </c:pt>
              </c:numCache>
            </c:numRef>
          </c:xVal>
          <c:yVal>
            <c:numRef>
              <c:f>Sheet1!$E$1:$E$19</c:f>
              <c:numCache>
                <c:formatCode>General</c:formatCode>
                <c:ptCount val="19"/>
                <c:pt idx="17">
                  <c:v>800</c:v>
                </c:pt>
                <c:pt idx="18">
                  <c:v>320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3C7C-4E5E-A622-D699D6F25D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35991087"/>
        <c:axId val="1"/>
      </c:scatterChart>
      <c:valAx>
        <c:axId val="1035991087"/>
        <c:scaling>
          <c:orientation val="minMax"/>
          <c:max val="20454"/>
          <c:min val="18993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crossBetween val="midCat"/>
      </c:valAx>
      <c:valAx>
        <c:axId val="1"/>
        <c:scaling>
          <c:orientation val="minMax"/>
          <c:max val="60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035991087"/>
        <c:crosses val="min"/>
        <c:crossBetween val="midCat"/>
        <c:majorUnit val="1000"/>
      </c:valAx>
      <c:spPr>
        <a:noFill/>
        <a:ln w="9525" cmpd="sng" algn="ctr">
          <a:solidFill>
            <a:schemeClr val="tx1"/>
          </a:solidFill>
          <a:prstDash val="solid"/>
        </a:ln>
      </c:spPr>
    </c:plotArea>
    <c:plotVisOnly val="0"/>
    <c:dispBlanksAs val="gap"/>
    <c:showDLblsOverMax val="1"/>
  </c:chart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explosion val="11"/>
            <c:spPr>
              <a:solidFill>
                <a:srgbClr val="0052D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E01-4CD0-973A-EB20BFE7C550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E01-4CD0-973A-EB20BFE7C550}"/>
              </c:ext>
            </c:extLst>
          </c:dPt>
          <c:dLbls>
            <c:dLbl>
              <c:idx val="0"/>
              <c:layout>
                <c:manualLayout>
                  <c:x val="0.45181605359569404"/>
                  <c:y val="-9.2857436087971382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017024892085929"/>
                      <c:h val="0.1816875985100082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0E01-4CD0-973A-EB20BFE7C550}"/>
                </c:ext>
              </c:extLst>
            </c:dLbl>
            <c:dLbl>
              <c:idx val="1"/>
              <c:layout>
                <c:manualLayout>
                  <c:x val="-0.19933061188045326"/>
                  <c:y val="0.24749611972679891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400" b="0" i="0" u="none" strike="noStrike" kern="1200" baseline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ea"/>
                        <a:sym typeface="+mn-lt"/>
                      </a:defRPr>
                    </a:pPr>
                    <a:fld id="{4F0BB2E3-0575-467F-A8A3-AA53A14E4342}" type="VALUE">
                      <a:rPr lang="en-US" altLang="zh-CN" sz="1400">
                        <a:solidFill>
                          <a:schemeClr val="bg1">
                            <a:lumMod val="50000"/>
                          </a:schemeClr>
                        </a:solidFill>
                      </a:rPr>
                      <a:pPr>
                        <a:defRPr sz="1400">
                          <a:solidFill>
                            <a:schemeClr val="bg1">
                              <a:lumMod val="50000"/>
                            </a:schemeClr>
                          </a:solidFill>
                        </a:defRPr>
                      </a:pPr>
                      <a:t>[值]</a:t>
                    </a:fld>
                    <a:endParaRPr 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 altLang="en-US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3332507875564682"/>
                      <c:h val="0.18563732891239976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0E01-4CD0-973A-EB20BFE7C55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Ficontec!$A$2:$A$3</c:f>
              <c:strCache>
                <c:ptCount val="2"/>
                <c:pt idx="0">
                  <c:v>微组装</c:v>
                </c:pt>
                <c:pt idx="1">
                  <c:v>自动化测试</c:v>
                </c:pt>
              </c:strCache>
            </c:strRef>
          </c:cat>
          <c:val>
            <c:numRef>
              <c:f>Ficontec!$B$2:$B$3</c:f>
              <c:numCache>
                <c:formatCode>0.00%</c:formatCode>
                <c:ptCount val="2"/>
                <c:pt idx="0">
                  <c:v>0.78290000000000004</c:v>
                </c:pt>
                <c:pt idx="1">
                  <c:v>0.21709999999999996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E01-4CD0-973A-EB20BFE7C550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9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7668182257971086E-2"/>
          <c:y val="0.11551276055928993"/>
          <c:w val="0.80432110171008009"/>
          <c:h val="0.8176951071850392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Ficontec!$E$8</c:f>
              <c:strCache>
                <c:ptCount val="1"/>
                <c:pt idx="0">
                  <c:v>Revenue (left)</c:v>
                </c:pt>
              </c:strCache>
            </c:strRef>
          </c:tx>
          <c:spPr>
            <a:solidFill>
              <a:srgbClr val="0052D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Ficontec!$F$8:$H$8</c:f>
              <c:numCache>
                <c:formatCode>General</c:formatCode>
                <c:ptCount val="3"/>
                <c:pt idx="0">
                  <c:v>2.79</c:v>
                </c:pt>
                <c:pt idx="1">
                  <c:v>2.87</c:v>
                </c:pt>
                <c:pt idx="2">
                  <c:v>2.57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17-4999-A788-42C823432753}"/>
            </c:ext>
          </c:extLst>
        </c:ser>
        <c:ser>
          <c:idx val="2"/>
          <c:order val="2"/>
          <c:tx>
            <c:strRef>
              <c:f>Ficontec!$E$10</c:f>
              <c:strCache>
                <c:ptCount val="1"/>
                <c:pt idx="0">
                  <c:v>Net Profit Margin (left)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7044761443574113E-2"/>
                  <c:y val="0.2383975604898250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317-4999-A788-42C823432753}"/>
                </c:ext>
              </c:extLst>
            </c:dLbl>
            <c:dLbl>
              <c:idx val="1"/>
              <c:layout>
                <c:manualLayout>
                  <c:x val="2.4068193831947745E-2"/>
                  <c:y val="0.2209549253792847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317-4999-A788-42C823432753}"/>
                </c:ext>
              </c:extLst>
            </c:dLbl>
            <c:dLbl>
              <c:idx val="2"/>
              <c:layout>
                <c:manualLayout>
                  <c:x val="3.0680387931092332E-2"/>
                  <c:y val="0.1671661812685744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317-4999-A788-42C82343275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Ficontec!$F$10:$H$10</c:f>
              <c:numCache>
                <c:formatCode>General</c:formatCode>
                <c:ptCount val="3"/>
                <c:pt idx="0">
                  <c:v>-0.57999999999999996</c:v>
                </c:pt>
                <c:pt idx="1">
                  <c:v>-0.22</c:v>
                </c:pt>
                <c:pt idx="2">
                  <c:v>-0.14000000000000001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317-4999-A788-42C82343275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279053040"/>
        <c:axId val="279052080"/>
      </c:barChart>
      <c:lineChart>
        <c:grouping val="standard"/>
        <c:varyColors val="0"/>
        <c:ser>
          <c:idx val="1"/>
          <c:order val="1"/>
          <c:tx>
            <c:strRef>
              <c:f>Ficontec!$E$9</c:f>
              <c:strCache>
                <c:ptCount val="1"/>
                <c:pt idx="0">
                  <c:v>Gross Margin (right)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Ficontec!$F$9:$H$9</c:f>
              <c:numCache>
                <c:formatCode>0%</c:formatCode>
                <c:ptCount val="3"/>
                <c:pt idx="0">
                  <c:v>0.34399999999999997</c:v>
                </c:pt>
                <c:pt idx="1">
                  <c:v>0.41599999999999998</c:v>
                </c:pt>
                <c:pt idx="2">
                  <c:v>0.40200000000000002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317-4999-A788-42C82343275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8411808"/>
        <c:axId val="2098409408"/>
      </c:lineChart>
      <c:catAx>
        <c:axId val="2790530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9052080"/>
        <c:crosses val="autoZero"/>
        <c:auto val="1"/>
        <c:lblAlgn val="ctr"/>
        <c:lblOffset val="100"/>
        <c:noMultiLvlLbl val="0"/>
      </c:catAx>
      <c:valAx>
        <c:axId val="27905208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9053040"/>
        <c:crosses val="autoZero"/>
        <c:crossBetween val="between"/>
      </c:valAx>
      <c:valAx>
        <c:axId val="2098409408"/>
        <c:scaling>
          <c:orientation val="minMax"/>
          <c:max val="0.5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098411808"/>
        <c:crosses val="max"/>
        <c:crossBetween val="between"/>
        <c:minorUnit val="0.1"/>
      </c:valAx>
      <c:catAx>
        <c:axId val="209841180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09840940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8.1327906500388486E-2"/>
          <c:y val="0.8780523639706429"/>
          <c:w val="0.80693091620705704"/>
          <c:h val="0.121947742470450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ea"/>
              <a:sym typeface="+mn-lt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spPr>
            <a:solidFill>
              <a:schemeClr val="accent6"/>
            </a:solidFill>
          </c:spPr>
          <c:dPt>
            <c:idx val="0"/>
            <c:bubble3D val="0"/>
            <c:explosion val="9"/>
            <c:spPr>
              <a:solidFill>
                <a:srgbClr val="0052D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199-495D-97DB-D08FE0B5DAB2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199-495D-97DB-D08FE0B5DAB2}"/>
              </c:ext>
            </c:extLst>
          </c:dPt>
          <c:dLbls>
            <c:dLbl>
              <c:idx val="0"/>
              <c:layout>
                <c:manualLayout>
                  <c:x val="-0.18208374909235203"/>
                  <c:y val="6.411521097721374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199-495D-97DB-D08FE0B5DAB2}"/>
                </c:ext>
              </c:extLst>
            </c:dLbl>
            <c:dLbl>
              <c:idx val="1"/>
              <c:layout>
                <c:manualLayout>
                  <c:x val="0.21953623863801"/>
                  <c:y val="-2.7580147981129104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199-495D-97DB-D08FE0B5DAB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Ficontec!$K$2:$K$3</c:f>
              <c:strCache>
                <c:ptCount val="2"/>
                <c:pt idx="0">
                  <c:v>前五大客户</c:v>
                </c:pt>
                <c:pt idx="1">
                  <c:v>其他</c:v>
                </c:pt>
              </c:strCache>
            </c:strRef>
          </c:cat>
          <c:val>
            <c:numRef>
              <c:f>Ficontec!$L$2:$L$3</c:f>
              <c:numCache>
                <c:formatCode>0%</c:formatCode>
                <c:ptCount val="2"/>
                <c:pt idx="0">
                  <c:v>0.42</c:v>
                </c:pt>
                <c:pt idx="1">
                  <c:v>0.58000000000000007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199-495D-97DB-D08FE0B5DAB2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spPr>
            <a:solidFill>
              <a:srgbClr val="0052D9"/>
            </a:solidFill>
          </c:spPr>
          <c:dPt>
            <c:idx val="0"/>
            <c:bubble3D val="0"/>
            <c:explosion val="8"/>
            <c:spPr>
              <a:solidFill>
                <a:srgbClr val="0052D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504-412D-B844-C5F261DCD04A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504-412D-B844-C5F261DCD04A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7504-412D-B844-C5F261DCD04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Ficontec!$O$2:$O$3</c:f>
              <c:strCache>
                <c:ptCount val="2"/>
                <c:pt idx="0">
                  <c:v>Tech Group AS</c:v>
                </c:pt>
                <c:pt idx="1">
                  <c:v>其他</c:v>
                </c:pt>
              </c:strCache>
            </c:strRef>
          </c:cat>
          <c:val>
            <c:numRef>
              <c:f>Ficontec!$P$2:$P$3</c:f>
              <c:numCache>
                <c:formatCode>0%</c:formatCode>
                <c:ptCount val="2"/>
                <c:pt idx="0">
                  <c:v>0.38</c:v>
                </c:pt>
                <c:pt idx="1">
                  <c:v>0.62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504-412D-B844-C5F261DCD04A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4971209213051823"/>
          <c:y val="0.11302211302211303"/>
          <c:w val="0.8336532309660909"/>
          <c:h val="0.80794430794430794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381654381654381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864C-4591-9999-9110C7E949C8}"/>
                </c:ext>
              </c:extLst>
            </c:dLbl>
            <c:dLbl>
              <c:idx val="1"/>
              <c:layout>
                <c:manualLayout>
                  <c:x val="0"/>
                  <c:y val="-0.2358722358722358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864C-4591-9999-9110C7E949C8}"/>
                </c:ext>
              </c:extLst>
            </c:dLbl>
            <c:dLbl>
              <c:idx val="2"/>
              <c:layout>
                <c:manualLayout>
                  <c:x val="0"/>
                  <c:y val="-0.1236691236691236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864C-4591-9999-9110C7E949C8}"/>
                </c:ext>
              </c:extLst>
            </c:dLbl>
            <c:dLbl>
              <c:idx val="3"/>
              <c:layout>
                <c:manualLayout>
                  <c:x val="0"/>
                  <c:y val="-7.8624078624078622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864C-4591-9999-9110C7E949C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1800</c:v>
                </c:pt>
                <c:pt idx="1">
                  <c:v>900</c:v>
                </c:pt>
                <c:pt idx="2">
                  <c:v>400</c:v>
                </c:pt>
                <c:pt idx="3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64C-4591-9999-9110C7E949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870885872"/>
        <c:axId val="1"/>
      </c:barChart>
      <c:catAx>
        <c:axId val="187088587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8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70885872"/>
        <c:crosses val="min"/>
        <c:crossBetween val="between"/>
        <c:majorUnit val="200"/>
      </c:valAx>
    </c:plotArea>
    <c:plotVisOnly val="0"/>
    <c:dispBlanksAs val="gap"/>
    <c:showDLblsOverMax val="1"/>
  </c:chart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532761788120025"/>
          <c:y val="0.11302211302211303"/>
          <c:w val="0.75137783221065524"/>
          <c:h val="0.80794430794430794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687141687141687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47AE-4498-9717-8C10EF9410E0}"/>
                </c:ext>
              </c:extLst>
            </c:dLbl>
            <c:dLbl>
              <c:idx val="1"/>
              <c:layout>
                <c:manualLayout>
                  <c:x val="0"/>
                  <c:y val="-0.33701883701883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47AE-4498-9717-8C10EF9410E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400</c:v>
                </c:pt>
                <c:pt idx="1">
                  <c:v>900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7AE-4498-9717-8C10EF9410E0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47AE-4498-9717-8C10EF9410E0}"/>
              </c:ext>
            </c:extLst>
          </c:dPt>
          <c:dLbls>
            <c:dLbl>
              <c:idx val="0"/>
              <c:layout>
                <c:manualLayout>
                  <c:x val="0"/>
                  <c:y val="-3.6036036036036036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47AE-4498-9717-8C10EF9410E0}"/>
                </c:ext>
              </c:extLst>
            </c:dLbl>
            <c:dLbl>
              <c:idx val="1"/>
              <c:layout>
                <c:manualLayout>
                  <c:x val="0"/>
                  <c:y val="-0.4381654381654381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47AE-4498-9717-8C10EF9410E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Sheet1!$A$2:$B$2</c:f>
              <c:numCache>
                <c:formatCode>General</c:formatCode>
                <c:ptCount val="2"/>
                <c:pt idx="0">
                  <c:v>67</c:v>
                </c:pt>
                <c:pt idx="1">
                  <c:v>1200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7AE-4498-9717-8C10EF9410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427492687"/>
        <c:axId val="1"/>
      </c:barChart>
      <c:barChart>
        <c:barDir val="col"/>
        <c:grouping val="clustered"/>
        <c:varyColors val="0"/>
        <c:ser>
          <c:idx val="2"/>
          <c:order val="2"/>
          <c:invertIfNegative val="0"/>
          <c:extLst>
            <c:ext xmlns:c16="http://schemas.microsoft.com/office/drawing/2014/chart" uri="{C3380CC4-5D6E-409C-BE32-E72D297353CC}">
              <c16:uniqueId val="{00000006-47AE-4498-9717-8C10EF9410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"/>
        <c:axId val="3"/>
      </c:barChart>
      <c:catAx>
        <c:axId val="42749268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200"/>
          <c:min val="0"/>
        </c:scaling>
        <c:delete val="0"/>
        <c:axPos val="r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27492687"/>
        <c:crosses val="max"/>
        <c:crossBetween val="between"/>
        <c:majorUnit val="100"/>
      </c:valAx>
      <c:catAx>
        <c:axId val="2"/>
        <c:scaling>
          <c:orientation val="minMax"/>
        </c:scaling>
        <c:delete val="1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1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.0;&quot;-&quot;#,##0.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"/>
        <c:crosses val="min"/>
        <c:crossBetween val="between"/>
        <c:majorUnit val="0.1"/>
      </c:valAx>
    </c:plotArea>
    <c:plotVisOnly val="0"/>
    <c:dispBlanksAs val="gap"/>
    <c:showDLblsOverMax val="1"/>
  </c:chart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E122AA-3DD6-491B-8E01-9C859ED232BE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132800-FE64-4159-8F62-EF1F0A4E3E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1642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214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940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499B3-90E7-FF4C-574D-089003B56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9CC539C-9EDA-E148-F986-7E1CE776B6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B62231E-0679-BDC8-9907-BF11B38A2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7984E2-B6D6-D682-15A0-CEDD35E0D0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78220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0B92A-CB33-6FE2-407B-3FFF235C8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29F6CED-1DE0-E8D1-0A63-DDECE26501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CEA3C55-893B-8D30-9C4C-225BF0FEA0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2AD1F1-F583-3E7F-815D-1E99659490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26825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837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AB9F2-4393-7A21-C03B-ECDA81CC9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AD0FC4-7D3E-F1A8-1B29-D1388CEEC8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92472D-0B08-14B0-CBDC-81D348F029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615051-E466-499A-DC21-BB2A80CF72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6433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07140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06866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57B5A-0292-B6C8-E55A-E2C44E099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15B817D-B5F8-8268-2DE8-A38067FB9F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7BBA674-C5B3-EE10-E7FE-B19F74EDF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74F66A-8627-74AD-79C6-30EE1A0B1E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71738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Rubin Ultra NVL576: 144x GPUs with 576 dies;</a:t>
            </a:r>
          </a:p>
          <a:p>
            <a:r>
              <a:rPr lang="en-US" altLang="zh-CN" dirty="0"/>
              <a:t>GB200 NVL72: 72 GPUs.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68503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24390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23439-0CAB-DF59-0D53-4796D1191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D0C9782-A38A-2D89-7824-06352F6219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E8117D8-5928-297D-6005-3BABCA3B60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2CC873-A930-310E-FDCF-BF95748EC8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37135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336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93020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47447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55E8D-9D4C-B576-89E1-6C6D0F80C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D557838-0F90-27A6-BD9D-61F9591D34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F306591-1F35-34AE-45DB-6C520A362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E2D8B9-0FEE-414F-4D40-AA9E2F14DA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5388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3C1FC-4102-E753-14C2-54FFD6BC5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2342C2F-790F-9301-79D4-9BA499B15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9FD8636-4C9C-BD65-3F2F-F726DCD9D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C7AAAC-AEF8-A4D5-4D00-2D3DF7B0FF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58906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5188F-0C1B-9BB9-B624-B8CEE13CF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5D10F4C-27ED-860C-C110-B7EE030448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8BE31EE-32EA-8555-6100-0B4F5670EA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595747-82F0-E094-AEBD-AE7CD95790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63158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CF003-E03B-537C-77FD-36F84EE25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89CE9ED-012E-2F0E-85E1-3EDADC4601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CA3CA08-D59B-F645-3F9D-C779757676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6F8B8D-2853-E2A5-D1B5-DA7BA3BF72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43514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EF65D-05B4-6E46-409D-38911DEE2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776BE86-5122-7EBB-C1DF-0EC4BCB04E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B56F3BC-ADCD-B45C-44BE-C323DF996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CD32B4-2CCA-6BEB-A9A5-CE90CB7D7B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94817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85DC4-9F71-7029-88C9-5231930CF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5A44506-1A1E-4CD4-7D0C-26A26BE272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FF59C66-A481-15B0-C4B1-7F35E9C9B2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 DS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50F25C-6548-447D-772B-4FC52E0DD5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9351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9D08B-C1F5-1A4F-FC1B-9B287A1DD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F66261A-3948-235F-00D8-3D6FADA67B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DA90EAB-BB90-686A-8731-24D274DA5D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 DS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F7A6D1-4A5B-D883-24EC-16BA776F82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404502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42E9C-EB3D-46F5-1E8F-84F3AF228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9E245A3-6068-8533-3147-FDE2D7F839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21565C7-19E4-E696-D3F8-CF685A299C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3BAA03-C1F3-BD93-A902-D82D9E90AE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328077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B86A8-7591-8406-6C23-BB55AEFA2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948E406-13BB-E2AD-64DB-7C66E717C0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D623573-22AB-BC5E-EE2C-B727BDAF4B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C74687-5F85-8C3C-2C93-DC0ABEAFED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0405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7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6" hidden="1"/>
          <p:cNvPicPr/>
          <p:nvPr/>
        </p:nvPicPr>
        <p:blipFill>
          <a:blip r:embed="rId3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3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4" name="Documenttype"/>
          <p:cNvSpPr>
            <a:spLocks noGrp="1"/>
          </p:cNvSpPr>
          <p:nvPr>
            <p:ph type="body" sz="quarter" idx="13" hasCustomPrompt="1"/>
          </p:nvPr>
        </p:nvSpPr>
        <p:spPr bwMode="ltGray">
          <a:xfrm>
            <a:off x="550801" y="4881475"/>
            <a:ext cx="7736926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Edit date or title/role</a:t>
            </a:r>
            <a:endParaRPr/>
          </a:p>
        </p:txBody>
      </p:sp>
      <p:sp>
        <p:nvSpPr>
          <p:cNvPr id="5" name="Subtitle"/>
          <p:cNvSpPr>
            <a:spLocks noGrp="1"/>
          </p:cNvSpPr>
          <p:nvPr>
            <p:ph type="subTitle" idx="1"/>
          </p:nvPr>
        </p:nvSpPr>
        <p:spPr bwMode="ltGray">
          <a:xfrm>
            <a:off x="551942" y="4170626"/>
            <a:ext cx="7736926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Title"/>
          <p:cNvSpPr>
            <a:spLocks noGrp="1"/>
          </p:cNvSpPr>
          <p:nvPr>
            <p:ph type="title"/>
          </p:nvPr>
        </p:nvSpPr>
        <p:spPr bwMode="ltGray">
          <a:xfrm>
            <a:off x="551942" y="3090446"/>
            <a:ext cx="7736926" cy="67710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4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图片 11" descr="03_Tencent_English logo_Reverse type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466705" y="31750"/>
            <a:ext cx="1647825" cy="677545"/>
          </a:xfrm>
          <a:prstGeom prst="rect">
            <a:avLst/>
          </a:prstGeom>
        </p:spPr>
      </p:pic>
      <p:sp>
        <p:nvSpPr>
          <p:cNvPr id="8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1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12" name="2. Slide Title"/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/>
          </a:p>
        </p:txBody>
      </p:sp>
      <p:sp>
        <p:nvSpPr>
          <p:cNvPr id="13" name="3. Subtitle"/>
          <p:cNvSpPr>
            <a:spLocks noGrp="1"/>
          </p:cNvSpPr>
          <p:nvPr>
            <p:ph type="subTitle" idx="1"/>
          </p:nvPr>
        </p:nvSpPr>
        <p:spPr>
          <a:xfrm>
            <a:off x="158750" y="916604"/>
            <a:ext cx="9677146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800" b="0" dirty="0"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Click to edit Master subtitle style</a:t>
            </a:r>
            <a:endParaRPr/>
          </a:p>
        </p:txBody>
      </p:sp>
      <p:sp>
        <p:nvSpPr>
          <p:cNvPr id="14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5" name="5. Source" hidden="1"/>
          <p:cNvSpPr txBox="1"/>
          <p:nvPr userDrawn="1"/>
        </p:nvSpPr>
        <p:spPr>
          <a:xfrm>
            <a:off x="554735" y="6498754"/>
            <a:ext cx="7277861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6" name="Text Placeholder 4"/>
          <p:cNvSpPr>
            <a:spLocks noGrp="1"/>
          </p:cNvSpPr>
          <p:nvPr>
            <p:ph idx="10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4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49" name="RectangleLight"/>
          <p:cNvSpPr/>
          <p:nvPr userDrawn="1"/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5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51" name="2. Slide Title"/>
          <p:cNvSpPr>
            <a:spLocks noGrp="1"/>
          </p:cNvSpPr>
          <p:nvPr>
            <p:ph type="title"/>
          </p:nvPr>
        </p:nvSpPr>
        <p:spPr>
          <a:xfrm>
            <a:off x="554736" y="2744369"/>
            <a:ext cx="2514600" cy="769441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2" name="3. Subtitle"/>
          <p:cNvSpPr>
            <a:spLocks noGrp="1"/>
          </p:cNvSpPr>
          <p:nvPr>
            <p:ph type="subTitle" idx="1"/>
          </p:nvPr>
        </p:nvSpPr>
        <p:spPr>
          <a:xfrm>
            <a:off x="554736" y="3659644"/>
            <a:ext cx="2514600" cy="55399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5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251460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5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5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59" name="RectangleLight"/>
          <p:cNvSpPr/>
          <p:nvPr userDrawn="1"/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6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61" name="2. Slide Title"/>
          <p:cNvSpPr>
            <a:spLocks noGrp="1"/>
          </p:cNvSpPr>
          <p:nvPr>
            <p:ph type="title"/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2" name="3. Subtitle"/>
          <p:cNvSpPr>
            <a:spLocks noGrp="1"/>
          </p:cNvSpPr>
          <p:nvPr>
            <p:ph type="subTitle" idx="1"/>
          </p:nvPr>
        </p:nvSpPr>
        <p:spPr>
          <a:xfrm>
            <a:off x="554735" y="3659644"/>
            <a:ext cx="3465575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6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465577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6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6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69" name="RectangleLight"/>
          <p:cNvSpPr/>
          <p:nvPr userDrawn="1"/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7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71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5065776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7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7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7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79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0" name="RectangleLight"/>
          <p:cNvSpPr/>
          <p:nvPr userDrawn="1"/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81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8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6967728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3" name="5. Source" hidden="1"/>
          <p:cNvSpPr txBox="1"/>
          <p:nvPr userDrawn="1"/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8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8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8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89" name="RectangleLight"/>
          <p:cNvSpPr/>
          <p:nvPr userDrawn="1"/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noProof="0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9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8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1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7918704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9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9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Object 1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98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9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00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101" name="图片 3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End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Object 1" hidden="1"/>
          <p:cNvPicPr/>
          <p:nvPr/>
        </p:nvPicPr>
        <p:blipFill>
          <a:blip r:embed="rId3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04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05" name="TextBox 11"/>
          <p:cNvSpPr txBox="1"/>
          <p:nvPr userDrawn="1"/>
        </p:nvSpPr>
        <p:spPr bwMode="ltGray">
          <a:xfrm>
            <a:off x="4427988" y="3090446"/>
            <a:ext cx="3336024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785" lvl="2" indent="-21018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57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4070" lvl="4" indent="-1460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4400" b="1" dirty="0">
                <a:solidFill>
                  <a:schemeClr val="bg2"/>
                </a:solidFill>
                <a:latin typeface="+mj-lt"/>
                <a:ea typeface="+mj-ea"/>
                <a:sym typeface="微软雅黑" panose="020B0503020204020204" pitchFamily="34" charset="-122"/>
              </a:rPr>
              <a:t>THANK YOU</a:t>
            </a:r>
            <a:endParaRPr/>
          </a:p>
        </p:txBody>
      </p:sp>
      <p:sp>
        <p:nvSpPr>
          <p:cNvPr id="106" name="文本框 3"/>
          <p:cNvSpPr txBox="1"/>
          <p:nvPr userDrawn="1"/>
        </p:nvSpPr>
        <p:spPr>
          <a:xfrm>
            <a:off x="2007704" y="2723322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9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2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21" name="2. Slide Title"/>
          <p:cNvSpPr>
            <a:spLocks noGrp="1"/>
          </p:cNvSpPr>
          <p:nvPr>
            <p:ph type="title"/>
          </p:nvPr>
        </p:nvSpPr>
        <p:spPr>
          <a:xfrm>
            <a:off x="158750" y="175171"/>
            <a:ext cx="9677146" cy="989512"/>
          </a:xfrm>
        </p:spPr>
        <p:txBody>
          <a:bodyPr vert="horz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  <a:endParaRPr/>
          </a:p>
        </p:txBody>
      </p:sp>
      <p:sp>
        <p:nvSpPr>
          <p:cNvPr id="22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23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158750" y="41597"/>
            <a:ext cx="4239323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sp>
        <p:nvSpPr>
          <p:cNvPr id="24" name="Text Placeholder 4"/>
          <p:cNvSpPr>
            <a:spLocks noGrp="1"/>
          </p:cNvSpPr>
          <p:nvPr>
            <p:ph idx="1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  <p:pic>
        <p:nvPicPr>
          <p:cNvPr id="25" name="图片 6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2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1"/>
              </a:spcBef>
              <a:spcAft>
                <a:spcPct val="1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9" name="2. Slide Title"/>
          <p:cNvSpPr>
            <a:spLocks noGrp="1"/>
          </p:cNvSpPr>
          <p:nvPr>
            <p:ph type="title"/>
          </p:nvPr>
        </p:nvSpPr>
        <p:spPr>
          <a:xfrm>
            <a:off x="158750" y="182372"/>
            <a:ext cx="1147851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en-US" dirty="0"/>
              <a:t>Click to edit Master title style</a:t>
            </a:r>
            <a:endParaRPr/>
          </a:p>
        </p:txBody>
      </p:sp>
      <p:sp>
        <p:nvSpPr>
          <p:cNvPr id="3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31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  <a:endParaRPr/>
          </a:p>
        </p:txBody>
      </p:sp>
      <p:sp>
        <p:nvSpPr>
          <p:cNvPr id="3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j-lt"/>
                <a:ea typeface="+mj-ea"/>
              </a:defRPr>
            </a:lvl1pPr>
          </a:lstStyle>
          <a:p>
            <a:pPr lvl="0"/>
            <a:r>
              <a:rPr lang="en-US" dirty="0"/>
              <a:t>Chapter › Topic</a:t>
            </a:r>
            <a:endParaRPr/>
          </a:p>
        </p:txBody>
      </p:sp>
      <p:sp>
        <p:nvSpPr>
          <p:cNvPr id="33" name="3. Subtitle"/>
          <p:cNvSpPr>
            <a:spLocks noGrp="1"/>
          </p:cNvSpPr>
          <p:nvPr>
            <p:ph type="subTitle" idx="1"/>
          </p:nvPr>
        </p:nvSpPr>
        <p:spPr>
          <a:xfrm>
            <a:off x="158750" y="919250"/>
            <a:ext cx="11478514" cy="246221"/>
          </a:xfrm>
        </p:spPr>
        <p:txBody>
          <a:bodyPr anchor="ctr" anchorCtr="0"/>
          <a:lstStyle>
            <a:lvl1pPr>
              <a:defRPr>
                <a:latin typeface="+mj-lt"/>
                <a:ea typeface="+mj-ea"/>
              </a:defRPr>
            </a:lvl1pPr>
          </a:lstStyle>
          <a:p>
            <a:r>
              <a:rPr lang="en-US" sz="1600"/>
              <a:t>Click to edit Master subtitle style</a:t>
            </a:r>
            <a:endParaRPr lang="en-US" sz="1600" dirty="0"/>
          </a:p>
        </p:txBody>
      </p:sp>
      <p:sp>
        <p:nvSpPr>
          <p:cNvPr id="34" name="Text Placeholder 4"/>
          <p:cNvSpPr>
            <a:spLocks noGrp="1"/>
          </p:cNvSpPr>
          <p:nvPr>
            <p:ph idx="18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9D6027-F7C7-4EF3-85DD-09E27ACEE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09487-48C0-49BF-9A76-4EC48A3BB7C8}" type="datetime1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262BA1-A5A7-45F4-B365-E880E1C32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0CF1E8-0939-4B4D-A4D3-E47E208FC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60672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CCB8619-3FCC-0EF8-E258-77211AE9EE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014393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349" imgH="350" progId="TCLayout.ActiveDocument.1">
                  <p:embed/>
                </p:oleObj>
              </mc:Choice>
              <mc:Fallback>
                <p:oleObj name="think-cell 幻灯片" r:id="rId3" imgW="349" imgH="350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CCB8619-3FCC-0EF8-E258-77211AE9EE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CA9EE022-1F91-8EF9-007F-7CEE235FD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200" y="258578"/>
            <a:ext cx="10087200" cy="3877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>
                <a:latin typeface="+mj-lt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07638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" name="think-cell data - do not delete" hidden="1">
            <a:extLst>
              <a:ext uri="{FF2B5EF4-FFF2-40B4-BE49-F238E27FC236}">
                <a16:creationId xmlns:a16="http://schemas.microsoft.com/office/drawing/2014/main" id="{5498E0C6-D3B1-F8C9-B459-36796394059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94992585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6" imgW="7772400" imgH="10058400" progId="TCLayout.ActiveDocument.1">
                  <p:embed/>
                </p:oleObj>
              </mc:Choice>
              <mc:Fallback>
                <p:oleObj name="think-cell 幻灯片" r:id="rId16" imgW="7772400" imgH="10058400" progId="TCLayout.ActiveDocument.1">
                  <p:embed/>
                  <p:pic>
                    <p:nvPicPr>
                      <p:cNvPr id="13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98E0C6-D3B1-F8C9-B459-3679639405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7" descr="03_Tencent_English logo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  <p:pic>
        <p:nvPicPr>
          <p:cNvPr id="3" name="Object 6" hidden="1"/>
          <p:cNvPicPr/>
          <p:nvPr/>
        </p:nvPicPr>
        <p:blipFill>
          <a:blip r:embed="rId19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4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5" name="4. Footnote" hidden="1"/>
          <p:cNvSpPr txBox="1"/>
          <p:nvPr userDrawn="1"/>
        </p:nvSpPr>
        <p:spPr>
          <a:xfrm>
            <a:off x="553972" y="6278400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Footnotes</a:t>
            </a:r>
            <a:endParaRPr/>
          </a:p>
        </p:txBody>
      </p:sp>
      <p:sp>
        <p:nvSpPr>
          <p:cNvPr id="6" name="2. Slide Title"/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lvl="0"/>
            <a:r>
              <a:rPr lang="en-US" dirty="0"/>
              <a:t>Click to edit Master title style</a:t>
            </a:r>
            <a:endParaRPr/>
          </a:p>
        </p:txBody>
      </p:sp>
      <p:grpSp>
        <p:nvGrpSpPr>
          <p:cNvPr id="7" name="Grid" hidden="1"/>
          <p:cNvGrpSpPr/>
          <p:nvPr userDrawn="1"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8" name="slide margin"/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9" name="Straight Connector 60"/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61"/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62"/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63"/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64"/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5"/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6"/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7"/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8"/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9"/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70"/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71"/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Freeform: Shape 72"/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2" name="Freeform: Shape 73"/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3" name="Freeform: Shape 74"/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4" name="Freeform: Shape 75"/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5" name="Freeform: Shape 76"/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6" name="Freeform: Shape 77"/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7" name="Freeform: Shape 78"/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8" name="Freeform: Shape 79"/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9" name="Freeform: Shape 80"/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0" name="Freeform: Shape 81"/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1" name="Freeform: Shape 82"/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2" name="Freeform: Shape 83"/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3" name="Freeform: Shape 84"/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4" name="Freeform: Shape 85"/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5" name="Freeform: Shape 86"/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6" name="Freeform: Shape 87"/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7" name="Freeform: Shape 88"/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8" name="Freeform: Shape 89"/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9" name="Freeform: Shape 90"/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0" name="Freeform: Shape 91"/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1" name="Freeform: Shape 92"/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2" name="Freeform: Shape 93"/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3" name="Freeform: Shape 94"/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4" name="Freeform: Shape 95"/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5" name="Freeform: Shape 96"/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46" name="Straight Connector 97"/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98"/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99"/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100"/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101"/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104"/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106"/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7"/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8"/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9"/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10"/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11"/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12"/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13"/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4"/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5"/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6"/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7"/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8"/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9"/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20"/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21"/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22"/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23"/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4"/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5"/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6"/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7"/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8"/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9"/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30"/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31"/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32"/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33"/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4"/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5"/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6"/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7"/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8"/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9"/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40"/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41"/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42"/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43"/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main body box"/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noAutofit/>
            </a:bodyPr>
            <a:lstStyle/>
            <a:p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91" name="Straight Connector 145"/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92" name="Straight Connector 146"/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93" name="Sticker" hidden="1"/>
          <p:cNvSpPr txBox="1"/>
          <p:nvPr userDrawn="1"/>
        </p:nvSpPr>
        <p:spPr>
          <a:xfrm>
            <a:off x="554736" y="1323648"/>
            <a:ext cx="431208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STICKER</a:t>
            </a:r>
            <a:endParaRPr/>
          </a:p>
        </p:txBody>
      </p:sp>
      <p:sp>
        <p:nvSpPr>
          <p:cNvPr id="94" name="ACET" hidden="1"/>
          <p:cNvSpPr txBox="1"/>
          <p:nvPr userDrawn="1"/>
        </p:nvSpPr>
        <p:spPr>
          <a:xfrm>
            <a:off x="554736" y="2170800"/>
            <a:ext cx="3049253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3230" lvl="2" indent="-21463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805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880" lvl="4" indent="-1479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Above Chart Exhibit Title</a:t>
            </a:r>
            <a:b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</a:br>
            <a:r>
              <a:rPr lang="en-US" b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Unit of Measure</a:t>
            </a:r>
            <a:endParaRPr/>
          </a:p>
        </p:txBody>
      </p:sp>
      <p:sp>
        <p:nvSpPr>
          <p:cNvPr id="95" name="Text Placeholder 4"/>
          <p:cNvSpPr>
            <a:spLocks noGrp="1"/>
          </p:cNvSpPr>
          <p:nvPr>
            <p:ph type="body" idx="1"/>
          </p:nvPr>
        </p:nvSpPr>
        <p:spPr>
          <a:xfrm>
            <a:off x="158750" y="2170800"/>
            <a:ext cx="2880641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Text</a:t>
            </a:r>
            <a:endParaRPr lang="en-US" dirty="0"/>
          </a:p>
        </p:txBody>
      </p:sp>
      <p:grpSp>
        <p:nvGrpSpPr>
          <p:cNvPr id="96" name="LegendLines" hidden="1"/>
          <p:cNvGrpSpPr/>
          <p:nvPr userDrawn="1"/>
        </p:nvGrpSpPr>
        <p:grpSpPr>
          <a:xfrm>
            <a:off x="10317304" y="3150223"/>
            <a:ext cx="1361638" cy="958286"/>
            <a:chOff x="10162879" y="3243772"/>
            <a:chExt cx="1361638" cy="958286"/>
          </a:xfrm>
        </p:grpSpPr>
        <p:sp>
          <p:nvSpPr>
            <p:cNvPr id="97" name="Legend1" hidden="1"/>
            <p:cNvSpPr txBox="1"/>
            <p:nvPr/>
          </p:nvSpPr>
          <p:spPr>
            <a:xfrm>
              <a:off x="10886522" y="324377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98" name="Legend2" hidden="1"/>
            <p:cNvSpPr txBox="1"/>
            <p:nvPr/>
          </p:nvSpPr>
          <p:spPr>
            <a:xfrm>
              <a:off x="10886522" y="3615193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99" name="Legend3" hidden="1"/>
            <p:cNvSpPr txBox="1"/>
            <p:nvPr/>
          </p:nvSpPr>
          <p:spPr>
            <a:xfrm>
              <a:off x="10886522" y="398661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0" name="LineLegend3" hidden="1"/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1" name="LineLegend2" hidden="1"/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2" name="LineLegend1" hidden="1"/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03" name="LegendMoons" hidden="1"/>
          <p:cNvGrpSpPr/>
          <p:nvPr userDrawn="1"/>
        </p:nvGrpSpPr>
        <p:grpSpPr>
          <a:xfrm>
            <a:off x="10688315" y="1145373"/>
            <a:ext cx="990627" cy="1731859"/>
            <a:chOff x="7723680" y="1702457"/>
            <a:chExt cx="990627" cy="1731859"/>
          </a:xfrm>
        </p:grpSpPr>
        <p:sp>
          <p:nvSpPr>
            <p:cNvPr id="104" name="Legend1" hidden="1"/>
            <p:cNvSpPr txBox="1"/>
            <p:nvPr/>
          </p:nvSpPr>
          <p:spPr>
            <a:xfrm>
              <a:off x="8076312" y="1709816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5" name="Legend2" hidden="1"/>
            <p:cNvSpPr txBox="1"/>
            <p:nvPr/>
          </p:nvSpPr>
          <p:spPr>
            <a:xfrm>
              <a:off x="8076312" y="2085275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6" name="Legend3" hidden="1"/>
            <p:cNvSpPr txBox="1"/>
            <p:nvPr/>
          </p:nvSpPr>
          <p:spPr>
            <a:xfrm>
              <a:off x="8076312" y="246073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7" name="Legend4" hidden="1"/>
            <p:cNvSpPr txBox="1"/>
            <p:nvPr/>
          </p:nvSpPr>
          <p:spPr>
            <a:xfrm>
              <a:off x="8076312" y="2836193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8" name="Legend5" hidden="1"/>
            <p:cNvSpPr txBox="1"/>
            <p:nvPr/>
          </p:nvSpPr>
          <p:spPr>
            <a:xfrm>
              <a:off x="8076312" y="321165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grpSp>
          <p:nvGrpSpPr>
            <p:cNvPr id="109" name="MoonLegend1" hidden="1"/>
            <p:cNvGrpSpPr>
              <a:grpSpLocks noChangeAspect="1"/>
            </p:cNvGrpSpPr>
            <p:nvPr/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10" name="Oval 213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1" name="Arc 214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2" name="MoonLegend2" hidden="1"/>
            <p:cNvGrpSpPr>
              <a:grpSpLocks noChangeAspect="1"/>
            </p:cNvGrpSpPr>
            <p:nvPr/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13" name="Oval 211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4" name="Arc 212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5" name="MoonLegend3" hidden="1"/>
            <p:cNvGrpSpPr>
              <a:grpSpLocks noChangeAspect="1"/>
            </p:cNvGrpSpPr>
            <p:nvPr/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16" name="Oval 209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7" name="Arc 210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8" name="MoonLegend4" hidden="1"/>
            <p:cNvGrpSpPr>
              <a:grpSpLocks noChangeAspect="1"/>
            </p:cNvGrpSpPr>
            <p:nvPr/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19" name="Oval 207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0" name="Arc 208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21" name="MoonLegend5" hidden="1"/>
            <p:cNvGrpSpPr>
              <a:grpSpLocks noChangeAspect="1"/>
            </p:cNvGrpSpPr>
            <p:nvPr/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22" name="Oval 205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3" name="Arc 206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24" name="LegendBoxes" hidden="1"/>
          <p:cNvGrpSpPr/>
          <p:nvPr userDrawn="1"/>
        </p:nvGrpSpPr>
        <p:grpSpPr>
          <a:xfrm>
            <a:off x="10714801" y="4381500"/>
            <a:ext cx="964141" cy="1717282"/>
            <a:chOff x="10652400" y="4322824"/>
            <a:chExt cx="964141" cy="1717282"/>
          </a:xfrm>
        </p:grpSpPr>
        <p:sp>
          <p:nvSpPr>
            <p:cNvPr id="125" name="RectangleLegend1" hidden="1"/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6" name="RectangleLegend2" hidden="1"/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7" name="RectangleLegend3" hidden="1"/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8" name="RectangleLegend4" hidden="1"/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9" name="RectangleLegend5" hidden="1"/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30" name="Legend1" hidden="1"/>
            <p:cNvSpPr txBox="1"/>
            <p:nvPr/>
          </p:nvSpPr>
          <p:spPr>
            <a:xfrm>
              <a:off x="10978546" y="432282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1" name="Legend2" hidden="1"/>
            <p:cNvSpPr txBox="1"/>
            <p:nvPr/>
          </p:nvSpPr>
          <p:spPr>
            <a:xfrm>
              <a:off x="10978546" y="470232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2" name="Legend3" hidden="1"/>
            <p:cNvSpPr txBox="1"/>
            <p:nvPr/>
          </p:nvSpPr>
          <p:spPr>
            <a:xfrm>
              <a:off x="10978546" y="5081820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3" name="Legend4" hidden="1"/>
            <p:cNvSpPr txBox="1"/>
            <p:nvPr/>
          </p:nvSpPr>
          <p:spPr>
            <a:xfrm>
              <a:off x="10978546" y="5453241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4" name="Legend5" hidden="1"/>
            <p:cNvSpPr txBox="1"/>
            <p:nvPr/>
          </p:nvSpPr>
          <p:spPr>
            <a:xfrm>
              <a:off x="10978545" y="582466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</p:grpSp>
      <p:sp>
        <p:nvSpPr>
          <p:cNvPr id="135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1"/>
        </a:spcBef>
        <a:buNone/>
        <a:defRPr lang="en-US" sz="2500" b="0" kern="1200" spc="0" baseline="0" dirty="0">
          <a:ln w="6350" cap="flat">
            <a:noFill/>
            <a:miter lim="800000"/>
          </a:ln>
          <a:solidFill>
            <a:schemeClr val="tx1"/>
          </a:solidFill>
          <a:latin typeface="+mn-lt"/>
          <a:ea typeface="+mn-ea"/>
          <a:cs typeface="+mj-cs"/>
          <a:sym typeface="微软雅黑" panose="020B0503020204020204" pitchFamily="34" charset="-122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  <a:sym typeface="微软雅黑" panose="020B0503020204020204" pitchFamily="34" charset="-122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Wingdings" panose="05000000000000000000" pitchFamily="2" charset="2"/>
        <a:buChar char="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2pPr>
      <a:lvl3pPr marL="438785" indent="-21018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Arial" panose="020B0604020202020204" pitchFamily="34" charset="0"/>
        <a:buChar char="‒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3pPr>
      <a:lvl4pPr marL="594360" indent="-15557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4pPr>
      <a:lvl5pPr marL="814070" indent="-1460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3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3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tags" Target="../tags/tag7.xml"/><Relationship Id="rId7" Type="http://schemas.openxmlformats.org/officeDocument/2006/relationships/notesSlide" Target="../notesSlides/notesSlide2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slideLayout" Target="../slideLayouts/slideLayout13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9" Type="http://schemas.openxmlformats.org/officeDocument/2006/relationships/image" Target="../media/image7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5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0.png"/><Relationship Id="rId12" Type="http://schemas.openxmlformats.org/officeDocument/2006/relationships/image" Target="../media/image14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5" Type="http://schemas.openxmlformats.org/officeDocument/2006/relationships/image" Target="../media/image7.emf"/><Relationship Id="rId15" Type="http://schemas.openxmlformats.org/officeDocument/2006/relationships/image" Target="../media/image17.jpg"/><Relationship Id="rId10" Type="http://schemas.microsoft.com/office/2007/relationships/hdphoto" Target="../media/hdphoto1.wdp"/><Relationship Id="rId4" Type="http://schemas.openxmlformats.org/officeDocument/2006/relationships/oleObject" Target="../embeddings/oleObject5.bin"/><Relationship Id="rId9" Type="http://schemas.openxmlformats.org/officeDocument/2006/relationships/image" Target="../media/image12.png"/><Relationship Id="rId1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slideLayout" Target="../slideLayouts/slideLayout2.xml"/><Relationship Id="rId18" Type="http://schemas.openxmlformats.org/officeDocument/2006/relationships/chart" Target="../charts/chart2.xml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chart" Target="../charts/chart1.xml"/><Relationship Id="rId2" Type="http://schemas.openxmlformats.org/officeDocument/2006/relationships/tags" Target="../tags/tag12.xml"/><Relationship Id="rId16" Type="http://schemas.openxmlformats.org/officeDocument/2006/relationships/image" Target="../media/image8.emf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oleObject" Target="../embeddings/oleObject6.bin"/><Relationship Id="rId10" Type="http://schemas.openxmlformats.org/officeDocument/2006/relationships/tags" Target="../tags/tag20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13" Type="http://schemas.openxmlformats.org/officeDocument/2006/relationships/tags" Target="../tags/tag35.xml"/><Relationship Id="rId18" Type="http://schemas.openxmlformats.org/officeDocument/2006/relationships/image" Target="../media/image18.emf"/><Relationship Id="rId3" Type="http://schemas.openxmlformats.org/officeDocument/2006/relationships/tags" Target="../tags/tag25.xml"/><Relationship Id="rId21" Type="http://schemas.openxmlformats.org/officeDocument/2006/relationships/chart" Target="../charts/chart5.xml"/><Relationship Id="rId7" Type="http://schemas.openxmlformats.org/officeDocument/2006/relationships/tags" Target="../tags/tag29.xml"/><Relationship Id="rId12" Type="http://schemas.openxmlformats.org/officeDocument/2006/relationships/tags" Target="../tags/tag34.xml"/><Relationship Id="rId17" Type="http://schemas.openxmlformats.org/officeDocument/2006/relationships/oleObject" Target="../embeddings/oleObject7.bin"/><Relationship Id="rId2" Type="http://schemas.openxmlformats.org/officeDocument/2006/relationships/tags" Target="../tags/tag24.xml"/><Relationship Id="rId16" Type="http://schemas.openxmlformats.org/officeDocument/2006/relationships/notesSlide" Target="../notesSlides/notesSlide6.xml"/><Relationship Id="rId20" Type="http://schemas.openxmlformats.org/officeDocument/2006/relationships/chart" Target="../charts/chart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tags" Target="../tags/tag33.xml"/><Relationship Id="rId5" Type="http://schemas.openxmlformats.org/officeDocument/2006/relationships/tags" Target="../tags/tag27.xml"/><Relationship Id="rId15" Type="http://schemas.openxmlformats.org/officeDocument/2006/relationships/slideLayout" Target="../slideLayouts/slideLayout2.xml"/><Relationship Id="rId10" Type="http://schemas.openxmlformats.org/officeDocument/2006/relationships/tags" Target="../tags/tag32.xml"/><Relationship Id="rId19" Type="http://schemas.openxmlformats.org/officeDocument/2006/relationships/chart" Target="../charts/chart3.xml"/><Relationship Id="rId4" Type="http://schemas.openxmlformats.org/officeDocument/2006/relationships/tags" Target="../tags/tag26.xml"/><Relationship Id="rId9" Type="http://schemas.openxmlformats.org/officeDocument/2006/relationships/tags" Target="../tags/tag31.xml"/><Relationship Id="rId14" Type="http://schemas.openxmlformats.org/officeDocument/2006/relationships/tags" Target="../tags/tag36.xml"/><Relationship Id="rId22" Type="http://schemas.openxmlformats.org/officeDocument/2006/relationships/chart" Target="../charts/char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44.xml"/><Relationship Id="rId13" Type="http://schemas.openxmlformats.org/officeDocument/2006/relationships/tags" Target="../tags/tag49.xml"/><Relationship Id="rId18" Type="http://schemas.openxmlformats.org/officeDocument/2006/relationships/image" Target="../media/image8.emf"/><Relationship Id="rId3" Type="http://schemas.openxmlformats.org/officeDocument/2006/relationships/tags" Target="../tags/tag39.xml"/><Relationship Id="rId21" Type="http://schemas.openxmlformats.org/officeDocument/2006/relationships/image" Target="../media/image20.jpeg"/><Relationship Id="rId7" Type="http://schemas.openxmlformats.org/officeDocument/2006/relationships/tags" Target="../tags/tag43.xml"/><Relationship Id="rId12" Type="http://schemas.openxmlformats.org/officeDocument/2006/relationships/tags" Target="../tags/tag48.xml"/><Relationship Id="rId17" Type="http://schemas.openxmlformats.org/officeDocument/2006/relationships/oleObject" Target="../embeddings/oleObject8.bin"/><Relationship Id="rId2" Type="http://schemas.openxmlformats.org/officeDocument/2006/relationships/tags" Target="../tags/tag38.xml"/><Relationship Id="rId16" Type="http://schemas.openxmlformats.org/officeDocument/2006/relationships/notesSlide" Target="../notesSlides/notesSlide7.xml"/><Relationship Id="rId20" Type="http://schemas.openxmlformats.org/officeDocument/2006/relationships/image" Target="../media/image19.jpeg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11" Type="http://schemas.openxmlformats.org/officeDocument/2006/relationships/tags" Target="../tags/tag47.xml"/><Relationship Id="rId24" Type="http://schemas.microsoft.com/office/2007/relationships/hdphoto" Target="../media/hdphoto2.wdp"/><Relationship Id="rId5" Type="http://schemas.openxmlformats.org/officeDocument/2006/relationships/tags" Target="../tags/tag41.xml"/><Relationship Id="rId15" Type="http://schemas.openxmlformats.org/officeDocument/2006/relationships/slideLayout" Target="../slideLayouts/slideLayout2.xml"/><Relationship Id="rId23" Type="http://schemas.openxmlformats.org/officeDocument/2006/relationships/image" Target="../media/image22.png"/><Relationship Id="rId10" Type="http://schemas.openxmlformats.org/officeDocument/2006/relationships/tags" Target="../tags/tag46.xml"/><Relationship Id="rId19" Type="http://schemas.openxmlformats.org/officeDocument/2006/relationships/chart" Target="../charts/chart7.xml"/><Relationship Id="rId4" Type="http://schemas.openxmlformats.org/officeDocument/2006/relationships/tags" Target="../tags/tag40.xml"/><Relationship Id="rId9" Type="http://schemas.openxmlformats.org/officeDocument/2006/relationships/tags" Target="../tags/tag45.xml"/><Relationship Id="rId14" Type="http://schemas.openxmlformats.org/officeDocument/2006/relationships/tags" Target="../tags/tag50.xml"/><Relationship Id="rId22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9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13" Type="http://schemas.openxmlformats.org/officeDocument/2006/relationships/image" Target="../media/image9.png"/><Relationship Id="rId3" Type="http://schemas.openxmlformats.org/officeDocument/2006/relationships/tags" Target="../tags/tag54.xml"/><Relationship Id="rId7" Type="http://schemas.openxmlformats.org/officeDocument/2006/relationships/notesSlide" Target="../notesSlides/notesSlide9.xml"/><Relationship Id="rId12" Type="http://schemas.openxmlformats.org/officeDocument/2006/relationships/image" Target="../media/image25.png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24.png"/><Relationship Id="rId5" Type="http://schemas.openxmlformats.org/officeDocument/2006/relationships/tags" Target="../tags/tag56.xml"/><Relationship Id="rId15" Type="http://schemas.openxmlformats.org/officeDocument/2006/relationships/image" Target="../media/image26.png"/><Relationship Id="rId10" Type="http://schemas.openxmlformats.org/officeDocument/2006/relationships/image" Target="../media/image23.png"/><Relationship Id="rId4" Type="http://schemas.openxmlformats.org/officeDocument/2006/relationships/tags" Target="../tags/tag55.xml"/><Relationship Id="rId9" Type="http://schemas.openxmlformats.org/officeDocument/2006/relationships/image" Target="../media/image18.emf"/><Relationship Id="rId1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tags" Target="../tags/tag69.xml"/><Relationship Id="rId18" Type="http://schemas.openxmlformats.org/officeDocument/2006/relationships/tags" Target="../tags/tag74.xml"/><Relationship Id="rId26" Type="http://schemas.openxmlformats.org/officeDocument/2006/relationships/image" Target="../media/image18.emf"/><Relationship Id="rId3" Type="http://schemas.openxmlformats.org/officeDocument/2006/relationships/tags" Target="../tags/tag59.xml"/><Relationship Id="rId21" Type="http://schemas.openxmlformats.org/officeDocument/2006/relationships/tags" Target="../tags/tag77.xml"/><Relationship Id="rId7" Type="http://schemas.openxmlformats.org/officeDocument/2006/relationships/tags" Target="../tags/tag63.xml"/><Relationship Id="rId12" Type="http://schemas.openxmlformats.org/officeDocument/2006/relationships/tags" Target="../tags/tag68.xml"/><Relationship Id="rId17" Type="http://schemas.openxmlformats.org/officeDocument/2006/relationships/tags" Target="../tags/tag73.xml"/><Relationship Id="rId25" Type="http://schemas.openxmlformats.org/officeDocument/2006/relationships/oleObject" Target="../embeddings/oleObject11.bin"/><Relationship Id="rId33" Type="http://schemas.microsoft.com/office/2007/relationships/hdphoto" Target="../media/hdphoto3.wdp"/><Relationship Id="rId2" Type="http://schemas.openxmlformats.org/officeDocument/2006/relationships/tags" Target="../tags/tag58.xml"/><Relationship Id="rId16" Type="http://schemas.openxmlformats.org/officeDocument/2006/relationships/tags" Target="../tags/tag72.xml"/><Relationship Id="rId20" Type="http://schemas.openxmlformats.org/officeDocument/2006/relationships/tags" Target="../tags/tag76.xml"/><Relationship Id="rId29" Type="http://schemas.openxmlformats.org/officeDocument/2006/relationships/image" Target="../media/image28.png"/><Relationship Id="rId1" Type="http://schemas.openxmlformats.org/officeDocument/2006/relationships/tags" Target="../tags/tag57.xml"/><Relationship Id="rId6" Type="http://schemas.openxmlformats.org/officeDocument/2006/relationships/tags" Target="../tags/tag62.xml"/><Relationship Id="rId11" Type="http://schemas.openxmlformats.org/officeDocument/2006/relationships/tags" Target="../tags/tag67.xml"/><Relationship Id="rId24" Type="http://schemas.openxmlformats.org/officeDocument/2006/relationships/notesSlide" Target="../notesSlides/notesSlide10.xml"/><Relationship Id="rId32" Type="http://schemas.openxmlformats.org/officeDocument/2006/relationships/image" Target="../media/image31.png"/><Relationship Id="rId5" Type="http://schemas.openxmlformats.org/officeDocument/2006/relationships/tags" Target="../tags/tag61.xml"/><Relationship Id="rId15" Type="http://schemas.openxmlformats.org/officeDocument/2006/relationships/tags" Target="../tags/tag71.xml"/><Relationship Id="rId23" Type="http://schemas.openxmlformats.org/officeDocument/2006/relationships/slideLayout" Target="../slideLayouts/slideLayout2.xml"/><Relationship Id="rId28" Type="http://schemas.openxmlformats.org/officeDocument/2006/relationships/image" Target="../media/image27.png"/><Relationship Id="rId10" Type="http://schemas.openxmlformats.org/officeDocument/2006/relationships/tags" Target="../tags/tag66.xml"/><Relationship Id="rId19" Type="http://schemas.openxmlformats.org/officeDocument/2006/relationships/tags" Target="../tags/tag75.xml"/><Relationship Id="rId31" Type="http://schemas.openxmlformats.org/officeDocument/2006/relationships/image" Target="../media/image30.jpeg"/><Relationship Id="rId4" Type="http://schemas.openxmlformats.org/officeDocument/2006/relationships/tags" Target="../tags/tag60.xml"/><Relationship Id="rId9" Type="http://schemas.openxmlformats.org/officeDocument/2006/relationships/tags" Target="../tags/tag65.xml"/><Relationship Id="rId14" Type="http://schemas.openxmlformats.org/officeDocument/2006/relationships/tags" Target="../tags/tag70.xml"/><Relationship Id="rId22" Type="http://schemas.openxmlformats.org/officeDocument/2006/relationships/tags" Target="../tags/tag78.xml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8" Type="http://schemas.openxmlformats.org/officeDocument/2006/relationships/tags" Target="../tags/tag6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notesSlide" Target="../notesSlides/notesSlide11.xml"/><Relationship Id="rId7" Type="http://schemas.microsoft.com/office/2007/relationships/hdphoto" Target="../media/hdphoto4.wd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9.xml"/><Relationship Id="rId6" Type="http://schemas.openxmlformats.org/officeDocument/2006/relationships/image" Target="../media/image32.png"/><Relationship Id="rId11" Type="http://schemas.microsoft.com/office/2007/relationships/hdphoto" Target="../media/hdphoto6.wdp"/><Relationship Id="rId5" Type="http://schemas.openxmlformats.org/officeDocument/2006/relationships/image" Target="../media/image8.emf"/><Relationship Id="rId10" Type="http://schemas.openxmlformats.org/officeDocument/2006/relationships/image" Target="../media/image34.png"/><Relationship Id="rId4" Type="http://schemas.openxmlformats.org/officeDocument/2006/relationships/oleObject" Target="../embeddings/oleObject12.bin"/><Relationship Id="rId9" Type="http://schemas.microsoft.com/office/2007/relationships/hdphoto" Target="../media/hdphoto5.wdp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oleObject" Target="../embeddings/oleObject13.bin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0.xml"/><Relationship Id="rId6" Type="http://schemas.openxmlformats.org/officeDocument/2006/relationships/image" Target="../media/image35.png"/><Relationship Id="rId5" Type="http://schemas.openxmlformats.org/officeDocument/2006/relationships/image" Target="../media/image15.png"/><Relationship Id="rId4" Type="http://schemas.openxmlformats.org/officeDocument/2006/relationships/image" Target="../media/image8.emf"/><Relationship Id="rId9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41.png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10.png"/><Relationship Id="rId12" Type="http://schemas.openxmlformats.org/officeDocument/2006/relationships/image" Target="../media/image40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1.xml"/><Relationship Id="rId6" Type="http://schemas.openxmlformats.org/officeDocument/2006/relationships/image" Target="../media/image9.png"/><Relationship Id="rId11" Type="http://schemas.openxmlformats.org/officeDocument/2006/relationships/image" Target="../media/image39.png"/><Relationship Id="rId5" Type="http://schemas.openxmlformats.org/officeDocument/2006/relationships/image" Target="../media/image8.emf"/><Relationship Id="rId15" Type="http://schemas.openxmlformats.org/officeDocument/2006/relationships/image" Target="../media/image43.png"/><Relationship Id="rId10" Type="http://schemas.openxmlformats.org/officeDocument/2006/relationships/image" Target="../media/image38.png"/><Relationship Id="rId4" Type="http://schemas.openxmlformats.org/officeDocument/2006/relationships/oleObject" Target="../embeddings/oleObject14.bin"/><Relationship Id="rId9" Type="http://schemas.openxmlformats.org/officeDocument/2006/relationships/image" Target="../media/image16.png"/><Relationship Id="rId14" Type="http://schemas.openxmlformats.org/officeDocument/2006/relationships/image" Target="../media/image42.jpe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tags" Target="../tags/tag94.xml"/><Relationship Id="rId18" Type="http://schemas.openxmlformats.org/officeDocument/2006/relationships/tags" Target="../tags/tag99.xml"/><Relationship Id="rId26" Type="http://schemas.openxmlformats.org/officeDocument/2006/relationships/tags" Target="../tags/tag107.xml"/><Relationship Id="rId39" Type="http://schemas.openxmlformats.org/officeDocument/2006/relationships/notesSlide" Target="../notesSlides/notesSlide13.xml"/><Relationship Id="rId21" Type="http://schemas.openxmlformats.org/officeDocument/2006/relationships/tags" Target="../tags/tag102.xml"/><Relationship Id="rId34" Type="http://schemas.openxmlformats.org/officeDocument/2006/relationships/tags" Target="../tags/tag115.xml"/><Relationship Id="rId42" Type="http://schemas.openxmlformats.org/officeDocument/2006/relationships/chart" Target="../charts/chart8.xml"/><Relationship Id="rId47" Type="http://schemas.openxmlformats.org/officeDocument/2006/relationships/chart" Target="../charts/chart11.xml"/><Relationship Id="rId7" Type="http://schemas.openxmlformats.org/officeDocument/2006/relationships/tags" Target="../tags/tag88.xml"/><Relationship Id="rId2" Type="http://schemas.openxmlformats.org/officeDocument/2006/relationships/tags" Target="../tags/tag83.xml"/><Relationship Id="rId16" Type="http://schemas.openxmlformats.org/officeDocument/2006/relationships/tags" Target="../tags/tag97.xml"/><Relationship Id="rId29" Type="http://schemas.openxmlformats.org/officeDocument/2006/relationships/tags" Target="../tags/tag110.xml"/><Relationship Id="rId1" Type="http://schemas.openxmlformats.org/officeDocument/2006/relationships/tags" Target="../tags/tag82.xml"/><Relationship Id="rId6" Type="http://schemas.openxmlformats.org/officeDocument/2006/relationships/tags" Target="../tags/tag87.xml"/><Relationship Id="rId11" Type="http://schemas.openxmlformats.org/officeDocument/2006/relationships/tags" Target="../tags/tag92.xml"/><Relationship Id="rId24" Type="http://schemas.openxmlformats.org/officeDocument/2006/relationships/tags" Target="../tags/tag105.xml"/><Relationship Id="rId32" Type="http://schemas.openxmlformats.org/officeDocument/2006/relationships/tags" Target="../tags/tag113.xml"/><Relationship Id="rId37" Type="http://schemas.openxmlformats.org/officeDocument/2006/relationships/tags" Target="../tags/tag118.xml"/><Relationship Id="rId40" Type="http://schemas.openxmlformats.org/officeDocument/2006/relationships/oleObject" Target="../embeddings/oleObject15.bin"/><Relationship Id="rId45" Type="http://schemas.openxmlformats.org/officeDocument/2006/relationships/image" Target="../media/image44.png"/><Relationship Id="rId5" Type="http://schemas.openxmlformats.org/officeDocument/2006/relationships/tags" Target="../tags/tag86.xml"/><Relationship Id="rId15" Type="http://schemas.openxmlformats.org/officeDocument/2006/relationships/tags" Target="../tags/tag96.xml"/><Relationship Id="rId23" Type="http://schemas.openxmlformats.org/officeDocument/2006/relationships/tags" Target="../tags/tag104.xml"/><Relationship Id="rId28" Type="http://schemas.openxmlformats.org/officeDocument/2006/relationships/tags" Target="../tags/tag109.xml"/><Relationship Id="rId36" Type="http://schemas.openxmlformats.org/officeDocument/2006/relationships/tags" Target="../tags/tag117.xml"/><Relationship Id="rId10" Type="http://schemas.openxmlformats.org/officeDocument/2006/relationships/tags" Target="../tags/tag91.xml"/><Relationship Id="rId19" Type="http://schemas.openxmlformats.org/officeDocument/2006/relationships/tags" Target="../tags/tag100.xml"/><Relationship Id="rId31" Type="http://schemas.openxmlformats.org/officeDocument/2006/relationships/tags" Target="../tags/tag112.xml"/><Relationship Id="rId44" Type="http://schemas.openxmlformats.org/officeDocument/2006/relationships/chart" Target="../charts/chart10.xml"/><Relationship Id="rId4" Type="http://schemas.openxmlformats.org/officeDocument/2006/relationships/tags" Target="../tags/tag85.xml"/><Relationship Id="rId9" Type="http://schemas.openxmlformats.org/officeDocument/2006/relationships/tags" Target="../tags/tag90.xml"/><Relationship Id="rId14" Type="http://schemas.openxmlformats.org/officeDocument/2006/relationships/tags" Target="../tags/tag95.xml"/><Relationship Id="rId22" Type="http://schemas.openxmlformats.org/officeDocument/2006/relationships/tags" Target="../tags/tag103.xml"/><Relationship Id="rId27" Type="http://schemas.openxmlformats.org/officeDocument/2006/relationships/tags" Target="../tags/tag108.xml"/><Relationship Id="rId30" Type="http://schemas.openxmlformats.org/officeDocument/2006/relationships/tags" Target="../tags/tag111.xml"/><Relationship Id="rId35" Type="http://schemas.openxmlformats.org/officeDocument/2006/relationships/tags" Target="../tags/tag116.xml"/><Relationship Id="rId43" Type="http://schemas.openxmlformats.org/officeDocument/2006/relationships/chart" Target="../charts/chart9.xml"/><Relationship Id="rId8" Type="http://schemas.openxmlformats.org/officeDocument/2006/relationships/tags" Target="../tags/tag89.xml"/><Relationship Id="rId3" Type="http://schemas.openxmlformats.org/officeDocument/2006/relationships/tags" Target="../tags/tag84.xml"/><Relationship Id="rId12" Type="http://schemas.openxmlformats.org/officeDocument/2006/relationships/tags" Target="../tags/tag93.xml"/><Relationship Id="rId17" Type="http://schemas.openxmlformats.org/officeDocument/2006/relationships/tags" Target="../tags/tag98.xml"/><Relationship Id="rId25" Type="http://schemas.openxmlformats.org/officeDocument/2006/relationships/tags" Target="../tags/tag106.xml"/><Relationship Id="rId33" Type="http://schemas.openxmlformats.org/officeDocument/2006/relationships/tags" Target="../tags/tag114.xml"/><Relationship Id="rId38" Type="http://schemas.openxmlformats.org/officeDocument/2006/relationships/slideLayout" Target="../slideLayouts/slideLayout2.xml"/><Relationship Id="rId46" Type="http://schemas.microsoft.com/office/2007/relationships/hdphoto" Target="../media/hdphoto7.wdp"/><Relationship Id="rId20" Type="http://schemas.openxmlformats.org/officeDocument/2006/relationships/tags" Target="../tags/tag101.xml"/><Relationship Id="rId41" Type="http://schemas.openxmlformats.org/officeDocument/2006/relationships/image" Target="../media/image8.emf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tags" Target="../tags/tag131.xml"/><Relationship Id="rId18" Type="http://schemas.openxmlformats.org/officeDocument/2006/relationships/tags" Target="../tags/tag136.xml"/><Relationship Id="rId26" Type="http://schemas.openxmlformats.org/officeDocument/2006/relationships/tags" Target="../tags/tag144.xml"/><Relationship Id="rId39" Type="http://schemas.openxmlformats.org/officeDocument/2006/relationships/chart" Target="../charts/chart13.xml"/><Relationship Id="rId21" Type="http://schemas.openxmlformats.org/officeDocument/2006/relationships/tags" Target="../tags/tag139.xml"/><Relationship Id="rId34" Type="http://schemas.openxmlformats.org/officeDocument/2006/relationships/image" Target="../media/image10.png"/><Relationship Id="rId7" Type="http://schemas.openxmlformats.org/officeDocument/2006/relationships/tags" Target="../tags/tag125.xml"/><Relationship Id="rId12" Type="http://schemas.openxmlformats.org/officeDocument/2006/relationships/tags" Target="../tags/tag130.xml"/><Relationship Id="rId17" Type="http://schemas.openxmlformats.org/officeDocument/2006/relationships/tags" Target="../tags/tag135.xml"/><Relationship Id="rId25" Type="http://schemas.openxmlformats.org/officeDocument/2006/relationships/tags" Target="../tags/tag143.xml"/><Relationship Id="rId33" Type="http://schemas.openxmlformats.org/officeDocument/2006/relationships/image" Target="../media/image9.png"/><Relationship Id="rId38" Type="http://schemas.openxmlformats.org/officeDocument/2006/relationships/chart" Target="../charts/chart12.xml"/><Relationship Id="rId2" Type="http://schemas.openxmlformats.org/officeDocument/2006/relationships/tags" Target="../tags/tag120.xml"/><Relationship Id="rId16" Type="http://schemas.openxmlformats.org/officeDocument/2006/relationships/tags" Target="../tags/tag134.xml"/><Relationship Id="rId20" Type="http://schemas.openxmlformats.org/officeDocument/2006/relationships/tags" Target="../tags/tag138.xml"/><Relationship Id="rId29" Type="http://schemas.openxmlformats.org/officeDocument/2006/relationships/slideLayout" Target="../slideLayouts/slideLayout13.xml"/><Relationship Id="rId1" Type="http://schemas.openxmlformats.org/officeDocument/2006/relationships/tags" Target="../tags/tag119.xml"/><Relationship Id="rId6" Type="http://schemas.openxmlformats.org/officeDocument/2006/relationships/tags" Target="../tags/tag124.xml"/><Relationship Id="rId11" Type="http://schemas.openxmlformats.org/officeDocument/2006/relationships/tags" Target="../tags/tag129.xml"/><Relationship Id="rId24" Type="http://schemas.openxmlformats.org/officeDocument/2006/relationships/tags" Target="../tags/tag142.xml"/><Relationship Id="rId32" Type="http://schemas.openxmlformats.org/officeDocument/2006/relationships/image" Target="../media/image7.emf"/><Relationship Id="rId37" Type="http://schemas.openxmlformats.org/officeDocument/2006/relationships/image" Target="../media/image46.jpeg"/><Relationship Id="rId5" Type="http://schemas.openxmlformats.org/officeDocument/2006/relationships/tags" Target="../tags/tag123.xml"/><Relationship Id="rId15" Type="http://schemas.openxmlformats.org/officeDocument/2006/relationships/tags" Target="../tags/tag133.xml"/><Relationship Id="rId23" Type="http://schemas.openxmlformats.org/officeDocument/2006/relationships/tags" Target="../tags/tag141.xml"/><Relationship Id="rId28" Type="http://schemas.openxmlformats.org/officeDocument/2006/relationships/tags" Target="../tags/tag146.xml"/><Relationship Id="rId36" Type="http://schemas.openxmlformats.org/officeDocument/2006/relationships/image" Target="../media/image45.png"/><Relationship Id="rId10" Type="http://schemas.openxmlformats.org/officeDocument/2006/relationships/tags" Target="../tags/tag128.xml"/><Relationship Id="rId19" Type="http://schemas.openxmlformats.org/officeDocument/2006/relationships/tags" Target="../tags/tag137.xml"/><Relationship Id="rId31" Type="http://schemas.openxmlformats.org/officeDocument/2006/relationships/oleObject" Target="../embeddings/oleObject16.bin"/><Relationship Id="rId4" Type="http://schemas.openxmlformats.org/officeDocument/2006/relationships/tags" Target="../tags/tag122.xml"/><Relationship Id="rId9" Type="http://schemas.openxmlformats.org/officeDocument/2006/relationships/tags" Target="../tags/tag127.xml"/><Relationship Id="rId14" Type="http://schemas.openxmlformats.org/officeDocument/2006/relationships/tags" Target="../tags/tag132.xml"/><Relationship Id="rId22" Type="http://schemas.openxmlformats.org/officeDocument/2006/relationships/tags" Target="../tags/tag140.xml"/><Relationship Id="rId27" Type="http://schemas.openxmlformats.org/officeDocument/2006/relationships/tags" Target="../tags/tag145.xml"/><Relationship Id="rId30" Type="http://schemas.openxmlformats.org/officeDocument/2006/relationships/notesSlide" Target="../notesSlides/notesSlide14.xml"/><Relationship Id="rId35" Type="http://schemas.openxmlformats.org/officeDocument/2006/relationships/image" Target="../media/image28.png"/><Relationship Id="rId8" Type="http://schemas.openxmlformats.org/officeDocument/2006/relationships/tags" Target="../tags/tag126.xml"/><Relationship Id="rId3" Type="http://schemas.openxmlformats.org/officeDocument/2006/relationships/tags" Target="../tags/tag12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notesSlide" Target="../notesSlides/notesSlide15.xml"/><Relationship Id="rId7" Type="http://schemas.microsoft.com/office/2007/relationships/hdphoto" Target="../media/hdphoto8.wd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7.xml"/><Relationship Id="rId6" Type="http://schemas.openxmlformats.org/officeDocument/2006/relationships/image" Target="../media/image47.png"/><Relationship Id="rId11" Type="http://schemas.microsoft.com/office/2007/relationships/hdphoto" Target="../media/hdphoto9.wdp"/><Relationship Id="rId5" Type="http://schemas.openxmlformats.org/officeDocument/2006/relationships/image" Target="../media/image8.emf"/><Relationship Id="rId10" Type="http://schemas.openxmlformats.org/officeDocument/2006/relationships/image" Target="../media/image50.png"/><Relationship Id="rId4" Type="http://schemas.openxmlformats.org/officeDocument/2006/relationships/oleObject" Target="../embeddings/oleObject17.bin"/><Relationship Id="rId9" Type="http://schemas.openxmlformats.org/officeDocument/2006/relationships/image" Target="../media/image4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4.png"/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36.png"/><Relationship Id="rId12" Type="http://schemas.openxmlformats.org/officeDocument/2006/relationships/image" Target="../media/image5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8.xml"/><Relationship Id="rId6" Type="http://schemas.openxmlformats.org/officeDocument/2006/relationships/image" Target="../media/image26.png"/><Relationship Id="rId11" Type="http://schemas.openxmlformats.org/officeDocument/2006/relationships/image" Target="../media/image37.png"/><Relationship Id="rId5" Type="http://schemas.openxmlformats.org/officeDocument/2006/relationships/image" Target="../media/image8.emf"/><Relationship Id="rId10" Type="http://schemas.openxmlformats.org/officeDocument/2006/relationships/image" Target="../media/image52.png"/><Relationship Id="rId4" Type="http://schemas.openxmlformats.org/officeDocument/2006/relationships/oleObject" Target="../embeddings/oleObject18.bin"/><Relationship Id="rId9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7.png"/><Relationship Id="rId21" Type="http://schemas.openxmlformats.org/officeDocument/2006/relationships/image" Target="../media/image64.png"/><Relationship Id="rId42" Type="http://schemas.openxmlformats.org/officeDocument/2006/relationships/image" Target="../media/image35.png"/><Relationship Id="rId47" Type="http://schemas.openxmlformats.org/officeDocument/2006/relationships/image" Target="../media/image79.png"/><Relationship Id="rId63" Type="http://schemas.microsoft.com/office/2007/relationships/hdphoto" Target="../media/hdphoto30.wdp"/><Relationship Id="rId68" Type="http://schemas.openxmlformats.org/officeDocument/2006/relationships/image" Target="../media/image89.png"/><Relationship Id="rId16" Type="http://schemas.openxmlformats.org/officeDocument/2006/relationships/image" Target="../media/image61.png"/><Relationship Id="rId11" Type="http://schemas.microsoft.com/office/2007/relationships/hdphoto" Target="../media/hdphoto12.wdp"/><Relationship Id="rId32" Type="http://schemas.openxmlformats.org/officeDocument/2006/relationships/image" Target="../media/image71.png"/><Relationship Id="rId37" Type="http://schemas.openxmlformats.org/officeDocument/2006/relationships/image" Target="../media/image74.png"/><Relationship Id="rId53" Type="http://schemas.openxmlformats.org/officeDocument/2006/relationships/image" Target="../media/image81.png"/><Relationship Id="rId58" Type="http://schemas.openxmlformats.org/officeDocument/2006/relationships/image" Target="../media/image84.png"/><Relationship Id="rId74" Type="http://schemas.microsoft.com/office/2007/relationships/hdphoto" Target="../media/hdphoto34.wdp"/><Relationship Id="rId79" Type="http://schemas.openxmlformats.org/officeDocument/2006/relationships/image" Target="../media/image95.png"/><Relationship Id="rId5" Type="http://schemas.openxmlformats.org/officeDocument/2006/relationships/image" Target="../media/image55.png"/><Relationship Id="rId61" Type="http://schemas.microsoft.com/office/2007/relationships/hdphoto" Target="../media/hdphoto29.wdp"/><Relationship Id="rId82" Type="http://schemas.microsoft.com/office/2007/relationships/hdphoto" Target="../media/hdphoto38.wdp"/><Relationship Id="rId19" Type="http://schemas.openxmlformats.org/officeDocument/2006/relationships/image" Target="../media/image27.png"/><Relationship Id="rId14" Type="http://schemas.openxmlformats.org/officeDocument/2006/relationships/image" Target="../media/image60.png"/><Relationship Id="rId22" Type="http://schemas.openxmlformats.org/officeDocument/2006/relationships/image" Target="../media/image65.png"/><Relationship Id="rId27" Type="http://schemas.openxmlformats.org/officeDocument/2006/relationships/image" Target="../media/image68.png"/><Relationship Id="rId30" Type="http://schemas.openxmlformats.org/officeDocument/2006/relationships/image" Target="../media/image70.png"/><Relationship Id="rId35" Type="http://schemas.microsoft.com/office/2007/relationships/hdphoto" Target="../media/hdphoto20.wdp"/><Relationship Id="rId43" Type="http://schemas.openxmlformats.org/officeDocument/2006/relationships/image" Target="../media/image77.png"/><Relationship Id="rId48" Type="http://schemas.microsoft.com/office/2007/relationships/hdphoto" Target="../media/hdphoto24.wdp"/><Relationship Id="rId56" Type="http://schemas.microsoft.com/office/2007/relationships/hdphoto" Target="../media/hdphoto27.wdp"/><Relationship Id="rId64" Type="http://schemas.openxmlformats.org/officeDocument/2006/relationships/image" Target="../media/image87.png"/><Relationship Id="rId69" Type="http://schemas.microsoft.com/office/2007/relationships/hdphoto" Target="../media/hdphoto33.wdp"/><Relationship Id="rId77" Type="http://schemas.openxmlformats.org/officeDocument/2006/relationships/image" Target="../media/image94.png"/><Relationship Id="rId8" Type="http://schemas.openxmlformats.org/officeDocument/2006/relationships/image" Target="../media/image57.png"/><Relationship Id="rId51" Type="http://schemas.openxmlformats.org/officeDocument/2006/relationships/image" Target="../media/image31.png"/><Relationship Id="rId72" Type="http://schemas.openxmlformats.org/officeDocument/2006/relationships/image" Target="../media/image91.png"/><Relationship Id="rId80" Type="http://schemas.microsoft.com/office/2007/relationships/hdphoto" Target="../media/hdphoto37.wdp"/><Relationship Id="rId3" Type="http://schemas.openxmlformats.org/officeDocument/2006/relationships/oleObject" Target="../embeddings/oleObject19.bin"/><Relationship Id="rId12" Type="http://schemas.openxmlformats.org/officeDocument/2006/relationships/image" Target="../media/image59.png"/><Relationship Id="rId17" Type="http://schemas.microsoft.com/office/2007/relationships/hdphoto" Target="../media/hdphoto14.wdp"/><Relationship Id="rId25" Type="http://schemas.microsoft.com/office/2007/relationships/hdphoto" Target="../media/hdphoto16.wdp"/><Relationship Id="rId33" Type="http://schemas.microsoft.com/office/2007/relationships/hdphoto" Target="../media/hdphoto19.wdp"/><Relationship Id="rId38" Type="http://schemas.openxmlformats.org/officeDocument/2006/relationships/image" Target="../media/image75.png"/><Relationship Id="rId46" Type="http://schemas.microsoft.com/office/2007/relationships/hdphoto" Target="../media/hdphoto23.wdp"/><Relationship Id="rId59" Type="http://schemas.microsoft.com/office/2007/relationships/hdphoto" Target="../media/hdphoto28.wdp"/><Relationship Id="rId67" Type="http://schemas.microsoft.com/office/2007/relationships/hdphoto" Target="../media/hdphoto32.wdp"/><Relationship Id="rId20" Type="http://schemas.openxmlformats.org/officeDocument/2006/relationships/image" Target="../media/image63.png"/><Relationship Id="rId41" Type="http://schemas.microsoft.com/office/2007/relationships/hdphoto" Target="../media/hdphoto21.wdp"/><Relationship Id="rId54" Type="http://schemas.microsoft.com/office/2007/relationships/hdphoto" Target="../media/hdphoto26.wdp"/><Relationship Id="rId62" Type="http://schemas.openxmlformats.org/officeDocument/2006/relationships/image" Target="../media/image86.png"/><Relationship Id="rId70" Type="http://schemas.openxmlformats.org/officeDocument/2006/relationships/image" Target="../media/image36.png"/><Relationship Id="rId75" Type="http://schemas.openxmlformats.org/officeDocument/2006/relationships/image" Target="../media/image93.png"/><Relationship Id="rId83" Type="http://schemas.openxmlformats.org/officeDocument/2006/relationships/image" Target="../media/image97.png"/><Relationship Id="rId1" Type="http://schemas.openxmlformats.org/officeDocument/2006/relationships/tags" Target="../tags/tag149.xml"/><Relationship Id="rId6" Type="http://schemas.microsoft.com/office/2007/relationships/hdphoto" Target="../media/hdphoto10.wdp"/><Relationship Id="rId15" Type="http://schemas.microsoft.com/office/2007/relationships/hdphoto" Target="../media/hdphoto13.wdp"/><Relationship Id="rId23" Type="http://schemas.microsoft.com/office/2007/relationships/hdphoto" Target="../media/hdphoto15.wdp"/><Relationship Id="rId28" Type="http://schemas.microsoft.com/office/2007/relationships/hdphoto" Target="../media/hdphoto17.wdp"/><Relationship Id="rId36" Type="http://schemas.openxmlformats.org/officeDocument/2006/relationships/image" Target="../media/image73.png"/><Relationship Id="rId49" Type="http://schemas.openxmlformats.org/officeDocument/2006/relationships/image" Target="../media/image80.png"/><Relationship Id="rId57" Type="http://schemas.openxmlformats.org/officeDocument/2006/relationships/image" Target="../media/image83.png"/><Relationship Id="rId10" Type="http://schemas.openxmlformats.org/officeDocument/2006/relationships/image" Target="../media/image58.png"/><Relationship Id="rId31" Type="http://schemas.microsoft.com/office/2007/relationships/hdphoto" Target="../media/hdphoto18.wdp"/><Relationship Id="rId44" Type="http://schemas.microsoft.com/office/2007/relationships/hdphoto" Target="../media/hdphoto22.wdp"/><Relationship Id="rId52" Type="http://schemas.microsoft.com/office/2007/relationships/hdphoto" Target="../media/hdphoto3.wdp"/><Relationship Id="rId60" Type="http://schemas.openxmlformats.org/officeDocument/2006/relationships/image" Target="../media/image85.png"/><Relationship Id="rId65" Type="http://schemas.microsoft.com/office/2007/relationships/hdphoto" Target="../media/hdphoto31.wdp"/><Relationship Id="rId73" Type="http://schemas.openxmlformats.org/officeDocument/2006/relationships/image" Target="../media/image92.png"/><Relationship Id="rId78" Type="http://schemas.microsoft.com/office/2007/relationships/hdphoto" Target="../media/hdphoto36.wdp"/><Relationship Id="rId81" Type="http://schemas.openxmlformats.org/officeDocument/2006/relationships/image" Target="../media/image96.png"/><Relationship Id="rId4" Type="http://schemas.openxmlformats.org/officeDocument/2006/relationships/image" Target="../media/image8.emf"/><Relationship Id="rId9" Type="http://schemas.microsoft.com/office/2007/relationships/hdphoto" Target="../media/hdphoto11.wdp"/><Relationship Id="rId13" Type="http://schemas.openxmlformats.org/officeDocument/2006/relationships/image" Target="../media/image26.png"/><Relationship Id="rId18" Type="http://schemas.openxmlformats.org/officeDocument/2006/relationships/image" Target="../media/image62.png"/><Relationship Id="rId39" Type="http://schemas.openxmlformats.org/officeDocument/2006/relationships/image" Target="../media/image52.png"/><Relationship Id="rId34" Type="http://schemas.openxmlformats.org/officeDocument/2006/relationships/image" Target="../media/image72.png"/><Relationship Id="rId50" Type="http://schemas.microsoft.com/office/2007/relationships/hdphoto" Target="../media/hdphoto25.wdp"/><Relationship Id="rId55" Type="http://schemas.openxmlformats.org/officeDocument/2006/relationships/image" Target="../media/image82.png"/><Relationship Id="rId76" Type="http://schemas.microsoft.com/office/2007/relationships/hdphoto" Target="../media/hdphoto35.wdp"/><Relationship Id="rId7" Type="http://schemas.openxmlformats.org/officeDocument/2006/relationships/image" Target="../media/image56.png"/><Relationship Id="rId71" Type="http://schemas.openxmlformats.org/officeDocument/2006/relationships/image" Target="../media/image90.png"/><Relationship Id="rId2" Type="http://schemas.openxmlformats.org/officeDocument/2006/relationships/slideLayout" Target="../slideLayouts/slideLayout2.xml"/><Relationship Id="rId29" Type="http://schemas.openxmlformats.org/officeDocument/2006/relationships/image" Target="../media/image69.png"/><Relationship Id="rId24" Type="http://schemas.openxmlformats.org/officeDocument/2006/relationships/image" Target="../media/image66.png"/><Relationship Id="rId40" Type="http://schemas.openxmlformats.org/officeDocument/2006/relationships/image" Target="../media/image76.png"/><Relationship Id="rId45" Type="http://schemas.openxmlformats.org/officeDocument/2006/relationships/image" Target="../media/image78.png"/><Relationship Id="rId66" Type="http://schemas.openxmlformats.org/officeDocument/2006/relationships/image" Target="../media/image8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77.png"/><Relationship Id="rId18" Type="http://schemas.openxmlformats.org/officeDocument/2006/relationships/image" Target="../media/image99.png"/><Relationship Id="rId26" Type="http://schemas.openxmlformats.org/officeDocument/2006/relationships/image" Target="../media/image80.png"/><Relationship Id="rId3" Type="http://schemas.openxmlformats.org/officeDocument/2006/relationships/tags" Target="../tags/tag152.xml"/><Relationship Id="rId21" Type="http://schemas.microsoft.com/office/2007/relationships/hdphoto" Target="../media/hdphoto40.wdp"/><Relationship Id="rId7" Type="http://schemas.openxmlformats.org/officeDocument/2006/relationships/image" Target="../media/image52.png"/><Relationship Id="rId12" Type="http://schemas.openxmlformats.org/officeDocument/2006/relationships/image" Target="../media/image59.png"/><Relationship Id="rId17" Type="http://schemas.openxmlformats.org/officeDocument/2006/relationships/image" Target="../media/image35.png"/><Relationship Id="rId25" Type="http://schemas.openxmlformats.org/officeDocument/2006/relationships/image" Target="../media/image101.png"/><Relationship Id="rId2" Type="http://schemas.openxmlformats.org/officeDocument/2006/relationships/tags" Target="../tags/tag151.xml"/><Relationship Id="rId16" Type="http://schemas.microsoft.com/office/2007/relationships/hdphoto" Target="../media/hdphoto23.wdp"/><Relationship Id="rId20" Type="http://schemas.openxmlformats.org/officeDocument/2006/relationships/image" Target="../media/image100.png"/><Relationship Id="rId1" Type="http://schemas.openxmlformats.org/officeDocument/2006/relationships/tags" Target="../tags/tag150.xml"/><Relationship Id="rId6" Type="http://schemas.openxmlformats.org/officeDocument/2006/relationships/image" Target="../media/image18.emf"/><Relationship Id="rId11" Type="http://schemas.openxmlformats.org/officeDocument/2006/relationships/image" Target="../media/image26.png"/><Relationship Id="rId24" Type="http://schemas.openxmlformats.org/officeDocument/2006/relationships/image" Target="../media/image73.png"/><Relationship Id="rId5" Type="http://schemas.openxmlformats.org/officeDocument/2006/relationships/oleObject" Target="../embeddings/oleObject20.bin"/><Relationship Id="rId15" Type="http://schemas.openxmlformats.org/officeDocument/2006/relationships/image" Target="../media/image78.png"/><Relationship Id="rId23" Type="http://schemas.microsoft.com/office/2007/relationships/hdphoto" Target="../media/hdphoto35.wdp"/><Relationship Id="rId10" Type="http://schemas.openxmlformats.org/officeDocument/2006/relationships/image" Target="../media/image90.png"/><Relationship Id="rId19" Type="http://schemas.microsoft.com/office/2007/relationships/hdphoto" Target="../media/hdphoto39.wdp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98.png"/><Relationship Id="rId14" Type="http://schemas.microsoft.com/office/2007/relationships/hdphoto" Target="../media/hdphoto22.wdp"/><Relationship Id="rId22" Type="http://schemas.openxmlformats.org/officeDocument/2006/relationships/image" Target="../media/image93.png"/><Relationship Id="rId27" Type="http://schemas.microsoft.com/office/2007/relationships/hdphoto" Target="../media/hdphoto25.wdp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160.xml"/><Relationship Id="rId13" Type="http://schemas.openxmlformats.org/officeDocument/2006/relationships/image" Target="../media/image18.emf"/><Relationship Id="rId3" Type="http://schemas.openxmlformats.org/officeDocument/2006/relationships/tags" Target="../tags/tag155.xml"/><Relationship Id="rId7" Type="http://schemas.openxmlformats.org/officeDocument/2006/relationships/tags" Target="../tags/tag159.xml"/><Relationship Id="rId12" Type="http://schemas.openxmlformats.org/officeDocument/2006/relationships/oleObject" Target="../embeddings/oleObject21.bin"/><Relationship Id="rId2" Type="http://schemas.openxmlformats.org/officeDocument/2006/relationships/tags" Target="../tags/tag154.xml"/><Relationship Id="rId1" Type="http://schemas.openxmlformats.org/officeDocument/2006/relationships/tags" Target="../tags/tag153.xml"/><Relationship Id="rId6" Type="http://schemas.openxmlformats.org/officeDocument/2006/relationships/tags" Target="../tags/tag158.xml"/><Relationship Id="rId11" Type="http://schemas.openxmlformats.org/officeDocument/2006/relationships/notesSlide" Target="../notesSlides/notesSlide17.xml"/><Relationship Id="rId5" Type="http://schemas.openxmlformats.org/officeDocument/2006/relationships/tags" Target="../tags/tag157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156.xml"/><Relationship Id="rId9" Type="http://schemas.openxmlformats.org/officeDocument/2006/relationships/tags" Target="../tags/tag161.xml"/><Relationship Id="rId14" Type="http://schemas.openxmlformats.org/officeDocument/2006/relationships/chart" Target="../charts/chart14.xml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tags" Target="../tags/tag174.xml"/><Relationship Id="rId18" Type="http://schemas.openxmlformats.org/officeDocument/2006/relationships/tags" Target="../tags/tag179.xml"/><Relationship Id="rId26" Type="http://schemas.openxmlformats.org/officeDocument/2006/relationships/tags" Target="../tags/tag187.xml"/><Relationship Id="rId39" Type="http://schemas.openxmlformats.org/officeDocument/2006/relationships/tags" Target="../tags/tag200.xml"/><Relationship Id="rId21" Type="http://schemas.openxmlformats.org/officeDocument/2006/relationships/tags" Target="../tags/tag182.xml"/><Relationship Id="rId34" Type="http://schemas.openxmlformats.org/officeDocument/2006/relationships/tags" Target="../tags/tag195.xml"/><Relationship Id="rId42" Type="http://schemas.openxmlformats.org/officeDocument/2006/relationships/tags" Target="../tags/tag203.xml"/><Relationship Id="rId47" Type="http://schemas.openxmlformats.org/officeDocument/2006/relationships/notesSlide" Target="../notesSlides/notesSlide18.xml"/><Relationship Id="rId50" Type="http://schemas.openxmlformats.org/officeDocument/2006/relationships/chart" Target="../charts/chart15.xml"/><Relationship Id="rId7" Type="http://schemas.openxmlformats.org/officeDocument/2006/relationships/tags" Target="../tags/tag168.xml"/><Relationship Id="rId2" Type="http://schemas.openxmlformats.org/officeDocument/2006/relationships/tags" Target="../tags/tag163.xml"/><Relationship Id="rId16" Type="http://schemas.openxmlformats.org/officeDocument/2006/relationships/tags" Target="../tags/tag177.xml"/><Relationship Id="rId29" Type="http://schemas.openxmlformats.org/officeDocument/2006/relationships/tags" Target="../tags/tag190.xml"/><Relationship Id="rId11" Type="http://schemas.openxmlformats.org/officeDocument/2006/relationships/tags" Target="../tags/tag172.xml"/><Relationship Id="rId24" Type="http://schemas.openxmlformats.org/officeDocument/2006/relationships/tags" Target="../tags/tag185.xml"/><Relationship Id="rId32" Type="http://schemas.openxmlformats.org/officeDocument/2006/relationships/tags" Target="../tags/tag193.xml"/><Relationship Id="rId37" Type="http://schemas.openxmlformats.org/officeDocument/2006/relationships/tags" Target="../tags/tag198.xml"/><Relationship Id="rId40" Type="http://schemas.openxmlformats.org/officeDocument/2006/relationships/tags" Target="../tags/tag201.xml"/><Relationship Id="rId45" Type="http://schemas.openxmlformats.org/officeDocument/2006/relationships/tags" Target="../tags/tag206.xml"/><Relationship Id="rId5" Type="http://schemas.openxmlformats.org/officeDocument/2006/relationships/tags" Target="../tags/tag166.xml"/><Relationship Id="rId15" Type="http://schemas.openxmlformats.org/officeDocument/2006/relationships/tags" Target="../tags/tag176.xml"/><Relationship Id="rId23" Type="http://schemas.openxmlformats.org/officeDocument/2006/relationships/tags" Target="../tags/tag184.xml"/><Relationship Id="rId28" Type="http://schemas.openxmlformats.org/officeDocument/2006/relationships/tags" Target="../tags/tag189.xml"/><Relationship Id="rId36" Type="http://schemas.openxmlformats.org/officeDocument/2006/relationships/tags" Target="../tags/tag197.xml"/><Relationship Id="rId49" Type="http://schemas.openxmlformats.org/officeDocument/2006/relationships/image" Target="../media/image18.emf"/><Relationship Id="rId10" Type="http://schemas.openxmlformats.org/officeDocument/2006/relationships/tags" Target="../tags/tag171.xml"/><Relationship Id="rId19" Type="http://schemas.openxmlformats.org/officeDocument/2006/relationships/tags" Target="../tags/tag180.xml"/><Relationship Id="rId31" Type="http://schemas.openxmlformats.org/officeDocument/2006/relationships/tags" Target="../tags/tag192.xml"/><Relationship Id="rId44" Type="http://schemas.openxmlformats.org/officeDocument/2006/relationships/tags" Target="../tags/tag205.xml"/><Relationship Id="rId4" Type="http://schemas.openxmlformats.org/officeDocument/2006/relationships/tags" Target="../tags/tag165.xml"/><Relationship Id="rId9" Type="http://schemas.openxmlformats.org/officeDocument/2006/relationships/tags" Target="../tags/tag170.xml"/><Relationship Id="rId14" Type="http://schemas.openxmlformats.org/officeDocument/2006/relationships/tags" Target="../tags/tag175.xml"/><Relationship Id="rId22" Type="http://schemas.openxmlformats.org/officeDocument/2006/relationships/tags" Target="../tags/tag183.xml"/><Relationship Id="rId27" Type="http://schemas.openxmlformats.org/officeDocument/2006/relationships/tags" Target="../tags/tag188.xml"/><Relationship Id="rId30" Type="http://schemas.openxmlformats.org/officeDocument/2006/relationships/tags" Target="../tags/tag191.xml"/><Relationship Id="rId35" Type="http://schemas.openxmlformats.org/officeDocument/2006/relationships/tags" Target="../tags/tag196.xml"/><Relationship Id="rId43" Type="http://schemas.openxmlformats.org/officeDocument/2006/relationships/tags" Target="../tags/tag204.xml"/><Relationship Id="rId48" Type="http://schemas.openxmlformats.org/officeDocument/2006/relationships/oleObject" Target="../embeddings/oleObject22.bin"/><Relationship Id="rId8" Type="http://schemas.openxmlformats.org/officeDocument/2006/relationships/tags" Target="../tags/tag169.xml"/><Relationship Id="rId3" Type="http://schemas.openxmlformats.org/officeDocument/2006/relationships/tags" Target="../tags/tag164.xml"/><Relationship Id="rId12" Type="http://schemas.openxmlformats.org/officeDocument/2006/relationships/tags" Target="../tags/tag173.xml"/><Relationship Id="rId17" Type="http://schemas.openxmlformats.org/officeDocument/2006/relationships/tags" Target="../tags/tag178.xml"/><Relationship Id="rId25" Type="http://schemas.openxmlformats.org/officeDocument/2006/relationships/tags" Target="../tags/tag186.xml"/><Relationship Id="rId33" Type="http://schemas.openxmlformats.org/officeDocument/2006/relationships/tags" Target="../tags/tag194.xml"/><Relationship Id="rId38" Type="http://schemas.openxmlformats.org/officeDocument/2006/relationships/tags" Target="../tags/tag199.xml"/><Relationship Id="rId46" Type="http://schemas.openxmlformats.org/officeDocument/2006/relationships/slideLayout" Target="../slideLayouts/slideLayout2.xml"/><Relationship Id="rId20" Type="http://schemas.openxmlformats.org/officeDocument/2006/relationships/tags" Target="../tags/tag181.xml"/><Relationship Id="rId41" Type="http://schemas.openxmlformats.org/officeDocument/2006/relationships/tags" Target="../tags/tag202.xml"/><Relationship Id="rId1" Type="http://schemas.openxmlformats.org/officeDocument/2006/relationships/tags" Target="../tags/tag162.xml"/><Relationship Id="rId6" Type="http://schemas.openxmlformats.org/officeDocument/2006/relationships/tags" Target="../tags/tag16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10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7.xml"/><Relationship Id="rId6" Type="http://schemas.openxmlformats.org/officeDocument/2006/relationships/chart" Target="../charts/chart16.x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23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13" Type="http://schemas.openxmlformats.org/officeDocument/2006/relationships/image" Target="../media/image108.png"/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105.svg"/><Relationship Id="rId12" Type="http://schemas.openxmlformats.org/officeDocument/2006/relationships/image" Target="../media/image26.png"/><Relationship Id="rId17" Type="http://schemas.openxmlformats.org/officeDocument/2006/relationships/chart" Target="../charts/chart19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11.png"/><Relationship Id="rId1" Type="http://schemas.openxmlformats.org/officeDocument/2006/relationships/tags" Target="../tags/tag208.xml"/><Relationship Id="rId6" Type="http://schemas.openxmlformats.org/officeDocument/2006/relationships/image" Target="../media/image104.png"/><Relationship Id="rId11" Type="http://schemas.openxmlformats.org/officeDocument/2006/relationships/chart" Target="../charts/chart18.xml"/><Relationship Id="rId5" Type="http://schemas.openxmlformats.org/officeDocument/2006/relationships/image" Target="../media/image18.emf"/><Relationship Id="rId15" Type="http://schemas.openxmlformats.org/officeDocument/2006/relationships/image" Target="../media/image110.png"/><Relationship Id="rId10" Type="http://schemas.openxmlformats.org/officeDocument/2006/relationships/chart" Target="../charts/chart17.xml"/><Relationship Id="rId4" Type="http://schemas.openxmlformats.org/officeDocument/2006/relationships/oleObject" Target="../embeddings/oleObject24.bin"/><Relationship Id="rId9" Type="http://schemas.openxmlformats.org/officeDocument/2006/relationships/image" Target="../media/image107.svg"/><Relationship Id="rId14" Type="http://schemas.openxmlformats.org/officeDocument/2006/relationships/image" Target="../media/image10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112.png"/><Relationship Id="rId18" Type="http://schemas.openxmlformats.org/officeDocument/2006/relationships/image" Target="../media/image117.png"/><Relationship Id="rId3" Type="http://schemas.openxmlformats.org/officeDocument/2006/relationships/tags" Target="../tags/tag211.xml"/><Relationship Id="rId21" Type="http://schemas.openxmlformats.org/officeDocument/2006/relationships/image" Target="../media/image119.png"/><Relationship Id="rId7" Type="http://schemas.openxmlformats.org/officeDocument/2006/relationships/tags" Target="../tags/tag215.xml"/><Relationship Id="rId12" Type="http://schemas.openxmlformats.org/officeDocument/2006/relationships/image" Target="../media/image56.png"/><Relationship Id="rId17" Type="http://schemas.openxmlformats.org/officeDocument/2006/relationships/image" Target="../media/image116.png"/><Relationship Id="rId25" Type="http://schemas.openxmlformats.org/officeDocument/2006/relationships/image" Target="../media/image121.png"/><Relationship Id="rId2" Type="http://schemas.openxmlformats.org/officeDocument/2006/relationships/tags" Target="../tags/tag210.xml"/><Relationship Id="rId16" Type="http://schemas.openxmlformats.org/officeDocument/2006/relationships/image" Target="../media/image115.jpeg"/><Relationship Id="rId20" Type="http://schemas.openxmlformats.org/officeDocument/2006/relationships/image" Target="../media/image59.png"/><Relationship Id="rId1" Type="http://schemas.openxmlformats.org/officeDocument/2006/relationships/tags" Target="../tags/tag209.xml"/><Relationship Id="rId6" Type="http://schemas.openxmlformats.org/officeDocument/2006/relationships/tags" Target="../tags/tag214.xml"/><Relationship Id="rId11" Type="http://schemas.openxmlformats.org/officeDocument/2006/relationships/image" Target="../media/image18.emf"/><Relationship Id="rId24" Type="http://schemas.openxmlformats.org/officeDocument/2006/relationships/image" Target="../media/image120.png"/><Relationship Id="rId5" Type="http://schemas.openxmlformats.org/officeDocument/2006/relationships/tags" Target="../tags/tag213.xml"/><Relationship Id="rId15" Type="http://schemas.openxmlformats.org/officeDocument/2006/relationships/image" Target="../media/image114.png"/><Relationship Id="rId23" Type="http://schemas.microsoft.com/office/2007/relationships/hdphoto" Target="../media/hdphoto39.wdp"/><Relationship Id="rId10" Type="http://schemas.openxmlformats.org/officeDocument/2006/relationships/oleObject" Target="../embeddings/oleObject25.bin"/><Relationship Id="rId19" Type="http://schemas.openxmlformats.org/officeDocument/2006/relationships/image" Target="../media/image118.png"/><Relationship Id="rId4" Type="http://schemas.openxmlformats.org/officeDocument/2006/relationships/tags" Target="../tags/tag212.xml"/><Relationship Id="rId9" Type="http://schemas.openxmlformats.org/officeDocument/2006/relationships/notesSlide" Target="../notesSlides/notesSlide21.xml"/><Relationship Id="rId14" Type="http://schemas.openxmlformats.org/officeDocument/2006/relationships/image" Target="../media/image113.png"/><Relationship Id="rId22" Type="http://schemas.openxmlformats.org/officeDocument/2006/relationships/image" Target="../media/image9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6.xml"/><Relationship Id="rId4" Type="http://schemas.openxmlformats.org/officeDocument/2006/relationships/image" Target="../media/image18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notesSlide" Target="../notesSlides/notesSlide22.xml"/><Relationship Id="rId7" Type="http://schemas.openxmlformats.org/officeDocument/2006/relationships/image" Target="../media/image123.png"/><Relationship Id="rId12" Type="http://schemas.openxmlformats.org/officeDocument/2006/relationships/image" Target="../media/image12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7.xml"/><Relationship Id="rId6" Type="http://schemas.openxmlformats.org/officeDocument/2006/relationships/image" Target="../media/image122.png"/><Relationship Id="rId11" Type="http://schemas.openxmlformats.org/officeDocument/2006/relationships/image" Target="../media/image125.png"/><Relationship Id="rId5" Type="http://schemas.openxmlformats.org/officeDocument/2006/relationships/image" Target="../media/image8.emf"/><Relationship Id="rId10" Type="http://schemas.openxmlformats.org/officeDocument/2006/relationships/image" Target="../media/image124.png"/><Relationship Id="rId4" Type="http://schemas.openxmlformats.org/officeDocument/2006/relationships/oleObject" Target="../embeddings/oleObject27.bin"/><Relationship Id="rId9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225.xml"/><Relationship Id="rId13" Type="http://schemas.openxmlformats.org/officeDocument/2006/relationships/tags" Target="../tags/tag230.xml"/><Relationship Id="rId18" Type="http://schemas.openxmlformats.org/officeDocument/2006/relationships/tags" Target="../tags/tag235.xml"/><Relationship Id="rId26" Type="http://schemas.openxmlformats.org/officeDocument/2006/relationships/chart" Target="../charts/chart20.xml"/><Relationship Id="rId3" Type="http://schemas.openxmlformats.org/officeDocument/2006/relationships/tags" Target="../tags/tag220.xml"/><Relationship Id="rId21" Type="http://schemas.openxmlformats.org/officeDocument/2006/relationships/tags" Target="../tags/tag238.xml"/><Relationship Id="rId7" Type="http://schemas.openxmlformats.org/officeDocument/2006/relationships/tags" Target="../tags/tag224.xml"/><Relationship Id="rId12" Type="http://schemas.openxmlformats.org/officeDocument/2006/relationships/tags" Target="../tags/tag229.xml"/><Relationship Id="rId17" Type="http://schemas.openxmlformats.org/officeDocument/2006/relationships/tags" Target="../tags/tag234.xml"/><Relationship Id="rId25" Type="http://schemas.openxmlformats.org/officeDocument/2006/relationships/image" Target="../media/image8.emf"/><Relationship Id="rId2" Type="http://schemas.openxmlformats.org/officeDocument/2006/relationships/tags" Target="../tags/tag219.xml"/><Relationship Id="rId16" Type="http://schemas.openxmlformats.org/officeDocument/2006/relationships/tags" Target="../tags/tag233.xml"/><Relationship Id="rId20" Type="http://schemas.openxmlformats.org/officeDocument/2006/relationships/tags" Target="../tags/tag237.xml"/><Relationship Id="rId1" Type="http://schemas.openxmlformats.org/officeDocument/2006/relationships/tags" Target="../tags/tag218.xml"/><Relationship Id="rId6" Type="http://schemas.openxmlformats.org/officeDocument/2006/relationships/tags" Target="../tags/tag223.xml"/><Relationship Id="rId11" Type="http://schemas.openxmlformats.org/officeDocument/2006/relationships/tags" Target="../tags/tag228.xml"/><Relationship Id="rId24" Type="http://schemas.openxmlformats.org/officeDocument/2006/relationships/oleObject" Target="../embeddings/oleObject28.bin"/><Relationship Id="rId5" Type="http://schemas.openxmlformats.org/officeDocument/2006/relationships/tags" Target="../tags/tag222.xml"/><Relationship Id="rId15" Type="http://schemas.openxmlformats.org/officeDocument/2006/relationships/tags" Target="../tags/tag232.xml"/><Relationship Id="rId23" Type="http://schemas.openxmlformats.org/officeDocument/2006/relationships/notesSlide" Target="../notesSlides/notesSlide23.xml"/><Relationship Id="rId10" Type="http://schemas.openxmlformats.org/officeDocument/2006/relationships/tags" Target="../tags/tag227.xml"/><Relationship Id="rId19" Type="http://schemas.openxmlformats.org/officeDocument/2006/relationships/tags" Target="../tags/tag236.xml"/><Relationship Id="rId4" Type="http://schemas.openxmlformats.org/officeDocument/2006/relationships/tags" Target="../tags/tag221.xml"/><Relationship Id="rId9" Type="http://schemas.openxmlformats.org/officeDocument/2006/relationships/tags" Target="../tags/tag226.xml"/><Relationship Id="rId14" Type="http://schemas.openxmlformats.org/officeDocument/2006/relationships/tags" Target="../tags/tag231.xml"/><Relationship Id="rId22" Type="http://schemas.openxmlformats.org/officeDocument/2006/relationships/slideLayout" Target="../slideLayouts/slideLayout2.xml"/><Relationship Id="rId27" Type="http://schemas.openxmlformats.org/officeDocument/2006/relationships/chart" Target="../charts/chart2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9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29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129.png"/><Relationship Id="rId18" Type="http://schemas.openxmlformats.org/officeDocument/2006/relationships/image" Target="../media/image134.png"/><Relationship Id="rId3" Type="http://schemas.openxmlformats.org/officeDocument/2006/relationships/notesSlide" Target="../notesSlides/notesSlide25.xml"/><Relationship Id="rId7" Type="http://schemas.openxmlformats.org/officeDocument/2006/relationships/image" Target="../media/image26.png"/><Relationship Id="rId12" Type="http://schemas.openxmlformats.org/officeDocument/2006/relationships/image" Target="../media/image98.png"/><Relationship Id="rId17" Type="http://schemas.openxmlformats.org/officeDocument/2006/relationships/image" Target="../media/image13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32.png"/><Relationship Id="rId1" Type="http://schemas.openxmlformats.org/officeDocument/2006/relationships/tags" Target="../tags/tag240.xml"/><Relationship Id="rId6" Type="http://schemas.openxmlformats.org/officeDocument/2006/relationships/image" Target="../media/image127.png"/><Relationship Id="rId11" Type="http://schemas.openxmlformats.org/officeDocument/2006/relationships/image" Target="../media/image128.png"/><Relationship Id="rId5" Type="http://schemas.openxmlformats.org/officeDocument/2006/relationships/image" Target="../media/image18.emf"/><Relationship Id="rId15" Type="http://schemas.openxmlformats.org/officeDocument/2006/relationships/image" Target="../media/image131.png"/><Relationship Id="rId10" Type="http://schemas.openxmlformats.org/officeDocument/2006/relationships/image" Target="../media/image52.png"/><Relationship Id="rId19" Type="http://schemas.openxmlformats.org/officeDocument/2006/relationships/image" Target="../media/image135.png"/><Relationship Id="rId4" Type="http://schemas.openxmlformats.org/officeDocument/2006/relationships/oleObject" Target="../embeddings/oleObject30.bin"/><Relationship Id="rId9" Type="http://schemas.openxmlformats.org/officeDocument/2006/relationships/image" Target="../media/image74.png"/><Relationship Id="rId14" Type="http://schemas.openxmlformats.org/officeDocument/2006/relationships/image" Target="../media/image130.jpeg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9.png"/><Relationship Id="rId18" Type="http://schemas.openxmlformats.org/officeDocument/2006/relationships/image" Target="../media/image142.png"/><Relationship Id="rId26" Type="http://schemas.openxmlformats.org/officeDocument/2006/relationships/image" Target="../media/image148.png"/><Relationship Id="rId39" Type="http://schemas.openxmlformats.org/officeDocument/2006/relationships/image" Target="../media/image158.png"/><Relationship Id="rId21" Type="http://schemas.openxmlformats.org/officeDocument/2006/relationships/image" Target="../media/image145.png"/><Relationship Id="rId34" Type="http://schemas.openxmlformats.org/officeDocument/2006/relationships/image" Target="../media/image75.png"/><Relationship Id="rId42" Type="http://schemas.openxmlformats.org/officeDocument/2006/relationships/image" Target="../media/image160.png"/><Relationship Id="rId47" Type="http://schemas.openxmlformats.org/officeDocument/2006/relationships/image" Target="../media/image164.png"/><Relationship Id="rId50" Type="http://schemas.openxmlformats.org/officeDocument/2006/relationships/image" Target="../media/image63.png"/><Relationship Id="rId55" Type="http://schemas.openxmlformats.org/officeDocument/2006/relationships/image" Target="../media/image170.png"/><Relationship Id="rId63" Type="http://schemas.openxmlformats.org/officeDocument/2006/relationships/image" Target="../media/image177.png"/><Relationship Id="rId7" Type="http://schemas.openxmlformats.org/officeDocument/2006/relationships/image" Target="../media/image26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9.png"/><Relationship Id="rId29" Type="http://schemas.openxmlformats.org/officeDocument/2006/relationships/image" Target="../media/image151.png"/><Relationship Id="rId11" Type="http://schemas.openxmlformats.org/officeDocument/2006/relationships/image" Target="../media/image27.png"/><Relationship Id="rId24" Type="http://schemas.openxmlformats.org/officeDocument/2006/relationships/image" Target="../media/image146.png"/><Relationship Id="rId32" Type="http://schemas.openxmlformats.org/officeDocument/2006/relationships/image" Target="../media/image74.png"/><Relationship Id="rId37" Type="http://schemas.openxmlformats.org/officeDocument/2006/relationships/image" Target="../media/image156.png"/><Relationship Id="rId40" Type="http://schemas.openxmlformats.org/officeDocument/2006/relationships/image" Target="../media/image159.png"/><Relationship Id="rId45" Type="http://schemas.openxmlformats.org/officeDocument/2006/relationships/image" Target="../media/image162.png"/><Relationship Id="rId53" Type="http://schemas.openxmlformats.org/officeDocument/2006/relationships/image" Target="../media/image168.png"/><Relationship Id="rId58" Type="http://schemas.openxmlformats.org/officeDocument/2006/relationships/image" Target="../media/image173.png"/><Relationship Id="rId5" Type="http://schemas.openxmlformats.org/officeDocument/2006/relationships/image" Target="../media/image136.png"/><Relationship Id="rId61" Type="http://schemas.openxmlformats.org/officeDocument/2006/relationships/image" Target="../media/image62.png"/><Relationship Id="rId19" Type="http://schemas.openxmlformats.org/officeDocument/2006/relationships/image" Target="../media/image143.png"/><Relationship Id="rId14" Type="http://schemas.openxmlformats.org/officeDocument/2006/relationships/image" Target="../media/image140.png"/><Relationship Id="rId22" Type="http://schemas.openxmlformats.org/officeDocument/2006/relationships/image" Target="../media/image90.png"/><Relationship Id="rId27" Type="http://schemas.openxmlformats.org/officeDocument/2006/relationships/image" Target="../media/image149.png"/><Relationship Id="rId30" Type="http://schemas.openxmlformats.org/officeDocument/2006/relationships/image" Target="../media/image152.png"/><Relationship Id="rId35" Type="http://schemas.openxmlformats.org/officeDocument/2006/relationships/image" Target="../media/image154.png"/><Relationship Id="rId43" Type="http://schemas.openxmlformats.org/officeDocument/2006/relationships/image" Target="../media/image52.png"/><Relationship Id="rId48" Type="http://schemas.openxmlformats.org/officeDocument/2006/relationships/image" Target="../media/image165.png"/><Relationship Id="rId56" Type="http://schemas.openxmlformats.org/officeDocument/2006/relationships/image" Target="../media/image171.png"/><Relationship Id="rId8" Type="http://schemas.openxmlformats.org/officeDocument/2006/relationships/image" Target="../media/image138.png"/><Relationship Id="rId51" Type="http://schemas.openxmlformats.org/officeDocument/2006/relationships/image" Target="../media/image166.png"/><Relationship Id="rId3" Type="http://schemas.openxmlformats.org/officeDocument/2006/relationships/oleObject" Target="../embeddings/oleObject31.bin"/><Relationship Id="rId12" Type="http://schemas.openxmlformats.org/officeDocument/2006/relationships/image" Target="../media/image127.png"/><Relationship Id="rId17" Type="http://schemas.openxmlformats.org/officeDocument/2006/relationships/image" Target="../media/image141.png"/><Relationship Id="rId25" Type="http://schemas.openxmlformats.org/officeDocument/2006/relationships/image" Target="../media/image147.png"/><Relationship Id="rId33" Type="http://schemas.openxmlformats.org/officeDocument/2006/relationships/image" Target="../media/image153.png"/><Relationship Id="rId38" Type="http://schemas.openxmlformats.org/officeDocument/2006/relationships/image" Target="../media/image157.png"/><Relationship Id="rId46" Type="http://schemas.openxmlformats.org/officeDocument/2006/relationships/image" Target="../media/image163.png"/><Relationship Id="rId59" Type="http://schemas.openxmlformats.org/officeDocument/2006/relationships/image" Target="../media/image174.png"/><Relationship Id="rId20" Type="http://schemas.openxmlformats.org/officeDocument/2006/relationships/image" Target="../media/image144.png"/><Relationship Id="rId41" Type="http://schemas.openxmlformats.org/officeDocument/2006/relationships/image" Target="../media/image69.png"/><Relationship Id="rId54" Type="http://schemas.openxmlformats.org/officeDocument/2006/relationships/image" Target="../media/image169.png"/><Relationship Id="rId62" Type="http://schemas.openxmlformats.org/officeDocument/2006/relationships/image" Target="../media/image176.png"/><Relationship Id="rId1" Type="http://schemas.openxmlformats.org/officeDocument/2006/relationships/tags" Target="../tags/tag241.xml"/><Relationship Id="rId6" Type="http://schemas.openxmlformats.org/officeDocument/2006/relationships/image" Target="../media/image137.png"/><Relationship Id="rId15" Type="http://schemas.openxmlformats.org/officeDocument/2006/relationships/image" Target="../media/image64.png"/><Relationship Id="rId23" Type="http://schemas.openxmlformats.org/officeDocument/2006/relationships/image" Target="../media/image91.png"/><Relationship Id="rId28" Type="http://schemas.openxmlformats.org/officeDocument/2006/relationships/image" Target="../media/image150.png"/><Relationship Id="rId36" Type="http://schemas.openxmlformats.org/officeDocument/2006/relationships/image" Target="../media/image155.png"/><Relationship Id="rId49" Type="http://schemas.openxmlformats.org/officeDocument/2006/relationships/image" Target="../media/image67.png"/><Relationship Id="rId57" Type="http://schemas.openxmlformats.org/officeDocument/2006/relationships/image" Target="../media/image172.png"/><Relationship Id="rId10" Type="http://schemas.openxmlformats.org/officeDocument/2006/relationships/image" Target="../media/image35.png"/><Relationship Id="rId31" Type="http://schemas.openxmlformats.org/officeDocument/2006/relationships/image" Target="../media/image73.png"/><Relationship Id="rId44" Type="http://schemas.openxmlformats.org/officeDocument/2006/relationships/image" Target="../media/image161.png"/><Relationship Id="rId52" Type="http://schemas.openxmlformats.org/officeDocument/2006/relationships/image" Target="../media/image167.png"/><Relationship Id="rId60" Type="http://schemas.openxmlformats.org/officeDocument/2006/relationships/image" Target="../media/image175.png"/><Relationship Id="rId4" Type="http://schemas.openxmlformats.org/officeDocument/2006/relationships/image" Target="../media/image18.emf"/><Relationship Id="rId9" Type="http://schemas.openxmlformats.org/officeDocument/2006/relationships/image" Target="../media/image10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62CC5A34-E94C-9C85-43D4-E435CB73F0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095973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2CC5A34-E94C-9C85-43D4-E435CB73F0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/>
          <p:nvPr/>
        </p:nvPicPr>
        <p:blipFill>
          <a:blip r:embed="rId6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3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50801" y="4881475"/>
            <a:ext cx="7740650" cy="215900"/>
          </a:xfrm>
        </p:spPr>
        <p:txBody>
          <a:bodyPr/>
          <a:lstStyle/>
          <a:p>
            <a:pPr>
              <a:buClr>
                <a:schemeClr val="tx1">
                  <a:alpha val="100000"/>
                </a:schemeClr>
              </a:buClr>
              <a:buSzPct val="100000"/>
              <a:buFont typeface="Segoe UI" panose="020B0502040204020203" pitchFamily="34" charset="0"/>
              <a:buChar char="​"/>
            </a:pPr>
            <a:r>
              <a:rPr lang="en-US" dirty="0">
                <a:latin typeface="+mn-lt"/>
                <a:ea typeface="+mn-ea"/>
                <a:cs typeface="+mn-ea"/>
                <a:sym typeface="+mn-lt"/>
              </a:rPr>
              <a:t>O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ct </a:t>
            </a:r>
            <a:r>
              <a:rPr lang="en-US" dirty="0">
                <a:latin typeface="+mn-lt"/>
                <a:ea typeface="+mn-ea"/>
                <a:cs typeface="+mn-ea"/>
                <a:sym typeface="+mn-lt"/>
              </a:rPr>
              <a:t>2025</a:t>
            </a:r>
            <a:endParaRPr lang="zh-CN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Co-Packaged Optics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标题 3"/>
          <p:cNvSpPr>
            <a:spLocks noGrp="1"/>
          </p:cNvSpPr>
          <p:nvPr>
            <p:ph type="title"/>
          </p:nvPr>
        </p:nvSpPr>
        <p:spPr>
          <a:xfrm>
            <a:off x="551942" y="3090446"/>
            <a:ext cx="7740650" cy="679450"/>
          </a:xfrm>
        </p:spPr>
        <p:txBody>
          <a:bodyPr vert="horz"/>
          <a:lstStyle/>
          <a:p>
            <a:pPr>
              <a:buNone/>
            </a:pP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endParaRPr dirty="0"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16494A8-BFF6-04E5-A4A2-020B8041E3D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511711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8" imgW="349" imgH="350" progId="TCLayout.ActiveDocument.1">
                  <p:embed/>
                </p:oleObj>
              </mc:Choice>
              <mc:Fallback>
                <p:oleObj name="think-cell 幻灯片" r:id="rId8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494A8-BFF6-04E5-A4A2-020B8041E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Table of contents</a:t>
            </a:r>
          </a:p>
        </p:txBody>
      </p:sp>
      <p:sp>
        <p:nvSpPr>
          <p:cNvPr id="47" name="Rectangle 3">
            <a:extLst>
              <a:ext uri="{FF2B5EF4-FFF2-40B4-BE49-F238E27FC236}">
                <a16:creationId xmlns:a16="http://schemas.microsoft.com/office/drawing/2014/main" id="{0E5FD172-F0A8-5034-8CBA-1F583F5E0DB8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gray">
          <a:xfrm>
            <a:off x="1171575" y="4249034"/>
            <a:ext cx="30254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1200" spc="0" normalizeH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 dolor</a:t>
            </a:r>
          </a:p>
        </p:txBody>
      </p:sp>
      <p:sp>
        <p:nvSpPr>
          <p:cNvPr id="48" name="Rectangle 3">
            <a:extLst>
              <a:ext uri="{FF2B5EF4-FFF2-40B4-BE49-F238E27FC236}">
                <a16:creationId xmlns:a16="http://schemas.microsoft.com/office/drawing/2014/main" id="{92CF7951-BA26-0815-17A7-B665AFD6B5BD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1171575" y="5205533"/>
            <a:ext cx="30254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1200" spc="0" normalizeH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 dolor</a:t>
            </a:r>
          </a:p>
        </p:txBody>
      </p:sp>
      <p:cxnSp>
        <p:nvCxnSpPr>
          <p:cNvPr id="49" name="Gerader Verbinder 46">
            <a:extLst>
              <a:ext uri="{FF2B5EF4-FFF2-40B4-BE49-F238E27FC236}">
                <a16:creationId xmlns:a16="http://schemas.microsoft.com/office/drawing/2014/main" id="{490F8E88-088A-F3F6-BF71-8E7F7E2140DD}"/>
              </a:ext>
            </a:extLst>
          </p:cNvPr>
          <p:cNvCxnSpPr>
            <a:cxnSpLocks/>
          </p:cNvCxnSpPr>
          <p:nvPr/>
        </p:nvCxnSpPr>
        <p:spPr>
          <a:xfrm flipH="1">
            <a:off x="4479009" y="2013083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7">
            <a:extLst>
              <a:ext uri="{FF2B5EF4-FFF2-40B4-BE49-F238E27FC236}">
                <a16:creationId xmlns:a16="http://schemas.microsoft.com/office/drawing/2014/main" id="{28CA3F0A-5846-6D01-0C46-F56EC8C1A164}"/>
              </a:ext>
            </a:extLst>
          </p:cNvPr>
          <p:cNvCxnSpPr>
            <a:cxnSpLocks/>
          </p:cNvCxnSpPr>
          <p:nvPr/>
        </p:nvCxnSpPr>
        <p:spPr>
          <a:xfrm flipH="1">
            <a:off x="4479009" y="2880174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48">
            <a:extLst>
              <a:ext uri="{FF2B5EF4-FFF2-40B4-BE49-F238E27FC236}">
                <a16:creationId xmlns:a16="http://schemas.microsoft.com/office/drawing/2014/main" id="{66BE0612-789C-4634-F549-9190A13AF82A}"/>
              </a:ext>
            </a:extLst>
          </p:cNvPr>
          <p:cNvCxnSpPr>
            <a:cxnSpLocks/>
          </p:cNvCxnSpPr>
          <p:nvPr/>
        </p:nvCxnSpPr>
        <p:spPr>
          <a:xfrm flipH="1">
            <a:off x="4479009" y="3747265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r Verbinder 49">
            <a:extLst>
              <a:ext uri="{FF2B5EF4-FFF2-40B4-BE49-F238E27FC236}">
                <a16:creationId xmlns:a16="http://schemas.microsoft.com/office/drawing/2014/main" id="{397646D5-9BC1-D3AC-58F9-971E5BFCD571}"/>
              </a:ext>
            </a:extLst>
          </p:cNvPr>
          <p:cNvCxnSpPr>
            <a:cxnSpLocks/>
          </p:cNvCxnSpPr>
          <p:nvPr/>
        </p:nvCxnSpPr>
        <p:spPr>
          <a:xfrm flipH="1">
            <a:off x="4479009" y="4614356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3">
            <a:extLst>
              <a:ext uri="{FF2B5EF4-FFF2-40B4-BE49-F238E27FC236}">
                <a16:creationId xmlns:a16="http://schemas.microsoft.com/office/drawing/2014/main" id="{C268E9D9-A3ED-440A-2D19-BF526D3C05F5}"/>
              </a:ext>
            </a:extLst>
          </p:cNvPr>
          <p:cNvSpPr>
            <a:spLocks/>
          </p:cNvSpPr>
          <p:nvPr/>
        </p:nvSpPr>
        <p:spPr bwMode="gray">
          <a:xfrm>
            <a:off x="4479008" y="1456427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rPr>
              <a:t>01. Why the focus on </a:t>
            </a:r>
            <a:r>
              <a:rPr lang="en-US" sz="1600" dirty="0">
                <a:solidFill>
                  <a:prstClr val="black"/>
                </a:solidFill>
              </a:rPr>
              <a:t>CPO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rPr>
              <a:t>? </a:t>
            </a:r>
          </a:p>
        </p:txBody>
      </p:sp>
      <p:sp>
        <p:nvSpPr>
          <p:cNvPr id="54" name="Rectangle 3">
            <a:extLst>
              <a:ext uri="{FF2B5EF4-FFF2-40B4-BE49-F238E27FC236}">
                <a16:creationId xmlns:a16="http://schemas.microsoft.com/office/drawing/2014/main" id="{1711F00B-9E27-94D5-6998-00906995CBB1}"/>
              </a:ext>
            </a:extLst>
          </p:cNvPr>
          <p:cNvSpPr>
            <a:spLocks/>
          </p:cNvSpPr>
          <p:nvPr/>
        </p:nvSpPr>
        <p:spPr bwMode="gray">
          <a:xfrm>
            <a:off x="4479008" y="2323518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02. Why </a:t>
            </a:r>
            <a:r>
              <a:rPr lang="en-US" altLang="zh-CN" sz="1600" dirty="0">
                <a:solidFill>
                  <a:prstClr val="black"/>
                </a:solidFill>
              </a:rPr>
              <a:t>move</a:t>
            </a:r>
            <a:r>
              <a:rPr lang="en-US" sz="1600" dirty="0">
                <a:solidFill>
                  <a:prstClr val="black"/>
                </a:solidFill>
              </a:rPr>
              <a:t> from copper to optical, and from pluggable to c</a:t>
            </a:r>
            <a:r>
              <a:rPr lang="en-US" altLang="zh-CN" sz="1600" dirty="0">
                <a:solidFill>
                  <a:prstClr val="black"/>
                </a:solidFill>
              </a:rPr>
              <a:t>o-packaged? 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55" name="Rectangle 3">
            <a:extLst>
              <a:ext uri="{FF2B5EF4-FFF2-40B4-BE49-F238E27FC236}">
                <a16:creationId xmlns:a16="http://schemas.microsoft.com/office/drawing/2014/main" id="{CFCF0417-DC67-7FFC-30C3-E2148368344D}"/>
              </a:ext>
            </a:extLst>
          </p:cNvPr>
          <p:cNvSpPr>
            <a:spLocks/>
          </p:cNvSpPr>
          <p:nvPr/>
        </p:nvSpPr>
        <p:spPr bwMode="gray">
          <a:xfrm>
            <a:off x="4479008" y="3190609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03. Where CPO fits first: scale-</a:t>
            </a:r>
            <a:r>
              <a:rPr lang="en-US" altLang="zh-CN" sz="1600" dirty="0">
                <a:solidFill>
                  <a:prstClr val="black"/>
                </a:solidFill>
              </a:rPr>
              <a:t>u</a:t>
            </a:r>
            <a:r>
              <a:rPr lang="en-US" sz="1600" dirty="0">
                <a:solidFill>
                  <a:prstClr val="black"/>
                </a:solidFill>
              </a:rPr>
              <a:t>p or scale-out?</a:t>
            </a:r>
          </a:p>
        </p:txBody>
      </p:sp>
      <p:sp>
        <p:nvSpPr>
          <p:cNvPr id="56" name="Rectangle 3">
            <a:extLst>
              <a:ext uri="{FF2B5EF4-FFF2-40B4-BE49-F238E27FC236}">
                <a16:creationId xmlns:a16="http://schemas.microsoft.com/office/drawing/2014/main" id="{4E6924D9-36EE-8C24-72F0-88A20491AB31}"/>
              </a:ext>
            </a:extLst>
          </p:cNvPr>
          <p:cNvSpPr>
            <a:spLocks/>
          </p:cNvSpPr>
          <p:nvPr/>
        </p:nvSpPr>
        <p:spPr bwMode="gray">
          <a:xfrm>
            <a:off x="4479008" y="4057700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04. How big is the CPO market? </a:t>
            </a:r>
          </a:p>
        </p:txBody>
      </p:sp>
      <p:sp>
        <p:nvSpPr>
          <p:cNvPr id="57" name="Rectangle 3">
            <a:extLst>
              <a:ext uri="{FF2B5EF4-FFF2-40B4-BE49-F238E27FC236}">
                <a16:creationId xmlns:a16="http://schemas.microsoft.com/office/drawing/2014/main" id="{19CE5E72-40CA-01FA-1C10-14066CBD5584}"/>
              </a:ext>
            </a:extLst>
          </p:cNvPr>
          <p:cNvSpPr>
            <a:spLocks/>
          </p:cNvSpPr>
          <p:nvPr/>
        </p:nvSpPr>
        <p:spPr bwMode="gray">
          <a:xfrm>
            <a:off x="4479008" y="4924791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prstClr val="black"/>
                </a:solidFill>
              </a:rPr>
              <a:t>05. Which segment matters most?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63" name="Rectangle 3">
            <a:extLst>
              <a:ext uri="{FF2B5EF4-FFF2-40B4-BE49-F238E27FC236}">
                <a16:creationId xmlns:a16="http://schemas.microsoft.com/office/drawing/2014/main" id="{05AB95B3-0DEB-3315-E8A5-3356A692A211}"/>
              </a:ext>
            </a:extLst>
          </p:cNvPr>
          <p:cNvSpPr>
            <a:spLocks/>
          </p:cNvSpPr>
          <p:nvPr/>
        </p:nvSpPr>
        <p:spPr bwMode="gray">
          <a:xfrm rot="16200000">
            <a:off x="-256358" y="2056570"/>
            <a:ext cx="1631062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</a:t>
            </a:r>
          </a:p>
        </p:txBody>
      </p:sp>
      <p:cxnSp>
        <p:nvCxnSpPr>
          <p:cNvPr id="64" name="Gerader Verbinder 4">
            <a:extLst>
              <a:ext uri="{FF2B5EF4-FFF2-40B4-BE49-F238E27FC236}">
                <a16:creationId xmlns:a16="http://schemas.microsoft.com/office/drawing/2014/main" id="{8923743B-4175-AD1F-4D60-5A5278929663}"/>
              </a:ext>
            </a:extLst>
          </p:cNvPr>
          <p:cNvCxnSpPr>
            <a:cxnSpLocks/>
          </p:cNvCxnSpPr>
          <p:nvPr/>
        </p:nvCxnSpPr>
        <p:spPr>
          <a:xfrm>
            <a:off x="862187" y="1456427"/>
            <a:ext cx="0" cy="2126404"/>
          </a:xfrm>
          <a:prstGeom prst="line">
            <a:avLst/>
          </a:prstGeom>
          <a:ln w="38100"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r Verbinder 29">
            <a:extLst>
              <a:ext uri="{FF2B5EF4-FFF2-40B4-BE49-F238E27FC236}">
                <a16:creationId xmlns:a16="http://schemas.microsoft.com/office/drawing/2014/main" id="{1C56A34A-54BD-E335-63F2-ECEB171821AC}"/>
              </a:ext>
            </a:extLst>
          </p:cNvPr>
          <p:cNvCxnSpPr>
            <a:cxnSpLocks/>
          </p:cNvCxnSpPr>
          <p:nvPr/>
        </p:nvCxnSpPr>
        <p:spPr>
          <a:xfrm>
            <a:off x="862187" y="3935560"/>
            <a:ext cx="0" cy="2102546"/>
          </a:xfrm>
          <a:prstGeom prst="line">
            <a:avLst/>
          </a:prstGeom>
          <a:ln w="38100"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3">
            <a:extLst>
              <a:ext uri="{FF2B5EF4-FFF2-40B4-BE49-F238E27FC236}">
                <a16:creationId xmlns:a16="http://schemas.microsoft.com/office/drawing/2014/main" id="{224219E5-899D-1660-2E29-E7281290499E}"/>
              </a:ext>
            </a:extLst>
          </p:cNvPr>
          <p:cNvSpPr>
            <a:spLocks/>
          </p:cNvSpPr>
          <p:nvPr/>
        </p:nvSpPr>
        <p:spPr bwMode="gray">
          <a:xfrm rot="16200000">
            <a:off x="-734609" y="4447818"/>
            <a:ext cx="2587564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0EE93B-3E60-D020-4FC8-CB950A8AC788}"/>
              </a:ext>
            </a:extLst>
          </p:cNvPr>
          <p:cNvSpPr>
            <a:spLocks/>
          </p:cNvSpPr>
          <p:nvPr/>
        </p:nvSpPr>
        <p:spPr bwMode="gray">
          <a:xfrm>
            <a:off x="4479008" y="5791885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06. Key players to watch: Broadcom and </a:t>
            </a:r>
            <a:r>
              <a:rPr lang="en-US" sz="1600" dirty="0" err="1">
                <a:solidFill>
                  <a:prstClr val="black"/>
                </a:solidFill>
              </a:rPr>
              <a:t>ficonTEC</a:t>
            </a:r>
            <a:endParaRPr lang="en-US" sz="1600" dirty="0">
              <a:solidFill>
                <a:prstClr val="black"/>
              </a:solidFill>
            </a:endParaRPr>
          </a:p>
        </p:txBody>
      </p:sp>
      <p:cxnSp>
        <p:nvCxnSpPr>
          <p:cNvPr id="7" name="Gerader Verbinder 49">
            <a:extLst>
              <a:ext uri="{FF2B5EF4-FFF2-40B4-BE49-F238E27FC236}">
                <a16:creationId xmlns:a16="http://schemas.microsoft.com/office/drawing/2014/main" id="{4BE098FC-799F-1029-374A-1475EF5821A2}"/>
              </a:ext>
            </a:extLst>
          </p:cNvPr>
          <p:cNvCxnSpPr>
            <a:cxnSpLocks/>
          </p:cNvCxnSpPr>
          <p:nvPr/>
        </p:nvCxnSpPr>
        <p:spPr>
          <a:xfrm flipH="1">
            <a:off x="4479008" y="5481447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C38A9D3-E26D-76B9-5256-41C855B27326}"/>
              </a:ext>
            </a:extLst>
          </p:cNvPr>
          <p:cNvGrpSpPr/>
          <p:nvPr/>
        </p:nvGrpSpPr>
        <p:grpSpPr>
          <a:xfrm>
            <a:off x="1244740" y="1773311"/>
            <a:ext cx="1833093" cy="1492635"/>
            <a:chOff x="1244742" y="2055191"/>
            <a:chExt cx="1833093" cy="1492635"/>
          </a:xfrm>
        </p:grpSpPr>
        <p:sp>
          <p:nvSpPr>
            <p:cNvPr id="59" name="Rectangle 3">
              <a:extLst>
                <a:ext uri="{FF2B5EF4-FFF2-40B4-BE49-F238E27FC236}">
                  <a16:creationId xmlns:a16="http://schemas.microsoft.com/office/drawing/2014/main" id="{66DC64BD-ECC4-3DAC-C3DB-2B0ED0EC975F}"/>
                </a:ext>
              </a:extLst>
            </p:cNvPr>
            <p:cNvSpPr>
              <a:spLocks/>
            </p:cNvSpPr>
            <p:nvPr>
              <p:custDataLst>
                <p:tags r:id="rId5"/>
              </p:custDataLst>
            </p:nvPr>
          </p:nvSpPr>
          <p:spPr bwMode="gray">
            <a:xfrm>
              <a:off x="1300336" y="2055191"/>
              <a:ext cx="1352711" cy="52079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noAutofit/>
            </a:bodyPr>
            <a:lstStyle/>
            <a:p>
              <a:pPr marL="0" marR="0" lvl="0" indent="0" defTabSz="978998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3200" b="1" dirty="0">
                  <a:solidFill>
                    <a:srgbClr val="0052D9"/>
                  </a:solidFill>
                </a:rPr>
                <a:t>Tech</a:t>
              </a:r>
              <a:endParaRPr kumimoji="0" lang="en-US" sz="3200" b="1" i="0" u="none" strike="noStrike" kern="1200" cap="none" spc="0" normalizeH="0" baseline="0" noProof="0" dirty="0">
                <a:solidFill>
                  <a:srgbClr val="0052D9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FE558451-A235-2B74-CC6E-E9F4D0F630AF}"/>
                </a:ext>
              </a:extLst>
            </p:cNvPr>
            <p:cNvSpPr txBox="1"/>
            <p:nvPr/>
          </p:nvSpPr>
          <p:spPr>
            <a:xfrm>
              <a:off x="1244742" y="2645015"/>
              <a:ext cx="1833093" cy="9028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defTabSz="978998" fontAlgn="base">
                <a:spcBef>
                  <a:spcPts val="500"/>
                </a:spcBef>
                <a:spcAft>
                  <a:spcPts val="500"/>
                </a:spcAft>
                <a:defRPr/>
              </a:pPr>
              <a:r>
                <a:rPr lang="en-US" altLang="zh-CN" sz="1200" dirty="0">
                  <a:solidFill>
                    <a:srgbClr val="0052D9"/>
                  </a:solidFill>
                </a:rPr>
                <a:t>Interconnect</a:t>
              </a:r>
            </a:p>
            <a:p>
              <a:pPr lvl="0" defTabSz="978998" fontAlgn="base">
                <a:spcBef>
                  <a:spcPts val="500"/>
                </a:spcBef>
                <a:spcAft>
                  <a:spcPts val="500"/>
                </a:spcAft>
                <a:defRPr/>
              </a:pPr>
              <a:r>
                <a:rPr lang="en-US" altLang="zh-CN" sz="1200" dirty="0">
                  <a:solidFill>
                    <a:srgbClr val="0052D9"/>
                  </a:solidFill>
                </a:rPr>
                <a:t>Optical</a:t>
              </a:r>
            </a:p>
            <a:p>
              <a:pPr lvl="0" defTabSz="978998" fontAlgn="base">
                <a:spcBef>
                  <a:spcPts val="500"/>
                </a:spcBef>
                <a:spcAft>
                  <a:spcPts val="500"/>
                </a:spcAft>
                <a:defRPr/>
              </a:pPr>
              <a:r>
                <a:rPr lang="en-US" altLang="zh-CN" sz="1200" dirty="0">
                  <a:solidFill>
                    <a:srgbClr val="0052D9"/>
                  </a:solidFill>
                </a:rPr>
                <a:t>CPO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69E50D06-AF41-43E8-63B7-1E98F01C22C2}"/>
              </a:ext>
            </a:extLst>
          </p:cNvPr>
          <p:cNvGrpSpPr/>
          <p:nvPr/>
        </p:nvGrpSpPr>
        <p:grpSpPr>
          <a:xfrm>
            <a:off x="1244741" y="4180810"/>
            <a:ext cx="1833093" cy="1581607"/>
            <a:chOff x="1244742" y="4113360"/>
            <a:chExt cx="1833093" cy="1581607"/>
          </a:xfrm>
        </p:grpSpPr>
        <p:sp>
          <p:nvSpPr>
            <p:cNvPr id="62" name="Rectangle 3">
              <a:extLst>
                <a:ext uri="{FF2B5EF4-FFF2-40B4-BE49-F238E27FC236}">
                  <a16:creationId xmlns:a16="http://schemas.microsoft.com/office/drawing/2014/main" id="{AE265D59-EBB0-FF67-33E9-BD13DB5E1BD0}"/>
                </a:ext>
              </a:extLst>
            </p:cNvPr>
            <p:cNvSpPr>
              <a:spLocks/>
            </p:cNvSpPr>
            <p:nvPr>
              <p:custDataLst>
                <p:tags r:id="rId4"/>
              </p:custDataLst>
            </p:nvPr>
          </p:nvSpPr>
          <p:spPr bwMode="gray">
            <a:xfrm>
              <a:off x="1328241" y="4113360"/>
              <a:ext cx="1721906" cy="52079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noAutofit/>
            </a:bodyPr>
            <a:lstStyle/>
            <a:p>
              <a:pPr marL="0" marR="0" lvl="0" indent="0" defTabSz="978998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1200" cap="none" spc="0" normalizeH="0" baseline="0" noProof="0" dirty="0">
                  <a:solidFill>
                    <a:srgbClr val="0052D9"/>
                  </a:solidFill>
                  <a:effectLst/>
                  <a:uLnTx/>
                  <a:uFillTx/>
                </a:rPr>
                <a:t>Markets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07E11F60-EAF1-1828-DD1D-836B1FC571EE}"/>
                </a:ext>
              </a:extLst>
            </p:cNvPr>
            <p:cNvSpPr txBox="1"/>
            <p:nvPr/>
          </p:nvSpPr>
          <p:spPr>
            <a:xfrm>
              <a:off x="1244742" y="4792156"/>
              <a:ext cx="1833093" cy="9028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defTabSz="978998" fontAlgn="base">
                <a:spcBef>
                  <a:spcPts val="500"/>
                </a:spcBef>
                <a:spcAft>
                  <a:spcPts val="500"/>
                </a:spcAft>
                <a:defRPr/>
              </a:pPr>
              <a:r>
                <a:rPr lang="en-US" altLang="zh-CN" sz="1200" dirty="0">
                  <a:solidFill>
                    <a:srgbClr val="0052D9"/>
                  </a:solidFill>
                </a:rPr>
                <a:t>Sizing</a:t>
              </a:r>
            </a:p>
            <a:p>
              <a:pPr lvl="0" defTabSz="978998" fontAlgn="base">
                <a:spcBef>
                  <a:spcPts val="500"/>
                </a:spcBef>
                <a:spcAft>
                  <a:spcPts val="500"/>
                </a:spcAft>
                <a:defRPr/>
              </a:pPr>
              <a:r>
                <a:rPr lang="en-US" altLang="zh-CN" sz="1200" dirty="0">
                  <a:solidFill>
                    <a:srgbClr val="0052D9"/>
                  </a:solidFill>
                </a:rPr>
                <a:t>Segments</a:t>
              </a:r>
            </a:p>
            <a:p>
              <a:pPr lvl="0" defTabSz="978998" fontAlgn="base">
                <a:spcBef>
                  <a:spcPts val="500"/>
                </a:spcBef>
                <a:spcAft>
                  <a:spcPts val="500"/>
                </a:spcAft>
                <a:defRPr/>
              </a:pPr>
              <a:r>
                <a:rPr lang="en-US" altLang="zh-CN" sz="1200" dirty="0">
                  <a:solidFill>
                    <a:srgbClr val="0052D9"/>
                  </a:solidFill>
                </a:rPr>
                <a:t>Players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10321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16494A8-BFF6-04E5-A4A2-020B8041E3D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258120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349" imgH="350" progId="TCLayout.ActiveDocument.1">
                  <p:embed/>
                </p:oleObj>
              </mc:Choice>
              <mc:Fallback>
                <p:oleObj name="think-cell 幻灯片" r:id="rId4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494A8-BFF6-04E5-A4A2-020B8041E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200" y="258578"/>
            <a:ext cx="10087200" cy="384721"/>
          </a:xfrm>
        </p:spPr>
        <p:txBody>
          <a:bodyPr vert="horz"/>
          <a:lstStyle/>
          <a:p>
            <a:r>
              <a:rPr lang="en-US" altLang="zh-CN" dirty="0"/>
              <a:t>Why the focus on CPO? Nvidia, Broadcom, and DeepSeek</a:t>
            </a:r>
            <a:endParaRPr lang="en-US" dirty="0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D161BAA2-87BF-3F6E-EF71-5C4FAAE53FE0}"/>
              </a:ext>
            </a:extLst>
          </p:cNvPr>
          <p:cNvGrpSpPr/>
          <p:nvPr/>
        </p:nvGrpSpPr>
        <p:grpSpPr>
          <a:xfrm>
            <a:off x="306197" y="1337390"/>
            <a:ext cx="3788426" cy="4059592"/>
            <a:chOff x="363631" y="1337390"/>
            <a:chExt cx="3788426" cy="4059592"/>
          </a:xfrm>
        </p:grpSpPr>
        <p:sp>
          <p:nvSpPr>
            <p:cNvPr id="2" name="Rechteck 52">
              <a:extLst>
                <a:ext uri="{FF2B5EF4-FFF2-40B4-BE49-F238E27FC236}">
                  <a16:creationId xmlns:a16="http://schemas.microsoft.com/office/drawing/2014/main" id="{FE2110A6-EDBD-8697-B5F7-4B336BB31161}"/>
                </a:ext>
              </a:extLst>
            </p:cNvPr>
            <p:cNvSpPr>
              <a:spLocks/>
            </p:cNvSpPr>
            <p:nvPr/>
          </p:nvSpPr>
          <p:spPr>
            <a:xfrm>
              <a:off x="407987" y="2518957"/>
              <a:ext cx="3563744" cy="158027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cap="all" spc="100">
                  <a:solidFill>
                    <a:schemeClr val="accent5"/>
                  </a:solidFill>
                </a:rPr>
                <a:t>IMAGE</a:t>
              </a:r>
            </a:p>
          </p:txBody>
        </p:sp>
        <p:sp>
          <p:nvSpPr>
            <p:cNvPr id="18" name="Inhaltsplatzhalter 2">
              <a:extLst>
                <a:ext uri="{FF2B5EF4-FFF2-40B4-BE49-F238E27FC236}">
                  <a16:creationId xmlns:a16="http://schemas.microsoft.com/office/drawing/2014/main" id="{6634A095-ABD0-527D-E2B1-46D80EE1E49A}"/>
                </a:ext>
              </a:extLst>
            </p:cNvPr>
            <p:cNvSpPr txBox="1">
              <a:spLocks/>
            </p:cNvSpPr>
            <p:nvPr/>
          </p:nvSpPr>
          <p:spPr>
            <a:xfrm>
              <a:off x="474582" y="4889151"/>
              <a:ext cx="3563744" cy="507831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66725" indent="-22225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20725" indent="-21748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900113" indent="-193675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4pPr>
              <a:lvl5pPr marL="1136650" indent="-18573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</a:pPr>
              <a:r>
                <a:rPr lang="en-US" altLang="zh-CN" sz="1400" dirty="0"/>
                <a:t>Pivots from Copper to Optics;</a:t>
              </a:r>
            </a:p>
            <a:p>
              <a:pPr>
                <a:spcBef>
                  <a:spcPts val="600"/>
                </a:spcBef>
              </a:pPr>
              <a:r>
                <a:rPr lang="en-US" altLang="zh-CN" sz="1400" dirty="0"/>
                <a:t>Launches 2 CPO Switches.</a:t>
              </a:r>
              <a:endParaRPr lang="en-US" sz="1400" dirty="0"/>
            </a:p>
          </p:txBody>
        </p:sp>
        <p:sp>
          <p:nvSpPr>
            <p:cNvPr id="15" name="Textplatzhalter 9">
              <a:extLst>
                <a:ext uri="{FF2B5EF4-FFF2-40B4-BE49-F238E27FC236}">
                  <a16:creationId xmlns:a16="http://schemas.microsoft.com/office/drawing/2014/main" id="{F3F9DCEA-95C5-231D-DDE1-741629D3FFE7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437170" y="1929720"/>
              <a:ext cx="3563744" cy="184666"/>
            </a:xfrm>
            <a:prstGeom prst="rect">
              <a:avLst/>
            </a:prstGeom>
            <a:noFill/>
            <a:ln w="6350">
              <a:noFill/>
            </a:ln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1pPr>
              <a:lvl2pPr marL="180975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2pPr>
              <a:lvl3pPr marL="36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3pPr>
              <a:lvl4pPr marL="541338" indent="-179388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4pPr>
              <a:lvl5pPr marL="72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buClr>
                  <a:srgbClr val="000000"/>
                </a:buClr>
              </a:pPr>
              <a:r>
                <a:rPr lang="en-US" altLang="zh-CN" b="1" dirty="0"/>
                <a:t>Premieres advanced CPO switches</a:t>
              </a:r>
              <a:endParaRPr lang="en-US" sz="1400" dirty="0">
                <a:solidFill>
                  <a:srgbClr val="0052D9"/>
                </a:solidFill>
              </a:endParaRPr>
            </a:p>
          </p:txBody>
        </p:sp>
        <p:sp>
          <p:nvSpPr>
            <p:cNvPr id="6" name="Rechteck 22">
              <a:extLst>
                <a:ext uri="{FF2B5EF4-FFF2-40B4-BE49-F238E27FC236}">
                  <a16:creationId xmlns:a16="http://schemas.microsoft.com/office/drawing/2014/main" id="{2E50D80A-1704-3509-9D6E-FF86D2EDA342}"/>
                </a:ext>
              </a:extLst>
            </p:cNvPr>
            <p:cNvSpPr>
              <a:spLocks/>
            </p:cNvSpPr>
            <p:nvPr/>
          </p:nvSpPr>
          <p:spPr>
            <a:xfrm>
              <a:off x="1524259" y="1337390"/>
              <a:ext cx="2627798" cy="671530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44000" rIns="180000" bIns="144000" rtlCol="0" anchor="ctr"/>
            <a:lstStyle/>
            <a:p>
              <a:pPr>
                <a:buClr>
                  <a:srgbClr val="000000"/>
                </a:buClr>
              </a:pPr>
              <a:r>
                <a:rPr lang="en-US" altLang="zh-CN" sz="1400" b="1" dirty="0">
                  <a:solidFill>
                    <a:schemeClr val="accent1"/>
                  </a:solidFill>
                  <a:sym typeface="Futura"/>
                </a:rPr>
                <a:t>GTC 2025</a:t>
              </a: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2B0F00AE-79C7-64B9-F55F-63167A365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63631" y="1513532"/>
              <a:ext cx="443699" cy="319247"/>
            </a:xfrm>
            <a:prstGeom prst="rect">
              <a:avLst/>
            </a:prstGeom>
            <a:noFill/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1E42ACC8-7E17-BB78-EF6C-B7F4644430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07330" y="1573189"/>
              <a:ext cx="740492" cy="199933"/>
            </a:xfrm>
            <a:prstGeom prst="rect">
              <a:avLst/>
            </a:prstGeom>
            <a:noFill/>
          </p:spPr>
        </p:pic>
        <p:pic>
          <p:nvPicPr>
            <p:cNvPr id="26" name="Picture 2">
              <a:extLst>
                <a:ext uri="{FF2B5EF4-FFF2-40B4-BE49-F238E27FC236}">
                  <a16:creationId xmlns:a16="http://schemas.microsoft.com/office/drawing/2014/main" id="{73BC45A2-D98F-47EB-BEC6-315762D7D2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6348" y="2506344"/>
              <a:ext cx="3142640" cy="19012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588A680D-C507-6147-38A4-8538D21017AA}"/>
              </a:ext>
            </a:extLst>
          </p:cNvPr>
          <p:cNvGrpSpPr/>
          <p:nvPr/>
        </p:nvGrpSpPr>
        <p:grpSpPr>
          <a:xfrm>
            <a:off x="7829534" y="1319474"/>
            <a:ext cx="4031564" cy="4490480"/>
            <a:chOff x="8206661" y="1337390"/>
            <a:chExt cx="4031564" cy="4490480"/>
          </a:xfrm>
        </p:grpSpPr>
        <p:sp>
          <p:nvSpPr>
            <p:cNvPr id="3" name="Rechteck 53">
              <a:extLst>
                <a:ext uri="{FF2B5EF4-FFF2-40B4-BE49-F238E27FC236}">
                  <a16:creationId xmlns:a16="http://schemas.microsoft.com/office/drawing/2014/main" id="{A3D89242-83E7-0754-DC42-B6C7A9C3DB38}"/>
                </a:ext>
              </a:extLst>
            </p:cNvPr>
            <p:cNvSpPr>
              <a:spLocks/>
            </p:cNvSpPr>
            <p:nvPr/>
          </p:nvSpPr>
          <p:spPr>
            <a:xfrm>
              <a:off x="8242203" y="2518957"/>
              <a:ext cx="3563744" cy="158027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cap="all" spc="100">
                  <a:solidFill>
                    <a:schemeClr val="accent5"/>
                  </a:solidFill>
                </a:rPr>
                <a:t>IMAGE</a:t>
              </a:r>
            </a:p>
          </p:txBody>
        </p:sp>
        <p:sp>
          <p:nvSpPr>
            <p:cNvPr id="19" name="Inhaltsplatzhalter 2">
              <a:extLst>
                <a:ext uri="{FF2B5EF4-FFF2-40B4-BE49-F238E27FC236}">
                  <a16:creationId xmlns:a16="http://schemas.microsoft.com/office/drawing/2014/main" id="{AD8FE314-262A-C078-EDB0-5CA09AA3D723}"/>
                </a:ext>
              </a:extLst>
            </p:cNvPr>
            <p:cNvSpPr txBox="1">
              <a:spLocks/>
            </p:cNvSpPr>
            <p:nvPr/>
          </p:nvSpPr>
          <p:spPr>
            <a:xfrm>
              <a:off x="8256794" y="4889151"/>
              <a:ext cx="3660375" cy="93871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66725" indent="-22225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20725" indent="-21748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900113" indent="-193675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4pPr>
              <a:lvl5pPr marL="1136650" indent="-18573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</a:pPr>
              <a:r>
                <a:rPr lang="en-US" sz="1400" dirty="0"/>
                <a:t>Bandwidth limitation restricts training, inference, and network strategies;</a:t>
              </a:r>
            </a:p>
            <a:p>
              <a:pPr>
                <a:spcBef>
                  <a:spcPts val="600"/>
                </a:spcBef>
              </a:pPr>
              <a:r>
                <a:rPr lang="en-US" sz="1400" dirty="0"/>
                <a:t>CPO offers higher bandwidth at better energy efficiency.</a:t>
              </a:r>
            </a:p>
          </p:txBody>
        </p:sp>
        <p:sp>
          <p:nvSpPr>
            <p:cNvPr id="11" name="Rechteck 22">
              <a:extLst>
                <a:ext uri="{FF2B5EF4-FFF2-40B4-BE49-F238E27FC236}">
                  <a16:creationId xmlns:a16="http://schemas.microsoft.com/office/drawing/2014/main" id="{D122097B-3085-F1BA-955F-93F0AF30E4E8}"/>
                </a:ext>
              </a:extLst>
            </p:cNvPr>
            <p:cNvSpPr>
              <a:spLocks/>
            </p:cNvSpPr>
            <p:nvPr/>
          </p:nvSpPr>
          <p:spPr>
            <a:xfrm>
              <a:off x="9538802" y="1337390"/>
              <a:ext cx="2627798" cy="671530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44000" rIns="180000" bIns="144000" rtlCol="0" anchor="ctr"/>
            <a:lstStyle/>
            <a:p>
              <a:pPr>
                <a:buClr>
                  <a:srgbClr val="000000"/>
                </a:buClr>
              </a:pPr>
              <a:r>
                <a:rPr lang="en-US" altLang="zh-CN" sz="1400" b="1" dirty="0">
                  <a:solidFill>
                    <a:schemeClr val="accent1"/>
                  </a:solidFill>
                  <a:sym typeface="Futura"/>
                </a:rPr>
                <a:t>《Insights into DS-V3》</a:t>
              </a:r>
            </a:p>
          </p:txBody>
        </p: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33D30D61-CEC3-4A04-6835-9D269EB0DAD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9962" b="88889" l="3125" r="94697">
                          <a14:foregroundMark x1="6155" y1="31418" x2="6155" y2="31418"/>
                          <a14:foregroundMark x1="11364" y1="83525" x2="11364" y2="83525"/>
                          <a14:foregroundMark x1="3125" y1="59387" x2="3125" y2="59387"/>
                          <a14:foregroundMark x1="32576" y1="59387" x2="32576" y2="59387"/>
                          <a14:foregroundMark x1="41098" y1="55556" x2="41098" y2="55556"/>
                          <a14:foregroundMark x1="49242" y1="54789" x2="49242" y2="54789"/>
                          <a14:foregroundMark x1="57765" y1="56705" x2="57765" y2="56705"/>
                          <a14:foregroundMark x1="68845" y1="55939" x2="68845" y2="55939"/>
                          <a14:foregroundMark x1="78030" y1="57088" x2="78030" y2="57088"/>
                          <a14:foregroundMark x1="82765" y1="54023" x2="82765" y2="54023"/>
                          <a14:foregroundMark x1="91288" y1="54406" x2="91288" y2="54406"/>
                          <a14:foregroundMark x1="94697" y1="55556" x2="94697" y2="55556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260787" y="1510354"/>
              <a:ext cx="1317379" cy="325602"/>
            </a:xfrm>
            <a:prstGeom prst="rect">
              <a:avLst/>
            </a:prstGeom>
          </p:spPr>
        </p:pic>
        <p:sp>
          <p:nvSpPr>
            <p:cNvPr id="13" name="Textplatzhalter 9">
              <a:extLst>
                <a:ext uri="{FF2B5EF4-FFF2-40B4-BE49-F238E27FC236}">
                  <a16:creationId xmlns:a16="http://schemas.microsoft.com/office/drawing/2014/main" id="{AF68D50D-414D-635E-2792-0BEAB0496A59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8256794" y="1929720"/>
              <a:ext cx="3981431" cy="184666"/>
            </a:xfrm>
            <a:prstGeom prst="rect">
              <a:avLst/>
            </a:prstGeom>
            <a:noFill/>
            <a:ln w="6350">
              <a:noFill/>
            </a:ln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1pPr>
              <a:lvl2pPr marL="180975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2pPr>
              <a:lvl3pPr marL="36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3pPr>
              <a:lvl4pPr marL="541338" indent="-179388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4pPr>
              <a:lvl5pPr marL="72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buClr>
                  <a:srgbClr val="000000"/>
                </a:buClr>
              </a:pPr>
              <a:r>
                <a:rPr lang="en-US" altLang="zh-CN" b="1" dirty="0"/>
                <a:t>Highlights CPO’s importance under limited</a:t>
              </a:r>
              <a:r>
                <a:rPr lang="zh-CN" altLang="en-US" b="1" dirty="0"/>
                <a:t> </a:t>
              </a:r>
              <a:r>
                <a:rPr lang="en-US" altLang="zh-CN" b="1" dirty="0"/>
                <a:t>bandwidth</a:t>
              </a:r>
              <a:endParaRPr lang="en-US" sz="1400" dirty="0">
                <a:solidFill>
                  <a:srgbClr val="0052D9"/>
                </a:solidFill>
              </a:endParaRPr>
            </a:p>
          </p:txBody>
        </p: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4D943F7C-E7EF-9207-A884-3A534698B846}"/>
                </a:ext>
              </a:extLst>
            </p:cNvPr>
            <p:cNvGrpSpPr/>
            <p:nvPr/>
          </p:nvGrpSpPr>
          <p:grpSpPr>
            <a:xfrm>
              <a:off x="8206661" y="2501169"/>
              <a:ext cx="3509584" cy="1911646"/>
              <a:chOff x="7440021" y="1361951"/>
              <a:chExt cx="3509584" cy="1911646"/>
            </a:xfrm>
          </p:grpSpPr>
          <p:pic>
            <p:nvPicPr>
              <p:cNvPr id="28" name="图片 27">
                <a:extLst>
                  <a:ext uri="{FF2B5EF4-FFF2-40B4-BE49-F238E27FC236}">
                    <a16:creationId xmlns:a16="http://schemas.microsoft.com/office/drawing/2014/main" id="{0234BB60-FB48-622D-A498-75516FE24A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440022" y="1361951"/>
                <a:ext cx="3509583" cy="553199"/>
              </a:xfrm>
              <a:prstGeom prst="rect">
                <a:avLst/>
              </a:prstGeom>
            </p:spPr>
          </p:pic>
          <p:pic>
            <p:nvPicPr>
              <p:cNvPr id="29" name="图片 28">
                <a:extLst>
                  <a:ext uri="{FF2B5EF4-FFF2-40B4-BE49-F238E27FC236}">
                    <a16:creationId xmlns:a16="http://schemas.microsoft.com/office/drawing/2014/main" id="{2594A99E-9B03-0559-EB83-31733FA28A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rcRect b="68697"/>
              <a:stretch/>
            </p:blipFill>
            <p:spPr>
              <a:xfrm>
                <a:off x="7440021" y="1877371"/>
                <a:ext cx="3444240" cy="1396226"/>
              </a:xfrm>
              <a:prstGeom prst="rect">
                <a:avLst/>
              </a:prstGeom>
            </p:spPr>
          </p:pic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009EA39E-0613-8F9A-4489-6AACB923E3C7}"/>
                  </a:ext>
                </a:extLst>
              </p:cNvPr>
              <p:cNvSpPr/>
              <p:nvPr/>
            </p:nvSpPr>
            <p:spPr>
              <a:xfrm>
                <a:off x="7440021" y="1877370"/>
                <a:ext cx="3444240" cy="515310"/>
              </a:xfrm>
              <a:prstGeom prst="rect">
                <a:avLst/>
              </a:prstGeom>
              <a:noFill/>
              <a:ln w="12700"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91FE6AA-B936-2C70-469E-7E327AF3E7CE}"/>
              </a:ext>
            </a:extLst>
          </p:cNvPr>
          <p:cNvGrpSpPr/>
          <p:nvPr/>
        </p:nvGrpSpPr>
        <p:grpSpPr>
          <a:xfrm>
            <a:off x="3937489" y="1381593"/>
            <a:ext cx="4049178" cy="4230833"/>
            <a:chOff x="4154770" y="1381593"/>
            <a:chExt cx="4049178" cy="4230833"/>
          </a:xfrm>
        </p:grpSpPr>
        <p:sp>
          <p:nvSpPr>
            <p:cNvPr id="23" name="Rechteck 23">
              <a:extLst>
                <a:ext uri="{FF2B5EF4-FFF2-40B4-BE49-F238E27FC236}">
                  <a16:creationId xmlns:a16="http://schemas.microsoft.com/office/drawing/2014/main" id="{D46FDC1B-0589-0C6F-14BE-04FAC0134390}"/>
                </a:ext>
              </a:extLst>
            </p:cNvPr>
            <p:cNvSpPr>
              <a:spLocks/>
            </p:cNvSpPr>
            <p:nvPr/>
          </p:nvSpPr>
          <p:spPr>
            <a:xfrm>
              <a:off x="5576150" y="1381593"/>
              <a:ext cx="2627798" cy="583124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44000" rIns="180000" bIns="144000" rtlCol="0" anchor="ctr"/>
            <a:lstStyle/>
            <a:p>
              <a:pPr>
                <a:buClr>
                  <a:srgbClr val="000000"/>
                </a:buClr>
              </a:pPr>
              <a:r>
                <a:rPr lang="en-US" altLang="zh-CN" sz="1400" b="1" dirty="0">
                  <a:solidFill>
                    <a:schemeClr val="accent1"/>
                  </a:solidFill>
                </a:rPr>
                <a:t>Tomahawk Switches</a:t>
              </a:r>
              <a:endParaRPr lang="en-US" sz="1400" b="1" dirty="0">
                <a:solidFill>
                  <a:schemeClr val="accent1"/>
                </a:solidFill>
                <a:sym typeface="Futura"/>
              </a:endParaRPr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03AEDBC2-E141-C8D2-352D-0441C029259C}"/>
                </a:ext>
              </a:extLst>
            </p:cNvPr>
            <p:cNvGrpSpPr/>
            <p:nvPr/>
          </p:nvGrpSpPr>
          <p:grpSpPr>
            <a:xfrm>
              <a:off x="4154770" y="1523092"/>
              <a:ext cx="3657269" cy="4089334"/>
              <a:chOff x="4154770" y="1523092"/>
              <a:chExt cx="3657269" cy="4089334"/>
            </a:xfrm>
          </p:grpSpPr>
          <p:sp>
            <p:nvSpPr>
              <p:cNvPr id="14" name="Rechteck 54">
                <a:extLst>
                  <a:ext uri="{FF2B5EF4-FFF2-40B4-BE49-F238E27FC236}">
                    <a16:creationId xmlns:a16="http://schemas.microsoft.com/office/drawing/2014/main" id="{3D6A41AE-49DF-B3A5-B25A-942FE82A13C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54770" y="2496855"/>
                <a:ext cx="3563744" cy="158027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cap="all" spc="100">
                    <a:solidFill>
                      <a:schemeClr val="accent5"/>
                    </a:solidFill>
                  </a:rPr>
                  <a:t>IMAGE</a:t>
                </a:r>
              </a:p>
            </p:txBody>
          </p:sp>
          <p:sp>
            <p:nvSpPr>
              <p:cNvPr id="20" name="Inhaltsplatzhalter 2">
                <a:extLst>
                  <a:ext uri="{FF2B5EF4-FFF2-40B4-BE49-F238E27FC236}">
                    <a16:creationId xmlns:a16="http://schemas.microsoft.com/office/drawing/2014/main" id="{44AEC338-DA13-8B7F-9021-2039CE822D2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69362" y="4889151"/>
                <a:ext cx="3563744" cy="723275"/>
              </a:xfrm>
              <a:prstGeom prst="rect">
                <a:avLst/>
              </a:prstGeom>
            </p:spPr>
            <p:txBody>
              <a:bodyPr lIns="0" tIns="0" rIns="0" bIns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66725" indent="-22225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20725" indent="-217488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3pPr>
                <a:lvl4pPr marL="900113" indent="-193675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defRPr>
                </a:lvl4pPr>
                <a:lvl5pPr marL="1136650" indent="-185738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600"/>
                  </a:spcBef>
                </a:pPr>
                <a:r>
                  <a:rPr lang="en-US" sz="1400" dirty="0"/>
                  <a:t>Tomahawk 4: 1</a:t>
                </a:r>
                <a:r>
                  <a:rPr lang="en-US" sz="1400" baseline="30000" dirty="0"/>
                  <a:t>st</a:t>
                </a:r>
                <a:r>
                  <a:rPr lang="en-US" sz="1400" dirty="0"/>
                  <a:t> CPO switch chip;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altLang="zh-CN" sz="1400" dirty="0"/>
                  <a:t>Tomahawk 6: fastest CPO switch chip, announced in April.</a:t>
                </a:r>
                <a:endParaRPr lang="en-US" sz="1400" dirty="0"/>
              </a:p>
            </p:txBody>
          </p:sp>
          <p:pic>
            <p:nvPicPr>
              <p:cNvPr id="24" name="图片 23">
                <a:extLst>
                  <a:ext uri="{FF2B5EF4-FFF2-40B4-BE49-F238E27FC236}">
                    <a16:creationId xmlns:a16="http://schemas.microsoft.com/office/drawing/2014/main" id="{CBBA7B24-CECB-4D5E-2109-668B333CB5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248296" y="1523092"/>
                <a:ext cx="312632" cy="300127"/>
              </a:xfrm>
              <a:prstGeom prst="rect">
                <a:avLst/>
              </a:prstGeom>
            </p:spPr>
          </p:pic>
          <p:pic>
            <p:nvPicPr>
              <p:cNvPr id="25" name="图片 24">
                <a:extLst>
                  <a:ext uri="{FF2B5EF4-FFF2-40B4-BE49-F238E27FC236}">
                    <a16:creationId xmlns:a16="http://schemas.microsoft.com/office/drawing/2014/main" id="{16E62E3A-EFCC-484A-7059-19CC0144FB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637992" y="1610438"/>
                <a:ext cx="861094" cy="125435"/>
              </a:xfrm>
              <a:prstGeom prst="rect">
                <a:avLst/>
              </a:prstGeom>
            </p:spPr>
          </p:pic>
          <p:sp>
            <p:nvSpPr>
              <p:cNvPr id="31" name="Textplatzhalter 9">
                <a:extLst>
                  <a:ext uri="{FF2B5EF4-FFF2-40B4-BE49-F238E27FC236}">
                    <a16:creationId xmlns:a16="http://schemas.microsoft.com/office/drawing/2014/main" id="{C5A4A542-2958-433B-B7FD-8AE91883B95C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4248295" y="1929720"/>
                <a:ext cx="3563744" cy="184666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vert="horz" wrap="square" lIns="0" tIns="0" rIns="0" bIns="0" rtlCol="0">
                <a:spAutoFit/>
              </a:bodyPr>
              <a:lstStyle>
                <a:lvl1pPr marL="0" indent="0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1pPr>
                <a:lvl2pPr marL="180975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2pPr>
                <a:lvl3pPr marL="36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3pPr>
                <a:lvl4pPr marL="541338" indent="-179388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4pPr>
                <a:lvl5pPr marL="72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0"/>
                  </a:spcBef>
                  <a:buClr>
                    <a:srgbClr val="000000"/>
                  </a:buClr>
                </a:pPr>
                <a:r>
                  <a:rPr lang="en-US" altLang="zh-CN" b="1" dirty="0"/>
                  <a:t>Accelerates CPO ecosystem adoption</a:t>
                </a:r>
                <a:endParaRPr lang="en-US" sz="1400" dirty="0">
                  <a:solidFill>
                    <a:srgbClr val="0052D9"/>
                  </a:solidFill>
                </a:endParaRPr>
              </a:p>
            </p:txBody>
          </p:sp>
          <p:pic>
            <p:nvPicPr>
              <p:cNvPr id="33" name="图片 32" descr="男人戴着眼镜&#10;&#10;AI 生成的内容可能不正确。">
                <a:extLst>
                  <a:ext uri="{FF2B5EF4-FFF2-40B4-BE49-F238E27FC236}">
                    <a16:creationId xmlns:a16="http://schemas.microsoft.com/office/drawing/2014/main" id="{519DC953-2C84-BF8C-246B-B569654A26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497" t="4454" r="24533" b="12287"/>
              <a:stretch/>
            </p:blipFill>
            <p:spPr>
              <a:xfrm>
                <a:off x="4248295" y="2510615"/>
                <a:ext cx="3141178" cy="189275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178307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36C85-D235-2003-B9C0-052A98ADC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IsoscelesTriangle 22">
            <a:extLst>
              <a:ext uri="{FF2B5EF4-FFF2-40B4-BE49-F238E27FC236}">
                <a16:creationId xmlns:a16="http://schemas.microsoft.com/office/drawing/2014/main" id="{16C88260-A0BD-A503-4565-BB80C6C113B5}"/>
              </a:ext>
            </a:extLst>
          </p:cNvPr>
          <p:cNvSpPr/>
          <p:nvPr/>
        </p:nvSpPr>
        <p:spPr>
          <a:xfrm>
            <a:off x="4122597" y="2337424"/>
            <a:ext cx="3946806" cy="3402419"/>
          </a:xfrm>
          <a:prstGeom prst="triangle">
            <a:avLst/>
          </a:prstGeom>
          <a:solidFill>
            <a:srgbClr val="F2F2F2"/>
          </a:solidFill>
          <a:ln w="381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/>
            <a:endParaRPr lang="zh-CN" altLang="en-US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5C0F53BD-CF13-09D7-CD70-30CD58C3C89C}"/>
              </a:ext>
            </a:extLst>
          </p:cNvPr>
          <p:cNvGrpSpPr/>
          <p:nvPr/>
        </p:nvGrpSpPr>
        <p:grpSpPr>
          <a:xfrm>
            <a:off x="1525684" y="1686290"/>
            <a:ext cx="4001871" cy="1366256"/>
            <a:chOff x="248972" y="4321548"/>
            <a:chExt cx="4001871" cy="1366256"/>
          </a:xfrm>
        </p:grpSpPr>
        <p:sp>
          <p:nvSpPr>
            <p:cNvPr id="42" name="Bullet2">
              <a:extLst>
                <a:ext uri="{FF2B5EF4-FFF2-40B4-BE49-F238E27FC236}">
                  <a16:creationId xmlns:a16="http://schemas.microsoft.com/office/drawing/2014/main" id="{AD7E5E9D-5BB8-E5F7-B5D6-8BDBDE8FCCB6}"/>
                </a:ext>
              </a:extLst>
            </p:cNvPr>
            <p:cNvSpPr>
              <a:spLocks/>
            </p:cNvSpPr>
            <p:nvPr/>
          </p:nvSpPr>
          <p:spPr>
            <a:xfrm flipH="1">
              <a:off x="692753" y="4321548"/>
              <a:ext cx="2934444" cy="5495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b" anchorCtr="0">
              <a:normAutofit/>
            </a:bodyPr>
            <a:lstStyle/>
            <a:p>
              <a:pPr algn="r"/>
              <a:r>
                <a:rPr kumimoji="1" lang="en-US" altLang="zh-CN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Speed</a:t>
              </a:r>
              <a:endParaRPr lang="en-US" altLang="zh-CN" b="1" dirty="0">
                <a:cs typeface="Arial" panose="020B0604020202020204" pitchFamily="34" charset="0"/>
              </a:endParaRPr>
            </a:p>
          </p:txBody>
        </p:sp>
        <p:sp>
          <p:nvSpPr>
            <p:cNvPr id="43" name="Text2">
              <a:extLst>
                <a:ext uri="{FF2B5EF4-FFF2-40B4-BE49-F238E27FC236}">
                  <a16:creationId xmlns:a16="http://schemas.microsoft.com/office/drawing/2014/main" id="{0B1BFAA2-8A23-4D8A-51B5-EAC207FF8428}"/>
                </a:ext>
              </a:extLst>
            </p:cNvPr>
            <p:cNvSpPr>
              <a:spLocks/>
            </p:cNvSpPr>
            <p:nvPr/>
          </p:nvSpPr>
          <p:spPr>
            <a:xfrm flipH="1">
              <a:off x="248972" y="4879942"/>
              <a:ext cx="3378225" cy="8078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normAutofit/>
            </a:bodyPr>
            <a:lstStyle/>
            <a:p>
              <a:pPr algn="r"/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</a:rPr>
                <a:t>Low power + extended distance requires reduced data rates or bandwidth.</a:t>
              </a:r>
            </a:p>
          </p:txBody>
        </p:sp>
        <p:sp>
          <p:nvSpPr>
            <p:cNvPr id="41" name="Number2">
              <a:extLst>
                <a:ext uri="{FF2B5EF4-FFF2-40B4-BE49-F238E27FC236}">
                  <a16:creationId xmlns:a16="http://schemas.microsoft.com/office/drawing/2014/main" id="{88D41197-0323-1967-31F4-7F86FD4170ED}"/>
                </a:ext>
              </a:extLst>
            </p:cNvPr>
            <p:cNvSpPr txBox="1">
              <a:spLocks noChangeAspect="1"/>
            </p:cNvSpPr>
            <p:nvPr/>
          </p:nvSpPr>
          <p:spPr>
            <a:xfrm flipH="1">
              <a:off x="3710843" y="4509933"/>
              <a:ext cx="540000" cy="540000"/>
            </a:xfrm>
            <a:prstGeom prst="roundRect">
              <a:avLst>
                <a:gd name="adj" fmla="val 50000"/>
              </a:avLst>
            </a:prstGeom>
            <a:solidFill>
              <a:srgbClr val="0052D9"/>
            </a:solidFill>
            <a:ln w="12700" cap="flat">
              <a:noFill/>
              <a:prstDash val="solid"/>
              <a:miter/>
            </a:ln>
            <a:effectLst>
              <a:outerShdw blurRad="127000" dist="63500" dir="2700000" algn="tl" rotWithShape="0">
                <a:schemeClr val="accent1">
                  <a:alpha val="40000"/>
                </a:schemeClr>
              </a:outerShdw>
            </a:effectLst>
          </p:spPr>
          <p:txBody>
            <a:bodyPr wrap="none" rtlCol="0" anchor="ctr"/>
            <a:lstStyle>
              <a:defPPr>
                <a:defRPr lang="zh-CN"/>
              </a:defPPr>
              <a:lvl1pPr algn="ctr">
                <a:defRPr b="1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dirty="0">
                  <a:latin typeface="+mn-lt"/>
                  <a:ea typeface="+mn-ea"/>
                  <a:sym typeface="Arial" panose="020B0604020202020204" pitchFamily="34" charset="0"/>
                </a:rPr>
                <a:t>1</a:t>
              </a:r>
              <a:endParaRPr lang="zh-CN" altLang="en-US" dirty="0">
                <a:latin typeface="+mn-lt"/>
                <a:ea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A9B9F577-638B-7FAE-9CD2-4143C9451290}"/>
              </a:ext>
            </a:extLst>
          </p:cNvPr>
          <p:cNvGrpSpPr/>
          <p:nvPr/>
        </p:nvGrpSpPr>
        <p:grpSpPr>
          <a:xfrm>
            <a:off x="8202929" y="4727558"/>
            <a:ext cx="3558090" cy="1366256"/>
            <a:chOff x="7960810" y="4321548"/>
            <a:chExt cx="3558090" cy="1366256"/>
          </a:xfrm>
        </p:grpSpPr>
        <p:sp>
          <p:nvSpPr>
            <p:cNvPr id="37" name="Bullet3">
              <a:extLst>
                <a:ext uri="{FF2B5EF4-FFF2-40B4-BE49-F238E27FC236}">
                  <a16:creationId xmlns:a16="http://schemas.microsoft.com/office/drawing/2014/main" id="{5EB07114-1B64-7AB3-881D-2F910A3D00A4}"/>
                </a:ext>
              </a:extLst>
            </p:cNvPr>
            <p:cNvSpPr>
              <a:spLocks/>
            </p:cNvSpPr>
            <p:nvPr/>
          </p:nvSpPr>
          <p:spPr>
            <a:xfrm>
              <a:off x="8584456" y="4321548"/>
              <a:ext cx="2934444" cy="5495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b" anchorCtr="0">
              <a:normAutofit/>
            </a:bodyPr>
            <a:lstStyle/>
            <a:p>
              <a:r>
                <a:rPr kumimoji="1" lang="en-US" altLang="zh-CN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Power</a:t>
              </a:r>
              <a:endParaRPr lang="en-US" altLang="zh-CN" b="1" dirty="0">
                <a:cs typeface="Arial" panose="020B0604020202020204" pitchFamily="34" charset="0"/>
              </a:endParaRPr>
            </a:p>
          </p:txBody>
        </p:sp>
        <p:sp>
          <p:nvSpPr>
            <p:cNvPr id="38" name="Text3">
              <a:extLst>
                <a:ext uri="{FF2B5EF4-FFF2-40B4-BE49-F238E27FC236}">
                  <a16:creationId xmlns:a16="http://schemas.microsoft.com/office/drawing/2014/main" id="{B0D4B49A-57E2-9478-02C9-086D3221DF1E}"/>
                </a:ext>
              </a:extLst>
            </p:cNvPr>
            <p:cNvSpPr>
              <a:spLocks/>
            </p:cNvSpPr>
            <p:nvPr/>
          </p:nvSpPr>
          <p:spPr>
            <a:xfrm>
              <a:off x="8584456" y="4879942"/>
              <a:ext cx="2934444" cy="8078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normAutofit lnSpcReduction="10000"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</a:rPr>
                <a:t>Long-distance suffers signal attenuation, requiring power compensation.</a:t>
              </a:r>
            </a:p>
            <a:p>
              <a:pPr>
                <a:lnSpc>
                  <a:spcPct val="120000"/>
                </a:lnSpc>
              </a:pPr>
              <a:endParaRPr lang="en-US" altLang="zh-CN" sz="1400" dirty="0">
                <a:solidFill>
                  <a:schemeClr val="bg1">
                    <a:lumMod val="50000"/>
                  </a:schemeClr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36" name="Number3">
              <a:extLst>
                <a:ext uri="{FF2B5EF4-FFF2-40B4-BE49-F238E27FC236}">
                  <a16:creationId xmlns:a16="http://schemas.microsoft.com/office/drawing/2014/main" id="{92787A42-58EB-D724-89E3-05CC3AC7C96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960810" y="4509933"/>
              <a:ext cx="540000" cy="540000"/>
            </a:xfrm>
            <a:prstGeom prst="roundRect">
              <a:avLst>
                <a:gd name="adj" fmla="val 50000"/>
              </a:avLst>
            </a:prstGeom>
            <a:solidFill>
              <a:srgbClr val="0052D9"/>
            </a:solidFill>
            <a:ln w="12700" cap="flat">
              <a:noFill/>
              <a:prstDash val="solid"/>
              <a:miter/>
            </a:ln>
            <a:effectLst>
              <a:outerShdw blurRad="127000" dist="63500" dir="2700000" algn="tl" rotWithShape="0">
                <a:schemeClr val="accent1">
                  <a:alpha val="40000"/>
                </a:schemeClr>
              </a:outerShdw>
            </a:effectLst>
          </p:spPr>
          <p:txBody>
            <a:bodyPr wrap="none" rtlCol="0" anchor="ctr"/>
            <a:lstStyle>
              <a:defPPr>
                <a:defRPr lang="zh-CN"/>
              </a:defPPr>
              <a:lvl1pPr algn="ctr">
                <a:defRPr b="1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dirty="0">
                  <a:latin typeface="+mn-lt"/>
                  <a:ea typeface="+mn-ea"/>
                  <a:sym typeface="Arial" panose="020B0604020202020204" pitchFamily="34" charset="0"/>
                </a:rPr>
                <a:t>3</a:t>
              </a:r>
              <a:endParaRPr lang="zh-CN" altLang="en-US" dirty="0">
                <a:latin typeface="+mn-lt"/>
                <a:ea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F26B064E-A8D5-ADA9-9FFF-52D5812066E7}"/>
              </a:ext>
            </a:extLst>
          </p:cNvPr>
          <p:cNvSpPr txBox="1">
            <a:spLocks/>
          </p:cNvSpPr>
          <p:nvPr/>
        </p:nvSpPr>
        <p:spPr>
          <a:xfrm>
            <a:off x="182120" y="262654"/>
            <a:ext cx="11371652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Communication trade-off triangle in IDCs: speed, distance, and power</a:t>
            </a:r>
          </a:p>
        </p:txBody>
      </p:sp>
      <p:sp>
        <p:nvSpPr>
          <p:cNvPr id="5" name="time-passing_150431">
            <a:extLst>
              <a:ext uri="{FF2B5EF4-FFF2-40B4-BE49-F238E27FC236}">
                <a16:creationId xmlns:a16="http://schemas.microsoft.com/office/drawing/2014/main" id="{AD10E905-E0B2-C284-C15C-14DD0D807A47}"/>
              </a:ext>
            </a:extLst>
          </p:cNvPr>
          <p:cNvSpPr/>
          <p:nvPr/>
        </p:nvSpPr>
        <p:spPr>
          <a:xfrm>
            <a:off x="5916067" y="2939059"/>
            <a:ext cx="359863" cy="359321"/>
          </a:xfrm>
          <a:custGeom>
            <a:avLst/>
            <a:gdLst>
              <a:gd name="connsiteX0" fmla="*/ 304595 w 609191"/>
              <a:gd name="connsiteY0" fmla="*/ 113046 h 608274"/>
              <a:gd name="connsiteX1" fmla="*/ 304595 w 609191"/>
              <a:gd name="connsiteY1" fmla="*/ 304137 h 608274"/>
              <a:gd name="connsiteX2" fmla="*/ 495933 w 609191"/>
              <a:gd name="connsiteY2" fmla="*/ 304137 h 608274"/>
              <a:gd name="connsiteX3" fmla="*/ 304595 w 609191"/>
              <a:gd name="connsiteY3" fmla="*/ 495228 h 608274"/>
              <a:gd name="connsiteX4" fmla="*/ 113257 w 609191"/>
              <a:gd name="connsiteY4" fmla="*/ 304137 h 608274"/>
              <a:gd name="connsiteX5" fmla="*/ 304595 w 609191"/>
              <a:gd name="connsiteY5" fmla="*/ 113046 h 608274"/>
              <a:gd name="connsiteX6" fmla="*/ 304596 w 609191"/>
              <a:gd name="connsiteY6" fmla="*/ 0 h 608274"/>
              <a:gd name="connsiteX7" fmla="*/ 496064 w 609191"/>
              <a:gd name="connsiteY7" fmla="*/ 67552 h 608274"/>
              <a:gd name="connsiteX8" fmla="*/ 530950 w 609191"/>
              <a:gd name="connsiteY8" fmla="*/ 32820 h 608274"/>
              <a:gd name="connsiteX9" fmla="*/ 548998 w 609191"/>
              <a:gd name="connsiteY9" fmla="*/ 29196 h 608274"/>
              <a:gd name="connsiteX10" fmla="*/ 559282 w 609191"/>
              <a:gd name="connsiteY10" fmla="*/ 44498 h 608274"/>
              <a:gd name="connsiteX11" fmla="*/ 559282 w 609191"/>
              <a:gd name="connsiteY11" fmla="*/ 165106 h 608274"/>
              <a:gd name="connsiteX12" fmla="*/ 542646 w 609191"/>
              <a:gd name="connsiteY12" fmla="*/ 181616 h 608274"/>
              <a:gd name="connsiteX13" fmla="*/ 421957 w 609191"/>
              <a:gd name="connsiteY13" fmla="*/ 181616 h 608274"/>
              <a:gd name="connsiteX14" fmla="*/ 406632 w 609191"/>
              <a:gd name="connsiteY14" fmla="*/ 171448 h 608274"/>
              <a:gd name="connsiteX15" fmla="*/ 410261 w 609191"/>
              <a:gd name="connsiteY15" fmla="*/ 153327 h 608274"/>
              <a:gd name="connsiteX16" fmla="*/ 450491 w 609191"/>
              <a:gd name="connsiteY16" fmla="*/ 113158 h 608274"/>
              <a:gd name="connsiteX17" fmla="*/ 423268 w 609191"/>
              <a:gd name="connsiteY17" fmla="*/ 95137 h 608274"/>
              <a:gd name="connsiteX18" fmla="*/ 423167 w 609191"/>
              <a:gd name="connsiteY18" fmla="*/ 95238 h 608274"/>
              <a:gd name="connsiteX19" fmla="*/ 304596 w 609191"/>
              <a:gd name="connsiteY19" fmla="*/ 63928 h 608274"/>
              <a:gd name="connsiteX20" fmla="*/ 64024 w 609191"/>
              <a:gd name="connsiteY20" fmla="*/ 304137 h 608274"/>
              <a:gd name="connsiteX21" fmla="*/ 304596 w 609191"/>
              <a:gd name="connsiteY21" fmla="*/ 544346 h 608274"/>
              <a:gd name="connsiteX22" fmla="*/ 545167 w 609191"/>
              <a:gd name="connsiteY22" fmla="*/ 304137 h 608274"/>
              <a:gd name="connsiteX23" fmla="*/ 527421 w 609191"/>
              <a:gd name="connsiteY23" fmla="*/ 213631 h 608274"/>
              <a:gd name="connsiteX24" fmla="*/ 542646 w 609191"/>
              <a:gd name="connsiteY24" fmla="*/ 213631 h 608274"/>
              <a:gd name="connsiteX25" fmla="*/ 585799 w 609191"/>
              <a:gd name="connsiteY25" fmla="*/ 187355 h 608274"/>
              <a:gd name="connsiteX26" fmla="*/ 609191 w 609191"/>
              <a:gd name="connsiteY26" fmla="*/ 304137 h 608274"/>
              <a:gd name="connsiteX27" fmla="*/ 304596 w 609191"/>
              <a:gd name="connsiteY27" fmla="*/ 608274 h 608274"/>
              <a:gd name="connsiteX28" fmla="*/ 0 w 609191"/>
              <a:gd name="connsiteY28" fmla="*/ 304137 h 608274"/>
              <a:gd name="connsiteX29" fmla="*/ 304596 w 609191"/>
              <a:gd name="connsiteY29" fmla="*/ 0 h 608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09191" h="608274">
                <a:moveTo>
                  <a:pt x="304595" y="113046"/>
                </a:moveTo>
                <a:lnTo>
                  <a:pt x="304595" y="304137"/>
                </a:lnTo>
                <a:lnTo>
                  <a:pt x="495933" y="304137"/>
                </a:lnTo>
                <a:cubicBezTo>
                  <a:pt x="495933" y="409650"/>
                  <a:pt x="410244" y="495228"/>
                  <a:pt x="304595" y="495228"/>
                </a:cubicBezTo>
                <a:cubicBezTo>
                  <a:pt x="198946" y="495228"/>
                  <a:pt x="113257" y="409650"/>
                  <a:pt x="113257" y="304137"/>
                </a:cubicBezTo>
                <a:cubicBezTo>
                  <a:pt x="113257" y="198624"/>
                  <a:pt x="198946" y="113046"/>
                  <a:pt x="304595" y="113046"/>
                </a:cubicBezTo>
                <a:close/>
                <a:moveTo>
                  <a:pt x="304596" y="0"/>
                </a:moveTo>
                <a:cubicBezTo>
                  <a:pt x="372754" y="0"/>
                  <a:pt x="440610" y="22752"/>
                  <a:pt x="496064" y="67552"/>
                </a:cubicBezTo>
                <a:lnTo>
                  <a:pt x="530950" y="32820"/>
                </a:lnTo>
                <a:cubicBezTo>
                  <a:pt x="535689" y="28088"/>
                  <a:pt x="542848" y="26679"/>
                  <a:pt x="548998" y="29196"/>
                </a:cubicBezTo>
                <a:cubicBezTo>
                  <a:pt x="555249" y="31712"/>
                  <a:pt x="559282" y="37753"/>
                  <a:pt x="559282" y="44498"/>
                </a:cubicBezTo>
                <a:lnTo>
                  <a:pt x="559282" y="165106"/>
                </a:lnTo>
                <a:cubicBezTo>
                  <a:pt x="559282" y="174167"/>
                  <a:pt x="551821" y="181616"/>
                  <a:pt x="542646" y="181616"/>
                </a:cubicBezTo>
                <a:lnTo>
                  <a:pt x="421957" y="181616"/>
                </a:lnTo>
                <a:cubicBezTo>
                  <a:pt x="415202" y="181616"/>
                  <a:pt x="409152" y="177589"/>
                  <a:pt x="406632" y="171448"/>
                </a:cubicBezTo>
                <a:cubicBezTo>
                  <a:pt x="404010" y="165207"/>
                  <a:pt x="405522" y="158059"/>
                  <a:pt x="410261" y="153327"/>
                </a:cubicBezTo>
                <a:lnTo>
                  <a:pt x="450491" y="113158"/>
                </a:lnTo>
                <a:cubicBezTo>
                  <a:pt x="441820" y="106513"/>
                  <a:pt x="432745" y="100473"/>
                  <a:pt x="423268" y="95137"/>
                </a:cubicBezTo>
                <a:lnTo>
                  <a:pt x="423167" y="95238"/>
                </a:lnTo>
                <a:cubicBezTo>
                  <a:pt x="387475" y="74902"/>
                  <a:pt x="346943" y="63928"/>
                  <a:pt x="304596" y="63928"/>
                </a:cubicBezTo>
                <a:cubicBezTo>
                  <a:pt x="172009" y="63928"/>
                  <a:pt x="64024" y="171750"/>
                  <a:pt x="64024" y="304137"/>
                </a:cubicBezTo>
                <a:cubicBezTo>
                  <a:pt x="64024" y="436624"/>
                  <a:pt x="172009" y="544346"/>
                  <a:pt x="304596" y="544346"/>
                </a:cubicBezTo>
                <a:cubicBezTo>
                  <a:pt x="437283" y="544346"/>
                  <a:pt x="545167" y="436624"/>
                  <a:pt x="545167" y="304137"/>
                </a:cubicBezTo>
                <a:cubicBezTo>
                  <a:pt x="545167" y="272123"/>
                  <a:pt x="538815" y="241518"/>
                  <a:pt x="527421" y="213631"/>
                </a:cubicBezTo>
                <a:lnTo>
                  <a:pt x="542646" y="213631"/>
                </a:lnTo>
                <a:cubicBezTo>
                  <a:pt x="561400" y="213631"/>
                  <a:pt x="577733" y="202959"/>
                  <a:pt x="585799" y="187355"/>
                </a:cubicBezTo>
                <a:cubicBezTo>
                  <a:pt x="600923" y="223296"/>
                  <a:pt x="609191" y="262760"/>
                  <a:pt x="609191" y="304137"/>
                </a:cubicBezTo>
                <a:cubicBezTo>
                  <a:pt x="609191" y="471860"/>
                  <a:pt x="472572" y="608274"/>
                  <a:pt x="304596" y="608274"/>
                </a:cubicBezTo>
                <a:cubicBezTo>
                  <a:pt x="136619" y="608274"/>
                  <a:pt x="0" y="471860"/>
                  <a:pt x="0" y="304137"/>
                </a:cubicBezTo>
                <a:cubicBezTo>
                  <a:pt x="0" y="136414"/>
                  <a:pt x="136619" y="0"/>
                  <a:pt x="304596" y="0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ouble-diagonal-arrow_57071">
            <a:extLst>
              <a:ext uri="{FF2B5EF4-FFF2-40B4-BE49-F238E27FC236}">
                <a16:creationId xmlns:a16="http://schemas.microsoft.com/office/drawing/2014/main" id="{8A9D0D0C-9ED6-6361-321F-BA8D01085337}"/>
              </a:ext>
            </a:extLst>
          </p:cNvPr>
          <p:cNvSpPr/>
          <p:nvPr/>
        </p:nvSpPr>
        <p:spPr>
          <a:xfrm>
            <a:off x="7204542" y="5241064"/>
            <a:ext cx="274160" cy="273778"/>
          </a:xfrm>
          <a:custGeom>
            <a:avLst/>
            <a:gdLst>
              <a:gd name="T0" fmla="*/ 1333 w 12856"/>
              <a:gd name="T1" fmla="*/ 7083 h 12856"/>
              <a:gd name="T2" fmla="*/ 2667 w 12856"/>
              <a:gd name="T3" fmla="*/ 5749 h 12856"/>
              <a:gd name="T4" fmla="*/ 2667 w 12856"/>
              <a:gd name="T5" fmla="*/ 4552 h 12856"/>
              <a:gd name="T6" fmla="*/ 8304 w 12856"/>
              <a:gd name="T7" fmla="*/ 10189 h 12856"/>
              <a:gd name="T8" fmla="*/ 7107 w 12856"/>
              <a:gd name="T9" fmla="*/ 10189 h 12856"/>
              <a:gd name="T10" fmla="*/ 5773 w 12856"/>
              <a:gd name="T11" fmla="*/ 11523 h 12856"/>
              <a:gd name="T12" fmla="*/ 7107 w 12856"/>
              <a:gd name="T13" fmla="*/ 12856 h 12856"/>
              <a:gd name="T14" fmla="*/ 11523 w 12856"/>
              <a:gd name="T15" fmla="*/ 12856 h 12856"/>
              <a:gd name="T16" fmla="*/ 12415 w 12856"/>
              <a:gd name="T17" fmla="*/ 12513 h 12856"/>
              <a:gd name="T18" fmla="*/ 12591 w 12856"/>
              <a:gd name="T19" fmla="*/ 12321 h 12856"/>
              <a:gd name="T20" fmla="*/ 12591 w 12856"/>
              <a:gd name="T21" fmla="*/ 12321 h 12856"/>
              <a:gd name="T22" fmla="*/ 12856 w 12856"/>
              <a:gd name="T23" fmla="*/ 11528 h 12856"/>
              <a:gd name="T24" fmla="*/ 12856 w 12856"/>
              <a:gd name="T25" fmla="*/ 11524 h 12856"/>
              <a:gd name="T26" fmla="*/ 12856 w 12856"/>
              <a:gd name="T27" fmla="*/ 7199 h 12856"/>
              <a:gd name="T28" fmla="*/ 11523 w 12856"/>
              <a:gd name="T29" fmla="*/ 5865 h 12856"/>
              <a:gd name="T30" fmla="*/ 10189 w 12856"/>
              <a:gd name="T31" fmla="*/ 7199 h 12856"/>
              <a:gd name="T32" fmla="*/ 10189 w 12856"/>
              <a:gd name="T33" fmla="*/ 8304 h 12856"/>
              <a:gd name="T34" fmla="*/ 4552 w 12856"/>
              <a:gd name="T35" fmla="*/ 2667 h 12856"/>
              <a:gd name="T36" fmla="*/ 5656 w 12856"/>
              <a:gd name="T37" fmla="*/ 2667 h 12856"/>
              <a:gd name="T38" fmla="*/ 6989 w 12856"/>
              <a:gd name="T39" fmla="*/ 1333 h 12856"/>
              <a:gd name="T40" fmla="*/ 5656 w 12856"/>
              <a:gd name="T41" fmla="*/ 0 h 12856"/>
              <a:gd name="T42" fmla="*/ 1333 w 12856"/>
              <a:gd name="T43" fmla="*/ 0 h 12856"/>
              <a:gd name="T44" fmla="*/ 1331 w 12856"/>
              <a:gd name="T45" fmla="*/ 0 h 12856"/>
              <a:gd name="T46" fmla="*/ 803 w 12856"/>
              <a:gd name="T47" fmla="*/ 109 h 12856"/>
              <a:gd name="T48" fmla="*/ 353 w 12856"/>
              <a:gd name="T49" fmla="*/ 428 h 12856"/>
              <a:gd name="T50" fmla="*/ 255 w 12856"/>
              <a:gd name="T51" fmla="*/ 548 h 12856"/>
              <a:gd name="T52" fmla="*/ 160 w 12856"/>
              <a:gd name="T53" fmla="*/ 697 h 12856"/>
              <a:gd name="T54" fmla="*/ 160 w 12856"/>
              <a:gd name="T55" fmla="*/ 699 h 12856"/>
              <a:gd name="T56" fmla="*/ 12 w 12856"/>
              <a:gd name="T57" fmla="*/ 1155 h 12856"/>
              <a:gd name="T58" fmla="*/ 0 w 12856"/>
              <a:gd name="T59" fmla="*/ 1329 h 12856"/>
              <a:gd name="T60" fmla="*/ 0 w 12856"/>
              <a:gd name="T61" fmla="*/ 1333 h 12856"/>
              <a:gd name="T62" fmla="*/ 0 w 12856"/>
              <a:gd name="T63" fmla="*/ 5749 h 12856"/>
              <a:gd name="T64" fmla="*/ 1333 w 12856"/>
              <a:gd name="T65" fmla="*/ 7083 h 128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2856" h="12856">
                <a:moveTo>
                  <a:pt x="1333" y="7083"/>
                </a:moveTo>
                <a:cubicBezTo>
                  <a:pt x="2069" y="7083"/>
                  <a:pt x="2667" y="6485"/>
                  <a:pt x="2667" y="5749"/>
                </a:cubicBezTo>
                <a:lnTo>
                  <a:pt x="2667" y="4552"/>
                </a:lnTo>
                <a:lnTo>
                  <a:pt x="8304" y="10189"/>
                </a:lnTo>
                <a:lnTo>
                  <a:pt x="7107" y="10189"/>
                </a:lnTo>
                <a:cubicBezTo>
                  <a:pt x="6371" y="10189"/>
                  <a:pt x="5773" y="10787"/>
                  <a:pt x="5773" y="11523"/>
                </a:cubicBezTo>
                <a:cubicBezTo>
                  <a:pt x="5773" y="12259"/>
                  <a:pt x="6371" y="12856"/>
                  <a:pt x="7107" y="12856"/>
                </a:cubicBezTo>
                <a:lnTo>
                  <a:pt x="11523" y="12856"/>
                </a:lnTo>
                <a:cubicBezTo>
                  <a:pt x="11852" y="12856"/>
                  <a:pt x="12169" y="12731"/>
                  <a:pt x="12415" y="12513"/>
                </a:cubicBezTo>
                <a:cubicBezTo>
                  <a:pt x="12480" y="12456"/>
                  <a:pt x="12539" y="12391"/>
                  <a:pt x="12591" y="12321"/>
                </a:cubicBezTo>
                <a:lnTo>
                  <a:pt x="12591" y="12321"/>
                </a:lnTo>
                <a:cubicBezTo>
                  <a:pt x="12761" y="12093"/>
                  <a:pt x="12855" y="11813"/>
                  <a:pt x="12856" y="11528"/>
                </a:cubicBezTo>
                <a:lnTo>
                  <a:pt x="12856" y="11524"/>
                </a:lnTo>
                <a:lnTo>
                  <a:pt x="12856" y="7199"/>
                </a:lnTo>
                <a:cubicBezTo>
                  <a:pt x="12856" y="6463"/>
                  <a:pt x="12259" y="5865"/>
                  <a:pt x="11523" y="5865"/>
                </a:cubicBezTo>
                <a:cubicBezTo>
                  <a:pt x="10787" y="5865"/>
                  <a:pt x="10189" y="6463"/>
                  <a:pt x="10189" y="7199"/>
                </a:cubicBezTo>
                <a:lnTo>
                  <a:pt x="10189" y="8304"/>
                </a:lnTo>
                <a:lnTo>
                  <a:pt x="4552" y="2667"/>
                </a:lnTo>
                <a:lnTo>
                  <a:pt x="5656" y="2667"/>
                </a:lnTo>
                <a:cubicBezTo>
                  <a:pt x="6392" y="2667"/>
                  <a:pt x="6989" y="2069"/>
                  <a:pt x="6989" y="1333"/>
                </a:cubicBezTo>
                <a:cubicBezTo>
                  <a:pt x="6989" y="597"/>
                  <a:pt x="6392" y="0"/>
                  <a:pt x="5656" y="0"/>
                </a:cubicBezTo>
                <a:lnTo>
                  <a:pt x="1333" y="0"/>
                </a:lnTo>
                <a:lnTo>
                  <a:pt x="1331" y="0"/>
                </a:lnTo>
                <a:cubicBezTo>
                  <a:pt x="1151" y="1"/>
                  <a:pt x="969" y="37"/>
                  <a:pt x="803" y="109"/>
                </a:cubicBezTo>
                <a:cubicBezTo>
                  <a:pt x="633" y="184"/>
                  <a:pt x="480" y="292"/>
                  <a:pt x="353" y="428"/>
                </a:cubicBezTo>
                <a:cubicBezTo>
                  <a:pt x="317" y="467"/>
                  <a:pt x="285" y="507"/>
                  <a:pt x="255" y="548"/>
                </a:cubicBezTo>
                <a:cubicBezTo>
                  <a:pt x="220" y="596"/>
                  <a:pt x="188" y="645"/>
                  <a:pt x="160" y="697"/>
                </a:cubicBezTo>
                <a:lnTo>
                  <a:pt x="160" y="699"/>
                </a:lnTo>
                <a:cubicBezTo>
                  <a:pt x="83" y="839"/>
                  <a:pt x="32" y="995"/>
                  <a:pt x="12" y="1155"/>
                </a:cubicBezTo>
                <a:cubicBezTo>
                  <a:pt x="4" y="1213"/>
                  <a:pt x="0" y="1271"/>
                  <a:pt x="0" y="1329"/>
                </a:cubicBezTo>
                <a:lnTo>
                  <a:pt x="0" y="1333"/>
                </a:lnTo>
                <a:lnTo>
                  <a:pt x="0" y="5749"/>
                </a:lnTo>
                <a:cubicBezTo>
                  <a:pt x="0" y="6485"/>
                  <a:pt x="597" y="7083"/>
                  <a:pt x="1333" y="7083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ShapeIsoscelesTriangle 22">
            <a:extLst>
              <a:ext uri="{FF2B5EF4-FFF2-40B4-BE49-F238E27FC236}">
                <a16:creationId xmlns:a16="http://schemas.microsoft.com/office/drawing/2014/main" id="{85FBB884-59C1-5697-118B-1DFE52F5234C}"/>
              </a:ext>
            </a:extLst>
          </p:cNvPr>
          <p:cNvSpPr/>
          <p:nvPr/>
        </p:nvSpPr>
        <p:spPr>
          <a:xfrm rot="10800000">
            <a:off x="5257555" y="4167517"/>
            <a:ext cx="1647346" cy="1420126"/>
          </a:xfrm>
          <a:prstGeom prst="triangle">
            <a:avLst/>
          </a:prstGeom>
          <a:solidFill>
            <a:srgbClr val="0052D9"/>
          </a:solidFill>
          <a:ln w="381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/>
            <a:endParaRPr lang="zh-CN" altLang="en-US" dirty="0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C1261C36-B73F-FD1B-4AB6-0A3AF886EE6D}"/>
              </a:ext>
            </a:extLst>
          </p:cNvPr>
          <p:cNvGrpSpPr/>
          <p:nvPr/>
        </p:nvGrpSpPr>
        <p:grpSpPr>
          <a:xfrm>
            <a:off x="459341" y="4721387"/>
            <a:ext cx="3558090" cy="1366256"/>
            <a:chOff x="692753" y="4321548"/>
            <a:chExt cx="3558090" cy="1366256"/>
          </a:xfrm>
        </p:grpSpPr>
        <p:sp>
          <p:nvSpPr>
            <p:cNvPr id="15" name="Bullet2">
              <a:extLst>
                <a:ext uri="{FF2B5EF4-FFF2-40B4-BE49-F238E27FC236}">
                  <a16:creationId xmlns:a16="http://schemas.microsoft.com/office/drawing/2014/main" id="{020D2B8C-297B-1DE8-7205-1FCC7FF548A2}"/>
                </a:ext>
              </a:extLst>
            </p:cNvPr>
            <p:cNvSpPr>
              <a:spLocks/>
            </p:cNvSpPr>
            <p:nvPr/>
          </p:nvSpPr>
          <p:spPr>
            <a:xfrm flipH="1">
              <a:off x="692753" y="4321548"/>
              <a:ext cx="2934444" cy="5495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b" anchorCtr="0">
              <a:normAutofit/>
            </a:bodyPr>
            <a:lstStyle/>
            <a:p>
              <a:pPr algn="r"/>
              <a:r>
                <a:rPr kumimoji="1" lang="en-US" altLang="zh-CN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Distance</a:t>
              </a:r>
              <a:endParaRPr lang="en-US" altLang="zh-CN" b="1" dirty="0">
                <a:cs typeface="Arial" panose="020B0604020202020204" pitchFamily="34" charset="0"/>
              </a:endParaRPr>
            </a:p>
          </p:txBody>
        </p:sp>
        <p:sp>
          <p:nvSpPr>
            <p:cNvPr id="16" name="Text2">
              <a:extLst>
                <a:ext uri="{FF2B5EF4-FFF2-40B4-BE49-F238E27FC236}">
                  <a16:creationId xmlns:a16="http://schemas.microsoft.com/office/drawing/2014/main" id="{5009F1E3-5AC0-17B2-CC3B-ED261A33494A}"/>
                </a:ext>
              </a:extLst>
            </p:cNvPr>
            <p:cNvSpPr>
              <a:spLocks/>
            </p:cNvSpPr>
            <p:nvPr/>
          </p:nvSpPr>
          <p:spPr>
            <a:xfrm flipH="1">
              <a:off x="692753" y="4879942"/>
              <a:ext cx="2934444" cy="8078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normAutofit/>
            </a:bodyPr>
            <a:lstStyle/>
            <a:p>
              <a:pPr algn="r">
                <a:lnSpc>
                  <a:spcPct val="120000"/>
                </a:lnSpc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</a:rPr>
                <a:t>High-speed transmission consumes significant power. </a:t>
              </a:r>
              <a:endParaRPr lang="en-US" altLang="zh-CN" sz="1400" dirty="0">
                <a:solidFill>
                  <a:schemeClr val="bg1">
                    <a:lumMod val="50000"/>
                  </a:schemeClr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17" name="Number2">
              <a:extLst>
                <a:ext uri="{FF2B5EF4-FFF2-40B4-BE49-F238E27FC236}">
                  <a16:creationId xmlns:a16="http://schemas.microsoft.com/office/drawing/2014/main" id="{15E7B3D2-FCDE-F42D-CD2F-EDACC50481DB}"/>
                </a:ext>
              </a:extLst>
            </p:cNvPr>
            <p:cNvSpPr txBox="1">
              <a:spLocks noChangeAspect="1"/>
            </p:cNvSpPr>
            <p:nvPr/>
          </p:nvSpPr>
          <p:spPr>
            <a:xfrm flipH="1">
              <a:off x="3710843" y="4509933"/>
              <a:ext cx="540000" cy="540000"/>
            </a:xfrm>
            <a:prstGeom prst="roundRect">
              <a:avLst>
                <a:gd name="adj" fmla="val 50000"/>
              </a:avLst>
            </a:prstGeom>
            <a:solidFill>
              <a:srgbClr val="0052D9"/>
            </a:solidFill>
            <a:ln w="12700" cap="flat">
              <a:noFill/>
              <a:prstDash val="solid"/>
              <a:miter/>
            </a:ln>
            <a:effectLst>
              <a:outerShdw blurRad="127000" dist="63500" dir="2700000" algn="tl" rotWithShape="0">
                <a:schemeClr val="accent1">
                  <a:alpha val="40000"/>
                </a:schemeClr>
              </a:outerShdw>
            </a:effectLst>
          </p:spPr>
          <p:txBody>
            <a:bodyPr wrap="none" rtlCol="0" anchor="ctr"/>
            <a:lstStyle>
              <a:defPPr>
                <a:defRPr lang="zh-CN"/>
              </a:defPPr>
              <a:lvl1pPr algn="ctr">
                <a:defRPr b="1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dirty="0">
                  <a:latin typeface="+mn-lt"/>
                  <a:ea typeface="+mn-ea"/>
                  <a:sym typeface="Arial" panose="020B0604020202020204" pitchFamily="34" charset="0"/>
                </a:rPr>
                <a:t>2</a:t>
              </a:r>
              <a:endParaRPr lang="zh-CN" altLang="en-US" dirty="0">
                <a:latin typeface="+mn-lt"/>
                <a:ea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19" name="light-bolt_192749">
            <a:extLst>
              <a:ext uri="{FF2B5EF4-FFF2-40B4-BE49-F238E27FC236}">
                <a16:creationId xmlns:a16="http://schemas.microsoft.com/office/drawing/2014/main" id="{DE47084A-DC66-D937-D49F-3DF49F28D92F}"/>
              </a:ext>
            </a:extLst>
          </p:cNvPr>
          <p:cNvSpPr/>
          <p:nvPr/>
        </p:nvSpPr>
        <p:spPr>
          <a:xfrm>
            <a:off x="4789786" y="5114571"/>
            <a:ext cx="267266" cy="400271"/>
          </a:xfrm>
          <a:custGeom>
            <a:avLst/>
            <a:gdLst>
              <a:gd name="T0" fmla="*/ 4551 w 4551"/>
              <a:gd name="T1" fmla="*/ 2844 h 6827"/>
              <a:gd name="T2" fmla="*/ 2655 w 4551"/>
              <a:gd name="T3" fmla="*/ 2844 h 6827"/>
              <a:gd name="T4" fmla="*/ 2655 w 4551"/>
              <a:gd name="T5" fmla="*/ 0 h 6827"/>
              <a:gd name="T6" fmla="*/ 0 w 4551"/>
              <a:gd name="T7" fmla="*/ 3982 h 6827"/>
              <a:gd name="T8" fmla="*/ 1896 w 4551"/>
              <a:gd name="T9" fmla="*/ 3982 h 6827"/>
              <a:gd name="T10" fmla="*/ 1896 w 4551"/>
              <a:gd name="T11" fmla="*/ 6827 h 6827"/>
              <a:gd name="T12" fmla="*/ 4551 w 4551"/>
              <a:gd name="T13" fmla="*/ 2844 h 68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551" h="6827">
                <a:moveTo>
                  <a:pt x="4551" y="2844"/>
                </a:moveTo>
                <a:lnTo>
                  <a:pt x="2655" y="2844"/>
                </a:lnTo>
                <a:lnTo>
                  <a:pt x="2655" y="0"/>
                </a:lnTo>
                <a:lnTo>
                  <a:pt x="0" y="3982"/>
                </a:lnTo>
                <a:lnTo>
                  <a:pt x="1896" y="3982"/>
                </a:lnTo>
                <a:lnTo>
                  <a:pt x="1896" y="6827"/>
                </a:lnTo>
                <a:lnTo>
                  <a:pt x="4551" y="2844"/>
                </a:ln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460CAD9-B853-308F-68B2-80168C22CC05}"/>
              </a:ext>
            </a:extLst>
          </p:cNvPr>
          <p:cNvSpPr txBox="1"/>
          <p:nvPr/>
        </p:nvSpPr>
        <p:spPr>
          <a:xfrm>
            <a:off x="511331" y="954770"/>
            <a:ext cx="10837646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</a:rPr>
              <a:t>Bit Error Rate (BER)¹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: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the core metric for IDC data communications, measuring transmission reliability;</a:t>
            </a: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As transmission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speed</a:t>
            </a:r>
            <a:r>
              <a:rPr lang="en-US" altLang="zh-CN" dirty="0"/>
              <a:t>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</a:rPr>
              <a:t>or</a:t>
            </a:r>
            <a:r>
              <a:rPr lang="en-US" altLang="zh-CN" dirty="0"/>
              <a:t>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distance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</a:rPr>
              <a:t>increases,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and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power consumption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</a:rPr>
              <a:t>tighten,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BER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</a:rPr>
              <a:t>increases.</a:t>
            </a: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kumimoji="1" lang="zh-CN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2D250EE-29A5-4FC0-9797-B9301924E016}"/>
              </a:ext>
            </a:extLst>
          </p:cNvPr>
          <p:cNvSpPr txBox="1"/>
          <p:nvPr/>
        </p:nvSpPr>
        <p:spPr>
          <a:xfrm>
            <a:off x="5374457" y="4538074"/>
            <a:ext cx="1413540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b="1" dirty="0">
                <a:solidFill>
                  <a:schemeClr val="bg1"/>
                </a:solidFill>
                <a:cs typeface="+mn-ea"/>
                <a:sym typeface="+mn-lt"/>
              </a:rPr>
              <a:t>BER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7F8177C-D92C-0C3D-0709-1D72C476F289}"/>
              </a:ext>
            </a:extLst>
          </p:cNvPr>
          <p:cNvSpPr txBox="1"/>
          <p:nvPr/>
        </p:nvSpPr>
        <p:spPr>
          <a:xfrm>
            <a:off x="285044" y="6373197"/>
            <a:ext cx="8357129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BER standard for IDC scenarios is &lt;1e-12, representing 1 bit error per trillion bits transmitted.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E3EEFA0-8A8B-8A5E-3BFD-61B6D2848ED6}"/>
              </a:ext>
            </a:extLst>
          </p:cNvPr>
          <p:cNvSpPr/>
          <p:nvPr/>
        </p:nvSpPr>
        <p:spPr>
          <a:xfrm>
            <a:off x="10202855" y="-25991"/>
            <a:ext cx="1989145" cy="90483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距离对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copper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的硬约束</a:t>
            </a:r>
            <a:endParaRPr lang="en-US" dirty="0">
              <a:solidFill>
                <a:schemeClr val="accent6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0705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DB18A-A612-81D0-A2EB-7A43E173C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77F1ACE-62DC-6BFF-33F3-2B9D22D2B23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36733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5" imgW="404" imgH="405" progId="TCLayout.ActiveDocument.1">
                  <p:embed/>
                </p:oleObj>
              </mc:Choice>
              <mc:Fallback>
                <p:oleObj name="think-cell 幻灯片" r:id="rId15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77F1ACE-62DC-6BFF-33F3-2B9D22D2B2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图表 36">
            <a:extLst>
              <a:ext uri="{FF2B5EF4-FFF2-40B4-BE49-F238E27FC236}">
                <a16:creationId xmlns:a16="http://schemas.microsoft.com/office/drawing/2014/main" id="{2A116E20-9DED-4019-B355-B0089C1C2E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39352177"/>
              </p:ext>
            </p:extLst>
          </p:nvPr>
        </p:nvGraphicFramePr>
        <p:xfrm>
          <a:off x="6545782" y="2494300"/>
          <a:ext cx="4976982" cy="34261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sp>
        <p:nvSpPr>
          <p:cNvPr id="116" name="Text Placeholder 4">
            <a:extLst>
              <a:ext uri="{FF2B5EF4-FFF2-40B4-BE49-F238E27FC236}">
                <a16:creationId xmlns:a16="http://schemas.microsoft.com/office/drawing/2014/main" id="{807F10EC-ADEC-73F9-6554-6EB9ED0A117A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11108735" y="3072583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Optical</a:t>
            </a:r>
            <a:endParaRPr lang="zh-CN" altLang="en-US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0" name="Text Placeholder 4">
            <a:extLst>
              <a:ext uri="{FF2B5EF4-FFF2-40B4-BE49-F238E27FC236}">
                <a16:creationId xmlns:a16="http://schemas.microsoft.com/office/drawing/2014/main" id="{633B19CE-4887-7952-2D13-649B2FB8D7FB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11108735" y="3643710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Copper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1518263-54BA-16B5-9CE4-5D013E91E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143" y="159198"/>
            <a:ext cx="10174152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</a:rPr>
              <a:t>The copper speed wall in data center: breaking through with optical interconnects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347A6CDC-24B1-60EE-BA29-CB2E35B197DC}"/>
              </a:ext>
            </a:extLst>
          </p:cNvPr>
          <p:cNvSpPr txBox="1"/>
          <p:nvPr/>
        </p:nvSpPr>
        <p:spPr>
          <a:xfrm>
            <a:off x="329273" y="6055273"/>
            <a:ext cx="1004189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InfiniBand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bandwidth.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NVLink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transmission rate growth aligns with InfiniBand.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At 224 Gbps, copper interconnects hit a wall, and unavoidable loss leads to unsustainable power and thermal costs.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AA5F3160-738C-87C5-A795-B056FD86FF71}"/>
              </a:ext>
            </a:extLst>
          </p:cNvPr>
          <p:cNvSpPr txBox="1"/>
          <p:nvPr/>
        </p:nvSpPr>
        <p:spPr>
          <a:xfrm>
            <a:off x="6181999" y="1261308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3" name="文本框 152">
            <a:extLst>
              <a:ext uri="{FF2B5EF4-FFF2-40B4-BE49-F238E27FC236}">
                <a16:creationId xmlns:a16="http://schemas.microsoft.com/office/drawing/2014/main" id="{B8C5B985-123B-5E5B-694E-C5248B1DAF9C}"/>
              </a:ext>
            </a:extLst>
          </p:cNvPr>
          <p:cNvSpPr txBox="1"/>
          <p:nvPr/>
        </p:nvSpPr>
        <p:spPr>
          <a:xfrm>
            <a:off x="6435999" y="1529170"/>
            <a:ext cx="5269570" cy="328613"/>
          </a:xfrm>
          <a:prstGeom prst="rect">
            <a:avLst/>
          </a:prstGeom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zh-CN" dirty="0"/>
              <a:t>​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Copper (theoretical limit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</a:rPr>
              <a:t>2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):​​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224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 Gbps/line; ​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Optical (3.2T transceiver/CPO):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448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 Gbps/line.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4" name="Text Placeholder 4">
            <a:extLst>
              <a:ext uri="{FF2B5EF4-FFF2-40B4-BE49-F238E27FC236}">
                <a16:creationId xmlns:a16="http://schemas.microsoft.com/office/drawing/2014/main" id="{CC1B76EA-80C4-9E0C-FE26-828AA4BD346A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8110035" y="4535852"/>
            <a:ext cx="168645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H100 (</a:t>
            </a:r>
            <a:r>
              <a:rPr lang="en-US" altLang="zh-CN" sz="1200" b="1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4.0)</a:t>
            </a:r>
            <a:endParaRPr lang="zh-CN" altLang="en-US" sz="1200" b="1" dirty="0">
              <a:solidFill>
                <a:schemeClr val="accent5"/>
              </a:solidFill>
              <a:cs typeface="+mn-ea"/>
              <a:sym typeface="+mn-lt"/>
            </a:endParaRPr>
          </a:p>
        </p:txBody>
      </p:sp>
      <p:sp>
        <p:nvSpPr>
          <p:cNvPr id="165" name="Text Placeholder 4">
            <a:extLst>
              <a:ext uri="{FF2B5EF4-FFF2-40B4-BE49-F238E27FC236}">
                <a16:creationId xmlns:a16="http://schemas.microsoft.com/office/drawing/2014/main" id="{F66D4AB4-3C0B-4878-7716-B4AC555CDE0A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7026583" y="4992033"/>
            <a:ext cx="1497705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A100 (</a:t>
            </a:r>
            <a:r>
              <a:rPr lang="en-US" altLang="zh-CN" sz="1200" b="1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3.0</a:t>
            </a:r>
            <a:r>
              <a:rPr lang="en-US" altLang="zh-CN" sz="1200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)</a:t>
            </a:r>
            <a:endParaRPr lang="zh-CN" altLang="en-US" sz="1200" b="1" dirty="0">
              <a:solidFill>
                <a:schemeClr val="accent5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6" name="Text Placeholder 4">
            <a:extLst>
              <a:ext uri="{FF2B5EF4-FFF2-40B4-BE49-F238E27FC236}">
                <a16:creationId xmlns:a16="http://schemas.microsoft.com/office/drawing/2014/main" id="{7779F627-F2EA-D7A9-F0EA-94AB8399BED4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9149122" y="4067368"/>
            <a:ext cx="155834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B100 (</a:t>
            </a:r>
            <a:r>
              <a:rPr lang="en-US" altLang="zh-CN" sz="1200" b="1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5.0)</a:t>
            </a:r>
            <a:endParaRPr lang="zh-CN" altLang="en-US" sz="1200" b="1" dirty="0">
              <a:solidFill>
                <a:schemeClr val="accent5"/>
              </a:solidFill>
              <a:cs typeface="+mn-ea"/>
              <a:sym typeface="+mn-lt"/>
            </a:endParaRPr>
          </a:p>
        </p:txBody>
      </p:sp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40C3D0EE-0AAE-5FDA-C19D-D60482CFEB6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42470238"/>
              </p:ext>
            </p:extLst>
          </p:nvPr>
        </p:nvGraphicFramePr>
        <p:xfrm>
          <a:off x="406016" y="2244421"/>
          <a:ext cx="4792881" cy="36720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grpSp>
        <p:nvGrpSpPr>
          <p:cNvPr id="33" name="组合 32">
            <a:extLst>
              <a:ext uri="{FF2B5EF4-FFF2-40B4-BE49-F238E27FC236}">
                <a16:creationId xmlns:a16="http://schemas.microsoft.com/office/drawing/2014/main" id="{D830B87E-BE31-2C31-7690-D1F862E02D80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BCE16986-4D40-A41A-E6B6-A05C05606FD1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Copper</a:t>
              </a:r>
              <a:r>
                <a:rPr kumimoji="1" lang="zh-CN" altLang="en-US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  </a:t>
              </a: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=&gt; optics</a:t>
              </a:r>
              <a:r>
                <a:rPr kumimoji="1" lang="zh-CN" altLang="en-US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：</a:t>
              </a: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224 Gbps =&gt; 448 Gbps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7932CE7E-7053-F560-8F79-599E34A7B976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89" name="直线连接符 38">
              <a:extLst>
                <a:ext uri="{FF2B5EF4-FFF2-40B4-BE49-F238E27FC236}">
                  <a16:creationId xmlns:a16="http://schemas.microsoft.com/office/drawing/2014/main" id="{A2459047-D2F5-6A93-6043-F65FE093ABAC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5303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72C7B039-FE12-C778-F388-F1495DFAED31}"/>
                </a:ext>
              </a:extLst>
            </p:cNvPr>
            <p:cNvSpPr txBox="1"/>
            <p:nvPr/>
          </p:nvSpPr>
          <p:spPr>
            <a:xfrm>
              <a:off x="504186" y="971862"/>
              <a:ext cx="5885909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</a:rPr>
                <a:t>Transmission rate growth lags behind compute</a:t>
              </a:r>
              <a:endPara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8" name="直线连接符 38">
              <a:extLst>
                <a:ext uri="{FF2B5EF4-FFF2-40B4-BE49-F238E27FC236}">
                  <a16:creationId xmlns:a16="http://schemas.microsoft.com/office/drawing/2014/main" id="{9BCB1723-D312-8F2C-8985-206A2EAC758A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130A2CCF-4792-4187-740B-53EDD1BC7B7C}"/>
              </a:ext>
            </a:extLst>
          </p:cNvPr>
          <p:cNvSpPr txBox="1"/>
          <p:nvPr/>
        </p:nvSpPr>
        <p:spPr>
          <a:xfrm>
            <a:off x="598141" y="1560262"/>
            <a:ext cx="5503863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Copper-based transmission rate: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4x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 in 4 years;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GPU computing power: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5.6-11x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 in 4 years.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zh-CN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E107C64-2966-84EB-C537-9B401C82FCF5}"/>
              </a:ext>
            </a:extLst>
          </p:cNvPr>
          <p:cNvSpPr txBox="1"/>
          <p:nvPr/>
        </p:nvSpPr>
        <p:spPr>
          <a:xfrm>
            <a:off x="4939730" y="2578708"/>
            <a:ext cx="1156270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Inference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11x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41508EA-7012-F175-3EBD-4275FA38BD14}"/>
              </a:ext>
            </a:extLst>
          </p:cNvPr>
          <p:cNvSpPr txBox="1"/>
          <p:nvPr/>
        </p:nvSpPr>
        <p:spPr>
          <a:xfrm>
            <a:off x="4981915" y="3663216"/>
            <a:ext cx="1074463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chemeClr val="accent5"/>
                </a:solidFill>
                <a:cs typeface="+mn-ea"/>
                <a:sym typeface="+mn-lt"/>
              </a:rPr>
              <a:t>Training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chemeClr val="accent5"/>
                </a:solidFill>
                <a:cs typeface="+mn-ea"/>
                <a:sym typeface="+mn-lt"/>
              </a:rPr>
              <a:t>5.6x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3826E87-5A59-1074-F2A6-51787585C403}"/>
              </a:ext>
            </a:extLst>
          </p:cNvPr>
          <p:cNvSpPr txBox="1"/>
          <p:nvPr/>
        </p:nvSpPr>
        <p:spPr>
          <a:xfrm>
            <a:off x="5036530" y="4718894"/>
            <a:ext cx="1201494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Bandwidth</a:t>
            </a:r>
            <a:r>
              <a:rPr kumimoji="1" lang="en-US" altLang="zh-CN" baseline="30000" dirty="0">
                <a:solidFill>
                  <a:srgbClr val="0052D9"/>
                </a:solidFill>
                <a:cs typeface="+mn-ea"/>
                <a:sym typeface="+mn-lt"/>
              </a:rPr>
              <a:t>1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4x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D28867A-D863-6C5A-41FD-84F642EDBEC0}"/>
              </a:ext>
            </a:extLst>
          </p:cNvPr>
          <p:cNvSpPr txBox="1"/>
          <p:nvPr/>
        </p:nvSpPr>
        <p:spPr>
          <a:xfrm>
            <a:off x="3699339" y="2510275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Blackwell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FP8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EE0D2F9-50AB-A201-9125-EDB21C662140}"/>
              </a:ext>
            </a:extLst>
          </p:cNvPr>
          <p:cNvSpPr txBox="1"/>
          <p:nvPr/>
        </p:nvSpPr>
        <p:spPr>
          <a:xfrm>
            <a:off x="2832054" y="3513942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Hopper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FP8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BBB8668-846F-ABEC-00F1-04F3083BD423}"/>
              </a:ext>
            </a:extLst>
          </p:cNvPr>
          <p:cNvSpPr txBox="1"/>
          <p:nvPr/>
        </p:nvSpPr>
        <p:spPr>
          <a:xfrm>
            <a:off x="2207309" y="4383955"/>
            <a:ext cx="922810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Ampere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620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2B2000C-0E01-6F45-654A-00DEE9458274}"/>
              </a:ext>
            </a:extLst>
          </p:cNvPr>
          <p:cNvSpPr txBox="1"/>
          <p:nvPr/>
        </p:nvSpPr>
        <p:spPr>
          <a:xfrm>
            <a:off x="1284903" y="4767146"/>
            <a:ext cx="984628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Volta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130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FF201AB-0434-4852-8E17-DBA76094D961}"/>
              </a:ext>
            </a:extLst>
          </p:cNvPr>
          <p:cNvSpPr txBox="1"/>
          <p:nvPr/>
        </p:nvSpPr>
        <p:spPr>
          <a:xfrm>
            <a:off x="285657" y="4825662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Pascal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19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7DF1B80-E3FD-4C79-FC30-FA6B7CDCE568}"/>
              </a:ext>
            </a:extLst>
          </p:cNvPr>
          <p:cNvSpPr txBox="1"/>
          <p:nvPr/>
        </p:nvSpPr>
        <p:spPr>
          <a:xfrm>
            <a:off x="3476305" y="4188311"/>
            <a:ext cx="867285" cy="335487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5"/>
                </a:solidFill>
                <a:cs typeface="+mn-ea"/>
                <a:sym typeface="+mn-lt"/>
              </a:rPr>
              <a:t>1k TFLOPS</a:t>
            </a:r>
          </a:p>
          <a:p>
            <a:pPr algn="ctr"/>
            <a:r>
              <a:rPr kumimoji="1" lang="en-US" altLang="zh-CN" sz="1200" dirty="0">
                <a:solidFill>
                  <a:schemeClr val="accent5"/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B98CB60-397E-AF27-C09D-4536FD50FDE6}"/>
              </a:ext>
            </a:extLst>
          </p:cNvPr>
          <p:cNvSpPr txBox="1"/>
          <p:nvPr/>
        </p:nvSpPr>
        <p:spPr>
          <a:xfrm>
            <a:off x="4062049" y="3760495"/>
            <a:ext cx="1074463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5"/>
                </a:solidFill>
                <a:cs typeface="+mn-ea"/>
                <a:sym typeface="+mn-lt"/>
              </a:rPr>
              <a:t>1.75k TFLOPS</a:t>
            </a:r>
          </a:p>
          <a:p>
            <a:pPr algn="ctr"/>
            <a:r>
              <a:rPr kumimoji="1" lang="en-US" altLang="zh-CN" sz="1200" dirty="0">
                <a:solidFill>
                  <a:schemeClr val="accent5"/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60F0908-50AC-1EC0-1A41-48AB2E05CB88}"/>
              </a:ext>
            </a:extLst>
          </p:cNvPr>
          <p:cNvSpPr txBox="1"/>
          <p:nvPr/>
        </p:nvSpPr>
        <p:spPr>
          <a:xfrm>
            <a:off x="4169246" y="4783574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800Gbps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11AC40C-71A8-C591-235F-4A6280BAEA79}"/>
              </a:ext>
            </a:extLst>
          </p:cNvPr>
          <p:cNvSpPr txBox="1"/>
          <p:nvPr/>
        </p:nvSpPr>
        <p:spPr>
          <a:xfrm>
            <a:off x="3387547" y="5095557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400Gbps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39756B9-2D75-4F3F-A7E1-43CB33B1C463}"/>
              </a:ext>
            </a:extLst>
          </p:cNvPr>
          <p:cNvSpPr txBox="1"/>
          <p:nvPr/>
        </p:nvSpPr>
        <p:spPr>
          <a:xfrm>
            <a:off x="2474499" y="5314647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200Gbps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3E14B2A7-8AFA-D06B-1F84-638BC175DAFB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0279810" y="3932016"/>
            <a:ext cx="1506174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Rubin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(</a:t>
            </a:r>
            <a:r>
              <a:rPr lang="en-US" altLang="zh-CN" sz="1200" b="1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6.0)</a:t>
            </a:r>
            <a:endParaRPr lang="zh-CN" altLang="en-US" sz="1200" b="1" dirty="0">
              <a:solidFill>
                <a:schemeClr val="accent5"/>
              </a:solidFill>
              <a:cs typeface="+mn-ea"/>
              <a:sym typeface="+mn-lt"/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</a:pPr>
            <a:endParaRPr lang="zh-CN" altLang="en-US" sz="1200" b="1" dirty="0">
              <a:solidFill>
                <a:schemeClr val="accent5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57E78AFA-C188-4273-0EC2-34FFB1A4DE23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7205302" y="4381508"/>
            <a:ext cx="86491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400G </a:t>
            </a:r>
            <a:r>
              <a:rPr lang="en-US" altLang="zh-CN" sz="1200" b="1" dirty="0">
                <a:solidFill>
                  <a:srgbClr val="0052D9"/>
                </a:solidFill>
              </a:rPr>
              <a:t>Transceiver</a:t>
            </a:r>
            <a:endParaRPr lang="zh-CN" altLang="en-US" sz="1200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BF2B7EA4-D4D1-B55F-74C2-B910BDD03E1D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8284205" y="3823959"/>
            <a:ext cx="86491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800G </a:t>
            </a:r>
            <a:r>
              <a:rPr lang="en-US" altLang="zh-CN" sz="1200" b="1" dirty="0">
                <a:solidFill>
                  <a:srgbClr val="0052D9"/>
                </a:solidFill>
              </a:rPr>
              <a:t>Transceiver</a:t>
            </a:r>
            <a:endParaRPr lang="zh-CN" altLang="en-US" sz="1200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86C2C98A-A7B7-E8AF-68AC-E2CE01BAED95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9269448" y="3271278"/>
            <a:ext cx="86491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1.6T </a:t>
            </a:r>
            <a:r>
              <a:rPr lang="en-US" altLang="zh-CN" sz="1200" b="1" dirty="0">
                <a:solidFill>
                  <a:srgbClr val="0052D9"/>
                </a:solidFill>
              </a:rPr>
              <a:t>Transceiver</a:t>
            </a:r>
            <a:endParaRPr lang="zh-CN" altLang="en-US" sz="1200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E3B384EB-5775-2F73-920D-F9484017982F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auto">
          <a:xfrm>
            <a:off x="10286090" y="2754885"/>
            <a:ext cx="168645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3.2T </a:t>
            </a:r>
            <a:r>
              <a:rPr lang="en-US" altLang="zh-CN" sz="1200" b="1" dirty="0">
                <a:solidFill>
                  <a:srgbClr val="0052D9"/>
                </a:solidFill>
              </a:rPr>
              <a:t>Transceiver/CPO</a:t>
            </a:r>
            <a:endParaRPr lang="zh-CN" altLang="en-US" sz="1200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0F0C29A1-FCCD-D7C0-713D-521C51D5E55F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auto">
          <a:xfrm>
            <a:off x="6619034" y="2222492"/>
            <a:ext cx="168645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sz="1400" b="0">
                <a:solidFill>
                  <a:schemeClr val="bg1">
                    <a:lumMod val="50000"/>
                  </a:schemeClr>
                </a:solidFill>
                <a:cs typeface="+mn-ea"/>
              </a:defRPr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sz="1600"/>
            </a:lvl2pPr>
            <a:lvl3pPr marL="438785" indent="-21018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sz="1600"/>
            </a:lvl3pPr>
            <a:lvl4pPr marL="594360" indent="-15557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600"/>
            </a:lvl4pPr>
            <a:lvl5pPr marL="814070" indent="-1460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zh-CN" dirty="0">
                <a:sym typeface="+mn-lt"/>
              </a:rPr>
              <a:t>Gbps/line</a:t>
            </a:r>
            <a:endParaRPr lang="zh-CN" altLang="en-US" dirty="0"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32639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F132999-7A6A-C0DA-FA39-6557A781CD5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452484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7" imgW="401" imgH="401" progId="TCLayout.ActiveDocument.1">
                  <p:embed/>
                </p:oleObj>
              </mc:Choice>
              <mc:Fallback>
                <p:oleObj name="think-cell 幻灯片" r:id="rId17" imgW="401" imgH="40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F132999-7A6A-C0DA-FA39-6557A781CD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文本框 55">
            <a:extLst>
              <a:ext uri="{FF2B5EF4-FFF2-40B4-BE49-F238E27FC236}">
                <a16:creationId xmlns:a16="http://schemas.microsoft.com/office/drawing/2014/main" id="{73C0F648-236B-FC51-C553-DAB2DEE186DA}"/>
              </a:ext>
            </a:extLst>
          </p:cNvPr>
          <p:cNvSpPr txBox="1"/>
          <p:nvPr/>
        </p:nvSpPr>
        <p:spPr>
          <a:xfrm>
            <a:off x="194205" y="6480696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Marvell,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 expert call,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Microsoft Research.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8C599B7C-C8ED-3D74-CE07-179B7D8D05C8}"/>
              </a:ext>
            </a:extLst>
          </p:cNvPr>
          <p:cNvSpPr txBox="1"/>
          <p:nvPr/>
        </p:nvSpPr>
        <p:spPr>
          <a:xfrm>
            <a:off x="610165" y="1475620"/>
            <a:ext cx="5268912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Intra-rack GPU interconnect: Copper dominates;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Inter-rack / DC interconnect: Optics dominate.</a:t>
            </a:r>
            <a:endParaRPr kumimoji="1" lang="zh-CN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840" name="矩形: 圆角 3839">
            <a:extLst>
              <a:ext uri="{FF2B5EF4-FFF2-40B4-BE49-F238E27FC236}">
                <a16:creationId xmlns:a16="http://schemas.microsoft.com/office/drawing/2014/main" id="{790B1870-88FB-BD6B-86C4-CCFB70E7AD0A}"/>
              </a:ext>
            </a:extLst>
          </p:cNvPr>
          <p:cNvSpPr/>
          <p:nvPr/>
        </p:nvSpPr>
        <p:spPr>
          <a:xfrm>
            <a:off x="6642100" y="5379624"/>
            <a:ext cx="5054508" cy="932742"/>
          </a:xfrm>
          <a:prstGeom prst="roundRect">
            <a:avLst>
              <a:gd name="adj" fmla="val 3533"/>
            </a:avLst>
          </a:prstGeom>
          <a:solidFill>
            <a:schemeClr val="tx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25000"/>
              </a:lnSpc>
            </a:pP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“The practical limit for copper interconnect is </a:t>
            </a:r>
            <a:r>
              <a:rPr lang="en-US" altLang="zh-CN" sz="1600" b="1" i="1" dirty="0">
                <a:solidFill>
                  <a:srgbClr val="0052D9"/>
                </a:solidFill>
                <a:cs typeface="+mn-ea"/>
                <a:sym typeface="+mn-lt"/>
              </a:rPr>
              <a:t>2.5 m - 3 m</a:t>
            </a: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 defining a cluster size ceiling of </a:t>
            </a:r>
            <a:r>
              <a:rPr lang="en-US" altLang="zh-CN" sz="1600" b="1" i="1" dirty="0">
                <a:solidFill>
                  <a:srgbClr val="0052D9"/>
                </a:solidFill>
                <a:cs typeface="+mn-ea"/>
                <a:sym typeface="+mn-lt"/>
              </a:rPr>
              <a:t>~10,000 GPUs</a:t>
            </a: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.”</a:t>
            </a:r>
          </a:p>
          <a:p>
            <a:pPr algn="r">
              <a:lnSpc>
                <a:spcPct val="125000"/>
              </a:lnSpc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— Broadcom expert</a:t>
            </a:r>
          </a:p>
        </p:txBody>
      </p:sp>
      <p:cxnSp>
        <p:nvCxnSpPr>
          <p:cNvPr id="3677" name="连接符: 肘形 3676">
            <a:extLst>
              <a:ext uri="{FF2B5EF4-FFF2-40B4-BE49-F238E27FC236}">
                <a16:creationId xmlns:a16="http://schemas.microsoft.com/office/drawing/2014/main" id="{D5A142FF-0735-3827-58EC-1A8BB46072D6}"/>
              </a:ext>
            </a:extLst>
          </p:cNvPr>
          <p:cNvCxnSpPr>
            <a:cxnSpLocks/>
            <a:stCxn id="3680" idx="2"/>
            <a:endCxn id="60" idx="2"/>
          </p:cNvCxnSpPr>
          <p:nvPr/>
        </p:nvCxnSpPr>
        <p:spPr>
          <a:xfrm rot="5400000" flipH="1" flipV="1">
            <a:off x="3234751" y="3597055"/>
            <a:ext cx="4763" cy="2767453"/>
          </a:xfrm>
          <a:prstGeom prst="bentConnector3">
            <a:avLst>
              <a:gd name="adj1" fmla="val -4799496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70323601-200F-D610-B725-2585A75D42C9}"/>
              </a:ext>
            </a:extLst>
          </p:cNvPr>
          <p:cNvSpPr/>
          <p:nvPr/>
        </p:nvSpPr>
        <p:spPr>
          <a:xfrm>
            <a:off x="754063" y="3343275"/>
            <a:ext cx="1941513" cy="1350963"/>
          </a:xfrm>
          <a:prstGeom prst="roundRect">
            <a:avLst>
              <a:gd name="adj" fmla="val 10158"/>
            </a:avLst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015E140-7A1D-7F16-C4EE-332851B5DB38}"/>
              </a:ext>
            </a:extLst>
          </p:cNvPr>
          <p:cNvSpPr txBox="1"/>
          <p:nvPr/>
        </p:nvSpPr>
        <p:spPr>
          <a:xfrm>
            <a:off x="2549525" y="3843338"/>
            <a:ext cx="712788" cy="369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0052D9"/>
                </a:solidFill>
                <a:cs typeface="+mn-ea"/>
                <a:sym typeface="+mn-lt"/>
              </a:rPr>
              <a:t>···</a:t>
            </a:r>
            <a:endParaRPr lang="zh-CN" altLang="en-US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680" name="矩形: 圆角 3679">
            <a:extLst>
              <a:ext uri="{FF2B5EF4-FFF2-40B4-BE49-F238E27FC236}">
                <a16:creationId xmlns:a16="http://schemas.microsoft.com/office/drawing/2014/main" id="{08C830D4-FADA-DEE1-76AB-5CF7450C0330}"/>
              </a:ext>
            </a:extLst>
          </p:cNvPr>
          <p:cNvSpPr/>
          <p:nvPr/>
        </p:nvSpPr>
        <p:spPr>
          <a:xfrm>
            <a:off x="606425" y="2986088"/>
            <a:ext cx="2493963" cy="1997075"/>
          </a:xfrm>
          <a:prstGeom prst="roundRect">
            <a:avLst>
              <a:gd name="adj" fmla="val 1015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84" name="文本框 3683">
            <a:extLst>
              <a:ext uri="{FF2B5EF4-FFF2-40B4-BE49-F238E27FC236}">
                <a16:creationId xmlns:a16="http://schemas.microsoft.com/office/drawing/2014/main" id="{1B2964A3-C377-4C2C-EB9B-019B27A0D665}"/>
              </a:ext>
            </a:extLst>
          </p:cNvPr>
          <p:cNvSpPr txBox="1"/>
          <p:nvPr/>
        </p:nvSpPr>
        <p:spPr>
          <a:xfrm>
            <a:off x="1138762" y="5460765"/>
            <a:ext cx="3184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cs typeface="+mn-ea"/>
                <a:sym typeface="+mn-lt"/>
              </a:rPr>
              <a:t>Data center interconnect</a:t>
            </a:r>
          </a:p>
          <a:p>
            <a:pPr algn="ctr"/>
            <a:r>
              <a:rPr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m/km-scale</a:t>
            </a:r>
            <a:endParaRPr lang="zh-CN" altLang="en-US" sz="12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686" name="文本框 3685">
            <a:extLst>
              <a:ext uri="{FF2B5EF4-FFF2-40B4-BE49-F238E27FC236}">
                <a16:creationId xmlns:a16="http://schemas.microsoft.com/office/drawing/2014/main" id="{237B7F0C-9BCC-2C70-6872-EDC1DC7E2CF9}"/>
              </a:ext>
            </a:extLst>
          </p:cNvPr>
          <p:cNvSpPr txBox="1"/>
          <p:nvPr/>
        </p:nvSpPr>
        <p:spPr>
          <a:xfrm>
            <a:off x="6172421" y="1173995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706" name="文本框 3705">
            <a:extLst>
              <a:ext uri="{FF2B5EF4-FFF2-40B4-BE49-F238E27FC236}">
                <a16:creationId xmlns:a16="http://schemas.microsoft.com/office/drawing/2014/main" id="{073D2CD5-53C8-625B-57DA-625CF473DDC6}"/>
              </a:ext>
            </a:extLst>
          </p:cNvPr>
          <p:cNvSpPr txBox="1"/>
          <p:nvPr/>
        </p:nvSpPr>
        <p:spPr>
          <a:xfrm>
            <a:off x="6427695" y="1478376"/>
            <a:ext cx="5268913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Copper's effective reach: ~ 2.5 m at 112 Gbps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</a:rPr>
              <a:t>1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Optics’ effective reach : </a:t>
            </a:r>
            <a:r>
              <a:rPr lang="en-US" altLang="zh-CN" b="1" dirty="0">
                <a:solidFill>
                  <a:srgbClr val="0052D9"/>
                </a:solidFill>
              </a:rPr>
              <a:t>&gt; 100 m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at 112 Gbps</a:t>
            </a:r>
            <a:r>
              <a:rPr lang="en-US" altLang="zh-CN" dirty="0"/>
              <a:t>.</a:t>
            </a: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3707" name="图表 3706">
            <a:extLst>
              <a:ext uri="{FF2B5EF4-FFF2-40B4-BE49-F238E27FC236}">
                <a16:creationId xmlns:a16="http://schemas.microsoft.com/office/drawing/2014/main" id="{7713F77A-0E98-445D-ADAE-FE66BB31E80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4454315"/>
              </p:ext>
            </p:extLst>
          </p:nvPr>
        </p:nvGraphicFramePr>
        <p:xfrm>
          <a:off x="6841656" y="2792616"/>
          <a:ext cx="4748919" cy="24162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sp>
        <p:nvSpPr>
          <p:cNvPr id="3708" name="Text Placeholder 4">
            <a:extLst>
              <a:ext uri="{FF2B5EF4-FFF2-40B4-BE49-F238E27FC236}">
                <a16:creationId xmlns:a16="http://schemas.microsoft.com/office/drawing/2014/main" id="{C5DBB834-0EEA-7696-AEFA-E85517E0B2D0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6364824" y="2278998"/>
            <a:ext cx="213730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Effective Reach</a:t>
            </a:r>
            <a:r>
              <a:rPr lang="en-US" altLang="zh-CN" sz="1400" baseline="300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(m)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709" name="文本框 20">
            <a:extLst>
              <a:ext uri="{FF2B5EF4-FFF2-40B4-BE49-F238E27FC236}">
                <a16:creationId xmlns:a16="http://schemas.microsoft.com/office/drawing/2014/main" id="{6ECB1057-BBC7-AE00-2DB4-837FCAA81073}"/>
              </a:ext>
            </a:extLst>
          </p:cNvPr>
          <p:cNvSpPr txBox="1"/>
          <p:nvPr/>
        </p:nvSpPr>
        <p:spPr>
          <a:xfrm>
            <a:off x="8536185" y="4240819"/>
            <a:ext cx="636413" cy="280988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2.5 m</a:t>
            </a:r>
          </a:p>
        </p:txBody>
      </p:sp>
      <p:sp>
        <p:nvSpPr>
          <p:cNvPr id="3710" name="Text Placeholder 4">
            <a:extLst>
              <a:ext uri="{FF2B5EF4-FFF2-40B4-BE49-F238E27FC236}">
                <a16:creationId xmlns:a16="http://schemas.microsoft.com/office/drawing/2014/main" id="{4AE8E1AA-D71C-85D7-04E9-7EE05BEA6B0E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8515839" y="3822289"/>
            <a:ext cx="2312282" cy="521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Copper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711" name="组合 3710">
            <a:extLst>
              <a:ext uri="{FF2B5EF4-FFF2-40B4-BE49-F238E27FC236}">
                <a16:creationId xmlns:a16="http://schemas.microsoft.com/office/drawing/2014/main" id="{6C6F9160-A687-5112-7186-A19DE18AE21D}"/>
              </a:ext>
            </a:extLst>
          </p:cNvPr>
          <p:cNvGrpSpPr/>
          <p:nvPr/>
        </p:nvGrpSpPr>
        <p:grpSpPr>
          <a:xfrm>
            <a:off x="8593360" y="2396116"/>
            <a:ext cx="2454525" cy="667571"/>
            <a:chOff x="9291269" y="3716868"/>
            <a:chExt cx="2454525" cy="667571"/>
          </a:xfrm>
        </p:grpSpPr>
        <p:sp>
          <p:nvSpPr>
            <p:cNvPr id="1025" name="文本框 20">
              <a:extLst>
                <a:ext uri="{FF2B5EF4-FFF2-40B4-BE49-F238E27FC236}">
                  <a16:creationId xmlns:a16="http://schemas.microsoft.com/office/drawing/2014/main" id="{5E805C8B-DF20-F453-FEA9-C26CC0EDFA2A}"/>
                </a:ext>
              </a:extLst>
            </p:cNvPr>
            <p:cNvSpPr txBox="1"/>
            <p:nvPr/>
          </p:nvSpPr>
          <p:spPr>
            <a:xfrm>
              <a:off x="9291269" y="4103451"/>
              <a:ext cx="1521477" cy="280988"/>
            </a:xfrm>
            <a:prstGeom prst="rect">
              <a:avLst/>
            </a:prstGeom>
            <a:solidFill>
              <a:schemeClr val="bg1"/>
            </a:solidFill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rgbClr val="0052D9"/>
                  </a:solidFill>
                  <a:cs typeface="+mn-ea"/>
                  <a:sym typeface="+mn-lt"/>
                </a:rPr>
                <a:t>100 m – 2 km</a:t>
              </a:r>
            </a:p>
          </p:txBody>
        </p:sp>
        <p:sp>
          <p:nvSpPr>
            <p:cNvPr id="1026" name="Text Placeholder 4">
              <a:extLst>
                <a:ext uri="{FF2B5EF4-FFF2-40B4-BE49-F238E27FC236}">
                  <a16:creationId xmlns:a16="http://schemas.microsoft.com/office/drawing/2014/main" id="{785147F7-A2BB-2771-FFF2-9432554327EF}"/>
                </a:ext>
              </a:extLst>
            </p:cNvPr>
            <p:cNvSpPr txBox="1">
              <a:spLocks/>
            </p:cNvSpPr>
            <p:nvPr>
              <p:custDataLst>
                <p:tags r:id="rId14"/>
              </p:custDataLst>
            </p:nvPr>
          </p:nvSpPr>
          <p:spPr bwMode="auto">
            <a:xfrm>
              <a:off x="9291269" y="3716868"/>
              <a:ext cx="2454525" cy="521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square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800" b="0" kern="1200" dirty="0">
                  <a:solidFill>
                    <a:schemeClr val="tx1"/>
                  </a:solidFill>
                  <a:latin typeface="+mj-lt"/>
                  <a:ea typeface="+mj-ea"/>
                  <a:cs typeface="Arial" panose="020B0604020202020204" pitchFamily="34" charset="0"/>
                  <a:sym typeface="微软雅黑" panose="020B0503020204020204" pitchFamily="34" charset="-122"/>
                </a:defRPr>
              </a:lvl1pPr>
              <a:lvl2pPr marL="228600" indent="-2286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Wingdings" panose="05000000000000000000" pitchFamily="2" charset="2"/>
                <a:buChar char="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2pPr>
              <a:lvl3pPr marL="438785" indent="-21018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Arial" panose="020B0604020202020204" pitchFamily="34" charset="0"/>
                <a:buChar char="‒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3pPr>
              <a:lvl4pPr marL="594360" indent="-15557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•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4pPr>
              <a:lvl5pPr marL="814070" indent="-1460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̶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5pPr>
              <a:lvl6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6pPr>
              <a:lvl7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7pPr>
              <a:lvl8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8pPr>
              <a:lvl9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zh-CN" dirty="0">
                  <a:solidFill>
                    <a:schemeClr val="accent6">
                      <a:lumMod val="1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Optics</a:t>
              </a:r>
              <a:r>
                <a:rPr lang="zh-CN" altLang="en-US" dirty="0">
                  <a:solidFill>
                    <a:schemeClr val="accent6">
                      <a:lumMod val="1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 </a:t>
              </a:r>
            </a:p>
          </p:txBody>
        </p:sp>
      </p:grpSp>
      <p:cxnSp>
        <p:nvCxnSpPr>
          <p:cNvPr id="1031" name="直接连接符 1030">
            <a:extLst>
              <a:ext uri="{FF2B5EF4-FFF2-40B4-BE49-F238E27FC236}">
                <a16:creationId xmlns:a16="http://schemas.microsoft.com/office/drawing/2014/main" id="{7630D003-B955-5A6D-156A-640E9CB482B1}"/>
              </a:ext>
            </a:extLst>
          </p:cNvPr>
          <p:cNvCxnSpPr>
            <a:cxnSpLocks/>
          </p:cNvCxnSpPr>
          <p:nvPr/>
        </p:nvCxnSpPr>
        <p:spPr>
          <a:xfrm>
            <a:off x="7268811" y="2609427"/>
            <a:ext cx="0" cy="366378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3" name="直接箭头连接符 1032">
            <a:extLst>
              <a:ext uri="{FF2B5EF4-FFF2-40B4-BE49-F238E27FC236}">
                <a16:creationId xmlns:a16="http://schemas.microsoft.com/office/drawing/2014/main" id="{A024889B-083E-65DE-DA35-8EA1D88EC3A1}"/>
              </a:ext>
            </a:extLst>
          </p:cNvPr>
          <p:cNvCxnSpPr>
            <a:cxnSpLocks/>
          </p:cNvCxnSpPr>
          <p:nvPr/>
        </p:nvCxnSpPr>
        <p:spPr>
          <a:xfrm flipH="1">
            <a:off x="7299325" y="2646309"/>
            <a:ext cx="1118140" cy="0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8" name="椭圆 1027">
            <a:extLst>
              <a:ext uri="{FF2B5EF4-FFF2-40B4-BE49-F238E27FC236}">
                <a16:creationId xmlns:a16="http://schemas.microsoft.com/office/drawing/2014/main" id="{9C83E2F2-BF2A-4B53-3552-F0DD8601823F}"/>
              </a:ext>
            </a:extLst>
          </p:cNvPr>
          <p:cNvSpPr/>
          <p:nvPr/>
        </p:nvSpPr>
        <p:spPr>
          <a:xfrm>
            <a:off x="8417465" y="4601408"/>
            <a:ext cx="84667" cy="84667"/>
          </a:xfrm>
          <a:prstGeom prst="ellipse">
            <a:avLst/>
          </a:prstGeom>
          <a:solidFill>
            <a:schemeClr val="bg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1034" name="直接箭头连接符 1033">
            <a:extLst>
              <a:ext uri="{FF2B5EF4-FFF2-40B4-BE49-F238E27FC236}">
                <a16:creationId xmlns:a16="http://schemas.microsoft.com/office/drawing/2014/main" id="{1E7B5A71-1378-25BA-844E-D629AD194426}"/>
              </a:ext>
            </a:extLst>
          </p:cNvPr>
          <p:cNvCxnSpPr>
            <a:cxnSpLocks/>
          </p:cNvCxnSpPr>
          <p:nvPr/>
        </p:nvCxnSpPr>
        <p:spPr>
          <a:xfrm flipH="1">
            <a:off x="7299325" y="4643741"/>
            <a:ext cx="1118140" cy="0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9" name="标题 1">
            <a:extLst>
              <a:ext uri="{FF2B5EF4-FFF2-40B4-BE49-F238E27FC236}">
                <a16:creationId xmlns:a16="http://schemas.microsoft.com/office/drawing/2014/main" id="{6CE95533-BFDD-317F-19D4-3112CF619809}"/>
              </a:ext>
            </a:extLst>
          </p:cNvPr>
          <p:cNvSpPr txBox="1">
            <a:spLocks/>
          </p:cNvSpPr>
          <p:nvPr/>
        </p:nvSpPr>
        <p:spPr>
          <a:xfrm>
            <a:off x="263143" y="159198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Copper interconnect reach: a bottleneck for IDC scaling; Optical interconnect breaks the limit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50" name="文本框 1049">
            <a:extLst>
              <a:ext uri="{FF2B5EF4-FFF2-40B4-BE49-F238E27FC236}">
                <a16:creationId xmlns:a16="http://schemas.microsoft.com/office/drawing/2014/main" id="{3179E295-4193-A968-20B6-7ED683B0F2D2}"/>
              </a:ext>
            </a:extLst>
          </p:cNvPr>
          <p:cNvSpPr txBox="1"/>
          <p:nvPr/>
        </p:nvSpPr>
        <p:spPr>
          <a:xfrm>
            <a:off x="6453290" y="6347440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112 Gbps is the current mainstream rate, while 224 Gbps is now emerging.​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The stable distance ensuring BER remains below a usable threshold.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52" name="Text Placeholder 4">
            <a:extLst>
              <a:ext uri="{FF2B5EF4-FFF2-40B4-BE49-F238E27FC236}">
                <a16:creationId xmlns:a16="http://schemas.microsoft.com/office/drawing/2014/main" id="{98CB40A3-78E9-6274-F383-E6BC128C15F9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9721583" y="3966369"/>
            <a:ext cx="213730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Transmission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Rate</a:t>
            </a:r>
          </a:p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(Gbps/line)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1061" name="组合 1060">
            <a:extLst>
              <a:ext uri="{FF2B5EF4-FFF2-40B4-BE49-F238E27FC236}">
                <a16:creationId xmlns:a16="http://schemas.microsoft.com/office/drawing/2014/main" id="{9CEE07DE-0EB8-609B-C9BE-AA5A4E34D770}"/>
              </a:ext>
            </a:extLst>
          </p:cNvPr>
          <p:cNvGrpSpPr/>
          <p:nvPr/>
        </p:nvGrpSpPr>
        <p:grpSpPr>
          <a:xfrm>
            <a:off x="504185" y="971862"/>
            <a:ext cx="11708218" cy="503758"/>
            <a:chOff x="504185" y="971862"/>
            <a:chExt cx="11708218" cy="503758"/>
          </a:xfrm>
        </p:grpSpPr>
        <p:sp>
          <p:nvSpPr>
            <p:cNvPr id="1062" name="文本框 1061">
              <a:extLst>
                <a:ext uri="{FF2B5EF4-FFF2-40B4-BE49-F238E27FC236}">
                  <a16:creationId xmlns:a16="http://schemas.microsoft.com/office/drawing/2014/main" id="{55F168A1-7BD4-88E0-EF86-9379A44FF6E3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Copper</a:t>
              </a:r>
              <a:r>
                <a:rPr kumimoji="1" lang="zh-CN" altLang="en-US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 </a:t>
              </a: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=&gt; optics</a:t>
              </a:r>
              <a:r>
                <a:rPr kumimoji="1" lang="zh-CN" altLang="en-US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： </a:t>
              </a: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2.5m =&gt; 100m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63" name="文本框 1062">
              <a:extLst>
                <a:ext uri="{FF2B5EF4-FFF2-40B4-BE49-F238E27FC236}">
                  <a16:creationId xmlns:a16="http://schemas.microsoft.com/office/drawing/2014/main" id="{66B63D50-7A87-6ADA-4203-62F7A881047F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064" name="直线连接符 38">
              <a:extLst>
                <a:ext uri="{FF2B5EF4-FFF2-40B4-BE49-F238E27FC236}">
                  <a16:creationId xmlns:a16="http://schemas.microsoft.com/office/drawing/2014/main" id="{B7C75769-1CDE-6452-24DB-AE99868E490F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5" name="文本框 1064">
              <a:extLst>
                <a:ext uri="{FF2B5EF4-FFF2-40B4-BE49-F238E27FC236}">
                  <a16:creationId xmlns:a16="http://schemas.microsoft.com/office/drawing/2014/main" id="{CA12BEBA-992B-1331-D01B-D4F034DAA27D}"/>
                </a:ext>
              </a:extLst>
            </p:cNvPr>
            <p:cNvSpPr txBox="1"/>
            <p:nvPr/>
          </p:nvSpPr>
          <p:spPr>
            <a:xfrm>
              <a:off x="504185" y="971862"/>
              <a:ext cx="6632595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​​Expanding IDCs relies on optical interconnect​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066" name="直线连接符 38">
              <a:extLst>
                <a:ext uri="{FF2B5EF4-FFF2-40B4-BE49-F238E27FC236}">
                  <a16:creationId xmlns:a16="http://schemas.microsoft.com/office/drawing/2014/main" id="{01C339C7-3D20-22FC-25FA-5F4E074CFDBF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91AF7A96-31F9-5A49-1F5A-3A43F6D6237F}"/>
              </a:ext>
            </a:extLst>
          </p:cNvPr>
          <p:cNvGrpSpPr/>
          <p:nvPr/>
        </p:nvGrpSpPr>
        <p:grpSpPr>
          <a:xfrm>
            <a:off x="3371850" y="2984500"/>
            <a:ext cx="2493963" cy="1993900"/>
            <a:chOff x="1222821" y="2091768"/>
            <a:chExt cx="2380843" cy="1902874"/>
          </a:xfrm>
        </p:grpSpPr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4900B3C9-AFC0-964E-CE06-3946EFEC1E7F}"/>
                </a:ext>
              </a:extLst>
            </p:cNvPr>
            <p:cNvGrpSpPr/>
            <p:nvPr/>
          </p:nvGrpSpPr>
          <p:grpSpPr>
            <a:xfrm>
              <a:off x="1330382" y="2935129"/>
              <a:ext cx="944034" cy="870628"/>
              <a:chOff x="926656" y="3512102"/>
              <a:chExt cx="944034" cy="870628"/>
            </a:xfrm>
          </p:grpSpPr>
          <p:sp>
            <p:nvSpPr>
              <p:cNvPr id="3648" name="矩形: 圆角 3647">
                <a:extLst>
                  <a:ext uri="{FF2B5EF4-FFF2-40B4-BE49-F238E27FC236}">
                    <a16:creationId xmlns:a16="http://schemas.microsoft.com/office/drawing/2014/main" id="{BD1A75CE-605E-2EE9-7377-DE7430A68E18}"/>
                  </a:ext>
                </a:extLst>
              </p:cNvPr>
              <p:cNvSpPr/>
              <p:nvPr/>
            </p:nvSpPr>
            <p:spPr>
              <a:xfrm>
                <a:off x="926656" y="3512102"/>
                <a:ext cx="944034" cy="870628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649" name="矩形: 圆角 3648">
                <a:extLst>
                  <a:ext uri="{FF2B5EF4-FFF2-40B4-BE49-F238E27FC236}">
                    <a16:creationId xmlns:a16="http://schemas.microsoft.com/office/drawing/2014/main" id="{370CD0EA-00EC-1283-7BF5-E79DDC6DF821}"/>
                  </a:ext>
                </a:extLst>
              </p:cNvPr>
              <p:cNvSpPr/>
              <p:nvPr/>
            </p:nvSpPr>
            <p:spPr>
              <a:xfrm>
                <a:off x="1065914" y="4001538"/>
                <a:ext cx="665519" cy="217561"/>
              </a:xfrm>
              <a:prstGeom prst="roundRect">
                <a:avLst>
                  <a:gd name="adj" fmla="val 1226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52D9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650" name="矩形: 圆角 3649">
                <a:extLst>
                  <a:ext uri="{FF2B5EF4-FFF2-40B4-BE49-F238E27FC236}">
                    <a16:creationId xmlns:a16="http://schemas.microsoft.com/office/drawing/2014/main" id="{F12A9352-E771-F25B-30F3-3A0805CACB7A}"/>
                  </a:ext>
                </a:extLst>
              </p:cNvPr>
              <p:cNvSpPr/>
              <p:nvPr/>
            </p:nvSpPr>
            <p:spPr>
              <a:xfrm>
                <a:off x="1065914" y="3667525"/>
                <a:ext cx="665519" cy="217561"/>
              </a:xfrm>
              <a:prstGeom prst="roundRect">
                <a:avLst>
                  <a:gd name="adj" fmla="val 1226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52D9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F3EF336C-AB3D-0D4A-74DD-F513AFFA21D0}"/>
                </a:ext>
              </a:extLst>
            </p:cNvPr>
            <p:cNvGrpSpPr/>
            <p:nvPr/>
          </p:nvGrpSpPr>
          <p:grpSpPr>
            <a:xfrm>
              <a:off x="2563712" y="2935129"/>
              <a:ext cx="944034" cy="870628"/>
              <a:chOff x="926656" y="3512102"/>
              <a:chExt cx="944034" cy="870628"/>
            </a:xfrm>
          </p:grpSpPr>
          <p:sp>
            <p:nvSpPr>
              <p:cNvPr id="61" name="矩形: 圆角 60">
                <a:extLst>
                  <a:ext uri="{FF2B5EF4-FFF2-40B4-BE49-F238E27FC236}">
                    <a16:creationId xmlns:a16="http://schemas.microsoft.com/office/drawing/2014/main" id="{B1E4D708-A2CE-1FCA-B291-B6251B42BA88}"/>
                  </a:ext>
                </a:extLst>
              </p:cNvPr>
              <p:cNvSpPr/>
              <p:nvPr/>
            </p:nvSpPr>
            <p:spPr>
              <a:xfrm>
                <a:off x="926656" y="3512102"/>
                <a:ext cx="944034" cy="870628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2" name="矩形: 圆角 61">
                <a:extLst>
                  <a:ext uri="{FF2B5EF4-FFF2-40B4-BE49-F238E27FC236}">
                    <a16:creationId xmlns:a16="http://schemas.microsoft.com/office/drawing/2014/main" id="{48E69241-8187-0F6F-7630-6F20FE7F2E13}"/>
                  </a:ext>
                </a:extLst>
              </p:cNvPr>
              <p:cNvSpPr/>
              <p:nvPr/>
            </p:nvSpPr>
            <p:spPr>
              <a:xfrm>
                <a:off x="1065914" y="4001538"/>
                <a:ext cx="665519" cy="217561"/>
              </a:xfrm>
              <a:prstGeom prst="roundRect">
                <a:avLst>
                  <a:gd name="adj" fmla="val 1226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52D9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3" name="矩形: 圆角 62">
                <a:extLst>
                  <a:ext uri="{FF2B5EF4-FFF2-40B4-BE49-F238E27FC236}">
                    <a16:creationId xmlns:a16="http://schemas.microsoft.com/office/drawing/2014/main" id="{6C55BEF8-D487-0BB4-BCEF-142ABC0C7DF4}"/>
                  </a:ext>
                </a:extLst>
              </p:cNvPr>
              <p:cNvSpPr/>
              <p:nvPr/>
            </p:nvSpPr>
            <p:spPr>
              <a:xfrm>
                <a:off x="1065914" y="3667525"/>
                <a:ext cx="665519" cy="217561"/>
              </a:xfrm>
              <a:prstGeom prst="roundRect">
                <a:avLst>
                  <a:gd name="adj" fmla="val 1226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52D9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78DDF76C-DDEE-BF79-DCED-7EBD8E52BE5E}"/>
                </a:ext>
              </a:extLst>
            </p:cNvPr>
            <p:cNvSpPr txBox="1"/>
            <p:nvPr/>
          </p:nvSpPr>
          <p:spPr>
            <a:xfrm>
              <a:off x="2074972" y="3189996"/>
              <a:ext cx="679429" cy="3357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0052D9"/>
                  </a:solidFill>
                  <a:cs typeface="+mn-ea"/>
                  <a:sym typeface="+mn-lt"/>
                </a:rPr>
                <a:t>···</a:t>
              </a:r>
              <a:endParaRPr lang="zh-CN" altLang="en-US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cxnSp>
          <p:nvCxnSpPr>
            <p:cNvPr id="58" name="连接符: 肘形 57">
              <a:extLst>
                <a:ext uri="{FF2B5EF4-FFF2-40B4-BE49-F238E27FC236}">
                  <a16:creationId xmlns:a16="http://schemas.microsoft.com/office/drawing/2014/main" id="{0B63913F-B668-D78C-7EE0-BEF4F6677B9C}"/>
                </a:ext>
              </a:extLst>
            </p:cNvPr>
            <p:cNvCxnSpPr>
              <a:cxnSpLocks/>
              <a:stCxn id="3648" idx="0"/>
              <a:endCxn id="61" idx="0"/>
            </p:cNvCxnSpPr>
            <p:nvPr/>
          </p:nvCxnSpPr>
          <p:spPr>
            <a:xfrm rot="5400000" flipH="1" flipV="1">
              <a:off x="2419064" y="2318464"/>
              <a:ext cx="12700" cy="1233330"/>
            </a:xfrm>
            <a:prstGeom prst="bentConnector3">
              <a:avLst>
                <a:gd name="adj1" fmla="val 1800000"/>
              </a:avLst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EB590EA8-C7A1-B431-98EF-A0F687DF4ACD}"/>
                </a:ext>
              </a:extLst>
            </p:cNvPr>
            <p:cNvSpPr txBox="1"/>
            <p:nvPr/>
          </p:nvSpPr>
          <p:spPr>
            <a:xfrm>
              <a:off x="1222821" y="2239553"/>
              <a:ext cx="1816564" cy="4407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dirty="0">
                  <a:cs typeface="+mn-ea"/>
                  <a:sym typeface="+mn-lt"/>
                </a:rPr>
                <a:t>Inter-rack</a:t>
              </a:r>
            </a:p>
            <a:p>
              <a:pPr algn="ctr"/>
              <a:r>
                <a:rPr lang="en-US" altLang="zh-CN" sz="1200" b="1" dirty="0">
                  <a:solidFill>
                    <a:srgbClr val="0052D9"/>
                  </a:solidFill>
                  <a:cs typeface="+mn-ea"/>
                  <a:sym typeface="+mn-lt"/>
                </a:rPr>
                <a:t>&gt; 5 m</a:t>
              </a:r>
              <a:endParaRPr lang="zh-CN" altLang="en-US" sz="1200" b="1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sp>
          <p:nvSpPr>
            <p:cNvPr id="60" name="矩形: 圆角 59">
              <a:extLst>
                <a:ext uri="{FF2B5EF4-FFF2-40B4-BE49-F238E27FC236}">
                  <a16:creationId xmlns:a16="http://schemas.microsoft.com/office/drawing/2014/main" id="{90866F0B-9C46-5F09-E239-BCD5E5C7E314}"/>
                </a:ext>
              </a:extLst>
            </p:cNvPr>
            <p:cNvSpPr/>
            <p:nvPr/>
          </p:nvSpPr>
          <p:spPr>
            <a:xfrm>
              <a:off x="1226694" y="2091768"/>
              <a:ext cx="2376970" cy="1902874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032" name="椭圆 1031">
            <a:extLst>
              <a:ext uri="{FF2B5EF4-FFF2-40B4-BE49-F238E27FC236}">
                <a16:creationId xmlns:a16="http://schemas.microsoft.com/office/drawing/2014/main" id="{23CD7850-F95B-5AE5-7EF7-3A95E05D107B}"/>
              </a:ext>
            </a:extLst>
          </p:cNvPr>
          <p:cNvSpPr/>
          <p:nvPr/>
        </p:nvSpPr>
        <p:spPr>
          <a:xfrm>
            <a:off x="8393329" y="2613147"/>
            <a:ext cx="84667" cy="84667"/>
          </a:xfrm>
          <a:prstGeom prst="ellipse">
            <a:avLst/>
          </a:prstGeom>
          <a:solidFill>
            <a:schemeClr val="bg1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D4EEAED-AA0D-020A-DBDC-FB4B50C53BF3}"/>
              </a:ext>
            </a:extLst>
          </p:cNvPr>
          <p:cNvSpPr txBox="1"/>
          <p:nvPr/>
        </p:nvSpPr>
        <p:spPr>
          <a:xfrm>
            <a:off x="960438" y="3819525"/>
            <a:ext cx="1412875" cy="461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cs typeface="+mn-ea"/>
                <a:sym typeface="+mn-lt"/>
              </a:rPr>
              <a:t>Intra-rack</a:t>
            </a:r>
          </a:p>
          <a:p>
            <a:pPr algn="ctr"/>
            <a:r>
              <a:rPr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&lt; 2.5 m</a:t>
            </a:r>
            <a:endParaRPr lang="zh-CN" altLang="en-US" sz="12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EDC536A-B8D8-9BFC-D44D-B38B648BBF70}"/>
              </a:ext>
            </a:extLst>
          </p:cNvPr>
          <p:cNvSpPr/>
          <p:nvPr/>
        </p:nvSpPr>
        <p:spPr>
          <a:xfrm>
            <a:off x="850901" y="3597275"/>
            <a:ext cx="696913" cy="227013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309B40C-454D-3A61-980C-EB6CC6526363}"/>
              </a:ext>
            </a:extLst>
          </p:cNvPr>
          <p:cNvSpPr/>
          <p:nvPr/>
        </p:nvSpPr>
        <p:spPr>
          <a:xfrm>
            <a:off x="850901" y="4246563"/>
            <a:ext cx="696913" cy="228600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70E25B2A-1888-C02A-16E0-B7C0DAF25DA3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1199358" y="3824288"/>
            <a:ext cx="0" cy="42227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849" name="Chart 3">
            <a:extLst>
              <a:ext uri="{FF2B5EF4-FFF2-40B4-BE49-F238E27FC236}">
                <a16:creationId xmlns:a16="http://schemas.microsoft.com/office/drawing/2014/main" id="{566F0490-5E95-A7CA-C309-60AE5FD3FC6F}"/>
              </a:ext>
            </a:extLst>
          </p:cNvPr>
          <p:cNvGraphicFramePr/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026932529"/>
              </p:ext>
            </p:extLst>
          </p:nvPr>
        </p:nvGraphicFramePr>
        <p:xfrm>
          <a:off x="1406525" y="3460750"/>
          <a:ext cx="1927225" cy="1089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0"/>
          </a:graphicData>
        </a:graphic>
      </p:graphicFrame>
      <p:sp>
        <p:nvSpPr>
          <p:cNvPr id="3683" name="Text Placeholder 4">
            <a:extLst>
              <a:ext uri="{FF2B5EF4-FFF2-40B4-BE49-F238E27FC236}">
                <a16:creationId xmlns:a16="http://schemas.microsoft.com/office/drawing/2014/main" id="{40C9D0F3-9EA1-4720-9B50-6045296615A3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2311400" y="3762375"/>
            <a:ext cx="176213" cy="122238"/>
          </a:xfrm>
          <a:prstGeom prst="rect">
            <a:avLst/>
          </a:prstGeom>
          <a:solidFill>
            <a:srgbClr val="0052D9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FFE0833A-3CC1-4BC4-8A2B-13AFF10CEF48}" type="datetime'''''''''''''''''5''''%'''''''">
              <a:rPr lang="en-US" altLang="en-US" sz="800" smtClean="0">
                <a:solidFill>
                  <a:schemeClr val="tx2"/>
                </a:solidFill>
                <a:effectLst/>
                <a:cs typeface="+mn-cs"/>
              </a:rPr>
              <a:pPr/>
              <a:t>5%</a:t>
            </a:fld>
            <a:endParaRPr lang="zh-CN" altLang="en-US" sz="800" dirty="0">
              <a:solidFill>
                <a:schemeClr val="tx2"/>
              </a:solidFill>
              <a:cs typeface="+mn-cs"/>
            </a:endParaRPr>
          </a:p>
        </p:txBody>
      </p:sp>
      <p:sp>
        <p:nvSpPr>
          <p:cNvPr id="3668" name="矩形 3667">
            <a:extLst>
              <a:ext uri="{FF2B5EF4-FFF2-40B4-BE49-F238E27FC236}">
                <a16:creationId xmlns:a16="http://schemas.microsoft.com/office/drawing/2014/main" id="{09265842-5D48-DF77-1DB9-48A60F28BD0A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565150" y="2384425"/>
            <a:ext cx="214313" cy="160338"/>
          </a:xfrm>
          <a:prstGeom prst="rect">
            <a:avLst/>
          </a:prstGeom>
          <a:solidFill>
            <a:srgbClr val="007770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69" name="矩形 3668">
            <a:extLst>
              <a:ext uri="{FF2B5EF4-FFF2-40B4-BE49-F238E27FC236}">
                <a16:creationId xmlns:a16="http://schemas.microsoft.com/office/drawing/2014/main" id="{3DDF94FF-2407-55AC-3862-5EF287818CD1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565150" y="2617788"/>
            <a:ext cx="214313" cy="160338"/>
          </a:xfrm>
          <a:prstGeom prst="rect">
            <a:avLst/>
          </a:prstGeom>
          <a:solidFill>
            <a:srgbClr val="0052D9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338B3DEB-EAEE-652B-3140-964C1BFFE05F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830263" y="2379663"/>
            <a:ext cx="262731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cs typeface="+mn-cs"/>
              </a:rPr>
              <a:t>Penetration rate of copper interconnect</a:t>
            </a:r>
            <a:endParaRPr lang="zh-CN" altLang="en-US" sz="1200" dirty="0">
              <a:cs typeface="+mn-cs"/>
            </a:endParaRP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47417CC3-A8E4-8849-1E95-60500123EDFB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830263" y="2613025"/>
            <a:ext cx="260191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/>
              <a:t>Penetration rate of optical interconnect</a:t>
            </a:r>
            <a:endParaRPr lang="zh-CN" altLang="en-US" sz="1200" dirty="0">
              <a:cs typeface="+mn-cs"/>
            </a:endParaRPr>
          </a:p>
        </p:txBody>
      </p:sp>
      <p:graphicFrame>
        <p:nvGraphicFramePr>
          <p:cNvPr id="3844" name="Chart 3">
            <a:extLst>
              <a:ext uri="{FF2B5EF4-FFF2-40B4-BE49-F238E27FC236}">
                <a16:creationId xmlns:a16="http://schemas.microsoft.com/office/drawing/2014/main" id="{8B981A2F-E10E-BA05-926D-EC27B44F7297}"/>
              </a:ext>
            </a:extLst>
          </p:cNvPr>
          <p:cNvGraphicFramePr/>
          <p:nvPr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1573181827"/>
              </p:ext>
            </p:extLst>
          </p:nvPr>
        </p:nvGraphicFramePr>
        <p:xfrm>
          <a:off x="4265613" y="2776538"/>
          <a:ext cx="1927225" cy="1089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1"/>
          </a:graphicData>
        </a:graphic>
      </p:graphicFrame>
      <p:graphicFrame>
        <p:nvGraphicFramePr>
          <p:cNvPr id="3853" name="Chart 3">
            <a:extLst>
              <a:ext uri="{FF2B5EF4-FFF2-40B4-BE49-F238E27FC236}">
                <a16:creationId xmlns:a16="http://schemas.microsoft.com/office/drawing/2014/main" id="{4A97BCBE-CA54-4EA9-517D-560EDF608698}"/>
              </a:ext>
            </a:extLst>
          </p:cNvPr>
          <p:cNvGraphicFramePr/>
          <p:nvPr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2936780188"/>
              </p:ext>
            </p:extLst>
          </p:nvPr>
        </p:nvGraphicFramePr>
        <p:xfrm>
          <a:off x="3365500" y="5143500"/>
          <a:ext cx="1927225" cy="1089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2"/>
          </a:graphicData>
        </a:graphic>
      </p:graphicFrame>
      <p:sp>
        <p:nvSpPr>
          <p:cNvPr id="1046" name="Text Placeholder 4">
            <a:extLst>
              <a:ext uri="{FF2B5EF4-FFF2-40B4-BE49-F238E27FC236}">
                <a16:creationId xmlns:a16="http://schemas.microsoft.com/office/drawing/2014/main" id="{6DE8F834-8B0C-E30E-39B0-DEA6DFAB3B7A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gray">
          <a:xfrm>
            <a:off x="4162425" y="5472113"/>
            <a:ext cx="233363" cy="122238"/>
          </a:xfrm>
          <a:prstGeom prst="rect">
            <a:avLst/>
          </a:prstGeom>
          <a:solidFill>
            <a:srgbClr val="007770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7962413D-CA9F-4FA3-81CA-1F2B29258675}" type="datetime'1''''''''''''''0''''''%'''''''''''''''''''''''''''''''''''''''">
              <a:rPr lang="en-US" altLang="en-US" sz="800" smtClean="0">
                <a:solidFill>
                  <a:schemeClr val="tx2"/>
                </a:solidFill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10%</a:t>
            </a:fld>
            <a:endParaRPr lang="zh-CN" altLang="en-US" sz="800" dirty="0">
              <a:solidFill>
                <a:schemeClr val="tx2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3631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80F2B-B77D-64EE-D8EB-5C6CFE23B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1B79062-AB10-AD66-28A3-873272074B8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497391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7" imgW="404" imgH="405" progId="TCLayout.ActiveDocument.1">
                  <p:embed/>
                </p:oleObj>
              </mc:Choice>
              <mc:Fallback>
                <p:oleObj name="think-cell 幻灯片" r:id="rId17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1B79062-AB10-AD66-28A3-873272074B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矩形 35">
            <a:extLst>
              <a:ext uri="{FF2B5EF4-FFF2-40B4-BE49-F238E27FC236}">
                <a16:creationId xmlns:a16="http://schemas.microsoft.com/office/drawing/2014/main" id="{B6DFAD90-E638-3B22-4A23-1AD8AC4AFECD}"/>
              </a:ext>
            </a:extLst>
          </p:cNvPr>
          <p:cNvSpPr/>
          <p:nvPr/>
        </p:nvSpPr>
        <p:spPr>
          <a:xfrm>
            <a:off x="7519989" y="1278426"/>
            <a:ext cx="4062797" cy="4532997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endParaRPr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1B75C849-9B8A-D63E-8B72-8C179694304E}"/>
              </a:ext>
            </a:extLst>
          </p:cNvPr>
          <p:cNvSpPr txBox="1"/>
          <p:nvPr/>
        </p:nvSpPr>
        <p:spPr>
          <a:xfrm>
            <a:off x="245403" y="6010274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 Nvidia.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115154D-BF4F-3FE2-994F-651E7AE8C2AF}"/>
              </a:ext>
            </a:extLst>
          </p:cNvPr>
          <p:cNvSpPr txBox="1"/>
          <p:nvPr/>
        </p:nvSpPr>
        <p:spPr>
          <a:xfrm>
            <a:off x="7768907" y="1634102"/>
            <a:ext cx="3563277" cy="300139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Pluggable Optics (PO):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Entered</a:t>
            </a: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mass production in 2014, accounting for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~5% of HPC capex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currently.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 ​</a:t>
            </a:r>
          </a:p>
          <a:p>
            <a:pPr marL="285750" indent="-28575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Copper to pluggable:</a:t>
            </a:r>
            <a:r>
              <a:rPr kumimoji="1" lang="zh-CN" altLang="en-US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3-4x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power consumption, accounting for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7.4%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of GB200 NVL72 card power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​Pluggable to CPO: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~60%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 cut;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Million-scale RMB/y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saved for 10k-card cluster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graphicFrame>
        <p:nvGraphicFramePr>
          <p:cNvPr id="86" name="Chart 3">
            <a:extLst>
              <a:ext uri="{FF2B5EF4-FFF2-40B4-BE49-F238E27FC236}">
                <a16:creationId xmlns:a16="http://schemas.microsoft.com/office/drawing/2014/main" id="{0332C7DB-05D7-749E-163B-FA86688A67C2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96322766"/>
              </p:ext>
            </p:extLst>
          </p:nvPr>
        </p:nvGraphicFramePr>
        <p:xfrm>
          <a:off x="1824038" y="3876675"/>
          <a:ext cx="4713287" cy="1876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cxnSp>
        <p:nvCxnSpPr>
          <p:cNvPr id="271" name="直接连接符 270">
            <a:extLst>
              <a:ext uri="{FF2B5EF4-FFF2-40B4-BE49-F238E27FC236}">
                <a16:creationId xmlns:a16="http://schemas.microsoft.com/office/drawing/2014/main" id="{EEFE292B-D0A0-20CC-BC60-BAE3A928AACE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 bwMode="auto">
          <a:xfrm flipV="1">
            <a:off x="4452938" y="3865563"/>
            <a:ext cx="0" cy="23336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3818ECE0-82B7-DC06-95A8-1C90DA9721B2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4452938" y="3865563"/>
            <a:ext cx="13335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9F3D5B60-BF92-80CF-B129-E4261AE538EC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 bwMode="auto">
          <a:xfrm>
            <a:off x="5786438" y="3865563"/>
            <a:ext cx="0" cy="10906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DC4CD58A-1D30-4943-B58C-A25C614A1318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3119438" y="5081588"/>
            <a:ext cx="0" cy="1016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7" name="Text Placeholder 4">
            <a:extLst>
              <a:ext uri="{FF2B5EF4-FFF2-40B4-BE49-F238E27FC236}">
                <a16:creationId xmlns:a16="http://schemas.microsoft.com/office/drawing/2014/main" id="{EE605E94-4724-DEF2-7912-9130B91ED26E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2686050" y="4806950"/>
            <a:ext cx="8667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txBody>
          <a:bodyPr vert="horz" wrap="none" lIns="33338" tIns="0" rIns="333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8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3.5-5 W</a:t>
            </a:r>
            <a:endParaRPr lang="zh-CN" altLang="en-US" sz="18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5" name="Text Placeholder 4">
            <a:extLst>
              <a:ext uri="{FF2B5EF4-FFF2-40B4-BE49-F238E27FC236}">
                <a16:creationId xmlns:a16="http://schemas.microsoft.com/office/drawing/2014/main" id="{12CCB4E7-78E5-38E8-125C-7614CBCAF0AB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2522538" y="5549900"/>
            <a:ext cx="11938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000000"/>
                </a:solidFill>
                <a:cs typeface="+mn-cs"/>
                <a:sym typeface="+mn-lt"/>
              </a:rPr>
              <a:t>Copper (AEC</a:t>
            </a:r>
            <a:r>
              <a:rPr lang="en-US" altLang="zh-CN" sz="1400" baseline="30000" dirty="0">
                <a:solidFill>
                  <a:srgbClr val="000000"/>
                </a:solidFill>
                <a:cs typeface="+mn-cs"/>
                <a:sym typeface="+mn-lt"/>
              </a:rPr>
              <a:t>1</a:t>
            </a:r>
            <a:r>
              <a:rPr lang="en-US" altLang="zh-CN" sz="1400" dirty="0">
                <a:solidFill>
                  <a:srgbClr val="000000"/>
                </a:solidFill>
                <a:cs typeface="+mn-cs"/>
                <a:sym typeface="+mn-lt"/>
              </a:rPr>
              <a:t>)</a:t>
            </a:r>
            <a:endParaRPr lang="zh-CN" altLang="en-US" sz="1400" dirty="0">
              <a:solidFill>
                <a:srgbClr val="000000"/>
              </a:solidFill>
              <a:cs typeface="+mn-cs"/>
              <a:sym typeface="+mn-lt"/>
            </a:endParaRPr>
          </a:p>
        </p:txBody>
      </p:sp>
      <p:sp>
        <p:nvSpPr>
          <p:cNvPr id="336" name="Text Placeholder 4">
            <a:extLst>
              <a:ext uri="{FF2B5EF4-FFF2-40B4-BE49-F238E27FC236}">
                <a16:creationId xmlns:a16="http://schemas.microsoft.com/office/drawing/2014/main" id="{2D714D05-B240-7E6B-C34D-A9C32BCD887C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4152900" y="4676775"/>
            <a:ext cx="6000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33338" tIns="0" rIns="3333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800" b="1" dirty="0">
                <a:solidFill>
                  <a:schemeClr val="bg1"/>
                </a:solidFill>
                <a:cs typeface="+mn-ea"/>
                <a:sym typeface="+mn-lt"/>
              </a:rPr>
              <a:t>15 W</a:t>
            </a:r>
            <a:endParaRPr lang="zh-CN" altLang="en-US" sz="1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71" name="Text Placeholder 4">
            <a:extLst>
              <a:ext uri="{FF2B5EF4-FFF2-40B4-BE49-F238E27FC236}">
                <a16:creationId xmlns:a16="http://schemas.microsoft.com/office/drawing/2014/main" id="{C4877991-8815-3B0C-239A-FA241A1A2A3D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4318000" y="5549900"/>
            <a:ext cx="2698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000000"/>
                </a:solidFill>
                <a:cs typeface="+mn-cs"/>
                <a:sym typeface="+mn-lt"/>
              </a:rPr>
              <a:t>PO</a:t>
            </a:r>
            <a:endParaRPr lang="zh-CN" altLang="en-US" sz="1400" dirty="0">
              <a:solidFill>
                <a:srgbClr val="000000"/>
              </a:solidFill>
              <a:cs typeface="+mn-cs"/>
              <a:sym typeface="+mn-lt"/>
            </a:endParaRPr>
          </a:p>
        </p:txBody>
      </p:sp>
      <p:sp>
        <p:nvSpPr>
          <p:cNvPr id="343" name="Text Placeholder 4">
            <a:extLst>
              <a:ext uri="{FF2B5EF4-FFF2-40B4-BE49-F238E27FC236}">
                <a16:creationId xmlns:a16="http://schemas.microsoft.com/office/drawing/2014/main" id="{BB709C0C-4FD8-2E1A-C5FC-902A7B56B955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gray">
          <a:xfrm>
            <a:off x="5454650" y="5105400"/>
            <a:ext cx="6635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33338" tIns="0" rIns="3333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800" b="1" dirty="0">
                <a:solidFill>
                  <a:schemeClr val="tx2"/>
                </a:solidFill>
                <a:cs typeface="+mn-cs"/>
              </a:rPr>
              <a:t>5.5 W</a:t>
            </a:r>
            <a:endParaRPr lang="zh-CN" altLang="en-US" sz="1800" b="1" dirty="0">
              <a:solidFill>
                <a:schemeClr val="tx2"/>
              </a:solidFill>
              <a:cs typeface="+mn-ea"/>
              <a:sym typeface="+mn-lt"/>
            </a:endParaRPr>
          </a:p>
        </p:txBody>
      </p:sp>
      <p:sp>
        <p:nvSpPr>
          <p:cNvPr id="182" name="Text Placeholder 4">
            <a:extLst>
              <a:ext uri="{FF2B5EF4-FFF2-40B4-BE49-F238E27FC236}">
                <a16:creationId xmlns:a16="http://schemas.microsoft.com/office/drawing/2014/main" id="{62BEE835-D25C-5772-E70E-E3B50279754D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5588000" y="5549900"/>
            <a:ext cx="3984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176B2D5-5628-4116-8002-3DBBCA4C15B9}" type="datetime'''''''''''''''C''''''''P''O'''''''''''''''''''''''''''''''''''">
              <a:rPr lang="en-US" altLang="en-US" sz="1400" smtClean="0">
                <a:solidFill>
                  <a:schemeClr val="accent6">
                    <a:lumMod val="10000"/>
                  </a:schemeClr>
                </a:solidFill>
                <a:cs typeface="+mn-cs"/>
                <a:sym typeface="+mn-lt"/>
              </a:rPr>
              <a:pPr/>
              <a:t>CPO</a:t>
            </a:fld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  <a:sym typeface="+mn-lt"/>
            </a:endParaRPr>
          </a:p>
        </p:txBody>
      </p:sp>
      <p:sp>
        <p:nvSpPr>
          <p:cNvPr id="267" name="Text Placeholder 4">
            <a:extLst>
              <a:ext uri="{FF2B5EF4-FFF2-40B4-BE49-F238E27FC236}">
                <a16:creationId xmlns:a16="http://schemas.microsoft.com/office/drawing/2014/main" id="{9660483F-E692-1656-25FE-7D1AA851843D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4741863" y="3671888"/>
            <a:ext cx="755650" cy="388938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508DA37-3689-4A53-8EFA-A7E63FCBBF8B}" type="datetime'''''''-''''''''''''''''''''6''''''''''3%'''''''">
              <a:rPr lang="en-US" altLang="en-US" sz="1800" b="1" smtClean="0">
                <a:effectLst/>
                <a:cs typeface="+mn-cs"/>
              </a:rPr>
              <a:pPr/>
              <a:t>-63%</a:t>
            </a:fld>
            <a:endParaRPr lang="zh-CN" altLang="en-US" sz="1800" b="1" dirty="0">
              <a:cs typeface="+mn-cs"/>
              <a:sym typeface="+mn-lt"/>
            </a:endParaRPr>
          </a:p>
        </p:txBody>
      </p:sp>
      <p:sp>
        <p:nvSpPr>
          <p:cNvPr id="84" name="Text Placeholder 4">
            <a:extLst>
              <a:ext uri="{FF2B5EF4-FFF2-40B4-BE49-F238E27FC236}">
                <a16:creationId xmlns:a16="http://schemas.microsoft.com/office/drawing/2014/main" id="{ED4DBD6C-2C3B-3B52-8ADA-7166A0B107E1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auto">
          <a:xfrm>
            <a:off x="609214" y="1783361"/>
            <a:ext cx="281883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Power (W per 800G Port)</a:t>
            </a:r>
            <a:endParaRPr lang="zh-CN" altLang="en-US" sz="16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6" name="标题 1">
            <a:extLst>
              <a:ext uri="{FF2B5EF4-FFF2-40B4-BE49-F238E27FC236}">
                <a16:creationId xmlns:a16="http://schemas.microsoft.com/office/drawing/2014/main" id="{BD7B789B-24A8-260F-8606-C0620ED9CB96}"/>
              </a:ext>
            </a:extLst>
          </p:cNvPr>
          <p:cNvSpPr txBox="1">
            <a:spLocks/>
          </p:cNvSpPr>
          <p:nvPr/>
        </p:nvSpPr>
        <p:spPr>
          <a:xfrm>
            <a:off x="263143" y="159198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Power issues in copper-to-optical transition; CPO cuts power consumption significantly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59" name="文本框 258">
            <a:extLst>
              <a:ext uri="{FF2B5EF4-FFF2-40B4-BE49-F238E27FC236}">
                <a16:creationId xmlns:a16="http://schemas.microsoft.com/office/drawing/2014/main" id="{41A191AD-645C-E1FE-AD69-F0931DDFCF62}"/>
              </a:ext>
            </a:extLst>
          </p:cNvPr>
          <p:cNvSpPr txBox="1"/>
          <p:nvPr/>
        </p:nvSpPr>
        <p:spPr>
          <a:xfrm>
            <a:off x="245403" y="6263203"/>
            <a:ext cx="1212716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AEC (Active ​Electrical ​Cable) integrates signal enhancement chips (re-timer) to extend the reach, using more power (3.5-5W with a 5-meter reach).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Based on the GB200 NVL72 expansion solution, totaling 9,216 B200 GPUs. The average power consumption per card in GB200 is 900W.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4A7FE42-FDAF-558C-6DB7-B86E149A5515}"/>
              </a:ext>
            </a:extLst>
          </p:cNvPr>
          <p:cNvSpPr txBox="1"/>
          <p:nvPr/>
        </p:nvSpPr>
        <p:spPr>
          <a:xfrm>
            <a:off x="546100" y="1349985"/>
            <a:ext cx="567690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 Consumption: Copper, Pluggable, and CPO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B0E2481-139C-4146-EA11-E128D6775A2E}"/>
              </a:ext>
            </a:extLst>
          </p:cNvPr>
          <p:cNvSpPr/>
          <p:nvPr/>
        </p:nvSpPr>
        <p:spPr>
          <a:xfrm>
            <a:off x="12321763" y="0"/>
            <a:ext cx="1989145" cy="136157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不同互联方式的功耗对应的距离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@sidong</a:t>
            </a:r>
            <a:endParaRPr lang="en-US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2B49E84-8C9B-69C6-1FD6-497BC0CEFD8F}"/>
              </a:ext>
            </a:extLst>
          </p:cNvPr>
          <p:cNvSpPr txBox="1"/>
          <p:nvPr/>
        </p:nvSpPr>
        <p:spPr>
          <a:xfrm>
            <a:off x="859816" y="3428999"/>
            <a:ext cx="916597" cy="2251075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Long reach</a:t>
            </a: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(&gt; 5 m)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D17C285-0F4A-8942-82E8-1916081C4DE9}"/>
              </a:ext>
            </a:extLst>
          </p:cNvPr>
          <p:cNvSpPr txBox="1"/>
          <p:nvPr/>
        </p:nvSpPr>
        <p:spPr>
          <a:xfrm>
            <a:off x="859816" y="2338575"/>
            <a:ext cx="916597" cy="85344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Short reach</a:t>
            </a: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(&lt; 5 m)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C697BAD-D444-13BD-DF04-AB02E7BFFE58}"/>
              </a:ext>
            </a:extLst>
          </p:cNvPr>
          <p:cNvSpPr txBox="1"/>
          <p:nvPr/>
        </p:nvSpPr>
        <p:spPr>
          <a:xfrm>
            <a:off x="3063875" y="2501430"/>
            <a:ext cx="1312863" cy="690585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buNone/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Direct Attach Copper Cable</a:t>
            </a:r>
          </a:p>
          <a:p>
            <a:pPr>
              <a:buNone/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(DAC)</a:t>
            </a:r>
            <a:endParaRPr kumimoji="1" lang="zh-CN" altLang="en-US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4B83AE4-619F-0E69-97D1-420FC17358C7}"/>
              </a:ext>
            </a:extLst>
          </p:cNvPr>
          <p:cNvSpPr txBox="1"/>
          <p:nvPr/>
        </p:nvSpPr>
        <p:spPr>
          <a:xfrm>
            <a:off x="2101849" y="2259348"/>
            <a:ext cx="1603375" cy="328614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Copper</a:t>
            </a:r>
            <a:endParaRPr kumimoji="1" lang="zh-CN" altLang="en-US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4B059BF-3052-01F3-8755-6F742A360A56}"/>
              </a:ext>
            </a:extLst>
          </p:cNvPr>
          <p:cNvSpPr txBox="1"/>
          <p:nvPr/>
        </p:nvSpPr>
        <p:spPr>
          <a:xfrm>
            <a:off x="2102643" y="3376611"/>
            <a:ext cx="1601788" cy="328614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Copper or optics</a:t>
            </a:r>
            <a:endParaRPr kumimoji="1" lang="zh-CN" altLang="en-US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26" name="Picture 2" descr="image-20250810142041539">
            <a:extLst>
              <a:ext uri="{FF2B5EF4-FFF2-40B4-BE49-F238E27FC236}">
                <a16:creationId xmlns:a16="http://schemas.microsoft.com/office/drawing/2014/main" id="{B0647645-1DC9-2911-0D2D-C58EF242E7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7900" y="2644037"/>
            <a:ext cx="628650" cy="483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02984D2D-D2E6-38E8-62AC-3208B12CA8AE}"/>
              </a:ext>
            </a:extLst>
          </p:cNvPr>
          <p:cNvSpPr txBox="1"/>
          <p:nvPr/>
        </p:nvSpPr>
        <p:spPr>
          <a:xfrm>
            <a:off x="4741863" y="2444216"/>
            <a:ext cx="1312863" cy="690585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buNone/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&lt; 0.1 W</a:t>
            </a:r>
            <a:endParaRPr kumimoji="1" lang="zh-CN" altLang="en-US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28" name="Picture 4" descr="image-20250810150708856">
            <a:extLst>
              <a:ext uri="{FF2B5EF4-FFF2-40B4-BE49-F238E27FC236}">
                <a16:creationId xmlns:a16="http://schemas.microsoft.com/office/drawing/2014/main" id="{28C774C1-DAC2-FC8F-8A8F-864194456A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440"/>
          <a:stretch/>
        </p:blipFill>
        <p:spPr bwMode="auto">
          <a:xfrm>
            <a:off x="2586040" y="4420194"/>
            <a:ext cx="600074" cy="375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具有SGMII接口热插拔光模块 ESFP Optical Moudule with SGMII （SGMII SFP） - 知乎">
            <a:extLst>
              <a:ext uri="{FF2B5EF4-FFF2-40B4-BE49-F238E27FC236}">
                <a16:creationId xmlns:a16="http://schemas.microsoft.com/office/drawing/2014/main" id="{0C3D5394-D631-CE4C-8600-8907C115E5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98" t="21981" r="10185" b="29244"/>
          <a:stretch/>
        </p:blipFill>
        <p:spPr bwMode="auto">
          <a:xfrm>
            <a:off x="3790902" y="3714535"/>
            <a:ext cx="627697" cy="388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8" name="图片 87">
            <a:extLst>
              <a:ext uri="{FF2B5EF4-FFF2-40B4-BE49-F238E27FC236}">
                <a16:creationId xmlns:a16="http://schemas.microsoft.com/office/drawing/2014/main" id="{85AA76EB-3293-69CC-BDE5-47CE9B68EB0F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BEBA8EAE-BF5A-486C-A8C5-ECC9F3942E4B}">
                <a14:imgProps xmlns:a14="http://schemas.microsoft.com/office/drawing/2010/main">
                  <a14:imgLayer r:embed="rId24">
                    <a14:imgEffect>
                      <a14:backgroundRemoval t="6518" b="94786" l="5914" r="97491">
                        <a14:foregroundMark x1="19713" y1="6145" x2="6093" y2="7263"/>
                        <a14:foregroundMark x1="6093" y1="7263" x2="14337" y2="78585"/>
                        <a14:foregroundMark x1="14337" y1="78585" x2="41577" y2="92179"/>
                        <a14:foregroundMark x1="41577" y1="92179" x2="75448" y2="90130"/>
                        <a14:foregroundMark x1="75448" y1="90130" x2="84946" y2="83799"/>
                        <a14:foregroundMark x1="84946" y1="83799" x2="91756" y2="70205"/>
                        <a14:foregroundMark x1="91756" y1="70205" x2="85305" y2="27933"/>
                        <a14:foregroundMark x1="85305" y1="27933" x2="79749" y2="15084"/>
                        <a14:foregroundMark x1="79749" y1="15084" x2="21147" y2="8566"/>
                        <a14:foregroundMark x1="21147" y1="8566" x2="17025" y2="6518"/>
                        <a14:foregroundMark x1="6093" y1="7821" x2="6452" y2="27561"/>
                        <a14:foregroundMark x1="19713" y1="23650" x2="24014" y2="74302"/>
                        <a14:foregroundMark x1="15233" y1="27188" x2="18638" y2="91806"/>
                        <a14:foregroundMark x1="22222" y1="14525" x2="33513" y2="14525"/>
                        <a14:foregroundMark x1="33513" y1="14525" x2="45520" y2="13966"/>
                        <a14:foregroundMark x1="33154" y1="86220" x2="72581" y2="81750"/>
                        <a14:foregroundMark x1="72581" y1="81750" x2="79570" y2="83054"/>
                        <a14:foregroundMark x1="23835" y1="90875" x2="34946" y2="94786"/>
                        <a14:foregroundMark x1="34946" y1="94786" x2="63620" y2="92179"/>
                        <a14:foregroundMark x1="91398" y1="64246" x2="93190" y2="76909"/>
                        <a14:foregroundMark x1="93190" y1="76909" x2="85125" y2="80447"/>
                        <a14:foregroundMark x1="94145" y1="75176" x2="93190" y2="81378"/>
                        <a14:foregroundMark x1="93190" y1="81378" x2="89606" y2="82682"/>
                        <a14:foregroundMark x1="53226" y1="18436" x2="60215" y2="77654"/>
                        <a14:foregroundMark x1="28853" y1="53073" x2="89469" y2="45374"/>
                        <a14:foregroundMark x1="26703" y1="26629" x2="53584" y2="26257"/>
                        <a14:foregroundMark x1="62007" y1="22160" x2="67921" y2="43762"/>
                        <a14:foregroundMark x1="71505" y1="48603" x2="75090" y2="67970"/>
                        <a14:foregroundMark x1="71147" y1="25512" x2="70609" y2="51210"/>
                        <a14:foregroundMark x1="33154" y1="21974" x2="34588" y2="59963"/>
                        <a14:foregroundMark x1="34588" y1="59963" x2="53226" y2="69646"/>
                        <a14:foregroundMark x1="53226" y1="69646" x2="79570" y2="69832"/>
                        <a14:foregroundMark x1="79570" y1="69832" x2="79928" y2="69460"/>
                        <a14:foregroundMark x1="37455" y1="60521" x2="51971" y2="73557"/>
                        <a14:foregroundMark x1="51971" y1="73557" x2="51971" y2="73557"/>
                        <a14:foregroundMark x1="33513" y1="62011" x2="39964" y2="72067"/>
                        <a14:foregroundMark x1="39964" y1="72067" x2="46774" y2="70577"/>
                        <a14:foregroundMark x1="77957" y1="25140" x2="82079" y2="31099"/>
                        <a14:backgroundMark x1="3763" y1="51955" x2="3047" y2="82868"/>
                        <a14:backgroundMark x1="92832" y1="26257" x2="97133" y2="52700"/>
                        <a14:backgroundMark x1="91219" y1="27002" x2="99283" y2="783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86375" y="4552446"/>
            <a:ext cx="390314" cy="375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630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FEB7AE4-B65B-C4C4-1B81-0F6F5726F2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486181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FEB7AE4-B65B-C4C4-1B81-0F6F5726F2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369FE1A6-9A83-C9EE-0A19-B32C608D75C8}"/>
              </a:ext>
            </a:extLst>
          </p:cNvPr>
          <p:cNvSpPr txBox="1"/>
          <p:nvPr/>
        </p:nvSpPr>
        <p:spPr>
          <a:xfrm>
            <a:off x="1848821" y="3592430"/>
            <a:ext cx="27876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22dB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CD45E0C-5835-16E7-8E9C-4B9E7B8184C7}"/>
              </a:ext>
            </a:extLst>
          </p:cNvPr>
          <p:cNvSpPr txBox="1"/>
          <p:nvPr/>
        </p:nvSpPr>
        <p:spPr>
          <a:xfrm>
            <a:off x="1620789" y="2303966"/>
            <a:ext cx="1173211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Signal loss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E13A0C2-8BD5-F282-EBFF-1DC4047516D9}"/>
              </a:ext>
            </a:extLst>
          </p:cNvPr>
          <p:cNvSpPr txBox="1"/>
          <p:nvPr/>
        </p:nvSpPr>
        <p:spPr>
          <a:xfrm>
            <a:off x="1935602" y="5498707"/>
            <a:ext cx="2787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4dB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989D3CE2-210E-CC7D-621E-E3C9275A6A3A}"/>
              </a:ext>
            </a:extLst>
          </p:cNvPr>
          <p:cNvSpPr txBox="1">
            <a:spLocks/>
          </p:cNvSpPr>
          <p:nvPr/>
        </p:nvSpPr>
        <p:spPr>
          <a:xfrm>
            <a:off x="311150" y="216822"/>
            <a:ext cx="10331450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 overcomes PO’s constraints: signal loss, power consumption, and speed limitations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1037" name="直线连接符 30">
            <a:extLst>
              <a:ext uri="{FF2B5EF4-FFF2-40B4-BE49-F238E27FC236}">
                <a16:creationId xmlns:a16="http://schemas.microsoft.com/office/drawing/2014/main" id="{ED02B6E0-8381-DC9D-621A-D6B315636CD9}"/>
              </a:ext>
            </a:extLst>
          </p:cNvPr>
          <p:cNvCxnSpPr>
            <a:cxnSpLocks/>
          </p:cNvCxnSpPr>
          <p:nvPr/>
        </p:nvCxnSpPr>
        <p:spPr>
          <a:xfrm>
            <a:off x="524995" y="2865436"/>
            <a:ext cx="10833059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2" name="文本框 2191">
            <a:extLst>
              <a:ext uri="{FF2B5EF4-FFF2-40B4-BE49-F238E27FC236}">
                <a16:creationId xmlns:a16="http://schemas.microsoft.com/office/drawing/2014/main" id="{11C415A0-6402-D7B4-E114-4E16E77FFEE9}"/>
              </a:ext>
            </a:extLst>
          </p:cNvPr>
          <p:cNvSpPr txBox="1"/>
          <p:nvPr/>
        </p:nvSpPr>
        <p:spPr>
          <a:xfrm>
            <a:off x="311150" y="3602624"/>
            <a:ext cx="1361697" cy="338554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Pluggable</a:t>
            </a:r>
          </a:p>
        </p:txBody>
      </p:sp>
      <p:sp>
        <p:nvSpPr>
          <p:cNvPr id="2194" name="文本框 2193">
            <a:extLst>
              <a:ext uri="{FF2B5EF4-FFF2-40B4-BE49-F238E27FC236}">
                <a16:creationId xmlns:a16="http://schemas.microsoft.com/office/drawing/2014/main" id="{CA121FB0-0CE5-73AC-E986-07E323FE78ED}"/>
              </a:ext>
            </a:extLst>
          </p:cNvPr>
          <p:cNvSpPr txBox="1"/>
          <p:nvPr/>
        </p:nvSpPr>
        <p:spPr>
          <a:xfrm>
            <a:off x="536146" y="5522069"/>
            <a:ext cx="911703" cy="338554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</a:p>
        </p:txBody>
      </p:sp>
      <p:sp>
        <p:nvSpPr>
          <p:cNvPr id="2306" name="文本框 2305">
            <a:extLst>
              <a:ext uri="{FF2B5EF4-FFF2-40B4-BE49-F238E27FC236}">
                <a16:creationId xmlns:a16="http://schemas.microsoft.com/office/drawing/2014/main" id="{8702DED7-1C3A-C8DD-13BE-F188EA97DC8D}"/>
              </a:ext>
            </a:extLst>
          </p:cNvPr>
          <p:cNvSpPr txBox="1"/>
          <p:nvPr/>
        </p:nvSpPr>
        <p:spPr>
          <a:xfrm>
            <a:off x="524995" y="1150331"/>
            <a:ext cx="10132483" cy="7924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Hard constraint: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​​ PCB-induced 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loss/distortion</a:t>
            </a:r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becomes uncorrectable</a:t>
            </a:r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beyond 200Gbps/line;</a:t>
            </a: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​Soft constraint:​​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Long-reach transmission requires power compensation (20W, 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2/3 of total module power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);</a:t>
            </a: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CPO:​​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Bypasses PCB traces, reducing loss from ​22 dB to 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4 dB</a:t>
            </a:r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and cutting power by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 ​70%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1FB244C6-6982-29E6-9E9D-31CEF0F57E3B}"/>
              </a:ext>
            </a:extLst>
          </p:cNvPr>
          <p:cNvSpPr txBox="1"/>
          <p:nvPr/>
        </p:nvSpPr>
        <p:spPr>
          <a:xfrm>
            <a:off x="311150" y="6314217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 Broadcom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Power consumption in 1.6T port.</a:t>
            </a:r>
          </a:p>
        </p:txBody>
      </p:sp>
      <p:sp>
        <p:nvSpPr>
          <p:cNvPr id="2195" name="矩形: 圆角 2194">
            <a:extLst>
              <a:ext uri="{FF2B5EF4-FFF2-40B4-BE49-F238E27FC236}">
                <a16:creationId xmlns:a16="http://schemas.microsoft.com/office/drawing/2014/main" id="{1E008CC3-49DA-2C0C-1789-CD0CE484D03C}"/>
              </a:ext>
            </a:extLst>
          </p:cNvPr>
          <p:cNvSpPr/>
          <p:nvPr/>
        </p:nvSpPr>
        <p:spPr>
          <a:xfrm>
            <a:off x="7235989" y="3924166"/>
            <a:ext cx="3048997" cy="338554"/>
          </a:xfrm>
          <a:prstGeom prst="roundRect">
            <a:avLst>
              <a:gd name="adj" fmla="val 241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36" name="文本框 1035">
            <a:extLst>
              <a:ext uri="{FF2B5EF4-FFF2-40B4-BE49-F238E27FC236}">
                <a16:creationId xmlns:a16="http://schemas.microsoft.com/office/drawing/2014/main" id="{ECCC2ED5-0A88-21E2-49DF-C32546F8E5BC}"/>
              </a:ext>
            </a:extLst>
          </p:cNvPr>
          <p:cNvSpPr txBox="1"/>
          <p:nvPr/>
        </p:nvSpPr>
        <p:spPr>
          <a:xfrm>
            <a:off x="5147665" y="2303966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Front</a:t>
            </a: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view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D2B5537-6B87-CCED-FA09-C749B968E3E1}"/>
              </a:ext>
            </a:extLst>
          </p:cNvPr>
          <p:cNvGrpSpPr/>
          <p:nvPr/>
        </p:nvGrpSpPr>
        <p:grpSpPr>
          <a:xfrm>
            <a:off x="4488534" y="3163298"/>
            <a:ext cx="2418012" cy="1269750"/>
            <a:chOff x="4488534" y="3118694"/>
            <a:chExt cx="2418012" cy="1269750"/>
          </a:xfrm>
        </p:grpSpPr>
        <p:sp>
          <p:nvSpPr>
            <p:cNvPr id="1042" name="矩形: 圆角 1041">
              <a:extLst>
                <a:ext uri="{FF2B5EF4-FFF2-40B4-BE49-F238E27FC236}">
                  <a16:creationId xmlns:a16="http://schemas.microsoft.com/office/drawing/2014/main" id="{2C14DC3B-5354-59BE-E4AB-329C65D1E68E}"/>
                </a:ext>
              </a:extLst>
            </p:cNvPr>
            <p:cNvSpPr/>
            <p:nvPr/>
          </p:nvSpPr>
          <p:spPr>
            <a:xfrm>
              <a:off x="4488534" y="3118694"/>
              <a:ext cx="2085629" cy="1269750"/>
            </a:xfrm>
            <a:prstGeom prst="roundRect">
              <a:avLst>
                <a:gd name="adj" fmla="val 2414"/>
              </a:avLst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43" name="矩形: 圆角 1042">
              <a:extLst>
                <a:ext uri="{FF2B5EF4-FFF2-40B4-BE49-F238E27FC236}">
                  <a16:creationId xmlns:a16="http://schemas.microsoft.com/office/drawing/2014/main" id="{6F68F9E7-9DBF-BD3C-CB2E-323EF915AE65}"/>
                </a:ext>
              </a:extLst>
            </p:cNvPr>
            <p:cNvSpPr/>
            <p:nvPr/>
          </p:nvSpPr>
          <p:spPr>
            <a:xfrm>
              <a:off x="4591063" y="3190687"/>
              <a:ext cx="1897669" cy="1103778"/>
            </a:xfrm>
            <a:prstGeom prst="roundRect">
              <a:avLst>
                <a:gd name="adj" fmla="val 241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1046" name="组合 1045">
              <a:extLst>
                <a:ext uri="{FF2B5EF4-FFF2-40B4-BE49-F238E27FC236}">
                  <a16:creationId xmlns:a16="http://schemas.microsoft.com/office/drawing/2014/main" id="{BA8377B1-B952-9DA8-8F57-4FE110181346}"/>
                </a:ext>
              </a:extLst>
            </p:cNvPr>
            <p:cNvGrpSpPr/>
            <p:nvPr/>
          </p:nvGrpSpPr>
          <p:grpSpPr>
            <a:xfrm>
              <a:off x="5164813" y="3449939"/>
              <a:ext cx="750168" cy="577216"/>
              <a:chOff x="3336517" y="2797616"/>
              <a:chExt cx="750168" cy="577216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044" name="矩形: 圆角 1043">
                <a:extLst>
                  <a:ext uri="{FF2B5EF4-FFF2-40B4-BE49-F238E27FC236}">
                    <a16:creationId xmlns:a16="http://schemas.microsoft.com/office/drawing/2014/main" id="{CA163804-597D-8956-E42D-B8ABC1F0534D}"/>
                  </a:ext>
                </a:extLst>
              </p:cNvPr>
              <p:cNvSpPr/>
              <p:nvPr/>
            </p:nvSpPr>
            <p:spPr>
              <a:xfrm>
                <a:off x="3336517" y="2797616"/>
                <a:ext cx="750168" cy="577216"/>
              </a:xfrm>
              <a:prstGeom prst="roundRect">
                <a:avLst>
                  <a:gd name="adj" fmla="val 0"/>
                </a:avLst>
              </a:prstGeom>
              <a:solidFill>
                <a:srgbClr val="0052D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045" name="矩形: 圆角 1044">
                <a:extLst>
                  <a:ext uri="{FF2B5EF4-FFF2-40B4-BE49-F238E27FC236}">
                    <a16:creationId xmlns:a16="http://schemas.microsoft.com/office/drawing/2014/main" id="{DB5B6A9C-A7B5-79A8-3782-BDA030CC9E7E}"/>
                  </a:ext>
                </a:extLst>
              </p:cNvPr>
              <p:cNvSpPr/>
              <p:nvPr/>
            </p:nvSpPr>
            <p:spPr>
              <a:xfrm>
                <a:off x="3454981" y="2935009"/>
                <a:ext cx="529937" cy="298758"/>
              </a:xfrm>
              <a:prstGeom prst="roundRect">
                <a:avLst>
                  <a:gd name="adj" fmla="val 2414"/>
                </a:avLst>
              </a:prstGeom>
              <a:solidFill>
                <a:schemeClr val="accent6">
                  <a:lumMod val="1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>
                    <a:cs typeface="+mn-ea"/>
                    <a:sym typeface="+mn-lt"/>
                  </a:rPr>
                  <a:t>ASIC</a:t>
                </a:r>
                <a:endParaRPr lang="zh-CN" altLang="en-US" sz="1000" dirty="0">
                  <a:cs typeface="+mn-ea"/>
                  <a:sym typeface="+mn-lt"/>
                </a:endParaRPr>
              </a:p>
            </p:txBody>
          </p:sp>
        </p:grpSp>
        <p:sp>
          <p:nvSpPr>
            <p:cNvPr id="1047" name="矩形 1046">
              <a:extLst>
                <a:ext uri="{FF2B5EF4-FFF2-40B4-BE49-F238E27FC236}">
                  <a16:creationId xmlns:a16="http://schemas.microsoft.com/office/drawing/2014/main" id="{8350E1FE-666C-7AA9-474A-32B62A0E475B}"/>
                </a:ext>
              </a:extLst>
            </p:cNvPr>
            <p:cNvSpPr/>
            <p:nvPr/>
          </p:nvSpPr>
          <p:spPr>
            <a:xfrm>
              <a:off x="6416581" y="3298082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48" name="矩形 1047">
              <a:extLst>
                <a:ext uri="{FF2B5EF4-FFF2-40B4-BE49-F238E27FC236}">
                  <a16:creationId xmlns:a16="http://schemas.microsoft.com/office/drawing/2014/main" id="{B96B9758-7027-1FEC-AB6D-E2CF1A100AFC}"/>
                </a:ext>
              </a:extLst>
            </p:cNvPr>
            <p:cNvSpPr/>
            <p:nvPr/>
          </p:nvSpPr>
          <p:spPr>
            <a:xfrm>
              <a:off x="6452167" y="3298082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3" name="矩形 1052">
              <a:extLst>
                <a:ext uri="{FF2B5EF4-FFF2-40B4-BE49-F238E27FC236}">
                  <a16:creationId xmlns:a16="http://schemas.microsoft.com/office/drawing/2014/main" id="{A7B0E92B-B756-0B17-674C-AAEF90FE5694}"/>
                </a:ext>
              </a:extLst>
            </p:cNvPr>
            <p:cNvSpPr/>
            <p:nvPr/>
          </p:nvSpPr>
          <p:spPr>
            <a:xfrm>
              <a:off x="6419021" y="3485704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4" name="矩形 1053">
              <a:extLst>
                <a:ext uri="{FF2B5EF4-FFF2-40B4-BE49-F238E27FC236}">
                  <a16:creationId xmlns:a16="http://schemas.microsoft.com/office/drawing/2014/main" id="{3472999C-4C34-C793-DACE-2C5A7551C5EE}"/>
                </a:ext>
              </a:extLst>
            </p:cNvPr>
            <p:cNvSpPr/>
            <p:nvPr/>
          </p:nvSpPr>
          <p:spPr>
            <a:xfrm>
              <a:off x="6454607" y="3485704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7" name="矩形 1056">
              <a:extLst>
                <a:ext uri="{FF2B5EF4-FFF2-40B4-BE49-F238E27FC236}">
                  <a16:creationId xmlns:a16="http://schemas.microsoft.com/office/drawing/2014/main" id="{B2BD3E79-0917-9D6C-77B0-E12318CF5A59}"/>
                </a:ext>
              </a:extLst>
            </p:cNvPr>
            <p:cNvSpPr/>
            <p:nvPr/>
          </p:nvSpPr>
          <p:spPr>
            <a:xfrm>
              <a:off x="6416581" y="4069489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8" name="矩形 1057">
              <a:extLst>
                <a:ext uri="{FF2B5EF4-FFF2-40B4-BE49-F238E27FC236}">
                  <a16:creationId xmlns:a16="http://schemas.microsoft.com/office/drawing/2014/main" id="{10A355C0-9305-6632-BE91-51B70F7C1521}"/>
                </a:ext>
              </a:extLst>
            </p:cNvPr>
            <p:cNvSpPr/>
            <p:nvPr/>
          </p:nvSpPr>
          <p:spPr>
            <a:xfrm>
              <a:off x="6452167" y="4069489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1059" name="直接连接符 1058">
              <a:extLst>
                <a:ext uri="{FF2B5EF4-FFF2-40B4-BE49-F238E27FC236}">
                  <a16:creationId xmlns:a16="http://schemas.microsoft.com/office/drawing/2014/main" id="{7BB8A278-EB91-9529-D699-7C254893C7F3}"/>
                </a:ext>
              </a:extLst>
            </p:cNvPr>
            <p:cNvCxnSpPr>
              <a:cxnSpLocks/>
              <a:stCxn id="1057" idx="3"/>
            </p:cNvCxnSpPr>
            <p:nvPr/>
          </p:nvCxnSpPr>
          <p:spPr>
            <a:xfrm>
              <a:off x="6746781" y="4119102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1" name="矩形 1060">
              <a:extLst>
                <a:ext uri="{FF2B5EF4-FFF2-40B4-BE49-F238E27FC236}">
                  <a16:creationId xmlns:a16="http://schemas.microsoft.com/office/drawing/2014/main" id="{8496BCF2-07F8-800B-1908-539DBA8804F7}"/>
                </a:ext>
              </a:extLst>
            </p:cNvPr>
            <p:cNvSpPr/>
            <p:nvPr/>
          </p:nvSpPr>
          <p:spPr>
            <a:xfrm>
              <a:off x="6420311" y="3888088"/>
              <a:ext cx="32933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2" name="矩形 1061">
              <a:extLst>
                <a:ext uri="{FF2B5EF4-FFF2-40B4-BE49-F238E27FC236}">
                  <a16:creationId xmlns:a16="http://schemas.microsoft.com/office/drawing/2014/main" id="{E6A177FF-A6A2-57DE-30F2-40CDA08FFFF2}"/>
                </a:ext>
              </a:extLst>
            </p:cNvPr>
            <p:cNvSpPr/>
            <p:nvPr/>
          </p:nvSpPr>
          <p:spPr>
            <a:xfrm>
              <a:off x="6455804" y="3888088"/>
              <a:ext cx="107429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4" name="椭圆 1063">
              <a:extLst>
                <a:ext uri="{FF2B5EF4-FFF2-40B4-BE49-F238E27FC236}">
                  <a16:creationId xmlns:a16="http://schemas.microsoft.com/office/drawing/2014/main" id="{6FDCDF67-8C85-5478-BCE2-56B514101DAF}"/>
                </a:ext>
              </a:extLst>
            </p:cNvPr>
            <p:cNvSpPr/>
            <p:nvPr/>
          </p:nvSpPr>
          <p:spPr>
            <a:xfrm>
              <a:off x="6571159" y="3641511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5" name="椭圆 1064">
              <a:extLst>
                <a:ext uri="{FF2B5EF4-FFF2-40B4-BE49-F238E27FC236}">
                  <a16:creationId xmlns:a16="http://schemas.microsoft.com/office/drawing/2014/main" id="{69377BAB-9FFF-BC50-93E3-45E5EE3018A9}"/>
                </a:ext>
              </a:extLst>
            </p:cNvPr>
            <p:cNvSpPr/>
            <p:nvPr/>
          </p:nvSpPr>
          <p:spPr>
            <a:xfrm>
              <a:off x="6571159" y="3785787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6" name="椭圆 1065">
              <a:extLst>
                <a:ext uri="{FF2B5EF4-FFF2-40B4-BE49-F238E27FC236}">
                  <a16:creationId xmlns:a16="http://schemas.microsoft.com/office/drawing/2014/main" id="{473112B6-B768-759A-09A6-26C00BE72A9C}"/>
                </a:ext>
              </a:extLst>
            </p:cNvPr>
            <p:cNvSpPr/>
            <p:nvPr/>
          </p:nvSpPr>
          <p:spPr>
            <a:xfrm>
              <a:off x="6571159" y="3713649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1070" name="连接符: 肘形 1069">
              <a:extLst>
                <a:ext uri="{FF2B5EF4-FFF2-40B4-BE49-F238E27FC236}">
                  <a16:creationId xmlns:a16="http://schemas.microsoft.com/office/drawing/2014/main" id="{53068155-CCB4-44E1-5336-E64C0592D565}"/>
                </a:ext>
              </a:extLst>
            </p:cNvPr>
            <p:cNvCxnSpPr>
              <a:cxnSpLocks/>
              <a:stCxn id="1087" idx="6"/>
              <a:endCxn id="1047" idx="1"/>
            </p:cNvCxnSpPr>
            <p:nvPr/>
          </p:nvCxnSpPr>
          <p:spPr>
            <a:xfrm flipV="1">
              <a:off x="5932519" y="3347695"/>
              <a:ext cx="484062" cy="209714"/>
            </a:xfrm>
            <a:prstGeom prst="bentConnector3">
              <a:avLst>
                <a:gd name="adj1" fmla="val 27371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6" name="连接符: 肘形 1075">
              <a:extLst>
                <a:ext uri="{FF2B5EF4-FFF2-40B4-BE49-F238E27FC236}">
                  <a16:creationId xmlns:a16="http://schemas.microsoft.com/office/drawing/2014/main" id="{C46DB562-BF27-363E-1DD8-A9D038061614}"/>
                </a:ext>
              </a:extLst>
            </p:cNvPr>
            <p:cNvCxnSpPr>
              <a:cxnSpLocks/>
              <a:stCxn id="2051" idx="6"/>
              <a:endCxn id="1053" idx="1"/>
            </p:cNvCxnSpPr>
            <p:nvPr/>
          </p:nvCxnSpPr>
          <p:spPr>
            <a:xfrm flipV="1">
              <a:off x="5933805" y="3535317"/>
              <a:ext cx="485216" cy="93482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0" name="连接符: 肘形 1079">
              <a:extLst>
                <a:ext uri="{FF2B5EF4-FFF2-40B4-BE49-F238E27FC236}">
                  <a16:creationId xmlns:a16="http://schemas.microsoft.com/office/drawing/2014/main" id="{608FC537-CD16-8B76-495B-5605AB70A9E4}"/>
                </a:ext>
              </a:extLst>
            </p:cNvPr>
            <p:cNvCxnSpPr>
              <a:cxnSpLocks/>
              <a:stCxn id="2049" idx="6"/>
              <a:endCxn id="1061" idx="1"/>
            </p:cNvCxnSpPr>
            <p:nvPr/>
          </p:nvCxnSpPr>
          <p:spPr>
            <a:xfrm>
              <a:off x="5934837" y="3836478"/>
              <a:ext cx="485470" cy="101223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4" name="连接符: 肘形 1083">
              <a:extLst>
                <a:ext uri="{FF2B5EF4-FFF2-40B4-BE49-F238E27FC236}">
                  <a16:creationId xmlns:a16="http://schemas.microsoft.com/office/drawing/2014/main" id="{C14FAB72-7E07-C761-7F8F-9BD0C8303699}"/>
                </a:ext>
              </a:extLst>
            </p:cNvPr>
            <p:cNvCxnSpPr>
              <a:cxnSpLocks/>
              <a:stCxn id="2048" idx="6"/>
              <a:endCxn id="1057" idx="1"/>
            </p:cNvCxnSpPr>
            <p:nvPr/>
          </p:nvCxnSpPr>
          <p:spPr>
            <a:xfrm>
              <a:off x="5933805" y="3908950"/>
              <a:ext cx="482776" cy="210152"/>
            </a:xfrm>
            <a:prstGeom prst="bentConnector3">
              <a:avLst>
                <a:gd name="adj1" fmla="val 2764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7" name="椭圆 1086">
              <a:extLst>
                <a:ext uri="{FF2B5EF4-FFF2-40B4-BE49-F238E27FC236}">
                  <a16:creationId xmlns:a16="http://schemas.microsoft.com/office/drawing/2014/main" id="{CE795343-1F1E-E7E6-A80D-32209C3B087F}"/>
                </a:ext>
              </a:extLst>
            </p:cNvPr>
            <p:cNvSpPr/>
            <p:nvPr/>
          </p:nvSpPr>
          <p:spPr>
            <a:xfrm>
              <a:off x="5886800" y="3534549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48" name="椭圆 2047">
              <a:extLst>
                <a:ext uri="{FF2B5EF4-FFF2-40B4-BE49-F238E27FC236}">
                  <a16:creationId xmlns:a16="http://schemas.microsoft.com/office/drawing/2014/main" id="{92AFFC3B-B98C-45A4-56BD-BD5530284314}"/>
                </a:ext>
              </a:extLst>
            </p:cNvPr>
            <p:cNvSpPr/>
            <p:nvPr/>
          </p:nvSpPr>
          <p:spPr>
            <a:xfrm>
              <a:off x="5888086" y="3886090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49" name="椭圆 2048">
              <a:extLst>
                <a:ext uri="{FF2B5EF4-FFF2-40B4-BE49-F238E27FC236}">
                  <a16:creationId xmlns:a16="http://schemas.microsoft.com/office/drawing/2014/main" id="{B131E1CC-A42F-DC54-C680-7D00376308C0}"/>
                </a:ext>
              </a:extLst>
            </p:cNvPr>
            <p:cNvSpPr/>
            <p:nvPr/>
          </p:nvSpPr>
          <p:spPr>
            <a:xfrm>
              <a:off x="5889118" y="3813618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51" name="椭圆 2050">
              <a:extLst>
                <a:ext uri="{FF2B5EF4-FFF2-40B4-BE49-F238E27FC236}">
                  <a16:creationId xmlns:a16="http://schemas.microsoft.com/office/drawing/2014/main" id="{5855C64E-E952-B368-D965-12F97492F792}"/>
                </a:ext>
              </a:extLst>
            </p:cNvPr>
            <p:cNvSpPr/>
            <p:nvPr/>
          </p:nvSpPr>
          <p:spPr>
            <a:xfrm>
              <a:off x="5888086" y="3605939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119" name="直接连接符 2118">
              <a:extLst>
                <a:ext uri="{FF2B5EF4-FFF2-40B4-BE49-F238E27FC236}">
                  <a16:creationId xmlns:a16="http://schemas.microsoft.com/office/drawing/2014/main" id="{3B3537D0-C835-9C80-9C28-35DC1224C280}"/>
                </a:ext>
              </a:extLst>
            </p:cNvPr>
            <p:cNvCxnSpPr>
              <a:cxnSpLocks/>
            </p:cNvCxnSpPr>
            <p:nvPr/>
          </p:nvCxnSpPr>
          <p:spPr>
            <a:xfrm>
              <a:off x="6746781" y="3942889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0" name="直接连接符 2119">
              <a:extLst>
                <a:ext uri="{FF2B5EF4-FFF2-40B4-BE49-F238E27FC236}">
                  <a16:creationId xmlns:a16="http://schemas.microsoft.com/office/drawing/2014/main" id="{678B84E6-DAC7-A2EF-5EA7-43681B73B3EE}"/>
                </a:ext>
              </a:extLst>
            </p:cNvPr>
            <p:cNvCxnSpPr>
              <a:cxnSpLocks/>
            </p:cNvCxnSpPr>
            <p:nvPr/>
          </p:nvCxnSpPr>
          <p:spPr>
            <a:xfrm>
              <a:off x="6746781" y="3535081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1" name="直接连接符 2120">
              <a:extLst>
                <a:ext uri="{FF2B5EF4-FFF2-40B4-BE49-F238E27FC236}">
                  <a16:creationId xmlns:a16="http://schemas.microsoft.com/office/drawing/2014/main" id="{BB4CF096-CB66-22F0-2DB3-10A21FAD3B50}"/>
                </a:ext>
              </a:extLst>
            </p:cNvPr>
            <p:cNvCxnSpPr>
              <a:cxnSpLocks/>
            </p:cNvCxnSpPr>
            <p:nvPr/>
          </p:nvCxnSpPr>
          <p:spPr>
            <a:xfrm>
              <a:off x="6746781" y="3347695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2647E945-4B9C-DA6B-03E3-B82AFB666BB5}"/>
              </a:ext>
            </a:extLst>
          </p:cNvPr>
          <p:cNvGrpSpPr/>
          <p:nvPr/>
        </p:nvGrpSpPr>
        <p:grpSpPr>
          <a:xfrm>
            <a:off x="4473209" y="5081918"/>
            <a:ext cx="2236121" cy="1269750"/>
            <a:chOff x="4473209" y="5037314"/>
            <a:chExt cx="2236121" cy="1269750"/>
          </a:xfrm>
        </p:grpSpPr>
        <p:sp>
          <p:nvSpPr>
            <p:cNvPr id="2064" name="矩形: 圆角 2063">
              <a:extLst>
                <a:ext uri="{FF2B5EF4-FFF2-40B4-BE49-F238E27FC236}">
                  <a16:creationId xmlns:a16="http://schemas.microsoft.com/office/drawing/2014/main" id="{2D3474E0-D9D6-0E59-925B-B54755F1F35A}"/>
                </a:ext>
              </a:extLst>
            </p:cNvPr>
            <p:cNvSpPr/>
            <p:nvPr/>
          </p:nvSpPr>
          <p:spPr>
            <a:xfrm>
              <a:off x="4473209" y="5037314"/>
              <a:ext cx="2085629" cy="1269750"/>
            </a:xfrm>
            <a:prstGeom prst="roundRect">
              <a:avLst>
                <a:gd name="adj" fmla="val 2414"/>
              </a:avLst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65" name="矩形: 圆角 2064">
              <a:extLst>
                <a:ext uri="{FF2B5EF4-FFF2-40B4-BE49-F238E27FC236}">
                  <a16:creationId xmlns:a16="http://schemas.microsoft.com/office/drawing/2014/main" id="{D3F80D84-B442-8B61-A21B-02D2BA10F9E3}"/>
                </a:ext>
              </a:extLst>
            </p:cNvPr>
            <p:cNvSpPr/>
            <p:nvPr/>
          </p:nvSpPr>
          <p:spPr>
            <a:xfrm>
              <a:off x="4575738" y="5109307"/>
              <a:ext cx="1897669" cy="1103778"/>
            </a:xfrm>
            <a:prstGeom prst="roundRect">
              <a:avLst>
                <a:gd name="adj" fmla="val 241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67" name="矩形: 圆角 2066">
              <a:extLst>
                <a:ext uri="{FF2B5EF4-FFF2-40B4-BE49-F238E27FC236}">
                  <a16:creationId xmlns:a16="http://schemas.microsoft.com/office/drawing/2014/main" id="{58F33ACB-8ABF-8166-4EB9-3E807939C910}"/>
                </a:ext>
              </a:extLst>
            </p:cNvPr>
            <p:cNvSpPr/>
            <p:nvPr/>
          </p:nvSpPr>
          <p:spPr>
            <a:xfrm>
              <a:off x="5173796" y="5368559"/>
              <a:ext cx="725860" cy="577216"/>
            </a:xfrm>
            <a:prstGeom prst="roundRect">
              <a:avLst>
                <a:gd name="adj" fmla="val 0"/>
              </a:avLst>
            </a:prstGeom>
            <a:solidFill>
              <a:srgbClr val="0052D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2068" name="矩形: 圆角 2067">
              <a:extLst>
                <a:ext uri="{FF2B5EF4-FFF2-40B4-BE49-F238E27FC236}">
                  <a16:creationId xmlns:a16="http://schemas.microsoft.com/office/drawing/2014/main" id="{FB3213F1-9F17-855C-F534-A8249EE484E1}"/>
                </a:ext>
              </a:extLst>
            </p:cNvPr>
            <p:cNvSpPr/>
            <p:nvPr/>
          </p:nvSpPr>
          <p:spPr>
            <a:xfrm>
              <a:off x="5332162" y="5543525"/>
              <a:ext cx="415836" cy="234432"/>
            </a:xfrm>
            <a:prstGeom prst="roundRect">
              <a:avLst>
                <a:gd name="adj" fmla="val 2414"/>
              </a:avLst>
            </a:prstGeom>
            <a:solidFill>
              <a:schemeClr val="accent6">
                <a:lumMod val="1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dirty="0">
                  <a:cs typeface="+mn-ea"/>
                  <a:sym typeface="+mn-lt"/>
                </a:rPr>
                <a:t>ASIC</a:t>
              </a:r>
              <a:endParaRPr lang="zh-CN" altLang="en-US" sz="700" dirty="0">
                <a:cs typeface="+mn-ea"/>
                <a:sym typeface="+mn-lt"/>
              </a:endParaRPr>
            </a:p>
          </p:txBody>
        </p:sp>
        <p:sp>
          <p:nvSpPr>
            <p:cNvPr id="2070" name="矩形 2069">
              <a:extLst>
                <a:ext uri="{FF2B5EF4-FFF2-40B4-BE49-F238E27FC236}">
                  <a16:creationId xmlns:a16="http://schemas.microsoft.com/office/drawing/2014/main" id="{B1030952-1810-5436-4395-5719ABFE9E15}"/>
                </a:ext>
              </a:extLst>
            </p:cNvPr>
            <p:cNvSpPr/>
            <p:nvPr/>
          </p:nvSpPr>
          <p:spPr>
            <a:xfrm>
              <a:off x="6473407" y="5216702"/>
              <a:ext cx="74872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74" name="矩形 2073">
              <a:extLst>
                <a:ext uri="{FF2B5EF4-FFF2-40B4-BE49-F238E27FC236}">
                  <a16:creationId xmlns:a16="http://schemas.microsoft.com/office/drawing/2014/main" id="{32F1A191-6100-D28E-6EF9-78BCAD1FAD0A}"/>
                </a:ext>
              </a:extLst>
            </p:cNvPr>
            <p:cNvSpPr/>
            <p:nvPr/>
          </p:nvSpPr>
          <p:spPr>
            <a:xfrm>
              <a:off x="6473406" y="5404324"/>
              <a:ext cx="74873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78" name="矩形 2077">
              <a:extLst>
                <a:ext uri="{FF2B5EF4-FFF2-40B4-BE49-F238E27FC236}">
                  <a16:creationId xmlns:a16="http://schemas.microsoft.com/office/drawing/2014/main" id="{5B676141-72DB-E0C4-DFE0-B876D7A11DA5}"/>
                </a:ext>
              </a:extLst>
            </p:cNvPr>
            <p:cNvSpPr/>
            <p:nvPr/>
          </p:nvSpPr>
          <p:spPr>
            <a:xfrm>
              <a:off x="6473406" y="5988109"/>
              <a:ext cx="8318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080" name="直接连接符 2079">
              <a:extLst>
                <a:ext uri="{FF2B5EF4-FFF2-40B4-BE49-F238E27FC236}">
                  <a16:creationId xmlns:a16="http://schemas.microsoft.com/office/drawing/2014/main" id="{87D3F4F7-D37A-0E2C-6145-F7F063C6B46F}"/>
                </a:ext>
              </a:extLst>
            </p:cNvPr>
            <p:cNvCxnSpPr>
              <a:cxnSpLocks/>
              <a:stCxn id="2078" idx="3"/>
            </p:cNvCxnSpPr>
            <p:nvPr/>
          </p:nvCxnSpPr>
          <p:spPr>
            <a:xfrm>
              <a:off x="6556592" y="6037722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82" name="矩形 2081">
              <a:extLst>
                <a:ext uri="{FF2B5EF4-FFF2-40B4-BE49-F238E27FC236}">
                  <a16:creationId xmlns:a16="http://schemas.microsoft.com/office/drawing/2014/main" id="{BB9BFD7D-0AAC-8124-8BC9-653A68EBB444}"/>
                </a:ext>
              </a:extLst>
            </p:cNvPr>
            <p:cNvSpPr/>
            <p:nvPr/>
          </p:nvSpPr>
          <p:spPr>
            <a:xfrm>
              <a:off x="6473406" y="5806708"/>
              <a:ext cx="8318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089" name="连接符: 肘形 2088">
              <a:extLst>
                <a:ext uri="{FF2B5EF4-FFF2-40B4-BE49-F238E27FC236}">
                  <a16:creationId xmlns:a16="http://schemas.microsoft.com/office/drawing/2014/main" id="{8DD1F950-97EB-F4A2-AD4E-A1B01E72EC33}"/>
                </a:ext>
              </a:extLst>
            </p:cNvPr>
            <p:cNvCxnSpPr>
              <a:cxnSpLocks/>
              <a:stCxn id="2093" idx="6"/>
              <a:endCxn id="2070" idx="1"/>
            </p:cNvCxnSpPr>
            <p:nvPr/>
          </p:nvCxnSpPr>
          <p:spPr>
            <a:xfrm flipV="1">
              <a:off x="5881406" y="5266315"/>
              <a:ext cx="592001" cy="299591"/>
            </a:xfrm>
            <a:prstGeom prst="bentConnector3">
              <a:avLst>
                <a:gd name="adj1" fmla="val 30424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0" name="连接符: 肘形 2089">
              <a:extLst>
                <a:ext uri="{FF2B5EF4-FFF2-40B4-BE49-F238E27FC236}">
                  <a16:creationId xmlns:a16="http://schemas.microsoft.com/office/drawing/2014/main" id="{8DF35806-A9FC-2A22-7101-F4E8ED531D97}"/>
                </a:ext>
              </a:extLst>
            </p:cNvPr>
            <p:cNvCxnSpPr>
              <a:cxnSpLocks/>
              <a:stCxn id="2096" idx="6"/>
              <a:endCxn id="2074" idx="1"/>
            </p:cNvCxnSpPr>
            <p:nvPr/>
          </p:nvCxnSpPr>
          <p:spPr>
            <a:xfrm flipV="1">
              <a:off x="5882071" y="5453937"/>
              <a:ext cx="591335" cy="163731"/>
            </a:xfrm>
            <a:prstGeom prst="bentConnector3">
              <a:avLst>
                <a:gd name="adj1" fmla="val 50000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1" name="连接符: 肘形 2090">
              <a:extLst>
                <a:ext uri="{FF2B5EF4-FFF2-40B4-BE49-F238E27FC236}">
                  <a16:creationId xmlns:a16="http://schemas.microsoft.com/office/drawing/2014/main" id="{8C346686-067C-63BF-E445-631A708B7640}"/>
                </a:ext>
              </a:extLst>
            </p:cNvPr>
            <p:cNvCxnSpPr>
              <a:cxnSpLocks/>
              <a:stCxn id="2095" idx="6"/>
              <a:endCxn id="2082" idx="1"/>
            </p:cNvCxnSpPr>
            <p:nvPr/>
          </p:nvCxnSpPr>
          <p:spPr>
            <a:xfrm>
              <a:off x="5881405" y="5697053"/>
              <a:ext cx="592001" cy="159268"/>
            </a:xfrm>
            <a:prstGeom prst="bentConnector3">
              <a:avLst>
                <a:gd name="adj1" fmla="val 50000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2" name="连接符: 肘形 2091">
              <a:extLst>
                <a:ext uri="{FF2B5EF4-FFF2-40B4-BE49-F238E27FC236}">
                  <a16:creationId xmlns:a16="http://schemas.microsoft.com/office/drawing/2014/main" id="{82590B93-6530-1C73-159A-88359E6EBE58}"/>
                </a:ext>
              </a:extLst>
            </p:cNvPr>
            <p:cNvCxnSpPr>
              <a:cxnSpLocks/>
              <a:stCxn id="2094" idx="6"/>
              <a:endCxn id="2078" idx="1"/>
            </p:cNvCxnSpPr>
            <p:nvPr/>
          </p:nvCxnSpPr>
          <p:spPr>
            <a:xfrm>
              <a:off x="5881672" y="5751323"/>
              <a:ext cx="591734" cy="286399"/>
            </a:xfrm>
            <a:prstGeom prst="bentConnector3">
              <a:avLst>
                <a:gd name="adj1" fmla="val 30684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3" name="椭圆 2092">
              <a:extLst>
                <a:ext uri="{FF2B5EF4-FFF2-40B4-BE49-F238E27FC236}">
                  <a16:creationId xmlns:a16="http://schemas.microsoft.com/office/drawing/2014/main" id="{A0E07606-750D-7A9B-454E-36E2CA7773A9}"/>
                </a:ext>
              </a:extLst>
            </p:cNvPr>
            <p:cNvSpPr/>
            <p:nvPr/>
          </p:nvSpPr>
          <p:spPr>
            <a:xfrm>
              <a:off x="5835687" y="5543046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4" name="椭圆 2093">
              <a:extLst>
                <a:ext uri="{FF2B5EF4-FFF2-40B4-BE49-F238E27FC236}">
                  <a16:creationId xmlns:a16="http://schemas.microsoft.com/office/drawing/2014/main" id="{ED2C1C18-69A0-D6F6-7C9A-E424AA2983A8}"/>
                </a:ext>
              </a:extLst>
            </p:cNvPr>
            <p:cNvSpPr/>
            <p:nvPr/>
          </p:nvSpPr>
          <p:spPr>
            <a:xfrm>
              <a:off x="5835953" y="5728463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5" name="椭圆 2094">
              <a:extLst>
                <a:ext uri="{FF2B5EF4-FFF2-40B4-BE49-F238E27FC236}">
                  <a16:creationId xmlns:a16="http://schemas.microsoft.com/office/drawing/2014/main" id="{80993937-D567-1CBC-53AF-525CCE51C4A3}"/>
                </a:ext>
              </a:extLst>
            </p:cNvPr>
            <p:cNvSpPr/>
            <p:nvPr/>
          </p:nvSpPr>
          <p:spPr>
            <a:xfrm>
              <a:off x="5835686" y="5674193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6" name="椭圆 2095">
              <a:extLst>
                <a:ext uri="{FF2B5EF4-FFF2-40B4-BE49-F238E27FC236}">
                  <a16:creationId xmlns:a16="http://schemas.microsoft.com/office/drawing/2014/main" id="{A47E9B9D-9642-DBC7-A831-7CC92DDF5FF6}"/>
                </a:ext>
              </a:extLst>
            </p:cNvPr>
            <p:cNvSpPr/>
            <p:nvPr/>
          </p:nvSpPr>
          <p:spPr>
            <a:xfrm>
              <a:off x="5836352" y="5594808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122" name="直接连接符 2121">
              <a:extLst>
                <a:ext uri="{FF2B5EF4-FFF2-40B4-BE49-F238E27FC236}">
                  <a16:creationId xmlns:a16="http://schemas.microsoft.com/office/drawing/2014/main" id="{3E65DC7F-2F8A-8030-73C6-B10B0359D458}"/>
                </a:ext>
              </a:extLst>
            </p:cNvPr>
            <p:cNvCxnSpPr>
              <a:cxnSpLocks/>
            </p:cNvCxnSpPr>
            <p:nvPr/>
          </p:nvCxnSpPr>
          <p:spPr>
            <a:xfrm>
              <a:off x="6556592" y="5856851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3" name="直接连接符 2122">
              <a:extLst>
                <a:ext uri="{FF2B5EF4-FFF2-40B4-BE49-F238E27FC236}">
                  <a16:creationId xmlns:a16="http://schemas.microsoft.com/office/drawing/2014/main" id="{A0FD160C-58A3-913D-D882-533546A7B042}"/>
                </a:ext>
              </a:extLst>
            </p:cNvPr>
            <p:cNvCxnSpPr>
              <a:cxnSpLocks/>
            </p:cNvCxnSpPr>
            <p:nvPr/>
          </p:nvCxnSpPr>
          <p:spPr>
            <a:xfrm>
              <a:off x="6548279" y="5453169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4" name="直接连接符 2123">
              <a:extLst>
                <a:ext uri="{FF2B5EF4-FFF2-40B4-BE49-F238E27FC236}">
                  <a16:creationId xmlns:a16="http://schemas.microsoft.com/office/drawing/2014/main" id="{F725813E-84C7-EA56-D518-55861B1EA78F}"/>
                </a:ext>
              </a:extLst>
            </p:cNvPr>
            <p:cNvCxnSpPr>
              <a:cxnSpLocks/>
            </p:cNvCxnSpPr>
            <p:nvPr/>
          </p:nvCxnSpPr>
          <p:spPr>
            <a:xfrm>
              <a:off x="6548279" y="5266315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25" name="矩形 2124">
              <a:extLst>
                <a:ext uri="{FF2B5EF4-FFF2-40B4-BE49-F238E27FC236}">
                  <a16:creationId xmlns:a16="http://schemas.microsoft.com/office/drawing/2014/main" id="{DD30B286-427C-9FF9-0FBC-B9990AE98510}"/>
                </a:ext>
              </a:extLst>
            </p:cNvPr>
            <p:cNvSpPr/>
            <p:nvPr/>
          </p:nvSpPr>
          <p:spPr>
            <a:xfrm>
              <a:off x="5773960" y="5543534"/>
              <a:ext cx="107711" cy="234432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142" name="直接连接符 2141">
              <a:extLst>
                <a:ext uri="{FF2B5EF4-FFF2-40B4-BE49-F238E27FC236}">
                  <a16:creationId xmlns:a16="http://schemas.microsoft.com/office/drawing/2014/main" id="{018AB5C2-76BE-4C7E-C14D-BC46F3175833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565905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4" name="直接连接符 2143">
              <a:extLst>
                <a:ext uri="{FF2B5EF4-FFF2-40B4-BE49-F238E27FC236}">
                  <a16:creationId xmlns:a16="http://schemas.microsoft.com/office/drawing/2014/main" id="{FBCEB2F9-ABD4-72D4-FDBC-4BCC218447DA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617667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5" name="直接连接符 2144">
              <a:extLst>
                <a:ext uri="{FF2B5EF4-FFF2-40B4-BE49-F238E27FC236}">
                  <a16:creationId xmlns:a16="http://schemas.microsoft.com/office/drawing/2014/main" id="{BA546A0B-4FD7-D411-1455-CB36E4BA3ABD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697749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6" name="直接连接符 2145">
              <a:extLst>
                <a:ext uri="{FF2B5EF4-FFF2-40B4-BE49-F238E27FC236}">
                  <a16:creationId xmlns:a16="http://schemas.microsoft.com/office/drawing/2014/main" id="{E137EBE4-A222-E161-C69E-5CC6C17918E1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753253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54" name="组合 2153">
              <a:extLst>
                <a:ext uri="{FF2B5EF4-FFF2-40B4-BE49-F238E27FC236}">
                  <a16:creationId xmlns:a16="http://schemas.microsoft.com/office/drawing/2014/main" id="{E78C4C66-170F-A06C-6F8D-4D38E1D9321C}"/>
                </a:ext>
              </a:extLst>
            </p:cNvPr>
            <p:cNvGrpSpPr/>
            <p:nvPr/>
          </p:nvGrpSpPr>
          <p:grpSpPr>
            <a:xfrm rot="16200000">
              <a:off x="5469810" y="5359481"/>
              <a:ext cx="133673" cy="234432"/>
              <a:chOff x="4069877" y="6177592"/>
              <a:chExt cx="133673" cy="234432"/>
            </a:xfrm>
          </p:grpSpPr>
          <p:sp>
            <p:nvSpPr>
              <p:cNvPr id="2149" name="矩形 2148">
                <a:extLst>
                  <a:ext uri="{FF2B5EF4-FFF2-40B4-BE49-F238E27FC236}">
                    <a16:creationId xmlns:a16="http://schemas.microsoft.com/office/drawing/2014/main" id="{F16E47A6-6573-F98E-F75C-7329AFFFBB60}"/>
                  </a:ext>
                </a:extLst>
              </p:cNvPr>
              <p:cNvSpPr/>
              <p:nvPr/>
            </p:nvSpPr>
            <p:spPr>
              <a:xfrm>
                <a:off x="4095839" y="6177592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50" name="直接连接符 2149">
                <a:extLst>
                  <a:ext uri="{FF2B5EF4-FFF2-40B4-BE49-F238E27FC236}">
                    <a16:creationId xmlns:a16="http://schemas.microsoft.com/office/drawing/2014/main" id="{2DEFB9AB-6125-A95E-528C-3AD457AED4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19996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1" name="直接连接符 2150">
                <a:extLst>
                  <a:ext uri="{FF2B5EF4-FFF2-40B4-BE49-F238E27FC236}">
                    <a16:creationId xmlns:a16="http://schemas.microsoft.com/office/drawing/2014/main" id="{24226B46-97DD-EEDD-93D8-0D5A414B18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251725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2" name="直接连接符 2151">
                <a:extLst>
                  <a:ext uri="{FF2B5EF4-FFF2-40B4-BE49-F238E27FC236}">
                    <a16:creationId xmlns:a16="http://schemas.microsoft.com/office/drawing/2014/main" id="{285C4076-1E2A-59C4-5EE3-586500774C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33180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3" name="直接连接符 2152">
                <a:extLst>
                  <a:ext uri="{FF2B5EF4-FFF2-40B4-BE49-F238E27FC236}">
                    <a16:creationId xmlns:a16="http://schemas.microsoft.com/office/drawing/2014/main" id="{472D814C-E1BB-4710-3482-807D4F653F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3873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84" name="组合 2183">
              <a:extLst>
                <a:ext uri="{FF2B5EF4-FFF2-40B4-BE49-F238E27FC236}">
                  <a16:creationId xmlns:a16="http://schemas.microsoft.com/office/drawing/2014/main" id="{700D2923-9348-78EA-3D49-838ABCAE2F1A}"/>
                </a:ext>
              </a:extLst>
            </p:cNvPr>
            <p:cNvGrpSpPr/>
            <p:nvPr/>
          </p:nvGrpSpPr>
          <p:grpSpPr>
            <a:xfrm rot="5400000">
              <a:off x="5465167" y="5727559"/>
              <a:ext cx="133673" cy="234432"/>
              <a:chOff x="3963440" y="6379578"/>
              <a:chExt cx="133673" cy="234432"/>
            </a:xfrm>
          </p:grpSpPr>
          <p:sp>
            <p:nvSpPr>
              <p:cNvPr id="2155" name="矩形 2154">
                <a:extLst>
                  <a:ext uri="{FF2B5EF4-FFF2-40B4-BE49-F238E27FC236}">
                    <a16:creationId xmlns:a16="http://schemas.microsoft.com/office/drawing/2014/main" id="{5BD91CE2-ECD5-6CB6-09E7-ADFD123DD55E}"/>
                  </a:ext>
                </a:extLst>
              </p:cNvPr>
              <p:cNvSpPr/>
              <p:nvPr/>
            </p:nvSpPr>
            <p:spPr>
              <a:xfrm>
                <a:off x="3989402" y="6379578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56" name="直接连接符 2155">
                <a:extLst>
                  <a:ext uri="{FF2B5EF4-FFF2-40B4-BE49-F238E27FC236}">
                    <a16:creationId xmlns:a16="http://schemas.microsoft.com/office/drawing/2014/main" id="{8B2F601F-E22D-1A3A-BCBC-392A540622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01949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7" name="直接连接符 2156">
                <a:extLst>
                  <a:ext uri="{FF2B5EF4-FFF2-40B4-BE49-F238E27FC236}">
                    <a16:creationId xmlns:a16="http://schemas.microsoft.com/office/drawing/2014/main" id="{B2C8C993-3430-FFF0-5294-DCE79E104B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537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8" name="直接连接符 2157">
                <a:extLst>
                  <a:ext uri="{FF2B5EF4-FFF2-40B4-BE49-F238E27FC236}">
                    <a16:creationId xmlns:a16="http://schemas.microsoft.com/office/drawing/2014/main" id="{AE0A485D-143F-1983-19EF-E99A49B167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3379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9" name="直接连接符 2158">
                <a:extLst>
                  <a:ext uri="{FF2B5EF4-FFF2-40B4-BE49-F238E27FC236}">
                    <a16:creationId xmlns:a16="http://schemas.microsoft.com/office/drawing/2014/main" id="{90414AED-0C67-2E2F-5763-31C5D10AE4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8929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85" name="组合 2184">
              <a:extLst>
                <a:ext uri="{FF2B5EF4-FFF2-40B4-BE49-F238E27FC236}">
                  <a16:creationId xmlns:a16="http://schemas.microsoft.com/office/drawing/2014/main" id="{6948E263-CC9A-2ADD-ECB9-5838F9627EF3}"/>
                </a:ext>
              </a:extLst>
            </p:cNvPr>
            <p:cNvGrpSpPr/>
            <p:nvPr/>
          </p:nvGrpSpPr>
          <p:grpSpPr>
            <a:xfrm rot="10800000">
              <a:off x="5199502" y="5539750"/>
              <a:ext cx="133673" cy="234432"/>
              <a:chOff x="3963440" y="6379578"/>
              <a:chExt cx="133673" cy="234432"/>
            </a:xfrm>
          </p:grpSpPr>
          <p:sp>
            <p:nvSpPr>
              <p:cNvPr id="2186" name="矩形 2185">
                <a:extLst>
                  <a:ext uri="{FF2B5EF4-FFF2-40B4-BE49-F238E27FC236}">
                    <a16:creationId xmlns:a16="http://schemas.microsoft.com/office/drawing/2014/main" id="{7316E993-FDF0-7C38-09F8-594FBA6BA955}"/>
                  </a:ext>
                </a:extLst>
              </p:cNvPr>
              <p:cNvSpPr/>
              <p:nvPr/>
            </p:nvSpPr>
            <p:spPr>
              <a:xfrm>
                <a:off x="3989402" y="6379578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87" name="直接连接符 2186">
                <a:extLst>
                  <a:ext uri="{FF2B5EF4-FFF2-40B4-BE49-F238E27FC236}">
                    <a16:creationId xmlns:a16="http://schemas.microsoft.com/office/drawing/2014/main" id="{D2D71FE3-5E45-54DA-3C4C-F1EB12E7E2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01949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8" name="直接连接符 2187">
                <a:extLst>
                  <a:ext uri="{FF2B5EF4-FFF2-40B4-BE49-F238E27FC236}">
                    <a16:creationId xmlns:a16="http://schemas.microsoft.com/office/drawing/2014/main" id="{B33DF06A-5242-F6C1-F717-188BBFB1E4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537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9" name="直接连接符 2188">
                <a:extLst>
                  <a:ext uri="{FF2B5EF4-FFF2-40B4-BE49-F238E27FC236}">
                    <a16:creationId xmlns:a16="http://schemas.microsoft.com/office/drawing/2014/main" id="{C0D0A1A6-E1CF-6B8F-0D43-75A4128C4C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3379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0" name="直接连接符 2189">
                <a:extLst>
                  <a:ext uri="{FF2B5EF4-FFF2-40B4-BE49-F238E27FC236}">
                    <a16:creationId xmlns:a16="http://schemas.microsoft.com/office/drawing/2014/main" id="{0470F646-6534-B7E9-60B4-FB42C5C9C0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8929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283" name="组合 2282">
            <a:extLst>
              <a:ext uri="{FF2B5EF4-FFF2-40B4-BE49-F238E27FC236}">
                <a16:creationId xmlns:a16="http://schemas.microsoft.com/office/drawing/2014/main" id="{293D0147-C09F-6F8D-A3D3-8B10C8E129D5}"/>
              </a:ext>
            </a:extLst>
          </p:cNvPr>
          <p:cNvGrpSpPr/>
          <p:nvPr/>
        </p:nvGrpSpPr>
        <p:grpSpPr>
          <a:xfrm>
            <a:off x="8682145" y="5559981"/>
            <a:ext cx="180133" cy="51782"/>
            <a:chOff x="7867918" y="2835520"/>
            <a:chExt cx="180133" cy="51782"/>
          </a:xfrm>
        </p:grpSpPr>
        <p:sp>
          <p:nvSpPr>
            <p:cNvPr id="2284" name="椭圆 2283">
              <a:extLst>
                <a:ext uri="{FF2B5EF4-FFF2-40B4-BE49-F238E27FC236}">
                  <a16:creationId xmlns:a16="http://schemas.microsoft.com/office/drawing/2014/main" id="{AE6FD3A3-80B0-1E9E-F69C-44524BD73C07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85" name="椭圆 2284">
              <a:extLst>
                <a:ext uri="{FF2B5EF4-FFF2-40B4-BE49-F238E27FC236}">
                  <a16:creationId xmlns:a16="http://schemas.microsoft.com/office/drawing/2014/main" id="{E24357DA-78BF-37D7-9509-F80E141FF0FB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207" name="矩形 2206">
            <a:extLst>
              <a:ext uri="{FF2B5EF4-FFF2-40B4-BE49-F238E27FC236}">
                <a16:creationId xmlns:a16="http://schemas.microsoft.com/office/drawing/2014/main" id="{9D01AEB0-2411-BFDB-2528-00333FFD822E}"/>
              </a:ext>
            </a:extLst>
          </p:cNvPr>
          <p:cNvSpPr/>
          <p:nvPr/>
        </p:nvSpPr>
        <p:spPr>
          <a:xfrm>
            <a:off x="9875616" y="3672591"/>
            <a:ext cx="583239" cy="246220"/>
          </a:xfrm>
          <a:custGeom>
            <a:avLst/>
            <a:gdLst>
              <a:gd name="connsiteX0" fmla="*/ 0 w 518039"/>
              <a:gd name="connsiteY0" fmla="*/ 0 h 246220"/>
              <a:gd name="connsiteX1" fmla="*/ 518039 w 518039"/>
              <a:gd name="connsiteY1" fmla="*/ 0 h 246220"/>
              <a:gd name="connsiteX2" fmla="*/ 518039 w 518039"/>
              <a:gd name="connsiteY2" fmla="*/ 246220 h 246220"/>
              <a:gd name="connsiteX3" fmla="*/ 0 w 518039"/>
              <a:gd name="connsiteY3" fmla="*/ 246220 h 246220"/>
              <a:gd name="connsiteX4" fmla="*/ 0 w 518039"/>
              <a:gd name="connsiteY4" fmla="*/ 0 h 246220"/>
              <a:gd name="connsiteX0" fmla="*/ 0 w 518039"/>
              <a:gd name="connsiteY0" fmla="*/ 0 h 246220"/>
              <a:gd name="connsiteX1" fmla="*/ 518039 w 518039"/>
              <a:gd name="connsiteY1" fmla="*/ 0 h 246220"/>
              <a:gd name="connsiteX2" fmla="*/ 518039 w 518039"/>
              <a:gd name="connsiteY2" fmla="*/ 246220 h 246220"/>
              <a:gd name="connsiteX3" fmla="*/ 422160 w 518039"/>
              <a:gd name="connsiteY3" fmla="*/ 246030 h 246220"/>
              <a:gd name="connsiteX4" fmla="*/ 0 w 518039"/>
              <a:gd name="connsiteY4" fmla="*/ 246220 h 246220"/>
              <a:gd name="connsiteX5" fmla="*/ 0 w 518039"/>
              <a:gd name="connsiteY5" fmla="*/ 0 h 24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8039" h="246220">
                <a:moveTo>
                  <a:pt x="0" y="0"/>
                </a:moveTo>
                <a:lnTo>
                  <a:pt x="518039" y="0"/>
                </a:lnTo>
                <a:lnTo>
                  <a:pt x="518039" y="246220"/>
                </a:lnTo>
                <a:lnTo>
                  <a:pt x="422160" y="246030"/>
                </a:lnTo>
                <a:lnTo>
                  <a:pt x="0" y="246220"/>
                </a:lnTo>
                <a:lnTo>
                  <a:pt x="0" y="0"/>
                </a:lnTo>
                <a:close/>
              </a:path>
            </a:pathLst>
          </a:custGeom>
          <a:solidFill>
            <a:srgbClr val="A6A6A6">
              <a:alpha val="2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18" name="椭圆 2217">
            <a:extLst>
              <a:ext uri="{FF2B5EF4-FFF2-40B4-BE49-F238E27FC236}">
                <a16:creationId xmlns:a16="http://schemas.microsoft.com/office/drawing/2014/main" id="{4F68F8D8-5A4F-9AB0-A2B1-4AA8521AE26C}"/>
              </a:ext>
            </a:extLst>
          </p:cNvPr>
          <p:cNvSpPr/>
          <p:nvPr/>
        </p:nvSpPr>
        <p:spPr>
          <a:xfrm>
            <a:off x="10005334" y="3881475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19" name="椭圆 2218">
            <a:extLst>
              <a:ext uri="{FF2B5EF4-FFF2-40B4-BE49-F238E27FC236}">
                <a16:creationId xmlns:a16="http://schemas.microsoft.com/office/drawing/2014/main" id="{697FD642-E1C7-984C-84FD-F9BA32AE213D}"/>
              </a:ext>
            </a:extLst>
          </p:cNvPr>
          <p:cNvSpPr/>
          <p:nvPr/>
        </p:nvSpPr>
        <p:spPr>
          <a:xfrm>
            <a:off x="9923605" y="3882299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2216" name="组合 2215">
            <a:extLst>
              <a:ext uri="{FF2B5EF4-FFF2-40B4-BE49-F238E27FC236}">
                <a16:creationId xmlns:a16="http://schemas.microsoft.com/office/drawing/2014/main" id="{88447058-E641-6033-8952-D70647929279}"/>
              </a:ext>
            </a:extLst>
          </p:cNvPr>
          <p:cNvGrpSpPr/>
          <p:nvPr/>
        </p:nvGrpSpPr>
        <p:grpSpPr>
          <a:xfrm>
            <a:off x="7697246" y="3632026"/>
            <a:ext cx="565185" cy="51782"/>
            <a:chOff x="7867918" y="2835520"/>
            <a:chExt cx="565185" cy="51782"/>
          </a:xfrm>
        </p:grpSpPr>
        <p:sp>
          <p:nvSpPr>
            <p:cNvPr id="2210" name="椭圆 2209">
              <a:extLst>
                <a:ext uri="{FF2B5EF4-FFF2-40B4-BE49-F238E27FC236}">
                  <a16:creationId xmlns:a16="http://schemas.microsoft.com/office/drawing/2014/main" id="{CA5BA9F9-7CBE-A8DC-E632-02874C6EE9DD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12" name="椭圆 2211">
              <a:extLst>
                <a:ext uri="{FF2B5EF4-FFF2-40B4-BE49-F238E27FC236}">
                  <a16:creationId xmlns:a16="http://schemas.microsoft.com/office/drawing/2014/main" id="{38157B7A-7332-FF4E-39CB-CE4F567035F6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13" name="椭圆 2212">
              <a:extLst>
                <a:ext uri="{FF2B5EF4-FFF2-40B4-BE49-F238E27FC236}">
                  <a16:creationId xmlns:a16="http://schemas.microsoft.com/office/drawing/2014/main" id="{30AF12B0-CB8E-BA97-2FE1-598E1F01918C}"/>
                </a:ext>
              </a:extLst>
            </p:cNvPr>
            <p:cNvSpPr/>
            <p:nvPr/>
          </p:nvSpPr>
          <p:spPr>
            <a:xfrm>
              <a:off x="838132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14" name="椭圆 2213">
              <a:extLst>
                <a:ext uri="{FF2B5EF4-FFF2-40B4-BE49-F238E27FC236}">
                  <a16:creationId xmlns:a16="http://schemas.microsoft.com/office/drawing/2014/main" id="{F8570447-E39D-1361-7A43-AA47875F2729}"/>
                </a:ext>
              </a:extLst>
            </p:cNvPr>
            <p:cNvSpPr/>
            <p:nvPr/>
          </p:nvSpPr>
          <p:spPr>
            <a:xfrm>
              <a:off x="8124620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15" name="椭圆 2214">
              <a:extLst>
                <a:ext uri="{FF2B5EF4-FFF2-40B4-BE49-F238E27FC236}">
                  <a16:creationId xmlns:a16="http://schemas.microsoft.com/office/drawing/2014/main" id="{48899A2D-3DEA-B68D-20ED-9FB5F2AEA527}"/>
                </a:ext>
              </a:extLst>
            </p:cNvPr>
            <p:cNvSpPr/>
            <p:nvPr/>
          </p:nvSpPr>
          <p:spPr>
            <a:xfrm>
              <a:off x="825297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2203" name="组合 2202">
            <a:extLst>
              <a:ext uri="{FF2B5EF4-FFF2-40B4-BE49-F238E27FC236}">
                <a16:creationId xmlns:a16="http://schemas.microsoft.com/office/drawing/2014/main" id="{D173D587-F239-6090-3BB5-3FD3512DB4C5}"/>
              </a:ext>
            </a:extLst>
          </p:cNvPr>
          <p:cNvGrpSpPr/>
          <p:nvPr/>
        </p:nvGrpSpPr>
        <p:grpSpPr>
          <a:xfrm>
            <a:off x="7661410" y="3872384"/>
            <a:ext cx="1049169" cy="51782"/>
            <a:chOff x="7142854" y="3452768"/>
            <a:chExt cx="1049169" cy="51782"/>
          </a:xfrm>
        </p:grpSpPr>
        <p:sp>
          <p:nvSpPr>
            <p:cNvPr id="2197" name="椭圆 2196">
              <a:extLst>
                <a:ext uri="{FF2B5EF4-FFF2-40B4-BE49-F238E27FC236}">
                  <a16:creationId xmlns:a16="http://schemas.microsoft.com/office/drawing/2014/main" id="{8ABCF628-3AF5-004E-C79D-36DC0313349F}"/>
                </a:ext>
              </a:extLst>
            </p:cNvPr>
            <p:cNvSpPr/>
            <p:nvPr/>
          </p:nvSpPr>
          <p:spPr>
            <a:xfrm>
              <a:off x="7142854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98" name="椭圆 2197">
              <a:extLst>
                <a:ext uri="{FF2B5EF4-FFF2-40B4-BE49-F238E27FC236}">
                  <a16:creationId xmlns:a16="http://schemas.microsoft.com/office/drawing/2014/main" id="{4602E9E2-13BE-B2DE-BE32-81AD1B8D9C35}"/>
                </a:ext>
              </a:extLst>
            </p:cNvPr>
            <p:cNvSpPr/>
            <p:nvPr/>
          </p:nvSpPr>
          <p:spPr>
            <a:xfrm>
              <a:off x="814024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99" name="椭圆 2198">
              <a:extLst>
                <a:ext uri="{FF2B5EF4-FFF2-40B4-BE49-F238E27FC236}">
                  <a16:creationId xmlns:a16="http://schemas.microsoft.com/office/drawing/2014/main" id="{C35EC5BA-E3D0-A6BF-8B4D-32CD24E466FE}"/>
                </a:ext>
              </a:extLst>
            </p:cNvPr>
            <p:cNvSpPr/>
            <p:nvPr/>
          </p:nvSpPr>
          <p:spPr>
            <a:xfrm>
              <a:off x="734233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00" name="椭圆 2199">
              <a:extLst>
                <a:ext uri="{FF2B5EF4-FFF2-40B4-BE49-F238E27FC236}">
                  <a16:creationId xmlns:a16="http://schemas.microsoft.com/office/drawing/2014/main" id="{86899C8A-820B-5595-CF80-7635EFF3B8FB}"/>
                </a:ext>
              </a:extLst>
            </p:cNvPr>
            <p:cNvSpPr/>
            <p:nvPr/>
          </p:nvSpPr>
          <p:spPr>
            <a:xfrm>
              <a:off x="7741285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01" name="椭圆 2200">
              <a:extLst>
                <a:ext uri="{FF2B5EF4-FFF2-40B4-BE49-F238E27FC236}">
                  <a16:creationId xmlns:a16="http://schemas.microsoft.com/office/drawing/2014/main" id="{FB518041-1704-7B53-FAC9-036F2F9391CB}"/>
                </a:ext>
              </a:extLst>
            </p:cNvPr>
            <p:cNvSpPr/>
            <p:nvPr/>
          </p:nvSpPr>
          <p:spPr>
            <a:xfrm>
              <a:off x="7541808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02" name="椭圆 2201">
              <a:extLst>
                <a:ext uri="{FF2B5EF4-FFF2-40B4-BE49-F238E27FC236}">
                  <a16:creationId xmlns:a16="http://schemas.microsoft.com/office/drawing/2014/main" id="{910145BF-E1E5-1AA7-6FD0-D639FBFCFC9F}"/>
                </a:ext>
              </a:extLst>
            </p:cNvPr>
            <p:cNvSpPr/>
            <p:nvPr/>
          </p:nvSpPr>
          <p:spPr>
            <a:xfrm>
              <a:off x="7940762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038" name="文本框 1037">
            <a:extLst>
              <a:ext uri="{FF2B5EF4-FFF2-40B4-BE49-F238E27FC236}">
                <a16:creationId xmlns:a16="http://schemas.microsoft.com/office/drawing/2014/main" id="{1938A181-D8E7-F0C8-3BBF-FF91B86C52D1}"/>
              </a:ext>
            </a:extLst>
          </p:cNvPr>
          <p:cNvSpPr txBox="1"/>
          <p:nvPr/>
        </p:nvSpPr>
        <p:spPr>
          <a:xfrm>
            <a:off x="8187141" y="2303966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Side</a:t>
            </a: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view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B3DB5D86-7298-E069-2C2F-CEA180A43E86}"/>
              </a:ext>
            </a:extLst>
          </p:cNvPr>
          <p:cNvSpPr txBox="1"/>
          <p:nvPr/>
        </p:nvSpPr>
        <p:spPr>
          <a:xfrm>
            <a:off x="7265987" y="3942808"/>
            <a:ext cx="901373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sz="1400" b="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PCB</a:t>
            </a:r>
            <a:endParaRPr sz="1400" b="0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96" name="矩形: 圆角 2195">
            <a:extLst>
              <a:ext uri="{FF2B5EF4-FFF2-40B4-BE49-F238E27FC236}">
                <a16:creationId xmlns:a16="http://schemas.microsoft.com/office/drawing/2014/main" id="{A9689017-7DD6-76F0-78D5-C96A6E551E36}"/>
              </a:ext>
            </a:extLst>
          </p:cNvPr>
          <p:cNvSpPr/>
          <p:nvPr/>
        </p:nvSpPr>
        <p:spPr>
          <a:xfrm>
            <a:off x="7465435" y="3676793"/>
            <a:ext cx="1441121" cy="196072"/>
          </a:xfrm>
          <a:prstGeom prst="roundRect">
            <a:avLst>
              <a:gd name="adj" fmla="val 2414"/>
            </a:avLst>
          </a:prstGeom>
          <a:solidFill>
            <a:srgbClr val="0052D9"/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04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A3BFFFB6-29D2-A4FF-FB48-E365C59291FE}"/>
              </a:ext>
            </a:extLst>
          </p:cNvPr>
          <p:cNvSpPr txBox="1"/>
          <p:nvPr/>
        </p:nvSpPr>
        <p:spPr>
          <a:xfrm>
            <a:off x="7462673" y="3655754"/>
            <a:ext cx="108049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Substrate</a:t>
            </a:r>
            <a:endParaRPr sz="10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05" name="矩形: 圆角 2204">
            <a:extLst>
              <a:ext uri="{FF2B5EF4-FFF2-40B4-BE49-F238E27FC236}">
                <a16:creationId xmlns:a16="http://schemas.microsoft.com/office/drawing/2014/main" id="{FC3D11DF-B48F-22F8-3A54-3F120F0497FF}"/>
              </a:ext>
            </a:extLst>
          </p:cNvPr>
          <p:cNvSpPr/>
          <p:nvPr/>
        </p:nvSpPr>
        <p:spPr>
          <a:xfrm>
            <a:off x="7667966" y="3482452"/>
            <a:ext cx="626083" cy="156973"/>
          </a:xfrm>
          <a:prstGeom prst="roundRect">
            <a:avLst>
              <a:gd name="adj" fmla="val 2414"/>
            </a:avLst>
          </a:prstGeom>
          <a:solidFill>
            <a:schemeClr val="accent6">
              <a:lumMod val="1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06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0172ECF7-A8D8-FF33-A5CD-62523203A418}"/>
              </a:ext>
            </a:extLst>
          </p:cNvPr>
          <p:cNvSpPr txBox="1"/>
          <p:nvPr/>
        </p:nvSpPr>
        <p:spPr>
          <a:xfrm>
            <a:off x="7779148" y="3437827"/>
            <a:ext cx="108049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ASIC</a:t>
            </a:r>
            <a:endParaRPr sz="10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08" name="矩形 2207">
            <a:extLst>
              <a:ext uri="{FF2B5EF4-FFF2-40B4-BE49-F238E27FC236}">
                <a16:creationId xmlns:a16="http://schemas.microsoft.com/office/drawing/2014/main" id="{5729BD6E-BD70-026D-D0A9-18CBAA9331F4}"/>
              </a:ext>
            </a:extLst>
          </p:cNvPr>
          <p:cNvSpPr/>
          <p:nvPr/>
        </p:nvSpPr>
        <p:spPr>
          <a:xfrm>
            <a:off x="10085588" y="3756862"/>
            <a:ext cx="196913" cy="1242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2224" name="直接连接符 2223">
            <a:extLst>
              <a:ext uri="{FF2B5EF4-FFF2-40B4-BE49-F238E27FC236}">
                <a16:creationId xmlns:a16="http://schemas.microsoft.com/office/drawing/2014/main" id="{62AA3A83-4266-4CAE-BBFD-2A54070AF530}"/>
              </a:ext>
            </a:extLst>
          </p:cNvPr>
          <p:cNvCxnSpPr>
            <a:cxnSpLocks/>
            <a:stCxn id="2208" idx="3"/>
          </p:cNvCxnSpPr>
          <p:nvPr/>
        </p:nvCxnSpPr>
        <p:spPr>
          <a:xfrm>
            <a:off x="10282501" y="3818972"/>
            <a:ext cx="687160" cy="2331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5" name="椭圆 2224">
            <a:extLst>
              <a:ext uri="{FF2B5EF4-FFF2-40B4-BE49-F238E27FC236}">
                <a16:creationId xmlns:a16="http://schemas.microsoft.com/office/drawing/2014/main" id="{C7061CA2-8A37-562B-4D0B-B6D8EB4B0A9B}"/>
              </a:ext>
            </a:extLst>
          </p:cNvPr>
          <p:cNvSpPr/>
          <p:nvPr/>
        </p:nvSpPr>
        <p:spPr>
          <a:xfrm>
            <a:off x="10499362" y="3728457"/>
            <a:ext cx="149225" cy="88931"/>
          </a:xfrm>
          <a:prstGeom prst="ellipse">
            <a:avLst/>
          </a:prstGeom>
          <a:noFill/>
          <a:ln w="127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26" name="文本框 2225">
            <a:extLst>
              <a:ext uri="{FF2B5EF4-FFF2-40B4-BE49-F238E27FC236}">
                <a16:creationId xmlns:a16="http://schemas.microsoft.com/office/drawing/2014/main" id="{455C7CC0-F6B0-B45C-7FA1-54946414C3CC}"/>
              </a:ext>
            </a:extLst>
          </p:cNvPr>
          <p:cNvSpPr txBox="1"/>
          <p:nvPr/>
        </p:nvSpPr>
        <p:spPr>
          <a:xfrm>
            <a:off x="7444378" y="3089226"/>
            <a:ext cx="1128122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</a:p>
        </p:txBody>
      </p:sp>
      <p:sp>
        <p:nvSpPr>
          <p:cNvPr id="2227" name="文本框 2226">
            <a:extLst>
              <a:ext uri="{FF2B5EF4-FFF2-40B4-BE49-F238E27FC236}">
                <a16:creationId xmlns:a16="http://schemas.microsoft.com/office/drawing/2014/main" id="{65F1A0DD-FDE9-FF90-E031-F979EAB49F85}"/>
              </a:ext>
            </a:extLst>
          </p:cNvPr>
          <p:cNvSpPr txBox="1"/>
          <p:nvPr/>
        </p:nvSpPr>
        <p:spPr>
          <a:xfrm>
            <a:off x="8575054" y="3177293"/>
            <a:ext cx="3227870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Transceiver:</a:t>
            </a: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30W</a:t>
            </a:r>
            <a:r>
              <a:rPr kumimoji="1" lang="en-US" altLang="zh-CN" sz="1400" b="1" baseline="30000" dirty="0">
                <a:solidFill>
                  <a:srgbClr val="0052D9"/>
                </a:solidFill>
                <a:cs typeface="+mn-ea"/>
                <a:sym typeface="+mn-lt"/>
              </a:rPr>
              <a:t>1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20W (DSP) + 10W(Optical Engine)</a:t>
            </a:r>
          </a:p>
        </p:txBody>
      </p:sp>
      <p:cxnSp>
        <p:nvCxnSpPr>
          <p:cNvPr id="2229" name="直接连接符 2228">
            <a:extLst>
              <a:ext uri="{FF2B5EF4-FFF2-40B4-BE49-F238E27FC236}">
                <a16:creationId xmlns:a16="http://schemas.microsoft.com/office/drawing/2014/main" id="{9557C8EE-3643-9A2D-2E7A-141A75053537}"/>
              </a:ext>
            </a:extLst>
          </p:cNvPr>
          <p:cNvCxnSpPr>
            <a:cxnSpLocks/>
          </p:cNvCxnSpPr>
          <p:nvPr/>
        </p:nvCxnSpPr>
        <p:spPr>
          <a:xfrm>
            <a:off x="8238486" y="3647787"/>
            <a:ext cx="0" cy="72522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6" name="直接连接符 2235">
            <a:extLst>
              <a:ext uri="{FF2B5EF4-FFF2-40B4-BE49-F238E27FC236}">
                <a16:creationId xmlns:a16="http://schemas.microsoft.com/office/drawing/2014/main" id="{0EB20CDE-E882-220D-0F19-FED55ADB4629}"/>
              </a:ext>
            </a:extLst>
          </p:cNvPr>
          <p:cNvCxnSpPr>
            <a:cxnSpLocks/>
          </p:cNvCxnSpPr>
          <p:nvPr/>
        </p:nvCxnSpPr>
        <p:spPr>
          <a:xfrm>
            <a:off x="8236552" y="3717369"/>
            <a:ext cx="246441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9" name="直接连接符 2238">
            <a:extLst>
              <a:ext uri="{FF2B5EF4-FFF2-40B4-BE49-F238E27FC236}">
                <a16:creationId xmlns:a16="http://schemas.microsoft.com/office/drawing/2014/main" id="{3BB8C5A6-EF61-9080-E5D5-A159AE033667}"/>
              </a:ext>
            </a:extLst>
          </p:cNvPr>
          <p:cNvCxnSpPr>
            <a:cxnSpLocks/>
          </p:cNvCxnSpPr>
          <p:nvPr/>
        </p:nvCxnSpPr>
        <p:spPr>
          <a:xfrm>
            <a:off x="8481405" y="3714165"/>
            <a:ext cx="0" cy="246105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1" name="直接连接符 2240">
            <a:extLst>
              <a:ext uri="{FF2B5EF4-FFF2-40B4-BE49-F238E27FC236}">
                <a16:creationId xmlns:a16="http://schemas.microsoft.com/office/drawing/2014/main" id="{8DA9BE6F-0C56-E310-3B45-5ECC625C7DBF}"/>
              </a:ext>
            </a:extLst>
          </p:cNvPr>
          <p:cNvCxnSpPr>
            <a:cxnSpLocks/>
          </p:cNvCxnSpPr>
          <p:nvPr/>
        </p:nvCxnSpPr>
        <p:spPr>
          <a:xfrm>
            <a:off x="8479817" y="3958682"/>
            <a:ext cx="1469679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4" name="直接连接符 2243">
            <a:extLst>
              <a:ext uri="{FF2B5EF4-FFF2-40B4-BE49-F238E27FC236}">
                <a16:creationId xmlns:a16="http://schemas.microsoft.com/office/drawing/2014/main" id="{58C058FE-4759-2C16-CE42-2F324A539B69}"/>
              </a:ext>
            </a:extLst>
          </p:cNvPr>
          <p:cNvCxnSpPr>
            <a:cxnSpLocks/>
          </p:cNvCxnSpPr>
          <p:nvPr/>
        </p:nvCxnSpPr>
        <p:spPr>
          <a:xfrm>
            <a:off x="9949496" y="3887063"/>
            <a:ext cx="0" cy="71254"/>
          </a:xfrm>
          <a:prstGeom prst="line">
            <a:avLst/>
          </a:prstGeom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50" name="组合 2249">
            <a:extLst>
              <a:ext uri="{FF2B5EF4-FFF2-40B4-BE49-F238E27FC236}">
                <a16:creationId xmlns:a16="http://schemas.microsoft.com/office/drawing/2014/main" id="{FA361268-33C5-5237-7382-702CAA895B30}"/>
              </a:ext>
            </a:extLst>
          </p:cNvPr>
          <p:cNvGrpSpPr/>
          <p:nvPr/>
        </p:nvGrpSpPr>
        <p:grpSpPr>
          <a:xfrm>
            <a:off x="7697246" y="5564246"/>
            <a:ext cx="565185" cy="51782"/>
            <a:chOff x="7867918" y="2835520"/>
            <a:chExt cx="565185" cy="51782"/>
          </a:xfrm>
        </p:grpSpPr>
        <p:sp>
          <p:nvSpPr>
            <p:cNvPr id="2251" name="椭圆 2250">
              <a:extLst>
                <a:ext uri="{FF2B5EF4-FFF2-40B4-BE49-F238E27FC236}">
                  <a16:creationId xmlns:a16="http://schemas.microsoft.com/office/drawing/2014/main" id="{CE867EE8-784B-7EA0-2AE4-38FB744C7858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2" name="椭圆 2251">
              <a:extLst>
                <a:ext uri="{FF2B5EF4-FFF2-40B4-BE49-F238E27FC236}">
                  <a16:creationId xmlns:a16="http://schemas.microsoft.com/office/drawing/2014/main" id="{512F357D-5791-B114-77F8-EDDD352ACB31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3" name="椭圆 2252">
              <a:extLst>
                <a:ext uri="{FF2B5EF4-FFF2-40B4-BE49-F238E27FC236}">
                  <a16:creationId xmlns:a16="http://schemas.microsoft.com/office/drawing/2014/main" id="{B1450D27-52E0-8897-595C-4491F2883DC7}"/>
                </a:ext>
              </a:extLst>
            </p:cNvPr>
            <p:cNvSpPr/>
            <p:nvPr/>
          </p:nvSpPr>
          <p:spPr>
            <a:xfrm>
              <a:off x="838132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4" name="椭圆 2253">
              <a:extLst>
                <a:ext uri="{FF2B5EF4-FFF2-40B4-BE49-F238E27FC236}">
                  <a16:creationId xmlns:a16="http://schemas.microsoft.com/office/drawing/2014/main" id="{4AB83A58-3FB7-570C-5F2F-2E10CEE141AA}"/>
                </a:ext>
              </a:extLst>
            </p:cNvPr>
            <p:cNvSpPr/>
            <p:nvPr/>
          </p:nvSpPr>
          <p:spPr>
            <a:xfrm>
              <a:off x="8124620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5" name="椭圆 2254">
              <a:extLst>
                <a:ext uri="{FF2B5EF4-FFF2-40B4-BE49-F238E27FC236}">
                  <a16:creationId xmlns:a16="http://schemas.microsoft.com/office/drawing/2014/main" id="{237EA7FA-0F9D-03AD-06B3-F3C688B2BE6E}"/>
                </a:ext>
              </a:extLst>
            </p:cNvPr>
            <p:cNvSpPr/>
            <p:nvPr/>
          </p:nvSpPr>
          <p:spPr>
            <a:xfrm>
              <a:off x="825297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2256" name="组合 2255">
            <a:extLst>
              <a:ext uri="{FF2B5EF4-FFF2-40B4-BE49-F238E27FC236}">
                <a16:creationId xmlns:a16="http://schemas.microsoft.com/office/drawing/2014/main" id="{104F4237-0ECE-FAC8-C76A-5C74B430FDEE}"/>
              </a:ext>
            </a:extLst>
          </p:cNvPr>
          <p:cNvGrpSpPr/>
          <p:nvPr/>
        </p:nvGrpSpPr>
        <p:grpSpPr>
          <a:xfrm>
            <a:off x="7661410" y="5804604"/>
            <a:ext cx="1049169" cy="51782"/>
            <a:chOff x="7142854" y="3452768"/>
            <a:chExt cx="1049169" cy="51782"/>
          </a:xfrm>
        </p:grpSpPr>
        <p:sp>
          <p:nvSpPr>
            <p:cNvPr id="2257" name="椭圆 2256">
              <a:extLst>
                <a:ext uri="{FF2B5EF4-FFF2-40B4-BE49-F238E27FC236}">
                  <a16:creationId xmlns:a16="http://schemas.microsoft.com/office/drawing/2014/main" id="{71E17CA2-D1CB-90B1-1378-AAFEF7CAB994}"/>
                </a:ext>
              </a:extLst>
            </p:cNvPr>
            <p:cNvSpPr/>
            <p:nvPr/>
          </p:nvSpPr>
          <p:spPr>
            <a:xfrm>
              <a:off x="7142854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8" name="椭圆 2257">
              <a:extLst>
                <a:ext uri="{FF2B5EF4-FFF2-40B4-BE49-F238E27FC236}">
                  <a16:creationId xmlns:a16="http://schemas.microsoft.com/office/drawing/2014/main" id="{AD8B3459-9F75-972C-5BD1-0FA76EEE997C}"/>
                </a:ext>
              </a:extLst>
            </p:cNvPr>
            <p:cNvSpPr/>
            <p:nvPr/>
          </p:nvSpPr>
          <p:spPr>
            <a:xfrm>
              <a:off x="814024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9" name="椭圆 2258">
              <a:extLst>
                <a:ext uri="{FF2B5EF4-FFF2-40B4-BE49-F238E27FC236}">
                  <a16:creationId xmlns:a16="http://schemas.microsoft.com/office/drawing/2014/main" id="{19AB80E7-AAE6-1430-0645-C6228172DB21}"/>
                </a:ext>
              </a:extLst>
            </p:cNvPr>
            <p:cNvSpPr/>
            <p:nvPr/>
          </p:nvSpPr>
          <p:spPr>
            <a:xfrm>
              <a:off x="734233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60" name="椭圆 2259">
              <a:extLst>
                <a:ext uri="{FF2B5EF4-FFF2-40B4-BE49-F238E27FC236}">
                  <a16:creationId xmlns:a16="http://schemas.microsoft.com/office/drawing/2014/main" id="{B1574E16-4F59-CDE9-8941-ADCF0B47ED1D}"/>
                </a:ext>
              </a:extLst>
            </p:cNvPr>
            <p:cNvSpPr/>
            <p:nvPr/>
          </p:nvSpPr>
          <p:spPr>
            <a:xfrm>
              <a:off x="7741285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61" name="椭圆 2260">
              <a:extLst>
                <a:ext uri="{FF2B5EF4-FFF2-40B4-BE49-F238E27FC236}">
                  <a16:creationId xmlns:a16="http://schemas.microsoft.com/office/drawing/2014/main" id="{51082EBD-8CE3-8786-8F1B-69B0D0FF5F46}"/>
                </a:ext>
              </a:extLst>
            </p:cNvPr>
            <p:cNvSpPr/>
            <p:nvPr/>
          </p:nvSpPr>
          <p:spPr>
            <a:xfrm>
              <a:off x="7541808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62" name="椭圆 2261">
              <a:extLst>
                <a:ext uri="{FF2B5EF4-FFF2-40B4-BE49-F238E27FC236}">
                  <a16:creationId xmlns:a16="http://schemas.microsoft.com/office/drawing/2014/main" id="{8DB8E0BF-6BD1-1DCE-7734-AB525E2B7614}"/>
                </a:ext>
              </a:extLst>
            </p:cNvPr>
            <p:cNvSpPr/>
            <p:nvPr/>
          </p:nvSpPr>
          <p:spPr>
            <a:xfrm>
              <a:off x="7940762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264" name="矩形: 圆角 2263">
            <a:extLst>
              <a:ext uri="{FF2B5EF4-FFF2-40B4-BE49-F238E27FC236}">
                <a16:creationId xmlns:a16="http://schemas.microsoft.com/office/drawing/2014/main" id="{FA1199EA-B4C2-CF1A-6C6B-5DFDEBA7396A}"/>
              </a:ext>
            </a:extLst>
          </p:cNvPr>
          <p:cNvSpPr/>
          <p:nvPr/>
        </p:nvSpPr>
        <p:spPr>
          <a:xfrm>
            <a:off x="7235989" y="5856386"/>
            <a:ext cx="3048997" cy="338554"/>
          </a:xfrm>
          <a:prstGeom prst="roundRect">
            <a:avLst>
              <a:gd name="adj" fmla="val 241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65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9FD425D7-822D-9513-9EAD-EBC21FB6314B}"/>
              </a:ext>
            </a:extLst>
          </p:cNvPr>
          <p:cNvSpPr txBox="1"/>
          <p:nvPr/>
        </p:nvSpPr>
        <p:spPr>
          <a:xfrm>
            <a:off x="7265987" y="5875028"/>
            <a:ext cx="901373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sz="1400" b="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PCB</a:t>
            </a:r>
            <a:endParaRPr sz="1400" b="0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66" name="矩形: 圆角 2265">
            <a:extLst>
              <a:ext uri="{FF2B5EF4-FFF2-40B4-BE49-F238E27FC236}">
                <a16:creationId xmlns:a16="http://schemas.microsoft.com/office/drawing/2014/main" id="{FE22F93E-1D6A-3B68-0211-EC2A88AE0634}"/>
              </a:ext>
            </a:extLst>
          </p:cNvPr>
          <p:cNvSpPr/>
          <p:nvPr/>
        </p:nvSpPr>
        <p:spPr>
          <a:xfrm>
            <a:off x="7465435" y="5609013"/>
            <a:ext cx="1441121" cy="196072"/>
          </a:xfrm>
          <a:prstGeom prst="roundRect">
            <a:avLst>
              <a:gd name="adj" fmla="val 2414"/>
            </a:avLst>
          </a:prstGeom>
          <a:solidFill>
            <a:srgbClr val="0052D9"/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67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C02EEDB5-3528-FAE8-0B9A-EF98C6094930}"/>
              </a:ext>
            </a:extLst>
          </p:cNvPr>
          <p:cNvSpPr txBox="1"/>
          <p:nvPr/>
        </p:nvSpPr>
        <p:spPr>
          <a:xfrm>
            <a:off x="7462673" y="5587974"/>
            <a:ext cx="108049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Substrate</a:t>
            </a:r>
            <a:endParaRPr sz="10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68" name="矩形: 圆角 2267">
            <a:extLst>
              <a:ext uri="{FF2B5EF4-FFF2-40B4-BE49-F238E27FC236}">
                <a16:creationId xmlns:a16="http://schemas.microsoft.com/office/drawing/2014/main" id="{C85569D9-DA69-AA91-EE22-A97E96711DB2}"/>
              </a:ext>
            </a:extLst>
          </p:cNvPr>
          <p:cNvSpPr/>
          <p:nvPr/>
        </p:nvSpPr>
        <p:spPr>
          <a:xfrm>
            <a:off x="7667966" y="5414672"/>
            <a:ext cx="626083" cy="156973"/>
          </a:xfrm>
          <a:prstGeom prst="roundRect">
            <a:avLst>
              <a:gd name="adj" fmla="val 2414"/>
            </a:avLst>
          </a:prstGeom>
          <a:solidFill>
            <a:schemeClr val="accent6">
              <a:lumMod val="1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69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8EBBBC45-249E-1216-FBF3-27F624E7F983}"/>
              </a:ext>
            </a:extLst>
          </p:cNvPr>
          <p:cNvSpPr txBox="1"/>
          <p:nvPr/>
        </p:nvSpPr>
        <p:spPr>
          <a:xfrm>
            <a:off x="7779148" y="5370047"/>
            <a:ext cx="108049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ASIC</a:t>
            </a:r>
            <a:endParaRPr sz="10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70" name="矩形 2269">
            <a:extLst>
              <a:ext uri="{FF2B5EF4-FFF2-40B4-BE49-F238E27FC236}">
                <a16:creationId xmlns:a16="http://schemas.microsoft.com/office/drawing/2014/main" id="{F8D7BD25-F9C1-3DA6-3512-B4DB765C4A05}"/>
              </a:ext>
            </a:extLst>
          </p:cNvPr>
          <p:cNvSpPr/>
          <p:nvPr/>
        </p:nvSpPr>
        <p:spPr>
          <a:xfrm>
            <a:off x="10104686" y="5672731"/>
            <a:ext cx="160995" cy="178299"/>
          </a:xfrm>
          <a:prstGeom prst="rect">
            <a:avLst/>
          </a:prstGeom>
          <a:solidFill>
            <a:srgbClr val="D9D9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2272" name="直接连接符 2271">
            <a:extLst>
              <a:ext uri="{FF2B5EF4-FFF2-40B4-BE49-F238E27FC236}">
                <a16:creationId xmlns:a16="http://schemas.microsoft.com/office/drawing/2014/main" id="{E100FBD0-82FA-926D-1539-9BF437657691}"/>
              </a:ext>
            </a:extLst>
          </p:cNvPr>
          <p:cNvCxnSpPr>
            <a:cxnSpLocks/>
          </p:cNvCxnSpPr>
          <p:nvPr/>
        </p:nvCxnSpPr>
        <p:spPr>
          <a:xfrm>
            <a:off x="9222466" y="5753522"/>
            <a:ext cx="1658150" cy="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3" name="椭圆 2272">
            <a:extLst>
              <a:ext uri="{FF2B5EF4-FFF2-40B4-BE49-F238E27FC236}">
                <a16:creationId xmlns:a16="http://schemas.microsoft.com/office/drawing/2014/main" id="{D0FB83C0-5D0D-82B6-CBCD-A5DE0610F40A}"/>
              </a:ext>
            </a:extLst>
          </p:cNvPr>
          <p:cNvSpPr/>
          <p:nvPr/>
        </p:nvSpPr>
        <p:spPr>
          <a:xfrm>
            <a:off x="10499362" y="5660677"/>
            <a:ext cx="149225" cy="88931"/>
          </a:xfrm>
          <a:prstGeom prst="ellipse">
            <a:avLst/>
          </a:prstGeom>
          <a:noFill/>
          <a:ln w="127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74" name="文本框 2273">
            <a:extLst>
              <a:ext uri="{FF2B5EF4-FFF2-40B4-BE49-F238E27FC236}">
                <a16:creationId xmlns:a16="http://schemas.microsoft.com/office/drawing/2014/main" id="{4CEBBF05-9ED7-45E3-F1CD-E8E480E1E2C2}"/>
              </a:ext>
            </a:extLst>
          </p:cNvPr>
          <p:cNvSpPr txBox="1"/>
          <p:nvPr/>
        </p:nvSpPr>
        <p:spPr>
          <a:xfrm>
            <a:off x="7492727" y="5072668"/>
            <a:ext cx="954142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</a:p>
        </p:txBody>
      </p:sp>
      <p:sp>
        <p:nvSpPr>
          <p:cNvPr id="2275" name="文本框 2274">
            <a:extLst>
              <a:ext uri="{FF2B5EF4-FFF2-40B4-BE49-F238E27FC236}">
                <a16:creationId xmlns:a16="http://schemas.microsoft.com/office/drawing/2014/main" id="{6391F045-3E0C-4C11-BE09-1E81CE2F8190}"/>
              </a:ext>
            </a:extLst>
          </p:cNvPr>
          <p:cNvSpPr txBox="1"/>
          <p:nvPr/>
        </p:nvSpPr>
        <p:spPr>
          <a:xfrm>
            <a:off x="9348796" y="5207000"/>
            <a:ext cx="2106336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External Light Source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2W</a:t>
            </a:r>
          </a:p>
        </p:txBody>
      </p:sp>
      <p:cxnSp>
        <p:nvCxnSpPr>
          <p:cNvPr id="2276" name="直接连接符 2275">
            <a:extLst>
              <a:ext uri="{FF2B5EF4-FFF2-40B4-BE49-F238E27FC236}">
                <a16:creationId xmlns:a16="http://schemas.microsoft.com/office/drawing/2014/main" id="{285E3344-6D39-AA0B-6F38-F5AC3941F282}"/>
              </a:ext>
            </a:extLst>
          </p:cNvPr>
          <p:cNvCxnSpPr>
            <a:cxnSpLocks/>
          </p:cNvCxnSpPr>
          <p:nvPr/>
        </p:nvCxnSpPr>
        <p:spPr>
          <a:xfrm>
            <a:off x="8238486" y="5580007"/>
            <a:ext cx="0" cy="72522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7" name="直接连接符 2276">
            <a:extLst>
              <a:ext uri="{FF2B5EF4-FFF2-40B4-BE49-F238E27FC236}">
                <a16:creationId xmlns:a16="http://schemas.microsoft.com/office/drawing/2014/main" id="{1F0623B0-B366-3726-28B5-EC3405D1B9BF}"/>
              </a:ext>
            </a:extLst>
          </p:cNvPr>
          <p:cNvCxnSpPr>
            <a:cxnSpLocks/>
          </p:cNvCxnSpPr>
          <p:nvPr/>
        </p:nvCxnSpPr>
        <p:spPr>
          <a:xfrm>
            <a:off x="8236552" y="5649589"/>
            <a:ext cx="476327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0" name="直接连接符 2279">
            <a:extLst>
              <a:ext uri="{FF2B5EF4-FFF2-40B4-BE49-F238E27FC236}">
                <a16:creationId xmlns:a16="http://schemas.microsoft.com/office/drawing/2014/main" id="{3CA154A8-D81D-3F84-BD29-5F4C81D1B490}"/>
              </a:ext>
            </a:extLst>
          </p:cNvPr>
          <p:cNvCxnSpPr>
            <a:cxnSpLocks/>
          </p:cNvCxnSpPr>
          <p:nvPr/>
        </p:nvCxnSpPr>
        <p:spPr>
          <a:xfrm>
            <a:off x="8710006" y="5561191"/>
            <a:ext cx="0" cy="89316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2" name="矩形 2281">
            <a:extLst>
              <a:ext uri="{FF2B5EF4-FFF2-40B4-BE49-F238E27FC236}">
                <a16:creationId xmlns:a16="http://schemas.microsoft.com/office/drawing/2014/main" id="{C4CB0141-DC23-7B97-F507-DDBF687B0693}"/>
              </a:ext>
            </a:extLst>
          </p:cNvPr>
          <p:cNvSpPr/>
          <p:nvPr/>
        </p:nvSpPr>
        <p:spPr>
          <a:xfrm>
            <a:off x="8674461" y="5442063"/>
            <a:ext cx="196913" cy="11955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86" name="文本框 2285">
            <a:extLst>
              <a:ext uri="{FF2B5EF4-FFF2-40B4-BE49-F238E27FC236}">
                <a16:creationId xmlns:a16="http://schemas.microsoft.com/office/drawing/2014/main" id="{C4F3FA20-ED2F-D8A3-57F6-9D5CAF9BE563}"/>
              </a:ext>
            </a:extLst>
          </p:cNvPr>
          <p:cNvSpPr txBox="1"/>
          <p:nvPr/>
        </p:nvSpPr>
        <p:spPr>
          <a:xfrm>
            <a:off x="8362497" y="4965381"/>
            <a:ext cx="1294460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</a:t>
            </a: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Engine</a:t>
            </a:r>
            <a:r>
              <a:rPr kumimoji="1" lang="en-US" altLang="zh-CN" sz="1400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7W</a:t>
            </a:r>
          </a:p>
        </p:txBody>
      </p:sp>
      <p:cxnSp>
        <p:nvCxnSpPr>
          <p:cNvPr id="2293" name="直接连接符 2292">
            <a:extLst>
              <a:ext uri="{FF2B5EF4-FFF2-40B4-BE49-F238E27FC236}">
                <a16:creationId xmlns:a16="http://schemas.microsoft.com/office/drawing/2014/main" id="{9A251054-255C-BF2D-077F-658927E18F9F}"/>
              </a:ext>
            </a:extLst>
          </p:cNvPr>
          <p:cNvCxnSpPr>
            <a:cxnSpLocks/>
          </p:cNvCxnSpPr>
          <p:nvPr/>
        </p:nvCxnSpPr>
        <p:spPr>
          <a:xfrm>
            <a:off x="8870041" y="5509047"/>
            <a:ext cx="358775" cy="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5" name="直接连接符 2294">
            <a:extLst>
              <a:ext uri="{FF2B5EF4-FFF2-40B4-BE49-F238E27FC236}">
                <a16:creationId xmlns:a16="http://schemas.microsoft.com/office/drawing/2014/main" id="{AEA847F6-D574-A430-6A5E-507518DBE31D}"/>
              </a:ext>
            </a:extLst>
          </p:cNvPr>
          <p:cNvCxnSpPr>
            <a:cxnSpLocks/>
          </p:cNvCxnSpPr>
          <p:nvPr/>
        </p:nvCxnSpPr>
        <p:spPr>
          <a:xfrm>
            <a:off x="9225641" y="5501921"/>
            <a:ext cx="0" cy="25224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7" name="矩形 2296">
            <a:extLst>
              <a:ext uri="{FF2B5EF4-FFF2-40B4-BE49-F238E27FC236}">
                <a16:creationId xmlns:a16="http://schemas.microsoft.com/office/drawing/2014/main" id="{BDDD23E1-A576-068D-5EFB-FB8F2DF60D2E}"/>
              </a:ext>
            </a:extLst>
          </p:cNvPr>
          <p:cNvSpPr/>
          <p:nvPr/>
        </p:nvSpPr>
        <p:spPr>
          <a:xfrm>
            <a:off x="10071943" y="5725847"/>
            <a:ext cx="238490" cy="4961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4" name="连接符: 肘形 3">
            <a:extLst>
              <a:ext uri="{FF2B5EF4-FFF2-40B4-BE49-F238E27FC236}">
                <a16:creationId xmlns:a16="http://schemas.microsoft.com/office/drawing/2014/main" id="{39F46A2D-EB35-B179-00C5-9AC49FE23C20}"/>
              </a:ext>
            </a:extLst>
          </p:cNvPr>
          <p:cNvCxnSpPr>
            <a:cxnSpLocks/>
            <a:stCxn id="2208" idx="2"/>
            <a:endCxn id="2282" idx="0"/>
          </p:cNvCxnSpPr>
          <p:nvPr/>
        </p:nvCxnSpPr>
        <p:spPr>
          <a:xfrm rot="5400000">
            <a:off x="8697992" y="3956009"/>
            <a:ext cx="1560981" cy="1411127"/>
          </a:xfrm>
          <a:prstGeom prst="bentConnector3">
            <a:avLst>
              <a:gd name="adj1" fmla="val 50000"/>
            </a:avLst>
          </a:prstGeom>
          <a:ln w="9525">
            <a:solidFill>
              <a:srgbClr val="0052D9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FEE17CA1-B873-58C8-C886-BEDAF753562F}"/>
              </a:ext>
            </a:extLst>
          </p:cNvPr>
          <p:cNvSpPr/>
          <p:nvPr/>
        </p:nvSpPr>
        <p:spPr>
          <a:xfrm>
            <a:off x="9909235" y="3758253"/>
            <a:ext cx="163588" cy="122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45" name="椭圆 2244">
            <a:extLst>
              <a:ext uri="{FF2B5EF4-FFF2-40B4-BE49-F238E27FC236}">
                <a16:creationId xmlns:a16="http://schemas.microsoft.com/office/drawing/2014/main" id="{493B989A-0BAA-46CC-573B-65C09D39CF00}"/>
              </a:ext>
            </a:extLst>
          </p:cNvPr>
          <p:cNvSpPr/>
          <p:nvPr/>
        </p:nvSpPr>
        <p:spPr>
          <a:xfrm>
            <a:off x="10191230" y="3880258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46" name="椭圆 2245">
            <a:extLst>
              <a:ext uri="{FF2B5EF4-FFF2-40B4-BE49-F238E27FC236}">
                <a16:creationId xmlns:a16="http://schemas.microsoft.com/office/drawing/2014/main" id="{8E212FC6-BB78-F14B-0660-4327A0CDE51F}"/>
              </a:ext>
            </a:extLst>
          </p:cNvPr>
          <p:cNvSpPr/>
          <p:nvPr/>
        </p:nvSpPr>
        <p:spPr>
          <a:xfrm>
            <a:off x="10109501" y="3881082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2247" name="直接连接符 2246">
            <a:extLst>
              <a:ext uri="{FF2B5EF4-FFF2-40B4-BE49-F238E27FC236}">
                <a16:creationId xmlns:a16="http://schemas.microsoft.com/office/drawing/2014/main" id="{4BEC45EB-6ECD-9D67-10A7-2909C80F2BCA}"/>
              </a:ext>
            </a:extLst>
          </p:cNvPr>
          <p:cNvCxnSpPr>
            <a:cxnSpLocks/>
          </p:cNvCxnSpPr>
          <p:nvPr/>
        </p:nvCxnSpPr>
        <p:spPr>
          <a:xfrm>
            <a:off x="10028371" y="3956730"/>
            <a:ext cx="110037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1" name="直接连接符 2270">
            <a:extLst>
              <a:ext uri="{FF2B5EF4-FFF2-40B4-BE49-F238E27FC236}">
                <a16:creationId xmlns:a16="http://schemas.microsoft.com/office/drawing/2014/main" id="{7F730EB3-8D5A-9C97-39B7-82D20ADC53BE}"/>
              </a:ext>
            </a:extLst>
          </p:cNvPr>
          <p:cNvCxnSpPr>
            <a:cxnSpLocks/>
          </p:cNvCxnSpPr>
          <p:nvPr/>
        </p:nvCxnSpPr>
        <p:spPr>
          <a:xfrm>
            <a:off x="10138408" y="3885111"/>
            <a:ext cx="0" cy="71254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7" name="直接连接符 2286">
            <a:extLst>
              <a:ext uri="{FF2B5EF4-FFF2-40B4-BE49-F238E27FC236}">
                <a16:creationId xmlns:a16="http://schemas.microsoft.com/office/drawing/2014/main" id="{69F62410-1C97-AD9E-0107-EDC00361AFA5}"/>
              </a:ext>
            </a:extLst>
          </p:cNvPr>
          <p:cNvCxnSpPr>
            <a:cxnSpLocks/>
          </p:cNvCxnSpPr>
          <p:nvPr/>
        </p:nvCxnSpPr>
        <p:spPr>
          <a:xfrm>
            <a:off x="10032046" y="3886360"/>
            <a:ext cx="0" cy="71254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3" name="直接箭头连接符 2302">
            <a:extLst>
              <a:ext uri="{FF2B5EF4-FFF2-40B4-BE49-F238E27FC236}">
                <a16:creationId xmlns:a16="http://schemas.microsoft.com/office/drawing/2014/main" id="{BC55CDD2-E772-C35E-78E6-6D89D2399390}"/>
              </a:ext>
            </a:extLst>
          </p:cNvPr>
          <p:cNvCxnSpPr>
            <a:cxnSpLocks/>
          </p:cNvCxnSpPr>
          <p:nvPr/>
        </p:nvCxnSpPr>
        <p:spPr>
          <a:xfrm>
            <a:off x="10180635" y="4657795"/>
            <a:ext cx="0" cy="1014936"/>
          </a:xfrm>
          <a:prstGeom prst="straightConnector1">
            <a:avLst/>
          </a:prstGeom>
          <a:ln w="952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9" name="文本框 2308">
            <a:extLst>
              <a:ext uri="{FF2B5EF4-FFF2-40B4-BE49-F238E27FC236}">
                <a16:creationId xmlns:a16="http://schemas.microsoft.com/office/drawing/2014/main" id="{9BFF16ED-879E-1FC6-ED92-D21BE2559398}"/>
              </a:ext>
            </a:extLst>
          </p:cNvPr>
          <p:cNvSpPr txBox="1"/>
          <p:nvPr/>
        </p:nvSpPr>
        <p:spPr>
          <a:xfrm>
            <a:off x="3176219" y="3602624"/>
            <a:ext cx="27876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1.6-3.2Tbps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311" name="文本框 2310">
            <a:extLst>
              <a:ext uri="{FF2B5EF4-FFF2-40B4-BE49-F238E27FC236}">
                <a16:creationId xmlns:a16="http://schemas.microsoft.com/office/drawing/2014/main" id="{2EEC16A6-73A6-E0A5-1CE1-A674984BCEDC}"/>
              </a:ext>
            </a:extLst>
          </p:cNvPr>
          <p:cNvSpPr txBox="1"/>
          <p:nvPr/>
        </p:nvSpPr>
        <p:spPr>
          <a:xfrm>
            <a:off x="3069996" y="2303966"/>
            <a:ext cx="1451204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Total Rate limit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312" name="文本框 2311">
            <a:extLst>
              <a:ext uri="{FF2B5EF4-FFF2-40B4-BE49-F238E27FC236}">
                <a16:creationId xmlns:a16="http://schemas.microsoft.com/office/drawing/2014/main" id="{B0B135FA-6390-57F1-3CDF-853F2745AFFE}"/>
              </a:ext>
            </a:extLst>
          </p:cNvPr>
          <p:cNvSpPr txBox="1"/>
          <p:nvPr/>
        </p:nvSpPr>
        <p:spPr>
          <a:xfrm>
            <a:off x="3176219" y="5486667"/>
            <a:ext cx="2787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&gt; 12.8Tbps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98" name="文本框 2297">
            <a:extLst>
              <a:ext uri="{FF2B5EF4-FFF2-40B4-BE49-F238E27FC236}">
                <a16:creationId xmlns:a16="http://schemas.microsoft.com/office/drawing/2014/main" id="{8B14412C-8E71-205E-8FA7-B63D453D35BB}"/>
              </a:ext>
            </a:extLst>
          </p:cNvPr>
          <p:cNvSpPr txBox="1"/>
          <p:nvPr/>
        </p:nvSpPr>
        <p:spPr>
          <a:xfrm>
            <a:off x="9121267" y="3557251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6-8cm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299" name="文本框 2298">
            <a:extLst>
              <a:ext uri="{FF2B5EF4-FFF2-40B4-BE49-F238E27FC236}">
                <a16:creationId xmlns:a16="http://schemas.microsoft.com/office/drawing/2014/main" id="{C86EDA3F-A26D-6D57-4D34-AC56A675EC72}"/>
              </a:ext>
            </a:extLst>
          </p:cNvPr>
          <p:cNvSpPr txBox="1"/>
          <p:nvPr/>
        </p:nvSpPr>
        <p:spPr>
          <a:xfrm>
            <a:off x="8253802" y="5512822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050" b="1" dirty="0">
                <a:solidFill>
                  <a:schemeClr val="bg1"/>
                </a:solidFill>
                <a:cs typeface="+mn-ea"/>
                <a:sym typeface="+mn-lt"/>
              </a:rPr>
              <a:t> &lt;1mm</a:t>
            </a:r>
            <a:endParaRPr kumimoji="1" lang="en-US" altLang="zh-CN" sz="1050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87205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think-cell data - do not delete" hidden="1">
            <a:extLst>
              <a:ext uri="{FF2B5EF4-FFF2-40B4-BE49-F238E27FC236}">
                <a16:creationId xmlns:a16="http://schemas.microsoft.com/office/drawing/2014/main" id="{9626425B-D7C9-EE32-8B7E-F896A973C6F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902310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8" imgW="401" imgH="401" progId="TCLayout.ActiveDocument.1">
                  <p:embed/>
                </p:oleObj>
              </mc:Choice>
              <mc:Fallback>
                <p:oleObj name="think-cell 幻灯片" r:id="rId8" imgW="401" imgH="401" progId="TCLayout.ActiveDocument.1">
                  <p:embed/>
                  <p:pic>
                    <p:nvPicPr>
                      <p:cNvPr id="5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26425B-D7C9-EE32-8B7E-F896A973C6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" name="文本框 203">
            <a:extLst>
              <a:ext uri="{FF2B5EF4-FFF2-40B4-BE49-F238E27FC236}">
                <a16:creationId xmlns:a16="http://schemas.microsoft.com/office/drawing/2014/main" id="{41918CB3-DEB4-5CEB-E499-F3AD8D4AE173}"/>
              </a:ext>
            </a:extLst>
          </p:cNvPr>
          <p:cNvSpPr txBox="1"/>
          <p:nvPr/>
        </p:nvSpPr>
        <p:spPr>
          <a:xfrm>
            <a:off x="6530975" y="3080458"/>
            <a:ext cx="462470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Global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giants bet on CPO: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the ​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most commercially viable path​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among next-gen interconnect technologies.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72F8DDA-EA12-3D19-91E3-EB0B2B9B9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45" y="89860"/>
            <a:ext cx="10071100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</a:rPr>
              <a:t>PO is </a:t>
            </a:r>
            <a:r>
              <a:rPr lang="en-US" altLang="zh-CN" dirty="0">
                <a:cs typeface="+mn-ea"/>
              </a:rPr>
              <a:t>currently the </a:t>
            </a:r>
            <a:r>
              <a:rPr lang="en-US" altLang="zh-CN" dirty="0">
                <a:latin typeface="+mn-lt"/>
                <a:ea typeface="+mn-ea"/>
                <a:cs typeface="+mn-ea"/>
              </a:rPr>
              <a:t>mainstream choice while tech giants target CPO soon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79D3A06-0ACF-F28E-498D-9892DB459C5F}"/>
              </a:ext>
            </a:extLst>
          </p:cNvPr>
          <p:cNvSpPr txBox="1"/>
          <p:nvPr/>
        </p:nvSpPr>
        <p:spPr>
          <a:xfrm>
            <a:off x="657225" y="3098880"/>
            <a:ext cx="1166813" cy="140200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Key players</a:t>
            </a:r>
            <a:r>
              <a:rPr kumimoji="1" lang="en-US" altLang="zh-CN" sz="1400" b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</a:p>
        </p:txBody>
      </p:sp>
      <p:cxnSp>
        <p:nvCxnSpPr>
          <p:cNvPr id="34" name="直线连接符 8">
            <a:extLst>
              <a:ext uri="{FF2B5EF4-FFF2-40B4-BE49-F238E27FC236}">
                <a16:creationId xmlns:a16="http://schemas.microsoft.com/office/drawing/2014/main" id="{92D521B5-6713-18DC-5E72-62681B8FE3A0}"/>
              </a:ext>
            </a:extLst>
          </p:cNvPr>
          <p:cNvCxnSpPr>
            <a:cxnSpLocks/>
          </p:cNvCxnSpPr>
          <p:nvPr/>
        </p:nvCxnSpPr>
        <p:spPr>
          <a:xfrm>
            <a:off x="652463" y="2925525"/>
            <a:ext cx="10591800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EBBC2B9E-B668-8E6A-1BD4-C77FE175657E}"/>
              </a:ext>
            </a:extLst>
          </p:cNvPr>
          <p:cNvGrpSpPr/>
          <p:nvPr/>
        </p:nvGrpSpPr>
        <p:grpSpPr>
          <a:xfrm>
            <a:off x="6616700" y="962025"/>
            <a:ext cx="4627563" cy="442913"/>
            <a:chOff x="3873011" y="995866"/>
            <a:chExt cx="2534139" cy="443738"/>
          </a:xfrm>
        </p:grpSpPr>
        <p:cxnSp>
          <p:nvCxnSpPr>
            <p:cNvPr id="42" name="直线连接符 34">
              <a:extLst>
                <a:ext uri="{FF2B5EF4-FFF2-40B4-BE49-F238E27FC236}">
                  <a16:creationId xmlns:a16="http://schemas.microsoft.com/office/drawing/2014/main" id="{92AE7B20-0E62-6537-08C9-4B4B44AD472D}"/>
                </a:ext>
              </a:extLst>
            </p:cNvPr>
            <p:cNvCxnSpPr>
              <a:cxnSpLocks/>
            </p:cNvCxnSpPr>
            <p:nvPr/>
          </p:nvCxnSpPr>
          <p:spPr>
            <a:xfrm>
              <a:off x="3873011" y="1439604"/>
              <a:ext cx="2534138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60F05AC7-7CFD-0E60-3FDD-2CCEFB3069E8}"/>
                </a:ext>
              </a:extLst>
            </p:cNvPr>
            <p:cNvSpPr txBox="1"/>
            <p:nvPr/>
          </p:nvSpPr>
          <p:spPr>
            <a:xfrm>
              <a:off x="3873012" y="995866"/>
              <a:ext cx="2534138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CPO (Co-Packaged Optics)</a:t>
              </a: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67FCE8F0-C0FA-ED7F-35BA-13284730F1B9}"/>
              </a:ext>
            </a:extLst>
          </p:cNvPr>
          <p:cNvSpPr txBox="1"/>
          <p:nvPr/>
        </p:nvSpPr>
        <p:spPr>
          <a:xfrm>
            <a:off x="657225" y="1682750"/>
            <a:ext cx="1163638" cy="39370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Total rate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EE681432-B156-18D5-9791-25EED3A08238}"/>
              </a:ext>
            </a:extLst>
          </p:cNvPr>
          <p:cNvGrpSpPr/>
          <p:nvPr/>
        </p:nvGrpSpPr>
        <p:grpSpPr>
          <a:xfrm>
            <a:off x="1985963" y="963613"/>
            <a:ext cx="4294188" cy="444500"/>
            <a:chOff x="460392" y="999954"/>
            <a:chExt cx="3180162" cy="443738"/>
          </a:xfrm>
        </p:grpSpPr>
        <p:cxnSp>
          <p:nvCxnSpPr>
            <p:cNvPr id="21" name="直线连接符 30">
              <a:extLst>
                <a:ext uri="{FF2B5EF4-FFF2-40B4-BE49-F238E27FC236}">
                  <a16:creationId xmlns:a16="http://schemas.microsoft.com/office/drawing/2014/main" id="{B94178F3-BFE6-A703-1A8A-61441D44CFC8}"/>
                </a:ext>
              </a:extLst>
            </p:cNvPr>
            <p:cNvCxnSpPr>
              <a:cxnSpLocks/>
            </p:cNvCxnSpPr>
            <p:nvPr/>
          </p:nvCxnSpPr>
          <p:spPr>
            <a:xfrm>
              <a:off x="460392" y="1443692"/>
              <a:ext cx="3179997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6106B15-6C9C-84DA-206F-D5D5E3E5D02F}"/>
                </a:ext>
              </a:extLst>
            </p:cNvPr>
            <p:cNvSpPr txBox="1"/>
            <p:nvPr/>
          </p:nvSpPr>
          <p:spPr>
            <a:xfrm>
              <a:off x="460963" y="999954"/>
              <a:ext cx="3179591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PO</a:t>
              </a:r>
              <a:r>
                <a:rPr kumimoji="1" lang="en-US" altLang="zh-CN" sz="1600" b="1" dirty="0">
                  <a:solidFill>
                    <a:srgbClr val="0052D9"/>
                  </a:solidFill>
                  <a:cs typeface="+mn-ea"/>
                  <a:sym typeface="+mn-lt"/>
                </a:rPr>
                <a:t> </a:t>
              </a: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(</a:t>
              </a:r>
              <a:r>
                <a:rPr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Pluggable Optics)</a:t>
              </a:r>
              <a:endPara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32" name="文本框 31">
            <a:extLst>
              <a:ext uri="{FF2B5EF4-FFF2-40B4-BE49-F238E27FC236}">
                <a16:creationId xmlns:a16="http://schemas.microsoft.com/office/drawing/2014/main" id="{5B542C07-6CD8-95C9-8173-DEEE32527E6E}"/>
              </a:ext>
            </a:extLst>
          </p:cNvPr>
          <p:cNvSpPr txBox="1"/>
          <p:nvPr/>
        </p:nvSpPr>
        <p:spPr>
          <a:xfrm>
            <a:off x="2379663" y="1738313"/>
            <a:ext cx="2787650" cy="306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Medium: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1.6T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bps</a:t>
            </a:r>
            <a:r>
              <a:rPr lang="zh-CN" altLang="en-US" sz="1400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(2025)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B12BFE29-888F-9E49-4EC1-44B14D6925BA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2101850" y="1778000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4" name="弧 155">
            <a:extLst>
              <a:ext uri="{FF2B5EF4-FFF2-40B4-BE49-F238E27FC236}">
                <a16:creationId xmlns:a16="http://schemas.microsoft.com/office/drawing/2014/main" id="{2951776E-1A62-A9CD-5D1E-9DF41ED6A0AA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2101850" y="1778000"/>
            <a:ext cx="187325" cy="187324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0693F763-3501-ECBC-5DAA-878A02914201}"/>
              </a:ext>
            </a:extLst>
          </p:cNvPr>
          <p:cNvSpPr txBox="1"/>
          <p:nvPr/>
        </p:nvSpPr>
        <p:spPr>
          <a:xfrm>
            <a:off x="6894513" y="1719263"/>
            <a:ext cx="2787650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High: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6.4T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bps (2026)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6" name="椭圆 65">
            <a:extLst>
              <a:ext uri="{FF2B5EF4-FFF2-40B4-BE49-F238E27FC236}">
                <a16:creationId xmlns:a16="http://schemas.microsoft.com/office/drawing/2014/main" id="{4F0B813F-32EE-EB79-187C-85AF6F62ABF9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6616700" y="1790700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78" name="弧 155">
            <a:extLst>
              <a:ext uri="{FF2B5EF4-FFF2-40B4-BE49-F238E27FC236}">
                <a16:creationId xmlns:a16="http://schemas.microsoft.com/office/drawing/2014/main" id="{8979A53B-A0DE-2250-D385-2828F07FC3CF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6616701" y="1790700"/>
            <a:ext cx="187324" cy="187324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250D9217-0F5D-90E5-5E10-7CC583563E0D}"/>
              </a:ext>
            </a:extLst>
          </p:cNvPr>
          <p:cNvSpPr txBox="1"/>
          <p:nvPr/>
        </p:nvSpPr>
        <p:spPr>
          <a:xfrm>
            <a:off x="657225" y="2260600"/>
            <a:ext cx="1163638" cy="485775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Market size</a:t>
            </a:r>
            <a:r>
              <a:rPr kumimoji="1" lang="en-US" altLang="zh-CN" sz="1400" b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endParaRPr kumimoji="1" lang="en-US" altLang="zh-CN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2025E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1" name="椭圆 90">
            <a:extLst>
              <a:ext uri="{FF2B5EF4-FFF2-40B4-BE49-F238E27FC236}">
                <a16:creationId xmlns:a16="http://schemas.microsoft.com/office/drawing/2014/main" id="{D9609890-EC78-519E-A870-70859BE2F8E7}"/>
              </a:ext>
            </a:extLst>
          </p:cNvPr>
          <p:cNvSpPr/>
          <p:nvPr/>
        </p:nvSpPr>
        <p:spPr>
          <a:xfrm>
            <a:off x="2046288" y="2230438"/>
            <a:ext cx="488950" cy="488950"/>
          </a:xfrm>
          <a:prstGeom prst="ellipse">
            <a:avLst/>
          </a:prstGeom>
          <a:solidFill>
            <a:srgbClr val="0052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DC51F2BC-C34D-AC29-3F22-0C78B9A2B981}"/>
              </a:ext>
            </a:extLst>
          </p:cNvPr>
          <p:cNvSpPr txBox="1"/>
          <p:nvPr/>
        </p:nvSpPr>
        <p:spPr>
          <a:xfrm>
            <a:off x="2582863" y="2339975"/>
            <a:ext cx="2787650" cy="3079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~$10bn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DCF9ED99-140F-0C08-740C-0D6F2007712D}"/>
              </a:ext>
            </a:extLst>
          </p:cNvPr>
          <p:cNvGrpSpPr/>
          <p:nvPr/>
        </p:nvGrpSpPr>
        <p:grpSpPr>
          <a:xfrm>
            <a:off x="6681788" y="2314575"/>
            <a:ext cx="2971800" cy="307975"/>
            <a:chOff x="5410439" y="2582719"/>
            <a:chExt cx="2970624" cy="307777"/>
          </a:xfrm>
        </p:grpSpPr>
        <p:sp>
          <p:nvSpPr>
            <p:cNvPr id="93" name="椭圆 92">
              <a:extLst>
                <a:ext uri="{FF2B5EF4-FFF2-40B4-BE49-F238E27FC236}">
                  <a16:creationId xmlns:a16="http://schemas.microsoft.com/office/drawing/2014/main" id="{176DC493-6BA9-C9D8-1CDB-AB108B52E3F6}"/>
                </a:ext>
              </a:extLst>
            </p:cNvPr>
            <p:cNvSpPr/>
            <p:nvPr/>
          </p:nvSpPr>
          <p:spPr>
            <a:xfrm>
              <a:off x="5410439" y="2702157"/>
              <a:ext cx="100683" cy="100683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94" name="文本框 93">
              <a:extLst>
                <a:ext uri="{FF2B5EF4-FFF2-40B4-BE49-F238E27FC236}">
                  <a16:creationId xmlns:a16="http://schemas.microsoft.com/office/drawing/2014/main" id="{9B844F1B-C95E-1A69-4E59-4E369A0B197F}"/>
                </a:ext>
              </a:extLst>
            </p:cNvPr>
            <p:cNvSpPr txBox="1"/>
            <p:nvPr/>
          </p:nvSpPr>
          <p:spPr>
            <a:xfrm>
              <a:off x="5593413" y="2582719"/>
              <a:ext cx="2787650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$10mn-scale</a:t>
              </a:r>
              <a:endPara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121" name="文本框 120">
            <a:extLst>
              <a:ext uri="{FF2B5EF4-FFF2-40B4-BE49-F238E27FC236}">
                <a16:creationId xmlns:a16="http://schemas.microsoft.com/office/drawing/2014/main" id="{DCEE26B6-06D0-7BAB-E150-BD9FBA69AC82}"/>
              </a:ext>
            </a:extLst>
          </p:cNvPr>
          <p:cNvSpPr txBox="1"/>
          <p:nvPr/>
        </p:nvSpPr>
        <p:spPr>
          <a:xfrm>
            <a:off x="341334" y="6036672"/>
            <a:ext cx="739614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TSMC,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Insight Partners,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QYResearch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Morgan Stanley Research,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 market size from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CPO data from Insight Partners.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Showing only companies with the largest market share in each segment.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38" name="文本框 1037">
            <a:extLst>
              <a:ext uri="{FF2B5EF4-FFF2-40B4-BE49-F238E27FC236}">
                <a16:creationId xmlns:a16="http://schemas.microsoft.com/office/drawing/2014/main" id="{BBB42BAE-20BE-6C89-F6AF-EA383B4D26CD}"/>
              </a:ext>
            </a:extLst>
          </p:cNvPr>
          <p:cNvSpPr txBox="1"/>
          <p:nvPr/>
        </p:nvSpPr>
        <p:spPr>
          <a:xfrm>
            <a:off x="1997075" y="3091746"/>
            <a:ext cx="419417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Domestic players dominate: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Account for ​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70%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​​ of the top 10 global vendors.</a:t>
            </a:r>
          </a:p>
          <a:p>
            <a:pPr marL="182563" indent="-182563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40" name="文本框 1039">
            <a:extLst>
              <a:ext uri="{FF2B5EF4-FFF2-40B4-BE49-F238E27FC236}">
                <a16:creationId xmlns:a16="http://schemas.microsoft.com/office/drawing/2014/main" id="{F0CB0FFF-4911-498F-02C9-998CD487C915}"/>
              </a:ext>
            </a:extLst>
          </p:cNvPr>
          <p:cNvSpPr txBox="1"/>
          <p:nvPr/>
        </p:nvSpPr>
        <p:spPr>
          <a:xfrm>
            <a:off x="652463" y="4830174"/>
            <a:ext cx="1168400" cy="86375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Key players’ dynamics</a:t>
            </a:r>
          </a:p>
        </p:txBody>
      </p:sp>
      <p:pic>
        <p:nvPicPr>
          <p:cNvPr id="1032" name="图片 1031">
            <a:extLst>
              <a:ext uri="{FF2B5EF4-FFF2-40B4-BE49-F238E27FC236}">
                <a16:creationId xmlns:a16="http://schemas.microsoft.com/office/drawing/2014/main" id="{E80FC4DC-6301-6CCA-6ED4-E5673DC3200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07013" y="3644867"/>
            <a:ext cx="758825" cy="273176"/>
          </a:xfrm>
          <a:prstGeom prst="rect">
            <a:avLst/>
          </a:prstGeom>
        </p:spPr>
      </p:pic>
      <p:pic>
        <p:nvPicPr>
          <p:cNvPr id="1034" name="图片 1033">
            <a:extLst>
              <a:ext uri="{FF2B5EF4-FFF2-40B4-BE49-F238E27FC236}">
                <a16:creationId xmlns:a16="http://schemas.microsoft.com/office/drawing/2014/main" id="{A6A80C89-7F65-CF6B-2A38-CBB3E60D2FF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84375" y="3576761"/>
            <a:ext cx="939800" cy="358341"/>
          </a:xfrm>
          <a:prstGeom prst="rect">
            <a:avLst/>
          </a:prstGeom>
        </p:spPr>
      </p:pic>
      <p:pic>
        <p:nvPicPr>
          <p:cNvPr id="1036" name="图片 1035">
            <a:extLst>
              <a:ext uri="{FF2B5EF4-FFF2-40B4-BE49-F238E27FC236}">
                <a16:creationId xmlns:a16="http://schemas.microsoft.com/office/drawing/2014/main" id="{9C681C13-0730-27E7-2273-5A5FF9D075B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32994" y="3686692"/>
            <a:ext cx="965200" cy="234097"/>
          </a:xfrm>
          <a:prstGeom prst="rect">
            <a:avLst/>
          </a:prstGeom>
        </p:spPr>
      </p:pic>
      <p:sp>
        <p:nvSpPr>
          <p:cNvPr id="1042" name="文本框 1041">
            <a:extLst>
              <a:ext uri="{FF2B5EF4-FFF2-40B4-BE49-F238E27FC236}">
                <a16:creationId xmlns:a16="http://schemas.microsoft.com/office/drawing/2014/main" id="{A160CDC6-AB41-4571-C60F-17C58F524AA0}"/>
              </a:ext>
            </a:extLst>
          </p:cNvPr>
          <p:cNvSpPr txBox="1"/>
          <p:nvPr/>
        </p:nvSpPr>
        <p:spPr>
          <a:xfrm>
            <a:off x="3667125" y="4247684"/>
            <a:ext cx="995363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CR3: 50%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47A4D54C-0042-9C28-3A00-5E086A865180}"/>
              </a:ext>
            </a:extLst>
          </p:cNvPr>
          <p:cNvGrpSpPr/>
          <p:nvPr/>
        </p:nvGrpSpPr>
        <p:grpSpPr>
          <a:xfrm>
            <a:off x="9366250" y="3627064"/>
            <a:ext cx="712788" cy="257609"/>
            <a:chOff x="5019885" y="4088857"/>
            <a:chExt cx="969121" cy="350678"/>
          </a:xfrm>
        </p:grpSpPr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88FB5E51-9ECE-7368-8C10-FDA37AC7642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019885" y="4088857"/>
              <a:ext cx="355624" cy="350678"/>
            </a:xfrm>
            <a:prstGeom prst="rect">
              <a:avLst/>
            </a:prstGeom>
          </p:spPr>
        </p:pic>
        <p:pic>
          <p:nvPicPr>
            <p:cNvPr id="59" name="图片 58">
              <a:extLst>
                <a:ext uri="{FF2B5EF4-FFF2-40B4-BE49-F238E27FC236}">
                  <a16:creationId xmlns:a16="http://schemas.microsoft.com/office/drawing/2014/main" id="{448C6786-1751-A660-4813-8EE9706460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5395503" y="4154387"/>
              <a:ext cx="593503" cy="219617"/>
            </a:xfrm>
            <a:prstGeom prst="rect">
              <a:avLst/>
            </a:prstGeom>
          </p:spPr>
        </p:pic>
      </p:grpSp>
      <p:pic>
        <p:nvPicPr>
          <p:cNvPr id="60" name="图像" descr="图像">
            <a:extLst>
              <a:ext uri="{FF2B5EF4-FFF2-40B4-BE49-F238E27FC236}">
                <a16:creationId xmlns:a16="http://schemas.microsoft.com/office/drawing/2014/main" id="{E137054D-360E-C5A4-E853-C39432BC959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42444" y="3618224"/>
            <a:ext cx="415694" cy="274682"/>
          </a:xfrm>
          <a:prstGeom prst="rect">
            <a:avLst/>
          </a:prstGeom>
          <a:ln w="12700">
            <a:miter lim="400000"/>
          </a:ln>
        </p:spPr>
      </p:pic>
      <p:sp>
        <p:nvSpPr>
          <p:cNvPr id="1045" name="文本框 1044">
            <a:extLst>
              <a:ext uri="{FF2B5EF4-FFF2-40B4-BE49-F238E27FC236}">
                <a16:creationId xmlns:a16="http://schemas.microsoft.com/office/drawing/2014/main" id="{837901F7-98DA-4D36-37A5-D43D99AB0EF4}"/>
              </a:ext>
            </a:extLst>
          </p:cNvPr>
          <p:cNvSpPr txBox="1"/>
          <p:nvPr/>
        </p:nvSpPr>
        <p:spPr>
          <a:xfrm>
            <a:off x="8294688" y="4247684"/>
            <a:ext cx="995363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100%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1067" name="图片 1066">
            <a:extLst>
              <a:ext uri="{FF2B5EF4-FFF2-40B4-BE49-F238E27FC236}">
                <a16:creationId xmlns:a16="http://schemas.microsoft.com/office/drawing/2014/main" id="{3C3E3C86-1D14-079A-F916-19AD852F2C5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44688" y="5161020"/>
            <a:ext cx="774700" cy="295389"/>
          </a:xfrm>
          <a:prstGeom prst="rect">
            <a:avLst/>
          </a:prstGeom>
        </p:spPr>
      </p:pic>
      <p:sp>
        <p:nvSpPr>
          <p:cNvPr id="1068" name="文本框 1067">
            <a:extLst>
              <a:ext uri="{FF2B5EF4-FFF2-40B4-BE49-F238E27FC236}">
                <a16:creationId xmlns:a16="http://schemas.microsoft.com/office/drawing/2014/main" id="{EE528FDD-5319-4889-9CBB-E6E295812618}"/>
              </a:ext>
            </a:extLst>
          </p:cNvPr>
          <p:cNvSpPr txBox="1"/>
          <p:nvPr/>
        </p:nvSpPr>
        <p:spPr>
          <a:xfrm>
            <a:off x="2763838" y="5202891"/>
            <a:ext cx="3516313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2024: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800G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shipments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&gt; 2mn units.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Q4'24: 1.6T first to certify &amp; ship.</a:t>
            </a:r>
            <a:endParaRPr lang="zh-CN" altLang="en-US" sz="1400" dirty="0">
              <a:cs typeface="+mn-ea"/>
              <a:sym typeface="+mn-lt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74" name="文本框 1073">
            <a:extLst>
              <a:ext uri="{FF2B5EF4-FFF2-40B4-BE49-F238E27FC236}">
                <a16:creationId xmlns:a16="http://schemas.microsoft.com/office/drawing/2014/main" id="{AA4B8E98-2E4E-FE0D-4F0F-F51B2599332E}"/>
              </a:ext>
            </a:extLst>
          </p:cNvPr>
          <p:cNvSpPr txBox="1"/>
          <p:nvPr/>
        </p:nvSpPr>
        <p:spPr>
          <a:xfrm>
            <a:off x="7335838" y="5202891"/>
            <a:ext cx="3700463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Q2’25: Spectrum-X CPO switch delivery.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Q2’26E: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Quantum-X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 switch delivery.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zh-CN" altLang="en-US" sz="1400" dirty="0">
              <a:cs typeface="+mn-ea"/>
              <a:sym typeface="+mn-lt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75" name="图片 1074">
            <a:extLst>
              <a:ext uri="{FF2B5EF4-FFF2-40B4-BE49-F238E27FC236}">
                <a16:creationId xmlns:a16="http://schemas.microsoft.com/office/drawing/2014/main" id="{F3EB3747-D6D5-4403-99FE-A4CB3549421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62713" y="5155929"/>
            <a:ext cx="309563" cy="305258"/>
          </a:xfrm>
          <a:prstGeom prst="rect">
            <a:avLst/>
          </a:prstGeom>
        </p:spPr>
      </p:pic>
      <p:pic>
        <p:nvPicPr>
          <p:cNvPr id="1076" name="图片 1075">
            <a:extLst>
              <a:ext uri="{FF2B5EF4-FFF2-40B4-BE49-F238E27FC236}">
                <a16:creationId xmlns:a16="http://schemas.microsoft.com/office/drawing/2014/main" id="{86C281A5-2F71-019A-61A4-00B0F3F827E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65925" y="5213101"/>
            <a:ext cx="515938" cy="190914"/>
          </a:xfrm>
          <a:prstGeom prst="rect">
            <a:avLst/>
          </a:prstGeom>
        </p:spPr>
      </p:pic>
      <p:cxnSp>
        <p:nvCxnSpPr>
          <p:cNvPr id="1083" name="直线连接符 8">
            <a:extLst>
              <a:ext uri="{FF2B5EF4-FFF2-40B4-BE49-F238E27FC236}">
                <a16:creationId xmlns:a16="http://schemas.microsoft.com/office/drawing/2014/main" id="{B9FC0685-FA4A-FE26-816D-2B1F2CF7B34F}"/>
              </a:ext>
            </a:extLst>
          </p:cNvPr>
          <p:cNvCxnSpPr>
            <a:cxnSpLocks/>
          </p:cNvCxnSpPr>
          <p:nvPr/>
        </p:nvCxnSpPr>
        <p:spPr>
          <a:xfrm>
            <a:off x="652463" y="4674667"/>
            <a:ext cx="10626725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4" name="文本框 1083">
            <a:extLst>
              <a:ext uri="{FF2B5EF4-FFF2-40B4-BE49-F238E27FC236}">
                <a16:creationId xmlns:a16="http://schemas.microsoft.com/office/drawing/2014/main" id="{7D1A73FF-FE74-E4CE-8756-CD7EBAF67DA9}"/>
              </a:ext>
            </a:extLst>
          </p:cNvPr>
          <p:cNvSpPr txBox="1"/>
          <p:nvPr/>
        </p:nvSpPr>
        <p:spPr>
          <a:xfrm>
            <a:off x="1990725" y="4836256"/>
            <a:ext cx="4313238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Mass commercial adoption in AIDC.</a:t>
            </a:r>
            <a:endParaRPr kumimoji="1" lang="zh-CN" altLang="en-US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85" name="文本框 1084">
            <a:extLst>
              <a:ext uri="{FF2B5EF4-FFF2-40B4-BE49-F238E27FC236}">
                <a16:creationId xmlns:a16="http://schemas.microsoft.com/office/drawing/2014/main" id="{13C27EC4-0F72-90E1-EA8E-6659BF2C8AEF}"/>
              </a:ext>
            </a:extLst>
          </p:cNvPr>
          <p:cNvSpPr txBox="1"/>
          <p:nvPr/>
        </p:nvSpPr>
        <p:spPr>
          <a:xfrm>
            <a:off x="6530975" y="4830173"/>
            <a:ext cx="5318125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​Targeting commercialization in the 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25-26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timeframe.​</a:t>
            </a:r>
            <a:endParaRPr kumimoji="1" lang="zh-CN" altLang="en-US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" name="等腰三角形 2">
            <a:extLst>
              <a:ext uri="{FF2B5EF4-FFF2-40B4-BE49-F238E27FC236}">
                <a16:creationId xmlns:a16="http://schemas.microsoft.com/office/drawing/2014/main" id="{05DAED3E-611C-0A98-0C70-3B6098267E26}"/>
              </a:ext>
            </a:extLst>
          </p:cNvPr>
          <p:cNvSpPr/>
          <p:nvPr/>
        </p:nvSpPr>
        <p:spPr>
          <a:xfrm rot="10800000">
            <a:off x="3324225" y="4087813"/>
            <a:ext cx="1690688" cy="91163"/>
          </a:xfrm>
          <a:prstGeom prst="triangle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8" name="等腰三角形 7">
            <a:extLst>
              <a:ext uri="{FF2B5EF4-FFF2-40B4-BE49-F238E27FC236}">
                <a16:creationId xmlns:a16="http://schemas.microsoft.com/office/drawing/2014/main" id="{229821F5-C4E2-6784-9CD6-0979EBDD566A}"/>
              </a:ext>
            </a:extLst>
          </p:cNvPr>
          <p:cNvSpPr/>
          <p:nvPr/>
        </p:nvSpPr>
        <p:spPr>
          <a:xfrm rot="10800000">
            <a:off x="7958138" y="4087813"/>
            <a:ext cx="1690688" cy="91163"/>
          </a:xfrm>
          <a:prstGeom prst="triangle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4746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7972A-0E90-C854-EF9D-2AD4B7EF2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think-cell data - do not delete" hidden="1">
            <a:extLst>
              <a:ext uri="{FF2B5EF4-FFF2-40B4-BE49-F238E27FC236}">
                <a16:creationId xmlns:a16="http://schemas.microsoft.com/office/drawing/2014/main" id="{F55CB356-32B4-AB08-9889-83549FF967D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256339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5" imgW="401" imgH="401" progId="TCLayout.ActiveDocument.1">
                  <p:embed/>
                </p:oleObj>
              </mc:Choice>
              <mc:Fallback>
                <p:oleObj name="think-cell 幻灯片" r:id="rId25" imgW="401" imgH="401" progId="TCLayout.ActiveDocument.1">
                  <p:embed/>
                  <p:pic>
                    <p:nvPicPr>
                      <p:cNvPr id="5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55CB356-32B4-AB08-9889-83549FF967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椭圆 10">
            <a:extLst>
              <a:ext uri="{FF2B5EF4-FFF2-40B4-BE49-F238E27FC236}">
                <a16:creationId xmlns:a16="http://schemas.microsoft.com/office/drawing/2014/main" id="{277AF5D9-C73F-CF0C-F4A8-B0E3672A6AA9}"/>
              </a:ext>
            </a:extLst>
          </p:cNvPr>
          <p:cNvSpPr/>
          <p:nvPr/>
        </p:nvSpPr>
        <p:spPr>
          <a:xfrm rot="21380359">
            <a:off x="3981705" y="2982764"/>
            <a:ext cx="5050766" cy="1684910"/>
          </a:xfrm>
          <a:prstGeom prst="ellipse">
            <a:avLst/>
          </a:prstGeom>
          <a:ln w="6350">
            <a:solidFill>
              <a:srgbClr val="0052D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D97359C2-6AD0-A4F9-F307-FF05B095E0C4}"/>
              </a:ext>
            </a:extLst>
          </p:cNvPr>
          <p:cNvGrpSpPr/>
          <p:nvPr/>
        </p:nvGrpSpPr>
        <p:grpSpPr>
          <a:xfrm>
            <a:off x="4625524" y="3781358"/>
            <a:ext cx="2580904" cy="792220"/>
            <a:chOff x="2174481" y="4777695"/>
            <a:chExt cx="2522880" cy="792220"/>
          </a:xfrm>
        </p:grpSpPr>
        <p:sp>
          <p:nvSpPr>
            <p:cNvPr id="6" name="TextBox 40">
              <a:extLst>
                <a:ext uri="{FF2B5EF4-FFF2-40B4-BE49-F238E27FC236}">
                  <a16:creationId xmlns:a16="http://schemas.microsoft.com/office/drawing/2014/main" id="{B60BE343-79D9-0D53-8A84-AE008C14AF27}"/>
                </a:ext>
              </a:extLst>
            </p:cNvPr>
            <p:cNvSpPr txBox="1">
              <a:spLocks/>
            </p:cNvSpPr>
            <p:nvPr>
              <p:custDataLst>
                <p:tags r:id="rId22"/>
              </p:custDataLst>
            </p:nvPr>
          </p:nvSpPr>
          <p:spPr>
            <a:xfrm>
              <a:off x="2271889" y="4777695"/>
              <a:ext cx="2425472" cy="20005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CPC + LPO </a:t>
              </a:r>
            </a:p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200" dirty="0">
                  <a:ea typeface="Verdana" pitchFamily="34" charset="0"/>
                </a:rPr>
                <a:t>Co-Packaged Copper</a:t>
              </a:r>
            </a:p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200" dirty="0">
                  <a:ea typeface="Verdana" pitchFamily="34" charset="0"/>
                </a:rPr>
                <a:t>Linear-drive Pluggable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3BCF3334-8686-B869-5F7A-13596D197ADD}"/>
                </a:ext>
              </a:extLst>
            </p:cNvPr>
            <p:cNvSpPr txBox="1"/>
            <p:nvPr/>
          </p:nvSpPr>
          <p:spPr>
            <a:xfrm>
              <a:off x="2174481" y="5262138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8-10W</a:t>
              </a:r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163D56B0-4EE6-27F5-93FD-1B38E75F2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45" y="89860"/>
            <a:ext cx="10071100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</a:rPr>
              <a:t>Long-term path: CPO; Short-term path: multiple transition options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A69B5B87-116B-7A4B-7089-32C359738A8F}"/>
              </a:ext>
            </a:extLst>
          </p:cNvPr>
          <p:cNvSpPr txBox="1"/>
          <p:nvPr/>
        </p:nvSpPr>
        <p:spPr>
          <a:xfrm>
            <a:off x="340305" y="6571248"/>
            <a:ext cx="739614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TSMC,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Broadcom, Meta, Huawei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Freihandform: Form 9">
            <a:extLst>
              <a:ext uri="{FF2B5EF4-FFF2-40B4-BE49-F238E27FC236}">
                <a16:creationId xmlns:a16="http://schemas.microsoft.com/office/drawing/2014/main" id="{C7B5C611-0561-C632-2070-3131873C3975}"/>
              </a:ext>
            </a:extLst>
          </p:cNvPr>
          <p:cNvSpPr>
            <a:spLocks/>
          </p:cNvSpPr>
          <p:nvPr/>
        </p:nvSpPr>
        <p:spPr>
          <a:xfrm flipV="1">
            <a:off x="1494288" y="1276308"/>
            <a:ext cx="8183112" cy="4343337"/>
          </a:xfrm>
          <a:custGeom>
            <a:avLst/>
            <a:gdLst>
              <a:gd name="connsiteX0" fmla="*/ 0 w 5905500"/>
              <a:gd name="connsiteY0" fmla="*/ 0 h 3952875"/>
              <a:gd name="connsiteX1" fmla="*/ 0 w 5905500"/>
              <a:gd name="connsiteY1" fmla="*/ 3952875 h 3952875"/>
              <a:gd name="connsiteX2" fmla="*/ 5905500 w 5905500"/>
              <a:gd name="connsiteY2" fmla="*/ 3952875 h 395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05500" h="3952875">
                <a:moveTo>
                  <a:pt x="0" y="0"/>
                </a:moveTo>
                <a:lnTo>
                  <a:pt x="0" y="3952875"/>
                </a:lnTo>
                <a:lnTo>
                  <a:pt x="5905500" y="3952875"/>
                </a:lnTo>
              </a:path>
            </a:pathLst>
          </a:custGeom>
          <a:noFill/>
          <a:ln w="6350">
            <a:solidFill>
              <a:srgbClr val="0052D9"/>
            </a:solidFill>
            <a:headEnd type="triangle"/>
            <a:tailEnd type="triangle"/>
          </a:ln>
        </p:spPr>
        <p:txBody>
          <a:bodyPr wrap="none" lIns="0" tIns="0" rIns="0" bIns="0" rtlCol="0" anchor="b" anchorCtr="0">
            <a:noAutofit/>
          </a:bodyPr>
          <a:lstStyle/>
          <a:p>
            <a:endParaRPr lang="en-US" sz="1600">
              <a:solidFill>
                <a:schemeClr val="accent6"/>
              </a:solidFill>
              <a:cs typeface="Poppins" pitchFamily="2" charset="77"/>
            </a:endParaRPr>
          </a:p>
        </p:txBody>
      </p:sp>
      <p:sp>
        <p:nvSpPr>
          <p:cNvPr id="50" name="TextBox 39">
            <a:extLst>
              <a:ext uri="{FF2B5EF4-FFF2-40B4-BE49-F238E27FC236}">
                <a16:creationId xmlns:a16="http://schemas.microsoft.com/office/drawing/2014/main" id="{DB48386A-262B-24DE-2A98-DD887979B6D0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9466418" y="974601"/>
            <a:ext cx="2033819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sz="1600" b="1" dirty="0">
                <a:ea typeface="Verdana" pitchFamily="34" charset="0"/>
              </a:rPr>
              <a:t>Barriers to Adoption</a:t>
            </a:r>
          </a:p>
        </p:txBody>
      </p:sp>
      <p:sp>
        <p:nvSpPr>
          <p:cNvPr id="51" name="TextBox 40">
            <a:extLst>
              <a:ext uri="{FF2B5EF4-FFF2-40B4-BE49-F238E27FC236}">
                <a16:creationId xmlns:a16="http://schemas.microsoft.com/office/drawing/2014/main" id="{7CBCC282-C7BD-8150-1B85-544380507796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1392795" y="5808499"/>
            <a:ext cx="313761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b="1" dirty="0">
                <a:ea typeface="Verdana" pitchFamily="34" charset="0"/>
              </a:rPr>
              <a:t>P</a:t>
            </a:r>
            <a:r>
              <a:rPr lang="en-US" altLang="zh-CN" sz="1600" b="1" dirty="0">
                <a:ea typeface="Verdana" pitchFamily="34" charset="0"/>
              </a:rPr>
              <a:t>ower (W) per 800G Port</a:t>
            </a:r>
            <a:endParaRPr lang="en-US" sz="1600" b="1" dirty="0">
              <a:ea typeface="Verdana" pitchFamily="34" charset="0"/>
            </a:endParaRPr>
          </a:p>
        </p:txBody>
      </p:sp>
      <p:sp>
        <p:nvSpPr>
          <p:cNvPr id="36" name="TextBox 41">
            <a:extLst>
              <a:ext uri="{FF2B5EF4-FFF2-40B4-BE49-F238E27FC236}">
                <a16:creationId xmlns:a16="http://schemas.microsoft.com/office/drawing/2014/main" id="{EC707E69-DE76-3A21-2BF3-325883C8BDDE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810420" y="1587401"/>
            <a:ext cx="246221" cy="1846830"/>
          </a:xfrm>
          <a:prstGeom prst="rect">
            <a:avLst/>
          </a:prstGeom>
          <a:noFill/>
        </p:spPr>
        <p:txBody>
          <a:bodyPr vert="vert270" wrap="square" lIns="0" tIns="0" rIns="0" bIns="0" rtlCol="0" anchor="ctr" anchorCtr="0">
            <a:noAutofit/>
          </a:bodyPr>
          <a:lstStyle/>
          <a:p>
            <a:pPr algn="ctr">
              <a:spcBef>
                <a:spcPts val="400"/>
              </a:spcBef>
              <a:buClr>
                <a:srgbClr val="6EA600"/>
              </a:buClr>
              <a:buSzPct val="100000"/>
              <a:defRPr/>
            </a:pPr>
            <a:r>
              <a:rPr lang="en-US" altLang="zh-CN" sz="1600" dirty="0">
                <a:ea typeface="Verdana" pitchFamily="34" charset="0"/>
              </a:rPr>
              <a:t>Low</a:t>
            </a:r>
          </a:p>
        </p:txBody>
      </p:sp>
      <p:sp>
        <p:nvSpPr>
          <p:cNvPr id="58" name="Freeform 431">
            <a:extLst>
              <a:ext uri="{FF2B5EF4-FFF2-40B4-BE49-F238E27FC236}">
                <a16:creationId xmlns:a16="http://schemas.microsoft.com/office/drawing/2014/main" id="{A54F0BEF-5A46-F156-7EA6-1F1568A0F178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8492997" y="1814359"/>
            <a:ext cx="728586" cy="728586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rgbClr val="0052D9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37" name="TextBox 40">
            <a:extLst>
              <a:ext uri="{FF2B5EF4-FFF2-40B4-BE49-F238E27FC236}">
                <a16:creationId xmlns:a16="http://schemas.microsoft.com/office/drawing/2014/main" id="{0B33B3F5-F303-8C26-795F-B128DBE985D9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1361980" y="974601"/>
            <a:ext cx="1872000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dirty="0">
                <a:ea typeface="Verdana" pitchFamily="34" charset="0"/>
              </a:rPr>
              <a:t>Low</a:t>
            </a:r>
          </a:p>
        </p:txBody>
      </p:sp>
      <p:sp>
        <p:nvSpPr>
          <p:cNvPr id="39" name="TextBox 40">
            <a:extLst>
              <a:ext uri="{FF2B5EF4-FFF2-40B4-BE49-F238E27FC236}">
                <a16:creationId xmlns:a16="http://schemas.microsoft.com/office/drawing/2014/main" id="{A692F1EA-F65B-71F9-F34E-3AE61D4EF08D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7698833" y="974601"/>
            <a:ext cx="1872000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dirty="0">
                <a:ea typeface="Verdana" pitchFamily="34" charset="0"/>
              </a:rPr>
              <a:t>High</a:t>
            </a:r>
          </a:p>
        </p:txBody>
      </p:sp>
      <p:sp>
        <p:nvSpPr>
          <p:cNvPr id="40" name="TextBox 41">
            <a:extLst>
              <a:ext uri="{FF2B5EF4-FFF2-40B4-BE49-F238E27FC236}">
                <a16:creationId xmlns:a16="http://schemas.microsoft.com/office/drawing/2014/main" id="{81ED152B-8D72-5D07-8804-986BE00A7B75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>
          <a:xfrm>
            <a:off x="805042" y="3622796"/>
            <a:ext cx="246221" cy="1846830"/>
          </a:xfrm>
          <a:prstGeom prst="rect">
            <a:avLst/>
          </a:prstGeom>
          <a:noFill/>
        </p:spPr>
        <p:txBody>
          <a:bodyPr vert="vert270"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altLang="zh-CN" sz="1600" dirty="0">
                <a:ea typeface="Verdana" pitchFamily="34" charset="0"/>
              </a:rPr>
              <a:t>High</a:t>
            </a:r>
            <a:endParaRPr lang="en-US" sz="1600" dirty="0">
              <a:ea typeface="Verdana" pitchFamily="34" charset="0"/>
            </a:endParaRPr>
          </a:p>
        </p:txBody>
      </p:sp>
      <p:sp>
        <p:nvSpPr>
          <p:cNvPr id="41" name="Freeform 431">
            <a:extLst>
              <a:ext uri="{FF2B5EF4-FFF2-40B4-BE49-F238E27FC236}">
                <a16:creationId xmlns:a16="http://schemas.microsoft.com/office/drawing/2014/main" id="{C49A7819-BF59-4556-BE3B-527E9F950E1B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6086133" y="3260391"/>
            <a:ext cx="360000" cy="360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rgbClr val="0052D9"/>
            </a:solidFill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8" name="Freeform 431">
            <a:extLst>
              <a:ext uri="{FF2B5EF4-FFF2-40B4-BE49-F238E27FC236}">
                <a16:creationId xmlns:a16="http://schemas.microsoft.com/office/drawing/2014/main" id="{39DB42EE-4DFC-EC59-E2D8-27CCD7BE3D75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2032566" y="5092261"/>
            <a:ext cx="216000" cy="216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rgbClr val="F2F2F2"/>
          </a:solidFill>
          <a:ln>
            <a:solidFill>
              <a:srgbClr val="0052D9"/>
            </a:solidFill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2DD3F92-5E03-5915-AA18-EF7750ABA55B}"/>
              </a:ext>
            </a:extLst>
          </p:cNvPr>
          <p:cNvGrpSpPr/>
          <p:nvPr/>
        </p:nvGrpSpPr>
        <p:grpSpPr>
          <a:xfrm>
            <a:off x="2272986" y="5051880"/>
            <a:ext cx="1975668" cy="536996"/>
            <a:chOff x="2166754" y="4777695"/>
            <a:chExt cx="1975668" cy="536996"/>
          </a:xfrm>
        </p:grpSpPr>
        <p:sp>
          <p:nvSpPr>
            <p:cNvPr id="16" name="TextBox 40">
              <a:extLst>
                <a:ext uri="{FF2B5EF4-FFF2-40B4-BE49-F238E27FC236}">
                  <a16:creationId xmlns:a16="http://schemas.microsoft.com/office/drawing/2014/main" id="{CF8E4F51-3053-5CC2-E7FB-0BA695096D1E}"/>
                </a:ext>
              </a:extLst>
            </p:cNvPr>
            <p:cNvSpPr txBox="1">
              <a:spLocks/>
            </p:cNvSpPr>
            <p:nvPr>
              <p:custDataLst>
                <p:tags r:id="rId21"/>
              </p:custDataLst>
            </p:nvPr>
          </p:nvSpPr>
          <p:spPr>
            <a:xfrm>
              <a:off x="2271889" y="4777695"/>
              <a:ext cx="1870533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PO (Pluggable)</a:t>
              </a: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6D6E9A37-DEA2-6580-AB37-03DE55B99111}"/>
                </a:ext>
              </a:extLst>
            </p:cNvPr>
            <p:cNvSpPr txBox="1"/>
            <p:nvPr/>
          </p:nvSpPr>
          <p:spPr>
            <a:xfrm>
              <a:off x="2166754" y="5006914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15W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6818E26A-BE7E-2FC0-240F-8C91020CDDE4}"/>
              </a:ext>
            </a:extLst>
          </p:cNvPr>
          <p:cNvGrpSpPr/>
          <p:nvPr/>
        </p:nvGrpSpPr>
        <p:grpSpPr>
          <a:xfrm>
            <a:off x="6466833" y="3230578"/>
            <a:ext cx="2307556" cy="613802"/>
            <a:chOff x="2189450" y="4777695"/>
            <a:chExt cx="2307556" cy="613802"/>
          </a:xfrm>
        </p:grpSpPr>
        <p:sp>
          <p:nvSpPr>
            <p:cNvPr id="19" name="TextBox 40">
              <a:extLst>
                <a:ext uri="{FF2B5EF4-FFF2-40B4-BE49-F238E27FC236}">
                  <a16:creationId xmlns:a16="http://schemas.microsoft.com/office/drawing/2014/main" id="{A5A539FB-2B26-3F43-4BCA-A6A32C13C532}"/>
                </a:ext>
              </a:extLst>
            </p:cNvPr>
            <p:cNvSpPr txBox="1">
              <a:spLocks/>
            </p:cNvSpPr>
            <p:nvPr>
              <p:custDataLst>
                <p:tags r:id="rId20"/>
              </p:custDataLst>
            </p:nvPr>
          </p:nvSpPr>
          <p:spPr>
            <a:xfrm>
              <a:off x="2271889" y="4777695"/>
              <a:ext cx="2225117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NPO (Near-Packaged)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84C5C1CA-0584-8A61-E50A-FCA627FDC785}"/>
                </a:ext>
              </a:extLst>
            </p:cNvPr>
            <p:cNvSpPr txBox="1"/>
            <p:nvPr/>
          </p:nvSpPr>
          <p:spPr>
            <a:xfrm>
              <a:off x="2189450" y="5083720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9W</a:t>
              </a: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8FE4AC34-BC0D-0EF4-9359-A42F61FB2BBA}"/>
              </a:ext>
            </a:extLst>
          </p:cNvPr>
          <p:cNvGrpSpPr/>
          <p:nvPr/>
        </p:nvGrpSpPr>
        <p:grpSpPr>
          <a:xfrm>
            <a:off x="9278422" y="1955300"/>
            <a:ext cx="1952520" cy="536996"/>
            <a:chOff x="2189902" y="4777695"/>
            <a:chExt cx="1952520" cy="536996"/>
          </a:xfrm>
        </p:grpSpPr>
        <p:sp>
          <p:nvSpPr>
            <p:cNvPr id="22" name="TextBox 40">
              <a:extLst>
                <a:ext uri="{FF2B5EF4-FFF2-40B4-BE49-F238E27FC236}">
                  <a16:creationId xmlns:a16="http://schemas.microsoft.com/office/drawing/2014/main" id="{51CC2210-FC04-E323-3C85-139BE9415D50}"/>
                </a:ext>
              </a:extLst>
            </p:cNvPr>
            <p:cNvSpPr txBox="1">
              <a:spLocks/>
            </p:cNvSpPr>
            <p:nvPr>
              <p:custDataLst>
                <p:tags r:id="rId19"/>
              </p:custDataLst>
            </p:nvPr>
          </p:nvSpPr>
          <p:spPr>
            <a:xfrm>
              <a:off x="2271889" y="4777695"/>
              <a:ext cx="1870533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CPO </a:t>
              </a:r>
              <a:r>
                <a:rPr lang="en-US" altLang="zh-CN" sz="1600" b="1" dirty="0">
                  <a:ea typeface="Verdana" pitchFamily="34" charset="0"/>
                </a:rPr>
                <a:t>(Co-Packaged)</a:t>
              </a:r>
              <a:endParaRPr lang="en-US" sz="1600" b="1" dirty="0">
                <a:ea typeface="Verdana" pitchFamily="34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8E52E2AE-CB2C-7CC1-7DF8-FE4F880C4BF7}"/>
                </a:ext>
              </a:extLst>
            </p:cNvPr>
            <p:cNvSpPr txBox="1"/>
            <p:nvPr/>
          </p:nvSpPr>
          <p:spPr>
            <a:xfrm>
              <a:off x="2189902" y="5006914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5.5W</a:t>
              </a:r>
            </a:p>
          </p:txBody>
        </p:sp>
      </p:grpSp>
      <p:sp>
        <p:nvSpPr>
          <p:cNvPr id="25" name="TextBox 40">
            <a:extLst>
              <a:ext uri="{FF2B5EF4-FFF2-40B4-BE49-F238E27FC236}">
                <a16:creationId xmlns:a16="http://schemas.microsoft.com/office/drawing/2014/main" id="{598656D7-FA6B-FD5D-D56B-C8703720077F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>
          <a:xfrm>
            <a:off x="8571813" y="4390110"/>
            <a:ext cx="2815145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b="1" dirty="0">
                <a:solidFill>
                  <a:srgbClr val="0052D9"/>
                </a:solidFill>
                <a:ea typeface="Verdana" pitchFamily="34" charset="0"/>
              </a:rPr>
              <a:t>Short-term: no </a:t>
            </a:r>
            <a:r>
              <a:rPr lang="en-US" altLang="zh-CN" sz="1600" b="1" dirty="0">
                <a:solidFill>
                  <a:srgbClr val="0052D9"/>
                </a:solidFill>
                <a:ea typeface="Verdana" pitchFamily="34" charset="0"/>
              </a:rPr>
              <a:t>consensus solutions</a:t>
            </a:r>
            <a:endParaRPr lang="en-US" sz="1600" b="1" dirty="0">
              <a:solidFill>
                <a:srgbClr val="0052D9"/>
              </a:solidFill>
              <a:ea typeface="Verdana" pitchFamily="34" charset="0"/>
            </a:endParaRPr>
          </a:p>
        </p:txBody>
      </p:sp>
      <p:sp>
        <p:nvSpPr>
          <p:cNvPr id="26" name="TextBox 40">
            <a:extLst>
              <a:ext uri="{FF2B5EF4-FFF2-40B4-BE49-F238E27FC236}">
                <a16:creationId xmlns:a16="http://schemas.microsoft.com/office/drawing/2014/main" id="{28999528-8E3E-D224-C523-DAD8B5BF683E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>
          <a:xfrm>
            <a:off x="8510458" y="2598431"/>
            <a:ext cx="201783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b="1" dirty="0">
                <a:solidFill>
                  <a:srgbClr val="0052D9"/>
                </a:solidFill>
                <a:ea typeface="Verdana" pitchFamily="34" charset="0"/>
              </a:rPr>
              <a:t>Long-term</a:t>
            </a:r>
          </a:p>
        </p:txBody>
      </p:sp>
      <p:sp>
        <p:nvSpPr>
          <p:cNvPr id="27" name="Freeform 431">
            <a:extLst>
              <a:ext uri="{FF2B5EF4-FFF2-40B4-BE49-F238E27FC236}">
                <a16:creationId xmlns:a16="http://schemas.microsoft.com/office/drawing/2014/main" id="{2FC4DA62-C3DC-82D1-4FF1-6F6500E18719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340305" y="6271648"/>
            <a:ext cx="216000" cy="216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DD9321B-8160-997A-84F6-BC9B418DD5C2}"/>
              </a:ext>
            </a:extLst>
          </p:cNvPr>
          <p:cNvSpPr txBox="1"/>
          <p:nvPr/>
        </p:nvSpPr>
        <p:spPr>
          <a:xfrm>
            <a:off x="614625" y="6289504"/>
            <a:ext cx="7396141" cy="21600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Circle size denotes the latest data rate range.​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8" name="TextBox 40">
            <a:extLst>
              <a:ext uri="{FF2B5EF4-FFF2-40B4-BE49-F238E27FC236}">
                <a16:creationId xmlns:a16="http://schemas.microsoft.com/office/drawing/2014/main" id="{192DB1D0-E9EF-7F5F-4DBD-5D1458C34DB8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>
          <a:xfrm>
            <a:off x="13684583" y="3547389"/>
            <a:ext cx="2723335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endParaRPr lang="en-US" altLang="zh-CN" sz="1600" dirty="0">
              <a:solidFill>
                <a:schemeClr val="accent6">
                  <a:lumMod val="10000"/>
                </a:schemeClr>
              </a:solidFill>
              <a:ea typeface="Verdana" pitchFamily="34" charset="0"/>
            </a:endParaRPr>
          </a:p>
        </p:txBody>
      </p:sp>
      <p:sp>
        <p:nvSpPr>
          <p:cNvPr id="61" name="TextBox 40">
            <a:extLst>
              <a:ext uri="{FF2B5EF4-FFF2-40B4-BE49-F238E27FC236}">
                <a16:creationId xmlns:a16="http://schemas.microsoft.com/office/drawing/2014/main" id="{88FF1BB7-D136-FCD2-72A4-FBB3A2A7833A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>
          <a:xfrm>
            <a:off x="4530406" y="974601"/>
            <a:ext cx="1872000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dirty="0">
                <a:ea typeface="Verdana" pitchFamily="34" charset="0"/>
              </a:rPr>
              <a:t>Medium</a:t>
            </a:r>
          </a:p>
        </p:txBody>
      </p:sp>
      <p:sp>
        <p:nvSpPr>
          <p:cNvPr id="67" name="弧形 66">
            <a:extLst>
              <a:ext uri="{FF2B5EF4-FFF2-40B4-BE49-F238E27FC236}">
                <a16:creationId xmlns:a16="http://schemas.microsoft.com/office/drawing/2014/main" id="{A05EA015-D9BD-C8FA-F7FA-EFB31872856C}"/>
              </a:ext>
            </a:extLst>
          </p:cNvPr>
          <p:cNvSpPr/>
          <p:nvPr/>
        </p:nvSpPr>
        <p:spPr>
          <a:xfrm rot="16200000">
            <a:off x="5495252" y="-1040427"/>
            <a:ext cx="5478844" cy="11715007"/>
          </a:xfrm>
          <a:prstGeom prst="arc">
            <a:avLst>
              <a:gd name="adj1" fmla="val 16200000"/>
              <a:gd name="adj2" fmla="val 9669"/>
            </a:avLst>
          </a:prstGeom>
          <a:ln w="6350">
            <a:solidFill>
              <a:srgbClr val="0052D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upper-right-arrow-black-symbol_39545">
            <a:extLst>
              <a:ext uri="{FF2B5EF4-FFF2-40B4-BE49-F238E27FC236}">
                <a16:creationId xmlns:a16="http://schemas.microsoft.com/office/drawing/2014/main" id="{C0CBC6B4-503F-314C-6210-0D042E307005}"/>
              </a:ext>
            </a:extLst>
          </p:cNvPr>
          <p:cNvSpPr/>
          <p:nvPr/>
        </p:nvSpPr>
        <p:spPr>
          <a:xfrm rot="2693152">
            <a:off x="8239429" y="2042507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39">
            <a:extLst>
              <a:ext uri="{FF2B5EF4-FFF2-40B4-BE49-F238E27FC236}">
                <a16:creationId xmlns:a16="http://schemas.microsoft.com/office/drawing/2014/main" id="{77630FA8-0630-5A23-2CB8-7E03C8EF64B9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>
          <a:xfrm>
            <a:off x="3146638" y="2016941"/>
            <a:ext cx="253932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altLang="zh-CN" sz="1600" b="1" dirty="0">
                <a:ea typeface="Verdana" pitchFamily="34" charset="0"/>
              </a:rPr>
              <a:t>I.</a:t>
            </a:r>
            <a:r>
              <a:rPr lang="zh-CN" altLang="en-US" sz="1600" b="1" dirty="0">
                <a:ea typeface="Verdana" pitchFamily="34" charset="0"/>
              </a:rPr>
              <a:t> </a:t>
            </a:r>
            <a:r>
              <a:rPr lang="en-US" altLang="zh-CN" sz="1600" b="1" dirty="0">
                <a:ea typeface="Verdana" pitchFamily="34" charset="0"/>
              </a:rPr>
              <a:t>2019: the direct path</a:t>
            </a:r>
            <a:endParaRPr lang="en-US" sz="1600" b="1" dirty="0">
              <a:ea typeface="Verdana" pitchFamily="34" charset="0"/>
            </a:endParaRPr>
          </a:p>
        </p:txBody>
      </p:sp>
      <p:sp>
        <p:nvSpPr>
          <p:cNvPr id="73" name="任意多边形: 形状 72">
            <a:extLst>
              <a:ext uri="{FF2B5EF4-FFF2-40B4-BE49-F238E27FC236}">
                <a16:creationId xmlns:a16="http://schemas.microsoft.com/office/drawing/2014/main" id="{B09A0D46-510B-9310-B1DC-F13C465B6DA4}"/>
              </a:ext>
            </a:extLst>
          </p:cNvPr>
          <p:cNvSpPr/>
          <p:nvPr/>
        </p:nvSpPr>
        <p:spPr>
          <a:xfrm>
            <a:off x="3211140" y="4377771"/>
            <a:ext cx="921948" cy="524429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 w="6350"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任意多边形: 形状 73">
            <a:extLst>
              <a:ext uri="{FF2B5EF4-FFF2-40B4-BE49-F238E27FC236}">
                <a16:creationId xmlns:a16="http://schemas.microsoft.com/office/drawing/2014/main" id="{183547A8-E3ED-EDF4-0139-184381D7E1DA}"/>
              </a:ext>
            </a:extLst>
          </p:cNvPr>
          <p:cNvSpPr/>
          <p:nvPr/>
        </p:nvSpPr>
        <p:spPr>
          <a:xfrm>
            <a:off x="7229046" y="2328052"/>
            <a:ext cx="1107757" cy="611752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 w="6350"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upper-right-arrow-black-symbol_39545">
            <a:extLst>
              <a:ext uri="{FF2B5EF4-FFF2-40B4-BE49-F238E27FC236}">
                <a16:creationId xmlns:a16="http://schemas.microsoft.com/office/drawing/2014/main" id="{BED40FC2-D6EE-BE71-3AE0-17ADED4F20FA}"/>
              </a:ext>
            </a:extLst>
          </p:cNvPr>
          <p:cNvSpPr/>
          <p:nvPr/>
        </p:nvSpPr>
        <p:spPr>
          <a:xfrm rot="1660204">
            <a:off x="4102635" y="4333888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upper-right-arrow-black-symbol_39545">
            <a:extLst>
              <a:ext uri="{FF2B5EF4-FFF2-40B4-BE49-F238E27FC236}">
                <a16:creationId xmlns:a16="http://schemas.microsoft.com/office/drawing/2014/main" id="{EA4F20BB-12A0-AFC9-6A8B-5D6493D04BFA}"/>
              </a:ext>
            </a:extLst>
          </p:cNvPr>
          <p:cNvSpPr/>
          <p:nvPr/>
        </p:nvSpPr>
        <p:spPr>
          <a:xfrm rot="1660204">
            <a:off x="8316416" y="2294109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39">
            <a:extLst>
              <a:ext uri="{FF2B5EF4-FFF2-40B4-BE49-F238E27FC236}">
                <a16:creationId xmlns:a16="http://schemas.microsoft.com/office/drawing/2014/main" id="{C4187841-34F1-41CF-5BA1-19DA2FCAD91B}"/>
              </a:ext>
            </a:extLst>
          </p:cNvPr>
          <p:cNvSpPr txBox="1">
            <a:spLocks/>
          </p:cNvSpPr>
          <p:nvPr>
            <p:custDataLst>
              <p:tags r:id="rId17"/>
            </p:custDataLst>
          </p:nvPr>
        </p:nvSpPr>
        <p:spPr>
          <a:xfrm>
            <a:off x="5075707" y="4900118"/>
            <a:ext cx="3062782" cy="24622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altLang="zh-CN" sz="1600" b="1" dirty="0">
                <a:ea typeface="Verdana" pitchFamily="34" charset="0"/>
              </a:rPr>
              <a:t>II. 2022-2025: the gradual path</a:t>
            </a:r>
            <a:endParaRPr lang="en-US" sz="1600" b="1" dirty="0">
              <a:ea typeface="Verdana" pitchFamily="34" charset="0"/>
            </a:endParaRPr>
          </a:p>
        </p:txBody>
      </p:sp>
      <p:pic>
        <p:nvPicPr>
          <p:cNvPr id="78" name="图像" descr="图像">
            <a:extLst>
              <a:ext uri="{FF2B5EF4-FFF2-40B4-BE49-F238E27FC236}">
                <a16:creationId xmlns:a16="http://schemas.microsoft.com/office/drawing/2014/main" id="{55A7985E-2C93-6B95-2E5A-251CAE963350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418926" y="3556887"/>
            <a:ext cx="485807" cy="234229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图像" descr="图像">
            <a:extLst>
              <a:ext uri="{FF2B5EF4-FFF2-40B4-BE49-F238E27FC236}">
                <a16:creationId xmlns:a16="http://schemas.microsoft.com/office/drawing/2014/main" id="{403F6874-7EC1-5AE2-7DF3-0FD07B6F9CA9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958361" y="3519351"/>
            <a:ext cx="289784" cy="289784"/>
          </a:xfrm>
          <a:prstGeom prst="rect">
            <a:avLst/>
          </a:prstGeom>
          <a:ln w="12700">
            <a:miter lim="400000"/>
          </a:ln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1C5C6316-1634-3E02-924F-E81E2CDC55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4752" y="2387850"/>
            <a:ext cx="279988" cy="269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图片 82">
            <a:extLst>
              <a:ext uri="{FF2B5EF4-FFF2-40B4-BE49-F238E27FC236}">
                <a16:creationId xmlns:a16="http://schemas.microsoft.com/office/drawing/2014/main" id="{82278BE6-352E-0635-4996-FFEAE4B5E353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758395" y="2406053"/>
            <a:ext cx="878083" cy="212767"/>
          </a:xfrm>
          <a:prstGeom prst="rect">
            <a:avLst/>
          </a:prstGeom>
        </p:spPr>
      </p:pic>
      <p:sp>
        <p:nvSpPr>
          <p:cNvPr id="90" name="文本框 89">
            <a:extLst>
              <a:ext uri="{FF2B5EF4-FFF2-40B4-BE49-F238E27FC236}">
                <a16:creationId xmlns:a16="http://schemas.microsoft.com/office/drawing/2014/main" id="{2C81FC5F-89AC-138F-CB1E-1F8D9E92ACB3}"/>
              </a:ext>
            </a:extLst>
          </p:cNvPr>
          <p:cNvSpPr txBox="1"/>
          <p:nvPr/>
        </p:nvSpPr>
        <p:spPr>
          <a:xfrm>
            <a:off x="1897505" y="5101638"/>
            <a:ext cx="47966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 sz="700" b="1">
                <a:solidFill>
                  <a:schemeClr val="bg1"/>
                </a:solidFill>
                <a:ea typeface="Verdana" pitchFamily="34" charset="0"/>
              </a:defRPr>
            </a:lvl1pPr>
          </a:lstStyle>
          <a:p>
            <a:r>
              <a:rPr lang="en-US" altLang="zh-CN" dirty="0">
                <a:solidFill>
                  <a:sysClr val="windowText" lastClr="000000"/>
                </a:solidFill>
              </a:rPr>
              <a:t>1.6T</a:t>
            </a: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2B2F7E03-7B5A-C942-060D-430CA10D8CB4}"/>
              </a:ext>
            </a:extLst>
          </p:cNvPr>
          <p:cNvSpPr txBox="1"/>
          <p:nvPr/>
        </p:nvSpPr>
        <p:spPr>
          <a:xfrm>
            <a:off x="6019030" y="3341071"/>
            <a:ext cx="47966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altLang="zh-CN" sz="700" b="1" dirty="0">
                <a:solidFill>
                  <a:sysClr val="windowText" lastClr="000000"/>
                </a:solidFill>
                <a:ea typeface="Verdana" pitchFamily="34" charset="0"/>
              </a:rPr>
              <a:t>3.2T</a:t>
            </a: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A3FB81F0-4AB1-2519-5EE5-6DA69CEB1410}"/>
              </a:ext>
            </a:extLst>
          </p:cNvPr>
          <p:cNvSpPr txBox="1"/>
          <p:nvPr/>
        </p:nvSpPr>
        <p:spPr>
          <a:xfrm>
            <a:off x="8302320" y="2009242"/>
            <a:ext cx="1107757" cy="359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altLang="zh-CN" sz="700" b="1" dirty="0">
                <a:solidFill>
                  <a:schemeClr val="bg1"/>
                </a:solidFill>
                <a:ea typeface="Verdana" pitchFamily="34" charset="0"/>
              </a:rPr>
              <a:t>Switch: 102.4T</a:t>
            </a:r>
          </a:p>
          <a:p>
            <a:pPr algn="ctr">
              <a:spcBef>
                <a:spcPts val="400"/>
              </a:spcBef>
              <a:buClr>
                <a:srgbClr val="6EA600"/>
              </a:buClr>
              <a:buSzPct val="100000"/>
              <a:defRPr/>
            </a:pPr>
            <a:r>
              <a:rPr lang="en-US" altLang="zh-CN" sz="700" b="1" dirty="0">
                <a:solidFill>
                  <a:schemeClr val="bg1"/>
                </a:solidFill>
                <a:ea typeface="Verdana" pitchFamily="34" charset="0"/>
              </a:rPr>
              <a:t>800G-1.6T/port</a:t>
            </a:r>
          </a:p>
        </p:txBody>
      </p:sp>
      <p:sp>
        <p:nvSpPr>
          <p:cNvPr id="4" name="Freeform 431">
            <a:extLst>
              <a:ext uri="{FF2B5EF4-FFF2-40B4-BE49-F238E27FC236}">
                <a16:creationId xmlns:a16="http://schemas.microsoft.com/office/drawing/2014/main" id="{89FA6FA2-BF2E-DABD-C1C0-0CF774B86624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auto">
          <a:xfrm>
            <a:off x="4396324" y="3545039"/>
            <a:ext cx="216000" cy="216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CA27F46-B590-801B-AB88-FC04E5BE1489}"/>
              </a:ext>
            </a:extLst>
          </p:cNvPr>
          <p:cNvSpPr txBox="1"/>
          <p:nvPr/>
        </p:nvSpPr>
        <p:spPr>
          <a:xfrm>
            <a:off x="4259346" y="3553734"/>
            <a:ext cx="47966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altLang="zh-CN" sz="700" b="1" dirty="0">
                <a:solidFill>
                  <a:sysClr val="windowText" lastClr="000000"/>
                </a:solidFill>
                <a:ea typeface="Verdana" pitchFamily="34" charset="0"/>
              </a:rPr>
              <a:t>1.6T</a:t>
            </a:r>
          </a:p>
        </p:txBody>
      </p:sp>
      <p:pic>
        <p:nvPicPr>
          <p:cNvPr id="1026" name="Picture 2" descr="002475立讯精密股票,概念,资讯,产品,前景,技术分析_赢家财富网">
            <a:extLst>
              <a:ext uri="{FF2B5EF4-FFF2-40B4-BE49-F238E27FC236}">
                <a16:creationId xmlns:a16="http://schemas.microsoft.com/office/drawing/2014/main" id="{4793BDC3-AEA7-C3CF-F842-B3201B029A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89" t="20634" r="12257" b="30237"/>
          <a:stretch/>
        </p:blipFill>
        <p:spPr bwMode="auto">
          <a:xfrm>
            <a:off x="5284907" y="4302193"/>
            <a:ext cx="936852" cy="239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图片 55">
            <a:extLst>
              <a:ext uri="{FF2B5EF4-FFF2-40B4-BE49-F238E27FC236}">
                <a16:creationId xmlns:a16="http://schemas.microsoft.com/office/drawing/2014/main" id="{B5CA9088-C869-D02D-9408-E5A0FD2B0B7E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9644" b="94969" l="4716" r="93685">
                        <a14:foregroundMark x1="13909" y1="24319" x2="13909" y2="24319"/>
                        <a14:foregroundMark x1="13030" y1="75681" x2="13030" y2="75681"/>
                        <a14:foregroundMark x1="4956" y1="28721" x2="4956" y2="28721"/>
                        <a14:foregroundMark x1="8633" y1="95178" x2="8633" y2="95178"/>
                        <a14:foregroundMark x1="27978" y1="91824" x2="27978" y2="91824"/>
                        <a14:foregroundMark x1="29257" y1="30608" x2="29257" y2="30608"/>
                        <a14:foregroundMark x1="39408" y1="53669" x2="39408" y2="53669"/>
                        <a14:foregroundMark x1="45484" y1="53669" x2="45484" y2="53669"/>
                        <a14:foregroundMark x1="56914" y1="40671" x2="56914" y2="40671"/>
                        <a14:foregroundMark x1="62110" y1="40042" x2="62110" y2="40042"/>
                        <a14:foregroundMark x1="63389" y1="48008" x2="63389" y2="48008"/>
                        <a14:foregroundMark x1="59313" y1="62055" x2="59313" y2="62055"/>
                        <a14:foregroundMark x1="65388" y1="57023" x2="65388" y2="57023"/>
                        <a14:foregroundMark x1="69305" y1="49057" x2="69305" y2="49057"/>
                        <a14:foregroundMark x1="75140" y1="44444" x2="75140" y2="44444"/>
                        <a14:foregroundMark x1="83133" y1="42767" x2="83133" y2="42767"/>
                        <a14:foregroundMark x1="91287" y1="46960" x2="91287" y2="46960"/>
                        <a14:foregroundMark x1="93685" y1="44025" x2="93685" y2="44025"/>
                        <a14:foregroundMark x1="40288" y1="80503" x2="40288" y2="80503"/>
                        <a14:foregroundMark x1="45004" y1="80922" x2="45004" y2="80922"/>
                        <a14:foregroundMark x1="47162" y1="77568" x2="47162" y2="77568"/>
                        <a14:foregroundMark x1="53477" y1="83229" x2="53477" y2="83229"/>
                        <a14:foregroundMark x1="54756" y1="81971" x2="54756" y2="81971"/>
                        <a14:foregroundMark x1="60592" y1="81342" x2="60592" y2="81342"/>
                        <a14:foregroundMark x1="62270" y1="79874" x2="62270" y2="79874"/>
                        <a14:foregroundMark x1="64908" y1="84277" x2="64908" y2="84277"/>
                        <a14:foregroundMark x1="66906" y1="80922" x2="66906" y2="80922"/>
                        <a14:foregroundMark x1="71223" y1="79874" x2="71223" y2="79874"/>
                        <a14:foregroundMark x1="74820" y1="80922" x2="74820" y2="80922"/>
                        <a14:foregroundMark x1="79217" y1="81551" x2="79217" y2="81551"/>
                        <a14:foregroundMark x1="82414" y1="81342" x2="82414" y2="81342"/>
                        <a14:foregroundMark x1="83933" y1="80922" x2="83933" y2="80922"/>
                        <a14:foregroundMark x1="89369" y1="80922" x2="89369" y2="80922"/>
                        <a14:foregroundMark x1="92646" y1="77358" x2="92646" y2="77358"/>
                        <a14:foregroundMark x1="20783" y1="29350" x2="20783" y2="293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19873" y="4303202"/>
            <a:ext cx="590782" cy="225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126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C2142-6504-B9B4-CBED-3D265AAB7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C1FC24B-9E23-FCA0-83AB-7138FD1C3D5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23854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C1FC24B-9E23-FCA0-83AB-7138FD1C3D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511AF1C5-56F9-9940-02AA-B60CF2F35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IDC interconnect by distance: scale-up vs scale-out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EEAD20BA-E111-872C-9310-5D089E478DB0}"/>
              </a:ext>
            </a:extLst>
          </p:cNvPr>
          <p:cNvGrpSpPr/>
          <p:nvPr/>
        </p:nvGrpSpPr>
        <p:grpSpPr>
          <a:xfrm>
            <a:off x="982515" y="3231015"/>
            <a:ext cx="1588079" cy="1550052"/>
            <a:chOff x="2573606" y="2277426"/>
            <a:chExt cx="1580596" cy="1542748"/>
          </a:xfrm>
        </p:grpSpPr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965E25FB-042E-752B-1B21-8045D7BD7AF2}"/>
                </a:ext>
              </a:extLst>
            </p:cNvPr>
            <p:cNvSpPr/>
            <p:nvPr/>
          </p:nvSpPr>
          <p:spPr>
            <a:xfrm>
              <a:off x="2573606" y="2277426"/>
              <a:ext cx="1580596" cy="1542748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BDECE4D8-2D7C-33C6-66F8-D8587EC9F1EB}"/>
                </a:ext>
              </a:extLst>
            </p:cNvPr>
            <p:cNvSpPr/>
            <p:nvPr/>
          </p:nvSpPr>
          <p:spPr>
            <a:xfrm>
              <a:off x="2722868" y="343922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B31EB4A6-2F41-A510-ECA3-FA1D4314AB5D}"/>
                </a:ext>
              </a:extLst>
            </p:cNvPr>
            <p:cNvSpPr/>
            <p:nvPr/>
          </p:nvSpPr>
          <p:spPr>
            <a:xfrm>
              <a:off x="2722868" y="310678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7" name="三角形 53">
            <a:extLst>
              <a:ext uri="{FF2B5EF4-FFF2-40B4-BE49-F238E27FC236}">
                <a16:creationId xmlns:a16="http://schemas.microsoft.com/office/drawing/2014/main" id="{F9201A86-A9F8-C928-1199-A1C8317A7B06}"/>
              </a:ext>
            </a:extLst>
          </p:cNvPr>
          <p:cNvSpPr/>
          <p:nvPr/>
        </p:nvSpPr>
        <p:spPr>
          <a:xfrm rot="5400000">
            <a:off x="2885555" y="3933356"/>
            <a:ext cx="396001" cy="144021"/>
          </a:xfrm>
          <a:prstGeom prst="triangle">
            <a:avLst/>
          </a:prstGeom>
          <a:solidFill>
            <a:srgbClr val="0052D9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096" name="三角形 53">
            <a:extLst>
              <a:ext uri="{FF2B5EF4-FFF2-40B4-BE49-F238E27FC236}">
                <a16:creationId xmlns:a16="http://schemas.microsoft.com/office/drawing/2014/main" id="{27AFADDE-684D-76FF-ED5E-BB0883027CDE}"/>
              </a:ext>
            </a:extLst>
          </p:cNvPr>
          <p:cNvSpPr/>
          <p:nvPr/>
        </p:nvSpPr>
        <p:spPr>
          <a:xfrm rot="5400000">
            <a:off x="8720634" y="3796816"/>
            <a:ext cx="396001" cy="144021"/>
          </a:xfrm>
          <a:prstGeom prst="triangle">
            <a:avLst/>
          </a:prstGeom>
          <a:solidFill>
            <a:schemeClr val="accent6">
              <a:lumMod val="9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3271" name="组合 3270">
            <a:extLst>
              <a:ext uri="{FF2B5EF4-FFF2-40B4-BE49-F238E27FC236}">
                <a16:creationId xmlns:a16="http://schemas.microsoft.com/office/drawing/2014/main" id="{B0F04F1F-B7C6-EBF5-08EF-77EE958C1F26}"/>
              </a:ext>
            </a:extLst>
          </p:cNvPr>
          <p:cNvGrpSpPr/>
          <p:nvPr/>
        </p:nvGrpSpPr>
        <p:grpSpPr>
          <a:xfrm>
            <a:off x="629460" y="2387186"/>
            <a:ext cx="3255009" cy="328255"/>
            <a:chOff x="1136493" y="2708586"/>
            <a:chExt cx="3255009" cy="328255"/>
          </a:xfrm>
        </p:grpSpPr>
        <p:sp>
          <p:nvSpPr>
            <p:cNvPr id="3267" name="文本框 3266">
              <a:extLst>
                <a:ext uri="{FF2B5EF4-FFF2-40B4-BE49-F238E27FC236}">
                  <a16:creationId xmlns:a16="http://schemas.microsoft.com/office/drawing/2014/main" id="{E64EF022-78BB-6895-24DA-DEE29289F0BE}"/>
                </a:ext>
              </a:extLst>
            </p:cNvPr>
            <p:cNvSpPr txBox="1"/>
            <p:nvPr/>
          </p:nvSpPr>
          <p:spPr>
            <a:xfrm>
              <a:off x="1504808" y="2708586"/>
              <a:ext cx="2886694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Copper interconnect  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cxnSp>
          <p:nvCxnSpPr>
            <p:cNvPr id="3269" name="直接连接符 3268">
              <a:extLst>
                <a:ext uri="{FF2B5EF4-FFF2-40B4-BE49-F238E27FC236}">
                  <a16:creationId xmlns:a16="http://schemas.microsoft.com/office/drawing/2014/main" id="{F8E81B31-E2A9-5192-E979-77F1F630CD3C}"/>
                </a:ext>
              </a:extLst>
            </p:cNvPr>
            <p:cNvCxnSpPr/>
            <p:nvPr/>
          </p:nvCxnSpPr>
          <p:spPr>
            <a:xfrm>
              <a:off x="1136493" y="2876386"/>
              <a:ext cx="553272" cy="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44" name="组合 3343">
            <a:extLst>
              <a:ext uri="{FF2B5EF4-FFF2-40B4-BE49-F238E27FC236}">
                <a16:creationId xmlns:a16="http://schemas.microsoft.com/office/drawing/2014/main" id="{03132B9D-4854-895A-CFFE-662665B22780}"/>
              </a:ext>
            </a:extLst>
          </p:cNvPr>
          <p:cNvGrpSpPr/>
          <p:nvPr/>
        </p:nvGrpSpPr>
        <p:grpSpPr>
          <a:xfrm>
            <a:off x="6514322" y="2359778"/>
            <a:ext cx="2938500" cy="656510"/>
            <a:chOff x="944683" y="5429516"/>
            <a:chExt cx="2938500" cy="656510"/>
          </a:xfrm>
        </p:grpSpPr>
        <p:grpSp>
          <p:nvGrpSpPr>
            <p:cNvPr id="3272" name="组合 3271">
              <a:extLst>
                <a:ext uri="{FF2B5EF4-FFF2-40B4-BE49-F238E27FC236}">
                  <a16:creationId xmlns:a16="http://schemas.microsoft.com/office/drawing/2014/main" id="{D1D101FE-4DF0-899A-BF1B-00AA5B7DBCDB}"/>
                </a:ext>
              </a:extLst>
            </p:cNvPr>
            <p:cNvGrpSpPr/>
            <p:nvPr/>
          </p:nvGrpSpPr>
          <p:grpSpPr>
            <a:xfrm>
              <a:off x="944683" y="5429516"/>
              <a:ext cx="2938500" cy="328255"/>
              <a:chOff x="1177467" y="2692083"/>
              <a:chExt cx="2938500" cy="328255"/>
            </a:xfrm>
          </p:grpSpPr>
          <p:sp>
            <p:nvSpPr>
              <p:cNvPr id="3273" name="文本框 3272">
                <a:extLst>
                  <a:ext uri="{FF2B5EF4-FFF2-40B4-BE49-F238E27FC236}">
                    <a16:creationId xmlns:a16="http://schemas.microsoft.com/office/drawing/2014/main" id="{BB3DF70E-2952-0F11-3BB1-B6048D3DAC35}"/>
                  </a:ext>
                </a:extLst>
              </p:cNvPr>
              <p:cNvSpPr txBox="1"/>
              <p:nvPr/>
            </p:nvSpPr>
            <p:spPr>
              <a:xfrm>
                <a:off x="1566527" y="2692083"/>
                <a:ext cx="2549440" cy="328255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sz="1400" b="1" dirty="0">
                    <a:cs typeface="+mn-ea"/>
                    <a:sym typeface="+mn-lt"/>
                  </a:rPr>
                  <a:t>Optical interconnect  </a:t>
                </a:r>
                <a:endParaRPr kumimoji="1" lang="en-US" altLang="zh-CN" sz="1400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3274" name="直接连接符 3273">
                <a:extLst>
                  <a:ext uri="{FF2B5EF4-FFF2-40B4-BE49-F238E27FC236}">
                    <a16:creationId xmlns:a16="http://schemas.microsoft.com/office/drawing/2014/main" id="{99AB7532-9D35-5CCE-C6E2-6DB4D5569C12}"/>
                  </a:ext>
                </a:extLst>
              </p:cNvPr>
              <p:cNvCxnSpPr/>
              <p:nvPr/>
            </p:nvCxnSpPr>
            <p:spPr>
              <a:xfrm>
                <a:off x="1177467" y="2886260"/>
                <a:ext cx="553272" cy="0"/>
              </a:xfrm>
              <a:prstGeom prst="line">
                <a:avLst/>
              </a:prstGeom>
              <a:ln w="1905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42" name="椭圆 3341">
              <a:extLst>
                <a:ext uri="{FF2B5EF4-FFF2-40B4-BE49-F238E27FC236}">
                  <a16:creationId xmlns:a16="http://schemas.microsoft.com/office/drawing/2014/main" id="{3B54F34A-CE0E-8936-6DAA-45B09663BDFF}"/>
                </a:ext>
              </a:extLst>
            </p:cNvPr>
            <p:cNvSpPr/>
            <p:nvPr/>
          </p:nvSpPr>
          <p:spPr>
            <a:xfrm>
              <a:off x="1179356" y="5877079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343" name="文本框 3342">
              <a:extLst>
                <a:ext uri="{FF2B5EF4-FFF2-40B4-BE49-F238E27FC236}">
                  <a16:creationId xmlns:a16="http://schemas.microsoft.com/office/drawing/2014/main" id="{E1D1FEBA-938A-3562-0934-FBCBECD015E8}"/>
                </a:ext>
              </a:extLst>
            </p:cNvPr>
            <p:cNvSpPr txBox="1"/>
            <p:nvPr/>
          </p:nvSpPr>
          <p:spPr>
            <a:xfrm>
              <a:off x="1380814" y="5757771"/>
              <a:ext cx="1984153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Optical module 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376" name="组合 3375">
            <a:extLst>
              <a:ext uri="{FF2B5EF4-FFF2-40B4-BE49-F238E27FC236}">
                <a16:creationId xmlns:a16="http://schemas.microsoft.com/office/drawing/2014/main" id="{A311E22A-3B40-1112-F2C1-F4B0E00EDFF7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3377" name="文本框 3376">
              <a:extLst>
                <a:ext uri="{FF2B5EF4-FFF2-40B4-BE49-F238E27FC236}">
                  <a16:creationId xmlns:a16="http://schemas.microsoft.com/office/drawing/2014/main" id="{EDB8D8EE-B5EC-896A-E165-6347DDADEE1B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Scale-out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378" name="文本框 3377">
              <a:extLst>
                <a:ext uri="{FF2B5EF4-FFF2-40B4-BE49-F238E27FC236}">
                  <a16:creationId xmlns:a16="http://schemas.microsoft.com/office/drawing/2014/main" id="{7C8E51CD-9FC5-0898-3D72-0D16A7E1D2FB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3379" name="直线连接符 38">
              <a:extLst>
                <a:ext uri="{FF2B5EF4-FFF2-40B4-BE49-F238E27FC236}">
                  <a16:creationId xmlns:a16="http://schemas.microsoft.com/office/drawing/2014/main" id="{57D7DE24-6456-1C24-9923-82A8F9BEC91A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80" name="文本框 3379">
              <a:extLst>
                <a:ext uri="{FF2B5EF4-FFF2-40B4-BE49-F238E27FC236}">
                  <a16:creationId xmlns:a16="http://schemas.microsoft.com/office/drawing/2014/main" id="{2D7AAA23-5836-338E-E67C-FA2C90B0F5E0}"/>
                </a:ext>
              </a:extLst>
            </p:cNvPr>
            <p:cNvSpPr txBox="1"/>
            <p:nvPr/>
          </p:nvSpPr>
          <p:spPr>
            <a:xfrm>
              <a:off x="504186" y="971862"/>
              <a:ext cx="3873873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Scale-up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3381" name="直线连接符 38">
              <a:extLst>
                <a:ext uri="{FF2B5EF4-FFF2-40B4-BE49-F238E27FC236}">
                  <a16:creationId xmlns:a16="http://schemas.microsoft.com/office/drawing/2014/main" id="{C572C1AD-F592-8A21-7F93-208F08C8D2A8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82" name="文本框 3381">
            <a:extLst>
              <a:ext uri="{FF2B5EF4-FFF2-40B4-BE49-F238E27FC236}">
                <a16:creationId xmlns:a16="http://schemas.microsoft.com/office/drawing/2014/main" id="{D08737EF-333E-660C-4B94-ABCA3B720A04}"/>
              </a:ext>
            </a:extLst>
          </p:cNvPr>
          <p:cNvSpPr txBox="1"/>
          <p:nvPr/>
        </p:nvSpPr>
        <p:spPr>
          <a:xfrm>
            <a:off x="598141" y="1363007"/>
            <a:ext cx="5503863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Single-node direct &amp; full interconnect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(&lt; 5 m)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Bandwidth: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TB/s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Latency: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sub-</a:t>
            </a:r>
            <a:r>
              <a:rPr kumimoji="1" lang="el-GR" altLang="zh-CN" sz="1600" b="1" dirty="0">
                <a:solidFill>
                  <a:srgbClr val="0052D9"/>
                </a:solidFill>
                <a:cs typeface="+mn-ea"/>
                <a:sym typeface="+mn-lt"/>
              </a:rPr>
              <a:t>μ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s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Primarily ​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copper interconnect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sp>
        <p:nvSpPr>
          <p:cNvPr id="3383" name="文本框 3382">
            <a:extLst>
              <a:ext uri="{FF2B5EF4-FFF2-40B4-BE49-F238E27FC236}">
                <a16:creationId xmlns:a16="http://schemas.microsoft.com/office/drawing/2014/main" id="{544432B3-3B8D-2084-AA66-7E7EB77D20F9}"/>
              </a:ext>
            </a:extLst>
          </p:cNvPr>
          <p:cNvSpPr txBox="1"/>
          <p:nvPr/>
        </p:nvSpPr>
        <p:spPr>
          <a:xfrm>
            <a:off x="6397158" y="1355199"/>
            <a:ext cx="5759281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Multi-node horizontal interconnect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(&gt;&gt; 5 m)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Bandwidth: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GB/s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Latency: </a:t>
            </a:r>
            <a:r>
              <a:rPr kumimoji="1" lang="en-US" altLang="zh-CN" sz="1600" b="1" dirty="0" err="1">
                <a:solidFill>
                  <a:srgbClr val="0052D9"/>
                </a:solidFill>
                <a:cs typeface="+mn-ea"/>
                <a:sym typeface="+mn-lt"/>
              </a:rPr>
              <a:t>ms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Primarily ​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optical interconnect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pic>
        <p:nvPicPr>
          <p:cNvPr id="3389" name="Picture 4" descr="Nvidia's DGX GB200 NVL72 is a rack scale system that uses NVLink to mesh 72 Blackwell accelerators into one big GPU.">
            <a:extLst>
              <a:ext uri="{FF2B5EF4-FFF2-40B4-BE49-F238E27FC236}">
                <a16:creationId xmlns:a16="http://schemas.microsoft.com/office/drawing/2014/main" id="{81268441-0430-A466-8932-5295D85194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5330" b="99492" l="9831" r="89492">
                        <a14:foregroundMark x1="33642" y1="19792" x2="33786" y2="6079"/>
                        <a14:foregroundMark x1="34958" y1="5128" x2="45370" y2="5440"/>
                        <a14:foregroundMark x1="56249" y1="5440" x2="59414" y2="5440"/>
                        <a14:foregroundMark x1="50434" y1="5440" x2="52410" y2="5440"/>
                        <a14:foregroundMark x1="45370" y1="5440" x2="45804" y2="5440"/>
                        <a14:foregroundMark x1="59414" y1="5440" x2="65895" y2="12153"/>
                        <a14:foregroundMark x1="65895" y1="12153" x2="65741" y2="13310"/>
                        <a14:foregroundMark x1="34722" y1="88773" x2="45525" y2="94444"/>
                        <a14:foregroundMark x1="45525" y1="94444" x2="57407" y2="94444"/>
                        <a14:foregroundMark x1="57407" y1="94444" x2="63426" y2="89120"/>
                        <a14:foregroundMark x1="63426" y1="89120" x2="63889" y2="87153"/>
                        <a14:foregroundMark x1="33506" y1="30560" x2="33517" y2="32017"/>
                        <a14:foregroundMark x1="32562" y1="7060" x2="33179" y2="13542"/>
                        <a14:foregroundMark x1="33642" y1="33218" x2="34105" y2="35301"/>
                        <a14:foregroundMark x1="33951" y1="36690" x2="33951" y2="38426"/>
                        <a14:foregroundMark x1="33796" y1="39699" x2="34105" y2="41435"/>
                        <a14:foregroundMark x1="33642" y1="42477" x2="34105" y2="43981"/>
                        <a14:foregroundMark x1="58644" y1="95939" x2="62034" y2="91371"/>
                        <a14:foregroundMark x1="62034" y1="96447" x2="36949" y2="98477"/>
                        <a14:foregroundMark x1="61356" y1="95685" x2="64068" y2="99492"/>
                        <a14:foregroundMark x1="60339" y1="39340" x2="47119" y2="84010"/>
                        <a14:foregroundMark x1="61017" y1="42132" x2="61017" y2="56345"/>
                        <a14:backgroundMark x1="54630" y1="3125" x2="58025" y2="3588"/>
                        <a14:backgroundMark x1="47377" y1="3588" x2="52006" y2="3588"/>
                        <a14:backgroundMark x1="11728" y1="17940" x2="24383" y2="28704"/>
                        <a14:backgroundMark x1="19599" y1="28704" x2="21914" y2="59144"/>
                        <a14:backgroundMark x1="25926" y1="31597" x2="29630" y2="61111"/>
                        <a14:backgroundMark x1="34568" y1="3588" x2="36265" y2="3588"/>
                        <a14:backgroundMark x1="31950" y1="44348" x2="32099" y2="48264"/>
                        <a14:backgroundMark x1="31847" y1="41659" x2="31890" y2="42775"/>
                        <a14:backgroundMark x1="31724" y1="38426" x2="31780" y2="39899"/>
                        <a14:backgroundMark x1="31616" y1="35609" x2="31657" y2="36690"/>
                        <a14:backgroundMark x1="31481" y1="32060" x2="31535" y2="33479"/>
                        <a14:backgroundMark x1="29153" y1="21827" x2="28814" y2="30457"/>
                        <a14:backgroundMark x1="70847" y1="27665" x2="78983" y2="408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529" r="31937"/>
          <a:stretch/>
        </p:blipFill>
        <p:spPr bwMode="auto">
          <a:xfrm>
            <a:off x="732871" y="5294371"/>
            <a:ext cx="298369" cy="1032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90" name="Picture 6">
            <a:extLst>
              <a:ext uri="{FF2B5EF4-FFF2-40B4-BE49-F238E27FC236}">
                <a16:creationId xmlns:a16="http://schemas.microsoft.com/office/drawing/2014/main" id="{E5706736-8514-F8DF-864E-A96B7C7568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5067" b="93200" l="10000" r="90000">
                        <a14:foregroundMark x1="19417" y1="10000" x2="42583" y2="5067"/>
                        <a14:foregroundMark x1="42583" y1="5067" x2="76583" y2="9467"/>
                        <a14:foregroundMark x1="20500" y1="86000" x2="37930" y2="92845"/>
                        <a14:foregroundMark x1="51040" y1="91247" x2="68108" y2="88516"/>
                        <a14:foregroundMark x1="19833" y1="87067" x2="18250" y2="89067"/>
                        <a14:backgroundMark x1="36000" y1="95867" x2="50000" y2="94000"/>
                        <a14:backgroundMark x1="43333" y1="94533" x2="47417" y2="94533"/>
                        <a14:backgroundMark x1="47667" y1="93867" x2="44667" y2="94267"/>
                        <a14:backgroundMark x1="36333" y1="95600" x2="38917" y2="95200"/>
                        <a14:backgroundMark x1="67083" y1="91333" x2="69333" y2="908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814" t="2184" r="20049" b="3520"/>
          <a:stretch/>
        </p:blipFill>
        <p:spPr bwMode="auto">
          <a:xfrm>
            <a:off x="3129199" y="5271571"/>
            <a:ext cx="1313370" cy="1206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393" name="组合 3392">
            <a:extLst>
              <a:ext uri="{FF2B5EF4-FFF2-40B4-BE49-F238E27FC236}">
                <a16:creationId xmlns:a16="http://schemas.microsoft.com/office/drawing/2014/main" id="{F6BA629C-C41D-CF31-17B4-AFA2941DDBBB}"/>
              </a:ext>
            </a:extLst>
          </p:cNvPr>
          <p:cNvGrpSpPr/>
          <p:nvPr/>
        </p:nvGrpSpPr>
        <p:grpSpPr>
          <a:xfrm>
            <a:off x="1752921" y="3347374"/>
            <a:ext cx="978034" cy="1114469"/>
            <a:chOff x="1966449" y="2822041"/>
            <a:chExt cx="978034" cy="1114469"/>
          </a:xfrm>
        </p:grpSpPr>
        <p:grpSp>
          <p:nvGrpSpPr>
            <p:cNvPr id="3117" name="组合 3116">
              <a:extLst>
                <a:ext uri="{FF2B5EF4-FFF2-40B4-BE49-F238E27FC236}">
                  <a16:creationId xmlns:a16="http://schemas.microsoft.com/office/drawing/2014/main" id="{5AFA96AA-26BF-B317-BCE6-13DE6EC24C32}"/>
                </a:ext>
              </a:extLst>
            </p:cNvPr>
            <p:cNvGrpSpPr/>
            <p:nvPr/>
          </p:nvGrpSpPr>
          <p:grpSpPr>
            <a:xfrm>
              <a:off x="1966449" y="2822041"/>
              <a:ext cx="978034" cy="1114469"/>
              <a:chOff x="2195088" y="3024517"/>
              <a:chExt cx="1256271" cy="1431520"/>
            </a:xfrm>
          </p:grpSpPr>
          <p:sp>
            <p:nvSpPr>
              <p:cNvPr id="3115" name="矩形: 圆角 3114">
                <a:extLst>
                  <a:ext uri="{FF2B5EF4-FFF2-40B4-BE49-F238E27FC236}">
                    <a16:creationId xmlns:a16="http://schemas.microsoft.com/office/drawing/2014/main" id="{5612C2CA-7487-B790-747F-CF07F79EB1DD}"/>
                  </a:ext>
                </a:extLst>
              </p:cNvPr>
              <p:cNvSpPr/>
              <p:nvPr/>
            </p:nvSpPr>
            <p:spPr>
              <a:xfrm>
                <a:off x="2840583" y="3385373"/>
                <a:ext cx="86614" cy="1070664"/>
              </a:xfrm>
              <a:prstGeom prst="roundRect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dirty="0">
                  <a:cs typeface="+mn-ea"/>
                  <a:sym typeface="+mn-lt"/>
                </a:endParaRPr>
              </a:p>
            </p:txBody>
          </p:sp>
          <p:sp>
            <p:nvSpPr>
              <p:cNvPr id="3116" name="文本框 3115">
                <a:extLst>
                  <a:ext uri="{FF2B5EF4-FFF2-40B4-BE49-F238E27FC236}">
                    <a16:creationId xmlns:a16="http://schemas.microsoft.com/office/drawing/2014/main" id="{D080EB64-9D40-F836-B215-251AE7B1A239}"/>
                  </a:ext>
                </a:extLst>
              </p:cNvPr>
              <p:cNvSpPr txBox="1"/>
              <p:nvPr/>
            </p:nvSpPr>
            <p:spPr>
              <a:xfrm>
                <a:off x="2195088" y="3024517"/>
                <a:ext cx="1256271" cy="328256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kumimoji="1" lang="en-US" altLang="zh-CN" sz="1400" dirty="0" err="1">
                    <a:solidFill>
                      <a:schemeClr val="accent5"/>
                    </a:solidFill>
                    <a:cs typeface="+mn-ea"/>
                    <a:sym typeface="+mn-lt"/>
                  </a:rPr>
                  <a:t>NVLink</a:t>
                </a:r>
                <a:endParaRPr kumimoji="1" lang="en-US" altLang="zh-CN" sz="1400" dirty="0">
                  <a:solidFill>
                    <a:schemeClr val="accent5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3391" name="椭圆 3390">
              <a:extLst>
                <a:ext uri="{FF2B5EF4-FFF2-40B4-BE49-F238E27FC236}">
                  <a16:creationId xmlns:a16="http://schemas.microsoft.com/office/drawing/2014/main" id="{CF04F415-983A-C0FE-6810-67D81A7395A0}"/>
                </a:ext>
              </a:extLst>
            </p:cNvPr>
            <p:cNvSpPr/>
            <p:nvPr/>
          </p:nvSpPr>
          <p:spPr>
            <a:xfrm>
              <a:off x="2455467" y="3717568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392" name="椭圆 3391">
              <a:extLst>
                <a:ext uri="{FF2B5EF4-FFF2-40B4-BE49-F238E27FC236}">
                  <a16:creationId xmlns:a16="http://schemas.microsoft.com/office/drawing/2014/main" id="{AD038174-A9A3-46F6-4D3E-975DCC2F9B84}"/>
                </a:ext>
              </a:extLst>
            </p:cNvPr>
            <p:cNvSpPr/>
            <p:nvPr/>
          </p:nvSpPr>
          <p:spPr>
            <a:xfrm>
              <a:off x="2455466" y="3232072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394" name="直接连接符 3393">
            <a:extLst>
              <a:ext uri="{FF2B5EF4-FFF2-40B4-BE49-F238E27FC236}">
                <a16:creationId xmlns:a16="http://schemas.microsoft.com/office/drawing/2014/main" id="{7B333325-F1FE-A9FF-0B8C-4E3EA375A269}"/>
              </a:ext>
            </a:extLst>
          </p:cNvPr>
          <p:cNvCxnSpPr>
            <a:cxnSpLocks/>
            <a:stCxn id="52" idx="3"/>
            <a:endCxn id="3391" idx="2"/>
          </p:cNvCxnSpPr>
          <p:nvPr/>
        </p:nvCxnSpPr>
        <p:spPr>
          <a:xfrm flipV="1">
            <a:off x="1902091" y="4289147"/>
            <a:ext cx="339848" cy="217944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7" name="直接连接符 3396">
            <a:extLst>
              <a:ext uri="{FF2B5EF4-FFF2-40B4-BE49-F238E27FC236}">
                <a16:creationId xmlns:a16="http://schemas.microsoft.com/office/drawing/2014/main" id="{E0B5F15D-B0FF-4052-0BD0-F1B82BAAD438}"/>
              </a:ext>
            </a:extLst>
          </p:cNvPr>
          <p:cNvCxnSpPr>
            <a:cxnSpLocks/>
            <a:stCxn id="53" idx="3"/>
            <a:endCxn id="3391" idx="2"/>
          </p:cNvCxnSpPr>
          <p:nvPr/>
        </p:nvCxnSpPr>
        <p:spPr>
          <a:xfrm>
            <a:off x="1902091" y="4173078"/>
            <a:ext cx="339848" cy="116069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0" name="直接连接符 3399">
            <a:extLst>
              <a:ext uri="{FF2B5EF4-FFF2-40B4-BE49-F238E27FC236}">
                <a16:creationId xmlns:a16="http://schemas.microsoft.com/office/drawing/2014/main" id="{552E5129-15D6-B1FF-5B0D-10FF80B6902D}"/>
              </a:ext>
            </a:extLst>
          </p:cNvPr>
          <p:cNvCxnSpPr>
            <a:cxnSpLocks/>
            <a:stCxn id="52" idx="3"/>
            <a:endCxn id="3392" idx="2"/>
          </p:cNvCxnSpPr>
          <p:nvPr/>
        </p:nvCxnSpPr>
        <p:spPr>
          <a:xfrm flipV="1">
            <a:off x="1902091" y="3803651"/>
            <a:ext cx="339847" cy="70344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3" name="直接连接符 3402">
            <a:extLst>
              <a:ext uri="{FF2B5EF4-FFF2-40B4-BE49-F238E27FC236}">
                <a16:creationId xmlns:a16="http://schemas.microsoft.com/office/drawing/2014/main" id="{EFE94D55-56D8-2DC5-66FD-E678A6663757}"/>
              </a:ext>
            </a:extLst>
          </p:cNvPr>
          <p:cNvCxnSpPr>
            <a:cxnSpLocks/>
            <a:stCxn id="53" idx="3"/>
            <a:endCxn id="3392" idx="2"/>
          </p:cNvCxnSpPr>
          <p:nvPr/>
        </p:nvCxnSpPr>
        <p:spPr>
          <a:xfrm flipV="1">
            <a:off x="1902091" y="3803651"/>
            <a:ext cx="339847" cy="369427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07" name="组合 3406">
            <a:extLst>
              <a:ext uri="{FF2B5EF4-FFF2-40B4-BE49-F238E27FC236}">
                <a16:creationId xmlns:a16="http://schemas.microsoft.com/office/drawing/2014/main" id="{391F9969-E92A-6BFD-05EB-2803777ADC73}"/>
              </a:ext>
            </a:extLst>
          </p:cNvPr>
          <p:cNvGrpSpPr/>
          <p:nvPr/>
        </p:nvGrpSpPr>
        <p:grpSpPr>
          <a:xfrm>
            <a:off x="3564779" y="3231884"/>
            <a:ext cx="1641306" cy="1550052"/>
            <a:chOff x="2573607" y="2277426"/>
            <a:chExt cx="1633572" cy="1542748"/>
          </a:xfrm>
        </p:grpSpPr>
        <p:sp>
          <p:nvSpPr>
            <p:cNvPr id="3408" name="矩形: 圆角 3407">
              <a:extLst>
                <a:ext uri="{FF2B5EF4-FFF2-40B4-BE49-F238E27FC236}">
                  <a16:creationId xmlns:a16="http://schemas.microsoft.com/office/drawing/2014/main" id="{28072606-BBCC-B39B-69AC-F5203562D82A}"/>
                </a:ext>
              </a:extLst>
            </p:cNvPr>
            <p:cNvSpPr/>
            <p:nvPr/>
          </p:nvSpPr>
          <p:spPr>
            <a:xfrm>
              <a:off x="2573607" y="2277426"/>
              <a:ext cx="1633572" cy="1542748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3409" name="矩形: 圆角 3408">
              <a:extLst>
                <a:ext uri="{FF2B5EF4-FFF2-40B4-BE49-F238E27FC236}">
                  <a16:creationId xmlns:a16="http://schemas.microsoft.com/office/drawing/2014/main" id="{F37021CA-7328-4561-1AFB-584637DE2BBB}"/>
                </a:ext>
              </a:extLst>
            </p:cNvPr>
            <p:cNvSpPr/>
            <p:nvPr/>
          </p:nvSpPr>
          <p:spPr>
            <a:xfrm>
              <a:off x="2722868" y="343922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411" name="矩形: 圆角 3410">
              <a:extLst>
                <a:ext uri="{FF2B5EF4-FFF2-40B4-BE49-F238E27FC236}">
                  <a16:creationId xmlns:a16="http://schemas.microsoft.com/office/drawing/2014/main" id="{7BF33DDC-236E-6CAC-2690-BBDA7816AEFF}"/>
                </a:ext>
              </a:extLst>
            </p:cNvPr>
            <p:cNvSpPr/>
            <p:nvPr/>
          </p:nvSpPr>
          <p:spPr>
            <a:xfrm>
              <a:off x="2722868" y="310678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412" name="组合 3411">
            <a:extLst>
              <a:ext uri="{FF2B5EF4-FFF2-40B4-BE49-F238E27FC236}">
                <a16:creationId xmlns:a16="http://schemas.microsoft.com/office/drawing/2014/main" id="{3A9A8C5D-4B35-6B6D-42B5-3A90106399FE}"/>
              </a:ext>
            </a:extLst>
          </p:cNvPr>
          <p:cNvGrpSpPr/>
          <p:nvPr/>
        </p:nvGrpSpPr>
        <p:grpSpPr>
          <a:xfrm>
            <a:off x="4837774" y="3640490"/>
            <a:ext cx="92492" cy="833534"/>
            <a:chOff x="2455466" y="3102975"/>
            <a:chExt cx="92492" cy="833534"/>
          </a:xfrm>
        </p:grpSpPr>
        <p:sp>
          <p:nvSpPr>
            <p:cNvPr id="3416" name="矩形: 圆角 3415">
              <a:extLst>
                <a:ext uri="{FF2B5EF4-FFF2-40B4-BE49-F238E27FC236}">
                  <a16:creationId xmlns:a16="http://schemas.microsoft.com/office/drawing/2014/main" id="{FB09705E-11B9-A3E4-03C7-DF4DD8CEA4A0}"/>
                </a:ext>
              </a:extLst>
            </p:cNvPr>
            <p:cNvSpPr/>
            <p:nvPr/>
          </p:nvSpPr>
          <p:spPr>
            <a:xfrm>
              <a:off x="2468981" y="3102975"/>
              <a:ext cx="67431" cy="833534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cs typeface="+mn-ea"/>
                <a:sym typeface="+mn-lt"/>
              </a:endParaRPr>
            </a:p>
          </p:txBody>
        </p:sp>
        <p:sp>
          <p:nvSpPr>
            <p:cNvPr id="3414" name="椭圆 3413">
              <a:extLst>
                <a:ext uri="{FF2B5EF4-FFF2-40B4-BE49-F238E27FC236}">
                  <a16:creationId xmlns:a16="http://schemas.microsoft.com/office/drawing/2014/main" id="{D84399B7-4E9B-E308-A3E1-04EAE063B5E0}"/>
                </a:ext>
              </a:extLst>
            </p:cNvPr>
            <p:cNvSpPr/>
            <p:nvPr/>
          </p:nvSpPr>
          <p:spPr>
            <a:xfrm>
              <a:off x="2455467" y="3717568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415" name="椭圆 3414">
              <a:extLst>
                <a:ext uri="{FF2B5EF4-FFF2-40B4-BE49-F238E27FC236}">
                  <a16:creationId xmlns:a16="http://schemas.microsoft.com/office/drawing/2014/main" id="{7659C2B1-5849-EAC7-75E1-ECD7441CB33E}"/>
                </a:ext>
              </a:extLst>
            </p:cNvPr>
            <p:cNvSpPr/>
            <p:nvPr/>
          </p:nvSpPr>
          <p:spPr>
            <a:xfrm>
              <a:off x="2455466" y="3232072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423" name="直接连接符 3422">
            <a:extLst>
              <a:ext uri="{FF2B5EF4-FFF2-40B4-BE49-F238E27FC236}">
                <a16:creationId xmlns:a16="http://schemas.microsoft.com/office/drawing/2014/main" id="{963164C7-C9CA-EA7D-634D-46FF9E912599}"/>
              </a:ext>
            </a:extLst>
          </p:cNvPr>
          <p:cNvCxnSpPr>
            <a:cxnSpLocks/>
            <a:stCxn id="3409" idx="3"/>
            <a:endCxn id="3414" idx="2"/>
          </p:cNvCxnSpPr>
          <p:nvPr/>
        </p:nvCxnSpPr>
        <p:spPr>
          <a:xfrm flipV="1">
            <a:off x="4484354" y="4301329"/>
            <a:ext cx="353421" cy="20663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4" name="直接连接符 3423">
            <a:extLst>
              <a:ext uri="{FF2B5EF4-FFF2-40B4-BE49-F238E27FC236}">
                <a16:creationId xmlns:a16="http://schemas.microsoft.com/office/drawing/2014/main" id="{CD3C8A83-A366-0A91-483C-A54370A82348}"/>
              </a:ext>
            </a:extLst>
          </p:cNvPr>
          <p:cNvCxnSpPr>
            <a:cxnSpLocks/>
            <a:stCxn id="3411" idx="3"/>
            <a:endCxn id="3414" idx="2"/>
          </p:cNvCxnSpPr>
          <p:nvPr/>
        </p:nvCxnSpPr>
        <p:spPr>
          <a:xfrm>
            <a:off x="4484354" y="4173947"/>
            <a:ext cx="353421" cy="127382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5" name="直接连接符 3424">
            <a:extLst>
              <a:ext uri="{FF2B5EF4-FFF2-40B4-BE49-F238E27FC236}">
                <a16:creationId xmlns:a16="http://schemas.microsoft.com/office/drawing/2014/main" id="{FCAB4C00-EF0D-45C2-C864-B4D6C97125AD}"/>
              </a:ext>
            </a:extLst>
          </p:cNvPr>
          <p:cNvCxnSpPr>
            <a:cxnSpLocks/>
            <a:stCxn id="3409" idx="3"/>
            <a:endCxn id="3415" idx="2"/>
          </p:cNvCxnSpPr>
          <p:nvPr/>
        </p:nvCxnSpPr>
        <p:spPr>
          <a:xfrm flipV="1">
            <a:off x="4484354" y="3815833"/>
            <a:ext cx="353420" cy="692127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6" name="直接连接符 3425">
            <a:extLst>
              <a:ext uri="{FF2B5EF4-FFF2-40B4-BE49-F238E27FC236}">
                <a16:creationId xmlns:a16="http://schemas.microsoft.com/office/drawing/2014/main" id="{B2DD250C-7B49-06E2-2BAB-AC75539F4DF8}"/>
              </a:ext>
            </a:extLst>
          </p:cNvPr>
          <p:cNvCxnSpPr>
            <a:cxnSpLocks/>
            <a:stCxn id="3411" idx="3"/>
            <a:endCxn id="3415" idx="2"/>
          </p:cNvCxnSpPr>
          <p:nvPr/>
        </p:nvCxnSpPr>
        <p:spPr>
          <a:xfrm flipV="1">
            <a:off x="4484354" y="3815833"/>
            <a:ext cx="353420" cy="358114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28" name="矩形: 圆角 3427">
            <a:extLst>
              <a:ext uri="{FF2B5EF4-FFF2-40B4-BE49-F238E27FC236}">
                <a16:creationId xmlns:a16="http://schemas.microsoft.com/office/drawing/2014/main" id="{CE124CB6-AA6C-AD8C-5E1B-E7947546F062}"/>
              </a:ext>
            </a:extLst>
          </p:cNvPr>
          <p:cNvSpPr/>
          <p:nvPr/>
        </p:nvSpPr>
        <p:spPr>
          <a:xfrm>
            <a:off x="3711772" y="3732947"/>
            <a:ext cx="769607" cy="217561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sz="16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29" name="矩形: 圆角 3428">
            <a:extLst>
              <a:ext uri="{FF2B5EF4-FFF2-40B4-BE49-F238E27FC236}">
                <a16:creationId xmlns:a16="http://schemas.microsoft.com/office/drawing/2014/main" id="{E16227F0-6213-F22F-9506-89632EB94746}"/>
              </a:ext>
            </a:extLst>
          </p:cNvPr>
          <p:cNvSpPr/>
          <p:nvPr/>
        </p:nvSpPr>
        <p:spPr>
          <a:xfrm>
            <a:off x="3711772" y="3408277"/>
            <a:ext cx="769607" cy="217561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sz="16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cxnSp>
        <p:nvCxnSpPr>
          <p:cNvPr id="3430" name="直接连接符 3429">
            <a:extLst>
              <a:ext uri="{FF2B5EF4-FFF2-40B4-BE49-F238E27FC236}">
                <a16:creationId xmlns:a16="http://schemas.microsoft.com/office/drawing/2014/main" id="{82084147-875B-58C5-3677-DCE62B11F212}"/>
              </a:ext>
            </a:extLst>
          </p:cNvPr>
          <p:cNvCxnSpPr>
            <a:cxnSpLocks/>
            <a:stCxn id="3428" idx="3"/>
            <a:endCxn id="3414" idx="2"/>
          </p:cNvCxnSpPr>
          <p:nvPr/>
        </p:nvCxnSpPr>
        <p:spPr>
          <a:xfrm>
            <a:off x="4481379" y="3841728"/>
            <a:ext cx="356396" cy="45960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3" name="直接连接符 3432">
            <a:extLst>
              <a:ext uri="{FF2B5EF4-FFF2-40B4-BE49-F238E27FC236}">
                <a16:creationId xmlns:a16="http://schemas.microsoft.com/office/drawing/2014/main" id="{307D8FDE-4C39-110D-E132-BE91F988A233}"/>
              </a:ext>
            </a:extLst>
          </p:cNvPr>
          <p:cNvCxnSpPr>
            <a:cxnSpLocks/>
            <a:stCxn id="3428" idx="3"/>
            <a:endCxn id="3415" idx="2"/>
          </p:cNvCxnSpPr>
          <p:nvPr/>
        </p:nvCxnSpPr>
        <p:spPr>
          <a:xfrm flipV="1">
            <a:off x="4481379" y="3815833"/>
            <a:ext cx="356395" cy="25895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6" name="直接连接符 3435">
            <a:extLst>
              <a:ext uri="{FF2B5EF4-FFF2-40B4-BE49-F238E27FC236}">
                <a16:creationId xmlns:a16="http://schemas.microsoft.com/office/drawing/2014/main" id="{91E7EB49-86B4-FE97-A1DF-730BC01B133B}"/>
              </a:ext>
            </a:extLst>
          </p:cNvPr>
          <p:cNvCxnSpPr>
            <a:cxnSpLocks/>
            <a:stCxn id="3429" idx="3"/>
            <a:endCxn id="3415" idx="2"/>
          </p:cNvCxnSpPr>
          <p:nvPr/>
        </p:nvCxnSpPr>
        <p:spPr>
          <a:xfrm>
            <a:off x="4481379" y="3517058"/>
            <a:ext cx="356395" cy="298775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9" name="直接连接符 3438">
            <a:extLst>
              <a:ext uri="{FF2B5EF4-FFF2-40B4-BE49-F238E27FC236}">
                <a16:creationId xmlns:a16="http://schemas.microsoft.com/office/drawing/2014/main" id="{F8D9D600-3C63-4698-519E-3BB80DFAB0F5}"/>
              </a:ext>
            </a:extLst>
          </p:cNvPr>
          <p:cNvCxnSpPr>
            <a:cxnSpLocks/>
            <a:stCxn id="3429" idx="3"/>
            <a:endCxn id="3414" idx="2"/>
          </p:cNvCxnSpPr>
          <p:nvPr/>
        </p:nvCxnSpPr>
        <p:spPr>
          <a:xfrm>
            <a:off x="4481379" y="3517058"/>
            <a:ext cx="356396" cy="78427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45" name="文本框 3444">
            <a:extLst>
              <a:ext uri="{FF2B5EF4-FFF2-40B4-BE49-F238E27FC236}">
                <a16:creationId xmlns:a16="http://schemas.microsoft.com/office/drawing/2014/main" id="{5AB648A0-C9A6-86DC-0F05-35A6C4324378}"/>
              </a:ext>
            </a:extLst>
          </p:cNvPr>
          <p:cNvSpPr txBox="1"/>
          <p:nvPr/>
        </p:nvSpPr>
        <p:spPr>
          <a:xfrm>
            <a:off x="955831" y="5492934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NVL72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46" name="文本框 3445">
            <a:extLst>
              <a:ext uri="{FF2B5EF4-FFF2-40B4-BE49-F238E27FC236}">
                <a16:creationId xmlns:a16="http://schemas.microsoft.com/office/drawing/2014/main" id="{F7E74B25-9972-961F-9C93-14B857F195DA}"/>
              </a:ext>
            </a:extLst>
          </p:cNvPr>
          <p:cNvSpPr txBox="1"/>
          <p:nvPr/>
        </p:nvSpPr>
        <p:spPr>
          <a:xfrm>
            <a:off x="969794" y="5901823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B200 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72 / rack</a:t>
            </a:r>
          </a:p>
        </p:txBody>
      </p:sp>
      <p:sp>
        <p:nvSpPr>
          <p:cNvPr id="3448" name="文本框 3447">
            <a:extLst>
              <a:ext uri="{FF2B5EF4-FFF2-40B4-BE49-F238E27FC236}">
                <a16:creationId xmlns:a16="http://schemas.microsoft.com/office/drawing/2014/main" id="{36315F0B-BB47-1E9C-18F7-E527D0C174A7}"/>
              </a:ext>
            </a:extLst>
          </p:cNvPr>
          <p:cNvSpPr txBox="1"/>
          <p:nvPr/>
        </p:nvSpPr>
        <p:spPr>
          <a:xfrm>
            <a:off x="4481379" y="5477186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Rubin NVL288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49" name="文本框 3448">
            <a:extLst>
              <a:ext uri="{FF2B5EF4-FFF2-40B4-BE49-F238E27FC236}">
                <a16:creationId xmlns:a16="http://schemas.microsoft.com/office/drawing/2014/main" id="{E2ADC65E-017D-3DB4-50DD-1FF45A14E953}"/>
              </a:ext>
            </a:extLst>
          </p:cNvPr>
          <p:cNvSpPr txBox="1"/>
          <p:nvPr/>
        </p:nvSpPr>
        <p:spPr>
          <a:xfrm>
            <a:off x="4504639" y="5927863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Rubin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288 / rack </a:t>
            </a:r>
          </a:p>
        </p:txBody>
      </p:sp>
      <p:sp>
        <p:nvSpPr>
          <p:cNvPr id="3451" name="文本框 3450">
            <a:extLst>
              <a:ext uri="{FF2B5EF4-FFF2-40B4-BE49-F238E27FC236}">
                <a16:creationId xmlns:a16="http://schemas.microsoft.com/office/drawing/2014/main" id="{2B851CDC-5F65-1568-5E1B-F56677B7DCF7}"/>
              </a:ext>
            </a:extLst>
          </p:cNvPr>
          <p:cNvSpPr txBox="1"/>
          <p:nvPr/>
        </p:nvSpPr>
        <p:spPr>
          <a:xfrm>
            <a:off x="4403771" y="3347373"/>
            <a:ext cx="97803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endParaRPr kumimoji="1" lang="en-US" altLang="zh-CN" sz="1400" dirty="0">
              <a:solidFill>
                <a:schemeClr val="accent5"/>
              </a:solidFill>
              <a:cs typeface="+mn-ea"/>
              <a:sym typeface="+mn-lt"/>
            </a:endParaRPr>
          </a:p>
        </p:txBody>
      </p:sp>
      <p:grpSp>
        <p:nvGrpSpPr>
          <p:cNvPr id="3470" name="组合 3469">
            <a:extLst>
              <a:ext uri="{FF2B5EF4-FFF2-40B4-BE49-F238E27FC236}">
                <a16:creationId xmlns:a16="http://schemas.microsoft.com/office/drawing/2014/main" id="{14A599D8-D430-AD37-1E3E-C3B9ED956E30}"/>
              </a:ext>
            </a:extLst>
          </p:cNvPr>
          <p:cNvGrpSpPr/>
          <p:nvPr/>
        </p:nvGrpSpPr>
        <p:grpSpPr>
          <a:xfrm>
            <a:off x="6762943" y="3390669"/>
            <a:ext cx="1588079" cy="1089889"/>
            <a:chOff x="6616348" y="4646527"/>
            <a:chExt cx="1588079" cy="1089889"/>
          </a:xfrm>
        </p:grpSpPr>
        <p:grpSp>
          <p:nvGrpSpPr>
            <p:cNvPr id="3452" name="组合 3451">
              <a:extLst>
                <a:ext uri="{FF2B5EF4-FFF2-40B4-BE49-F238E27FC236}">
                  <a16:creationId xmlns:a16="http://schemas.microsoft.com/office/drawing/2014/main" id="{AA871210-F008-BAE3-ED93-6F0D476DC6FD}"/>
                </a:ext>
              </a:extLst>
            </p:cNvPr>
            <p:cNvGrpSpPr/>
            <p:nvPr/>
          </p:nvGrpSpPr>
          <p:grpSpPr>
            <a:xfrm>
              <a:off x="6616348" y="4646527"/>
              <a:ext cx="1588079" cy="1089889"/>
              <a:chOff x="2573606" y="2472321"/>
              <a:chExt cx="1580596" cy="1084754"/>
            </a:xfrm>
          </p:grpSpPr>
          <p:sp>
            <p:nvSpPr>
              <p:cNvPr id="3453" name="矩形: 圆角 3452">
                <a:extLst>
                  <a:ext uri="{FF2B5EF4-FFF2-40B4-BE49-F238E27FC236}">
                    <a16:creationId xmlns:a16="http://schemas.microsoft.com/office/drawing/2014/main" id="{0B6B8096-B177-2A84-68D3-076CBD52C7A2}"/>
                  </a:ext>
                </a:extLst>
              </p:cNvPr>
              <p:cNvSpPr/>
              <p:nvPr/>
            </p:nvSpPr>
            <p:spPr>
              <a:xfrm>
                <a:off x="2573606" y="2472321"/>
                <a:ext cx="1580596" cy="1084754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cs typeface="+mn-ea"/>
                  <a:sym typeface="+mn-lt"/>
                </a:endParaRPr>
              </a:p>
            </p:txBody>
          </p:sp>
          <p:sp>
            <p:nvSpPr>
              <p:cNvPr id="3454" name="矩形: 圆角 3453">
                <a:extLst>
                  <a:ext uri="{FF2B5EF4-FFF2-40B4-BE49-F238E27FC236}">
                    <a16:creationId xmlns:a16="http://schemas.microsoft.com/office/drawing/2014/main" id="{36B06501-8AA9-6F67-3D48-8B4DD08026EB}"/>
                  </a:ext>
                </a:extLst>
              </p:cNvPr>
              <p:cNvSpPr/>
              <p:nvPr/>
            </p:nvSpPr>
            <p:spPr>
              <a:xfrm>
                <a:off x="2773429" y="3176554"/>
                <a:ext cx="765981" cy="216536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sz="16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455" name="矩形: 圆角 3454">
                <a:extLst>
                  <a:ext uri="{FF2B5EF4-FFF2-40B4-BE49-F238E27FC236}">
                    <a16:creationId xmlns:a16="http://schemas.microsoft.com/office/drawing/2014/main" id="{F192DF0C-3298-8A65-E4D3-8D6B071D1731}"/>
                  </a:ext>
                </a:extLst>
              </p:cNvPr>
              <p:cNvSpPr/>
              <p:nvPr/>
            </p:nvSpPr>
            <p:spPr>
              <a:xfrm>
                <a:off x="2773429" y="2844115"/>
                <a:ext cx="765981" cy="216536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sz="16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3456" name="组合 3455">
              <a:extLst>
                <a:ext uri="{FF2B5EF4-FFF2-40B4-BE49-F238E27FC236}">
                  <a16:creationId xmlns:a16="http://schemas.microsoft.com/office/drawing/2014/main" id="{1D81A472-F073-EA88-12CC-BEED40840FC8}"/>
                </a:ext>
              </a:extLst>
            </p:cNvPr>
            <p:cNvGrpSpPr/>
            <p:nvPr/>
          </p:nvGrpSpPr>
          <p:grpSpPr>
            <a:xfrm>
              <a:off x="7051474" y="4681821"/>
              <a:ext cx="978034" cy="999716"/>
              <a:chOff x="1631169" y="2936792"/>
              <a:chExt cx="978034" cy="999716"/>
            </a:xfrm>
          </p:grpSpPr>
          <p:grpSp>
            <p:nvGrpSpPr>
              <p:cNvPr id="3457" name="组合 3456">
                <a:extLst>
                  <a:ext uri="{FF2B5EF4-FFF2-40B4-BE49-F238E27FC236}">
                    <a16:creationId xmlns:a16="http://schemas.microsoft.com/office/drawing/2014/main" id="{925FFEDE-BED2-2837-4722-216729C550C9}"/>
                  </a:ext>
                </a:extLst>
              </p:cNvPr>
              <p:cNvGrpSpPr/>
              <p:nvPr/>
            </p:nvGrpSpPr>
            <p:grpSpPr>
              <a:xfrm>
                <a:off x="1631169" y="2936792"/>
                <a:ext cx="978034" cy="999716"/>
                <a:chOff x="1764426" y="3171915"/>
                <a:chExt cx="1256271" cy="1284122"/>
              </a:xfrm>
            </p:grpSpPr>
            <p:sp>
              <p:nvSpPr>
                <p:cNvPr id="3460" name="矩形: 圆角 3459">
                  <a:extLst>
                    <a:ext uri="{FF2B5EF4-FFF2-40B4-BE49-F238E27FC236}">
                      <a16:creationId xmlns:a16="http://schemas.microsoft.com/office/drawing/2014/main" id="{B7AFC3C2-B228-B181-2DDE-A792C8761AE5}"/>
                    </a:ext>
                  </a:extLst>
                </p:cNvPr>
                <p:cNvSpPr/>
                <p:nvPr/>
              </p:nvSpPr>
              <p:spPr>
                <a:xfrm>
                  <a:off x="2840583" y="3385373"/>
                  <a:ext cx="86614" cy="1070664"/>
                </a:xfrm>
                <a:prstGeom prst="roundRect">
                  <a:avLst/>
                </a:prstGeom>
                <a:solidFill>
                  <a:schemeClr val="accent5"/>
                </a:solidFill>
                <a:ln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3461" name="文本框 3460">
                  <a:extLst>
                    <a:ext uri="{FF2B5EF4-FFF2-40B4-BE49-F238E27FC236}">
                      <a16:creationId xmlns:a16="http://schemas.microsoft.com/office/drawing/2014/main" id="{184F703F-E80B-F629-A207-104B925B50D2}"/>
                    </a:ext>
                  </a:extLst>
                </p:cNvPr>
                <p:cNvSpPr txBox="1"/>
                <p:nvPr/>
              </p:nvSpPr>
              <p:spPr>
                <a:xfrm>
                  <a:off x="1764426" y="3171915"/>
                  <a:ext cx="1256271" cy="328256"/>
                </a:xfrm>
                <a:prstGeom prst="rect">
                  <a:avLst/>
                </a:prstGeom>
                <a:ln w="6350">
                  <a:noFill/>
                  <a:miter lim="800000"/>
                </a:ln>
              </p:spPr>
              <p:txBody>
                <a:bodyPr vert="horz" wrap="square" lIns="0" tIns="0" rIns="0" bIns="0" rtlCol="0" anchor="ctr">
                  <a:noAutofit/>
                </a:bodyPr>
                <a:lstStyle/>
                <a:p>
                  <a:pPr algn="ctr"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kumimoji="1" lang="en-US" altLang="zh-CN" sz="1400" dirty="0" err="1">
                      <a:solidFill>
                        <a:schemeClr val="accent5"/>
                      </a:solidFill>
                      <a:cs typeface="+mn-ea"/>
                      <a:sym typeface="+mn-lt"/>
                    </a:rPr>
                    <a:t>NVLink</a:t>
                  </a:r>
                  <a:endParaRPr kumimoji="1" lang="en-US" altLang="zh-CN" sz="1400" dirty="0">
                    <a:solidFill>
                      <a:schemeClr val="accent5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3458" name="椭圆 3457">
                <a:extLst>
                  <a:ext uri="{FF2B5EF4-FFF2-40B4-BE49-F238E27FC236}">
                    <a16:creationId xmlns:a16="http://schemas.microsoft.com/office/drawing/2014/main" id="{DDF02565-73A4-39F1-F71E-60723FAA5771}"/>
                  </a:ext>
                </a:extLst>
              </p:cNvPr>
              <p:cNvSpPr/>
              <p:nvPr/>
            </p:nvSpPr>
            <p:spPr>
              <a:xfrm>
                <a:off x="2455467" y="3717568"/>
                <a:ext cx="92491" cy="9249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cs typeface="+mn-ea"/>
                  <a:sym typeface="+mn-lt"/>
                </a:endParaRPr>
              </a:p>
            </p:txBody>
          </p:sp>
          <p:sp>
            <p:nvSpPr>
              <p:cNvPr id="3459" name="椭圆 3458">
                <a:extLst>
                  <a:ext uri="{FF2B5EF4-FFF2-40B4-BE49-F238E27FC236}">
                    <a16:creationId xmlns:a16="http://schemas.microsoft.com/office/drawing/2014/main" id="{F8D163FF-E192-A995-FE7E-EF39369258F1}"/>
                  </a:ext>
                </a:extLst>
              </p:cNvPr>
              <p:cNvSpPr/>
              <p:nvPr/>
            </p:nvSpPr>
            <p:spPr>
              <a:xfrm>
                <a:off x="2455466" y="3232072"/>
                <a:ext cx="92491" cy="9249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cs typeface="+mn-ea"/>
                  <a:sym typeface="+mn-lt"/>
                </a:endParaRPr>
              </a:p>
            </p:txBody>
          </p:sp>
        </p:grpSp>
        <p:cxnSp>
          <p:nvCxnSpPr>
            <p:cNvPr id="3462" name="直接连接符 3461">
              <a:extLst>
                <a:ext uri="{FF2B5EF4-FFF2-40B4-BE49-F238E27FC236}">
                  <a16:creationId xmlns:a16="http://schemas.microsoft.com/office/drawing/2014/main" id="{24A0859A-04C0-1AB1-C409-C4E8B4CC2D28}"/>
                </a:ext>
              </a:extLst>
            </p:cNvPr>
            <p:cNvCxnSpPr>
              <a:cxnSpLocks/>
              <a:stCxn id="3454" idx="3"/>
              <a:endCxn id="3458" idx="2"/>
            </p:cNvCxnSpPr>
            <p:nvPr/>
          </p:nvCxnSpPr>
          <p:spPr>
            <a:xfrm>
              <a:off x="7586724" y="5462877"/>
              <a:ext cx="289048" cy="45966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3" name="直接连接符 3462">
              <a:extLst>
                <a:ext uri="{FF2B5EF4-FFF2-40B4-BE49-F238E27FC236}">
                  <a16:creationId xmlns:a16="http://schemas.microsoft.com/office/drawing/2014/main" id="{600B027F-AE4F-0EFD-65F4-4D3A560EB70B}"/>
                </a:ext>
              </a:extLst>
            </p:cNvPr>
            <p:cNvCxnSpPr>
              <a:cxnSpLocks/>
              <a:stCxn id="3455" idx="3"/>
              <a:endCxn id="3458" idx="2"/>
            </p:cNvCxnSpPr>
            <p:nvPr/>
          </p:nvCxnSpPr>
          <p:spPr>
            <a:xfrm>
              <a:off x="7586724" y="5128864"/>
              <a:ext cx="289048" cy="379979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4" name="直接连接符 3463">
              <a:extLst>
                <a:ext uri="{FF2B5EF4-FFF2-40B4-BE49-F238E27FC236}">
                  <a16:creationId xmlns:a16="http://schemas.microsoft.com/office/drawing/2014/main" id="{E027670F-41CF-D14D-30E5-D815C05679F7}"/>
                </a:ext>
              </a:extLst>
            </p:cNvPr>
            <p:cNvCxnSpPr>
              <a:cxnSpLocks/>
              <a:stCxn id="3454" idx="3"/>
              <a:endCxn id="3459" idx="2"/>
            </p:cNvCxnSpPr>
            <p:nvPr/>
          </p:nvCxnSpPr>
          <p:spPr>
            <a:xfrm flipV="1">
              <a:off x="7586724" y="5023347"/>
              <a:ext cx="289047" cy="439530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5" name="直接连接符 3464">
              <a:extLst>
                <a:ext uri="{FF2B5EF4-FFF2-40B4-BE49-F238E27FC236}">
                  <a16:creationId xmlns:a16="http://schemas.microsoft.com/office/drawing/2014/main" id="{AA840891-62FC-CCA4-AC8A-CBB02330C94E}"/>
                </a:ext>
              </a:extLst>
            </p:cNvPr>
            <p:cNvCxnSpPr>
              <a:cxnSpLocks/>
              <a:stCxn id="3455" idx="3"/>
              <a:endCxn id="3459" idx="2"/>
            </p:cNvCxnSpPr>
            <p:nvPr/>
          </p:nvCxnSpPr>
          <p:spPr>
            <a:xfrm flipV="1">
              <a:off x="7586724" y="5023347"/>
              <a:ext cx="289047" cy="105517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74" name="组合 3473">
            <a:extLst>
              <a:ext uri="{FF2B5EF4-FFF2-40B4-BE49-F238E27FC236}">
                <a16:creationId xmlns:a16="http://schemas.microsoft.com/office/drawing/2014/main" id="{34E9D85A-C0A6-6B16-6F83-4F36802A0E32}"/>
              </a:ext>
            </a:extLst>
          </p:cNvPr>
          <p:cNvGrpSpPr/>
          <p:nvPr/>
        </p:nvGrpSpPr>
        <p:grpSpPr>
          <a:xfrm>
            <a:off x="859851" y="2704864"/>
            <a:ext cx="2215113" cy="328255"/>
            <a:chOff x="917705" y="2569182"/>
            <a:chExt cx="2215113" cy="328255"/>
          </a:xfrm>
        </p:grpSpPr>
        <p:sp>
          <p:nvSpPr>
            <p:cNvPr id="3472" name="椭圆 3471">
              <a:extLst>
                <a:ext uri="{FF2B5EF4-FFF2-40B4-BE49-F238E27FC236}">
                  <a16:creationId xmlns:a16="http://schemas.microsoft.com/office/drawing/2014/main" id="{03D5B286-D7E8-6A8E-CAA8-5CAF424B3D1B}"/>
                </a:ext>
              </a:extLst>
            </p:cNvPr>
            <p:cNvSpPr/>
            <p:nvPr/>
          </p:nvSpPr>
          <p:spPr>
            <a:xfrm>
              <a:off x="917705" y="2692953"/>
              <a:ext cx="92491" cy="92491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473" name="文本框 3472">
              <a:extLst>
                <a:ext uri="{FF2B5EF4-FFF2-40B4-BE49-F238E27FC236}">
                  <a16:creationId xmlns:a16="http://schemas.microsoft.com/office/drawing/2014/main" id="{A76703C2-FA27-3AB5-5AFB-2B592A7E8E8A}"/>
                </a:ext>
              </a:extLst>
            </p:cNvPr>
            <p:cNvSpPr txBox="1"/>
            <p:nvPr/>
          </p:nvSpPr>
          <p:spPr>
            <a:xfrm>
              <a:off x="1148665" y="2569182"/>
              <a:ext cx="1984153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Port</a:t>
              </a:r>
              <a:r>
                <a:rPr lang="zh-CN" altLang="en-US" sz="1400" b="1" dirty="0">
                  <a:cs typeface="+mn-ea"/>
                  <a:sym typeface="+mn-lt"/>
                </a:rPr>
                <a:t> </a:t>
              </a:r>
              <a:r>
                <a:rPr lang="en-US" altLang="zh-CN" sz="1400" b="1" dirty="0">
                  <a:cs typeface="+mn-ea"/>
                  <a:sym typeface="+mn-lt"/>
                </a:rPr>
                <a:t>(copper)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091" name="组合 3090">
            <a:extLst>
              <a:ext uri="{FF2B5EF4-FFF2-40B4-BE49-F238E27FC236}">
                <a16:creationId xmlns:a16="http://schemas.microsoft.com/office/drawing/2014/main" id="{029DA4D0-CEC5-87F4-5678-EF03322AAF6C}"/>
              </a:ext>
            </a:extLst>
          </p:cNvPr>
          <p:cNvGrpSpPr/>
          <p:nvPr/>
        </p:nvGrpSpPr>
        <p:grpSpPr>
          <a:xfrm>
            <a:off x="9470744" y="2651667"/>
            <a:ext cx="1588079" cy="1089889"/>
            <a:chOff x="9471437" y="2407667"/>
            <a:chExt cx="1588079" cy="1089889"/>
          </a:xfrm>
        </p:grpSpPr>
        <p:grpSp>
          <p:nvGrpSpPr>
            <p:cNvPr id="3475" name="组合 3474">
              <a:extLst>
                <a:ext uri="{FF2B5EF4-FFF2-40B4-BE49-F238E27FC236}">
                  <a16:creationId xmlns:a16="http://schemas.microsoft.com/office/drawing/2014/main" id="{2C16EB5C-BD24-530C-2975-9C0901D644A3}"/>
                </a:ext>
              </a:extLst>
            </p:cNvPr>
            <p:cNvGrpSpPr/>
            <p:nvPr/>
          </p:nvGrpSpPr>
          <p:grpSpPr>
            <a:xfrm>
              <a:off x="9471437" y="2407667"/>
              <a:ext cx="1588079" cy="1089889"/>
              <a:chOff x="6616348" y="4646527"/>
              <a:chExt cx="1588079" cy="1089889"/>
            </a:xfrm>
          </p:grpSpPr>
          <p:grpSp>
            <p:nvGrpSpPr>
              <p:cNvPr id="3476" name="组合 3475">
                <a:extLst>
                  <a:ext uri="{FF2B5EF4-FFF2-40B4-BE49-F238E27FC236}">
                    <a16:creationId xmlns:a16="http://schemas.microsoft.com/office/drawing/2014/main" id="{07192AF5-D36C-4DB7-B9B7-B9E33D871F65}"/>
                  </a:ext>
                </a:extLst>
              </p:cNvPr>
              <p:cNvGrpSpPr/>
              <p:nvPr/>
            </p:nvGrpSpPr>
            <p:grpSpPr>
              <a:xfrm>
                <a:off x="6616348" y="4646527"/>
                <a:ext cx="1588079" cy="1089889"/>
                <a:chOff x="2573606" y="2472321"/>
                <a:chExt cx="1580596" cy="1084754"/>
              </a:xfrm>
            </p:grpSpPr>
            <p:sp>
              <p:nvSpPr>
                <p:cNvPr id="3487" name="矩形: 圆角 3486">
                  <a:extLst>
                    <a:ext uri="{FF2B5EF4-FFF2-40B4-BE49-F238E27FC236}">
                      <a16:creationId xmlns:a16="http://schemas.microsoft.com/office/drawing/2014/main" id="{39D21823-4E9A-4471-0949-58D4DFDB897C}"/>
                    </a:ext>
                  </a:extLst>
                </p:cNvPr>
                <p:cNvSpPr/>
                <p:nvPr/>
              </p:nvSpPr>
              <p:spPr>
                <a:xfrm>
                  <a:off x="2573606" y="2472321"/>
                  <a:ext cx="1580596" cy="1084754"/>
                </a:xfrm>
                <a:prstGeom prst="roundRect">
                  <a:avLst>
                    <a:gd name="adj" fmla="val 10158"/>
                  </a:avLst>
                </a:prstGeom>
                <a:noFill/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  <a:sym typeface="+mn-lt"/>
                  </a:endParaRPr>
                </a:p>
              </p:txBody>
            </p:sp>
            <p:sp>
              <p:nvSpPr>
                <p:cNvPr id="3488" name="矩形: 圆角 3487">
                  <a:extLst>
                    <a:ext uri="{FF2B5EF4-FFF2-40B4-BE49-F238E27FC236}">
                      <a16:creationId xmlns:a16="http://schemas.microsoft.com/office/drawing/2014/main" id="{0A07AD35-F067-9B49-07B5-F276A1D7ECC0}"/>
                    </a:ext>
                  </a:extLst>
                </p:cNvPr>
                <p:cNvSpPr/>
                <p:nvPr/>
              </p:nvSpPr>
              <p:spPr>
                <a:xfrm>
                  <a:off x="2773429" y="3176554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489" name="矩形: 圆角 3488">
                  <a:extLst>
                    <a:ext uri="{FF2B5EF4-FFF2-40B4-BE49-F238E27FC236}">
                      <a16:creationId xmlns:a16="http://schemas.microsoft.com/office/drawing/2014/main" id="{2B53CD05-B7FC-442F-3A1C-4D4D247D9E3A}"/>
                    </a:ext>
                  </a:extLst>
                </p:cNvPr>
                <p:cNvSpPr/>
                <p:nvPr/>
              </p:nvSpPr>
              <p:spPr>
                <a:xfrm>
                  <a:off x="2773429" y="2844115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477" name="组合 3476">
                <a:extLst>
                  <a:ext uri="{FF2B5EF4-FFF2-40B4-BE49-F238E27FC236}">
                    <a16:creationId xmlns:a16="http://schemas.microsoft.com/office/drawing/2014/main" id="{85D1D0D6-D25B-B737-4901-9B3E57E56144}"/>
                  </a:ext>
                </a:extLst>
              </p:cNvPr>
              <p:cNvGrpSpPr/>
              <p:nvPr/>
            </p:nvGrpSpPr>
            <p:grpSpPr>
              <a:xfrm>
                <a:off x="7051474" y="4681821"/>
                <a:ext cx="978034" cy="999716"/>
                <a:chOff x="1631169" y="2936792"/>
                <a:chExt cx="978034" cy="999716"/>
              </a:xfrm>
            </p:grpSpPr>
            <p:grpSp>
              <p:nvGrpSpPr>
                <p:cNvPr id="3482" name="组合 3481">
                  <a:extLst>
                    <a:ext uri="{FF2B5EF4-FFF2-40B4-BE49-F238E27FC236}">
                      <a16:creationId xmlns:a16="http://schemas.microsoft.com/office/drawing/2014/main" id="{069BFE75-DB40-1014-53D5-BC80A2920AF6}"/>
                    </a:ext>
                  </a:extLst>
                </p:cNvPr>
                <p:cNvGrpSpPr/>
                <p:nvPr/>
              </p:nvGrpSpPr>
              <p:grpSpPr>
                <a:xfrm>
                  <a:off x="1631169" y="2936792"/>
                  <a:ext cx="978034" cy="999716"/>
                  <a:chOff x="1764426" y="3171915"/>
                  <a:chExt cx="1256271" cy="1284122"/>
                </a:xfrm>
              </p:grpSpPr>
              <p:sp>
                <p:nvSpPr>
                  <p:cNvPr id="3485" name="矩形: 圆角 3484">
                    <a:extLst>
                      <a:ext uri="{FF2B5EF4-FFF2-40B4-BE49-F238E27FC236}">
                        <a16:creationId xmlns:a16="http://schemas.microsoft.com/office/drawing/2014/main" id="{233FD13A-7823-3D11-E4E7-6DDCA7D70950}"/>
                      </a:ext>
                    </a:extLst>
                  </p:cNvPr>
                  <p:cNvSpPr/>
                  <p:nvPr/>
                </p:nvSpPr>
                <p:spPr>
                  <a:xfrm>
                    <a:off x="2840583" y="3385373"/>
                    <a:ext cx="86614" cy="1070664"/>
                  </a:xfrm>
                  <a:prstGeom prst="roundRect">
                    <a:avLst/>
                  </a:prstGeom>
                  <a:solidFill>
                    <a:schemeClr val="accent5"/>
                  </a:solidFill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600" dirty="0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86" name="文本框 3485">
                    <a:extLst>
                      <a:ext uri="{FF2B5EF4-FFF2-40B4-BE49-F238E27FC236}">
                        <a16:creationId xmlns:a16="http://schemas.microsoft.com/office/drawing/2014/main" id="{A94038F6-182A-9E45-A245-F77E6EEAC22C}"/>
                      </a:ext>
                    </a:extLst>
                  </p:cNvPr>
                  <p:cNvSpPr txBox="1"/>
                  <p:nvPr/>
                </p:nvSpPr>
                <p:spPr>
                  <a:xfrm>
                    <a:off x="1764426" y="3171915"/>
                    <a:ext cx="1256271" cy="328256"/>
                  </a:xfrm>
                  <a:prstGeom prst="rect">
                    <a:avLst/>
                  </a:prstGeom>
                  <a:ln w="6350">
                    <a:noFill/>
                    <a:miter lim="800000"/>
                  </a:ln>
                </p:spPr>
                <p:txBody>
                  <a:bodyPr vert="horz" wrap="square" lIns="0" tIns="0" rIns="0" bIns="0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kumimoji="1" lang="en-US" altLang="zh-CN" sz="1400" dirty="0" err="1">
                        <a:solidFill>
                          <a:schemeClr val="accent5"/>
                        </a:solidFill>
                        <a:cs typeface="+mn-ea"/>
                        <a:sym typeface="+mn-lt"/>
                      </a:rPr>
                      <a:t>NVLink</a:t>
                    </a:r>
                    <a:endParaRPr kumimoji="1" lang="en-US" altLang="zh-CN" sz="1400" dirty="0">
                      <a:solidFill>
                        <a:schemeClr val="accent5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3483" name="椭圆 3482">
                  <a:extLst>
                    <a:ext uri="{FF2B5EF4-FFF2-40B4-BE49-F238E27FC236}">
                      <a16:creationId xmlns:a16="http://schemas.microsoft.com/office/drawing/2014/main" id="{DAF172DA-3AFD-74E3-8FC2-471F981BB256}"/>
                    </a:ext>
                  </a:extLst>
                </p:cNvPr>
                <p:cNvSpPr/>
                <p:nvPr/>
              </p:nvSpPr>
              <p:spPr>
                <a:xfrm>
                  <a:off x="2455467" y="3717568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  <p:sp>
              <p:nvSpPr>
                <p:cNvPr id="3484" name="椭圆 3483">
                  <a:extLst>
                    <a:ext uri="{FF2B5EF4-FFF2-40B4-BE49-F238E27FC236}">
                      <a16:creationId xmlns:a16="http://schemas.microsoft.com/office/drawing/2014/main" id="{625586D0-527A-E620-5603-C93E82C99949}"/>
                    </a:ext>
                  </a:extLst>
                </p:cNvPr>
                <p:cNvSpPr/>
                <p:nvPr/>
              </p:nvSpPr>
              <p:spPr>
                <a:xfrm>
                  <a:off x="2455466" y="3232072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</p:grpSp>
          <p:cxnSp>
            <p:nvCxnSpPr>
              <p:cNvPr id="3478" name="直接连接符 3477">
                <a:extLst>
                  <a:ext uri="{FF2B5EF4-FFF2-40B4-BE49-F238E27FC236}">
                    <a16:creationId xmlns:a16="http://schemas.microsoft.com/office/drawing/2014/main" id="{F4535F0F-272E-EB9F-F316-D1600905082A}"/>
                  </a:ext>
                </a:extLst>
              </p:cNvPr>
              <p:cNvCxnSpPr>
                <a:cxnSpLocks/>
                <a:stCxn id="3488" idx="3"/>
                <a:endCxn id="3483" idx="2"/>
              </p:cNvCxnSpPr>
              <p:nvPr/>
            </p:nvCxnSpPr>
            <p:spPr>
              <a:xfrm>
                <a:off x="7586724" y="5462877"/>
                <a:ext cx="289048" cy="45966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79" name="直接连接符 3478">
                <a:extLst>
                  <a:ext uri="{FF2B5EF4-FFF2-40B4-BE49-F238E27FC236}">
                    <a16:creationId xmlns:a16="http://schemas.microsoft.com/office/drawing/2014/main" id="{3CD2625B-4377-5C13-8D4B-50D3BF016E34}"/>
                  </a:ext>
                </a:extLst>
              </p:cNvPr>
              <p:cNvCxnSpPr>
                <a:cxnSpLocks/>
                <a:stCxn id="3489" idx="3"/>
                <a:endCxn id="3483" idx="2"/>
              </p:cNvCxnSpPr>
              <p:nvPr/>
            </p:nvCxnSpPr>
            <p:spPr>
              <a:xfrm>
                <a:off x="7586724" y="5128864"/>
                <a:ext cx="289048" cy="379979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0" name="直接连接符 3479">
                <a:extLst>
                  <a:ext uri="{FF2B5EF4-FFF2-40B4-BE49-F238E27FC236}">
                    <a16:creationId xmlns:a16="http://schemas.microsoft.com/office/drawing/2014/main" id="{67C42228-EDFD-54E7-D8D2-E6902615D528}"/>
                  </a:ext>
                </a:extLst>
              </p:cNvPr>
              <p:cNvCxnSpPr>
                <a:cxnSpLocks/>
                <a:stCxn id="3488" idx="3"/>
                <a:endCxn id="3484" idx="2"/>
              </p:cNvCxnSpPr>
              <p:nvPr/>
            </p:nvCxnSpPr>
            <p:spPr>
              <a:xfrm flipV="1">
                <a:off x="7586724" y="5023347"/>
                <a:ext cx="289047" cy="439530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1" name="直接连接符 3480">
                <a:extLst>
                  <a:ext uri="{FF2B5EF4-FFF2-40B4-BE49-F238E27FC236}">
                    <a16:creationId xmlns:a16="http://schemas.microsoft.com/office/drawing/2014/main" id="{6296F15B-6101-6C3A-5C28-9E8C894348A4}"/>
                  </a:ext>
                </a:extLst>
              </p:cNvPr>
              <p:cNvCxnSpPr>
                <a:cxnSpLocks/>
                <a:stCxn id="3489" idx="3"/>
                <a:endCxn id="3484" idx="2"/>
              </p:cNvCxnSpPr>
              <p:nvPr/>
            </p:nvCxnSpPr>
            <p:spPr>
              <a:xfrm flipV="1">
                <a:off x="7586724" y="5023347"/>
                <a:ext cx="289047" cy="105517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71" name="椭圆 3470">
              <a:extLst>
                <a:ext uri="{FF2B5EF4-FFF2-40B4-BE49-F238E27FC236}">
                  <a16:creationId xmlns:a16="http://schemas.microsoft.com/office/drawing/2014/main" id="{DD60FAA0-2FFC-3607-C70F-2D25DF6CA719}"/>
                </a:ext>
              </a:extLst>
            </p:cNvPr>
            <p:cNvSpPr/>
            <p:nvPr/>
          </p:nvSpPr>
          <p:spPr>
            <a:xfrm>
              <a:off x="10731277" y="2989367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grpSp>
        <p:nvGrpSpPr>
          <p:cNvPr id="3092" name="组合 3091">
            <a:extLst>
              <a:ext uri="{FF2B5EF4-FFF2-40B4-BE49-F238E27FC236}">
                <a16:creationId xmlns:a16="http://schemas.microsoft.com/office/drawing/2014/main" id="{B551C8D1-7088-EA17-5591-785D4A6BB140}"/>
              </a:ext>
            </a:extLst>
          </p:cNvPr>
          <p:cNvGrpSpPr/>
          <p:nvPr/>
        </p:nvGrpSpPr>
        <p:grpSpPr>
          <a:xfrm>
            <a:off x="9470744" y="4010471"/>
            <a:ext cx="1588079" cy="1089889"/>
            <a:chOff x="9470744" y="3681356"/>
            <a:chExt cx="1588079" cy="1089889"/>
          </a:xfrm>
        </p:grpSpPr>
        <p:grpSp>
          <p:nvGrpSpPr>
            <p:cNvPr id="3490" name="组合 3489">
              <a:extLst>
                <a:ext uri="{FF2B5EF4-FFF2-40B4-BE49-F238E27FC236}">
                  <a16:creationId xmlns:a16="http://schemas.microsoft.com/office/drawing/2014/main" id="{D3CDF684-13B3-72CC-FCF2-B5F2108AA0C4}"/>
                </a:ext>
              </a:extLst>
            </p:cNvPr>
            <p:cNvGrpSpPr/>
            <p:nvPr/>
          </p:nvGrpSpPr>
          <p:grpSpPr>
            <a:xfrm>
              <a:off x="9470744" y="3681356"/>
              <a:ext cx="1588079" cy="1089889"/>
              <a:chOff x="6616348" y="4646527"/>
              <a:chExt cx="1588079" cy="1089889"/>
            </a:xfrm>
          </p:grpSpPr>
          <p:grpSp>
            <p:nvGrpSpPr>
              <p:cNvPr id="3491" name="组合 3490">
                <a:extLst>
                  <a:ext uri="{FF2B5EF4-FFF2-40B4-BE49-F238E27FC236}">
                    <a16:creationId xmlns:a16="http://schemas.microsoft.com/office/drawing/2014/main" id="{5519C2D0-D30C-4FAA-59A1-DE07A341C930}"/>
                  </a:ext>
                </a:extLst>
              </p:cNvPr>
              <p:cNvGrpSpPr/>
              <p:nvPr/>
            </p:nvGrpSpPr>
            <p:grpSpPr>
              <a:xfrm>
                <a:off x="6616348" y="4646527"/>
                <a:ext cx="1588079" cy="1089889"/>
                <a:chOff x="2573606" y="2472321"/>
                <a:chExt cx="1580596" cy="1084754"/>
              </a:xfrm>
            </p:grpSpPr>
            <p:sp>
              <p:nvSpPr>
                <p:cNvPr id="3503" name="矩形: 圆角 3502">
                  <a:extLst>
                    <a:ext uri="{FF2B5EF4-FFF2-40B4-BE49-F238E27FC236}">
                      <a16:creationId xmlns:a16="http://schemas.microsoft.com/office/drawing/2014/main" id="{ABEE0D30-1F1A-D365-B07C-D8F5BD67C3BE}"/>
                    </a:ext>
                  </a:extLst>
                </p:cNvPr>
                <p:cNvSpPr/>
                <p:nvPr/>
              </p:nvSpPr>
              <p:spPr>
                <a:xfrm>
                  <a:off x="2573606" y="2472321"/>
                  <a:ext cx="1580596" cy="1084754"/>
                </a:xfrm>
                <a:prstGeom prst="roundRect">
                  <a:avLst>
                    <a:gd name="adj" fmla="val 10158"/>
                  </a:avLst>
                </a:prstGeom>
                <a:noFill/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  <a:sym typeface="+mn-lt"/>
                  </a:endParaRPr>
                </a:p>
              </p:txBody>
            </p:sp>
            <p:sp>
              <p:nvSpPr>
                <p:cNvPr id="3507" name="矩形: 圆角 3506">
                  <a:extLst>
                    <a:ext uri="{FF2B5EF4-FFF2-40B4-BE49-F238E27FC236}">
                      <a16:creationId xmlns:a16="http://schemas.microsoft.com/office/drawing/2014/main" id="{10130EC9-5E74-D7C0-260C-DB8B9F4682E8}"/>
                    </a:ext>
                  </a:extLst>
                </p:cNvPr>
                <p:cNvSpPr/>
                <p:nvPr/>
              </p:nvSpPr>
              <p:spPr>
                <a:xfrm>
                  <a:off x="2773429" y="3176554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509" name="矩形: 圆角 3508">
                  <a:extLst>
                    <a:ext uri="{FF2B5EF4-FFF2-40B4-BE49-F238E27FC236}">
                      <a16:creationId xmlns:a16="http://schemas.microsoft.com/office/drawing/2014/main" id="{AC446673-1082-C15B-9C1D-50B3101FF03A}"/>
                    </a:ext>
                  </a:extLst>
                </p:cNvPr>
                <p:cNvSpPr/>
                <p:nvPr/>
              </p:nvSpPr>
              <p:spPr>
                <a:xfrm>
                  <a:off x="2773429" y="2844115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492" name="组合 3491">
                <a:extLst>
                  <a:ext uri="{FF2B5EF4-FFF2-40B4-BE49-F238E27FC236}">
                    <a16:creationId xmlns:a16="http://schemas.microsoft.com/office/drawing/2014/main" id="{AB362256-262D-A0A6-3EE6-52B99D66B06A}"/>
                  </a:ext>
                </a:extLst>
              </p:cNvPr>
              <p:cNvGrpSpPr/>
              <p:nvPr/>
            </p:nvGrpSpPr>
            <p:grpSpPr>
              <a:xfrm>
                <a:off x="7051474" y="4681821"/>
                <a:ext cx="978034" cy="999716"/>
                <a:chOff x="1631169" y="2936792"/>
                <a:chExt cx="978034" cy="999716"/>
              </a:xfrm>
            </p:grpSpPr>
            <p:grpSp>
              <p:nvGrpSpPr>
                <p:cNvPr id="3498" name="组合 3497">
                  <a:extLst>
                    <a:ext uri="{FF2B5EF4-FFF2-40B4-BE49-F238E27FC236}">
                      <a16:creationId xmlns:a16="http://schemas.microsoft.com/office/drawing/2014/main" id="{EC55BE38-A859-9B5C-A99E-6C8BA5685ABB}"/>
                    </a:ext>
                  </a:extLst>
                </p:cNvPr>
                <p:cNvGrpSpPr/>
                <p:nvPr/>
              </p:nvGrpSpPr>
              <p:grpSpPr>
                <a:xfrm>
                  <a:off x="1631169" y="2936792"/>
                  <a:ext cx="978034" cy="999716"/>
                  <a:chOff x="1764426" y="3171915"/>
                  <a:chExt cx="1256271" cy="1284122"/>
                </a:xfrm>
              </p:grpSpPr>
              <p:sp>
                <p:nvSpPr>
                  <p:cNvPr id="3501" name="矩形: 圆角 3500">
                    <a:extLst>
                      <a:ext uri="{FF2B5EF4-FFF2-40B4-BE49-F238E27FC236}">
                        <a16:creationId xmlns:a16="http://schemas.microsoft.com/office/drawing/2014/main" id="{EE7C1BCA-F5DE-6EAA-9469-08BDF0DFBA5F}"/>
                      </a:ext>
                    </a:extLst>
                  </p:cNvPr>
                  <p:cNvSpPr/>
                  <p:nvPr/>
                </p:nvSpPr>
                <p:spPr>
                  <a:xfrm>
                    <a:off x="2840583" y="3385373"/>
                    <a:ext cx="86614" cy="1070664"/>
                  </a:xfrm>
                  <a:prstGeom prst="roundRect">
                    <a:avLst/>
                  </a:prstGeom>
                  <a:solidFill>
                    <a:schemeClr val="accent5"/>
                  </a:solidFill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600" dirty="0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02" name="文本框 3501">
                    <a:extLst>
                      <a:ext uri="{FF2B5EF4-FFF2-40B4-BE49-F238E27FC236}">
                        <a16:creationId xmlns:a16="http://schemas.microsoft.com/office/drawing/2014/main" id="{E1A00E15-8882-FC75-C156-7DE4FE801D9E}"/>
                      </a:ext>
                    </a:extLst>
                  </p:cNvPr>
                  <p:cNvSpPr txBox="1"/>
                  <p:nvPr/>
                </p:nvSpPr>
                <p:spPr>
                  <a:xfrm>
                    <a:off x="1764426" y="3171915"/>
                    <a:ext cx="1256271" cy="328256"/>
                  </a:xfrm>
                  <a:prstGeom prst="rect">
                    <a:avLst/>
                  </a:prstGeom>
                  <a:ln w="6350">
                    <a:noFill/>
                    <a:miter lim="800000"/>
                  </a:ln>
                </p:spPr>
                <p:txBody>
                  <a:bodyPr vert="horz" wrap="square" lIns="0" tIns="0" rIns="0" bIns="0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kumimoji="1" lang="en-US" altLang="zh-CN" sz="1400" dirty="0" err="1">
                        <a:solidFill>
                          <a:schemeClr val="accent5"/>
                        </a:solidFill>
                        <a:cs typeface="+mn-ea"/>
                        <a:sym typeface="+mn-lt"/>
                      </a:rPr>
                      <a:t>NVLink</a:t>
                    </a:r>
                    <a:endParaRPr kumimoji="1" lang="en-US" altLang="zh-CN" sz="1400" dirty="0">
                      <a:solidFill>
                        <a:schemeClr val="accent5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3499" name="椭圆 3498">
                  <a:extLst>
                    <a:ext uri="{FF2B5EF4-FFF2-40B4-BE49-F238E27FC236}">
                      <a16:creationId xmlns:a16="http://schemas.microsoft.com/office/drawing/2014/main" id="{127D37CC-7C21-2349-F234-3552526C7274}"/>
                    </a:ext>
                  </a:extLst>
                </p:cNvPr>
                <p:cNvSpPr/>
                <p:nvPr/>
              </p:nvSpPr>
              <p:spPr>
                <a:xfrm>
                  <a:off x="2455467" y="3717568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  <p:sp>
              <p:nvSpPr>
                <p:cNvPr id="3500" name="椭圆 3499">
                  <a:extLst>
                    <a:ext uri="{FF2B5EF4-FFF2-40B4-BE49-F238E27FC236}">
                      <a16:creationId xmlns:a16="http://schemas.microsoft.com/office/drawing/2014/main" id="{48761E0C-94EB-3B01-AE40-AE3011AF5A1B}"/>
                    </a:ext>
                  </a:extLst>
                </p:cNvPr>
                <p:cNvSpPr/>
                <p:nvPr/>
              </p:nvSpPr>
              <p:spPr>
                <a:xfrm>
                  <a:off x="2455466" y="3232072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</p:grpSp>
          <p:cxnSp>
            <p:nvCxnSpPr>
              <p:cNvPr id="3493" name="直接连接符 3492">
                <a:extLst>
                  <a:ext uri="{FF2B5EF4-FFF2-40B4-BE49-F238E27FC236}">
                    <a16:creationId xmlns:a16="http://schemas.microsoft.com/office/drawing/2014/main" id="{FF7762E2-A283-96C3-DF4D-8646C66B8B07}"/>
                  </a:ext>
                </a:extLst>
              </p:cNvPr>
              <p:cNvCxnSpPr>
                <a:cxnSpLocks/>
                <a:stCxn id="3507" idx="3"/>
                <a:endCxn id="3499" idx="2"/>
              </p:cNvCxnSpPr>
              <p:nvPr/>
            </p:nvCxnSpPr>
            <p:spPr>
              <a:xfrm>
                <a:off x="7586724" y="5462877"/>
                <a:ext cx="289048" cy="45966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4" name="直接连接符 3493">
                <a:extLst>
                  <a:ext uri="{FF2B5EF4-FFF2-40B4-BE49-F238E27FC236}">
                    <a16:creationId xmlns:a16="http://schemas.microsoft.com/office/drawing/2014/main" id="{1D5C805B-FAEB-B6F0-BF50-5AFFEF0D0675}"/>
                  </a:ext>
                </a:extLst>
              </p:cNvPr>
              <p:cNvCxnSpPr>
                <a:cxnSpLocks/>
                <a:stCxn id="3509" idx="3"/>
                <a:endCxn id="3499" idx="2"/>
              </p:cNvCxnSpPr>
              <p:nvPr/>
            </p:nvCxnSpPr>
            <p:spPr>
              <a:xfrm>
                <a:off x="7586724" y="5128864"/>
                <a:ext cx="289048" cy="379979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5" name="直接连接符 3494">
                <a:extLst>
                  <a:ext uri="{FF2B5EF4-FFF2-40B4-BE49-F238E27FC236}">
                    <a16:creationId xmlns:a16="http://schemas.microsoft.com/office/drawing/2014/main" id="{F6611276-8E09-2551-EF01-0382E8B00EEA}"/>
                  </a:ext>
                </a:extLst>
              </p:cNvPr>
              <p:cNvCxnSpPr>
                <a:cxnSpLocks/>
                <a:stCxn id="3507" idx="3"/>
                <a:endCxn id="3500" idx="2"/>
              </p:cNvCxnSpPr>
              <p:nvPr/>
            </p:nvCxnSpPr>
            <p:spPr>
              <a:xfrm flipV="1">
                <a:off x="7586724" y="5023347"/>
                <a:ext cx="289047" cy="439530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6" name="直接连接符 3495">
                <a:extLst>
                  <a:ext uri="{FF2B5EF4-FFF2-40B4-BE49-F238E27FC236}">
                    <a16:creationId xmlns:a16="http://schemas.microsoft.com/office/drawing/2014/main" id="{B50BCF7C-0F6A-1369-F0C0-D51FA490A9C0}"/>
                  </a:ext>
                </a:extLst>
              </p:cNvPr>
              <p:cNvCxnSpPr>
                <a:cxnSpLocks/>
                <a:stCxn id="3509" idx="3"/>
                <a:endCxn id="3500" idx="2"/>
              </p:cNvCxnSpPr>
              <p:nvPr/>
            </p:nvCxnSpPr>
            <p:spPr>
              <a:xfrm flipV="1">
                <a:off x="7586724" y="5023347"/>
                <a:ext cx="289047" cy="105517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10" name="椭圆 3509">
              <a:extLst>
                <a:ext uri="{FF2B5EF4-FFF2-40B4-BE49-F238E27FC236}">
                  <a16:creationId xmlns:a16="http://schemas.microsoft.com/office/drawing/2014/main" id="{39A6A9F3-D4A6-94A0-375A-DEA75A340B9F}"/>
                </a:ext>
              </a:extLst>
            </p:cNvPr>
            <p:cNvSpPr/>
            <p:nvPr/>
          </p:nvSpPr>
          <p:spPr>
            <a:xfrm>
              <a:off x="10731277" y="4268361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sp>
        <p:nvSpPr>
          <p:cNvPr id="3512" name="文本框 3511">
            <a:extLst>
              <a:ext uri="{FF2B5EF4-FFF2-40B4-BE49-F238E27FC236}">
                <a16:creationId xmlns:a16="http://schemas.microsoft.com/office/drawing/2014/main" id="{21D4E1C6-A7AD-0B1B-3DA7-3603D84666F2}"/>
              </a:ext>
            </a:extLst>
          </p:cNvPr>
          <p:cNvSpPr txBox="1"/>
          <p:nvPr/>
        </p:nvSpPr>
        <p:spPr>
          <a:xfrm rot="5400000">
            <a:off x="11187136" y="3800983"/>
            <a:ext cx="97803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accent5"/>
                </a:solidFill>
                <a:cs typeface="+mn-ea"/>
                <a:sym typeface="+mn-lt"/>
              </a:rPr>
              <a:t>CPO Switch</a:t>
            </a:r>
          </a:p>
        </p:txBody>
      </p:sp>
      <p:grpSp>
        <p:nvGrpSpPr>
          <p:cNvPr id="3078" name="组合 3077">
            <a:extLst>
              <a:ext uri="{FF2B5EF4-FFF2-40B4-BE49-F238E27FC236}">
                <a16:creationId xmlns:a16="http://schemas.microsoft.com/office/drawing/2014/main" id="{55CDC5CC-EB14-38DB-D29A-6C909D1C4E36}"/>
              </a:ext>
            </a:extLst>
          </p:cNvPr>
          <p:cNvGrpSpPr/>
          <p:nvPr/>
        </p:nvGrpSpPr>
        <p:grpSpPr>
          <a:xfrm>
            <a:off x="11293879" y="3557482"/>
            <a:ext cx="93877" cy="833534"/>
            <a:chOff x="11556461" y="3241372"/>
            <a:chExt cx="93877" cy="833534"/>
          </a:xfrm>
        </p:grpSpPr>
        <p:sp>
          <p:nvSpPr>
            <p:cNvPr id="3511" name="矩形: 圆角 3510">
              <a:extLst>
                <a:ext uri="{FF2B5EF4-FFF2-40B4-BE49-F238E27FC236}">
                  <a16:creationId xmlns:a16="http://schemas.microsoft.com/office/drawing/2014/main" id="{EDBBC228-752E-ECEB-B395-B84A2961D72F}"/>
                </a:ext>
              </a:extLst>
            </p:cNvPr>
            <p:cNvSpPr/>
            <p:nvPr/>
          </p:nvSpPr>
          <p:spPr>
            <a:xfrm rot="10800000">
              <a:off x="11568992" y="3241372"/>
              <a:ext cx="67431" cy="833534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cs typeface="+mn-ea"/>
                <a:sym typeface="+mn-lt"/>
              </a:endParaRPr>
            </a:p>
          </p:txBody>
        </p:sp>
        <p:sp>
          <p:nvSpPr>
            <p:cNvPr id="3513" name="椭圆 3512">
              <a:extLst>
                <a:ext uri="{FF2B5EF4-FFF2-40B4-BE49-F238E27FC236}">
                  <a16:creationId xmlns:a16="http://schemas.microsoft.com/office/drawing/2014/main" id="{F68758A1-EE41-C2FC-C77B-2ACA85279F2F}"/>
                </a:ext>
              </a:extLst>
            </p:cNvPr>
            <p:cNvSpPr/>
            <p:nvPr/>
          </p:nvSpPr>
          <p:spPr>
            <a:xfrm>
              <a:off x="11557847" y="3459733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514" name="椭圆 3513">
              <a:extLst>
                <a:ext uri="{FF2B5EF4-FFF2-40B4-BE49-F238E27FC236}">
                  <a16:creationId xmlns:a16="http://schemas.microsoft.com/office/drawing/2014/main" id="{BC54A4FD-0FE7-F700-06CE-B3AD24A7090B}"/>
                </a:ext>
              </a:extLst>
            </p:cNvPr>
            <p:cNvSpPr/>
            <p:nvPr/>
          </p:nvSpPr>
          <p:spPr>
            <a:xfrm>
              <a:off x="11556461" y="3762794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516" name="连接符: 肘形 3515">
            <a:extLst>
              <a:ext uri="{FF2B5EF4-FFF2-40B4-BE49-F238E27FC236}">
                <a16:creationId xmlns:a16="http://schemas.microsoft.com/office/drawing/2014/main" id="{4E796503-7735-7FCD-3914-0A0953BCFF90}"/>
              </a:ext>
            </a:extLst>
          </p:cNvPr>
          <p:cNvCxnSpPr>
            <a:cxnSpLocks/>
            <a:stCxn id="3471" idx="6"/>
            <a:endCxn id="3513" idx="2"/>
          </p:cNvCxnSpPr>
          <p:nvPr/>
        </p:nvCxnSpPr>
        <p:spPr>
          <a:xfrm>
            <a:off x="10823075" y="3279613"/>
            <a:ext cx="472190" cy="542476"/>
          </a:xfrm>
          <a:prstGeom prst="bentConnector3">
            <a:avLst>
              <a:gd name="adj1" fmla="val 71517"/>
            </a:avLst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9" name="连接符: 肘形 3518">
            <a:extLst>
              <a:ext uri="{FF2B5EF4-FFF2-40B4-BE49-F238E27FC236}">
                <a16:creationId xmlns:a16="http://schemas.microsoft.com/office/drawing/2014/main" id="{516761EB-0393-E5FA-8357-B7741A7B37D5}"/>
              </a:ext>
            </a:extLst>
          </p:cNvPr>
          <p:cNvCxnSpPr>
            <a:cxnSpLocks/>
            <a:stCxn id="3510" idx="6"/>
            <a:endCxn id="3514" idx="2"/>
          </p:cNvCxnSpPr>
          <p:nvPr/>
        </p:nvCxnSpPr>
        <p:spPr>
          <a:xfrm flipV="1">
            <a:off x="10823768" y="4125150"/>
            <a:ext cx="470111" cy="518572"/>
          </a:xfrm>
          <a:prstGeom prst="bentConnector3">
            <a:avLst>
              <a:gd name="adj1" fmla="val 71612"/>
            </a:avLst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86" name="图片 3085" descr="图形用户界面&#10;&#10;AI 生成的内容可能不正确。">
            <a:extLst>
              <a:ext uri="{FF2B5EF4-FFF2-40B4-BE49-F238E27FC236}">
                <a16:creationId xmlns:a16="http://schemas.microsoft.com/office/drawing/2014/main" id="{AB869D2F-8EA5-F1E7-E09D-7FFE5491EFB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209" b="95159" l="78" r="94264">
                        <a14:foregroundMark x1="7674" y1="38961" x2="7132" y2="60567"/>
                        <a14:foregroundMark x1="4651" y1="39551" x2="4419" y2="59976"/>
                        <a14:foregroundMark x1="155" y1="65525" x2="5194" y2="63636"/>
                        <a14:foregroundMark x1="10672" y1="85600" x2="10698" y2="86423"/>
                        <a14:foregroundMark x1="10620" y1="83943" x2="10672" y2="85600"/>
                        <a14:foregroundMark x1="543" y1="87249" x2="543" y2="87249"/>
                        <a14:foregroundMark x1="155" y1="86659" x2="155" y2="87013"/>
                        <a14:foregroundMark x1="9443" y1="84531" x2="9922" y2="84416"/>
                        <a14:foregroundMark x1="31842" y1="90916" x2="33876" y2="91972"/>
                        <a14:foregroundMark x1="20465" y1="85006" x2="27617" y2="88721"/>
                        <a14:foregroundMark x1="33876" y1="91972" x2="41628" y2="90083"/>
                        <a14:foregroundMark x1="41628" y1="90083" x2="42558" y2="89374"/>
                        <a14:foregroundMark x1="27545" y1="88521" x2="24806" y2="88076"/>
                        <a14:foregroundMark x1="32791" y1="89374" x2="31197" y2="89115"/>
                        <a14:foregroundMark x1="24806" y1="88076" x2="22713" y2="84179"/>
                        <a14:foregroundMark x1="16405" y1="89333" x2="16434" y2="89965"/>
                        <a14:foregroundMark x1="16345" y1="88000" x2="16405" y2="89333"/>
                        <a14:foregroundMark x1="16279" y1="86541" x2="16345" y2="88000"/>
                        <a14:foregroundMark x1="12359" y1="83476" x2="15426" y2="82999"/>
                        <a14:foregroundMark x1="11628" y1="83589" x2="11901" y2="83547"/>
                        <a14:foregroundMark x1="47236" y1="80829" x2="50000" y2="85596"/>
                        <a14:foregroundMark x1="43566" y1="74498" x2="44825" y2="76670"/>
                        <a14:foregroundMark x1="51850" y1="79309" x2="52326" y2="80047"/>
                        <a14:foregroundMark x1="48140" y1="73554" x2="48592" y2="74255"/>
                        <a14:foregroundMark x1="90465" y1="65171" x2="88140" y2="72609"/>
                        <a14:foregroundMark x1="88140" y1="72609" x2="86899" y2="73436"/>
                        <a14:foregroundMark x1="59073" y1="70145" x2="58450" y2="68713"/>
                        <a14:foregroundMark x1="62403" y1="77804" x2="61257" y2="75169"/>
                        <a14:foregroundMark x1="66822" y1="80992" x2="66822" y2="82645"/>
                        <a14:foregroundMark x1="77519" y1="78512" x2="77519" y2="78512"/>
                        <a14:foregroundMark x1="89767" y1="74498" x2="89767" y2="74498"/>
                        <a14:foregroundMark x1="94341" y1="70366" x2="94341" y2="70366"/>
                        <a14:foregroundMark x1="38915" y1="92326" x2="38915" y2="92326"/>
                        <a14:foregroundMark x1="32093" y1="95159" x2="32093" y2="95159"/>
                        <a14:foregroundMark x1="48527" y1="89256" x2="48527" y2="89256"/>
                        <a14:foregroundMark x1="38527" y1="93388" x2="38527" y2="93388"/>
                        <a14:foregroundMark x1="22248" y1="92562" x2="22248" y2="92562"/>
                        <a14:foregroundMark x1="5604" y1="84267" x2="350" y2="85067"/>
                        <a14:foregroundMark x1="51138" y1="74133" x2="51138" y2="74133"/>
                        <a14:foregroundMark x1="59194" y1="72533" x2="59194" y2="72533"/>
                        <a14:foregroundMark x1="45884" y1="78933" x2="45884" y2="78933"/>
                        <a14:backgroundMark x1="30078" y1="63518" x2="32713" y2="70366"/>
                        <a14:backgroundMark x1="24651" y1="56553" x2="29922" y2="63754"/>
                        <a14:backgroundMark x1="29922" y1="63754" x2="30078" y2="64227"/>
                        <a14:backgroundMark x1="28062" y1="89020" x2="30000" y2="89256"/>
                        <a14:backgroundMark x1="34186" y1="87249" x2="34031" y2="86068"/>
                        <a14:backgroundMark x1="31163" y1="89020" x2="27132" y2="87367"/>
                        <a14:backgroundMark x1="47013" y1="78933" x2="47752" y2="80283"/>
                        <a14:backgroundMark x1="45426" y1="76033" x2="47013" y2="78933"/>
                        <a14:backgroundMark x1="49799" y1="78933" x2="50155" y2="79457"/>
                        <a14:backgroundMark x1="47829" y1="76033" x2="49799" y2="78933"/>
                        <a14:backgroundMark x1="51318" y1="75443" x2="52713" y2="78512"/>
                        <a14:backgroundMark x1="48372" y1="74498" x2="50775" y2="78630"/>
                        <a14:backgroundMark x1="9380" y1="68241" x2="9767" y2="72019"/>
                        <a14:backgroundMark x1="52014" y1="80800" x2="52014" y2="80800"/>
                        <a14:backgroundMark x1="60595" y1="73867" x2="60595" y2="73867"/>
                        <a14:backgroundMark x1="61296" y1="74400" x2="61296" y2="74400"/>
                        <a14:backgroundMark x1="59720" y1="72267" x2="59720" y2="72267"/>
                        <a14:backgroundMark x1="60058" y1="72533" x2="61646" y2="74667"/>
                        <a14:backgroundMark x1="58669" y1="70667" x2="60058" y2="72533"/>
                        <a14:backgroundMark x1="9282" y1="85600" x2="9282" y2="85600"/>
                        <a14:backgroundMark x1="9807" y1="85333" x2="7005" y2="85867"/>
                        <a14:backgroundMark x1="7180" y1="85600" x2="6236" y2="85682"/>
                        <a14:backgroundMark x1="9457" y1="85600" x2="9982" y2="85600"/>
                        <a14:backgroundMark x1="11559" y1="84533" x2="12084" y2="84267"/>
                        <a14:backgroundMark x1="16637" y1="89333" x2="16637" y2="89333"/>
                        <a14:backgroundMark x1="15762" y1="88000" x2="15762" y2="88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3382" y="4951044"/>
            <a:ext cx="2371347" cy="1557001"/>
          </a:xfrm>
          <a:prstGeom prst="rect">
            <a:avLst/>
          </a:prstGeom>
        </p:spPr>
      </p:pic>
      <p:sp>
        <p:nvSpPr>
          <p:cNvPr id="3087" name="文本框 3086">
            <a:extLst>
              <a:ext uri="{FF2B5EF4-FFF2-40B4-BE49-F238E27FC236}">
                <a16:creationId xmlns:a16="http://schemas.microsoft.com/office/drawing/2014/main" id="{F6E28845-37FF-8EC5-B366-64A323F417F9}"/>
              </a:ext>
            </a:extLst>
          </p:cNvPr>
          <p:cNvSpPr txBox="1"/>
          <p:nvPr/>
        </p:nvSpPr>
        <p:spPr>
          <a:xfrm>
            <a:off x="9205085" y="5432600"/>
            <a:ext cx="225404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</a:t>
            </a:r>
            <a:r>
              <a:rPr kumimoji="1" lang="en-US" altLang="zh-CN" sz="1400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SuperPod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NVL 576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089" name="文本框 3088">
            <a:extLst>
              <a:ext uri="{FF2B5EF4-FFF2-40B4-BE49-F238E27FC236}">
                <a16:creationId xmlns:a16="http://schemas.microsoft.com/office/drawing/2014/main" id="{7460BAC1-6691-7D84-177E-0F4F7CB50DDD}"/>
              </a:ext>
            </a:extLst>
          </p:cNvPr>
          <p:cNvSpPr txBox="1"/>
          <p:nvPr/>
        </p:nvSpPr>
        <p:spPr>
          <a:xfrm>
            <a:off x="9385847" y="5892321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NVL72 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8</a:t>
            </a:r>
          </a:p>
        </p:txBody>
      </p:sp>
      <p:sp>
        <p:nvSpPr>
          <p:cNvPr id="3090" name="文本框 3089">
            <a:extLst>
              <a:ext uri="{FF2B5EF4-FFF2-40B4-BE49-F238E27FC236}">
                <a16:creationId xmlns:a16="http://schemas.microsoft.com/office/drawing/2014/main" id="{E592F033-6F69-A940-A2A5-C49D8F7A1808}"/>
              </a:ext>
            </a:extLst>
          </p:cNvPr>
          <p:cNvSpPr txBox="1"/>
          <p:nvPr/>
        </p:nvSpPr>
        <p:spPr>
          <a:xfrm>
            <a:off x="298577" y="6399523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</a:t>
            </a:r>
          </a:p>
        </p:txBody>
      </p:sp>
    </p:spTree>
    <p:extLst>
      <p:ext uri="{BB962C8B-B14F-4D97-AF65-F5344CB8AC3E}">
        <p14:creationId xmlns:p14="http://schemas.microsoft.com/office/powerpoint/2010/main" val="947821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1E8A3-F513-E80A-2CF3-89F157D3B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3DC55812-9CB6-EA95-7068-A340A4C2A3F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309099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4" imgH="405" progId="TCLayout.ActiveDocument.1">
                  <p:embed/>
                </p:oleObj>
              </mc:Choice>
              <mc:Fallback>
                <p:oleObj name="think-cell 幻灯片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DC55812-9CB6-EA95-7068-A340A4C2A3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235A3A5E-53B1-BB1F-17FD-2FB400D90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49" y="172212"/>
            <a:ext cx="10890507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cs typeface="+mn-ea"/>
              </a:rPr>
              <a:t>​Overseas: Scale-out first; Domestic: Scale-up or scale-out undetermined 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AD3EC4C4-E0A3-D829-BC85-520DD664B0B9}"/>
              </a:ext>
            </a:extLst>
          </p:cNvPr>
          <p:cNvSpPr txBox="1"/>
          <p:nvPr/>
        </p:nvSpPr>
        <p:spPr>
          <a:xfrm>
            <a:off x="6396028" y="1601515"/>
            <a:ext cx="2433271" cy="2518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52" name="直线连接符 34">
            <a:extLst>
              <a:ext uri="{FF2B5EF4-FFF2-40B4-BE49-F238E27FC236}">
                <a16:creationId xmlns:a16="http://schemas.microsoft.com/office/drawing/2014/main" id="{856C6999-A57E-E9F1-705B-8AC9D023EC18}"/>
              </a:ext>
            </a:extLst>
          </p:cNvPr>
          <p:cNvCxnSpPr>
            <a:cxnSpLocks/>
          </p:cNvCxnSpPr>
          <p:nvPr/>
        </p:nvCxnSpPr>
        <p:spPr>
          <a:xfrm>
            <a:off x="992938" y="1530538"/>
            <a:ext cx="485249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83A8A535-9407-885E-6F71-00F9C228C4C7}"/>
              </a:ext>
            </a:extLst>
          </p:cNvPr>
          <p:cNvSpPr txBox="1"/>
          <p:nvPr/>
        </p:nvSpPr>
        <p:spPr>
          <a:xfrm>
            <a:off x="1063976" y="1133596"/>
            <a:ext cx="4154305" cy="2236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Overseas: Scale-out first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6DD5760-DDC4-F7FD-057C-6D69C8782304}"/>
              </a:ext>
            </a:extLst>
          </p:cNvPr>
          <p:cNvSpPr txBox="1"/>
          <p:nvPr/>
        </p:nvSpPr>
        <p:spPr>
          <a:xfrm>
            <a:off x="6323300" y="1133596"/>
            <a:ext cx="4154305" cy="2236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Domestic: Priority undetermined</a:t>
            </a:r>
          </a:p>
        </p:txBody>
      </p:sp>
      <p:sp>
        <p:nvSpPr>
          <p:cNvPr id="13" name="iconfont-1043-169336">
            <a:extLst>
              <a:ext uri="{FF2B5EF4-FFF2-40B4-BE49-F238E27FC236}">
                <a16:creationId xmlns:a16="http://schemas.microsoft.com/office/drawing/2014/main" id="{8757D3CF-95B9-3335-5960-EBA31BB9CE49}"/>
              </a:ext>
            </a:extLst>
          </p:cNvPr>
          <p:cNvSpPr/>
          <p:nvPr/>
        </p:nvSpPr>
        <p:spPr>
          <a:xfrm>
            <a:off x="1052862" y="1943313"/>
            <a:ext cx="341255" cy="340531"/>
          </a:xfrm>
          <a:custGeom>
            <a:avLst/>
            <a:gdLst>
              <a:gd name="T0" fmla="*/ 12436 w 12765"/>
              <a:gd name="T1" fmla="*/ 0 h 12739"/>
              <a:gd name="T2" fmla="*/ 4469 w 12765"/>
              <a:gd name="T3" fmla="*/ 7970 h 12739"/>
              <a:gd name="T4" fmla="*/ 1369 w 12765"/>
              <a:gd name="T5" fmla="*/ 5163 h 12739"/>
              <a:gd name="T6" fmla="*/ 0 w 12765"/>
              <a:gd name="T7" fmla="*/ 6438 h 12739"/>
              <a:gd name="T8" fmla="*/ 5357 w 12765"/>
              <a:gd name="T9" fmla="*/ 12739 h 12739"/>
              <a:gd name="T10" fmla="*/ 12765 w 12765"/>
              <a:gd name="T11" fmla="*/ 877 h 12739"/>
              <a:gd name="T12" fmla="*/ 12436 w 12765"/>
              <a:gd name="T13" fmla="*/ 0 h 127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765" h="12739">
                <a:moveTo>
                  <a:pt x="12436" y="0"/>
                </a:moveTo>
                <a:cubicBezTo>
                  <a:pt x="8552" y="2754"/>
                  <a:pt x="5734" y="6228"/>
                  <a:pt x="4469" y="7970"/>
                </a:cubicBezTo>
                <a:lnTo>
                  <a:pt x="1369" y="5163"/>
                </a:lnTo>
                <a:lnTo>
                  <a:pt x="0" y="6438"/>
                </a:lnTo>
                <a:lnTo>
                  <a:pt x="5357" y="12739"/>
                </a:lnTo>
                <a:cubicBezTo>
                  <a:pt x="6278" y="10010"/>
                  <a:pt x="9199" y="4669"/>
                  <a:pt x="12765" y="877"/>
                </a:cubicBezTo>
                <a:lnTo>
                  <a:pt x="12436" y="0"/>
                </a:ln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iconfont-11592-5504295">
            <a:extLst>
              <a:ext uri="{FF2B5EF4-FFF2-40B4-BE49-F238E27FC236}">
                <a16:creationId xmlns:a16="http://schemas.microsoft.com/office/drawing/2014/main" id="{73FC5A1B-D36A-9924-2AFE-26EB8B1C5DC3}"/>
              </a:ext>
            </a:extLst>
          </p:cNvPr>
          <p:cNvSpPr/>
          <p:nvPr/>
        </p:nvSpPr>
        <p:spPr>
          <a:xfrm>
            <a:off x="6596292" y="1977240"/>
            <a:ext cx="274503" cy="274503"/>
          </a:xfrm>
          <a:custGeom>
            <a:avLst/>
            <a:gdLst>
              <a:gd name="T0" fmla="*/ 5928 w 11841"/>
              <a:gd name="T1" fmla="*/ 5174 h 11841"/>
              <a:gd name="T2" fmla="*/ 972 w 11841"/>
              <a:gd name="T3" fmla="*/ 218 h 11841"/>
              <a:gd name="T4" fmla="*/ 211 w 11841"/>
              <a:gd name="T5" fmla="*/ 211 h 11841"/>
              <a:gd name="T6" fmla="*/ 218 w 11841"/>
              <a:gd name="T7" fmla="*/ 972 h 11841"/>
              <a:gd name="T8" fmla="*/ 5174 w 11841"/>
              <a:gd name="T9" fmla="*/ 5928 h 11841"/>
              <a:gd name="T10" fmla="*/ 218 w 11841"/>
              <a:gd name="T11" fmla="*/ 10884 h 11841"/>
              <a:gd name="T12" fmla="*/ 224 w 11841"/>
              <a:gd name="T13" fmla="*/ 11632 h 11841"/>
              <a:gd name="T14" fmla="*/ 972 w 11841"/>
              <a:gd name="T15" fmla="*/ 11638 h 11841"/>
              <a:gd name="T16" fmla="*/ 5928 w 11841"/>
              <a:gd name="T17" fmla="*/ 6682 h 11841"/>
              <a:gd name="T18" fmla="*/ 10884 w 11841"/>
              <a:gd name="T19" fmla="*/ 11638 h 11841"/>
              <a:gd name="T20" fmla="*/ 11632 w 11841"/>
              <a:gd name="T21" fmla="*/ 11632 h 11841"/>
              <a:gd name="T22" fmla="*/ 11638 w 11841"/>
              <a:gd name="T23" fmla="*/ 10884 h 11841"/>
              <a:gd name="T24" fmla="*/ 6682 w 11841"/>
              <a:gd name="T25" fmla="*/ 5928 h 11841"/>
              <a:gd name="T26" fmla="*/ 11638 w 11841"/>
              <a:gd name="T27" fmla="*/ 972 h 11841"/>
              <a:gd name="T28" fmla="*/ 11632 w 11841"/>
              <a:gd name="T29" fmla="*/ 224 h 11841"/>
              <a:gd name="T30" fmla="*/ 10884 w 11841"/>
              <a:gd name="T31" fmla="*/ 218 h 11841"/>
              <a:gd name="T32" fmla="*/ 5928 w 11841"/>
              <a:gd name="T33" fmla="*/ 5174 h 118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1841" h="11841">
                <a:moveTo>
                  <a:pt x="5928" y="5174"/>
                </a:moveTo>
                <a:lnTo>
                  <a:pt x="972" y="218"/>
                </a:lnTo>
                <a:cubicBezTo>
                  <a:pt x="765" y="3"/>
                  <a:pt x="422" y="0"/>
                  <a:pt x="211" y="211"/>
                </a:cubicBezTo>
                <a:cubicBezTo>
                  <a:pt x="0" y="422"/>
                  <a:pt x="3" y="765"/>
                  <a:pt x="218" y="972"/>
                </a:cubicBezTo>
                <a:lnTo>
                  <a:pt x="5174" y="5928"/>
                </a:lnTo>
                <a:lnTo>
                  <a:pt x="218" y="10884"/>
                </a:lnTo>
                <a:cubicBezTo>
                  <a:pt x="15" y="11094"/>
                  <a:pt x="18" y="11426"/>
                  <a:pt x="224" y="11632"/>
                </a:cubicBezTo>
                <a:cubicBezTo>
                  <a:pt x="430" y="11838"/>
                  <a:pt x="762" y="11841"/>
                  <a:pt x="972" y="11638"/>
                </a:cubicBezTo>
                <a:lnTo>
                  <a:pt x="5928" y="6682"/>
                </a:lnTo>
                <a:lnTo>
                  <a:pt x="10884" y="11638"/>
                </a:lnTo>
                <a:cubicBezTo>
                  <a:pt x="11094" y="11841"/>
                  <a:pt x="11426" y="11838"/>
                  <a:pt x="11632" y="11632"/>
                </a:cubicBezTo>
                <a:cubicBezTo>
                  <a:pt x="11838" y="11426"/>
                  <a:pt x="11841" y="11094"/>
                  <a:pt x="11638" y="10884"/>
                </a:cubicBezTo>
                <a:lnTo>
                  <a:pt x="6682" y="5928"/>
                </a:lnTo>
                <a:lnTo>
                  <a:pt x="11638" y="972"/>
                </a:lnTo>
                <a:cubicBezTo>
                  <a:pt x="11841" y="762"/>
                  <a:pt x="11838" y="430"/>
                  <a:pt x="11632" y="224"/>
                </a:cubicBezTo>
                <a:cubicBezTo>
                  <a:pt x="11426" y="18"/>
                  <a:pt x="11094" y="15"/>
                  <a:pt x="10884" y="218"/>
                </a:cubicBezTo>
                <a:lnTo>
                  <a:pt x="5928" y="5174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D9CE70A2-F5EA-493D-7568-20FBF83A8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8622" y="1929707"/>
            <a:ext cx="33660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 process constraints.​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​ 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51F9A8B-F1FB-9C7C-E4C2-16DE3C42FDA4}"/>
              </a:ext>
            </a:extLst>
          </p:cNvPr>
          <p:cNvSpPr txBox="1"/>
          <p:nvPr/>
        </p:nvSpPr>
        <p:spPr>
          <a:xfrm>
            <a:off x="927574" y="2589844"/>
            <a:ext cx="141616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defRPr>
            </a:lvl1pPr>
          </a:lstStyle>
          <a:p>
            <a:r>
              <a:rPr lang="en-US" altLang="zh-CN" dirty="0">
                <a:latin typeface="+mn-lt"/>
              </a:rPr>
              <a:t>Strong in electronics</a:t>
            </a:r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F13A8519-64BB-8C23-9E38-BC2497BD6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5300" y="1914512"/>
            <a:ext cx="414783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14nm &amp; </a:t>
            </a:r>
            <a:r>
              <a:rPr lang="en-US" altLang="zh-CN" b="1" dirty="0"/>
              <a:t>chip </a:t>
            </a: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import ban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F3577D0-AB27-3230-1098-129EC4A3C5DE}"/>
              </a:ext>
            </a:extLst>
          </p:cNvPr>
          <p:cNvSpPr txBox="1"/>
          <p:nvPr/>
        </p:nvSpPr>
        <p:spPr>
          <a:xfrm>
            <a:off x="6517634" y="2589844"/>
            <a:ext cx="157198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defRPr>
            </a:lvl1pPr>
          </a:lstStyle>
          <a:p>
            <a:r>
              <a:rPr lang="en-US" altLang="zh-CN" dirty="0"/>
              <a:t>Weak in electronics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136EF2B-2878-A168-E54D-7FAF9FD498E8}"/>
              </a:ext>
            </a:extLst>
          </p:cNvPr>
          <p:cNvSpPr txBox="1"/>
          <p:nvPr/>
        </p:nvSpPr>
        <p:spPr>
          <a:xfrm>
            <a:off x="1495546" y="4257842"/>
            <a:ext cx="28600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Transmission reach matters;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Easier to commercialize.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307A929-2347-2DDF-A5F9-9B50E18519CC}"/>
              </a:ext>
            </a:extLst>
          </p:cNvPr>
          <p:cNvSpPr txBox="1"/>
          <p:nvPr/>
        </p:nvSpPr>
        <p:spPr>
          <a:xfrm>
            <a:off x="3899562" y="2620622"/>
            <a:ext cx="26045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>
                <a:solidFill>
                  <a:srgbClr val="0052D9"/>
                </a:solidFill>
                <a:effectLst/>
              </a:rPr>
              <a:t>&gt; 80%</a:t>
            </a:r>
          </a:p>
          <a:p>
            <a:r>
              <a:rPr lang="en-US" altLang="zh-CN" sz="1400" i="0" dirty="0">
                <a:effectLst/>
              </a:rPr>
              <a:t>Switch </a:t>
            </a:r>
            <a:r>
              <a:rPr lang="en-US" altLang="zh-CN" sz="1400" dirty="0"/>
              <a:t>/ high-rate DSP</a:t>
            </a:r>
            <a:endParaRPr lang="zh-CN" altLang="en-US" sz="1400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94F60CFD-2FE1-9F9B-60A7-F36F84D74E05}"/>
              </a:ext>
            </a:extLst>
          </p:cNvPr>
          <p:cNvSpPr txBox="1"/>
          <p:nvPr/>
        </p:nvSpPr>
        <p:spPr>
          <a:xfrm>
            <a:off x="246216" y="6287653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Changjiang Securities,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</a:rPr>
              <a:t>Centec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Communications IPO Prospectus,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</a:rPr>
              <a:t>Sitrus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Official Web Site.</a:t>
            </a:r>
          </a:p>
        </p:txBody>
      </p:sp>
      <p:sp>
        <p:nvSpPr>
          <p:cNvPr id="64" name="斜纹 63">
            <a:extLst>
              <a:ext uri="{FF2B5EF4-FFF2-40B4-BE49-F238E27FC236}">
                <a16:creationId xmlns:a16="http://schemas.microsoft.com/office/drawing/2014/main" id="{85360E8A-B9A9-AAE8-7EF8-99A9459067C8}"/>
              </a:ext>
            </a:extLst>
          </p:cNvPr>
          <p:cNvSpPr/>
          <p:nvPr/>
        </p:nvSpPr>
        <p:spPr>
          <a:xfrm rot="8052760">
            <a:off x="3560396" y="2752001"/>
            <a:ext cx="329220" cy="322016"/>
          </a:xfrm>
          <a:prstGeom prst="diagStripe">
            <a:avLst>
              <a:gd name="adj" fmla="val 67633"/>
            </a:avLst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6D67CD67-32B1-3FA7-2FA8-5A8D0D18208B}"/>
              </a:ext>
            </a:extLst>
          </p:cNvPr>
          <p:cNvGrpSpPr/>
          <p:nvPr/>
        </p:nvGrpSpPr>
        <p:grpSpPr>
          <a:xfrm>
            <a:off x="2357287" y="2591365"/>
            <a:ext cx="1193163" cy="643288"/>
            <a:chOff x="2412754" y="2586502"/>
            <a:chExt cx="1193163" cy="643288"/>
          </a:xfrm>
        </p:grpSpPr>
        <p:pic>
          <p:nvPicPr>
            <p:cNvPr id="44" name="图片 43">
              <a:extLst>
                <a:ext uri="{FF2B5EF4-FFF2-40B4-BE49-F238E27FC236}">
                  <a16:creationId xmlns:a16="http://schemas.microsoft.com/office/drawing/2014/main" id="{32B1AA71-8DBA-436A-A1BD-27AAF8AD6EB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412754" y="2586502"/>
              <a:ext cx="325584" cy="312561"/>
            </a:xfrm>
            <a:prstGeom prst="rect">
              <a:avLst/>
            </a:prstGeom>
          </p:spPr>
        </p:pic>
        <p:pic>
          <p:nvPicPr>
            <p:cNvPr id="58" name="图像" descr="图像">
              <a:extLst>
                <a:ext uri="{FF2B5EF4-FFF2-40B4-BE49-F238E27FC236}">
                  <a16:creationId xmlns:a16="http://schemas.microsoft.com/office/drawing/2014/main" id="{DC6A92A6-AC30-3119-2689-5CFB930D7D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434418" y="2943833"/>
              <a:ext cx="965100" cy="285957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66" name="图片 65">
              <a:extLst>
                <a:ext uri="{FF2B5EF4-FFF2-40B4-BE49-F238E27FC236}">
                  <a16:creationId xmlns:a16="http://schemas.microsoft.com/office/drawing/2014/main" id="{0754605A-E031-7BC5-E6F4-C816BEB88AD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760245" y="2681675"/>
              <a:ext cx="845672" cy="123188"/>
            </a:xfrm>
            <a:prstGeom prst="rect">
              <a:avLst/>
            </a:prstGeom>
          </p:spPr>
        </p:pic>
      </p:grpSp>
      <p:sp>
        <p:nvSpPr>
          <p:cNvPr id="68" name="文本框 67">
            <a:extLst>
              <a:ext uri="{FF2B5EF4-FFF2-40B4-BE49-F238E27FC236}">
                <a16:creationId xmlns:a16="http://schemas.microsoft.com/office/drawing/2014/main" id="{20CB60E0-6AF3-001D-2A8A-2EA27EF3EF50}"/>
              </a:ext>
            </a:extLst>
          </p:cNvPr>
          <p:cNvSpPr txBox="1"/>
          <p:nvPr/>
        </p:nvSpPr>
        <p:spPr>
          <a:xfrm>
            <a:off x="9036885" y="2620622"/>
            <a:ext cx="26045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52D9"/>
                </a:solidFill>
              </a:rPr>
              <a:t>&lt; 5</a:t>
            </a:r>
            <a:r>
              <a:rPr lang="en-US" altLang="zh-CN" b="1" i="0" dirty="0">
                <a:solidFill>
                  <a:srgbClr val="0052D9"/>
                </a:solidFill>
                <a:effectLst/>
              </a:rPr>
              <a:t>%</a:t>
            </a:r>
          </a:p>
          <a:p>
            <a:r>
              <a:rPr lang="en-US" altLang="zh-CN" sz="1400" dirty="0"/>
              <a:t>Switch / high-rate DSP</a:t>
            </a:r>
            <a:endParaRPr lang="zh-CN" altLang="en-US" sz="1400" dirty="0"/>
          </a:p>
        </p:txBody>
      </p:sp>
      <p:sp>
        <p:nvSpPr>
          <p:cNvPr id="70" name="斜纹 69">
            <a:extLst>
              <a:ext uri="{FF2B5EF4-FFF2-40B4-BE49-F238E27FC236}">
                <a16:creationId xmlns:a16="http://schemas.microsoft.com/office/drawing/2014/main" id="{5547D551-141D-C5A6-C50E-4CFEF1ED258F}"/>
              </a:ext>
            </a:extLst>
          </p:cNvPr>
          <p:cNvSpPr/>
          <p:nvPr/>
        </p:nvSpPr>
        <p:spPr>
          <a:xfrm rot="8052760">
            <a:off x="8697717" y="2752001"/>
            <a:ext cx="329220" cy="322016"/>
          </a:xfrm>
          <a:prstGeom prst="diagStripe">
            <a:avLst>
              <a:gd name="adj" fmla="val 67633"/>
            </a:avLst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DDF85592-3DD9-BFF2-A290-8918CD11A5AD}"/>
              </a:ext>
            </a:extLst>
          </p:cNvPr>
          <p:cNvSpPr txBox="1"/>
          <p:nvPr/>
        </p:nvSpPr>
        <p:spPr>
          <a:xfrm>
            <a:off x="6858551" y="5039160"/>
            <a:ext cx="31439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Weak in electronics, making CPO essential for scale-up.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62B9130E-3826-3AAE-6107-DF2BA19FAC94}"/>
              </a:ext>
            </a:extLst>
          </p:cNvPr>
          <p:cNvSpPr txBox="1"/>
          <p:nvPr/>
        </p:nvSpPr>
        <p:spPr>
          <a:xfrm>
            <a:off x="6858552" y="4257842"/>
            <a:ext cx="28950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Transmission reach matters;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Easier to commercialize.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B528053E-136C-5E7A-B417-6EE4B3CBBD28}"/>
              </a:ext>
            </a:extLst>
          </p:cNvPr>
          <p:cNvSpPr txBox="1"/>
          <p:nvPr/>
        </p:nvSpPr>
        <p:spPr>
          <a:xfrm>
            <a:off x="1495546" y="5294877"/>
            <a:ext cx="345444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Copper dominates in the short-term;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Mass production: 2027-2028.</a:t>
            </a:r>
            <a:endParaRPr lang="zh-CN" altLang="zh-CN" sz="1400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zh-CN" sz="1400" dirty="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5DA1F494-D536-C176-B7C1-AB7D95AD7531}"/>
              </a:ext>
            </a:extLst>
          </p:cNvPr>
          <p:cNvSpPr txBox="1"/>
          <p:nvPr/>
        </p:nvSpPr>
        <p:spPr>
          <a:xfrm rot="16200000">
            <a:off x="-39553" y="3884173"/>
            <a:ext cx="15664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/>
              <a:t>Scale-out</a:t>
            </a:r>
            <a:endParaRPr lang="en-US" altLang="zh-CN" sz="1600" dirty="0">
              <a:solidFill>
                <a:srgbClr val="0052D9"/>
              </a:solidFill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F9FD8C0D-FFDD-7804-90C3-09C54D4D9B81}"/>
              </a:ext>
            </a:extLst>
          </p:cNvPr>
          <p:cNvSpPr/>
          <p:nvPr/>
        </p:nvSpPr>
        <p:spPr>
          <a:xfrm>
            <a:off x="992938" y="3736218"/>
            <a:ext cx="10411818" cy="22398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7" name="直线连接符 34">
            <a:extLst>
              <a:ext uri="{FF2B5EF4-FFF2-40B4-BE49-F238E27FC236}">
                <a16:creationId xmlns:a16="http://schemas.microsoft.com/office/drawing/2014/main" id="{E6B72889-3F44-CB0C-DD6A-D907724BC53F}"/>
              </a:ext>
            </a:extLst>
          </p:cNvPr>
          <p:cNvCxnSpPr>
            <a:cxnSpLocks/>
            <a:stCxn id="56" idx="1"/>
          </p:cNvCxnSpPr>
          <p:nvPr/>
        </p:nvCxnSpPr>
        <p:spPr>
          <a:xfrm>
            <a:off x="992938" y="4856165"/>
            <a:ext cx="5205909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线连接符 34">
            <a:extLst>
              <a:ext uri="{FF2B5EF4-FFF2-40B4-BE49-F238E27FC236}">
                <a16:creationId xmlns:a16="http://schemas.microsoft.com/office/drawing/2014/main" id="{66CFC39C-4D69-9C82-182B-5DEC4C0CFC2B}"/>
              </a:ext>
            </a:extLst>
          </p:cNvPr>
          <p:cNvCxnSpPr>
            <a:cxnSpLocks/>
            <a:stCxn id="56" idx="0"/>
            <a:endCxn id="56" idx="2"/>
          </p:cNvCxnSpPr>
          <p:nvPr/>
        </p:nvCxnSpPr>
        <p:spPr>
          <a:xfrm>
            <a:off x="6198847" y="3736218"/>
            <a:ext cx="0" cy="2239893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E8541B59-DD34-7827-2676-A3F9027F8189}"/>
              </a:ext>
            </a:extLst>
          </p:cNvPr>
          <p:cNvSpPr txBox="1"/>
          <p:nvPr/>
        </p:nvSpPr>
        <p:spPr>
          <a:xfrm>
            <a:off x="1223489" y="3874690"/>
            <a:ext cx="6111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lr>
                <a:srgbClr val="000000"/>
              </a:buClr>
              <a:defRPr/>
            </a:pPr>
            <a:r>
              <a:rPr lang="en-US" altLang="zh-CN" sz="1800" b="1" dirty="0">
                <a:solidFill>
                  <a:srgbClr val="0052D9"/>
                </a:solidFill>
                <a:latin typeface="Arial"/>
                <a:sym typeface="Futura"/>
              </a:rPr>
              <a:t>CPO fits first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A843CF05-24F9-013A-43E0-F4DED3447F33}"/>
              </a:ext>
            </a:extLst>
          </p:cNvPr>
          <p:cNvSpPr txBox="1"/>
          <p:nvPr/>
        </p:nvSpPr>
        <p:spPr>
          <a:xfrm>
            <a:off x="1223489" y="4914694"/>
            <a:ext cx="6111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lr>
                <a:srgbClr val="000000"/>
              </a:buClr>
              <a:defRPr/>
            </a:pPr>
            <a:r>
              <a:rPr lang="en-US" altLang="zh-CN" sz="1800" dirty="0">
                <a:latin typeface="Arial"/>
                <a:sym typeface="Futura"/>
              </a:rPr>
              <a:t>CPO adopts in the long-term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CEFE6ECF-F5D4-C801-6067-A3A43188B6FB}"/>
              </a:ext>
            </a:extLst>
          </p:cNvPr>
          <p:cNvSpPr txBox="1"/>
          <p:nvPr/>
        </p:nvSpPr>
        <p:spPr>
          <a:xfrm>
            <a:off x="6486954" y="3874690"/>
            <a:ext cx="6111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lr>
                <a:srgbClr val="000000"/>
              </a:buClr>
              <a:defRPr/>
            </a:pPr>
            <a:r>
              <a:rPr lang="en-US" altLang="zh-CN" sz="1800" dirty="0">
                <a:latin typeface="Arial"/>
                <a:sym typeface="Futura"/>
              </a:rPr>
              <a:t>CPO is critical in both </a:t>
            </a:r>
            <a:r>
              <a:rPr lang="en-US" altLang="zh-CN" dirty="0"/>
              <a:t>scenarios</a:t>
            </a:r>
            <a:endParaRPr lang="en-US" altLang="zh-CN" sz="1800" dirty="0">
              <a:latin typeface="Arial"/>
              <a:sym typeface="Futura"/>
            </a:endParaRPr>
          </a:p>
        </p:txBody>
      </p:sp>
      <p:cxnSp>
        <p:nvCxnSpPr>
          <p:cNvPr id="86" name="直线连接符 34">
            <a:extLst>
              <a:ext uri="{FF2B5EF4-FFF2-40B4-BE49-F238E27FC236}">
                <a16:creationId xmlns:a16="http://schemas.microsoft.com/office/drawing/2014/main" id="{2E4A6C43-FC1E-9AD9-7C64-C9DE1CD00AD6}"/>
              </a:ext>
            </a:extLst>
          </p:cNvPr>
          <p:cNvCxnSpPr>
            <a:cxnSpLocks/>
          </p:cNvCxnSpPr>
          <p:nvPr/>
        </p:nvCxnSpPr>
        <p:spPr>
          <a:xfrm>
            <a:off x="6521786" y="1530538"/>
            <a:ext cx="485249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文本框 86">
            <a:extLst>
              <a:ext uri="{FF2B5EF4-FFF2-40B4-BE49-F238E27FC236}">
                <a16:creationId xmlns:a16="http://schemas.microsoft.com/office/drawing/2014/main" id="{464DEECB-BEA6-DC65-A748-C5FE06F64D67}"/>
              </a:ext>
            </a:extLst>
          </p:cNvPr>
          <p:cNvSpPr txBox="1"/>
          <p:nvPr/>
        </p:nvSpPr>
        <p:spPr>
          <a:xfrm rot="16200000">
            <a:off x="-56753" y="4965683"/>
            <a:ext cx="15664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/>
              <a:t>Scale-up</a:t>
            </a:r>
            <a:endParaRPr lang="en-US" altLang="zh-CN" sz="1600" dirty="0">
              <a:solidFill>
                <a:srgbClr val="0052D9"/>
              </a:solidFill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70E386A-1484-D77E-0CB1-D0C4A12D0EFF}"/>
              </a:ext>
            </a:extLst>
          </p:cNvPr>
          <p:cNvGrpSpPr/>
          <p:nvPr/>
        </p:nvGrpSpPr>
        <p:grpSpPr>
          <a:xfrm>
            <a:off x="8103171" y="2673095"/>
            <a:ext cx="584600" cy="479829"/>
            <a:chOff x="8121016" y="2651708"/>
            <a:chExt cx="584600" cy="479829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853CC244-6589-83C1-0F32-2D83B89EBCD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121016" y="2651708"/>
              <a:ext cx="504145" cy="242929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A68C46C0-5675-5F85-9A9F-27BA430E3CA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121016" y="2957030"/>
              <a:ext cx="584600" cy="17450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71875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F6C40-2E68-1E93-CF1C-750C7D846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4FC8A3E0-0CA0-C767-446E-C6D3AE926F5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363780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FC8A3E0-0CA0-C767-446E-C6D3AE926F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" name="矩形 109">
            <a:extLst>
              <a:ext uri="{FF2B5EF4-FFF2-40B4-BE49-F238E27FC236}">
                <a16:creationId xmlns:a16="http://schemas.microsoft.com/office/drawing/2014/main" id="{3208FF9C-68D9-51D7-D13F-47B026856424}"/>
              </a:ext>
            </a:extLst>
          </p:cNvPr>
          <p:cNvSpPr/>
          <p:nvPr/>
        </p:nvSpPr>
        <p:spPr>
          <a:xfrm>
            <a:off x="1653998" y="4074144"/>
            <a:ext cx="9719937" cy="1022203"/>
          </a:xfrm>
          <a:prstGeom prst="rect">
            <a:avLst/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7C7B16E-048E-6EFA-F314-B428F2289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" y="172212"/>
            <a:ext cx="10287402" cy="731520"/>
          </a:xfrm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US" altLang="zh-CN" dirty="0">
                <a:latin typeface="+mn-lt"/>
                <a:cs typeface="+mn-ea"/>
              </a:rPr>
              <a:t>Overseas: pursue scale-out &amp; scale-up in parallel; CPO initial focus on scale-out (1-2 Years)</a:t>
            </a:r>
            <a:endParaRPr lang="zh-CN" altLang="en-US" dirty="0">
              <a:latin typeface="+mn-lt"/>
              <a:cs typeface="+mn-ea"/>
              <a:sym typeface="+mn-lt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6CBD7E81-A494-6AAD-5CAB-C52B7178334D}"/>
              </a:ext>
            </a:extLst>
          </p:cNvPr>
          <p:cNvSpPr txBox="1"/>
          <p:nvPr/>
        </p:nvSpPr>
        <p:spPr>
          <a:xfrm>
            <a:off x="425161" y="1746750"/>
            <a:ext cx="936104" cy="572571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Strategy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928BE40-AAC7-2266-E2D1-DBE481179513}"/>
              </a:ext>
            </a:extLst>
          </p:cNvPr>
          <p:cNvSpPr txBox="1"/>
          <p:nvPr/>
        </p:nvSpPr>
        <p:spPr>
          <a:xfrm>
            <a:off x="417686" y="3129649"/>
            <a:ext cx="936104" cy="821294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Scale-up roadmap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45" name="直线连接符 8">
            <a:extLst>
              <a:ext uri="{FF2B5EF4-FFF2-40B4-BE49-F238E27FC236}">
                <a16:creationId xmlns:a16="http://schemas.microsoft.com/office/drawing/2014/main" id="{322F88D2-71EE-E0EC-7ABF-1C47DF926C22}"/>
              </a:ext>
            </a:extLst>
          </p:cNvPr>
          <p:cNvCxnSpPr>
            <a:cxnSpLocks/>
          </p:cNvCxnSpPr>
          <p:nvPr/>
        </p:nvCxnSpPr>
        <p:spPr>
          <a:xfrm>
            <a:off x="1722234" y="2572431"/>
            <a:ext cx="9651701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连接符 30">
            <a:extLst>
              <a:ext uri="{FF2B5EF4-FFF2-40B4-BE49-F238E27FC236}">
                <a16:creationId xmlns:a16="http://schemas.microsoft.com/office/drawing/2014/main" id="{C932ED26-1282-C5B1-BD34-D6C92E8AA917}"/>
              </a:ext>
            </a:extLst>
          </p:cNvPr>
          <p:cNvCxnSpPr>
            <a:cxnSpLocks/>
          </p:cNvCxnSpPr>
          <p:nvPr/>
        </p:nvCxnSpPr>
        <p:spPr>
          <a:xfrm>
            <a:off x="6550109" y="1568804"/>
            <a:ext cx="4735207" cy="16945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D91B4777-F700-A999-A441-5B04853892C8}"/>
              </a:ext>
            </a:extLst>
          </p:cNvPr>
          <p:cNvSpPr txBox="1"/>
          <p:nvPr/>
        </p:nvSpPr>
        <p:spPr>
          <a:xfrm>
            <a:off x="6550277" y="1697095"/>
            <a:ext cx="2433271" cy="2518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52" name="直线连接符 34">
            <a:extLst>
              <a:ext uri="{FF2B5EF4-FFF2-40B4-BE49-F238E27FC236}">
                <a16:creationId xmlns:a16="http://schemas.microsoft.com/office/drawing/2014/main" id="{6DD553CC-7B98-C852-D6FA-8EC2FB7529E2}"/>
              </a:ext>
            </a:extLst>
          </p:cNvPr>
          <p:cNvCxnSpPr>
            <a:cxnSpLocks/>
          </p:cNvCxnSpPr>
          <p:nvPr/>
        </p:nvCxnSpPr>
        <p:spPr>
          <a:xfrm>
            <a:off x="1845240" y="1585749"/>
            <a:ext cx="3981449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75791427-A387-F439-75A5-EE91C05AF97C}"/>
              </a:ext>
            </a:extLst>
          </p:cNvPr>
          <p:cNvSpPr txBox="1"/>
          <p:nvPr/>
        </p:nvSpPr>
        <p:spPr>
          <a:xfrm>
            <a:off x="1237543" y="3757038"/>
            <a:ext cx="3189810" cy="57257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en-US" altLang="zh-CN" sz="1400" i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63" name="图片 62">
            <a:extLst>
              <a:ext uri="{FF2B5EF4-FFF2-40B4-BE49-F238E27FC236}">
                <a16:creationId xmlns:a16="http://schemas.microsoft.com/office/drawing/2014/main" id="{E10AEF8E-3571-0E3B-85EC-71C1CB66EF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4487" y="1238984"/>
            <a:ext cx="443699" cy="319247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748A04B3-2207-3AFC-831B-3AE97C714D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8186" y="1292474"/>
            <a:ext cx="740492" cy="199933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22A9EC61-E86A-883B-A8E2-2738809751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0109" y="1231730"/>
            <a:ext cx="339635" cy="326050"/>
          </a:xfrm>
          <a:prstGeom prst="rect">
            <a:avLst/>
          </a:prstGeom>
        </p:spPr>
      </p:pic>
      <p:pic>
        <p:nvPicPr>
          <p:cNvPr id="69" name="图片 68">
            <a:extLst>
              <a:ext uri="{FF2B5EF4-FFF2-40B4-BE49-F238E27FC236}">
                <a16:creationId xmlns:a16="http://schemas.microsoft.com/office/drawing/2014/main" id="{763E55EF-68B0-BF58-5961-DC83355B5A6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39806" y="1316620"/>
            <a:ext cx="1072772" cy="156270"/>
          </a:xfrm>
          <a:prstGeom prst="rect">
            <a:avLst/>
          </a:prstGeom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B96B9A1B-1518-781A-49DE-12799E2079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37" t="13248" r="15583" b="17177"/>
          <a:stretch/>
        </p:blipFill>
        <p:spPr bwMode="auto">
          <a:xfrm>
            <a:off x="1780516" y="4345662"/>
            <a:ext cx="460324" cy="282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" name="文本框 91">
            <a:extLst>
              <a:ext uri="{FF2B5EF4-FFF2-40B4-BE49-F238E27FC236}">
                <a16:creationId xmlns:a16="http://schemas.microsoft.com/office/drawing/2014/main" id="{0F67BECB-F069-2C4B-A71D-0831D86D9C32}"/>
              </a:ext>
            </a:extLst>
          </p:cNvPr>
          <p:cNvSpPr txBox="1"/>
          <p:nvPr/>
        </p:nvSpPr>
        <p:spPr>
          <a:xfrm>
            <a:off x="2288186" y="4230994"/>
            <a:ext cx="1911665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Spectrum-X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Ethernet CPO switch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en-US" altLang="zh-CN" sz="11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72F4FE6E-086B-8A12-8254-545B59AA8384}"/>
              </a:ext>
            </a:extLst>
          </p:cNvPr>
          <p:cNvSpPr txBox="1"/>
          <p:nvPr/>
        </p:nvSpPr>
        <p:spPr>
          <a:xfrm>
            <a:off x="4718447" y="4230312"/>
            <a:ext cx="158449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Quantum-X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InfiniBand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switch</a:t>
            </a: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A3568096-9799-95DE-48DD-CED2F091BF03}"/>
              </a:ext>
            </a:extLst>
          </p:cNvPr>
          <p:cNvSpPr txBox="1"/>
          <p:nvPr/>
        </p:nvSpPr>
        <p:spPr>
          <a:xfrm>
            <a:off x="402684" y="4236020"/>
            <a:ext cx="936104" cy="720978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Scale-out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roadmap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54EA42EC-757B-6882-31DD-52DEBF9DC4E6}"/>
              </a:ext>
            </a:extLst>
          </p:cNvPr>
          <p:cNvSpPr txBox="1"/>
          <p:nvPr/>
        </p:nvSpPr>
        <p:spPr>
          <a:xfrm>
            <a:off x="1722234" y="1794590"/>
            <a:ext cx="3821866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Scale-up</a:t>
            </a:r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dominator; 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Transitioning from copper to CPO.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D805C44-CD00-8C32-92FD-175EA9AA71D2}"/>
              </a:ext>
            </a:extLst>
          </p:cNvPr>
          <p:cNvSpPr txBox="1"/>
          <p:nvPr/>
        </p:nvSpPr>
        <p:spPr>
          <a:xfrm>
            <a:off x="2259422" y="4715591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Q2 25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D42F1F0-94F0-7A4C-A5EE-5B1D888F4B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79"/>
          <a:stretch/>
        </p:blipFill>
        <p:spPr bwMode="auto">
          <a:xfrm>
            <a:off x="1802912" y="3185330"/>
            <a:ext cx="415531" cy="511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D036EFDF-1ADD-801A-C48B-0E4BD7D73D22}"/>
              </a:ext>
            </a:extLst>
          </p:cNvPr>
          <p:cNvSpPr txBox="1"/>
          <p:nvPr/>
        </p:nvSpPr>
        <p:spPr>
          <a:xfrm>
            <a:off x="2292916" y="3217953"/>
            <a:ext cx="191166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8000"/>
                </a:highlight>
                <a:cs typeface="+mn-ea"/>
                <a:sym typeface="+mn-lt"/>
              </a:rPr>
              <a:t>NVL 72 GB300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Rack-scale server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4C1CCC6-343B-484D-317A-2DFE494B1636}"/>
              </a:ext>
            </a:extLst>
          </p:cNvPr>
          <p:cNvSpPr txBox="1"/>
          <p:nvPr/>
        </p:nvSpPr>
        <p:spPr>
          <a:xfrm>
            <a:off x="2259423" y="3692900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Jul 25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D9C8D31-DE2C-38D5-325C-E5E0875B0FCC}"/>
              </a:ext>
            </a:extLst>
          </p:cNvPr>
          <p:cNvSpPr txBox="1"/>
          <p:nvPr/>
        </p:nvSpPr>
        <p:spPr>
          <a:xfrm>
            <a:off x="4728013" y="3194030"/>
            <a:ext cx="158449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8000"/>
                </a:highlight>
                <a:cs typeface="+mn-ea"/>
                <a:sym typeface="+mn-lt"/>
              </a:rPr>
              <a:t>Rubin 288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Rack-scale server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47C8A2E-DBCC-6B31-BF8D-8BB0DCB054EA}"/>
              </a:ext>
            </a:extLst>
          </p:cNvPr>
          <p:cNvSpPr txBox="1"/>
          <p:nvPr/>
        </p:nvSpPr>
        <p:spPr>
          <a:xfrm>
            <a:off x="4718447" y="3692900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Q2 26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8C53818-2416-3643-E53B-F9132A2B7732}"/>
              </a:ext>
            </a:extLst>
          </p:cNvPr>
          <p:cNvSpPr txBox="1"/>
          <p:nvPr/>
        </p:nvSpPr>
        <p:spPr>
          <a:xfrm>
            <a:off x="4703212" y="4715591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Q2 26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49BF8719-9148-8540-80FE-BC193E92F4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39" t="-2" r="13487" b="68005"/>
          <a:stretch/>
        </p:blipFill>
        <p:spPr bwMode="auto">
          <a:xfrm>
            <a:off x="4115801" y="3261064"/>
            <a:ext cx="623104" cy="405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图片 47" descr="电脑屏幕截图&#10;&#10;AI 生成的内容可能不正确。">
            <a:extLst>
              <a:ext uri="{FF2B5EF4-FFF2-40B4-BE49-F238E27FC236}">
                <a16:creationId xmlns:a16="http://schemas.microsoft.com/office/drawing/2014/main" id="{661BD6DC-F80B-A7A2-91FF-7C5EBDC5BA4E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73" t="50628" r="12722" b="20213"/>
          <a:stretch/>
        </p:blipFill>
        <p:spPr>
          <a:xfrm>
            <a:off x="4115801" y="4294599"/>
            <a:ext cx="637526" cy="412191"/>
          </a:xfrm>
          <a:prstGeom prst="rect">
            <a:avLst/>
          </a:prstGeom>
        </p:spPr>
      </p:pic>
      <p:sp>
        <p:nvSpPr>
          <p:cNvPr id="51" name="矩形 50">
            <a:extLst>
              <a:ext uri="{FF2B5EF4-FFF2-40B4-BE49-F238E27FC236}">
                <a16:creationId xmlns:a16="http://schemas.microsoft.com/office/drawing/2014/main" id="{BAB9E579-637A-802B-F8A2-94C6E0CEEFBC}"/>
              </a:ext>
            </a:extLst>
          </p:cNvPr>
          <p:cNvSpPr/>
          <p:nvPr/>
        </p:nvSpPr>
        <p:spPr>
          <a:xfrm>
            <a:off x="411970" y="5499383"/>
            <a:ext cx="587842" cy="21920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cs typeface="+mn-ea"/>
                <a:sym typeface="+mn-lt"/>
              </a:rPr>
              <a:t>xx</a:t>
            </a:r>
            <a:endParaRPr lang="zh-CN" altLang="en-US" sz="1000" dirty="0">
              <a:cs typeface="+mn-ea"/>
              <a:sym typeface="+mn-lt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2EE96E3-1D2C-8BFF-8AC1-22DBC33714F2}"/>
              </a:ext>
            </a:extLst>
          </p:cNvPr>
          <p:cNvSpPr/>
          <p:nvPr/>
        </p:nvSpPr>
        <p:spPr>
          <a:xfrm>
            <a:off x="2525250" y="5499383"/>
            <a:ext cx="587842" cy="219206"/>
          </a:xfrm>
          <a:prstGeom prst="rect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cs typeface="+mn-ea"/>
                <a:sym typeface="+mn-lt"/>
              </a:rPr>
              <a:t>xx</a:t>
            </a:r>
            <a:endParaRPr lang="zh-CN" altLang="en-US" sz="1000" dirty="0"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14E63B84-481E-70AD-816D-7D069233E2A1}"/>
              </a:ext>
            </a:extLst>
          </p:cNvPr>
          <p:cNvSpPr txBox="1"/>
          <p:nvPr/>
        </p:nvSpPr>
        <p:spPr>
          <a:xfrm>
            <a:off x="982873" y="5470487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Copper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E03D25C1-BFC1-CB0B-5B92-76A8D5AB2E4C}"/>
              </a:ext>
            </a:extLst>
          </p:cNvPr>
          <p:cNvSpPr txBox="1"/>
          <p:nvPr/>
        </p:nvSpPr>
        <p:spPr>
          <a:xfrm>
            <a:off x="3123144" y="5470487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2FB27E28-9F4A-8FA7-BCFE-9AE1CE01AF6A}"/>
              </a:ext>
            </a:extLst>
          </p:cNvPr>
          <p:cNvSpPr txBox="1"/>
          <p:nvPr/>
        </p:nvSpPr>
        <p:spPr>
          <a:xfrm>
            <a:off x="6550108" y="1746749"/>
            <a:ext cx="5013241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Scale-out</a:t>
            </a:r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dominator;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Betting on CPO to expand from scale-out to scale-up in 5 years.</a:t>
            </a:r>
            <a:endParaRPr kumimoji="1" lang="zh-CN" altLang="en-US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6FF20BF8-457E-1902-C171-AE4383E4637B}"/>
              </a:ext>
            </a:extLst>
          </p:cNvPr>
          <p:cNvSpPr txBox="1"/>
          <p:nvPr/>
        </p:nvSpPr>
        <p:spPr>
          <a:xfrm>
            <a:off x="8323716" y="4294599"/>
            <a:ext cx="200705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Tomahawk 5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Ethernet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switch</a:t>
            </a: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F9E1C816-0DC4-FDCB-9F3E-63A7285C0C61}"/>
              </a:ext>
            </a:extLst>
          </p:cNvPr>
          <p:cNvSpPr txBox="1"/>
          <p:nvPr/>
        </p:nvSpPr>
        <p:spPr>
          <a:xfrm>
            <a:off x="9696641" y="4400188"/>
            <a:ext cx="14106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Q1 26</a:t>
            </a:r>
          </a:p>
        </p:txBody>
      </p:sp>
      <p:pic>
        <p:nvPicPr>
          <p:cNvPr id="91" name="图片 90" descr="图形用户界面&#10;&#10;AI 生成的内容可能不正确。">
            <a:extLst>
              <a:ext uri="{FF2B5EF4-FFF2-40B4-BE49-F238E27FC236}">
                <a16:creationId xmlns:a16="http://schemas.microsoft.com/office/drawing/2014/main" id="{12C6F346-BF32-1098-7FA8-404964AD1B84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64" t="48548" r="8679" b="13268"/>
          <a:stretch/>
        </p:blipFill>
        <p:spPr>
          <a:xfrm>
            <a:off x="7019086" y="4394516"/>
            <a:ext cx="1136898" cy="425290"/>
          </a:xfrm>
          <a:prstGeom prst="rect">
            <a:avLst/>
          </a:prstGeom>
        </p:spPr>
      </p:pic>
      <p:sp>
        <p:nvSpPr>
          <p:cNvPr id="94" name="文本框 93">
            <a:extLst>
              <a:ext uri="{FF2B5EF4-FFF2-40B4-BE49-F238E27FC236}">
                <a16:creationId xmlns:a16="http://schemas.microsoft.com/office/drawing/2014/main" id="{C40832D3-6819-A1FD-019B-87031ADA38BB}"/>
              </a:ext>
            </a:extLst>
          </p:cNvPr>
          <p:cNvSpPr txBox="1"/>
          <p:nvPr/>
        </p:nvSpPr>
        <p:spPr>
          <a:xfrm>
            <a:off x="1697097" y="2741777"/>
            <a:ext cx="8070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Full systems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2EA31D44-0FF8-EB58-409E-4D1BB627BFF2}"/>
              </a:ext>
            </a:extLst>
          </p:cNvPr>
          <p:cNvSpPr txBox="1"/>
          <p:nvPr/>
        </p:nvSpPr>
        <p:spPr>
          <a:xfrm>
            <a:off x="6366750" y="2753794"/>
            <a:ext cx="8070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Switch chips</a:t>
            </a: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98" name="图片 97" descr="图示&#10;&#10;AI 生成的内容可能不正确。">
            <a:extLst>
              <a:ext uri="{FF2B5EF4-FFF2-40B4-BE49-F238E27FC236}">
                <a16:creationId xmlns:a16="http://schemas.microsoft.com/office/drawing/2014/main" id="{6B483AC3-A4C4-F3FB-36BF-CA0763D30E4E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383" t="7282" r="5341" b="63652"/>
          <a:stretch/>
        </p:blipFill>
        <p:spPr>
          <a:xfrm>
            <a:off x="7185906" y="3279426"/>
            <a:ext cx="801515" cy="636436"/>
          </a:xfrm>
          <a:prstGeom prst="rect">
            <a:avLst/>
          </a:prstGeom>
        </p:spPr>
      </p:pic>
      <p:sp>
        <p:nvSpPr>
          <p:cNvPr id="99" name="文本框 98">
            <a:extLst>
              <a:ext uri="{FF2B5EF4-FFF2-40B4-BE49-F238E27FC236}">
                <a16:creationId xmlns:a16="http://schemas.microsoft.com/office/drawing/2014/main" id="{48751070-806F-BD3A-9A65-E465675B12CD}"/>
              </a:ext>
            </a:extLst>
          </p:cNvPr>
          <p:cNvSpPr txBox="1"/>
          <p:nvPr/>
        </p:nvSpPr>
        <p:spPr>
          <a:xfrm>
            <a:off x="8329100" y="3309511"/>
            <a:ext cx="2001674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Tomahawk 6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Ethernet CPO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chip</a:t>
            </a: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108EC22A-7453-8CCE-88B3-8D46BB600215}"/>
              </a:ext>
            </a:extLst>
          </p:cNvPr>
          <p:cNvSpPr txBox="1"/>
          <p:nvPr/>
        </p:nvSpPr>
        <p:spPr>
          <a:xfrm>
            <a:off x="9683755" y="3433672"/>
            <a:ext cx="14106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Apr 25</a:t>
            </a: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3F5B50A7-8BDA-4E90-DAE8-3BB88D0D34B0}"/>
              </a:ext>
            </a:extLst>
          </p:cNvPr>
          <p:cNvSpPr txBox="1"/>
          <p:nvPr/>
        </p:nvSpPr>
        <p:spPr>
          <a:xfrm>
            <a:off x="403220" y="6444539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Broadcom.</a:t>
            </a: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577DA440-306B-0311-62FF-B124E91D6FF4}"/>
              </a:ext>
            </a:extLst>
          </p:cNvPr>
          <p:cNvSpPr txBox="1"/>
          <p:nvPr/>
        </p:nvSpPr>
        <p:spPr>
          <a:xfrm>
            <a:off x="4399243" y="5295410"/>
            <a:ext cx="4641366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​Scale-out: ~2026​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​Scale-up: ~2028 (per Broadcom)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8FE8041-8C50-6FE3-AE49-52D23F15D790}"/>
              </a:ext>
            </a:extLst>
          </p:cNvPr>
          <p:cNvSpPr/>
          <p:nvPr/>
        </p:nvSpPr>
        <p:spPr>
          <a:xfrm>
            <a:off x="11734904" y="467362"/>
            <a:ext cx="1989145" cy="307293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1. 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微软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GB300 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有没有用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CPO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，互联用的啥，光模块配比多少</a:t>
            </a:r>
            <a:endParaRPr lang="en-US" altLang="zh-CN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2. 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已经过去的有没有对应下游厂商</a:t>
            </a:r>
            <a:endParaRPr lang="en-US" altLang="zh-CN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r>
              <a:rPr lang="en-US" dirty="0">
                <a:solidFill>
                  <a:schemeClr val="accent6">
                    <a:lumMod val="10000"/>
                  </a:schemeClr>
                </a:solidFill>
              </a:rPr>
              <a:t>3. 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时间的含义写清楚</a:t>
            </a:r>
            <a:endParaRPr lang="en-US" dirty="0">
              <a:solidFill>
                <a:schemeClr val="accent6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94512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CF0E5-D6CE-D071-AAB5-F3DE0CE66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018FFAE-5A4A-E52C-2BCF-98BD75C6F94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02472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0" imgW="404" imgH="405" progId="TCLayout.ActiveDocument.1">
                  <p:embed/>
                </p:oleObj>
              </mc:Choice>
              <mc:Fallback>
                <p:oleObj name="think-cell 幻灯片" r:id="rId40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018FFAE-5A4A-E52C-2BCF-98BD75C6F9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40" name="文本框 3639">
            <a:extLst>
              <a:ext uri="{FF2B5EF4-FFF2-40B4-BE49-F238E27FC236}">
                <a16:creationId xmlns:a16="http://schemas.microsoft.com/office/drawing/2014/main" id="{EDE98CB0-944C-D5FD-B486-A1C62BB06C30}"/>
              </a:ext>
            </a:extLst>
          </p:cNvPr>
          <p:cNvSpPr txBox="1"/>
          <p:nvPr/>
        </p:nvSpPr>
        <p:spPr>
          <a:xfrm>
            <a:off x="6455166" y="1440908"/>
            <a:ext cx="5736833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Long-cabinet CM384 requires ​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6,912​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transceivers;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Scale-up consumes over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70%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transceivers.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B53ED52-958D-42EB-5D68-EE7AA6A2B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Domestic Vendors Rely on Scale-Up to Close Performance Gap at High Power Cost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EAF81DE-2B96-9A87-C8B3-0A915D1472FE}"/>
              </a:ext>
            </a:extLst>
          </p:cNvPr>
          <p:cNvGrpSpPr/>
          <p:nvPr/>
        </p:nvGrpSpPr>
        <p:grpSpPr>
          <a:xfrm>
            <a:off x="504186" y="971862"/>
            <a:ext cx="11908794" cy="503758"/>
            <a:chOff x="504186" y="971862"/>
            <a:chExt cx="11908794" cy="503758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A5FB85F7-D6D5-1AF1-FBE3-D14ECCE5A4A5}"/>
                </a:ext>
              </a:extLst>
            </p:cNvPr>
            <p:cNvSpPr txBox="1"/>
            <p:nvPr/>
          </p:nvSpPr>
          <p:spPr>
            <a:xfrm>
              <a:off x="6326494" y="976464"/>
              <a:ext cx="6086486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Extensive POs bring huge power consumption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34D7CD37-49C1-38E5-5D87-A6388AD869B5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5" name="直线连接符 38">
              <a:extLst>
                <a:ext uri="{FF2B5EF4-FFF2-40B4-BE49-F238E27FC236}">
                  <a16:creationId xmlns:a16="http://schemas.microsoft.com/office/drawing/2014/main" id="{9B1C637C-ADC2-C9D0-990A-9034BD37EB7E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9F85EAD6-4428-BE25-DCD7-41CE3B0639F5}"/>
                </a:ext>
              </a:extLst>
            </p:cNvPr>
            <p:cNvSpPr txBox="1"/>
            <p:nvPr/>
          </p:nvSpPr>
          <p:spPr>
            <a:xfrm>
              <a:off x="504186" y="971862"/>
              <a:ext cx="5297174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Huawei CM384</a:t>
              </a:r>
              <a:r>
                <a:rPr kumimoji="1" lang="en-US" altLang="zh-CN" b="1" baseline="300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1</a:t>
              </a: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 vs. NVIDIA GB200 NVL72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7" name="直线连接符 38">
              <a:extLst>
                <a:ext uri="{FF2B5EF4-FFF2-40B4-BE49-F238E27FC236}">
                  <a16:creationId xmlns:a16="http://schemas.microsoft.com/office/drawing/2014/main" id="{7B695BF4-92BF-EB79-6A32-56036DBCE7B2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12" name="文本框 3211">
            <a:extLst>
              <a:ext uri="{FF2B5EF4-FFF2-40B4-BE49-F238E27FC236}">
                <a16:creationId xmlns:a16="http://schemas.microsoft.com/office/drawing/2014/main" id="{CBA0DF35-5424-7DB0-8CE3-A8701D7CF9B7}"/>
              </a:ext>
            </a:extLst>
          </p:cNvPr>
          <p:cNvSpPr txBox="1"/>
          <p:nvPr/>
        </p:nvSpPr>
        <p:spPr>
          <a:xfrm>
            <a:off x="225794" y="6324600"/>
            <a:ext cx="7702863" cy="24368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Huawei,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SemiAnalysis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fr-FR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CM384 = CloudMatrix 384 (384x Ascend 910C NPUs)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to benchmark against the GB200 NVL72.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 Transceiver power consumption is based on 400G POs; Ascend 910C single-card power ≈ 800W.​</a:t>
            </a:r>
          </a:p>
        </p:txBody>
      </p:sp>
      <p:sp>
        <p:nvSpPr>
          <p:cNvPr id="3586" name="左大括号 3585">
            <a:extLst>
              <a:ext uri="{FF2B5EF4-FFF2-40B4-BE49-F238E27FC236}">
                <a16:creationId xmlns:a16="http://schemas.microsoft.com/office/drawing/2014/main" id="{C2780E09-0CA0-FC8F-04D1-0820C1266BAE}"/>
              </a:ext>
            </a:extLst>
          </p:cNvPr>
          <p:cNvSpPr/>
          <p:nvPr/>
        </p:nvSpPr>
        <p:spPr>
          <a:xfrm rot="16200000">
            <a:off x="7729538" y="2220913"/>
            <a:ext cx="130492" cy="2330450"/>
          </a:xfrm>
          <a:prstGeom prst="leftBrac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87" name="文本框 3586">
            <a:extLst>
              <a:ext uri="{FF2B5EF4-FFF2-40B4-BE49-F238E27FC236}">
                <a16:creationId xmlns:a16="http://schemas.microsoft.com/office/drawing/2014/main" id="{F4B9F0D9-6BD3-3328-B0C7-C2E2BDBCA8AA}"/>
              </a:ext>
            </a:extLst>
          </p:cNvPr>
          <p:cNvSpPr txBox="1"/>
          <p:nvPr/>
        </p:nvSpPr>
        <p:spPr>
          <a:xfrm>
            <a:off x="6720892" y="3436938"/>
            <a:ext cx="1956058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Rack×16    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&gt; 2.5 m</a:t>
            </a:r>
          </a:p>
        </p:txBody>
      </p:sp>
      <p:graphicFrame>
        <p:nvGraphicFramePr>
          <p:cNvPr id="9" name="Chart 3">
            <a:extLst>
              <a:ext uri="{FF2B5EF4-FFF2-40B4-BE49-F238E27FC236}">
                <a16:creationId xmlns:a16="http://schemas.microsoft.com/office/drawing/2014/main" id="{8B021EB7-28CB-335B-0718-DFB63C8F9473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40247823"/>
              </p:ext>
            </p:extLst>
          </p:nvPr>
        </p:nvGraphicFramePr>
        <p:xfrm>
          <a:off x="236538" y="2859088"/>
          <a:ext cx="2952750" cy="2965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2"/>
          </a:graphicData>
        </a:graphic>
      </p:graphicFrame>
      <p:cxnSp>
        <p:nvCxnSpPr>
          <p:cNvPr id="1048" name="直接连接符 1047">
            <a:extLst>
              <a:ext uri="{FF2B5EF4-FFF2-40B4-BE49-F238E27FC236}">
                <a16:creationId xmlns:a16="http://schemas.microsoft.com/office/drawing/2014/main" id="{CADB065E-B614-B7C2-A21F-DD7A962991EC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1331913" y="2832100"/>
            <a:ext cx="0" cy="188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9" name="直接连接符 1048">
            <a:extLst>
              <a:ext uri="{FF2B5EF4-FFF2-40B4-BE49-F238E27FC236}">
                <a16:creationId xmlns:a16="http://schemas.microsoft.com/office/drawing/2014/main" id="{6E468993-5E85-8C63-A570-17A6D2204EA0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1331913" y="2832100"/>
            <a:ext cx="7620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1" name="直接连接符 1050">
            <a:extLst>
              <a:ext uri="{FF2B5EF4-FFF2-40B4-BE49-F238E27FC236}">
                <a16:creationId xmlns:a16="http://schemas.microsoft.com/office/drawing/2014/main" id="{2AF9B085-644A-D984-8096-BA29E9C0E44F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2093913" y="2832100"/>
            <a:ext cx="0" cy="171767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Text Placeholder 4">
            <a:extLst>
              <a:ext uri="{FF2B5EF4-FFF2-40B4-BE49-F238E27FC236}">
                <a16:creationId xmlns:a16="http://schemas.microsoft.com/office/drawing/2014/main" id="{E2E711D4-63B8-F717-60BA-4460EC8D0997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774700" y="5568950"/>
            <a:ext cx="1878013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DFDA88F-EBAC-49CC-AD27-6D5D158D3C77}" type="datetime'Sing''le-''Card BF16 Compute ''Perf''ormance'' (TF''L''OPS)​'">
              <a:rPr lang="en-US" altLang="en-US" sz="1200" smtClean="0">
                <a:cs typeface="+mn-cs"/>
              </a:rPr>
              <a:pPr/>
              <a:t>Single-Card BF16 Compute Performance (TFLOPS)​</a:t>
            </a:fld>
            <a:endParaRPr lang="zh-CN" altLang="en-US" sz="1200" dirty="0">
              <a:cs typeface="+mn-cs"/>
            </a:endParaRPr>
          </a:p>
        </p:txBody>
      </p:sp>
      <p:sp>
        <p:nvSpPr>
          <p:cNvPr id="1047" name="Text Placeholder 4">
            <a:extLst>
              <a:ext uri="{FF2B5EF4-FFF2-40B4-BE49-F238E27FC236}">
                <a16:creationId xmlns:a16="http://schemas.microsoft.com/office/drawing/2014/main" id="{12497AA3-DFED-0C45-9BA6-93A78D3BAA86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1419225" y="2681288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7B85DDC-440C-4E1D-9361-66F5FAC9158C}" type="datetime'-''''''''''''''''''''''''6''9''''''''''%'">
              <a:rPr lang="en-US" altLang="en-US" sz="1400" b="1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-69%</a:t>
            </a:fld>
            <a:endParaRPr lang="zh-CN" altLang="en-US" sz="1400" b="1" dirty="0">
              <a:cs typeface="+mn-cs"/>
            </a:endParaRPr>
          </a:p>
        </p:txBody>
      </p:sp>
      <p:graphicFrame>
        <p:nvGraphicFramePr>
          <p:cNvPr id="20" name="Chart 3">
            <a:extLst>
              <a:ext uri="{FF2B5EF4-FFF2-40B4-BE49-F238E27FC236}">
                <a16:creationId xmlns:a16="http://schemas.microsoft.com/office/drawing/2014/main" id="{2A4C4DF0-9FA4-6081-971C-2B8B09D34679}"/>
              </a:ext>
            </a:extLst>
          </p:cNvPr>
          <p:cNvGraphicFramePr/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959717625"/>
              </p:ext>
            </p:extLst>
          </p:nvPr>
        </p:nvGraphicFramePr>
        <p:xfrm>
          <a:off x="3205163" y="2859088"/>
          <a:ext cx="2298700" cy="2965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3"/>
          </a:graphicData>
        </a:graphic>
      </p:graphicFrame>
      <p:cxnSp>
        <p:nvCxnSpPr>
          <p:cNvPr id="3217" name="直接连接符 3216">
            <a:extLst>
              <a:ext uri="{FF2B5EF4-FFF2-40B4-BE49-F238E27FC236}">
                <a16:creationId xmlns:a16="http://schemas.microsoft.com/office/drawing/2014/main" id="{2612A90D-65F0-9C20-09BE-7E3A710AB655}"/>
              </a:ext>
            </a:extLst>
          </p:cNvPr>
          <p:cNvCxnSpPr/>
          <p:nvPr>
            <p:custDataLst>
              <p:tags r:id="rId9"/>
            </p:custDataLst>
          </p:nvPr>
        </p:nvCxnSpPr>
        <p:spPr bwMode="auto">
          <a:xfrm flipV="1">
            <a:off x="3973513" y="2832100"/>
            <a:ext cx="0" cy="1077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18" name="直接连接符 3217">
            <a:extLst>
              <a:ext uri="{FF2B5EF4-FFF2-40B4-BE49-F238E27FC236}">
                <a16:creationId xmlns:a16="http://schemas.microsoft.com/office/drawing/2014/main" id="{06CD80C6-A03F-7FD5-A111-CF17C0950D91}"/>
              </a:ext>
            </a:extLst>
          </p:cNvPr>
          <p:cNvCxnSpPr>
            <a:cxnSpLocks/>
          </p:cNvCxnSpPr>
          <p:nvPr>
            <p:custDataLst>
              <p:tags r:id="rId10"/>
            </p:custDataLst>
          </p:nvPr>
        </p:nvCxnSpPr>
        <p:spPr bwMode="auto">
          <a:xfrm>
            <a:off x="3973513" y="2832100"/>
            <a:ext cx="7620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19" name="直接连接符 3218">
            <a:extLst>
              <a:ext uri="{FF2B5EF4-FFF2-40B4-BE49-F238E27FC236}">
                <a16:creationId xmlns:a16="http://schemas.microsoft.com/office/drawing/2014/main" id="{F0C1D68E-8B3A-6DC5-7947-062C8E3678D5}"/>
              </a:ext>
            </a:extLst>
          </p:cNvPr>
          <p:cNvCxnSpPr/>
          <p:nvPr>
            <p:custDataLst>
              <p:tags r:id="rId11"/>
            </p:custDataLst>
          </p:nvPr>
        </p:nvCxnSpPr>
        <p:spPr bwMode="auto">
          <a:xfrm>
            <a:off x="4735513" y="2832100"/>
            <a:ext cx="0" cy="188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20" name="Text Placeholder 4">
            <a:extLst>
              <a:ext uri="{FF2B5EF4-FFF2-40B4-BE49-F238E27FC236}">
                <a16:creationId xmlns:a16="http://schemas.microsoft.com/office/drawing/2014/main" id="{8C0F3706-CCC0-71C5-E8EB-926841199566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3544888" y="5568950"/>
            <a:ext cx="162083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94E85187-9A43-4E51-AFB5-1F9E6A979B2A}" type="datetime'Ov''e''ra''''''''ll Compute ''Perfor''mance'' (TFL''OP''S)​'">
              <a:rPr lang="en-US" altLang="en-US" sz="1200" smtClean="0">
                <a:cs typeface="+mn-cs"/>
              </a:rPr>
              <a:pPr/>
              <a:t>Overall Compute Performance (TFLOPS)​</a:t>
            </a:fld>
            <a:endParaRPr lang="zh-CN" altLang="en-US" sz="1200" dirty="0">
              <a:cs typeface="+mn-cs"/>
            </a:endParaRPr>
          </a:p>
        </p:txBody>
      </p:sp>
      <p:sp>
        <p:nvSpPr>
          <p:cNvPr id="3221" name="Text Placeholder 4">
            <a:extLst>
              <a:ext uri="{FF2B5EF4-FFF2-40B4-BE49-F238E27FC236}">
                <a16:creationId xmlns:a16="http://schemas.microsoft.com/office/drawing/2014/main" id="{72B91896-9330-31FA-F8B3-D8AFBD57F046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4030663" y="2681288"/>
            <a:ext cx="649288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AD7B8FFD-E469-4577-B9AD-14C8961FCC4C}" type="datetime'''''''''''''''+''67''''%'">
              <a:rPr lang="en-US" altLang="en-US" sz="1400" b="1" smtClean="0">
                <a:effectLst/>
                <a:cs typeface="+mn-cs"/>
              </a:rPr>
              <a:pPr/>
              <a:t>+67%</a:t>
            </a:fld>
            <a:endParaRPr lang="zh-CN" altLang="en-US" sz="1400" b="1" dirty="0">
              <a:cs typeface="+mn-cs"/>
            </a:endParaRPr>
          </a:p>
        </p:txBody>
      </p:sp>
      <p:graphicFrame>
        <p:nvGraphicFramePr>
          <p:cNvPr id="55" name="Chart 3">
            <a:extLst>
              <a:ext uri="{FF2B5EF4-FFF2-40B4-BE49-F238E27FC236}">
                <a16:creationId xmlns:a16="http://schemas.microsoft.com/office/drawing/2014/main" id="{F16EA35B-7C0B-66AC-0D88-7AEE63BFFA46}"/>
              </a:ext>
            </a:extLst>
          </p:cNvPr>
          <p:cNvGraphicFramePr/>
          <p:nvPr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1169752568"/>
              </p:ext>
            </p:extLst>
          </p:nvPr>
        </p:nvGraphicFramePr>
        <p:xfrm>
          <a:off x="8926513" y="2244725"/>
          <a:ext cx="2952750" cy="1435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4"/>
          </a:graphicData>
        </a:graphic>
      </p:graphicFrame>
      <p:sp>
        <p:nvSpPr>
          <p:cNvPr id="3609" name="Text Placeholder 4">
            <a:extLst>
              <a:ext uri="{FF2B5EF4-FFF2-40B4-BE49-F238E27FC236}">
                <a16:creationId xmlns:a16="http://schemas.microsoft.com/office/drawing/2014/main" id="{98ACC9F0-1504-BCE5-600A-73148851ECDB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9621838" y="3432175"/>
            <a:ext cx="7620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E8E9BF3-7FB4-4341-B539-0FC818FB94E6}" type="datetime'''S''''''c''a''''''''''l''''''''''''e''''''''-ou''''''''t'''">
              <a:rPr lang="en-US" altLang="en-US" sz="1400" smtClean="0">
                <a:cs typeface="+mn-cs"/>
              </a:rPr>
              <a:pPr/>
              <a:t>Scale-out</a:t>
            </a:fld>
            <a:endParaRPr lang="zh-CN" altLang="en-US" sz="1400" dirty="0">
              <a:cs typeface="+mn-cs"/>
            </a:endParaRPr>
          </a:p>
        </p:txBody>
      </p:sp>
      <p:sp>
        <p:nvSpPr>
          <p:cNvPr id="3612" name="Text Placeholder 4">
            <a:extLst>
              <a:ext uri="{FF2B5EF4-FFF2-40B4-BE49-F238E27FC236}">
                <a16:creationId xmlns:a16="http://schemas.microsoft.com/office/drawing/2014/main" id="{9708A781-6620-2CED-6CD2-E2E15D24A9D3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10444163" y="3432175"/>
            <a:ext cx="7127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8499ADE-994D-4BCA-AE0E-C83239A99BF2}" type="datetime'''''S''ca''''''''''''''l''''''''''''e-''u''p'''''''''''''''">
              <a:rPr lang="en-US" altLang="en-US" sz="1400" smtClean="0">
                <a:cs typeface="+mn-cs"/>
              </a:rPr>
              <a:pPr/>
              <a:t>Scale-up</a:t>
            </a:fld>
            <a:endParaRPr lang="zh-CN" altLang="en-US" sz="1400" dirty="0">
              <a:cs typeface="+mn-cs"/>
            </a:endParaRPr>
          </a:p>
        </p:txBody>
      </p:sp>
      <p:sp>
        <p:nvSpPr>
          <p:cNvPr id="3635" name="文本框 3634">
            <a:extLst>
              <a:ext uri="{FF2B5EF4-FFF2-40B4-BE49-F238E27FC236}">
                <a16:creationId xmlns:a16="http://schemas.microsoft.com/office/drawing/2014/main" id="{E860E091-4421-C38F-E785-440035FFBF3B}"/>
              </a:ext>
            </a:extLst>
          </p:cNvPr>
          <p:cNvSpPr txBox="1"/>
          <p:nvPr/>
        </p:nvSpPr>
        <p:spPr>
          <a:xfrm>
            <a:off x="9242020" y="2166395"/>
            <a:ext cx="2464610" cy="30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CM384 Transceiver Quantity 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DBE2FCC-515F-30FE-A3A7-B786F586F659}"/>
              </a:ext>
            </a:extLst>
          </p:cNvPr>
          <p:cNvSpPr txBox="1"/>
          <p:nvPr/>
        </p:nvSpPr>
        <p:spPr>
          <a:xfrm>
            <a:off x="554423" y="1440908"/>
            <a:ext cx="519670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Per card: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~⅓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of NVIDIA B200;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Full cluster: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~1.7 x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of NVIDIA B200.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66CC619-8FA5-F1C1-B5DD-1F1675B6664E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684213" y="2332038"/>
            <a:ext cx="250825" cy="187325"/>
          </a:xfrm>
          <a:prstGeom prst="rect">
            <a:avLst/>
          </a:prstGeom>
          <a:solidFill>
            <a:srgbClr val="C0C0C0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39046A0-61D6-DADF-FAA6-46A4D60D797E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2232025" y="2332038"/>
            <a:ext cx="250825" cy="187325"/>
          </a:xfrm>
          <a:prstGeom prst="rect">
            <a:avLst/>
          </a:prstGeom>
          <a:solidFill>
            <a:srgbClr val="0052D9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918F95EF-D9D0-DA01-BD7E-CC4B0EE8DC12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auto">
          <a:xfrm>
            <a:off x="985838" y="2327275"/>
            <a:ext cx="11445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3E772D7F-2F10-49D5-9E18-E08E40598AEE}" type="datetime'''G''''B2''''''''''''00'' ''''N''''''''VL''''7''2'">
              <a:rPr lang="en-US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GB200 NVL72</a:t>
            </a:fld>
            <a:endParaRPr lang="zh-CN" altLang="en-US" sz="1400" dirty="0">
              <a:cs typeface="+mn-cs"/>
            </a:endParaRP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86287392-9ECA-B352-F81A-7573F1F96FB7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2533650" y="2327275"/>
            <a:ext cx="1212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729C84D3-5E92-4EAB-83B2-CB140EBFDBAC}" type="datetime'H''''''uaw''e''''''''''i'' ''''''''''C''''''''''''M''384'''">
              <a:rPr lang="en-US" altLang="en-US" sz="1400" smtClean="0">
                <a:cs typeface="+mn-cs"/>
              </a:rPr>
              <a:pPr/>
              <a:t>Huawei CM384</a:t>
            </a:fld>
            <a:endParaRPr lang="zh-CN" altLang="en-US" sz="1400" dirty="0">
              <a:cs typeface="+mn-cs"/>
            </a:endParaRPr>
          </a:p>
        </p:txBody>
      </p:sp>
      <p:pic>
        <p:nvPicPr>
          <p:cNvPr id="41" name="图片 40" descr="男子的脸部特写黑白照&#10;&#10;AI 生成的内容可能不正确。">
            <a:extLst>
              <a:ext uri="{FF2B5EF4-FFF2-40B4-BE49-F238E27FC236}">
                <a16:creationId xmlns:a16="http://schemas.microsoft.com/office/drawing/2014/main" id="{AEC0C5E7-357B-C173-5884-8AA371CE658A}"/>
              </a:ext>
            </a:extLst>
          </p:cNvPr>
          <p:cNvPicPr>
            <a:picLocks noChangeAspect="1"/>
          </p:cNvPicPr>
          <p:nvPr/>
        </p:nvPicPr>
        <p:blipFill>
          <a:blip r:embed="rId45" cstate="print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ackgroundRemoval t="9914" b="89871" l="4492" r="98503">
                        <a14:foregroundMark x1="77147" y1="32543" x2="77147" y2="32543"/>
                        <a14:foregroundMark x1="76359" y1="18534" x2="76359" y2="18534"/>
                        <a14:foregroundMark x1="76438" y1="20905" x2="82348" y2="65733"/>
                        <a14:foregroundMark x1="94326" y1="24569" x2="93302" y2="49138"/>
                        <a14:foregroundMark x1="93302" y1="49138" x2="94799" y2="74353"/>
                        <a14:foregroundMark x1="94799" y1="74353" x2="98582" y2="46336"/>
                        <a14:foregroundMark x1="98582" y1="46336" x2="93459" y2="27155"/>
                        <a14:foregroundMark x1="93459" y1="27155" x2="9062" y2="13362"/>
                        <a14:foregroundMark x1="9062" y1="13362" x2="3704" y2="58836"/>
                        <a14:foregroundMark x1="3704" y1="58836" x2="4492" y2="79526"/>
                        <a14:foregroundMark x1="4492" y1="79526" x2="10008" y2="87931"/>
                        <a14:foregroundMark x1="10008" y1="87931" x2="70843" y2="79957"/>
                        <a14:foregroundMark x1="89046" y1="21767" x2="94641" y2="21767"/>
                        <a14:foregroundMark x1="94641" y1="21767" x2="97715" y2="32112"/>
                        <a14:foregroundMark x1="97715" y1="32112" x2="97084" y2="77155"/>
                        <a14:foregroundMark x1="97084" y1="77155" x2="92356" y2="82112"/>
                        <a14:foregroundMark x1="92356" y1="82112" x2="88180" y2="82112"/>
                        <a14:foregroundMark x1="93538" y1="26724" x2="96848" y2="62069"/>
                        <a14:foregroundMark x1="96848" y1="62069" x2="94799" y2="84052"/>
                        <a14:foregroundMark x1="94799" y1="84052" x2="90386" y2="70043"/>
                        <a14:foregroundMark x1="90386" y1="70043" x2="94326" y2="25216"/>
                        <a14:foregroundMark x1="95981" y1="21552" x2="98030" y2="42241"/>
                        <a14:foregroundMark x1="98030" y1="42241" x2="97242" y2="73060"/>
                        <a14:foregroundMark x1="98188" y1="32328" x2="98345" y2="71121"/>
                        <a14:foregroundMark x1="98345" y1="71121" x2="95114" y2="78879"/>
                        <a14:foregroundMark x1="95114" y1="78879" x2="65091" y2="76509"/>
                        <a14:foregroundMark x1="96533" y1="82328" x2="98503" y2="797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3818" y="2359025"/>
            <a:ext cx="2396605" cy="876300"/>
          </a:xfrm>
          <a:prstGeom prst="rect">
            <a:avLst/>
          </a:prstGeom>
        </p:spPr>
      </p:pic>
      <p:cxnSp>
        <p:nvCxnSpPr>
          <p:cNvPr id="3137" name="直接连接符 3136">
            <a:extLst>
              <a:ext uri="{FF2B5EF4-FFF2-40B4-BE49-F238E27FC236}">
                <a16:creationId xmlns:a16="http://schemas.microsoft.com/office/drawing/2014/main" id="{26356429-8B3A-EBBB-977F-67030E7D088B}"/>
              </a:ext>
            </a:extLst>
          </p:cNvPr>
          <p:cNvCxnSpPr/>
          <p:nvPr>
            <p:custDataLst>
              <p:tags r:id="rId21"/>
            </p:custDataLst>
          </p:nvPr>
        </p:nvCxnSpPr>
        <p:spPr bwMode="auto">
          <a:xfrm>
            <a:off x="7675563" y="5207000"/>
            <a:ext cx="4413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38" name="直接连接符 3137">
            <a:extLst>
              <a:ext uri="{FF2B5EF4-FFF2-40B4-BE49-F238E27FC236}">
                <a16:creationId xmlns:a16="http://schemas.microsoft.com/office/drawing/2014/main" id="{AB31ABEF-5E74-3BC5-F5BC-C78D4079FBB7}"/>
              </a:ext>
            </a:extLst>
          </p:cNvPr>
          <p:cNvCxnSpPr/>
          <p:nvPr>
            <p:custDataLst>
              <p:tags r:id="rId22"/>
            </p:custDataLst>
          </p:nvPr>
        </p:nvCxnSpPr>
        <p:spPr bwMode="auto">
          <a:xfrm>
            <a:off x="8670925" y="5307013"/>
            <a:ext cx="4413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50" name="直接连接符 3149">
            <a:extLst>
              <a:ext uri="{FF2B5EF4-FFF2-40B4-BE49-F238E27FC236}">
                <a16:creationId xmlns:a16="http://schemas.microsoft.com/office/drawing/2014/main" id="{CC8BBFA6-F08D-5418-CF35-07046428D73C}"/>
              </a:ext>
            </a:extLst>
          </p:cNvPr>
          <p:cNvCxnSpPr/>
          <p:nvPr>
            <p:custDataLst>
              <p:tags r:id="rId23"/>
            </p:custDataLst>
          </p:nvPr>
        </p:nvCxnSpPr>
        <p:spPr bwMode="auto">
          <a:xfrm>
            <a:off x="9666288" y="5581650"/>
            <a:ext cx="44291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51" name="直接连接符 3150">
            <a:extLst>
              <a:ext uri="{FF2B5EF4-FFF2-40B4-BE49-F238E27FC236}">
                <a16:creationId xmlns:a16="http://schemas.microsoft.com/office/drawing/2014/main" id="{381BDE0C-6F03-BDF0-1FDC-CFDBA3ED30AA}"/>
              </a:ext>
            </a:extLst>
          </p:cNvPr>
          <p:cNvCxnSpPr/>
          <p:nvPr>
            <p:custDataLst>
              <p:tags r:id="rId24"/>
            </p:custDataLst>
          </p:nvPr>
        </p:nvCxnSpPr>
        <p:spPr bwMode="auto">
          <a:xfrm>
            <a:off x="10663238" y="5664200"/>
            <a:ext cx="4413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50" name="Chart 3">
            <a:extLst>
              <a:ext uri="{FF2B5EF4-FFF2-40B4-BE49-F238E27FC236}">
                <a16:creationId xmlns:a16="http://schemas.microsoft.com/office/drawing/2014/main" id="{BF85742A-7B7F-9718-3326-6F761C12291C}"/>
              </a:ext>
            </a:extLst>
          </p:cNvPr>
          <p:cNvGraphicFramePr/>
          <p:nvPr>
            <p:custDataLst>
              <p:tags r:id="rId25"/>
            </p:custDataLst>
            <p:extLst>
              <p:ext uri="{D42A27DB-BD31-4B8C-83A1-F6EECF244321}">
                <p14:modId xmlns:p14="http://schemas.microsoft.com/office/powerpoint/2010/main" val="2134808249"/>
              </p:ext>
            </p:extLst>
          </p:nvPr>
        </p:nvGraphicFramePr>
        <p:xfrm>
          <a:off x="6818313" y="4768850"/>
          <a:ext cx="5143500" cy="1555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7"/>
          </a:graphicData>
        </a:graphic>
      </p:graphicFrame>
      <p:cxnSp>
        <p:nvCxnSpPr>
          <p:cNvPr id="3190" name="直接连接符 3189">
            <a:extLst>
              <a:ext uri="{FF2B5EF4-FFF2-40B4-BE49-F238E27FC236}">
                <a16:creationId xmlns:a16="http://schemas.microsoft.com/office/drawing/2014/main" id="{689DA5B8-37BB-87F6-D692-11B4F5C54EED}"/>
              </a:ext>
            </a:extLst>
          </p:cNvPr>
          <p:cNvCxnSpPr/>
          <p:nvPr>
            <p:custDataLst>
              <p:tags r:id="rId26"/>
            </p:custDataLst>
          </p:nvPr>
        </p:nvCxnSpPr>
        <p:spPr bwMode="auto">
          <a:xfrm flipV="1">
            <a:off x="7397750" y="4854575"/>
            <a:ext cx="0" cy="762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1" name="直接连接符 3190">
            <a:extLst>
              <a:ext uri="{FF2B5EF4-FFF2-40B4-BE49-F238E27FC236}">
                <a16:creationId xmlns:a16="http://schemas.microsoft.com/office/drawing/2014/main" id="{7F4568BC-3C16-3010-3829-EF106EF0006B}"/>
              </a:ext>
            </a:extLst>
          </p:cNvPr>
          <p:cNvCxnSpPr>
            <a:cxnSpLocks/>
          </p:cNvCxnSpPr>
          <p:nvPr>
            <p:custDataLst>
              <p:tags r:id="rId27"/>
            </p:custDataLst>
          </p:nvPr>
        </p:nvCxnSpPr>
        <p:spPr bwMode="auto">
          <a:xfrm>
            <a:off x="7397750" y="4854575"/>
            <a:ext cx="3983038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2" name="直接连接符 3191">
            <a:extLst>
              <a:ext uri="{FF2B5EF4-FFF2-40B4-BE49-F238E27FC236}">
                <a16:creationId xmlns:a16="http://schemas.microsoft.com/office/drawing/2014/main" id="{4F251196-A4AE-8480-04B3-DAE5C639BF2F}"/>
              </a:ext>
            </a:extLst>
          </p:cNvPr>
          <p:cNvCxnSpPr/>
          <p:nvPr>
            <p:custDataLst>
              <p:tags r:id="rId28"/>
            </p:custDataLst>
          </p:nvPr>
        </p:nvCxnSpPr>
        <p:spPr bwMode="auto">
          <a:xfrm>
            <a:off x="11380788" y="4854575"/>
            <a:ext cx="0" cy="5334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58" name="直接连接符 3257">
            <a:extLst>
              <a:ext uri="{FF2B5EF4-FFF2-40B4-BE49-F238E27FC236}">
                <a16:creationId xmlns:a16="http://schemas.microsoft.com/office/drawing/2014/main" id="{53DA2746-B94F-B60F-A55E-C858B7A9D62F}"/>
              </a:ext>
            </a:extLst>
          </p:cNvPr>
          <p:cNvCxnSpPr/>
          <p:nvPr>
            <p:custDataLst>
              <p:tags r:id="rId29"/>
            </p:custDataLst>
          </p:nvPr>
        </p:nvCxnSpPr>
        <p:spPr bwMode="auto">
          <a:xfrm flipV="1">
            <a:off x="8393113" y="5257800"/>
            <a:ext cx="0" cy="7461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63" name="直接连接符 3262">
            <a:extLst>
              <a:ext uri="{FF2B5EF4-FFF2-40B4-BE49-F238E27FC236}">
                <a16:creationId xmlns:a16="http://schemas.microsoft.com/office/drawing/2014/main" id="{9ADAF9A6-8466-3FB1-4231-AE786C8C2694}"/>
              </a:ext>
            </a:extLst>
          </p:cNvPr>
          <p:cNvCxnSpPr/>
          <p:nvPr>
            <p:custDataLst>
              <p:tags r:id="rId30"/>
            </p:custDataLst>
          </p:nvPr>
        </p:nvCxnSpPr>
        <p:spPr bwMode="auto">
          <a:xfrm flipV="1">
            <a:off x="9388475" y="5505450"/>
            <a:ext cx="0" cy="1016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5" name="直接连接符 1024">
            <a:extLst>
              <a:ext uri="{FF2B5EF4-FFF2-40B4-BE49-F238E27FC236}">
                <a16:creationId xmlns:a16="http://schemas.microsoft.com/office/drawing/2014/main" id="{F667CBC5-F237-B1D0-D39A-5AE0D9B01A8C}"/>
              </a:ext>
            </a:extLst>
          </p:cNvPr>
          <p:cNvCxnSpPr/>
          <p:nvPr>
            <p:custDataLst>
              <p:tags r:id="rId31"/>
            </p:custDataLst>
          </p:nvPr>
        </p:nvCxnSpPr>
        <p:spPr bwMode="auto">
          <a:xfrm flipV="1">
            <a:off x="10385425" y="5622925"/>
            <a:ext cx="0" cy="6667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45" name="Text Placeholder 4">
            <a:extLst>
              <a:ext uri="{FF2B5EF4-FFF2-40B4-BE49-F238E27FC236}">
                <a16:creationId xmlns:a16="http://schemas.microsoft.com/office/drawing/2014/main" id="{A7AB9E19-E313-608F-E2C4-9954F8C26BDC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auto">
          <a:xfrm>
            <a:off x="7105650" y="6076950"/>
            <a:ext cx="5842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9E8DFF4A-62CF-4756-937E-ACF4A67F9112}" type="datetime'''''''''''''''''''''C''''''''''''''''M''3''''''84'''">
              <a:rPr lang="en-US" altLang="en-US" sz="1400" smtClean="0">
                <a:cs typeface="+mn-cs"/>
              </a:rPr>
              <a:pPr/>
              <a:t>CM384</a:t>
            </a:fld>
            <a:endParaRPr lang="zh-CN" altLang="en-US" sz="1400" dirty="0">
              <a:cs typeface="+mn-cs"/>
            </a:endParaRPr>
          </a:p>
        </p:txBody>
      </p:sp>
      <p:sp>
        <p:nvSpPr>
          <p:cNvPr id="3647" name="Text Placeholder 4">
            <a:extLst>
              <a:ext uri="{FF2B5EF4-FFF2-40B4-BE49-F238E27FC236}">
                <a16:creationId xmlns:a16="http://schemas.microsoft.com/office/drawing/2014/main" id="{A97C9B77-8E90-731A-0224-80BB7153A9DF}"/>
              </a:ext>
            </a:extLst>
          </p:cNvPr>
          <p:cNvSpPr>
            <a:spLocks/>
          </p:cNvSpPr>
          <p:nvPr>
            <p:custDataLst>
              <p:tags r:id="rId33"/>
            </p:custDataLst>
          </p:nvPr>
        </p:nvSpPr>
        <p:spPr bwMode="auto">
          <a:xfrm>
            <a:off x="7927975" y="6076949"/>
            <a:ext cx="931863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193752E-28AD-4986-9289-280036D43E67}" type="datetime'''''T''r''''''a''nscei''ver'' contr''ib''ut''''''ion'">
              <a:rPr lang="en-US" altLang="en-US" sz="1400" smtClean="0">
                <a:cs typeface="+mn-cs"/>
              </a:rPr>
              <a:pPr/>
              <a:t>Transceiver contribution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36" name="Text Placeholder 4">
            <a:extLst>
              <a:ext uri="{FF2B5EF4-FFF2-40B4-BE49-F238E27FC236}">
                <a16:creationId xmlns:a16="http://schemas.microsoft.com/office/drawing/2014/main" id="{1F8BCA6D-31A0-A459-9B67-F11DBE3A4F11}"/>
              </a:ext>
            </a:extLst>
          </p:cNvPr>
          <p:cNvSpPr>
            <a:spLocks/>
          </p:cNvSpPr>
          <p:nvPr>
            <p:custDataLst>
              <p:tags r:id="rId34"/>
            </p:custDataLst>
          </p:nvPr>
        </p:nvSpPr>
        <p:spPr bwMode="auto">
          <a:xfrm>
            <a:off x="8924925" y="6076949"/>
            <a:ext cx="928688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CCEDF59-E96C-4FCD-B3CF-3A51802A490D}" type="datetime'S''i''ng''le-c''ar''''''d'''' cont''''''ributi''o''''''n'">
              <a:rPr lang="en-US" altLang="en-US" sz="1400" smtClean="0">
                <a:cs typeface="+mn-cs"/>
              </a:rPr>
              <a:pPr/>
              <a:t>Single-card contribution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43" name="Text Placeholder 4">
            <a:extLst>
              <a:ext uri="{FF2B5EF4-FFF2-40B4-BE49-F238E27FC236}">
                <a16:creationId xmlns:a16="http://schemas.microsoft.com/office/drawing/2014/main" id="{9438C138-D03B-A34F-19B7-2FFE2A73A841}"/>
              </a:ext>
            </a:extLst>
          </p:cNvPr>
          <p:cNvSpPr>
            <a:spLocks/>
          </p:cNvSpPr>
          <p:nvPr>
            <p:custDataLst>
              <p:tags r:id="rId35"/>
            </p:custDataLst>
          </p:nvPr>
        </p:nvSpPr>
        <p:spPr bwMode="auto">
          <a:xfrm>
            <a:off x="9955213" y="6076949"/>
            <a:ext cx="860425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C91DE38-7E0A-49F8-A89A-E7123D48E37F}" type="datetime'Re''''''ma''''''''i''''''''''n''''''''''ing'''' ga''''''''p'">
              <a:rPr lang="en-US" altLang="en-US" sz="1400" smtClean="0">
                <a:cs typeface="+mn-cs"/>
              </a:rPr>
              <a:pPr/>
              <a:t>Remaining gap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44" name="Text Placeholder 4">
            <a:extLst>
              <a:ext uri="{FF2B5EF4-FFF2-40B4-BE49-F238E27FC236}">
                <a16:creationId xmlns:a16="http://schemas.microsoft.com/office/drawing/2014/main" id="{2BAF0AC1-4E70-D086-57FC-B2940C9D0BFD}"/>
              </a:ext>
            </a:extLst>
          </p:cNvPr>
          <p:cNvSpPr>
            <a:spLocks/>
          </p:cNvSpPr>
          <p:nvPr>
            <p:custDataLst>
              <p:tags r:id="rId36"/>
            </p:custDataLst>
          </p:nvPr>
        </p:nvSpPr>
        <p:spPr bwMode="auto">
          <a:xfrm>
            <a:off x="11098213" y="6076950"/>
            <a:ext cx="565150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817503D-A165-4792-BA6D-82E35E225F35}" type="datetime'''''''''G''B''''''''''2''00'' ''''N''''''''''V''''L7''''2'">
              <a:rPr lang="en-US" altLang="en-US" sz="1400" smtClean="0">
                <a:cs typeface="+mn-cs"/>
              </a:rPr>
              <a:pPr/>
              <a:t>GB200 NVL72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87" name="Text Placeholder 4">
            <a:extLst>
              <a:ext uri="{FF2B5EF4-FFF2-40B4-BE49-F238E27FC236}">
                <a16:creationId xmlns:a16="http://schemas.microsoft.com/office/drawing/2014/main" id="{2CD000E8-9C1A-5C05-2734-2E71009A5C12}"/>
              </a:ext>
            </a:extLst>
          </p:cNvPr>
          <p:cNvSpPr>
            <a:spLocks/>
          </p:cNvSpPr>
          <p:nvPr>
            <p:custDataLst>
              <p:tags r:id="rId37"/>
            </p:custDataLst>
          </p:nvPr>
        </p:nvSpPr>
        <p:spPr bwMode="auto">
          <a:xfrm>
            <a:off x="9094788" y="4703763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E57B1B42-F7E2-45F5-BFDB-832BED93DD43}" type="datetime'''''''''''''''''''''-''''''5''''6''''''''''''''''%'''''''''">
              <a:rPr lang="en-US" altLang="en-US" sz="1400" b="1" smtClean="0">
                <a:effectLst/>
                <a:cs typeface="+mn-cs"/>
              </a:rPr>
              <a:pPr/>
              <a:t>-56%</a:t>
            </a:fld>
            <a:endParaRPr lang="zh-CN" altLang="en-US" sz="1400" b="1" dirty="0">
              <a:cs typeface="+mn-cs"/>
            </a:endParaRPr>
          </a:p>
        </p:txBody>
      </p:sp>
      <p:sp>
        <p:nvSpPr>
          <p:cNvPr id="3243" name="文本框 3242">
            <a:extLst>
              <a:ext uri="{FF2B5EF4-FFF2-40B4-BE49-F238E27FC236}">
                <a16:creationId xmlns:a16="http://schemas.microsoft.com/office/drawing/2014/main" id="{A71C0119-D653-5A9F-81EE-166DF1275879}"/>
              </a:ext>
            </a:extLst>
          </p:cNvPr>
          <p:cNvSpPr txBox="1"/>
          <p:nvPr/>
        </p:nvSpPr>
        <p:spPr>
          <a:xfrm>
            <a:off x="6648814" y="4525169"/>
            <a:ext cx="2214563" cy="30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W per TFLOPS</a:t>
            </a:r>
          </a:p>
        </p:txBody>
      </p:sp>
      <p:sp>
        <p:nvSpPr>
          <p:cNvPr id="3244" name="文本框 3243">
            <a:extLst>
              <a:ext uri="{FF2B5EF4-FFF2-40B4-BE49-F238E27FC236}">
                <a16:creationId xmlns:a16="http://schemas.microsoft.com/office/drawing/2014/main" id="{AF74CE28-2416-6AAE-26F4-EA6F6AB28A8A}"/>
              </a:ext>
            </a:extLst>
          </p:cNvPr>
          <p:cNvSpPr txBox="1"/>
          <p:nvPr/>
        </p:nvSpPr>
        <p:spPr>
          <a:xfrm>
            <a:off x="6518661" y="3917094"/>
            <a:ext cx="5360601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CM384 consumes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+200%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 per TFLOP than NVL72,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transceivers represent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20%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of this gap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DFAEF5A-B14D-CBC9-B54E-D3738E81A527}"/>
              </a:ext>
            </a:extLst>
          </p:cNvPr>
          <p:cNvSpPr/>
          <p:nvPr/>
        </p:nvSpPr>
        <p:spPr>
          <a:xfrm>
            <a:off x="12308944" y="420643"/>
            <a:ext cx="1989145" cy="70663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Semi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的报告</a:t>
            </a:r>
            <a:endParaRPr lang="en-US" dirty="0">
              <a:solidFill>
                <a:schemeClr val="accent6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80531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16494A8-BFF6-04E5-A4A2-020B8041E3D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983568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1" imgW="349" imgH="350" progId="TCLayout.ActiveDocument.1">
                  <p:embed/>
                </p:oleObj>
              </mc:Choice>
              <mc:Fallback>
                <p:oleObj name="think-cell 幻灯片" r:id="rId31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494A8-BFF6-04E5-A4A2-020B8041E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pPr lvl="0">
              <a:defRPr/>
            </a:pPr>
            <a:r>
              <a:rPr lang="en-US" altLang="zh-CN" dirty="0">
                <a:solidFill>
                  <a:srgbClr val="53585F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CPO: a multi-billion-dollar market paved by data rate scaling</a:t>
            </a:r>
          </a:p>
        </p:txBody>
      </p:sp>
      <p:sp>
        <p:nvSpPr>
          <p:cNvPr id="16" name="Textplatzhalter 9">
            <a:extLst>
              <a:ext uri="{FF2B5EF4-FFF2-40B4-BE49-F238E27FC236}">
                <a16:creationId xmlns:a16="http://schemas.microsoft.com/office/drawing/2014/main" id="{133321FE-471A-9D58-E3A4-347153EAA1B8}"/>
              </a:ext>
            </a:extLst>
          </p:cNvPr>
          <p:cNvSpPr txBox="1">
            <a:spLocks/>
          </p:cNvSpPr>
          <p:nvPr/>
        </p:nvSpPr>
        <p:spPr bwMode="gray">
          <a:xfrm>
            <a:off x="1041329" y="1720374"/>
            <a:ext cx="2426361" cy="246221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Potential Ports</a:t>
            </a:r>
            <a:r>
              <a:rPr kumimoji="1" lang="en-US" altLang="zh-CN" sz="1600" b="1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1</a:t>
            </a:r>
            <a:endParaRPr kumimoji="1" lang="en-US" altLang="zh-CN" sz="1600" b="1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7" name="Textplatzhalter 9">
            <a:extLst>
              <a:ext uri="{FF2B5EF4-FFF2-40B4-BE49-F238E27FC236}">
                <a16:creationId xmlns:a16="http://schemas.microsoft.com/office/drawing/2014/main" id="{6491FCF5-AD49-434C-5A20-FF06D36E6CB1}"/>
              </a:ext>
            </a:extLst>
          </p:cNvPr>
          <p:cNvSpPr txBox="1">
            <a:spLocks/>
          </p:cNvSpPr>
          <p:nvPr/>
        </p:nvSpPr>
        <p:spPr bwMode="gray">
          <a:xfrm>
            <a:off x="1041328" y="3902149"/>
            <a:ext cx="2426361" cy="246221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Penetration Rate</a:t>
            </a:r>
            <a:r>
              <a:rPr kumimoji="1" lang="en-US" altLang="zh-CN" sz="1600" b="1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4</a:t>
            </a:r>
            <a:endParaRPr kumimoji="1" lang="zh-CN" altLang="zh-CN" sz="1600" b="1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8" name="Textplatzhalter 9">
            <a:extLst>
              <a:ext uri="{FF2B5EF4-FFF2-40B4-BE49-F238E27FC236}">
                <a16:creationId xmlns:a16="http://schemas.microsoft.com/office/drawing/2014/main" id="{9B00FACC-372C-5C1D-5048-D7C653DF206B}"/>
              </a:ext>
            </a:extLst>
          </p:cNvPr>
          <p:cNvSpPr txBox="1">
            <a:spLocks/>
          </p:cNvSpPr>
          <p:nvPr/>
        </p:nvSpPr>
        <p:spPr bwMode="gray">
          <a:xfrm>
            <a:off x="1041329" y="5215567"/>
            <a:ext cx="2426361" cy="246221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600"/>
              </a:spcAft>
              <a:buClrTx/>
              <a:defRPr/>
            </a:pP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Unit Price</a:t>
            </a:r>
            <a:r>
              <a:rPr kumimoji="1" lang="en-US" altLang="zh-CN" sz="1600" b="1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5</a:t>
            </a:r>
            <a:endParaRPr kumimoji="1" lang="zh-CN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1AAAD5A-F8E2-104B-6B50-9D8452BBF226}"/>
              </a:ext>
            </a:extLst>
          </p:cNvPr>
          <p:cNvSpPr txBox="1"/>
          <p:nvPr/>
        </p:nvSpPr>
        <p:spPr>
          <a:xfrm>
            <a:off x="241089" y="908427"/>
            <a:ext cx="1232094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ea typeface="楷体"/>
                <a:cs typeface="+mn-ea"/>
                <a:sym typeface="+mn-lt"/>
              </a:rPr>
              <a:t>CPO</a:t>
            </a:r>
            <a:r>
              <a:rPr kumimoji="1" lang="zh-CN" altLang="en-US" sz="1600" b="1" dirty="0">
                <a:solidFill>
                  <a:srgbClr val="53585F">
                    <a:lumMod val="50000"/>
                  </a:srgbClr>
                </a:solidFill>
                <a:ea typeface="楷体"/>
                <a:cs typeface="+mn-ea"/>
                <a:sym typeface="+mn-lt"/>
              </a:rPr>
              <a:t> </a:t>
            </a: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ea typeface="楷体"/>
                <a:cs typeface="+mn-ea"/>
                <a:sym typeface="+mn-lt"/>
              </a:rPr>
              <a:t>Scale</a:t>
            </a:r>
            <a:endParaRPr kumimoji="1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ea typeface="楷体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24CFA27-1578-017B-51D5-05E1E2E9944F}"/>
              </a:ext>
            </a:extLst>
          </p:cNvPr>
          <p:cNvSpPr txBox="1"/>
          <p:nvPr/>
        </p:nvSpPr>
        <p:spPr>
          <a:xfrm>
            <a:off x="1194419" y="901967"/>
            <a:ext cx="1997648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latin typeface="Arial"/>
                <a:ea typeface="楷体"/>
                <a:cs typeface="+mn-ea"/>
                <a:sym typeface="+mn-lt"/>
              </a:rPr>
              <a:t>: </a:t>
            </a:r>
            <a:r>
              <a:rPr kumimoji="1" lang="en-US" altLang="zh-CN" sz="1600" b="1" dirty="0">
                <a:solidFill>
                  <a:srgbClr val="0052D9"/>
                </a:solidFill>
                <a:latin typeface="Arial"/>
                <a:ea typeface="楷体"/>
                <a:cs typeface="+mn-ea"/>
                <a:sym typeface="+mn-lt"/>
              </a:rPr>
              <a:t>~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$1</a:t>
            </a:r>
            <a:r>
              <a:rPr kumimoji="1" lang="en-US" altLang="zh-CN" sz="1600" b="1" dirty="0">
                <a:solidFill>
                  <a:srgbClr val="0052D9"/>
                </a:solidFill>
                <a:latin typeface="Arial"/>
                <a:ea typeface="楷体"/>
                <a:cs typeface="+mn-ea"/>
                <a:sym typeface="+mn-lt"/>
              </a:rPr>
              <a:t>0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bn </a:t>
            </a:r>
            <a:r>
              <a:rPr kumimoji="1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10000"/>
                  </a:scheme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in 2028</a:t>
            </a:r>
            <a:endParaRPr kumimoji="1" lang="zh-CN" altLang="zh-CN" sz="160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10000"/>
                </a:scheme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cxnSp>
        <p:nvCxnSpPr>
          <p:cNvPr id="26" name="连接符: 肘形 25">
            <a:extLst>
              <a:ext uri="{FF2B5EF4-FFF2-40B4-BE49-F238E27FC236}">
                <a16:creationId xmlns:a16="http://schemas.microsoft.com/office/drawing/2014/main" id="{7A51EBDC-CB07-8627-0006-B31EF5BB4551}"/>
              </a:ext>
            </a:extLst>
          </p:cNvPr>
          <p:cNvCxnSpPr>
            <a:cxnSpLocks/>
            <a:stCxn id="3" idx="2"/>
            <a:endCxn id="16" idx="1"/>
          </p:cNvCxnSpPr>
          <p:nvPr/>
        </p:nvCxnSpPr>
        <p:spPr>
          <a:xfrm rot="16200000" flipH="1">
            <a:off x="646010" y="1448165"/>
            <a:ext cx="606445" cy="184193"/>
          </a:xfrm>
          <a:prstGeom prst="bentConnector2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连接符: 肘形 35">
            <a:extLst>
              <a:ext uri="{FF2B5EF4-FFF2-40B4-BE49-F238E27FC236}">
                <a16:creationId xmlns:a16="http://schemas.microsoft.com/office/drawing/2014/main" id="{26AFD03A-67CB-4AE1-FEED-B5A5484B352C}"/>
              </a:ext>
            </a:extLst>
          </p:cNvPr>
          <p:cNvCxnSpPr>
            <a:cxnSpLocks/>
            <a:stCxn id="3" idx="2"/>
            <a:endCxn id="17" idx="1"/>
          </p:cNvCxnSpPr>
          <p:nvPr/>
        </p:nvCxnSpPr>
        <p:spPr>
          <a:xfrm rot="16200000" flipH="1">
            <a:off x="-444878" y="2539054"/>
            <a:ext cx="2788220" cy="184192"/>
          </a:xfrm>
          <a:prstGeom prst="bentConnector2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连接符: 肘形 38">
            <a:extLst>
              <a:ext uri="{FF2B5EF4-FFF2-40B4-BE49-F238E27FC236}">
                <a16:creationId xmlns:a16="http://schemas.microsoft.com/office/drawing/2014/main" id="{6E224059-1B99-F5CF-A4B7-F2683AF536C2}"/>
              </a:ext>
            </a:extLst>
          </p:cNvPr>
          <p:cNvCxnSpPr>
            <a:cxnSpLocks/>
            <a:stCxn id="3" idx="2"/>
            <a:endCxn id="18" idx="1"/>
          </p:cNvCxnSpPr>
          <p:nvPr/>
        </p:nvCxnSpPr>
        <p:spPr>
          <a:xfrm rot="16200000" flipH="1">
            <a:off x="-1101587" y="3195762"/>
            <a:ext cx="4101638" cy="184193"/>
          </a:xfrm>
          <a:prstGeom prst="bentConnector2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A6FB2F7F-8885-41A9-3656-5B3F067CEC91}"/>
              </a:ext>
            </a:extLst>
          </p:cNvPr>
          <p:cNvSpPr txBox="1"/>
          <p:nvPr/>
        </p:nvSpPr>
        <p:spPr>
          <a:xfrm>
            <a:off x="1177209" y="2010956"/>
            <a:ext cx="1997649" cy="523220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800G+ Transceiver Shipments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45" name="Textplatzhalter 9">
            <a:extLst>
              <a:ext uri="{FF2B5EF4-FFF2-40B4-BE49-F238E27FC236}">
                <a16:creationId xmlns:a16="http://schemas.microsoft.com/office/drawing/2014/main" id="{DDAB04C4-EB46-7D5D-3566-ADC7163CC7A3}"/>
              </a:ext>
            </a:extLst>
          </p:cNvPr>
          <p:cNvSpPr txBox="1">
            <a:spLocks/>
          </p:cNvSpPr>
          <p:nvPr/>
        </p:nvSpPr>
        <p:spPr bwMode="gray">
          <a:xfrm>
            <a:off x="4173245" y="1662305"/>
            <a:ext cx="1922753" cy="184666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GPU Shipments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1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46" name="Textplatzhalter 9">
            <a:extLst>
              <a:ext uri="{FF2B5EF4-FFF2-40B4-BE49-F238E27FC236}">
                <a16:creationId xmlns:a16="http://schemas.microsoft.com/office/drawing/2014/main" id="{5EF8663E-051B-B4A4-54DB-38B83B7C0B33}"/>
              </a:ext>
            </a:extLst>
          </p:cNvPr>
          <p:cNvSpPr txBox="1">
            <a:spLocks/>
          </p:cNvSpPr>
          <p:nvPr/>
        </p:nvSpPr>
        <p:spPr bwMode="gray">
          <a:xfrm>
            <a:off x="4173245" y="2985404"/>
            <a:ext cx="3147935" cy="184666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ASIC Shipment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3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cxnSp>
        <p:nvCxnSpPr>
          <p:cNvPr id="47" name="连接符: 肘形 46">
            <a:extLst>
              <a:ext uri="{FF2B5EF4-FFF2-40B4-BE49-F238E27FC236}">
                <a16:creationId xmlns:a16="http://schemas.microsoft.com/office/drawing/2014/main" id="{53AB518C-C4AA-2D26-2D1E-648D1301FD07}"/>
              </a:ext>
            </a:extLst>
          </p:cNvPr>
          <p:cNvCxnSpPr>
            <a:cxnSpLocks/>
            <a:stCxn id="44" idx="1"/>
            <a:endCxn id="1031" idx="1"/>
          </p:cNvCxnSpPr>
          <p:nvPr/>
        </p:nvCxnSpPr>
        <p:spPr>
          <a:xfrm>
            <a:off x="3168319" y="2010956"/>
            <a:ext cx="801277" cy="641137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217F350D-6B79-18FD-51E5-6B5B0A7A3634}"/>
              </a:ext>
            </a:extLst>
          </p:cNvPr>
          <p:cNvGrpSpPr/>
          <p:nvPr/>
        </p:nvGrpSpPr>
        <p:grpSpPr>
          <a:xfrm>
            <a:off x="4964140" y="1199243"/>
            <a:ext cx="886779" cy="257609"/>
            <a:chOff x="5019885" y="4088857"/>
            <a:chExt cx="969121" cy="350678"/>
          </a:xfrm>
        </p:grpSpPr>
        <p:pic>
          <p:nvPicPr>
            <p:cNvPr id="60" name="图片 59">
              <a:extLst>
                <a:ext uri="{FF2B5EF4-FFF2-40B4-BE49-F238E27FC236}">
                  <a16:creationId xmlns:a16="http://schemas.microsoft.com/office/drawing/2014/main" id="{6740A79A-8726-4776-9DD3-2CE7E1AFE3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5019885" y="4088857"/>
              <a:ext cx="355624" cy="350678"/>
            </a:xfrm>
            <a:prstGeom prst="rect">
              <a:avLst/>
            </a:prstGeom>
          </p:spPr>
        </p:pic>
        <p:pic>
          <p:nvPicPr>
            <p:cNvPr id="61" name="图片 60">
              <a:extLst>
                <a:ext uri="{FF2B5EF4-FFF2-40B4-BE49-F238E27FC236}">
                  <a16:creationId xmlns:a16="http://schemas.microsoft.com/office/drawing/2014/main" id="{A3C19EEB-AA1B-8A22-383D-36E1201DDD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5395503" y="4154387"/>
              <a:ext cx="593503" cy="219617"/>
            </a:xfrm>
            <a:prstGeom prst="rect">
              <a:avLst/>
            </a:prstGeom>
          </p:spPr>
        </p:pic>
      </p:grpSp>
      <p:sp>
        <p:nvSpPr>
          <p:cNvPr id="1024" name="Textplatzhalter 9">
            <a:extLst>
              <a:ext uri="{FF2B5EF4-FFF2-40B4-BE49-F238E27FC236}">
                <a16:creationId xmlns:a16="http://schemas.microsoft.com/office/drawing/2014/main" id="{1332662F-95E6-6C6C-14F0-42E36CBF7D68}"/>
              </a:ext>
            </a:extLst>
          </p:cNvPr>
          <p:cNvSpPr txBox="1">
            <a:spLocks/>
          </p:cNvSpPr>
          <p:nvPr/>
        </p:nvSpPr>
        <p:spPr bwMode="gray">
          <a:xfrm>
            <a:off x="4173245" y="2103338"/>
            <a:ext cx="3302499" cy="184666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Transceiver Attach Ratio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2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grpSp>
        <p:nvGrpSpPr>
          <p:cNvPr id="1032" name="组合 1031">
            <a:extLst>
              <a:ext uri="{FF2B5EF4-FFF2-40B4-BE49-F238E27FC236}">
                <a16:creationId xmlns:a16="http://schemas.microsoft.com/office/drawing/2014/main" id="{1D87FE20-FB05-1D1F-2AFD-520976D32D80}"/>
              </a:ext>
            </a:extLst>
          </p:cNvPr>
          <p:cNvGrpSpPr/>
          <p:nvPr/>
        </p:nvGrpSpPr>
        <p:grpSpPr>
          <a:xfrm>
            <a:off x="4997104" y="2534572"/>
            <a:ext cx="1124028" cy="256470"/>
            <a:chOff x="4391911" y="2529715"/>
            <a:chExt cx="1124028" cy="256470"/>
          </a:xfrm>
        </p:grpSpPr>
        <p:pic>
          <p:nvPicPr>
            <p:cNvPr id="63" name="Picture 2">
              <a:extLst>
                <a:ext uri="{FF2B5EF4-FFF2-40B4-BE49-F238E27FC236}">
                  <a16:creationId xmlns:a16="http://schemas.microsoft.com/office/drawing/2014/main" id="{C3BE9785-5F82-55B9-BDDA-BA31D657AC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8690" y="2543766"/>
              <a:ext cx="237249" cy="2283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¿Qué es Amazon Web Services (AWS) y por qué aprenderlo? – Programa en Línea">
              <a:extLst>
                <a:ext uri="{FF2B5EF4-FFF2-40B4-BE49-F238E27FC236}">
                  <a16:creationId xmlns:a16="http://schemas.microsoft.com/office/drawing/2014/main" id="{E2DB309D-C908-878B-CC14-DA377EDBB0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362" y="2543766"/>
              <a:ext cx="342448" cy="2283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Google Cloud Logo - Significado, História e PNG">
              <a:extLst>
                <a:ext uri="{FF2B5EF4-FFF2-40B4-BE49-F238E27FC236}">
                  <a16:creationId xmlns:a16="http://schemas.microsoft.com/office/drawing/2014/main" id="{6975AF66-40D0-D28E-8A61-2D0CBBEF7F5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576" t="3770" r="22049" b="1928"/>
            <a:stretch/>
          </p:blipFill>
          <p:spPr bwMode="auto">
            <a:xfrm>
              <a:off x="4391911" y="2529715"/>
              <a:ext cx="272570" cy="2564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27" name="Textplatzhalter 9">
            <a:extLst>
              <a:ext uri="{FF2B5EF4-FFF2-40B4-BE49-F238E27FC236}">
                <a16:creationId xmlns:a16="http://schemas.microsoft.com/office/drawing/2014/main" id="{22552676-7B18-0D9A-89FB-138C0250C458}"/>
              </a:ext>
            </a:extLst>
          </p:cNvPr>
          <p:cNvSpPr txBox="1">
            <a:spLocks/>
          </p:cNvSpPr>
          <p:nvPr/>
        </p:nvSpPr>
        <p:spPr bwMode="gray">
          <a:xfrm>
            <a:off x="4173245" y="3426437"/>
            <a:ext cx="3302499" cy="184666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Transceiver Attach Ratio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2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029" name="Textplatzhalter 9">
            <a:extLst>
              <a:ext uri="{FF2B5EF4-FFF2-40B4-BE49-F238E27FC236}">
                <a16:creationId xmlns:a16="http://schemas.microsoft.com/office/drawing/2014/main" id="{E2B009F4-8061-4E51-9FD0-C395BF5B0898}"/>
              </a:ext>
            </a:extLst>
          </p:cNvPr>
          <p:cNvSpPr txBox="1">
            <a:spLocks/>
          </p:cNvSpPr>
          <p:nvPr/>
        </p:nvSpPr>
        <p:spPr bwMode="gray">
          <a:xfrm>
            <a:off x="3967309" y="1221272"/>
            <a:ext cx="953509" cy="215444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GPU Ports</a:t>
            </a:r>
          </a:p>
        </p:txBody>
      </p:sp>
      <p:sp>
        <p:nvSpPr>
          <p:cNvPr id="1031" name="Textplatzhalter 9">
            <a:extLst>
              <a:ext uri="{FF2B5EF4-FFF2-40B4-BE49-F238E27FC236}">
                <a16:creationId xmlns:a16="http://schemas.microsoft.com/office/drawing/2014/main" id="{3031B129-A9F8-A3CA-9A25-09FCA5061D45}"/>
              </a:ext>
            </a:extLst>
          </p:cNvPr>
          <p:cNvSpPr txBox="1">
            <a:spLocks/>
          </p:cNvSpPr>
          <p:nvPr/>
        </p:nvSpPr>
        <p:spPr bwMode="gray">
          <a:xfrm>
            <a:off x="3969596" y="2544371"/>
            <a:ext cx="970791" cy="215444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ASIC Ports</a:t>
            </a:r>
          </a:p>
        </p:txBody>
      </p:sp>
      <p:cxnSp>
        <p:nvCxnSpPr>
          <p:cNvPr id="1034" name="连接符: 肘形 1033">
            <a:extLst>
              <a:ext uri="{FF2B5EF4-FFF2-40B4-BE49-F238E27FC236}">
                <a16:creationId xmlns:a16="http://schemas.microsoft.com/office/drawing/2014/main" id="{70840A1C-CF44-1D56-14C2-41FEFB5DCBAC}"/>
              </a:ext>
            </a:extLst>
          </p:cNvPr>
          <p:cNvCxnSpPr>
            <a:cxnSpLocks/>
            <a:stCxn id="44" idx="1"/>
            <a:endCxn id="1029" idx="1"/>
          </p:cNvCxnSpPr>
          <p:nvPr/>
        </p:nvCxnSpPr>
        <p:spPr>
          <a:xfrm flipV="1">
            <a:off x="3168319" y="1328994"/>
            <a:ext cx="798990" cy="681962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35" name="Chart 3">
            <a:extLst>
              <a:ext uri="{FF2B5EF4-FFF2-40B4-BE49-F238E27FC236}">
                <a16:creationId xmlns:a16="http://schemas.microsoft.com/office/drawing/2014/main" id="{BB66B055-19F1-1363-64C4-78015BAD19D8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39915910"/>
              </p:ext>
            </p:extLst>
          </p:nvPr>
        </p:nvGraphicFramePr>
        <p:xfrm>
          <a:off x="3949700" y="3941763"/>
          <a:ext cx="2249488" cy="9286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8"/>
          </a:graphicData>
        </a:graphic>
      </p:graphicFrame>
      <p:sp>
        <p:nvSpPr>
          <p:cNvPr id="1122" name="Text Placeholder 4">
            <a:extLst>
              <a:ext uri="{FF2B5EF4-FFF2-40B4-BE49-F238E27FC236}">
                <a16:creationId xmlns:a16="http://schemas.microsoft.com/office/drawing/2014/main" id="{B06CF0C9-E443-79E3-28D0-5033F94EE76B}"/>
              </a:ext>
            </a:extLst>
          </p:cNvPr>
          <p:cNvSpPr>
            <a:spLocks noGrp="1"/>
          </p:cNvSpPr>
          <p:nvPr>
            <p:custDataLst>
              <p:tags r:id="rId3"/>
            </p:custDataLst>
          </p:nvPr>
        </p:nvSpPr>
        <p:spPr bwMode="gray">
          <a:xfrm>
            <a:off x="3757613" y="4681538"/>
            <a:ext cx="984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47867155-0C77-46BF-9F6A-EEC40F0A4E8A}" type="datetime'''''''''''''''''''''''''''''''''''''''''''''''''0'''''''''''''">
              <a:rPr lang="en-US" altLang="en-US" sz="1400" smtClean="0">
                <a:effectLst/>
                <a:cs typeface="+mn-cs"/>
              </a:rPr>
              <a:pPr lvl="0" algn="r">
                <a:spcBef>
                  <a:spcPct val="0"/>
                </a:spcBef>
                <a:spcAft>
                  <a:spcPct val="0"/>
                </a:spcAft>
              </a:pPr>
              <a:t>0</a:t>
            </a:fld>
            <a:endParaRPr lang="en-US" sz="1400" dirty="0">
              <a:cs typeface="+mn-cs"/>
            </a:endParaRPr>
          </a:p>
        </p:txBody>
      </p:sp>
      <p:sp>
        <p:nvSpPr>
          <p:cNvPr id="1124" name="Text Placeholder 4">
            <a:extLst>
              <a:ext uri="{FF2B5EF4-FFF2-40B4-BE49-F238E27FC236}">
                <a16:creationId xmlns:a16="http://schemas.microsoft.com/office/drawing/2014/main" id="{BCCCB18C-3566-F8EA-669F-42EB6856D799}"/>
              </a:ext>
            </a:extLst>
          </p:cNvPr>
          <p:cNvSpPr>
            <a:spLocks noGrp="1"/>
          </p:cNvSpPr>
          <p:nvPr>
            <p:custDataLst>
              <p:tags r:id="rId4"/>
            </p:custDataLst>
          </p:nvPr>
        </p:nvSpPr>
        <p:spPr bwMode="gray">
          <a:xfrm>
            <a:off x="3500438" y="4300538"/>
            <a:ext cx="3556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FE6B8691-5F22-4F76-A802-44B440702DB6}" type="datetime'''''''''''''''''''20'''''''''''''''''''''''''''">
              <a:rPr lang="en-US" altLang="en-US" sz="1400" smtClean="0">
                <a:effectLst/>
                <a:cs typeface="+mn-cs"/>
              </a:rPr>
              <a:pPr lvl="0" algn="r">
                <a:spcBef>
                  <a:spcPct val="0"/>
                </a:spcBef>
                <a:spcAft>
                  <a:spcPct val="0"/>
                </a:spcAft>
              </a:pPr>
              <a:t>20</a:t>
            </a:fld>
            <a:r>
              <a:rPr lang="en-US" altLang="en-US" sz="1400" dirty="0">
                <a:effectLst/>
                <a:cs typeface="+mn-cs"/>
              </a:rPr>
              <a:t>%</a:t>
            </a:r>
            <a:endParaRPr lang="en-US" sz="1400" dirty="0">
              <a:cs typeface="+mn-cs"/>
            </a:endParaRPr>
          </a:p>
        </p:txBody>
      </p:sp>
      <p:sp>
        <p:nvSpPr>
          <p:cNvPr id="1217" name="Text Placeholder 4">
            <a:extLst>
              <a:ext uri="{FF2B5EF4-FFF2-40B4-BE49-F238E27FC236}">
                <a16:creationId xmlns:a16="http://schemas.microsoft.com/office/drawing/2014/main" id="{709388AA-EE20-F5DD-D175-9FA72E6DD201}"/>
              </a:ext>
            </a:extLst>
          </p:cNvPr>
          <p:cNvSpPr>
            <a:spLocks noGrp="1"/>
          </p:cNvSpPr>
          <p:nvPr>
            <p:custDataLst>
              <p:tags r:id="rId5"/>
            </p:custDataLst>
          </p:nvPr>
        </p:nvSpPr>
        <p:spPr bwMode="gray">
          <a:xfrm>
            <a:off x="3500438" y="3917950"/>
            <a:ext cx="3556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242DE458-4F87-444A-A88B-4207F774D989}" type="datetime'''4''''''''''''''''0'">
              <a:rPr lang="en-US" altLang="en-US" sz="1400" smtClean="0">
                <a:effectLst/>
                <a:cs typeface="+mn-cs"/>
              </a:rPr>
              <a:pPr lvl="0" algn="r">
                <a:spcBef>
                  <a:spcPct val="0"/>
                </a:spcBef>
                <a:spcAft>
                  <a:spcPct val="0"/>
                </a:spcAft>
              </a:pPr>
              <a:t>40</a:t>
            </a:fld>
            <a:r>
              <a:rPr lang="en-US" altLang="en-US" sz="1400" dirty="0">
                <a:effectLst/>
                <a:cs typeface="+mn-cs"/>
              </a:rPr>
              <a:t>%</a:t>
            </a:r>
            <a:endParaRPr lang="en-US" sz="1400" dirty="0">
              <a:cs typeface="+mn-cs"/>
            </a:endParaRPr>
          </a:p>
        </p:txBody>
      </p:sp>
      <p:sp>
        <p:nvSpPr>
          <p:cNvPr id="1061" name="Text Placeholder 4">
            <a:extLst>
              <a:ext uri="{FF2B5EF4-FFF2-40B4-BE49-F238E27FC236}">
                <a16:creationId xmlns:a16="http://schemas.microsoft.com/office/drawing/2014/main" id="{330B9421-81E8-3987-E0F4-28829518F75A}"/>
              </a:ext>
            </a:extLst>
          </p:cNvPr>
          <p:cNvSpPr>
            <a:spLocks noGrp="1"/>
          </p:cNvSpPr>
          <p:nvPr>
            <p:custDataLst>
              <p:tags r:id="rId6"/>
            </p:custDataLst>
          </p:nvPr>
        </p:nvSpPr>
        <p:spPr bwMode="auto">
          <a:xfrm>
            <a:off x="3868738" y="4846638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F5A349D7-288B-4048-8601-5F55D45DFB5A}" type="datetime'''''''''''''''''''''''2''6''E'''">
              <a:rPr lang="en-US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26E</a:t>
            </a:fld>
            <a:endParaRPr lang="en-US" sz="1400" dirty="0">
              <a:cs typeface="+mn-cs"/>
            </a:endParaRPr>
          </a:p>
        </p:txBody>
      </p:sp>
      <p:sp>
        <p:nvSpPr>
          <p:cNvPr id="1062" name="Text Placeholder 4">
            <a:extLst>
              <a:ext uri="{FF2B5EF4-FFF2-40B4-BE49-F238E27FC236}">
                <a16:creationId xmlns:a16="http://schemas.microsoft.com/office/drawing/2014/main" id="{988E448E-8B77-1400-E19A-6A3783D7276F}"/>
              </a:ext>
            </a:extLst>
          </p:cNvPr>
          <p:cNvSpPr>
            <a:spLocks noGrp="1"/>
          </p:cNvSpPr>
          <p:nvPr>
            <p:custDataLst>
              <p:tags r:id="rId7"/>
            </p:custDataLst>
          </p:nvPr>
        </p:nvSpPr>
        <p:spPr bwMode="auto">
          <a:xfrm>
            <a:off x="4911725" y="4846638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D9DCB31A-94AF-4E5F-A6D4-9E5E117C7FEC}" type="datetime'2''7''''''''''''''''''''''''''''''''''''''''''E'">
              <a:rPr lang="en-US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27E</a:t>
            </a:fld>
            <a:endParaRPr lang="en-US" sz="1400" dirty="0">
              <a:cs typeface="+mn-cs"/>
            </a:endParaRPr>
          </a:p>
        </p:txBody>
      </p:sp>
      <p:sp useBgFill="1">
        <p:nvSpPr>
          <p:cNvPr id="1352" name="Text Placeholder 4">
            <a:extLst>
              <a:ext uri="{FF2B5EF4-FFF2-40B4-BE49-F238E27FC236}">
                <a16:creationId xmlns:a16="http://schemas.microsoft.com/office/drawing/2014/main" id="{198A5A74-4BBC-A116-D461-F3AE0322BB2D}"/>
              </a:ext>
            </a:extLst>
          </p:cNvPr>
          <p:cNvSpPr>
            <a:spLocks noGrp="1"/>
          </p:cNvSpPr>
          <p:nvPr>
            <p:custDataLst>
              <p:tags r:id="rId8"/>
            </p:custDataLst>
          </p:nvPr>
        </p:nvSpPr>
        <p:spPr bwMode="gray">
          <a:xfrm>
            <a:off x="5962650" y="4548188"/>
            <a:ext cx="30797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9987FD7C-2B85-484F-9A3C-80EDC92470D8}" type="datetime'''''''''''''''''''''7'''''''''''''''''''">
              <a:rPr lang="en-US" altLang="en-US" sz="1400" b="1" smtClean="0">
                <a:solidFill>
                  <a:srgbClr val="0052D9"/>
                </a:solidFill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7</a:t>
            </a:fld>
            <a:r>
              <a:rPr lang="en-US" altLang="en-US" sz="1400" b="1" dirty="0">
                <a:solidFill>
                  <a:srgbClr val="0052D9"/>
                </a:solidFill>
                <a:effectLst/>
                <a:cs typeface="+mn-cs"/>
              </a:rPr>
              <a:t>%</a:t>
            </a:r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 useBgFill="1">
        <p:nvSpPr>
          <p:cNvPr id="1349" name="Text Placeholder 4">
            <a:extLst>
              <a:ext uri="{FF2B5EF4-FFF2-40B4-BE49-F238E27FC236}">
                <a16:creationId xmlns:a16="http://schemas.microsoft.com/office/drawing/2014/main" id="{CE4BE880-A68A-7E8F-3169-3FD8D6102223}"/>
              </a:ext>
            </a:extLst>
          </p:cNvPr>
          <p:cNvSpPr>
            <a:spLocks noGrp="1"/>
          </p:cNvSpPr>
          <p:nvPr>
            <p:custDataLst>
              <p:tags r:id="rId9"/>
            </p:custDataLst>
          </p:nvPr>
        </p:nvSpPr>
        <p:spPr bwMode="gray">
          <a:xfrm>
            <a:off x="5913438" y="4203700"/>
            <a:ext cx="406400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16CA07C-FE09-49D1-9088-5D452800708A}" type="datetime'''''''''''''''2''''''''''''''''''''''''''''5'''''''''">
              <a:rPr lang="en-US" altLang="en-US" sz="1400" b="1" smtClean="0">
                <a:solidFill>
                  <a:srgbClr val="0052D9"/>
                </a:solidFill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25</a:t>
            </a:fld>
            <a:r>
              <a:rPr lang="en-US" altLang="en-US" sz="1400" b="1" dirty="0">
                <a:solidFill>
                  <a:srgbClr val="0052D9"/>
                </a:solidFill>
                <a:effectLst/>
                <a:cs typeface="+mn-cs"/>
              </a:rPr>
              <a:t>%</a:t>
            </a:r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>
        <p:nvSpPr>
          <p:cNvPr id="1355" name="Text Placeholder 4">
            <a:extLst>
              <a:ext uri="{FF2B5EF4-FFF2-40B4-BE49-F238E27FC236}">
                <a16:creationId xmlns:a16="http://schemas.microsoft.com/office/drawing/2014/main" id="{AD8F9F10-DADD-48BA-F137-CA2D6C182CF4}"/>
              </a:ext>
            </a:extLst>
          </p:cNvPr>
          <p:cNvSpPr>
            <a:spLocks noGrp="1"/>
          </p:cNvSpPr>
          <p:nvPr>
            <p:custDataLst>
              <p:tags r:id="rId10"/>
            </p:custDataLst>
          </p:nvPr>
        </p:nvSpPr>
        <p:spPr bwMode="gray">
          <a:xfrm>
            <a:off x="5913438" y="3943350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4E97A02-E8A8-4C51-841D-0C922340F557}" type="datetime'''''''''''''''''''''''''''''''''''''''''''''3''''''''0'''''''">
              <a:rPr lang="en-US" altLang="en-US" sz="1400" b="1" smtClean="0">
                <a:solidFill>
                  <a:srgbClr val="0052D9"/>
                </a:solidFill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30</a:t>
            </a:fld>
            <a:r>
              <a:rPr lang="en-US" altLang="en-US" sz="1400" b="1" dirty="0">
                <a:solidFill>
                  <a:srgbClr val="0052D9"/>
                </a:solidFill>
                <a:effectLst/>
                <a:cs typeface="+mn-cs"/>
              </a:rPr>
              <a:t>%</a:t>
            </a:r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>
        <p:nvSpPr>
          <p:cNvPr id="1063" name="Text Placeholder 4">
            <a:extLst>
              <a:ext uri="{FF2B5EF4-FFF2-40B4-BE49-F238E27FC236}">
                <a16:creationId xmlns:a16="http://schemas.microsoft.com/office/drawing/2014/main" id="{966E5B4D-19F3-71AB-7F7C-DB12C3897E48}"/>
              </a:ext>
            </a:extLst>
          </p:cNvPr>
          <p:cNvSpPr>
            <a:spLocks noGrp="1"/>
          </p:cNvSpPr>
          <p:nvPr>
            <p:custDataLst>
              <p:tags r:id="rId11"/>
            </p:custDataLst>
          </p:nvPr>
        </p:nvSpPr>
        <p:spPr bwMode="auto">
          <a:xfrm>
            <a:off x="5953125" y="4846638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760D3045-293C-4F33-8FC8-B69552A67803}" type="datetime'''''''2''''''''''''''''''''''8''''''''''E'''''''''''''''''''''">
              <a:rPr lang="en-US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28E</a:t>
            </a:fld>
            <a:endParaRPr lang="en-US" sz="1400" dirty="0">
              <a:cs typeface="+mn-cs"/>
            </a:endParaRPr>
          </a:p>
        </p:txBody>
      </p:sp>
      <p:sp>
        <p:nvSpPr>
          <p:cNvPr id="1051" name="Text Placeholder 4">
            <a:extLst>
              <a:ext uri="{FF2B5EF4-FFF2-40B4-BE49-F238E27FC236}">
                <a16:creationId xmlns:a16="http://schemas.microsoft.com/office/drawing/2014/main" id="{5D58E8BE-6E49-2471-B20C-35AA8DB34F72}"/>
              </a:ext>
            </a:extLst>
          </p:cNvPr>
          <p:cNvSpPr>
            <a:spLocks noGrp="1"/>
          </p:cNvSpPr>
          <p:nvPr>
            <p:custDataLst>
              <p:tags r:id="rId12"/>
            </p:custDataLst>
          </p:nvPr>
        </p:nvSpPr>
        <p:spPr bwMode="auto">
          <a:xfrm>
            <a:off x="6462713" y="4549775"/>
            <a:ext cx="4333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DD8B0E8F-0D39-4D3C-A85D-A50756EE8777}" type="datetime'''''''''''''''''''''8''''''''''''''''''00G'''''''''''">
              <a:rPr lang="en-US" altLang="en-US" sz="1400" smtClean="0">
                <a:cs typeface="+mn-cs"/>
              </a:rPr>
              <a:pPr/>
              <a:t>800G</a:t>
            </a:fld>
            <a:endParaRPr lang="en-US" sz="1400" dirty="0">
              <a:cs typeface="+mn-cs"/>
            </a:endParaRPr>
          </a:p>
        </p:txBody>
      </p:sp>
      <p:sp>
        <p:nvSpPr>
          <p:cNvPr id="1052" name="Text Placeholder 4">
            <a:extLst>
              <a:ext uri="{FF2B5EF4-FFF2-40B4-BE49-F238E27FC236}">
                <a16:creationId xmlns:a16="http://schemas.microsoft.com/office/drawing/2014/main" id="{2AFC1402-D656-E6AF-AAAA-23FF900B434E}"/>
              </a:ext>
            </a:extLst>
          </p:cNvPr>
          <p:cNvSpPr>
            <a:spLocks noGrp="1"/>
          </p:cNvSpPr>
          <p:nvPr>
            <p:custDataLst>
              <p:tags r:id="rId13"/>
            </p:custDataLst>
          </p:nvPr>
        </p:nvSpPr>
        <p:spPr bwMode="auto">
          <a:xfrm>
            <a:off x="6462713" y="4286250"/>
            <a:ext cx="3540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DD1A7DD-A28F-460A-B07A-F85E1437C2AD}" type="datetime'''''1''''''''''''''''''.''''''6''''''''''''''''''''''T'''''">
              <a:rPr lang="en-US" altLang="en-US" sz="1400" smtClean="0">
                <a:cs typeface="+mn-cs"/>
              </a:rPr>
              <a:pPr/>
              <a:t>1.6T</a:t>
            </a:fld>
            <a:endParaRPr lang="en-US" sz="1400" dirty="0">
              <a:cs typeface="+mn-cs"/>
            </a:endParaRPr>
          </a:p>
        </p:txBody>
      </p:sp>
      <p:sp>
        <p:nvSpPr>
          <p:cNvPr id="1067" name="Text Placeholder 4">
            <a:extLst>
              <a:ext uri="{FF2B5EF4-FFF2-40B4-BE49-F238E27FC236}">
                <a16:creationId xmlns:a16="http://schemas.microsoft.com/office/drawing/2014/main" id="{967F946C-A303-81F3-DF78-6D378FC90C55}"/>
              </a:ext>
            </a:extLst>
          </p:cNvPr>
          <p:cNvSpPr>
            <a:spLocks noGrp="1"/>
          </p:cNvSpPr>
          <p:nvPr>
            <p:custDataLst>
              <p:tags r:id="rId14"/>
            </p:custDataLst>
          </p:nvPr>
        </p:nvSpPr>
        <p:spPr bwMode="auto">
          <a:xfrm>
            <a:off x="6462713" y="4022725"/>
            <a:ext cx="3540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BE37AC63-CBE8-4866-830B-4FEDB1586AA4}" type="datetime'''''3''''''''''''''.2''''''''''''''T'''''''''''''''''''''''">
              <a:rPr lang="en-US" altLang="en-US" sz="1400" smtClean="0">
                <a:cs typeface="+mn-cs"/>
              </a:rPr>
              <a:pPr/>
              <a:t>3.2T</a:t>
            </a:fld>
            <a:endParaRPr lang="en-US" sz="1400" dirty="0">
              <a:cs typeface="+mn-cs"/>
            </a:endParaRPr>
          </a:p>
        </p:txBody>
      </p:sp>
      <p:sp>
        <p:nvSpPr>
          <p:cNvPr id="1071" name="文本框 1070">
            <a:extLst>
              <a:ext uri="{FF2B5EF4-FFF2-40B4-BE49-F238E27FC236}">
                <a16:creationId xmlns:a16="http://schemas.microsoft.com/office/drawing/2014/main" id="{F3AA76B9-FA8D-6A83-E9D4-BB84583A8DD8}"/>
              </a:ext>
            </a:extLst>
          </p:cNvPr>
          <p:cNvSpPr txBox="1"/>
          <p:nvPr/>
        </p:nvSpPr>
        <p:spPr>
          <a:xfrm>
            <a:off x="1177209" y="4196423"/>
            <a:ext cx="1997649" cy="523220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800G+ Transceivers =&gt; CPO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graphicFrame>
        <p:nvGraphicFramePr>
          <p:cNvPr id="6" name="Chart 3">
            <a:extLst>
              <a:ext uri="{FF2B5EF4-FFF2-40B4-BE49-F238E27FC236}">
                <a16:creationId xmlns:a16="http://schemas.microsoft.com/office/drawing/2014/main" id="{CD13E7FE-78BD-DF41-6A45-F2D1F9FD23C6}"/>
              </a:ext>
            </a:extLst>
          </p:cNvPr>
          <p:cNvGraphicFramePr/>
          <p:nvPr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3385172971"/>
              </p:ext>
            </p:extLst>
          </p:nvPr>
        </p:nvGraphicFramePr>
        <p:xfrm>
          <a:off x="3289300" y="5032375"/>
          <a:ext cx="3079750" cy="13001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9"/>
          </a:graphicData>
        </a:graphic>
      </p:graphicFrame>
      <p:cxnSp>
        <p:nvCxnSpPr>
          <p:cNvPr id="1320" name="直接连接符 1319">
            <a:extLst>
              <a:ext uri="{FF2B5EF4-FFF2-40B4-BE49-F238E27FC236}">
                <a16:creationId xmlns:a16="http://schemas.microsoft.com/office/drawing/2014/main" id="{37F86315-076B-9C76-9BA7-363FB7553367}"/>
              </a:ext>
            </a:extLst>
          </p:cNvPr>
          <p:cNvCxnSpPr/>
          <p:nvPr>
            <p:custDataLst>
              <p:tags r:id="rId16"/>
            </p:custDataLst>
          </p:nvPr>
        </p:nvCxnSpPr>
        <p:spPr bwMode="auto">
          <a:xfrm>
            <a:off x="6116638" y="5808663"/>
            <a:ext cx="0" cy="4445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3" name="直接连接符 1202">
            <a:extLst>
              <a:ext uri="{FF2B5EF4-FFF2-40B4-BE49-F238E27FC236}">
                <a16:creationId xmlns:a16="http://schemas.microsoft.com/office/drawing/2014/main" id="{305A74FE-681B-4556-55F0-3CDD02243709}"/>
              </a:ext>
            </a:extLst>
          </p:cNvPr>
          <p:cNvCxnSpPr/>
          <p:nvPr>
            <p:custDataLst>
              <p:tags r:id="rId17"/>
            </p:custDataLst>
          </p:nvPr>
        </p:nvCxnSpPr>
        <p:spPr bwMode="auto">
          <a:xfrm flipH="1">
            <a:off x="6234113" y="5630863"/>
            <a:ext cx="231775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1" name="直接连接符 1320">
            <a:extLst>
              <a:ext uri="{FF2B5EF4-FFF2-40B4-BE49-F238E27FC236}">
                <a16:creationId xmlns:a16="http://schemas.microsoft.com/office/drawing/2014/main" id="{653717A8-1559-2D64-1884-22E291E2145E}"/>
              </a:ext>
            </a:extLst>
          </p:cNvPr>
          <p:cNvCxnSpPr/>
          <p:nvPr>
            <p:custDataLst>
              <p:tags r:id="rId18"/>
            </p:custDataLst>
          </p:nvPr>
        </p:nvCxnSpPr>
        <p:spPr bwMode="auto">
          <a:xfrm flipH="1">
            <a:off x="6154738" y="5630862"/>
            <a:ext cx="79375" cy="23653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4" name="直接连接符 1213">
            <a:extLst>
              <a:ext uri="{FF2B5EF4-FFF2-40B4-BE49-F238E27FC236}">
                <a16:creationId xmlns:a16="http://schemas.microsoft.com/office/drawing/2014/main" id="{D20F600F-CFC5-F09F-4B43-E567779F8B64}"/>
              </a:ext>
            </a:extLst>
          </p:cNvPr>
          <p:cNvCxnSpPr/>
          <p:nvPr>
            <p:custDataLst>
              <p:tags r:id="rId19"/>
            </p:custDataLst>
          </p:nvPr>
        </p:nvCxnSpPr>
        <p:spPr bwMode="auto">
          <a:xfrm flipH="1">
            <a:off x="6234113" y="5367338"/>
            <a:ext cx="231775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2" name="直接连接符 1321">
            <a:extLst>
              <a:ext uri="{FF2B5EF4-FFF2-40B4-BE49-F238E27FC236}">
                <a16:creationId xmlns:a16="http://schemas.microsoft.com/office/drawing/2014/main" id="{AB61B7BD-BB90-E80F-CA37-8E1A442F2029}"/>
              </a:ext>
            </a:extLst>
          </p:cNvPr>
          <p:cNvCxnSpPr/>
          <p:nvPr>
            <p:custDataLst>
              <p:tags r:id="rId20"/>
            </p:custDataLst>
          </p:nvPr>
        </p:nvCxnSpPr>
        <p:spPr bwMode="auto">
          <a:xfrm flipH="1">
            <a:off x="6154738" y="5367338"/>
            <a:ext cx="79375" cy="34131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85" name="Text Placeholder 4">
            <a:extLst>
              <a:ext uri="{FF2B5EF4-FFF2-40B4-BE49-F238E27FC236}">
                <a16:creationId xmlns:a16="http://schemas.microsoft.com/office/drawing/2014/main" id="{E79D603B-F125-AF57-B45A-61EA4BB007F1}"/>
              </a:ext>
            </a:extLst>
          </p:cNvPr>
          <p:cNvSpPr>
            <a:spLocks noGrp="1"/>
          </p:cNvSpPr>
          <p:nvPr>
            <p:custDataLst>
              <p:tags r:id="rId21"/>
            </p:custDataLst>
          </p:nvPr>
        </p:nvSpPr>
        <p:spPr bwMode="auto">
          <a:xfrm>
            <a:off x="3868738" y="6111875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781D3CCB-59E3-4CA2-ACE2-4A27CB289630}" type="datetime'''''''''2''6E'''''''''''''''''''''''">
              <a:rPr lang="en-US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26E</a:t>
            </a:fld>
            <a:endParaRPr lang="en-US" sz="1400" dirty="0">
              <a:cs typeface="+mn-cs"/>
            </a:endParaRPr>
          </a:p>
        </p:txBody>
      </p:sp>
      <p:sp>
        <p:nvSpPr>
          <p:cNvPr id="1186" name="Text Placeholder 4">
            <a:extLst>
              <a:ext uri="{FF2B5EF4-FFF2-40B4-BE49-F238E27FC236}">
                <a16:creationId xmlns:a16="http://schemas.microsoft.com/office/drawing/2014/main" id="{D9C3CA1D-FA94-0604-D2EE-C0A5BD5B6920}"/>
              </a:ext>
            </a:extLst>
          </p:cNvPr>
          <p:cNvSpPr>
            <a:spLocks noGrp="1"/>
          </p:cNvSpPr>
          <p:nvPr>
            <p:custDataLst>
              <p:tags r:id="rId22"/>
            </p:custDataLst>
          </p:nvPr>
        </p:nvSpPr>
        <p:spPr bwMode="auto">
          <a:xfrm>
            <a:off x="4911725" y="6111875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FCA7C7D3-3D25-4255-AD05-62EC1F47FD6F}" type="datetime'''''''''''''''''''''27''''''''''''''''''E'''''''''">
              <a:rPr lang="en-US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27E</a:t>
            </a:fld>
            <a:endParaRPr lang="en-US" sz="1400" dirty="0">
              <a:cs typeface="+mn-cs"/>
            </a:endParaRPr>
          </a:p>
        </p:txBody>
      </p:sp>
      <p:sp useBgFill="1">
        <p:nvSpPr>
          <p:cNvPr id="1313" name="Text Placeholder 4">
            <a:extLst>
              <a:ext uri="{FF2B5EF4-FFF2-40B4-BE49-F238E27FC236}">
                <a16:creationId xmlns:a16="http://schemas.microsoft.com/office/drawing/2014/main" id="{5C7A75C5-9DC0-05D4-CE95-5DF02EB904DC}"/>
              </a:ext>
            </a:extLst>
          </p:cNvPr>
          <p:cNvSpPr>
            <a:spLocks noGrp="1"/>
          </p:cNvSpPr>
          <p:nvPr>
            <p:custDataLst>
              <p:tags r:id="rId23"/>
            </p:custDataLst>
          </p:nvPr>
        </p:nvSpPr>
        <p:spPr bwMode="gray">
          <a:xfrm>
            <a:off x="5943600" y="5840413"/>
            <a:ext cx="34607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3154BF3-793B-43F4-B2FE-DCA62B892C55}" type="datetime'''''''''''''''''4''''''''''''''''''''6''''''''''2'''''''">
              <a:rPr lang="en-US" altLang="en-US" sz="1400" b="1" smtClean="0">
                <a:solidFill>
                  <a:srgbClr val="0052D9"/>
                </a:solidFill>
                <a:effectLst/>
                <a:cs typeface="+mn-cs"/>
              </a:rPr>
              <a:pPr/>
              <a:t>462</a:t>
            </a:fld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 useBgFill="1">
        <p:nvSpPr>
          <p:cNvPr id="1314" name="Text Placeholder 4">
            <a:extLst>
              <a:ext uri="{FF2B5EF4-FFF2-40B4-BE49-F238E27FC236}">
                <a16:creationId xmlns:a16="http://schemas.microsoft.com/office/drawing/2014/main" id="{58F10D7B-4516-0CBE-94EE-89C90AB2EEA8}"/>
              </a:ext>
            </a:extLst>
          </p:cNvPr>
          <p:cNvSpPr>
            <a:spLocks noGrp="1"/>
          </p:cNvSpPr>
          <p:nvPr>
            <p:custDataLst>
              <p:tags r:id="rId24"/>
            </p:custDataLst>
          </p:nvPr>
        </p:nvSpPr>
        <p:spPr bwMode="gray">
          <a:xfrm>
            <a:off x="5943600" y="5595938"/>
            <a:ext cx="34607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79C6A6C4-E668-4DDC-BF38-C67E3DC07428}" type="datetime'''''''''''''''''''''9''''''''''''2''''''''''''4'''''''''">
              <a:rPr lang="en-US" altLang="en-US" sz="1400" b="1" smtClean="0">
                <a:solidFill>
                  <a:srgbClr val="0052D9"/>
                </a:solidFill>
                <a:effectLst/>
                <a:cs typeface="+mn-cs"/>
              </a:rPr>
              <a:pPr/>
              <a:t>924</a:t>
            </a:fld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>
        <p:nvSpPr>
          <p:cNvPr id="1187" name="Text Placeholder 4">
            <a:extLst>
              <a:ext uri="{FF2B5EF4-FFF2-40B4-BE49-F238E27FC236}">
                <a16:creationId xmlns:a16="http://schemas.microsoft.com/office/drawing/2014/main" id="{8C7BEA7D-AD57-5293-5AF4-D76D477D78A1}"/>
              </a:ext>
            </a:extLst>
          </p:cNvPr>
          <p:cNvSpPr>
            <a:spLocks noGrp="1"/>
          </p:cNvSpPr>
          <p:nvPr>
            <p:custDataLst>
              <p:tags r:id="rId25"/>
            </p:custDataLst>
          </p:nvPr>
        </p:nvSpPr>
        <p:spPr bwMode="auto">
          <a:xfrm>
            <a:off x="5953125" y="6111875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360A474-07FD-47AB-92FD-68BFAAA78307}" type="datetime'''''''''''2''''''''''''''8''''''E'''''''">
              <a:rPr lang="en-US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28E</a:t>
            </a:fld>
            <a:endParaRPr lang="en-US" sz="1400" dirty="0">
              <a:cs typeface="+mn-cs"/>
            </a:endParaRPr>
          </a:p>
        </p:txBody>
      </p:sp>
      <p:sp>
        <p:nvSpPr>
          <p:cNvPr id="1175" name="Text Placeholder 4">
            <a:extLst>
              <a:ext uri="{FF2B5EF4-FFF2-40B4-BE49-F238E27FC236}">
                <a16:creationId xmlns:a16="http://schemas.microsoft.com/office/drawing/2014/main" id="{0DD96D3C-055A-D8BB-CDC8-42582D30AAA3}"/>
              </a:ext>
            </a:extLst>
          </p:cNvPr>
          <p:cNvSpPr>
            <a:spLocks noGrp="1"/>
          </p:cNvSpPr>
          <p:nvPr>
            <p:custDataLst>
              <p:tags r:id="rId26"/>
            </p:custDataLst>
          </p:nvPr>
        </p:nvSpPr>
        <p:spPr bwMode="auto">
          <a:xfrm>
            <a:off x="6491288" y="5788025"/>
            <a:ext cx="4333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FB4E63B8-C341-49D6-B878-006EB4C21C21}" type="datetime'''''8''0''''''''''''''''''''''''''''''''''0''''''''G'''''''">
              <a:rPr lang="en-US" altLang="en-US" sz="1400" smtClean="0">
                <a:cs typeface="+mn-cs"/>
              </a:rPr>
              <a:pPr/>
              <a:t>800G</a:t>
            </a:fld>
            <a:endParaRPr lang="en-US" sz="1400" dirty="0">
              <a:cs typeface="+mn-cs"/>
            </a:endParaRPr>
          </a:p>
        </p:txBody>
      </p:sp>
      <p:sp>
        <p:nvSpPr>
          <p:cNvPr id="1176" name="Text Placeholder 4">
            <a:extLst>
              <a:ext uri="{FF2B5EF4-FFF2-40B4-BE49-F238E27FC236}">
                <a16:creationId xmlns:a16="http://schemas.microsoft.com/office/drawing/2014/main" id="{624C3461-020C-074F-BF26-1EDBA285510B}"/>
              </a:ext>
            </a:extLst>
          </p:cNvPr>
          <p:cNvSpPr>
            <a:spLocks noGrp="1"/>
          </p:cNvSpPr>
          <p:nvPr>
            <p:custDataLst>
              <p:tags r:id="rId27"/>
            </p:custDataLst>
          </p:nvPr>
        </p:nvSpPr>
        <p:spPr bwMode="auto">
          <a:xfrm>
            <a:off x="6491288" y="5524500"/>
            <a:ext cx="3540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35FE9A6A-E047-47A1-90A9-6213277DAF8B}" type="datetime'''''''1''.''''''''''''6''''''''''''''T'''''">
              <a:rPr lang="en-US" altLang="en-US" sz="1400" smtClean="0">
                <a:cs typeface="+mn-cs"/>
              </a:rPr>
              <a:pPr/>
              <a:t>1.6T</a:t>
            </a:fld>
            <a:endParaRPr lang="en-US" sz="1400" dirty="0">
              <a:cs typeface="+mn-cs"/>
            </a:endParaRPr>
          </a:p>
        </p:txBody>
      </p:sp>
      <p:sp>
        <p:nvSpPr>
          <p:cNvPr id="1191" name="Text Placeholder 4">
            <a:extLst>
              <a:ext uri="{FF2B5EF4-FFF2-40B4-BE49-F238E27FC236}">
                <a16:creationId xmlns:a16="http://schemas.microsoft.com/office/drawing/2014/main" id="{8AEE3103-7C8D-C7BB-3B76-C371FD3D6632}"/>
              </a:ext>
            </a:extLst>
          </p:cNvPr>
          <p:cNvSpPr>
            <a:spLocks noGrp="1"/>
          </p:cNvSpPr>
          <p:nvPr>
            <p:custDataLst>
              <p:tags r:id="rId28"/>
            </p:custDataLst>
          </p:nvPr>
        </p:nvSpPr>
        <p:spPr bwMode="auto">
          <a:xfrm>
            <a:off x="6491288" y="5260975"/>
            <a:ext cx="3540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E2448D4-E7C6-479F-93DB-6E5C22BE3ACD}" type="datetime'''''''''''''3.''''''2''''''''''''T'">
              <a:rPr lang="en-US" altLang="en-US" sz="1400" smtClean="0">
                <a:cs typeface="+mn-cs"/>
              </a:rPr>
              <a:pPr/>
              <a:t>3.2T</a:t>
            </a:fld>
            <a:endParaRPr lang="en-US" sz="1400" dirty="0">
              <a:cs typeface="+mn-cs"/>
            </a:endParaRPr>
          </a:p>
        </p:txBody>
      </p:sp>
      <p:sp>
        <p:nvSpPr>
          <p:cNvPr id="1219" name="文本框 1218">
            <a:extLst>
              <a:ext uri="{FF2B5EF4-FFF2-40B4-BE49-F238E27FC236}">
                <a16:creationId xmlns:a16="http://schemas.microsoft.com/office/drawing/2014/main" id="{430E845B-A1CC-4553-9086-1EB2235674E3}"/>
              </a:ext>
            </a:extLst>
          </p:cNvPr>
          <p:cNvSpPr txBox="1"/>
          <p:nvPr/>
        </p:nvSpPr>
        <p:spPr>
          <a:xfrm>
            <a:off x="1177209" y="5489029"/>
            <a:ext cx="2112091" cy="307777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Per-Port CPO Value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242" name="Textplatzhalter 9">
            <a:extLst>
              <a:ext uri="{FF2B5EF4-FFF2-40B4-BE49-F238E27FC236}">
                <a16:creationId xmlns:a16="http://schemas.microsoft.com/office/drawing/2014/main" id="{692C5931-3CCF-D55F-4677-A886D3FC9611}"/>
              </a:ext>
            </a:extLst>
          </p:cNvPr>
          <p:cNvSpPr txBox="1">
            <a:spLocks/>
          </p:cNvSpPr>
          <p:nvPr/>
        </p:nvSpPr>
        <p:spPr bwMode="gray">
          <a:xfrm>
            <a:off x="7153721" y="5238919"/>
            <a:ext cx="4696435" cy="866904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defPPr>
              <a:defRPr lang="zh-CN"/>
            </a:defPPr>
            <a:lvl1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 kumimoji="1" sz="1400">
                <a:solidFill>
                  <a:srgbClr val="53585F">
                    <a:lumMod val="50000"/>
                  </a:srgbClr>
                </a:solidFill>
                <a:cs typeface="+mn-ea"/>
              </a:defRPr>
            </a:lvl1pPr>
            <a:lvl2pPr marL="180975" indent="-180975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/>
            </a:lvl2pPr>
            <a:lvl3pPr marL="360000" indent="-180975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/>
            </a:lvl3pPr>
            <a:lvl4pPr marL="541338" indent="-179388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/>
            </a:lvl4pPr>
            <a:lvl5pPr marL="720000" indent="-180975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altLang="zh-CN" sz="1200" dirty="0">
                <a:sym typeface="+mn-lt"/>
              </a:rPr>
              <a:t>Nvidia Quantum CPO switch: $120-130k with 144 800G ports =&gt; </a:t>
            </a:r>
            <a:r>
              <a:rPr lang="en-US" altLang="zh-CN" sz="1200" dirty="0">
                <a:solidFill>
                  <a:srgbClr val="0052D9"/>
                </a:solidFill>
                <a:sym typeface="+mn-lt"/>
              </a:rPr>
              <a:t>$700 / port in 2026</a:t>
            </a:r>
            <a:r>
              <a:rPr lang="en-US" altLang="zh-CN" sz="1200" dirty="0">
                <a:sym typeface="+mn-lt"/>
              </a:rPr>
              <a:t>; </a:t>
            </a:r>
          </a:p>
          <a:p>
            <a:r>
              <a:rPr lang="en-US" altLang="zh-CN" sz="1200" dirty="0">
                <a:sym typeface="+mn-lt"/>
              </a:rPr>
              <a:t>2x data rate =&gt; 2x per-port value;</a:t>
            </a:r>
          </a:p>
          <a:p>
            <a:r>
              <a:rPr lang="en-US" altLang="zh-CN" sz="1200" dirty="0">
                <a:sym typeface="+mn-lt"/>
              </a:rPr>
              <a:t>Descends by </a:t>
            </a:r>
            <a:r>
              <a:rPr lang="en-US" altLang="zh-CN" sz="1200" dirty="0">
                <a:solidFill>
                  <a:srgbClr val="0052D9"/>
                </a:solidFill>
                <a:sym typeface="+mn-lt"/>
              </a:rPr>
              <a:t>20% annually</a:t>
            </a:r>
            <a:r>
              <a:rPr lang="en-US" altLang="zh-CN" sz="1200" dirty="0">
                <a:sym typeface="+mn-lt"/>
              </a:rPr>
              <a:t>.</a:t>
            </a:r>
          </a:p>
        </p:txBody>
      </p:sp>
      <p:sp>
        <p:nvSpPr>
          <p:cNvPr id="1248" name="文本框 1247">
            <a:extLst>
              <a:ext uri="{FF2B5EF4-FFF2-40B4-BE49-F238E27FC236}">
                <a16:creationId xmlns:a16="http://schemas.microsoft.com/office/drawing/2014/main" id="{B9B1CF88-61FC-54BA-FFE2-EF370A95B54F}"/>
              </a:ext>
            </a:extLst>
          </p:cNvPr>
          <p:cNvSpPr txBox="1"/>
          <p:nvPr/>
        </p:nvSpPr>
        <p:spPr>
          <a:xfrm>
            <a:off x="483993" y="6367462"/>
            <a:ext cx="1073385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Source: HSBC</a:t>
            </a:r>
            <a:r>
              <a:rPr kumimoji="1" lang="en-US" altLang="zh-CN" sz="1200" b="0" i="1" u="none" strike="noStrike" kern="1200" cap="none" spc="0" normalizeH="0" baseline="3000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1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, Goldman Sachs</a:t>
            </a:r>
            <a:r>
              <a:rPr kumimoji="1" lang="en-US" altLang="zh-CN" sz="1200" b="0" i="1" u="none" strike="noStrike" kern="1200" cap="none" spc="0" normalizeH="0" baseline="3000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2, 3, 5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, </a:t>
            </a:r>
            <a:r>
              <a:rPr kumimoji="1" lang="en-US" altLang="zh-CN" sz="1200" b="0" i="1" u="none" strike="noStrike" kern="1200" cap="none" spc="0" normalizeH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Citi</a:t>
            </a:r>
            <a:r>
              <a:rPr kumimoji="1" lang="en-US" altLang="zh-CN" sz="1200" i="1" baseline="30000" dirty="0">
                <a:solidFill>
                  <a:srgbClr val="53585F">
                    <a:lumMod val="50000"/>
                  </a:srgbClr>
                </a:solidFill>
                <a:latin typeface="Arial"/>
                <a:ea typeface="楷体"/>
                <a:cs typeface="+mn-ea"/>
                <a:sym typeface="+mn-lt"/>
              </a:rPr>
              <a:t>4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i="1" dirty="0">
                <a:solidFill>
                  <a:srgbClr val="53585F">
                    <a:lumMod val="50000"/>
                  </a:srgbClr>
                </a:solidFill>
                <a:latin typeface="Arial"/>
                <a:ea typeface="楷体"/>
                <a:cs typeface="+mn-ea"/>
                <a:sym typeface="+mn-lt"/>
              </a:rPr>
              <a:t>Note 1: The model focuses primarily on the calculation logic, given that GPU/ASIC shipments and transceiver attach ratios are highly scenario-dependent. </a:t>
            </a:r>
            <a:endParaRPr kumimoji="1" lang="en-US" altLang="zh-CN" sz="1200" b="0" i="1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1249" name="Textplatzhalter 9">
            <a:extLst>
              <a:ext uri="{FF2B5EF4-FFF2-40B4-BE49-F238E27FC236}">
                <a16:creationId xmlns:a16="http://schemas.microsoft.com/office/drawing/2014/main" id="{19B337B2-D5E5-C2C9-AE76-908F57F2A0D8}"/>
              </a:ext>
            </a:extLst>
          </p:cNvPr>
          <p:cNvSpPr txBox="1">
            <a:spLocks/>
          </p:cNvSpPr>
          <p:nvPr/>
        </p:nvSpPr>
        <p:spPr bwMode="gray">
          <a:xfrm>
            <a:off x="7153721" y="4044485"/>
            <a:ext cx="3853227" cy="618118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3.2T: mass CPO penetration as transceivers hit the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upper limit of data rate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;</a:t>
            </a:r>
          </a:p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1.6T: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primary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and sustained penetration.</a:t>
            </a:r>
          </a:p>
        </p:txBody>
      </p:sp>
      <p:sp>
        <p:nvSpPr>
          <p:cNvPr id="1369" name="Textplatzhalter 9">
            <a:extLst>
              <a:ext uri="{FF2B5EF4-FFF2-40B4-BE49-F238E27FC236}">
                <a16:creationId xmlns:a16="http://schemas.microsoft.com/office/drawing/2014/main" id="{9C61EA30-EC03-DB77-DDE9-7D0334F34DA0}"/>
              </a:ext>
            </a:extLst>
          </p:cNvPr>
          <p:cNvSpPr txBox="1">
            <a:spLocks/>
          </p:cNvSpPr>
          <p:nvPr/>
        </p:nvSpPr>
        <p:spPr bwMode="gray">
          <a:xfrm>
            <a:off x="7153721" y="1660696"/>
            <a:ext cx="4696435" cy="36933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Rubin (1.8 </a:t>
            </a:r>
            <a:r>
              <a:rPr kumimoji="1" lang="en-US" altLang="zh-CN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) 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and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Rubin Ultra (3 </a:t>
            </a:r>
            <a:r>
              <a:rPr kumimoji="1" lang="en-US" altLang="zh-CN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) 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replace Hopper and Blackwell.</a:t>
            </a:r>
          </a:p>
        </p:txBody>
      </p:sp>
      <p:sp>
        <p:nvSpPr>
          <p:cNvPr id="1375" name="文本框 1374">
            <a:extLst>
              <a:ext uri="{FF2B5EF4-FFF2-40B4-BE49-F238E27FC236}">
                <a16:creationId xmlns:a16="http://schemas.microsoft.com/office/drawing/2014/main" id="{76F2B39E-2A54-4575-5AFD-56BA2C129BE1}"/>
              </a:ext>
            </a:extLst>
          </p:cNvPr>
          <p:cNvSpPr txBox="1"/>
          <p:nvPr/>
        </p:nvSpPr>
        <p:spPr>
          <a:xfrm>
            <a:off x="2468864" y="1700980"/>
            <a:ext cx="1997649" cy="307777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~60 </a:t>
            </a:r>
            <a:r>
              <a:rPr kumimoji="1" lang="en-US" altLang="zh-CN" sz="14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376" name="文本框 1375">
            <a:extLst>
              <a:ext uri="{FF2B5EF4-FFF2-40B4-BE49-F238E27FC236}">
                <a16:creationId xmlns:a16="http://schemas.microsoft.com/office/drawing/2014/main" id="{81CA0002-94CC-CC2D-994D-89171AAE0B80}"/>
              </a:ext>
            </a:extLst>
          </p:cNvPr>
          <p:cNvSpPr txBox="1"/>
          <p:nvPr/>
        </p:nvSpPr>
        <p:spPr>
          <a:xfrm>
            <a:off x="2709224" y="3872774"/>
            <a:ext cx="1997649" cy="307777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~20%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377" name="文本框 1376">
            <a:extLst>
              <a:ext uri="{FF2B5EF4-FFF2-40B4-BE49-F238E27FC236}">
                <a16:creationId xmlns:a16="http://schemas.microsoft.com/office/drawing/2014/main" id="{F446EDFB-20D2-6756-38F8-5209CCD8859D}"/>
              </a:ext>
            </a:extLst>
          </p:cNvPr>
          <p:cNvSpPr txBox="1"/>
          <p:nvPr/>
        </p:nvSpPr>
        <p:spPr>
          <a:xfrm>
            <a:off x="2097374" y="5179350"/>
            <a:ext cx="2112091" cy="307777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~$1150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393" name="文本框 1392">
            <a:extLst>
              <a:ext uri="{FF2B5EF4-FFF2-40B4-BE49-F238E27FC236}">
                <a16:creationId xmlns:a16="http://schemas.microsoft.com/office/drawing/2014/main" id="{4DC0B05E-6518-8C5B-F97D-2CE5B0E8645C}"/>
              </a:ext>
            </a:extLst>
          </p:cNvPr>
          <p:cNvSpPr txBox="1"/>
          <p:nvPr/>
        </p:nvSpPr>
        <p:spPr>
          <a:xfrm>
            <a:off x="5519154" y="1613973"/>
            <a:ext cx="858356" cy="276999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~5 </a:t>
            </a:r>
            <a:r>
              <a:rPr kumimoji="1" lang="en-US" altLang="zh-CN" sz="12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kumimoji="1" lang="en-US" altLang="zh-CN" sz="12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2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16" name="文本框 1415">
            <a:extLst>
              <a:ext uri="{FF2B5EF4-FFF2-40B4-BE49-F238E27FC236}">
                <a16:creationId xmlns:a16="http://schemas.microsoft.com/office/drawing/2014/main" id="{116CCA58-F5E6-1706-E874-92A77133DBA3}"/>
              </a:ext>
            </a:extLst>
          </p:cNvPr>
          <p:cNvSpPr txBox="1"/>
          <p:nvPr/>
        </p:nvSpPr>
        <p:spPr>
          <a:xfrm>
            <a:off x="5999427" y="2038349"/>
            <a:ext cx="1530050" cy="276999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lvl="0">
              <a:spcAft>
                <a:spcPts val="600"/>
              </a:spcAft>
              <a:buClrTx/>
              <a:defRPr kumimoji="1" sz="1400" b="1">
                <a:solidFill>
                  <a:srgbClr val="0052D9"/>
                </a:solidFill>
                <a:cs typeface="+mn-ea"/>
              </a:defRPr>
            </a:lvl1pPr>
          </a:lstStyle>
          <a:p>
            <a:r>
              <a:rPr lang="en-US" altLang="zh-CN" sz="1200" dirty="0">
                <a:sym typeface="+mn-lt"/>
              </a:rPr>
              <a:t>~ 5 : 1</a:t>
            </a:r>
            <a:endParaRPr lang="zh-CN" altLang="zh-CN" sz="1200" dirty="0">
              <a:sym typeface="+mn-lt"/>
            </a:endParaRPr>
          </a:p>
        </p:txBody>
      </p:sp>
      <p:sp>
        <p:nvSpPr>
          <p:cNvPr id="1417" name="文本框 1416">
            <a:extLst>
              <a:ext uri="{FF2B5EF4-FFF2-40B4-BE49-F238E27FC236}">
                <a16:creationId xmlns:a16="http://schemas.microsoft.com/office/drawing/2014/main" id="{61964997-15BE-BF36-AFAD-E7D11AA4FF61}"/>
              </a:ext>
            </a:extLst>
          </p:cNvPr>
          <p:cNvSpPr txBox="1"/>
          <p:nvPr/>
        </p:nvSpPr>
        <p:spPr>
          <a:xfrm>
            <a:off x="5533472" y="2935474"/>
            <a:ext cx="858356" cy="276999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~3.5 </a:t>
            </a:r>
            <a:r>
              <a:rPr kumimoji="1" lang="en-US" altLang="zh-CN" sz="12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kumimoji="1" lang="en-US" altLang="zh-CN" sz="12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2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18" name="文本框 1417">
            <a:extLst>
              <a:ext uri="{FF2B5EF4-FFF2-40B4-BE49-F238E27FC236}">
                <a16:creationId xmlns:a16="http://schemas.microsoft.com/office/drawing/2014/main" id="{3EDB9800-E355-2737-F766-E1479A7CF65D}"/>
              </a:ext>
            </a:extLst>
          </p:cNvPr>
          <p:cNvSpPr txBox="1"/>
          <p:nvPr/>
        </p:nvSpPr>
        <p:spPr>
          <a:xfrm>
            <a:off x="6051701" y="3376606"/>
            <a:ext cx="1530050" cy="276999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lvl="0">
              <a:spcAft>
                <a:spcPts val="600"/>
              </a:spcAft>
              <a:buClrTx/>
              <a:defRPr kumimoji="1" sz="1400" b="1">
                <a:solidFill>
                  <a:srgbClr val="0052D9"/>
                </a:solidFill>
                <a:cs typeface="+mn-ea"/>
              </a:defRPr>
            </a:lvl1pPr>
          </a:lstStyle>
          <a:p>
            <a:r>
              <a:rPr lang="en-US" altLang="zh-CN" sz="1200" dirty="0">
                <a:sym typeface="+mn-lt"/>
              </a:rPr>
              <a:t>~ 9 : 1</a:t>
            </a:r>
            <a:endParaRPr lang="zh-CN" altLang="zh-CN" sz="1200" dirty="0">
              <a:sym typeface="+mn-lt"/>
            </a:endParaRPr>
          </a:p>
        </p:txBody>
      </p:sp>
      <p:sp>
        <p:nvSpPr>
          <p:cNvPr id="1419" name="Textplatzhalter 9">
            <a:extLst>
              <a:ext uri="{FF2B5EF4-FFF2-40B4-BE49-F238E27FC236}">
                <a16:creationId xmlns:a16="http://schemas.microsoft.com/office/drawing/2014/main" id="{F33DF096-EC3C-1D64-F689-F1526B680CF4}"/>
              </a:ext>
            </a:extLst>
          </p:cNvPr>
          <p:cNvSpPr txBox="1">
            <a:spLocks/>
          </p:cNvSpPr>
          <p:nvPr/>
        </p:nvSpPr>
        <p:spPr bwMode="gray">
          <a:xfrm>
            <a:off x="7153721" y="2089234"/>
            <a:ext cx="4696436" cy="36933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 : 1 =&gt; 5 : 1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. Rubin requires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twice the number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of transceivers compared to GB300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(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~3x 1.6T 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transceivers / card).</a:t>
            </a:r>
          </a:p>
        </p:txBody>
      </p:sp>
      <p:sp>
        <p:nvSpPr>
          <p:cNvPr id="1420" name="Textplatzhalter 9">
            <a:extLst>
              <a:ext uri="{FF2B5EF4-FFF2-40B4-BE49-F238E27FC236}">
                <a16:creationId xmlns:a16="http://schemas.microsoft.com/office/drawing/2014/main" id="{1C0E3EB3-CE6D-5FD1-3011-2D0A4894D15D}"/>
              </a:ext>
            </a:extLst>
          </p:cNvPr>
          <p:cNvSpPr txBox="1">
            <a:spLocks/>
          </p:cNvSpPr>
          <p:nvPr/>
        </p:nvSpPr>
        <p:spPr bwMode="gray">
          <a:xfrm>
            <a:off x="7153721" y="3429000"/>
            <a:ext cx="4696436" cy="36933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 : 1 =&gt; 9 : 1, driven by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lower performance per card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and increased cluster networking complexity.</a:t>
            </a:r>
          </a:p>
        </p:txBody>
      </p:sp>
      <p:sp>
        <p:nvSpPr>
          <p:cNvPr id="1421" name="Textplatzhalter 9">
            <a:extLst>
              <a:ext uri="{FF2B5EF4-FFF2-40B4-BE49-F238E27FC236}">
                <a16:creationId xmlns:a16="http://schemas.microsoft.com/office/drawing/2014/main" id="{927DC90D-8F68-EF27-1640-F3FB06905974}"/>
              </a:ext>
            </a:extLst>
          </p:cNvPr>
          <p:cNvSpPr txBox="1">
            <a:spLocks/>
          </p:cNvSpPr>
          <p:nvPr/>
        </p:nvSpPr>
        <p:spPr bwMode="gray">
          <a:xfrm>
            <a:off x="7153720" y="2981640"/>
            <a:ext cx="4733479" cy="184666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~40% of total datacenter AI chip volumes; </a:t>
            </a:r>
          </a:p>
        </p:txBody>
      </p:sp>
      <p:sp>
        <p:nvSpPr>
          <p:cNvPr id="1423" name="文本框 1422">
            <a:extLst>
              <a:ext uri="{FF2B5EF4-FFF2-40B4-BE49-F238E27FC236}">
                <a16:creationId xmlns:a16="http://schemas.microsoft.com/office/drawing/2014/main" id="{CA575760-A05C-94E3-A9F6-D9BA29A60A55}"/>
              </a:ext>
            </a:extLst>
          </p:cNvPr>
          <p:cNvSpPr txBox="1"/>
          <p:nvPr/>
        </p:nvSpPr>
        <p:spPr>
          <a:xfrm>
            <a:off x="5883883" y="1182197"/>
            <a:ext cx="1997649" cy="307777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~25 </a:t>
            </a:r>
            <a:r>
              <a:rPr kumimoji="1" lang="en-US" altLang="zh-CN" sz="14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24" name="文本框 1423">
            <a:extLst>
              <a:ext uri="{FF2B5EF4-FFF2-40B4-BE49-F238E27FC236}">
                <a16:creationId xmlns:a16="http://schemas.microsoft.com/office/drawing/2014/main" id="{37A4122F-AB89-43A6-8617-3D8D1B7A75E0}"/>
              </a:ext>
            </a:extLst>
          </p:cNvPr>
          <p:cNvSpPr txBox="1"/>
          <p:nvPr/>
        </p:nvSpPr>
        <p:spPr>
          <a:xfrm>
            <a:off x="6182743" y="2494948"/>
            <a:ext cx="1997649" cy="307777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~35 </a:t>
            </a:r>
            <a:r>
              <a:rPr kumimoji="1" lang="en-US" altLang="zh-CN" sz="14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28" name="文本框 1427">
            <a:extLst>
              <a:ext uri="{FF2B5EF4-FFF2-40B4-BE49-F238E27FC236}">
                <a16:creationId xmlns:a16="http://schemas.microsoft.com/office/drawing/2014/main" id="{CADBA52A-2BD1-B0DF-7E59-294220A41D4F}"/>
              </a:ext>
            </a:extLst>
          </p:cNvPr>
          <p:cNvSpPr txBox="1"/>
          <p:nvPr/>
        </p:nvSpPr>
        <p:spPr>
          <a:xfrm>
            <a:off x="7171687" y="1161993"/>
            <a:ext cx="1864937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latin typeface="Arial"/>
                <a:ea typeface="楷体"/>
                <a:cs typeface="+mn-ea"/>
                <a:sym typeface="+mn-lt"/>
              </a:rPr>
              <a:t>Key Assumptions</a:t>
            </a:r>
            <a:endParaRPr kumimoji="1" lang="zh-CN" altLang="zh-CN" sz="160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10000"/>
                </a:scheme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DDBC440-598F-D975-A674-42FFB5706D01}"/>
              </a:ext>
            </a:extLst>
          </p:cNvPr>
          <p:cNvSpPr/>
          <p:nvPr/>
        </p:nvSpPr>
        <p:spPr>
          <a:xfrm>
            <a:off x="12283185" y="-18829"/>
            <a:ext cx="1989145" cy="202758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ASIC Shipment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、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Transceiver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配比找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@jixuan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确认</a:t>
            </a:r>
            <a:endParaRPr lang="en-US" altLang="zh-CN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endParaRPr lang="en-US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打脚注说不好拍只是讲逻辑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@sidong</a:t>
            </a:r>
            <a:endParaRPr lang="en-US" dirty="0">
              <a:solidFill>
                <a:schemeClr val="accent6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69043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E3E33-58C7-09A1-04D7-3029A624B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5AE1A48-D8F9-D337-3C9A-0CE7F89E9D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98761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5AE1A48-D8F9-D337-3C9A-0CE7F89E9D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EB3C5221-71B9-57B2-CA12-5D544CA09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 key modules: silicon photonics, electrical IC, switch ASIC, and integration &amp; delivery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5" name="文本框 15">
            <a:extLst>
              <a:ext uri="{FF2B5EF4-FFF2-40B4-BE49-F238E27FC236}">
                <a16:creationId xmlns:a16="http://schemas.microsoft.com/office/drawing/2014/main" id="{94F0FB09-F514-6EA1-BC09-08785BA47F85}"/>
              </a:ext>
            </a:extLst>
          </p:cNvPr>
          <p:cNvSpPr txBox="1"/>
          <p:nvPr/>
        </p:nvSpPr>
        <p:spPr>
          <a:xfrm>
            <a:off x="514350" y="1535563"/>
            <a:ext cx="1508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i="1" dirty="0">
                <a:cs typeface="+mn-ea"/>
                <a:sym typeface="+mn-lt"/>
              </a:rPr>
              <a:t>External Light</a:t>
            </a:r>
            <a:endParaRPr lang="zh-CN" altLang="en-US" sz="1400" i="1" dirty="0">
              <a:cs typeface="+mn-ea"/>
              <a:sym typeface="+mn-lt"/>
            </a:endParaRPr>
          </a:p>
        </p:txBody>
      </p:sp>
      <p:sp>
        <p:nvSpPr>
          <p:cNvPr id="16" name="文本框 16">
            <a:extLst>
              <a:ext uri="{FF2B5EF4-FFF2-40B4-BE49-F238E27FC236}">
                <a16:creationId xmlns:a16="http://schemas.microsoft.com/office/drawing/2014/main" id="{D4B15865-BD1B-8297-A007-A923B52173DE}"/>
              </a:ext>
            </a:extLst>
          </p:cNvPr>
          <p:cNvSpPr txBox="1"/>
          <p:nvPr/>
        </p:nvSpPr>
        <p:spPr>
          <a:xfrm>
            <a:off x="2217864" y="1535563"/>
            <a:ext cx="4144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i="1"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ym typeface="+mn-lt"/>
              </a:rPr>
              <a:t>Routing + Conversion (Optical ↔ Electrical)</a:t>
            </a:r>
            <a:endParaRPr lang="zh-CN" altLang="en-US" sz="1400" dirty="0">
              <a:sym typeface="+mn-lt"/>
            </a:endParaRPr>
          </a:p>
        </p:txBody>
      </p:sp>
      <p:sp>
        <p:nvSpPr>
          <p:cNvPr id="17" name="文本框 19">
            <a:extLst>
              <a:ext uri="{FF2B5EF4-FFF2-40B4-BE49-F238E27FC236}">
                <a16:creationId xmlns:a16="http://schemas.microsoft.com/office/drawing/2014/main" id="{9B069FB9-5C1E-2DB3-5143-941D14642AAE}"/>
              </a:ext>
            </a:extLst>
          </p:cNvPr>
          <p:cNvSpPr txBox="1"/>
          <p:nvPr/>
        </p:nvSpPr>
        <p:spPr>
          <a:xfrm>
            <a:off x="5997272" y="1535563"/>
            <a:ext cx="30456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i="1"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ym typeface="+mn-lt"/>
              </a:rPr>
              <a:t>Amplification + Optimization</a:t>
            </a:r>
            <a:endParaRPr lang="zh-CN" altLang="en-US" sz="1400" dirty="0"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2948327-BF01-8DDC-3F68-1FAA3942C651}"/>
              </a:ext>
            </a:extLst>
          </p:cNvPr>
          <p:cNvSpPr/>
          <p:nvPr/>
        </p:nvSpPr>
        <p:spPr>
          <a:xfrm>
            <a:off x="1467007" y="2591565"/>
            <a:ext cx="9540239" cy="3448407"/>
          </a:xfrm>
          <a:prstGeom prst="rect">
            <a:avLst/>
          </a:prstGeom>
          <a:noFill/>
          <a:ln>
            <a:solidFill>
              <a:schemeClr val="accent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3AB9DD8-1BA6-EED0-1DEC-F69E0D62279F}"/>
              </a:ext>
            </a:extLst>
          </p:cNvPr>
          <p:cNvSpPr/>
          <p:nvPr/>
        </p:nvSpPr>
        <p:spPr>
          <a:xfrm>
            <a:off x="2239235" y="3226435"/>
            <a:ext cx="3459485" cy="1213338"/>
          </a:xfrm>
          <a:prstGeom prst="rect">
            <a:avLst/>
          </a:prstGeom>
          <a:solidFill>
            <a:srgbClr val="F2F2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FB6C53A-9695-D4C8-8827-7B9E8AF4DA96}"/>
              </a:ext>
            </a:extLst>
          </p:cNvPr>
          <p:cNvSpPr/>
          <p:nvPr/>
        </p:nvSpPr>
        <p:spPr>
          <a:xfrm>
            <a:off x="1650826" y="5136184"/>
            <a:ext cx="649525" cy="280678"/>
          </a:xfrm>
          <a:prstGeom prst="rect">
            <a:avLst/>
          </a:prstGeom>
          <a:solidFill>
            <a:srgbClr val="FFC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3" name="文本框 20">
            <a:extLst>
              <a:ext uri="{FF2B5EF4-FFF2-40B4-BE49-F238E27FC236}">
                <a16:creationId xmlns:a16="http://schemas.microsoft.com/office/drawing/2014/main" id="{67084986-E3E2-1B36-CB83-52925B4C5234}"/>
              </a:ext>
            </a:extLst>
          </p:cNvPr>
          <p:cNvSpPr txBox="1"/>
          <p:nvPr/>
        </p:nvSpPr>
        <p:spPr>
          <a:xfrm>
            <a:off x="2300351" y="5091857"/>
            <a:ext cx="2009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cs typeface="+mn-ea"/>
                <a:sym typeface="+mn-lt"/>
              </a:rPr>
              <a:t>Laser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DEDA2F7-DD0C-B6AF-FA4B-789F5380E082}"/>
              </a:ext>
            </a:extLst>
          </p:cNvPr>
          <p:cNvSpPr/>
          <p:nvPr/>
        </p:nvSpPr>
        <p:spPr>
          <a:xfrm>
            <a:off x="6489447" y="3252702"/>
            <a:ext cx="2175647" cy="1213338"/>
          </a:xfrm>
          <a:prstGeom prst="rect">
            <a:avLst/>
          </a:prstGeom>
          <a:solidFill>
            <a:srgbClr val="F2F2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箭头: V 形 32">
            <a:extLst>
              <a:ext uri="{FF2B5EF4-FFF2-40B4-BE49-F238E27FC236}">
                <a16:creationId xmlns:a16="http://schemas.microsoft.com/office/drawing/2014/main" id="{0FAB6334-5ABE-7A88-A44F-64281F7BDDE0}"/>
              </a:ext>
            </a:extLst>
          </p:cNvPr>
          <p:cNvSpPr/>
          <p:nvPr/>
        </p:nvSpPr>
        <p:spPr>
          <a:xfrm>
            <a:off x="5999937" y="1125526"/>
            <a:ext cx="2947422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②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Electrical Signal Hub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7" name="箭头: V 形 36">
            <a:extLst>
              <a:ext uri="{FF2B5EF4-FFF2-40B4-BE49-F238E27FC236}">
                <a16:creationId xmlns:a16="http://schemas.microsoft.com/office/drawing/2014/main" id="{A5DE1F38-4944-0B42-9D63-3C4E1D721242}"/>
              </a:ext>
            </a:extLst>
          </p:cNvPr>
          <p:cNvSpPr/>
          <p:nvPr/>
        </p:nvSpPr>
        <p:spPr>
          <a:xfrm>
            <a:off x="9041796" y="1125526"/>
            <a:ext cx="2038857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③</a:t>
            </a:r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Switch Chip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9" name="箭头: 五边形 38">
            <a:extLst>
              <a:ext uri="{FF2B5EF4-FFF2-40B4-BE49-F238E27FC236}">
                <a16:creationId xmlns:a16="http://schemas.microsoft.com/office/drawing/2014/main" id="{7315768A-F489-4B69-3BFF-EF42D30BFF80}"/>
              </a:ext>
            </a:extLst>
          </p:cNvPr>
          <p:cNvSpPr/>
          <p:nvPr/>
        </p:nvSpPr>
        <p:spPr>
          <a:xfrm>
            <a:off x="514350" y="1116582"/>
            <a:ext cx="1612358" cy="295991"/>
          </a:xfrm>
          <a:prstGeom prst="homePlate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Input/Output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0" name="箭头: V 形 39">
            <a:extLst>
              <a:ext uri="{FF2B5EF4-FFF2-40B4-BE49-F238E27FC236}">
                <a16:creationId xmlns:a16="http://schemas.microsoft.com/office/drawing/2014/main" id="{25CB25BC-33E8-730C-C17D-A7B74A5E8B3C}"/>
              </a:ext>
            </a:extLst>
          </p:cNvPr>
          <p:cNvSpPr/>
          <p:nvPr/>
        </p:nvSpPr>
        <p:spPr>
          <a:xfrm>
            <a:off x="2221145" y="1125526"/>
            <a:ext cx="3684355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①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Optical Signal Hub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2" name="文本框 19">
            <a:extLst>
              <a:ext uri="{FF2B5EF4-FFF2-40B4-BE49-F238E27FC236}">
                <a16:creationId xmlns:a16="http://schemas.microsoft.com/office/drawing/2014/main" id="{2727B565-61FE-E172-9002-76B020FA46D1}"/>
              </a:ext>
            </a:extLst>
          </p:cNvPr>
          <p:cNvSpPr txBox="1"/>
          <p:nvPr/>
        </p:nvSpPr>
        <p:spPr>
          <a:xfrm>
            <a:off x="8947359" y="1535563"/>
            <a:ext cx="25736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i="1"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ym typeface="+mn-lt"/>
              </a:rPr>
              <a:t>Control + Signal Processing</a:t>
            </a:r>
            <a:endParaRPr lang="zh-CN" altLang="en-US" sz="1400" dirty="0">
              <a:sym typeface="+mn-lt"/>
            </a:endParaRPr>
          </a:p>
        </p:txBody>
      </p:sp>
      <p:sp>
        <p:nvSpPr>
          <p:cNvPr id="43" name="文本框 20">
            <a:extLst>
              <a:ext uri="{FF2B5EF4-FFF2-40B4-BE49-F238E27FC236}">
                <a16:creationId xmlns:a16="http://schemas.microsoft.com/office/drawing/2014/main" id="{3DADEF1A-A333-EBD7-DBB9-800B82D091AA}"/>
              </a:ext>
            </a:extLst>
          </p:cNvPr>
          <p:cNvSpPr txBox="1"/>
          <p:nvPr/>
        </p:nvSpPr>
        <p:spPr>
          <a:xfrm>
            <a:off x="575775" y="3658264"/>
            <a:ext cx="2009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cs typeface="+mn-ea"/>
                <a:sym typeface="+mn-lt"/>
              </a:rPr>
              <a:t>Fiber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4" name="文本框 20">
            <a:extLst>
              <a:ext uri="{FF2B5EF4-FFF2-40B4-BE49-F238E27FC236}">
                <a16:creationId xmlns:a16="http://schemas.microsoft.com/office/drawing/2014/main" id="{7EB95528-BE38-31FE-D498-ED8A9AD5D0DE}"/>
              </a:ext>
            </a:extLst>
          </p:cNvPr>
          <p:cNvSpPr txBox="1"/>
          <p:nvPr/>
        </p:nvSpPr>
        <p:spPr>
          <a:xfrm>
            <a:off x="2305997" y="3368016"/>
            <a:ext cx="18612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Silicon Photonics Chip</a:t>
            </a:r>
          </a:p>
          <a:p>
            <a:pPr algn="ctr"/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(</a:t>
            </a:r>
            <a:r>
              <a:rPr lang="en-US" altLang="zh-CN" b="1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SiPh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)</a:t>
            </a:r>
            <a:endParaRPr lang="zh-CN" altLang="en-US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文本框 20">
            <a:extLst>
              <a:ext uri="{FF2B5EF4-FFF2-40B4-BE49-F238E27FC236}">
                <a16:creationId xmlns:a16="http://schemas.microsoft.com/office/drawing/2014/main" id="{37BFB15D-02A7-38D1-4534-FAD88D98D71A}"/>
              </a:ext>
            </a:extLst>
          </p:cNvPr>
          <p:cNvSpPr txBox="1"/>
          <p:nvPr/>
        </p:nvSpPr>
        <p:spPr>
          <a:xfrm>
            <a:off x="6525554" y="3368016"/>
            <a:ext cx="13669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 b="1">
                <a:solidFill>
                  <a:schemeClr val="accent6">
                    <a:lumMod val="10000"/>
                  </a:schemeClr>
                </a:solidFill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/>
              <a:t>​Electrical IC</a:t>
            </a:r>
          </a:p>
          <a:p>
            <a:r>
              <a:rPr lang="en-US" altLang="zh-CN" sz="1800" dirty="0"/>
              <a:t>(EIC)​</a:t>
            </a:r>
            <a:endParaRPr lang="zh-CN" altLang="en-US" sz="1800" dirty="0">
              <a:sym typeface="+mn-lt"/>
            </a:endParaRPr>
          </a:p>
        </p:txBody>
      </p:sp>
      <p:sp>
        <p:nvSpPr>
          <p:cNvPr id="47" name="文本框 20">
            <a:extLst>
              <a:ext uri="{FF2B5EF4-FFF2-40B4-BE49-F238E27FC236}">
                <a16:creationId xmlns:a16="http://schemas.microsoft.com/office/drawing/2014/main" id="{8CE53E9B-A40C-F4EE-67D8-64D988AE13F3}"/>
              </a:ext>
            </a:extLst>
          </p:cNvPr>
          <p:cNvSpPr txBox="1"/>
          <p:nvPr/>
        </p:nvSpPr>
        <p:spPr>
          <a:xfrm>
            <a:off x="9681740" y="2723323"/>
            <a:ext cx="132550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cs typeface="+mn-ea"/>
                <a:sym typeface="+mn-lt"/>
              </a:rPr>
              <a:t>Interposer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5689421-5D02-C04E-BCB5-FD5BBA142849}"/>
              </a:ext>
            </a:extLst>
          </p:cNvPr>
          <p:cNvSpPr/>
          <p:nvPr/>
        </p:nvSpPr>
        <p:spPr>
          <a:xfrm>
            <a:off x="9230293" y="3252789"/>
            <a:ext cx="1325506" cy="1213336"/>
          </a:xfrm>
          <a:prstGeom prst="rect">
            <a:avLst/>
          </a:prstGeom>
          <a:solidFill>
            <a:srgbClr val="0052D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6E750E85-5EAD-83BD-32BF-03956365F6EB}"/>
              </a:ext>
            </a:extLst>
          </p:cNvPr>
          <p:cNvGrpSpPr/>
          <p:nvPr/>
        </p:nvGrpSpPr>
        <p:grpSpPr>
          <a:xfrm>
            <a:off x="1257831" y="3695123"/>
            <a:ext cx="951597" cy="275962"/>
            <a:chOff x="1264116" y="3092270"/>
            <a:chExt cx="951597" cy="275962"/>
          </a:xfrm>
        </p:grpSpPr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25AD28EC-69D7-E8CC-F854-B7560F73B44D}"/>
                </a:ext>
              </a:extLst>
            </p:cNvPr>
            <p:cNvCxnSpPr>
              <a:cxnSpLocks/>
            </p:cNvCxnSpPr>
            <p:nvPr/>
          </p:nvCxnSpPr>
          <p:spPr>
            <a:xfrm>
              <a:off x="1264116" y="3092270"/>
              <a:ext cx="951597" cy="0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42DD8AC4-36E8-0656-6597-D0E82B632B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64116" y="3368232"/>
              <a:ext cx="931629" cy="0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1EF942E8-363E-BB6C-8926-2CC6D54A4D13}"/>
              </a:ext>
            </a:extLst>
          </p:cNvPr>
          <p:cNvGrpSpPr/>
          <p:nvPr/>
        </p:nvGrpSpPr>
        <p:grpSpPr>
          <a:xfrm>
            <a:off x="5754848" y="3725567"/>
            <a:ext cx="701515" cy="215075"/>
            <a:chOff x="5867400" y="3121269"/>
            <a:chExt cx="470408" cy="215075"/>
          </a:xfrm>
        </p:grpSpPr>
        <p:cxnSp>
          <p:nvCxnSpPr>
            <p:cNvPr id="2055" name="直接箭头连接符 2054">
              <a:extLst>
                <a:ext uri="{FF2B5EF4-FFF2-40B4-BE49-F238E27FC236}">
                  <a16:creationId xmlns:a16="http://schemas.microsoft.com/office/drawing/2014/main" id="{7FBD8DBF-3536-067A-49D5-59958CB045AC}"/>
                </a:ext>
              </a:extLst>
            </p:cNvPr>
            <p:cNvCxnSpPr>
              <a:cxnSpLocks/>
            </p:cNvCxnSpPr>
            <p:nvPr/>
          </p:nvCxnSpPr>
          <p:spPr>
            <a:xfrm>
              <a:off x="5867400" y="3121269"/>
              <a:ext cx="470408" cy="0"/>
            </a:xfrm>
            <a:prstGeom prst="straightConnector1">
              <a:avLst/>
            </a:prstGeom>
            <a:ln>
              <a:solidFill>
                <a:srgbClr val="0052D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8" name="直接箭头连接符 2057">
              <a:extLst>
                <a:ext uri="{FF2B5EF4-FFF2-40B4-BE49-F238E27FC236}">
                  <a16:creationId xmlns:a16="http://schemas.microsoft.com/office/drawing/2014/main" id="{1DC1302F-98F2-11EC-F648-FEF89B479F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67400" y="3336344"/>
              <a:ext cx="446029" cy="0"/>
            </a:xfrm>
            <a:prstGeom prst="straightConnector1">
              <a:avLst/>
            </a:prstGeom>
            <a:ln>
              <a:solidFill>
                <a:srgbClr val="0052D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62" name="直接箭头连接符 2061">
            <a:extLst>
              <a:ext uri="{FF2B5EF4-FFF2-40B4-BE49-F238E27FC236}">
                <a16:creationId xmlns:a16="http://schemas.microsoft.com/office/drawing/2014/main" id="{AD1DD371-7967-C5F3-59FB-82B1D9CAB30E}"/>
              </a:ext>
            </a:extLst>
          </p:cNvPr>
          <p:cNvCxnSpPr>
            <a:cxnSpLocks/>
          </p:cNvCxnSpPr>
          <p:nvPr/>
        </p:nvCxnSpPr>
        <p:spPr>
          <a:xfrm>
            <a:off x="8703736" y="3852209"/>
            <a:ext cx="493473" cy="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5" name="连接符: 肘形 2074">
            <a:extLst>
              <a:ext uri="{FF2B5EF4-FFF2-40B4-BE49-F238E27FC236}">
                <a16:creationId xmlns:a16="http://schemas.microsoft.com/office/drawing/2014/main" id="{9ED28D06-04DF-D6FD-7DDF-5A0B2275ADB3}"/>
              </a:ext>
            </a:extLst>
          </p:cNvPr>
          <p:cNvCxnSpPr>
            <a:cxnSpLocks/>
            <a:stCxn id="24" idx="2"/>
            <a:endCxn id="22" idx="2"/>
          </p:cNvCxnSpPr>
          <p:nvPr/>
        </p:nvCxnSpPr>
        <p:spPr>
          <a:xfrm rot="5400000">
            <a:off x="4301019" y="2140610"/>
            <a:ext cx="950822" cy="5601682"/>
          </a:xfrm>
          <a:prstGeom prst="bentConnector3">
            <a:avLst>
              <a:gd name="adj1" fmla="val 136865"/>
            </a:avLst>
          </a:prstGeom>
          <a:ln w="19050">
            <a:solidFill>
              <a:srgbClr val="0052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7" name="连接符: 肘形 2076">
            <a:extLst>
              <a:ext uri="{FF2B5EF4-FFF2-40B4-BE49-F238E27FC236}">
                <a16:creationId xmlns:a16="http://schemas.microsoft.com/office/drawing/2014/main" id="{0AF81F08-9051-FE8D-26FF-20D5E94B76FF}"/>
              </a:ext>
            </a:extLst>
          </p:cNvPr>
          <p:cNvCxnSpPr>
            <a:cxnSpLocks/>
            <a:stCxn id="22" idx="0"/>
            <a:endCxn id="21" idx="2"/>
          </p:cNvCxnSpPr>
          <p:nvPr/>
        </p:nvCxnSpPr>
        <p:spPr>
          <a:xfrm rot="5400000" flipH="1" flipV="1">
            <a:off x="2624078" y="3791285"/>
            <a:ext cx="696411" cy="1993389"/>
          </a:xfrm>
          <a:prstGeom prst="bentConnector3">
            <a:avLst>
              <a:gd name="adj1" fmla="val 50000"/>
            </a:avLst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>
            <a:extLst>
              <a:ext uri="{FF2B5EF4-FFF2-40B4-BE49-F238E27FC236}">
                <a16:creationId xmlns:a16="http://schemas.microsoft.com/office/drawing/2014/main" id="{D0BCD0E5-ED24-574E-E257-2EF66AC7E5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1262" b="90140" l="10000" r="90000"/>
                    </a14:imgEffect>
                  </a14:imgLayer>
                </a14:imgProps>
              </a:ext>
            </a:extLst>
          </a:blip>
          <a:srcRect t="37052" b="1"/>
          <a:stretch/>
        </p:blipFill>
        <p:spPr>
          <a:xfrm>
            <a:off x="4102846" y="3572314"/>
            <a:ext cx="1504067" cy="514734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E1F0DD3D-EF20-CE96-BADF-B90BA34081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76551" y="3403303"/>
            <a:ext cx="515335" cy="852756"/>
          </a:xfrm>
          <a:prstGeom prst="rect">
            <a:avLst/>
          </a:prstGeom>
        </p:spPr>
      </p:pic>
      <p:pic>
        <p:nvPicPr>
          <p:cNvPr id="52" name="Picture 2">
            <a:extLst>
              <a:ext uri="{FF2B5EF4-FFF2-40B4-BE49-F238E27FC236}">
                <a16:creationId xmlns:a16="http://schemas.microsoft.com/office/drawing/2014/main" id="{5602C000-9232-4CA0-4CF1-B1F3AB9A9E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872" y="4903928"/>
            <a:ext cx="936105" cy="657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图片 54">
            <a:extLst>
              <a:ext uri="{FF2B5EF4-FFF2-40B4-BE49-F238E27FC236}">
                <a16:creationId xmlns:a16="http://schemas.microsoft.com/office/drawing/2014/main" id="{EBD606B1-4B19-F639-D715-573EFB3F15F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5285" b="98374" l="3165" r="98418">
                        <a14:foregroundMark x1="12025" y1="22358" x2="34072" y2="16057"/>
                        <a14:foregroundMark x1="34072" y1="16057" x2="34072" y2="16057"/>
                        <a14:foregroundMark x1="33333" y1="17073" x2="64662" y2="9959"/>
                        <a14:foregroundMark x1="64662" y1="9959" x2="71941" y2="18902"/>
                        <a14:foregroundMark x1="71941" y1="18902" x2="91034" y2="68089"/>
                        <a14:foregroundMark x1="91034" y1="68089" x2="46519" y2="86179"/>
                        <a14:foregroundMark x1="46519" y1="86179" x2="32384" y2="85366"/>
                        <a14:foregroundMark x1="32384" y1="85366" x2="27321" y2="80081"/>
                        <a14:foregroundMark x1="27321" y1="80081" x2="10232" y2="29268"/>
                        <a14:foregroundMark x1="10232" y1="29268" x2="13608" y2="20935"/>
                        <a14:foregroundMark x1="13608" y1="20935" x2="13924" y2="20732"/>
                        <a14:foregroundMark x1="10021" y1="19919" x2="7122" y2="26946"/>
                        <a14:foregroundMark x1="4219" y1="21951" x2="5439" y2="27764"/>
                        <a14:foregroundMark x1="24684" y1="89634" x2="29114" y2="96545"/>
                        <a14:foregroundMark x1="49014" y1="91104" x2="92300" y2="79268"/>
                        <a14:foregroundMark x1="29114" y1="96545" x2="31385" y2="95924"/>
                        <a14:foregroundMark x1="92300" y1="79268" x2="95570" y2="69512"/>
                        <a14:foregroundMark x1="95570" y1="69512" x2="93882" y2="64837"/>
                        <a14:foregroundMark x1="23840" y1="91057" x2="31821" y2="97141"/>
                        <a14:foregroundMark x1="3165" y1="20935" x2="4642" y2="28554"/>
                        <a14:foregroundMark x1="6013" y1="18496" x2="47358" y2="9116"/>
                        <a14:foregroundMark x1="69890" y1="5829" x2="70570" y2="5894"/>
                        <a14:foregroundMark x1="70570" y1="7114" x2="97363" y2="71341"/>
                        <a14:backgroundMark x1="4536" y1="28659" x2="22890" y2="91260"/>
                        <a14:backgroundMark x1="50527" y1="95325" x2="32700" y2="99593"/>
                        <a14:backgroundMark x1="47046" y1="96341" x2="98734" y2="81504"/>
                        <a14:backgroundMark x1="47785" y1="7724" x2="70992" y2="22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14314" y="3867374"/>
            <a:ext cx="830218" cy="430873"/>
          </a:xfrm>
          <a:prstGeom prst="rect">
            <a:avLst/>
          </a:prstGeom>
        </p:spPr>
      </p:pic>
      <p:sp>
        <p:nvSpPr>
          <p:cNvPr id="57" name="文本框 20">
            <a:extLst>
              <a:ext uri="{FF2B5EF4-FFF2-40B4-BE49-F238E27FC236}">
                <a16:creationId xmlns:a16="http://schemas.microsoft.com/office/drawing/2014/main" id="{A707E005-0F5A-8BC3-6FB7-C00568D69008}"/>
              </a:ext>
            </a:extLst>
          </p:cNvPr>
          <p:cNvSpPr txBox="1"/>
          <p:nvPr/>
        </p:nvSpPr>
        <p:spPr>
          <a:xfrm>
            <a:off x="9161102" y="3440100"/>
            <a:ext cx="14638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dirty="0">
                <a:solidFill>
                  <a:schemeClr val="bg1"/>
                </a:solidFill>
                <a:cs typeface="+mn-ea"/>
                <a:sym typeface="+mn-lt"/>
              </a:rPr>
              <a:t>ASIC</a:t>
            </a:r>
          </a:p>
        </p:txBody>
      </p:sp>
      <p:sp>
        <p:nvSpPr>
          <p:cNvPr id="58" name="左大括号 57">
            <a:extLst>
              <a:ext uri="{FF2B5EF4-FFF2-40B4-BE49-F238E27FC236}">
                <a16:creationId xmlns:a16="http://schemas.microsoft.com/office/drawing/2014/main" id="{22734E28-4CAC-844F-BDBB-82EF12CDE189}"/>
              </a:ext>
            </a:extLst>
          </p:cNvPr>
          <p:cNvSpPr/>
          <p:nvPr/>
        </p:nvSpPr>
        <p:spPr>
          <a:xfrm rot="16200000">
            <a:off x="5543587" y="-2495764"/>
            <a:ext cx="238588" cy="8924398"/>
          </a:xfrm>
          <a:prstGeom prst="leftBrac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文本框 16">
            <a:extLst>
              <a:ext uri="{FF2B5EF4-FFF2-40B4-BE49-F238E27FC236}">
                <a16:creationId xmlns:a16="http://schemas.microsoft.com/office/drawing/2014/main" id="{88423579-B8A0-659B-7469-A67344F6A24E}"/>
              </a:ext>
            </a:extLst>
          </p:cNvPr>
          <p:cNvSpPr txBox="1"/>
          <p:nvPr/>
        </p:nvSpPr>
        <p:spPr>
          <a:xfrm>
            <a:off x="2525155" y="2147409"/>
            <a:ext cx="66479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 dirty="0">
                <a:cs typeface="+mn-ea"/>
                <a:sym typeface="+mn-lt"/>
              </a:rPr>
              <a:t>④</a:t>
            </a:r>
            <a:r>
              <a:rPr lang="zh-CN" altLang="en-US" sz="1400" dirty="0">
                <a:cs typeface="+mn-ea"/>
                <a:sym typeface="+mn-lt"/>
              </a:rPr>
              <a:t> </a:t>
            </a:r>
            <a:r>
              <a:rPr lang="en-US" altLang="zh-CN" sz="1400" dirty="0">
                <a:cs typeface="+mn-ea"/>
                <a:sym typeface="+mn-lt"/>
              </a:rPr>
              <a:t>Integration:</a:t>
            </a:r>
            <a:r>
              <a:rPr lang="zh-CN" altLang="en-US" sz="1400" dirty="0">
                <a:cs typeface="+mn-ea"/>
                <a:sym typeface="+mn-lt"/>
              </a:rPr>
              <a:t> </a:t>
            </a:r>
            <a:r>
              <a:rPr lang="en-US" altLang="zh-CN" sz="1400" dirty="0">
                <a:cs typeface="+mn-ea"/>
                <a:sym typeface="+mn-lt"/>
              </a:rPr>
              <a:t>Advanced Packaging + System Integration</a:t>
            </a:r>
            <a:endParaRPr lang="zh-CN" altLang="en-US" sz="1400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279190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9A1FEA3-C30C-92F6-5C30-9DC3EE72F61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303422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A1FEA3-C30C-92F6-5C30-9DC3EE72F6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A39AD824-CE80-33BC-3477-49D09593F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350" y="94209"/>
            <a:ext cx="9677146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Supply chain: EICs &amp; switch chips - large Scale, high margin, long R&amp;D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EB94D79-6AC1-FD22-C9E1-4BCB3FAD7C4C}"/>
              </a:ext>
            </a:extLst>
          </p:cNvPr>
          <p:cNvSpPr/>
          <p:nvPr/>
        </p:nvSpPr>
        <p:spPr>
          <a:xfrm>
            <a:off x="1696543" y="1005705"/>
            <a:ext cx="2478887" cy="513636"/>
          </a:xfrm>
          <a:prstGeom prst="homePlate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①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 Signal Hub</a:t>
            </a:r>
          </a:p>
        </p:txBody>
      </p:sp>
      <p:sp>
        <p:nvSpPr>
          <p:cNvPr id="11" name="箭头: V 形 10">
            <a:extLst>
              <a:ext uri="{FF2B5EF4-FFF2-40B4-BE49-F238E27FC236}">
                <a16:creationId xmlns:a16="http://schemas.microsoft.com/office/drawing/2014/main" id="{2095B2AB-A5E4-A263-EA60-C4F7DA4AE67C}"/>
              </a:ext>
            </a:extLst>
          </p:cNvPr>
          <p:cNvSpPr/>
          <p:nvPr/>
        </p:nvSpPr>
        <p:spPr>
          <a:xfrm>
            <a:off x="4271419" y="1010177"/>
            <a:ext cx="2865219" cy="504692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②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Electrical Signal Hub</a:t>
            </a:r>
          </a:p>
        </p:txBody>
      </p:sp>
      <p:sp>
        <p:nvSpPr>
          <p:cNvPr id="7" name="箭头: V 形 6">
            <a:extLst>
              <a:ext uri="{FF2B5EF4-FFF2-40B4-BE49-F238E27FC236}">
                <a16:creationId xmlns:a16="http://schemas.microsoft.com/office/drawing/2014/main" id="{2944F56B-B007-2FEF-C46F-9CF60ECC962C}"/>
              </a:ext>
            </a:extLst>
          </p:cNvPr>
          <p:cNvSpPr/>
          <p:nvPr/>
        </p:nvSpPr>
        <p:spPr>
          <a:xfrm>
            <a:off x="7232627" y="1011475"/>
            <a:ext cx="2186792" cy="502097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③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BFDC959-369A-FFC3-D4C3-D98DA786A392}"/>
              </a:ext>
            </a:extLst>
          </p:cNvPr>
          <p:cNvSpPr txBox="1"/>
          <p:nvPr/>
        </p:nvSpPr>
        <p:spPr>
          <a:xfrm>
            <a:off x="536623" y="1662248"/>
            <a:ext cx="938820" cy="782053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Market Size</a:t>
            </a:r>
            <a:r>
              <a:rPr kumimoji="1" lang="en-US" altLang="zh-CN" sz="1400" b="1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（</a:t>
            </a: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2028E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）</a:t>
            </a:r>
            <a:endParaRPr kumimoji="1" lang="en-US" altLang="zh-CN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F6405CC-72E3-D9E6-DE06-5416FB124E56}"/>
              </a:ext>
            </a:extLst>
          </p:cNvPr>
          <p:cNvSpPr txBox="1"/>
          <p:nvPr/>
        </p:nvSpPr>
        <p:spPr>
          <a:xfrm>
            <a:off x="538396" y="4763702"/>
            <a:ext cx="521691" cy="1143044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R&amp;D Cycle</a:t>
            </a:r>
          </a:p>
        </p:txBody>
      </p:sp>
      <p:sp>
        <p:nvSpPr>
          <p:cNvPr id="5141" name="文本框 5140">
            <a:extLst>
              <a:ext uri="{FF2B5EF4-FFF2-40B4-BE49-F238E27FC236}">
                <a16:creationId xmlns:a16="http://schemas.microsoft.com/office/drawing/2014/main" id="{F7E6E847-3356-477B-0451-FD2FA612CFF1}"/>
              </a:ext>
            </a:extLst>
          </p:cNvPr>
          <p:cNvSpPr txBox="1"/>
          <p:nvPr/>
        </p:nvSpPr>
        <p:spPr>
          <a:xfrm>
            <a:off x="214449" y="6280554"/>
            <a:ext cx="1176201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100"/>
              </a:spcBef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Yole,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</a:rPr>
              <a:t>TechNavio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Huaxin Securities,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Broadcom,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TSMC,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Inphi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ASE,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Innolight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spcBef>
                <a:spcPts val="100"/>
              </a:spcBef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Scope limited in data-com market.</a:t>
            </a:r>
          </a:p>
          <a:p>
            <a:pPr>
              <a:spcBef>
                <a:spcPts val="100"/>
              </a:spcBef>
            </a:pP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100"/>
              </a:spcBef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100"/>
              </a:spcBef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BA270F4-3CB0-4B5C-1C9B-E8570DB4FE6C}"/>
              </a:ext>
            </a:extLst>
          </p:cNvPr>
          <p:cNvSpPr txBox="1"/>
          <p:nvPr/>
        </p:nvSpPr>
        <p:spPr>
          <a:xfrm>
            <a:off x="1612731" y="2628372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10-20%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5143" name="组合 5142">
            <a:extLst>
              <a:ext uri="{FF2B5EF4-FFF2-40B4-BE49-F238E27FC236}">
                <a16:creationId xmlns:a16="http://schemas.microsoft.com/office/drawing/2014/main" id="{DD841929-ADF6-484C-A8EC-6CE52010F1BB}"/>
              </a:ext>
            </a:extLst>
          </p:cNvPr>
          <p:cNvGrpSpPr/>
          <p:nvPr/>
        </p:nvGrpSpPr>
        <p:grpSpPr>
          <a:xfrm>
            <a:off x="1612731" y="1891407"/>
            <a:ext cx="524985" cy="323734"/>
            <a:chOff x="1754171" y="1821345"/>
            <a:chExt cx="524985" cy="323734"/>
          </a:xfrm>
        </p:grpSpPr>
        <p:sp>
          <p:nvSpPr>
            <p:cNvPr id="5139" name="椭圆 5138">
              <a:extLst>
                <a:ext uri="{FF2B5EF4-FFF2-40B4-BE49-F238E27FC236}">
                  <a16:creationId xmlns:a16="http://schemas.microsoft.com/office/drawing/2014/main" id="{33339ED0-034F-C0C7-4431-5A5B8CB922C4}"/>
                </a:ext>
              </a:extLst>
            </p:cNvPr>
            <p:cNvSpPr/>
            <p:nvPr/>
          </p:nvSpPr>
          <p:spPr>
            <a:xfrm>
              <a:off x="1830497" y="1825659"/>
              <a:ext cx="319723" cy="31942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140" name="文本框 5139">
              <a:extLst>
                <a:ext uri="{FF2B5EF4-FFF2-40B4-BE49-F238E27FC236}">
                  <a16:creationId xmlns:a16="http://schemas.microsoft.com/office/drawing/2014/main" id="{2E8076CA-6E11-F40A-4FC9-158485169E27}"/>
                </a:ext>
              </a:extLst>
            </p:cNvPr>
            <p:cNvSpPr txBox="1"/>
            <p:nvPr/>
          </p:nvSpPr>
          <p:spPr>
            <a:xfrm>
              <a:off x="1754171" y="1821345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142" name="文本框 5141">
            <a:extLst>
              <a:ext uri="{FF2B5EF4-FFF2-40B4-BE49-F238E27FC236}">
                <a16:creationId xmlns:a16="http://schemas.microsoft.com/office/drawing/2014/main" id="{47A5F87E-0888-DD24-02FE-DEF6E7890AA7}"/>
              </a:ext>
            </a:extLst>
          </p:cNvPr>
          <p:cNvSpPr txBox="1"/>
          <p:nvPr/>
        </p:nvSpPr>
        <p:spPr>
          <a:xfrm>
            <a:off x="2168396" y="1868608"/>
            <a:ext cx="173199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47" name="文本框 5146">
            <a:extLst>
              <a:ext uri="{FF2B5EF4-FFF2-40B4-BE49-F238E27FC236}">
                <a16:creationId xmlns:a16="http://schemas.microsoft.com/office/drawing/2014/main" id="{C9501E65-C238-4BD7-A284-98361153E127}"/>
              </a:ext>
            </a:extLst>
          </p:cNvPr>
          <p:cNvSpPr txBox="1"/>
          <p:nvPr/>
        </p:nvSpPr>
        <p:spPr>
          <a:xfrm>
            <a:off x="4234660" y="2628372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20-30%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50" name="文本框 5149">
            <a:extLst>
              <a:ext uri="{FF2B5EF4-FFF2-40B4-BE49-F238E27FC236}">
                <a16:creationId xmlns:a16="http://schemas.microsoft.com/office/drawing/2014/main" id="{B135A926-2B11-18C8-545D-3FDA4D19E725}"/>
              </a:ext>
            </a:extLst>
          </p:cNvPr>
          <p:cNvSpPr txBox="1"/>
          <p:nvPr/>
        </p:nvSpPr>
        <p:spPr>
          <a:xfrm>
            <a:off x="4792224" y="1868608"/>
            <a:ext cx="168477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67" name="文本框 5166">
            <a:extLst>
              <a:ext uri="{FF2B5EF4-FFF2-40B4-BE49-F238E27FC236}">
                <a16:creationId xmlns:a16="http://schemas.microsoft.com/office/drawing/2014/main" id="{0312E74B-0E18-11A3-90C0-CBD0F8F8F721}"/>
              </a:ext>
            </a:extLst>
          </p:cNvPr>
          <p:cNvSpPr txBox="1"/>
          <p:nvPr/>
        </p:nvSpPr>
        <p:spPr>
          <a:xfrm>
            <a:off x="538396" y="3507437"/>
            <a:ext cx="938820" cy="734751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Gross</a:t>
            </a: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Margin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75" name="文本框 5174">
            <a:extLst>
              <a:ext uri="{FF2B5EF4-FFF2-40B4-BE49-F238E27FC236}">
                <a16:creationId xmlns:a16="http://schemas.microsoft.com/office/drawing/2014/main" id="{D641C62B-0B62-EB64-0065-99C22DBEBF5A}"/>
              </a:ext>
            </a:extLst>
          </p:cNvPr>
          <p:cNvSpPr txBox="1"/>
          <p:nvPr/>
        </p:nvSpPr>
        <p:spPr>
          <a:xfrm>
            <a:off x="1612731" y="3690146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76" name="文本框 5175">
            <a:extLst>
              <a:ext uri="{FF2B5EF4-FFF2-40B4-BE49-F238E27FC236}">
                <a16:creationId xmlns:a16="http://schemas.microsoft.com/office/drawing/2014/main" id="{2D18F208-6F67-C687-BAD4-F1DB573B820C}"/>
              </a:ext>
            </a:extLst>
          </p:cNvPr>
          <p:cNvSpPr txBox="1"/>
          <p:nvPr/>
        </p:nvSpPr>
        <p:spPr>
          <a:xfrm>
            <a:off x="4234660" y="3690146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50-70%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79" name="文本框 5178">
            <a:extLst>
              <a:ext uri="{FF2B5EF4-FFF2-40B4-BE49-F238E27FC236}">
                <a16:creationId xmlns:a16="http://schemas.microsoft.com/office/drawing/2014/main" id="{E4A184E9-3A80-ADD9-90D0-3BD2A6D536F2}"/>
              </a:ext>
            </a:extLst>
          </p:cNvPr>
          <p:cNvSpPr txBox="1"/>
          <p:nvPr/>
        </p:nvSpPr>
        <p:spPr>
          <a:xfrm>
            <a:off x="1612731" y="4839218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83" name="文本框 5182">
            <a:extLst>
              <a:ext uri="{FF2B5EF4-FFF2-40B4-BE49-F238E27FC236}">
                <a16:creationId xmlns:a16="http://schemas.microsoft.com/office/drawing/2014/main" id="{C394D483-8024-A943-E588-73ECFBF0CC3A}"/>
              </a:ext>
            </a:extLst>
          </p:cNvPr>
          <p:cNvSpPr txBox="1"/>
          <p:nvPr/>
        </p:nvSpPr>
        <p:spPr>
          <a:xfrm>
            <a:off x="4234660" y="4839218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059" name="组合 2058">
            <a:extLst>
              <a:ext uri="{FF2B5EF4-FFF2-40B4-BE49-F238E27FC236}">
                <a16:creationId xmlns:a16="http://schemas.microsoft.com/office/drawing/2014/main" id="{1953496E-86DF-99F3-061D-E28141D81585}"/>
              </a:ext>
            </a:extLst>
          </p:cNvPr>
          <p:cNvGrpSpPr/>
          <p:nvPr/>
        </p:nvGrpSpPr>
        <p:grpSpPr>
          <a:xfrm>
            <a:off x="5069024" y="4869996"/>
            <a:ext cx="2147657" cy="307777"/>
            <a:chOff x="4993028" y="3547148"/>
            <a:chExt cx="2147657" cy="307777"/>
          </a:xfrm>
        </p:grpSpPr>
        <p:sp>
          <p:nvSpPr>
            <p:cNvPr id="2054" name="文本框 2053">
              <a:extLst>
                <a:ext uri="{FF2B5EF4-FFF2-40B4-BE49-F238E27FC236}">
                  <a16:creationId xmlns:a16="http://schemas.microsoft.com/office/drawing/2014/main" id="{4AC1A078-CA47-8C37-8826-C1F307A00B44}"/>
                </a:ext>
              </a:extLst>
            </p:cNvPr>
            <p:cNvSpPr txBox="1"/>
            <p:nvPr/>
          </p:nvSpPr>
          <p:spPr>
            <a:xfrm>
              <a:off x="5378301" y="3547148"/>
              <a:ext cx="1762384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DSP 3y/gen</a:t>
              </a:r>
              <a:endParaRPr lang="zh-CN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pic>
          <p:nvPicPr>
            <p:cNvPr id="2055" name="图像" descr="图像">
              <a:extLst>
                <a:ext uri="{FF2B5EF4-FFF2-40B4-BE49-F238E27FC236}">
                  <a16:creationId xmlns:a16="http://schemas.microsoft.com/office/drawing/2014/main" id="{05F28215-B2B0-E495-9094-1D94168472B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93028" y="3615129"/>
              <a:ext cx="354793" cy="171062"/>
            </a:xfrm>
            <a:prstGeom prst="rect">
              <a:avLst/>
            </a:prstGeom>
            <a:ln w="12700">
              <a:miter lim="400000"/>
            </a:ln>
          </p:spPr>
        </p:pic>
      </p:grpSp>
      <p:sp>
        <p:nvSpPr>
          <p:cNvPr id="2063" name="文本框 2062">
            <a:extLst>
              <a:ext uri="{FF2B5EF4-FFF2-40B4-BE49-F238E27FC236}">
                <a16:creationId xmlns:a16="http://schemas.microsoft.com/office/drawing/2014/main" id="{0AE37A1E-0F31-DC60-88E1-BB228C6DC267}"/>
              </a:ext>
            </a:extLst>
          </p:cNvPr>
          <p:cNvSpPr txBox="1"/>
          <p:nvPr/>
        </p:nvSpPr>
        <p:spPr>
          <a:xfrm>
            <a:off x="5454297" y="5523742"/>
            <a:ext cx="156558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2015-2025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2072" name="图片 2071">
            <a:extLst>
              <a:ext uri="{FF2B5EF4-FFF2-40B4-BE49-F238E27FC236}">
                <a16:creationId xmlns:a16="http://schemas.microsoft.com/office/drawing/2014/main" id="{7A11A869-01D0-BBE6-0206-EE2ACA931B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4576" y="5575550"/>
            <a:ext cx="423690" cy="204161"/>
          </a:xfrm>
          <a:prstGeom prst="rect">
            <a:avLst/>
          </a:prstGeom>
        </p:spPr>
      </p:pic>
      <p:pic>
        <p:nvPicPr>
          <p:cNvPr id="2092" name="图片 2091">
            <a:extLst>
              <a:ext uri="{FF2B5EF4-FFF2-40B4-BE49-F238E27FC236}">
                <a16:creationId xmlns:a16="http://schemas.microsoft.com/office/drawing/2014/main" id="{5B17527F-4E79-4C72-E9D2-EBC04614C0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1826" y="3669812"/>
            <a:ext cx="712529" cy="228150"/>
          </a:xfrm>
          <a:prstGeom prst="rect">
            <a:avLst/>
          </a:prstGeom>
        </p:spPr>
      </p:pic>
      <p:sp>
        <p:nvSpPr>
          <p:cNvPr id="2094" name="文本框 2093">
            <a:extLst>
              <a:ext uri="{FF2B5EF4-FFF2-40B4-BE49-F238E27FC236}">
                <a16:creationId xmlns:a16="http://schemas.microsoft.com/office/drawing/2014/main" id="{1230602E-C337-6B8F-6578-63BC7E423F3A}"/>
              </a:ext>
            </a:extLst>
          </p:cNvPr>
          <p:cNvSpPr txBox="1"/>
          <p:nvPr/>
        </p:nvSpPr>
        <p:spPr>
          <a:xfrm>
            <a:off x="7232627" y="3684241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40-70%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095" name="图像" descr="图像">
            <a:extLst>
              <a:ext uri="{FF2B5EF4-FFF2-40B4-BE49-F238E27FC236}">
                <a16:creationId xmlns:a16="http://schemas.microsoft.com/office/drawing/2014/main" id="{61C6A25A-EB48-AE9F-683C-955E98C98B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107" y="3780668"/>
            <a:ext cx="390523" cy="188289"/>
          </a:xfrm>
          <a:prstGeom prst="rect">
            <a:avLst/>
          </a:prstGeom>
          <a:ln w="12700">
            <a:miter lim="400000"/>
          </a:ln>
        </p:spPr>
      </p:pic>
      <p:sp>
        <p:nvSpPr>
          <p:cNvPr id="5181" name="文本框 5180">
            <a:extLst>
              <a:ext uri="{FF2B5EF4-FFF2-40B4-BE49-F238E27FC236}">
                <a16:creationId xmlns:a16="http://schemas.microsoft.com/office/drawing/2014/main" id="{BE2B5295-66CE-BD93-A4BE-80E17EDA9F7E}"/>
              </a:ext>
            </a:extLst>
          </p:cNvPr>
          <p:cNvSpPr txBox="1"/>
          <p:nvPr/>
        </p:nvSpPr>
        <p:spPr>
          <a:xfrm>
            <a:off x="2912867" y="4869996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2020-2025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182" name="图像" descr="图像">
            <a:extLst>
              <a:ext uri="{FF2B5EF4-FFF2-40B4-BE49-F238E27FC236}">
                <a16:creationId xmlns:a16="http://schemas.microsoft.com/office/drawing/2014/main" id="{075D8EAF-5948-22CD-3259-0DF432B39B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8896" y="4938353"/>
            <a:ext cx="354793" cy="171062"/>
          </a:xfrm>
          <a:prstGeom prst="rect">
            <a:avLst/>
          </a:prstGeom>
          <a:ln w="12700">
            <a:miter lim="400000"/>
          </a:ln>
        </p:spPr>
      </p:pic>
      <p:sp>
        <p:nvSpPr>
          <p:cNvPr id="2097" name="文本框 2096">
            <a:extLst>
              <a:ext uri="{FF2B5EF4-FFF2-40B4-BE49-F238E27FC236}">
                <a16:creationId xmlns:a16="http://schemas.microsoft.com/office/drawing/2014/main" id="{C69D77A3-6EB3-7D68-2405-97A37202F61C}"/>
              </a:ext>
            </a:extLst>
          </p:cNvPr>
          <p:cNvSpPr txBox="1"/>
          <p:nvPr/>
        </p:nvSpPr>
        <p:spPr>
          <a:xfrm>
            <a:off x="2927546" y="5523742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2017-2024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2099" name="图片 2098">
            <a:extLst>
              <a:ext uri="{FF2B5EF4-FFF2-40B4-BE49-F238E27FC236}">
                <a16:creationId xmlns:a16="http://schemas.microsoft.com/office/drawing/2014/main" id="{2257C515-19AC-C681-BBA2-67AB10FB95D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81316" y="5563059"/>
            <a:ext cx="600961" cy="229143"/>
          </a:xfrm>
          <a:prstGeom prst="rect">
            <a:avLst/>
          </a:prstGeom>
        </p:spPr>
      </p:pic>
      <p:pic>
        <p:nvPicPr>
          <p:cNvPr id="2100" name="图片 2099">
            <a:extLst>
              <a:ext uri="{FF2B5EF4-FFF2-40B4-BE49-F238E27FC236}">
                <a16:creationId xmlns:a16="http://schemas.microsoft.com/office/drawing/2014/main" id="{F054165F-A64C-0D7A-1F84-09C9189049F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66631" y="3760241"/>
            <a:ext cx="600961" cy="229143"/>
          </a:xfrm>
          <a:prstGeom prst="rect">
            <a:avLst/>
          </a:prstGeom>
        </p:spPr>
      </p:pic>
      <p:sp>
        <p:nvSpPr>
          <p:cNvPr id="12" name="箭头: V 形 11">
            <a:extLst>
              <a:ext uri="{FF2B5EF4-FFF2-40B4-BE49-F238E27FC236}">
                <a16:creationId xmlns:a16="http://schemas.microsoft.com/office/drawing/2014/main" id="{10CDCBAC-5CB5-077F-719C-6EFB53F66B92}"/>
              </a:ext>
            </a:extLst>
          </p:cNvPr>
          <p:cNvSpPr/>
          <p:nvPr/>
        </p:nvSpPr>
        <p:spPr>
          <a:xfrm>
            <a:off x="9515408" y="1010178"/>
            <a:ext cx="2275425" cy="504691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④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Integration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 </a:t>
            </a:r>
          </a:p>
        </p:txBody>
      </p:sp>
      <p:sp>
        <p:nvSpPr>
          <p:cNvPr id="5161" name="文本框 5160">
            <a:extLst>
              <a:ext uri="{FF2B5EF4-FFF2-40B4-BE49-F238E27FC236}">
                <a16:creationId xmlns:a16="http://schemas.microsoft.com/office/drawing/2014/main" id="{A79B612C-73C5-619C-2AAA-028F960EFD60}"/>
              </a:ext>
            </a:extLst>
          </p:cNvPr>
          <p:cNvSpPr txBox="1"/>
          <p:nvPr/>
        </p:nvSpPr>
        <p:spPr>
          <a:xfrm>
            <a:off x="10673511" y="2361405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64" name="文本框 5163">
            <a:extLst>
              <a:ext uri="{FF2B5EF4-FFF2-40B4-BE49-F238E27FC236}">
                <a16:creationId xmlns:a16="http://schemas.microsoft.com/office/drawing/2014/main" id="{958AC1E6-7A23-3AC9-B0A6-E7F01B5F1015}"/>
              </a:ext>
            </a:extLst>
          </p:cNvPr>
          <p:cNvSpPr txBox="1"/>
          <p:nvPr/>
        </p:nvSpPr>
        <p:spPr>
          <a:xfrm>
            <a:off x="9994700" y="1868608"/>
            <a:ext cx="187700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15+%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77" name="文本框 5176">
            <a:extLst>
              <a:ext uri="{FF2B5EF4-FFF2-40B4-BE49-F238E27FC236}">
                <a16:creationId xmlns:a16="http://schemas.microsoft.com/office/drawing/2014/main" id="{EE37D92E-39D4-DD7A-61FD-576584143C62}"/>
              </a:ext>
            </a:extLst>
          </p:cNvPr>
          <p:cNvSpPr txBox="1"/>
          <p:nvPr/>
        </p:nvSpPr>
        <p:spPr>
          <a:xfrm>
            <a:off x="9469715" y="3690146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10-50%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101" name="文本框 2100">
            <a:extLst>
              <a:ext uri="{FF2B5EF4-FFF2-40B4-BE49-F238E27FC236}">
                <a16:creationId xmlns:a16="http://schemas.microsoft.com/office/drawing/2014/main" id="{E6FD4056-43C1-8C5D-644C-0CE9689C106D}"/>
              </a:ext>
            </a:extLst>
          </p:cNvPr>
          <p:cNvSpPr txBox="1"/>
          <p:nvPr/>
        </p:nvSpPr>
        <p:spPr>
          <a:xfrm>
            <a:off x="9469715" y="4839218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102" name="文本框 2101">
            <a:extLst>
              <a:ext uri="{FF2B5EF4-FFF2-40B4-BE49-F238E27FC236}">
                <a16:creationId xmlns:a16="http://schemas.microsoft.com/office/drawing/2014/main" id="{DBA9FF02-34D5-43C4-E252-A278D8CB7EC8}"/>
              </a:ext>
            </a:extLst>
          </p:cNvPr>
          <p:cNvSpPr txBox="1"/>
          <p:nvPr/>
        </p:nvSpPr>
        <p:spPr>
          <a:xfrm>
            <a:off x="7232627" y="4833313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87" name="文本框 5186">
            <a:extLst>
              <a:ext uri="{FF2B5EF4-FFF2-40B4-BE49-F238E27FC236}">
                <a16:creationId xmlns:a16="http://schemas.microsoft.com/office/drawing/2014/main" id="{8C9D95CE-B0D3-AB5D-D820-37E5DDCA2663}"/>
              </a:ext>
            </a:extLst>
          </p:cNvPr>
          <p:cNvSpPr txBox="1"/>
          <p:nvPr/>
        </p:nvSpPr>
        <p:spPr>
          <a:xfrm>
            <a:off x="7232627" y="2622467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20-30%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90" name="文本框 5189">
            <a:extLst>
              <a:ext uri="{FF2B5EF4-FFF2-40B4-BE49-F238E27FC236}">
                <a16:creationId xmlns:a16="http://schemas.microsoft.com/office/drawing/2014/main" id="{C26E098D-8477-A171-5494-4045AB9EC7A6}"/>
              </a:ext>
            </a:extLst>
          </p:cNvPr>
          <p:cNvSpPr txBox="1"/>
          <p:nvPr/>
        </p:nvSpPr>
        <p:spPr>
          <a:xfrm>
            <a:off x="7797675" y="1868608"/>
            <a:ext cx="168477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078" name="文本框 2077">
            <a:extLst>
              <a:ext uri="{FF2B5EF4-FFF2-40B4-BE49-F238E27FC236}">
                <a16:creationId xmlns:a16="http://schemas.microsoft.com/office/drawing/2014/main" id="{F42F1B94-7078-1D0B-C4D0-7D1B755605B9}"/>
              </a:ext>
            </a:extLst>
          </p:cNvPr>
          <p:cNvSpPr txBox="1"/>
          <p:nvPr/>
        </p:nvSpPr>
        <p:spPr>
          <a:xfrm>
            <a:off x="10673511" y="5498342"/>
            <a:ext cx="202392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2015-2024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196" name="图像" descr="图像">
            <a:extLst>
              <a:ext uri="{FF2B5EF4-FFF2-40B4-BE49-F238E27FC236}">
                <a16:creationId xmlns:a16="http://schemas.microsoft.com/office/drawing/2014/main" id="{3D019281-AE39-A9D0-7FFF-10274BFD535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2296" y="4894349"/>
            <a:ext cx="328979" cy="259071"/>
          </a:xfrm>
          <a:prstGeom prst="rect">
            <a:avLst/>
          </a:prstGeom>
          <a:ln w="12700">
            <a:miter lim="400000"/>
          </a:ln>
        </p:spPr>
      </p:pic>
      <p:sp>
        <p:nvSpPr>
          <p:cNvPr id="5197" name="文本框 5196">
            <a:extLst>
              <a:ext uri="{FF2B5EF4-FFF2-40B4-BE49-F238E27FC236}">
                <a16:creationId xmlns:a16="http://schemas.microsoft.com/office/drawing/2014/main" id="{A36C9EFD-24EE-131D-AB97-58E3F3D82A09}"/>
              </a:ext>
            </a:extLst>
          </p:cNvPr>
          <p:cNvSpPr txBox="1"/>
          <p:nvPr/>
        </p:nvSpPr>
        <p:spPr>
          <a:xfrm>
            <a:off x="10674532" y="4869996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2020-2025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2103" name="图像" descr="图像">
            <a:extLst>
              <a:ext uri="{FF2B5EF4-FFF2-40B4-BE49-F238E27FC236}">
                <a16:creationId xmlns:a16="http://schemas.microsoft.com/office/drawing/2014/main" id="{8FAEFA22-0830-89D5-1032-EC33C04409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2705" y="4938353"/>
            <a:ext cx="354793" cy="171062"/>
          </a:xfrm>
          <a:prstGeom prst="rect">
            <a:avLst/>
          </a:prstGeom>
          <a:ln w="12700">
            <a:miter lim="400000"/>
          </a:ln>
        </p:spPr>
      </p:pic>
      <p:sp>
        <p:nvSpPr>
          <p:cNvPr id="2109" name="文本框 2108">
            <a:extLst>
              <a:ext uri="{FF2B5EF4-FFF2-40B4-BE49-F238E27FC236}">
                <a16:creationId xmlns:a16="http://schemas.microsoft.com/office/drawing/2014/main" id="{22A27ADB-27C6-805F-8042-C4E74C287B5C}"/>
              </a:ext>
            </a:extLst>
          </p:cNvPr>
          <p:cNvSpPr txBox="1"/>
          <p:nvPr/>
        </p:nvSpPr>
        <p:spPr>
          <a:xfrm>
            <a:off x="8365848" y="4869996"/>
            <a:ext cx="1018777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2-3y/gen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202" name="图片 5201">
            <a:extLst>
              <a:ext uri="{FF2B5EF4-FFF2-40B4-BE49-F238E27FC236}">
                <a16:creationId xmlns:a16="http://schemas.microsoft.com/office/drawing/2014/main" id="{42BFC031-9D3E-2A1B-9F5C-D40FED8C8D7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60089" y="5602385"/>
            <a:ext cx="504145" cy="150491"/>
          </a:xfrm>
          <a:prstGeom prst="rect">
            <a:avLst/>
          </a:prstGeom>
        </p:spPr>
      </p:pic>
      <p:sp>
        <p:nvSpPr>
          <p:cNvPr id="5203" name="文本框 5202">
            <a:extLst>
              <a:ext uri="{FF2B5EF4-FFF2-40B4-BE49-F238E27FC236}">
                <a16:creationId xmlns:a16="http://schemas.microsoft.com/office/drawing/2014/main" id="{A2EFEF21-2609-6BC1-9DCB-06A15BD9E0D5}"/>
              </a:ext>
            </a:extLst>
          </p:cNvPr>
          <p:cNvSpPr txBox="1"/>
          <p:nvPr/>
        </p:nvSpPr>
        <p:spPr>
          <a:xfrm>
            <a:off x="8346749" y="5523742"/>
            <a:ext cx="1059527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2005-2012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214" name="图片 5213">
            <a:extLst>
              <a:ext uri="{FF2B5EF4-FFF2-40B4-BE49-F238E27FC236}">
                <a16:creationId xmlns:a16="http://schemas.microsoft.com/office/drawing/2014/main" id="{3605704C-846B-2D0E-5393-6C6548167C9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03396" y="5509131"/>
            <a:ext cx="304385" cy="336998"/>
          </a:xfrm>
          <a:prstGeom prst="rect">
            <a:avLst/>
          </a:prstGeom>
        </p:spPr>
      </p:pic>
      <p:sp>
        <p:nvSpPr>
          <p:cNvPr id="5215" name="文本框 5214">
            <a:extLst>
              <a:ext uri="{FF2B5EF4-FFF2-40B4-BE49-F238E27FC236}">
                <a16:creationId xmlns:a16="http://schemas.microsoft.com/office/drawing/2014/main" id="{7FC90DCE-C4FE-FC3A-240F-DDF51B8D890B}"/>
              </a:ext>
            </a:extLst>
          </p:cNvPr>
          <p:cNvSpPr txBox="1"/>
          <p:nvPr/>
        </p:nvSpPr>
        <p:spPr>
          <a:xfrm>
            <a:off x="1099967" y="4763703"/>
            <a:ext cx="367423" cy="515098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Over-</a:t>
            </a:r>
          </a:p>
          <a:p>
            <a:pPr algn="ctr">
              <a:buNone/>
            </a:pPr>
            <a:r>
              <a:rPr kumimoji="1"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seas</a:t>
            </a:r>
          </a:p>
        </p:txBody>
      </p:sp>
      <p:sp>
        <p:nvSpPr>
          <p:cNvPr id="5217" name="文本框 5216">
            <a:extLst>
              <a:ext uri="{FF2B5EF4-FFF2-40B4-BE49-F238E27FC236}">
                <a16:creationId xmlns:a16="http://schemas.microsoft.com/office/drawing/2014/main" id="{2854341A-2C5A-968D-657F-F8F71E8F078D}"/>
              </a:ext>
            </a:extLst>
          </p:cNvPr>
          <p:cNvSpPr txBox="1"/>
          <p:nvPr/>
        </p:nvSpPr>
        <p:spPr>
          <a:xfrm>
            <a:off x="1102206" y="5411503"/>
            <a:ext cx="375142" cy="495243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Dom-</a:t>
            </a:r>
            <a:r>
              <a:rPr kumimoji="1" lang="en-US" altLang="zh-CN" sz="1000" b="1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estic</a:t>
            </a:r>
            <a:endParaRPr kumimoji="1" lang="en-US" altLang="zh-CN" sz="10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18" name="文本框 5217">
            <a:extLst>
              <a:ext uri="{FF2B5EF4-FFF2-40B4-BE49-F238E27FC236}">
                <a16:creationId xmlns:a16="http://schemas.microsoft.com/office/drawing/2014/main" id="{4C1EB8A8-F3ED-32C3-1B4C-CAC5276F4410}"/>
              </a:ext>
            </a:extLst>
          </p:cNvPr>
          <p:cNvSpPr txBox="1"/>
          <p:nvPr/>
        </p:nvSpPr>
        <p:spPr>
          <a:xfrm>
            <a:off x="1612731" y="5492964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19" name="文本框 5218">
            <a:extLst>
              <a:ext uri="{FF2B5EF4-FFF2-40B4-BE49-F238E27FC236}">
                <a16:creationId xmlns:a16="http://schemas.microsoft.com/office/drawing/2014/main" id="{4F9A7E07-DD5E-5903-A969-AC77CC548F8C}"/>
              </a:ext>
            </a:extLst>
          </p:cNvPr>
          <p:cNvSpPr txBox="1"/>
          <p:nvPr/>
        </p:nvSpPr>
        <p:spPr>
          <a:xfrm>
            <a:off x="4234660" y="5492964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20" name="文本框 5219">
            <a:extLst>
              <a:ext uri="{FF2B5EF4-FFF2-40B4-BE49-F238E27FC236}">
                <a16:creationId xmlns:a16="http://schemas.microsoft.com/office/drawing/2014/main" id="{B13376BB-EF7B-B812-AE85-BEE99F9CBB28}"/>
              </a:ext>
            </a:extLst>
          </p:cNvPr>
          <p:cNvSpPr txBox="1"/>
          <p:nvPr/>
        </p:nvSpPr>
        <p:spPr>
          <a:xfrm>
            <a:off x="7232627" y="5487059"/>
            <a:ext cx="675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21" name="文本框 5220">
            <a:extLst>
              <a:ext uri="{FF2B5EF4-FFF2-40B4-BE49-F238E27FC236}">
                <a16:creationId xmlns:a16="http://schemas.microsoft.com/office/drawing/2014/main" id="{5A3B8B9F-F479-B849-C8F0-3690A588B4B8}"/>
              </a:ext>
            </a:extLst>
          </p:cNvPr>
          <p:cNvSpPr txBox="1"/>
          <p:nvPr/>
        </p:nvSpPr>
        <p:spPr>
          <a:xfrm>
            <a:off x="9469715" y="5492964"/>
            <a:ext cx="675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9y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23" name="文本框 5222">
            <a:extLst>
              <a:ext uri="{FF2B5EF4-FFF2-40B4-BE49-F238E27FC236}">
                <a16:creationId xmlns:a16="http://schemas.microsoft.com/office/drawing/2014/main" id="{048C465D-6FDF-37DD-4506-56346696F0CA}"/>
              </a:ext>
            </a:extLst>
          </p:cNvPr>
          <p:cNvSpPr txBox="1"/>
          <p:nvPr/>
        </p:nvSpPr>
        <p:spPr>
          <a:xfrm>
            <a:off x="9469715" y="2628372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10-20%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C68D467E-5C74-C3AB-815D-8BC8491937F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95131" y="3780820"/>
            <a:ext cx="908990" cy="187984"/>
          </a:xfrm>
          <a:prstGeom prst="rect">
            <a:avLst/>
          </a:prstGeom>
        </p:spPr>
      </p:pic>
      <p:pic>
        <p:nvPicPr>
          <p:cNvPr id="15" name="图像" descr="图像">
            <a:extLst>
              <a:ext uri="{FF2B5EF4-FFF2-40B4-BE49-F238E27FC236}">
                <a16:creationId xmlns:a16="http://schemas.microsoft.com/office/drawing/2014/main" id="{8B3A05FC-AF82-70BF-5C32-0AAA0CCA50B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75356" y="3744841"/>
            <a:ext cx="328979" cy="25907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7" name="组合 16">
            <a:extLst>
              <a:ext uri="{FF2B5EF4-FFF2-40B4-BE49-F238E27FC236}">
                <a16:creationId xmlns:a16="http://schemas.microsoft.com/office/drawing/2014/main" id="{487F55B7-829F-A994-0457-BE7920C9A015}"/>
              </a:ext>
            </a:extLst>
          </p:cNvPr>
          <p:cNvGrpSpPr/>
          <p:nvPr/>
        </p:nvGrpSpPr>
        <p:grpSpPr>
          <a:xfrm>
            <a:off x="4234660" y="1845801"/>
            <a:ext cx="524985" cy="414947"/>
            <a:chOff x="4153150" y="1768516"/>
            <a:chExt cx="524985" cy="414947"/>
          </a:xfrm>
        </p:grpSpPr>
        <p:sp>
          <p:nvSpPr>
            <p:cNvPr id="5151" name="椭圆 5150">
              <a:extLst>
                <a:ext uri="{FF2B5EF4-FFF2-40B4-BE49-F238E27FC236}">
                  <a16:creationId xmlns:a16="http://schemas.microsoft.com/office/drawing/2014/main" id="{D24F4DC8-424C-C7AB-466A-449BBB478B15}"/>
                </a:ext>
              </a:extLst>
            </p:cNvPr>
            <p:cNvSpPr/>
            <p:nvPr/>
          </p:nvSpPr>
          <p:spPr>
            <a:xfrm>
              <a:off x="4193790" y="1768516"/>
              <a:ext cx="415340" cy="414947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9F047EF1-D8D9-A6F9-BD72-1F857DB33227}"/>
                </a:ext>
              </a:extLst>
            </p:cNvPr>
            <p:cNvSpPr txBox="1"/>
            <p:nvPr/>
          </p:nvSpPr>
          <p:spPr>
            <a:xfrm>
              <a:off x="4153150" y="1824039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C6FC3EF-7933-93D6-BB3B-8EF92647F54F}"/>
              </a:ext>
            </a:extLst>
          </p:cNvPr>
          <p:cNvGrpSpPr/>
          <p:nvPr/>
        </p:nvGrpSpPr>
        <p:grpSpPr>
          <a:xfrm>
            <a:off x="7232627" y="1782182"/>
            <a:ext cx="544501" cy="530374"/>
            <a:chOff x="7035629" y="1695290"/>
            <a:chExt cx="544501" cy="530374"/>
          </a:xfrm>
        </p:grpSpPr>
        <p:sp>
          <p:nvSpPr>
            <p:cNvPr id="5191" name="椭圆 5190">
              <a:extLst>
                <a:ext uri="{FF2B5EF4-FFF2-40B4-BE49-F238E27FC236}">
                  <a16:creationId xmlns:a16="http://schemas.microsoft.com/office/drawing/2014/main" id="{F92D9C8C-8F70-FCCB-434D-D374FE498C00}"/>
                </a:ext>
              </a:extLst>
            </p:cNvPr>
            <p:cNvSpPr/>
            <p:nvPr/>
          </p:nvSpPr>
          <p:spPr>
            <a:xfrm>
              <a:off x="7035629" y="1695290"/>
              <a:ext cx="530876" cy="530374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8CF3ECBE-EA4E-4D30-84D4-7394DFD0AED5}"/>
                </a:ext>
              </a:extLst>
            </p:cNvPr>
            <p:cNvSpPr txBox="1"/>
            <p:nvPr/>
          </p:nvSpPr>
          <p:spPr>
            <a:xfrm>
              <a:off x="7055145" y="1799172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50CDDF11-C94B-3CF5-B030-06FF903BA331}"/>
              </a:ext>
            </a:extLst>
          </p:cNvPr>
          <p:cNvGrpSpPr/>
          <p:nvPr/>
        </p:nvGrpSpPr>
        <p:grpSpPr>
          <a:xfrm>
            <a:off x="9469715" y="1872440"/>
            <a:ext cx="524985" cy="361668"/>
            <a:chOff x="9235158" y="1825963"/>
            <a:chExt cx="524985" cy="361668"/>
          </a:xfrm>
        </p:grpSpPr>
        <p:sp>
          <p:nvSpPr>
            <p:cNvPr id="5165" name="椭圆 5164">
              <a:extLst>
                <a:ext uri="{FF2B5EF4-FFF2-40B4-BE49-F238E27FC236}">
                  <a16:creationId xmlns:a16="http://schemas.microsoft.com/office/drawing/2014/main" id="{033CF5C3-3CA0-A564-EA32-E84CBBD37EA2}"/>
                </a:ext>
              </a:extLst>
            </p:cNvPr>
            <p:cNvSpPr/>
            <p:nvPr/>
          </p:nvSpPr>
          <p:spPr>
            <a:xfrm>
              <a:off x="9288847" y="1825963"/>
              <a:ext cx="362009" cy="361668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FB156EE3-3C3D-60AE-3973-8B24592D8337}"/>
                </a:ext>
              </a:extLst>
            </p:cNvPr>
            <p:cNvSpPr txBox="1"/>
            <p:nvPr/>
          </p:nvSpPr>
          <p:spPr>
            <a:xfrm>
              <a:off x="9235158" y="1845761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6" name="直线连接符 34">
            <a:extLst>
              <a:ext uri="{FF2B5EF4-FFF2-40B4-BE49-F238E27FC236}">
                <a16:creationId xmlns:a16="http://schemas.microsoft.com/office/drawing/2014/main" id="{71C98877-E60A-93EC-4C5B-096C76048230}"/>
              </a:ext>
            </a:extLst>
          </p:cNvPr>
          <p:cNvCxnSpPr>
            <a:cxnSpLocks/>
          </p:cNvCxnSpPr>
          <p:nvPr/>
        </p:nvCxnSpPr>
        <p:spPr>
          <a:xfrm>
            <a:off x="536623" y="4502354"/>
            <a:ext cx="11147150" cy="0"/>
          </a:xfrm>
          <a:prstGeom prst="line">
            <a:avLst/>
          </a:prstGeom>
          <a:ln w="12700" cap="flat">
            <a:solidFill>
              <a:schemeClr val="bg1">
                <a:lumMod val="75000"/>
              </a:schemeClr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34">
            <a:extLst>
              <a:ext uri="{FF2B5EF4-FFF2-40B4-BE49-F238E27FC236}">
                <a16:creationId xmlns:a16="http://schemas.microsoft.com/office/drawing/2014/main" id="{FE92C49E-EE4F-675E-26ED-56778596F422}"/>
              </a:ext>
            </a:extLst>
          </p:cNvPr>
          <p:cNvCxnSpPr>
            <a:cxnSpLocks/>
          </p:cNvCxnSpPr>
          <p:nvPr/>
        </p:nvCxnSpPr>
        <p:spPr>
          <a:xfrm>
            <a:off x="536623" y="3278074"/>
            <a:ext cx="11131421" cy="0"/>
          </a:xfrm>
          <a:prstGeom prst="line">
            <a:avLst/>
          </a:prstGeom>
          <a:ln w="12700" cap="flat">
            <a:solidFill>
              <a:schemeClr val="bg1">
                <a:lumMod val="75000"/>
              </a:schemeClr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7CEA60A3-DF58-4E67-B7E5-7BB69310F5EC}"/>
              </a:ext>
            </a:extLst>
          </p:cNvPr>
          <p:cNvSpPr txBox="1"/>
          <p:nvPr/>
        </p:nvSpPr>
        <p:spPr>
          <a:xfrm>
            <a:off x="538396" y="2555032"/>
            <a:ext cx="938819" cy="516013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BOM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18431F0-8173-EAF9-7690-7A067ED78A39}"/>
              </a:ext>
            </a:extLst>
          </p:cNvPr>
          <p:cNvSpPr txBox="1"/>
          <p:nvPr/>
        </p:nvSpPr>
        <p:spPr>
          <a:xfrm>
            <a:off x="5195227" y="3866472"/>
            <a:ext cx="1666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50000"/>
                  </a:schemeClr>
                </a:solidFill>
                <a:cs typeface="+mn-ea"/>
                <a:sym typeface="+mn-lt"/>
              </a:rPr>
              <a:t>(Acquired by Marvell</a:t>
            </a:r>
            <a:r>
              <a:rPr lang="zh-CN" altLang="en-US" sz="1200" dirty="0">
                <a:solidFill>
                  <a:schemeClr val="tx2">
                    <a:lumMod val="50000"/>
                  </a:schemeClr>
                </a:solidFill>
                <a:cs typeface="+mn-ea"/>
                <a:sym typeface="+mn-lt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0638116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DDFF0-F7C8-9E27-214B-D437ABCC9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8ADF293-6EC6-5BA6-23C9-9E4E91F46F4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740708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4" imgH="405" progId="TCLayout.ActiveDocument.1">
                  <p:embed/>
                </p:oleObj>
              </mc:Choice>
              <mc:Fallback>
                <p:oleObj name="think-cell 幻灯片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8ADF293-6EC6-5BA6-23C9-9E4E91F46F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6" name="矩形 1055">
            <a:extLst>
              <a:ext uri="{FF2B5EF4-FFF2-40B4-BE49-F238E27FC236}">
                <a16:creationId xmlns:a16="http://schemas.microsoft.com/office/drawing/2014/main" id="{4C8FB550-1C19-3DCB-B4E1-B21A9AC6CDFE}"/>
              </a:ext>
            </a:extLst>
          </p:cNvPr>
          <p:cNvSpPr/>
          <p:nvPr/>
        </p:nvSpPr>
        <p:spPr>
          <a:xfrm>
            <a:off x="10613801" y="1669063"/>
            <a:ext cx="1275333" cy="4570557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5" name="矩形 1054">
            <a:extLst>
              <a:ext uri="{FF2B5EF4-FFF2-40B4-BE49-F238E27FC236}">
                <a16:creationId xmlns:a16="http://schemas.microsoft.com/office/drawing/2014/main" id="{23418B93-81CA-529D-1AD8-064CFFE67AD3}"/>
              </a:ext>
            </a:extLst>
          </p:cNvPr>
          <p:cNvSpPr/>
          <p:nvPr/>
        </p:nvSpPr>
        <p:spPr>
          <a:xfrm>
            <a:off x="4139139" y="1675976"/>
            <a:ext cx="2737971" cy="4568613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3" name="矩形 1052">
            <a:extLst>
              <a:ext uri="{FF2B5EF4-FFF2-40B4-BE49-F238E27FC236}">
                <a16:creationId xmlns:a16="http://schemas.microsoft.com/office/drawing/2014/main" id="{EEDC9E63-A23D-1CE0-3475-8D2A04A20963}"/>
              </a:ext>
            </a:extLst>
          </p:cNvPr>
          <p:cNvSpPr/>
          <p:nvPr/>
        </p:nvSpPr>
        <p:spPr>
          <a:xfrm>
            <a:off x="9239784" y="1674032"/>
            <a:ext cx="1275333" cy="4570557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2" name="矩形 1051">
            <a:extLst>
              <a:ext uri="{FF2B5EF4-FFF2-40B4-BE49-F238E27FC236}">
                <a16:creationId xmlns:a16="http://schemas.microsoft.com/office/drawing/2014/main" id="{4D4079FF-1999-B620-4F01-0A9914FD2AF3}"/>
              </a:ext>
            </a:extLst>
          </p:cNvPr>
          <p:cNvSpPr/>
          <p:nvPr/>
        </p:nvSpPr>
        <p:spPr>
          <a:xfrm>
            <a:off x="7070061" y="1669063"/>
            <a:ext cx="2047421" cy="4570557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31" name="矩形 1030">
            <a:extLst>
              <a:ext uri="{FF2B5EF4-FFF2-40B4-BE49-F238E27FC236}">
                <a16:creationId xmlns:a16="http://schemas.microsoft.com/office/drawing/2014/main" id="{71E9DB98-A58D-A30D-7E97-8B801B08211A}"/>
              </a:ext>
            </a:extLst>
          </p:cNvPr>
          <p:cNvSpPr/>
          <p:nvPr/>
        </p:nvSpPr>
        <p:spPr>
          <a:xfrm>
            <a:off x="1544778" y="1675976"/>
            <a:ext cx="1473910" cy="4568613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9" name="矩形 1028">
            <a:extLst>
              <a:ext uri="{FF2B5EF4-FFF2-40B4-BE49-F238E27FC236}">
                <a16:creationId xmlns:a16="http://schemas.microsoft.com/office/drawing/2014/main" id="{59C60A5F-137A-2F69-C181-5A971163C153}"/>
              </a:ext>
            </a:extLst>
          </p:cNvPr>
          <p:cNvSpPr/>
          <p:nvPr/>
        </p:nvSpPr>
        <p:spPr>
          <a:xfrm>
            <a:off x="3120419" y="1666990"/>
            <a:ext cx="900725" cy="4577599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38" name="矩形 5137">
            <a:extLst>
              <a:ext uri="{FF2B5EF4-FFF2-40B4-BE49-F238E27FC236}">
                <a16:creationId xmlns:a16="http://schemas.microsoft.com/office/drawing/2014/main" id="{B3220F4E-558A-2887-8137-968564B4FC68}"/>
              </a:ext>
            </a:extLst>
          </p:cNvPr>
          <p:cNvSpPr/>
          <p:nvPr/>
        </p:nvSpPr>
        <p:spPr>
          <a:xfrm>
            <a:off x="1557337" y="1890146"/>
            <a:ext cx="8402638" cy="827356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5B6B8E-B98F-0CB7-E285-D8CC98B8C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​Supply chain focus: Broadcom-led integrated giants and strategic domestic startups like </a:t>
            </a:r>
            <a:r>
              <a:rPr lang="en-US" altLang="zh-CN" dirty="0" err="1">
                <a:latin typeface="+mn-lt"/>
                <a:ea typeface="+mn-ea"/>
                <a:cs typeface="+mn-ea"/>
                <a:sym typeface="+mn-lt"/>
              </a:rPr>
              <a:t>ficonTEC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3633B61-9F7A-FA01-CA45-A2C8FE91DC4C}"/>
              </a:ext>
            </a:extLst>
          </p:cNvPr>
          <p:cNvSpPr txBox="1"/>
          <p:nvPr/>
        </p:nvSpPr>
        <p:spPr>
          <a:xfrm>
            <a:off x="304799" y="1674032"/>
            <a:ext cx="1054651" cy="1755729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Global Leading Players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D0C3DBA-F3A8-C9CF-7DF3-3548CDAF996A}"/>
              </a:ext>
            </a:extLst>
          </p:cNvPr>
          <p:cNvSpPr txBox="1"/>
          <p:nvPr/>
        </p:nvSpPr>
        <p:spPr>
          <a:xfrm>
            <a:off x="304801" y="3744174"/>
            <a:ext cx="1054648" cy="715940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Global Key Startups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52BCBFF5-56E2-884F-F38F-5785B226FA3E}"/>
              </a:ext>
            </a:extLst>
          </p:cNvPr>
          <p:cNvSpPr txBox="1"/>
          <p:nvPr/>
        </p:nvSpPr>
        <p:spPr>
          <a:xfrm>
            <a:off x="346799" y="6550046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100"/>
              </a:spcBef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Yole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AB8D6010-ED28-F7F5-7C53-58AFEF64E76D}"/>
              </a:ext>
            </a:extLst>
          </p:cNvPr>
          <p:cNvSpPr txBox="1"/>
          <p:nvPr/>
        </p:nvSpPr>
        <p:spPr>
          <a:xfrm>
            <a:off x="304799" y="4882387"/>
            <a:ext cx="1054648" cy="1362203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 Key Startups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0" name="Rectangle 8">
            <a:extLst>
              <a:ext uri="{FF2B5EF4-FFF2-40B4-BE49-F238E27FC236}">
                <a16:creationId xmlns:a16="http://schemas.microsoft.com/office/drawing/2014/main" id="{6D4738FA-150A-F754-08BE-C0A195135B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1349" y="5620836"/>
            <a:ext cx="2813934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Prototype Phase</a:t>
            </a:r>
          </a:p>
        </p:txBody>
      </p:sp>
      <p:sp>
        <p:nvSpPr>
          <p:cNvPr id="18" name="箭头: 五边形 17">
            <a:extLst>
              <a:ext uri="{FF2B5EF4-FFF2-40B4-BE49-F238E27FC236}">
                <a16:creationId xmlns:a16="http://schemas.microsoft.com/office/drawing/2014/main" id="{BF5D8514-88DE-8875-8720-1E35B820C10E}"/>
              </a:ext>
            </a:extLst>
          </p:cNvPr>
          <p:cNvSpPr/>
          <p:nvPr/>
        </p:nvSpPr>
        <p:spPr>
          <a:xfrm>
            <a:off x="1557337" y="1086623"/>
            <a:ext cx="2478887" cy="513636"/>
          </a:xfrm>
          <a:prstGeom prst="homePlate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①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 Signal Hub</a:t>
            </a:r>
          </a:p>
        </p:txBody>
      </p:sp>
      <p:sp>
        <p:nvSpPr>
          <p:cNvPr id="43" name="箭头: V 形 42">
            <a:extLst>
              <a:ext uri="{FF2B5EF4-FFF2-40B4-BE49-F238E27FC236}">
                <a16:creationId xmlns:a16="http://schemas.microsoft.com/office/drawing/2014/main" id="{9A0CB865-4CCB-6AB5-BC0F-3C83F411133F}"/>
              </a:ext>
            </a:extLst>
          </p:cNvPr>
          <p:cNvSpPr/>
          <p:nvPr/>
        </p:nvSpPr>
        <p:spPr>
          <a:xfrm>
            <a:off x="4114816" y="1091095"/>
            <a:ext cx="2865219" cy="504692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②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Electrical Signal Hub</a:t>
            </a:r>
          </a:p>
        </p:txBody>
      </p:sp>
      <p:sp>
        <p:nvSpPr>
          <p:cNvPr id="45" name="箭头: V 形 44">
            <a:extLst>
              <a:ext uri="{FF2B5EF4-FFF2-40B4-BE49-F238E27FC236}">
                <a16:creationId xmlns:a16="http://schemas.microsoft.com/office/drawing/2014/main" id="{68CE7CDA-C8D2-91B2-D2B4-D02209CE47E4}"/>
              </a:ext>
            </a:extLst>
          </p:cNvPr>
          <p:cNvSpPr/>
          <p:nvPr/>
        </p:nvSpPr>
        <p:spPr>
          <a:xfrm>
            <a:off x="7058627" y="1105593"/>
            <a:ext cx="2081026" cy="475697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③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3" name="箭头: V 形 52">
            <a:extLst>
              <a:ext uri="{FF2B5EF4-FFF2-40B4-BE49-F238E27FC236}">
                <a16:creationId xmlns:a16="http://schemas.microsoft.com/office/drawing/2014/main" id="{12E32DB3-7C19-99D2-0CC8-6BF3E5DEF789}"/>
              </a:ext>
            </a:extLst>
          </p:cNvPr>
          <p:cNvSpPr/>
          <p:nvPr/>
        </p:nvSpPr>
        <p:spPr>
          <a:xfrm>
            <a:off x="9218245" y="1091096"/>
            <a:ext cx="2670890" cy="504691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④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Integration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 </a:t>
            </a:r>
          </a:p>
        </p:txBody>
      </p:sp>
      <p:pic>
        <p:nvPicPr>
          <p:cNvPr id="5130" name="图片 5129">
            <a:extLst>
              <a:ext uri="{FF2B5EF4-FFF2-40B4-BE49-F238E27FC236}">
                <a16:creationId xmlns:a16="http://schemas.microsoft.com/office/drawing/2014/main" id="{75C7E3F4-7C7E-9265-CBD4-C674DC5D45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74" b="89764" l="3047" r="94265">
                        <a14:foregroundMark x1="3166" y1="54068" x2="3166" y2="54068"/>
                        <a14:foregroundMark x1="9020" y1="72966" x2="9020" y2="72966"/>
                        <a14:foregroundMark x1="16428" y1="73753" x2="16428" y2="73753"/>
                        <a14:foregroundMark x1="14098" y1="54856" x2="14098" y2="54856"/>
                        <a14:foregroundMark x1="21326" y1="54856" x2="21326" y2="54856"/>
                        <a14:foregroundMark x1="24671" y1="48031" x2="24671" y2="48031"/>
                        <a14:foregroundMark x1="24851" y1="66929" x2="24851" y2="66929"/>
                        <a14:foregroundMark x1="31481" y1="74541" x2="31481" y2="74541"/>
                        <a14:foregroundMark x1="33632" y1="47244" x2="33632" y2="47244"/>
                        <a14:foregroundMark x1="42174" y1="48819" x2="42174" y2="48819"/>
                        <a14:foregroundMark x1="52509" y1="49606" x2="52509" y2="49606"/>
                        <a14:foregroundMark x1="51971" y1="71916" x2="51971" y2="71916"/>
                        <a14:foregroundMark x1="58184" y1="62467" x2="58184" y2="62467"/>
                        <a14:foregroundMark x1="58363" y1="48819" x2="58363" y2="48819"/>
                        <a14:foregroundMark x1="66189" y1="48819" x2="66189" y2="48819"/>
                        <a14:foregroundMark x1="61888" y1="73753" x2="61888" y2="73753"/>
                        <a14:foregroundMark x1="72820" y1="69291" x2="72820" y2="69291"/>
                        <a14:foregroundMark x1="72820" y1="48031" x2="72820" y2="48031"/>
                        <a14:foregroundMark x1="81959" y1="71129" x2="81959" y2="71129"/>
                        <a14:foregroundMark x1="84289" y1="54068" x2="84289" y2="54068"/>
                        <a14:foregroundMark x1="90920" y1="78740" x2="90920" y2="78740"/>
                        <a14:foregroundMark x1="90741" y1="74541" x2="90741" y2="74541"/>
                        <a14:foregroundMark x1="94265" y1="73753" x2="94265" y2="73753"/>
                        <a14:foregroundMark x1="93489" y1="59055" x2="93489" y2="59055"/>
                        <a14:foregroundMark x1="46476" y1="64304" x2="46476" y2="643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71100" y="3807072"/>
            <a:ext cx="714937" cy="162718"/>
          </a:xfrm>
          <a:prstGeom prst="rect">
            <a:avLst/>
          </a:prstGeom>
        </p:spPr>
      </p:pic>
      <p:pic>
        <p:nvPicPr>
          <p:cNvPr id="5131" name="图片 5130">
            <a:extLst>
              <a:ext uri="{FF2B5EF4-FFF2-40B4-BE49-F238E27FC236}">
                <a16:creationId xmlns:a16="http://schemas.microsoft.com/office/drawing/2014/main" id="{8B3F7392-17C2-B645-92E7-D50B227402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6936" y="3803139"/>
            <a:ext cx="610375" cy="170584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B9317AD0-34AD-270C-7224-D78FEA80D86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375" b="89583" l="8056" r="90000">
                        <a14:foregroundMark x1="8056" y1="50000" x2="8056" y2="50000"/>
                        <a14:foregroundMark x1="33333" y1="55208" x2="33333" y2="55208"/>
                        <a14:foregroundMark x1="46111" y1="59375" x2="46111" y2="59375"/>
                        <a14:foregroundMark x1="62500" y1="53125" x2="62500" y2="53125"/>
                        <a14:foregroundMark x1="72778" y1="53125" x2="72778" y2="53125"/>
                        <a14:foregroundMark x1="87500" y1="52083" x2="87500" y2="520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79133" y="4174099"/>
            <a:ext cx="725316" cy="193418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152C43CD-FDFC-7F2F-585E-C678DD081B9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804" b="89216" l="6011" r="97268">
                        <a14:foregroundMark x1="6011" y1="47059" x2="6011" y2="47059"/>
                        <a14:foregroundMark x1="36339" y1="47059" x2="36339" y2="47059"/>
                        <a14:foregroundMark x1="48087" y1="50000" x2="48087" y2="50000"/>
                        <a14:foregroundMark x1="58197" y1="48039" x2="58197" y2="48039"/>
                        <a14:foregroundMark x1="71038" y1="51961" x2="71038" y2="51961"/>
                        <a14:foregroundMark x1="82240" y1="48039" x2="82240" y2="48039"/>
                        <a14:foregroundMark x1="92896" y1="46078" x2="92896" y2="46078"/>
                        <a14:foregroundMark x1="97268" y1="21569" x2="97268" y2="21569"/>
                      </a14:backgroundRemoval>
                    </a14:imgEffect>
                  </a14:imgLayer>
                </a14:imgProps>
              </a:ext>
            </a:extLst>
          </a:blip>
          <a:srcRect b="11664"/>
          <a:stretch/>
        </p:blipFill>
        <p:spPr>
          <a:xfrm>
            <a:off x="1576936" y="3031721"/>
            <a:ext cx="513440" cy="126400"/>
          </a:xfrm>
          <a:prstGeom prst="rect">
            <a:avLst/>
          </a:prstGeom>
        </p:spPr>
      </p:pic>
      <p:pic>
        <p:nvPicPr>
          <p:cNvPr id="3" name="图像" descr="图像">
            <a:extLst>
              <a:ext uri="{FF2B5EF4-FFF2-40B4-BE49-F238E27FC236}">
                <a16:creationId xmlns:a16="http://schemas.microsoft.com/office/drawing/2014/main" id="{EBBBECCC-8B76-E52C-8720-C90BF975A22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77534" y="2354632"/>
            <a:ext cx="411440" cy="327282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图像" descr="图像">
            <a:extLst>
              <a:ext uri="{FF2B5EF4-FFF2-40B4-BE49-F238E27FC236}">
                <a16:creationId xmlns:a16="http://schemas.microsoft.com/office/drawing/2014/main" id="{AD4AD332-F270-C09B-7EAC-FE6EF4DE7E2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86915" y="1987605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5127" name="图片 5126">
            <a:extLst>
              <a:ext uri="{FF2B5EF4-FFF2-40B4-BE49-F238E27FC236}">
                <a16:creationId xmlns:a16="http://schemas.microsoft.com/office/drawing/2014/main" id="{CD142F11-ED81-BFF4-56CE-25E813B2A22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9220" b="89362" l="9023" r="90977">
                        <a14:foregroundMark x1="9023" y1="80851" x2="9023" y2="80851"/>
                        <a14:foregroundMark x1="90977" y1="32624" x2="90977" y2="32624"/>
                      </a14:backgroundRemoval>
                    </a14:imgEffect>
                  </a14:imgLayer>
                </a14:imgProps>
              </a:ext>
            </a:extLst>
          </a:blip>
          <a:srcRect l="4111" t="16775" r="4646"/>
          <a:stretch/>
        </p:blipFill>
        <p:spPr>
          <a:xfrm>
            <a:off x="7111908" y="2763005"/>
            <a:ext cx="746125" cy="240504"/>
          </a:xfrm>
          <a:prstGeom prst="rect">
            <a:avLst/>
          </a:prstGeom>
        </p:spPr>
      </p:pic>
      <p:pic>
        <p:nvPicPr>
          <p:cNvPr id="5128" name="图片 5127">
            <a:extLst>
              <a:ext uri="{FF2B5EF4-FFF2-40B4-BE49-F238E27FC236}">
                <a16:creationId xmlns:a16="http://schemas.microsoft.com/office/drawing/2014/main" id="{8D5F619B-F18C-C1BA-2C96-CD15169DC4C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10000" b="90000" l="6468" r="92786">
                        <a14:foregroundMark x1="55970" y1="48333" x2="55970" y2="48333"/>
                        <a14:foregroundMark x1="50746" y1="60833" x2="50746" y2="60833"/>
                        <a14:foregroundMark x1="80597" y1="56667" x2="80597" y2="56667"/>
                        <a14:foregroundMark x1="31343" y1="55000" x2="31343" y2="55000"/>
                        <a14:foregroundMark x1="11194" y1="46667" x2="11194" y2="46667"/>
                        <a14:foregroundMark x1="6716" y1="58333" x2="6716" y2="58333"/>
                        <a14:foregroundMark x1="9453" y1="42500" x2="9453" y2="42500"/>
                        <a14:foregroundMark x1="17164" y1="26667" x2="17164" y2="26667"/>
                        <a14:foregroundMark x1="17910" y1="31667" x2="17910" y2="31667"/>
                        <a14:foregroundMark x1="19900" y1="34167" x2="19900" y2="34167"/>
                        <a14:foregroundMark x1="19652" y1="31667" x2="19652" y2="31667"/>
                        <a14:foregroundMark x1="18159" y1="24167" x2="18159" y2="24167"/>
                        <a14:foregroundMark x1="12687" y1="24167" x2="12687" y2="24167"/>
                        <a14:foregroundMark x1="12438" y1="21667" x2="12438" y2="21667"/>
                        <a14:foregroundMark x1="19403" y1="76667" x2="19403" y2="76667"/>
                        <a14:foregroundMark x1="21144" y1="73333" x2="21144" y2="73333"/>
                        <a14:foregroundMark x1="67164" y1="56667" x2="67164" y2="56667"/>
                        <a14:foregroundMark x1="92786" y1="46667" x2="92786" y2="4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50736" y="5021993"/>
            <a:ext cx="503931" cy="150427"/>
          </a:xfrm>
          <a:prstGeom prst="rect">
            <a:avLst/>
          </a:prstGeom>
        </p:spPr>
      </p:pic>
      <p:pic>
        <p:nvPicPr>
          <p:cNvPr id="5140" name="图像" descr="图像">
            <a:extLst>
              <a:ext uri="{FF2B5EF4-FFF2-40B4-BE49-F238E27FC236}">
                <a16:creationId xmlns:a16="http://schemas.microsoft.com/office/drawing/2014/main" id="{6952BBBA-DEBF-A929-5602-66B47D46DEC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13047" y="4915749"/>
            <a:ext cx="352069" cy="4021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3" name="图像" descr="图像">
            <a:extLst>
              <a:ext uri="{FF2B5EF4-FFF2-40B4-BE49-F238E27FC236}">
                <a16:creationId xmlns:a16="http://schemas.microsoft.com/office/drawing/2014/main" id="{5DD74DB5-4C11-6ED0-7DDF-96B9835297A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13301" y="4939020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5" name="图像" descr="图像">
            <a:extLst>
              <a:ext uri="{FF2B5EF4-FFF2-40B4-BE49-F238E27FC236}">
                <a16:creationId xmlns:a16="http://schemas.microsoft.com/office/drawing/2014/main" id="{9FC56EDC-B2DB-DA23-B70F-A6FE45F32EC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171279" y="4987704"/>
            <a:ext cx="751842" cy="233203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6" name="图像" descr="图像">
            <a:extLst>
              <a:ext uri="{FF2B5EF4-FFF2-40B4-BE49-F238E27FC236}">
                <a16:creationId xmlns:a16="http://schemas.microsoft.com/office/drawing/2014/main" id="{9A10B375-4FC3-745E-42C3-EB68018A493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171279" y="2827659"/>
            <a:ext cx="513441" cy="8107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7" name="图像" descr="图像">
            <a:extLst>
              <a:ext uri="{FF2B5EF4-FFF2-40B4-BE49-F238E27FC236}">
                <a16:creationId xmlns:a16="http://schemas.microsoft.com/office/drawing/2014/main" id="{A4DA2063-58E0-EF6E-C741-C0FD79C3746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184" b="89796" l="2326" r="95930">
                        <a14:foregroundMark x1="6395" y1="35714" x2="6395" y2="35714"/>
                        <a14:foregroundMark x1="2519" y1="58163" x2="2519" y2="58163"/>
                        <a14:foregroundMark x1="31395" y1="50000" x2="31395" y2="50000"/>
                        <a14:foregroundMark x1="35853" y1="59184" x2="35853" y2="59184"/>
                        <a14:foregroundMark x1="37597" y1="60204" x2="37597" y2="60204"/>
                        <a14:foregroundMark x1="41860" y1="50000" x2="41860" y2="50000"/>
                        <a14:foregroundMark x1="55814" y1="52041" x2="55814" y2="52041"/>
                        <a14:foregroundMark x1="64922" y1="41837" x2="64922" y2="41837"/>
                        <a14:foregroundMark x1="71899" y1="41837" x2="71899" y2="41837"/>
                        <a14:foregroundMark x1="84884" y1="40816" x2="84884" y2="40816"/>
                        <a14:foregroundMark x1="90698" y1="53061" x2="90698" y2="53061"/>
                        <a14:foregroundMark x1="95930" y1="56122" x2="95930" y2="5612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58873" y="2789646"/>
            <a:ext cx="827156" cy="157096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8" name="图像" descr="图像">
            <a:extLst>
              <a:ext uri="{FF2B5EF4-FFF2-40B4-BE49-F238E27FC236}">
                <a16:creationId xmlns:a16="http://schemas.microsoft.com/office/drawing/2014/main" id="{24C4CBF6-4037-E792-0575-58039A5FA6B6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BEBA8EAE-BF5A-486C-A8C5-ECC9F3942E4B}">
                <a14:imgProps xmlns:a14="http://schemas.microsoft.com/office/drawing/2010/main">
                  <a14:imgLayer r:embed="rId25">
                    <a14:imgEffect>
                      <a14:backgroundRemoval t="38806" b="60821" l="24250" r="73750">
                        <a14:foregroundMark x1="29750" y1="46642" x2="29750" y2="46642"/>
                        <a14:foregroundMark x1="27750" y1="52612" x2="27750" y2="52612"/>
                        <a14:foregroundMark x1="25500" y1="60075" x2="25500" y2="60075"/>
                        <a14:foregroundMark x1="25000" y1="43657" x2="25000" y2="43657"/>
                        <a14:foregroundMark x1="37750" y1="51493" x2="37750" y2="51493"/>
                        <a14:foregroundMark x1="38250" y1="57836" x2="38250" y2="57836"/>
                        <a14:foregroundMark x1="41750" y1="57463" x2="41750" y2="57463"/>
                        <a14:foregroundMark x1="39250" y1="60448" x2="39250" y2="60448"/>
                        <a14:foregroundMark x1="46000" y1="56716" x2="46000" y2="56716"/>
                        <a14:foregroundMark x1="50500" y1="55970" x2="50500" y2="55970"/>
                        <a14:foregroundMark x1="57750" y1="54851" x2="57750" y2="54851"/>
                        <a14:foregroundMark x1="65250" y1="56343" x2="65250" y2="56343"/>
                        <a14:foregroundMark x1="69000" y1="57463" x2="69000" y2="57463"/>
                        <a14:foregroundMark x1="73750" y1="53731" x2="73750" y2="53731"/>
                        <a14:foregroundMark x1="29750" y1="55970" x2="29750" y2="55970"/>
                        <a14:foregroundMark x1="24250" y1="60448" x2="24250" y2="60448"/>
                        <a14:foregroundMark x1="53250" y1="59328" x2="53250" y2="59328"/>
                      </a14:backgroundRemoval>
                    </a14:imgEffect>
                  </a14:imgLayer>
                </a14:imgProps>
              </a:ext>
            </a:extLst>
          </a:blip>
          <a:srcRect l="22811" t="36117" r="22811" b="36117"/>
          <a:stretch>
            <a:fillRect/>
          </a:stretch>
        </p:blipFill>
        <p:spPr>
          <a:xfrm>
            <a:off x="5177534" y="5010418"/>
            <a:ext cx="548874" cy="18777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0" name="图像" descr="图像">
            <a:extLst>
              <a:ext uri="{FF2B5EF4-FFF2-40B4-BE49-F238E27FC236}">
                <a16:creationId xmlns:a16="http://schemas.microsoft.com/office/drawing/2014/main" id="{82DE0541-478A-4DC7-B169-AE48CB21D17C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l="6527" t="39090" r="6527" b="39090"/>
          <a:stretch>
            <a:fillRect/>
          </a:stretch>
        </p:blipFill>
        <p:spPr>
          <a:xfrm>
            <a:off x="4130128" y="3774348"/>
            <a:ext cx="909223" cy="228166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2" name="图像" descr="图像">
            <a:extLst>
              <a:ext uri="{FF2B5EF4-FFF2-40B4-BE49-F238E27FC236}">
                <a16:creationId xmlns:a16="http://schemas.microsoft.com/office/drawing/2014/main" id="{08900142-0FED-DB48-83F2-F23F93BF6964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BEBA8EAE-BF5A-486C-A8C5-ECC9F3942E4B}">
                <a14:imgProps xmlns:a14="http://schemas.microsoft.com/office/drawing/2010/main">
                  <a14:imgLayer r:embed="rId28">
                    <a14:imgEffect>
                      <a14:backgroundRemoval t="23000" b="67667" l="2333" r="95667">
                        <a14:foregroundMark x1="68667" y1="61667" x2="68667" y2="61667"/>
                        <a14:foregroundMark x1="95667" y1="40333" x2="95667" y2="40333"/>
                        <a14:foregroundMark x1="76333" y1="36000" x2="76333" y2="36000"/>
                        <a14:foregroundMark x1="66000" y1="41000" x2="66000" y2="41000"/>
                        <a14:foregroundMark x1="66000" y1="38333" x2="66000" y2="38333"/>
                        <a14:foregroundMark x1="59667" y1="33333" x2="63000" y2="39667"/>
                        <a14:foregroundMark x1="58667" y1="40333" x2="66000" y2="47000"/>
                        <a14:foregroundMark x1="47000" y1="41000" x2="47000" y2="41000"/>
                        <a14:foregroundMark x1="32333" y1="42000" x2="32333" y2="42000"/>
                        <a14:foregroundMark x1="12667" y1="41667" x2="12667" y2="41667"/>
                        <a14:foregroundMark x1="6000" y1="49333" x2="6000" y2="49333"/>
                        <a14:foregroundMark x1="5667" y1="35667" x2="5667" y2="35667"/>
                        <a14:foregroundMark x1="5000" y1="60333" x2="45333" y2="60667"/>
                        <a14:foregroundMark x1="4000" y1="65667" x2="31333" y2="65667"/>
                        <a14:foregroundMark x1="14333" y1="62667" x2="14333" y2="62667"/>
                        <a14:foregroundMark x1="5333" y1="59667" x2="5333" y2="59667"/>
                        <a14:foregroundMark x1="5333" y1="59667" x2="5333" y2="59667"/>
                        <a14:foregroundMark x1="10667" y1="58000" x2="10667" y2="58000"/>
                        <a14:foregroundMark x1="15333" y1="57333" x2="17333" y2="57667"/>
                        <a14:foregroundMark x1="18333" y1="58000" x2="20667" y2="58333"/>
                        <a14:foregroundMark x1="24667" y1="58333" x2="24667" y2="58333"/>
                        <a14:foregroundMark x1="32000" y1="58333" x2="32667" y2="58667"/>
                        <a14:foregroundMark x1="37667" y1="67667" x2="37667" y2="67667"/>
                        <a14:foregroundMark x1="40000" y1="66667" x2="40000" y2="66667"/>
                        <a14:foregroundMark x1="41333" y1="64667" x2="41333" y2="64667"/>
                        <a14:foregroundMark x1="43667" y1="64333" x2="43667" y2="64333"/>
                        <a14:foregroundMark x1="44667" y1="64000" x2="44667" y2="64000"/>
                        <a14:foregroundMark x1="35333" y1="65000" x2="35333" y2="65000"/>
                        <a14:foregroundMark x1="34333" y1="65667" x2="33000" y2="67000"/>
                        <a14:foregroundMark x1="39000" y1="59333" x2="41000" y2="59000"/>
                        <a14:foregroundMark x1="44000" y1="58333" x2="44000" y2="58333"/>
                        <a14:foregroundMark x1="44333" y1="60333" x2="9667" y2="55667"/>
                        <a14:foregroundMark x1="60333" y1="35333" x2="61667" y2="36333"/>
                        <a14:foregroundMark x1="62333" y1="43333" x2="52667" y2="48000"/>
                        <a14:foregroundMark x1="34667" y1="64333" x2="34667" y2="64333"/>
                        <a14:foregroundMark x1="36333" y1="65333" x2="36333" y2="65333"/>
                        <a14:foregroundMark x1="11000" y1="64333" x2="11000" y2="64333"/>
                        <a14:foregroundMark x1="2333" y1="56667" x2="2333" y2="56667"/>
                        <a14:foregroundMark x1="4667" y1="55667" x2="4667" y2="55667"/>
                        <a14:foregroundMark x1="36000" y1="61333" x2="36000" y2="61333"/>
                        <a14:foregroundMark x1="62667" y1="35000" x2="62667" y2="35000"/>
                        <a14:foregroundMark x1="64333" y1="33333" x2="64333" y2="33333"/>
                        <a14:foregroundMark x1="64333" y1="33333" x2="65667" y2="35000"/>
                        <a14:foregroundMark x1="65667" y1="43667" x2="65667" y2="46000"/>
                        <a14:foregroundMark x1="65667" y1="47333" x2="65667" y2="47333"/>
                        <a14:foregroundMark x1="52667" y1="48000" x2="52667" y2="48000"/>
                      </a14:backgroundRemoval>
                    </a14:imgEffect>
                  </a14:imgLayer>
                </a14:imgProps>
              </a:ext>
            </a:extLst>
          </a:blip>
          <a:srcRect t="18222" b="31569"/>
          <a:stretch>
            <a:fillRect/>
          </a:stretch>
        </p:blipFill>
        <p:spPr>
          <a:xfrm>
            <a:off x="1576936" y="5644722"/>
            <a:ext cx="416831" cy="20928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3" name="图像" descr="图像">
            <a:extLst>
              <a:ext uri="{FF2B5EF4-FFF2-40B4-BE49-F238E27FC236}">
                <a16:creationId xmlns:a16="http://schemas.microsoft.com/office/drawing/2014/main" id="{B4A71C5A-7BEC-5336-AD69-39AC39D56C00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 l="3322" t="22445" r="3246" b="22496"/>
          <a:stretch>
            <a:fillRect/>
          </a:stretch>
        </p:blipFill>
        <p:spPr>
          <a:xfrm>
            <a:off x="2052877" y="5688630"/>
            <a:ext cx="392619" cy="1214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51" extrusionOk="0">
                <a:moveTo>
                  <a:pt x="4692" y="0"/>
                </a:moveTo>
                <a:cubicBezTo>
                  <a:pt x="4450" y="40"/>
                  <a:pt x="4262" y="381"/>
                  <a:pt x="4153" y="1065"/>
                </a:cubicBezTo>
                <a:cubicBezTo>
                  <a:pt x="4097" y="1418"/>
                  <a:pt x="4084" y="1632"/>
                  <a:pt x="4084" y="2074"/>
                </a:cubicBezTo>
                <a:cubicBezTo>
                  <a:pt x="4084" y="2713"/>
                  <a:pt x="4133" y="3032"/>
                  <a:pt x="4257" y="3475"/>
                </a:cubicBezTo>
                <a:cubicBezTo>
                  <a:pt x="4347" y="3796"/>
                  <a:pt x="4436" y="3976"/>
                  <a:pt x="4553" y="4091"/>
                </a:cubicBezTo>
                <a:cubicBezTo>
                  <a:pt x="4656" y="4192"/>
                  <a:pt x="4854" y="4163"/>
                  <a:pt x="4970" y="4035"/>
                </a:cubicBezTo>
                <a:cubicBezTo>
                  <a:pt x="5125" y="3864"/>
                  <a:pt x="5287" y="3403"/>
                  <a:pt x="5352" y="2914"/>
                </a:cubicBezTo>
                <a:cubicBezTo>
                  <a:pt x="5417" y="2426"/>
                  <a:pt x="5404" y="1581"/>
                  <a:pt x="5335" y="1121"/>
                </a:cubicBezTo>
                <a:cubicBezTo>
                  <a:pt x="5232" y="436"/>
                  <a:pt x="5045" y="49"/>
                  <a:pt x="4796" y="0"/>
                </a:cubicBezTo>
                <a:lnTo>
                  <a:pt x="4692" y="0"/>
                </a:lnTo>
                <a:close/>
                <a:moveTo>
                  <a:pt x="11938" y="4876"/>
                </a:moveTo>
                <a:cubicBezTo>
                  <a:pt x="11699" y="4853"/>
                  <a:pt x="11418" y="4940"/>
                  <a:pt x="11243" y="5100"/>
                </a:cubicBezTo>
                <a:cubicBezTo>
                  <a:pt x="10541" y="5741"/>
                  <a:pt x="10096" y="7484"/>
                  <a:pt x="9975" y="9919"/>
                </a:cubicBezTo>
                <a:cubicBezTo>
                  <a:pt x="9936" y="10686"/>
                  <a:pt x="9962" y="12014"/>
                  <a:pt x="10027" y="12833"/>
                </a:cubicBezTo>
                <a:cubicBezTo>
                  <a:pt x="10201" y="15042"/>
                  <a:pt x="10658" y="16449"/>
                  <a:pt x="11417" y="16980"/>
                </a:cubicBezTo>
                <a:cubicBezTo>
                  <a:pt x="11640" y="17136"/>
                  <a:pt x="12012" y="17095"/>
                  <a:pt x="12268" y="16924"/>
                </a:cubicBezTo>
                <a:cubicBezTo>
                  <a:pt x="12966" y="16459"/>
                  <a:pt x="13503" y="14769"/>
                  <a:pt x="13659" y="12497"/>
                </a:cubicBezTo>
                <a:cubicBezTo>
                  <a:pt x="13699" y="11900"/>
                  <a:pt x="13702" y="11569"/>
                  <a:pt x="13693" y="10704"/>
                </a:cubicBezTo>
                <a:cubicBezTo>
                  <a:pt x="13680" y="9475"/>
                  <a:pt x="13652" y="9000"/>
                  <a:pt x="13502" y="8014"/>
                </a:cubicBezTo>
                <a:cubicBezTo>
                  <a:pt x="13251" y="6359"/>
                  <a:pt x="12758" y="5211"/>
                  <a:pt x="12164" y="4932"/>
                </a:cubicBezTo>
                <a:cubicBezTo>
                  <a:pt x="12098" y="4900"/>
                  <a:pt x="12018" y="4883"/>
                  <a:pt x="11938" y="4876"/>
                </a:cubicBezTo>
                <a:close/>
                <a:moveTo>
                  <a:pt x="19706" y="4876"/>
                </a:moveTo>
                <a:cubicBezTo>
                  <a:pt x="19608" y="4883"/>
                  <a:pt x="19511" y="4903"/>
                  <a:pt x="19445" y="4932"/>
                </a:cubicBezTo>
                <a:cubicBezTo>
                  <a:pt x="18896" y="5168"/>
                  <a:pt x="18595" y="5822"/>
                  <a:pt x="18385" y="7229"/>
                </a:cubicBezTo>
                <a:cubicBezTo>
                  <a:pt x="18269" y="8008"/>
                  <a:pt x="18265" y="8127"/>
                  <a:pt x="18333" y="8182"/>
                </a:cubicBezTo>
                <a:cubicBezTo>
                  <a:pt x="18409" y="8244"/>
                  <a:pt x="19082" y="8630"/>
                  <a:pt x="19115" y="8630"/>
                </a:cubicBezTo>
                <a:cubicBezTo>
                  <a:pt x="19129" y="8630"/>
                  <a:pt x="19163" y="8498"/>
                  <a:pt x="19185" y="8350"/>
                </a:cubicBezTo>
                <a:cubicBezTo>
                  <a:pt x="19248" y="7923"/>
                  <a:pt x="19382" y="7483"/>
                  <a:pt x="19497" y="7341"/>
                </a:cubicBezTo>
                <a:cubicBezTo>
                  <a:pt x="19582" y="7237"/>
                  <a:pt x="19664" y="7202"/>
                  <a:pt x="19880" y="7229"/>
                </a:cubicBezTo>
                <a:cubicBezTo>
                  <a:pt x="20155" y="7264"/>
                  <a:pt x="20227" y="7315"/>
                  <a:pt x="20331" y="7622"/>
                </a:cubicBezTo>
                <a:cubicBezTo>
                  <a:pt x="20462" y="8005"/>
                  <a:pt x="20506" y="9034"/>
                  <a:pt x="20401" y="9247"/>
                </a:cubicBezTo>
                <a:cubicBezTo>
                  <a:pt x="20333" y="9385"/>
                  <a:pt x="19947" y="9714"/>
                  <a:pt x="19532" y="9975"/>
                </a:cubicBezTo>
                <a:cubicBezTo>
                  <a:pt x="18920" y="10360"/>
                  <a:pt x="18619" y="10730"/>
                  <a:pt x="18420" y="11432"/>
                </a:cubicBezTo>
                <a:cubicBezTo>
                  <a:pt x="18261" y="11993"/>
                  <a:pt x="18208" y="12568"/>
                  <a:pt x="18194" y="13506"/>
                </a:cubicBezTo>
                <a:cubicBezTo>
                  <a:pt x="18185" y="14119"/>
                  <a:pt x="18185" y="14324"/>
                  <a:pt x="18229" y="14739"/>
                </a:cubicBezTo>
                <a:cubicBezTo>
                  <a:pt x="18361" y="16003"/>
                  <a:pt x="18637" y="16716"/>
                  <a:pt x="19115" y="17036"/>
                </a:cubicBezTo>
                <a:cubicBezTo>
                  <a:pt x="19142" y="17054"/>
                  <a:pt x="19256" y="17088"/>
                  <a:pt x="19376" y="17092"/>
                </a:cubicBezTo>
                <a:cubicBezTo>
                  <a:pt x="19742" y="17105"/>
                  <a:pt x="20054" y="16758"/>
                  <a:pt x="20349" y="16028"/>
                </a:cubicBezTo>
                <a:cubicBezTo>
                  <a:pt x="20441" y="15800"/>
                  <a:pt x="20531" y="15647"/>
                  <a:pt x="20540" y="15691"/>
                </a:cubicBezTo>
                <a:cubicBezTo>
                  <a:pt x="20548" y="15735"/>
                  <a:pt x="20579" y="16020"/>
                  <a:pt x="20609" y="16308"/>
                </a:cubicBezTo>
                <a:lnTo>
                  <a:pt x="20662" y="16812"/>
                </a:lnTo>
                <a:lnTo>
                  <a:pt x="21131" y="16812"/>
                </a:lnTo>
                <a:lnTo>
                  <a:pt x="21600" y="16868"/>
                </a:lnTo>
                <a:lnTo>
                  <a:pt x="21548" y="16420"/>
                </a:lnTo>
                <a:cubicBezTo>
                  <a:pt x="21413" y="15438"/>
                  <a:pt x="21410" y="15377"/>
                  <a:pt x="21391" y="11376"/>
                </a:cubicBezTo>
                <a:cubicBezTo>
                  <a:pt x="21373" y="7416"/>
                  <a:pt x="21366" y="7095"/>
                  <a:pt x="21252" y="6501"/>
                </a:cubicBezTo>
                <a:cubicBezTo>
                  <a:pt x="21129" y="5858"/>
                  <a:pt x="20836" y="5256"/>
                  <a:pt x="20540" y="5044"/>
                </a:cubicBezTo>
                <a:cubicBezTo>
                  <a:pt x="20369" y="4921"/>
                  <a:pt x="19998" y="4853"/>
                  <a:pt x="19706" y="4876"/>
                </a:cubicBezTo>
                <a:close/>
                <a:moveTo>
                  <a:pt x="1651" y="4932"/>
                </a:moveTo>
                <a:cubicBezTo>
                  <a:pt x="1391" y="4938"/>
                  <a:pt x="1136" y="4985"/>
                  <a:pt x="1008" y="5100"/>
                </a:cubicBezTo>
                <a:cubicBezTo>
                  <a:pt x="616" y="5449"/>
                  <a:pt x="352" y="6075"/>
                  <a:pt x="209" y="7061"/>
                </a:cubicBezTo>
                <a:cubicBezTo>
                  <a:pt x="132" y="7588"/>
                  <a:pt x="139" y="7697"/>
                  <a:pt x="139" y="8462"/>
                </a:cubicBezTo>
                <a:cubicBezTo>
                  <a:pt x="139" y="9220"/>
                  <a:pt x="138" y="9282"/>
                  <a:pt x="209" y="9751"/>
                </a:cubicBezTo>
                <a:cubicBezTo>
                  <a:pt x="306" y="10398"/>
                  <a:pt x="411" y="10808"/>
                  <a:pt x="591" y="11152"/>
                </a:cubicBezTo>
                <a:cubicBezTo>
                  <a:pt x="761" y="11477"/>
                  <a:pt x="1180" y="11928"/>
                  <a:pt x="1633" y="12273"/>
                </a:cubicBezTo>
                <a:cubicBezTo>
                  <a:pt x="2350" y="12819"/>
                  <a:pt x="2433" y="12935"/>
                  <a:pt x="2433" y="13618"/>
                </a:cubicBezTo>
                <a:cubicBezTo>
                  <a:pt x="2433" y="13945"/>
                  <a:pt x="2420" y="14051"/>
                  <a:pt x="2329" y="14346"/>
                </a:cubicBezTo>
                <a:cubicBezTo>
                  <a:pt x="2204" y="14749"/>
                  <a:pt x="2109" y="14856"/>
                  <a:pt x="1807" y="14907"/>
                </a:cubicBezTo>
                <a:cubicBezTo>
                  <a:pt x="1391" y="14977"/>
                  <a:pt x="1160" y="14593"/>
                  <a:pt x="1008" y="13618"/>
                </a:cubicBezTo>
                <a:lnTo>
                  <a:pt x="921" y="13057"/>
                </a:lnTo>
                <a:lnTo>
                  <a:pt x="678" y="13226"/>
                </a:lnTo>
                <a:cubicBezTo>
                  <a:pt x="539" y="13295"/>
                  <a:pt x="325" y="13396"/>
                  <a:pt x="209" y="13450"/>
                </a:cubicBezTo>
                <a:lnTo>
                  <a:pt x="0" y="13506"/>
                </a:lnTo>
                <a:lnTo>
                  <a:pt x="17" y="13786"/>
                </a:lnTo>
                <a:cubicBezTo>
                  <a:pt x="46" y="14207"/>
                  <a:pt x="180" y="14997"/>
                  <a:pt x="295" y="15411"/>
                </a:cubicBezTo>
                <a:cubicBezTo>
                  <a:pt x="505" y="16165"/>
                  <a:pt x="835" y="16748"/>
                  <a:pt x="1216" y="16980"/>
                </a:cubicBezTo>
                <a:cubicBezTo>
                  <a:pt x="1496" y="17150"/>
                  <a:pt x="2144" y="17087"/>
                  <a:pt x="2398" y="16868"/>
                </a:cubicBezTo>
                <a:cubicBezTo>
                  <a:pt x="2676" y="16629"/>
                  <a:pt x="2872" y="16230"/>
                  <a:pt x="3041" y="15691"/>
                </a:cubicBezTo>
                <a:cubicBezTo>
                  <a:pt x="3294" y="14885"/>
                  <a:pt x="3419" y="13946"/>
                  <a:pt x="3389" y="12889"/>
                </a:cubicBezTo>
                <a:cubicBezTo>
                  <a:pt x="3336" y="11075"/>
                  <a:pt x="3024" y="10286"/>
                  <a:pt x="1981" y="9471"/>
                </a:cubicBezTo>
                <a:cubicBezTo>
                  <a:pt x="1157" y="8827"/>
                  <a:pt x="1008" y="8659"/>
                  <a:pt x="1008" y="8070"/>
                </a:cubicBezTo>
                <a:cubicBezTo>
                  <a:pt x="1008" y="7397"/>
                  <a:pt x="1198" y="7117"/>
                  <a:pt x="1651" y="7117"/>
                </a:cubicBezTo>
                <a:cubicBezTo>
                  <a:pt x="1926" y="7117"/>
                  <a:pt x="1982" y="7136"/>
                  <a:pt x="2068" y="7285"/>
                </a:cubicBezTo>
                <a:cubicBezTo>
                  <a:pt x="2186" y="7489"/>
                  <a:pt x="2324" y="7960"/>
                  <a:pt x="2346" y="8238"/>
                </a:cubicBezTo>
                <a:cubicBezTo>
                  <a:pt x="2358" y="8396"/>
                  <a:pt x="2376" y="8438"/>
                  <a:pt x="2415" y="8406"/>
                </a:cubicBezTo>
                <a:cubicBezTo>
                  <a:pt x="2444" y="8384"/>
                  <a:pt x="2623" y="8293"/>
                  <a:pt x="2815" y="8182"/>
                </a:cubicBezTo>
                <a:cubicBezTo>
                  <a:pt x="3239" y="7938"/>
                  <a:pt x="3250" y="7938"/>
                  <a:pt x="3250" y="7790"/>
                </a:cubicBezTo>
                <a:cubicBezTo>
                  <a:pt x="3250" y="7535"/>
                  <a:pt x="3093" y="6591"/>
                  <a:pt x="2972" y="6164"/>
                </a:cubicBezTo>
                <a:cubicBezTo>
                  <a:pt x="2819" y="5629"/>
                  <a:pt x="2602" y="5250"/>
                  <a:pt x="2329" y="5044"/>
                </a:cubicBezTo>
                <a:cubicBezTo>
                  <a:pt x="2186" y="4936"/>
                  <a:pt x="1911" y="4925"/>
                  <a:pt x="1651" y="4932"/>
                </a:cubicBezTo>
                <a:close/>
                <a:moveTo>
                  <a:pt x="7785" y="4932"/>
                </a:moveTo>
                <a:cubicBezTo>
                  <a:pt x="7569" y="4932"/>
                  <a:pt x="7356" y="4946"/>
                  <a:pt x="7246" y="5044"/>
                </a:cubicBezTo>
                <a:cubicBezTo>
                  <a:pt x="6646" y="5576"/>
                  <a:pt x="6278" y="6850"/>
                  <a:pt x="6099" y="8910"/>
                </a:cubicBezTo>
                <a:cubicBezTo>
                  <a:pt x="6049" y="9494"/>
                  <a:pt x="6030" y="9749"/>
                  <a:pt x="6030" y="10984"/>
                </a:cubicBezTo>
                <a:cubicBezTo>
                  <a:pt x="6030" y="12219"/>
                  <a:pt x="6049" y="12474"/>
                  <a:pt x="6099" y="13057"/>
                </a:cubicBezTo>
                <a:cubicBezTo>
                  <a:pt x="6288" y="15227"/>
                  <a:pt x="6689" y="16478"/>
                  <a:pt x="7333" y="16924"/>
                </a:cubicBezTo>
                <a:cubicBezTo>
                  <a:pt x="7572" y="17090"/>
                  <a:pt x="7987" y="17102"/>
                  <a:pt x="8254" y="16924"/>
                </a:cubicBezTo>
                <a:cubicBezTo>
                  <a:pt x="8828" y="16543"/>
                  <a:pt x="9192" y="15462"/>
                  <a:pt x="9384" y="13618"/>
                </a:cubicBezTo>
                <a:cubicBezTo>
                  <a:pt x="9424" y="13235"/>
                  <a:pt x="9456" y="12898"/>
                  <a:pt x="9453" y="12889"/>
                </a:cubicBezTo>
                <a:cubicBezTo>
                  <a:pt x="9447" y="12869"/>
                  <a:pt x="8581" y="12441"/>
                  <a:pt x="8550" y="12441"/>
                </a:cubicBezTo>
                <a:cubicBezTo>
                  <a:pt x="8536" y="12441"/>
                  <a:pt x="8519" y="12596"/>
                  <a:pt x="8498" y="12833"/>
                </a:cubicBezTo>
                <a:cubicBezTo>
                  <a:pt x="8423" y="13655"/>
                  <a:pt x="8265" y="14271"/>
                  <a:pt x="8063" y="14515"/>
                </a:cubicBezTo>
                <a:cubicBezTo>
                  <a:pt x="7974" y="14623"/>
                  <a:pt x="7674" y="14625"/>
                  <a:pt x="7559" y="14515"/>
                </a:cubicBezTo>
                <a:cubicBezTo>
                  <a:pt x="7422" y="14382"/>
                  <a:pt x="7245" y="13909"/>
                  <a:pt x="7159" y="13450"/>
                </a:cubicBezTo>
                <a:cubicBezTo>
                  <a:pt x="7052" y="12870"/>
                  <a:pt x="7003" y="12045"/>
                  <a:pt x="7003" y="10872"/>
                </a:cubicBezTo>
                <a:cubicBezTo>
                  <a:pt x="7003" y="9312"/>
                  <a:pt x="7075" y="8553"/>
                  <a:pt x="7281" y="7902"/>
                </a:cubicBezTo>
                <a:cubicBezTo>
                  <a:pt x="7425" y="7448"/>
                  <a:pt x="7584" y="7277"/>
                  <a:pt x="7820" y="7285"/>
                </a:cubicBezTo>
                <a:cubicBezTo>
                  <a:pt x="8021" y="7293"/>
                  <a:pt x="8168" y="7457"/>
                  <a:pt x="8289" y="7846"/>
                </a:cubicBezTo>
                <a:cubicBezTo>
                  <a:pt x="8372" y="8114"/>
                  <a:pt x="8462" y="8618"/>
                  <a:pt x="8463" y="8854"/>
                </a:cubicBezTo>
                <a:cubicBezTo>
                  <a:pt x="8463" y="8927"/>
                  <a:pt x="8469" y="8999"/>
                  <a:pt x="8480" y="9023"/>
                </a:cubicBezTo>
                <a:cubicBezTo>
                  <a:pt x="8503" y="9068"/>
                  <a:pt x="9315" y="8669"/>
                  <a:pt x="9384" y="8574"/>
                </a:cubicBezTo>
                <a:cubicBezTo>
                  <a:pt x="9422" y="8522"/>
                  <a:pt x="9407" y="8460"/>
                  <a:pt x="9332" y="7902"/>
                </a:cubicBezTo>
                <a:cubicBezTo>
                  <a:pt x="9118" y="6321"/>
                  <a:pt x="8816" y="5427"/>
                  <a:pt x="8341" y="5044"/>
                </a:cubicBezTo>
                <a:cubicBezTo>
                  <a:pt x="8221" y="4947"/>
                  <a:pt x="8002" y="4931"/>
                  <a:pt x="7785" y="4932"/>
                </a:cubicBezTo>
                <a:close/>
                <a:moveTo>
                  <a:pt x="14545" y="5100"/>
                </a:moveTo>
                <a:cubicBezTo>
                  <a:pt x="14073" y="5100"/>
                  <a:pt x="14043" y="5141"/>
                  <a:pt x="14058" y="5268"/>
                </a:cubicBezTo>
                <a:cubicBezTo>
                  <a:pt x="14067" y="5343"/>
                  <a:pt x="14161" y="6108"/>
                  <a:pt x="14267" y="7005"/>
                </a:cubicBezTo>
                <a:cubicBezTo>
                  <a:pt x="14372" y="7902"/>
                  <a:pt x="14479" y="8878"/>
                  <a:pt x="14510" y="9135"/>
                </a:cubicBezTo>
                <a:cubicBezTo>
                  <a:pt x="14588" y="9774"/>
                  <a:pt x="15141" y="14462"/>
                  <a:pt x="15344" y="16196"/>
                </a:cubicBezTo>
                <a:lnTo>
                  <a:pt x="15431" y="16924"/>
                </a:lnTo>
                <a:lnTo>
                  <a:pt x="15379" y="17373"/>
                </a:lnTo>
                <a:cubicBezTo>
                  <a:pt x="15350" y="17627"/>
                  <a:pt x="15304" y="17945"/>
                  <a:pt x="15275" y="18101"/>
                </a:cubicBezTo>
                <a:cubicBezTo>
                  <a:pt x="15192" y="18534"/>
                  <a:pt x="15013" y="19012"/>
                  <a:pt x="14892" y="19110"/>
                </a:cubicBezTo>
                <a:cubicBezTo>
                  <a:pt x="14769" y="19210"/>
                  <a:pt x="14536" y="19202"/>
                  <a:pt x="14388" y="19110"/>
                </a:cubicBezTo>
                <a:cubicBezTo>
                  <a:pt x="14289" y="19048"/>
                  <a:pt x="14284" y="19025"/>
                  <a:pt x="14284" y="19222"/>
                </a:cubicBezTo>
                <a:cubicBezTo>
                  <a:pt x="14284" y="19334"/>
                  <a:pt x="14299" y="19888"/>
                  <a:pt x="14319" y="20399"/>
                </a:cubicBezTo>
                <a:cubicBezTo>
                  <a:pt x="14339" y="20910"/>
                  <a:pt x="14354" y="21321"/>
                  <a:pt x="14354" y="21351"/>
                </a:cubicBezTo>
                <a:cubicBezTo>
                  <a:pt x="14354" y="21382"/>
                  <a:pt x="14406" y="21423"/>
                  <a:pt x="14475" y="21464"/>
                </a:cubicBezTo>
                <a:cubicBezTo>
                  <a:pt x="14707" y="21600"/>
                  <a:pt x="15144" y="21573"/>
                  <a:pt x="15344" y="21407"/>
                </a:cubicBezTo>
                <a:cubicBezTo>
                  <a:pt x="15673" y="21136"/>
                  <a:pt x="15866" y="20806"/>
                  <a:pt x="16022" y="20063"/>
                </a:cubicBezTo>
                <a:cubicBezTo>
                  <a:pt x="16144" y="19480"/>
                  <a:pt x="16210" y="18920"/>
                  <a:pt x="16508" y="16308"/>
                </a:cubicBezTo>
                <a:cubicBezTo>
                  <a:pt x="16647" y="15090"/>
                  <a:pt x="16852" y="13325"/>
                  <a:pt x="16960" y="12385"/>
                </a:cubicBezTo>
                <a:cubicBezTo>
                  <a:pt x="17069" y="11445"/>
                  <a:pt x="17214" y="10098"/>
                  <a:pt x="17290" y="9415"/>
                </a:cubicBezTo>
                <a:cubicBezTo>
                  <a:pt x="17367" y="8731"/>
                  <a:pt x="17509" y="7532"/>
                  <a:pt x="17603" y="6725"/>
                </a:cubicBezTo>
                <a:cubicBezTo>
                  <a:pt x="17697" y="5918"/>
                  <a:pt x="17777" y="5192"/>
                  <a:pt x="17777" y="5156"/>
                </a:cubicBezTo>
                <a:cubicBezTo>
                  <a:pt x="17777" y="5119"/>
                  <a:pt x="17559" y="5099"/>
                  <a:pt x="17290" y="5100"/>
                </a:cubicBezTo>
                <a:lnTo>
                  <a:pt x="16804" y="5100"/>
                </a:lnTo>
                <a:lnTo>
                  <a:pt x="16387" y="9191"/>
                </a:lnTo>
                <a:cubicBezTo>
                  <a:pt x="16155" y="11443"/>
                  <a:pt x="15947" y="13282"/>
                  <a:pt x="15935" y="13282"/>
                </a:cubicBezTo>
                <a:cubicBezTo>
                  <a:pt x="15913" y="13282"/>
                  <a:pt x="15853" y="12784"/>
                  <a:pt x="15327" y="7790"/>
                </a:cubicBezTo>
                <a:lnTo>
                  <a:pt x="15049" y="5100"/>
                </a:lnTo>
                <a:lnTo>
                  <a:pt x="14545" y="5100"/>
                </a:lnTo>
                <a:close/>
                <a:moveTo>
                  <a:pt x="4310" y="5212"/>
                </a:moveTo>
                <a:cubicBezTo>
                  <a:pt x="4270" y="5162"/>
                  <a:pt x="4257" y="5460"/>
                  <a:pt x="4257" y="10984"/>
                </a:cubicBezTo>
                <a:lnTo>
                  <a:pt x="4257" y="16868"/>
                </a:lnTo>
                <a:lnTo>
                  <a:pt x="4744" y="16868"/>
                </a:lnTo>
                <a:lnTo>
                  <a:pt x="5231" y="16868"/>
                </a:lnTo>
                <a:lnTo>
                  <a:pt x="5231" y="10984"/>
                </a:lnTo>
                <a:cubicBezTo>
                  <a:pt x="5231" y="5464"/>
                  <a:pt x="5218" y="5171"/>
                  <a:pt x="5178" y="5212"/>
                </a:cubicBezTo>
                <a:cubicBezTo>
                  <a:pt x="4816" y="5578"/>
                  <a:pt x="4596" y="5570"/>
                  <a:pt x="4310" y="5212"/>
                </a:cubicBezTo>
                <a:close/>
                <a:moveTo>
                  <a:pt x="11782" y="7397"/>
                </a:moveTo>
                <a:cubicBezTo>
                  <a:pt x="11898" y="7378"/>
                  <a:pt x="12028" y="7387"/>
                  <a:pt x="12129" y="7509"/>
                </a:cubicBezTo>
                <a:cubicBezTo>
                  <a:pt x="12390" y="7825"/>
                  <a:pt x="12590" y="8602"/>
                  <a:pt x="12685" y="9639"/>
                </a:cubicBezTo>
                <a:cubicBezTo>
                  <a:pt x="12741" y="10249"/>
                  <a:pt x="12741" y="11587"/>
                  <a:pt x="12685" y="12273"/>
                </a:cubicBezTo>
                <a:cubicBezTo>
                  <a:pt x="12602" y="13303"/>
                  <a:pt x="12391" y="14087"/>
                  <a:pt x="12129" y="14402"/>
                </a:cubicBezTo>
                <a:cubicBezTo>
                  <a:pt x="11950" y="14619"/>
                  <a:pt x="11701" y="14628"/>
                  <a:pt x="11521" y="14402"/>
                </a:cubicBezTo>
                <a:cubicBezTo>
                  <a:pt x="11261" y="14075"/>
                  <a:pt x="11024" y="13108"/>
                  <a:pt x="10965" y="12105"/>
                </a:cubicBezTo>
                <a:cubicBezTo>
                  <a:pt x="10934" y="11574"/>
                  <a:pt x="10934" y="10393"/>
                  <a:pt x="10965" y="9863"/>
                </a:cubicBezTo>
                <a:cubicBezTo>
                  <a:pt x="11022" y="8902"/>
                  <a:pt x="11199" y="8035"/>
                  <a:pt x="11452" y="7622"/>
                </a:cubicBezTo>
                <a:cubicBezTo>
                  <a:pt x="11547" y="7466"/>
                  <a:pt x="11665" y="7417"/>
                  <a:pt x="11782" y="7397"/>
                </a:cubicBezTo>
                <a:close/>
                <a:moveTo>
                  <a:pt x="20401" y="11320"/>
                </a:moveTo>
                <a:cubicBezTo>
                  <a:pt x="20413" y="11323"/>
                  <a:pt x="20432" y="11308"/>
                  <a:pt x="20436" y="11320"/>
                </a:cubicBezTo>
                <a:cubicBezTo>
                  <a:pt x="20449" y="11364"/>
                  <a:pt x="20441" y="11776"/>
                  <a:pt x="20436" y="12329"/>
                </a:cubicBezTo>
                <a:cubicBezTo>
                  <a:pt x="20428" y="13205"/>
                  <a:pt x="20426" y="13346"/>
                  <a:pt x="20366" y="13674"/>
                </a:cubicBezTo>
                <a:cubicBezTo>
                  <a:pt x="20284" y="14126"/>
                  <a:pt x="20157" y="14513"/>
                  <a:pt x="20001" y="14739"/>
                </a:cubicBezTo>
                <a:cubicBezTo>
                  <a:pt x="19840" y="14971"/>
                  <a:pt x="19621" y="14997"/>
                  <a:pt x="19497" y="14851"/>
                </a:cubicBezTo>
                <a:cubicBezTo>
                  <a:pt x="19370" y="14700"/>
                  <a:pt x="19286" y="14504"/>
                  <a:pt x="19202" y="14122"/>
                </a:cubicBezTo>
                <a:cubicBezTo>
                  <a:pt x="19144" y="13860"/>
                  <a:pt x="19134" y="13718"/>
                  <a:pt x="19132" y="13338"/>
                </a:cubicBezTo>
                <a:cubicBezTo>
                  <a:pt x="19131" y="12931"/>
                  <a:pt x="19137" y="12870"/>
                  <a:pt x="19202" y="12609"/>
                </a:cubicBezTo>
                <a:cubicBezTo>
                  <a:pt x="19307" y="12187"/>
                  <a:pt x="19438" y="11999"/>
                  <a:pt x="19741" y="11769"/>
                </a:cubicBezTo>
                <a:cubicBezTo>
                  <a:pt x="19886" y="11657"/>
                  <a:pt x="20099" y="11461"/>
                  <a:pt x="20210" y="11376"/>
                </a:cubicBezTo>
                <a:cubicBezTo>
                  <a:pt x="20307" y="11302"/>
                  <a:pt x="20366" y="11312"/>
                  <a:pt x="20401" y="1132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5155" name="图像" descr="图像">
            <a:extLst>
              <a:ext uri="{FF2B5EF4-FFF2-40B4-BE49-F238E27FC236}">
                <a16:creationId xmlns:a16="http://schemas.microsoft.com/office/drawing/2014/main" id="{D1DF51D0-AD27-C196-DA94-D377612ADCA4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BEBA8EAE-BF5A-486C-A8C5-ECC9F3942E4B}">
                <a14:imgProps xmlns:a14="http://schemas.microsoft.com/office/drawing/2010/main">
                  <a14:imgLayer r:embed="rId31">
                    <a14:imgEffect>
                      <a14:backgroundRemoval t="40500" b="59000" l="5500" r="95500">
                        <a14:foregroundMark x1="13000" y1="45000" x2="13000" y2="45000"/>
                        <a14:foregroundMark x1="5500" y1="49000" x2="5500" y2="49000"/>
                        <a14:foregroundMark x1="10500" y1="57500" x2="10500" y2="57500"/>
                        <a14:foregroundMark x1="41500" y1="50000" x2="41500" y2="50000"/>
                        <a14:foregroundMark x1="52500" y1="50500" x2="52500" y2="50500"/>
                        <a14:foregroundMark x1="59000" y1="50500" x2="59000" y2="50500"/>
                        <a14:foregroundMark x1="71000" y1="50000" x2="71000" y2="50000"/>
                        <a14:foregroundMark x1="79000" y1="47500" x2="79000" y2="47500"/>
                        <a14:foregroundMark x1="88500" y1="51500" x2="88500" y2="51500"/>
                        <a14:foregroundMark x1="95500" y1="50500" x2="95500" y2="50500"/>
                      </a14:backgroundRemoval>
                    </a14:imgEffect>
                  </a14:imgLayer>
                </a14:imgProps>
              </a:ext>
            </a:extLst>
          </a:blip>
          <a:srcRect t="38585" b="38585"/>
          <a:stretch>
            <a:fillRect/>
          </a:stretch>
        </p:blipFill>
        <p:spPr>
          <a:xfrm>
            <a:off x="2479987" y="5806645"/>
            <a:ext cx="529280" cy="120825"/>
          </a:xfrm>
          <a:prstGeom prst="rect">
            <a:avLst/>
          </a:prstGeom>
          <a:ln w="12700">
            <a:miter lim="400000"/>
          </a:ln>
        </p:spPr>
      </p:pic>
      <p:sp>
        <p:nvSpPr>
          <p:cNvPr id="5158" name="Rectangle 8">
            <a:extLst>
              <a:ext uri="{FF2B5EF4-FFF2-40B4-BE49-F238E27FC236}">
                <a16:creationId xmlns:a16="http://schemas.microsoft.com/office/drawing/2014/main" id="{E0F8A186-E497-6124-BC2A-570D8C234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7104" y="5889638"/>
            <a:ext cx="137885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dirty="0">
                <a:solidFill>
                  <a:srgbClr val="000000"/>
                </a:solidFill>
                <a:cs typeface="+mn-ea"/>
                <a:sym typeface="+mn-lt"/>
              </a:rPr>
              <a:t>Tencent JDM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5161" name="Rectangle 8">
            <a:extLst>
              <a:ext uri="{FF2B5EF4-FFF2-40B4-BE49-F238E27FC236}">
                <a16:creationId xmlns:a16="http://schemas.microsoft.com/office/drawing/2014/main" id="{60BD655F-3DEC-B0FC-30F4-0F6B0A4DE0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2578" y="5629336"/>
            <a:ext cx="219075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dirty="0">
                <a:solidFill>
                  <a:srgbClr val="000000"/>
                </a:solidFill>
                <a:cs typeface="+mn-ea"/>
                <a:sym typeface="+mn-lt"/>
              </a:rPr>
              <a:t>Delivery Phase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5166" name="图片 5165">
            <a:extLst>
              <a:ext uri="{FF2B5EF4-FFF2-40B4-BE49-F238E27FC236}">
                <a16:creationId xmlns:a16="http://schemas.microsoft.com/office/drawing/2014/main" id="{1A6C5F66-ECA8-3CA1-1B7E-96915B78F572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6410" b="89744" l="5067" r="94133">
                        <a14:foregroundMark x1="5333" y1="60256" x2="5333" y2="60256"/>
                        <a14:foregroundMark x1="12267" y1="61538" x2="12267" y2="61538"/>
                        <a14:foregroundMark x1="17067" y1="56410" x2="17067" y2="56410"/>
                        <a14:foregroundMark x1="28000" y1="52564" x2="28000" y2="52564"/>
                        <a14:foregroundMark x1="39467" y1="48718" x2="39467" y2="48718"/>
                        <a14:foregroundMark x1="57867" y1="53846" x2="57867" y2="53846"/>
                        <a14:foregroundMark x1="68267" y1="41026" x2="68267" y2="41026"/>
                        <a14:foregroundMark x1="77067" y1="37179" x2="77067" y2="37179"/>
                        <a14:foregroundMark x1="82667" y1="41026" x2="82667" y2="41026"/>
                        <a14:foregroundMark x1="91200" y1="53846" x2="91200" y2="53846"/>
                        <a14:foregroundMark x1="94133" y1="56410" x2="94133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76936" y="4217809"/>
            <a:ext cx="662345" cy="137768"/>
          </a:xfrm>
          <a:prstGeom prst="rect">
            <a:avLst/>
          </a:prstGeom>
        </p:spPr>
      </p:pic>
      <p:sp>
        <p:nvSpPr>
          <p:cNvPr id="5136" name="矩形 5135">
            <a:extLst>
              <a:ext uri="{FF2B5EF4-FFF2-40B4-BE49-F238E27FC236}">
                <a16:creationId xmlns:a16="http://schemas.microsoft.com/office/drawing/2014/main" id="{CC6547B4-A482-9EEE-AF17-E8421F1F3FED}"/>
              </a:ext>
            </a:extLst>
          </p:cNvPr>
          <p:cNvSpPr/>
          <p:nvPr/>
        </p:nvSpPr>
        <p:spPr>
          <a:xfrm>
            <a:off x="10625730" y="3023675"/>
            <a:ext cx="574356" cy="2213303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69" name="图片 2068">
            <a:extLst>
              <a:ext uri="{FF2B5EF4-FFF2-40B4-BE49-F238E27FC236}">
                <a16:creationId xmlns:a16="http://schemas.microsoft.com/office/drawing/2014/main" id="{D544ED39-3EF7-50CB-502E-B74080C01BB4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BEBA8EAE-BF5A-486C-A8C5-ECC9F3942E4B}">
                <a14:imgProps xmlns:a14="http://schemas.microsoft.com/office/drawing/2010/main">
                  <a14:imgLayer r:embed="rId35">
                    <a14:imgEffect>
                      <a14:backgroundRemoval t="9825" b="97544" l="6055" r="95872">
                        <a14:foregroundMark x1="14587" y1="42105" x2="14587" y2="42105"/>
                        <a14:foregroundMark x1="21101" y1="54737" x2="21101" y2="54737"/>
                        <a14:foregroundMark x1="27890" y1="62105" x2="27890" y2="62105"/>
                        <a14:foregroundMark x1="38349" y1="58596" x2="38349" y2="58596"/>
                        <a14:foregroundMark x1="53578" y1="50877" x2="53578" y2="50877"/>
                        <a14:foregroundMark x1="69633" y1="48070" x2="69633" y2="48070"/>
                        <a14:foregroundMark x1="78532" y1="45263" x2="78532" y2="45263"/>
                        <a14:foregroundMark x1="89541" y1="45263" x2="89541" y2="45263"/>
                        <a14:foregroundMark x1="95872" y1="76140" x2="95872" y2="76140"/>
                        <a14:foregroundMark x1="11468" y1="34737" x2="11468" y2="34737"/>
                        <a14:foregroundMark x1="6055" y1="97544" x2="6055" y2="975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37419" y="3045997"/>
            <a:ext cx="535879" cy="140115"/>
          </a:xfrm>
          <a:prstGeom prst="rect">
            <a:avLst/>
          </a:prstGeom>
          <a:ln>
            <a:noFill/>
          </a:ln>
        </p:spPr>
      </p:pic>
      <p:pic>
        <p:nvPicPr>
          <p:cNvPr id="5162" name="图像" descr="图像">
            <a:extLst>
              <a:ext uri="{FF2B5EF4-FFF2-40B4-BE49-F238E27FC236}">
                <a16:creationId xmlns:a16="http://schemas.microsoft.com/office/drawing/2014/main" id="{AE766B19-F1E9-8A57-51D2-D97C143924A1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1311481" y="1881996"/>
            <a:ext cx="368301" cy="400220"/>
          </a:xfrm>
          <a:prstGeom prst="rect">
            <a:avLst/>
          </a:prstGeom>
          <a:ln w="12700">
            <a:noFill/>
            <a:miter lim="400000"/>
          </a:ln>
        </p:spPr>
      </p:pic>
      <p:pic>
        <p:nvPicPr>
          <p:cNvPr id="5163" name="图像" descr="图像">
            <a:extLst>
              <a:ext uri="{FF2B5EF4-FFF2-40B4-BE49-F238E27FC236}">
                <a16:creationId xmlns:a16="http://schemas.microsoft.com/office/drawing/2014/main" id="{3784BCC1-35B4-3C8C-2D64-A6132373C7F4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696462" y="2434708"/>
            <a:ext cx="519169" cy="191516"/>
          </a:xfrm>
          <a:prstGeom prst="rect">
            <a:avLst/>
          </a:prstGeom>
          <a:ln w="12700">
            <a:noFill/>
            <a:miter lim="400000"/>
          </a:ln>
        </p:spPr>
      </p:pic>
      <p:pic>
        <p:nvPicPr>
          <p:cNvPr id="5168" name="图像" descr="图像">
            <a:extLst>
              <a:ext uri="{FF2B5EF4-FFF2-40B4-BE49-F238E27FC236}">
                <a16:creationId xmlns:a16="http://schemas.microsoft.com/office/drawing/2014/main" id="{27E111D4-EAA8-DEB2-9C46-70F113E94BE4}"/>
              </a:ext>
            </a:extLst>
          </p:cNvPr>
          <p:cNvPicPr>
            <a:picLocks noChangeAspect="1"/>
          </p:cNvPicPr>
          <p:nvPr/>
        </p:nvPicPr>
        <p:blipFill>
          <a:blip r:embed="rId38"/>
          <a:srcRect l="5884" t="22886" r="3998" b="18237"/>
          <a:stretch>
            <a:fillRect/>
          </a:stretch>
        </p:blipFill>
        <p:spPr>
          <a:xfrm>
            <a:off x="11200086" y="5363148"/>
            <a:ext cx="672205" cy="1284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0" h="21468" extrusionOk="0">
                <a:moveTo>
                  <a:pt x="531" y="115"/>
                </a:moveTo>
                <a:cubicBezTo>
                  <a:pt x="415" y="261"/>
                  <a:pt x="60" y="3352"/>
                  <a:pt x="60" y="4226"/>
                </a:cubicBezTo>
                <a:cubicBezTo>
                  <a:pt x="60" y="4413"/>
                  <a:pt x="292" y="4558"/>
                  <a:pt x="620" y="4558"/>
                </a:cubicBezTo>
                <a:cubicBezTo>
                  <a:pt x="1208" y="4558"/>
                  <a:pt x="1312" y="4802"/>
                  <a:pt x="1206" y="5818"/>
                </a:cubicBezTo>
                <a:cubicBezTo>
                  <a:pt x="1172" y="6144"/>
                  <a:pt x="1067" y="7352"/>
                  <a:pt x="964" y="8537"/>
                </a:cubicBezTo>
                <a:cubicBezTo>
                  <a:pt x="552" y="13282"/>
                  <a:pt x="168" y="17657"/>
                  <a:pt x="85" y="18484"/>
                </a:cubicBezTo>
                <a:cubicBezTo>
                  <a:pt x="-24" y="19570"/>
                  <a:pt x="-30" y="20065"/>
                  <a:pt x="73" y="20274"/>
                </a:cubicBezTo>
                <a:cubicBezTo>
                  <a:pt x="116" y="20364"/>
                  <a:pt x="407" y="20371"/>
                  <a:pt x="722" y="20274"/>
                </a:cubicBezTo>
                <a:cubicBezTo>
                  <a:pt x="1205" y="20126"/>
                  <a:pt x="1317" y="19940"/>
                  <a:pt x="1410" y="19346"/>
                </a:cubicBezTo>
                <a:cubicBezTo>
                  <a:pt x="1470" y="18958"/>
                  <a:pt x="1511" y="18545"/>
                  <a:pt x="1512" y="18351"/>
                </a:cubicBezTo>
                <a:cubicBezTo>
                  <a:pt x="1512" y="18158"/>
                  <a:pt x="1573" y="17411"/>
                  <a:pt x="1639" y="16693"/>
                </a:cubicBezTo>
                <a:cubicBezTo>
                  <a:pt x="1783" y="15126"/>
                  <a:pt x="2133" y="11114"/>
                  <a:pt x="2250" y="9730"/>
                </a:cubicBezTo>
                <a:cubicBezTo>
                  <a:pt x="2297" y="9184"/>
                  <a:pt x="2403" y="7989"/>
                  <a:pt x="2480" y="7078"/>
                </a:cubicBezTo>
                <a:cubicBezTo>
                  <a:pt x="2711" y="4315"/>
                  <a:pt x="2737" y="4194"/>
                  <a:pt x="3346" y="4293"/>
                </a:cubicBezTo>
                <a:cubicBezTo>
                  <a:pt x="3638" y="4340"/>
                  <a:pt x="3892" y="4503"/>
                  <a:pt x="3906" y="4624"/>
                </a:cubicBezTo>
                <a:cubicBezTo>
                  <a:pt x="3920" y="4745"/>
                  <a:pt x="3865" y="5612"/>
                  <a:pt x="3779" y="6547"/>
                </a:cubicBezTo>
                <a:cubicBezTo>
                  <a:pt x="3692" y="7483"/>
                  <a:pt x="3626" y="8333"/>
                  <a:pt x="3626" y="8470"/>
                </a:cubicBezTo>
                <a:cubicBezTo>
                  <a:pt x="3625" y="9195"/>
                  <a:pt x="3288" y="10546"/>
                  <a:pt x="2951" y="11189"/>
                </a:cubicBezTo>
                <a:cubicBezTo>
                  <a:pt x="2535" y="11984"/>
                  <a:pt x="2225" y="13290"/>
                  <a:pt x="2225" y="14240"/>
                </a:cubicBezTo>
                <a:cubicBezTo>
                  <a:pt x="2225" y="14960"/>
                  <a:pt x="2217" y="14984"/>
                  <a:pt x="2658" y="14372"/>
                </a:cubicBezTo>
                <a:cubicBezTo>
                  <a:pt x="2850" y="14107"/>
                  <a:pt x="3028" y="13976"/>
                  <a:pt x="3053" y="14107"/>
                </a:cubicBezTo>
                <a:cubicBezTo>
                  <a:pt x="3078" y="14238"/>
                  <a:pt x="3015" y="15281"/>
                  <a:pt x="2913" y="16428"/>
                </a:cubicBezTo>
                <a:cubicBezTo>
                  <a:pt x="2810" y="17575"/>
                  <a:pt x="2718" y="18898"/>
                  <a:pt x="2696" y="19346"/>
                </a:cubicBezTo>
                <a:lnTo>
                  <a:pt x="2645" y="20142"/>
                </a:lnTo>
                <a:lnTo>
                  <a:pt x="3282" y="20142"/>
                </a:lnTo>
                <a:cubicBezTo>
                  <a:pt x="3627" y="20139"/>
                  <a:pt x="3932" y="20010"/>
                  <a:pt x="3970" y="19876"/>
                </a:cubicBezTo>
                <a:cubicBezTo>
                  <a:pt x="4007" y="19743"/>
                  <a:pt x="4106" y="18931"/>
                  <a:pt x="4186" y="18020"/>
                </a:cubicBezTo>
                <a:cubicBezTo>
                  <a:pt x="4267" y="17108"/>
                  <a:pt x="4395" y="15703"/>
                  <a:pt x="4466" y="14903"/>
                </a:cubicBezTo>
                <a:lnTo>
                  <a:pt x="4594" y="13444"/>
                </a:lnTo>
                <a:lnTo>
                  <a:pt x="5192" y="13643"/>
                </a:lnTo>
                <a:cubicBezTo>
                  <a:pt x="6468" y="14039"/>
                  <a:pt x="7619" y="12127"/>
                  <a:pt x="7828" y="9266"/>
                </a:cubicBezTo>
                <a:cubicBezTo>
                  <a:pt x="7886" y="8477"/>
                  <a:pt x="7904" y="8451"/>
                  <a:pt x="7981" y="9001"/>
                </a:cubicBezTo>
                <a:cubicBezTo>
                  <a:pt x="8096" y="9816"/>
                  <a:pt x="8580" y="9435"/>
                  <a:pt x="8580" y="8537"/>
                </a:cubicBezTo>
                <a:cubicBezTo>
                  <a:pt x="8580" y="7810"/>
                  <a:pt x="8291" y="7423"/>
                  <a:pt x="7994" y="7741"/>
                </a:cubicBezTo>
                <a:cubicBezTo>
                  <a:pt x="7880" y="7863"/>
                  <a:pt x="7581" y="8501"/>
                  <a:pt x="7332" y="9134"/>
                </a:cubicBezTo>
                <a:cubicBezTo>
                  <a:pt x="6807" y="10465"/>
                  <a:pt x="6256" y="10955"/>
                  <a:pt x="5663" y="10659"/>
                </a:cubicBezTo>
                <a:cubicBezTo>
                  <a:pt x="5172" y="10413"/>
                  <a:pt x="4963" y="10055"/>
                  <a:pt x="4963" y="9465"/>
                </a:cubicBezTo>
                <a:cubicBezTo>
                  <a:pt x="4963" y="9228"/>
                  <a:pt x="5056" y="7957"/>
                  <a:pt x="5180" y="6614"/>
                </a:cubicBezTo>
                <a:lnTo>
                  <a:pt x="5409" y="4160"/>
                </a:lnTo>
                <a:lnTo>
                  <a:pt x="6479" y="4359"/>
                </a:lnTo>
                <a:lnTo>
                  <a:pt x="7548" y="4624"/>
                </a:lnTo>
                <a:lnTo>
                  <a:pt x="7727" y="2569"/>
                </a:lnTo>
                <a:cubicBezTo>
                  <a:pt x="7823" y="1451"/>
                  <a:pt x="7878" y="437"/>
                  <a:pt x="7854" y="314"/>
                </a:cubicBezTo>
                <a:cubicBezTo>
                  <a:pt x="7805" y="59"/>
                  <a:pt x="728" y="-132"/>
                  <a:pt x="531" y="115"/>
                </a:cubicBezTo>
                <a:close/>
                <a:moveTo>
                  <a:pt x="10108" y="248"/>
                </a:moveTo>
                <a:cubicBezTo>
                  <a:pt x="9939" y="248"/>
                  <a:pt x="9917" y="374"/>
                  <a:pt x="9917" y="1375"/>
                </a:cubicBezTo>
                <a:cubicBezTo>
                  <a:pt x="9917" y="2648"/>
                  <a:pt x="9870" y="3024"/>
                  <a:pt x="9764" y="2569"/>
                </a:cubicBezTo>
                <a:cubicBezTo>
                  <a:pt x="9724" y="2393"/>
                  <a:pt x="9592" y="2221"/>
                  <a:pt x="9471" y="2171"/>
                </a:cubicBezTo>
                <a:cubicBezTo>
                  <a:pt x="9290" y="2094"/>
                  <a:pt x="9255" y="2220"/>
                  <a:pt x="9255" y="2768"/>
                </a:cubicBezTo>
                <a:cubicBezTo>
                  <a:pt x="9255" y="3159"/>
                  <a:pt x="9329" y="3569"/>
                  <a:pt x="9433" y="3829"/>
                </a:cubicBezTo>
                <a:cubicBezTo>
                  <a:pt x="9529" y="4069"/>
                  <a:pt x="9599" y="4571"/>
                  <a:pt x="9599" y="4890"/>
                </a:cubicBezTo>
                <a:cubicBezTo>
                  <a:pt x="9599" y="5208"/>
                  <a:pt x="9634" y="5603"/>
                  <a:pt x="9675" y="5818"/>
                </a:cubicBezTo>
                <a:cubicBezTo>
                  <a:pt x="9779" y="6357"/>
                  <a:pt x="9577" y="7572"/>
                  <a:pt x="9395" y="7476"/>
                </a:cubicBezTo>
                <a:cubicBezTo>
                  <a:pt x="9269" y="7409"/>
                  <a:pt x="9252" y="7607"/>
                  <a:pt x="9191" y="10526"/>
                </a:cubicBezTo>
                <a:cubicBezTo>
                  <a:pt x="9155" y="12258"/>
                  <a:pt x="9104" y="13881"/>
                  <a:pt x="9077" y="14107"/>
                </a:cubicBezTo>
                <a:cubicBezTo>
                  <a:pt x="9010" y="14665"/>
                  <a:pt x="8754" y="13834"/>
                  <a:pt x="8656" y="12715"/>
                </a:cubicBezTo>
                <a:cubicBezTo>
                  <a:pt x="8613" y="12218"/>
                  <a:pt x="8533" y="11852"/>
                  <a:pt x="8453" y="11852"/>
                </a:cubicBezTo>
                <a:cubicBezTo>
                  <a:pt x="8334" y="11852"/>
                  <a:pt x="8322" y="12055"/>
                  <a:pt x="8338" y="13378"/>
                </a:cubicBezTo>
                <a:cubicBezTo>
                  <a:pt x="8348" y="14218"/>
                  <a:pt x="8317" y="15010"/>
                  <a:pt x="8274" y="15234"/>
                </a:cubicBezTo>
                <a:cubicBezTo>
                  <a:pt x="8136" y="15954"/>
                  <a:pt x="8197" y="16498"/>
                  <a:pt x="8440" y="16693"/>
                </a:cubicBezTo>
                <a:cubicBezTo>
                  <a:pt x="8758" y="16950"/>
                  <a:pt x="9560" y="17828"/>
                  <a:pt x="9955" y="18351"/>
                </a:cubicBezTo>
                <a:cubicBezTo>
                  <a:pt x="10130" y="18583"/>
                  <a:pt x="10336" y="18792"/>
                  <a:pt x="10414" y="18815"/>
                </a:cubicBezTo>
                <a:cubicBezTo>
                  <a:pt x="10632" y="18880"/>
                  <a:pt x="11390" y="17486"/>
                  <a:pt x="11611" y="16627"/>
                </a:cubicBezTo>
                <a:cubicBezTo>
                  <a:pt x="11719" y="16206"/>
                  <a:pt x="11859" y="15831"/>
                  <a:pt x="11917" y="15831"/>
                </a:cubicBezTo>
                <a:cubicBezTo>
                  <a:pt x="12051" y="15831"/>
                  <a:pt x="12049" y="15300"/>
                  <a:pt x="11917" y="15036"/>
                </a:cubicBezTo>
                <a:cubicBezTo>
                  <a:pt x="11861" y="14925"/>
                  <a:pt x="11604" y="14837"/>
                  <a:pt x="11331" y="14837"/>
                </a:cubicBezTo>
                <a:cubicBezTo>
                  <a:pt x="10667" y="14837"/>
                  <a:pt x="10662" y="14791"/>
                  <a:pt x="10656" y="9730"/>
                </a:cubicBezTo>
                <a:lnTo>
                  <a:pt x="10643" y="5752"/>
                </a:lnTo>
                <a:lnTo>
                  <a:pt x="10452" y="5420"/>
                </a:lnTo>
                <a:cubicBezTo>
                  <a:pt x="10346" y="5238"/>
                  <a:pt x="10253" y="4939"/>
                  <a:pt x="10248" y="4757"/>
                </a:cubicBezTo>
                <a:cubicBezTo>
                  <a:pt x="10243" y="4575"/>
                  <a:pt x="10354" y="3784"/>
                  <a:pt x="10490" y="3033"/>
                </a:cubicBezTo>
                <a:cubicBezTo>
                  <a:pt x="10626" y="2281"/>
                  <a:pt x="10717" y="1503"/>
                  <a:pt x="10694" y="1309"/>
                </a:cubicBezTo>
                <a:cubicBezTo>
                  <a:pt x="10634" y="804"/>
                  <a:pt x="10327" y="248"/>
                  <a:pt x="10108" y="248"/>
                </a:cubicBezTo>
                <a:close/>
                <a:moveTo>
                  <a:pt x="15623" y="579"/>
                </a:moveTo>
                <a:cubicBezTo>
                  <a:pt x="15490" y="579"/>
                  <a:pt x="15474" y="819"/>
                  <a:pt x="15444" y="2966"/>
                </a:cubicBezTo>
                <a:cubicBezTo>
                  <a:pt x="15424" y="4459"/>
                  <a:pt x="15371" y="5501"/>
                  <a:pt x="15304" y="5884"/>
                </a:cubicBezTo>
                <a:cubicBezTo>
                  <a:pt x="15247" y="6213"/>
                  <a:pt x="15202" y="6545"/>
                  <a:pt x="15202" y="6680"/>
                </a:cubicBezTo>
                <a:cubicBezTo>
                  <a:pt x="15202" y="6815"/>
                  <a:pt x="15137" y="7409"/>
                  <a:pt x="15049" y="8006"/>
                </a:cubicBezTo>
                <a:cubicBezTo>
                  <a:pt x="14962" y="8604"/>
                  <a:pt x="14884" y="9470"/>
                  <a:pt x="14884" y="9863"/>
                </a:cubicBezTo>
                <a:cubicBezTo>
                  <a:pt x="14884" y="10438"/>
                  <a:pt x="14920" y="10526"/>
                  <a:pt x="15075" y="10526"/>
                </a:cubicBezTo>
                <a:cubicBezTo>
                  <a:pt x="15182" y="10526"/>
                  <a:pt x="15285" y="10731"/>
                  <a:pt x="15304" y="10990"/>
                </a:cubicBezTo>
                <a:cubicBezTo>
                  <a:pt x="15347" y="11568"/>
                  <a:pt x="15203" y="13130"/>
                  <a:pt x="15024" y="13975"/>
                </a:cubicBezTo>
                <a:cubicBezTo>
                  <a:pt x="14950" y="14321"/>
                  <a:pt x="14884" y="14943"/>
                  <a:pt x="14884" y="15301"/>
                </a:cubicBezTo>
                <a:cubicBezTo>
                  <a:pt x="14884" y="15841"/>
                  <a:pt x="14917" y="15877"/>
                  <a:pt x="15062" y="15699"/>
                </a:cubicBezTo>
                <a:cubicBezTo>
                  <a:pt x="15435" y="15242"/>
                  <a:pt x="15432" y="15211"/>
                  <a:pt x="15432" y="17158"/>
                </a:cubicBezTo>
                <a:cubicBezTo>
                  <a:pt x="15432" y="18876"/>
                  <a:pt x="15441" y="18986"/>
                  <a:pt x="15597" y="19081"/>
                </a:cubicBezTo>
                <a:cubicBezTo>
                  <a:pt x="15729" y="19160"/>
                  <a:pt x="15773" y="19023"/>
                  <a:pt x="15826" y="18285"/>
                </a:cubicBezTo>
                <a:cubicBezTo>
                  <a:pt x="15863" y="17774"/>
                  <a:pt x="15901" y="16789"/>
                  <a:pt x="15903" y="16097"/>
                </a:cubicBezTo>
                <a:cubicBezTo>
                  <a:pt x="15905" y="15404"/>
                  <a:pt x="15920" y="14681"/>
                  <a:pt x="15941" y="14505"/>
                </a:cubicBezTo>
                <a:cubicBezTo>
                  <a:pt x="15997" y="14033"/>
                  <a:pt x="16094" y="14452"/>
                  <a:pt x="16094" y="15168"/>
                </a:cubicBezTo>
                <a:cubicBezTo>
                  <a:pt x="16094" y="15552"/>
                  <a:pt x="16148" y="15832"/>
                  <a:pt x="16234" y="15898"/>
                </a:cubicBezTo>
                <a:cubicBezTo>
                  <a:pt x="16413" y="16034"/>
                  <a:pt x="16489" y="17447"/>
                  <a:pt x="16438" y="19744"/>
                </a:cubicBezTo>
                <a:cubicBezTo>
                  <a:pt x="16399" y="21444"/>
                  <a:pt x="16406" y="21468"/>
                  <a:pt x="16565" y="21468"/>
                </a:cubicBezTo>
                <a:cubicBezTo>
                  <a:pt x="16692" y="21468"/>
                  <a:pt x="16738" y="21265"/>
                  <a:pt x="16769" y="20540"/>
                </a:cubicBezTo>
                <a:cubicBezTo>
                  <a:pt x="16796" y="19888"/>
                  <a:pt x="16908" y="19251"/>
                  <a:pt x="17151" y="18418"/>
                </a:cubicBezTo>
                <a:lnTo>
                  <a:pt x="17495" y="17224"/>
                </a:lnTo>
                <a:lnTo>
                  <a:pt x="17928" y="18351"/>
                </a:lnTo>
                <a:cubicBezTo>
                  <a:pt x="18406" y="19607"/>
                  <a:pt x="18394" y="19608"/>
                  <a:pt x="18513" y="19213"/>
                </a:cubicBezTo>
                <a:cubicBezTo>
                  <a:pt x="18651" y="18760"/>
                  <a:pt x="18532" y="17636"/>
                  <a:pt x="18272" y="16826"/>
                </a:cubicBezTo>
                <a:cubicBezTo>
                  <a:pt x="17806" y="15377"/>
                  <a:pt x="17773" y="15069"/>
                  <a:pt x="17788" y="12715"/>
                </a:cubicBezTo>
                <a:cubicBezTo>
                  <a:pt x="17797" y="11112"/>
                  <a:pt x="17840" y="10330"/>
                  <a:pt x="17940" y="9664"/>
                </a:cubicBezTo>
                <a:cubicBezTo>
                  <a:pt x="18014" y="9175"/>
                  <a:pt x="18068" y="8437"/>
                  <a:pt x="18068" y="8006"/>
                </a:cubicBezTo>
                <a:cubicBezTo>
                  <a:pt x="18068" y="7360"/>
                  <a:pt x="18044" y="7211"/>
                  <a:pt x="17889" y="7211"/>
                </a:cubicBezTo>
                <a:cubicBezTo>
                  <a:pt x="17786" y="7211"/>
                  <a:pt x="17682" y="7357"/>
                  <a:pt x="17660" y="7542"/>
                </a:cubicBezTo>
                <a:cubicBezTo>
                  <a:pt x="17638" y="7727"/>
                  <a:pt x="17583" y="7795"/>
                  <a:pt x="17546" y="7675"/>
                </a:cubicBezTo>
                <a:cubicBezTo>
                  <a:pt x="17500" y="7528"/>
                  <a:pt x="17493" y="6398"/>
                  <a:pt x="17520" y="4226"/>
                </a:cubicBezTo>
                <a:cubicBezTo>
                  <a:pt x="17546" y="2166"/>
                  <a:pt x="17535" y="909"/>
                  <a:pt x="17495" y="778"/>
                </a:cubicBezTo>
                <a:cubicBezTo>
                  <a:pt x="17384" y="420"/>
                  <a:pt x="17184" y="931"/>
                  <a:pt x="17164" y="1640"/>
                </a:cubicBezTo>
                <a:cubicBezTo>
                  <a:pt x="17150" y="2094"/>
                  <a:pt x="17063" y="2470"/>
                  <a:pt x="16896" y="2768"/>
                </a:cubicBezTo>
                <a:cubicBezTo>
                  <a:pt x="16595" y="3305"/>
                  <a:pt x="16540" y="3177"/>
                  <a:pt x="16540" y="1905"/>
                </a:cubicBezTo>
                <a:cubicBezTo>
                  <a:pt x="16540" y="1100"/>
                  <a:pt x="16512" y="911"/>
                  <a:pt x="16387" y="911"/>
                </a:cubicBezTo>
                <a:cubicBezTo>
                  <a:pt x="16133" y="911"/>
                  <a:pt x="16056" y="1774"/>
                  <a:pt x="16145" y="3497"/>
                </a:cubicBezTo>
                <a:cubicBezTo>
                  <a:pt x="16201" y="4591"/>
                  <a:pt x="16209" y="5113"/>
                  <a:pt x="16157" y="5619"/>
                </a:cubicBezTo>
                <a:cubicBezTo>
                  <a:pt x="16046" y="6699"/>
                  <a:pt x="15909" y="5713"/>
                  <a:pt x="15877" y="3563"/>
                </a:cubicBezTo>
                <a:cubicBezTo>
                  <a:pt x="15842" y="1176"/>
                  <a:pt x="15796" y="579"/>
                  <a:pt x="15623" y="579"/>
                </a:cubicBezTo>
                <a:close/>
                <a:moveTo>
                  <a:pt x="13254" y="712"/>
                </a:moveTo>
                <a:cubicBezTo>
                  <a:pt x="12917" y="383"/>
                  <a:pt x="12559" y="2006"/>
                  <a:pt x="12795" y="2768"/>
                </a:cubicBezTo>
                <a:cubicBezTo>
                  <a:pt x="12832" y="2886"/>
                  <a:pt x="12846" y="3167"/>
                  <a:pt x="12834" y="3364"/>
                </a:cubicBezTo>
                <a:cubicBezTo>
                  <a:pt x="12800" y="3889"/>
                  <a:pt x="12528" y="3883"/>
                  <a:pt x="12490" y="3364"/>
                </a:cubicBezTo>
                <a:cubicBezTo>
                  <a:pt x="12443" y="2726"/>
                  <a:pt x="12067" y="2809"/>
                  <a:pt x="11904" y="3497"/>
                </a:cubicBezTo>
                <a:cubicBezTo>
                  <a:pt x="11736" y="4207"/>
                  <a:pt x="11600" y="8504"/>
                  <a:pt x="11713" y="9598"/>
                </a:cubicBezTo>
                <a:cubicBezTo>
                  <a:pt x="11819" y="10628"/>
                  <a:pt x="12215" y="10326"/>
                  <a:pt x="12324" y="9134"/>
                </a:cubicBezTo>
                <a:cubicBezTo>
                  <a:pt x="12421" y="8072"/>
                  <a:pt x="12512" y="8038"/>
                  <a:pt x="12719" y="8868"/>
                </a:cubicBezTo>
                <a:lnTo>
                  <a:pt x="12872" y="9465"/>
                </a:lnTo>
                <a:lnTo>
                  <a:pt x="12630" y="10990"/>
                </a:lnTo>
                <a:cubicBezTo>
                  <a:pt x="12438" y="12300"/>
                  <a:pt x="12419" y="12685"/>
                  <a:pt x="12477" y="13245"/>
                </a:cubicBezTo>
                <a:cubicBezTo>
                  <a:pt x="12532" y="13785"/>
                  <a:pt x="12520" y="14045"/>
                  <a:pt x="12413" y="14638"/>
                </a:cubicBezTo>
                <a:cubicBezTo>
                  <a:pt x="12340" y="15042"/>
                  <a:pt x="12273" y="15820"/>
                  <a:pt x="12273" y="16296"/>
                </a:cubicBezTo>
                <a:cubicBezTo>
                  <a:pt x="12273" y="17350"/>
                  <a:pt x="12552" y="19085"/>
                  <a:pt x="12744" y="19280"/>
                </a:cubicBezTo>
                <a:cubicBezTo>
                  <a:pt x="12822" y="19358"/>
                  <a:pt x="13025" y="19454"/>
                  <a:pt x="13203" y="19479"/>
                </a:cubicBezTo>
                <a:cubicBezTo>
                  <a:pt x="13524" y="19523"/>
                  <a:pt x="13534" y="19490"/>
                  <a:pt x="13954" y="17224"/>
                </a:cubicBezTo>
                <a:cubicBezTo>
                  <a:pt x="14188" y="15965"/>
                  <a:pt x="14374" y="14803"/>
                  <a:pt x="14374" y="14638"/>
                </a:cubicBezTo>
                <a:cubicBezTo>
                  <a:pt x="14374" y="13880"/>
                  <a:pt x="14191" y="13145"/>
                  <a:pt x="13929" y="12914"/>
                </a:cubicBezTo>
                <a:cubicBezTo>
                  <a:pt x="13690" y="12703"/>
                  <a:pt x="13642" y="12530"/>
                  <a:pt x="13623" y="11852"/>
                </a:cubicBezTo>
                <a:cubicBezTo>
                  <a:pt x="13611" y="11406"/>
                  <a:pt x="13547" y="10893"/>
                  <a:pt x="13483" y="10659"/>
                </a:cubicBezTo>
                <a:cubicBezTo>
                  <a:pt x="13380" y="10284"/>
                  <a:pt x="13383" y="10077"/>
                  <a:pt x="13458" y="9333"/>
                </a:cubicBezTo>
                <a:cubicBezTo>
                  <a:pt x="13556" y="8344"/>
                  <a:pt x="13891" y="7023"/>
                  <a:pt x="14362" y="5752"/>
                </a:cubicBezTo>
                <a:cubicBezTo>
                  <a:pt x="14930" y="4217"/>
                  <a:pt x="14780" y="2900"/>
                  <a:pt x="14031" y="2900"/>
                </a:cubicBezTo>
                <a:cubicBezTo>
                  <a:pt x="13621" y="2900"/>
                  <a:pt x="13611" y="2930"/>
                  <a:pt x="13547" y="1972"/>
                </a:cubicBezTo>
                <a:cubicBezTo>
                  <a:pt x="13496" y="1217"/>
                  <a:pt x="13421" y="875"/>
                  <a:pt x="13254" y="712"/>
                </a:cubicBezTo>
                <a:close/>
                <a:moveTo>
                  <a:pt x="19940" y="1242"/>
                </a:moveTo>
                <a:cubicBezTo>
                  <a:pt x="19804" y="1264"/>
                  <a:pt x="19629" y="1515"/>
                  <a:pt x="19481" y="1972"/>
                </a:cubicBezTo>
                <a:cubicBezTo>
                  <a:pt x="18580" y="4768"/>
                  <a:pt x="18433" y="5479"/>
                  <a:pt x="18361" y="7542"/>
                </a:cubicBezTo>
                <a:cubicBezTo>
                  <a:pt x="18329" y="8443"/>
                  <a:pt x="18348" y="8925"/>
                  <a:pt x="18450" y="9598"/>
                </a:cubicBezTo>
                <a:cubicBezTo>
                  <a:pt x="18522" y="10077"/>
                  <a:pt x="18576" y="10978"/>
                  <a:pt x="18577" y="11587"/>
                </a:cubicBezTo>
                <a:cubicBezTo>
                  <a:pt x="18580" y="12941"/>
                  <a:pt x="18933" y="15131"/>
                  <a:pt x="19201" y="15500"/>
                </a:cubicBezTo>
                <a:cubicBezTo>
                  <a:pt x="19321" y="15664"/>
                  <a:pt x="19411" y="16126"/>
                  <a:pt x="19481" y="16892"/>
                </a:cubicBezTo>
                <a:cubicBezTo>
                  <a:pt x="19628" y="18491"/>
                  <a:pt x="19715" y="18802"/>
                  <a:pt x="20080" y="18948"/>
                </a:cubicBezTo>
                <a:cubicBezTo>
                  <a:pt x="20719" y="19205"/>
                  <a:pt x="20787" y="19151"/>
                  <a:pt x="20908" y="18683"/>
                </a:cubicBezTo>
                <a:cubicBezTo>
                  <a:pt x="21020" y="18248"/>
                  <a:pt x="21025" y="18172"/>
                  <a:pt x="20933" y="17688"/>
                </a:cubicBezTo>
                <a:cubicBezTo>
                  <a:pt x="20875" y="17378"/>
                  <a:pt x="20662" y="17029"/>
                  <a:pt x="20424" y="16892"/>
                </a:cubicBezTo>
                <a:cubicBezTo>
                  <a:pt x="19929" y="16608"/>
                  <a:pt x="19851" y="15944"/>
                  <a:pt x="20195" y="14837"/>
                </a:cubicBezTo>
                <a:cubicBezTo>
                  <a:pt x="20319" y="14436"/>
                  <a:pt x="20424" y="14049"/>
                  <a:pt x="20424" y="13908"/>
                </a:cubicBezTo>
                <a:cubicBezTo>
                  <a:pt x="20424" y="13767"/>
                  <a:pt x="20526" y="12918"/>
                  <a:pt x="20653" y="12051"/>
                </a:cubicBezTo>
                <a:cubicBezTo>
                  <a:pt x="20900" y="10366"/>
                  <a:pt x="20890" y="10070"/>
                  <a:pt x="20551" y="9664"/>
                </a:cubicBezTo>
                <a:cubicBezTo>
                  <a:pt x="20227" y="9276"/>
                  <a:pt x="20236" y="9332"/>
                  <a:pt x="20322" y="7807"/>
                </a:cubicBezTo>
                <a:cubicBezTo>
                  <a:pt x="20397" y="6468"/>
                  <a:pt x="20409" y="6437"/>
                  <a:pt x="20615" y="6481"/>
                </a:cubicBezTo>
                <a:cubicBezTo>
                  <a:pt x="20736" y="6507"/>
                  <a:pt x="20963" y="6612"/>
                  <a:pt x="21112" y="6746"/>
                </a:cubicBezTo>
                <a:cubicBezTo>
                  <a:pt x="21444" y="7048"/>
                  <a:pt x="21570" y="6588"/>
                  <a:pt x="21570" y="5088"/>
                </a:cubicBezTo>
                <a:cubicBezTo>
                  <a:pt x="21570" y="3771"/>
                  <a:pt x="21466" y="3263"/>
                  <a:pt x="21137" y="3033"/>
                </a:cubicBezTo>
                <a:cubicBezTo>
                  <a:pt x="20903" y="2869"/>
                  <a:pt x="20296" y="3561"/>
                  <a:pt x="20029" y="4293"/>
                </a:cubicBezTo>
                <a:cubicBezTo>
                  <a:pt x="19853" y="4775"/>
                  <a:pt x="19846" y="4064"/>
                  <a:pt x="20016" y="3232"/>
                </a:cubicBezTo>
                <a:cubicBezTo>
                  <a:pt x="20103" y="2809"/>
                  <a:pt x="20169" y="2238"/>
                  <a:pt x="20169" y="1905"/>
                </a:cubicBezTo>
                <a:cubicBezTo>
                  <a:pt x="20169" y="1472"/>
                  <a:pt x="20076" y="1221"/>
                  <a:pt x="19940" y="1242"/>
                </a:cubicBezTo>
                <a:close/>
                <a:moveTo>
                  <a:pt x="13903" y="3696"/>
                </a:moveTo>
                <a:cubicBezTo>
                  <a:pt x="13992" y="3872"/>
                  <a:pt x="13957" y="4202"/>
                  <a:pt x="13687" y="5553"/>
                </a:cubicBezTo>
                <a:cubicBezTo>
                  <a:pt x="13371" y="7127"/>
                  <a:pt x="13102" y="7705"/>
                  <a:pt x="13012" y="6945"/>
                </a:cubicBezTo>
                <a:cubicBezTo>
                  <a:pt x="12973" y="6616"/>
                  <a:pt x="13270" y="5221"/>
                  <a:pt x="13381" y="5221"/>
                </a:cubicBezTo>
                <a:cubicBezTo>
                  <a:pt x="13418" y="5221"/>
                  <a:pt x="13527" y="4838"/>
                  <a:pt x="13623" y="4359"/>
                </a:cubicBezTo>
                <a:cubicBezTo>
                  <a:pt x="13736" y="3794"/>
                  <a:pt x="13833" y="3556"/>
                  <a:pt x="13903" y="3696"/>
                </a:cubicBezTo>
                <a:close/>
                <a:moveTo>
                  <a:pt x="16043" y="10128"/>
                </a:moveTo>
                <a:cubicBezTo>
                  <a:pt x="16104" y="10444"/>
                  <a:pt x="16094" y="10653"/>
                  <a:pt x="16030" y="11057"/>
                </a:cubicBezTo>
                <a:cubicBezTo>
                  <a:pt x="15872" y="12048"/>
                  <a:pt x="15730" y="11364"/>
                  <a:pt x="15877" y="10327"/>
                </a:cubicBezTo>
                <a:cubicBezTo>
                  <a:pt x="15947" y="9835"/>
                  <a:pt x="15982" y="9815"/>
                  <a:pt x="16043" y="10128"/>
                </a:cubicBezTo>
                <a:close/>
              </a:path>
            </a:pathLst>
          </a:custGeom>
          <a:ln w="12700">
            <a:noFill/>
            <a:miter lim="400000"/>
          </a:ln>
        </p:spPr>
      </p:pic>
      <p:pic>
        <p:nvPicPr>
          <p:cNvPr id="5169" name="图像" descr="图像">
            <a:extLst>
              <a:ext uri="{FF2B5EF4-FFF2-40B4-BE49-F238E27FC236}">
                <a16:creationId xmlns:a16="http://schemas.microsoft.com/office/drawing/2014/main" id="{E00FCCC2-04E9-25E7-04F6-1208DAA73F71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0687657" y="1949176"/>
            <a:ext cx="353168" cy="278120"/>
          </a:xfrm>
          <a:prstGeom prst="rect">
            <a:avLst/>
          </a:prstGeom>
          <a:ln w="12700">
            <a:noFill/>
            <a:miter lim="400000"/>
          </a:ln>
        </p:spPr>
      </p:pic>
      <p:pic>
        <p:nvPicPr>
          <p:cNvPr id="5170" name="图片 5169">
            <a:extLst>
              <a:ext uri="{FF2B5EF4-FFF2-40B4-BE49-F238E27FC236}">
                <a16:creationId xmlns:a16="http://schemas.microsoft.com/office/drawing/2014/main" id="{164921AF-4C84-1541-01D3-0DEF3326F29A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BEBA8EAE-BF5A-486C-A8C5-ECC9F3942E4B}">
                <a14:imgProps xmlns:a14="http://schemas.microsoft.com/office/drawing/2010/main">
                  <a14:imgLayer r:embed="rId41">
                    <a14:imgEffect>
                      <a14:backgroundRemoval t="10000" b="90000" l="10000" r="90000">
                        <a14:foregroundMark x1="34286" y1="64516" x2="34286" y2="64516"/>
                        <a14:foregroundMark x1="24762" y1="83871" x2="24762" y2="83871"/>
                        <a14:foregroundMark x1="33095" y1="81505" x2="33095" y2="81505"/>
                        <a14:foregroundMark x1="55000" y1="75269" x2="55000" y2="75269"/>
                        <a14:foregroundMark x1="78571" y1="75699" x2="78571" y2="756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54425" y="2349774"/>
            <a:ext cx="304385" cy="336998"/>
          </a:xfrm>
          <a:prstGeom prst="rect">
            <a:avLst/>
          </a:prstGeom>
          <a:ln>
            <a:noFill/>
          </a:ln>
        </p:spPr>
      </p:pic>
      <p:pic>
        <p:nvPicPr>
          <p:cNvPr id="5174" name="图像" descr="图像">
            <a:extLst>
              <a:ext uri="{FF2B5EF4-FFF2-40B4-BE49-F238E27FC236}">
                <a16:creationId xmlns:a16="http://schemas.microsoft.com/office/drawing/2014/main" id="{E2CCDFCC-F613-BE03-F67B-4B1994BFB8C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55295" y="1915878"/>
            <a:ext cx="365049" cy="290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81" name="图像" descr="图像">
            <a:extLst>
              <a:ext uri="{FF2B5EF4-FFF2-40B4-BE49-F238E27FC236}">
                <a16:creationId xmlns:a16="http://schemas.microsoft.com/office/drawing/2014/main" id="{8DCA4ED4-666E-991B-D119-16B6D1898064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2542610" y="2008362"/>
            <a:ext cx="497769" cy="14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5182" name="图片 5181">
            <a:extLst>
              <a:ext uri="{FF2B5EF4-FFF2-40B4-BE49-F238E27FC236}">
                <a16:creationId xmlns:a16="http://schemas.microsoft.com/office/drawing/2014/main" id="{F94D62F6-26D5-880C-AF8E-682DE8566B59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59306" y="1998541"/>
            <a:ext cx="330283" cy="167131"/>
          </a:xfrm>
          <a:prstGeom prst="rect">
            <a:avLst/>
          </a:prstGeom>
        </p:spPr>
      </p:pic>
      <p:pic>
        <p:nvPicPr>
          <p:cNvPr id="5183" name="图片 5182">
            <a:extLst>
              <a:ext uri="{FF2B5EF4-FFF2-40B4-BE49-F238E27FC236}">
                <a16:creationId xmlns:a16="http://schemas.microsoft.com/office/drawing/2014/main" id="{3C8D45DF-7F01-8F77-E649-D0A6ADBE31EC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26529" y="2390946"/>
            <a:ext cx="429418" cy="254655"/>
          </a:xfrm>
          <a:prstGeom prst="rect">
            <a:avLst/>
          </a:prstGeom>
        </p:spPr>
      </p:pic>
      <p:pic>
        <p:nvPicPr>
          <p:cNvPr id="2051" name="图像" descr="图像">
            <a:extLst>
              <a:ext uri="{FF2B5EF4-FFF2-40B4-BE49-F238E27FC236}">
                <a16:creationId xmlns:a16="http://schemas.microsoft.com/office/drawing/2014/main" id="{22DC784D-0AFE-4F9D-8C45-1076FCB60FF1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BEBA8EAE-BF5A-486C-A8C5-ECC9F3942E4B}">
                <a14:imgProps xmlns:a14="http://schemas.microsoft.com/office/drawing/2010/main">
                  <a14:imgLayer r:embed="rId48">
                    <a14:imgEffect>
                      <a14:backgroundRemoval t="4000" b="94667" l="4000" r="92000">
                        <a14:foregroundMark x1="21333" y1="26667" x2="21333" y2="26667"/>
                        <a14:foregroundMark x1="20000" y1="25333" x2="20000" y2="25333"/>
                        <a14:foregroundMark x1="16000" y1="40000" x2="16000" y2="40000"/>
                        <a14:foregroundMark x1="24000" y1="58667" x2="25333" y2="60000"/>
                        <a14:foregroundMark x1="33333" y1="66667" x2="33333" y2="66667"/>
                        <a14:foregroundMark x1="29333" y1="68000" x2="25333" y2="69333"/>
                        <a14:foregroundMark x1="18667" y1="69333" x2="18667" y2="69333"/>
                        <a14:foregroundMark x1="6667" y1="88000" x2="6667" y2="88000"/>
                        <a14:foregroundMark x1="16000" y1="89333" x2="16000" y2="89333"/>
                        <a14:foregroundMark x1="25333" y1="94667" x2="25333" y2="94667"/>
                        <a14:foregroundMark x1="42667" y1="88000" x2="42667" y2="88000"/>
                        <a14:foregroundMark x1="54667" y1="89333" x2="54667" y2="89333"/>
                        <a14:foregroundMark x1="61333" y1="86667" x2="61333" y2="86667"/>
                        <a14:foregroundMark x1="78667" y1="88000" x2="78667" y2="88000"/>
                        <a14:foregroundMark x1="88000" y1="90667" x2="88000" y2="90667"/>
                        <a14:foregroundMark x1="86667" y1="88000" x2="86667" y2="88000"/>
                        <a14:foregroundMark x1="93333" y1="88000" x2="93333" y2="88000"/>
                        <a14:foregroundMark x1="40000" y1="8000" x2="40000" y2="8000"/>
                        <a14:foregroundMark x1="44000" y1="5333" x2="44000" y2="5333"/>
                        <a14:foregroundMark x1="93333" y1="45333" x2="93333" y2="45333"/>
                        <a14:foregroundMark x1="77333" y1="69333" x2="77333" y2="69333"/>
                        <a14:foregroundMark x1="73333" y1="74667" x2="73333" y2="74667"/>
                        <a14:foregroundMark x1="78667" y1="72000" x2="78667" y2="72000"/>
                        <a14:foregroundMark x1="4000" y1="46667" x2="4000" y2="46667"/>
                        <a14:foregroundMark x1="12000" y1="45333" x2="12000" y2="45333"/>
                        <a14:foregroundMark x1="8000" y1="41333" x2="8000" y2="41333"/>
                        <a14:foregroundMark x1="17333" y1="25333" x2="17333" y2="25333"/>
                        <a14:foregroundMark x1="33333" y1="13333" x2="33333" y2="13333"/>
                        <a14:foregroundMark x1="85333" y1="82667" x2="85333" y2="82667"/>
                        <a14:foregroundMark x1="69333" y1="90667" x2="69333" y2="90667"/>
                        <a14:foregroundMark x1="21333" y1="86667" x2="21333" y2="86667"/>
                        <a14:foregroundMark x1="22667" y1="81333" x2="22667" y2="81333"/>
                        <a14:foregroundMark x1="12000" y1="88000" x2="12000" y2="88000"/>
                        <a14:backgroundMark x1="50667" y1="5333" x2="50667" y2="5333"/>
                        <a14:backgroundMark x1="50667" y1="77333" x2="50667" y2="77333"/>
                        <a14:backgroundMark x1="54667" y1="68000" x2="54667" y2="68000"/>
                        <a14:backgroundMark x1="46667" y1="62667" x2="46667" y2="62667"/>
                        <a14:backgroundMark x1="50667" y1="61333" x2="50667" y2="61333"/>
                        <a14:backgroundMark x1="54667" y1="62667" x2="54667" y2="62667"/>
                        <a14:backgroundMark x1="54667" y1="64000" x2="54667" y2="64000"/>
                        <a14:backgroundMark x1="54667" y1="64000" x2="54667" y2="64000"/>
                        <a14:backgroundMark x1="18667" y1="96000" x2="18667" y2="96000"/>
                        <a14:backgroundMark x1="89333" y1="85333" x2="89333" y2="85333"/>
                        <a14:backgroundMark x1="89333" y1="90667" x2="89333" y2="90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32763" y="2387895"/>
            <a:ext cx="283103" cy="283103"/>
          </a:xfrm>
          <a:prstGeom prst="rect">
            <a:avLst/>
          </a:prstGeom>
          <a:ln w="12700">
            <a:miter lim="400000"/>
          </a:ln>
        </p:spPr>
      </p:pic>
      <p:sp>
        <p:nvSpPr>
          <p:cNvPr id="2053" name="Rectangle 8">
            <a:extLst>
              <a:ext uri="{FF2B5EF4-FFF2-40B4-BE49-F238E27FC236}">
                <a16:creationId xmlns:a16="http://schemas.microsoft.com/office/drawing/2014/main" id="{AB76D570-7A7E-99D3-2B00-69317ED90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4777" y="165201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>
                <a:solidFill>
                  <a:srgbClr val="000000"/>
                </a:solidFill>
                <a:cs typeface="+mn-ea"/>
                <a:sym typeface="+mn-lt"/>
              </a:rPr>
              <a:t>Switch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2054" name="Rectangle 8">
            <a:extLst>
              <a:ext uri="{FF2B5EF4-FFF2-40B4-BE49-F238E27FC236}">
                <a16:creationId xmlns:a16="http://schemas.microsoft.com/office/drawing/2014/main" id="{CB571324-110E-7038-BD3E-35FB3F093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81293" y="1652010"/>
            <a:ext cx="1427951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>
                <a:solidFill>
                  <a:srgbClr val="000000"/>
                </a:solidFill>
                <a:cs typeface="+mn-ea"/>
                <a:sym typeface="+mn-lt"/>
              </a:rPr>
              <a:t>Assembly and Test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2056" name="图片 2055">
            <a:extLst>
              <a:ext uri="{FF2B5EF4-FFF2-40B4-BE49-F238E27FC236}">
                <a16:creationId xmlns:a16="http://schemas.microsoft.com/office/drawing/2014/main" id="{58382158-5C75-DD26-FAFC-F73BF653BA33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BEBA8EAE-BF5A-486C-A8C5-ECC9F3942E4B}">
                <a14:imgProps xmlns:a14="http://schemas.microsoft.com/office/drawing/2010/main">
                  <a14:imgLayer r:embed="rId50">
                    <a14:imgEffect>
                      <a14:backgroundRemoval t="9877" b="89877" l="4526" r="96264">
                        <a14:foregroundMark x1="7687" y1="61235" x2="7687" y2="61235"/>
                        <a14:foregroundMark x1="4526" y1="76296" x2="4526" y2="76296"/>
                        <a14:foregroundMark x1="44684" y1="62469" x2="44684" y2="62469"/>
                        <a14:foregroundMark x1="52514" y1="56790" x2="52514" y2="56790"/>
                        <a14:foregroundMark x1="73635" y1="59753" x2="73635" y2="59753"/>
                        <a14:foregroundMark x1="83190" y1="63951" x2="83190" y2="63951"/>
                        <a14:foregroundMark x1="92888" y1="64198" x2="92888" y2="64198"/>
                        <a14:foregroundMark x1="96264" y1="79259" x2="96264" y2="79259"/>
                      </a14:backgroundRemoval>
                    </a14:imgEffect>
                  </a14:imgLayer>
                </a14:imgProps>
              </a:ext>
            </a:extLst>
          </a:blip>
          <a:srcRect t="23167" b="11856"/>
          <a:stretch/>
        </p:blipFill>
        <p:spPr>
          <a:xfrm>
            <a:off x="10022926" y="2037197"/>
            <a:ext cx="475097" cy="89818"/>
          </a:xfrm>
          <a:prstGeom prst="rect">
            <a:avLst/>
          </a:prstGeom>
        </p:spPr>
      </p:pic>
      <p:sp>
        <p:nvSpPr>
          <p:cNvPr id="2058" name="Rectangle 8">
            <a:extLst>
              <a:ext uri="{FF2B5EF4-FFF2-40B4-BE49-F238E27FC236}">
                <a16:creationId xmlns:a16="http://schemas.microsoft.com/office/drawing/2014/main" id="{2137F4A7-010E-E86A-CB33-ED2C7C50C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4777" y="2745084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000" b="1" dirty="0">
                <a:solidFill>
                  <a:srgbClr val="000000"/>
                </a:solidFill>
                <a:cs typeface="+mn-ea"/>
                <a:sym typeface="+mn-lt"/>
              </a:rPr>
              <a:t>光模块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2060" name="图片 2059">
            <a:extLst>
              <a:ext uri="{FF2B5EF4-FFF2-40B4-BE49-F238E27FC236}">
                <a16:creationId xmlns:a16="http://schemas.microsoft.com/office/drawing/2014/main" id="{5BAE109B-32DF-2CFA-ACD4-1A27319F2994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BEBA8EAE-BF5A-486C-A8C5-ECC9F3942E4B}">
                <a14:imgProps xmlns:a14="http://schemas.microsoft.com/office/drawing/2010/main">
                  <a14:imgLayer r:embed="rId52">
                    <a14:imgEffect>
                      <a14:backgroundRemoval t="9644" b="94969" l="4716" r="93685">
                        <a14:foregroundMark x1="13909" y1="24319" x2="13909" y2="24319"/>
                        <a14:foregroundMark x1="13030" y1="75681" x2="13030" y2="75681"/>
                        <a14:foregroundMark x1="4956" y1="28721" x2="4956" y2="28721"/>
                        <a14:foregroundMark x1="8633" y1="95178" x2="8633" y2="95178"/>
                        <a14:foregroundMark x1="27978" y1="91824" x2="27978" y2="91824"/>
                        <a14:foregroundMark x1="29257" y1="30608" x2="29257" y2="30608"/>
                        <a14:foregroundMark x1="39408" y1="53669" x2="39408" y2="53669"/>
                        <a14:foregroundMark x1="45484" y1="53669" x2="45484" y2="53669"/>
                        <a14:foregroundMark x1="56914" y1="40671" x2="56914" y2="40671"/>
                        <a14:foregroundMark x1="62110" y1="40042" x2="62110" y2="40042"/>
                        <a14:foregroundMark x1="63389" y1="48008" x2="63389" y2="48008"/>
                        <a14:foregroundMark x1="59313" y1="62055" x2="59313" y2="62055"/>
                        <a14:foregroundMark x1="65388" y1="57023" x2="65388" y2="57023"/>
                        <a14:foregroundMark x1="69305" y1="49057" x2="69305" y2="49057"/>
                        <a14:foregroundMark x1="75140" y1="44444" x2="75140" y2="44444"/>
                        <a14:foregroundMark x1="83133" y1="42767" x2="83133" y2="42767"/>
                        <a14:foregroundMark x1="91287" y1="46960" x2="91287" y2="46960"/>
                        <a14:foregroundMark x1="93685" y1="44025" x2="93685" y2="44025"/>
                        <a14:foregroundMark x1="40288" y1="80503" x2="40288" y2="80503"/>
                        <a14:foregroundMark x1="45004" y1="80922" x2="45004" y2="80922"/>
                        <a14:foregroundMark x1="47162" y1="77568" x2="47162" y2="77568"/>
                        <a14:foregroundMark x1="53477" y1="83229" x2="53477" y2="83229"/>
                        <a14:foregroundMark x1="54756" y1="81971" x2="54756" y2="81971"/>
                        <a14:foregroundMark x1="60592" y1="81342" x2="60592" y2="81342"/>
                        <a14:foregroundMark x1="62270" y1="79874" x2="62270" y2="79874"/>
                        <a14:foregroundMark x1="64908" y1="84277" x2="64908" y2="84277"/>
                        <a14:foregroundMark x1="66906" y1="80922" x2="66906" y2="80922"/>
                        <a14:foregroundMark x1="71223" y1="79874" x2="71223" y2="79874"/>
                        <a14:foregroundMark x1="74820" y1="80922" x2="74820" y2="80922"/>
                        <a14:foregroundMark x1="79217" y1="81551" x2="79217" y2="81551"/>
                        <a14:foregroundMark x1="82414" y1="81342" x2="82414" y2="81342"/>
                        <a14:foregroundMark x1="83933" y1="80922" x2="83933" y2="80922"/>
                        <a14:foregroundMark x1="89369" y1="80922" x2="89369" y2="80922"/>
                        <a14:foregroundMark x1="92646" y1="77358" x2="92646" y2="77358"/>
                        <a14:foregroundMark x1="20783" y1="29350" x2="20783" y2="293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02064" y="5021993"/>
            <a:ext cx="431753" cy="164625"/>
          </a:xfrm>
          <a:prstGeom prst="rect">
            <a:avLst/>
          </a:prstGeom>
        </p:spPr>
      </p:pic>
      <p:pic>
        <p:nvPicPr>
          <p:cNvPr id="3074" name="Picture 2" descr="新易盛公司简介,成都新易盛通信技术股份有限公司企业概况_赢家财富网">
            <a:extLst>
              <a:ext uri="{FF2B5EF4-FFF2-40B4-BE49-F238E27FC236}">
                <a16:creationId xmlns:a16="http://schemas.microsoft.com/office/drawing/2014/main" id="{96190A70-1AB2-1B66-22BC-1684BE0861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3" cstate="print">
            <a:extLst>
              <a:ext uri="{BEBA8EAE-BF5A-486C-A8C5-ECC9F3942E4B}">
                <a14:imgProps xmlns:a14="http://schemas.microsoft.com/office/drawing/2010/main">
                  <a14:imgLayer r:embed="rId54">
                    <a14:imgEffect>
                      <a14:backgroundRemoval t="10000" b="90000" l="10000" r="90000">
                        <a14:foregroundMark x1="46000" y1="56522" x2="46000" y2="56522"/>
                        <a14:foregroundMark x1="54000" y1="56522" x2="54000" y2="56522"/>
                        <a14:foregroundMark x1="59000" y1="54348" x2="59000" y2="54348"/>
                        <a14:foregroundMark x1="67500" y1="51087" x2="67500" y2="51087"/>
                        <a14:foregroundMark x1="72000" y1="51087" x2="72000" y2="51087"/>
                        <a14:foregroundMark x1="73000" y1="36957" x2="73000" y2="36957"/>
                        <a14:foregroundMark x1="76000" y1="52174" x2="76000" y2="52174"/>
                        <a14:foregroundMark x1="86000" y1="51087" x2="86000" y2="51087"/>
                        <a14:foregroundMark x1="28000" y1="51087" x2="28000" y2="51087"/>
                        <a14:foregroundMark x1="82014" y1="51563" x2="82014" y2="515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2638" y="2946742"/>
            <a:ext cx="703555" cy="323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3454100-9BA5-4893-EDD3-9B400AAE5A3F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BEBA8EAE-BF5A-486C-A8C5-ECC9F3942E4B}">
                <a14:imgProps xmlns:a14="http://schemas.microsoft.com/office/drawing/2010/main">
                  <a14:imgLayer r:embed="rId56">
                    <a14:imgEffect>
                      <a14:backgroundRemoval t="9524" b="89418" l="5774" r="98730">
                        <a14:foregroundMark x1="9469" y1="35979" x2="9469" y2="35979"/>
                        <a14:foregroundMark x1="9584" y1="45503" x2="9584" y2="45503"/>
                        <a14:foregroundMark x1="7275" y1="66667" x2="7275" y2="66667"/>
                        <a14:foregroundMark x1="5889" y1="81481" x2="5889" y2="81481"/>
                        <a14:foregroundMark x1="12009" y1="65079" x2="12009" y2="65079"/>
                        <a14:foregroundMark x1="12125" y1="61376" x2="12125" y2="61376"/>
                        <a14:foregroundMark x1="23095" y1="46032" x2="23095" y2="46032"/>
                        <a14:foregroundMark x1="33025" y1="43915" x2="33025" y2="43915"/>
                        <a14:foregroundMark x1="46189" y1="53968" x2="46189" y2="53968"/>
                        <a14:foregroundMark x1="59238" y1="51852" x2="59238" y2="51852"/>
                        <a14:foregroundMark x1="63279" y1="54497" x2="63279" y2="54497"/>
                        <a14:foregroundMark x1="65589" y1="21164" x2="65589" y2="21164"/>
                        <a14:foregroundMark x1="85912" y1="46561" x2="85912" y2="46561"/>
                        <a14:foregroundMark x1="94342" y1="75661" x2="94342" y2="75661"/>
                        <a14:foregroundMark x1="98730" y1="24339" x2="98730" y2="243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76936" y="5387275"/>
            <a:ext cx="488440" cy="106599"/>
          </a:xfrm>
          <a:prstGeom prst="rect">
            <a:avLst/>
          </a:prstGeom>
        </p:spPr>
      </p:pic>
      <p:pic>
        <p:nvPicPr>
          <p:cNvPr id="1026" name="Picture 2" descr="华工科技新logo">
            <a:extLst>
              <a:ext uri="{FF2B5EF4-FFF2-40B4-BE49-F238E27FC236}">
                <a16:creationId xmlns:a16="http://schemas.microsoft.com/office/drawing/2014/main" id="{6FDCB53A-A7CB-0E2B-769C-9ECF7D4D4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7294" y="5315246"/>
            <a:ext cx="286340" cy="250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999D57D4-FC54-8270-1BC8-77C76A3973B8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BEBA8EAE-BF5A-486C-A8C5-ECC9F3942E4B}">
                <a14:imgProps xmlns:a14="http://schemas.microsoft.com/office/drawing/2010/main">
                  <a14:imgLayer r:embed="rId59">
                    <a14:imgEffect>
                      <a14:backgroundRemoval t="9211" b="93860" l="9705" r="89873">
                        <a14:foregroundMark x1="31224" y1="49561" x2="31224" y2="49561"/>
                        <a14:foregroundMark x1="45992" y1="53947" x2="45992" y2="53947"/>
                        <a14:foregroundMark x1="35021" y1="26754" x2="35021" y2="26754"/>
                        <a14:foregroundMark x1="29114" y1="39912" x2="33333" y2="57895"/>
                        <a14:foregroundMark x1="51055" y1="41228" x2="30380" y2="65351"/>
                        <a14:foregroundMark x1="30380" y1="65351" x2="11814" y2="57018"/>
                        <a14:foregroundMark x1="16456" y1="63158" x2="40506" y2="65351"/>
                        <a14:foregroundMark x1="41772" y1="66667" x2="20675" y2="70614"/>
                        <a14:foregroundMark x1="20675" y1="70614" x2="18987" y2="67544"/>
                        <a14:foregroundMark x1="32489" y1="35965" x2="35443" y2="44298"/>
                        <a14:foregroundMark x1="73840" y1="35088" x2="56118" y2="63158"/>
                        <a14:foregroundMark x1="56118" y1="63158" x2="43882" y2="70175"/>
                        <a14:foregroundMark x1="81013" y1="35965" x2="56962" y2="82456"/>
                        <a14:foregroundMark x1="35865" y1="91228" x2="58650" y2="90789"/>
                        <a14:foregroundMark x1="58650" y1="90789" x2="60759" y2="89912"/>
                        <a14:foregroundMark x1="59072" y1="92544" x2="43038" y2="94298"/>
                        <a14:foregroundMark x1="86920" y1="47368" x2="86498" y2="58333"/>
                        <a14:foregroundMark x1="89873" y1="46930" x2="88608" y2="570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4652" y="5624797"/>
            <a:ext cx="258970" cy="249135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19779D92-1B6A-1F80-BE54-4D2F2E922BA3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BEBA8EAE-BF5A-486C-A8C5-ECC9F3942E4B}">
                <a14:imgProps xmlns:a14="http://schemas.microsoft.com/office/drawing/2010/main">
                  <a14:imgLayer r:embed="rId56">
                    <a14:imgEffect>
                      <a14:backgroundRemoval t="9524" b="89418" l="5774" r="98730">
                        <a14:foregroundMark x1="9469" y1="35979" x2="9469" y2="35979"/>
                        <a14:foregroundMark x1="9584" y1="45503" x2="9584" y2="45503"/>
                        <a14:foregroundMark x1="7275" y1="66667" x2="7275" y2="66667"/>
                        <a14:foregroundMark x1="5889" y1="81481" x2="5889" y2="81481"/>
                        <a14:foregroundMark x1="12009" y1="65079" x2="12009" y2="65079"/>
                        <a14:foregroundMark x1="12125" y1="61376" x2="12125" y2="61376"/>
                        <a14:foregroundMark x1="23095" y1="46032" x2="23095" y2="46032"/>
                        <a14:foregroundMark x1="33025" y1="43915" x2="33025" y2="43915"/>
                        <a14:foregroundMark x1="46189" y1="53968" x2="46189" y2="53968"/>
                        <a14:foregroundMark x1="59238" y1="51852" x2="59238" y2="51852"/>
                        <a14:foregroundMark x1="63279" y1="54497" x2="63279" y2="54497"/>
                        <a14:foregroundMark x1="65589" y1="21164" x2="65589" y2="21164"/>
                        <a14:foregroundMark x1="85912" y1="46561" x2="85912" y2="46561"/>
                        <a14:foregroundMark x1="94342" y1="75661" x2="94342" y2="75661"/>
                        <a14:foregroundMark x1="98730" y1="24339" x2="98730" y2="243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5051006"/>
            <a:ext cx="488440" cy="106599"/>
          </a:xfrm>
          <a:prstGeom prst="rect">
            <a:avLst/>
          </a:prstGeom>
        </p:spPr>
      </p:pic>
      <p:pic>
        <p:nvPicPr>
          <p:cNvPr id="29" name="Picture 2" descr="新易盛公司简介,成都新易盛通信技术股份有限公司企业概况_赢家财富网">
            <a:extLst>
              <a:ext uri="{FF2B5EF4-FFF2-40B4-BE49-F238E27FC236}">
                <a16:creationId xmlns:a16="http://schemas.microsoft.com/office/drawing/2014/main" id="{0A2AA8AB-F8BF-9D34-A770-E73AD8708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3" cstate="print">
            <a:extLst>
              <a:ext uri="{BEBA8EAE-BF5A-486C-A8C5-ECC9F3942E4B}">
                <a14:imgProps xmlns:a14="http://schemas.microsoft.com/office/drawing/2010/main">
                  <a14:imgLayer r:embed="rId54">
                    <a14:imgEffect>
                      <a14:backgroundRemoval t="10000" b="90000" l="10000" r="90000">
                        <a14:foregroundMark x1="46000" y1="56522" x2="46000" y2="56522"/>
                        <a14:foregroundMark x1="54000" y1="56522" x2="54000" y2="56522"/>
                        <a14:foregroundMark x1="59000" y1="54348" x2="59000" y2="54348"/>
                        <a14:foregroundMark x1="67500" y1="51087" x2="67500" y2="51087"/>
                        <a14:foregroundMark x1="72000" y1="51087" x2="72000" y2="51087"/>
                        <a14:foregroundMark x1="73000" y1="36957" x2="73000" y2="36957"/>
                        <a14:foregroundMark x1="76000" y1="52174" x2="76000" y2="52174"/>
                        <a14:foregroundMark x1="86000" y1="51087" x2="86000" y2="51087"/>
                        <a14:foregroundMark x1="28000" y1="51087" x2="28000" y2="51087"/>
                        <a14:foregroundMark x1="82014" y1="51563" x2="82014" y2="515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6099" y="4971632"/>
            <a:ext cx="576840" cy="265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023881A7-8311-2493-7548-881113B0829E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6410" b="89744" l="5067" r="94133">
                        <a14:foregroundMark x1="5333" y1="60256" x2="5333" y2="60256"/>
                        <a14:foregroundMark x1="12267" y1="61538" x2="12267" y2="61538"/>
                        <a14:foregroundMark x1="17067" y1="56410" x2="17067" y2="56410"/>
                        <a14:foregroundMark x1="28000" y1="52564" x2="28000" y2="52564"/>
                        <a14:foregroundMark x1="39467" y1="48718" x2="39467" y2="48718"/>
                        <a14:foregroundMark x1="57867" y1="53846" x2="57867" y2="53846"/>
                        <a14:foregroundMark x1="68267" y1="41026" x2="68267" y2="41026"/>
                        <a14:foregroundMark x1="77067" y1="37179" x2="77067" y2="37179"/>
                        <a14:foregroundMark x1="82667" y1="41026" x2="82667" y2="41026"/>
                        <a14:foregroundMark x1="91200" y1="53846" x2="91200" y2="53846"/>
                        <a14:foregroundMark x1="94133" y1="56410" x2="94133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9846" y="4217809"/>
            <a:ext cx="662345" cy="137768"/>
          </a:xfrm>
          <a:prstGeom prst="rect">
            <a:avLst/>
          </a:prstGeom>
        </p:spPr>
      </p:pic>
      <p:sp>
        <p:nvSpPr>
          <p:cNvPr id="32" name="Rectangle 8">
            <a:extLst>
              <a:ext uri="{FF2B5EF4-FFF2-40B4-BE49-F238E27FC236}">
                <a16:creationId xmlns:a16="http://schemas.microsoft.com/office/drawing/2014/main" id="{DA796DC7-A8A4-F708-856A-D9A34A572A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4802" y="165201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 err="1">
                <a:solidFill>
                  <a:srgbClr val="000000"/>
                </a:solidFill>
                <a:cs typeface="+mn-ea"/>
                <a:sym typeface="+mn-lt"/>
              </a:rPr>
              <a:t>SiPh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35" name="Rectangle 8">
            <a:extLst>
              <a:ext uri="{FF2B5EF4-FFF2-40B4-BE49-F238E27FC236}">
                <a16:creationId xmlns:a16="http://schemas.microsoft.com/office/drawing/2014/main" id="{089977CC-37C7-06F8-7BBE-3902792D9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5179" y="165201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>
                <a:solidFill>
                  <a:srgbClr val="000000"/>
                </a:solidFill>
                <a:cs typeface="+mn-ea"/>
                <a:sym typeface="+mn-lt"/>
              </a:rPr>
              <a:t>Laser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52E40F41-9D6F-B7FC-2630-6E62942D4FEE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BEBA8EAE-BF5A-486C-A8C5-ECC9F3942E4B}">
                <a14:imgProps xmlns:a14="http://schemas.microsoft.com/office/drawing/2010/main">
                  <a14:imgLayer r:embed="rId61">
                    <a14:imgEffect>
                      <a14:backgroundRemoval t="9916" b="89662" l="9948" r="97120">
                        <a14:foregroundMark x1="15576" y1="59283" x2="15576" y2="59283"/>
                        <a14:foregroundMark x1="23517" y1="62025" x2="23517" y2="62025"/>
                        <a14:foregroundMark x1="48647" y1="68354" x2="48647" y2="68354"/>
                        <a14:foregroundMark x1="58202" y1="54219" x2="58202" y2="54219"/>
                        <a14:foregroundMark x1="71946" y1="50422" x2="71946" y2="50422"/>
                        <a14:foregroundMark x1="78054" y1="58017" x2="78054" y2="58017"/>
                        <a14:foregroundMark x1="91579" y1="63291" x2="91579" y2="63291"/>
                        <a14:foregroundMark x1="89965" y1="77215" x2="89965" y2="77215"/>
                        <a14:foregroundMark x1="97120" y1="59283" x2="97120" y2="59283"/>
                      </a14:backgroundRemoval>
                    </a14:imgEffect>
                  </a14:imgLayer>
                </a14:imgProps>
              </a:ext>
            </a:extLst>
          </a:blip>
          <a:srcRect l="11603" t="29088" b="-1"/>
          <a:stretch/>
        </p:blipFill>
        <p:spPr>
          <a:xfrm>
            <a:off x="3167649" y="2824228"/>
            <a:ext cx="530032" cy="87933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DDA83F15-D64F-6B8A-FC65-0F7198931FA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804" b="89216" l="6011" r="97268">
                        <a14:foregroundMark x1="6011" y1="47059" x2="6011" y2="47059"/>
                        <a14:foregroundMark x1="36339" y1="47059" x2="36339" y2="47059"/>
                        <a14:foregroundMark x1="48087" y1="50000" x2="48087" y2="50000"/>
                        <a14:foregroundMark x1="58197" y1="48039" x2="58197" y2="48039"/>
                        <a14:foregroundMark x1="71038" y1="51961" x2="71038" y2="51961"/>
                        <a14:foregroundMark x1="82240" y1="48039" x2="82240" y2="48039"/>
                        <a14:foregroundMark x1="92896" y1="46078" x2="92896" y2="46078"/>
                        <a14:foregroundMark x1="97268" y1="21569" x2="97268" y2="21569"/>
                      </a14:backgroundRemoval>
                    </a14:imgEffect>
                  </a14:imgLayer>
                </a14:imgProps>
              </a:ext>
            </a:extLst>
          </a:blip>
          <a:srcRect b="11664"/>
          <a:stretch/>
        </p:blipFill>
        <p:spPr>
          <a:xfrm>
            <a:off x="3173695" y="3032853"/>
            <a:ext cx="504244" cy="124136"/>
          </a:xfrm>
          <a:prstGeom prst="rect">
            <a:avLst/>
          </a:prstGeom>
        </p:spPr>
      </p:pic>
      <p:pic>
        <p:nvPicPr>
          <p:cNvPr id="40" name="图像" descr="图像">
            <a:extLst>
              <a:ext uri="{FF2B5EF4-FFF2-40B4-BE49-F238E27FC236}">
                <a16:creationId xmlns:a16="http://schemas.microsoft.com/office/drawing/2014/main" id="{F572797A-1DC6-3724-8DF1-DD4A44BED9C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73695" y="1993073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图像" descr="图像">
            <a:extLst>
              <a:ext uri="{FF2B5EF4-FFF2-40B4-BE49-F238E27FC236}">
                <a16:creationId xmlns:a16="http://schemas.microsoft.com/office/drawing/2014/main" id="{74369A97-EE57-FF28-A4F8-B6E88502E7AE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169846" y="3289516"/>
            <a:ext cx="513441" cy="8107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BB382A34-0DF9-3220-C655-04D42BDCB9C2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76936" y="2434708"/>
            <a:ext cx="330283" cy="167131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ED5DCCCB-DEB7-7C56-8134-A9D789404D5E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71279" y="2434708"/>
            <a:ext cx="330283" cy="167131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33980D05-4DB4-5D96-DFA7-5BC60B88E161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46682" y="2434708"/>
            <a:ext cx="330283" cy="167131"/>
          </a:xfrm>
          <a:prstGeom prst="rect">
            <a:avLst/>
          </a:prstGeom>
        </p:spPr>
      </p:pic>
      <p:pic>
        <p:nvPicPr>
          <p:cNvPr id="56" name="图像" descr="图像">
            <a:extLst>
              <a:ext uri="{FF2B5EF4-FFF2-40B4-BE49-F238E27FC236}">
                <a16:creationId xmlns:a16="http://schemas.microsoft.com/office/drawing/2014/main" id="{11A10C50-0C11-EDC4-7C04-B0BC342461A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85208" y="1936916"/>
            <a:ext cx="365049" cy="290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" name="图像" descr="图像">
            <a:extLst>
              <a:ext uri="{FF2B5EF4-FFF2-40B4-BE49-F238E27FC236}">
                <a16:creationId xmlns:a16="http://schemas.microsoft.com/office/drawing/2014/main" id="{5333E206-B0A2-EFAD-84E6-E32DFD0AAB5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44238" y="2373083"/>
            <a:ext cx="365049" cy="290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F0114751-1A38-1862-8CAF-061D6B30BBA6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58873" y="1954779"/>
            <a:ext cx="429418" cy="254655"/>
          </a:xfrm>
          <a:prstGeom prst="rect">
            <a:avLst/>
          </a:prstGeom>
        </p:spPr>
      </p:pic>
      <p:pic>
        <p:nvPicPr>
          <p:cNvPr id="62" name="图片 61">
            <a:extLst>
              <a:ext uri="{FF2B5EF4-FFF2-40B4-BE49-F238E27FC236}">
                <a16:creationId xmlns:a16="http://schemas.microsoft.com/office/drawing/2014/main" id="{EE80704F-1DC1-20A7-80BE-24025F9F20C7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13301" y="2390946"/>
            <a:ext cx="429418" cy="254655"/>
          </a:xfrm>
          <a:prstGeom prst="rect">
            <a:avLst/>
          </a:prstGeom>
        </p:spPr>
      </p:pic>
      <p:pic>
        <p:nvPicPr>
          <p:cNvPr id="63" name="图像" descr="图像">
            <a:extLst>
              <a:ext uri="{FF2B5EF4-FFF2-40B4-BE49-F238E27FC236}">
                <a16:creationId xmlns:a16="http://schemas.microsoft.com/office/drawing/2014/main" id="{1E278211-C4D4-2723-53BB-14CEA420E7BB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4171279" y="2008362"/>
            <a:ext cx="497769" cy="14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4" name="图像" descr="图像">
            <a:extLst>
              <a:ext uri="{FF2B5EF4-FFF2-40B4-BE49-F238E27FC236}">
                <a16:creationId xmlns:a16="http://schemas.microsoft.com/office/drawing/2014/main" id="{6DAB50BE-6443-A9EA-8B24-E67CFD4D19A9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7946682" y="2008362"/>
            <a:ext cx="497769" cy="14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5" name="图像" descr="图像">
            <a:extLst>
              <a:ext uri="{FF2B5EF4-FFF2-40B4-BE49-F238E27FC236}">
                <a16:creationId xmlns:a16="http://schemas.microsoft.com/office/drawing/2014/main" id="{021A98DA-57D8-7C9F-D64C-D215BBDCE2B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77534" y="1993073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7" name="图像" descr="图像">
            <a:extLst>
              <a:ext uri="{FF2B5EF4-FFF2-40B4-BE49-F238E27FC236}">
                <a16:creationId xmlns:a16="http://schemas.microsoft.com/office/drawing/2014/main" id="{7F34F4BE-A951-68A1-78BB-B8954EBAC6A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13301" y="1993073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8" name="图片 1027">
            <a:extLst>
              <a:ext uri="{FF2B5EF4-FFF2-40B4-BE49-F238E27FC236}">
                <a16:creationId xmlns:a16="http://schemas.microsoft.com/office/drawing/2014/main" id="{336E880B-3EBF-6A93-4812-B47B75B8DC13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12053" y="1954779"/>
            <a:ext cx="429418" cy="254655"/>
          </a:xfrm>
          <a:prstGeom prst="rect">
            <a:avLst/>
          </a:prstGeom>
        </p:spPr>
      </p:pic>
      <p:pic>
        <p:nvPicPr>
          <p:cNvPr id="1030" name="图片 1029">
            <a:extLst>
              <a:ext uri="{FF2B5EF4-FFF2-40B4-BE49-F238E27FC236}">
                <a16:creationId xmlns:a16="http://schemas.microsoft.com/office/drawing/2014/main" id="{C3DAB238-4F1A-ADF7-E3FF-6666B02CE43D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43647" y="2390946"/>
            <a:ext cx="429418" cy="254655"/>
          </a:xfrm>
          <a:prstGeom prst="rect">
            <a:avLst/>
          </a:prstGeom>
        </p:spPr>
      </p:pic>
      <p:pic>
        <p:nvPicPr>
          <p:cNvPr id="1032" name="图片 1031">
            <a:extLst>
              <a:ext uri="{FF2B5EF4-FFF2-40B4-BE49-F238E27FC236}">
                <a16:creationId xmlns:a16="http://schemas.microsoft.com/office/drawing/2014/main" id="{D24DC687-A0E4-1E35-F907-5CED967CD246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BEBA8EAE-BF5A-486C-A8C5-ECC9F3942E4B}">
                <a14:imgProps xmlns:a14="http://schemas.microsoft.com/office/drawing/2010/main">
                  <a14:imgLayer r:embed="rId61">
                    <a14:imgEffect>
                      <a14:backgroundRemoval t="9916" b="89662" l="9948" r="97120">
                        <a14:foregroundMark x1="15576" y1="59283" x2="15576" y2="59283"/>
                        <a14:foregroundMark x1="23517" y1="62025" x2="23517" y2="62025"/>
                        <a14:foregroundMark x1="48647" y1="68354" x2="48647" y2="68354"/>
                        <a14:foregroundMark x1="58202" y1="54219" x2="58202" y2="54219"/>
                        <a14:foregroundMark x1="71946" y1="50422" x2="71946" y2="50422"/>
                        <a14:foregroundMark x1="78054" y1="58017" x2="78054" y2="58017"/>
                        <a14:foregroundMark x1="91579" y1="63291" x2="91579" y2="63291"/>
                        <a14:foregroundMark x1="89965" y1="77215" x2="89965" y2="77215"/>
                        <a14:foregroundMark x1="97120" y1="59283" x2="97120" y2="59283"/>
                      </a14:backgroundRemoval>
                    </a14:imgEffect>
                  </a14:imgLayer>
                </a14:imgProps>
              </a:ext>
            </a:extLst>
          </a:blip>
          <a:srcRect l="11603" t="29088" b="-1"/>
          <a:stretch/>
        </p:blipFill>
        <p:spPr>
          <a:xfrm>
            <a:off x="1576936" y="2824228"/>
            <a:ext cx="530032" cy="87933"/>
          </a:xfrm>
          <a:prstGeom prst="rect">
            <a:avLst/>
          </a:prstGeom>
        </p:spPr>
      </p:pic>
      <p:pic>
        <p:nvPicPr>
          <p:cNvPr id="1034" name="图片 1033">
            <a:extLst>
              <a:ext uri="{FF2B5EF4-FFF2-40B4-BE49-F238E27FC236}">
                <a16:creationId xmlns:a16="http://schemas.microsoft.com/office/drawing/2014/main" id="{0F20C3BE-0E91-6187-37F6-C7FD7FA8C774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BEBA8EAE-BF5A-486C-A8C5-ECC9F3942E4B}">
                <a14:imgProps xmlns:a14="http://schemas.microsoft.com/office/drawing/2010/main">
                  <a14:imgLayer r:embed="rId63">
                    <a14:imgEffect>
                      <a14:backgroundRemoval t="5602" b="94606" l="3312" r="97912">
                        <a14:foregroundMark x1="11591" y1="31743" x2="11591" y2="31743"/>
                        <a14:foregroundMark x1="11015" y1="41079" x2="11015" y2="41079"/>
                        <a14:foregroundMark x1="5688" y1="12241" x2="5688" y2="12241"/>
                        <a14:foregroundMark x1="3312" y1="83195" x2="3312" y2="83195"/>
                        <a14:foregroundMark x1="27790" y1="94813" x2="27790" y2="94813"/>
                        <a14:foregroundMark x1="6120" y1="5809" x2="6120" y2="5809"/>
                        <a14:foregroundMark x1="37653" y1="36515" x2="37653" y2="36515"/>
                        <a14:foregroundMark x1="40461" y1="37759" x2="40461" y2="37759"/>
                        <a14:foregroundMark x1="47012" y1="34855" x2="47012" y2="34855"/>
                        <a14:foregroundMark x1="47228" y1="8714" x2="47228" y2="8714"/>
                        <a14:foregroundMark x1="54140" y1="33402" x2="54140" y2="33402"/>
                        <a14:foregroundMark x1="68754" y1="37552" x2="68754" y2="37552"/>
                        <a14:foregroundMark x1="81138" y1="35892" x2="81138" y2="35892"/>
                        <a14:foregroundMark x1="92945" y1="36929" x2="92945" y2="36929"/>
                        <a14:foregroundMark x1="94600" y1="36929" x2="94600" y2="36929"/>
                        <a14:foregroundMark x1="97624" y1="43361" x2="97624" y2="43361"/>
                        <a14:foregroundMark x1="21238" y1="73859" x2="21238" y2="73859"/>
                        <a14:foregroundMark x1="23902" y1="77593" x2="23902" y2="77593"/>
                        <a14:foregroundMark x1="26782" y1="84647" x2="26782" y2="84647"/>
                        <a14:foregroundMark x1="28150" y1="90664" x2="28150" y2="90664"/>
                        <a14:foregroundMark x1="24118" y1="87759" x2="24118" y2="87759"/>
                        <a14:foregroundMark x1="20518" y1="68880" x2="20518" y2="68880"/>
                        <a14:foregroundMark x1="34557" y1="72822" x2="34557" y2="72822"/>
                        <a14:foregroundMark x1="38445" y1="75934" x2="38445" y2="75934"/>
                        <a14:foregroundMark x1="35565" y1="75311" x2="35565" y2="75311"/>
                        <a14:foregroundMark x1="36285" y1="80083" x2="36285" y2="80083"/>
                        <a14:foregroundMark x1="43053" y1="75311" x2="43053" y2="75311"/>
                        <a14:foregroundMark x1="48884" y1="73859" x2="48884" y2="73859"/>
                        <a14:foregroundMark x1="51188" y1="74066" x2="51188" y2="74066"/>
                        <a14:foregroundMark x1="57379" y1="80290" x2="57379" y2="80290"/>
                        <a14:foregroundMark x1="58387" y1="79461" x2="58387" y2="79461"/>
                        <a14:foregroundMark x1="59395" y1="76141" x2="59395" y2="76141"/>
                        <a14:foregroundMark x1="61987" y1="71369" x2="61987" y2="71369"/>
                        <a14:foregroundMark x1="66595" y1="74689" x2="66595" y2="74689"/>
                        <a14:foregroundMark x1="71778" y1="74066" x2="71778" y2="74066"/>
                        <a14:foregroundMark x1="76890" y1="73237" x2="76890" y2="73237"/>
                        <a14:foregroundMark x1="77898" y1="71369" x2="77898" y2="71369"/>
                        <a14:foregroundMark x1="77034" y1="78008" x2="77034" y2="78008"/>
                        <a14:foregroundMark x1="82145" y1="69087" x2="82145" y2="69087"/>
                        <a14:foregroundMark x1="85817" y1="72199" x2="85817" y2="72199"/>
                        <a14:foregroundMark x1="91721" y1="75311" x2="91721" y2="75311"/>
                        <a14:foregroundMark x1="95680" y1="71992" x2="95680" y2="71992"/>
                        <a14:foregroundMark x1="96400" y1="74689" x2="96400" y2="74689"/>
                        <a14:foregroundMark x1="97912" y1="79253" x2="97912" y2="792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82626" y="3794478"/>
            <a:ext cx="541500" cy="187907"/>
          </a:xfrm>
          <a:prstGeom prst="rect">
            <a:avLst/>
          </a:prstGeom>
        </p:spPr>
      </p:pic>
      <p:pic>
        <p:nvPicPr>
          <p:cNvPr id="1036" name="图片 1035">
            <a:extLst>
              <a:ext uri="{FF2B5EF4-FFF2-40B4-BE49-F238E27FC236}">
                <a16:creationId xmlns:a16="http://schemas.microsoft.com/office/drawing/2014/main" id="{34BAEB7F-9CCF-D827-81AA-0528F988D708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BEBA8EAE-BF5A-486C-A8C5-ECC9F3942E4B}">
                <a14:imgProps xmlns:a14="http://schemas.microsoft.com/office/drawing/2010/main">
                  <a14:imgLayer r:embed="rId65">
                    <a14:imgEffect>
                      <a14:backgroundRemoval t="9804" b="89706" l="6154" r="93590">
                        <a14:foregroundMark x1="17436" y1="28922" x2="17436" y2="28922"/>
                        <a14:foregroundMark x1="6154" y1="28431" x2="6154" y2="28431"/>
                        <a14:foregroundMark x1="24872" y1="39216" x2="24872" y2="39216"/>
                        <a14:foregroundMark x1="17051" y1="57843" x2="17051" y2="57843"/>
                        <a14:foregroundMark x1="53590" y1="43137" x2="53590" y2="43137"/>
                        <a14:foregroundMark x1="57051" y1="25980" x2="57051" y2="25980"/>
                        <a14:foregroundMark x1="59615" y1="39706" x2="59615" y2="39706"/>
                        <a14:foregroundMark x1="56667" y1="48529" x2="56667" y2="48529"/>
                        <a14:foregroundMark x1="63974" y1="48039" x2="63974" y2="48039"/>
                        <a14:foregroundMark x1="68590" y1="40686" x2="68590" y2="40686"/>
                        <a14:foregroundMark x1="71026" y1="36765" x2="71026" y2="36765"/>
                        <a14:foregroundMark x1="72308" y1="45588" x2="72308" y2="45588"/>
                        <a14:foregroundMark x1="75128" y1="36765" x2="75128" y2="36765"/>
                        <a14:foregroundMark x1="85769" y1="29412" x2="85769" y2="29412"/>
                        <a14:foregroundMark x1="93205" y1="33333" x2="93205" y2="33333"/>
                        <a14:foregroundMark x1="78462" y1="50000" x2="78462" y2="50000"/>
                        <a14:foregroundMark x1="38846" y1="84804" x2="38846" y2="84804"/>
                        <a14:foregroundMark x1="35769" y1="84804" x2="35769" y2="84804"/>
                        <a14:foregroundMark x1="37179" y1="84804" x2="37179" y2="84804"/>
                        <a14:foregroundMark x1="38205" y1="82353" x2="38205" y2="82353"/>
                        <a14:foregroundMark x1="38718" y1="84804" x2="38718" y2="84804"/>
                        <a14:foregroundMark x1="39103" y1="79902" x2="39103" y2="79902"/>
                        <a14:foregroundMark x1="35769" y1="79902" x2="35769" y2="79902"/>
                        <a14:foregroundMark x1="44359" y1="79902" x2="44359" y2="79902"/>
                        <a14:foregroundMark x1="47308" y1="79902" x2="47308" y2="79902"/>
                        <a14:foregroundMark x1="52436" y1="80392" x2="52436" y2="80392"/>
                        <a14:foregroundMark x1="54359" y1="86765" x2="54359" y2="86765"/>
                        <a14:foregroundMark x1="59872" y1="80882" x2="59872" y2="80882"/>
                        <a14:foregroundMark x1="62308" y1="89216" x2="62308" y2="89216"/>
                        <a14:foregroundMark x1="67564" y1="84804" x2="67564" y2="84804"/>
                        <a14:foregroundMark x1="73077" y1="78431" x2="73077" y2="78431"/>
                        <a14:foregroundMark x1="72308" y1="82353" x2="72308" y2="82353"/>
                        <a14:foregroundMark x1="74615" y1="75980" x2="74615" y2="75980"/>
                        <a14:foregroundMark x1="80128" y1="85784" x2="80128" y2="85784"/>
                        <a14:foregroundMark x1="88462" y1="82843" x2="88462" y2="82843"/>
                        <a14:foregroundMark x1="93590" y1="84314" x2="93590" y2="8431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5939714"/>
            <a:ext cx="693730" cy="181437"/>
          </a:xfrm>
          <a:prstGeom prst="rect">
            <a:avLst/>
          </a:prstGeom>
        </p:spPr>
      </p:pic>
      <p:pic>
        <p:nvPicPr>
          <p:cNvPr id="1037" name="Picture 4" descr="Retym | StartupHub.ai">
            <a:extLst>
              <a:ext uri="{FF2B5EF4-FFF2-40B4-BE49-F238E27FC236}">
                <a16:creationId xmlns:a16="http://schemas.microsoft.com/office/drawing/2014/main" id="{B5F51906-0D0E-CBF0-A3A7-E54E44E686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6" cstate="print">
            <a:extLst>
              <a:ext uri="{BEBA8EAE-BF5A-486C-A8C5-ECC9F3942E4B}">
                <a14:imgProps xmlns:a14="http://schemas.microsoft.com/office/drawing/2010/main">
                  <a14:imgLayer r:embed="rId67">
                    <a14:imgEffect>
                      <a14:backgroundRemoval t="10000" b="90000" l="7000" r="94000">
                        <a14:foregroundMark x1="23500" y1="44000" x2="23500" y2="44000"/>
                        <a14:foregroundMark x1="9500" y1="48500" x2="9500" y2="48500"/>
                        <a14:foregroundMark x1="12500" y1="53000" x2="12500" y2="53000"/>
                        <a14:foregroundMark x1="7000" y1="39500" x2="7000" y2="39500"/>
                        <a14:foregroundMark x1="32000" y1="49000" x2="32000" y2="49000"/>
                        <a14:foregroundMark x1="28000" y1="49500" x2="28000" y2="49500"/>
                        <a14:foregroundMark x1="28000" y1="49500" x2="28000" y2="49500"/>
                        <a14:foregroundMark x1="28000" y1="47500" x2="28000" y2="47500"/>
                        <a14:foregroundMark x1="43500" y1="44000" x2="43500" y2="44000"/>
                        <a14:foregroundMark x1="46500" y1="44000" x2="46500" y2="44000"/>
                        <a14:foregroundMark x1="46000" y1="40000" x2="46000" y2="40000"/>
                        <a14:foregroundMark x1="45000" y1="39500" x2="45000" y2="39500"/>
                        <a14:foregroundMark x1="94000" y1="47000" x2="94000" y2="47000"/>
                        <a14:foregroundMark x1="60500" y1="57000" x2="60500" y2="57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3274" b="34292"/>
          <a:stretch/>
        </p:blipFill>
        <p:spPr bwMode="auto">
          <a:xfrm>
            <a:off x="5228365" y="3774101"/>
            <a:ext cx="704986" cy="228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图片 1037">
            <a:extLst>
              <a:ext uri="{FF2B5EF4-FFF2-40B4-BE49-F238E27FC236}">
                <a16:creationId xmlns:a16="http://schemas.microsoft.com/office/drawing/2014/main" id="{6877E9FB-C6BE-A359-B45E-CEF71A89623E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BEBA8EAE-BF5A-486C-A8C5-ECC9F3942E4B}">
                <a14:imgProps xmlns:a14="http://schemas.microsoft.com/office/drawing/2010/main">
                  <a14:imgLayer r:embed="rId52">
                    <a14:imgEffect>
                      <a14:backgroundRemoval t="9644" b="94969" l="4716" r="93685">
                        <a14:foregroundMark x1="13909" y1="24319" x2="13909" y2="24319"/>
                        <a14:foregroundMark x1="13030" y1="75681" x2="13030" y2="75681"/>
                        <a14:foregroundMark x1="4956" y1="28721" x2="4956" y2="28721"/>
                        <a14:foregroundMark x1="8633" y1="95178" x2="8633" y2="95178"/>
                        <a14:foregroundMark x1="27978" y1="91824" x2="27978" y2="91824"/>
                        <a14:foregroundMark x1="29257" y1="30608" x2="29257" y2="30608"/>
                        <a14:foregroundMark x1="39408" y1="53669" x2="39408" y2="53669"/>
                        <a14:foregroundMark x1="45484" y1="53669" x2="45484" y2="53669"/>
                        <a14:foregroundMark x1="56914" y1="40671" x2="56914" y2="40671"/>
                        <a14:foregroundMark x1="62110" y1="40042" x2="62110" y2="40042"/>
                        <a14:foregroundMark x1="63389" y1="48008" x2="63389" y2="48008"/>
                        <a14:foregroundMark x1="59313" y1="62055" x2="59313" y2="62055"/>
                        <a14:foregroundMark x1="65388" y1="57023" x2="65388" y2="57023"/>
                        <a14:foregroundMark x1="69305" y1="49057" x2="69305" y2="49057"/>
                        <a14:foregroundMark x1="75140" y1="44444" x2="75140" y2="44444"/>
                        <a14:foregroundMark x1="83133" y1="42767" x2="83133" y2="42767"/>
                        <a14:foregroundMark x1="91287" y1="46960" x2="91287" y2="46960"/>
                        <a14:foregroundMark x1="93685" y1="44025" x2="93685" y2="44025"/>
                        <a14:foregroundMark x1="40288" y1="80503" x2="40288" y2="80503"/>
                        <a14:foregroundMark x1="45004" y1="80922" x2="45004" y2="80922"/>
                        <a14:foregroundMark x1="47162" y1="77568" x2="47162" y2="77568"/>
                        <a14:foregroundMark x1="53477" y1="83229" x2="53477" y2="83229"/>
                        <a14:foregroundMark x1="54756" y1="81971" x2="54756" y2="81971"/>
                        <a14:foregroundMark x1="60592" y1="81342" x2="60592" y2="81342"/>
                        <a14:foregroundMark x1="62270" y1="79874" x2="62270" y2="79874"/>
                        <a14:foregroundMark x1="64908" y1="84277" x2="64908" y2="84277"/>
                        <a14:foregroundMark x1="66906" y1="80922" x2="66906" y2="80922"/>
                        <a14:foregroundMark x1="71223" y1="79874" x2="71223" y2="79874"/>
                        <a14:foregroundMark x1="74820" y1="80922" x2="74820" y2="80922"/>
                        <a14:foregroundMark x1="79217" y1="81551" x2="79217" y2="81551"/>
                        <a14:foregroundMark x1="82414" y1="81342" x2="82414" y2="81342"/>
                        <a14:foregroundMark x1="83933" y1="80922" x2="83933" y2="80922"/>
                        <a14:foregroundMark x1="89369" y1="80922" x2="89369" y2="80922"/>
                        <a14:foregroundMark x1="92646" y1="77358" x2="92646" y2="77358"/>
                        <a14:foregroundMark x1="20783" y1="29350" x2="20783" y2="293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40589" y="2987295"/>
            <a:ext cx="590782" cy="225262"/>
          </a:xfrm>
          <a:prstGeom prst="rect">
            <a:avLst/>
          </a:prstGeom>
        </p:spPr>
      </p:pic>
      <p:pic>
        <p:nvPicPr>
          <p:cNvPr id="1039" name="Picture 6" descr="Credo Semiconductor Office Photos | Glassdoor">
            <a:extLst>
              <a:ext uri="{FF2B5EF4-FFF2-40B4-BE49-F238E27FC236}">
                <a16:creationId xmlns:a16="http://schemas.microsoft.com/office/drawing/2014/main" id="{FDE9D61F-2046-CA50-D36C-31459D05DB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8" cstate="print">
            <a:extLst>
              <a:ext uri="{BEBA8EAE-BF5A-486C-A8C5-ECC9F3942E4B}">
                <a14:imgProps xmlns:a14="http://schemas.microsoft.com/office/drawing/2010/main">
                  <a14:imgLayer r:embed="rId69">
                    <a14:imgEffect>
                      <a14:backgroundRemoval t="10000" b="90000" l="3333" r="93889">
                        <a14:foregroundMark x1="40000" y1="55556" x2="40000" y2="55556"/>
                        <a14:foregroundMark x1="52222" y1="51667" x2="52222" y2="51667"/>
                        <a14:foregroundMark x1="94444" y1="51111" x2="94444" y2="51111"/>
                        <a14:foregroundMark x1="12778" y1="45000" x2="12778" y2="45000"/>
                        <a14:foregroundMark x1="18333" y1="40556" x2="18333" y2="40556"/>
                        <a14:foregroundMark x1="21667" y1="38889" x2="21667" y2="38889"/>
                        <a14:foregroundMark x1="25556" y1="37778" x2="25556" y2="37778"/>
                        <a14:foregroundMark x1="27222" y1="47222" x2="27222" y2="47222"/>
                        <a14:foregroundMark x1="27222" y1="55000" x2="27222" y2="55000"/>
                        <a14:foregroundMark x1="18333" y1="59444" x2="18333" y2="59444"/>
                        <a14:foregroundMark x1="11667" y1="56667" x2="11667" y2="56667"/>
                        <a14:foregroundMark x1="11111" y1="50000" x2="11111" y2="50000"/>
                        <a14:foregroundMark x1="16111" y1="38333" x2="16111" y2="38333"/>
                        <a14:foregroundMark x1="9444" y1="36667" x2="9444" y2="36667"/>
                        <a14:foregroundMark x1="3333" y1="37222" x2="3333" y2="37222"/>
                        <a14:foregroundMark x1="63889" y1="51111" x2="63889" y2="51111"/>
                        <a14:foregroundMark x1="71667" y1="51111" x2="71667" y2="51111"/>
                        <a14:backgroundMark x1="51667" y1="50000" x2="51667" y2="50000"/>
                        <a14:backgroundMark x1="57778" y1="52778" x2="57778" y2="52778"/>
                        <a14:backgroundMark x1="73889" y1="52222" x2="73889" y2="52222"/>
                        <a14:backgroundMark x1="91667" y1="50000" x2="91667" y2="50000"/>
                        <a14:backgroundMark x1="66667" y1="57778" x2="66667" y2="577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2617" b="35872"/>
          <a:stretch/>
        </p:blipFill>
        <p:spPr bwMode="auto">
          <a:xfrm>
            <a:off x="5177534" y="2776251"/>
            <a:ext cx="583575" cy="183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图片 1041">
            <a:extLst>
              <a:ext uri="{FF2B5EF4-FFF2-40B4-BE49-F238E27FC236}">
                <a16:creationId xmlns:a16="http://schemas.microsoft.com/office/drawing/2014/main" id="{FD3B3DA9-E779-7AE3-AB37-EA254D4B4A71}"/>
              </a:ext>
            </a:extLst>
          </p:cNvPr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6058873" y="5002225"/>
            <a:ext cx="423690" cy="204161"/>
          </a:xfrm>
          <a:prstGeom prst="rect">
            <a:avLst/>
          </a:prstGeom>
        </p:spPr>
      </p:pic>
      <p:pic>
        <p:nvPicPr>
          <p:cNvPr id="1043" name="图像" descr="图像">
            <a:extLst>
              <a:ext uri="{FF2B5EF4-FFF2-40B4-BE49-F238E27FC236}">
                <a16:creationId xmlns:a16="http://schemas.microsoft.com/office/drawing/2014/main" id="{0EDA9A4B-8034-32E3-048E-A909F83D1B3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366315" y="4926505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4" name="图像" descr="图像">
            <a:extLst>
              <a:ext uri="{FF2B5EF4-FFF2-40B4-BE49-F238E27FC236}">
                <a16:creationId xmlns:a16="http://schemas.microsoft.com/office/drawing/2014/main" id="{25FDBCFF-4E6A-5CDA-ACB5-B712D579BA65}"/>
              </a:ext>
            </a:extLst>
          </p:cNvPr>
          <p:cNvPicPr>
            <a:picLocks noChangeAspect="1"/>
          </p:cNvPicPr>
          <p:nvPr/>
        </p:nvPicPr>
        <p:blipFill>
          <a:blip r:embed="rId71"/>
          <a:srcRect t="29736" r="12" b="29739"/>
          <a:stretch>
            <a:fillRect/>
          </a:stretch>
        </p:blipFill>
        <p:spPr>
          <a:xfrm>
            <a:off x="9353452" y="5378288"/>
            <a:ext cx="686705" cy="1245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720"/>
                </a:lnTo>
                <a:lnTo>
                  <a:pt x="4833" y="675"/>
                </a:lnTo>
                <a:cubicBezTo>
                  <a:pt x="9972" y="641"/>
                  <a:pt x="10201" y="641"/>
                  <a:pt x="9273" y="1170"/>
                </a:cubicBezTo>
                <a:cubicBezTo>
                  <a:pt x="8796" y="1442"/>
                  <a:pt x="8070" y="2136"/>
                  <a:pt x="7649" y="2700"/>
                </a:cubicBezTo>
                <a:lnTo>
                  <a:pt x="7322" y="3150"/>
                </a:lnTo>
                <a:lnTo>
                  <a:pt x="7273" y="4545"/>
                </a:lnTo>
                <a:cubicBezTo>
                  <a:pt x="7246" y="5330"/>
                  <a:pt x="7228" y="6003"/>
                  <a:pt x="7233" y="6030"/>
                </a:cubicBezTo>
                <a:cubicBezTo>
                  <a:pt x="7238" y="6057"/>
                  <a:pt x="7337" y="5912"/>
                  <a:pt x="7453" y="5715"/>
                </a:cubicBezTo>
                <a:cubicBezTo>
                  <a:pt x="7705" y="5288"/>
                  <a:pt x="8349" y="4372"/>
                  <a:pt x="8710" y="3915"/>
                </a:cubicBezTo>
                <a:cubicBezTo>
                  <a:pt x="9240" y="3245"/>
                  <a:pt x="10440" y="2136"/>
                  <a:pt x="10857" y="1935"/>
                </a:cubicBezTo>
                <a:cubicBezTo>
                  <a:pt x="10944" y="1893"/>
                  <a:pt x="11171" y="1765"/>
                  <a:pt x="11363" y="1665"/>
                </a:cubicBezTo>
                <a:cubicBezTo>
                  <a:pt x="11555" y="1565"/>
                  <a:pt x="11877" y="1486"/>
                  <a:pt x="12082" y="1440"/>
                </a:cubicBezTo>
                <a:cubicBezTo>
                  <a:pt x="12465" y="1354"/>
                  <a:pt x="12478" y="1247"/>
                  <a:pt x="12131" y="1035"/>
                </a:cubicBezTo>
                <a:cubicBezTo>
                  <a:pt x="12050" y="986"/>
                  <a:pt x="11984" y="878"/>
                  <a:pt x="11984" y="810"/>
                </a:cubicBezTo>
                <a:cubicBezTo>
                  <a:pt x="11984" y="687"/>
                  <a:pt x="13463" y="557"/>
                  <a:pt x="13518" y="675"/>
                </a:cubicBezTo>
                <a:cubicBezTo>
                  <a:pt x="13537" y="714"/>
                  <a:pt x="13531" y="980"/>
                  <a:pt x="13494" y="1485"/>
                </a:cubicBezTo>
                <a:cubicBezTo>
                  <a:pt x="13465" y="1882"/>
                  <a:pt x="13399" y="2709"/>
                  <a:pt x="13355" y="3375"/>
                </a:cubicBezTo>
                <a:lnTo>
                  <a:pt x="13282" y="4590"/>
                </a:lnTo>
                <a:lnTo>
                  <a:pt x="13992" y="4590"/>
                </a:lnTo>
                <a:lnTo>
                  <a:pt x="14702" y="4545"/>
                </a:lnTo>
                <a:lnTo>
                  <a:pt x="14727" y="3780"/>
                </a:lnTo>
                <a:cubicBezTo>
                  <a:pt x="14776" y="2490"/>
                  <a:pt x="14823" y="2648"/>
                  <a:pt x="14318" y="2610"/>
                </a:cubicBezTo>
                <a:cubicBezTo>
                  <a:pt x="13809" y="2571"/>
                  <a:pt x="13839" y="2644"/>
                  <a:pt x="13943" y="1350"/>
                </a:cubicBezTo>
                <a:lnTo>
                  <a:pt x="14000" y="630"/>
                </a:lnTo>
                <a:lnTo>
                  <a:pt x="14694" y="630"/>
                </a:lnTo>
                <a:cubicBezTo>
                  <a:pt x="15076" y="630"/>
                  <a:pt x="15390" y="642"/>
                  <a:pt x="15396" y="675"/>
                </a:cubicBezTo>
                <a:cubicBezTo>
                  <a:pt x="15405" y="727"/>
                  <a:pt x="15389" y="1519"/>
                  <a:pt x="15339" y="3105"/>
                </a:cubicBezTo>
                <a:lnTo>
                  <a:pt x="15322" y="3510"/>
                </a:lnTo>
                <a:lnTo>
                  <a:pt x="15543" y="3510"/>
                </a:lnTo>
                <a:lnTo>
                  <a:pt x="15771" y="3510"/>
                </a:lnTo>
                <a:lnTo>
                  <a:pt x="15837" y="2115"/>
                </a:lnTo>
                <a:lnTo>
                  <a:pt x="15902" y="720"/>
                </a:lnTo>
                <a:lnTo>
                  <a:pt x="16082" y="675"/>
                </a:lnTo>
                <a:cubicBezTo>
                  <a:pt x="16179" y="655"/>
                  <a:pt x="16266" y="656"/>
                  <a:pt x="16278" y="720"/>
                </a:cubicBezTo>
                <a:cubicBezTo>
                  <a:pt x="16291" y="792"/>
                  <a:pt x="16273" y="1340"/>
                  <a:pt x="16237" y="2115"/>
                </a:cubicBezTo>
                <a:cubicBezTo>
                  <a:pt x="16205" y="2800"/>
                  <a:pt x="16180" y="3381"/>
                  <a:pt x="16180" y="3420"/>
                </a:cubicBezTo>
                <a:cubicBezTo>
                  <a:pt x="16180" y="3459"/>
                  <a:pt x="16291" y="3466"/>
                  <a:pt x="16424" y="3465"/>
                </a:cubicBezTo>
                <a:lnTo>
                  <a:pt x="16661" y="3465"/>
                </a:lnTo>
                <a:lnTo>
                  <a:pt x="16751" y="2070"/>
                </a:lnTo>
                <a:lnTo>
                  <a:pt x="16841" y="720"/>
                </a:lnTo>
                <a:lnTo>
                  <a:pt x="17551" y="720"/>
                </a:lnTo>
                <a:lnTo>
                  <a:pt x="18261" y="720"/>
                </a:lnTo>
                <a:lnTo>
                  <a:pt x="18253" y="990"/>
                </a:lnTo>
                <a:cubicBezTo>
                  <a:pt x="18249" y="1159"/>
                  <a:pt x="18235" y="1518"/>
                  <a:pt x="18220" y="1755"/>
                </a:cubicBezTo>
                <a:cubicBezTo>
                  <a:pt x="18191" y="2242"/>
                  <a:pt x="18222" y="2147"/>
                  <a:pt x="17722" y="2745"/>
                </a:cubicBezTo>
                <a:cubicBezTo>
                  <a:pt x="17540" y="2963"/>
                  <a:pt x="17380" y="3210"/>
                  <a:pt x="17363" y="3285"/>
                </a:cubicBezTo>
                <a:cubicBezTo>
                  <a:pt x="17337" y="3403"/>
                  <a:pt x="17241" y="5177"/>
                  <a:pt x="17241" y="5535"/>
                </a:cubicBezTo>
                <a:cubicBezTo>
                  <a:pt x="17241" y="5606"/>
                  <a:pt x="17395" y="5430"/>
                  <a:pt x="17584" y="5130"/>
                </a:cubicBezTo>
                <a:cubicBezTo>
                  <a:pt x="17964" y="4526"/>
                  <a:pt x="18086" y="4428"/>
                  <a:pt x="18073" y="4725"/>
                </a:cubicBezTo>
                <a:cubicBezTo>
                  <a:pt x="18069" y="4827"/>
                  <a:pt x="18048" y="5418"/>
                  <a:pt x="18024" y="6030"/>
                </a:cubicBezTo>
                <a:cubicBezTo>
                  <a:pt x="18001" y="6642"/>
                  <a:pt x="17966" y="7213"/>
                  <a:pt x="17951" y="7290"/>
                </a:cubicBezTo>
                <a:cubicBezTo>
                  <a:pt x="17936" y="7367"/>
                  <a:pt x="17796" y="7614"/>
                  <a:pt x="17641" y="7875"/>
                </a:cubicBezTo>
                <a:cubicBezTo>
                  <a:pt x="17486" y="8136"/>
                  <a:pt x="17353" y="8432"/>
                  <a:pt x="17339" y="8505"/>
                </a:cubicBezTo>
                <a:cubicBezTo>
                  <a:pt x="17311" y="8649"/>
                  <a:pt x="17207" y="10930"/>
                  <a:pt x="17224" y="11025"/>
                </a:cubicBezTo>
                <a:cubicBezTo>
                  <a:pt x="17230" y="11057"/>
                  <a:pt x="17362" y="10846"/>
                  <a:pt x="17518" y="10575"/>
                </a:cubicBezTo>
                <a:cubicBezTo>
                  <a:pt x="17674" y="10304"/>
                  <a:pt x="17807" y="10121"/>
                  <a:pt x="17812" y="10170"/>
                </a:cubicBezTo>
                <a:cubicBezTo>
                  <a:pt x="17818" y="10219"/>
                  <a:pt x="17785" y="11143"/>
                  <a:pt x="17739" y="12195"/>
                </a:cubicBezTo>
                <a:lnTo>
                  <a:pt x="17649" y="14085"/>
                </a:lnTo>
                <a:lnTo>
                  <a:pt x="17314" y="14130"/>
                </a:lnTo>
                <a:lnTo>
                  <a:pt x="16980" y="14220"/>
                </a:lnTo>
                <a:lnTo>
                  <a:pt x="16931" y="15300"/>
                </a:lnTo>
                <a:lnTo>
                  <a:pt x="16882" y="16380"/>
                </a:lnTo>
                <a:lnTo>
                  <a:pt x="17388" y="16380"/>
                </a:lnTo>
                <a:cubicBezTo>
                  <a:pt x="17937" y="16380"/>
                  <a:pt x="18010" y="16307"/>
                  <a:pt x="18082" y="15705"/>
                </a:cubicBezTo>
                <a:cubicBezTo>
                  <a:pt x="18103" y="15527"/>
                  <a:pt x="18234" y="12848"/>
                  <a:pt x="18376" y="9765"/>
                </a:cubicBezTo>
                <a:cubicBezTo>
                  <a:pt x="18517" y="6682"/>
                  <a:pt x="18653" y="4059"/>
                  <a:pt x="18669" y="3915"/>
                </a:cubicBezTo>
                <a:cubicBezTo>
                  <a:pt x="18693" y="3711"/>
                  <a:pt x="18737" y="3625"/>
                  <a:pt x="18873" y="3510"/>
                </a:cubicBezTo>
                <a:cubicBezTo>
                  <a:pt x="19498" y="2984"/>
                  <a:pt x="19798" y="2743"/>
                  <a:pt x="19820" y="2790"/>
                </a:cubicBezTo>
                <a:cubicBezTo>
                  <a:pt x="19849" y="2848"/>
                  <a:pt x="19823" y="3674"/>
                  <a:pt x="19788" y="3870"/>
                </a:cubicBezTo>
                <a:cubicBezTo>
                  <a:pt x="19777" y="3928"/>
                  <a:pt x="19585" y="3986"/>
                  <a:pt x="19363" y="4005"/>
                </a:cubicBezTo>
                <a:lnTo>
                  <a:pt x="18963" y="4050"/>
                </a:lnTo>
                <a:lnTo>
                  <a:pt x="18947" y="4365"/>
                </a:lnTo>
                <a:cubicBezTo>
                  <a:pt x="18939" y="4535"/>
                  <a:pt x="18923" y="4874"/>
                  <a:pt x="18914" y="5130"/>
                </a:cubicBezTo>
                <a:lnTo>
                  <a:pt x="18898" y="5580"/>
                </a:lnTo>
                <a:lnTo>
                  <a:pt x="19306" y="5580"/>
                </a:lnTo>
                <a:cubicBezTo>
                  <a:pt x="19529" y="5580"/>
                  <a:pt x="19717" y="5618"/>
                  <a:pt x="19722" y="5670"/>
                </a:cubicBezTo>
                <a:cubicBezTo>
                  <a:pt x="19728" y="5722"/>
                  <a:pt x="19715" y="5946"/>
                  <a:pt x="19698" y="6165"/>
                </a:cubicBezTo>
                <a:lnTo>
                  <a:pt x="19673" y="6570"/>
                </a:lnTo>
                <a:lnTo>
                  <a:pt x="19257" y="6615"/>
                </a:lnTo>
                <a:lnTo>
                  <a:pt x="18849" y="6660"/>
                </a:lnTo>
                <a:lnTo>
                  <a:pt x="18824" y="7155"/>
                </a:lnTo>
                <a:cubicBezTo>
                  <a:pt x="18810" y="7428"/>
                  <a:pt x="18792" y="7778"/>
                  <a:pt x="18784" y="7965"/>
                </a:cubicBezTo>
                <a:lnTo>
                  <a:pt x="18767" y="8325"/>
                </a:lnTo>
                <a:lnTo>
                  <a:pt x="19176" y="8325"/>
                </a:lnTo>
                <a:cubicBezTo>
                  <a:pt x="19517" y="8325"/>
                  <a:pt x="19581" y="8347"/>
                  <a:pt x="19592" y="8505"/>
                </a:cubicBezTo>
                <a:cubicBezTo>
                  <a:pt x="19599" y="8608"/>
                  <a:pt x="19591" y="8764"/>
                  <a:pt x="19576" y="8865"/>
                </a:cubicBezTo>
                <a:cubicBezTo>
                  <a:pt x="19553" y="9016"/>
                  <a:pt x="19471" y="9045"/>
                  <a:pt x="19135" y="9045"/>
                </a:cubicBezTo>
                <a:lnTo>
                  <a:pt x="18727" y="9045"/>
                </a:lnTo>
                <a:lnTo>
                  <a:pt x="18694" y="9855"/>
                </a:lnTo>
                <a:cubicBezTo>
                  <a:pt x="18674" y="10295"/>
                  <a:pt x="18653" y="10674"/>
                  <a:pt x="18653" y="10710"/>
                </a:cubicBezTo>
                <a:cubicBezTo>
                  <a:pt x="18653" y="10746"/>
                  <a:pt x="18844" y="10826"/>
                  <a:pt x="19069" y="10845"/>
                </a:cubicBezTo>
                <a:lnTo>
                  <a:pt x="19478" y="10845"/>
                </a:lnTo>
                <a:lnTo>
                  <a:pt x="19478" y="11160"/>
                </a:lnTo>
                <a:cubicBezTo>
                  <a:pt x="19478" y="11319"/>
                  <a:pt x="19453" y="12052"/>
                  <a:pt x="19420" y="12780"/>
                </a:cubicBezTo>
                <a:cubicBezTo>
                  <a:pt x="19365" y="14029"/>
                  <a:pt x="19357" y="14070"/>
                  <a:pt x="19306" y="14040"/>
                </a:cubicBezTo>
                <a:cubicBezTo>
                  <a:pt x="19276" y="14023"/>
                  <a:pt x="19215" y="13777"/>
                  <a:pt x="19167" y="13500"/>
                </a:cubicBezTo>
                <a:cubicBezTo>
                  <a:pt x="19078" y="12982"/>
                  <a:pt x="19069" y="12798"/>
                  <a:pt x="19118" y="11880"/>
                </a:cubicBezTo>
                <a:cubicBezTo>
                  <a:pt x="19129" y="11682"/>
                  <a:pt x="19108" y="11655"/>
                  <a:pt x="18873" y="11655"/>
                </a:cubicBezTo>
                <a:lnTo>
                  <a:pt x="18620" y="11655"/>
                </a:lnTo>
                <a:lnTo>
                  <a:pt x="18514" y="13860"/>
                </a:lnTo>
                <a:cubicBezTo>
                  <a:pt x="18457" y="15077"/>
                  <a:pt x="18408" y="16167"/>
                  <a:pt x="18408" y="16245"/>
                </a:cubicBezTo>
                <a:cubicBezTo>
                  <a:pt x="18408" y="16344"/>
                  <a:pt x="18481" y="16380"/>
                  <a:pt x="18653" y="16380"/>
                </a:cubicBezTo>
                <a:cubicBezTo>
                  <a:pt x="18898" y="16380"/>
                  <a:pt x="18901" y="16377"/>
                  <a:pt x="18922" y="16065"/>
                </a:cubicBezTo>
                <a:lnTo>
                  <a:pt x="18947" y="15750"/>
                </a:lnTo>
                <a:lnTo>
                  <a:pt x="19045" y="16065"/>
                </a:lnTo>
                <a:lnTo>
                  <a:pt x="19143" y="16380"/>
                </a:lnTo>
                <a:lnTo>
                  <a:pt x="19959" y="16335"/>
                </a:lnTo>
                <a:lnTo>
                  <a:pt x="20776" y="16335"/>
                </a:lnTo>
                <a:lnTo>
                  <a:pt x="20816" y="15525"/>
                </a:lnTo>
                <a:cubicBezTo>
                  <a:pt x="20837" y="15082"/>
                  <a:pt x="20867" y="14598"/>
                  <a:pt x="20882" y="14445"/>
                </a:cubicBezTo>
                <a:lnTo>
                  <a:pt x="20906" y="14130"/>
                </a:lnTo>
                <a:lnTo>
                  <a:pt x="20400" y="14130"/>
                </a:lnTo>
                <a:cubicBezTo>
                  <a:pt x="20118" y="14130"/>
                  <a:pt x="19893" y="14103"/>
                  <a:pt x="19886" y="14040"/>
                </a:cubicBezTo>
                <a:cubicBezTo>
                  <a:pt x="19879" y="13978"/>
                  <a:pt x="19882" y="13764"/>
                  <a:pt x="19894" y="13590"/>
                </a:cubicBezTo>
                <a:lnTo>
                  <a:pt x="19910" y="13275"/>
                </a:lnTo>
                <a:lnTo>
                  <a:pt x="20269" y="13275"/>
                </a:lnTo>
                <a:lnTo>
                  <a:pt x="20620" y="13230"/>
                </a:lnTo>
                <a:lnTo>
                  <a:pt x="20661" y="12465"/>
                </a:lnTo>
                <a:lnTo>
                  <a:pt x="20694" y="11745"/>
                </a:lnTo>
                <a:lnTo>
                  <a:pt x="20343" y="11655"/>
                </a:lnTo>
                <a:cubicBezTo>
                  <a:pt x="20012" y="11596"/>
                  <a:pt x="19993" y="11574"/>
                  <a:pt x="19992" y="11340"/>
                </a:cubicBezTo>
                <a:cubicBezTo>
                  <a:pt x="19988" y="10689"/>
                  <a:pt x="20004" y="10665"/>
                  <a:pt x="20359" y="10665"/>
                </a:cubicBezTo>
                <a:cubicBezTo>
                  <a:pt x="20781" y="10664"/>
                  <a:pt x="20810" y="10585"/>
                  <a:pt x="20890" y="9270"/>
                </a:cubicBezTo>
                <a:cubicBezTo>
                  <a:pt x="20944" y="8374"/>
                  <a:pt x="20943" y="8386"/>
                  <a:pt x="21029" y="8325"/>
                </a:cubicBezTo>
                <a:cubicBezTo>
                  <a:pt x="21111" y="8266"/>
                  <a:pt x="21115" y="8241"/>
                  <a:pt x="21143" y="7650"/>
                </a:cubicBezTo>
                <a:cubicBezTo>
                  <a:pt x="21188" y="6690"/>
                  <a:pt x="21185" y="6480"/>
                  <a:pt x="21118" y="6480"/>
                </a:cubicBezTo>
                <a:cubicBezTo>
                  <a:pt x="21087" y="6480"/>
                  <a:pt x="21059" y="6389"/>
                  <a:pt x="21053" y="6300"/>
                </a:cubicBezTo>
                <a:cubicBezTo>
                  <a:pt x="21047" y="6211"/>
                  <a:pt x="21061" y="5661"/>
                  <a:pt x="21086" y="5085"/>
                </a:cubicBezTo>
                <a:cubicBezTo>
                  <a:pt x="21111" y="4509"/>
                  <a:pt x="21126" y="4011"/>
                  <a:pt x="21127" y="3960"/>
                </a:cubicBezTo>
                <a:cubicBezTo>
                  <a:pt x="21127" y="3909"/>
                  <a:pt x="20951" y="3870"/>
                  <a:pt x="20735" y="3870"/>
                </a:cubicBezTo>
                <a:cubicBezTo>
                  <a:pt x="20504" y="3870"/>
                  <a:pt x="20343" y="3806"/>
                  <a:pt x="20335" y="3735"/>
                </a:cubicBezTo>
                <a:cubicBezTo>
                  <a:pt x="20311" y="3522"/>
                  <a:pt x="20362" y="2611"/>
                  <a:pt x="20408" y="2475"/>
                </a:cubicBezTo>
                <a:cubicBezTo>
                  <a:pt x="20435" y="2395"/>
                  <a:pt x="20677" y="2356"/>
                  <a:pt x="21029" y="2340"/>
                </a:cubicBezTo>
                <a:lnTo>
                  <a:pt x="21600" y="2295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2049" y="1260"/>
                </a:moveTo>
                <a:lnTo>
                  <a:pt x="784" y="1305"/>
                </a:lnTo>
                <a:lnTo>
                  <a:pt x="694" y="2385"/>
                </a:lnTo>
                <a:lnTo>
                  <a:pt x="612" y="3420"/>
                </a:lnTo>
                <a:lnTo>
                  <a:pt x="1853" y="3510"/>
                </a:lnTo>
                <a:cubicBezTo>
                  <a:pt x="3228" y="3579"/>
                  <a:pt x="3187" y="3511"/>
                  <a:pt x="3347" y="4365"/>
                </a:cubicBezTo>
                <a:cubicBezTo>
                  <a:pt x="3405" y="4673"/>
                  <a:pt x="3420" y="4887"/>
                  <a:pt x="3420" y="5265"/>
                </a:cubicBezTo>
                <a:cubicBezTo>
                  <a:pt x="3420" y="5669"/>
                  <a:pt x="3399" y="5848"/>
                  <a:pt x="3306" y="6390"/>
                </a:cubicBezTo>
                <a:cubicBezTo>
                  <a:pt x="3117" y="7489"/>
                  <a:pt x="2815" y="8347"/>
                  <a:pt x="2212" y="9450"/>
                </a:cubicBezTo>
                <a:lnTo>
                  <a:pt x="1886" y="10035"/>
                </a:lnTo>
                <a:lnTo>
                  <a:pt x="2376" y="12645"/>
                </a:lnTo>
                <a:lnTo>
                  <a:pt x="2865" y="15255"/>
                </a:lnTo>
                <a:lnTo>
                  <a:pt x="3404" y="15255"/>
                </a:lnTo>
                <a:cubicBezTo>
                  <a:pt x="3754" y="15258"/>
                  <a:pt x="3935" y="15203"/>
                  <a:pt x="3935" y="15120"/>
                </a:cubicBezTo>
                <a:cubicBezTo>
                  <a:pt x="3935" y="14895"/>
                  <a:pt x="3463" y="12407"/>
                  <a:pt x="3200" y="11250"/>
                </a:cubicBezTo>
                <a:cubicBezTo>
                  <a:pt x="3060" y="10632"/>
                  <a:pt x="2953" y="10092"/>
                  <a:pt x="2963" y="10035"/>
                </a:cubicBezTo>
                <a:cubicBezTo>
                  <a:pt x="2974" y="9978"/>
                  <a:pt x="3061" y="9879"/>
                  <a:pt x="3159" y="9810"/>
                </a:cubicBezTo>
                <a:cubicBezTo>
                  <a:pt x="3646" y="9471"/>
                  <a:pt x="4033" y="8321"/>
                  <a:pt x="4196" y="6705"/>
                </a:cubicBezTo>
                <a:cubicBezTo>
                  <a:pt x="4255" y="6116"/>
                  <a:pt x="4261" y="5931"/>
                  <a:pt x="4261" y="4995"/>
                </a:cubicBezTo>
                <a:cubicBezTo>
                  <a:pt x="4261" y="4065"/>
                  <a:pt x="4253" y="3855"/>
                  <a:pt x="4196" y="3285"/>
                </a:cubicBezTo>
                <a:cubicBezTo>
                  <a:pt x="4086" y="2189"/>
                  <a:pt x="3883" y="1619"/>
                  <a:pt x="3527" y="1395"/>
                </a:cubicBezTo>
                <a:cubicBezTo>
                  <a:pt x="3429" y="1334"/>
                  <a:pt x="3092" y="1264"/>
                  <a:pt x="2596" y="1260"/>
                </a:cubicBezTo>
                <a:cubicBezTo>
                  <a:pt x="2430" y="1259"/>
                  <a:pt x="2247" y="1254"/>
                  <a:pt x="2049" y="1260"/>
                </a:cubicBezTo>
                <a:close/>
                <a:moveTo>
                  <a:pt x="14996" y="4095"/>
                </a:moveTo>
                <a:lnTo>
                  <a:pt x="14922" y="5895"/>
                </a:lnTo>
                <a:cubicBezTo>
                  <a:pt x="14835" y="7965"/>
                  <a:pt x="14743" y="10416"/>
                  <a:pt x="14743" y="10575"/>
                </a:cubicBezTo>
                <a:cubicBezTo>
                  <a:pt x="14743" y="10637"/>
                  <a:pt x="14955" y="10665"/>
                  <a:pt x="15224" y="10665"/>
                </a:cubicBezTo>
                <a:cubicBezTo>
                  <a:pt x="15490" y="10665"/>
                  <a:pt x="15708" y="10700"/>
                  <a:pt x="15714" y="10755"/>
                </a:cubicBezTo>
                <a:cubicBezTo>
                  <a:pt x="15720" y="10810"/>
                  <a:pt x="15717" y="11116"/>
                  <a:pt x="15706" y="11385"/>
                </a:cubicBezTo>
                <a:cubicBezTo>
                  <a:pt x="15695" y="11654"/>
                  <a:pt x="15680" y="12020"/>
                  <a:pt x="15673" y="12240"/>
                </a:cubicBezTo>
                <a:cubicBezTo>
                  <a:pt x="15666" y="12460"/>
                  <a:pt x="15639" y="13250"/>
                  <a:pt x="15608" y="13950"/>
                </a:cubicBezTo>
                <a:cubicBezTo>
                  <a:pt x="15541" y="15478"/>
                  <a:pt x="15537" y="16069"/>
                  <a:pt x="15592" y="16245"/>
                </a:cubicBezTo>
                <a:cubicBezTo>
                  <a:pt x="15615" y="16321"/>
                  <a:pt x="15844" y="16378"/>
                  <a:pt x="16163" y="16380"/>
                </a:cubicBezTo>
                <a:lnTo>
                  <a:pt x="16694" y="16380"/>
                </a:lnTo>
                <a:lnTo>
                  <a:pt x="16735" y="15480"/>
                </a:lnTo>
                <a:cubicBezTo>
                  <a:pt x="16756" y="14986"/>
                  <a:pt x="16789" y="14474"/>
                  <a:pt x="16808" y="14355"/>
                </a:cubicBezTo>
                <a:cubicBezTo>
                  <a:pt x="16841" y="14150"/>
                  <a:pt x="16820" y="14130"/>
                  <a:pt x="16498" y="14130"/>
                </a:cubicBezTo>
                <a:cubicBezTo>
                  <a:pt x="16311" y="14130"/>
                  <a:pt x="16152" y="14091"/>
                  <a:pt x="16147" y="14040"/>
                </a:cubicBezTo>
                <a:cubicBezTo>
                  <a:pt x="16132" y="13902"/>
                  <a:pt x="16251" y="11026"/>
                  <a:pt x="16278" y="10845"/>
                </a:cubicBezTo>
                <a:cubicBezTo>
                  <a:pt x="16291" y="10752"/>
                  <a:pt x="16350" y="10665"/>
                  <a:pt x="16433" y="10665"/>
                </a:cubicBezTo>
                <a:cubicBezTo>
                  <a:pt x="16615" y="10664"/>
                  <a:pt x="16718" y="10502"/>
                  <a:pt x="16792" y="10080"/>
                </a:cubicBezTo>
                <a:cubicBezTo>
                  <a:pt x="16842" y="9790"/>
                  <a:pt x="16869" y="9432"/>
                  <a:pt x="16922" y="7965"/>
                </a:cubicBezTo>
                <a:cubicBezTo>
                  <a:pt x="16965" y="6801"/>
                  <a:pt x="16972" y="6211"/>
                  <a:pt x="16955" y="6210"/>
                </a:cubicBezTo>
                <a:cubicBezTo>
                  <a:pt x="16926" y="6209"/>
                  <a:pt x="16512" y="6864"/>
                  <a:pt x="16498" y="6930"/>
                </a:cubicBezTo>
                <a:cubicBezTo>
                  <a:pt x="16493" y="6954"/>
                  <a:pt x="16469" y="7392"/>
                  <a:pt x="16449" y="7920"/>
                </a:cubicBezTo>
                <a:lnTo>
                  <a:pt x="16416" y="8865"/>
                </a:lnTo>
                <a:lnTo>
                  <a:pt x="15829" y="8955"/>
                </a:lnTo>
                <a:cubicBezTo>
                  <a:pt x="15427" y="8999"/>
                  <a:pt x="15229" y="9071"/>
                  <a:pt x="15184" y="9180"/>
                </a:cubicBezTo>
                <a:cubicBezTo>
                  <a:pt x="15141" y="9282"/>
                  <a:pt x="15108" y="9302"/>
                  <a:pt x="15094" y="9225"/>
                </a:cubicBezTo>
                <a:cubicBezTo>
                  <a:pt x="15080" y="9148"/>
                  <a:pt x="15113" y="8918"/>
                  <a:pt x="15192" y="8640"/>
                </a:cubicBezTo>
                <a:lnTo>
                  <a:pt x="15314" y="8235"/>
                </a:lnTo>
                <a:lnTo>
                  <a:pt x="15355" y="7200"/>
                </a:lnTo>
                <a:cubicBezTo>
                  <a:pt x="15378" y="6632"/>
                  <a:pt x="15409" y="6066"/>
                  <a:pt x="15420" y="5985"/>
                </a:cubicBezTo>
                <a:cubicBezTo>
                  <a:pt x="15434" y="5884"/>
                  <a:pt x="15564" y="5832"/>
                  <a:pt x="15837" y="5805"/>
                </a:cubicBezTo>
                <a:cubicBezTo>
                  <a:pt x="16213" y="5768"/>
                  <a:pt x="16242" y="5754"/>
                  <a:pt x="16359" y="5445"/>
                </a:cubicBezTo>
                <a:cubicBezTo>
                  <a:pt x="16461" y="5176"/>
                  <a:pt x="16627" y="4823"/>
                  <a:pt x="16947" y="4185"/>
                </a:cubicBezTo>
                <a:cubicBezTo>
                  <a:pt x="16966" y="4148"/>
                  <a:pt x="16529" y="4100"/>
                  <a:pt x="15984" y="4095"/>
                </a:cubicBezTo>
                <a:lnTo>
                  <a:pt x="14996" y="4095"/>
                </a:lnTo>
                <a:close/>
                <a:moveTo>
                  <a:pt x="11837" y="4410"/>
                </a:moveTo>
                <a:cubicBezTo>
                  <a:pt x="11531" y="4420"/>
                  <a:pt x="11318" y="4631"/>
                  <a:pt x="11094" y="5130"/>
                </a:cubicBezTo>
                <a:cubicBezTo>
                  <a:pt x="10627" y="6168"/>
                  <a:pt x="10305" y="8167"/>
                  <a:pt x="10237" y="10350"/>
                </a:cubicBezTo>
                <a:cubicBezTo>
                  <a:pt x="10160" y="12813"/>
                  <a:pt x="10474" y="14725"/>
                  <a:pt x="11020" y="15120"/>
                </a:cubicBezTo>
                <a:cubicBezTo>
                  <a:pt x="11312" y="15331"/>
                  <a:pt x="11860" y="14940"/>
                  <a:pt x="12188" y="14265"/>
                </a:cubicBezTo>
                <a:lnTo>
                  <a:pt x="12310" y="13995"/>
                </a:lnTo>
                <a:lnTo>
                  <a:pt x="12359" y="12735"/>
                </a:lnTo>
                <a:cubicBezTo>
                  <a:pt x="12389" y="12039"/>
                  <a:pt x="12411" y="11452"/>
                  <a:pt x="12408" y="11430"/>
                </a:cubicBezTo>
                <a:cubicBezTo>
                  <a:pt x="12405" y="11408"/>
                  <a:pt x="12338" y="11577"/>
                  <a:pt x="12261" y="11790"/>
                </a:cubicBezTo>
                <a:cubicBezTo>
                  <a:pt x="12073" y="12313"/>
                  <a:pt x="11690" y="13010"/>
                  <a:pt x="11518" y="13140"/>
                </a:cubicBezTo>
                <a:cubicBezTo>
                  <a:pt x="11354" y="13264"/>
                  <a:pt x="11203" y="13115"/>
                  <a:pt x="11118" y="12780"/>
                </a:cubicBezTo>
                <a:cubicBezTo>
                  <a:pt x="11044" y="12487"/>
                  <a:pt x="10967" y="11717"/>
                  <a:pt x="10996" y="11565"/>
                </a:cubicBezTo>
                <a:cubicBezTo>
                  <a:pt x="11007" y="11505"/>
                  <a:pt x="11273" y="11201"/>
                  <a:pt x="11584" y="10890"/>
                </a:cubicBezTo>
                <a:cubicBezTo>
                  <a:pt x="12182" y="10292"/>
                  <a:pt x="12342" y="10041"/>
                  <a:pt x="12490" y="9450"/>
                </a:cubicBezTo>
                <a:cubicBezTo>
                  <a:pt x="12589" y="9053"/>
                  <a:pt x="12630" y="8682"/>
                  <a:pt x="12669" y="7875"/>
                </a:cubicBezTo>
                <a:cubicBezTo>
                  <a:pt x="12732" y="6594"/>
                  <a:pt x="12569" y="5280"/>
                  <a:pt x="12278" y="4725"/>
                </a:cubicBezTo>
                <a:cubicBezTo>
                  <a:pt x="12144" y="4470"/>
                  <a:pt x="12078" y="4402"/>
                  <a:pt x="11837" y="4410"/>
                </a:cubicBezTo>
                <a:close/>
                <a:moveTo>
                  <a:pt x="4596" y="4500"/>
                </a:moveTo>
                <a:lnTo>
                  <a:pt x="4571" y="4950"/>
                </a:lnTo>
                <a:cubicBezTo>
                  <a:pt x="4437" y="7980"/>
                  <a:pt x="4246" y="12545"/>
                  <a:pt x="4237" y="13005"/>
                </a:cubicBezTo>
                <a:cubicBezTo>
                  <a:pt x="4215" y="14109"/>
                  <a:pt x="4356" y="14889"/>
                  <a:pt x="4629" y="15165"/>
                </a:cubicBezTo>
                <a:cubicBezTo>
                  <a:pt x="4786" y="15324"/>
                  <a:pt x="5690" y="15159"/>
                  <a:pt x="5918" y="14940"/>
                </a:cubicBezTo>
                <a:cubicBezTo>
                  <a:pt x="6024" y="14838"/>
                  <a:pt x="6146" y="14657"/>
                  <a:pt x="6196" y="14535"/>
                </a:cubicBezTo>
                <a:cubicBezTo>
                  <a:pt x="6301" y="14278"/>
                  <a:pt x="6425" y="13605"/>
                  <a:pt x="6473" y="12960"/>
                </a:cubicBezTo>
                <a:cubicBezTo>
                  <a:pt x="6520" y="12345"/>
                  <a:pt x="6698" y="8277"/>
                  <a:pt x="6833" y="4770"/>
                </a:cubicBezTo>
                <a:lnTo>
                  <a:pt x="6841" y="4500"/>
                </a:lnTo>
                <a:lnTo>
                  <a:pt x="6490" y="4500"/>
                </a:lnTo>
                <a:lnTo>
                  <a:pt x="6131" y="4500"/>
                </a:lnTo>
                <a:lnTo>
                  <a:pt x="6065" y="6300"/>
                </a:lnTo>
                <a:cubicBezTo>
                  <a:pt x="5897" y="11087"/>
                  <a:pt x="5816" y="12280"/>
                  <a:pt x="5624" y="12825"/>
                </a:cubicBezTo>
                <a:cubicBezTo>
                  <a:pt x="5523" y="13114"/>
                  <a:pt x="5292" y="13284"/>
                  <a:pt x="5176" y="13140"/>
                </a:cubicBezTo>
                <a:cubicBezTo>
                  <a:pt x="5040" y="12972"/>
                  <a:pt x="4996" y="12748"/>
                  <a:pt x="4996" y="12195"/>
                </a:cubicBezTo>
                <a:cubicBezTo>
                  <a:pt x="4996" y="11950"/>
                  <a:pt x="5065" y="10169"/>
                  <a:pt x="5151" y="8235"/>
                </a:cubicBezTo>
                <a:cubicBezTo>
                  <a:pt x="5238" y="6301"/>
                  <a:pt x="5314" y="4650"/>
                  <a:pt x="5314" y="4590"/>
                </a:cubicBezTo>
                <a:cubicBezTo>
                  <a:pt x="5314" y="4530"/>
                  <a:pt x="5153" y="4500"/>
                  <a:pt x="4955" y="4500"/>
                </a:cubicBezTo>
                <a:lnTo>
                  <a:pt x="4596" y="4500"/>
                </a:lnTo>
                <a:close/>
                <a:moveTo>
                  <a:pt x="10237" y="4815"/>
                </a:moveTo>
                <a:lnTo>
                  <a:pt x="10073" y="4905"/>
                </a:lnTo>
                <a:cubicBezTo>
                  <a:pt x="9985" y="4950"/>
                  <a:pt x="9829" y="5056"/>
                  <a:pt x="9722" y="5130"/>
                </a:cubicBezTo>
                <a:lnTo>
                  <a:pt x="9527" y="5265"/>
                </a:lnTo>
                <a:lnTo>
                  <a:pt x="9486" y="6120"/>
                </a:lnTo>
                <a:cubicBezTo>
                  <a:pt x="9466" y="6607"/>
                  <a:pt x="9414" y="7920"/>
                  <a:pt x="9363" y="9045"/>
                </a:cubicBezTo>
                <a:cubicBezTo>
                  <a:pt x="9313" y="10170"/>
                  <a:pt x="9248" y="11626"/>
                  <a:pt x="9224" y="12240"/>
                </a:cubicBezTo>
                <a:cubicBezTo>
                  <a:pt x="9201" y="12854"/>
                  <a:pt x="9166" y="13782"/>
                  <a:pt x="9143" y="14310"/>
                </a:cubicBezTo>
                <a:lnTo>
                  <a:pt x="9094" y="15255"/>
                </a:lnTo>
                <a:lnTo>
                  <a:pt x="9437" y="15255"/>
                </a:lnTo>
                <a:lnTo>
                  <a:pt x="9780" y="15255"/>
                </a:lnTo>
                <a:lnTo>
                  <a:pt x="9910" y="12240"/>
                </a:lnTo>
                <a:cubicBezTo>
                  <a:pt x="9981" y="10587"/>
                  <a:pt x="10085" y="8239"/>
                  <a:pt x="10139" y="7020"/>
                </a:cubicBezTo>
                <a:lnTo>
                  <a:pt x="10237" y="4815"/>
                </a:lnTo>
                <a:close/>
                <a:moveTo>
                  <a:pt x="1045" y="4995"/>
                </a:moveTo>
                <a:lnTo>
                  <a:pt x="971" y="6075"/>
                </a:lnTo>
                <a:cubicBezTo>
                  <a:pt x="932" y="6671"/>
                  <a:pt x="830" y="8333"/>
                  <a:pt x="735" y="9765"/>
                </a:cubicBezTo>
                <a:cubicBezTo>
                  <a:pt x="640" y="11197"/>
                  <a:pt x="523" y="12897"/>
                  <a:pt x="482" y="13545"/>
                </a:cubicBezTo>
                <a:cubicBezTo>
                  <a:pt x="441" y="14193"/>
                  <a:pt x="401" y="14819"/>
                  <a:pt x="392" y="14940"/>
                </a:cubicBezTo>
                <a:cubicBezTo>
                  <a:pt x="377" y="15146"/>
                  <a:pt x="405" y="15152"/>
                  <a:pt x="824" y="15120"/>
                </a:cubicBezTo>
                <a:lnTo>
                  <a:pt x="1273" y="15075"/>
                </a:lnTo>
                <a:lnTo>
                  <a:pt x="1388" y="13320"/>
                </a:lnTo>
                <a:cubicBezTo>
                  <a:pt x="1508" y="11527"/>
                  <a:pt x="1755" y="7778"/>
                  <a:pt x="1853" y="6255"/>
                </a:cubicBezTo>
                <a:cubicBezTo>
                  <a:pt x="1884" y="5778"/>
                  <a:pt x="1918" y="5294"/>
                  <a:pt x="1927" y="5175"/>
                </a:cubicBezTo>
                <a:cubicBezTo>
                  <a:pt x="1941" y="4973"/>
                  <a:pt x="1910" y="4994"/>
                  <a:pt x="1494" y="4995"/>
                </a:cubicBezTo>
                <a:lnTo>
                  <a:pt x="1045" y="4995"/>
                </a:lnTo>
                <a:close/>
                <a:moveTo>
                  <a:pt x="9053" y="5625"/>
                </a:moveTo>
                <a:cubicBezTo>
                  <a:pt x="9049" y="5597"/>
                  <a:pt x="8891" y="5686"/>
                  <a:pt x="8702" y="5850"/>
                </a:cubicBezTo>
                <a:lnTo>
                  <a:pt x="8359" y="6165"/>
                </a:lnTo>
                <a:lnTo>
                  <a:pt x="8180" y="10170"/>
                </a:lnTo>
                <a:cubicBezTo>
                  <a:pt x="7933" y="15574"/>
                  <a:pt x="7864" y="16641"/>
                  <a:pt x="7722" y="17505"/>
                </a:cubicBezTo>
                <a:cubicBezTo>
                  <a:pt x="7637" y="18025"/>
                  <a:pt x="7429" y="18674"/>
                  <a:pt x="7298" y="18810"/>
                </a:cubicBezTo>
                <a:cubicBezTo>
                  <a:pt x="7231" y="18879"/>
                  <a:pt x="7223" y="18925"/>
                  <a:pt x="7200" y="19575"/>
                </a:cubicBezTo>
                <a:cubicBezTo>
                  <a:pt x="7186" y="19960"/>
                  <a:pt x="7169" y="20440"/>
                  <a:pt x="7159" y="20610"/>
                </a:cubicBezTo>
                <a:lnTo>
                  <a:pt x="7143" y="20925"/>
                </a:lnTo>
                <a:lnTo>
                  <a:pt x="6694" y="20925"/>
                </a:lnTo>
                <a:cubicBezTo>
                  <a:pt x="6448" y="20944"/>
                  <a:pt x="6239" y="20940"/>
                  <a:pt x="6229" y="20880"/>
                </a:cubicBezTo>
                <a:cubicBezTo>
                  <a:pt x="6217" y="20818"/>
                  <a:pt x="6237" y="20683"/>
                  <a:pt x="6269" y="20565"/>
                </a:cubicBezTo>
                <a:cubicBezTo>
                  <a:pt x="6361" y="20235"/>
                  <a:pt x="6348" y="19709"/>
                  <a:pt x="6237" y="19305"/>
                </a:cubicBezTo>
                <a:cubicBezTo>
                  <a:pt x="6097" y="18794"/>
                  <a:pt x="6116" y="18557"/>
                  <a:pt x="6310" y="18585"/>
                </a:cubicBezTo>
                <a:cubicBezTo>
                  <a:pt x="6409" y="18599"/>
                  <a:pt x="6431" y="18566"/>
                  <a:pt x="6441" y="18360"/>
                </a:cubicBezTo>
                <a:cubicBezTo>
                  <a:pt x="6452" y="18132"/>
                  <a:pt x="6441" y="18133"/>
                  <a:pt x="6269" y="18135"/>
                </a:cubicBezTo>
                <a:cubicBezTo>
                  <a:pt x="6046" y="18137"/>
                  <a:pt x="5977" y="18268"/>
                  <a:pt x="5967" y="18810"/>
                </a:cubicBezTo>
                <a:cubicBezTo>
                  <a:pt x="5961" y="19151"/>
                  <a:pt x="5970" y="19242"/>
                  <a:pt x="6049" y="19530"/>
                </a:cubicBezTo>
                <a:cubicBezTo>
                  <a:pt x="6150" y="19897"/>
                  <a:pt x="6156" y="19977"/>
                  <a:pt x="6106" y="20205"/>
                </a:cubicBezTo>
                <a:cubicBezTo>
                  <a:pt x="6082" y="20313"/>
                  <a:pt x="6036" y="20353"/>
                  <a:pt x="5943" y="20295"/>
                </a:cubicBezTo>
                <a:cubicBezTo>
                  <a:pt x="5810" y="20212"/>
                  <a:pt x="5811" y="20220"/>
                  <a:pt x="5804" y="20565"/>
                </a:cubicBezTo>
                <a:cubicBezTo>
                  <a:pt x="5791" y="21171"/>
                  <a:pt x="5728" y="21023"/>
                  <a:pt x="5616" y="20160"/>
                </a:cubicBezTo>
                <a:cubicBezTo>
                  <a:pt x="5559" y="19718"/>
                  <a:pt x="5510" y="19336"/>
                  <a:pt x="5510" y="19305"/>
                </a:cubicBezTo>
                <a:cubicBezTo>
                  <a:pt x="5510" y="19274"/>
                  <a:pt x="5582" y="19018"/>
                  <a:pt x="5665" y="18720"/>
                </a:cubicBezTo>
                <a:lnTo>
                  <a:pt x="5812" y="18180"/>
                </a:lnTo>
                <a:lnTo>
                  <a:pt x="5714" y="18135"/>
                </a:lnTo>
                <a:cubicBezTo>
                  <a:pt x="5624" y="18103"/>
                  <a:pt x="5594" y="18145"/>
                  <a:pt x="5494" y="18540"/>
                </a:cubicBezTo>
                <a:cubicBezTo>
                  <a:pt x="5318" y="19236"/>
                  <a:pt x="5308" y="19019"/>
                  <a:pt x="5437" y="17325"/>
                </a:cubicBezTo>
                <a:cubicBezTo>
                  <a:pt x="5451" y="17137"/>
                  <a:pt x="5434" y="17145"/>
                  <a:pt x="5347" y="17145"/>
                </a:cubicBezTo>
                <a:lnTo>
                  <a:pt x="5249" y="17145"/>
                </a:lnTo>
                <a:lnTo>
                  <a:pt x="5192" y="18090"/>
                </a:lnTo>
                <a:cubicBezTo>
                  <a:pt x="5108" y="19414"/>
                  <a:pt x="5014" y="20644"/>
                  <a:pt x="4988" y="20835"/>
                </a:cubicBezTo>
                <a:cubicBezTo>
                  <a:pt x="4972" y="20946"/>
                  <a:pt x="4919" y="20950"/>
                  <a:pt x="4808" y="20925"/>
                </a:cubicBezTo>
                <a:lnTo>
                  <a:pt x="4645" y="20925"/>
                </a:lnTo>
                <a:lnTo>
                  <a:pt x="4653" y="20565"/>
                </a:lnTo>
                <a:cubicBezTo>
                  <a:pt x="4673" y="19538"/>
                  <a:pt x="4827" y="18536"/>
                  <a:pt x="4955" y="18630"/>
                </a:cubicBezTo>
                <a:cubicBezTo>
                  <a:pt x="5012" y="18672"/>
                  <a:pt x="5037" y="18539"/>
                  <a:pt x="5037" y="18225"/>
                </a:cubicBezTo>
                <a:cubicBezTo>
                  <a:pt x="5037" y="18165"/>
                  <a:pt x="4945" y="18121"/>
                  <a:pt x="4824" y="18135"/>
                </a:cubicBezTo>
                <a:lnTo>
                  <a:pt x="4604" y="18180"/>
                </a:lnTo>
                <a:lnTo>
                  <a:pt x="4563" y="18855"/>
                </a:lnTo>
                <a:cubicBezTo>
                  <a:pt x="4542" y="19230"/>
                  <a:pt x="4505" y="19858"/>
                  <a:pt x="4473" y="20250"/>
                </a:cubicBezTo>
                <a:lnTo>
                  <a:pt x="4416" y="20970"/>
                </a:lnTo>
                <a:lnTo>
                  <a:pt x="4302" y="20970"/>
                </a:lnTo>
                <a:cubicBezTo>
                  <a:pt x="4159" y="20970"/>
                  <a:pt x="4137" y="20826"/>
                  <a:pt x="4245" y="20520"/>
                </a:cubicBezTo>
                <a:cubicBezTo>
                  <a:pt x="4411" y="20048"/>
                  <a:pt x="4485" y="18910"/>
                  <a:pt x="4384" y="18405"/>
                </a:cubicBezTo>
                <a:cubicBezTo>
                  <a:pt x="4347" y="18222"/>
                  <a:pt x="4294" y="18169"/>
                  <a:pt x="4147" y="18135"/>
                </a:cubicBezTo>
                <a:cubicBezTo>
                  <a:pt x="3979" y="18096"/>
                  <a:pt x="3944" y="18116"/>
                  <a:pt x="3837" y="18405"/>
                </a:cubicBezTo>
                <a:cubicBezTo>
                  <a:pt x="3651" y="18906"/>
                  <a:pt x="3583" y="19933"/>
                  <a:pt x="3698" y="20520"/>
                </a:cubicBezTo>
                <a:cubicBezTo>
                  <a:pt x="3729" y="20677"/>
                  <a:pt x="3747" y="20836"/>
                  <a:pt x="3739" y="20880"/>
                </a:cubicBezTo>
                <a:cubicBezTo>
                  <a:pt x="3718" y="20993"/>
                  <a:pt x="3270" y="20994"/>
                  <a:pt x="3257" y="20880"/>
                </a:cubicBezTo>
                <a:cubicBezTo>
                  <a:pt x="3252" y="20829"/>
                  <a:pt x="3348" y="20201"/>
                  <a:pt x="3469" y="19485"/>
                </a:cubicBezTo>
                <a:lnTo>
                  <a:pt x="3690" y="18180"/>
                </a:lnTo>
                <a:lnTo>
                  <a:pt x="3592" y="18135"/>
                </a:lnTo>
                <a:cubicBezTo>
                  <a:pt x="3502" y="18097"/>
                  <a:pt x="3498" y="18117"/>
                  <a:pt x="3371" y="18900"/>
                </a:cubicBezTo>
                <a:cubicBezTo>
                  <a:pt x="3299" y="19348"/>
                  <a:pt x="3226" y="19698"/>
                  <a:pt x="3216" y="19665"/>
                </a:cubicBezTo>
                <a:cubicBezTo>
                  <a:pt x="3207" y="19632"/>
                  <a:pt x="3192" y="19266"/>
                  <a:pt x="3184" y="18855"/>
                </a:cubicBezTo>
                <a:lnTo>
                  <a:pt x="3167" y="18135"/>
                </a:lnTo>
                <a:lnTo>
                  <a:pt x="3069" y="18135"/>
                </a:lnTo>
                <a:cubicBezTo>
                  <a:pt x="2976" y="18135"/>
                  <a:pt x="2972" y="18154"/>
                  <a:pt x="2849" y="18990"/>
                </a:cubicBezTo>
                <a:cubicBezTo>
                  <a:pt x="2718" y="19880"/>
                  <a:pt x="2678" y="19983"/>
                  <a:pt x="2678" y="19395"/>
                </a:cubicBezTo>
                <a:cubicBezTo>
                  <a:pt x="2677" y="19212"/>
                  <a:pt x="2669" y="18841"/>
                  <a:pt x="2661" y="18585"/>
                </a:cubicBezTo>
                <a:cubicBezTo>
                  <a:pt x="2648" y="18141"/>
                  <a:pt x="2646" y="18135"/>
                  <a:pt x="2563" y="18135"/>
                </a:cubicBezTo>
                <a:cubicBezTo>
                  <a:pt x="2461" y="18135"/>
                  <a:pt x="2457" y="18071"/>
                  <a:pt x="2506" y="19620"/>
                </a:cubicBezTo>
                <a:cubicBezTo>
                  <a:pt x="2525" y="20219"/>
                  <a:pt x="2538" y="20769"/>
                  <a:pt x="2531" y="20835"/>
                </a:cubicBezTo>
                <a:cubicBezTo>
                  <a:pt x="2512" y="21000"/>
                  <a:pt x="2255" y="21002"/>
                  <a:pt x="2237" y="20835"/>
                </a:cubicBezTo>
                <a:cubicBezTo>
                  <a:pt x="2228" y="20761"/>
                  <a:pt x="2231" y="20641"/>
                  <a:pt x="2245" y="20565"/>
                </a:cubicBezTo>
                <a:cubicBezTo>
                  <a:pt x="2287" y="20331"/>
                  <a:pt x="2278" y="20222"/>
                  <a:pt x="2212" y="20295"/>
                </a:cubicBezTo>
                <a:cubicBezTo>
                  <a:pt x="2109" y="20409"/>
                  <a:pt x="2089" y="20143"/>
                  <a:pt x="2147" y="19350"/>
                </a:cubicBezTo>
                <a:cubicBezTo>
                  <a:pt x="2195" y="18693"/>
                  <a:pt x="2197" y="18666"/>
                  <a:pt x="2286" y="18630"/>
                </a:cubicBezTo>
                <a:cubicBezTo>
                  <a:pt x="2355" y="18602"/>
                  <a:pt x="2383" y="18541"/>
                  <a:pt x="2392" y="18360"/>
                </a:cubicBezTo>
                <a:cubicBezTo>
                  <a:pt x="2401" y="18157"/>
                  <a:pt x="2396" y="18135"/>
                  <a:pt x="2335" y="18135"/>
                </a:cubicBezTo>
                <a:cubicBezTo>
                  <a:pt x="2245" y="18135"/>
                  <a:pt x="2224" y="18029"/>
                  <a:pt x="2253" y="17730"/>
                </a:cubicBezTo>
                <a:cubicBezTo>
                  <a:pt x="2272" y="17535"/>
                  <a:pt x="2264" y="17504"/>
                  <a:pt x="2220" y="17505"/>
                </a:cubicBezTo>
                <a:cubicBezTo>
                  <a:pt x="2129" y="17508"/>
                  <a:pt x="2077" y="17623"/>
                  <a:pt x="2065" y="17865"/>
                </a:cubicBezTo>
                <a:cubicBezTo>
                  <a:pt x="2058" y="18021"/>
                  <a:pt x="2030" y="18135"/>
                  <a:pt x="1992" y="18135"/>
                </a:cubicBezTo>
                <a:cubicBezTo>
                  <a:pt x="1960" y="18135"/>
                  <a:pt x="1935" y="18151"/>
                  <a:pt x="1935" y="18180"/>
                </a:cubicBezTo>
                <a:cubicBezTo>
                  <a:pt x="1935" y="18209"/>
                  <a:pt x="1933" y="18306"/>
                  <a:pt x="1927" y="18405"/>
                </a:cubicBezTo>
                <a:cubicBezTo>
                  <a:pt x="1919" y="18517"/>
                  <a:pt x="1931" y="18589"/>
                  <a:pt x="1959" y="18630"/>
                </a:cubicBezTo>
                <a:cubicBezTo>
                  <a:pt x="2004" y="18695"/>
                  <a:pt x="1999" y="18724"/>
                  <a:pt x="1943" y="19485"/>
                </a:cubicBezTo>
                <a:cubicBezTo>
                  <a:pt x="1912" y="19909"/>
                  <a:pt x="1890" y="20386"/>
                  <a:pt x="1894" y="20565"/>
                </a:cubicBezTo>
                <a:cubicBezTo>
                  <a:pt x="1900" y="20862"/>
                  <a:pt x="1891" y="20889"/>
                  <a:pt x="1812" y="20925"/>
                </a:cubicBezTo>
                <a:cubicBezTo>
                  <a:pt x="1679" y="20985"/>
                  <a:pt x="1654" y="20934"/>
                  <a:pt x="1698" y="20565"/>
                </a:cubicBezTo>
                <a:lnTo>
                  <a:pt x="1739" y="20250"/>
                </a:lnTo>
                <a:lnTo>
                  <a:pt x="1567" y="20295"/>
                </a:lnTo>
                <a:cubicBezTo>
                  <a:pt x="1416" y="20358"/>
                  <a:pt x="1400" y="20362"/>
                  <a:pt x="1355" y="20115"/>
                </a:cubicBezTo>
                <a:cubicBezTo>
                  <a:pt x="1270" y="19645"/>
                  <a:pt x="1318" y="19480"/>
                  <a:pt x="1592" y="19440"/>
                </a:cubicBezTo>
                <a:lnTo>
                  <a:pt x="1837" y="19395"/>
                </a:lnTo>
                <a:lnTo>
                  <a:pt x="1845" y="18945"/>
                </a:lnTo>
                <a:cubicBezTo>
                  <a:pt x="1850" y="18586"/>
                  <a:pt x="1841" y="18387"/>
                  <a:pt x="1812" y="18270"/>
                </a:cubicBezTo>
                <a:cubicBezTo>
                  <a:pt x="1759" y="18054"/>
                  <a:pt x="1440" y="18050"/>
                  <a:pt x="1347" y="18270"/>
                </a:cubicBezTo>
                <a:cubicBezTo>
                  <a:pt x="1229" y="18547"/>
                  <a:pt x="1148" y="19124"/>
                  <a:pt x="1135" y="19755"/>
                </a:cubicBezTo>
                <a:cubicBezTo>
                  <a:pt x="1125" y="20250"/>
                  <a:pt x="1123" y="20331"/>
                  <a:pt x="1176" y="20520"/>
                </a:cubicBezTo>
                <a:cubicBezTo>
                  <a:pt x="1208" y="20637"/>
                  <a:pt x="1231" y="20774"/>
                  <a:pt x="1224" y="20835"/>
                </a:cubicBezTo>
                <a:cubicBezTo>
                  <a:pt x="1211" y="20956"/>
                  <a:pt x="936" y="20997"/>
                  <a:pt x="914" y="20880"/>
                </a:cubicBezTo>
                <a:cubicBezTo>
                  <a:pt x="899" y="20798"/>
                  <a:pt x="918" y="20524"/>
                  <a:pt x="1061" y="18540"/>
                </a:cubicBezTo>
                <a:lnTo>
                  <a:pt x="1167" y="17145"/>
                </a:lnTo>
                <a:lnTo>
                  <a:pt x="1069" y="17145"/>
                </a:lnTo>
                <a:cubicBezTo>
                  <a:pt x="985" y="17145"/>
                  <a:pt x="968" y="17162"/>
                  <a:pt x="947" y="17460"/>
                </a:cubicBezTo>
                <a:cubicBezTo>
                  <a:pt x="934" y="17647"/>
                  <a:pt x="899" y="18198"/>
                  <a:pt x="865" y="18675"/>
                </a:cubicBezTo>
                <a:cubicBezTo>
                  <a:pt x="832" y="19152"/>
                  <a:pt x="793" y="19607"/>
                  <a:pt x="784" y="19665"/>
                </a:cubicBezTo>
                <a:cubicBezTo>
                  <a:pt x="774" y="19723"/>
                  <a:pt x="715" y="19172"/>
                  <a:pt x="645" y="18450"/>
                </a:cubicBezTo>
                <a:lnTo>
                  <a:pt x="514" y="17145"/>
                </a:lnTo>
                <a:lnTo>
                  <a:pt x="384" y="17145"/>
                </a:lnTo>
                <a:lnTo>
                  <a:pt x="261" y="17145"/>
                </a:lnTo>
                <a:lnTo>
                  <a:pt x="180" y="18315"/>
                </a:lnTo>
                <a:cubicBezTo>
                  <a:pt x="73" y="20024"/>
                  <a:pt x="51" y="20384"/>
                  <a:pt x="24" y="20295"/>
                </a:cubicBezTo>
                <a:cubicBezTo>
                  <a:pt x="22" y="20287"/>
                  <a:pt x="26" y="21476"/>
                  <a:pt x="24" y="21600"/>
                </a:cubicBezTo>
                <a:lnTo>
                  <a:pt x="21600" y="21600"/>
                </a:lnTo>
                <a:lnTo>
                  <a:pt x="21600" y="20925"/>
                </a:lnTo>
                <a:lnTo>
                  <a:pt x="14555" y="20925"/>
                </a:lnTo>
                <a:cubicBezTo>
                  <a:pt x="9875" y="20925"/>
                  <a:pt x="7506" y="20872"/>
                  <a:pt x="7502" y="20790"/>
                </a:cubicBezTo>
                <a:cubicBezTo>
                  <a:pt x="7499" y="20722"/>
                  <a:pt x="7543" y="20565"/>
                  <a:pt x="7608" y="20475"/>
                </a:cubicBezTo>
                <a:cubicBezTo>
                  <a:pt x="7800" y="20210"/>
                  <a:pt x="8126" y="19310"/>
                  <a:pt x="8253" y="18675"/>
                </a:cubicBezTo>
                <a:cubicBezTo>
                  <a:pt x="8381" y="18038"/>
                  <a:pt x="8494" y="17089"/>
                  <a:pt x="8571" y="16020"/>
                </a:cubicBezTo>
                <a:cubicBezTo>
                  <a:pt x="8623" y="15313"/>
                  <a:pt x="9068" y="5714"/>
                  <a:pt x="9053" y="5625"/>
                </a:cubicBezTo>
                <a:close/>
                <a:moveTo>
                  <a:pt x="13241" y="5715"/>
                </a:moveTo>
                <a:lnTo>
                  <a:pt x="13200" y="6615"/>
                </a:lnTo>
                <a:cubicBezTo>
                  <a:pt x="13179" y="7109"/>
                  <a:pt x="13167" y="7554"/>
                  <a:pt x="13167" y="7605"/>
                </a:cubicBezTo>
                <a:cubicBezTo>
                  <a:pt x="13168" y="7656"/>
                  <a:pt x="13253" y="7695"/>
                  <a:pt x="13363" y="7695"/>
                </a:cubicBezTo>
                <a:cubicBezTo>
                  <a:pt x="13474" y="7695"/>
                  <a:pt x="13569" y="7768"/>
                  <a:pt x="13576" y="7830"/>
                </a:cubicBezTo>
                <a:cubicBezTo>
                  <a:pt x="13591" y="7969"/>
                  <a:pt x="13548" y="9193"/>
                  <a:pt x="13518" y="9405"/>
                </a:cubicBezTo>
                <a:cubicBezTo>
                  <a:pt x="13504" y="9510"/>
                  <a:pt x="13432" y="9540"/>
                  <a:pt x="13290" y="9540"/>
                </a:cubicBezTo>
                <a:lnTo>
                  <a:pt x="13078" y="9540"/>
                </a:lnTo>
                <a:lnTo>
                  <a:pt x="13053" y="10035"/>
                </a:lnTo>
                <a:cubicBezTo>
                  <a:pt x="13041" y="10291"/>
                  <a:pt x="13027" y="10679"/>
                  <a:pt x="13020" y="10935"/>
                </a:cubicBezTo>
                <a:lnTo>
                  <a:pt x="13012" y="11430"/>
                </a:lnTo>
                <a:lnTo>
                  <a:pt x="13208" y="11430"/>
                </a:lnTo>
                <a:cubicBezTo>
                  <a:pt x="13361" y="11430"/>
                  <a:pt x="13419" y="11477"/>
                  <a:pt x="13429" y="11610"/>
                </a:cubicBezTo>
                <a:cubicBezTo>
                  <a:pt x="13435" y="11706"/>
                  <a:pt x="13413" y="12308"/>
                  <a:pt x="13388" y="12960"/>
                </a:cubicBezTo>
                <a:cubicBezTo>
                  <a:pt x="13362" y="13612"/>
                  <a:pt x="13347" y="14506"/>
                  <a:pt x="13347" y="14940"/>
                </a:cubicBezTo>
                <a:cubicBezTo>
                  <a:pt x="13347" y="15607"/>
                  <a:pt x="13349" y="15788"/>
                  <a:pt x="13396" y="16065"/>
                </a:cubicBezTo>
                <a:lnTo>
                  <a:pt x="13453" y="16380"/>
                </a:lnTo>
                <a:lnTo>
                  <a:pt x="13878" y="16380"/>
                </a:lnTo>
                <a:lnTo>
                  <a:pt x="14310" y="16380"/>
                </a:lnTo>
                <a:lnTo>
                  <a:pt x="14343" y="15480"/>
                </a:lnTo>
                <a:cubicBezTo>
                  <a:pt x="14363" y="14986"/>
                  <a:pt x="14385" y="14474"/>
                  <a:pt x="14392" y="14355"/>
                </a:cubicBezTo>
                <a:cubicBezTo>
                  <a:pt x="14403" y="14157"/>
                  <a:pt x="14377" y="14130"/>
                  <a:pt x="14131" y="14130"/>
                </a:cubicBezTo>
                <a:cubicBezTo>
                  <a:pt x="13982" y="14130"/>
                  <a:pt x="13860" y="14100"/>
                  <a:pt x="13853" y="14040"/>
                </a:cubicBezTo>
                <a:cubicBezTo>
                  <a:pt x="13841" y="13934"/>
                  <a:pt x="13920" y="11726"/>
                  <a:pt x="13943" y="11520"/>
                </a:cubicBezTo>
                <a:cubicBezTo>
                  <a:pt x="13949" y="11463"/>
                  <a:pt x="14061" y="11430"/>
                  <a:pt x="14188" y="11430"/>
                </a:cubicBezTo>
                <a:lnTo>
                  <a:pt x="14416" y="11430"/>
                </a:lnTo>
                <a:lnTo>
                  <a:pt x="14441" y="10665"/>
                </a:lnTo>
                <a:cubicBezTo>
                  <a:pt x="14456" y="10253"/>
                  <a:pt x="14475" y="9819"/>
                  <a:pt x="14482" y="9720"/>
                </a:cubicBezTo>
                <a:cubicBezTo>
                  <a:pt x="14492" y="9569"/>
                  <a:pt x="14460" y="9540"/>
                  <a:pt x="14269" y="9540"/>
                </a:cubicBezTo>
                <a:cubicBezTo>
                  <a:pt x="14107" y="9540"/>
                  <a:pt x="14039" y="9515"/>
                  <a:pt x="14033" y="9405"/>
                </a:cubicBezTo>
                <a:cubicBezTo>
                  <a:pt x="14027" y="9320"/>
                  <a:pt x="14034" y="8914"/>
                  <a:pt x="14049" y="8505"/>
                </a:cubicBezTo>
                <a:lnTo>
                  <a:pt x="14073" y="7785"/>
                </a:lnTo>
                <a:lnTo>
                  <a:pt x="14327" y="7695"/>
                </a:lnTo>
                <a:lnTo>
                  <a:pt x="14571" y="7650"/>
                </a:lnTo>
                <a:lnTo>
                  <a:pt x="14604" y="6750"/>
                </a:lnTo>
                <a:cubicBezTo>
                  <a:pt x="14626" y="6273"/>
                  <a:pt x="14645" y="5856"/>
                  <a:pt x="14645" y="5805"/>
                </a:cubicBezTo>
                <a:cubicBezTo>
                  <a:pt x="14645" y="5754"/>
                  <a:pt x="14330" y="5715"/>
                  <a:pt x="13943" y="5715"/>
                </a:cubicBezTo>
                <a:lnTo>
                  <a:pt x="13241" y="5715"/>
                </a:lnTo>
                <a:close/>
                <a:moveTo>
                  <a:pt x="11837" y="6615"/>
                </a:moveTo>
                <a:cubicBezTo>
                  <a:pt x="11888" y="6619"/>
                  <a:pt x="11929" y="6685"/>
                  <a:pt x="11959" y="6840"/>
                </a:cubicBezTo>
                <a:cubicBezTo>
                  <a:pt x="12039" y="7252"/>
                  <a:pt x="12047" y="7652"/>
                  <a:pt x="11992" y="8280"/>
                </a:cubicBezTo>
                <a:cubicBezTo>
                  <a:pt x="11942" y="8851"/>
                  <a:pt x="11824" y="9441"/>
                  <a:pt x="11714" y="9675"/>
                </a:cubicBezTo>
                <a:cubicBezTo>
                  <a:pt x="11678" y="9751"/>
                  <a:pt x="11517" y="9961"/>
                  <a:pt x="11363" y="10125"/>
                </a:cubicBezTo>
                <a:cubicBezTo>
                  <a:pt x="11209" y="10289"/>
                  <a:pt x="11069" y="10440"/>
                  <a:pt x="11053" y="10440"/>
                </a:cubicBezTo>
                <a:cubicBezTo>
                  <a:pt x="10992" y="10440"/>
                  <a:pt x="11004" y="10034"/>
                  <a:pt x="11078" y="9360"/>
                </a:cubicBezTo>
                <a:cubicBezTo>
                  <a:pt x="11242" y="7850"/>
                  <a:pt x="11616" y="6596"/>
                  <a:pt x="11837" y="6615"/>
                </a:cubicBezTo>
                <a:close/>
                <a:moveTo>
                  <a:pt x="7869" y="6705"/>
                </a:moveTo>
                <a:cubicBezTo>
                  <a:pt x="7797" y="6689"/>
                  <a:pt x="7214" y="7219"/>
                  <a:pt x="7192" y="7335"/>
                </a:cubicBezTo>
                <a:cubicBezTo>
                  <a:pt x="7164" y="7477"/>
                  <a:pt x="6841" y="14695"/>
                  <a:pt x="6841" y="15165"/>
                </a:cubicBezTo>
                <a:cubicBezTo>
                  <a:pt x="6841" y="15221"/>
                  <a:pt x="6991" y="15255"/>
                  <a:pt x="7176" y="15255"/>
                </a:cubicBezTo>
                <a:lnTo>
                  <a:pt x="7510" y="15255"/>
                </a:lnTo>
                <a:lnTo>
                  <a:pt x="7600" y="13185"/>
                </a:lnTo>
                <a:cubicBezTo>
                  <a:pt x="7723" y="10379"/>
                  <a:pt x="7878" y="6795"/>
                  <a:pt x="7878" y="6705"/>
                </a:cubicBezTo>
                <a:cubicBezTo>
                  <a:pt x="7878" y="6699"/>
                  <a:pt x="7874" y="6706"/>
                  <a:pt x="7869" y="6705"/>
                </a:cubicBezTo>
                <a:close/>
                <a:moveTo>
                  <a:pt x="15061" y="11295"/>
                </a:moveTo>
                <a:lnTo>
                  <a:pt x="14988" y="12240"/>
                </a:lnTo>
                <a:cubicBezTo>
                  <a:pt x="14948" y="12768"/>
                  <a:pt x="14905" y="13396"/>
                  <a:pt x="14890" y="13635"/>
                </a:cubicBezTo>
                <a:lnTo>
                  <a:pt x="14857" y="14085"/>
                </a:lnTo>
                <a:lnTo>
                  <a:pt x="14702" y="14130"/>
                </a:lnTo>
                <a:lnTo>
                  <a:pt x="14539" y="14175"/>
                </a:lnTo>
                <a:lnTo>
                  <a:pt x="14514" y="14805"/>
                </a:lnTo>
                <a:cubicBezTo>
                  <a:pt x="14502" y="15160"/>
                  <a:pt x="14490" y="15674"/>
                  <a:pt x="14482" y="15930"/>
                </a:cubicBezTo>
                <a:lnTo>
                  <a:pt x="14465" y="16380"/>
                </a:lnTo>
                <a:lnTo>
                  <a:pt x="14743" y="16380"/>
                </a:lnTo>
                <a:cubicBezTo>
                  <a:pt x="14897" y="16380"/>
                  <a:pt x="15056" y="16318"/>
                  <a:pt x="15094" y="16245"/>
                </a:cubicBezTo>
                <a:cubicBezTo>
                  <a:pt x="15154" y="16129"/>
                  <a:pt x="15282" y="15305"/>
                  <a:pt x="15282" y="15030"/>
                </a:cubicBezTo>
                <a:cubicBezTo>
                  <a:pt x="15282" y="14849"/>
                  <a:pt x="15511" y="11633"/>
                  <a:pt x="15535" y="11475"/>
                </a:cubicBezTo>
                <a:cubicBezTo>
                  <a:pt x="15553" y="11350"/>
                  <a:pt x="15504" y="11295"/>
                  <a:pt x="15306" y="11295"/>
                </a:cubicBezTo>
                <a:lnTo>
                  <a:pt x="15061" y="1129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045" name="图像" descr="图像">
            <a:extLst>
              <a:ext uri="{FF2B5EF4-FFF2-40B4-BE49-F238E27FC236}">
                <a16:creationId xmlns:a16="http://schemas.microsoft.com/office/drawing/2014/main" id="{D51E0695-0D99-0345-FB91-5AA17C7D3A5A}"/>
              </a:ext>
            </a:extLst>
          </p:cNvPr>
          <p:cNvPicPr>
            <a:picLocks noChangeAspect="1"/>
          </p:cNvPicPr>
          <p:nvPr/>
        </p:nvPicPr>
        <p:blipFill>
          <a:blip r:embed="rId72"/>
          <a:srcRect l="10181" t="33840" r="8725" b="35390"/>
          <a:stretch>
            <a:fillRect/>
          </a:stretch>
        </p:blipFill>
        <p:spPr>
          <a:xfrm>
            <a:off x="9910587" y="5040981"/>
            <a:ext cx="501600" cy="1266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83" extrusionOk="0">
                <a:moveTo>
                  <a:pt x="5049" y="0"/>
                </a:moveTo>
                <a:lnTo>
                  <a:pt x="5011" y="4287"/>
                </a:lnTo>
                <a:lnTo>
                  <a:pt x="4986" y="8623"/>
                </a:lnTo>
                <a:lnTo>
                  <a:pt x="3442" y="8623"/>
                </a:lnTo>
                <a:lnTo>
                  <a:pt x="1885" y="8623"/>
                </a:lnTo>
                <a:lnTo>
                  <a:pt x="1860" y="4337"/>
                </a:lnTo>
                <a:lnTo>
                  <a:pt x="1835" y="50"/>
                </a:lnTo>
                <a:lnTo>
                  <a:pt x="911" y="50"/>
                </a:lnTo>
                <a:lnTo>
                  <a:pt x="0" y="50"/>
                </a:lnTo>
                <a:lnTo>
                  <a:pt x="0" y="10767"/>
                </a:lnTo>
                <a:lnTo>
                  <a:pt x="0" y="21483"/>
                </a:lnTo>
                <a:lnTo>
                  <a:pt x="215" y="21234"/>
                </a:lnTo>
                <a:cubicBezTo>
                  <a:pt x="335" y="21107"/>
                  <a:pt x="754" y="21037"/>
                  <a:pt x="1139" y="21034"/>
                </a:cubicBezTo>
                <a:lnTo>
                  <a:pt x="1835" y="21034"/>
                </a:lnTo>
                <a:lnTo>
                  <a:pt x="1860" y="16349"/>
                </a:lnTo>
                <a:lnTo>
                  <a:pt x="1885" y="11664"/>
                </a:lnTo>
                <a:lnTo>
                  <a:pt x="3442" y="11664"/>
                </a:lnTo>
                <a:lnTo>
                  <a:pt x="4986" y="11664"/>
                </a:lnTo>
                <a:lnTo>
                  <a:pt x="5036" y="16399"/>
                </a:lnTo>
                <a:lnTo>
                  <a:pt x="5087" y="21134"/>
                </a:lnTo>
                <a:lnTo>
                  <a:pt x="5935" y="21084"/>
                </a:lnTo>
                <a:cubicBezTo>
                  <a:pt x="6401" y="21069"/>
                  <a:pt x="6817" y="21049"/>
                  <a:pt x="6858" y="21034"/>
                </a:cubicBezTo>
                <a:cubicBezTo>
                  <a:pt x="6900" y="21020"/>
                  <a:pt x="6936" y="16335"/>
                  <a:pt x="6934" y="10617"/>
                </a:cubicBezTo>
                <a:lnTo>
                  <a:pt x="6922" y="200"/>
                </a:lnTo>
                <a:lnTo>
                  <a:pt x="5985" y="100"/>
                </a:lnTo>
                <a:lnTo>
                  <a:pt x="5049" y="0"/>
                </a:lnTo>
                <a:close/>
                <a:moveTo>
                  <a:pt x="19133" y="150"/>
                </a:moveTo>
                <a:cubicBezTo>
                  <a:pt x="16416" y="502"/>
                  <a:pt x="15369" y="1877"/>
                  <a:pt x="14818" y="5782"/>
                </a:cubicBezTo>
                <a:cubicBezTo>
                  <a:pt x="14482" y="8159"/>
                  <a:pt x="14469" y="12782"/>
                  <a:pt x="14792" y="15302"/>
                </a:cubicBezTo>
                <a:cubicBezTo>
                  <a:pt x="15222" y="18658"/>
                  <a:pt x="16204" y="20412"/>
                  <a:pt x="17968" y="20985"/>
                </a:cubicBezTo>
                <a:cubicBezTo>
                  <a:pt x="19329" y="21426"/>
                  <a:pt x="19414" y="21411"/>
                  <a:pt x="20562" y="21134"/>
                </a:cubicBezTo>
                <a:lnTo>
                  <a:pt x="21600" y="20885"/>
                </a:lnTo>
                <a:lnTo>
                  <a:pt x="21600" y="19190"/>
                </a:lnTo>
                <a:cubicBezTo>
                  <a:pt x="21600" y="17723"/>
                  <a:pt x="21582" y="17511"/>
                  <a:pt x="21435" y="17745"/>
                </a:cubicBezTo>
                <a:cubicBezTo>
                  <a:pt x="21342" y="17894"/>
                  <a:pt x="20692" y="18131"/>
                  <a:pt x="19993" y="18243"/>
                </a:cubicBezTo>
                <a:cubicBezTo>
                  <a:pt x="18965" y="18408"/>
                  <a:pt x="18626" y="18303"/>
                  <a:pt x="18247" y="17795"/>
                </a:cubicBezTo>
                <a:cubicBezTo>
                  <a:pt x="17244" y="16449"/>
                  <a:pt x="16754" y="14186"/>
                  <a:pt x="16754" y="10816"/>
                </a:cubicBezTo>
                <a:cubicBezTo>
                  <a:pt x="16754" y="7277"/>
                  <a:pt x="17220" y="4684"/>
                  <a:pt x="18057" y="3589"/>
                </a:cubicBezTo>
                <a:cubicBezTo>
                  <a:pt x="18600" y="2878"/>
                  <a:pt x="19881" y="2708"/>
                  <a:pt x="20942" y="3190"/>
                </a:cubicBezTo>
                <a:lnTo>
                  <a:pt x="21600" y="3489"/>
                </a:lnTo>
                <a:lnTo>
                  <a:pt x="21600" y="1944"/>
                </a:lnTo>
                <a:cubicBezTo>
                  <a:pt x="21600" y="496"/>
                  <a:pt x="21585" y="450"/>
                  <a:pt x="21246" y="200"/>
                </a:cubicBezTo>
                <a:cubicBezTo>
                  <a:pt x="21050" y="55"/>
                  <a:pt x="20096" y="25"/>
                  <a:pt x="19133" y="150"/>
                </a:cubicBezTo>
                <a:close/>
                <a:moveTo>
                  <a:pt x="8693" y="200"/>
                </a:moveTo>
                <a:lnTo>
                  <a:pt x="7656" y="499"/>
                </a:lnTo>
                <a:lnTo>
                  <a:pt x="7656" y="1894"/>
                </a:lnTo>
                <a:lnTo>
                  <a:pt x="7656" y="3340"/>
                </a:lnTo>
                <a:lnTo>
                  <a:pt x="8162" y="3041"/>
                </a:lnTo>
                <a:cubicBezTo>
                  <a:pt x="8826" y="2626"/>
                  <a:pt x="10814" y="2523"/>
                  <a:pt x="11186" y="2891"/>
                </a:cubicBezTo>
                <a:cubicBezTo>
                  <a:pt x="11577" y="3278"/>
                  <a:pt x="11819" y="4137"/>
                  <a:pt x="11819" y="5184"/>
                </a:cubicBezTo>
                <a:cubicBezTo>
                  <a:pt x="11819" y="6644"/>
                  <a:pt x="11712" y="7298"/>
                  <a:pt x="11325" y="8075"/>
                </a:cubicBezTo>
                <a:cubicBezTo>
                  <a:pt x="11008" y="8711"/>
                  <a:pt x="10750" y="8823"/>
                  <a:pt x="9592" y="8823"/>
                </a:cubicBezTo>
                <a:lnTo>
                  <a:pt x="8238" y="8823"/>
                </a:lnTo>
                <a:lnTo>
                  <a:pt x="8238" y="10119"/>
                </a:lnTo>
                <a:lnTo>
                  <a:pt x="8238" y="11464"/>
                </a:lnTo>
                <a:lnTo>
                  <a:pt x="9667" y="11464"/>
                </a:lnTo>
                <a:cubicBezTo>
                  <a:pt x="11234" y="11465"/>
                  <a:pt x="11574" y="11811"/>
                  <a:pt x="11945" y="13807"/>
                </a:cubicBezTo>
                <a:cubicBezTo>
                  <a:pt x="12193" y="15139"/>
                  <a:pt x="12101" y="16496"/>
                  <a:pt x="11692" y="17645"/>
                </a:cubicBezTo>
                <a:cubicBezTo>
                  <a:pt x="11401" y="18464"/>
                  <a:pt x="11284" y="18542"/>
                  <a:pt x="10072" y="18542"/>
                </a:cubicBezTo>
                <a:cubicBezTo>
                  <a:pt x="9353" y="18542"/>
                  <a:pt x="8495" y="18397"/>
                  <a:pt x="8162" y="18243"/>
                </a:cubicBezTo>
                <a:lnTo>
                  <a:pt x="7554" y="17994"/>
                </a:lnTo>
                <a:lnTo>
                  <a:pt x="7554" y="19489"/>
                </a:lnTo>
                <a:lnTo>
                  <a:pt x="7554" y="20985"/>
                </a:lnTo>
                <a:lnTo>
                  <a:pt x="9123" y="21084"/>
                </a:lnTo>
                <a:cubicBezTo>
                  <a:pt x="12470" y="21307"/>
                  <a:pt x="13624" y="20424"/>
                  <a:pt x="13995" y="17346"/>
                </a:cubicBezTo>
                <a:cubicBezTo>
                  <a:pt x="14297" y="14837"/>
                  <a:pt x="14131" y="12601"/>
                  <a:pt x="13565" y="11464"/>
                </a:cubicBezTo>
                <a:cubicBezTo>
                  <a:pt x="13352" y="11036"/>
                  <a:pt x="13118" y="10717"/>
                  <a:pt x="13046" y="10717"/>
                </a:cubicBezTo>
                <a:cubicBezTo>
                  <a:pt x="12974" y="10717"/>
                  <a:pt x="12839" y="10495"/>
                  <a:pt x="12742" y="10218"/>
                </a:cubicBezTo>
                <a:cubicBezTo>
                  <a:pt x="12584" y="9761"/>
                  <a:pt x="12619" y="9589"/>
                  <a:pt x="13135" y="8573"/>
                </a:cubicBezTo>
                <a:cubicBezTo>
                  <a:pt x="13833" y="7199"/>
                  <a:pt x="14019" y="5978"/>
                  <a:pt x="13856" y="3838"/>
                </a:cubicBezTo>
                <a:cubicBezTo>
                  <a:pt x="13736" y="2268"/>
                  <a:pt x="13446" y="1501"/>
                  <a:pt x="12679" y="798"/>
                </a:cubicBezTo>
                <a:cubicBezTo>
                  <a:pt x="12027" y="200"/>
                  <a:pt x="9867" y="-117"/>
                  <a:pt x="8693" y="20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1046" name="Picture 2" descr="新易盛公司简介,成都新易盛通信技术股份有限公司企业概况_赢家财富网">
            <a:extLst>
              <a:ext uri="{FF2B5EF4-FFF2-40B4-BE49-F238E27FC236}">
                <a16:creationId xmlns:a16="http://schemas.microsoft.com/office/drawing/2014/main" id="{26F952F8-BD30-39B8-0710-DB5BDE7A02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3" cstate="print">
            <a:extLst>
              <a:ext uri="{BEBA8EAE-BF5A-486C-A8C5-ECC9F3942E4B}">
                <a14:imgProps xmlns:a14="http://schemas.microsoft.com/office/drawing/2010/main">
                  <a14:imgLayer r:embed="rId54">
                    <a14:imgEffect>
                      <a14:backgroundRemoval t="10000" b="90000" l="10000" r="90000">
                        <a14:foregroundMark x1="46000" y1="56522" x2="46000" y2="56522"/>
                        <a14:foregroundMark x1="54000" y1="56522" x2="54000" y2="56522"/>
                        <a14:foregroundMark x1="59000" y1="54348" x2="59000" y2="54348"/>
                        <a14:foregroundMark x1="67500" y1="51087" x2="67500" y2="51087"/>
                        <a14:foregroundMark x1="72000" y1="51087" x2="72000" y2="51087"/>
                        <a14:foregroundMark x1="73000" y1="36957" x2="73000" y2="36957"/>
                        <a14:foregroundMark x1="76000" y1="52174" x2="76000" y2="52174"/>
                        <a14:foregroundMark x1="86000" y1="51087" x2="86000" y2="51087"/>
                        <a14:foregroundMark x1="28000" y1="51087" x2="28000" y2="51087"/>
                        <a14:foregroundMark x1="82014" y1="51563" x2="82014" y2="515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3281" y="5616691"/>
            <a:ext cx="576840" cy="265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7" name="图片 1046">
            <a:extLst>
              <a:ext uri="{FF2B5EF4-FFF2-40B4-BE49-F238E27FC236}">
                <a16:creationId xmlns:a16="http://schemas.microsoft.com/office/drawing/2014/main" id="{748D2AFE-B7CC-31D4-6479-FF122053DAEF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BEBA8EAE-BF5A-486C-A8C5-ECC9F3942E4B}">
                <a14:imgProps xmlns:a14="http://schemas.microsoft.com/office/drawing/2010/main">
                  <a14:imgLayer r:embed="rId52">
                    <a14:imgEffect>
                      <a14:backgroundRemoval t="9644" b="94969" l="4716" r="93685">
                        <a14:foregroundMark x1="13909" y1="24319" x2="13909" y2="24319"/>
                        <a14:foregroundMark x1="13030" y1="75681" x2="13030" y2="75681"/>
                        <a14:foregroundMark x1="4956" y1="28721" x2="4956" y2="28721"/>
                        <a14:foregroundMark x1="8633" y1="95178" x2="8633" y2="95178"/>
                        <a14:foregroundMark x1="27978" y1="91824" x2="27978" y2="91824"/>
                        <a14:foregroundMark x1="29257" y1="30608" x2="29257" y2="30608"/>
                        <a14:foregroundMark x1="39408" y1="53669" x2="39408" y2="53669"/>
                        <a14:foregroundMark x1="45484" y1="53669" x2="45484" y2="53669"/>
                        <a14:foregroundMark x1="56914" y1="40671" x2="56914" y2="40671"/>
                        <a14:foregroundMark x1="62110" y1="40042" x2="62110" y2="40042"/>
                        <a14:foregroundMark x1="63389" y1="48008" x2="63389" y2="48008"/>
                        <a14:foregroundMark x1="59313" y1="62055" x2="59313" y2="62055"/>
                        <a14:foregroundMark x1="65388" y1="57023" x2="65388" y2="57023"/>
                        <a14:foregroundMark x1="69305" y1="49057" x2="69305" y2="49057"/>
                        <a14:foregroundMark x1="75140" y1="44444" x2="75140" y2="44444"/>
                        <a14:foregroundMark x1="83133" y1="42767" x2="83133" y2="42767"/>
                        <a14:foregroundMark x1="91287" y1="46960" x2="91287" y2="46960"/>
                        <a14:foregroundMark x1="93685" y1="44025" x2="93685" y2="44025"/>
                        <a14:foregroundMark x1="40288" y1="80503" x2="40288" y2="80503"/>
                        <a14:foregroundMark x1="45004" y1="80922" x2="45004" y2="80922"/>
                        <a14:foregroundMark x1="47162" y1="77568" x2="47162" y2="77568"/>
                        <a14:foregroundMark x1="53477" y1="83229" x2="53477" y2="83229"/>
                        <a14:foregroundMark x1="54756" y1="81971" x2="54756" y2="81971"/>
                        <a14:foregroundMark x1="60592" y1="81342" x2="60592" y2="81342"/>
                        <a14:foregroundMark x1="62270" y1="79874" x2="62270" y2="79874"/>
                        <a14:foregroundMark x1="64908" y1="84277" x2="64908" y2="84277"/>
                        <a14:foregroundMark x1="66906" y1="80922" x2="66906" y2="80922"/>
                        <a14:foregroundMark x1="71223" y1="79874" x2="71223" y2="79874"/>
                        <a14:foregroundMark x1="74820" y1="80922" x2="74820" y2="80922"/>
                        <a14:foregroundMark x1="79217" y1="81551" x2="79217" y2="81551"/>
                        <a14:foregroundMark x1="82414" y1="81342" x2="82414" y2="81342"/>
                        <a14:foregroundMark x1="83933" y1="80922" x2="83933" y2="80922"/>
                        <a14:foregroundMark x1="89369" y1="80922" x2="89369" y2="80922"/>
                        <a14:foregroundMark x1="92646" y1="77358" x2="92646" y2="77358"/>
                        <a14:foregroundMark x1="20783" y1="29350" x2="20783" y2="293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42941" y="5667052"/>
            <a:ext cx="431753" cy="164625"/>
          </a:xfrm>
          <a:prstGeom prst="rect">
            <a:avLst/>
          </a:prstGeom>
        </p:spPr>
      </p:pic>
      <p:pic>
        <p:nvPicPr>
          <p:cNvPr id="1049" name="图片 1048">
            <a:extLst>
              <a:ext uri="{FF2B5EF4-FFF2-40B4-BE49-F238E27FC236}">
                <a16:creationId xmlns:a16="http://schemas.microsoft.com/office/drawing/2014/main" id="{112643E4-F6C3-B276-571E-6DA2B814FCDB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BEBA8EAE-BF5A-486C-A8C5-ECC9F3942E4B}">
                <a14:imgProps xmlns:a14="http://schemas.microsoft.com/office/drawing/2010/main">
                  <a14:imgLayer r:embed="rId74">
                    <a14:imgEffect>
                      <a14:backgroundRemoval t="9420" b="89855" l="9884" r="93023">
                        <a14:foregroundMark x1="11628" y1="26087" x2="11628" y2="26087"/>
                        <a14:foregroundMark x1="31105" y1="23913" x2="31105" y2="23913"/>
                        <a14:foregroundMark x1="38081" y1="39855" x2="38081" y2="39855"/>
                        <a14:foregroundMark x1="38663" y1="18116" x2="38663" y2="18116"/>
                        <a14:foregroundMark x1="45058" y1="34058" x2="45058" y2="34058"/>
                        <a14:foregroundMark x1="88663" y1="42754" x2="88663" y2="42754"/>
                        <a14:foregroundMark x1="93023" y1="57246" x2="93023" y2="57246"/>
                      </a14:backgroundRemoval>
                    </a14:imgEffect>
                  </a14:imgLayer>
                </a14:imgProps>
              </a:ext>
            </a:extLst>
          </a:blip>
          <a:srcRect l="5064" t="10754" r="2260" b="27888"/>
          <a:stretch/>
        </p:blipFill>
        <p:spPr>
          <a:xfrm>
            <a:off x="9275625" y="3801417"/>
            <a:ext cx="504030" cy="133869"/>
          </a:xfrm>
          <a:prstGeom prst="rect">
            <a:avLst/>
          </a:prstGeom>
        </p:spPr>
      </p:pic>
      <p:sp>
        <p:nvSpPr>
          <p:cNvPr id="1051" name="矩形 1050">
            <a:extLst>
              <a:ext uri="{FF2B5EF4-FFF2-40B4-BE49-F238E27FC236}">
                <a16:creationId xmlns:a16="http://schemas.microsoft.com/office/drawing/2014/main" id="{9CA8FAD8-3AFF-D22F-C790-600157E53E3D}"/>
              </a:ext>
            </a:extLst>
          </p:cNvPr>
          <p:cNvSpPr/>
          <p:nvPr/>
        </p:nvSpPr>
        <p:spPr>
          <a:xfrm>
            <a:off x="1565012" y="5634135"/>
            <a:ext cx="897642" cy="493426"/>
          </a:xfrm>
          <a:prstGeom prst="rect">
            <a:avLst/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54" name="图片 1053">
            <a:extLst>
              <a:ext uri="{FF2B5EF4-FFF2-40B4-BE49-F238E27FC236}">
                <a16:creationId xmlns:a16="http://schemas.microsoft.com/office/drawing/2014/main" id="{B8D92A6D-6A80-0579-3E53-A24FA5A06E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74" b="89764" l="3047" r="94265">
                        <a14:foregroundMark x1="3166" y1="54068" x2="3166" y2="54068"/>
                        <a14:foregroundMark x1="9020" y1="72966" x2="9020" y2="72966"/>
                        <a14:foregroundMark x1="16428" y1="73753" x2="16428" y2="73753"/>
                        <a14:foregroundMark x1="14098" y1="54856" x2="14098" y2="54856"/>
                        <a14:foregroundMark x1="21326" y1="54856" x2="21326" y2="54856"/>
                        <a14:foregroundMark x1="24671" y1="48031" x2="24671" y2="48031"/>
                        <a14:foregroundMark x1="24851" y1="66929" x2="24851" y2="66929"/>
                        <a14:foregroundMark x1="31481" y1="74541" x2="31481" y2="74541"/>
                        <a14:foregroundMark x1="33632" y1="47244" x2="33632" y2="47244"/>
                        <a14:foregroundMark x1="42174" y1="48819" x2="42174" y2="48819"/>
                        <a14:foregroundMark x1="52509" y1="49606" x2="52509" y2="49606"/>
                        <a14:foregroundMark x1="51971" y1="71916" x2="51971" y2="71916"/>
                        <a14:foregroundMark x1="58184" y1="62467" x2="58184" y2="62467"/>
                        <a14:foregroundMark x1="58363" y1="48819" x2="58363" y2="48819"/>
                        <a14:foregroundMark x1="66189" y1="48819" x2="66189" y2="48819"/>
                        <a14:foregroundMark x1="61888" y1="73753" x2="61888" y2="73753"/>
                        <a14:foregroundMark x1="72820" y1="69291" x2="72820" y2="69291"/>
                        <a14:foregroundMark x1="72820" y1="48031" x2="72820" y2="48031"/>
                        <a14:foregroundMark x1="81959" y1="71129" x2="81959" y2="71129"/>
                        <a14:foregroundMark x1="84289" y1="54068" x2="84289" y2="54068"/>
                        <a14:foregroundMark x1="90920" y1="78740" x2="90920" y2="78740"/>
                        <a14:foregroundMark x1="90741" y1="74541" x2="90741" y2="74541"/>
                        <a14:foregroundMark x1="94265" y1="73753" x2="94265" y2="73753"/>
                        <a14:foregroundMark x1="93489" y1="59055" x2="93489" y2="59055"/>
                        <a14:foregroundMark x1="46476" y1="64304" x2="46476" y2="643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11908" y="3778846"/>
            <a:ext cx="681323" cy="155067"/>
          </a:xfrm>
          <a:prstGeom prst="rect">
            <a:avLst/>
          </a:prstGeom>
        </p:spPr>
      </p:pic>
      <p:pic>
        <p:nvPicPr>
          <p:cNvPr id="1057" name="图片 1056">
            <a:extLst>
              <a:ext uri="{FF2B5EF4-FFF2-40B4-BE49-F238E27FC236}">
                <a16:creationId xmlns:a16="http://schemas.microsoft.com/office/drawing/2014/main" id="{F8A5D412-2253-4713-2E00-4AD8051930E2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BEBA8EAE-BF5A-486C-A8C5-ECC9F3942E4B}">
                <a14:imgProps xmlns:a14="http://schemas.microsoft.com/office/drawing/2010/main">
                  <a14:imgLayer r:embed="rId41">
                    <a14:imgEffect>
                      <a14:backgroundRemoval t="10000" b="90000" l="10000" r="90000">
                        <a14:foregroundMark x1="34286" y1="64516" x2="34286" y2="64516"/>
                        <a14:foregroundMark x1="24762" y1="83871" x2="24762" y2="83871"/>
                        <a14:foregroundMark x1="33095" y1="81505" x2="33095" y2="81505"/>
                        <a14:foregroundMark x1="55000" y1="75269" x2="55000" y2="75269"/>
                        <a14:foregroundMark x1="78571" y1="75699" x2="78571" y2="756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12048" y="5261972"/>
            <a:ext cx="304385" cy="336998"/>
          </a:xfrm>
          <a:prstGeom prst="rect">
            <a:avLst/>
          </a:prstGeom>
          <a:ln>
            <a:noFill/>
          </a:ln>
        </p:spPr>
      </p:pic>
      <p:pic>
        <p:nvPicPr>
          <p:cNvPr id="1058" name="图片 1057">
            <a:extLst>
              <a:ext uri="{FF2B5EF4-FFF2-40B4-BE49-F238E27FC236}">
                <a16:creationId xmlns:a16="http://schemas.microsoft.com/office/drawing/2014/main" id="{43312D38-B2F7-ECBD-D72B-7DBE76499465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BEBA8EAE-BF5A-486C-A8C5-ECC9F3942E4B}">
                <a14:imgProps xmlns:a14="http://schemas.microsoft.com/office/drawing/2010/main">
                  <a14:imgLayer r:embed="rId35">
                    <a14:imgEffect>
                      <a14:backgroundRemoval t="9825" b="97544" l="6055" r="95872">
                        <a14:foregroundMark x1="14587" y1="42105" x2="14587" y2="42105"/>
                        <a14:foregroundMark x1="21101" y1="54737" x2="21101" y2="54737"/>
                        <a14:foregroundMark x1="27890" y1="62105" x2="27890" y2="62105"/>
                        <a14:foregroundMark x1="38349" y1="58596" x2="38349" y2="58596"/>
                        <a14:foregroundMark x1="53578" y1="50877" x2="53578" y2="50877"/>
                        <a14:foregroundMark x1="69633" y1="48070" x2="69633" y2="48070"/>
                        <a14:foregroundMark x1="78532" y1="45263" x2="78532" y2="45263"/>
                        <a14:foregroundMark x1="89541" y1="45263" x2="89541" y2="45263"/>
                        <a14:foregroundMark x1="95872" y1="76140" x2="95872" y2="76140"/>
                        <a14:foregroundMark x1="11468" y1="34737" x2="11468" y2="34737"/>
                        <a14:foregroundMark x1="6055" y1="97544" x2="6055" y2="975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25693" y="3804109"/>
            <a:ext cx="535879" cy="140115"/>
          </a:xfrm>
          <a:prstGeom prst="rect">
            <a:avLst/>
          </a:prstGeom>
          <a:ln>
            <a:noFill/>
          </a:ln>
        </p:spPr>
      </p:pic>
      <p:pic>
        <p:nvPicPr>
          <p:cNvPr id="1059" name="图片 1058">
            <a:extLst>
              <a:ext uri="{FF2B5EF4-FFF2-40B4-BE49-F238E27FC236}">
                <a16:creationId xmlns:a16="http://schemas.microsoft.com/office/drawing/2014/main" id="{28DB7AEF-2FBC-3A07-BD5D-04EEDA02A2EE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BEBA8EAE-BF5A-486C-A8C5-ECC9F3942E4B}">
                <a14:imgProps xmlns:a14="http://schemas.microsoft.com/office/drawing/2010/main">
                  <a14:imgLayer r:embed="rId35">
                    <a14:imgEffect>
                      <a14:backgroundRemoval t="9825" b="97544" l="6055" r="95872">
                        <a14:foregroundMark x1="14587" y1="42105" x2="14587" y2="42105"/>
                        <a14:foregroundMark x1="21101" y1="54737" x2="21101" y2="54737"/>
                        <a14:foregroundMark x1="27890" y1="62105" x2="27890" y2="62105"/>
                        <a14:foregroundMark x1="38349" y1="58596" x2="38349" y2="58596"/>
                        <a14:foregroundMark x1="53578" y1="50877" x2="53578" y2="50877"/>
                        <a14:foregroundMark x1="69633" y1="48070" x2="69633" y2="48070"/>
                        <a14:foregroundMark x1="78532" y1="45263" x2="78532" y2="45263"/>
                        <a14:foregroundMark x1="89541" y1="45263" x2="89541" y2="45263"/>
                        <a14:foregroundMark x1="95872" y1="76140" x2="95872" y2="76140"/>
                        <a14:foregroundMark x1="11468" y1="34737" x2="11468" y2="34737"/>
                        <a14:foregroundMark x1="6055" y1="97544" x2="6055" y2="975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16116" y="5046763"/>
            <a:ext cx="535879" cy="140115"/>
          </a:xfrm>
          <a:prstGeom prst="rect">
            <a:avLst/>
          </a:prstGeom>
          <a:ln>
            <a:noFill/>
          </a:ln>
        </p:spPr>
      </p:pic>
      <p:pic>
        <p:nvPicPr>
          <p:cNvPr id="1060" name="图片 1059">
            <a:extLst>
              <a:ext uri="{FF2B5EF4-FFF2-40B4-BE49-F238E27FC236}">
                <a16:creationId xmlns:a16="http://schemas.microsoft.com/office/drawing/2014/main" id="{E93F9B50-8835-A6A8-53BD-7CC1CA30F075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6410" b="89744" l="5067" r="94133">
                        <a14:foregroundMark x1="5333" y1="60256" x2="5333" y2="60256"/>
                        <a14:foregroundMark x1="12267" y1="61538" x2="12267" y2="61538"/>
                        <a14:foregroundMark x1="17067" y1="56410" x2="17067" y2="56410"/>
                        <a14:foregroundMark x1="28000" y1="52564" x2="28000" y2="52564"/>
                        <a14:foregroundMark x1="39467" y1="48718" x2="39467" y2="48718"/>
                        <a14:foregroundMark x1="57867" y1="53846" x2="57867" y2="53846"/>
                        <a14:foregroundMark x1="68267" y1="41026" x2="68267" y2="41026"/>
                        <a14:foregroundMark x1="77067" y1="37179" x2="77067" y2="37179"/>
                        <a14:foregroundMark x1="82667" y1="41026" x2="82667" y2="41026"/>
                        <a14:foregroundMark x1="91200" y1="53846" x2="91200" y2="53846"/>
                        <a14:foregroundMark x1="94133" y1="56410" x2="94133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215631" y="3806668"/>
            <a:ext cx="662345" cy="137768"/>
          </a:xfrm>
          <a:prstGeom prst="rect">
            <a:avLst/>
          </a:prstGeom>
        </p:spPr>
      </p:pic>
      <p:pic>
        <p:nvPicPr>
          <p:cNvPr id="1061" name="Picture 8" descr="Hon Hai Technology Group (Foxconn) Unpacks Artificial Intelligen">
            <a:extLst>
              <a:ext uri="{FF2B5EF4-FFF2-40B4-BE49-F238E27FC236}">
                <a16:creationId xmlns:a16="http://schemas.microsoft.com/office/drawing/2014/main" id="{9F309453-8FEE-5499-4B77-3F786F2E2F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5" cstate="print">
            <a:extLst>
              <a:ext uri="{BEBA8EAE-BF5A-486C-A8C5-ECC9F3942E4B}">
                <a14:imgProps xmlns:a14="http://schemas.microsoft.com/office/drawing/2010/main">
                  <a14:imgLayer r:embed="rId76">
                    <a14:imgEffect>
                      <a14:backgroundRemoval t="9375" b="89844" l="8500" r="90000">
                        <a14:foregroundMark x1="8500" y1="37500" x2="8500" y2="37500"/>
                        <a14:foregroundMark x1="30750" y1="50781" x2="30750" y2="50781"/>
                        <a14:foregroundMark x1="39250" y1="46875" x2="39250" y2="46875"/>
                        <a14:foregroundMark x1="35250" y1="38281" x2="35250" y2="38281"/>
                        <a14:foregroundMark x1="40500" y1="39844" x2="40500" y2="39844"/>
                        <a14:foregroundMark x1="33750" y1="47656" x2="33750" y2="47656"/>
                        <a14:foregroundMark x1="50500" y1="43750" x2="50500" y2="43750"/>
                        <a14:foregroundMark x1="57250" y1="40625" x2="57250" y2="40625"/>
                        <a14:foregroundMark x1="66250" y1="43750" x2="66250" y2="43750"/>
                        <a14:foregroundMark x1="75750" y1="39063" x2="75750" y2="39063"/>
                        <a14:foregroundMark x1="84750" y1="42188" x2="84750" y2="42188"/>
                        <a14:foregroundMark x1="35250" y1="46875" x2="35250" y2="4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85" t="19707" r="6994" b="19685"/>
          <a:stretch/>
        </p:blipFill>
        <p:spPr bwMode="auto">
          <a:xfrm>
            <a:off x="10658044" y="2780245"/>
            <a:ext cx="575177" cy="128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2" name="Picture 10" descr="ShunSin Company Profile 2024: Stock Performance &amp; Earnings | PitchBook">
            <a:extLst>
              <a:ext uri="{FF2B5EF4-FFF2-40B4-BE49-F238E27FC236}">
                <a16:creationId xmlns:a16="http://schemas.microsoft.com/office/drawing/2014/main" id="{093C1486-F012-063D-56E8-C2F8A08B2F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7" cstate="print">
            <a:extLst>
              <a:ext uri="{BEBA8EAE-BF5A-486C-A8C5-ECC9F3942E4B}">
                <a14:imgProps xmlns:a14="http://schemas.microsoft.com/office/drawing/2010/main">
                  <a14:imgLayer r:embed="rId78">
                    <a14:imgEffect>
                      <a14:backgroundRemoval t="10000" b="90000" l="4000" r="95000">
                        <a14:foregroundMark x1="15500" y1="56000" x2="15500" y2="56000"/>
                        <a14:foregroundMark x1="17500" y1="56000" x2="17500" y2="56000"/>
                        <a14:foregroundMark x1="17500" y1="40000" x2="17500" y2="40000"/>
                        <a14:foregroundMark x1="95000" y1="50000" x2="95000" y2="50000"/>
                        <a14:foregroundMark x1="7000" y1="43000" x2="7000" y2="43000"/>
                        <a14:foregroundMark x1="4000" y1="59000" x2="4000" y2="59000"/>
                        <a14:foregroundMark x1="74500" y1="41000" x2="74500" y2="41000"/>
                        <a14:foregroundMark x1="66038" y1="52830" x2="66038" y2="52830"/>
                        <a14:foregroundMark x1="82075" y1="38679" x2="82075" y2="38679"/>
                        <a14:backgroundMark x1="41000" y1="40500" x2="41000" y2="40500"/>
                        <a14:backgroundMark x1="90000" y1="41500" x2="90000" y2="41500"/>
                        <a14:backgroundMark x1="52500" y1="38000" x2="52500" y2="38000"/>
                        <a14:backgroundMark x1="62500" y1="53000" x2="62500" y2="53000"/>
                        <a14:backgroundMark x1="78000" y1="50500" x2="78000" y2="50500"/>
                        <a14:backgroundMark x1="77500" y1="37000" x2="77500" y2="37000"/>
                        <a14:backgroundMark x1="88500" y1="41000" x2="88500" y2="41000"/>
                        <a14:backgroundMark x1="78000" y1="62000" x2="78000" y2="62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2612" b="34146"/>
          <a:stretch/>
        </p:blipFill>
        <p:spPr bwMode="auto">
          <a:xfrm>
            <a:off x="10684479" y="5686945"/>
            <a:ext cx="441757" cy="146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图片 1063">
            <a:extLst>
              <a:ext uri="{FF2B5EF4-FFF2-40B4-BE49-F238E27FC236}">
                <a16:creationId xmlns:a16="http://schemas.microsoft.com/office/drawing/2014/main" id="{EF376E02-2217-9D8B-38B3-8974EBEA8258}"/>
              </a:ext>
            </a:extLst>
          </p:cNvPr>
          <p:cNvPicPr>
            <a:picLocks noChangeAspect="1"/>
          </p:cNvPicPr>
          <p:nvPr/>
        </p:nvPicPr>
        <p:blipFill>
          <a:blip r:embed="rId79">
            <a:extLst>
              <a:ext uri="{BEBA8EAE-BF5A-486C-A8C5-ECC9F3942E4B}">
                <a14:imgProps xmlns:a14="http://schemas.microsoft.com/office/drawing/2010/main">
                  <a14:imgLayer r:embed="rId80">
                    <a14:imgEffect>
                      <a14:backgroundRemoval t="9524" b="89524" l="4267" r="92267">
                        <a14:foregroundMark x1="8267" y1="49524" x2="8267" y2="49524"/>
                        <a14:foregroundMark x1="22667" y1="54286" x2="22667" y2="54286"/>
                        <a14:foregroundMark x1="4533" y1="48571" x2="4533" y2="48571"/>
                        <a14:foregroundMark x1="42933" y1="60952" x2="42933" y2="60952"/>
                        <a14:foregroundMark x1="53333" y1="60952" x2="53333" y2="60952"/>
                        <a14:foregroundMark x1="53867" y1="36190" x2="53867" y2="36190"/>
                        <a14:foregroundMark x1="59467" y1="59048" x2="59467" y2="59048"/>
                        <a14:foregroundMark x1="75200" y1="61905" x2="75200" y2="61905"/>
                        <a14:foregroundMark x1="73867" y1="60000" x2="73867" y2="60000"/>
                        <a14:foregroundMark x1="67733" y1="57143" x2="67733" y2="57143"/>
                        <a14:foregroundMark x1="60533" y1="63810" x2="60267" y2="78095"/>
                        <a14:foregroundMark x1="82399" y1="66738" x2="82933" y2="66667"/>
                        <a14:foregroundMark x1="75733" y1="67619" x2="77879" y2="67335"/>
                        <a14:foregroundMark x1="78309" y1="79183" x2="79733" y2="82857"/>
                        <a14:foregroundMark x1="74933" y1="70476" x2="75969" y2="73148"/>
                        <a14:foregroundMark x1="89600" y1="41905" x2="89333" y2="77143"/>
                        <a14:foregroundMark x1="92267" y1="47619" x2="92267" y2="47619"/>
                        <a14:backgroundMark x1="77333" y1="74286" x2="77333" y2="74286"/>
                        <a14:backgroundMark x1="76800" y1="77143" x2="76800" y2="77143"/>
                        <a14:backgroundMark x1="77333" y1="77143" x2="77333" y2="77143"/>
                        <a14:backgroundMark x1="77600" y1="78095" x2="77600" y2="78095"/>
                        <a14:backgroundMark x1="76533" y1="71429" x2="78667" y2="7809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54425" y="2745084"/>
            <a:ext cx="497850" cy="139398"/>
          </a:xfrm>
          <a:prstGeom prst="rect">
            <a:avLst/>
          </a:prstGeom>
        </p:spPr>
      </p:pic>
      <p:pic>
        <p:nvPicPr>
          <p:cNvPr id="1065" name="Picture 12" descr="Salience Labs Closed Series A Round Led by Applied Ventures and ICM ...">
            <a:extLst>
              <a:ext uri="{FF2B5EF4-FFF2-40B4-BE49-F238E27FC236}">
                <a16:creationId xmlns:a16="http://schemas.microsoft.com/office/drawing/2014/main" id="{5178F1E7-FE15-852F-4928-B142EFB0BF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1" cstate="print">
            <a:extLst>
              <a:ext uri="{BEBA8EAE-BF5A-486C-A8C5-ECC9F3942E4B}">
                <a14:imgProps xmlns:a14="http://schemas.microsoft.com/office/drawing/2010/main">
                  <a14:imgLayer r:embed="rId82">
                    <a14:imgEffect>
                      <a14:backgroundRemoval t="9961" b="89844" l="5273" r="92383">
                        <a14:foregroundMark x1="9570" y1="34180" x2="9570" y2="34180"/>
                        <a14:foregroundMark x1="13086" y1="29688" x2="13086" y2="29688"/>
                        <a14:foregroundMark x1="5371" y1="25977" x2="5371" y2="25977"/>
                        <a14:foregroundMark x1="9375" y1="42773" x2="9375" y2="42773"/>
                        <a14:foregroundMark x1="9473" y1="48242" x2="9473" y2="48242"/>
                        <a14:foregroundMark x1="9277" y1="54102" x2="9277" y2="54102"/>
                        <a14:foregroundMark x1="10352" y1="61328" x2="10352" y2="61328"/>
                        <a14:foregroundMark x1="16895" y1="63281" x2="16895" y2="63281"/>
                        <a14:foregroundMark x1="20117" y1="62695" x2="20117" y2="62695"/>
                        <a14:foregroundMark x1="22754" y1="59961" x2="22754" y2="59961"/>
                        <a14:foregroundMark x1="13867" y1="62695" x2="13867" y2="62695"/>
                        <a14:foregroundMark x1="24219" y1="49023" x2="24219" y2="49023"/>
                        <a14:foregroundMark x1="23730" y1="42383" x2="23730" y2="42383"/>
                        <a14:foregroundMark x1="22266" y1="38281" x2="22266" y2="38281"/>
                        <a14:foregroundMark x1="19434" y1="36914" x2="19434" y2="36914"/>
                        <a14:foregroundMark x1="16797" y1="37500" x2="16797" y2="37500"/>
                        <a14:foregroundMark x1="52246" y1="32031" x2="52246" y2="32031"/>
                        <a14:foregroundMark x1="56055" y1="33594" x2="56055" y2="33594"/>
                        <a14:foregroundMark x1="59570" y1="34375" x2="59570" y2="34375"/>
                        <a14:foregroundMark x1="59375" y1="24219" x2="59375" y2="24219"/>
                        <a14:foregroundMark x1="62305" y1="38086" x2="62305" y2="38086"/>
                        <a14:foregroundMark x1="70996" y1="36328" x2="70996" y2="36328"/>
                        <a14:foregroundMark x1="80078" y1="33789" x2="80078" y2="33789"/>
                        <a14:foregroundMark x1="92383" y1="37891" x2="92383" y2="37891"/>
                        <a14:foregroundMark x1="38477" y1="66797" x2="38477" y2="66797"/>
                        <a14:foregroundMark x1="49902" y1="65625" x2="49902" y2="65625"/>
                        <a14:foregroundMark x1="54980" y1="62500" x2="54980" y2="62500"/>
                        <a14:foregroundMark x1="64746" y1="63086" x2="64746" y2="63086"/>
                        <a14:foregroundMark x1="72559" y1="71094" x2="72559" y2="71094"/>
                        <a14:foregroundMark x1="71094" y1="71094" x2="71094" y2="71094"/>
                        <a14:foregroundMark x1="35948" y1="31169" x2="35948" y2="311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9044" r="4253" b="23908"/>
          <a:stretch/>
        </p:blipFill>
        <p:spPr bwMode="auto">
          <a:xfrm>
            <a:off x="7946682" y="3781929"/>
            <a:ext cx="516510" cy="153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7" name="图片 1066">
            <a:extLst>
              <a:ext uri="{FF2B5EF4-FFF2-40B4-BE49-F238E27FC236}">
                <a16:creationId xmlns:a16="http://schemas.microsoft.com/office/drawing/2014/main" id="{42B5BA44-EF3D-67DB-C3E9-1F2749B906F5}"/>
              </a:ext>
            </a:extLst>
          </p:cNvPr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8582919" y="3799845"/>
            <a:ext cx="317522" cy="14332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CB1957F-41FE-8229-AE1B-39F5F4057E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74" b="89764" l="3047" r="94265">
                        <a14:foregroundMark x1="3166" y1="54068" x2="3166" y2="54068"/>
                        <a14:foregroundMark x1="9020" y1="72966" x2="9020" y2="72966"/>
                        <a14:foregroundMark x1="16428" y1="73753" x2="16428" y2="73753"/>
                        <a14:foregroundMark x1="14098" y1="54856" x2="14098" y2="54856"/>
                        <a14:foregroundMark x1="21326" y1="54856" x2="21326" y2="54856"/>
                        <a14:foregroundMark x1="24671" y1="48031" x2="24671" y2="48031"/>
                        <a14:foregroundMark x1="24851" y1="66929" x2="24851" y2="66929"/>
                        <a14:foregroundMark x1="31481" y1="74541" x2="31481" y2="74541"/>
                        <a14:foregroundMark x1="33632" y1="47244" x2="33632" y2="47244"/>
                        <a14:foregroundMark x1="42174" y1="48819" x2="42174" y2="48819"/>
                        <a14:foregroundMark x1="52509" y1="49606" x2="52509" y2="49606"/>
                        <a14:foregroundMark x1="51971" y1="71916" x2="51971" y2="71916"/>
                        <a14:foregroundMark x1="58184" y1="62467" x2="58184" y2="62467"/>
                        <a14:foregroundMark x1="58363" y1="48819" x2="58363" y2="48819"/>
                        <a14:foregroundMark x1="66189" y1="48819" x2="66189" y2="48819"/>
                        <a14:foregroundMark x1="61888" y1="73753" x2="61888" y2="73753"/>
                        <a14:foregroundMark x1="72820" y1="69291" x2="72820" y2="69291"/>
                        <a14:foregroundMark x1="72820" y1="48031" x2="72820" y2="48031"/>
                        <a14:foregroundMark x1="81959" y1="71129" x2="81959" y2="71129"/>
                        <a14:foregroundMark x1="84289" y1="54068" x2="84289" y2="54068"/>
                        <a14:foregroundMark x1="90920" y1="78740" x2="90920" y2="78740"/>
                        <a14:foregroundMark x1="90741" y1="74541" x2="90741" y2="74541"/>
                        <a14:foregroundMark x1="94265" y1="73753" x2="94265" y2="73753"/>
                        <a14:foregroundMark x1="93489" y1="59055" x2="93489" y2="59055"/>
                        <a14:foregroundMark x1="46476" y1="64304" x2="46476" y2="643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814490" y="3782705"/>
            <a:ext cx="681323" cy="155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9186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" name="think-cell data - do not delete" hidden="1">
            <a:extLst>
              <a:ext uri="{FF2B5EF4-FFF2-40B4-BE49-F238E27FC236}">
                <a16:creationId xmlns:a16="http://schemas.microsoft.com/office/drawing/2014/main" id="{A990E2C8-8DD7-2A1E-C004-C710B2EDFC5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229849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5" imgW="401" imgH="401" progId="TCLayout.ActiveDocument.1">
                  <p:embed/>
                </p:oleObj>
              </mc:Choice>
              <mc:Fallback>
                <p:oleObj name="think-cell 幻灯片" r:id="rId5" imgW="401" imgH="401" progId="TCLayout.ActiveDocument.1">
                  <p:embed/>
                  <p:pic>
                    <p:nvPicPr>
                      <p:cNvPr id="7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990E2C8-8DD7-2A1E-C004-C710B2EDFC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D173622-EB81-C299-1596-6EC34F7AD6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294571"/>
              </p:ext>
            </p:extLst>
          </p:nvPr>
        </p:nvGraphicFramePr>
        <p:xfrm>
          <a:off x="1626469" y="2015286"/>
          <a:ext cx="9491980" cy="36337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98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8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83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13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54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06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Broadcom</a:t>
                      </a:r>
                      <a:endParaRPr lang="en-US" altLang="zh-CN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Nvidia</a:t>
                      </a:r>
                      <a:endParaRPr lang="en-GB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sz="1400" b="1" i="0" u="none" strike="noStrike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I</a:t>
                      </a:r>
                      <a:r>
                        <a:rPr lang="en-US" altLang="zh-CN" sz="1400" b="1" i="0" u="none" strike="noStrike" dirty="0" err="1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ntel</a:t>
                      </a:r>
                      <a:endParaRPr lang="en-GB" altLang="zh-CN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u="none" strike="noStrike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Cisco</a:t>
                      </a:r>
                      <a:endParaRPr lang="zh-CN" altLang="en-US" sz="1400" b="1" i="0" u="none" strike="noStrike" kern="1200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Marvell</a:t>
                      </a:r>
                      <a:endParaRPr lang="zh-CN" altLang="en-US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30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194657"/>
                  </a:ext>
                </a:extLst>
              </a:tr>
              <a:tr h="8030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高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herit"/>
                        <a:ea typeface="等线" panose="02010600030101010101" pitchFamily="2" charset="-122"/>
                      </a:endParaRP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30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低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391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高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Inherit"/>
                        <a:ea typeface="等线" panose="02010600030101010101" pitchFamily="2" charset="-122"/>
                      </a:endParaRP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低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低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低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9" name="文本框 38">
            <a:extLst>
              <a:ext uri="{FF2B5EF4-FFF2-40B4-BE49-F238E27FC236}">
                <a16:creationId xmlns:a16="http://schemas.microsoft.com/office/drawing/2014/main" id="{DBB163A9-DF3F-B61D-503E-72DD9D191BBF}"/>
              </a:ext>
            </a:extLst>
          </p:cNvPr>
          <p:cNvSpPr txBox="1"/>
          <p:nvPr/>
        </p:nvSpPr>
        <p:spPr>
          <a:xfrm>
            <a:off x="1628566" y="1661378"/>
            <a:ext cx="66791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latin typeface="+mj-lt"/>
              </a:rPr>
              <a:t>Capability Profile of Integrated Giants Across the CPO Value Chain</a:t>
            </a:r>
            <a:r>
              <a:rPr lang="en-US" altLang="zh-CN" sz="1400" b="1" baseline="30000" dirty="0">
                <a:latin typeface="+mj-lt"/>
              </a:rPr>
              <a:t>1</a:t>
            </a:r>
            <a:endParaRPr lang="zh-CN" altLang="en-US" sz="1400" b="1" dirty="0">
              <a:latin typeface="+mj-lt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07FA2A3E-D1BC-3BB9-FA62-6DB3A29D788B}"/>
              </a:ext>
            </a:extLst>
          </p:cNvPr>
          <p:cNvGrpSpPr/>
          <p:nvPr/>
        </p:nvGrpSpPr>
        <p:grpSpPr>
          <a:xfrm>
            <a:off x="8759071" y="1722536"/>
            <a:ext cx="1454442" cy="184666"/>
            <a:chOff x="8718258" y="1722536"/>
            <a:chExt cx="1454442" cy="184666"/>
          </a:xfrm>
        </p:grpSpPr>
        <p:sp>
          <p:nvSpPr>
            <p:cNvPr id="63" name="RectangleLegend1">
              <a:extLst>
                <a:ext uri="{FF2B5EF4-FFF2-40B4-BE49-F238E27FC236}">
                  <a16:creationId xmlns:a16="http://schemas.microsoft.com/office/drawing/2014/main" id="{95C95311-6E60-C62C-527C-1807C835EFD2}"/>
                </a:ext>
              </a:extLst>
            </p:cNvPr>
            <p:cNvSpPr/>
            <p:nvPr/>
          </p:nvSpPr>
          <p:spPr>
            <a:xfrm>
              <a:off x="8718258" y="1744794"/>
              <a:ext cx="139877" cy="140150"/>
            </a:xfrm>
            <a:prstGeom prst="rect">
              <a:avLst/>
            </a:prstGeom>
            <a:solidFill>
              <a:srgbClr val="ECF6FF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64" name="Legend1">
              <a:extLst>
                <a:ext uri="{FF2B5EF4-FFF2-40B4-BE49-F238E27FC236}">
                  <a16:creationId xmlns:a16="http://schemas.microsoft.com/office/drawing/2014/main" id="{A21CBC61-73B8-D329-A7BB-E2B20DE4B284}"/>
                </a:ext>
              </a:extLst>
            </p:cNvPr>
            <p:cNvSpPr txBox="1"/>
            <p:nvPr/>
          </p:nvSpPr>
          <p:spPr>
            <a:xfrm>
              <a:off x="9013986" y="1722536"/>
              <a:ext cx="1158714" cy="184666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kern="1200" dirty="0">
                  <a:latin typeface="+mj-lt"/>
                  <a:cs typeface="Arial" panose="020B0604020202020204" pitchFamily="34" charset="0"/>
                </a:rPr>
                <a:t>Medium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8F3A0833-8A11-F0BA-DC16-0949F790E541}"/>
              </a:ext>
            </a:extLst>
          </p:cNvPr>
          <p:cNvGrpSpPr/>
          <p:nvPr/>
        </p:nvGrpSpPr>
        <p:grpSpPr>
          <a:xfrm>
            <a:off x="7775622" y="1722536"/>
            <a:ext cx="609919" cy="184666"/>
            <a:chOff x="7883651" y="1722536"/>
            <a:chExt cx="609919" cy="184666"/>
          </a:xfrm>
        </p:grpSpPr>
        <p:sp>
          <p:nvSpPr>
            <p:cNvPr id="65" name="RectangleLegend2">
              <a:extLst>
                <a:ext uri="{FF2B5EF4-FFF2-40B4-BE49-F238E27FC236}">
                  <a16:creationId xmlns:a16="http://schemas.microsoft.com/office/drawing/2014/main" id="{D4F99125-5182-2C50-A3B0-8BD3C7F93604}"/>
                </a:ext>
              </a:extLst>
            </p:cNvPr>
            <p:cNvSpPr/>
            <p:nvPr/>
          </p:nvSpPr>
          <p:spPr>
            <a:xfrm>
              <a:off x="7883651" y="1744794"/>
              <a:ext cx="139877" cy="140150"/>
            </a:xfrm>
            <a:prstGeom prst="rect">
              <a:avLst/>
            </a:prstGeom>
            <a:solidFill>
              <a:srgbClr val="C1E1FE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66" name="Legend2">
              <a:extLst>
                <a:ext uri="{FF2B5EF4-FFF2-40B4-BE49-F238E27FC236}">
                  <a16:creationId xmlns:a16="http://schemas.microsoft.com/office/drawing/2014/main" id="{BC5DAD0F-83BC-BE63-7109-61A387C64C40}"/>
                </a:ext>
              </a:extLst>
            </p:cNvPr>
            <p:cNvSpPr txBox="1"/>
            <p:nvPr/>
          </p:nvSpPr>
          <p:spPr>
            <a:xfrm>
              <a:off x="8179381" y="1722536"/>
              <a:ext cx="314189" cy="184666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kern="1200" dirty="0">
                  <a:latin typeface="+mj-lt"/>
                  <a:cs typeface="Arial" panose="020B0604020202020204" pitchFamily="34" charset="0"/>
                </a:rPr>
                <a:t>High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</p:grpSp>
      <p:cxnSp>
        <p:nvCxnSpPr>
          <p:cNvPr id="7" name="Straight Connector 69">
            <a:extLst>
              <a:ext uri="{FF2B5EF4-FFF2-40B4-BE49-F238E27FC236}">
                <a16:creationId xmlns:a16="http://schemas.microsoft.com/office/drawing/2014/main" id="{B22629C1-D01D-4118-5C83-25C086E1D4BA}"/>
              </a:ext>
            </a:extLst>
          </p:cNvPr>
          <p:cNvCxnSpPr>
            <a:cxnSpLocks/>
          </p:cNvCxnSpPr>
          <p:nvPr>
            <p:custDataLst>
              <p:tags r:id="rId2"/>
            </p:custDataLst>
          </p:nvPr>
        </p:nvCxnSpPr>
        <p:spPr bwMode="auto">
          <a:xfrm>
            <a:off x="1593006" y="5981431"/>
            <a:ext cx="9505232" cy="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69">
            <a:extLst>
              <a:ext uri="{FF2B5EF4-FFF2-40B4-BE49-F238E27FC236}">
                <a16:creationId xmlns:a16="http://schemas.microsoft.com/office/drawing/2014/main" id="{36595FC3-2728-FB15-D1F3-E4B7D922A456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 bwMode="auto">
          <a:xfrm>
            <a:off x="1593006" y="1990529"/>
            <a:ext cx="9455994" cy="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D9C70C78-933B-E7F8-5D2C-155D416F41C8}"/>
              </a:ext>
            </a:extLst>
          </p:cNvPr>
          <p:cNvSpPr txBox="1"/>
          <p:nvPr/>
        </p:nvSpPr>
        <p:spPr>
          <a:xfrm>
            <a:off x="590645" y="2715125"/>
            <a:ext cx="839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Design</a:t>
            </a:r>
            <a:endParaRPr lang="zh-CN" altLang="en-US" sz="1400" b="1" dirty="0">
              <a:latin typeface="+mj-lt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116D8C2-58BE-C58B-E0C1-003391212D98}"/>
              </a:ext>
            </a:extLst>
          </p:cNvPr>
          <p:cNvSpPr txBox="1"/>
          <p:nvPr/>
        </p:nvSpPr>
        <p:spPr>
          <a:xfrm>
            <a:off x="436152" y="4315555"/>
            <a:ext cx="11480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Assembly &amp; Test</a:t>
            </a:r>
            <a:endParaRPr lang="en-GB" altLang="zh-CN" sz="1400" b="1" dirty="0">
              <a:latin typeface="+mj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4D567C8-D098-00D9-7AD6-4A81675E5851}"/>
              </a:ext>
            </a:extLst>
          </p:cNvPr>
          <p:cNvGrpSpPr/>
          <p:nvPr/>
        </p:nvGrpSpPr>
        <p:grpSpPr>
          <a:xfrm>
            <a:off x="10040424" y="1722536"/>
            <a:ext cx="576254" cy="184666"/>
            <a:chOff x="9533543" y="1722536"/>
            <a:chExt cx="576254" cy="184666"/>
          </a:xfrm>
        </p:grpSpPr>
        <p:sp>
          <p:nvSpPr>
            <p:cNvPr id="69" name="RectangleLegend2">
              <a:extLst>
                <a:ext uri="{FF2B5EF4-FFF2-40B4-BE49-F238E27FC236}">
                  <a16:creationId xmlns:a16="http://schemas.microsoft.com/office/drawing/2014/main" id="{03E3235E-0DA4-6B90-E57E-161F34DFC622}"/>
                </a:ext>
              </a:extLst>
            </p:cNvPr>
            <p:cNvSpPr/>
            <p:nvPr/>
          </p:nvSpPr>
          <p:spPr>
            <a:xfrm>
              <a:off x="9533543" y="1744794"/>
              <a:ext cx="139877" cy="140150"/>
            </a:xfrm>
            <a:prstGeom prst="rect">
              <a:avLst/>
            </a:prstGeom>
            <a:solidFill>
              <a:srgbClr val="F2F2F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70" name="Legend2">
              <a:extLst>
                <a:ext uri="{FF2B5EF4-FFF2-40B4-BE49-F238E27FC236}">
                  <a16:creationId xmlns:a16="http://schemas.microsoft.com/office/drawing/2014/main" id="{E043DD54-362F-B593-E8D3-0B6ACD8346F0}"/>
                </a:ext>
              </a:extLst>
            </p:cNvPr>
            <p:cNvSpPr txBox="1"/>
            <p:nvPr/>
          </p:nvSpPr>
          <p:spPr>
            <a:xfrm>
              <a:off x="9829271" y="1722536"/>
              <a:ext cx="280526" cy="184666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kern="1200" dirty="0">
                  <a:latin typeface="+mj-lt"/>
                  <a:cs typeface="Arial" panose="020B0604020202020204" pitchFamily="34" charset="0"/>
                </a:rPr>
                <a:t>Low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</p:grpSp>
      <p:sp>
        <p:nvSpPr>
          <p:cNvPr id="72" name="标题 1">
            <a:extLst>
              <a:ext uri="{FF2B5EF4-FFF2-40B4-BE49-F238E27FC236}">
                <a16:creationId xmlns:a16="http://schemas.microsoft.com/office/drawing/2014/main" id="{A1810013-68A2-F16E-DBA1-099AC5779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</p:spPr>
        <p:txBody>
          <a:bodyPr vert="horz"/>
          <a:lstStyle/>
          <a:p>
            <a:r>
              <a:rPr lang="en-US" altLang="zh-CN" dirty="0">
                <a:ea typeface="+mn-ea"/>
                <a:cs typeface="+mn-ea"/>
                <a:sym typeface="+mn-lt"/>
              </a:rPr>
              <a:t>Broadcom: the most comprehensive CPO capability profile</a:t>
            </a:r>
            <a:endParaRPr lang="zh-CN" altLang="en-US" dirty="0">
              <a:ea typeface="+mn-ea"/>
              <a:cs typeface="+mn-ea"/>
              <a:sym typeface="+mn-lt"/>
            </a:endParaRPr>
          </a:p>
        </p:txBody>
      </p: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6515AF03-53C3-EB53-6BA3-011C85BABD36}"/>
              </a:ext>
            </a:extLst>
          </p:cNvPr>
          <p:cNvGrpSpPr/>
          <p:nvPr/>
        </p:nvGrpSpPr>
        <p:grpSpPr>
          <a:xfrm>
            <a:off x="419231" y="1004660"/>
            <a:ext cx="11119054" cy="435911"/>
            <a:chOff x="419231" y="831408"/>
            <a:chExt cx="11119054" cy="435911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91A9969D-03D2-BBCD-B750-44F0B10992D8}"/>
                </a:ext>
              </a:extLst>
            </p:cNvPr>
            <p:cNvSpPr/>
            <p:nvPr/>
          </p:nvSpPr>
          <p:spPr>
            <a:xfrm>
              <a:off x="419231" y="831408"/>
              <a:ext cx="11063882" cy="435911"/>
            </a:xfrm>
            <a:prstGeom prst="rect">
              <a:avLst/>
            </a:prstGeom>
            <a:solidFill>
              <a:srgbClr val="ECF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Bef>
                  <a:spcPts val="400"/>
                </a:spcBef>
                <a:spcAft>
                  <a:spcPts val="400"/>
                </a:spcAft>
              </a:pPr>
              <a:endParaRPr lang="en-US" altLang="zh-CN" sz="1600" dirty="0">
                <a:solidFill>
                  <a:schemeClr val="accent6">
                    <a:lumMod val="10000"/>
                  </a:schemeClr>
                </a:solidFill>
                <a:latin typeface="+mj-lt"/>
                <a:cs typeface="+mn-ea"/>
                <a:sym typeface="+mn-lt"/>
              </a:endParaRPr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ECA1152D-9C6E-7E16-B7C6-21327EA77BB6}"/>
                </a:ext>
              </a:extLst>
            </p:cNvPr>
            <p:cNvSpPr txBox="1"/>
            <p:nvPr/>
          </p:nvSpPr>
          <p:spPr>
            <a:xfrm>
              <a:off x="474403" y="856047"/>
              <a:ext cx="1106388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dirty="0">
                  <a:latin typeface="+mj-lt"/>
                </a:rPr>
                <a:t>Broadcom leads the CPO ecosystem with </a:t>
              </a:r>
              <a:r>
                <a:rPr lang="en-US" altLang="zh-CN" b="1" dirty="0">
                  <a:solidFill>
                    <a:srgbClr val="0052D9"/>
                  </a:solidFill>
                  <a:latin typeface="+mj-lt"/>
                </a:rPr>
                <a:t>strong capabilities</a:t>
              </a:r>
              <a:r>
                <a:rPr lang="en-US" altLang="zh-CN" dirty="0">
                  <a:latin typeface="+mj-lt"/>
                </a:rPr>
                <a:t>.</a:t>
              </a:r>
              <a:endParaRPr lang="zh-CN" altLang="en-US" dirty="0">
                <a:latin typeface="+mj-lt"/>
                <a:cs typeface="+mn-ea"/>
                <a:sym typeface="+mn-lt"/>
              </a:endParaRPr>
            </a:p>
          </p:txBody>
        </p:sp>
      </p:grpSp>
      <p:sp>
        <p:nvSpPr>
          <p:cNvPr id="81" name="文本框 80">
            <a:extLst>
              <a:ext uri="{FF2B5EF4-FFF2-40B4-BE49-F238E27FC236}">
                <a16:creationId xmlns:a16="http://schemas.microsoft.com/office/drawing/2014/main" id="{DAE12DA0-A6F2-C020-B035-DBEA6BC96B54}"/>
              </a:ext>
            </a:extLst>
          </p:cNvPr>
          <p:cNvSpPr txBox="1"/>
          <p:nvPr/>
        </p:nvSpPr>
        <p:spPr>
          <a:xfrm>
            <a:off x="420327" y="5160867"/>
            <a:ext cx="10782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Final</a:t>
            </a:r>
          </a:p>
          <a:p>
            <a:pPr algn="ctr"/>
            <a:r>
              <a:rPr lang="en-US" altLang="zh-CN" sz="1400" b="1" dirty="0">
                <a:latin typeface="+mj-lt"/>
              </a:rPr>
              <a:t>Packaging </a:t>
            </a:r>
            <a:endParaRPr lang="zh-CN" altLang="en-US" sz="1400" b="1" dirty="0">
              <a:latin typeface="+mj-lt"/>
            </a:endParaRPr>
          </a:p>
        </p:txBody>
      </p:sp>
      <p:sp>
        <p:nvSpPr>
          <p:cNvPr id="9" name="Rectangle 157">
            <a:extLst>
              <a:ext uri="{FF2B5EF4-FFF2-40B4-BE49-F238E27FC236}">
                <a16:creationId xmlns:a16="http://schemas.microsoft.com/office/drawing/2014/main" id="{722DE60B-A408-B685-6C76-A4FECC6F47DB}"/>
              </a:ext>
            </a:extLst>
          </p:cNvPr>
          <p:cNvSpPr/>
          <p:nvPr/>
        </p:nvSpPr>
        <p:spPr>
          <a:xfrm>
            <a:off x="1612695" y="2424951"/>
            <a:ext cx="1828800" cy="812027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5" name="Rectangle 157">
            <a:extLst>
              <a:ext uri="{FF2B5EF4-FFF2-40B4-BE49-F238E27FC236}">
                <a16:creationId xmlns:a16="http://schemas.microsoft.com/office/drawing/2014/main" id="{7B10358E-163B-AA9C-3488-80E7E0861041}"/>
              </a:ext>
            </a:extLst>
          </p:cNvPr>
          <p:cNvSpPr/>
          <p:nvPr/>
        </p:nvSpPr>
        <p:spPr>
          <a:xfrm>
            <a:off x="5470537" y="2424951"/>
            <a:ext cx="1828800" cy="812027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6" name="Rectangle 157">
            <a:extLst>
              <a:ext uri="{FF2B5EF4-FFF2-40B4-BE49-F238E27FC236}">
                <a16:creationId xmlns:a16="http://schemas.microsoft.com/office/drawing/2014/main" id="{058E678D-B378-ADFB-F3C3-6895E0C40558}"/>
              </a:ext>
            </a:extLst>
          </p:cNvPr>
          <p:cNvSpPr/>
          <p:nvPr/>
        </p:nvSpPr>
        <p:spPr>
          <a:xfrm>
            <a:off x="3535496" y="2424951"/>
            <a:ext cx="1828800" cy="812027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9" name="Rectangle 157">
            <a:extLst>
              <a:ext uri="{FF2B5EF4-FFF2-40B4-BE49-F238E27FC236}">
                <a16:creationId xmlns:a16="http://schemas.microsoft.com/office/drawing/2014/main" id="{ACBDC772-893A-7DEF-631F-E9120988A640}"/>
              </a:ext>
            </a:extLst>
          </p:cNvPr>
          <p:cNvSpPr/>
          <p:nvPr/>
        </p:nvSpPr>
        <p:spPr>
          <a:xfrm>
            <a:off x="7389876" y="2424951"/>
            <a:ext cx="1828800" cy="812027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7" name="Rectangle 157">
            <a:extLst>
              <a:ext uri="{FF2B5EF4-FFF2-40B4-BE49-F238E27FC236}">
                <a16:creationId xmlns:a16="http://schemas.microsoft.com/office/drawing/2014/main" id="{51168AAE-528C-A4B0-B04C-7D41607F5C2B}"/>
              </a:ext>
            </a:extLst>
          </p:cNvPr>
          <p:cNvSpPr/>
          <p:nvPr/>
        </p:nvSpPr>
        <p:spPr>
          <a:xfrm>
            <a:off x="9299113" y="2424951"/>
            <a:ext cx="1828800" cy="812027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7" name="Rectangle 157">
            <a:extLst>
              <a:ext uri="{FF2B5EF4-FFF2-40B4-BE49-F238E27FC236}">
                <a16:creationId xmlns:a16="http://schemas.microsoft.com/office/drawing/2014/main" id="{DACED0D7-3AC0-BC69-B156-E557BFABCA48}"/>
              </a:ext>
            </a:extLst>
          </p:cNvPr>
          <p:cNvSpPr/>
          <p:nvPr/>
        </p:nvSpPr>
        <p:spPr>
          <a:xfrm>
            <a:off x="1612695" y="3288753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8" name="Rectangle 157">
            <a:extLst>
              <a:ext uri="{FF2B5EF4-FFF2-40B4-BE49-F238E27FC236}">
                <a16:creationId xmlns:a16="http://schemas.microsoft.com/office/drawing/2014/main" id="{92A70AA1-0D35-0321-D330-6A4961041B20}"/>
              </a:ext>
            </a:extLst>
          </p:cNvPr>
          <p:cNvSpPr/>
          <p:nvPr/>
        </p:nvSpPr>
        <p:spPr>
          <a:xfrm>
            <a:off x="5470537" y="3288753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9" name="Rectangle 157">
            <a:extLst>
              <a:ext uri="{FF2B5EF4-FFF2-40B4-BE49-F238E27FC236}">
                <a16:creationId xmlns:a16="http://schemas.microsoft.com/office/drawing/2014/main" id="{BAFEEEE6-164B-11D0-AD73-64F6210E8F45}"/>
              </a:ext>
            </a:extLst>
          </p:cNvPr>
          <p:cNvSpPr/>
          <p:nvPr/>
        </p:nvSpPr>
        <p:spPr>
          <a:xfrm>
            <a:off x="3535496" y="3288753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0" name="Rectangle 157">
            <a:extLst>
              <a:ext uri="{FF2B5EF4-FFF2-40B4-BE49-F238E27FC236}">
                <a16:creationId xmlns:a16="http://schemas.microsoft.com/office/drawing/2014/main" id="{1F748F27-96A7-738B-39FF-13687A7FE421}"/>
              </a:ext>
            </a:extLst>
          </p:cNvPr>
          <p:cNvSpPr/>
          <p:nvPr/>
        </p:nvSpPr>
        <p:spPr>
          <a:xfrm>
            <a:off x="7389876" y="3288753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8" name="Rectangle 157">
            <a:extLst>
              <a:ext uri="{FF2B5EF4-FFF2-40B4-BE49-F238E27FC236}">
                <a16:creationId xmlns:a16="http://schemas.microsoft.com/office/drawing/2014/main" id="{915DAF4E-B585-966F-1183-462B20CAC648}"/>
              </a:ext>
            </a:extLst>
          </p:cNvPr>
          <p:cNvSpPr/>
          <p:nvPr/>
        </p:nvSpPr>
        <p:spPr>
          <a:xfrm>
            <a:off x="9299113" y="3288753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0" name="Rectangle 157">
            <a:extLst>
              <a:ext uri="{FF2B5EF4-FFF2-40B4-BE49-F238E27FC236}">
                <a16:creationId xmlns:a16="http://schemas.microsoft.com/office/drawing/2014/main" id="{0893AA71-D03A-7F15-F448-A77C8596140E}"/>
              </a:ext>
            </a:extLst>
          </p:cNvPr>
          <p:cNvSpPr/>
          <p:nvPr/>
        </p:nvSpPr>
        <p:spPr>
          <a:xfrm>
            <a:off x="1612695" y="4154128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1" name="Rectangle 157">
            <a:extLst>
              <a:ext uri="{FF2B5EF4-FFF2-40B4-BE49-F238E27FC236}">
                <a16:creationId xmlns:a16="http://schemas.microsoft.com/office/drawing/2014/main" id="{A49F99C4-C300-B4C0-1B8C-32DAE4741017}"/>
              </a:ext>
            </a:extLst>
          </p:cNvPr>
          <p:cNvSpPr/>
          <p:nvPr/>
        </p:nvSpPr>
        <p:spPr>
          <a:xfrm>
            <a:off x="5470537" y="4154128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2" name="Rectangle 157">
            <a:extLst>
              <a:ext uri="{FF2B5EF4-FFF2-40B4-BE49-F238E27FC236}">
                <a16:creationId xmlns:a16="http://schemas.microsoft.com/office/drawing/2014/main" id="{6D8C40EE-1B50-521B-2922-97719F8F7A18}"/>
              </a:ext>
            </a:extLst>
          </p:cNvPr>
          <p:cNvSpPr/>
          <p:nvPr/>
        </p:nvSpPr>
        <p:spPr>
          <a:xfrm>
            <a:off x="3535496" y="4154128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1" name="Rectangle 157">
            <a:extLst>
              <a:ext uri="{FF2B5EF4-FFF2-40B4-BE49-F238E27FC236}">
                <a16:creationId xmlns:a16="http://schemas.microsoft.com/office/drawing/2014/main" id="{F8EF5562-347F-26A4-A506-1D11A9CBF54C}"/>
              </a:ext>
            </a:extLst>
          </p:cNvPr>
          <p:cNvSpPr/>
          <p:nvPr/>
        </p:nvSpPr>
        <p:spPr>
          <a:xfrm>
            <a:off x="7389876" y="4154128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5" name="Rectangle 157">
            <a:extLst>
              <a:ext uri="{FF2B5EF4-FFF2-40B4-BE49-F238E27FC236}">
                <a16:creationId xmlns:a16="http://schemas.microsoft.com/office/drawing/2014/main" id="{2A5BC123-6C3B-A573-7961-B9860FDDBBDF}"/>
              </a:ext>
            </a:extLst>
          </p:cNvPr>
          <p:cNvSpPr/>
          <p:nvPr/>
        </p:nvSpPr>
        <p:spPr>
          <a:xfrm>
            <a:off x="9299113" y="4154128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6" name="Rectangle 157">
            <a:extLst>
              <a:ext uri="{FF2B5EF4-FFF2-40B4-BE49-F238E27FC236}">
                <a16:creationId xmlns:a16="http://schemas.microsoft.com/office/drawing/2014/main" id="{9A8ADA32-84FB-5C22-EF5F-15BF8F4C3242}"/>
              </a:ext>
            </a:extLst>
          </p:cNvPr>
          <p:cNvSpPr/>
          <p:nvPr/>
        </p:nvSpPr>
        <p:spPr>
          <a:xfrm>
            <a:off x="1612695" y="5027627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10000"/>
                </a:schemeClr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4" name="Rectangle 157">
            <a:extLst>
              <a:ext uri="{FF2B5EF4-FFF2-40B4-BE49-F238E27FC236}">
                <a16:creationId xmlns:a16="http://schemas.microsoft.com/office/drawing/2014/main" id="{E640EAB5-380C-380B-92C4-9446786C53CC}"/>
              </a:ext>
            </a:extLst>
          </p:cNvPr>
          <p:cNvSpPr/>
          <p:nvPr/>
        </p:nvSpPr>
        <p:spPr>
          <a:xfrm>
            <a:off x="3535496" y="5027627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6" name="Rectangle 157">
            <a:extLst>
              <a:ext uri="{FF2B5EF4-FFF2-40B4-BE49-F238E27FC236}">
                <a16:creationId xmlns:a16="http://schemas.microsoft.com/office/drawing/2014/main" id="{3D2420D1-44BF-F7D9-A07B-612423152074}"/>
              </a:ext>
            </a:extLst>
          </p:cNvPr>
          <p:cNvSpPr/>
          <p:nvPr/>
        </p:nvSpPr>
        <p:spPr>
          <a:xfrm>
            <a:off x="7389876" y="5027627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7" name="Rectangle 157">
            <a:extLst>
              <a:ext uri="{FF2B5EF4-FFF2-40B4-BE49-F238E27FC236}">
                <a16:creationId xmlns:a16="http://schemas.microsoft.com/office/drawing/2014/main" id="{A7EC6F51-E5F0-BDC6-6ADF-E9EFDCB80FF0}"/>
              </a:ext>
            </a:extLst>
          </p:cNvPr>
          <p:cNvSpPr/>
          <p:nvPr/>
        </p:nvSpPr>
        <p:spPr>
          <a:xfrm>
            <a:off x="9299113" y="5027627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8" name="Rectangle 157">
            <a:extLst>
              <a:ext uri="{FF2B5EF4-FFF2-40B4-BE49-F238E27FC236}">
                <a16:creationId xmlns:a16="http://schemas.microsoft.com/office/drawing/2014/main" id="{16F7E529-CE78-2AEB-1636-28491FB53596}"/>
              </a:ext>
            </a:extLst>
          </p:cNvPr>
          <p:cNvSpPr/>
          <p:nvPr/>
        </p:nvSpPr>
        <p:spPr>
          <a:xfrm>
            <a:off x="5470537" y="5027627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pic>
        <p:nvPicPr>
          <p:cNvPr id="213" name="图像" descr="图像">
            <a:extLst>
              <a:ext uri="{FF2B5EF4-FFF2-40B4-BE49-F238E27FC236}">
                <a16:creationId xmlns:a16="http://schemas.microsoft.com/office/drawing/2014/main" id="{BCA99E9E-A445-EF79-44C8-DD8EDCE946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65399" y="3564917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18" name="图像" descr="图像">
            <a:extLst>
              <a:ext uri="{FF2B5EF4-FFF2-40B4-BE49-F238E27FC236}">
                <a16:creationId xmlns:a16="http://schemas.microsoft.com/office/drawing/2014/main" id="{02092A1C-35F9-0292-A1CD-503886F369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77746" y="4468982"/>
            <a:ext cx="473606" cy="1747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19" name="图像" descr="图像">
            <a:extLst>
              <a:ext uri="{FF2B5EF4-FFF2-40B4-BE49-F238E27FC236}">
                <a16:creationId xmlns:a16="http://schemas.microsoft.com/office/drawing/2014/main" id="{67846C9F-B23B-9854-81C5-E7A80C8233B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21407" y="4447890"/>
            <a:ext cx="542228" cy="216892"/>
          </a:xfrm>
          <a:prstGeom prst="rect">
            <a:avLst/>
          </a:prstGeom>
          <a:ln w="12700">
            <a:miter lim="400000"/>
          </a:ln>
        </p:spPr>
      </p:pic>
      <p:pic>
        <p:nvPicPr>
          <p:cNvPr id="220" name="图像" descr="图像">
            <a:extLst>
              <a:ext uri="{FF2B5EF4-FFF2-40B4-BE49-F238E27FC236}">
                <a16:creationId xmlns:a16="http://schemas.microsoft.com/office/drawing/2014/main" id="{B375E56F-449B-1D15-3709-62FCE22989B4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29736" b="29786"/>
          <a:stretch>
            <a:fillRect/>
          </a:stretch>
        </p:blipFill>
        <p:spPr>
          <a:xfrm>
            <a:off x="1741765" y="5389532"/>
            <a:ext cx="576500" cy="104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686"/>
                </a:lnTo>
                <a:lnTo>
                  <a:pt x="4832" y="686"/>
                </a:lnTo>
                <a:cubicBezTo>
                  <a:pt x="9969" y="652"/>
                  <a:pt x="10193" y="636"/>
                  <a:pt x="9266" y="1166"/>
                </a:cubicBezTo>
                <a:cubicBezTo>
                  <a:pt x="8789" y="1438"/>
                  <a:pt x="8072" y="2110"/>
                  <a:pt x="7651" y="2674"/>
                </a:cubicBezTo>
                <a:lnTo>
                  <a:pt x="7316" y="3154"/>
                </a:lnTo>
                <a:lnTo>
                  <a:pt x="7266" y="4594"/>
                </a:lnTo>
                <a:cubicBezTo>
                  <a:pt x="7238" y="5380"/>
                  <a:pt x="7224" y="6007"/>
                  <a:pt x="7229" y="6034"/>
                </a:cubicBezTo>
                <a:cubicBezTo>
                  <a:pt x="7234" y="6062"/>
                  <a:pt x="7336" y="5958"/>
                  <a:pt x="7453" y="5760"/>
                </a:cubicBezTo>
                <a:cubicBezTo>
                  <a:pt x="7705" y="5332"/>
                  <a:pt x="8346" y="4367"/>
                  <a:pt x="8707" y="3909"/>
                </a:cubicBezTo>
                <a:cubicBezTo>
                  <a:pt x="9236" y="3238"/>
                  <a:pt x="10439" y="2121"/>
                  <a:pt x="10856" y="1920"/>
                </a:cubicBezTo>
                <a:cubicBezTo>
                  <a:pt x="10943" y="1878"/>
                  <a:pt x="11173" y="1815"/>
                  <a:pt x="11365" y="1714"/>
                </a:cubicBezTo>
                <a:cubicBezTo>
                  <a:pt x="11557" y="1614"/>
                  <a:pt x="11881" y="1486"/>
                  <a:pt x="12086" y="1440"/>
                </a:cubicBezTo>
                <a:cubicBezTo>
                  <a:pt x="12469" y="1354"/>
                  <a:pt x="12471" y="1240"/>
                  <a:pt x="12123" y="1029"/>
                </a:cubicBezTo>
                <a:cubicBezTo>
                  <a:pt x="12042" y="979"/>
                  <a:pt x="11974" y="891"/>
                  <a:pt x="11974" y="823"/>
                </a:cubicBezTo>
                <a:cubicBezTo>
                  <a:pt x="11974" y="700"/>
                  <a:pt x="13458" y="568"/>
                  <a:pt x="13514" y="686"/>
                </a:cubicBezTo>
                <a:cubicBezTo>
                  <a:pt x="13532" y="725"/>
                  <a:pt x="13526" y="934"/>
                  <a:pt x="13489" y="1440"/>
                </a:cubicBezTo>
                <a:cubicBezTo>
                  <a:pt x="13460" y="1837"/>
                  <a:pt x="13396" y="2762"/>
                  <a:pt x="13353" y="3429"/>
                </a:cubicBezTo>
                <a:lnTo>
                  <a:pt x="13278" y="4594"/>
                </a:lnTo>
                <a:lnTo>
                  <a:pt x="13986" y="4594"/>
                </a:lnTo>
                <a:lnTo>
                  <a:pt x="14694" y="4526"/>
                </a:lnTo>
                <a:lnTo>
                  <a:pt x="14731" y="3771"/>
                </a:lnTo>
                <a:cubicBezTo>
                  <a:pt x="14781" y="2480"/>
                  <a:pt x="14813" y="2644"/>
                  <a:pt x="14309" y="2606"/>
                </a:cubicBezTo>
                <a:cubicBezTo>
                  <a:pt x="13799" y="2567"/>
                  <a:pt x="13832" y="2667"/>
                  <a:pt x="13936" y="1371"/>
                </a:cubicBezTo>
                <a:lnTo>
                  <a:pt x="13986" y="617"/>
                </a:lnTo>
                <a:lnTo>
                  <a:pt x="14682" y="617"/>
                </a:lnTo>
                <a:cubicBezTo>
                  <a:pt x="15063" y="617"/>
                  <a:pt x="15384" y="653"/>
                  <a:pt x="15390" y="686"/>
                </a:cubicBezTo>
                <a:cubicBezTo>
                  <a:pt x="15399" y="738"/>
                  <a:pt x="15378" y="1498"/>
                  <a:pt x="15327" y="3086"/>
                </a:cubicBezTo>
                <a:lnTo>
                  <a:pt x="15315" y="3497"/>
                </a:lnTo>
                <a:lnTo>
                  <a:pt x="15539" y="3497"/>
                </a:lnTo>
                <a:lnTo>
                  <a:pt x="15762" y="3497"/>
                </a:lnTo>
                <a:lnTo>
                  <a:pt x="15824" y="2126"/>
                </a:lnTo>
                <a:lnTo>
                  <a:pt x="15899" y="686"/>
                </a:lnTo>
                <a:lnTo>
                  <a:pt x="16073" y="686"/>
                </a:lnTo>
                <a:cubicBezTo>
                  <a:pt x="16170" y="666"/>
                  <a:pt x="16260" y="690"/>
                  <a:pt x="16271" y="754"/>
                </a:cubicBezTo>
                <a:cubicBezTo>
                  <a:pt x="16285" y="827"/>
                  <a:pt x="16270" y="1350"/>
                  <a:pt x="16234" y="2126"/>
                </a:cubicBezTo>
                <a:cubicBezTo>
                  <a:pt x="16202" y="2811"/>
                  <a:pt x="16172" y="3390"/>
                  <a:pt x="16172" y="3429"/>
                </a:cubicBezTo>
                <a:cubicBezTo>
                  <a:pt x="16172" y="3467"/>
                  <a:pt x="16287" y="3498"/>
                  <a:pt x="16420" y="3497"/>
                </a:cubicBezTo>
                <a:lnTo>
                  <a:pt x="16656" y="3497"/>
                </a:lnTo>
                <a:lnTo>
                  <a:pt x="16743" y="2126"/>
                </a:lnTo>
                <a:lnTo>
                  <a:pt x="16843" y="686"/>
                </a:lnTo>
                <a:lnTo>
                  <a:pt x="17551" y="686"/>
                </a:lnTo>
                <a:lnTo>
                  <a:pt x="18259" y="686"/>
                </a:lnTo>
                <a:lnTo>
                  <a:pt x="18246" y="1029"/>
                </a:lnTo>
                <a:cubicBezTo>
                  <a:pt x="18242" y="1198"/>
                  <a:pt x="18223" y="1477"/>
                  <a:pt x="18209" y="1714"/>
                </a:cubicBezTo>
                <a:cubicBezTo>
                  <a:pt x="18180" y="2201"/>
                  <a:pt x="18224" y="2145"/>
                  <a:pt x="17725" y="2743"/>
                </a:cubicBezTo>
                <a:cubicBezTo>
                  <a:pt x="17542" y="2962"/>
                  <a:pt x="17369" y="3217"/>
                  <a:pt x="17352" y="3291"/>
                </a:cubicBezTo>
                <a:cubicBezTo>
                  <a:pt x="17326" y="3409"/>
                  <a:pt x="17228" y="5196"/>
                  <a:pt x="17228" y="5554"/>
                </a:cubicBezTo>
                <a:cubicBezTo>
                  <a:pt x="17228" y="5625"/>
                  <a:pt x="17387" y="5443"/>
                  <a:pt x="17576" y="5143"/>
                </a:cubicBezTo>
                <a:cubicBezTo>
                  <a:pt x="17956" y="4538"/>
                  <a:pt x="18085" y="4434"/>
                  <a:pt x="18072" y="4731"/>
                </a:cubicBezTo>
                <a:cubicBezTo>
                  <a:pt x="18068" y="4834"/>
                  <a:pt x="18047" y="5422"/>
                  <a:pt x="18023" y="6034"/>
                </a:cubicBezTo>
                <a:cubicBezTo>
                  <a:pt x="17999" y="6647"/>
                  <a:pt x="17964" y="7192"/>
                  <a:pt x="17948" y="7269"/>
                </a:cubicBezTo>
                <a:cubicBezTo>
                  <a:pt x="17933" y="7345"/>
                  <a:pt x="17792" y="7624"/>
                  <a:pt x="17638" y="7886"/>
                </a:cubicBezTo>
                <a:cubicBezTo>
                  <a:pt x="17483" y="8147"/>
                  <a:pt x="17341" y="8430"/>
                  <a:pt x="17327" y="8503"/>
                </a:cubicBezTo>
                <a:cubicBezTo>
                  <a:pt x="17299" y="8647"/>
                  <a:pt x="17198" y="10945"/>
                  <a:pt x="17215" y="11040"/>
                </a:cubicBezTo>
                <a:cubicBezTo>
                  <a:pt x="17221" y="11072"/>
                  <a:pt x="17358" y="10831"/>
                  <a:pt x="17514" y="10560"/>
                </a:cubicBezTo>
                <a:cubicBezTo>
                  <a:pt x="17669" y="10289"/>
                  <a:pt x="17794" y="10168"/>
                  <a:pt x="17799" y="10217"/>
                </a:cubicBezTo>
                <a:cubicBezTo>
                  <a:pt x="17805" y="10266"/>
                  <a:pt x="17771" y="11153"/>
                  <a:pt x="17725" y="12206"/>
                </a:cubicBezTo>
                <a:lnTo>
                  <a:pt x="17650" y="14126"/>
                </a:lnTo>
                <a:lnTo>
                  <a:pt x="17315" y="14194"/>
                </a:lnTo>
                <a:lnTo>
                  <a:pt x="16979" y="14194"/>
                </a:lnTo>
                <a:lnTo>
                  <a:pt x="16930" y="15291"/>
                </a:lnTo>
                <a:lnTo>
                  <a:pt x="16880" y="16389"/>
                </a:lnTo>
                <a:lnTo>
                  <a:pt x="17377" y="16389"/>
                </a:lnTo>
                <a:cubicBezTo>
                  <a:pt x="17926" y="16389"/>
                  <a:pt x="18001" y="16305"/>
                  <a:pt x="18072" y="15703"/>
                </a:cubicBezTo>
                <a:cubicBezTo>
                  <a:pt x="18094" y="15525"/>
                  <a:pt x="18229" y="12893"/>
                  <a:pt x="18371" y="9806"/>
                </a:cubicBezTo>
                <a:cubicBezTo>
                  <a:pt x="18512" y="6719"/>
                  <a:pt x="18639" y="4053"/>
                  <a:pt x="18656" y="3909"/>
                </a:cubicBezTo>
                <a:cubicBezTo>
                  <a:pt x="18680" y="3705"/>
                  <a:pt x="18731" y="3612"/>
                  <a:pt x="18867" y="3497"/>
                </a:cubicBezTo>
                <a:cubicBezTo>
                  <a:pt x="19492" y="2970"/>
                  <a:pt x="19789" y="2764"/>
                  <a:pt x="19811" y="2811"/>
                </a:cubicBezTo>
                <a:cubicBezTo>
                  <a:pt x="19840" y="2870"/>
                  <a:pt x="19822" y="3713"/>
                  <a:pt x="19787" y="3909"/>
                </a:cubicBezTo>
                <a:cubicBezTo>
                  <a:pt x="19776" y="3967"/>
                  <a:pt x="19586" y="4027"/>
                  <a:pt x="19364" y="4046"/>
                </a:cubicBezTo>
                <a:lnTo>
                  <a:pt x="18954" y="4046"/>
                </a:lnTo>
                <a:lnTo>
                  <a:pt x="18942" y="4389"/>
                </a:lnTo>
                <a:cubicBezTo>
                  <a:pt x="18934" y="4559"/>
                  <a:pt x="18913" y="4887"/>
                  <a:pt x="18905" y="5143"/>
                </a:cubicBezTo>
                <a:lnTo>
                  <a:pt x="18892" y="5623"/>
                </a:lnTo>
                <a:lnTo>
                  <a:pt x="19302" y="5623"/>
                </a:lnTo>
                <a:cubicBezTo>
                  <a:pt x="19525" y="5623"/>
                  <a:pt x="19706" y="5640"/>
                  <a:pt x="19712" y="5691"/>
                </a:cubicBezTo>
                <a:cubicBezTo>
                  <a:pt x="19718" y="5743"/>
                  <a:pt x="19716" y="5952"/>
                  <a:pt x="19700" y="6171"/>
                </a:cubicBezTo>
                <a:lnTo>
                  <a:pt x="19662" y="6583"/>
                </a:lnTo>
                <a:lnTo>
                  <a:pt x="19252" y="6651"/>
                </a:lnTo>
                <a:lnTo>
                  <a:pt x="18843" y="6651"/>
                </a:lnTo>
                <a:lnTo>
                  <a:pt x="18818" y="7131"/>
                </a:lnTo>
                <a:cubicBezTo>
                  <a:pt x="18804" y="7404"/>
                  <a:pt x="18789" y="7835"/>
                  <a:pt x="18780" y="8023"/>
                </a:cubicBezTo>
                <a:lnTo>
                  <a:pt x="18756" y="8297"/>
                </a:lnTo>
                <a:lnTo>
                  <a:pt x="19165" y="8297"/>
                </a:lnTo>
                <a:cubicBezTo>
                  <a:pt x="19507" y="8297"/>
                  <a:pt x="19577" y="8345"/>
                  <a:pt x="19588" y="8503"/>
                </a:cubicBezTo>
                <a:cubicBezTo>
                  <a:pt x="19595" y="8606"/>
                  <a:pt x="19591" y="8813"/>
                  <a:pt x="19575" y="8914"/>
                </a:cubicBezTo>
                <a:cubicBezTo>
                  <a:pt x="19553" y="9065"/>
                  <a:pt x="19464" y="9051"/>
                  <a:pt x="19128" y="9051"/>
                </a:cubicBezTo>
                <a:lnTo>
                  <a:pt x="18718" y="9051"/>
                </a:lnTo>
                <a:lnTo>
                  <a:pt x="18681" y="9874"/>
                </a:lnTo>
                <a:cubicBezTo>
                  <a:pt x="18661" y="10315"/>
                  <a:pt x="18644" y="10730"/>
                  <a:pt x="18644" y="10766"/>
                </a:cubicBezTo>
                <a:cubicBezTo>
                  <a:pt x="18644" y="10801"/>
                  <a:pt x="18828" y="10816"/>
                  <a:pt x="19054" y="10834"/>
                </a:cubicBezTo>
                <a:lnTo>
                  <a:pt x="19476" y="10903"/>
                </a:lnTo>
                <a:lnTo>
                  <a:pt x="19476" y="11177"/>
                </a:lnTo>
                <a:cubicBezTo>
                  <a:pt x="19476" y="11336"/>
                  <a:pt x="19446" y="12026"/>
                  <a:pt x="19414" y="12754"/>
                </a:cubicBezTo>
                <a:cubicBezTo>
                  <a:pt x="19358" y="14004"/>
                  <a:pt x="19353" y="14087"/>
                  <a:pt x="19302" y="14057"/>
                </a:cubicBezTo>
                <a:cubicBezTo>
                  <a:pt x="19272" y="14040"/>
                  <a:pt x="19201" y="13786"/>
                  <a:pt x="19153" y="13509"/>
                </a:cubicBezTo>
                <a:cubicBezTo>
                  <a:pt x="19064" y="12990"/>
                  <a:pt x="19067" y="12850"/>
                  <a:pt x="19116" y="11931"/>
                </a:cubicBezTo>
                <a:cubicBezTo>
                  <a:pt x="19126" y="11734"/>
                  <a:pt x="19101" y="11657"/>
                  <a:pt x="18867" y="11657"/>
                </a:cubicBezTo>
                <a:lnTo>
                  <a:pt x="18607" y="11657"/>
                </a:lnTo>
                <a:lnTo>
                  <a:pt x="18507" y="13920"/>
                </a:lnTo>
                <a:cubicBezTo>
                  <a:pt x="18450" y="15138"/>
                  <a:pt x="18395" y="16173"/>
                  <a:pt x="18395" y="16251"/>
                </a:cubicBezTo>
                <a:cubicBezTo>
                  <a:pt x="18395" y="16351"/>
                  <a:pt x="18472" y="16389"/>
                  <a:pt x="18644" y="16389"/>
                </a:cubicBezTo>
                <a:cubicBezTo>
                  <a:pt x="18889" y="16389"/>
                  <a:pt x="18896" y="16427"/>
                  <a:pt x="18917" y="16114"/>
                </a:cubicBezTo>
                <a:lnTo>
                  <a:pt x="18942" y="15771"/>
                </a:lnTo>
                <a:lnTo>
                  <a:pt x="19041" y="16114"/>
                </a:lnTo>
                <a:lnTo>
                  <a:pt x="19141" y="16389"/>
                </a:lnTo>
                <a:lnTo>
                  <a:pt x="19960" y="16389"/>
                </a:lnTo>
                <a:lnTo>
                  <a:pt x="20768" y="16320"/>
                </a:lnTo>
                <a:lnTo>
                  <a:pt x="20805" y="15497"/>
                </a:lnTo>
                <a:cubicBezTo>
                  <a:pt x="20825" y="15053"/>
                  <a:pt x="20852" y="14622"/>
                  <a:pt x="20867" y="14469"/>
                </a:cubicBezTo>
                <a:lnTo>
                  <a:pt x="20904" y="14194"/>
                </a:lnTo>
                <a:lnTo>
                  <a:pt x="20395" y="14194"/>
                </a:lnTo>
                <a:cubicBezTo>
                  <a:pt x="20113" y="14194"/>
                  <a:pt x="19881" y="14121"/>
                  <a:pt x="19873" y="14057"/>
                </a:cubicBezTo>
                <a:cubicBezTo>
                  <a:pt x="19866" y="13995"/>
                  <a:pt x="19874" y="13820"/>
                  <a:pt x="19886" y="13646"/>
                </a:cubicBezTo>
                <a:lnTo>
                  <a:pt x="19911" y="13303"/>
                </a:lnTo>
                <a:lnTo>
                  <a:pt x="20259" y="13234"/>
                </a:lnTo>
                <a:lnTo>
                  <a:pt x="20619" y="13234"/>
                </a:lnTo>
                <a:lnTo>
                  <a:pt x="20656" y="12480"/>
                </a:lnTo>
                <a:lnTo>
                  <a:pt x="20693" y="11726"/>
                </a:lnTo>
                <a:lnTo>
                  <a:pt x="20333" y="11657"/>
                </a:lnTo>
                <a:cubicBezTo>
                  <a:pt x="20002" y="11599"/>
                  <a:pt x="19987" y="11617"/>
                  <a:pt x="19985" y="11383"/>
                </a:cubicBezTo>
                <a:cubicBezTo>
                  <a:pt x="19981" y="10731"/>
                  <a:pt x="20003" y="10698"/>
                  <a:pt x="20358" y="10697"/>
                </a:cubicBezTo>
                <a:cubicBezTo>
                  <a:pt x="20779" y="10697"/>
                  <a:pt x="20800" y="10642"/>
                  <a:pt x="20880" y="9326"/>
                </a:cubicBezTo>
                <a:cubicBezTo>
                  <a:pt x="20934" y="8429"/>
                  <a:pt x="20943" y="8358"/>
                  <a:pt x="21029" y="8297"/>
                </a:cubicBezTo>
                <a:cubicBezTo>
                  <a:pt x="21111" y="8238"/>
                  <a:pt x="21113" y="8271"/>
                  <a:pt x="21140" y="7680"/>
                </a:cubicBezTo>
                <a:cubicBezTo>
                  <a:pt x="21185" y="6719"/>
                  <a:pt x="21183" y="6446"/>
                  <a:pt x="21116" y="6446"/>
                </a:cubicBezTo>
                <a:cubicBezTo>
                  <a:pt x="21084" y="6446"/>
                  <a:pt x="21047" y="6398"/>
                  <a:pt x="21041" y="6309"/>
                </a:cubicBezTo>
                <a:cubicBezTo>
                  <a:pt x="21035" y="6220"/>
                  <a:pt x="21053" y="5651"/>
                  <a:pt x="21078" y="5074"/>
                </a:cubicBezTo>
                <a:cubicBezTo>
                  <a:pt x="21103" y="4498"/>
                  <a:pt x="21128" y="4028"/>
                  <a:pt x="21128" y="3977"/>
                </a:cubicBezTo>
                <a:cubicBezTo>
                  <a:pt x="21128" y="3926"/>
                  <a:pt x="20946" y="3840"/>
                  <a:pt x="20731" y="3840"/>
                </a:cubicBezTo>
                <a:cubicBezTo>
                  <a:pt x="20499" y="3840"/>
                  <a:pt x="20329" y="3843"/>
                  <a:pt x="20321" y="3771"/>
                </a:cubicBezTo>
                <a:cubicBezTo>
                  <a:pt x="20297" y="3558"/>
                  <a:pt x="20361" y="2605"/>
                  <a:pt x="20408" y="2469"/>
                </a:cubicBezTo>
                <a:cubicBezTo>
                  <a:pt x="20435" y="2388"/>
                  <a:pt x="20665" y="2347"/>
                  <a:pt x="21016" y="2331"/>
                </a:cubicBezTo>
                <a:lnTo>
                  <a:pt x="21600" y="2331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783" y="1303"/>
                </a:moveTo>
                <a:lnTo>
                  <a:pt x="696" y="2400"/>
                </a:lnTo>
                <a:lnTo>
                  <a:pt x="609" y="3429"/>
                </a:lnTo>
                <a:lnTo>
                  <a:pt x="1851" y="3497"/>
                </a:lnTo>
                <a:cubicBezTo>
                  <a:pt x="3226" y="3566"/>
                  <a:pt x="3181" y="3534"/>
                  <a:pt x="3341" y="4389"/>
                </a:cubicBezTo>
                <a:cubicBezTo>
                  <a:pt x="3399" y="4696"/>
                  <a:pt x="3416" y="4902"/>
                  <a:pt x="3416" y="5280"/>
                </a:cubicBezTo>
                <a:cubicBezTo>
                  <a:pt x="3416" y="5684"/>
                  <a:pt x="3397" y="5834"/>
                  <a:pt x="3304" y="6377"/>
                </a:cubicBezTo>
                <a:cubicBezTo>
                  <a:pt x="3115" y="7478"/>
                  <a:pt x="2813" y="8359"/>
                  <a:pt x="2211" y="9463"/>
                </a:cubicBezTo>
                <a:lnTo>
                  <a:pt x="1888" y="10011"/>
                </a:lnTo>
                <a:lnTo>
                  <a:pt x="2372" y="12686"/>
                </a:lnTo>
                <a:lnTo>
                  <a:pt x="2869" y="15291"/>
                </a:lnTo>
                <a:lnTo>
                  <a:pt x="3403" y="15291"/>
                </a:lnTo>
                <a:cubicBezTo>
                  <a:pt x="3753" y="15294"/>
                  <a:pt x="3937" y="15237"/>
                  <a:pt x="3937" y="15154"/>
                </a:cubicBezTo>
                <a:cubicBezTo>
                  <a:pt x="3937" y="14929"/>
                  <a:pt x="3467" y="12404"/>
                  <a:pt x="3205" y="11246"/>
                </a:cubicBezTo>
                <a:cubicBezTo>
                  <a:pt x="3064" y="10627"/>
                  <a:pt x="2958" y="10137"/>
                  <a:pt x="2969" y="10080"/>
                </a:cubicBezTo>
                <a:cubicBezTo>
                  <a:pt x="2979" y="10023"/>
                  <a:pt x="3069" y="9874"/>
                  <a:pt x="3167" y="9806"/>
                </a:cubicBezTo>
                <a:cubicBezTo>
                  <a:pt x="3654" y="9466"/>
                  <a:pt x="4036" y="8338"/>
                  <a:pt x="4198" y="6720"/>
                </a:cubicBezTo>
                <a:cubicBezTo>
                  <a:pt x="4257" y="6130"/>
                  <a:pt x="4260" y="5943"/>
                  <a:pt x="4260" y="5006"/>
                </a:cubicBezTo>
                <a:cubicBezTo>
                  <a:pt x="4260" y="4075"/>
                  <a:pt x="4256" y="3862"/>
                  <a:pt x="4198" y="3291"/>
                </a:cubicBezTo>
                <a:cubicBezTo>
                  <a:pt x="4088" y="2194"/>
                  <a:pt x="3884" y="1595"/>
                  <a:pt x="3528" y="1371"/>
                </a:cubicBezTo>
                <a:cubicBezTo>
                  <a:pt x="3430" y="1310"/>
                  <a:pt x="3092" y="1307"/>
                  <a:pt x="2596" y="1303"/>
                </a:cubicBezTo>
                <a:cubicBezTo>
                  <a:pt x="2431" y="1301"/>
                  <a:pt x="2247" y="1297"/>
                  <a:pt x="2049" y="1303"/>
                </a:cubicBezTo>
                <a:lnTo>
                  <a:pt x="783" y="1303"/>
                </a:lnTo>
                <a:close/>
                <a:moveTo>
                  <a:pt x="14992" y="4114"/>
                </a:moveTo>
                <a:lnTo>
                  <a:pt x="14918" y="5897"/>
                </a:lnTo>
                <a:cubicBezTo>
                  <a:pt x="14831" y="7969"/>
                  <a:pt x="14731" y="10401"/>
                  <a:pt x="14731" y="10560"/>
                </a:cubicBezTo>
                <a:cubicBezTo>
                  <a:pt x="14731" y="10622"/>
                  <a:pt x="14946" y="10697"/>
                  <a:pt x="15216" y="10697"/>
                </a:cubicBezTo>
                <a:cubicBezTo>
                  <a:pt x="15481" y="10697"/>
                  <a:pt x="15706" y="10711"/>
                  <a:pt x="15712" y="10766"/>
                </a:cubicBezTo>
                <a:cubicBezTo>
                  <a:pt x="15719" y="10821"/>
                  <a:pt x="15711" y="11114"/>
                  <a:pt x="15700" y="11383"/>
                </a:cubicBezTo>
                <a:cubicBezTo>
                  <a:pt x="15689" y="11652"/>
                  <a:pt x="15682" y="12054"/>
                  <a:pt x="15675" y="12274"/>
                </a:cubicBezTo>
                <a:cubicBezTo>
                  <a:pt x="15668" y="12495"/>
                  <a:pt x="15631" y="13219"/>
                  <a:pt x="15601" y="13920"/>
                </a:cubicBezTo>
                <a:cubicBezTo>
                  <a:pt x="15533" y="15450"/>
                  <a:pt x="15533" y="16075"/>
                  <a:pt x="15588" y="16251"/>
                </a:cubicBezTo>
                <a:cubicBezTo>
                  <a:pt x="15612" y="16327"/>
                  <a:pt x="15840" y="16386"/>
                  <a:pt x="16160" y="16389"/>
                </a:cubicBezTo>
                <a:lnTo>
                  <a:pt x="16681" y="16389"/>
                </a:lnTo>
                <a:lnTo>
                  <a:pt x="16731" y="15497"/>
                </a:lnTo>
                <a:cubicBezTo>
                  <a:pt x="16753" y="15002"/>
                  <a:pt x="16787" y="14519"/>
                  <a:pt x="16806" y="14400"/>
                </a:cubicBezTo>
                <a:cubicBezTo>
                  <a:pt x="16838" y="14194"/>
                  <a:pt x="16816" y="14194"/>
                  <a:pt x="16495" y="14194"/>
                </a:cubicBezTo>
                <a:cubicBezTo>
                  <a:pt x="16308" y="14194"/>
                  <a:pt x="16153" y="14108"/>
                  <a:pt x="16147" y="14057"/>
                </a:cubicBezTo>
                <a:cubicBezTo>
                  <a:pt x="16132" y="13919"/>
                  <a:pt x="16244" y="11015"/>
                  <a:pt x="16271" y="10834"/>
                </a:cubicBezTo>
                <a:cubicBezTo>
                  <a:pt x="16285" y="10741"/>
                  <a:pt x="16350" y="10698"/>
                  <a:pt x="16433" y="10697"/>
                </a:cubicBezTo>
                <a:cubicBezTo>
                  <a:pt x="16615" y="10696"/>
                  <a:pt x="16720" y="10503"/>
                  <a:pt x="16793" y="10080"/>
                </a:cubicBezTo>
                <a:cubicBezTo>
                  <a:pt x="16843" y="9790"/>
                  <a:pt x="16863" y="9423"/>
                  <a:pt x="16917" y="7954"/>
                </a:cubicBezTo>
                <a:cubicBezTo>
                  <a:pt x="16960" y="6789"/>
                  <a:pt x="16971" y="6241"/>
                  <a:pt x="16955" y="6240"/>
                </a:cubicBezTo>
                <a:cubicBezTo>
                  <a:pt x="16926" y="6239"/>
                  <a:pt x="16509" y="6859"/>
                  <a:pt x="16495" y="6926"/>
                </a:cubicBezTo>
                <a:cubicBezTo>
                  <a:pt x="16490" y="6950"/>
                  <a:pt x="16466" y="7426"/>
                  <a:pt x="16445" y="7954"/>
                </a:cubicBezTo>
                <a:lnTo>
                  <a:pt x="16408" y="8914"/>
                </a:lnTo>
                <a:lnTo>
                  <a:pt x="15824" y="8983"/>
                </a:lnTo>
                <a:cubicBezTo>
                  <a:pt x="15423" y="9026"/>
                  <a:pt x="15223" y="9080"/>
                  <a:pt x="15178" y="9189"/>
                </a:cubicBezTo>
                <a:cubicBezTo>
                  <a:pt x="15136" y="9291"/>
                  <a:pt x="15105" y="9266"/>
                  <a:pt x="15091" y="9189"/>
                </a:cubicBezTo>
                <a:cubicBezTo>
                  <a:pt x="15077" y="9111"/>
                  <a:pt x="15112" y="8918"/>
                  <a:pt x="15191" y="8640"/>
                </a:cubicBezTo>
                <a:lnTo>
                  <a:pt x="15315" y="8229"/>
                </a:lnTo>
                <a:lnTo>
                  <a:pt x="15352" y="7200"/>
                </a:lnTo>
                <a:cubicBezTo>
                  <a:pt x="15375" y="6631"/>
                  <a:pt x="15403" y="6115"/>
                  <a:pt x="15414" y="6034"/>
                </a:cubicBezTo>
                <a:cubicBezTo>
                  <a:pt x="15428" y="5933"/>
                  <a:pt x="15564" y="5856"/>
                  <a:pt x="15837" y="5829"/>
                </a:cubicBezTo>
                <a:cubicBezTo>
                  <a:pt x="16212" y="5791"/>
                  <a:pt x="16241" y="5795"/>
                  <a:pt x="16358" y="5486"/>
                </a:cubicBezTo>
                <a:cubicBezTo>
                  <a:pt x="16460" y="5217"/>
                  <a:pt x="16623" y="4822"/>
                  <a:pt x="16942" y="4183"/>
                </a:cubicBezTo>
                <a:cubicBezTo>
                  <a:pt x="16961" y="4146"/>
                  <a:pt x="16531" y="4120"/>
                  <a:pt x="15986" y="4114"/>
                </a:cubicBezTo>
                <a:lnTo>
                  <a:pt x="14992" y="4114"/>
                </a:lnTo>
                <a:close/>
                <a:moveTo>
                  <a:pt x="4596" y="4457"/>
                </a:moveTo>
                <a:lnTo>
                  <a:pt x="4571" y="4937"/>
                </a:lnTo>
                <a:cubicBezTo>
                  <a:pt x="4436" y="7970"/>
                  <a:pt x="4245" y="12569"/>
                  <a:pt x="4236" y="13029"/>
                </a:cubicBezTo>
                <a:cubicBezTo>
                  <a:pt x="4214" y="14134"/>
                  <a:pt x="4360" y="14878"/>
                  <a:pt x="4633" y="15154"/>
                </a:cubicBezTo>
                <a:cubicBezTo>
                  <a:pt x="4790" y="15313"/>
                  <a:pt x="5685" y="15168"/>
                  <a:pt x="5912" y="14949"/>
                </a:cubicBezTo>
                <a:cubicBezTo>
                  <a:pt x="6018" y="14847"/>
                  <a:pt x="6148" y="14660"/>
                  <a:pt x="6198" y="14537"/>
                </a:cubicBezTo>
                <a:cubicBezTo>
                  <a:pt x="6303" y="14280"/>
                  <a:pt x="6422" y="13606"/>
                  <a:pt x="6471" y="12960"/>
                </a:cubicBezTo>
                <a:cubicBezTo>
                  <a:pt x="6518" y="12344"/>
                  <a:pt x="6696" y="8243"/>
                  <a:pt x="6832" y="4731"/>
                </a:cubicBezTo>
                <a:lnTo>
                  <a:pt x="6844" y="4457"/>
                </a:lnTo>
                <a:lnTo>
                  <a:pt x="6484" y="4457"/>
                </a:lnTo>
                <a:lnTo>
                  <a:pt x="6124" y="4457"/>
                </a:lnTo>
                <a:lnTo>
                  <a:pt x="6061" y="6309"/>
                </a:lnTo>
                <a:cubicBezTo>
                  <a:pt x="5893" y="11101"/>
                  <a:pt x="5818" y="12346"/>
                  <a:pt x="5627" y="12891"/>
                </a:cubicBezTo>
                <a:cubicBezTo>
                  <a:pt x="5525" y="13180"/>
                  <a:pt x="5296" y="13309"/>
                  <a:pt x="5180" y="13166"/>
                </a:cubicBezTo>
                <a:cubicBezTo>
                  <a:pt x="5044" y="12998"/>
                  <a:pt x="4993" y="12759"/>
                  <a:pt x="4993" y="12206"/>
                </a:cubicBezTo>
                <a:cubicBezTo>
                  <a:pt x="4993" y="11960"/>
                  <a:pt x="5068" y="10165"/>
                  <a:pt x="5155" y="8229"/>
                </a:cubicBezTo>
                <a:cubicBezTo>
                  <a:pt x="5241" y="6292"/>
                  <a:pt x="5304" y="4655"/>
                  <a:pt x="5304" y="4594"/>
                </a:cubicBezTo>
                <a:cubicBezTo>
                  <a:pt x="5304" y="4534"/>
                  <a:pt x="5153" y="4457"/>
                  <a:pt x="4956" y="4457"/>
                </a:cubicBezTo>
                <a:lnTo>
                  <a:pt x="4596" y="4457"/>
                </a:lnTo>
                <a:close/>
                <a:moveTo>
                  <a:pt x="11837" y="4457"/>
                </a:moveTo>
                <a:cubicBezTo>
                  <a:pt x="11532" y="4467"/>
                  <a:pt x="11316" y="4643"/>
                  <a:pt x="11092" y="5143"/>
                </a:cubicBezTo>
                <a:cubicBezTo>
                  <a:pt x="10625" y="6182"/>
                  <a:pt x="10303" y="8169"/>
                  <a:pt x="10235" y="10354"/>
                </a:cubicBezTo>
                <a:cubicBezTo>
                  <a:pt x="10158" y="12820"/>
                  <a:pt x="10471" y="14758"/>
                  <a:pt x="11017" y="15154"/>
                </a:cubicBezTo>
                <a:cubicBezTo>
                  <a:pt x="11309" y="15365"/>
                  <a:pt x="11858" y="14938"/>
                  <a:pt x="12185" y="14263"/>
                </a:cubicBezTo>
                <a:lnTo>
                  <a:pt x="12297" y="14057"/>
                </a:lnTo>
                <a:lnTo>
                  <a:pt x="12359" y="12754"/>
                </a:lnTo>
                <a:cubicBezTo>
                  <a:pt x="12389" y="12058"/>
                  <a:pt x="12411" y="11473"/>
                  <a:pt x="12409" y="11451"/>
                </a:cubicBezTo>
                <a:cubicBezTo>
                  <a:pt x="12406" y="11430"/>
                  <a:pt x="12336" y="11581"/>
                  <a:pt x="12259" y="11794"/>
                </a:cubicBezTo>
                <a:cubicBezTo>
                  <a:pt x="12071" y="12318"/>
                  <a:pt x="11686" y="13036"/>
                  <a:pt x="11514" y="13166"/>
                </a:cubicBezTo>
                <a:cubicBezTo>
                  <a:pt x="11349" y="13290"/>
                  <a:pt x="11201" y="13158"/>
                  <a:pt x="11117" y="12823"/>
                </a:cubicBezTo>
                <a:cubicBezTo>
                  <a:pt x="11043" y="12529"/>
                  <a:pt x="10964" y="11741"/>
                  <a:pt x="10993" y="11589"/>
                </a:cubicBezTo>
                <a:cubicBezTo>
                  <a:pt x="11004" y="11529"/>
                  <a:pt x="11265" y="11214"/>
                  <a:pt x="11576" y="10903"/>
                </a:cubicBezTo>
                <a:cubicBezTo>
                  <a:pt x="12174" y="10304"/>
                  <a:pt x="12335" y="10054"/>
                  <a:pt x="12483" y="9463"/>
                </a:cubicBezTo>
                <a:cubicBezTo>
                  <a:pt x="12582" y="9066"/>
                  <a:pt x="12630" y="8694"/>
                  <a:pt x="12669" y="7886"/>
                </a:cubicBezTo>
                <a:cubicBezTo>
                  <a:pt x="12732" y="6603"/>
                  <a:pt x="12564" y="5287"/>
                  <a:pt x="12272" y="4731"/>
                </a:cubicBezTo>
                <a:cubicBezTo>
                  <a:pt x="12138" y="4477"/>
                  <a:pt x="12078" y="4449"/>
                  <a:pt x="11837" y="4457"/>
                </a:cubicBezTo>
                <a:close/>
                <a:moveTo>
                  <a:pt x="10235" y="4800"/>
                </a:moveTo>
                <a:lnTo>
                  <a:pt x="10073" y="4937"/>
                </a:lnTo>
                <a:cubicBezTo>
                  <a:pt x="9985" y="4982"/>
                  <a:pt x="9820" y="5068"/>
                  <a:pt x="9713" y="5143"/>
                </a:cubicBezTo>
                <a:lnTo>
                  <a:pt x="9527" y="5280"/>
                </a:lnTo>
                <a:lnTo>
                  <a:pt x="9490" y="6171"/>
                </a:lnTo>
                <a:cubicBezTo>
                  <a:pt x="9470" y="6659"/>
                  <a:pt x="9403" y="7925"/>
                  <a:pt x="9353" y="9051"/>
                </a:cubicBezTo>
                <a:cubicBezTo>
                  <a:pt x="9302" y="10178"/>
                  <a:pt x="9253" y="11660"/>
                  <a:pt x="9229" y="12274"/>
                </a:cubicBezTo>
                <a:cubicBezTo>
                  <a:pt x="9205" y="12889"/>
                  <a:pt x="9165" y="13802"/>
                  <a:pt x="9142" y="14331"/>
                </a:cubicBezTo>
                <a:lnTo>
                  <a:pt x="9092" y="15291"/>
                </a:lnTo>
                <a:lnTo>
                  <a:pt x="9440" y="15291"/>
                </a:lnTo>
                <a:lnTo>
                  <a:pt x="9775" y="15291"/>
                </a:lnTo>
                <a:lnTo>
                  <a:pt x="9912" y="12274"/>
                </a:lnTo>
                <a:cubicBezTo>
                  <a:pt x="9983" y="10619"/>
                  <a:pt x="10082" y="8284"/>
                  <a:pt x="10135" y="7063"/>
                </a:cubicBezTo>
                <a:lnTo>
                  <a:pt x="10235" y="4800"/>
                </a:lnTo>
                <a:close/>
                <a:moveTo>
                  <a:pt x="1043" y="5006"/>
                </a:moveTo>
                <a:lnTo>
                  <a:pt x="981" y="6034"/>
                </a:lnTo>
                <a:cubicBezTo>
                  <a:pt x="942" y="6631"/>
                  <a:pt x="828" y="8304"/>
                  <a:pt x="733" y="9737"/>
                </a:cubicBezTo>
                <a:cubicBezTo>
                  <a:pt x="638" y="11171"/>
                  <a:pt x="526" y="12929"/>
                  <a:pt x="484" y="13577"/>
                </a:cubicBezTo>
                <a:cubicBezTo>
                  <a:pt x="443" y="14226"/>
                  <a:pt x="406" y="14828"/>
                  <a:pt x="397" y="14949"/>
                </a:cubicBezTo>
                <a:cubicBezTo>
                  <a:pt x="382" y="15155"/>
                  <a:pt x="400" y="15186"/>
                  <a:pt x="820" y="15154"/>
                </a:cubicBezTo>
                <a:lnTo>
                  <a:pt x="1267" y="15086"/>
                </a:lnTo>
                <a:lnTo>
                  <a:pt x="1391" y="13371"/>
                </a:lnTo>
                <a:cubicBezTo>
                  <a:pt x="1511" y="11576"/>
                  <a:pt x="1753" y="7833"/>
                  <a:pt x="1851" y="6309"/>
                </a:cubicBezTo>
                <a:cubicBezTo>
                  <a:pt x="1881" y="5831"/>
                  <a:pt x="1917" y="5331"/>
                  <a:pt x="1925" y="5211"/>
                </a:cubicBezTo>
                <a:cubicBezTo>
                  <a:pt x="1940" y="5009"/>
                  <a:pt x="1907" y="5005"/>
                  <a:pt x="1491" y="5006"/>
                </a:cubicBezTo>
                <a:lnTo>
                  <a:pt x="1043" y="5006"/>
                </a:lnTo>
                <a:close/>
                <a:moveTo>
                  <a:pt x="9055" y="5623"/>
                </a:moveTo>
                <a:cubicBezTo>
                  <a:pt x="9050" y="5595"/>
                  <a:pt x="8883" y="5664"/>
                  <a:pt x="8695" y="5829"/>
                </a:cubicBezTo>
                <a:lnTo>
                  <a:pt x="8359" y="6171"/>
                </a:lnTo>
                <a:lnTo>
                  <a:pt x="8173" y="10217"/>
                </a:lnTo>
                <a:cubicBezTo>
                  <a:pt x="7927" y="15628"/>
                  <a:pt x="7867" y="16689"/>
                  <a:pt x="7726" y="17554"/>
                </a:cubicBezTo>
                <a:cubicBezTo>
                  <a:pt x="7641" y="18075"/>
                  <a:pt x="7422" y="18721"/>
                  <a:pt x="7291" y="18857"/>
                </a:cubicBezTo>
                <a:cubicBezTo>
                  <a:pt x="7224" y="18927"/>
                  <a:pt x="7227" y="18960"/>
                  <a:pt x="7204" y="19611"/>
                </a:cubicBezTo>
                <a:cubicBezTo>
                  <a:pt x="7190" y="19997"/>
                  <a:pt x="7164" y="20469"/>
                  <a:pt x="7154" y="20640"/>
                </a:cubicBezTo>
                <a:lnTo>
                  <a:pt x="7142" y="20914"/>
                </a:lnTo>
                <a:lnTo>
                  <a:pt x="6695" y="20983"/>
                </a:lnTo>
                <a:cubicBezTo>
                  <a:pt x="6449" y="21001"/>
                  <a:pt x="6234" y="20974"/>
                  <a:pt x="6223" y="20914"/>
                </a:cubicBezTo>
                <a:cubicBezTo>
                  <a:pt x="6212" y="20853"/>
                  <a:pt x="6227" y="20690"/>
                  <a:pt x="6260" y="20571"/>
                </a:cubicBezTo>
                <a:cubicBezTo>
                  <a:pt x="6352" y="20241"/>
                  <a:pt x="6346" y="19742"/>
                  <a:pt x="6235" y="19337"/>
                </a:cubicBezTo>
                <a:cubicBezTo>
                  <a:pt x="6095" y="18826"/>
                  <a:pt x="6116" y="18555"/>
                  <a:pt x="6310" y="18583"/>
                </a:cubicBezTo>
                <a:cubicBezTo>
                  <a:pt x="6409" y="18597"/>
                  <a:pt x="6437" y="18583"/>
                  <a:pt x="6446" y="18377"/>
                </a:cubicBezTo>
                <a:cubicBezTo>
                  <a:pt x="6457" y="18149"/>
                  <a:pt x="6444" y="18170"/>
                  <a:pt x="6273" y="18171"/>
                </a:cubicBezTo>
                <a:cubicBezTo>
                  <a:pt x="6049" y="18174"/>
                  <a:pt x="5972" y="18314"/>
                  <a:pt x="5962" y="18857"/>
                </a:cubicBezTo>
                <a:cubicBezTo>
                  <a:pt x="5956" y="19198"/>
                  <a:pt x="5970" y="19254"/>
                  <a:pt x="6049" y="19543"/>
                </a:cubicBezTo>
                <a:cubicBezTo>
                  <a:pt x="6150" y="19910"/>
                  <a:pt x="6161" y="20000"/>
                  <a:pt x="6111" y="20229"/>
                </a:cubicBezTo>
                <a:cubicBezTo>
                  <a:pt x="6087" y="20337"/>
                  <a:pt x="6030" y="20355"/>
                  <a:pt x="5937" y="20297"/>
                </a:cubicBezTo>
                <a:cubicBezTo>
                  <a:pt x="5804" y="20214"/>
                  <a:pt x="5808" y="20226"/>
                  <a:pt x="5801" y="20571"/>
                </a:cubicBezTo>
                <a:cubicBezTo>
                  <a:pt x="5788" y="21178"/>
                  <a:pt x="5726" y="21093"/>
                  <a:pt x="5614" y="20229"/>
                </a:cubicBezTo>
                <a:cubicBezTo>
                  <a:pt x="5557" y="19786"/>
                  <a:pt x="5515" y="19368"/>
                  <a:pt x="5515" y="19337"/>
                </a:cubicBezTo>
                <a:cubicBezTo>
                  <a:pt x="5515" y="19306"/>
                  <a:pt x="5581" y="19018"/>
                  <a:pt x="5664" y="18720"/>
                </a:cubicBezTo>
                <a:lnTo>
                  <a:pt x="5813" y="18171"/>
                </a:lnTo>
                <a:lnTo>
                  <a:pt x="5714" y="18171"/>
                </a:lnTo>
                <a:cubicBezTo>
                  <a:pt x="5623" y="18139"/>
                  <a:pt x="5590" y="18187"/>
                  <a:pt x="5490" y="18583"/>
                </a:cubicBezTo>
                <a:cubicBezTo>
                  <a:pt x="5314" y="19280"/>
                  <a:pt x="5299" y="19045"/>
                  <a:pt x="5428" y="17349"/>
                </a:cubicBezTo>
                <a:cubicBezTo>
                  <a:pt x="5442" y="17161"/>
                  <a:pt x="5441" y="17143"/>
                  <a:pt x="5353" y="17143"/>
                </a:cubicBezTo>
                <a:lnTo>
                  <a:pt x="5242" y="17143"/>
                </a:lnTo>
                <a:lnTo>
                  <a:pt x="5192" y="18103"/>
                </a:lnTo>
                <a:cubicBezTo>
                  <a:pt x="5108" y="19428"/>
                  <a:pt x="5008" y="20654"/>
                  <a:pt x="4981" y="20846"/>
                </a:cubicBezTo>
                <a:cubicBezTo>
                  <a:pt x="4965" y="20957"/>
                  <a:pt x="4917" y="21008"/>
                  <a:pt x="4807" y="20983"/>
                </a:cubicBezTo>
                <a:lnTo>
                  <a:pt x="4645" y="20914"/>
                </a:lnTo>
                <a:lnTo>
                  <a:pt x="4658" y="20571"/>
                </a:lnTo>
                <a:cubicBezTo>
                  <a:pt x="4678" y="19543"/>
                  <a:pt x="4828" y="18557"/>
                  <a:pt x="4956" y="18651"/>
                </a:cubicBezTo>
                <a:cubicBezTo>
                  <a:pt x="5012" y="18693"/>
                  <a:pt x="5043" y="18555"/>
                  <a:pt x="5043" y="18240"/>
                </a:cubicBezTo>
                <a:cubicBezTo>
                  <a:pt x="5043" y="18180"/>
                  <a:pt x="4939" y="18157"/>
                  <a:pt x="4819" y="18171"/>
                </a:cubicBezTo>
                <a:lnTo>
                  <a:pt x="4608" y="18171"/>
                </a:lnTo>
                <a:lnTo>
                  <a:pt x="4558" y="18857"/>
                </a:lnTo>
                <a:cubicBezTo>
                  <a:pt x="4538" y="19233"/>
                  <a:pt x="4503" y="19905"/>
                  <a:pt x="4472" y="20297"/>
                </a:cubicBezTo>
                <a:lnTo>
                  <a:pt x="4409" y="20983"/>
                </a:lnTo>
                <a:lnTo>
                  <a:pt x="4298" y="20983"/>
                </a:lnTo>
                <a:cubicBezTo>
                  <a:pt x="4155" y="20983"/>
                  <a:pt x="4140" y="20809"/>
                  <a:pt x="4248" y="20503"/>
                </a:cubicBezTo>
                <a:cubicBezTo>
                  <a:pt x="4414" y="20031"/>
                  <a:pt x="4486" y="18952"/>
                  <a:pt x="4385" y="18446"/>
                </a:cubicBezTo>
                <a:cubicBezTo>
                  <a:pt x="4348" y="18262"/>
                  <a:pt x="4296" y="18206"/>
                  <a:pt x="4149" y="18171"/>
                </a:cubicBezTo>
                <a:cubicBezTo>
                  <a:pt x="3980" y="18132"/>
                  <a:pt x="3945" y="18156"/>
                  <a:pt x="3838" y="18446"/>
                </a:cubicBezTo>
                <a:cubicBezTo>
                  <a:pt x="3652" y="18947"/>
                  <a:pt x="3586" y="19984"/>
                  <a:pt x="3701" y="20571"/>
                </a:cubicBezTo>
                <a:cubicBezTo>
                  <a:pt x="3732" y="20729"/>
                  <a:pt x="3747" y="20870"/>
                  <a:pt x="3739" y="20914"/>
                </a:cubicBezTo>
                <a:cubicBezTo>
                  <a:pt x="3718" y="21027"/>
                  <a:pt x="3267" y="21028"/>
                  <a:pt x="3254" y="20914"/>
                </a:cubicBezTo>
                <a:cubicBezTo>
                  <a:pt x="3249" y="20863"/>
                  <a:pt x="3344" y="20191"/>
                  <a:pt x="3465" y="19474"/>
                </a:cubicBezTo>
                <a:lnTo>
                  <a:pt x="3689" y="18171"/>
                </a:lnTo>
                <a:lnTo>
                  <a:pt x="3590" y="18171"/>
                </a:lnTo>
                <a:cubicBezTo>
                  <a:pt x="3500" y="18133"/>
                  <a:pt x="3493" y="18142"/>
                  <a:pt x="3366" y="18926"/>
                </a:cubicBezTo>
                <a:cubicBezTo>
                  <a:pt x="3293" y="19374"/>
                  <a:pt x="3227" y="19713"/>
                  <a:pt x="3217" y="19680"/>
                </a:cubicBezTo>
                <a:cubicBezTo>
                  <a:pt x="3207" y="19647"/>
                  <a:pt x="3188" y="19268"/>
                  <a:pt x="3180" y="18857"/>
                </a:cubicBezTo>
                <a:lnTo>
                  <a:pt x="3167" y="18103"/>
                </a:lnTo>
                <a:lnTo>
                  <a:pt x="3068" y="18103"/>
                </a:lnTo>
                <a:cubicBezTo>
                  <a:pt x="2974" y="18103"/>
                  <a:pt x="2967" y="18157"/>
                  <a:pt x="2844" y="18994"/>
                </a:cubicBezTo>
                <a:cubicBezTo>
                  <a:pt x="2714" y="19886"/>
                  <a:pt x="2683" y="19994"/>
                  <a:pt x="2683" y="19406"/>
                </a:cubicBezTo>
                <a:cubicBezTo>
                  <a:pt x="2683" y="19222"/>
                  <a:pt x="2666" y="18839"/>
                  <a:pt x="2658" y="18583"/>
                </a:cubicBezTo>
                <a:cubicBezTo>
                  <a:pt x="2645" y="18139"/>
                  <a:pt x="2642" y="18103"/>
                  <a:pt x="2559" y="18103"/>
                </a:cubicBezTo>
                <a:cubicBezTo>
                  <a:pt x="2456" y="18103"/>
                  <a:pt x="2460" y="18130"/>
                  <a:pt x="2509" y="19680"/>
                </a:cubicBezTo>
                <a:cubicBezTo>
                  <a:pt x="2528" y="20279"/>
                  <a:pt x="2541" y="20780"/>
                  <a:pt x="2534" y="20846"/>
                </a:cubicBezTo>
                <a:cubicBezTo>
                  <a:pt x="2515" y="21011"/>
                  <a:pt x="2254" y="21013"/>
                  <a:pt x="2236" y="20846"/>
                </a:cubicBezTo>
                <a:cubicBezTo>
                  <a:pt x="2227" y="20772"/>
                  <a:pt x="2234" y="20647"/>
                  <a:pt x="2248" y="20571"/>
                </a:cubicBezTo>
                <a:cubicBezTo>
                  <a:pt x="2291" y="20337"/>
                  <a:pt x="2277" y="20224"/>
                  <a:pt x="2211" y="20297"/>
                </a:cubicBezTo>
                <a:cubicBezTo>
                  <a:pt x="2108" y="20411"/>
                  <a:pt x="2091" y="20200"/>
                  <a:pt x="2149" y="19406"/>
                </a:cubicBezTo>
                <a:cubicBezTo>
                  <a:pt x="2197" y="18748"/>
                  <a:pt x="2197" y="18688"/>
                  <a:pt x="2285" y="18651"/>
                </a:cubicBezTo>
                <a:cubicBezTo>
                  <a:pt x="2354" y="18623"/>
                  <a:pt x="2389" y="18558"/>
                  <a:pt x="2397" y="18377"/>
                </a:cubicBezTo>
                <a:cubicBezTo>
                  <a:pt x="2407" y="18174"/>
                  <a:pt x="2396" y="18103"/>
                  <a:pt x="2335" y="18103"/>
                </a:cubicBezTo>
                <a:cubicBezTo>
                  <a:pt x="2245" y="18103"/>
                  <a:pt x="2219" y="18059"/>
                  <a:pt x="2248" y="17760"/>
                </a:cubicBezTo>
                <a:cubicBezTo>
                  <a:pt x="2267" y="17565"/>
                  <a:pt x="2267" y="17484"/>
                  <a:pt x="2223" y="17486"/>
                </a:cubicBezTo>
                <a:cubicBezTo>
                  <a:pt x="2132" y="17489"/>
                  <a:pt x="2073" y="17655"/>
                  <a:pt x="2062" y="17897"/>
                </a:cubicBezTo>
                <a:cubicBezTo>
                  <a:pt x="2054" y="18053"/>
                  <a:pt x="2026" y="18103"/>
                  <a:pt x="1987" y="18103"/>
                </a:cubicBezTo>
                <a:cubicBezTo>
                  <a:pt x="1955" y="18103"/>
                  <a:pt x="1938" y="18143"/>
                  <a:pt x="1938" y="18171"/>
                </a:cubicBezTo>
                <a:cubicBezTo>
                  <a:pt x="1938" y="18200"/>
                  <a:pt x="1932" y="18347"/>
                  <a:pt x="1925" y="18446"/>
                </a:cubicBezTo>
                <a:cubicBezTo>
                  <a:pt x="1917" y="18558"/>
                  <a:pt x="1922" y="18610"/>
                  <a:pt x="1950" y="18651"/>
                </a:cubicBezTo>
                <a:cubicBezTo>
                  <a:pt x="1995" y="18716"/>
                  <a:pt x="2006" y="18713"/>
                  <a:pt x="1950" y="19474"/>
                </a:cubicBezTo>
                <a:cubicBezTo>
                  <a:pt x="1919" y="19899"/>
                  <a:pt x="1884" y="20392"/>
                  <a:pt x="1888" y="20571"/>
                </a:cubicBezTo>
                <a:cubicBezTo>
                  <a:pt x="1894" y="20869"/>
                  <a:pt x="1892" y="20947"/>
                  <a:pt x="1813" y="20983"/>
                </a:cubicBezTo>
                <a:cubicBezTo>
                  <a:pt x="1681" y="21043"/>
                  <a:pt x="1658" y="20941"/>
                  <a:pt x="1702" y="20571"/>
                </a:cubicBezTo>
                <a:lnTo>
                  <a:pt x="1739" y="20297"/>
                </a:lnTo>
                <a:lnTo>
                  <a:pt x="1565" y="20366"/>
                </a:lnTo>
                <a:cubicBezTo>
                  <a:pt x="1413" y="20429"/>
                  <a:pt x="1399" y="20408"/>
                  <a:pt x="1354" y="20160"/>
                </a:cubicBezTo>
                <a:cubicBezTo>
                  <a:pt x="1269" y="19689"/>
                  <a:pt x="1316" y="19514"/>
                  <a:pt x="1590" y="19474"/>
                </a:cubicBezTo>
                <a:lnTo>
                  <a:pt x="1838" y="19406"/>
                </a:lnTo>
                <a:lnTo>
                  <a:pt x="1838" y="18926"/>
                </a:lnTo>
                <a:cubicBezTo>
                  <a:pt x="1844" y="18567"/>
                  <a:pt x="1842" y="18426"/>
                  <a:pt x="1813" y="18309"/>
                </a:cubicBezTo>
                <a:cubicBezTo>
                  <a:pt x="1760" y="18092"/>
                  <a:pt x="1435" y="18089"/>
                  <a:pt x="1341" y="18309"/>
                </a:cubicBezTo>
                <a:cubicBezTo>
                  <a:pt x="1224" y="18586"/>
                  <a:pt x="1143" y="19186"/>
                  <a:pt x="1130" y="19817"/>
                </a:cubicBezTo>
                <a:cubicBezTo>
                  <a:pt x="1120" y="20313"/>
                  <a:pt x="1128" y="20382"/>
                  <a:pt x="1180" y="20571"/>
                </a:cubicBezTo>
                <a:cubicBezTo>
                  <a:pt x="1212" y="20688"/>
                  <a:pt x="1236" y="20785"/>
                  <a:pt x="1230" y="20846"/>
                </a:cubicBezTo>
                <a:cubicBezTo>
                  <a:pt x="1216" y="20967"/>
                  <a:pt x="940" y="21032"/>
                  <a:pt x="919" y="20914"/>
                </a:cubicBezTo>
                <a:cubicBezTo>
                  <a:pt x="904" y="20832"/>
                  <a:pt x="925" y="20501"/>
                  <a:pt x="1068" y="18514"/>
                </a:cubicBezTo>
                <a:lnTo>
                  <a:pt x="1168" y="17143"/>
                </a:lnTo>
                <a:lnTo>
                  <a:pt x="1068" y="17143"/>
                </a:lnTo>
                <a:cubicBezTo>
                  <a:pt x="984" y="17143"/>
                  <a:pt x="965" y="17187"/>
                  <a:pt x="944" y="17486"/>
                </a:cubicBezTo>
                <a:cubicBezTo>
                  <a:pt x="931" y="17673"/>
                  <a:pt x="903" y="18242"/>
                  <a:pt x="869" y="18720"/>
                </a:cubicBezTo>
                <a:cubicBezTo>
                  <a:pt x="836" y="19198"/>
                  <a:pt x="792" y="19622"/>
                  <a:pt x="783" y="19680"/>
                </a:cubicBezTo>
                <a:cubicBezTo>
                  <a:pt x="773" y="19738"/>
                  <a:pt x="716" y="19169"/>
                  <a:pt x="646" y="18446"/>
                </a:cubicBezTo>
                <a:lnTo>
                  <a:pt x="509" y="17143"/>
                </a:lnTo>
                <a:lnTo>
                  <a:pt x="385" y="17143"/>
                </a:lnTo>
                <a:lnTo>
                  <a:pt x="261" y="17143"/>
                </a:lnTo>
                <a:lnTo>
                  <a:pt x="186" y="18377"/>
                </a:lnTo>
                <a:cubicBezTo>
                  <a:pt x="80" y="20088"/>
                  <a:pt x="51" y="20386"/>
                  <a:pt x="25" y="20297"/>
                </a:cubicBezTo>
                <a:cubicBezTo>
                  <a:pt x="22" y="20289"/>
                  <a:pt x="27" y="21477"/>
                  <a:pt x="25" y="21600"/>
                </a:cubicBezTo>
                <a:lnTo>
                  <a:pt x="21600" y="21600"/>
                </a:lnTo>
                <a:lnTo>
                  <a:pt x="21600" y="20914"/>
                </a:lnTo>
                <a:lnTo>
                  <a:pt x="14545" y="20914"/>
                </a:lnTo>
                <a:cubicBezTo>
                  <a:pt x="9866" y="20914"/>
                  <a:pt x="7506" y="20860"/>
                  <a:pt x="7502" y="20777"/>
                </a:cubicBezTo>
                <a:cubicBezTo>
                  <a:pt x="7499" y="20709"/>
                  <a:pt x="7549" y="20593"/>
                  <a:pt x="7614" y="20503"/>
                </a:cubicBezTo>
                <a:cubicBezTo>
                  <a:pt x="7806" y="20237"/>
                  <a:pt x="8120" y="19356"/>
                  <a:pt x="8247" y="18720"/>
                </a:cubicBezTo>
                <a:cubicBezTo>
                  <a:pt x="8375" y="18083"/>
                  <a:pt x="8493" y="17116"/>
                  <a:pt x="8570" y="16046"/>
                </a:cubicBezTo>
                <a:cubicBezTo>
                  <a:pt x="8622" y="15338"/>
                  <a:pt x="9069" y="5712"/>
                  <a:pt x="9055" y="5623"/>
                </a:cubicBezTo>
                <a:close/>
                <a:moveTo>
                  <a:pt x="13241" y="5691"/>
                </a:moveTo>
                <a:lnTo>
                  <a:pt x="13203" y="6651"/>
                </a:lnTo>
                <a:cubicBezTo>
                  <a:pt x="13182" y="7146"/>
                  <a:pt x="13154" y="7560"/>
                  <a:pt x="13154" y="7611"/>
                </a:cubicBezTo>
                <a:cubicBezTo>
                  <a:pt x="13154" y="7663"/>
                  <a:pt x="13254" y="7680"/>
                  <a:pt x="13365" y="7680"/>
                </a:cubicBezTo>
                <a:cubicBezTo>
                  <a:pt x="13476" y="7680"/>
                  <a:pt x="13569" y="7755"/>
                  <a:pt x="13576" y="7817"/>
                </a:cubicBezTo>
                <a:cubicBezTo>
                  <a:pt x="13592" y="7957"/>
                  <a:pt x="13543" y="9182"/>
                  <a:pt x="13514" y="9394"/>
                </a:cubicBezTo>
                <a:cubicBezTo>
                  <a:pt x="13500" y="9499"/>
                  <a:pt x="13420" y="9600"/>
                  <a:pt x="13278" y="9600"/>
                </a:cubicBezTo>
                <a:lnTo>
                  <a:pt x="13067" y="9600"/>
                </a:lnTo>
                <a:lnTo>
                  <a:pt x="13054" y="10011"/>
                </a:lnTo>
                <a:cubicBezTo>
                  <a:pt x="13043" y="10267"/>
                  <a:pt x="13024" y="10715"/>
                  <a:pt x="13017" y="10971"/>
                </a:cubicBezTo>
                <a:lnTo>
                  <a:pt x="13005" y="11451"/>
                </a:lnTo>
                <a:lnTo>
                  <a:pt x="13203" y="11451"/>
                </a:lnTo>
                <a:cubicBezTo>
                  <a:pt x="13356" y="11451"/>
                  <a:pt x="13418" y="11456"/>
                  <a:pt x="13427" y="11589"/>
                </a:cubicBezTo>
                <a:cubicBezTo>
                  <a:pt x="13434" y="11685"/>
                  <a:pt x="13415" y="12307"/>
                  <a:pt x="13390" y="12960"/>
                </a:cubicBezTo>
                <a:cubicBezTo>
                  <a:pt x="13364" y="13613"/>
                  <a:pt x="13340" y="14514"/>
                  <a:pt x="13340" y="14949"/>
                </a:cubicBezTo>
                <a:cubicBezTo>
                  <a:pt x="13340" y="15616"/>
                  <a:pt x="13343" y="15769"/>
                  <a:pt x="13390" y="16046"/>
                </a:cubicBezTo>
                <a:lnTo>
                  <a:pt x="13452" y="16389"/>
                </a:lnTo>
                <a:lnTo>
                  <a:pt x="13874" y="16389"/>
                </a:lnTo>
                <a:lnTo>
                  <a:pt x="14309" y="16389"/>
                </a:lnTo>
                <a:lnTo>
                  <a:pt x="14346" y="15497"/>
                </a:lnTo>
                <a:cubicBezTo>
                  <a:pt x="14366" y="15002"/>
                  <a:pt x="14377" y="14519"/>
                  <a:pt x="14383" y="14400"/>
                </a:cubicBezTo>
                <a:cubicBezTo>
                  <a:pt x="14394" y="14202"/>
                  <a:pt x="14382" y="14194"/>
                  <a:pt x="14135" y="14194"/>
                </a:cubicBezTo>
                <a:cubicBezTo>
                  <a:pt x="13986" y="14194"/>
                  <a:pt x="13856" y="14117"/>
                  <a:pt x="13849" y="14057"/>
                </a:cubicBezTo>
                <a:cubicBezTo>
                  <a:pt x="13837" y="13951"/>
                  <a:pt x="13913" y="11726"/>
                  <a:pt x="13936" y="11520"/>
                </a:cubicBezTo>
                <a:cubicBezTo>
                  <a:pt x="13943" y="11463"/>
                  <a:pt x="14058" y="11451"/>
                  <a:pt x="14185" y="11451"/>
                </a:cubicBezTo>
                <a:lnTo>
                  <a:pt x="14408" y="11451"/>
                </a:lnTo>
                <a:lnTo>
                  <a:pt x="14433" y="10697"/>
                </a:lnTo>
                <a:cubicBezTo>
                  <a:pt x="14449" y="10285"/>
                  <a:pt x="14476" y="9837"/>
                  <a:pt x="14483" y="9737"/>
                </a:cubicBezTo>
                <a:cubicBezTo>
                  <a:pt x="14493" y="9586"/>
                  <a:pt x="14450" y="9600"/>
                  <a:pt x="14259" y="9600"/>
                </a:cubicBezTo>
                <a:cubicBezTo>
                  <a:pt x="14097" y="9600"/>
                  <a:pt x="14030" y="9505"/>
                  <a:pt x="14023" y="9394"/>
                </a:cubicBezTo>
                <a:cubicBezTo>
                  <a:pt x="14018" y="9309"/>
                  <a:pt x="14033" y="8912"/>
                  <a:pt x="14048" y="8503"/>
                </a:cubicBezTo>
                <a:lnTo>
                  <a:pt x="14073" y="7749"/>
                </a:lnTo>
                <a:lnTo>
                  <a:pt x="14321" y="7680"/>
                </a:lnTo>
                <a:lnTo>
                  <a:pt x="14557" y="7680"/>
                </a:lnTo>
                <a:lnTo>
                  <a:pt x="14607" y="6789"/>
                </a:lnTo>
                <a:cubicBezTo>
                  <a:pt x="14629" y="6311"/>
                  <a:pt x="14644" y="5880"/>
                  <a:pt x="14644" y="5829"/>
                </a:cubicBezTo>
                <a:cubicBezTo>
                  <a:pt x="14645" y="5777"/>
                  <a:pt x="14324" y="5691"/>
                  <a:pt x="13936" y="5691"/>
                </a:cubicBezTo>
                <a:lnTo>
                  <a:pt x="13241" y="5691"/>
                </a:lnTo>
                <a:close/>
                <a:moveTo>
                  <a:pt x="11837" y="6583"/>
                </a:moveTo>
                <a:cubicBezTo>
                  <a:pt x="11888" y="6587"/>
                  <a:pt x="11932" y="6702"/>
                  <a:pt x="11961" y="6857"/>
                </a:cubicBezTo>
                <a:cubicBezTo>
                  <a:pt x="12041" y="7270"/>
                  <a:pt x="12041" y="7669"/>
                  <a:pt x="11986" y="8297"/>
                </a:cubicBezTo>
                <a:cubicBezTo>
                  <a:pt x="11936" y="8869"/>
                  <a:pt x="11810" y="9503"/>
                  <a:pt x="11701" y="9737"/>
                </a:cubicBezTo>
                <a:cubicBezTo>
                  <a:pt x="11665" y="9814"/>
                  <a:pt x="11519" y="9984"/>
                  <a:pt x="11365" y="10149"/>
                </a:cubicBezTo>
                <a:cubicBezTo>
                  <a:pt x="11211" y="10313"/>
                  <a:pt x="11071" y="10423"/>
                  <a:pt x="11055" y="10423"/>
                </a:cubicBezTo>
                <a:cubicBezTo>
                  <a:pt x="10994" y="10423"/>
                  <a:pt x="10994" y="10069"/>
                  <a:pt x="11067" y="9394"/>
                </a:cubicBezTo>
                <a:cubicBezTo>
                  <a:pt x="11232" y="7883"/>
                  <a:pt x="11617" y="6564"/>
                  <a:pt x="11837" y="6583"/>
                </a:cubicBezTo>
                <a:close/>
                <a:moveTo>
                  <a:pt x="7862" y="6720"/>
                </a:moveTo>
                <a:cubicBezTo>
                  <a:pt x="7790" y="6704"/>
                  <a:pt x="7214" y="7221"/>
                  <a:pt x="7192" y="7337"/>
                </a:cubicBezTo>
                <a:cubicBezTo>
                  <a:pt x="7164" y="7479"/>
                  <a:pt x="6844" y="14684"/>
                  <a:pt x="6844" y="15154"/>
                </a:cubicBezTo>
                <a:cubicBezTo>
                  <a:pt x="6844" y="15210"/>
                  <a:pt x="6995" y="15291"/>
                  <a:pt x="7179" y="15291"/>
                </a:cubicBezTo>
                <a:lnTo>
                  <a:pt x="7502" y="15291"/>
                </a:lnTo>
                <a:lnTo>
                  <a:pt x="7602" y="13234"/>
                </a:lnTo>
                <a:cubicBezTo>
                  <a:pt x="7725" y="10425"/>
                  <a:pt x="7875" y="6810"/>
                  <a:pt x="7875" y="6720"/>
                </a:cubicBezTo>
                <a:cubicBezTo>
                  <a:pt x="7875" y="6714"/>
                  <a:pt x="7867" y="6721"/>
                  <a:pt x="7862" y="6720"/>
                </a:cubicBezTo>
                <a:close/>
                <a:moveTo>
                  <a:pt x="15054" y="11314"/>
                </a:moveTo>
                <a:lnTo>
                  <a:pt x="14980" y="12274"/>
                </a:lnTo>
                <a:cubicBezTo>
                  <a:pt x="14940" y="12803"/>
                  <a:pt x="14895" y="13407"/>
                  <a:pt x="14880" y="13646"/>
                </a:cubicBezTo>
                <a:lnTo>
                  <a:pt x="14855" y="14126"/>
                </a:lnTo>
                <a:lnTo>
                  <a:pt x="14694" y="14126"/>
                </a:lnTo>
                <a:lnTo>
                  <a:pt x="14532" y="14194"/>
                </a:lnTo>
                <a:lnTo>
                  <a:pt x="14508" y="14811"/>
                </a:lnTo>
                <a:cubicBezTo>
                  <a:pt x="14495" y="15167"/>
                  <a:pt x="14478" y="15653"/>
                  <a:pt x="14470" y="15909"/>
                </a:cubicBezTo>
                <a:lnTo>
                  <a:pt x="14458" y="16389"/>
                </a:lnTo>
                <a:lnTo>
                  <a:pt x="14744" y="16389"/>
                </a:lnTo>
                <a:cubicBezTo>
                  <a:pt x="14898" y="16389"/>
                  <a:pt x="15054" y="16324"/>
                  <a:pt x="15091" y="16251"/>
                </a:cubicBezTo>
                <a:cubicBezTo>
                  <a:pt x="15152" y="16135"/>
                  <a:pt x="15278" y="15361"/>
                  <a:pt x="15278" y="15086"/>
                </a:cubicBezTo>
                <a:cubicBezTo>
                  <a:pt x="15278" y="14904"/>
                  <a:pt x="15502" y="11609"/>
                  <a:pt x="15526" y="11451"/>
                </a:cubicBezTo>
                <a:cubicBezTo>
                  <a:pt x="15545" y="11327"/>
                  <a:pt x="15500" y="11314"/>
                  <a:pt x="15303" y="11314"/>
                </a:cubicBezTo>
                <a:lnTo>
                  <a:pt x="15054" y="11314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221" name="图像" descr="图像">
            <a:extLst>
              <a:ext uri="{FF2B5EF4-FFF2-40B4-BE49-F238E27FC236}">
                <a16:creationId xmlns:a16="http://schemas.microsoft.com/office/drawing/2014/main" id="{3D16F5A9-18AC-2365-A8E1-8A69C6815CA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06807" y="2680601"/>
            <a:ext cx="640576" cy="308849"/>
          </a:xfrm>
          <a:prstGeom prst="rect">
            <a:avLst/>
          </a:prstGeom>
          <a:ln w="12700">
            <a:miter lim="400000"/>
          </a:ln>
        </p:spPr>
      </p:pic>
      <p:pic>
        <p:nvPicPr>
          <p:cNvPr id="225" name="图像" descr="图像">
            <a:extLst>
              <a:ext uri="{FF2B5EF4-FFF2-40B4-BE49-F238E27FC236}">
                <a16:creationId xmlns:a16="http://schemas.microsoft.com/office/drawing/2014/main" id="{1191C93F-1EE6-F969-4C25-F2D93874F33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03871" y="2630522"/>
            <a:ext cx="514179" cy="409006"/>
          </a:xfrm>
          <a:prstGeom prst="rect">
            <a:avLst/>
          </a:prstGeom>
          <a:ln w="12700">
            <a:miter lim="400000"/>
          </a:ln>
        </p:spPr>
      </p:pic>
      <p:pic>
        <p:nvPicPr>
          <p:cNvPr id="226" name="图片 225">
            <a:extLst>
              <a:ext uri="{FF2B5EF4-FFF2-40B4-BE49-F238E27FC236}">
                <a16:creationId xmlns:a16="http://schemas.microsoft.com/office/drawing/2014/main" id="{45F2CDEC-4019-B367-F66D-78C94978C10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5396" y="2690069"/>
            <a:ext cx="572924" cy="289913"/>
          </a:xfrm>
          <a:prstGeom prst="rect">
            <a:avLst/>
          </a:prstGeom>
        </p:spPr>
      </p:pic>
      <p:pic>
        <p:nvPicPr>
          <p:cNvPr id="227" name="图片 226">
            <a:extLst>
              <a:ext uri="{FF2B5EF4-FFF2-40B4-BE49-F238E27FC236}">
                <a16:creationId xmlns:a16="http://schemas.microsoft.com/office/drawing/2014/main" id="{39393F0A-A321-4F54-F72C-6E44A7B520F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72773" y="2638436"/>
            <a:ext cx="663006" cy="393178"/>
          </a:xfrm>
          <a:prstGeom prst="rect">
            <a:avLst/>
          </a:prstGeom>
        </p:spPr>
      </p:pic>
      <p:pic>
        <p:nvPicPr>
          <p:cNvPr id="228" name="图像" descr="图像">
            <a:extLst>
              <a:ext uri="{FF2B5EF4-FFF2-40B4-BE49-F238E27FC236}">
                <a16:creationId xmlns:a16="http://schemas.microsoft.com/office/drawing/2014/main" id="{0B050CDB-919C-6F85-E77A-D1156431418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765057" y="2715586"/>
            <a:ext cx="806212" cy="238879"/>
          </a:xfrm>
          <a:prstGeom prst="rect">
            <a:avLst/>
          </a:prstGeom>
          <a:ln w="12700">
            <a:miter lim="400000"/>
          </a:ln>
        </p:spPr>
      </p:pic>
      <p:pic>
        <p:nvPicPr>
          <p:cNvPr id="231" name="图片 230">
            <a:extLst>
              <a:ext uri="{FF2B5EF4-FFF2-40B4-BE49-F238E27FC236}">
                <a16:creationId xmlns:a16="http://schemas.microsoft.com/office/drawing/2014/main" id="{91B31E62-C36B-3D32-5FE4-2FD40743C49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7557" y="3561811"/>
            <a:ext cx="572924" cy="289913"/>
          </a:xfrm>
          <a:prstGeom prst="rect">
            <a:avLst/>
          </a:prstGeom>
        </p:spPr>
      </p:pic>
      <p:pic>
        <p:nvPicPr>
          <p:cNvPr id="232" name="图像" descr="图像">
            <a:extLst>
              <a:ext uri="{FF2B5EF4-FFF2-40B4-BE49-F238E27FC236}">
                <a16:creationId xmlns:a16="http://schemas.microsoft.com/office/drawing/2014/main" id="{9FCE13FF-0D2A-8C19-1775-2371F5AD31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1456" y="3564917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4" name="图片 233">
            <a:extLst>
              <a:ext uri="{FF2B5EF4-FFF2-40B4-BE49-F238E27FC236}">
                <a16:creationId xmlns:a16="http://schemas.microsoft.com/office/drawing/2014/main" id="{C8606D50-18FF-FEEB-00A1-AFA0B5AF8C0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8772" b="89474" l="5514" r="92231">
                        <a14:foregroundMark x1="6516" y1="49123" x2="6516" y2="49123"/>
                        <a14:foregroundMark x1="5514" y1="84211" x2="5514" y2="84211"/>
                        <a14:foregroundMark x1="18797" y1="67544" x2="18797" y2="67544"/>
                        <a14:foregroundMark x1="20802" y1="49123" x2="20802" y2="49123"/>
                        <a14:foregroundMark x1="20802" y1="35965" x2="20802" y2="35965"/>
                        <a14:foregroundMark x1="26817" y1="50000" x2="26817" y2="50000"/>
                        <a14:foregroundMark x1="33333" y1="45614" x2="33333" y2="45614"/>
                        <a14:foregroundMark x1="36341" y1="50877" x2="36341" y2="50877"/>
                        <a14:foregroundMark x1="41103" y1="46491" x2="41103" y2="46491"/>
                        <a14:foregroundMark x1="47118" y1="46491" x2="47118" y2="46491"/>
                        <a14:foregroundMark x1="53383" y1="47368" x2="53383" y2="47368"/>
                        <a14:foregroundMark x1="55138" y1="46491" x2="55138" y2="46491"/>
                        <a14:foregroundMark x1="59900" y1="51754" x2="59900" y2="51754"/>
                        <a14:foregroundMark x1="65414" y1="52632" x2="65414" y2="52632"/>
                        <a14:foregroundMark x1="70677" y1="50000" x2="70677" y2="50000"/>
                        <a14:foregroundMark x1="76190" y1="48246" x2="76190" y2="48246"/>
                        <a14:foregroundMark x1="81955" y1="48246" x2="81955" y2="48246"/>
                        <a14:foregroundMark x1="85213" y1="44737" x2="85213" y2="44737"/>
                        <a14:foregroundMark x1="84962" y1="36842" x2="84962" y2="36842"/>
                        <a14:foregroundMark x1="87218" y1="50877" x2="87218" y2="50877"/>
                        <a14:foregroundMark x1="92231" y1="50000" x2="92231" y2="50000"/>
                        <a14:foregroundMark x1="90727" y1="58772" x2="90727" y2="587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91324" y="3568401"/>
            <a:ext cx="968567" cy="276733"/>
          </a:xfrm>
          <a:prstGeom prst="rect">
            <a:avLst/>
          </a:prstGeom>
        </p:spPr>
      </p:pic>
      <p:pic>
        <p:nvPicPr>
          <p:cNvPr id="235" name="图像" descr="图像">
            <a:extLst>
              <a:ext uri="{FF2B5EF4-FFF2-40B4-BE49-F238E27FC236}">
                <a16:creationId xmlns:a16="http://schemas.microsoft.com/office/drawing/2014/main" id="{CD62F807-F7C1-2221-70A8-C3A8A5CBC1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13323" y="3564917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6" name="图片 235">
            <a:extLst>
              <a:ext uri="{FF2B5EF4-FFF2-40B4-BE49-F238E27FC236}">
                <a16:creationId xmlns:a16="http://schemas.microsoft.com/office/drawing/2014/main" id="{EED8FB59-4DF6-6706-A118-0F70C77367E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8772" b="89474" l="5514" r="92231">
                        <a14:foregroundMark x1="6516" y1="49123" x2="6516" y2="49123"/>
                        <a14:foregroundMark x1="5514" y1="84211" x2="5514" y2="84211"/>
                        <a14:foregroundMark x1="18797" y1="67544" x2="18797" y2="67544"/>
                        <a14:foregroundMark x1="20802" y1="49123" x2="20802" y2="49123"/>
                        <a14:foregroundMark x1="20802" y1="35965" x2="20802" y2="35965"/>
                        <a14:foregroundMark x1="26817" y1="50000" x2="26817" y2="50000"/>
                        <a14:foregroundMark x1="33333" y1="45614" x2="33333" y2="45614"/>
                        <a14:foregroundMark x1="36341" y1="50877" x2="36341" y2="50877"/>
                        <a14:foregroundMark x1="41103" y1="46491" x2="41103" y2="46491"/>
                        <a14:foregroundMark x1="47118" y1="46491" x2="47118" y2="46491"/>
                        <a14:foregroundMark x1="53383" y1="47368" x2="53383" y2="47368"/>
                        <a14:foregroundMark x1="55138" y1="46491" x2="55138" y2="46491"/>
                        <a14:foregroundMark x1="59900" y1="51754" x2="59900" y2="51754"/>
                        <a14:foregroundMark x1="65414" y1="52632" x2="65414" y2="52632"/>
                        <a14:foregroundMark x1="70677" y1="50000" x2="70677" y2="50000"/>
                        <a14:foregroundMark x1="76190" y1="48246" x2="76190" y2="48246"/>
                        <a14:foregroundMark x1="81955" y1="48246" x2="81955" y2="48246"/>
                        <a14:foregroundMark x1="85213" y1="44737" x2="85213" y2="44737"/>
                        <a14:foregroundMark x1="84962" y1="36842" x2="84962" y2="36842"/>
                        <a14:foregroundMark x1="87218" y1="50877" x2="87218" y2="50877"/>
                        <a14:foregroundMark x1="92231" y1="50000" x2="92231" y2="50000"/>
                        <a14:foregroundMark x1="90727" y1="58772" x2="90727" y2="587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23191" y="3568401"/>
            <a:ext cx="968567" cy="276733"/>
          </a:xfrm>
          <a:prstGeom prst="rect">
            <a:avLst/>
          </a:prstGeom>
        </p:spPr>
      </p:pic>
      <p:pic>
        <p:nvPicPr>
          <p:cNvPr id="238" name="图片 237">
            <a:extLst>
              <a:ext uri="{FF2B5EF4-FFF2-40B4-BE49-F238E27FC236}">
                <a16:creationId xmlns:a16="http://schemas.microsoft.com/office/drawing/2014/main" id="{EB74CC13-F0E8-EA3D-0969-38E000D756A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8140" b="89535" l="4267" r="92800">
                        <a14:foregroundMark x1="7733" y1="47674" x2="7733" y2="47674"/>
                        <a14:foregroundMark x1="4267" y1="38372" x2="4267" y2="38372"/>
                        <a14:foregroundMark x1="19467" y1="52326" x2="19467" y2="52326"/>
                        <a14:foregroundMark x1="23467" y1="53488" x2="23467" y2="53488"/>
                        <a14:foregroundMark x1="31733" y1="23256" x2="31733" y2="23256"/>
                        <a14:foregroundMark x1="42400" y1="38372" x2="42400" y2="38372"/>
                        <a14:foregroundMark x1="54400" y1="40698" x2="54400" y2="40698"/>
                        <a14:foregroundMark x1="85600" y1="61628" x2="85600" y2="61628"/>
                        <a14:foregroundMark x1="92800" y1="83721" x2="92800" y2="8372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23809" y="3626890"/>
            <a:ext cx="696602" cy="159754"/>
          </a:xfrm>
          <a:prstGeom prst="rect">
            <a:avLst/>
          </a:prstGeom>
        </p:spPr>
      </p:pic>
      <p:pic>
        <p:nvPicPr>
          <p:cNvPr id="239" name="Picture 8" descr="Hon Hai Technology Group (Foxconn) Unpacks Artificial Intelligen">
            <a:extLst>
              <a:ext uri="{FF2B5EF4-FFF2-40B4-BE49-F238E27FC236}">
                <a16:creationId xmlns:a16="http://schemas.microsoft.com/office/drawing/2014/main" id="{A7C74340-83DC-6A48-33D8-14B95915C9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 cstate="print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375" b="89844" l="8500" r="90000">
                        <a14:foregroundMark x1="8500" y1="37500" x2="8500" y2="37500"/>
                        <a14:foregroundMark x1="30750" y1="50781" x2="30750" y2="50781"/>
                        <a14:foregroundMark x1="39250" y1="46875" x2="39250" y2="46875"/>
                        <a14:foregroundMark x1="35250" y1="38281" x2="35250" y2="38281"/>
                        <a14:foregroundMark x1="40500" y1="39844" x2="40500" y2="39844"/>
                        <a14:foregroundMark x1="33750" y1="47656" x2="33750" y2="47656"/>
                        <a14:foregroundMark x1="50500" y1="43750" x2="50500" y2="43750"/>
                        <a14:foregroundMark x1="57250" y1="40625" x2="57250" y2="40625"/>
                        <a14:foregroundMark x1="66250" y1="43750" x2="66250" y2="43750"/>
                        <a14:foregroundMark x1="75750" y1="39063" x2="75750" y2="39063"/>
                        <a14:foregroundMark x1="84750" y1="42188" x2="84750" y2="42188"/>
                        <a14:foregroundMark x1="35250" y1="46875" x2="35250" y2="4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85" t="19707" r="6994" b="19685"/>
          <a:stretch/>
        </p:blipFill>
        <p:spPr bwMode="auto">
          <a:xfrm>
            <a:off x="7914575" y="3619715"/>
            <a:ext cx="779401" cy="174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图片 239">
            <a:extLst>
              <a:ext uri="{FF2B5EF4-FFF2-40B4-BE49-F238E27FC236}">
                <a16:creationId xmlns:a16="http://schemas.microsoft.com/office/drawing/2014/main" id="{7D21C2A9-5F96-054E-89A8-EA1D0C6E672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5396" y="4411380"/>
            <a:ext cx="572924" cy="289913"/>
          </a:xfrm>
          <a:prstGeom prst="rect">
            <a:avLst/>
          </a:prstGeom>
        </p:spPr>
      </p:pic>
      <p:pic>
        <p:nvPicPr>
          <p:cNvPr id="241" name="图像" descr="图像">
            <a:extLst>
              <a:ext uri="{FF2B5EF4-FFF2-40B4-BE49-F238E27FC236}">
                <a16:creationId xmlns:a16="http://schemas.microsoft.com/office/drawing/2014/main" id="{54A3A5B6-4B2C-1BAC-6A30-878728AEEF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79474" y="4414486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2" name="图像" descr="图像">
            <a:extLst>
              <a:ext uri="{FF2B5EF4-FFF2-40B4-BE49-F238E27FC236}">
                <a16:creationId xmlns:a16="http://schemas.microsoft.com/office/drawing/2014/main" id="{F2AB3F59-D723-FE82-322E-1DD3F88EE15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18987" y="4414096"/>
            <a:ext cx="711201" cy="28448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3" name="图像" descr="图像">
            <a:extLst>
              <a:ext uri="{FF2B5EF4-FFF2-40B4-BE49-F238E27FC236}">
                <a16:creationId xmlns:a16="http://schemas.microsoft.com/office/drawing/2014/main" id="{DA77F744-8632-B5FE-B288-251801F30E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85049" y="4414486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4" name="图像" descr="图像">
            <a:extLst>
              <a:ext uri="{FF2B5EF4-FFF2-40B4-BE49-F238E27FC236}">
                <a16:creationId xmlns:a16="http://schemas.microsoft.com/office/drawing/2014/main" id="{B379E024-787A-564F-60A8-638A168AAEF7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120124" y="4356226"/>
            <a:ext cx="368301" cy="400220"/>
          </a:xfrm>
          <a:prstGeom prst="rect">
            <a:avLst/>
          </a:prstGeom>
          <a:ln w="12700">
            <a:noFill/>
            <a:miter lim="400000"/>
          </a:ln>
        </p:spPr>
      </p:pic>
      <p:sp>
        <p:nvSpPr>
          <p:cNvPr id="245" name="文本框 244">
            <a:extLst>
              <a:ext uri="{FF2B5EF4-FFF2-40B4-BE49-F238E27FC236}">
                <a16:creationId xmlns:a16="http://schemas.microsoft.com/office/drawing/2014/main" id="{54547816-9DDE-1731-511D-4B22B72792B7}"/>
              </a:ext>
            </a:extLst>
          </p:cNvPr>
          <p:cNvSpPr txBox="1"/>
          <p:nvPr/>
        </p:nvSpPr>
        <p:spPr>
          <a:xfrm>
            <a:off x="347204" y="3564917"/>
            <a:ext cx="13259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Foundry</a:t>
            </a:r>
            <a:endParaRPr lang="en-GB" altLang="zh-CN" sz="1400" b="1" dirty="0">
              <a:latin typeface="+mj-lt"/>
            </a:endParaRPr>
          </a:p>
        </p:txBody>
      </p:sp>
      <p:pic>
        <p:nvPicPr>
          <p:cNvPr id="246" name="Picture 8" descr="Hon Hai Technology Group (Foxconn) Unpacks Artificial Intelligen">
            <a:extLst>
              <a:ext uri="{FF2B5EF4-FFF2-40B4-BE49-F238E27FC236}">
                <a16:creationId xmlns:a16="http://schemas.microsoft.com/office/drawing/2014/main" id="{09BF9367-0F82-3FD9-EFC0-ED1C30C57C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 cstate="print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375" b="89844" l="8500" r="90000">
                        <a14:foregroundMark x1="8500" y1="37500" x2="8500" y2="37500"/>
                        <a14:foregroundMark x1="30750" y1="50781" x2="30750" y2="50781"/>
                        <a14:foregroundMark x1="39250" y1="46875" x2="39250" y2="46875"/>
                        <a14:foregroundMark x1="35250" y1="38281" x2="35250" y2="38281"/>
                        <a14:foregroundMark x1="40500" y1="39844" x2="40500" y2="39844"/>
                        <a14:foregroundMark x1="33750" y1="47656" x2="33750" y2="47656"/>
                        <a14:foregroundMark x1="50500" y1="43750" x2="50500" y2="43750"/>
                        <a14:foregroundMark x1="57250" y1="40625" x2="57250" y2="40625"/>
                        <a14:foregroundMark x1="66250" y1="43750" x2="66250" y2="43750"/>
                        <a14:foregroundMark x1="75750" y1="39063" x2="75750" y2="39063"/>
                        <a14:foregroundMark x1="84750" y1="42188" x2="84750" y2="42188"/>
                        <a14:foregroundMark x1="35250" y1="46875" x2="35250" y2="4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85" t="19707" r="6994" b="19685"/>
          <a:stretch/>
        </p:blipFill>
        <p:spPr bwMode="auto">
          <a:xfrm>
            <a:off x="3728011" y="5353943"/>
            <a:ext cx="779401" cy="174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图片 247" descr="徽标&#10;&#10;AI 生成的内容可能不正确。">
            <a:extLst>
              <a:ext uri="{FF2B5EF4-FFF2-40B4-BE49-F238E27FC236}">
                <a16:creationId xmlns:a16="http://schemas.microsoft.com/office/drawing/2014/main" id="{7EE4B528-A0AB-0822-8627-45AD1883A1B7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6782" y="5263989"/>
            <a:ext cx="491822" cy="354012"/>
          </a:xfrm>
          <a:prstGeom prst="rect">
            <a:avLst/>
          </a:prstGeom>
        </p:spPr>
      </p:pic>
      <p:pic>
        <p:nvPicPr>
          <p:cNvPr id="249" name="图片 248" descr="徽标&#10;&#10;AI 生成的内容可能不正确。">
            <a:extLst>
              <a:ext uri="{FF2B5EF4-FFF2-40B4-BE49-F238E27FC236}">
                <a16:creationId xmlns:a16="http://schemas.microsoft.com/office/drawing/2014/main" id="{F2B6BEDE-26C1-760F-28B8-84D81C8937D2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796" y="5303696"/>
            <a:ext cx="366851" cy="264058"/>
          </a:xfrm>
          <a:prstGeom prst="rect">
            <a:avLst/>
          </a:prstGeom>
        </p:spPr>
      </p:pic>
      <p:pic>
        <p:nvPicPr>
          <p:cNvPr id="250" name="图片 249">
            <a:extLst>
              <a:ext uri="{FF2B5EF4-FFF2-40B4-BE49-F238E27FC236}">
                <a16:creationId xmlns:a16="http://schemas.microsoft.com/office/drawing/2014/main" id="{402430A5-2F65-7298-3120-C440DAE8777E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backgroundRemoval t="9877" b="89877" l="4526" r="96264">
                        <a14:foregroundMark x1="7687" y1="61235" x2="7687" y2="61235"/>
                        <a14:foregroundMark x1="4526" y1="76296" x2="4526" y2="76296"/>
                        <a14:foregroundMark x1="44684" y1="62469" x2="44684" y2="62469"/>
                        <a14:foregroundMark x1="52514" y1="56790" x2="52514" y2="56790"/>
                        <a14:foregroundMark x1="73635" y1="59753" x2="73635" y2="59753"/>
                        <a14:foregroundMark x1="83190" y1="63951" x2="83190" y2="63951"/>
                        <a14:foregroundMark x1="92888" y1="64198" x2="92888" y2="64198"/>
                        <a14:foregroundMark x1="96264" y1="79259" x2="96264" y2="79259"/>
                      </a14:backgroundRemoval>
                    </a14:imgEffect>
                  </a14:imgLayer>
                </a14:imgProps>
              </a:ext>
            </a:extLst>
          </a:blip>
          <a:srcRect t="23167" b="11856"/>
          <a:stretch/>
        </p:blipFill>
        <p:spPr>
          <a:xfrm>
            <a:off x="2391262" y="5379853"/>
            <a:ext cx="475097" cy="89818"/>
          </a:xfrm>
          <a:prstGeom prst="rect">
            <a:avLst/>
          </a:prstGeom>
        </p:spPr>
      </p:pic>
      <p:sp>
        <p:nvSpPr>
          <p:cNvPr id="252" name="文本框 251">
            <a:extLst>
              <a:ext uri="{FF2B5EF4-FFF2-40B4-BE49-F238E27FC236}">
                <a16:creationId xmlns:a16="http://schemas.microsoft.com/office/drawing/2014/main" id="{1750A5DB-818F-BBD6-3C75-4D99B41FBECD}"/>
              </a:ext>
            </a:extLst>
          </p:cNvPr>
          <p:cNvSpPr txBox="1"/>
          <p:nvPr/>
        </p:nvSpPr>
        <p:spPr>
          <a:xfrm>
            <a:off x="419231" y="6370193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Broadcom,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Intel,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Cisco,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Marvell.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 an exhaustive list; focusing on key partners.​</a:t>
            </a:r>
          </a:p>
        </p:txBody>
      </p:sp>
    </p:spTree>
    <p:extLst>
      <p:ext uri="{BB962C8B-B14F-4D97-AF65-F5344CB8AC3E}">
        <p14:creationId xmlns:p14="http://schemas.microsoft.com/office/powerpoint/2010/main" val="10910791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15613-90E5-0200-ABA1-969F41B61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C53E37C2-7C71-A419-BAAE-6D2D2B4FA58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18053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2" imgW="401" imgH="401" progId="TCLayout.ActiveDocument.1">
                  <p:embed/>
                </p:oleObj>
              </mc:Choice>
              <mc:Fallback>
                <p:oleObj name="think-cell 幻灯片" r:id="rId12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53E37C2-7C71-A419-BAAE-6D2D2B4FA5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18DE6BB8-FA89-3E25-EA44-004C929EE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49" y="172212"/>
            <a:ext cx="10751185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Why Broadcom bets on CPO: aligning with HPC’s in-house ASIC trend + network support for ecosystem positioning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DA999DB-AC5C-4912-29F2-A8253B6131FF}"/>
              </a:ext>
            </a:extLst>
          </p:cNvPr>
          <p:cNvSpPr txBox="1"/>
          <p:nvPr/>
        </p:nvSpPr>
        <p:spPr>
          <a:xfrm>
            <a:off x="292212" y="6397417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Nomura Securities,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J.P.Morgan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Fubon Research,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BNP.</a:t>
            </a:r>
          </a:p>
        </p:txBody>
      </p:sp>
      <p:graphicFrame>
        <p:nvGraphicFramePr>
          <p:cNvPr id="10" name="Chart 3">
            <a:extLst>
              <a:ext uri="{FF2B5EF4-FFF2-40B4-BE49-F238E27FC236}">
                <a16:creationId xmlns:a16="http://schemas.microsoft.com/office/drawing/2014/main" id="{B819E793-3146-7BC0-3C1C-F3175CBC3FAB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143078970"/>
              </p:ext>
            </p:extLst>
          </p:nvPr>
        </p:nvGraphicFramePr>
        <p:xfrm>
          <a:off x="387350" y="1824038"/>
          <a:ext cx="7653338" cy="4616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 useBgFill="1">
        <p:nvSpPr>
          <p:cNvPr id="11" name="Text Placeholder 4">
            <a:extLst>
              <a:ext uri="{FF2B5EF4-FFF2-40B4-BE49-F238E27FC236}">
                <a16:creationId xmlns:a16="http://schemas.microsoft.com/office/drawing/2014/main" id="{03DFEBEA-A1C8-F078-C831-46DA2046D9CE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4043363" y="3679824"/>
            <a:ext cx="454025" cy="274638"/>
          </a:xfrm>
          <a:prstGeom prst="rect">
            <a:avLst/>
          </a:prstGeom>
          <a:ln>
            <a:noFill/>
          </a:ln>
          <a:effectLst/>
        </p:spPr>
        <p:txBody>
          <a:bodyPr vert="horz" wrap="none" lIns="33338" tIns="0" rIns="33338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800" dirty="0">
                <a:effectLst/>
                <a:cs typeface="+mn-cs"/>
              </a:rPr>
              <a:t>&gt;</a:t>
            </a:r>
            <a:fld id="{2757261A-3181-4463-8333-0ED1F2DB49E5}" type="datetime'''''''''3''3'''''''''''''''''''''''''''''''''''''''''''''">
              <a:rPr lang="zh-CN" altLang="en-US" sz="18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33</a:t>
            </a:fld>
            <a:endParaRPr lang="zh-CN" altLang="en-US" sz="1800" dirty="0">
              <a:cs typeface="+mn-cs"/>
            </a:endParaRPr>
          </a:p>
        </p:txBody>
      </p:sp>
      <p:sp>
        <p:nvSpPr>
          <p:cNvPr id="52" name="Text Placeholder 4">
            <a:extLst>
              <a:ext uri="{FF2B5EF4-FFF2-40B4-BE49-F238E27FC236}">
                <a16:creationId xmlns:a16="http://schemas.microsoft.com/office/drawing/2014/main" id="{4E1A86B5-3450-CD77-317A-BEB7EAAD8780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7288213" y="4127500"/>
            <a:ext cx="7080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33338" tIns="0" rIns="333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800" dirty="0">
                <a:effectLst/>
                <a:cs typeface="+mn-cs"/>
              </a:rPr>
              <a:t>20~30</a:t>
            </a:r>
            <a:endParaRPr lang="zh-CN" altLang="en-US" sz="1800" dirty="0">
              <a:cs typeface="+mn-cs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EAF0FDD1-AA3B-B255-C9E5-12158FBE4F2E}"/>
              </a:ext>
            </a:extLst>
          </p:cNvPr>
          <p:cNvSpPr txBox="1"/>
          <p:nvPr/>
        </p:nvSpPr>
        <p:spPr>
          <a:xfrm>
            <a:off x="292100" y="1690688"/>
            <a:ext cx="5626100" cy="339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Shipment Unit Share</a:t>
            </a:r>
            <a:r>
              <a:rPr lang="zh-CN" altLang="en-US" sz="1600" dirty="0">
                <a:solidFill>
                  <a:srgbClr val="000000"/>
                </a:solidFill>
                <a:latin typeface="PingFang SC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(%)</a:t>
            </a:r>
            <a:endParaRPr lang="zh-CN" altLang="en-US" sz="1600" dirty="0">
              <a:solidFill>
                <a:srgbClr val="000000"/>
              </a:solidFill>
              <a:latin typeface="PingFang SC"/>
            </a:endParaRP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24AEC0F4-E29C-AD43-22E2-4740D7678743}"/>
              </a:ext>
            </a:extLst>
          </p:cNvPr>
          <p:cNvSpPr txBox="1"/>
          <p:nvPr/>
        </p:nvSpPr>
        <p:spPr>
          <a:xfrm>
            <a:off x="3983775" y="5095202"/>
            <a:ext cx="166052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Google</a:t>
            </a:r>
          </a:p>
          <a:p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Meta</a:t>
            </a:r>
          </a:p>
          <a:p>
            <a:r>
              <a:rPr lang="en-US" altLang="zh-CN" sz="1600" dirty="0">
                <a:solidFill>
                  <a:srgbClr val="0052D9"/>
                </a:solidFill>
                <a:latin typeface="PingFang SC"/>
              </a:rPr>
              <a:t>ByteDance</a:t>
            </a: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943DA313-5994-5C1E-B018-417A0A4C3D3B}"/>
              </a:ext>
            </a:extLst>
          </p:cNvPr>
          <p:cNvSpPr txBox="1"/>
          <p:nvPr/>
        </p:nvSpPr>
        <p:spPr>
          <a:xfrm>
            <a:off x="6974892" y="4602760"/>
            <a:ext cx="166052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Google</a:t>
            </a:r>
          </a:p>
          <a:p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Meta</a:t>
            </a:r>
          </a:p>
          <a:p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ByteDance</a:t>
            </a:r>
          </a:p>
          <a:p>
            <a:r>
              <a:rPr lang="en-US" altLang="zh-CN" sz="1600" dirty="0">
                <a:solidFill>
                  <a:srgbClr val="0052D9"/>
                </a:solidFill>
                <a:latin typeface="PingFang SC"/>
              </a:rPr>
              <a:t>OpenAI</a:t>
            </a:r>
          </a:p>
          <a:p>
            <a:r>
              <a:rPr lang="en-US" altLang="zh-CN" sz="1600" dirty="0" err="1">
                <a:solidFill>
                  <a:srgbClr val="0052D9"/>
                </a:solidFill>
                <a:latin typeface="PingFang SC"/>
              </a:rPr>
              <a:t>xAI</a:t>
            </a:r>
            <a:endParaRPr lang="en-US" altLang="zh-CN" sz="1600" dirty="0">
              <a:solidFill>
                <a:srgbClr val="0052D9"/>
              </a:solidFill>
              <a:latin typeface="PingFang SC"/>
            </a:endParaRPr>
          </a:p>
        </p:txBody>
      </p:sp>
      <p:cxnSp>
        <p:nvCxnSpPr>
          <p:cNvPr id="130" name="直接连接符 129">
            <a:extLst>
              <a:ext uri="{FF2B5EF4-FFF2-40B4-BE49-F238E27FC236}">
                <a16:creationId xmlns:a16="http://schemas.microsoft.com/office/drawing/2014/main" id="{BD3D585D-EB84-F7EC-1AC4-AE4F0BB57E76}"/>
              </a:ext>
            </a:extLst>
          </p:cNvPr>
          <p:cNvCxnSpPr/>
          <p:nvPr>
            <p:custDataLst>
              <p:tags r:id="rId5"/>
            </p:custDataLst>
          </p:nvPr>
        </p:nvCxnSpPr>
        <p:spPr bwMode="gray">
          <a:xfrm>
            <a:off x="2743200" y="1860550"/>
            <a:ext cx="228600" cy="0"/>
          </a:xfrm>
          <a:prstGeom prst="line">
            <a:avLst/>
          </a:prstGeom>
          <a:ln w="12700" cap="rnd" cmpd="sng" algn="ctr">
            <a:solidFill>
              <a:srgbClr val="0052D9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直接连接符 131">
            <a:extLst>
              <a:ext uri="{FF2B5EF4-FFF2-40B4-BE49-F238E27FC236}">
                <a16:creationId xmlns:a16="http://schemas.microsoft.com/office/drawing/2014/main" id="{855E862C-E865-CE47-D969-4ED73BF96A88}"/>
              </a:ext>
            </a:extLst>
          </p:cNvPr>
          <p:cNvCxnSpPr/>
          <p:nvPr>
            <p:custDataLst>
              <p:tags r:id="rId6"/>
            </p:custDataLst>
          </p:nvPr>
        </p:nvCxnSpPr>
        <p:spPr bwMode="gray">
          <a:xfrm>
            <a:off x="3560763" y="1860550"/>
            <a:ext cx="231775" cy="0"/>
          </a:xfrm>
          <a:prstGeom prst="line">
            <a:avLst/>
          </a:prstGeom>
          <a:ln w="19050" cap="rnd" cmpd="sng" algn="ctr">
            <a:solidFill>
              <a:srgbClr val="C0C0C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7" name="Text Placeholder 4">
            <a:extLst>
              <a:ext uri="{FF2B5EF4-FFF2-40B4-BE49-F238E27FC236}">
                <a16:creationId xmlns:a16="http://schemas.microsoft.com/office/drawing/2014/main" id="{4432D324-70FA-F8C1-0A33-97C916F10E38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3033713" y="1762125"/>
            <a:ext cx="4159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CA14096-24AE-49D8-9F9F-FD7E7C057D2D}" type="datetime'''''''''''''''''''''''''''''''A''''S''IC'''''''''">
              <a:rPr lang="en-US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ASIC</a:t>
            </a:fld>
            <a:endParaRPr lang="zh-CN" altLang="en-US" sz="1400" dirty="0">
              <a:cs typeface="+mn-cs"/>
            </a:endParaRPr>
          </a:p>
        </p:txBody>
      </p:sp>
      <p:sp>
        <p:nvSpPr>
          <p:cNvPr id="125" name="Text Placeholder 4">
            <a:extLst>
              <a:ext uri="{FF2B5EF4-FFF2-40B4-BE49-F238E27FC236}">
                <a16:creationId xmlns:a16="http://schemas.microsoft.com/office/drawing/2014/main" id="{715DE486-F67D-3D0F-E1FB-C973BBA91A41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3852863" y="1762125"/>
            <a:ext cx="12636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cs typeface="+mn-cs"/>
              </a:rPr>
              <a:t>Broadcom ASIC</a:t>
            </a:r>
            <a:endParaRPr lang="zh-CN" altLang="en-US" sz="1400" dirty="0">
              <a:cs typeface="+mn-cs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012A1E5-C527-E5DF-0FC8-3D86F59979D3}"/>
              </a:ext>
            </a:extLst>
          </p:cNvPr>
          <p:cNvSpPr txBox="1"/>
          <p:nvPr/>
        </p:nvSpPr>
        <p:spPr>
          <a:xfrm>
            <a:off x="8330962" y="3735758"/>
            <a:ext cx="3528377" cy="764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​ASIC: high costs, </a:t>
            </a:r>
            <a:r>
              <a:rPr lang="en-US" altLang="zh-CN" sz="1400" b="1" dirty="0">
                <a:solidFill>
                  <a:srgbClr val="0052D9"/>
                </a:solidFill>
                <a:latin typeface="PingFang SC"/>
              </a:rPr>
              <a:t>limited TSMC supply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;</a:t>
            </a:r>
          </a:p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52D9"/>
                </a:solidFill>
                <a:latin typeface="PingFang SC"/>
              </a:rPr>
              <a:t>​Nvidia continues to dominate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AI cloud compute.​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latin typeface="PingFang SC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20DA3CF-3767-0AEA-75AE-EB826B843EF9}"/>
              </a:ext>
            </a:extLst>
          </p:cNvPr>
          <p:cNvSpPr txBox="1"/>
          <p:nvPr/>
        </p:nvSpPr>
        <p:spPr>
          <a:xfrm>
            <a:off x="292100" y="1154721"/>
            <a:ext cx="87610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ASIC becomes the long-term trend; Broadcom plays a central role</a:t>
            </a:r>
            <a:endParaRPr lang="zh-CN" altLang="en-US" dirty="0"/>
          </a:p>
        </p:txBody>
      </p:sp>
      <p:cxnSp>
        <p:nvCxnSpPr>
          <p:cNvPr id="28" name="Straight Connector 69">
            <a:extLst>
              <a:ext uri="{FF2B5EF4-FFF2-40B4-BE49-F238E27FC236}">
                <a16:creationId xmlns:a16="http://schemas.microsoft.com/office/drawing/2014/main" id="{88D6CD56-04C8-1C24-DAEA-7A90C7F53771}"/>
              </a:ext>
            </a:extLst>
          </p:cNvPr>
          <p:cNvCxnSpPr>
            <a:cxnSpLocks/>
          </p:cNvCxnSpPr>
          <p:nvPr>
            <p:custDataLst>
              <p:tags r:id="rId9"/>
            </p:custDataLst>
          </p:nvPr>
        </p:nvCxnSpPr>
        <p:spPr bwMode="auto">
          <a:xfrm>
            <a:off x="427673" y="1546913"/>
            <a:ext cx="7515225" cy="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FF32C493-823A-5118-2E4F-36E3ABD2BFEA}"/>
              </a:ext>
            </a:extLst>
          </p:cNvPr>
          <p:cNvCxnSpPr>
            <a:cxnSpLocks/>
          </p:cNvCxnSpPr>
          <p:nvPr/>
        </p:nvCxnSpPr>
        <p:spPr>
          <a:xfrm flipV="1">
            <a:off x="897846" y="3990974"/>
            <a:ext cx="3389674" cy="767797"/>
          </a:xfrm>
          <a:prstGeom prst="line">
            <a:avLst/>
          </a:prstGeom>
          <a:ln w="19050"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连接符 102">
            <a:extLst>
              <a:ext uri="{FF2B5EF4-FFF2-40B4-BE49-F238E27FC236}">
                <a16:creationId xmlns:a16="http://schemas.microsoft.com/office/drawing/2014/main" id="{0A76F7B2-9937-B624-8716-8A0BFD1B4BBB}"/>
              </a:ext>
            </a:extLst>
          </p:cNvPr>
          <p:cNvCxnSpPr>
            <a:cxnSpLocks/>
          </p:cNvCxnSpPr>
          <p:nvPr/>
        </p:nvCxnSpPr>
        <p:spPr>
          <a:xfrm flipV="1">
            <a:off x="4245283" y="3611770"/>
            <a:ext cx="3397736" cy="388532"/>
          </a:xfrm>
          <a:prstGeom prst="line">
            <a:avLst/>
          </a:prstGeom>
          <a:ln w="9525">
            <a:solidFill>
              <a:srgbClr val="0052D9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文本框 113">
            <a:extLst>
              <a:ext uri="{FF2B5EF4-FFF2-40B4-BE49-F238E27FC236}">
                <a16:creationId xmlns:a16="http://schemas.microsoft.com/office/drawing/2014/main" id="{A7C07FBA-FD55-123B-6CC2-D48F932459CC}"/>
              </a:ext>
            </a:extLst>
          </p:cNvPr>
          <p:cNvSpPr txBox="1"/>
          <p:nvPr/>
        </p:nvSpPr>
        <p:spPr>
          <a:xfrm>
            <a:off x="8330962" y="1990805"/>
            <a:ext cx="6114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①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</a:rPr>
              <a:t>​​Optimistic Scenario</a:t>
            </a:r>
            <a:endParaRPr lang="zh-CN" altLang="en-US" b="1" dirty="0"/>
          </a:p>
        </p:txBody>
      </p:sp>
      <p:sp>
        <p:nvSpPr>
          <p:cNvPr id="964" name="文本框 963">
            <a:extLst>
              <a:ext uri="{FF2B5EF4-FFF2-40B4-BE49-F238E27FC236}">
                <a16:creationId xmlns:a16="http://schemas.microsoft.com/office/drawing/2014/main" id="{FA12F98D-AFB1-F69C-EB36-438FF7419D87}"/>
              </a:ext>
            </a:extLst>
          </p:cNvPr>
          <p:cNvSpPr txBox="1"/>
          <p:nvPr/>
        </p:nvSpPr>
        <p:spPr>
          <a:xfrm>
            <a:off x="8330962" y="3369711"/>
            <a:ext cx="6114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②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</a:rPr>
              <a:t>Pessimistic Scenario</a:t>
            </a:r>
            <a:endParaRPr lang="zh-CN" altLang="en-US" b="1" dirty="0"/>
          </a:p>
        </p:txBody>
      </p:sp>
      <p:sp>
        <p:nvSpPr>
          <p:cNvPr id="966" name="文本框 965">
            <a:extLst>
              <a:ext uri="{FF2B5EF4-FFF2-40B4-BE49-F238E27FC236}">
                <a16:creationId xmlns:a16="http://schemas.microsoft.com/office/drawing/2014/main" id="{3EA0C51F-3CA4-A0C8-3FC9-3D399000562D}"/>
              </a:ext>
            </a:extLst>
          </p:cNvPr>
          <p:cNvSpPr txBox="1"/>
          <p:nvPr/>
        </p:nvSpPr>
        <p:spPr>
          <a:xfrm>
            <a:off x="8330962" y="2404130"/>
            <a:ext cx="3770682" cy="764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New orders from </a:t>
            </a:r>
            <a:r>
              <a:rPr lang="en-US" altLang="zh-CN" sz="1400" b="1" dirty="0">
                <a:solidFill>
                  <a:srgbClr val="0052D9"/>
                </a:solidFill>
                <a:latin typeface="PingFang SC"/>
              </a:rPr>
              <a:t>OpenAI &amp; </a:t>
            </a:r>
            <a:r>
              <a:rPr lang="en-US" altLang="zh-CN" sz="1400" b="1" dirty="0" err="1">
                <a:solidFill>
                  <a:srgbClr val="0052D9"/>
                </a:solidFill>
                <a:latin typeface="PingFang SC"/>
              </a:rPr>
              <a:t>xAI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;</a:t>
            </a:r>
          </a:p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Bring forward the “ASIC &gt; GPU” inflection point </a:t>
            </a:r>
            <a:r>
              <a:rPr lang="en-US" altLang="zh-CN" sz="1400" b="1" dirty="0">
                <a:solidFill>
                  <a:srgbClr val="0052D9"/>
                </a:solidFill>
                <a:latin typeface="PingFang SC"/>
              </a:rPr>
              <a:t>from 2027–28 to 2026.</a:t>
            </a:r>
          </a:p>
        </p:txBody>
      </p:sp>
      <p:sp>
        <p:nvSpPr>
          <p:cNvPr id="974" name="文本框 973">
            <a:extLst>
              <a:ext uri="{FF2B5EF4-FFF2-40B4-BE49-F238E27FC236}">
                <a16:creationId xmlns:a16="http://schemas.microsoft.com/office/drawing/2014/main" id="{4A0EDC42-EC67-E512-0376-3F88A096A93E}"/>
              </a:ext>
            </a:extLst>
          </p:cNvPr>
          <p:cNvSpPr txBox="1"/>
          <p:nvPr/>
        </p:nvSpPr>
        <p:spPr>
          <a:xfrm>
            <a:off x="7348154" y="3256502"/>
            <a:ext cx="6925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>
                <a:solidFill>
                  <a:srgbClr val="53585F"/>
                </a:solidFill>
                <a:cs typeface="+mn-ea"/>
                <a:sym typeface="+mn-lt"/>
              </a:rPr>
              <a:t>~40</a:t>
            </a:r>
            <a:endParaRPr lang="zh-CN" altLang="en-US" dirty="0">
              <a:solidFill>
                <a:srgbClr val="53585F"/>
              </a:solidFill>
            </a:endParaRPr>
          </a:p>
        </p:txBody>
      </p:sp>
      <p:sp>
        <p:nvSpPr>
          <p:cNvPr id="1013" name="文本框 1012">
            <a:extLst>
              <a:ext uri="{FF2B5EF4-FFF2-40B4-BE49-F238E27FC236}">
                <a16:creationId xmlns:a16="http://schemas.microsoft.com/office/drawing/2014/main" id="{3ABC8DEF-3EDC-5D1E-C5C2-56BBD98FEC48}"/>
              </a:ext>
            </a:extLst>
          </p:cNvPr>
          <p:cNvSpPr txBox="1"/>
          <p:nvPr/>
        </p:nvSpPr>
        <p:spPr>
          <a:xfrm>
            <a:off x="8330962" y="4571981"/>
            <a:ext cx="35283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b="1">
                <a:solidFill>
                  <a:schemeClr val="tx1">
                    <a:lumMod val="50000"/>
                  </a:schemeClr>
                </a:solidFill>
                <a:cs typeface="+mn-ea"/>
              </a:defRPr>
            </a:lvl1pPr>
          </a:lstStyle>
          <a:p>
            <a:r>
              <a:rPr lang="en-US" altLang="zh-CN" dirty="0"/>
              <a:t>​</a:t>
            </a:r>
            <a:r>
              <a:rPr lang="zh-CN" altLang="en-US" dirty="0"/>
              <a:t>③ </a:t>
            </a:r>
            <a:r>
              <a:rPr lang="en-US" altLang="zh-CN" dirty="0"/>
              <a:t>Broadcom</a:t>
            </a:r>
          </a:p>
        </p:txBody>
      </p:sp>
      <p:sp>
        <p:nvSpPr>
          <p:cNvPr id="1015" name="文本框 1014">
            <a:extLst>
              <a:ext uri="{FF2B5EF4-FFF2-40B4-BE49-F238E27FC236}">
                <a16:creationId xmlns:a16="http://schemas.microsoft.com/office/drawing/2014/main" id="{19487E5B-EFB5-957E-B4FE-36D9F87E85BB}"/>
              </a:ext>
            </a:extLst>
          </p:cNvPr>
          <p:cNvSpPr txBox="1"/>
          <p:nvPr/>
        </p:nvSpPr>
        <p:spPr>
          <a:xfrm>
            <a:off x="8330962" y="4941313"/>
            <a:ext cx="72428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  <a:defRPr sz="1400">
                <a:solidFill>
                  <a:schemeClr val="accent6">
                    <a:lumMod val="10000"/>
                  </a:schemeClr>
                </a:solidFill>
                <a:latin typeface="PingFang SC"/>
              </a:defRPr>
            </a:lvl1pPr>
          </a:lstStyle>
          <a:p>
            <a:r>
              <a:rPr lang="en-US" altLang="zh-CN"/>
              <a:t>Maintain ~50</a:t>
            </a:r>
            <a:r>
              <a:rPr lang="en-US" altLang="zh-CN" dirty="0"/>
              <a:t>% share in ASIC design.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676168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4D8D8-7C1A-0348-DAD6-EBCFA7A04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731D8489-94F6-87DD-8224-C8747CE674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963200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8" imgW="401" imgH="401" progId="TCLayout.ActiveDocument.1">
                  <p:embed/>
                </p:oleObj>
              </mc:Choice>
              <mc:Fallback>
                <p:oleObj name="think-cell 幻灯片" r:id="rId48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1D8489-94F6-87DD-8224-C8747CE674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D1F44BCD-E96A-EC37-D488-0C77B9DB4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49" y="172212"/>
            <a:ext cx="10751185" cy="731520"/>
          </a:xfrm>
        </p:spPr>
        <p:txBody>
          <a:bodyPr vert="horz"/>
          <a:lstStyle/>
          <a:p>
            <a:r>
              <a:rPr lang="en-US" altLang="zh-CN" dirty="0">
                <a:cs typeface="+mn-ea"/>
                <a:sym typeface="+mn-lt"/>
              </a:rPr>
              <a:t>Why Broadcom bets on CPO: aligning with HPC’s in-house ASIC trend + network support for ecosystem positioning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CA5B5CC-A4A3-CBEA-E2B8-2D34DA9346AD}"/>
              </a:ext>
            </a:extLst>
          </p:cNvPr>
          <p:cNvSpPr txBox="1"/>
          <p:nvPr/>
        </p:nvSpPr>
        <p:spPr>
          <a:xfrm>
            <a:off x="292212" y="6397417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Fubon Research,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Semiconductor Research,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cxnSp>
        <p:nvCxnSpPr>
          <p:cNvPr id="814" name="直接连接符 813">
            <a:extLst>
              <a:ext uri="{FF2B5EF4-FFF2-40B4-BE49-F238E27FC236}">
                <a16:creationId xmlns:a16="http://schemas.microsoft.com/office/drawing/2014/main" id="{6BA333D5-F8C5-5BA4-EE96-FE67AB471FD2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>
            <a:off x="1800225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7" name="直接连接符 906">
            <a:extLst>
              <a:ext uri="{FF2B5EF4-FFF2-40B4-BE49-F238E27FC236}">
                <a16:creationId xmlns:a16="http://schemas.microsoft.com/office/drawing/2014/main" id="{8791C4A9-CA1B-6B05-53E0-9033156CFA8C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11093450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8" name="直接连接符 817">
            <a:extLst>
              <a:ext uri="{FF2B5EF4-FFF2-40B4-BE49-F238E27FC236}">
                <a16:creationId xmlns:a16="http://schemas.microsoft.com/office/drawing/2014/main" id="{587F34D2-B35A-0BDC-1812-7DB808755EC0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4121150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6" name="直接连接符 825">
            <a:extLst>
              <a:ext uri="{FF2B5EF4-FFF2-40B4-BE49-F238E27FC236}">
                <a16:creationId xmlns:a16="http://schemas.microsoft.com/office/drawing/2014/main" id="{629AA187-0606-0262-954C-18398BDA5298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8772525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2" name="直接连接符 821">
            <a:extLst>
              <a:ext uri="{FF2B5EF4-FFF2-40B4-BE49-F238E27FC236}">
                <a16:creationId xmlns:a16="http://schemas.microsoft.com/office/drawing/2014/main" id="{53FB589F-DF18-8761-9D0F-F255734A661D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6443663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57" name="Chart 3">
            <a:extLst>
              <a:ext uri="{FF2B5EF4-FFF2-40B4-BE49-F238E27FC236}">
                <a16:creationId xmlns:a16="http://schemas.microsoft.com/office/drawing/2014/main" id="{5B981BC7-9560-7465-B7E9-3FBD863794A5}"/>
              </a:ext>
            </a:extLst>
          </p:cNvPr>
          <p:cNvGraphicFramePr/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3841240008"/>
              </p:ext>
            </p:extLst>
          </p:nvPr>
        </p:nvGraphicFramePr>
        <p:xfrm>
          <a:off x="1057275" y="2520950"/>
          <a:ext cx="10118725" cy="3197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0"/>
          </a:graphicData>
        </a:graphic>
      </p:graphicFrame>
      <p:sp>
        <p:nvSpPr>
          <p:cNvPr id="801" name="Text Placeholder 4">
            <a:extLst>
              <a:ext uri="{FF2B5EF4-FFF2-40B4-BE49-F238E27FC236}">
                <a16:creationId xmlns:a16="http://schemas.microsoft.com/office/drawing/2014/main" id="{D626AE86-D9C6-16DD-707D-7EE55D3A3B62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4022725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4146F4F-47BE-4702-B85B-421FE5EF85BD}" type="datetime'2''''''''''''''''''''3'''''''''">
              <a:rPr lang="en-US" altLang="en-US" sz="1400" smtClean="0">
                <a:cs typeface="+mn-cs"/>
              </a:rPr>
              <a:pPr/>
              <a:t>23</a:t>
            </a:fld>
            <a:endParaRPr lang="zh-CN" altLang="en-US" sz="1400" dirty="0">
              <a:cs typeface="+mn-cs"/>
            </a:endParaRPr>
          </a:p>
        </p:txBody>
      </p:sp>
      <p:sp>
        <p:nvSpPr>
          <p:cNvPr id="805" name="Text Placeholder 4">
            <a:extLst>
              <a:ext uri="{FF2B5EF4-FFF2-40B4-BE49-F238E27FC236}">
                <a16:creationId xmlns:a16="http://schemas.microsoft.com/office/drawing/2014/main" id="{5DD3198D-87DC-2C94-BCF8-11371B22036D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6345238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9CB6826-960E-4612-8416-AEE121A086FC}" type="datetime'''''''''''''''''''''''''''2''''4'''">
              <a:rPr lang="en-US" altLang="en-US" sz="1400" smtClean="0">
                <a:cs typeface="+mn-cs"/>
              </a:rPr>
              <a:pPr/>
              <a:t>24</a:t>
            </a:fld>
            <a:endParaRPr lang="zh-CN" altLang="en-US" sz="1400" dirty="0">
              <a:cs typeface="+mn-cs"/>
            </a:endParaRPr>
          </a:p>
        </p:txBody>
      </p:sp>
      <p:sp>
        <p:nvSpPr>
          <p:cNvPr id="809" name="Text Placeholder 4">
            <a:extLst>
              <a:ext uri="{FF2B5EF4-FFF2-40B4-BE49-F238E27FC236}">
                <a16:creationId xmlns:a16="http://schemas.microsoft.com/office/drawing/2014/main" id="{C435B255-D5AC-9F6F-133A-4D19749F6E0A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gray">
          <a:xfrm>
            <a:off x="8674100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04D0655-3735-4378-A611-64403D9586AD}" type="datetime'''''''2''''''''''''''''''''''''''''5'''''''''''''''''">
              <a:rPr lang="en-US" altLang="en-US" sz="1400" smtClean="0">
                <a:cs typeface="+mn-cs"/>
              </a:rPr>
              <a:pPr/>
              <a:t>25</a:t>
            </a:fld>
            <a:endParaRPr lang="zh-CN" altLang="en-US" sz="1400" dirty="0">
              <a:cs typeface="+mn-cs"/>
            </a:endParaRPr>
          </a:p>
        </p:txBody>
      </p:sp>
      <p:sp>
        <p:nvSpPr>
          <p:cNvPr id="906" name="Text Placeholder 4">
            <a:extLst>
              <a:ext uri="{FF2B5EF4-FFF2-40B4-BE49-F238E27FC236}">
                <a16:creationId xmlns:a16="http://schemas.microsoft.com/office/drawing/2014/main" id="{163F13E7-F076-1D8F-E154-3C211098B543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gray">
          <a:xfrm>
            <a:off x="10995025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15F0CF3-16E9-4197-AEE5-CF017D0A7ADA}" type="datetime'''''''''''''''''2''''''''''6'''''''''''''''''">
              <a:rPr lang="zh-CN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zh-CN" altLang="en-US" sz="1400" dirty="0">
              <a:cs typeface="+mn-cs"/>
            </a:endParaRPr>
          </a:p>
        </p:txBody>
      </p:sp>
      <p:sp>
        <p:nvSpPr>
          <p:cNvPr id="797" name="Text Placeholder 4">
            <a:extLst>
              <a:ext uri="{FF2B5EF4-FFF2-40B4-BE49-F238E27FC236}">
                <a16:creationId xmlns:a16="http://schemas.microsoft.com/office/drawing/2014/main" id="{94687F30-9527-A256-205D-14536713EE21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gray">
          <a:xfrm>
            <a:off x="1701800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FB89ED49-E183-4C30-8FFF-D92644A6C394}" type="datetime'''''''''''''''''2''''''2'''">
              <a:rPr lang="en-US" altLang="en-US" sz="1400" smtClean="0">
                <a:cs typeface="+mn-cs"/>
              </a:rPr>
              <a:pPr/>
              <a:t>22</a:t>
            </a:fld>
            <a:endParaRPr lang="zh-CN" altLang="en-US" sz="1400" dirty="0">
              <a:cs typeface="+mn-cs"/>
            </a:endParaRPr>
          </a:p>
        </p:txBody>
      </p:sp>
      <p:cxnSp>
        <p:nvCxnSpPr>
          <p:cNvPr id="496" name="直接连接符 495">
            <a:extLst>
              <a:ext uri="{FF2B5EF4-FFF2-40B4-BE49-F238E27FC236}">
                <a16:creationId xmlns:a16="http://schemas.microsoft.com/office/drawing/2014/main" id="{901A1F97-F6C5-E17F-E1FD-A9BC2ED8276D}"/>
              </a:ext>
            </a:extLst>
          </p:cNvPr>
          <p:cNvCxnSpPr>
            <a:cxnSpLocks/>
          </p:cNvCxnSpPr>
          <p:nvPr>
            <p:custDataLst>
              <p:tags r:id="rId13"/>
            </p:custDataLst>
          </p:nvPr>
        </p:nvCxnSpPr>
        <p:spPr bwMode="auto">
          <a:xfrm flipH="1">
            <a:off x="8821738" y="3189288"/>
            <a:ext cx="392113" cy="158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6" name="直接连接符 915">
            <a:extLst>
              <a:ext uri="{FF2B5EF4-FFF2-40B4-BE49-F238E27FC236}">
                <a16:creationId xmlns:a16="http://schemas.microsoft.com/office/drawing/2014/main" id="{A95F7A86-D382-BC07-B263-10F919EEC962}"/>
              </a:ext>
            </a:extLst>
          </p:cNvPr>
          <p:cNvCxnSpPr>
            <a:cxnSpLocks/>
          </p:cNvCxnSpPr>
          <p:nvPr>
            <p:custDataLst>
              <p:tags r:id="rId14"/>
            </p:custDataLst>
          </p:nvPr>
        </p:nvCxnSpPr>
        <p:spPr bwMode="auto">
          <a:xfrm flipH="1">
            <a:off x="4170363" y="5413375"/>
            <a:ext cx="47625" cy="317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2523A816-CF35-DCF4-A607-3C74BF7DAB4F}"/>
              </a:ext>
            </a:extLst>
          </p:cNvPr>
          <p:cNvCxnSpPr/>
          <p:nvPr>
            <p:custDataLst>
              <p:tags r:id="rId15"/>
            </p:custDataLst>
          </p:nvPr>
        </p:nvCxnSpPr>
        <p:spPr bwMode="auto">
          <a:xfrm>
            <a:off x="3906838" y="5461000"/>
            <a:ext cx="165100" cy="2063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2" name="直接连接符 961">
            <a:extLst>
              <a:ext uri="{FF2B5EF4-FFF2-40B4-BE49-F238E27FC236}">
                <a16:creationId xmlns:a16="http://schemas.microsoft.com/office/drawing/2014/main" id="{9B74301A-A0CA-E78E-1C2A-F9368306858E}"/>
              </a:ext>
            </a:extLst>
          </p:cNvPr>
          <p:cNvCxnSpPr>
            <a:cxnSpLocks/>
          </p:cNvCxnSpPr>
          <p:nvPr>
            <p:custDataLst>
              <p:tags r:id="rId16"/>
            </p:custDataLst>
          </p:nvPr>
        </p:nvCxnSpPr>
        <p:spPr bwMode="auto">
          <a:xfrm flipH="1">
            <a:off x="8821738" y="3106738"/>
            <a:ext cx="417513" cy="762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99C790-AD75-89F6-F4A2-5A8820148D18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9266237" y="5984875"/>
            <a:ext cx="19256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cs typeface="+mn-cs"/>
              </a:rPr>
              <a:t>Year of Mass Production</a:t>
            </a:r>
            <a:endParaRPr lang="zh-CN" altLang="en-US" sz="1400" dirty="0">
              <a:cs typeface="+mn-cs"/>
            </a:endParaRP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2418442-AFCC-0A99-65D0-6A124D2C1CAA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auto">
          <a:xfrm>
            <a:off x="923925" y="2265363"/>
            <a:ext cx="17541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9822A73-411B-476A-AEEB-C0B1CC742D35}" type="datetime'BF''''16/''''FP1''''''''6'''' ''''''(T''''F''''''LOP''S'')'">
              <a:rPr lang="en-US" altLang="en-US" sz="1400" smtClean="0">
                <a:cs typeface="+mn-cs"/>
              </a:rPr>
              <a:pPr/>
              <a:t>BF16/FP16 (TFLOPS)</a:t>
            </a:fld>
            <a:endParaRPr lang="zh-CN" altLang="en-US" sz="1400" dirty="0">
              <a:cs typeface="+mn-cs"/>
            </a:endParaRPr>
          </a:p>
        </p:txBody>
      </p:sp>
      <p:sp>
        <p:nvSpPr>
          <p:cNvPr id="86" name="Text Placeholder 4">
            <a:extLst>
              <a:ext uri="{FF2B5EF4-FFF2-40B4-BE49-F238E27FC236}">
                <a16:creationId xmlns:a16="http://schemas.microsoft.com/office/drawing/2014/main" id="{49E57FC1-7408-E267-799D-DA97F5ACAE17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gray">
          <a:xfrm>
            <a:off x="9213850" y="3097213"/>
            <a:ext cx="5175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97DBA623-2D57-45ED-9761-80715C6B107D}" type="datetime'''''''G''''''''''''''''''B''2''''''''''''''0''''''''''0'">
              <a:rPr lang="en-US" altLang="en-US" sz="1200" smtClean="0">
                <a:cs typeface="+mn-cs"/>
              </a:rPr>
              <a:pPr/>
              <a:t>GB200</a:t>
            </a:fld>
            <a:endParaRPr lang="zh-CN" altLang="en-US" sz="1200" dirty="0">
              <a:cs typeface="+mn-cs"/>
            </a:endParaRPr>
          </a:p>
        </p:txBody>
      </p:sp>
      <p:sp>
        <p:nvSpPr>
          <p:cNvPr id="87" name="Text Placeholder 4">
            <a:extLst>
              <a:ext uri="{FF2B5EF4-FFF2-40B4-BE49-F238E27FC236}">
                <a16:creationId xmlns:a16="http://schemas.microsoft.com/office/drawing/2014/main" id="{790E4437-7606-BA43-E6C9-2178BD743778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gray">
          <a:xfrm>
            <a:off x="6508750" y="4400550"/>
            <a:ext cx="3984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89CF6F8-3DFE-41A7-819D-604BB69C1970}" type="datetime'''''''''''''''''''''''''''''''''''''B''''''''''''2''''0''0'">
              <a:rPr lang="en-US" altLang="en-US" sz="1200" smtClean="0">
                <a:cs typeface="+mn-cs"/>
              </a:rPr>
              <a:pPr/>
              <a:t>B200</a:t>
            </a:fld>
            <a:endParaRPr lang="zh-CN" altLang="en-US" sz="1200" dirty="0">
              <a:cs typeface="+mn-cs"/>
            </a:endParaRPr>
          </a:p>
        </p:txBody>
      </p:sp>
      <p:sp>
        <p:nvSpPr>
          <p:cNvPr id="476" name="Text Placeholder 4">
            <a:extLst>
              <a:ext uri="{FF2B5EF4-FFF2-40B4-BE49-F238E27FC236}">
                <a16:creationId xmlns:a16="http://schemas.microsoft.com/office/drawing/2014/main" id="{DC9215FF-21FE-361E-2AA1-1A92B564316A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gray">
          <a:xfrm>
            <a:off x="4187825" y="4506913"/>
            <a:ext cx="78740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4256EE73-22E1-4F10-9011-73DDDDBB05A6}" type="datetime'H''20''''''''''''''0''-''''''''''''''''''''S''''XM'">
              <a:rPr lang="en-US" altLang="en-US" sz="1200" smtClean="0">
                <a:cs typeface="+mn-cs"/>
              </a:rPr>
              <a:pPr/>
              <a:t>H200-SXM</a:t>
            </a:fld>
            <a:endParaRPr lang="zh-CN" altLang="en-US" sz="1200" dirty="0">
              <a:cs typeface="+mn-cs"/>
            </a:endParaRPr>
          </a:p>
        </p:txBody>
      </p:sp>
      <p:sp>
        <p:nvSpPr>
          <p:cNvPr id="481" name="Text Placeholder 4">
            <a:extLst>
              <a:ext uri="{FF2B5EF4-FFF2-40B4-BE49-F238E27FC236}">
                <a16:creationId xmlns:a16="http://schemas.microsoft.com/office/drawing/2014/main" id="{7FE1F7C9-EA98-ECC4-A096-C3DA78E511F8}"/>
              </a:ext>
            </a:extLst>
          </p:cNvPr>
          <p:cNvSpPr>
            <a:spLocks/>
          </p:cNvSpPr>
          <p:nvPr>
            <p:custDataLst>
              <p:tags r:id="rId22"/>
            </p:custDataLst>
          </p:nvPr>
        </p:nvSpPr>
        <p:spPr bwMode="gray">
          <a:xfrm>
            <a:off x="1865313" y="4502150"/>
            <a:ext cx="8715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74E2C4B8-52BE-4587-B4DA-F237F6C4335D}" type="datetime'''H''''''1''''''''0''''''''''''''''''''''''0-''''''''SXM'''''">
              <a:rPr lang="en-US" altLang="en-US" sz="1200" smtClean="0">
                <a:cs typeface="+mn-cs"/>
              </a:rPr>
              <a:pPr/>
              <a:t>H100-SXM</a:t>
            </a:fld>
            <a:r>
              <a:rPr lang="en-US" altLang="en-US" sz="1200">
                <a:cs typeface="+mn-cs"/>
              </a:rPr>
              <a:t>1</a:t>
            </a:r>
            <a:endParaRPr lang="zh-CN" altLang="en-US" sz="1200" dirty="0">
              <a:cs typeface="+mn-cs"/>
            </a:endParaRPr>
          </a:p>
        </p:txBody>
      </p:sp>
      <p:sp>
        <p:nvSpPr>
          <p:cNvPr id="95" name="Text Placeholder 4">
            <a:extLst>
              <a:ext uri="{FF2B5EF4-FFF2-40B4-BE49-F238E27FC236}">
                <a16:creationId xmlns:a16="http://schemas.microsoft.com/office/drawing/2014/main" id="{3899AD3B-E689-EA49-2D3C-E5E143E066CE}"/>
              </a:ext>
            </a:extLst>
          </p:cNvPr>
          <p:cNvSpPr>
            <a:spLocks/>
          </p:cNvSpPr>
          <p:nvPr>
            <p:custDataLst>
              <p:tags r:id="rId23"/>
            </p:custDataLst>
          </p:nvPr>
        </p:nvSpPr>
        <p:spPr bwMode="gray">
          <a:xfrm>
            <a:off x="1865313" y="5321300"/>
            <a:ext cx="7794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E76C85E-D886-4470-BC5E-E5213013439C}" type="datetime'A8''''''''''''''''0''''''0-S''''''X''M'''''''''">
              <a:rPr lang="en-US" altLang="en-US" sz="1200" smtClean="0">
                <a:cs typeface="+mn-cs"/>
              </a:rPr>
              <a:pPr/>
              <a:t>A800-SXM</a:t>
            </a:fld>
            <a:endParaRPr lang="zh-CN" altLang="en-US" sz="1200" dirty="0">
              <a:cs typeface="+mn-cs"/>
            </a:endParaRPr>
          </a:p>
        </p:txBody>
      </p:sp>
      <p:sp>
        <p:nvSpPr>
          <p:cNvPr id="719" name="Text Placeholder 4">
            <a:extLst>
              <a:ext uri="{FF2B5EF4-FFF2-40B4-BE49-F238E27FC236}">
                <a16:creationId xmlns:a16="http://schemas.microsoft.com/office/drawing/2014/main" id="{ED456583-EFC9-2941-1E18-4E0778B16566}"/>
              </a:ext>
            </a:extLst>
          </p:cNvPr>
          <p:cNvSpPr>
            <a:spLocks/>
          </p:cNvSpPr>
          <p:nvPr>
            <p:custDataLst>
              <p:tags r:id="rId24"/>
            </p:custDataLst>
          </p:nvPr>
        </p:nvSpPr>
        <p:spPr bwMode="gray">
          <a:xfrm>
            <a:off x="6508750" y="4995863"/>
            <a:ext cx="1176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1995ECD-5DBD-46B8-B0C9-5C5973EDBC8C}" type="datetime'G''''''o''''''''''o''''''''gl''''e-''TPU'''' v6''''''''''e'''">
              <a:rPr lang="en-US" altLang="en-US" sz="1200" smtClean="0">
                <a:cs typeface="+mn-cs"/>
              </a:rPr>
              <a:pPr/>
              <a:t>Google-TPU v6e</a:t>
            </a:fld>
            <a:endParaRPr lang="zh-CN" altLang="en-US" sz="1200" dirty="0">
              <a:cs typeface="+mn-cs"/>
            </a:endParaRPr>
          </a:p>
        </p:txBody>
      </p:sp>
      <p:sp>
        <p:nvSpPr>
          <p:cNvPr id="721" name="Text Placeholder 4">
            <a:extLst>
              <a:ext uri="{FF2B5EF4-FFF2-40B4-BE49-F238E27FC236}">
                <a16:creationId xmlns:a16="http://schemas.microsoft.com/office/drawing/2014/main" id="{0BEF2BF8-A636-222B-2C00-DBE94E8EB1F6}"/>
              </a:ext>
            </a:extLst>
          </p:cNvPr>
          <p:cNvSpPr>
            <a:spLocks/>
          </p:cNvSpPr>
          <p:nvPr>
            <p:custDataLst>
              <p:tags r:id="rId25"/>
            </p:custDataLst>
          </p:nvPr>
        </p:nvSpPr>
        <p:spPr bwMode="gray">
          <a:xfrm>
            <a:off x="4217988" y="5276850"/>
            <a:ext cx="1176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3B09CC43-4DEE-4AC8-9A62-42BDFB0C872A}" type="datetime'''G''o''''o''g''''''le-''''''''TP''''''''U'''''' v''''5p'''">
              <a:rPr lang="en-US" altLang="en-US" sz="1200" smtClean="0">
                <a:effectLst/>
                <a:cs typeface="+mn-cs"/>
              </a:rPr>
              <a:pPr/>
              <a:t>Google-TPU v5p</a:t>
            </a:fld>
            <a:endParaRPr lang="zh-CN" altLang="en-US" sz="1200" dirty="0">
              <a:cs typeface="+mn-cs"/>
            </a:endParaRPr>
          </a:p>
        </p:txBody>
      </p:sp>
      <p:sp>
        <p:nvSpPr>
          <p:cNvPr id="903" name="Text Placeholder 4">
            <a:extLst>
              <a:ext uri="{FF2B5EF4-FFF2-40B4-BE49-F238E27FC236}">
                <a16:creationId xmlns:a16="http://schemas.microsoft.com/office/drawing/2014/main" id="{C6C79884-1157-B94F-B143-3E155E753D56}"/>
              </a:ext>
            </a:extLst>
          </p:cNvPr>
          <p:cNvSpPr>
            <a:spLocks/>
          </p:cNvSpPr>
          <p:nvPr>
            <p:custDataLst>
              <p:tags r:id="rId26"/>
            </p:custDataLst>
          </p:nvPr>
        </p:nvSpPr>
        <p:spPr bwMode="gray">
          <a:xfrm>
            <a:off x="9955213" y="4813300"/>
            <a:ext cx="10731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3C44BA8-37EB-4785-B47D-491B3BF827B7}" type="datetime'''''''''A''WS''''''''-T''r''a''i''n''''''''u''m''3'''''">
              <a:rPr lang="en-US" altLang="en-US" sz="1200" smtClean="0">
                <a:cs typeface="+mn-cs"/>
              </a:rPr>
              <a:pPr/>
              <a:t>AWS-Trainum3</a:t>
            </a:fld>
            <a:endParaRPr lang="zh-CN" altLang="en-US" sz="1200" dirty="0">
              <a:cs typeface="+mn-cs"/>
            </a:endParaRPr>
          </a:p>
        </p:txBody>
      </p:sp>
      <p:sp>
        <p:nvSpPr>
          <p:cNvPr id="776" name="Text Placeholder 4">
            <a:extLst>
              <a:ext uri="{FF2B5EF4-FFF2-40B4-BE49-F238E27FC236}">
                <a16:creationId xmlns:a16="http://schemas.microsoft.com/office/drawing/2014/main" id="{4CB33C7E-58F2-87C5-A030-B355C3C094FF}"/>
              </a:ext>
            </a:extLst>
          </p:cNvPr>
          <p:cNvSpPr>
            <a:spLocks/>
          </p:cNvSpPr>
          <p:nvPr>
            <p:custDataLst>
              <p:tags r:id="rId27"/>
            </p:custDataLst>
          </p:nvPr>
        </p:nvSpPr>
        <p:spPr bwMode="gray">
          <a:xfrm>
            <a:off x="4148138" y="5089525"/>
            <a:ext cx="10731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75193A0-1B9C-458B-9725-9E41D0E322EA}" type="datetime'''A''W''''''S''''''''''-T''''''''''''r''''an''''iu''m2'''">
              <a:rPr lang="en-US" altLang="en-US" sz="1200" smtClean="0">
                <a:cs typeface="+mn-cs"/>
              </a:rPr>
              <a:pPr/>
              <a:t>AWS-Tranium2</a:t>
            </a:fld>
            <a:endParaRPr lang="zh-CN" altLang="en-US" sz="1200" dirty="0">
              <a:cs typeface="+mn-cs"/>
            </a:endParaRPr>
          </a:p>
        </p:txBody>
      </p:sp>
      <p:sp useBgFill="1">
        <p:nvSpPr>
          <p:cNvPr id="777" name="Text Placeholder 4">
            <a:extLst>
              <a:ext uri="{FF2B5EF4-FFF2-40B4-BE49-F238E27FC236}">
                <a16:creationId xmlns:a16="http://schemas.microsoft.com/office/drawing/2014/main" id="{E98B94FD-306F-3CF1-4E96-49A821D92747}"/>
              </a:ext>
            </a:extLst>
          </p:cNvPr>
          <p:cNvSpPr>
            <a:spLocks/>
          </p:cNvSpPr>
          <p:nvPr>
            <p:custDataLst>
              <p:tags r:id="rId28"/>
            </p:custDataLst>
          </p:nvPr>
        </p:nvSpPr>
        <p:spPr bwMode="gray">
          <a:xfrm>
            <a:off x="5753100" y="5287963"/>
            <a:ext cx="1019175" cy="182563"/>
          </a:xfrm>
          <a:prstGeom prst="rect">
            <a:avLst/>
          </a:prstGeom>
          <a:ln>
            <a:noFill/>
          </a:ln>
          <a:effectLst/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BD81C13-0B36-4EE4-AD3B-BAC462CE44E9}" type="datetime'''''''''M''''e''''''ta''-''M''''TI''A ''''V''2'''''''''''">
              <a:rPr lang="en-US" altLang="en-US" sz="1200" smtClean="0">
                <a:cs typeface="+mn-cs"/>
              </a:rPr>
              <a:pPr/>
              <a:t>Meta-MTIA V2</a:t>
            </a:fld>
            <a:endParaRPr lang="zh-CN" altLang="en-US" sz="1200" dirty="0">
              <a:cs typeface="+mn-cs"/>
            </a:endParaRPr>
          </a:p>
        </p:txBody>
      </p:sp>
      <p:sp>
        <p:nvSpPr>
          <p:cNvPr id="778" name="Text Placeholder 4">
            <a:extLst>
              <a:ext uri="{FF2B5EF4-FFF2-40B4-BE49-F238E27FC236}">
                <a16:creationId xmlns:a16="http://schemas.microsoft.com/office/drawing/2014/main" id="{5A109F75-CD81-6FBD-10C4-46D24855A279}"/>
              </a:ext>
            </a:extLst>
          </p:cNvPr>
          <p:cNvSpPr>
            <a:spLocks/>
          </p:cNvSpPr>
          <p:nvPr>
            <p:custDataLst>
              <p:tags r:id="rId29"/>
            </p:custDataLst>
          </p:nvPr>
        </p:nvSpPr>
        <p:spPr bwMode="gray">
          <a:xfrm>
            <a:off x="2887663" y="5305425"/>
            <a:ext cx="10191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418FAF74-62C6-4C98-80A5-D0BF6C5C2F3D}" type="datetime'Meta-''''''''''''M''T''''''I''A'''''''' ''''V''''1'''">
              <a:rPr lang="en-US" altLang="en-US" sz="1200" smtClean="0">
                <a:cs typeface="+mn-cs"/>
              </a:rPr>
              <a:pPr/>
              <a:t>Meta-MTIA V1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0" name="Text Placeholder 4">
            <a:extLst>
              <a:ext uri="{FF2B5EF4-FFF2-40B4-BE49-F238E27FC236}">
                <a16:creationId xmlns:a16="http://schemas.microsoft.com/office/drawing/2014/main" id="{D886B005-FDCB-2966-54C3-3A32B664BFDB}"/>
              </a:ext>
            </a:extLst>
          </p:cNvPr>
          <p:cNvSpPr>
            <a:spLocks/>
          </p:cNvSpPr>
          <p:nvPr>
            <p:custDataLst>
              <p:tags r:id="rId30"/>
            </p:custDataLst>
          </p:nvPr>
        </p:nvSpPr>
        <p:spPr bwMode="gray">
          <a:xfrm>
            <a:off x="6508750" y="4208463"/>
            <a:ext cx="9318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9BD21EBC-5A05-484F-B854-FF6FB66FEE31}" type="datetime'''''A''''MD-M''''''''''''''''I3''25''''x'''''''''''''">
              <a:rPr lang="en-US" altLang="en-US" sz="1200" smtClean="0">
                <a:cs typeface="+mn-cs"/>
              </a:rPr>
              <a:pPr/>
              <a:t>AMD-MI325x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1" name="Text Placeholder 4">
            <a:extLst>
              <a:ext uri="{FF2B5EF4-FFF2-40B4-BE49-F238E27FC236}">
                <a16:creationId xmlns:a16="http://schemas.microsoft.com/office/drawing/2014/main" id="{C414824F-1196-F93E-3563-5DEC24650A92}"/>
              </a:ext>
            </a:extLst>
          </p:cNvPr>
          <p:cNvSpPr>
            <a:spLocks/>
          </p:cNvSpPr>
          <p:nvPr>
            <p:custDataLst>
              <p:tags r:id="rId31"/>
            </p:custDataLst>
          </p:nvPr>
        </p:nvSpPr>
        <p:spPr bwMode="gray">
          <a:xfrm>
            <a:off x="9239250" y="2928938"/>
            <a:ext cx="9572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607B8667-5208-40F9-AC86-FD59038E6E0D}" type="datetime'''''''AM''''D''-M''''''''I''''''''''''''''3''''''''5''5X'''">
              <a:rPr lang="en-US" altLang="en-US" sz="1200" smtClean="0">
                <a:cs typeface="+mn-cs"/>
              </a:rPr>
              <a:pPr/>
              <a:t>AMD-MI355X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2" name="Text Placeholder 4">
            <a:extLst>
              <a:ext uri="{FF2B5EF4-FFF2-40B4-BE49-F238E27FC236}">
                <a16:creationId xmlns:a16="http://schemas.microsoft.com/office/drawing/2014/main" id="{5F465B63-F343-8F8D-DF94-A4E74C0D81CB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gray">
          <a:xfrm>
            <a:off x="8837613" y="3286125"/>
            <a:ext cx="9572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9A01359-1439-4648-A683-72B279A68492}" type="datetime'AMD-''''''M''I3''''5''''''''''''''''0''X'''''''''''''''''">
              <a:rPr lang="en-US" altLang="en-US" sz="1200" smtClean="0">
                <a:cs typeface="+mn-cs"/>
              </a:rPr>
              <a:pPr/>
              <a:t>AMD-MI350X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3" name="Text Placeholder 4">
            <a:extLst>
              <a:ext uri="{FF2B5EF4-FFF2-40B4-BE49-F238E27FC236}">
                <a16:creationId xmlns:a16="http://schemas.microsoft.com/office/drawing/2014/main" id="{35535685-F5BB-DCBC-EB44-F38C5B472CB6}"/>
              </a:ext>
            </a:extLst>
          </p:cNvPr>
          <p:cNvSpPr>
            <a:spLocks/>
          </p:cNvSpPr>
          <p:nvPr>
            <p:custDataLst>
              <p:tags r:id="rId33"/>
            </p:custDataLst>
          </p:nvPr>
        </p:nvSpPr>
        <p:spPr bwMode="gray">
          <a:xfrm>
            <a:off x="5507038" y="4579938"/>
            <a:ext cx="8715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EDE3590-D6D1-434B-B988-960D47C45346}" type="datetime'''''''''''''I''n''''t''el''''''-''Ga''''u''di3'''">
              <a:rPr lang="en-US" altLang="en-US" sz="1200" smtClean="0">
                <a:cs typeface="+mn-cs"/>
              </a:rPr>
              <a:pPr/>
              <a:t>Intel-Gaudi3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4" name="Text Placeholder 4">
            <a:extLst>
              <a:ext uri="{FF2B5EF4-FFF2-40B4-BE49-F238E27FC236}">
                <a16:creationId xmlns:a16="http://schemas.microsoft.com/office/drawing/2014/main" id="{2123150F-E7D7-2441-974E-669E757F4517}"/>
              </a:ext>
            </a:extLst>
          </p:cNvPr>
          <p:cNvSpPr>
            <a:spLocks/>
          </p:cNvSpPr>
          <p:nvPr>
            <p:custDataLst>
              <p:tags r:id="rId34"/>
            </p:custDataLst>
          </p:nvPr>
        </p:nvSpPr>
        <p:spPr bwMode="gray">
          <a:xfrm>
            <a:off x="1865313" y="5121275"/>
            <a:ext cx="8715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FAC0DD1A-8534-4EBE-AB0F-7228FE072712}" type="datetime'''I''''nt''e''''''l''''-''G''''a''''''''''''''u''''''''d''i2'">
              <a:rPr lang="en-US" altLang="en-US" sz="1200" smtClean="0">
                <a:cs typeface="+mn-cs"/>
              </a:rPr>
              <a:pPr/>
              <a:t>Intel-Gaudi2</a:t>
            </a:fld>
            <a:endParaRPr lang="zh-CN" altLang="en-US" sz="1200" dirty="0">
              <a:cs typeface="+mn-cs"/>
            </a:endParaRPr>
          </a:p>
        </p:txBody>
      </p:sp>
      <p:sp>
        <p:nvSpPr>
          <p:cNvPr id="896" name="Text Placeholder 4">
            <a:extLst>
              <a:ext uri="{FF2B5EF4-FFF2-40B4-BE49-F238E27FC236}">
                <a16:creationId xmlns:a16="http://schemas.microsoft.com/office/drawing/2014/main" id="{780EE3A0-16BB-1165-434C-1AD61F92C97E}"/>
              </a:ext>
            </a:extLst>
          </p:cNvPr>
          <p:cNvSpPr>
            <a:spLocks/>
          </p:cNvSpPr>
          <p:nvPr>
            <p:custDataLst>
              <p:tags r:id="rId35"/>
            </p:custDataLst>
          </p:nvPr>
        </p:nvSpPr>
        <p:spPr bwMode="gray">
          <a:xfrm>
            <a:off x="8837613" y="5049838"/>
            <a:ext cx="9556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200" dirty="0">
                <a:cs typeface="+mn-cs"/>
              </a:rPr>
              <a:t>Ascend 910C</a:t>
            </a:r>
            <a:endParaRPr lang="zh-CN" altLang="en-US" sz="1200" dirty="0">
              <a:cs typeface="+mn-cs"/>
            </a:endParaRPr>
          </a:p>
        </p:txBody>
      </p:sp>
      <p:sp useBgFill="1">
        <p:nvSpPr>
          <p:cNvPr id="897" name="Text Placeholder 4">
            <a:extLst>
              <a:ext uri="{FF2B5EF4-FFF2-40B4-BE49-F238E27FC236}">
                <a16:creationId xmlns:a16="http://schemas.microsoft.com/office/drawing/2014/main" id="{449AC1F5-9358-17AF-2879-668579C26DCE}"/>
              </a:ext>
            </a:extLst>
          </p:cNvPr>
          <p:cNvSpPr>
            <a:spLocks/>
          </p:cNvSpPr>
          <p:nvPr>
            <p:custDataLst>
              <p:tags r:id="rId36"/>
            </p:custDataLst>
          </p:nvPr>
        </p:nvSpPr>
        <p:spPr bwMode="gray">
          <a:xfrm>
            <a:off x="3187699" y="5135563"/>
            <a:ext cx="947738" cy="182563"/>
          </a:xfrm>
          <a:prstGeom prst="rect">
            <a:avLst/>
          </a:prstGeom>
          <a:ln>
            <a:noFill/>
          </a:ln>
          <a:effectLst/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cs typeface="+mn-cs"/>
              </a:rPr>
              <a:t>Ascend 910B</a:t>
            </a:r>
            <a:endParaRPr lang="zh-CN" altLang="en-US" sz="1200" dirty="0">
              <a:cs typeface="+mn-cs"/>
            </a:endParaRPr>
          </a:p>
        </p:txBody>
      </p:sp>
      <p:sp>
        <p:nvSpPr>
          <p:cNvPr id="97" name="Text Placeholder 4">
            <a:extLst>
              <a:ext uri="{FF2B5EF4-FFF2-40B4-BE49-F238E27FC236}">
                <a16:creationId xmlns:a16="http://schemas.microsoft.com/office/drawing/2014/main" id="{10421857-0C81-D96D-D2F6-B17991258009}"/>
              </a:ext>
            </a:extLst>
          </p:cNvPr>
          <p:cNvSpPr>
            <a:spLocks/>
          </p:cNvSpPr>
          <p:nvPr>
            <p:custDataLst>
              <p:tags r:id="rId37"/>
            </p:custDataLst>
          </p:nvPr>
        </p:nvSpPr>
        <p:spPr bwMode="gray">
          <a:xfrm>
            <a:off x="8837613" y="4351338"/>
            <a:ext cx="1176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7F0AB4BA-C576-4D40-9D80-775FEA499703}" type="datetime'''Go''o''''''gl''''''''e-''​''''''''''T''P''''''''U v7p​'''''">
              <a:rPr lang="en-US" altLang="en-US" sz="1200" smtClean="0">
                <a:cs typeface="+mn-cs"/>
              </a:rPr>
              <a:pPr/>
              <a:t>Google-​TPU v7p​</a:t>
            </a:fld>
            <a:endParaRPr lang="zh-CN" altLang="en-US" sz="1200" dirty="0">
              <a:cs typeface="+mn-cs"/>
            </a:endParaRPr>
          </a:p>
        </p:txBody>
      </p:sp>
      <p:sp>
        <p:nvSpPr>
          <p:cNvPr id="868" name="椭圆 867">
            <a:extLst>
              <a:ext uri="{FF2B5EF4-FFF2-40B4-BE49-F238E27FC236}">
                <a16:creationId xmlns:a16="http://schemas.microsoft.com/office/drawing/2014/main" id="{0CD2D7AC-C7C1-0F0A-3C7B-D26B4ADA8C84}"/>
              </a:ext>
            </a:extLst>
          </p:cNvPr>
          <p:cNvSpPr/>
          <p:nvPr>
            <p:custDataLst>
              <p:tags r:id="rId38"/>
            </p:custDataLst>
          </p:nvPr>
        </p:nvSpPr>
        <p:spPr bwMode="auto">
          <a:xfrm>
            <a:off x="2414588" y="6049963"/>
            <a:ext cx="88900" cy="88900"/>
          </a:xfrm>
          <a:prstGeom prst="ellipse">
            <a:avLst/>
          </a:prstGeom>
          <a:solidFill>
            <a:schemeClr val="accent5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9" name="椭圆 868">
            <a:extLst>
              <a:ext uri="{FF2B5EF4-FFF2-40B4-BE49-F238E27FC236}">
                <a16:creationId xmlns:a16="http://schemas.microsoft.com/office/drawing/2014/main" id="{D89B3136-58F2-FF2B-79F2-5C256BF54228}"/>
              </a:ext>
            </a:extLst>
          </p:cNvPr>
          <p:cNvSpPr/>
          <p:nvPr>
            <p:custDataLst>
              <p:tags r:id="rId39"/>
            </p:custDataLst>
          </p:nvPr>
        </p:nvSpPr>
        <p:spPr bwMode="auto">
          <a:xfrm>
            <a:off x="3203575" y="6049963"/>
            <a:ext cx="88900" cy="88900"/>
          </a:xfrm>
          <a:prstGeom prst="ellipse">
            <a:avLst/>
          </a:prstGeom>
          <a:solidFill>
            <a:srgbClr val="0052D9"/>
          </a:solidFill>
          <a:ln w="9525" cap="flat" cmpd="sng" algn="ctr">
            <a:solidFill>
              <a:srgbClr val="0052D9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0" name="椭圆 869">
            <a:extLst>
              <a:ext uri="{FF2B5EF4-FFF2-40B4-BE49-F238E27FC236}">
                <a16:creationId xmlns:a16="http://schemas.microsoft.com/office/drawing/2014/main" id="{405800EB-BD20-C600-40A5-8FA6BF6750EC}"/>
              </a:ext>
            </a:extLst>
          </p:cNvPr>
          <p:cNvSpPr/>
          <p:nvPr>
            <p:custDataLst>
              <p:tags r:id="rId40"/>
            </p:custDataLst>
          </p:nvPr>
        </p:nvSpPr>
        <p:spPr bwMode="auto">
          <a:xfrm>
            <a:off x="4408488" y="6049963"/>
            <a:ext cx="88900" cy="88900"/>
          </a:xfrm>
          <a:prstGeom prst="ellipse">
            <a:avLst/>
          </a:prstGeom>
          <a:solidFill>
            <a:srgbClr val="C0C0C0"/>
          </a:solidFill>
          <a:ln w="9525" cap="flat" cmpd="sng" algn="ctr">
            <a:solidFill>
              <a:srgbClr val="C0C0C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5" name="椭圆 904">
            <a:extLst>
              <a:ext uri="{FF2B5EF4-FFF2-40B4-BE49-F238E27FC236}">
                <a16:creationId xmlns:a16="http://schemas.microsoft.com/office/drawing/2014/main" id="{55C0D5DC-0681-9DAC-812B-469FE2B6311B}"/>
              </a:ext>
            </a:extLst>
          </p:cNvPr>
          <p:cNvSpPr/>
          <p:nvPr>
            <p:custDataLst>
              <p:tags r:id="rId41"/>
            </p:custDataLst>
          </p:nvPr>
        </p:nvSpPr>
        <p:spPr bwMode="auto">
          <a:xfrm>
            <a:off x="7362825" y="6049963"/>
            <a:ext cx="88900" cy="88900"/>
          </a:xfrm>
          <a:prstGeom prst="ellipse">
            <a:avLst/>
          </a:prstGeom>
          <a:solidFill>
            <a:srgbClr val="C30C3E"/>
          </a:solidFill>
          <a:ln w="9525" cap="flat" cmpd="sng" algn="ctr">
            <a:solidFill>
              <a:srgbClr val="C30C3E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6" name="Text Placeholder 4">
            <a:extLst>
              <a:ext uri="{FF2B5EF4-FFF2-40B4-BE49-F238E27FC236}">
                <a16:creationId xmlns:a16="http://schemas.microsoft.com/office/drawing/2014/main" id="{C5CC4AEB-6B3A-BF36-82D4-C1C2833D4922}"/>
              </a:ext>
            </a:extLst>
          </p:cNvPr>
          <p:cNvSpPr>
            <a:spLocks/>
          </p:cNvSpPr>
          <p:nvPr>
            <p:custDataLst>
              <p:tags r:id="rId42"/>
            </p:custDataLst>
          </p:nvPr>
        </p:nvSpPr>
        <p:spPr bwMode="auto">
          <a:xfrm>
            <a:off x="2635250" y="5995988"/>
            <a:ext cx="3857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448F5BC-ABAF-4C21-8BE7-72C186D7AD6D}" type="datetime'''''''''''G''''''P''''''''''''''''''''''U'''''''">
              <a:rPr lang="en-US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GPU</a:t>
            </a:fld>
            <a:endParaRPr lang="zh-CN" altLang="en-US" sz="1400" dirty="0">
              <a:cs typeface="+mn-cs"/>
            </a:endParaRPr>
          </a:p>
        </p:txBody>
      </p:sp>
      <p:sp>
        <p:nvSpPr>
          <p:cNvPr id="867" name="Text Placeholder 4">
            <a:extLst>
              <a:ext uri="{FF2B5EF4-FFF2-40B4-BE49-F238E27FC236}">
                <a16:creationId xmlns:a16="http://schemas.microsoft.com/office/drawing/2014/main" id="{E1CB842C-FA8D-C574-ECDC-1BA7C694D794}"/>
              </a:ext>
            </a:extLst>
          </p:cNvPr>
          <p:cNvSpPr>
            <a:spLocks/>
          </p:cNvSpPr>
          <p:nvPr>
            <p:custDataLst>
              <p:tags r:id="rId43"/>
            </p:custDataLst>
          </p:nvPr>
        </p:nvSpPr>
        <p:spPr bwMode="auto">
          <a:xfrm>
            <a:off x="3424238" y="5995988"/>
            <a:ext cx="8016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6273C0FD-FFEF-43A6-A7F8-49925299CAA2}" type="datetime'''''A''''''SI''''''''''''''C/x''''''PU'''''''''">
              <a:rPr lang="en-US" altLang="en-US" sz="1400" smtClean="0">
                <a:cs typeface="+mn-cs"/>
              </a:rPr>
              <a:pPr/>
              <a:t>ASIC/xPU</a:t>
            </a:fld>
            <a:endParaRPr lang="zh-CN" altLang="en-US" sz="1400" dirty="0">
              <a:cs typeface="+mn-cs"/>
            </a:endParaRPr>
          </a:p>
        </p:txBody>
      </p:sp>
      <p:sp>
        <p:nvSpPr>
          <p:cNvPr id="864" name="Text Placeholder 4">
            <a:extLst>
              <a:ext uri="{FF2B5EF4-FFF2-40B4-BE49-F238E27FC236}">
                <a16:creationId xmlns:a16="http://schemas.microsoft.com/office/drawing/2014/main" id="{38F9F285-AD6F-772B-DDB8-4022EAA23921}"/>
              </a:ext>
            </a:extLst>
          </p:cNvPr>
          <p:cNvSpPr>
            <a:spLocks/>
          </p:cNvSpPr>
          <p:nvPr>
            <p:custDataLst>
              <p:tags r:id="rId44"/>
            </p:custDataLst>
          </p:nvPr>
        </p:nvSpPr>
        <p:spPr bwMode="auto">
          <a:xfrm>
            <a:off x="4629150" y="5995988"/>
            <a:ext cx="25511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effectLst/>
                <a:cs typeface="+mn-cs"/>
              </a:rPr>
              <a:t>General-Purpose Compute Card</a:t>
            </a:r>
            <a:endParaRPr lang="zh-CN" altLang="en-US" sz="1400" dirty="0">
              <a:cs typeface="+mn-cs"/>
            </a:endParaRPr>
          </a:p>
        </p:txBody>
      </p:sp>
      <p:sp>
        <p:nvSpPr>
          <p:cNvPr id="902" name="Text Placeholder 4">
            <a:extLst>
              <a:ext uri="{FF2B5EF4-FFF2-40B4-BE49-F238E27FC236}">
                <a16:creationId xmlns:a16="http://schemas.microsoft.com/office/drawing/2014/main" id="{48464A32-A818-AD2C-AB46-A951EF4A860B}"/>
              </a:ext>
            </a:extLst>
          </p:cNvPr>
          <p:cNvSpPr>
            <a:spLocks/>
          </p:cNvSpPr>
          <p:nvPr>
            <p:custDataLst>
              <p:tags r:id="rId45"/>
            </p:custDataLst>
          </p:nvPr>
        </p:nvSpPr>
        <p:spPr bwMode="auto">
          <a:xfrm>
            <a:off x="7583488" y="5995988"/>
            <a:ext cx="5921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cs typeface="+mn-cs"/>
              </a:rPr>
              <a:t>Huawei</a:t>
            </a:r>
            <a:endParaRPr lang="zh-CN" altLang="en-US" sz="1400" dirty="0">
              <a:cs typeface="+mn-cs"/>
            </a:endParaRPr>
          </a:p>
        </p:txBody>
      </p:sp>
      <p:sp>
        <p:nvSpPr>
          <p:cNvPr id="912" name="文本框 911">
            <a:extLst>
              <a:ext uri="{FF2B5EF4-FFF2-40B4-BE49-F238E27FC236}">
                <a16:creationId xmlns:a16="http://schemas.microsoft.com/office/drawing/2014/main" id="{9EE6D535-F7E8-4A81-D9BB-4787F239E06B}"/>
              </a:ext>
            </a:extLst>
          </p:cNvPr>
          <p:cNvSpPr txBox="1"/>
          <p:nvPr/>
        </p:nvSpPr>
        <p:spPr>
          <a:xfrm>
            <a:off x="7266006" y="4644501"/>
            <a:ext cx="790575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52D9"/>
                </a:solidFill>
              </a:rPr>
              <a:t>42%</a:t>
            </a:r>
            <a:endParaRPr lang="zh-CN" altLang="en-US" sz="1400" dirty="0">
              <a:solidFill>
                <a:srgbClr val="0052D9"/>
              </a:solidFill>
            </a:endParaRPr>
          </a:p>
        </p:txBody>
      </p:sp>
      <p:sp>
        <p:nvSpPr>
          <p:cNvPr id="955" name="文本框 954">
            <a:extLst>
              <a:ext uri="{FF2B5EF4-FFF2-40B4-BE49-F238E27FC236}">
                <a16:creationId xmlns:a16="http://schemas.microsoft.com/office/drawing/2014/main" id="{95BB4DFD-9867-151B-8C07-F9DDFADBF003}"/>
              </a:ext>
            </a:extLst>
          </p:cNvPr>
          <p:cNvSpPr txBox="1"/>
          <p:nvPr/>
        </p:nvSpPr>
        <p:spPr>
          <a:xfrm>
            <a:off x="9802814" y="3677256"/>
            <a:ext cx="788988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52D9"/>
                </a:solidFill>
              </a:rPr>
              <a:t>46%</a:t>
            </a:r>
            <a:endParaRPr lang="zh-CN" altLang="en-US" sz="1400" dirty="0">
              <a:solidFill>
                <a:srgbClr val="0052D9"/>
              </a:solidFill>
            </a:endParaRPr>
          </a:p>
        </p:txBody>
      </p:sp>
      <p:sp>
        <p:nvSpPr>
          <p:cNvPr id="985" name="文本框 984">
            <a:extLst>
              <a:ext uri="{FF2B5EF4-FFF2-40B4-BE49-F238E27FC236}">
                <a16:creationId xmlns:a16="http://schemas.microsoft.com/office/drawing/2014/main" id="{1FAAC649-19A7-195E-1B37-570470E4DFF5}"/>
              </a:ext>
            </a:extLst>
          </p:cNvPr>
          <p:cNvSpPr txBox="1"/>
          <p:nvPr/>
        </p:nvSpPr>
        <p:spPr>
          <a:xfrm>
            <a:off x="4942682" y="4732338"/>
            <a:ext cx="790575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52D9"/>
                </a:solidFill>
              </a:rPr>
              <a:t>34%</a:t>
            </a:r>
            <a:endParaRPr lang="zh-CN" altLang="en-US" sz="1400" dirty="0">
              <a:solidFill>
                <a:srgbClr val="0052D9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EC82F18-D95D-4F0C-F567-7C17BD8222E7}"/>
              </a:ext>
            </a:extLst>
          </p:cNvPr>
          <p:cNvSpPr/>
          <p:nvPr/>
        </p:nvSpPr>
        <p:spPr>
          <a:xfrm>
            <a:off x="711199" y="995013"/>
            <a:ext cx="10751185" cy="998887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② </a:t>
            </a: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ASIC: Weaker per-card performance, requiring optical interconnect &amp; CPO when scaling.</a:t>
            </a:r>
            <a:endParaRPr lang="en-US" altLang="zh-CN" sz="1600" dirty="0">
              <a:solidFill>
                <a:schemeClr val="accent6">
                  <a:lumMod val="10000"/>
                </a:schemeClr>
              </a:solidFill>
            </a:endParaRPr>
          </a:p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Top‑end ASICs deliver </a:t>
            </a:r>
            <a:r>
              <a:rPr lang="en-US" altLang="zh-CN" sz="1600" b="1" dirty="0">
                <a:solidFill>
                  <a:srgbClr val="0052D9"/>
                </a:solidFill>
                <a:latin typeface="PingFang SC"/>
              </a:rPr>
              <a:t>~40% </a:t>
            </a: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of same‑gen GPU throughput​ (similar to domestic scale-up logic);</a:t>
            </a:r>
          </a:p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Cloud ASICs could drive ​</a:t>
            </a:r>
            <a:r>
              <a:rPr lang="en-US" altLang="zh-CN" sz="1600" b="1" dirty="0">
                <a:solidFill>
                  <a:srgbClr val="0052D9"/>
                </a:solidFill>
                <a:latin typeface="PingFang SC"/>
              </a:rPr>
              <a:t>~80% of transceiver market growth</a:t>
            </a: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; leaders (e.g., Google, Amazon) are reserving CPO interfaces..</a:t>
            </a:r>
            <a:endParaRPr lang="en-US" altLang="zh-CN" sz="1600" b="1" dirty="0">
              <a:solidFill>
                <a:srgbClr val="0052D9"/>
              </a:solidFill>
              <a:latin typeface="PingFang SC"/>
            </a:endParaRPr>
          </a:p>
        </p:txBody>
      </p:sp>
      <p:sp>
        <p:nvSpPr>
          <p:cNvPr id="970" name="椭圆 969">
            <a:extLst>
              <a:ext uri="{FF2B5EF4-FFF2-40B4-BE49-F238E27FC236}">
                <a16:creationId xmlns:a16="http://schemas.microsoft.com/office/drawing/2014/main" id="{5289E6A9-D493-F31A-9DE2-B6F2E426B6BC}"/>
              </a:ext>
            </a:extLst>
          </p:cNvPr>
          <p:cNvSpPr/>
          <p:nvPr/>
        </p:nvSpPr>
        <p:spPr>
          <a:xfrm rot="922616">
            <a:off x="8579227" y="4328133"/>
            <a:ext cx="2564839" cy="729053"/>
          </a:xfrm>
          <a:prstGeom prst="ellipse">
            <a:avLst/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3" name="文本框 972">
            <a:extLst>
              <a:ext uri="{FF2B5EF4-FFF2-40B4-BE49-F238E27FC236}">
                <a16:creationId xmlns:a16="http://schemas.microsoft.com/office/drawing/2014/main" id="{5149B298-0469-865F-021D-44604F556D39}"/>
              </a:ext>
            </a:extLst>
          </p:cNvPr>
          <p:cNvSpPr txBox="1"/>
          <p:nvPr/>
        </p:nvSpPr>
        <p:spPr>
          <a:xfrm>
            <a:off x="8973876" y="4575822"/>
            <a:ext cx="2938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52D9"/>
                </a:solidFill>
              </a:rPr>
              <a:t>Reserving CPO interfaces</a:t>
            </a:r>
            <a:endParaRPr lang="zh-CN" altLang="en-US" sz="1200" dirty="0">
              <a:solidFill>
                <a:srgbClr val="0052D9"/>
              </a:solidFill>
            </a:endParaRPr>
          </a:p>
        </p:txBody>
      </p:sp>
      <p:cxnSp>
        <p:nvCxnSpPr>
          <p:cNvPr id="459" name="连接符: 肘形 458">
            <a:extLst>
              <a:ext uri="{FF2B5EF4-FFF2-40B4-BE49-F238E27FC236}">
                <a16:creationId xmlns:a16="http://schemas.microsoft.com/office/drawing/2014/main" id="{934BFD28-AB0E-CD1F-0D6B-2294C84FEEB4}"/>
              </a:ext>
            </a:extLst>
          </p:cNvPr>
          <p:cNvCxnSpPr>
            <a:cxnSpLocks/>
            <a:stCxn id="776" idx="3"/>
            <a:endCxn id="476" idx="3"/>
          </p:cNvCxnSpPr>
          <p:nvPr/>
        </p:nvCxnSpPr>
        <p:spPr>
          <a:xfrm flipH="1" flipV="1">
            <a:off x="4975225" y="4598195"/>
            <a:ext cx="246063" cy="582612"/>
          </a:xfrm>
          <a:prstGeom prst="bentConnector3">
            <a:avLst>
              <a:gd name="adj1" fmla="val -9290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1" name="连接符: 肘形 460">
            <a:extLst>
              <a:ext uri="{FF2B5EF4-FFF2-40B4-BE49-F238E27FC236}">
                <a16:creationId xmlns:a16="http://schemas.microsoft.com/office/drawing/2014/main" id="{3115289E-164B-A029-5A83-1A01A334DB5B}"/>
              </a:ext>
            </a:extLst>
          </p:cNvPr>
          <p:cNvCxnSpPr>
            <a:cxnSpLocks/>
            <a:stCxn id="719" idx="3"/>
            <a:endCxn id="87" idx="3"/>
          </p:cNvCxnSpPr>
          <p:nvPr/>
        </p:nvCxnSpPr>
        <p:spPr>
          <a:xfrm flipH="1" flipV="1">
            <a:off x="6907213" y="4491832"/>
            <a:ext cx="777875" cy="595313"/>
          </a:xfrm>
          <a:prstGeom prst="bentConnector3">
            <a:avLst>
              <a:gd name="adj1" fmla="val -2938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4" name="连接符: 肘形 463">
            <a:extLst>
              <a:ext uri="{FF2B5EF4-FFF2-40B4-BE49-F238E27FC236}">
                <a16:creationId xmlns:a16="http://schemas.microsoft.com/office/drawing/2014/main" id="{66B1B083-F871-06D6-98FF-413CE7EE12A6}"/>
              </a:ext>
            </a:extLst>
          </p:cNvPr>
          <p:cNvCxnSpPr>
            <a:cxnSpLocks/>
            <a:stCxn id="97" idx="3"/>
            <a:endCxn id="86" idx="3"/>
          </p:cNvCxnSpPr>
          <p:nvPr/>
        </p:nvCxnSpPr>
        <p:spPr>
          <a:xfrm flipH="1" flipV="1">
            <a:off x="9731375" y="3188495"/>
            <a:ext cx="282576" cy="1254125"/>
          </a:xfrm>
          <a:prstGeom prst="bentConnector3">
            <a:avLst>
              <a:gd name="adj1" fmla="val -14494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87336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85219-A3EA-102C-35FE-28B42AC6A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E722B01-5C71-28E6-B385-632746D98F1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566924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722B01-5C71-28E6-B385-632746D98F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E79D7DC7-C968-E660-FBE4-767DAA806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 err="1">
                <a:latin typeface="+mn-lt"/>
                <a:ea typeface="+mn-ea"/>
                <a:cs typeface="+mn-ea"/>
                <a:sym typeface="+mn-lt"/>
              </a:rPr>
              <a:t>FiconTEC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: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cs typeface="+mn-ea"/>
                <a:sym typeface="+mn-lt"/>
              </a:rPr>
              <a:t>Key player for domestic substitution in CPO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E996DFD-DB9D-0F5C-9F6A-1AABD8A0CA33}"/>
              </a:ext>
            </a:extLst>
          </p:cNvPr>
          <p:cNvSpPr txBox="1"/>
          <p:nvPr/>
        </p:nvSpPr>
        <p:spPr>
          <a:xfrm>
            <a:off x="324880" y="6340302"/>
            <a:ext cx="2999995" cy="25259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Robotechnik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E1FCB49C-BE05-04CC-C65F-FB113715C03F}"/>
              </a:ext>
            </a:extLst>
          </p:cNvPr>
          <p:cNvSpPr txBox="1"/>
          <p:nvPr/>
        </p:nvSpPr>
        <p:spPr>
          <a:xfrm>
            <a:off x="250554" y="872877"/>
            <a:ext cx="113792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Market Position: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One of the very few global suppliers for automated </a:t>
            </a:r>
            <a:r>
              <a:rPr lang="en-US" altLang="zh-CN" b="1" dirty="0" err="1">
                <a:solidFill>
                  <a:srgbClr val="0052D9"/>
                </a:solidFill>
                <a:cs typeface="+mn-ea"/>
                <a:sym typeface="+mn-lt"/>
              </a:rPr>
              <a:t>SiPh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/CPO module assembly &amp; test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Prospects: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Unmatched high-precision packaging capability, crucial for CPO era.</a:t>
            </a:r>
            <a:endParaRPr lang="zh-CN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0678657-096D-B78D-191E-F3A961E120A8}"/>
              </a:ext>
            </a:extLst>
          </p:cNvPr>
          <p:cNvSpPr txBox="1"/>
          <p:nvPr/>
        </p:nvSpPr>
        <p:spPr>
          <a:xfrm>
            <a:off x="1734893" y="2666048"/>
            <a:ext cx="39766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Acquired 100% by Chinese listed company 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Robotechnik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 for RMB 1.01bn.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0B5CBD8-B142-509A-526A-B947849110E3}"/>
              </a:ext>
            </a:extLst>
          </p:cNvPr>
          <p:cNvSpPr txBox="1"/>
          <p:nvPr/>
        </p:nvSpPr>
        <p:spPr>
          <a:xfrm>
            <a:off x="1740424" y="4603028"/>
            <a:ext cx="23033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Seed-round investment. 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86D9C25-13C6-F2D7-5457-4E1AB9466572}"/>
              </a:ext>
            </a:extLst>
          </p:cNvPr>
          <p:cNvSpPr txBox="1"/>
          <p:nvPr/>
        </p:nvSpPr>
        <p:spPr>
          <a:xfrm>
            <a:off x="1734893" y="5118495"/>
            <a:ext cx="21732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Founded in Germany.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2733F027-A8A6-A925-8AD6-9E76BA7DC9A4}"/>
              </a:ext>
            </a:extLst>
          </p:cNvPr>
          <p:cNvCxnSpPr>
            <a:cxnSpLocks/>
          </p:cNvCxnSpPr>
          <p:nvPr/>
        </p:nvCxnSpPr>
        <p:spPr>
          <a:xfrm flipV="1">
            <a:off x="1300497" y="2415935"/>
            <a:ext cx="0" cy="327411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3B5D8CDE-AE66-371A-E90F-DA8720FF0DEE}"/>
              </a:ext>
            </a:extLst>
          </p:cNvPr>
          <p:cNvGrpSpPr/>
          <p:nvPr/>
        </p:nvGrpSpPr>
        <p:grpSpPr>
          <a:xfrm>
            <a:off x="485223" y="5132398"/>
            <a:ext cx="919575" cy="338554"/>
            <a:chOff x="1859669" y="5445325"/>
            <a:chExt cx="919575" cy="338554"/>
          </a:xfrm>
        </p:grpSpPr>
        <p:sp>
          <p:nvSpPr>
            <p:cNvPr id="19" name="iconfont-1018-792472">
              <a:extLst>
                <a:ext uri="{FF2B5EF4-FFF2-40B4-BE49-F238E27FC236}">
                  <a16:creationId xmlns:a16="http://schemas.microsoft.com/office/drawing/2014/main" id="{EA814B08-CD52-C99A-FC8F-44F9D9CF41C3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B13A64F3-F6F8-C5E7-1730-DC0120AEDA39}"/>
                </a:ext>
              </a:extLst>
            </p:cNvPr>
            <p:cNvSpPr txBox="1"/>
            <p:nvPr/>
          </p:nvSpPr>
          <p:spPr>
            <a:xfrm>
              <a:off x="1859669" y="5445325"/>
              <a:ext cx="7543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cs typeface="+mn-ea"/>
                  <a:sym typeface="+mn-lt"/>
                </a:rPr>
                <a:t>2001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0F82009A-1C4D-7B9A-C8FC-7ED364E2601A}"/>
              </a:ext>
            </a:extLst>
          </p:cNvPr>
          <p:cNvGrpSpPr/>
          <p:nvPr/>
        </p:nvGrpSpPr>
        <p:grpSpPr>
          <a:xfrm>
            <a:off x="471097" y="4606886"/>
            <a:ext cx="940990" cy="338554"/>
            <a:chOff x="1838254" y="5428614"/>
            <a:chExt cx="940990" cy="338554"/>
          </a:xfrm>
        </p:grpSpPr>
        <p:sp>
          <p:nvSpPr>
            <p:cNvPr id="23" name="iconfont-1018-792472">
              <a:extLst>
                <a:ext uri="{FF2B5EF4-FFF2-40B4-BE49-F238E27FC236}">
                  <a16:creationId xmlns:a16="http://schemas.microsoft.com/office/drawing/2014/main" id="{519F1AE7-5299-0A4E-7D76-85AA281803A3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CBD83B27-AFD4-55EA-5D0E-5F07B18765DA}"/>
                </a:ext>
              </a:extLst>
            </p:cNvPr>
            <p:cNvSpPr txBox="1"/>
            <p:nvPr/>
          </p:nvSpPr>
          <p:spPr>
            <a:xfrm>
              <a:off x="1838254" y="5428614"/>
              <a:ext cx="7543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cs typeface="+mn-ea"/>
                  <a:sym typeface="+mn-lt"/>
                </a:rPr>
                <a:t>2002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D1114B66-5026-3686-F582-3B3346627BEE}"/>
              </a:ext>
            </a:extLst>
          </p:cNvPr>
          <p:cNvGrpSpPr/>
          <p:nvPr/>
        </p:nvGrpSpPr>
        <p:grpSpPr>
          <a:xfrm>
            <a:off x="454252" y="2676978"/>
            <a:ext cx="950546" cy="338554"/>
            <a:chOff x="1828698" y="5427390"/>
            <a:chExt cx="950546" cy="338554"/>
          </a:xfrm>
        </p:grpSpPr>
        <p:sp>
          <p:nvSpPr>
            <p:cNvPr id="30" name="iconfont-1018-792472">
              <a:extLst>
                <a:ext uri="{FF2B5EF4-FFF2-40B4-BE49-F238E27FC236}">
                  <a16:creationId xmlns:a16="http://schemas.microsoft.com/office/drawing/2014/main" id="{0BEE1C87-1BCF-4B35-4846-2AF0E32B8080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D95C5602-CF13-CA75-F2EB-4D1EF5788514}"/>
                </a:ext>
              </a:extLst>
            </p:cNvPr>
            <p:cNvSpPr txBox="1"/>
            <p:nvPr/>
          </p:nvSpPr>
          <p:spPr>
            <a:xfrm>
              <a:off x="1828698" y="5427390"/>
              <a:ext cx="7543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cs typeface="+mn-ea"/>
                  <a:sym typeface="+mn-lt"/>
                </a:rPr>
                <a:t>2025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9483532E-9B8E-1E85-4E93-4768BD7896E5}"/>
              </a:ext>
            </a:extLst>
          </p:cNvPr>
          <p:cNvGrpSpPr/>
          <p:nvPr/>
        </p:nvGrpSpPr>
        <p:grpSpPr>
          <a:xfrm>
            <a:off x="6206123" y="2534831"/>
            <a:ext cx="3611656" cy="2857559"/>
            <a:chOff x="1052162" y="3711406"/>
            <a:chExt cx="3611656" cy="2857559"/>
          </a:xfrm>
        </p:grpSpPr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CB5EBA0D-2B3A-290F-3741-98922B9DB6EE}"/>
                </a:ext>
              </a:extLst>
            </p:cNvPr>
            <p:cNvGrpSpPr/>
            <p:nvPr/>
          </p:nvGrpSpPr>
          <p:grpSpPr>
            <a:xfrm>
              <a:off x="1052162" y="3711406"/>
              <a:ext cx="3154068" cy="2857559"/>
              <a:chOff x="923365" y="3573928"/>
              <a:chExt cx="3154068" cy="2857559"/>
            </a:xfrm>
          </p:grpSpPr>
          <p:grpSp>
            <p:nvGrpSpPr>
              <p:cNvPr id="50" name="组合 49">
                <a:extLst>
                  <a:ext uri="{FF2B5EF4-FFF2-40B4-BE49-F238E27FC236}">
                    <a16:creationId xmlns:a16="http://schemas.microsoft.com/office/drawing/2014/main" id="{0A3DF5BA-B1FA-6BD0-9C7F-F1438270F2D9}"/>
                  </a:ext>
                </a:extLst>
              </p:cNvPr>
              <p:cNvGrpSpPr/>
              <p:nvPr/>
            </p:nvGrpSpPr>
            <p:grpSpPr>
              <a:xfrm>
                <a:off x="923365" y="4019930"/>
                <a:ext cx="2867096" cy="2411557"/>
                <a:chOff x="-606906" y="3683598"/>
                <a:chExt cx="4077225" cy="2411557"/>
              </a:xfrm>
            </p:grpSpPr>
            <p:graphicFrame>
              <p:nvGraphicFramePr>
                <p:cNvPr id="48" name="图表 47">
                  <a:extLst>
                    <a:ext uri="{FF2B5EF4-FFF2-40B4-BE49-F238E27FC236}">
                      <a16:creationId xmlns:a16="http://schemas.microsoft.com/office/drawing/2014/main" id="{9CA2B7F5-636B-74F6-F003-C7DBB258993A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264896350"/>
                    </p:ext>
                  </p:extLst>
                </p:nvPr>
              </p:nvGraphicFramePr>
              <p:xfrm>
                <a:off x="-606906" y="3683598"/>
                <a:ext cx="4077225" cy="2411557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6"/>
                </a:graphicData>
              </a:graphic>
            </p:graphicFrame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DA16EADF-E9DD-99F1-5404-4C1109ED7A7F}"/>
                    </a:ext>
                  </a:extLst>
                </p:cNvPr>
                <p:cNvSpPr txBox="1"/>
                <p:nvPr/>
              </p:nvSpPr>
              <p:spPr>
                <a:xfrm>
                  <a:off x="309835" y="5072455"/>
                  <a:ext cx="2356938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kumimoji="0" lang="en-US" altLang="zh-CN" sz="1400" b="1" i="0" u="none" strike="noStrike" cap="none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cs typeface="+mn-ea"/>
                      <a:sym typeface="+mn-lt"/>
                    </a:rPr>
                    <a:t>Micro-assembly</a:t>
                  </a:r>
                  <a:endParaRPr lang="zh-CN" altLang="en-US" sz="1400" b="1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0206B548-D3F7-F5B0-24B2-E58C56F958A0}"/>
                  </a:ext>
                </a:extLst>
              </p:cNvPr>
              <p:cNvSpPr txBox="1"/>
              <p:nvPr/>
            </p:nvSpPr>
            <p:spPr>
              <a:xfrm>
                <a:off x="1077438" y="3573928"/>
                <a:ext cx="299999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0" lang="en-US" altLang="zh-CN" sz="16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cs typeface="+mn-ea"/>
                    <a:sym typeface="+mn-lt"/>
                  </a:rPr>
                  <a:t>Revenue Breakdown (2023A)</a:t>
                </a:r>
                <a:endParaRPr lang="zh-CN" altLang="en-US" sz="1600" b="1" dirty="0">
                  <a:cs typeface="+mn-ea"/>
                  <a:sym typeface="+mn-lt"/>
                </a:endParaRPr>
              </a:p>
            </p:txBody>
          </p:sp>
        </p:grpSp>
        <p:sp>
          <p:nvSpPr>
            <p:cNvPr id="54" name="Rectangle 1">
              <a:extLst>
                <a:ext uri="{FF2B5EF4-FFF2-40B4-BE49-F238E27FC236}">
                  <a16:creationId xmlns:a16="http://schemas.microsoft.com/office/drawing/2014/main" id="{238384CD-D569-DECA-49ED-B8DB7C347E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2726" y="4752126"/>
              <a:ext cx="219109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Test Equipment, etc.</a:t>
              </a:r>
            </a:p>
          </p:txBody>
        </p:sp>
      </p:grpSp>
      <p:sp>
        <p:nvSpPr>
          <p:cNvPr id="71" name="文本框 70">
            <a:extLst>
              <a:ext uri="{FF2B5EF4-FFF2-40B4-BE49-F238E27FC236}">
                <a16:creationId xmlns:a16="http://schemas.microsoft.com/office/drawing/2014/main" id="{6FDB0F42-0C94-1A8D-4A9A-2ED09947B9B1}"/>
              </a:ext>
            </a:extLst>
          </p:cNvPr>
          <p:cNvSpPr txBox="1"/>
          <p:nvPr/>
        </p:nvSpPr>
        <p:spPr>
          <a:xfrm>
            <a:off x="10425530" y="2927153"/>
            <a:ext cx="148259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Test, clean, and repair all-in-one</a:t>
            </a:r>
          </a:p>
        </p:txBody>
      </p:sp>
      <p:sp>
        <p:nvSpPr>
          <p:cNvPr id="76" name="箭头: 右 75">
            <a:extLst>
              <a:ext uri="{FF2B5EF4-FFF2-40B4-BE49-F238E27FC236}">
                <a16:creationId xmlns:a16="http://schemas.microsoft.com/office/drawing/2014/main" id="{04AA4F32-38A1-7B54-5FB8-4F12418B8799}"/>
              </a:ext>
            </a:extLst>
          </p:cNvPr>
          <p:cNvSpPr/>
          <p:nvPr/>
        </p:nvSpPr>
        <p:spPr>
          <a:xfrm>
            <a:off x="8811656" y="4592377"/>
            <a:ext cx="397658" cy="117520"/>
          </a:xfrm>
          <a:prstGeom prst="rightArrow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7" name="箭头: 右 76">
            <a:extLst>
              <a:ext uri="{FF2B5EF4-FFF2-40B4-BE49-F238E27FC236}">
                <a16:creationId xmlns:a16="http://schemas.microsoft.com/office/drawing/2014/main" id="{7D79DE0E-2BDD-E994-D5C4-F6DB200F2D13}"/>
              </a:ext>
            </a:extLst>
          </p:cNvPr>
          <p:cNvSpPr/>
          <p:nvPr/>
        </p:nvSpPr>
        <p:spPr>
          <a:xfrm>
            <a:off x="8811656" y="3481940"/>
            <a:ext cx="395821" cy="117520"/>
          </a:xfrm>
          <a:prstGeom prst="rightArrow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85" name="图片 84">
            <a:extLst>
              <a:ext uri="{FF2B5EF4-FFF2-40B4-BE49-F238E27FC236}">
                <a16:creationId xmlns:a16="http://schemas.microsoft.com/office/drawing/2014/main" id="{F5E6549A-406A-1198-A9FE-001AA2FD82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87403" y="4212820"/>
            <a:ext cx="794640" cy="838986"/>
          </a:xfrm>
          <a:prstGeom prst="rect">
            <a:avLst/>
          </a:prstGeom>
        </p:spPr>
      </p:pic>
      <p:sp>
        <p:nvSpPr>
          <p:cNvPr id="86" name="文本框 85">
            <a:extLst>
              <a:ext uri="{FF2B5EF4-FFF2-40B4-BE49-F238E27FC236}">
                <a16:creationId xmlns:a16="http://schemas.microsoft.com/office/drawing/2014/main" id="{5BCA0442-1230-9A00-EB53-12F4962257B3}"/>
              </a:ext>
            </a:extLst>
          </p:cNvPr>
          <p:cNvSpPr txBox="1"/>
          <p:nvPr/>
        </p:nvSpPr>
        <p:spPr>
          <a:xfrm>
            <a:off x="8962379" y="5100438"/>
            <a:ext cx="2326067" cy="373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75"/>
              </a:lnSpc>
              <a:spcAft>
                <a:spcPts val="1125"/>
              </a:spcAft>
            </a:pPr>
            <a:r>
              <a:rPr lang="en-US" altLang="zh-CN" sz="1400" b="0" i="0" dirty="0">
                <a:solidFill>
                  <a:srgbClr val="333333"/>
                </a:solidFill>
                <a:effectLst/>
                <a:cs typeface="+mn-ea"/>
                <a:sym typeface="+mn-lt"/>
              </a:rPr>
              <a:t>ASSEMBLYLINE </a:t>
            </a:r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Series</a:t>
            </a:r>
            <a:endParaRPr lang="zh-CN" altLang="en-US" sz="1400" b="0" i="0" dirty="0">
              <a:solidFill>
                <a:srgbClr val="333333"/>
              </a:solidFill>
              <a:effectLst/>
              <a:cs typeface="+mn-ea"/>
              <a:sym typeface="+mn-lt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C449F9DE-04A3-C679-0A3E-51CD7E98111D}"/>
              </a:ext>
            </a:extLst>
          </p:cNvPr>
          <p:cNvSpPr txBox="1"/>
          <p:nvPr/>
        </p:nvSpPr>
        <p:spPr>
          <a:xfrm>
            <a:off x="10425530" y="4357980"/>
            <a:ext cx="16281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World-leading accuracy</a:t>
            </a:r>
            <a:endParaRPr lang="zh-CN" altLang="en-US" sz="1400" dirty="0">
              <a:cs typeface="+mn-ea"/>
              <a:sym typeface="+mn-lt"/>
            </a:endParaRPr>
          </a:p>
        </p:txBody>
      </p:sp>
      <p:pic>
        <p:nvPicPr>
          <p:cNvPr id="89" name="图片 88">
            <a:extLst>
              <a:ext uri="{FF2B5EF4-FFF2-40B4-BE49-F238E27FC236}">
                <a16:creationId xmlns:a16="http://schemas.microsoft.com/office/drawing/2014/main" id="{7ED8AD2C-D4AA-53A1-2423-BC0E4BAB4D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1311" y="3128181"/>
            <a:ext cx="937518" cy="517588"/>
          </a:xfrm>
          <a:prstGeom prst="rect">
            <a:avLst/>
          </a:prstGeom>
        </p:spPr>
      </p:pic>
      <p:sp>
        <p:nvSpPr>
          <p:cNvPr id="91" name="文本框 90">
            <a:extLst>
              <a:ext uri="{FF2B5EF4-FFF2-40B4-BE49-F238E27FC236}">
                <a16:creationId xmlns:a16="http://schemas.microsoft.com/office/drawing/2014/main" id="{4B95D73D-B278-12E8-8578-B4E1B797A478}"/>
              </a:ext>
            </a:extLst>
          </p:cNvPr>
          <p:cNvSpPr txBox="1"/>
          <p:nvPr/>
        </p:nvSpPr>
        <p:spPr>
          <a:xfrm>
            <a:off x="9471785" y="2830346"/>
            <a:ext cx="9292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Jun 25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1601B3C-D376-430F-E4FD-DC804DBC7316}"/>
              </a:ext>
            </a:extLst>
          </p:cNvPr>
          <p:cNvSpPr txBox="1"/>
          <p:nvPr/>
        </p:nvSpPr>
        <p:spPr>
          <a:xfrm>
            <a:off x="9623093" y="3981179"/>
            <a:ext cx="9292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2021</a:t>
            </a:r>
            <a:endParaRPr lang="zh-CN" altLang="en-US" sz="1400" dirty="0">
              <a:cs typeface="+mn-ea"/>
              <a:sym typeface="+mn-lt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1DF4F54-ACF5-0EDD-30F4-D437EA0B87CE}"/>
              </a:ext>
            </a:extLst>
          </p:cNvPr>
          <p:cNvGrpSpPr/>
          <p:nvPr/>
        </p:nvGrpSpPr>
        <p:grpSpPr>
          <a:xfrm>
            <a:off x="537888" y="1682936"/>
            <a:ext cx="11708217" cy="503758"/>
            <a:chOff x="504186" y="971862"/>
            <a:chExt cx="11708217" cy="503758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B3AB8744-1816-94B2-9C00-3E25E0082394}"/>
                </a:ext>
              </a:extLst>
            </p:cNvPr>
            <p:cNvSpPr txBox="1"/>
            <p:nvPr/>
          </p:nvSpPr>
          <p:spPr>
            <a:xfrm>
              <a:off x="6326494" y="971862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Business: </a:t>
              </a:r>
              <a:r>
                <a:rPr kumimoji="1"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Dominator of micro-assembly &amp; automated testing</a:t>
              </a:r>
            </a:p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 </a:t>
              </a:r>
              <a:endPara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FEF28D85-5C03-3A81-8A26-60B62060D3FB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6" name="直线连接符 38">
              <a:extLst>
                <a:ext uri="{FF2B5EF4-FFF2-40B4-BE49-F238E27FC236}">
                  <a16:creationId xmlns:a16="http://schemas.microsoft.com/office/drawing/2014/main" id="{4D397C5B-EA4A-5BFE-EB62-89221C1A0084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96602519-8481-C94D-D0B4-6052293840F3}"/>
                </a:ext>
              </a:extLst>
            </p:cNvPr>
            <p:cNvSpPr txBox="1"/>
            <p:nvPr/>
          </p:nvSpPr>
          <p:spPr>
            <a:xfrm>
              <a:off x="504186" y="971862"/>
              <a:ext cx="5885909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sz="1600" b="1" dirty="0">
                  <a:solidFill>
                    <a:schemeClr val="tx1">
                      <a:lumMod val="50000"/>
                    </a:schemeClr>
                  </a:solidFill>
                  <a:cs typeface="+mn-ea"/>
                </a:rPr>
                <a:t>Roadmap: </a:t>
              </a:r>
              <a:r>
                <a:rPr kumimoji="1" lang="en-US" altLang="zh-CN" sz="1600" dirty="0">
                  <a:solidFill>
                    <a:schemeClr val="tx1">
                      <a:lumMod val="50000"/>
                    </a:schemeClr>
                  </a:solidFill>
                  <a:cs typeface="+mn-ea"/>
                </a:rPr>
                <a:t>Filling a key domestic technology gap</a:t>
              </a:r>
            </a:p>
          </p:txBody>
        </p:sp>
        <p:cxnSp>
          <p:nvCxnSpPr>
            <p:cNvPr id="28" name="直线连接符 38">
              <a:extLst>
                <a:ext uri="{FF2B5EF4-FFF2-40B4-BE49-F238E27FC236}">
                  <a16:creationId xmlns:a16="http://schemas.microsoft.com/office/drawing/2014/main" id="{B951D61A-748E-0E3C-606E-1CA19A2F1843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FD82071D-970F-F3A0-535E-4D40EB488751}"/>
              </a:ext>
            </a:extLst>
          </p:cNvPr>
          <p:cNvGrpSpPr/>
          <p:nvPr/>
        </p:nvGrpSpPr>
        <p:grpSpPr>
          <a:xfrm>
            <a:off x="454252" y="3458453"/>
            <a:ext cx="950546" cy="338554"/>
            <a:chOff x="1828698" y="5414143"/>
            <a:chExt cx="950546" cy="338554"/>
          </a:xfrm>
        </p:grpSpPr>
        <p:sp>
          <p:nvSpPr>
            <p:cNvPr id="36" name="iconfont-1018-792472">
              <a:extLst>
                <a:ext uri="{FF2B5EF4-FFF2-40B4-BE49-F238E27FC236}">
                  <a16:creationId xmlns:a16="http://schemas.microsoft.com/office/drawing/2014/main" id="{A29B70AE-BBE0-A010-0467-D6E6F1E94D0A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8F6B58DA-1FA7-AA67-9630-823153F52A6F}"/>
                </a:ext>
              </a:extLst>
            </p:cNvPr>
            <p:cNvSpPr txBox="1"/>
            <p:nvPr/>
          </p:nvSpPr>
          <p:spPr>
            <a:xfrm>
              <a:off x="1828698" y="5414143"/>
              <a:ext cx="7543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cs typeface="+mn-ea"/>
                  <a:sym typeface="+mn-lt"/>
                </a:rPr>
                <a:t>2023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</p:grpSp>
      <p:sp>
        <p:nvSpPr>
          <p:cNvPr id="40" name="文本框 39">
            <a:extLst>
              <a:ext uri="{FF2B5EF4-FFF2-40B4-BE49-F238E27FC236}">
                <a16:creationId xmlns:a16="http://schemas.microsoft.com/office/drawing/2014/main" id="{09DC35FD-6D45-2F67-D36A-7887702F5A9A}"/>
              </a:ext>
            </a:extLst>
          </p:cNvPr>
          <p:cNvSpPr txBox="1"/>
          <p:nvPr/>
        </p:nvSpPr>
        <p:spPr>
          <a:xfrm>
            <a:off x="1734893" y="3469878"/>
            <a:ext cx="39766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 err="1">
                <a:solidFill>
                  <a:srgbClr val="000000"/>
                </a:solidFill>
                <a:cs typeface="+mn-ea"/>
                <a:sym typeface="+mn-lt"/>
              </a:rPr>
              <a:t>Robotechnik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announced a plan to acquire 100% of 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ficonTEC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.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103437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B1BDC-57D5-6296-4A18-0996B96F1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3C8D7193-CA48-7240-D427-8FCDD66A118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940802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C8D7193-CA48-7240-D427-8FCDD66A11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" name="文本框 94">
            <a:extLst>
              <a:ext uri="{FF2B5EF4-FFF2-40B4-BE49-F238E27FC236}">
                <a16:creationId xmlns:a16="http://schemas.microsoft.com/office/drawing/2014/main" id="{6F37090B-D7E1-AF07-55F2-1DA4E6CD4DCF}"/>
              </a:ext>
            </a:extLst>
          </p:cNvPr>
          <p:cNvSpPr txBox="1"/>
          <p:nvPr/>
        </p:nvSpPr>
        <p:spPr>
          <a:xfrm>
            <a:off x="9285449" y="2145617"/>
            <a:ext cx="14995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Capacity </a:t>
            </a:r>
            <a:r>
              <a:rPr lang="zh-CN" altLang="zh-CN" sz="1400" b="1" dirty="0">
                <a:solidFill>
                  <a:srgbClr val="0052D9"/>
                </a:solidFill>
                <a:cs typeface="+mn-ea"/>
                <a:sym typeface="+mn-lt"/>
              </a:rPr>
              <a:t>94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units</a:t>
            </a:r>
          </a:p>
          <a:p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Output </a:t>
            </a:r>
            <a:r>
              <a:rPr lang="zh-CN" altLang="zh-CN" sz="1400" b="1" dirty="0">
                <a:solidFill>
                  <a:srgbClr val="0052D9"/>
                </a:solidFill>
                <a:cs typeface="+mn-ea"/>
                <a:sym typeface="+mn-lt"/>
              </a:rPr>
              <a:t>80</a:t>
            </a:r>
            <a:r>
              <a:rPr lang="en-US" altLang="zh-CN" sz="1200" b="1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units</a:t>
            </a:r>
          </a:p>
          <a:p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Sales </a:t>
            </a:r>
            <a:r>
              <a:rPr lang="zh-CN" altLang="zh-CN" sz="1400" b="1" dirty="0">
                <a:solidFill>
                  <a:srgbClr val="0052D9"/>
                </a:solidFill>
                <a:cs typeface="+mn-ea"/>
                <a:sym typeface="+mn-lt"/>
              </a:rPr>
              <a:t>96</a:t>
            </a:r>
            <a:r>
              <a:rPr lang="en-US" altLang="zh-CN" sz="1200" b="1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units</a:t>
            </a:r>
            <a:r>
              <a:rPr lang="zh-CN" altLang="zh-CN" sz="12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6811A02-3CE0-3DE8-0365-8A8A4512D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cs typeface="+mn-ea"/>
                <a:sym typeface="+mn-lt"/>
              </a:rPr>
              <a:t>FiconTEC:</a:t>
            </a:r>
            <a:r>
              <a:rPr lang="zh-CN" altLang="en-US" dirty="0">
                <a:cs typeface="+mn-ea"/>
                <a:sym typeface="+mn-lt"/>
              </a:rPr>
              <a:t> </a:t>
            </a:r>
            <a:r>
              <a:rPr lang="en-US" altLang="zh-CN" dirty="0">
                <a:cs typeface="+mn-ea"/>
                <a:sym typeface="+mn-lt"/>
              </a:rPr>
              <a:t>Key player for domestic substitution in CPO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4E2C905-5861-8AD9-CEC2-355C7FDD9A34}"/>
              </a:ext>
            </a:extLst>
          </p:cNvPr>
          <p:cNvSpPr txBox="1"/>
          <p:nvPr/>
        </p:nvSpPr>
        <p:spPr>
          <a:xfrm>
            <a:off x="291221" y="6368845"/>
            <a:ext cx="2999995" cy="25259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Robotechnik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4F127C78-D2E0-A10F-C230-9B118FD0FF04}"/>
              </a:ext>
            </a:extLst>
          </p:cNvPr>
          <p:cNvGrpSpPr/>
          <p:nvPr/>
        </p:nvGrpSpPr>
        <p:grpSpPr>
          <a:xfrm>
            <a:off x="7542699" y="2154534"/>
            <a:ext cx="1583563" cy="720830"/>
            <a:chOff x="7148096" y="4207316"/>
            <a:chExt cx="1583563" cy="720830"/>
          </a:xfrm>
        </p:grpSpPr>
        <p:pic>
          <p:nvPicPr>
            <p:cNvPr id="49" name="图形 48" descr="USB 纯色填充">
              <a:extLst>
                <a:ext uri="{FF2B5EF4-FFF2-40B4-BE49-F238E27FC236}">
                  <a16:creationId xmlns:a16="http://schemas.microsoft.com/office/drawing/2014/main" id="{602BAC1A-9EC2-0265-9B30-BCB751A798E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357255" y="4207316"/>
              <a:ext cx="472681" cy="472681"/>
            </a:xfrm>
            <a:prstGeom prst="rect">
              <a:avLst/>
            </a:prstGeom>
          </p:spPr>
        </p:pic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36E6131D-A6D6-E87E-1155-83A8BF50D08F}"/>
                </a:ext>
              </a:extLst>
            </p:cNvPr>
            <p:cNvSpPr txBox="1"/>
            <p:nvPr/>
          </p:nvSpPr>
          <p:spPr>
            <a:xfrm>
              <a:off x="7148096" y="4651147"/>
              <a:ext cx="153628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rgbClr val="000000"/>
                  </a:solidFill>
                  <a:cs typeface="+mn-ea"/>
                  <a:sym typeface="+mn-lt"/>
                </a:rPr>
                <a:t>Global Delivery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B1AC81B6-FCF6-669F-7A0C-F4DBF47FA9BE}"/>
                </a:ext>
              </a:extLst>
            </p:cNvPr>
            <p:cNvSpPr txBox="1"/>
            <p:nvPr/>
          </p:nvSpPr>
          <p:spPr>
            <a:xfrm>
              <a:off x="7855359" y="4210827"/>
              <a:ext cx="876300" cy="4924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zh-CN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700+</a:t>
              </a:r>
              <a:r>
                <a:rPr lang="zh-CN" altLang="en-US" sz="1200" dirty="0">
                  <a:solidFill>
                    <a:srgbClr val="000000"/>
                  </a:solidFill>
                  <a:cs typeface="+mn-ea"/>
                  <a:sym typeface="+mn-lt"/>
                </a:rPr>
                <a:t> </a:t>
              </a:r>
              <a:r>
                <a:rPr lang="en-US" altLang="zh-CN" sz="1200" dirty="0">
                  <a:solidFill>
                    <a:srgbClr val="000000"/>
                  </a:solidFill>
                  <a:cs typeface="+mn-ea"/>
                  <a:sym typeface="+mn-lt"/>
                </a:rPr>
                <a:t>units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EC933776-19D1-AC36-B2BB-DFFC91331E5F}"/>
              </a:ext>
            </a:extLst>
          </p:cNvPr>
          <p:cNvGrpSpPr/>
          <p:nvPr/>
        </p:nvGrpSpPr>
        <p:grpSpPr>
          <a:xfrm>
            <a:off x="6114468" y="2136298"/>
            <a:ext cx="2151113" cy="757302"/>
            <a:chOff x="9187616" y="4153814"/>
            <a:chExt cx="2151113" cy="757302"/>
          </a:xfrm>
        </p:grpSpPr>
        <p:pic>
          <p:nvPicPr>
            <p:cNvPr id="55" name="图形 54" descr="标签 轮廓">
              <a:extLst>
                <a:ext uri="{FF2B5EF4-FFF2-40B4-BE49-F238E27FC236}">
                  <a16:creationId xmlns:a16="http://schemas.microsoft.com/office/drawing/2014/main" id="{9CF8E86B-5543-D8FC-A9C0-7525DEE8E12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398197" y="4153814"/>
              <a:ext cx="510852" cy="510852"/>
            </a:xfrm>
            <a:prstGeom prst="rect">
              <a:avLst/>
            </a:prstGeom>
          </p:spPr>
        </p:pic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6FBCB6DF-5221-467C-4631-74E4DD0DCFB1}"/>
                </a:ext>
              </a:extLst>
            </p:cNvPr>
            <p:cNvSpPr txBox="1"/>
            <p:nvPr/>
          </p:nvSpPr>
          <p:spPr>
            <a:xfrm>
              <a:off x="9187616" y="4634117"/>
              <a:ext cx="100644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cs typeface="+mn-ea"/>
                  <a:sym typeface="+mn-lt"/>
                </a:rPr>
                <a:t>ASP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2BECAF00-E053-D171-4AB9-594A36566AEA}"/>
                </a:ext>
              </a:extLst>
            </p:cNvPr>
            <p:cNvSpPr txBox="1"/>
            <p:nvPr/>
          </p:nvSpPr>
          <p:spPr>
            <a:xfrm>
              <a:off x="9909049" y="4258449"/>
              <a:ext cx="142968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400" i="0" u="none" strike="noStrike" cap="none" normalizeH="0" baseline="0" dirty="0">
                  <a:ln>
                    <a:noFill/>
                  </a:ln>
                  <a:solidFill>
                    <a:schemeClr val="accent6">
                      <a:lumMod val="10000"/>
                    </a:schemeClr>
                  </a:solidFill>
                  <a:effectLst/>
                  <a:cs typeface="+mn-ea"/>
                  <a:sym typeface="+mn-lt"/>
                </a:rPr>
                <a:t>RMB</a:t>
              </a:r>
            </a:p>
            <a:p>
              <a:r>
                <a:rPr kumimoji="0" lang="zh-CN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2</a:t>
              </a:r>
              <a:r>
                <a:rPr kumimoji="0" lang="en-US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.</a:t>
              </a:r>
              <a:r>
                <a:rPr kumimoji="0" lang="zh-CN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35</a:t>
              </a:r>
              <a:r>
                <a:rPr kumimoji="0" lang="en-US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 </a:t>
              </a:r>
              <a:r>
                <a:rPr kumimoji="0" lang="en-US" altLang="zh-CN" sz="1400" b="1" i="0" u="none" strike="noStrike" cap="none" normalizeH="0" baseline="0" dirty="0" err="1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mn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</p:grpSp>
      <p:sp>
        <p:nvSpPr>
          <p:cNvPr id="75" name="文本框 74">
            <a:extLst>
              <a:ext uri="{FF2B5EF4-FFF2-40B4-BE49-F238E27FC236}">
                <a16:creationId xmlns:a16="http://schemas.microsoft.com/office/drawing/2014/main" id="{4D798BC0-1F92-C066-E77E-C936AEE30E67}"/>
              </a:ext>
            </a:extLst>
          </p:cNvPr>
          <p:cNvSpPr txBox="1"/>
          <p:nvPr/>
        </p:nvSpPr>
        <p:spPr>
          <a:xfrm>
            <a:off x="10474526" y="4696258"/>
            <a:ext cx="20150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Tech Group AS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cs typeface="+mn-ea"/>
              <a:sym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Standard hardware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F3867685-FC17-6A49-69E6-DAF24016AD84}"/>
              </a:ext>
            </a:extLst>
          </p:cNvPr>
          <p:cNvSpPr txBox="1"/>
          <p:nvPr/>
        </p:nvSpPr>
        <p:spPr>
          <a:xfrm>
            <a:off x="6331208" y="1480930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Delivery:</a:t>
            </a: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Low-volume, high-price, 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heavy on delivery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. 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92" name="图表 91">
            <a:extLst>
              <a:ext uri="{FF2B5EF4-FFF2-40B4-BE49-F238E27FC236}">
                <a16:creationId xmlns:a16="http://schemas.microsoft.com/office/drawing/2014/main" id="{19260879-9433-0847-8209-2001BC7786A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8751624"/>
              </p:ext>
            </p:extLst>
          </p:nvPr>
        </p:nvGraphicFramePr>
        <p:xfrm>
          <a:off x="397687" y="2541712"/>
          <a:ext cx="5701757" cy="34984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93" name="文本框 92">
            <a:extLst>
              <a:ext uri="{FF2B5EF4-FFF2-40B4-BE49-F238E27FC236}">
                <a16:creationId xmlns:a16="http://schemas.microsoft.com/office/drawing/2014/main" id="{8310F639-3DED-4B57-A020-7BEC0B37D869}"/>
              </a:ext>
            </a:extLst>
          </p:cNvPr>
          <p:cNvSpPr txBox="1"/>
          <p:nvPr/>
        </p:nvSpPr>
        <p:spPr>
          <a:xfrm>
            <a:off x="585334" y="1480930"/>
            <a:ext cx="5252715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Gross margin: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~40%,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exceeds the industry average for assembly and test (~30%);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Losses: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continue to narrow.</a:t>
            </a:r>
          </a:p>
        </p:txBody>
      </p: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66D16714-C616-B238-C78A-F7EF6A9E7034}"/>
              </a:ext>
            </a:extLst>
          </p:cNvPr>
          <p:cNvGrpSpPr/>
          <p:nvPr/>
        </p:nvGrpSpPr>
        <p:grpSpPr>
          <a:xfrm>
            <a:off x="10705053" y="2152179"/>
            <a:ext cx="1334236" cy="725541"/>
            <a:chOff x="10926477" y="4990752"/>
            <a:chExt cx="1334236" cy="725541"/>
          </a:xfrm>
        </p:grpSpPr>
        <p:sp>
          <p:nvSpPr>
            <p:cNvPr id="96" name="recycling_95966">
              <a:extLst>
                <a:ext uri="{FF2B5EF4-FFF2-40B4-BE49-F238E27FC236}">
                  <a16:creationId xmlns:a16="http://schemas.microsoft.com/office/drawing/2014/main" id="{73936BFA-5739-FC18-7794-74A63461B452}"/>
                </a:ext>
              </a:extLst>
            </p:cNvPr>
            <p:cNvSpPr/>
            <p:nvPr/>
          </p:nvSpPr>
          <p:spPr>
            <a:xfrm>
              <a:off x="11025775" y="4990752"/>
              <a:ext cx="341259" cy="307177"/>
            </a:xfrm>
            <a:custGeom>
              <a:avLst/>
              <a:gdLst>
                <a:gd name="connsiteX0" fmla="*/ 138150 w 606227"/>
                <a:gd name="connsiteY0" fmla="*/ 242463 h 545683"/>
                <a:gd name="connsiteX1" fmla="*/ 170297 w 606227"/>
                <a:gd name="connsiteY1" fmla="*/ 378135 h 545683"/>
                <a:gd name="connsiteX2" fmla="*/ 132533 w 606227"/>
                <a:gd name="connsiteY2" fmla="*/ 355702 h 545683"/>
                <a:gd name="connsiteX3" fmla="*/ 107556 w 606227"/>
                <a:gd name="connsiteY3" fmla="*/ 399256 h 545683"/>
                <a:gd name="connsiteX4" fmla="*/ 265185 w 606227"/>
                <a:gd name="connsiteY4" fmla="*/ 400568 h 545683"/>
                <a:gd name="connsiteX5" fmla="*/ 264348 w 606227"/>
                <a:gd name="connsiteY5" fmla="*/ 510824 h 545683"/>
                <a:gd name="connsiteX6" fmla="*/ 90705 w 606227"/>
                <a:gd name="connsiteY6" fmla="*/ 509631 h 545683"/>
                <a:gd name="connsiteX7" fmla="*/ 72899 w 606227"/>
                <a:gd name="connsiteY7" fmla="*/ 480396 h 545683"/>
                <a:gd name="connsiteX8" fmla="*/ 5258 w 606227"/>
                <a:gd name="connsiteY8" fmla="*/ 362265 h 545683"/>
                <a:gd name="connsiteX9" fmla="*/ 39676 w 606227"/>
                <a:gd name="connsiteY9" fmla="*/ 299858 h 545683"/>
                <a:gd name="connsiteX10" fmla="*/ 0 w 606227"/>
                <a:gd name="connsiteY10" fmla="*/ 275993 h 545683"/>
                <a:gd name="connsiteX11" fmla="*/ 522226 w 606227"/>
                <a:gd name="connsiteY11" fmla="*/ 201253 h 545683"/>
                <a:gd name="connsiteX12" fmla="*/ 606227 w 606227"/>
                <a:gd name="connsiteY12" fmla="*/ 352105 h 545683"/>
                <a:gd name="connsiteX13" fmla="*/ 587706 w 606227"/>
                <a:gd name="connsiteY13" fmla="*/ 383374 h 545683"/>
                <a:gd name="connsiteX14" fmla="*/ 516849 w 606227"/>
                <a:gd name="connsiteY14" fmla="*/ 499496 h 545683"/>
                <a:gd name="connsiteX15" fmla="*/ 445515 w 606227"/>
                <a:gd name="connsiteY15" fmla="*/ 499496 h 545683"/>
                <a:gd name="connsiteX16" fmla="*/ 443603 w 606227"/>
                <a:gd name="connsiteY16" fmla="*/ 545683 h 545683"/>
                <a:gd name="connsiteX17" fmla="*/ 347534 w 606227"/>
                <a:gd name="connsiteY17" fmla="*/ 441137 h 545683"/>
                <a:gd name="connsiteX18" fmla="*/ 451131 w 606227"/>
                <a:gd name="connsiteY18" fmla="*/ 347451 h 545683"/>
                <a:gd name="connsiteX19" fmla="*/ 449697 w 606227"/>
                <a:gd name="connsiteY19" fmla="*/ 391370 h 545683"/>
                <a:gd name="connsiteX20" fmla="*/ 499882 w 606227"/>
                <a:gd name="connsiteY20" fmla="*/ 392205 h 545683"/>
                <a:gd name="connsiteX21" fmla="*/ 424963 w 606227"/>
                <a:gd name="connsiteY21" fmla="*/ 253646 h 545683"/>
                <a:gd name="connsiteX22" fmla="*/ 224895 w 606227"/>
                <a:gd name="connsiteY22" fmla="*/ 0 h 545683"/>
                <a:gd name="connsiteX23" fmla="*/ 393884 w 606227"/>
                <a:gd name="connsiteY23" fmla="*/ 119 h 545683"/>
                <a:gd name="connsiteX24" fmla="*/ 430933 w 606227"/>
                <a:gd name="connsiteY24" fmla="*/ 60975 h 545683"/>
                <a:gd name="connsiteX25" fmla="*/ 471447 w 606227"/>
                <a:gd name="connsiteY25" fmla="*/ 38422 h 545683"/>
                <a:gd name="connsiteX26" fmla="*/ 432008 w 606227"/>
                <a:gd name="connsiteY26" fmla="*/ 174810 h 545683"/>
                <a:gd name="connsiteX27" fmla="*/ 298036 w 606227"/>
                <a:gd name="connsiteY27" fmla="*/ 135194 h 545683"/>
                <a:gd name="connsiteX28" fmla="*/ 336399 w 606227"/>
                <a:gd name="connsiteY28" fmla="*/ 113597 h 545683"/>
                <a:gd name="connsiteX29" fmla="*/ 310943 w 606227"/>
                <a:gd name="connsiteY29" fmla="*/ 70401 h 545683"/>
                <a:gd name="connsiteX30" fmla="*/ 231468 w 606227"/>
                <a:gd name="connsiteY30" fmla="*/ 206192 h 545683"/>
                <a:gd name="connsiteX31" fmla="*/ 135979 w 606227"/>
                <a:gd name="connsiteY31" fmla="*/ 150587 h 545683"/>
                <a:gd name="connsiteX32" fmla="*/ 211032 w 606227"/>
                <a:gd name="connsiteY32" fmla="*/ 22194 h 545683"/>
                <a:gd name="connsiteX33" fmla="*/ 224178 w 606227"/>
                <a:gd name="connsiteY33" fmla="*/ 1074 h 54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606227" h="545683">
                  <a:moveTo>
                    <a:pt x="138150" y="242463"/>
                  </a:moveTo>
                  <a:lnTo>
                    <a:pt x="170297" y="378135"/>
                  </a:lnTo>
                  <a:lnTo>
                    <a:pt x="132533" y="355702"/>
                  </a:lnTo>
                  <a:lnTo>
                    <a:pt x="107556" y="399256"/>
                  </a:lnTo>
                  <a:lnTo>
                    <a:pt x="265185" y="400568"/>
                  </a:lnTo>
                  <a:lnTo>
                    <a:pt x="264348" y="510824"/>
                  </a:lnTo>
                  <a:lnTo>
                    <a:pt x="90705" y="509631"/>
                  </a:lnTo>
                  <a:lnTo>
                    <a:pt x="72899" y="480396"/>
                  </a:lnTo>
                  <a:lnTo>
                    <a:pt x="5258" y="362265"/>
                  </a:lnTo>
                  <a:lnTo>
                    <a:pt x="39676" y="299858"/>
                  </a:lnTo>
                  <a:lnTo>
                    <a:pt x="0" y="275993"/>
                  </a:lnTo>
                  <a:close/>
                  <a:moveTo>
                    <a:pt x="522226" y="201253"/>
                  </a:moveTo>
                  <a:lnTo>
                    <a:pt x="606227" y="352105"/>
                  </a:lnTo>
                  <a:lnTo>
                    <a:pt x="587706" y="383374"/>
                  </a:lnTo>
                  <a:lnTo>
                    <a:pt x="516849" y="499496"/>
                  </a:lnTo>
                  <a:lnTo>
                    <a:pt x="445515" y="499496"/>
                  </a:lnTo>
                  <a:lnTo>
                    <a:pt x="443603" y="545683"/>
                  </a:lnTo>
                  <a:lnTo>
                    <a:pt x="347534" y="441137"/>
                  </a:lnTo>
                  <a:lnTo>
                    <a:pt x="451131" y="347451"/>
                  </a:lnTo>
                  <a:lnTo>
                    <a:pt x="449697" y="391370"/>
                  </a:lnTo>
                  <a:lnTo>
                    <a:pt x="499882" y="392205"/>
                  </a:lnTo>
                  <a:lnTo>
                    <a:pt x="424963" y="253646"/>
                  </a:lnTo>
                  <a:close/>
                  <a:moveTo>
                    <a:pt x="224895" y="0"/>
                  </a:moveTo>
                  <a:lnTo>
                    <a:pt x="393884" y="119"/>
                  </a:lnTo>
                  <a:lnTo>
                    <a:pt x="430933" y="60975"/>
                  </a:lnTo>
                  <a:lnTo>
                    <a:pt x="471447" y="38422"/>
                  </a:lnTo>
                  <a:lnTo>
                    <a:pt x="432008" y="174810"/>
                  </a:lnTo>
                  <a:lnTo>
                    <a:pt x="298036" y="135194"/>
                  </a:lnTo>
                  <a:lnTo>
                    <a:pt x="336399" y="113597"/>
                  </a:lnTo>
                  <a:lnTo>
                    <a:pt x="310943" y="70401"/>
                  </a:lnTo>
                  <a:lnTo>
                    <a:pt x="231468" y="206192"/>
                  </a:lnTo>
                  <a:lnTo>
                    <a:pt x="135979" y="150587"/>
                  </a:lnTo>
                  <a:lnTo>
                    <a:pt x="211032" y="22194"/>
                  </a:lnTo>
                  <a:cubicBezTo>
                    <a:pt x="218322" y="9785"/>
                    <a:pt x="224178" y="1074"/>
                    <a:pt x="224178" y="1074"/>
                  </a:cubicBezTo>
                  <a:close/>
                </a:path>
              </a:pathLst>
            </a:custGeom>
            <a:solidFill>
              <a:srgbClr val="0052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9E9CC53B-7005-CE44-88F3-B1926D6E0590}"/>
                </a:ext>
              </a:extLst>
            </p:cNvPr>
            <p:cNvSpPr txBox="1"/>
            <p:nvPr/>
          </p:nvSpPr>
          <p:spPr>
            <a:xfrm>
              <a:off x="10926477" y="5254628"/>
              <a:ext cx="128178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cs typeface="+mn-ea"/>
                  <a:sym typeface="+mn-lt"/>
                </a:rPr>
                <a:t>Capacity Utilization Rate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  <p:sp>
          <p:nvSpPr>
            <p:cNvPr id="98" name="文本框 97">
              <a:extLst>
                <a:ext uri="{FF2B5EF4-FFF2-40B4-BE49-F238E27FC236}">
                  <a16:creationId xmlns:a16="http://schemas.microsoft.com/office/drawing/2014/main" id="{C934908C-038A-74F4-2541-255F5FC481F2}"/>
                </a:ext>
              </a:extLst>
            </p:cNvPr>
            <p:cNvSpPr txBox="1"/>
            <p:nvPr/>
          </p:nvSpPr>
          <p:spPr>
            <a:xfrm>
              <a:off x="11384413" y="4990752"/>
              <a:ext cx="8763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85%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</p:grpSp>
      <p:sp>
        <p:nvSpPr>
          <p:cNvPr id="101" name="流程图: 摘录 100">
            <a:extLst>
              <a:ext uri="{FF2B5EF4-FFF2-40B4-BE49-F238E27FC236}">
                <a16:creationId xmlns:a16="http://schemas.microsoft.com/office/drawing/2014/main" id="{F9435C5D-EA39-E35F-D9C6-FA0B709B2A29}"/>
              </a:ext>
            </a:extLst>
          </p:cNvPr>
          <p:cNvSpPr/>
          <p:nvPr/>
        </p:nvSpPr>
        <p:spPr>
          <a:xfrm rot="16200000">
            <a:off x="8827761" y="2444155"/>
            <a:ext cx="508635" cy="141589"/>
          </a:xfrm>
          <a:prstGeom prst="flowChartExtract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F6870F55-1F02-5005-570F-6715AF3C7B87}"/>
              </a:ext>
            </a:extLst>
          </p:cNvPr>
          <p:cNvSpPr txBox="1"/>
          <p:nvPr/>
        </p:nvSpPr>
        <p:spPr>
          <a:xfrm>
            <a:off x="6333459" y="3535345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Customers &amp; Suppliers: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Concentrated.</a:t>
            </a: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9BDA9797-E868-ABEC-0EB4-EE0ED70DF04C}"/>
              </a:ext>
            </a:extLst>
          </p:cNvPr>
          <p:cNvSpPr txBox="1"/>
          <p:nvPr/>
        </p:nvSpPr>
        <p:spPr>
          <a:xfrm>
            <a:off x="397687" y="2510156"/>
            <a:ext cx="14296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600" i="0" u="none" strike="noStrike" cap="none" normalizeH="0" baseline="0" dirty="0">
                <a:ln>
                  <a:noFill/>
                </a:ln>
                <a:solidFill>
                  <a:schemeClr val="tx2">
                    <a:lumMod val="65000"/>
                  </a:schemeClr>
                </a:solidFill>
                <a:effectLst/>
                <a:cs typeface="+mn-ea"/>
                <a:sym typeface="+mn-lt"/>
              </a:rPr>
              <a:t>$</a:t>
            </a:r>
            <a:r>
              <a:rPr lang="en-US" altLang="zh-CN" sz="1600" dirty="0">
                <a:solidFill>
                  <a:schemeClr val="tx2">
                    <a:lumMod val="65000"/>
                  </a:schemeClr>
                </a:solidFill>
                <a:cs typeface="+mn-ea"/>
                <a:sym typeface="+mn-lt"/>
              </a:rPr>
              <a:t>0.1 b</a:t>
            </a:r>
            <a:r>
              <a:rPr kumimoji="0" lang="en-US" altLang="zh-CN" sz="1600" i="0" u="none" strike="noStrike" cap="none" normalizeH="0" baseline="0" dirty="0">
                <a:ln>
                  <a:noFill/>
                </a:ln>
                <a:solidFill>
                  <a:schemeClr val="tx2">
                    <a:lumMod val="65000"/>
                  </a:schemeClr>
                </a:solidFill>
                <a:effectLst/>
                <a:cs typeface="+mn-ea"/>
                <a:sym typeface="+mn-lt"/>
              </a:rPr>
              <a:t>n</a:t>
            </a:r>
            <a:endParaRPr lang="zh-CN" altLang="en-US" sz="1600" dirty="0">
              <a:solidFill>
                <a:schemeClr val="tx2">
                  <a:lumMod val="6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708A5BC3-0638-EAA0-1424-BC1B68D19B74}"/>
              </a:ext>
            </a:extLst>
          </p:cNvPr>
          <p:cNvGrpSpPr/>
          <p:nvPr/>
        </p:nvGrpSpPr>
        <p:grpSpPr>
          <a:xfrm>
            <a:off x="5866516" y="4177718"/>
            <a:ext cx="2508785" cy="1575336"/>
            <a:chOff x="5814358" y="4940035"/>
            <a:chExt cx="2508785" cy="1575336"/>
          </a:xfrm>
        </p:grpSpPr>
        <p:graphicFrame>
          <p:nvGraphicFramePr>
            <p:cNvPr id="111" name="图表 110">
              <a:extLst>
                <a:ext uri="{FF2B5EF4-FFF2-40B4-BE49-F238E27FC236}">
                  <a16:creationId xmlns:a16="http://schemas.microsoft.com/office/drawing/2014/main" id="{6BF004F2-0E6F-F1E8-65F5-04D15B035877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5814358" y="4940035"/>
            <a:ext cx="2326067" cy="1575336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1"/>
            </a:graphicData>
          </a:graphic>
        </p:graphicFrame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29D20555-710A-CF3E-59D4-812649C1AE5B}"/>
                </a:ext>
              </a:extLst>
            </p:cNvPr>
            <p:cNvSpPr txBox="1"/>
            <p:nvPr/>
          </p:nvSpPr>
          <p:spPr>
            <a:xfrm>
              <a:off x="6977391" y="5297086"/>
              <a:ext cx="134575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4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cs typeface="+mn-ea"/>
                  <a:sym typeface="+mn-lt"/>
                </a:rPr>
                <a:t>CR5</a:t>
              </a:r>
              <a:endParaRPr lang="zh-CN" altLang="en-US" sz="14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22" name="文本框 121">
            <a:extLst>
              <a:ext uri="{FF2B5EF4-FFF2-40B4-BE49-F238E27FC236}">
                <a16:creationId xmlns:a16="http://schemas.microsoft.com/office/drawing/2014/main" id="{E0016804-8EE1-ABC8-B867-EC011A597B58}"/>
              </a:ext>
            </a:extLst>
          </p:cNvPr>
          <p:cNvSpPr txBox="1"/>
          <p:nvPr/>
        </p:nvSpPr>
        <p:spPr>
          <a:xfrm>
            <a:off x="6837459" y="4028565"/>
            <a:ext cx="25725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Customer Proportion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23" name="左大括号 122">
            <a:extLst>
              <a:ext uri="{FF2B5EF4-FFF2-40B4-BE49-F238E27FC236}">
                <a16:creationId xmlns:a16="http://schemas.microsoft.com/office/drawing/2014/main" id="{4144C124-CE35-BD02-AB92-FC9C9826E8E0}"/>
              </a:ext>
            </a:extLst>
          </p:cNvPr>
          <p:cNvSpPr/>
          <p:nvPr/>
        </p:nvSpPr>
        <p:spPr>
          <a:xfrm>
            <a:off x="7674593" y="4568641"/>
            <a:ext cx="244731" cy="790243"/>
          </a:xfrm>
          <a:prstGeom prst="leftBrac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27" name="图像" descr="图像">
            <a:extLst>
              <a:ext uri="{FF2B5EF4-FFF2-40B4-BE49-F238E27FC236}">
                <a16:creationId xmlns:a16="http://schemas.microsoft.com/office/drawing/2014/main" id="{566B7F98-4CED-CABC-C1B9-9F1062B19E1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78391" y="4847900"/>
            <a:ext cx="328497" cy="158383"/>
          </a:xfrm>
          <a:prstGeom prst="rect">
            <a:avLst/>
          </a:prstGeom>
          <a:ln w="12700">
            <a:miter lim="400000"/>
          </a:ln>
        </p:spPr>
      </p:pic>
      <p:pic>
        <p:nvPicPr>
          <p:cNvPr id="128" name="图像" descr="图像">
            <a:extLst>
              <a:ext uri="{FF2B5EF4-FFF2-40B4-BE49-F238E27FC236}">
                <a16:creationId xmlns:a16="http://schemas.microsoft.com/office/drawing/2014/main" id="{EFB0FB51-0DA1-CA79-0ED8-F899D5B5109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98544" y="4824981"/>
            <a:ext cx="349749" cy="18886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3" name="图片 132">
            <a:extLst>
              <a:ext uri="{FF2B5EF4-FFF2-40B4-BE49-F238E27FC236}">
                <a16:creationId xmlns:a16="http://schemas.microsoft.com/office/drawing/2014/main" id="{39B7808E-4484-BAC0-4A60-112C17C59B1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88033" y="4426818"/>
            <a:ext cx="424641" cy="150013"/>
          </a:xfrm>
          <a:prstGeom prst="rect">
            <a:avLst/>
          </a:prstGeom>
        </p:spPr>
      </p:pic>
      <p:pic>
        <p:nvPicPr>
          <p:cNvPr id="134" name="图片 133">
            <a:extLst>
              <a:ext uri="{FF2B5EF4-FFF2-40B4-BE49-F238E27FC236}">
                <a16:creationId xmlns:a16="http://schemas.microsoft.com/office/drawing/2014/main" id="{CAFC942D-DC8A-0DD7-D16B-BFB93A02EF1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90404" y="4433868"/>
            <a:ext cx="283204" cy="181777"/>
          </a:xfrm>
          <a:prstGeom prst="rect">
            <a:avLst/>
          </a:prstGeom>
        </p:spPr>
      </p:pic>
      <p:pic>
        <p:nvPicPr>
          <p:cNvPr id="136" name="图片 135">
            <a:extLst>
              <a:ext uri="{FF2B5EF4-FFF2-40B4-BE49-F238E27FC236}">
                <a16:creationId xmlns:a16="http://schemas.microsoft.com/office/drawing/2014/main" id="{DECCF4AE-B034-A500-F180-28A4E8F53CA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18615" y="5167183"/>
            <a:ext cx="246629" cy="295634"/>
          </a:xfrm>
          <a:prstGeom prst="rect">
            <a:avLst/>
          </a:prstGeom>
        </p:spPr>
      </p:pic>
      <p:graphicFrame>
        <p:nvGraphicFramePr>
          <p:cNvPr id="142" name="图表 141">
            <a:extLst>
              <a:ext uri="{FF2B5EF4-FFF2-40B4-BE49-F238E27FC236}">
                <a16:creationId xmlns:a16="http://schemas.microsoft.com/office/drawing/2014/main" id="{0084530E-F3E9-6239-321E-68D35470C0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6824754"/>
              </p:ext>
            </p:extLst>
          </p:nvPr>
        </p:nvGraphicFramePr>
        <p:xfrm>
          <a:off x="8546152" y="4167255"/>
          <a:ext cx="2645530" cy="15873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sp>
        <p:nvSpPr>
          <p:cNvPr id="143" name="文本框 142">
            <a:extLst>
              <a:ext uri="{FF2B5EF4-FFF2-40B4-BE49-F238E27FC236}">
                <a16:creationId xmlns:a16="http://schemas.microsoft.com/office/drawing/2014/main" id="{20018B50-AA6C-C5C9-C003-D4702FBD28D7}"/>
              </a:ext>
            </a:extLst>
          </p:cNvPr>
          <p:cNvSpPr txBox="1"/>
          <p:nvPr/>
        </p:nvSpPr>
        <p:spPr>
          <a:xfrm>
            <a:off x="9563295" y="4028565"/>
            <a:ext cx="22835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Supplier Proportion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FA0DCBE-D7FF-90D0-EC0F-3A009988E477}"/>
              </a:ext>
            </a:extLst>
          </p:cNvPr>
          <p:cNvSpPr txBox="1"/>
          <p:nvPr/>
        </p:nvSpPr>
        <p:spPr>
          <a:xfrm>
            <a:off x="6304016" y="906638"/>
            <a:ext cx="5885909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Upstream &amp; Downstream</a:t>
            </a:r>
            <a:endParaRPr kumimoji="1" lang="zh-CN" altLang="en-US" sz="16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3F8A0BE-A2CA-6D42-0FFD-9053CE30A86B}"/>
              </a:ext>
            </a:extLst>
          </p:cNvPr>
          <p:cNvSpPr txBox="1"/>
          <p:nvPr/>
        </p:nvSpPr>
        <p:spPr>
          <a:xfrm>
            <a:off x="6149943" y="1108771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9" name="直线连接符 38">
            <a:extLst>
              <a:ext uri="{FF2B5EF4-FFF2-40B4-BE49-F238E27FC236}">
                <a16:creationId xmlns:a16="http://schemas.microsoft.com/office/drawing/2014/main" id="{AD4B2ECD-EC7F-9344-722A-39484F0E9966}"/>
              </a:ext>
            </a:extLst>
          </p:cNvPr>
          <p:cNvCxnSpPr>
            <a:cxnSpLocks/>
          </p:cNvCxnSpPr>
          <p:nvPr/>
        </p:nvCxnSpPr>
        <p:spPr>
          <a:xfrm>
            <a:off x="6304016" y="1242065"/>
            <a:ext cx="526957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6B6577D0-0D94-E457-0325-8CF6EA0DCB14}"/>
              </a:ext>
            </a:extLst>
          </p:cNvPr>
          <p:cNvSpPr txBox="1"/>
          <p:nvPr/>
        </p:nvSpPr>
        <p:spPr>
          <a:xfrm>
            <a:off x="481708" y="906638"/>
            <a:ext cx="5885909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Profitability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  <a:cs typeface="+mn-ea"/>
            </a:endParaRPr>
          </a:p>
        </p:txBody>
      </p:sp>
      <p:cxnSp>
        <p:nvCxnSpPr>
          <p:cNvPr id="12" name="直线连接符 38">
            <a:extLst>
              <a:ext uri="{FF2B5EF4-FFF2-40B4-BE49-F238E27FC236}">
                <a16:creationId xmlns:a16="http://schemas.microsoft.com/office/drawing/2014/main" id="{2506657E-C86D-DD1E-1BD0-D88F4099D28D}"/>
              </a:ext>
            </a:extLst>
          </p:cNvPr>
          <p:cNvCxnSpPr>
            <a:cxnSpLocks/>
          </p:cNvCxnSpPr>
          <p:nvPr/>
        </p:nvCxnSpPr>
        <p:spPr>
          <a:xfrm>
            <a:off x="481708" y="1251400"/>
            <a:ext cx="5356341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46477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CCB96-BE57-1503-2FD9-603BFDB93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hink-cell data - do not delete" hidden="1">
            <a:extLst>
              <a:ext uri="{FF2B5EF4-FFF2-40B4-BE49-F238E27FC236}">
                <a16:creationId xmlns:a16="http://schemas.microsoft.com/office/drawing/2014/main" id="{1006903C-DEA3-BB6F-5D03-FF8B34EF349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0" imgW="401" imgH="401" progId="TCLayout.ActiveDocument.1">
                  <p:embed/>
                </p:oleObj>
              </mc:Choice>
              <mc:Fallback>
                <p:oleObj name="think-cell 幻灯片" r:id="rId10" imgW="401" imgH="401" progId="TCLayout.ActiveDocument.1">
                  <p:embed/>
                  <p:pic>
                    <p:nvPicPr>
                      <p:cNvPr id="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006903C-DEA3-BB6F-5D03-FF8B34EF34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A2C96E1A-F1DA-0FE6-D668-409B24160D86}"/>
              </a:ext>
            </a:extLst>
          </p:cNvPr>
          <p:cNvSpPr txBox="1"/>
          <p:nvPr/>
        </p:nvSpPr>
        <p:spPr>
          <a:xfrm>
            <a:off x="158751" y="1486366"/>
            <a:ext cx="1239838" cy="112542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Business</a:t>
            </a:r>
          </a:p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&amp;</a:t>
            </a:r>
          </a:p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Products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B98E9E9-F222-6EC2-D500-F4FDEA6D1152}"/>
              </a:ext>
            </a:extLst>
          </p:cNvPr>
          <p:cNvSpPr txBox="1"/>
          <p:nvPr/>
        </p:nvSpPr>
        <p:spPr>
          <a:xfrm>
            <a:off x="158751" y="3824770"/>
            <a:ext cx="1239838" cy="9604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Advantages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6DB348E-3544-E762-A941-FB9C6387F7AB}"/>
              </a:ext>
            </a:extLst>
          </p:cNvPr>
          <p:cNvSpPr txBox="1"/>
          <p:nvPr/>
        </p:nvSpPr>
        <p:spPr>
          <a:xfrm>
            <a:off x="158751" y="4875698"/>
            <a:ext cx="1239838" cy="14943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Progress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21" name="直线连接符 8">
            <a:extLst>
              <a:ext uri="{FF2B5EF4-FFF2-40B4-BE49-F238E27FC236}">
                <a16:creationId xmlns:a16="http://schemas.microsoft.com/office/drawing/2014/main" id="{75CCDDAC-1A77-0038-814A-258E1A412810}"/>
              </a:ext>
            </a:extLst>
          </p:cNvPr>
          <p:cNvCxnSpPr>
            <a:cxnSpLocks/>
          </p:cNvCxnSpPr>
          <p:nvPr/>
        </p:nvCxnSpPr>
        <p:spPr>
          <a:xfrm>
            <a:off x="1636713" y="1308628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4F5DB464-4368-B2A7-5F21-74F11D6F402D}"/>
              </a:ext>
            </a:extLst>
          </p:cNvPr>
          <p:cNvSpPr txBox="1"/>
          <p:nvPr/>
        </p:nvSpPr>
        <p:spPr>
          <a:xfrm>
            <a:off x="1644650" y="5362143"/>
            <a:ext cx="3057525" cy="70127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Dec 24: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Shipped 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15k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chiplets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in the past 18 months;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26E: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First high-volume customers.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8DDDD8F-872A-C279-3780-A3E58A04E1A7}"/>
              </a:ext>
            </a:extLst>
          </p:cNvPr>
          <p:cNvSpPr txBox="1"/>
          <p:nvPr/>
        </p:nvSpPr>
        <p:spPr>
          <a:xfrm>
            <a:off x="1636713" y="1486366"/>
            <a:ext cx="2376488" cy="35322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 I/O (OIO)</a:t>
            </a:r>
            <a:r>
              <a:rPr lang="zh-CN" altLang="en-US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i="1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chiplets</a:t>
            </a:r>
            <a:r>
              <a:rPr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sz="1400" i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130781B-680E-9A07-7865-989E30193041}"/>
              </a:ext>
            </a:extLst>
          </p:cNvPr>
          <p:cNvSpPr txBox="1"/>
          <p:nvPr/>
        </p:nvSpPr>
        <p:spPr>
          <a:xfrm>
            <a:off x="1644649" y="3934764"/>
            <a:ext cx="3154565" cy="1068002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Technology integrated into PCIe 6.0 standard;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Ecosystem barrier.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9BD1CE0F-036D-D634-82B5-E3757CC9764E}"/>
              </a:ext>
            </a:extLst>
          </p:cNvPr>
          <p:cNvGrpSpPr/>
          <p:nvPr/>
        </p:nvGrpSpPr>
        <p:grpSpPr>
          <a:xfrm>
            <a:off x="1701800" y="915608"/>
            <a:ext cx="1779588" cy="338554"/>
            <a:chOff x="4871320" y="978623"/>
            <a:chExt cx="1779748" cy="338554"/>
          </a:xfrm>
        </p:grpSpPr>
        <p:pic>
          <p:nvPicPr>
            <p:cNvPr id="36" name="图片 35">
              <a:extLst>
                <a:ext uri="{FF2B5EF4-FFF2-40B4-BE49-F238E27FC236}">
                  <a16:creationId xmlns:a16="http://schemas.microsoft.com/office/drawing/2014/main" id="{6C57D74D-D091-8361-DAE9-2A8DD4AA2A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871320" y="1000764"/>
              <a:ext cx="775992" cy="216870"/>
            </a:xfrm>
            <a:prstGeom prst="rect">
              <a:avLst/>
            </a:prstGeom>
          </p:spPr>
        </p:pic>
        <p:sp>
          <p:nvSpPr>
            <p:cNvPr id="37" name="Rectangle 13">
              <a:extLst>
                <a:ext uri="{FF2B5EF4-FFF2-40B4-BE49-F238E27FC236}">
                  <a16:creationId xmlns:a16="http://schemas.microsoft.com/office/drawing/2014/main" id="{EC64C46F-52A9-22E0-8C6F-190BEDEE89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8157" y="978623"/>
              <a:ext cx="93291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15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FE66ED0C-37F1-C360-26FD-F2CE7F3374C2}"/>
              </a:ext>
            </a:extLst>
          </p:cNvPr>
          <p:cNvGrpSpPr/>
          <p:nvPr/>
        </p:nvGrpSpPr>
        <p:grpSpPr>
          <a:xfrm>
            <a:off x="5105400" y="870274"/>
            <a:ext cx="2054225" cy="366882"/>
            <a:chOff x="7574598" y="916125"/>
            <a:chExt cx="2054042" cy="366882"/>
          </a:xfrm>
        </p:grpSpPr>
        <p:pic>
          <p:nvPicPr>
            <p:cNvPr id="38" name="图片 37">
              <a:extLst>
                <a:ext uri="{FF2B5EF4-FFF2-40B4-BE49-F238E27FC236}">
                  <a16:creationId xmlns:a16="http://schemas.microsoft.com/office/drawing/2014/main" id="{746D4CA6-B944-2A49-7700-3DE63249BA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574598" y="916125"/>
              <a:ext cx="1229948" cy="279934"/>
            </a:xfrm>
            <a:prstGeom prst="rect">
              <a:avLst/>
            </a:prstGeom>
          </p:spPr>
        </p:pic>
        <p:sp>
          <p:nvSpPr>
            <p:cNvPr id="39" name="Rectangle 13">
              <a:extLst>
                <a:ext uri="{FF2B5EF4-FFF2-40B4-BE49-F238E27FC236}">
                  <a16:creationId xmlns:a16="http://schemas.microsoft.com/office/drawing/2014/main" id="{60A6EFAC-5A16-8E85-FB5E-2D1131AD56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0294" y="944453"/>
              <a:ext cx="8783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70258B20-51AD-AF52-1B9B-568FE334D687}"/>
              </a:ext>
            </a:extLst>
          </p:cNvPr>
          <p:cNvGrpSpPr/>
          <p:nvPr/>
        </p:nvGrpSpPr>
        <p:grpSpPr>
          <a:xfrm>
            <a:off x="8672513" y="894588"/>
            <a:ext cx="2016125" cy="338554"/>
            <a:chOff x="1471613" y="4870565"/>
            <a:chExt cx="2015690" cy="338554"/>
          </a:xfrm>
        </p:grpSpPr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1985D077-26FB-7C40-A1F9-A3B94DB84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471613" y="4886103"/>
              <a:ext cx="1108830" cy="230637"/>
            </a:xfrm>
            <a:prstGeom prst="rect">
              <a:avLst/>
            </a:prstGeom>
          </p:spPr>
        </p:pic>
        <p:sp>
          <p:nvSpPr>
            <p:cNvPr id="42" name="Rectangle 13">
              <a:extLst>
                <a:ext uri="{FF2B5EF4-FFF2-40B4-BE49-F238E27FC236}">
                  <a16:creationId xmlns:a16="http://schemas.microsoft.com/office/drawing/2014/main" id="{0791F730-C783-9438-AB74-428608F73B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957" y="4870565"/>
              <a:ext cx="8783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17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45" name="文本框 44">
            <a:extLst>
              <a:ext uri="{FF2B5EF4-FFF2-40B4-BE49-F238E27FC236}">
                <a16:creationId xmlns:a16="http://schemas.microsoft.com/office/drawing/2014/main" id="{0EAE0ED8-4AD1-22C5-67BE-5576BDA33927}"/>
              </a:ext>
            </a:extLst>
          </p:cNvPr>
          <p:cNvSpPr txBox="1"/>
          <p:nvPr/>
        </p:nvSpPr>
        <p:spPr>
          <a:xfrm>
            <a:off x="165211" y="2708925"/>
            <a:ext cx="1239838" cy="41834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Funding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DC790383-6D01-E8D6-2127-94981BC7B0E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00200" y="1768049"/>
            <a:ext cx="823913" cy="605005"/>
          </a:xfrm>
          <a:prstGeom prst="rect">
            <a:avLst/>
          </a:prstGeom>
        </p:spPr>
      </p:pic>
      <p:sp>
        <p:nvSpPr>
          <p:cNvPr id="51" name="文本框 50">
            <a:extLst>
              <a:ext uri="{FF2B5EF4-FFF2-40B4-BE49-F238E27FC236}">
                <a16:creationId xmlns:a16="http://schemas.microsoft.com/office/drawing/2014/main" id="{F1D58D5E-2AE8-B0D2-E291-073374B3B620}"/>
              </a:ext>
            </a:extLst>
          </p:cNvPr>
          <p:cNvSpPr txBox="1"/>
          <p:nvPr/>
        </p:nvSpPr>
        <p:spPr>
          <a:xfrm>
            <a:off x="2592387" y="1803591"/>
            <a:ext cx="2284413" cy="60528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512 Gbps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OIO bandwidth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Ultra-low power: 4.9pJ/bit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5EB99328-D669-B148-800F-2EA5A67290D4}"/>
              </a:ext>
            </a:extLst>
          </p:cNvPr>
          <p:cNvGrpSpPr/>
          <p:nvPr/>
        </p:nvGrpSpPr>
        <p:grpSpPr>
          <a:xfrm>
            <a:off x="1037636" y="2779599"/>
            <a:ext cx="1327150" cy="276999"/>
            <a:chOff x="1273261" y="3094553"/>
            <a:chExt cx="1327328" cy="276999"/>
          </a:xfrm>
        </p:grpSpPr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0AA0816F-B6A4-6F80-33DF-F68480D717AA}"/>
                </a:ext>
              </a:extLst>
            </p:cNvPr>
            <p:cNvSpPr/>
            <p:nvPr/>
          </p:nvSpPr>
          <p:spPr>
            <a:xfrm>
              <a:off x="1822017" y="3112143"/>
              <a:ext cx="241271" cy="241271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FC31A8D4-0D51-3024-0A67-56BF639BAFC5}"/>
                </a:ext>
              </a:extLst>
            </p:cNvPr>
            <p:cNvSpPr txBox="1"/>
            <p:nvPr/>
          </p:nvSpPr>
          <p:spPr>
            <a:xfrm>
              <a:off x="1273261" y="3094553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1B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8" name="文本框 57">
            <a:extLst>
              <a:ext uri="{FF2B5EF4-FFF2-40B4-BE49-F238E27FC236}">
                <a16:creationId xmlns:a16="http://schemas.microsoft.com/office/drawing/2014/main" id="{F061A1CC-F321-E6C8-9895-C3399A1A7B16}"/>
              </a:ext>
            </a:extLst>
          </p:cNvPr>
          <p:cNvSpPr txBox="1"/>
          <p:nvPr/>
        </p:nvSpPr>
        <p:spPr>
          <a:xfrm>
            <a:off x="1858374" y="2764210"/>
            <a:ext cx="24288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Series D (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Dec </a:t>
            </a: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24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):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$155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mn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249A1208-8AF8-48B8-6175-B375D8C10719}"/>
              </a:ext>
            </a:extLst>
          </p:cNvPr>
          <p:cNvSpPr txBox="1"/>
          <p:nvPr/>
        </p:nvSpPr>
        <p:spPr>
          <a:xfrm>
            <a:off x="1938338" y="4892075"/>
            <a:ext cx="2787650" cy="306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POC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=&gt; Mass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Production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3EF63949-AFB1-8196-9F47-41741ED38C9C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655763" y="49609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9" name="弧 155">
            <a:extLst>
              <a:ext uri="{FF2B5EF4-FFF2-40B4-BE49-F238E27FC236}">
                <a16:creationId xmlns:a16="http://schemas.microsoft.com/office/drawing/2014/main" id="{A9675A1C-5E00-3110-9817-7EA8CBBD261C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1655763" y="4960938"/>
            <a:ext cx="187325" cy="187325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cxnSp>
        <p:nvCxnSpPr>
          <p:cNvPr id="71" name="直线连接符 8">
            <a:extLst>
              <a:ext uri="{FF2B5EF4-FFF2-40B4-BE49-F238E27FC236}">
                <a16:creationId xmlns:a16="http://schemas.microsoft.com/office/drawing/2014/main" id="{F7ADC0A8-7C24-55D5-397D-D84E5B077D50}"/>
              </a:ext>
            </a:extLst>
          </p:cNvPr>
          <p:cNvCxnSpPr>
            <a:cxnSpLocks/>
          </p:cNvCxnSpPr>
          <p:nvPr/>
        </p:nvCxnSpPr>
        <p:spPr>
          <a:xfrm>
            <a:off x="5080000" y="1308628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连接符 8">
            <a:extLst>
              <a:ext uri="{FF2B5EF4-FFF2-40B4-BE49-F238E27FC236}">
                <a16:creationId xmlns:a16="http://schemas.microsoft.com/office/drawing/2014/main" id="{88EC6371-1866-9525-F70C-0F603C9B81F0}"/>
              </a:ext>
            </a:extLst>
          </p:cNvPr>
          <p:cNvCxnSpPr>
            <a:cxnSpLocks/>
          </p:cNvCxnSpPr>
          <p:nvPr/>
        </p:nvCxnSpPr>
        <p:spPr>
          <a:xfrm>
            <a:off x="8645525" y="1308628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>
            <a:extLst>
              <a:ext uri="{FF2B5EF4-FFF2-40B4-BE49-F238E27FC236}">
                <a16:creationId xmlns:a16="http://schemas.microsoft.com/office/drawing/2014/main" id="{E734AF3D-4AF0-C4A4-A322-B9EC79C23D38}"/>
              </a:ext>
            </a:extLst>
          </p:cNvPr>
          <p:cNvSpPr txBox="1"/>
          <p:nvPr/>
        </p:nvSpPr>
        <p:spPr>
          <a:xfrm>
            <a:off x="5094288" y="5362575"/>
            <a:ext cx="3057525" cy="7000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H2 25: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Sampling starts;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27E: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Mass production.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B4DEF997-7753-29ED-F4F2-FF7A07D1E260}"/>
              </a:ext>
            </a:extLst>
          </p:cNvPr>
          <p:cNvSpPr txBox="1"/>
          <p:nvPr/>
        </p:nvSpPr>
        <p:spPr>
          <a:xfrm>
            <a:off x="5094288" y="3935413"/>
            <a:ext cx="3081338" cy="10668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Systematic OIO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with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long R&amp;D cycle;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Cross-layer solution.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B7E1F7AF-0656-5197-C748-0CB14DAA1B4E}"/>
              </a:ext>
            </a:extLst>
          </p:cNvPr>
          <p:cNvSpPr txBox="1"/>
          <p:nvPr/>
        </p:nvSpPr>
        <p:spPr>
          <a:xfrm>
            <a:off x="5567363" y="2764210"/>
            <a:ext cx="24288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Series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C1(Feb 25):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$250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mn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0343A558-C9B2-0E84-CDD0-EC5665CE5FE4}"/>
              </a:ext>
            </a:extLst>
          </p:cNvPr>
          <p:cNvSpPr txBox="1"/>
          <p:nvPr/>
        </p:nvSpPr>
        <p:spPr>
          <a:xfrm>
            <a:off x="5387975" y="4891981"/>
            <a:ext cx="27876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Certify =&gt;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Design-in / Early Proto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DA5DE629-AF42-C3FB-989A-F78A0461D4EB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5105400" y="49609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5" name="弧 155">
            <a:extLst>
              <a:ext uri="{FF2B5EF4-FFF2-40B4-BE49-F238E27FC236}">
                <a16:creationId xmlns:a16="http://schemas.microsoft.com/office/drawing/2014/main" id="{F7CED1C8-DF9A-D515-1469-E0B2DADE6438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5105400" y="4960938"/>
            <a:ext cx="187324" cy="187324"/>
          </a:xfrm>
          <a:prstGeom prst="arc">
            <a:avLst>
              <a:gd name="adj1" fmla="val 16200000"/>
              <a:gd name="adj2" fmla="val 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37E61C1B-727E-B79E-1874-49BDB12D3A5D}"/>
              </a:ext>
            </a:extLst>
          </p:cNvPr>
          <p:cNvSpPr txBox="1"/>
          <p:nvPr/>
        </p:nvSpPr>
        <p:spPr>
          <a:xfrm>
            <a:off x="8661400" y="5362575"/>
            <a:ext cx="3169463" cy="7000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25 Summer: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interposer shipment;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1400" b="1" dirty="0">
                <a:solidFill>
                  <a:srgbClr val="000000"/>
                </a:solidFill>
                <a:cs typeface="+mn-ea"/>
                <a:sym typeface="+mn-lt"/>
              </a:rPr>
              <a:t>26</a:t>
            </a: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E:</a:t>
            </a:r>
            <a:r>
              <a:rPr lang="zh-CN" altLang="zh-CN" sz="1400" b="1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L200 CPO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cs typeface="+mn-ea"/>
                <a:sym typeface="+mn-lt"/>
              </a:rPr>
              <a:t>chiplets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 shipment.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85AEAEA9-F6E7-AD94-3562-1523E8BDA2FE}"/>
              </a:ext>
            </a:extLst>
          </p:cNvPr>
          <p:cNvSpPr txBox="1"/>
          <p:nvPr/>
        </p:nvSpPr>
        <p:spPr>
          <a:xfrm>
            <a:off x="8661400" y="3935413"/>
            <a:ext cx="3081338" cy="10668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>
                    <a:lumMod val="10000"/>
                  </a:schemeClr>
                </a:solidFill>
                <a:latin typeface="Inter"/>
              </a:defRPr>
            </a:lvl1pPr>
          </a:lstStyle>
          <a:p>
            <a:r>
              <a:rPr lang="en-US" altLang="zh-CN" dirty="0">
                <a:latin typeface="+mn-lt"/>
                <a:cs typeface="+mn-ea"/>
                <a:sym typeface="+mn-lt"/>
              </a:rPr>
              <a:t>Compatible with Broadcom;</a:t>
            </a:r>
          </a:p>
          <a:p>
            <a:r>
              <a:rPr lang="en-US" altLang="zh-CN" dirty="0">
                <a:latin typeface="+mn-lt"/>
                <a:cs typeface="+mn-ea"/>
                <a:sym typeface="+mn-lt"/>
              </a:rPr>
              <a:t>Abstracts packaging layer into hardware (controllable delivery).</a:t>
            </a:r>
          </a:p>
          <a:p>
            <a:endParaRPr lang="zh-CN" altLang="zh-CN" dirty="0">
              <a:latin typeface="+mn-lt"/>
              <a:cs typeface="+mn-ea"/>
              <a:sym typeface="+mn-lt"/>
            </a:endParaRPr>
          </a:p>
          <a:p>
            <a:endParaRPr lang="en-US" altLang="zh-CN" dirty="0">
              <a:latin typeface="+mn-lt"/>
              <a:cs typeface="+mn-ea"/>
              <a:sym typeface="+mn-lt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8CED92E6-39C0-1B3E-61A7-E18D0BF438D1}"/>
              </a:ext>
            </a:extLst>
          </p:cNvPr>
          <p:cNvSpPr txBox="1"/>
          <p:nvPr/>
        </p:nvSpPr>
        <p:spPr>
          <a:xfrm>
            <a:off x="9174163" y="2764210"/>
            <a:ext cx="24288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Series D (Oct 24)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: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$4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00mn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C08A4C39-DD83-2D59-5FC2-97D272039D44}"/>
              </a:ext>
            </a:extLst>
          </p:cNvPr>
          <p:cNvSpPr txBox="1"/>
          <p:nvPr/>
        </p:nvSpPr>
        <p:spPr>
          <a:xfrm>
            <a:off x="8955088" y="4891980"/>
            <a:ext cx="27876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Certify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=&gt;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Design-in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58A3DA74-1DF6-FBE5-C0CA-C8E5804EC91E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8672513" y="49609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5" name="弧 155">
            <a:extLst>
              <a:ext uri="{FF2B5EF4-FFF2-40B4-BE49-F238E27FC236}">
                <a16:creationId xmlns:a16="http://schemas.microsoft.com/office/drawing/2014/main" id="{B8B7A8A5-9C40-2882-C5BB-FF1490D0941B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8672513" y="4960938"/>
            <a:ext cx="187324" cy="187324"/>
          </a:xfrm>
          <a:prstGeom prst="arc">
            <a:avLst>
              <a:gd name="adj1" fmla="val 16200000"/>
              <a:gd name="adj2" fmla="val 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9EFFA177-F541-A695-7585-FB080D35D653}"/>
              </a:ext>
            </a:extLst>
          </p:cNvPr>
          <p:cNvSpPr txBox="1"/>
          <p:nvPr/>
        </p:nvSpPr>
        <p:spPr>
          <a:xfrm>
            <a:off x="1566862" y="2368481"/>
            <a:ext cx="13271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TeraPHY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4EF3A6E5-B955-758D-F599-E5FB41637753}"/>
              </a:ext>
            </a:extLst>
          </p:cNvPr>
          <p:cNvSpPr txBox="1"/>
          <p:nvPr/>
        </p:nvSpPr>
        <p:spPr>
          <a:xfrm>
            <a:off x="5083175" y="1476692"/>
            <a:ext cx="2660650" cy="35322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>
              <a:spcBef>
                <a:spcPts val="300"/>
              </a:spcBef>
              <a:spcAft>
                <a:spcPts val="300"/>
              </a:spcAft>
              <a:defRPr sz="1400">
                <a:solidFill>
                  <a:schemeClr val="accent6">
                    <a:lumMod val="10000"/>
                  </a:schemeClr>
                </a:solidFill>
              </a:defRPr>
            </a:lvl1pPr>
          </a:lstStyle>
          <a:p>
            <a:r>
              <a:rPr lang="en-US" altLang="zh-CN" i="1" dirty="0">
                <a:cs typeface="+mn-ea"/>
                <a:sym typeface="+mn-lt"/>
              </a:rPr>
              <a:t>​Optical full-stack solutions.</a:t>
            </a:r>
            <a:endParaRPr lang="zh-CN" altLang="zh-CN" i="1" dirty="0">
              <a:cs typeface="+mn-ea"/>
              <a:sym typeface="+mn-lt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21ECC610-1F85-244B-9C34-AC12033D4EB5}"/>
              </a:ext>
            </a:extLst>
          </p:cNvPr>
          <p:cNvSpPr txBox="1"/>
          <p:nvPr/>
        </p:nvSpPr>
        <p:spPr>
          <a:xfrm>
            <a:off x="5843588" y="1803591"/>
            <a:ext cx="3019425" cy="60528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Card: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PFLink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，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14.4 Tbps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/die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Switch: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PFSwitch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DA097463-9DF5-73B2-E926-D05A134AF1DA}"/>
              </a:ext>
            </a:extLst>
          </p:cNvPr>
          <p:cNvSpPr txBox="1"/>
          <p:nvPr/>
        </p:nvSpPr>
        <p:spPr>
          <a:xfrm>
            <a:off x="4979988" y="2378171"/>
            <a:ext cx="19002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Photonic Fabric</a:t>
            </a:r>
            <a:endParaRPr lang="zh-CN" altLang="en-US" sz="14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720F89C7-9067-E627-E2C0-8373F8D7FC5B}"/>
              </a:ext>
            </a:extLst>
          </p:cNvPr>
          <p:cNvSpPr txBox="1"/>
          <p:nvPr/>
        </p:nvSpPr>
        <p:spPr>
          <a:xfrm>
            <a:off x="8636000" y="1475715"/>
            <a:ext cx="2376488" cy="35322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CPO/OIO passage interposer.</a:t>
            </a:r>
            <a:endParaRPr kumimoji="1" lang="en-US" altLang="zh-CN" sz="1400" i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18FBE9A6-47BE-77AC-A89A-2293D5B1A9C1}"/>
              </a:ext>
            </a:extLst>
          </p:cNvPr>
          <p:cNvSpPr txBox="1"/>
          <p:nvPr/>
        </p:nvSpPr>
        <p:spPr>
          <a:xfrm>
            <a:off x="8564563" y="2405772"/>
            <a:ext cx="15462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Passage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Series</a:t>
            </a:r>
            <a:endParaRPr lang="zh-CN" altLang="en-US" sz="1400" dirty="0">
              <a:cs typeface="+mn-ea"/>
              <a:sym typeface="+mn-lt"/>
            </a:endParaRPr>
          </a:p>
        </p:txBody>
      </p:sp>
      <p:pic>
        <p:nvPicPr>
          <p:cNvPr id="108" name="图片 107" descr="图形用户界面&#10;&#10;AI 生成的内容可能不正确。">
            <a:extLst>
              <a:ext uri="{FF2B5EF4-FFF2-40B4-BE49-F238E27FC236}">
                <a16:creationId xmlns:a16="http://schemas.microsoft.com/office/drawing/2014/main" id="{D18E7163-7568-1332-ADA2-20B9462E4164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8" t="26750" r="64977" b="23516"/>
          <a:stretch/>
        </p:blipFill>
        <p:spPr>
          <a:xfrm>
            <a:off x="5153025" y="1813667"/>
            <a:ext cx="561975" cy="504264"/>
          </a:xfrm>
          <a:prstGeom prst="rect">
            <a:avLst/>
          </a:prstGeom>
        </p:spPr>
      </p:pic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BEFDDCB4-14ED-F11C-C05A-2323A09FEEA5}"/>
              </a:ext>
            </a:extLst>
          </p:cNvPr>
          <p:cNvGrpSpPr/>
          <p:nvPr/>
        </p:nvGrpSpPr>
        <p:grpSpPr>
          <a:xfrm>
            <a:off x="4649788" y="2738098"/>
            <a:ext cx="1327150" cy="360000"/>
            <a:chOff x="1356662" y="2963740"/>
            <a:chExt cx="1327328" cy="360000"/>
          </a:xfrm>
        </p:grpSpPr>
        <p:sp>
          <p:nvSpPr>
            <p:cNvPr id="112" name="椭圆 111">
              <a:extLst>
                <a:ext uri="{FF2B5EF4-FFF2-40B4-BE49-F238E27FC236}">
                  <a16:creationId xmlns:a16="http://schemas.microsoft.com/office/drawing/2014/main" id="{44EC7DC0-0776-FC47-C141-181ECFE8467A}"/>
                </a:ext>
              </a:extLst>
            </p:cNvPr>
            <p:cNvSpPr/>
            <p:nvPr/>
          </p:nvSpPr>
          <p:spPr>
            <a:xfrm>
              <a:off x="1840326" y="2963740"/>
              <a:ext cx="360000" cy="36000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944B58E0-5415-7F5A-9860-ABE21802A1A9}"/>
                </a:ext>
              </a:extLst>
            </p:cNvPr>
            <p:cNvSpPr txBox="1"/>
            <p:nvPr/>
          </p:nvSpPr>
          <p:spPr>
            <a:xfrm>
              <a:off x="1356662" y="3003174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2.5B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23" name="组合 122">
            <a:extLst>
              <a:ext uri="{FF2B5EF4-FFF2-40B4-BE49-F238E27FC236}">
                <a16:creationId xmlns:a16="http://schemas.microsoft.com/office/drawing/2014/main" id="{A41F71BA-1795-72A6-A253-B75038283210}"/>
              </a:ext>
            </a:extLst>
          </p:cNvPr>
          <p:cNvGrpSpPr/>
          <p:nvPr/>
        </p:nvGrpSpPr>
        <p:grpSpPr>
          <a:xfrm>
            <a:off x="8215313" y="2680498"/>
            <a:ext cx="1327150" cy="475200"/>
            <a:chOff x="1351662" y="2960791"/>
            <a:chExt cx="1327328" cy="475200"/>
          </a:xfrm>
        </p:grpSpPr>
        <p:sp>
          <p:nvSpPr>
            <p:cNvPr id="124" name="椭圆 123">
              <a:extLst>
                <a:ext uri="{FF2B5EF4-FFF2-40B4-BE49-F238E27FC236}">
                  <a16:creationId xmlns:a16="http://schemas.microsoft.com/office/drawing/2014/main" id="{F3FDD1E8-9392-7086-DF50-C82AA3017F9C}"/>
                </a:ext>
              </a:extLst>
            </p:cNvPr>
            <p:cNvSpPr/>
            <p:nvPr/>
          </p:nvSpPr>
          <p:spPr>
            <a:xfrm>
              <a:off x="1777726" y="2960791"/>
              <a:ext cx="475200" cy="47520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6F4AD91E-6DFA-D07A-E66B-BDC8A00221AE}"/>
                </a:ext>
              </a:extLst>
            </p:cNvPr>
            <p:cNvSpPr txBox="1"/>
            <p:nvPr/>
          </p:nvSpPr>
          <p:spPr>
            <a:xfrm>
              <a:off x="1351662" y="3053340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4.4B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pic>
        <p:nvPicPr>
          <p:cNvPr id="6163" name="Picture 19">
            <a:extLst>
              <a:ext uri="{FF2B5EF4-FFF2-40B4-BE49-F238E27FC236}">
                <a16:creationId xmlns:a16="http://schemas.microsoft.com/office/drawing/2014/main" id="{AD878633-2AD6-E739-E6C8-38AD1A111E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7438" y="1782164"/>
            <a:ext cx="509588" cy="614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5" name="Picture 21">
            <a:extLst>
              <a:ext uri="{FF2B5EF4-FFF2-40B4-BE49-F238E27FC236}">
                <a16:creationId xmlns:a16="http://schemas.microsoft.com/office/drawing/2014/main" id="{51A417A4-409C-DF23-E53F-18640DC0F4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8475" y="1851597"/>
            <a:ext cx="593725" cy="50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50" name="Rectangle 23">
            <a:extLst>
              <a:ext uri="{FF2B5EF4-FFF2-40B4-BE49-F238E27FC236}">
                <a16:creationId xmlns:a16="http://schemas.microsoft.com/office/drawing/2014/main" id="{AB8AC76C-CB4C-7FA2-24C8-8185062CC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3649" y="1803591"/>
            <a:ext cx="1751013" cy="340087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Proprietary silicon photonics chip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Package-level solution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153" name="标题 1">
            <a:extLst>
              <a:ext uri="{FF2B5EF4-FFF2-40B4-BE49-F238E27FC236}">
                <a16:creationId xmlns:a16="http://schemas.microsoft.com/office/drawing/2014/main" id="{6D5A0A72-7484-B97A-9644-3167D8F0CCFC}"/>
              </a:ext>
            </a:extLst>
          </p:cNvPr>
          <p:cNvSpPr txBox="1">
            <a:spLocks/>
          </p:cNvSpPr>
          <p:nvPr/>
        </p:nvSpPr>
        <p:spPr>
          <a:xfrm>
            <a:off x="158750" y="172212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 startups comparison: Ayar Labs, </a:t>
            </a:r>
            <a:r>
              <a:rPr lang="en-US" altLang="zh-CN" dirty="0" err="1">
                <a:latin typeface="+mn-lt"/>
                <a:ea typeface="+mn-ea"/>
                <a:cs typeface="+mn-ea"/>
                <a:sym typeface="+mn-lt"/>
              </a:rPr>
              <a:t>Lightmatter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, and Celestial AI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33329A8-FDD6-6B2F-DE20-8D1826530D09}"/>
              </a:ext>
            </a:extLst>
          </p:cNvPr>
          <p:cNvSpPr txBox="1"/>
          <p:nvPr/>
        </p:nvSpPr>
        <p:spPr>
          <a:xfrm>
            <a:off x="158750" y="3211022"/>
            <a:ext cx="1239838" cy="52330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Strategic Investor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B73634F-AAE9-97EF-5E5A-21428062D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141" y="3312007"/>
            <a:ext cx="576559" cy="321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像" descr="图像">
            <a:extLst>
              <a:ext uri="{FF2B5EF4-FFF2-40B4-BE49-F238E27FC236}">
                <a16:creationId xmlns:a16="http://schemas.microsoft.com/office/drawing/2014/main" id="{C7B9ACD0-CCD1-09E4-FBFA-ACE0D3086EE1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397292" y="3299205"/>
            <a:ext cx="436151" cy="34693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8" name="Picture 4" descr="AMD Logo">
            <a:extLst>
              <a:ext uri="{FF2B5EF4-FFF2-40B4-BE49-F238E27FC236}">
                <a16:creationId xmlns:a16="http://schemas.microsoft.com/office/drawing/2014/main" id="{38F3A0F8-CCB4-9D45-CDD3-2F9C11BE7A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035" y="3305833"/>
            <a:ext cx="592838" cy="333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B553CFF-0616-1EC6-887A-889163CE22C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8772" b="89474" l="5514" r="92231">
                        <a14:foregroundMark x1="6516" y1="49123" x2="6516" y2="49123"/>
                        <a14:foregroundMark x1="5514" y1="84211" x2="5514" y2="84211"/>
                        <a14:foregroundMark x1="18797" y1="67544" x2="18797" y2="67544"/>
                        <a14:foregroundMark x1="20802" y1="49123" x2="20802" y2="49123"/>
                        <a14:foregroundMark x1="20802" y1="35965" x2="20802" y2="35965"/>
                        <a14:foregroundMark x1="26817" y1="50000" x2="26817" y2="50000"/>
                        <a14:foregroundMark x1="33333" y1="45614" x2="33333" y2="45614"/>
                        <a14:foregroundMark x1="36341" y1="50877" x2="36341" y2="50877"/>
                        <a14:foregroundMark x1="41103" y1="46491" x2="41103" y2="46491"/>
                        <a14:foregroundMark x1="47118" y1="46491" x2="47118" y2="46491"/>
                        <a14:foregroundMark x1="53383" y1="47368" x2="53383" y2="47368"/>
                        <a14:foregroundMark x1="55138" y1="46491" x2="55138" y2="46491"/>
                        <a14:foregroundMark x1="59900" y1="51754" x2="59900" y2="51754"/>
                        <a14:foregroundMark x1="65414" y1="52632" x2="65414" y2="52632"/>
                        <a14:foregroundMark x1="70677" y1="50000" x2="70677" y2="50000"/>
                        <a14:foregroundMark x1="76190" y1="48246" x2="76190" y2="48246"/>
                        <a14:foregroundMark x1="81955" y1="48246" x2="81955" y2="48246"/>
                        <a14:foregroundMark x1="85213" y1="44737" x2="85213" y2="44737"/>
                        <a14:foregroundMark x1="84962" y1="36842" x2="84962" y2="36842"/>
                        <a14:foregroundMark x1="87218" y1="50877" x2="87218" y2="50877"/>
                        <a14:foregroundMark x1="92231" y1="50000" x2="92231" y2="50000"/>
                        <a14:foregroundMark x1="90727" y1="58772" x2="90727" y2="587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77465" y="3334308"/>
            <a:ext cx="968567" cy="276733"/>
          </a:xfrm>
          <a:prstGeom prst="rect">
            <a:avLst/>
          </a:prstGeom>
        </p:spPr>
      </p:pic>
      <p:pic>
        <p:nvPicPr>
          <p:cNvPr id="1030" name="Picture 6" descr="Samsung Logo">
            <a:extLst>
              <a:ext uri="{FF2B5EF4-FFF2-40B4-BE49-F238E27FC236}">
                <a16:creationId xmlns:a16="http://schemas.microsoft.com/office/drawing/2014/main" id="{232023B0-8A2B-4B44-B1D5-91C632C51C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443" b="35569"/>
          <a:stretch/>
        </p:blipFill>
        <p:spPr bwMode="auto">
          <a:xfrm>
            <a:off x="6232575" y="3383571"/>
            <a:ext cx="1055774" cy="178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 descr="徽标&#10;&#10;AI 生成的内容可能不正确。">
            <a:extLst>
              <a:ext uri="{FF2B5EF4-FFF2-40B4-BE49-F238E27FC236}">
                <a16:creationId xmlns:a16="http://schemas.microsoft.com/office/drawing/2014/main" id="{1BBFFF2F-46B5-8A89-55F6-726DEB3F13B4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1400" y="3345854"/>
            <a:ext cx="409018" cy="253641"/>
          </a:xfrm>
          <a:prstGeom prst="rect">
            <a:avLst/>
          </a:prstGeom>
        </p:spPr>
      </p:pic>
      <p:pic>
        <p:nvPicPr>
          <p:cNvPr id="11" name="Picture 4" descr="AMD Logo">
            <a:extLst>
              <a:ext uri="{FF2B5EF4-FFF2-40B4-BE49-F238E27FC236}">
                <a16:creationId xmlns:a16="http://schemas.microsoft.com/office/drawing/2014/main" id="{8DC75930-BA75-A601-D653-28C6710FDC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3387" y="3305833"/>
            <a:ext cx="592838" cy="333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2126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E15FAC44-04A3-F476-ECB1-114806092D1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23991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1" imgH="401" progId="TCLayout.ActiveDocument.1">
                  <p:embed/>
                </p:oleObj>
              </mc:Choice>
              <mc:Fallback>
                <p:oleObj name="think-cell 幻灯片" r:id="rId3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15FAC44-04A3-F476-ECB1-114806092D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1A3F24D1-4A69-6A72-CF36-92B5FEA31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Summary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4DDCB0A-C8C1-5B01-5B8E-CFE169B021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C608386-93FF-A04C-41EB-AEBE44E0205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58750" y="2170800"/>
            <a:ext cx="2880641" cy="246221"/>
          </a:xfrm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931262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9187D-0497-D405-6A5F-44F0FEB66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355E215-8BAB-2E41-0118-7D65F37E295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3348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55E215-8BAB-2E41-0118-7D65F37E29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286" name="图片 3285">
            <a:extLst>
              <a:ext uri="{FF2B5EF4-FFF2-40B4-BE49-F238E27FC236}">
                <a16:creationId xmlns:a16="http://schemas.microsoft.com/office/drawing/2014/main" id="{7893C08F-49E8-C725-5321-098D128189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300" y="1506227"/>
            <a:ext cx="2950412" cy="203048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32409746-8D5F-E604-870C-3107F5BD9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DeepSeek: Domestic LLM restricted by GPU interconnection bandwidth; CPO as priority exploration direction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212" name="文本框 3211">
            <a:extLst>
              <a:ext uri="{FF2B5EF4-FFF2-40B4-BE49-F238E27FC236}">
                <a16:creationId xmlns:a16="http://schemas.microsoft.com/office/drawing/2014/main" id="{9DF2FDFD-4D8E-C4C6-BC36-774CD80AFDDE}"/>
              </a:ext>
            </a:extLst>
          </p:cNvPr>
          <p:cNvSpPr txBox="1"/>
          <p:nvPr/>
        </p:nvSpPr>
        <p:spPr>
          <a:xfrm>
            <a:off x="170889" y="6456180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070" name="组合 1069">
            <a:extLst>
              <a:ext uri="{FF2B5EF4-FFF2-40B4-BE49-F238E27FC236}">
                <a16:creationId xmlns:a16="http://schemas.microsoft.com/office/drawing/2014/main" id="{18CF5BA8-680D-6B19-92E9-3E98DC3CADDE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1071" name="文本框 1070">
              <a:extLst>
                <a:ext uri="{FF2B5EF4-FFF2-40B4-BE49-F238E27FC236}">
                  <a16:creationId xmlns:a16="http://schemas.microsoft.com/office/drawing/2014/main" id="{1A1F4844-21CA-DB50-134F-8505D719770D}"/>
                </a:ext>
              </a:extLst>
            </p:cNvPr>
            <p:cNvSpPr txBox="1"/>
            <p:nvPr/>
          </p:nvSpPr>
          <p:spPr>
            <a:xfrm>
              <a:off x="7452360" y="976464"/>
              <a:ext cx="4760043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CPO: A Crucial Solution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72" name="文本框 1071">
              <a:extLst>
                <a:ext uri="{FF2B5EF4-FFF2-40B4-BE49-F238E27FC236}">
                  <a16:creationId xmlns:a16="http://schemas.microsoft.com/office/drawing/2014/main" id="{87D7EAC2-3C6A-9983-D9A7-B032DFDA815B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073" name="直线连接符 38">
              <a:extLst>
                <a:ext uri="{FF2B5EF4-FFF2-40B4-BE49-F238E27FC236}">
                  <a16:creationId xmlns:a16="http://schemas.microsoft.com/office/drawing/2014/main" id="{1A456015-8E49-B27B-DAF9-3D0441F75B4B}"/>
                </a:ext>
              </a:extLst>
            </p:cNvPr>
            <p:cNvCxnSpPr>
              <a:cxnSpLocks/>
            </p:cNvCxnSpPr>
            <p:nvPr/>
          </p:nvCxnSpPr>
          <p:spPr>
            <a:xfrm>
              <a:off x="7334466" y="1307289"/>
              <a:ext cx="4261598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4" name="文本框 1073">
              <a:extLst>
                <a:ext uri="{FF2B5EF4-FFF2-40B4-BE49-F238E27FC236}">
                  <a16:creationId xmlns:a16="http://schemas.microsoft.com/office/drawing/2014/main" id="{3C5AF3D6-4808-2A70-B5F8-79DBF89B1C8E}"/>
                </a:ext>
              </a:extLst>
            </p:cNvPr>
            <p:cNvSpPr txBox="1"/>
            <p:nvPr/>
          </p:nvSpPr>
          <p:spPr>
            <a:xfrm>
              <a:off x="504186" y="971862"/>
              <a:ext cx="5591814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H800 Bandwidth Restricts Training and Inference</a:t>
              </a:r>
            </a:p>
          </p:txBody>
        </p:sp>
        <p:cxnSp>
          <p:nvCxnSpPr>
            <p:cNvPr id="1075" name="直线连接符 38">
              <a:extLst>
                <a:ext uri="{FF2B5EF4-FFF2-40B4-BE49-F238E27FC236}">
                  <a16:creationId xmlns:a16="http://schemas.microsoft.com/office/drawing/2014/main" id="{423E25FF-F267-421A-77E9-3E497D2D8775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6267454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80" name="图片 1079">
            <a:extLst>
              <a:ext uri="{FF2B5EF4-FFF2-40B4-BE49-F238E27FC236}">
                <a16:creationId xmlns:a16="http://schemas.microsoft.com/office/drawing/2014/main" id="{605A53A7-4B1D-6609-5E0A-D463C54CC2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935" y="3788697"/>
            <a:ext cx="2954826" cy="606942"/>
          </a:xfrm>
          <a:prstGeom prst="rect">
            <a:avLst/>
          </a:prstGeom>
        </p:spPr>
      </p:pic>
      <p:sp>
        <p:nvSpPr>
          <p:cNvPr id="1084" name="矩形 1083">
            <a:extLst>
              <a:ext uri="{FF2B5EF4-FFF2-40B4-BE49-F238E27FC236}">
                <a16:creationId xmlns:a16="http://schemas.microsoft.com/office/drawing/2014/main" id="{9DD49CA2-C521-ED3E-E64E-15194E4CBE7F}"/>
              </a:ext>
            </a:extLst>
          </p:cNvPr>
          <p:cNvSpPr/>
          <p:nvPr/>
        </p:nvSpPr>
        <p:spPr>
          <a:xfrm>
            <a:off x="3684893" y="1459137"/>
            <a:ext cx="3051814" cy="2178911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H800 Bandwidth Halved Compared to H100 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① Network architecture: Forced to </a:t>
            </a:r>
            <a:r>
              <a:rPr lang="en-US" altLang="zh-CN" sz="1200" b="1" dirty="0">
                <a:solidFill>
                  <a:srgbClr val="0052D9"/>
                </a:solidFill>
              </a:rPr>
              <a:t>use scale-out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 to compensate for scale-up limitations;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② Training strategy: </a:t>
            </a:r>
            <a:r>
              <a:rPr lang="en-US" altLang="zh-CN" sz="1200" b="1" dirty="0">
                <a:solidFill>
                  <a:srgbClr val="0052D9"/>
                </a:solidFill>
              </a:rPr>
              <a:t>Tensor parallelism abandoned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 due to bandwidth constraints;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③ Inference speed: MoE inference rate is </a:t>
            </a:r>
            <a:r>
              <a:rPr lang="en-US" altLang="zh-CN" sz="1200" b="1" dirty="0">
                <a:solidFill>
                  <a:srgbClr val="0052D9"/>
                </a:solidFill>
              </a:rPr>
              <a:t>1/20th of H100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.</a:t>
            </a:r>
            <a:endParaRPr lang="en-US" altLang="zh-CN" sz="1200" dirty="0">
              <a:solidFill>
                <a:srgbClr val="0052D9"/>
              </a:solidFill>
            </a:endParaRPr>
          </a:p>
        </p:txBody>
      </p:sp>
      <p:sp>
        <p:nvSpPr>
          <p:cNvPr id="3273" name="矩形 3272">
            <a:extLst>
              <a:ext uri="{FF2B5EF4-FFF2-40B4-BE49-F238E27FC236}">
                <a16:creationId xmlns:a16="http://schemas.microsoft.com/office/drawing/2014/main" id="{899AC929-5A30-A3AB-BF52-39EED3210C07}"/>
              </a:ext>
            </a:extLst>
          </p:cNvPr>
          <p:cNvSpPr/>
          <p:nvPr/>
        </p:nvSpPr>
        <p:spPr>
          <a:xfrm>
            <a:off x="2647412" y="1361951"/>
            <a:ext cx="424367" cy="454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rgbClr val="0052D9"/>
                </a:solidFill>
              </a:rPr>
              <a:t>①</a:t>
            </a:r>
          </a:p>
        </p:txBody>
      </p:sp>
      <p:sp>
        <p:nvSpPr>
          <p:cNvPr id="3276" name="矩形 3275">
            <a:extLst>
              <a:ext uri="{FF2B5EF4-FFF2-40B4-BE49-F238E27FC236}">
                <a16:creationId xmlns:a16="http://schemas.microsoft.com/office/drawing/2014/main" id="{9F731F85-68B6-D1A4-A876-DB73F8B0E7DA}"/>
              </a:ext>
            </a:extLst>
          </p:cNvPr>
          <p:cNvSpPr/>
          <p:nvPr/>
        </p:nvSpPr>
        <p:spPr>
          <a:xfrm>
            <a:off x="2647412" y="3638048"/>
            <a:ext cx="424367" cy="454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rgbClr val="0052D9"/>
                </a:solidFill>
              </a:rPr>
              <a:t>②</a:t>
            </a:r>
          </a:p>
        </p:txBody>
      </p:sp>
      <p:grpSp>
        <p:nvGrpSpPr>
          <p:cNvPr id="3298" name="组合 3297">
            <a:extLst>
              <a:ext uri="{FF2B5EF4-FFF2-40B4-BE49-F238E27FC236}">
                <a16:creationId xmlns:a16="http://schemas.microsoft.com/office/drawing/2014/main" id="{8152D523-2D61-850F-90A3-8158B8F50146}"/>
              </a:ext>
            </a:extLst>
          </p:cNvPr>
          <p:cNvGrpSpPr/>
          <p:nvPr/>
        </p:nvGrpSpPr>
        <p:grpSpPr>
          <a:xfrm>
            <a:off x="7667548" y="1361951"/>
            <a:ext cx="3509584" cy="4975726"/>
            <a:chOff x="7440021" y="1361951"/>
            <a:chExt cx="3509584" cy="4975726"/>
          </a:xfrm>
        </p:grpSpPr>
        <p:pic>
          <p:nvPicPr>
            <p:cNvPr id="1060" name="图片 1059">
              <a:extLst>
                <a:ext uri="{FF2B5EF4-FFF2-40B4-BE49-F238E27FC236}">
                  <a16:creationId xmlns:a16="http://schemas.microsoft.com/office/drawing/2014/main" id="{3D68BD0F-5C62-F741-AB7B-A51B8759170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40022" y="1361951"/>
              <a:ext cx="3509583" cy="553199"/>
            </a:xfrm>
            <a:prstGeom prst="rect">
              <a:avLst/>
            </a:prstGeom>
          </p:spPr>
        </p:pic>
        <p:pic>
          <p:nvPicPr>
            <p:cNvPr id="3280" name="图片 3279">
              <a:extLst>
                <a:ext uri="{FF2B5EF4-FFF2-40B4-BE49-F238E27FC236}">
                  <a16:creationId xmlns:a16="http://schemas.microsoft.com/office/drawing/2014/main" id="{52F22F95-49AB-CEF6-78DD-17C43009E22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440021" y="1877370"/>
              <a:ext cx="3444240" cy="4460307"/>
            </a:xfrm>
            <a:prstGeom prst="rect">
              <a:avLst/>
            </a:prstGeom>
          </p:spPr>
        </p:pic>
        <p:sp>
          <p:nvSpPr>
            <p:cNvPr id="3281" name="矩形 3280">
              <a:extLst>
                <a:ext uri="{FF2B5EF4-FFF2-40B4-BE49-F238E27FC236}">
                  <a16:creationId xmlns:a16="http://schemas.microsoft.com/office/drawing/2014/main" id="{561CA96B-9778-1DDA-BC61-51E83F5BE23D}"/>
                </a:ext>
              </a:extLst>
            </p:cNvPr>
            <p:cNvSpPr/>
            <p:nvPr/>
          </p:nvSpPr>
          <p:spPr>
            <a:xfrm>
              <a:off x="7440021" y="1877370"/>
              <a:ext cx="3444240" cy="515310"/>
            </a:xfrm>
            <a:prstGeom prst="rect">
              <a:avLst/>
            </a:prstGeom>
            <a:noFill/>
            <a:ln w="12700"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283" name="图片 3282">
            <a:extLst>
              <a:ext uri="{FF2B5EF4-FFF2-40B4-BE49-F238E27FC236}">
                <a16:creationId xmlns:a16="http://schemas.microsoft.com/office/drawing/2014/main" id="{02301866-6223-7185-3C14-E424A774772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308" y="4379459"/>
            <a:ext cx="2905010" cy="2037599"/>
          </a:xfrm>
          <a:prstGeom prst="rect">
            <a:avLst/>
          </a:prstGeom>
        </p:spPr>
      </p:pic>
      <p:sp>
        <p:nvSpPr>
          <p:cNvPr id="3284" name="矩形 3283">
            <a:extLst>
              <a:ext uri="{FF2B5EF4-FFF2-40B4-BE49-F238E27FC236}">
                <a16:creationId xmlns:a16="http://schemas.microsoft.com/office/drawing/2014/main" id="{8DAB26C1-F4C2-5AAA-6A1E-51EA76B55FC4}"/>
              </a:ext>
            </a:extLst>
          </p:cNvPr>
          <p:cNvSpPr/>
          <p:nvPr/>
        </p:nvSpPr>
        <p:spPr>
          <a:xfrm>
            <a:off x="485307" y="4453447"/>
            <a:ext cx="2924453" cy="636305"/>
          </a:xfrm>
          <a:prstGeom prst="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8" name="矩形 3287">
            <a:extLst>
              <a:ext uri="{FF2B5EF4-FFF2-40B4-BE49-F238E27FC236}">
                <a16:creationId xmlns:a16="http://schemas.microsoft.com/office/drawing/2014/main" id="{C071A4D3-8DAD-CFAE-C121-82EFDD1737AA}"/>
              </a:ext>
            </a:extLst>
          </p:cNvPr>
          <p:cNvSpPr/>
          <p:nvPr/>
        </p:nvSpPr>
        <p:spPr>
          <a:xfrm>
            <a:off x="485306" y="3150106"/>
            <a:ext cx="2924453" cy="411531"/>
          </a:xfrm>
          <a:prstGeom prst="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9" name="矩形 3288">
            <a:extLst>
              <a:ext uri="{FF2B5EF4-FFF2-40B4-BE49-F238E27FC236}">
                <a16:creationId xmlns:a16="http://schemas.microsoft.com/office/drawing/2014/main" id="{2CD404E3-8467-8F3E-99CE-D1A51AD96424}"/>
              </a:ext>
            </a:extLst>
          </p:cNvPr>
          <p:cNvSpPr/>
          <p:nvPr/>
        </p:nvSpPr>
        <p:spPr>
          <a:xfrm>
            <a:off x="485305" y="2392680"/>
            <a:ext cx="2924453" cy="265571"/>
          </a:xfrm>
          <a:prstGeom prst="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297" name="组合 3296">
            <a:extLst>
              <a:ext uri="{FF2B5EF4-FFF2-40B4-BE49-F238E27FC236}">
                <a16:creationId xmlns:a16="http://schemas.microsoft.com/office/drawing/2014/main" id="{50B22EB5-B02F-A552-ED13-D4940411CB7C}"/>
              </a:ext>
            </a:extLst>
          </p:cNvPr>
          <p:cNvGrpSpPr/>
          <p:nvPr/>
        </p:nvGrpSpPr>
        <p:grpSpPr>
          <a:xfrm>
            <a:off x="3575507" y="3653403"/>
            <a:ext cx="3196130" cy="2702932"/>
            <a:chOff x="3575510" y="3926676"/>
            <a:chExt cx="3196130" cy="2702932"/>
          </a:xfrm>
        </p:grpSpPr>
        <p:sp>
          <p:nvSpPr>
            <p:cNvPr id="3277" name="矩形 3276">
              <a:extLst>
                <a:ext uri="{FF2B5EF4-FFF2-40B4-BE49-F238E27FC236}">
                  <a16:creationId xmlns:a16="http://schemas.microsoft.com/office/drawing/2014/main" id="{243AD792-2C35-AB15-EB87-AE1AFCACD99A}"/>
                </a:ext>
              </a:extLst>
            </p:cNvPr>
            <p:cNvSpPr/>
            <p:nvPr/>
          </p:nvSpPr>
          <p:spPr>
            <a:xfrm>
              <a:off x="3575510" y="3926676"/>
              <a:ext cx="424367" cy="4541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dirty="0">
                  <a:solidFill>
                    <a:srgbClr val="0052D9"/>
                  </a:solidFill>
                </a:rPr>
                <a:t>③</a:t>
              </a:r>
            </a:p>
          </p:txBody>
        </p:sp>
        <p:pic>
          <p:nvPicPr>
            <p:cNvPr id="3294" name="图片 3293">
              <a:extLst>
                <a:ext uri="{FF2B5EF4-FFF2-40B4-BE49-F238E27FC236}">
                  <a16:creationId xmlns:a16="http://schemas.microsoft.com/office/drawing/2014/main" id="{260F142E-F2AD-B6D9-F93E-8025E23F3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775777" y="4288289"/>
              <a:ext cx="2960933" cy="636304"/>
            </a:xfrm>
            <a:prstGeom prst="rect">
              <a:avLst/>
            </a:prstGeom>
          </p:spPr>
        </p:pic>
        <p:pic>
          <p:nvPicPr>
            <p:cNvPr id="3296" name="图片 3295">
              <a:extLst>
                <a:ext uri="{FF2B5EF4-FFF2-40B4-BE49-F238E27FC236}">
                  <a16:creationId xmlns:a16="http://schemas.microsoft.com/office/drawing/2014/main" id="{B3C67993-931E-230B-3F70-73EB43CAB0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775777" y="4979952"/>
              <a:ext cx="2948335" cy="1566303"/>
            </a:xfrm>
            <a:prstGeom prst="rect">
              <a:avLst/>
            </a:prstGeom>
          </p:spPr>
        </p:pic>
        <p:sp>
          <p:nvSpPr>
            <p:cNvPr id="3292" name="矩形 3291">
              <a:extLst>
                <a:ext uri="{FF2B5EF4-FFF2-40B4-BE49-F238E27FC236}">
                  <a16:creationId xmlns:a16="http://schemas.microsoft.com/office/drawing/2014/main" id="{57E23BAC-E816-D665-6369-C4581282B56D}"/>
                </a:ext>
              </a:extLst>
            </p:cNvPr>
            <p:cNvSpPr/>
            <p:nvPr/>
          </p:nvSpPr>
          <p:spPr>
            <a:xfrm>
              <a:off x="3679595" y="6045745"/>
              <a:ext cx="3092045" cy="583863"/>
            </a:xfrm>
            <a:prstGeom prst="rect">
              <a:avLst/>
            </a:prstGeom>
            <a:noFill/>
            <a:ln w="12700"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271857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F48A0-75A4-E1D2-8AA5-22D3123E2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F949011-16AD-DFC9-57DA-DB3A2B34035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238770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4" imgW="404" imgH="405" progId="TCLayout.ActiveDocument.1">
                  <p:embed/>
                </p:oleObj>
              </mc:Choice>
              <mc:Fallback>
                <p:oleObj name="think-cell 幻灯片" r:id="rId2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F949011-16AD-DFC9-57DA-DB3A2B3403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D8ABD01E-7DBE-CC87-6FE0-09343737A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DeepSeek: H800, H100, and B200 bandwidth and inference rate comparison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12" name="Chart 3">
            <a:extLst>
              <a:ext uri="{FF2B5EF4-FFF2-40B4-BE49-F238E27FC236}">
                <a16:creationId xmlns:a16="http://schemas.microsoft.com/office/drawing/2014/main" id="{974A9A41-9E79-715E-70BA-07FE533359B3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16085339"/>
              </p:ext>
            </p:extLst>
          </p:nvPr>
        </p:nvGraphicFramePr>
        <p:xfrm>
          <a:off x="601663" y="2251075"/>
          <a:ext cx="4962525" cy="3876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6"/>
          </a:graphicData>
        </a:graphic>
      </p:graphicFrame>
      <p:cxnSp>
        <p:nvCxnSpPr>
          <p:cNvPr id="3189" name="直接连接符 3188">
            <a:extLst>
              <a:ext uri="{FF2B5EF4-FFF2-40B4-BE49-F238E27FC236}">
                <a16:creationId xmlns:a16="http://schemas.microsoft.com/office/drawing/2014/main" id="{17279689-8A88-13D7-120D-CFCA19F43A74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2895600" y="3903663"/>
            <a:ext cx="0" cy="762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0" name="直接连接符 3189">
            <a:extLst>
              <a:ext uri="{FF2B5EF4-FFF2-40B4-BE49-F238E27FC236}">
                <a16:creationId xmlns:a16="http://schemas.microsoft.com/office/drawing/2014/main" id="{B85D1317-1610-0EBA-6F9F-B48CAFC4A303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2895600" y="3903663"/>
            <a:ext cx="103346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1" name="直接连接符 3190">
            <a:extLst>
              <a:ext uri="{FF2B5EF4-FFF2-40B4-BE49-F238E27FC236}">
                <a16:creationId xmlns:a16="http://schemas.microsoft.com/office/drawing/2014/main" id="{AC44FB4F-20D0-1396-69F2-40A8BF43742B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3929063" y="3903663"/>
            <a:ext cx="0" cy="9461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5CF0630B-79B5-064B-4DC6-5342A59AF50B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1647825" y="5880100"/>
            <a:ext cx="4270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E6837FA-80B0-482F-AC8B-DE8A5FBE4D80}" type="datetime'''''''''''''''''''''''''''''B2''''''''0''''0'''''''''''''">
              <a:rPr lang="en-US" altLang="en-US" sz="1400" smtClean="0">
                <a:cs typeface="+mn-cs"/>
              </a:rPr>
              <a:pPr/>
              <a:t>B200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B93DC837-389C-9329-6978-FEA6CF44CA8F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2678113" y="5880100"/>
            <a:ext cx="4365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598D77A-0AD3-4B0F-880A-C4BD4B6BDE3B}" type="datetime'''''''''''H''''''1''''''0''0'''''''''''''''''''''''">
              <a:rPr lang="en-US" altLang="en-US" sz="1400" smtClean="0">
                <a:cs typeface="+mn-cs"/>
              </a:rPr>
              <a:pPr/>
              <a:t>H100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DB731612-3406-ADAB-DBB8-A7621CEA4FA5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3711575" y="5880100"/>
            <a:ext cx="4365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82FFE9A8-0B97-4A03-B85A-C5265E7436F5}" type="datetime'H''''''''''''''''''''''8''''''''''0''''0'''''">
              <a:rPr lang="en-US" altLang="en-US" sz="1400" smtClean="0">
                <a:cs typeface="+mn-cs"/>
              </a:rPr>
              <a:pPr/>
              <a:t>H800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D3938061-DF23-39A1-DFE8-9DEFBAB5AACC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4795838" y="5880100"/>
            <a:ext cx="3381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83FF4F8-9EF9-43F4-BB76-728923F17331}" type="datetime'''''''''''''''H''20'''''">
              <a:rPr lang="en-US" altLang="en-US" sz="1400" smtClean="0">
                <a:cs typeface="+mn-cs"/>
              </a:rPr>
              <a:pPr/>
              <a:t>H20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88" name="Text Placeholder 4">
            <a:extLst>
              <a:ext uri="{FF2B5EF4-FFF2-40B4-BE49-F238E27FC236}">
                <a16:creationId xmlns:a16="http://schemas.microsoft.com/office/drawing/2014/main" id="{667DC609-34F7-4B73-6A0E-7E750437B997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3117850" y="3752850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747CF9C-B563-46D7-A2C9-1A179AD382EC}" type="datetime'''''''''''''''-''''''''''5''6%'''''''''''''">
              <a:rPr lang="en-US" altLang="en-US" sz="1400" b="1" smtClean="0">
                <a:effectLst/>
                <a:cs typeface="+mn-cs"/>
              </a:rPr>
              <a:pPr/>
              <a:t>-56%</a:t>
            </a:fld>
            <a:endParaRPr lang="zh-CN" altLang="en-US" sz="1400" b="1" dirty="0">
              <a:cs typeface="+mn-cs"/>
            </a:endParaRPr>
          </a:p>
        </p:txBody>
      </p:sp>
      <p:sp>
        <p:nvSpPr>
          <p:cNvPr id="3208" name="文本框 3207">
            <a:extLst>
              <a:ext uri="{FF2B5EF4-FFF2-40B4-BE49-F238E27FC236}">
                <a16:creationId xmlns:a16="http://schemas.microsoft.com/office/drawing/2014/main" id="{9A00F0E1-22F8-AB54-D043-4CF37EF6CE12}"/>
              </a:ext>
            </a:extLst>
          </p:cNvPr>
          <p:cNvSpPr txBox="1"/>
          <p:nvPr/>
        </p:nvSpPr>
        <p:spPr>
          <a:xfrm>
            <a:off x="601663" y="2127473"/>
            <a:ext cx="61499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Inter-card Bandwidth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（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GB/s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）</a:t>
            </a:r>
          </a:p>
        </p:txBody>
      </p:sp>
      <p:sp>
        <p:nvSpPr>
          <p:cNvPr id="3212" name="文本框 3211">
            <a:extLst>
              <a:ext uri="{FF2B5EF4-FFF2-40B4-BE49-F238E27FC236}">
                <a16:creationId xmlns:a16="http://schemas.microsoft.com/office/drawing/2014/main" id="{CD02F1E9-B5E8-7D9F-1D91-BE833DF93CA5}"/>
              </a:ext>
            </a:extLst>
          </p:cNvPr>
          <p:cNvSpPr txBox="1"/>
          <p:nvPr/>
        </p:nvSpPr>
        <p:spPr>
          <a:xfrm>
            <a:off x="272733" y="6251352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 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Huawei</a:t>
            </a:r>
          </a:p>
        </p:txBody>
      </p:sp>
      <p:graphicFrame>
        <p:nvGraphicFramePr>
          <p:cNvPr id="29" name="Chart 3">
            <a:extLst>
              <a:ext uri="{FF2B5EF4-FFF2-40B4-BE49-F238E27FC236}">
                <a16:creationId xmlns:a16="http://schemas.microsoft.com/office/drawing/2014/main" id="{9E1FC29F-1F23-7A0C-F3B5-D1A21EA66D16}"/>
              </a:ext>
            </a:extLst>
          </p:cNvPr>
          <p:cNvGraphicFramePr/>
          <p:nvPr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176370881"/>
              </p:ext>
            </p:extLst>
          </p:nvPr>
        </p:nvGraphicFramePr>
        <p:xfrm>
          <a:off x="6629400" y="2054225"/>
          <a:ext cx="5184775" cy="3876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7"/>
          </a:graphicData>
        </a:graphic>
      </p:graphicFrame>
      <p:cxnSp>
        <p:nvCxnSpPr>
          <p:cNvPr id="1032" name="直接连接符 1031">
            <a:extLst>
              <a:ext uri="{FF2B5EF4-FFF2-40B4-BE49-F238E27FC236}">
                <a16:creationId xmlns:a16="http://schemas.microsoft.com/office/drawing/2014/main" id="{489C291D-A898-E1B5-31F3-084C4987DCEF}"/>
              </a:ext>
            </a:extLst>
          </p:cNvPr>
          <p:cNvCxnSpPr/>
          <p:nvPr>
            <p:custDataLst>
              <p:tags r:id="rId12"/>
            </p:custDataLst>
          </p:nvPr>
        </p:nvCxnSpPr>
        <p:spPr bwMode="auto">
          <a:xfrm flipV="1">
            <a:off x="8497888" y="2063750"/>
            <a:ext cx="0" cy="3109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3" name="直接连接符 1032">
            <a:extLst>
              <a:ext uri="{FF2B5EF4-FFF2-40B4-BE49-F238E27FC236}">
                <a16:creationId xmlns:a16="http://schemas.microsoft.com/office/drawing/2014/main" id="{FF17850D-59BD-6A99-F7AB-8237D03DFC75}"/>
              </a:ext>
            </a:extLst>
          </p:cNvPr>
          <p:cNvCxnSpPr/>
          <p:nvPr>
            <p:custDataLst>
              <p:tags r:id="rId13"/>
            </p:custDataLst>
          </p:nvPr>
        </p:nvCxnSpPr>
        <p:spPr bwMode="auto">
          <a:xfrm>
            <a:off x="8497888" y="2063750"/>
            <a:ext cx="194786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4" name="直接连接符 1033">
            <a:extLst>
              <a:ext uri="{FF2B5EF4-FFF2-40B4-BE49-F238E27FC236}">
                <a16:creationId xmlns:a16="http://schemas.microsoft.com/office/drawing/2014/main" id="{9D19A7D8-A9B0-6CAF-D4BD-FA68C1951C75}"/>
              </a:ext>
            </a:extLst>
          </p:cNvPr>
          <p:cNvCxnSpPr/>
          <p:nvPr>
            <p:custDataLst>
              <p:tags r:id="rId14"/>
            </p:custDataLst>
          </p:nvPr>
        </p:nvCxnSpPr>
        <p:spPr bwMode="auto">
          <a:xfrm>
            <a:off x="10445750" y="2063750"/>
            <a:ext cx="0" cy="1524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36" name="Text Placeholder 4">
            <a:extLst>
              <a:ext uri="{FF2B5EF4-FFF2-40B4-BE49-F238E27FC236}">
                <a16:creationId xmlns:a16="http://schemas.microsoft.com/office/drawing/2014/main" id="{CA2AF9A1-EA8F-CDFB-945F-680E836E17D4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7432675" y="5683250"/>
            <a:ext cx="14319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cs typeface="+mn-cs"/>
              </a:rPr>
              <a:t>H800 (DeepSeek)</a:t>
            </a:r>
            <a:endParaRPr lang="zh-CN" altLang="en-US" sz="1400" dirty="0">
              <a:cs typeface="+mn-cs"/>
            </a:endParaRPr>
          </a:p>
        </p:txBody>
      </p:sp>
      <p:sp>
        <p:nvSpPr>
          <p:cNvPr id="3274" name="Text Placeholder 4">
            <a:extLst>
              <a:ext uri="{FF2B5EF4-FFF2-40B4-BE49-F238E27FC236}">
                <a16:creationId xmlns:a16="http://schemas.microsoft.com/office/drawing/2014/main" id="{CDE54DB7-B255-4567-B79C-01F8D665CCA4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9518650" y="5683250"/>
            <a:ext cx="11572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6CE0737-15A9-42C4-9E59-98A7661C3EC3}" type="datetime'''''G''''''B2''''00'' ''N''''''''''''''V''''L''''''''''7''2'">
              <a:rPr lang="en-US" altLang="en-US" sz="1400" smtClean="0">
                <a:cs typeface="+mn-cs"/>
              </a:rPr>
              <a:pPr/>
              <a:t>GB200 NVL72</a:t>
            </a:fld>
            <a:endParaRPr lang="zh-CN" altLang="en-US" sz="1400" dirty="0">
              <a:cs typeface="+mn-cs"/>
            </a:endParaRPr>
          </a:p>
        </p:txBody>
      </p:sp>
      <p:sp>
        <p:nvSpPr>
          <p:cNvPr id="1031" name="Text Placeholder 4">
            <a:extLst>
              <a:ext uri="{FF2B5EF4-FFF2-40B4-BE49-F238E27FC236}">
                <a16:creationId xmlns:a16="http://schemas.microsoft.com/office/drawing/2014/main" id="{9D612BCF-D359-2703-0FED-9189AD59E616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9190038" y="1912938"/>
            <a:ext cx="563563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effectLst/>
                <a:cs typeface="+mn-cs"/>
              </a:rPr>
              <a:t>~18x</a:t>
            </a:r>
            <a:endParaRPr lang="zh-CN" altLang="en-US" sz="1400" b="1" dirty="0">
              <a:cs typeface="+mn-cs"/>
            </a:endParaRPr>
          </a:p>
        </p:txBody>
      </p:sp>
      <p:sp>
        <p:nvSpPr>
          <p:cNvPr id="3232" name="矩形 3231">
            <a:extLst>
              <a:ext uri="{FF2B5EF4-FFF2-40B4-BE49-F238E27FC236}">
                <a16:creationId xmlns:a16="http://schemas.microsoft.com/office/drawing/2014/main" id="{DD6FB50A-0F0E-AD99-4F71-B4A39453C449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6929438" y="6069013"/>
            <a:ext cx="250825" cy="187325"/>
          </a:xfrm>
          <a:prstGeom prst="rect">
            <a:avLst/>
          </a:prstGeom>
          <a:solidFill>
            <a:srgbClr val="C0C0C0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7" name="矩形 3286">
            <a:extLst>
              <a:ext uri="{FF2B5EF4-FFF2-40B4-BE49-F238E27FC236}">
                <a16:creationId xmlns:a16="http://schemas.microsoft.com/office/drawing/2014/main" id="{F3A8091E-0AA2-A3B7-7DF4-E30FCC185CEB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9529763" y="6069013"/>
            <a:ext cx="250825" cy="187325"/>
          </a:xfrm>
          <a:prstGeom prst="rect">
            <a:avLst/>
          </a:prstGeom>
          <a:solidFill>
            <a:srgbClr val="0052D9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25" name="Text Placeholder 4">
            <a:extLst>
              <a:ext uri="{FF2B5EF4-FFF2-40B4-BE49-F238E27FC236}">
                <a16:creationId xmlns:a16="http://schemas.microsoft.com/office/drawing/2014/main" id="{74138CF3-32D6-1C96-4887-850C2E408B37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7231063" y="6064250"/>
            <a:ext cx="21971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cs"/>
              </a:rPr>
              <a:t>Inter-card Bandwidth (GB/s)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</a:endParaRPr>
          </a:p>
        </p:txBody>
      </p:sp>
      <p:sp>
        <p:nvSpPr>
          <p:cNvPr id="3227" name="Text Placeholder 4">
            <a:extLst>
              <a:ext uri="{FF2B5EF4-FFF2-40B4-BE49-F238E27FC236}">
                <a16:creationId xmlns:a16="http://schemas.microsoft.com/office/drawing/2014/main" id="{6499B5B7-8740-CD48-7F3D-96227056CEE0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auto">
          <a:xfrm>
            <a:off x="9831388" y="6064250"/>
            <a:ext cx="19002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cs"/>
              </a:rPr>
              <a:t>Inference Rate (token/s)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C9C7D45-861D-7445-19C2-5B9A20547E55}"/>
              </a:ext>
            </a:extLst>
          </p:cNvPr>
          <p:cNvSpPr/>
          <p:nvPr/>
        </p:nvSpPr>
        <p:spPr>
          <a:xfrm>
            <a:off x="548955" y="1074935"/>
            <a:ext cx="11265220" cy="761804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① H800 bandwidth halved compared to H100 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② If bandwidth returns to the level of B200, the inference rate will increase to ~18 times the original.</a:t>
            </a:r>
            <a:endParaRPr lang="en-US" altLang="zh-CN" dirty="0">
              <a:solidFill>
                <a:srgbClr val="0052D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80887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3F854-9A0F-66E2-75C1-90F44B453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AF6C33D-7FC8-FFE5-5C5C-B4C29E7630F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47815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AF6C33D-7FC8-FFE5-5C5C-B4C29E7630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8" name="矩形 1177">
            <a:extLst>
              <a:ext uri="{FF2B5EF4-FFF2-40B4-BE49-F238E27FC236}">
                <a16:creationId xmlns:a16="http://schemas.microsoft.com/office/drawing/2014/main" id="{FB7739BF-C901-C4AE-8672-031A3A40ED17}"/>
              </a:ext>
            </a:extLst>
          </p:cNvPr>
          <p:cNvSpPr/>
          <p:nvPr/>
        </p:nvSpPr>
        <p:spPr>
          <a:xfrm>
            <a:off x="2821017" y="1427765"/>
            <a:ext cx="3264245" cy="4202202"/>
          </a:xfrm>
          <a:prstGeom prst="rect">
            <a:avLst/>
          </a:prstGeom>
          <a:solidFill>
            <a:schemeClr val="accent2">
              <a:lumMod val="20000"/>
              <a:lumOff val="8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endParaRPr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B369F79-BD3F-4704-26AC-C6A2824AAC3E}"/>
              </a:ext>
            </a:extLst>
          </p:cNvPr>
          <p:cNvSpPr txBox="1"/>
          <p:nvPr/>
        </p:nvSpPr>
        <p:spPr>
          <a:xfrm>
            <a:off x="7915649" y="5717419"/>
            <a:ext cx="16662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DSP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7nm-3nm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78427C9-2944-D773-951A-5EB099A4D114}"/>
              </a:ext>
            </a:extLst>
          </p:cNvPr>
          <p:cNvSpPr txBox="1"/>
          <p:nvPr/>
        </p:nvSpPr>
        <p:spPr>
          <a:xfrm>
            <a:off x="2558004" y="5717419"/>
            <a:ext cx="24412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800G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Transceiver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Packaging/&gt;100nm</a:t>
            </a:r>
            <a:r>
              <a:rPr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SiPh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2F7501D-6786-D3AE-86FC-C07792B7D3BE}"/>
              </a:ext>
            </a:extLst>
          </p:cNvPr>
          <p:cNvSpPr/>
          <p:nvPr/>
        </p:nvSpPr>
        <p:spPr>
          <a:xfrm rot="5400000">
            <a:off x="9106954" y="4820941"/>
            <a:ext cx="1221622" cy="6155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Process Ban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4A936B6-360B-5E46-ED00-467B1D281374}"/>
              </a:ext>
            </a:extLst>
          </p:cNvPr>
          <p:cNvSpPr/>
          <p:nvPr/>
        </p:nvSpPr>
        <p:spPr>
          <a:xfrm>
            <a:off x="9213996" y="5568515"/>
            <a:ext cx="61687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High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425AE05-E4A1-3EDE-D52D-77BF1617852C}"/>
              </a:ext>
            </a:extLst>
          </p:cNvPr>
          <p:cNvSpPr/>
          <p:nvPr/>
        </p:nvSpPr>
        <p:spPr>
          <a:xfrm>
            <a:off x="2822328" y="1433115"/>
            <a:ext cx="6554469" cy="4199884"/>
          </a:xfrm>
          <a:prstGeom prst="rect">
            <a:avLst/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658EF94-5331-788C-AE0D-C06EB1071C9C}"/>
              </a:ext>
            </a:extLst>
          </p:cNvPr>
          <p:cNvSpPr/>
          <p:nvPr/>
        </p:nvSpPr>
        <p:spPr>
          <a:xfrm>
            <a:off x="2282219" y="1033412"/>
            <a:ext cx="2647416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Global Market Share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95B23892-9E45-E281-5555-820AF4A6E314}"/>
              </a:ext>
            </a:extLst>
          </p:cNvPr>
          <p:cNvSpPr/>
          <p:nvPr/>
        </p:nvSpPr>
        <p:spPr>
          <a:xfrm>
            <a:off x="2279747" y="5522093"/>
            <a:ext cx="61687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Low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41A73A34-66DF-8917-CAE9-6421EE895CB2}"/>
              </a:ext>
            </a:extLst>
          </p:cNvPr>
          <p:cNvSpPr/>
          <p:nvPr/>
        </p:nvSpPr>
        <p:spPr>
          <a:xfrm>
            <a:off x="2271132" y="1356161"/>
            <a:ext cx="61687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High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47" name="文本框 1046">
            <a:extLst>
              <a:ext uri="{FF2B5EF4-FFF2-40B4-BE49-F238E27FC236}">
                <a16:creationId xmlns:a16="http://schemas.microsoft.com/office/drawing/2014/main" id="{9F59547E-82AB-A3CE-5530-9CD4C0057D2F}"/>
              </a:ext>
            </a:extLst>
          </p:cNvPr>
          <p:cNvSpPr txBox="1"/>
          <p:nvPr/>
        </p:nvSpPr>
        <p:spPr>
          <a:xfrm>
            <a:off x="298576" y="6414112"/>
            <a:ext cx="1144695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Changjiang Securities,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Centec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Communications IPO Prospectus.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Data Sources:​​ 800G Transceivers (2025E) | OSAT (2024A) | Switch Chips (2020A) | Electrical DSP Chips (Aug-2023, 50G/100G).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1D2B5DD-0161-DE27-CE54-16498307DE4D}"/>
              </a:ext>
            </a:extLst>
          </p:cNvPr>
          <p:cNvSpPr txBox="1"/>
          <p:nvPr/>
        </p:nvSpPr>
        <p:spPr>
          <a:xfrm>
            <a:off x="6310492" y="5717419"/>
            <a:ext cx="16662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16nm-5nm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C3541BD-DD3B-D270-E5A2-CE61390B2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143" y="159198"/>
            <a:ext cx="9677146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Overseas strong in electronics, weak in optics; Domestic vise versa - industry evidences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0AD62E6D-B35F-99B6-4060-DBCE50D9B835}"/>
              </a:ext>
            </a:extLst>
          </p:cNvPr>
          <p:cNvSpPr txBox="1"/>
          <p:nvPr/>
        </p:nvSpPr>
        <p:spPr>
          <a:xfrm>
            <a:off x="4434248" y="5717419"/>
            <a:ext cx="193736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OSAT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</a:p>
          <a:p>
            <a:pPr algn="ctr"/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Limited process ban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102" name="组合 1101">
            <a:extLst>
              <a:ext uri="{FF2B5EF4-FFF2-40B4-BE49-F238E27FC236}">
                <a16:creationId xmlns:a16="http://schemas.microsoft.com/office/drawing/2014/main" id="{330335A2-A427-0DE3-02FE-A6B4ABD9F85B}"/>
              </a:ext>
            </a:extLst>
          </p:cNvPr>
          <p:cNvGrpSpPr/>
          <p:nvPr/>
        </p:nvGrpSpPr>
        <p:grpSpPr>
          <a:xfrm>
            <a:off x="2964520" y="3442318"/>
            <a:ext cx="1323784" cy="279777"/>
            <a:chOff x="1199220" y="3427123"/>
            <a:chExt cx="1323784" cy="279777"/>
          </a:xfrm>
        </p:grpSpPr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001C6CDC-2915-7FB5-5E37-59D25A2404DD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85FD27CD-4093-6F0B-2966-AF8C12D21D94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cs typeface="+mn-ea"/>
                  <a:sym typeface="+mn-lt"/>
                </a:rPr>
                <a:t>Innolight</a:t>
              </a:r>
              <a:endParaRPr lang="en-US" altLang="zh-CN" sz="1200" dirty="0">
                <a:cs typeface="+mn-ea"/>
                <a:sym typeface="+mn-lt"/>
              </a:endParaRPr>
            </a:p>
          </p:txBody>
        </p:sp>
        <p:sp>
          <p:nvSpPr>
            <p:cNvPr id="1088" name="文本框 1087">
              <a:extLst>
                <a:ext uri="{FF2B5EF4-FFF2-40B4-BE49-F238E27FC236}">
                  <a16:creationId xmlns:a16="http://schemas.microsoft.com/office/drawing/2014/main" id="{EEB87815-1FF0-3DAB-E2C4-5AD7E0C93594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36%</a:t>
              </a:r>
            </a:p>
          </p:txBody>
        </p:sp>
      </p:grpSp>
      <p:grpSp>
        <p:nvGrpSpPr>
          <p:cNvPr id="1103" name="组合 1102">
            <a:extLst>
              <a:ext uri="{FF2B5EF4-FFF2-40B4-BE49-F238E27FC236}">
                <a16:creationId xmlns:a16="http://schemas.microsoft.com/office/drawing/2014/main" id="{2C3064F6-23B9-128F-8BE5-CB20C73ADC51}"/>
              </a:ext>
            </a:extLst>
          </p:cNvPr>
          <p:cNvGrpSpPr/>
          <p:nvPr/>
        </p:nvGrpSpPr>
        <p:grpSpPr>
          <a:xfrm>
            <a:off x="2957484" y="4357880"/>
            <a:ext cx="1323784" cy="279777"/>
            <a:chOff x="1199220" y="3427123"/>
            <a:chExt cx="1323784" cy="279777"/>
          </a:xfrm>
        </p:grpSpPr>
        <p:sp>
          <p:nvSpPr>
            <p:cNvPr id="1104" name="椭圆 1103">
              <a:extLst>
                <a:ext uri="{FF2B5EF4-FFF2-40B4-BE49-F238E27FC236}">
                  <a16:creationId xmlns:a16="http://schemas.microsoft.com/office/drawing/2014/main" id="{28714029-B659-BC87-0185-B482C4372E67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05" name="文本框 1104">
              <a:extLst>
                <a:ext uri="{FF2B5EF4-FFF2-40B4-BE49-F238E27FC236}">
                  <a16:creationId xmlns:a16="http://schemas.microsoft.com/office/drawing/2014/main" id="{0604A2E0-C478-78B2-45A1-BDC22C650647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cs typeface="+mn-ea"/>
                  <a:sym typeface="+mn-lt"/>
                </a:rPr>
                <a:t>Eoptolink</a:t>
              </a:r>
              <a:endParaRPr lang="en-US" altLang="zh-CN" sz="1200" dirty="0">
                <a:cs typeface="+mn-ea"/>
                <a:sym typeface="+mn-lt"/>
              </a:endParaRPr>
            </a:p>
          </p:txBody>
        </p:sp>
        <p:sp>
          <p:nvSpPr>
            <p:cNvPr id="1106" name="文本框 1105">
              <a:extLst>
                <a:ext uri="{FF2B5EF4-FFF2-40B4-BE49-F238E27FC236}">
                  <a16:creationId xmlns:a16="http://schemas.microsoft.com/office/drawing/2014/main" id="{72B8D37D-320C-5B7A-7D73-5FB6478275EA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23%</a:t>
              </a:r>
            </a:p>
          </p:txBody>
        </p:sp>
      </p:grpSp>
      <p:grpSp>
        <p:nvGrpSpPr>
          <p:cNvPr id="1107" name="组合 1106">
            <a:extLst>
              <a:ext uri="{FF2B5EF4-FFF2-40B4-BE49-F238E27FC236}">
                <a16:creationId xmlns:a16="http://schemas.microsoft.com/office/drawing/2014/main" id="{EB3C7B2A-0C99-097E-A28E-F0F21F378108}"/>
              </a:ext>
            </a:extLst>
          </p:cNvPr>
          <p:cNvGrpSpPr/>
          <p:nvPr/>
        </p:nvGrpSpPr>
        <p:grpSpPr>
          <a:xfrm>
            <a:off x="2957079" y="4511007"/>
            <a:ext cx="1323784" cy="279777"/>
            <a:chOff x="1199220" y="3427123"/>
            <a:chExt cx="1323784" cy="279777"/>
          </a:xfrm>
        </p:grpSpPr>
        <p:sp>
          <p:nvSpPr>
            <p:cNvPr id="1108" name="椭圆 1107">
              <a:extLst>
                <a:ext uri="{FF2B5EF4-FFF2-40B4-BE49-F238E27FC236}">
                  <a16:creationId xmlns:a16="http://schemas.microsoft.com/office/drawing/2014/main" id="{2E2375EF-72B7-875C-C6E2-4716400C5990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09" name="文本框 1108">
              <a:extLst>
                <a:ext uri="{FF2B5EF4-FFF2-40B4-BE49-F238E27FC236}">
                  <a16:creationId xmlns:a16="http://schemas.microsoft.com/office/drawing/2014/main" id="{8B9CD731-08DD-8343-6F81-A35B0AC595BE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Coherent</a:t>
              </a:r>
            </a:p>
          </p:txBody>
        </p:sp>
        <p:sp>
          <p:nvSpPr>
            <p:cNvPr id="1110" name="文本框 1109">
              <a:extLst>
                <a:ext uri="{FF2B5EF4-FFF2-40B4-BE49-F238E27FC236}">
                  <a16:creationId xmlns:a16="http://schemas.microsoft.com/office/drawing/2014/main" id="{70FF267D-5C9F-E604-0437-3557B06BE132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21%</a:t>
              </a:r>
            </a:p>
          </p:txBody>
        </p:sp>
      </p:grpSp>
      <p:grpSp>
        <p:nvGrpSpPr>
          <p:cNvPr id="1111" name="组合 1110">
            <a:extLst>
              <a:ext uri="{FF2B5EF4-FFF2-40B4-BE49-F238E27FC236}">
                <a16:creationId xmlns:a16="http://schemas.microsoft.com/office/drawing/2014/main" id="{175AE77E-AC35-3DCB-191B-1FA6B2043181}"/>
              </a:ext>
            </a:extLst>
          </p:cNvPr>
          <p:cNvGrpSpPr/>
          <p:nvPr/>
        </p:nvGrpSpPr>
        <p:grpSpPr>
          <a:xfrm>
            <a:off x="2967286" y="5262520"/>
            <a:ext cx="1323784" cy="279777"/>
            <a:chOff x="1199220" y="3427123"/>
            <a:chExt cx="1323784" cy="279777"/>
          </a:xfrm>
        </p:grpSpPr>
        <p:sp>
          <p:nvSpPr>
            <p:cNvPr id="1112" name="椭圆 1111">
              <a:extLst>
                <a:ext uri="{FF2B5EF4-FFF2-40B4-BE49-F238E27FC236}">
                  <a16:creationId xmlns:a16="http://schemas.microsoft.com/office/drawing/2014/main" id="{D0C5E76D-821E-2AB7-5A5D-58ED86072B85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13" name="文本框 1112">
              <a:extLst>
                <a:ext uri="{FF2B5EF4-FFF2-40B4-BE49-F238E27FC236}">
                  <a16:creationId xmlns:a16="http://schemas.microsoft.com/office/drawing/2014/main" id="{48E95CDE-F200-A577-FAED-8D629F1BC430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Mellanox</a:t>
              </a:r>
            </a:p>
          </p:txBody>
        </p:sp>
        <p:sp>
          <p:nvSpPr>
            <p:cNvPr id="1114" name="文本框 1113">
              <a:extLst>
                <a:ext uri="{FF2B5EF4-FFF2-40B4-BE49-F238E27FC236}">
                  <a16:creationId xmlns:a16="http://schemas.microsoft.com/office/drawing/2014/main" id="{567F9311-FD98-5F6A-616F-B713CF81B464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4%</a:t>
              </a:r>
            </a:p>
          </p:txBody>
        </p:sp>
      </p:grpSp>
      <p:grpSp>
        <p:nvGrpSpPr>
          <p:cNvPr id="1115" name="组合 1114">
            <a:extLst>
              <a:ext uri="{FF2B5EF4-FFF2-40B4-BE49-F238E27FC236}">
                <a16:creationId xmlns:a16="http://schemas.microsoft.com/office/drawing/2014/main" id="{86719731-D493-8764-9D02-A02DF2D287B8}"/>
              </a:ext>
            </a:extLst>
          </p:cNvPr>
          <p:cNvGrpSpPr/>
          <p:nvPr/>
        </p:nvGrpSpPr>
        <p:grpSpPr>
          <a:xfrm>
            <a:off x="2963224" y="5383509"/>
            <a:ext cx="1835114" cy="282260"/>
            <a:chOff x="1199220" y="3427123"/>
            <a:chExt cx="1835114" cy="282260"/>
          </a:xfrm>
        </p:grpSpPr>
        <p:sp>
          <p:nvSpPr>
            <p:cNvPr id="1116" name="椭圆 1115">
              <a:extLst>
                <a:ext uri="{FF2B5EF4-FFF2-40B4-BE49-F238E27FC236}">
                  <a16:creationId xmlns:a16="http://schemas.microsoft.com/office/drawing/2014/main" id="{DF9FDB97-207A-6A76-4D7C-F03CDAB524A7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17" name="文本框 1116">
              <a:extLst>
                <a:ext uri="{FF2B5EF4-FFF2-40B4-BE49-F238E27FC236}">
                  <a16:creationId xmlns:a16="http://schemas.microsoft.com/office/drawing/2014/main" id="{A438B69D-612C-BE97-0C7D-B0A628F73EA6}"/>
                </a:ext>
              </a:extLst>
            </p:cNvPr>
            <p:cNvSpPr txBox="1"/>
            <p:nvPr/>
          </p:nvSpPr>
          <p:spPr>
            <a:xfrm>
              <a:off x="1240391" y="3427123"/>
              <a:ext cx="1502227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cs typeface="+mn-ea"/>
                  <a:sym typeface="+mn-lt"/>
                </a:rPr>
                <a:t>Accelink&amp;HG</a:t>
              </a:r>
              <a:endParaRPr lang="en-US" altLang="zh-CN" sz="1200" dirty="0">
                <a:cs typeface="+mn-ea"/>
                <a:sym typeface="+mn-lt"/>
              </a:endParaRPr>
            </a:p>
          </p:txBody>
        </p:sp>
        <p:sp>
          <p:nvSpPr>
            <p:cNvPr id="1118" name="文本框 1117">
              <a:extLst>
                <a:ext uri="{FF2B5EF4-FFF2-40B4-BE49-F238E27FC236}">
                  <a16:creationId xmlns:a16="http://schemas.microsoft.com/office/drawing/2014/main" id="{A9638B35-125F-61F8-2DBA-3BDB891FE108}"/>
                </a:ext>
              </a:extLst>
            </p:cNvPr>
            <p:cNvSpPr txBox="1"/>
            <p:nvPr/>
          </p:nvSpPr>
          <p:spPr>
            <a:xfrm>
              <a:off x="2424734" y="3432384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4%</a:t>
              </a:r>
            </a:p>
          </p:txBody>
        </p:sp>
      </p:grpSp>
      <p:grpSp>
        <p:nvGrpSpPr>
          <p:cNvPr id="1168" name="组合 1167">
            <a:extLst>
              <a:ext uri="{FF2B5EF4-FFF2-40B4-BE49-F238E27FC236}">
                <a16:creationId xmlns:a16="http://schemas.microsoft.com/office/drawing/2014/main" id="{6A871EED-E72C-DB09-F827-160517EF6F37}"/>
              </a:ext>
            </a:extLst>
          </p:cNvPr>
          <p:cNvGrpSpPr/>
          <p:nvPr/>
        </p:nvGrpSpPr>
        <p:grpSpPr>
          <a:xfrm>
            <a:off x="4870857" y="3169838"/>
            <a:ext cx="1327426" cy="2319235"/>
            <a:chOff x="2884521" y="3150278"/>
            <a:chExt cx="1327426" cy="2319235"/>
          </a:xfrm>
        </p:grpSpPr>
        <p:grpSp>
          <p:nvGrpSpPr>
            <p:cNvPr id="1119" name="组合 1118">
              <a:extLst>
                <a:ext uri="{FF2B5EF4-FFF2-40B4-BE49-F238E27FC236}">
                  <a16:creationId xmlns:a16="http://schemas.microsoft.com/office/drawing/2014/main" id="{B32B7C9A-0C67-11C5-BD21-3D85C1328767}"/>
                </a:ext>
              </a:extLst>
            </p:cNvPr>
            <p:cNvGrpSpPr/>
            <p:nvPr/>
          </p:nvGrpSpPr>
          <p:grpSpPr>
            <a:xfrm>
              <a:off x="2884521" y="3150278"/>
              <a:ext cx="1323784" cy="279777"/>
              <a:chOff x="1199220" y="3427123"/>
              <a:chExt cx="1323784" cy="279777"/>
            </a:xfrm>
          </p:grpSpPr>
          <p:sp>
            <p:nvSpPr>
              <p:cNvPr id="1120" name="椭圆 1119">
                <a:extLst>
                  <a:ext uri="{FF2B5EF4-FFF2-40B4-BE49-F238E27FC236}">
                    <a16:creationId xmlns:a16="http://schemas.microsoft.com/office/drawing/2014/main" id="{5E736AB5-8940-41C2-6A00-0513136BD921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21" name="文本框 1120">
                <a:extLst>
                  <a:ext uri="{FF2B5EF4-FFF2-40B4-BE49-F238E27FC236}">
                    <a16:creationId xmlns:a16="http://schemas.microsoft.com/office/drawing/2014/main" id="{99262451-59EE-5CCF-35BB-443B5D8B3342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ASE</a:t>
                </a:r>
              </a:p>
            </p:txBody>
          </p:sp>
          <p:sp>
            <p:nvSpPr>
              <p:cNvPr id="1122" name="文本框 1121">
                <a:extLst>
                  <a:ext uri="{FF2B5EF4-FFF2-40B4-BE49-F238E27FC236}">
                    <a16:creationId xmlns:a16="http://schemas.microsoft.com/office/drawing/2014/main" id="{DC885EC5-3041-C8DF-9A1E-ABCD6B7FBCFC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45%</a:t>
                </a:r>
              </a:p>
            </p:txBody>
          </p:sp>
        </p:grpSp>
        <p:grpSp>
          <p:nvGrpSpPr>
            <p:cNvPr id="1123" name="组合 1122">
              <a:extLst>
                <a:ext uri="{FF2B5EF4-FFF2-40B4-BE49-F238E27FC236}">
                  <a16:creationId xmlns:a16="http://schemas.microsoft.com/office/drawing/2014/main" id="{53FE1C08-20C1-A6BA-1792-FE01F9CCBAC9}"/>
                </a:ext>
              </a:extLst>
            </p:cNvPr>
            <p:cNvGrpSpPr/>
            <p:nvPr/>
          </p:nvGrpSpPr>
          <p:grpSpPr>
            <a:xfrm>
              <a:off x="2884521" y="4737617"/>
              <a:ext cx="1323784" cy="279777"/>
              <a:chOff x="1199220" y="3427123"/>
              <a:chExt cx="1323784" cy="279777"/>
            </a:xfrm>
          </p:grpSpPr>
          <p:sp>
            <p:nvSpPr>
              <p:cNvPr id="1124" name="椭圆 1123">
                <a:extLst>
                  <a:ext uri="{FF2B5EF4-FFF2-40B4-BE49-F238E27FC236}">
                    <a16:creationId xmlns:a16="http://schemas.microsoft.com/office/drawing/2014/main" id="{D7038E58-0932-F7E3-BA9B-81DBBC4D942C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25" name="文本框 1124">
                <a:extLst>
                  <a:ext uri="{FF2B5EF4-FFF2-40B4-BE49-F238E27FC236}">
                    <a16:creationId xmlns:a16="http://schemas.microsoft.com/office/drawing/2014/main" id="{DA39D2BD-13AF-9F8F-382E-A137E723ABE7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Amkor</a:t>
                </a:r>
              </a:p>
            </p:txBody>
          </p:sp>
          <p:sp>
            <p:nvSpPr>
              <p:cNvPr id="1126" name="文本框 1125">
                <a:extLst>
                  <a:ext uri="{FF2B5EF4-FFF2-40B4-BE49-F238E27FC236}">
                    <a16:creationId xmlns:a16="http://schemas.microsoft.com/office/drawing/2014/main" id="{37B818A7-45E8-1864-4153-32F727E34AB9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16%</a:t>
                </a:r>
              </a:p>
            </p:txBody>
          </p:sp>
        </p:grpSp>
        <p:grpSp>
          <p:nvGrpSpPr>
            <p:cNvPr id="1129" name="组合 1128">
              <a:extLst>
                <a:ext uri="{FF2B5EF4-FFF2-40B4-BE49-F238E27FC236}">
                  <a16:creationId xmlns:a16="http://schemas.microsoft.com/office/drawing/2014/main" id="{B6BBFC03-929D-353A-6113-2D6E401E513A}"/>
                </a:ext>
              </a:extLst>
            </p:cNvPr>
            <p:cNvGrpSpPr/>
            <p:nvPr/>
          </p:nvGrpSpPr>
          <p:grpSpPr>
            <a:xfrm>
              <a:off x="2887497" y="5063936"/>
              <a:ext cx="1323784" cy="279777"/>
              <a:chOff x="1199220" y="3427123"/>
              <a:chExt cx="1323784" cy="279777"/>
            </a:xfrm>
          </p:grpSpPr>
          <p:sp>
            <p:nvSpPr>
              <p:cNvPr id="1130" name="椭圆 1129">
                <a:extLst>
                  <a:ext uri="{FF2B5EF4-FFF2-40B4-BE49-F238E27FC236}">
                    <a16:creationId xmlns:a16="http://schemas.microsoft.com/office/drawing/2014/main" id="{74173AFD-651B-0FB8-CC7E-5132121F9AB4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31" name="文本框 1130">
                <a:extLst>
                  <a:ext uri="{FF2B5EF4-FFF2-40B4-BE49-F238E27FC236}">
                    <a16:creationId xmlns:a16="http://schemas.microsoft.com/office/drawing/2014/main" id="{D708BEBA-76E2-2E47-BF60-0B7AF26E227C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JCET</a:t>
                </a:r>
              </a:p>
            </p:txBody>
          </p:sp>
          <p:sp>
            <p:nvSpPr>
              <p:cNvPr id="1132" name="文本框 1131">
                <a:extLst>
                  <a:ext uri="{FF2B5EF4-FFF2-40B4-BE49-F238E27FC236}">
                    <a16:creationId xmlns:a16="http://schemas.microsoft.com/office/drawing/2014/main" id="{ED679D1C-8D33-49CE-2940-9BD93AD2665C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11%</a:t>
                </a:r>
              </a:p>
            </p:txBody>
          </p:sp>
        </p:grpSp>
        <p:grpSp>
          <p:nvGrpSpPr>
            <p:cNvPr id="1133" name="组合 1132">
              <a:extLst>
                <a:ext uri="{FF2B5EF4-FFF2-40B4-BE49-F238E27FC236}">
                  <a16:creationId xmlns:a16="http://schemas.microsoft.com/office/drawing/2014/main" id="{8D1A0A2A-A2CC-02F7-F56B-D276C0928807}"/>
                </a:ext>
              </a:extLst>
            </p:cNvPr>
            <p:cNvGrpSpPr/>
            <p:nvPr/>
          </p:nvGrpSpPr>
          <p:grpSpPr>
            <a:xfrm>
              <a:off x="2888163" y="5189736"/>
              <a:ext cx="1323784" cy="279777"/>
              <a:chOff x="1199220" y="3427123"/>
              <a:chExt cx="1323784" cy="279777"/>
            </a:xfrm>
          </p:grpSpPr>
          <p:sp>
            <p:nvSpPr>
              <p:cNvPr id="1134" name="椭圆 1133">
                <a:extLst>
                  <a:ext uri="{FF2B5EF4-FFF2-40B4-BE49-F238E27FC236}">
                    <a16:creationId xmlns:a16="http://schemas.microsoft.com/office/drawing/2014/main" id="{52C7CC8B-9A30-96A4-431B-72C5C65E89F3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35" name="文本框 1134">
                <a:extLst>
                  <a:ext uri="{FF2B5EF4-FFF2-40B4-BE49-F238E27FC236}">
                    <a16:creationId xmlns:a16="http://schemas.microsoft.com/office/drawing/2014/main" id="{CDA1E2AD-B365-F0C4-4A72-8919C4C7AB8F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TFME</a:t>
                </a:r>
              </a:p>
            </p:txBody>
          </p:sp>
          <p:sp>
            <p:nvSpPr>
              <p:cNvPr id="1136" name="文本框 1135">
                <a:extLst>
                  <a:ext uri="{FF2B5EF4-FFF2-40B4-BE49-F238E27FC236}">
                    <a16:creationId xmlns:a16="http://schemas.microsoft.com/office/drawing/2014/main" id="{F1AE2283-CFA2-033E-ED32-7CB61B9DAB18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8%</a:t>
                </a:r>
              </a:p>
            </p:txBody>
          </p:sp>
        </p:grpSp>
      </p:grpSp>
      <p:grpSp>
        <p:nvGrpSpPr>
          <p:cNvPr id="1167" name="组合 1166">
            <a:extLst>
              <a:ext uri="{FF2B5EF4-FFF2-40B4-BE49-F238E27FC236}">
                <a16:creationId xmlns:a16="http://schemas.microsoft.com/office/drawing/2014/main" id="{C596BAA6-34DC-778F-18CF-D5DE9A4F943D}"/>
              </a:ext>
            </a:extLst>
          </p:cNvPr>
          <p:cNvGrpSpPr/>
          <p:nvPr/>
        </p:nvGrpSpPr>
        <p:grpSpPr>
          <a:xfrm>
            <a:off x="6423600" y="2267943"/>
            <a:ext cx="1859636" cy="3436660"/>
            <a:chOff x="4379834" y="2234081"/>
            <a:chExt cx="1859636" cy="3436660"/>
          </a:xfrm>
        </p:grpSpPr>
        <p:grpSp>
          <p:nvGrpSpPr>
            <p:cNvPr id="1137" name="组合 1136">
              <a:extLst>
                <a:ext uri="{FF2B5EF4-FFF2-40B4-BE49-F238E27FC236}">
                  <a16:creationId xmlns:a16="http://schemas.microsoft.com/office/drawing/2014/main" id="{57C8B67D-7A3C-78CD-E93A-CC8D1044EBC3}"/>
                </a:ext>
              </a:extLst>
            </p:cNvPr>
            <p:cNvGrpSpPr/>
            <p:nvPr/>
          </p:nvGrpSpPr>
          <p:grpSpPr>
            <a:xfrm>
              <a:off x="4379834" y="4399518"/>
              <a:ext cx="1331482" cy="351828"/>
              <a:chOff x="1199220" y="3403434"/>
              <a:chExt cx="1331482" cy="351828"/>
            </a:xfrm>
          </p:grpSpPr>
          <p:sp>
            <p:nvSpPr>
              <p:cNvPr id="1138" name="椭圆 1137">
                <a:extLst>
                  <a:ext uri="{FF2B5EF4-FFF2-40B4-BE49-F238E27FC236}">
                    <a16:creationId xmlns:a16="http://schemas.microsoft.com/office/drawing/2014/main" id="{9F1605C2-67B6-22F8-6E86-608787BE8964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39" name="文本框 1138">
                <a:extLst>
                  <a:ext uri="{FF2B5EF4-FFF2-40B4-BE49-F238E27FC236}">
                    <a16:creationId xmlns:a16="http://schemas.microsoft.com/office/drawing/2014/main" id="{C461AF54-BB11-1124-E8C4-F3193FD1D617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Marvell</a:t>
                </a:r>
              </a:p>
            </p:txBody>
          </p:sp>
          <p:sp>
            <p:nvSpPr>
              <p:cNvPr id="1140" name="文本框 1139">
                <a:extLst>
                  <a:ext uri="{FF2B5EF4-FFF2-40B4-BE49-F238E27FC236}">
                    <a16:creationId xmlns:a16="http://schemas.microsoft.com/office/drawing/2014/main" id="{ECBEC48D-6C10-D634-EA97-2B8CACB27CAC}"/>
                  </a:ext>
                </a:extLst>
              </p:cNvPr>
              <p:cNvSpPr txBox="1"/>
              <p:nvPr/>
            </p:nvSpPr>
            <p:spPr>
              <a:xfrm>
                <a:off x="1921102" y="3403434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20%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5nm</a:t>
                </a:r>
              </a:p>
            </p:txBody>
          </p:sp>
        </p:grpSp>
        <p:grpSp>
          <p:nvGrpSpPr>
            <p:cNvPr id="1141" name="组合 1140">
              <a:extLst>
                <a:ext uri="{FF2B5EF4-FFF2-40B4-BE49-F238E27FC236}">
                  <a16:creationId xmlns:a16="http://schemas.microsoft.com/office/drawing/2014/main" id="{693DA201-58E2-2E99-2272-2327CFC3C7E9}"/>
                </a:ext>
              </a:extLst>
            </p:cNvPr>
            <p:cNvGrpSpPr/>
            <p:nvPr/>
          </p:nvGrpSpPr>
          <p:grpSpPr>
            <a:xfrm>
              <a:off x="4379834" y="2234081"/>
              <a:ext cx="1417268" cy="351828"/>
              <a:chOff x="1199220" y="3414872"/>
              <a:chExt cx="1417268" cy="351828"/>
            </a:xfrm>
          </p:grpSpPr>
          <p:sp>
            <p:nvSpPr>
              <p:cNvPr id="1142" name="椭圆 1141">
                <a:extLst>
                  <a:ext uri="{FF2B5EF4-FFF2-40B4-BE49-F238E27FC236}">
                    <a16:creationId xmlns:a16="http://schemas.microsoft.com/office/drawing/2014/main" id="{9F8A8333-EC4F-60CA-E704-9270AA6B7620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43" name="文本框 1142">
                <a:extLst>
                  <a:ext uri="{FF2B5EF4-FFF2-40B4-BE49-F238E27FC236}">
                    <a16:creationId xmlns:a16="http://schemas.microsoft.com/office/drawing/2014/main" id="{6FD63A19-6B91-FDC6-16CC-6413CFDB7FA3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Broadcom</a:t>
                </a:r>
              </a:p>
            </p:txBody>
          </p:sp>
          <p:sp>
            <p:nvSpPr>
              <p:cNvPr id="1144" name="文本框 1143">
                <a:extLst>
                  <a:ext uri="{FF2B5EF4-FFF2-40B4-BE49-F238E27FC236}">
                    <a16:creationId xmlns:a16="http://schemas.microsoft.com/office/drawing/2014/main" id="{1588781D-7183-9FB7-8239-4404E345D6D0}"/>
                  </a:ext>
                </a:extLst>
              </p:cNvPr>
              <p:cNvSpPr txBox="1"/>
              <p:nvPr/>
            </p:nvSpPr>
            <p:spPr>
              <a:xfrm>
                <a:off x="2006888" y="3414872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62%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5nm</a:t>
                </a:r>
              </a:p>
            </p:txBody>
          </p:sp>
        </p:grpSp>
        <p:grpSp>
          <p:nvGrpSpPr>
            <p:cNvPr id="1145" name="组合 1144">
              <a:extLst>
                <a:ext uri="{FF2B5EF4-FFF2-40B4-BE49-F238E27FC236}">
                  <a16:creationId xmlns:a16="http://schemas.microsoft.com/office/drawing/2014/main" id="{CBE1BDB8-2320-A695-7437-DAFC89B57DD3}"/>
                </a:ext>
              </a:extLst>
            </p:cNvPr>
            <p:cNvGrpSpPr/>
            <p:nvPr/>
          </p:nvGrpSpPr>
          <p:grpSpPr>
            <a:xfrm>
              <a:off x="4379834" y="4697731"/>
              <a:ext cx="1323784" cy="279777"/>
              <a:chOff x="1199220" y="3427123"/>
              <a:chExt cx="1323784" cy="279777"/>
            </a:xfrm>
          </p:grpSpPr>
          <p:sp>
            <p:nvSpPr>
              <p:cNvPr id="1146" name="椭圆 1145">
                <a:extLst>
                  <a:ext uri="{FF2B5EF4-FFF2-40B4-BE49-F238E27FC236}">
                    <a16:creationId xmlns:a16="http://schemas.microsoft.com/office/drawing/2014/main" id="{18281B97-8904-CA92-3939-D14DDA4FDAF8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47" name="文本框 1146">
                <a:extLst>
                  <a:ext uri="{FF2B5EF4-FFF2-40B4-BE49-F238E27FC236}">
                    <a16:creationId xmlns:a16="http://schemas.microsoft.com/office/drawing/2014/main" id="{7CB05723-853A-DC84-9DFF-3425B483521D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Realtek</a:t>
                </a:r>
              </a:p>
            </p:txBody>
          </p:sp>
          <p:sp>
            <p:nvSpPr>
              <p:cNvPr id="1148" name="文本框 1147">
                <a:extLst>
                  <a:ext uri="{FF2B5EF4-FFF2-40B4-BE49-F238E27FC236}">
                    <a16:creationId xmlns:a16="http://schemas.microsoft.com/office/drawing/2014/main" id="{FDA11BD5-2633-32B0-ABB6-3DDD3FD1355C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16%</a:t>
                </a:r>
              </a:p>
            </p:txBody>
          </p:sp>
        </p:grpSp>
        <p:grpSp>
          <p:nvGrpSpPr>
            <p:cNvPr id="1149" name="组合 1148">
              <a:extLst>
                <a:ext uri="{FF2B5EF4-FFF2-40B4-BE49-F238E27FC236}">
                  <a16:creationId xmlns:a16="http://schemas.microsoft.com/office/drawing/2014/main" id="{80E7BD3A-5FCE-A6CD-52CF-FBDB8BA89A03}"/>
                </a:ext>
              </a:extLst>
            </p:cNvPr>
            <p:cNvGrpSpPr/>
            <p:nvPr/>
          </p:nvGrpSpPr>
          <p:grpSpPr>
            <a:xfrm>
              <a:off x="4379834" y="5318913"/>
              <a:ext cx="1859636" cy="351828"/>
              <a:chOff x="1210383" y="3436831"/>
              <a:chExt cx="1859636" cy="351828"/>
            </a:xfrm>
          </p:grpSpPr>
          <p:sp>
            <p:nvSpPr>
              <p:cNvPr id="1150" name="椭圆 1149">
                <a:extLst>
                  <a:ext uri="{FF2B5EF4-FFF2-40B4-BE49-F238E27FC236}">
                    <a16:creationId xmlns:a16="http://schemas.microsoft.com/office/drawing/2014/main" id="{D7FF41B1-B8CF-6FEF-7CFA-B7A4146A0A6D}"/>
                  </a:ext>
                </a:extLst>
              </p:cNvPr>
              <p:cNvSpPr/>
              <p:nvPr/>
            </p:nvSpPr>
            <p:spPr>
              <a:xfrm>
                <a:off x="1210383" y="3590279"/>
                <a:ext cx="98624" cy="98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51" name="文本框 1150">
                <a:extLst>
                  <a:ext uri="{FF2B5EF4-FFF2-40B4-BE49-F238E27FC236}">
                    <a16:creationId xmlns:a16="http://schemas.microsoft.com/office/drawing/2014/main" id="{600A7C75-12F1-52A1-26A6-AE8BD8F7D130}"/>
                  </a:ext>
                </a:extLst>
              </p:cNvPr>
              <p:cNvSpPr txBox="1"/>
              <p:nvPr/>
            </p:nvSpPr>
            <p:spPr>
              <a:xfrm>
                <a:off x="1259695" y="3501092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 err="1">
                    <a:cs typeface="+mn-ea"/>
                    <a:sym typeface="+mn-lt"/>
                  </a:rPr>
                  <a:t>Centec</a:t>
                </a:r>
                <a:endParaRPr lang="en-US" altLang="zh-CN" sz="1200" dirty="0">
                  <a:cs typeface="+mn-ea"/>
                  <a:sym typeface="+mn-lt"/>
                </a:endParaRPr>
              </a:p>
            </p:txBody>
          </p:sp>
          <p:sp>
            <p:nvSpPr>
              <p:cNvPr id="1152" name="文本框 1151">
                <a:extLst>
                  <a:ext uri="{FF2B5EF4-FFF2-40B4-BE49-F238E27FC236}">
                    <a16:creationId xmlns:a16="http://schemas.microsoft.com/office/drawing/2014/main" id="{A4E1AD7A-95EB-57EF-B22E-41E757F369A8}"/>
                  </a:ext>
                </a:extLst>
              </p:cNvPr>
              <p:cNvSpPr txBox="1"/>
              <p:nvPr/>
            </p:nvSpPr>
            <p:spPr>
              <a:xfrm>
                <a:off x="1932265" y="3436831"/>
                <a:ext cx="1137754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1.6%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16nm</a:t>
                </a:r>
              </a:p>
            </p:txBody>
          </p:sp>
        </p:grpSp>
      </p:grpSp>
      <p:grpSp>
        <p:nvGrpSpPr>
          <p:cNvPr id="1166" name="组合 1165">
            <a:extLst>
              <a:ext uri="{FF2B5EF4-FFF2-40B4-BE49-F238E27FC236}">
                <a16:creationId xmlns:a16="http://schemas.microsoft.com/office/drawing/2014/main" id="{BAAB9CDE-1928-FF1B-E376-60FCC6FC6AE1}"/>
              </a:ext>
            </a:extLst>
          </p:cNvPr>
          <p:cNvGrpSpPr/>
          <p:nvPr/>
        </p:nvGrpSpPr>
        <p:grpSpPr>
          <a:xfrm>
            <a:off x="7999936" y="2092029"/>
            <a:ext cx="1432921" cy="3457539"/>
            <a:chOff x="6052583" y="2055025"/>
            <a:chExt cx="1432921" cy="3457539"/>
          </a:xfrm>
        </p:grpSpPr>
        <p:grpSp>
          <p:nvGrpSpPr>
            <p:cNvPr id="1153" name="组合 1152">
              <a:extLst>
                <a:ext uri="{FF2B5EF4-FFF2-40B4-BE49-F238E27FC236}">
                  <a16:creationId xmlns:a16="http://schemas.microsoft.com/office/drawing/2014/main" id="{2B686DEF-C320-552A-4202-DDCF537FFB62}"/>
                </a:ext>
              </a:extLst>
            </p:cNvPr>
            <p:cNvGrpSpPr/>
            <p:nvPr/>
          </p:nvGrpSpPr>
          <p:grpSpPr>
            <a:xfrm>
              <a:off x="6052583" y="2055025"/>
              <a:ext cx="1417268" cy="351828"/>
              <a:chOff x="1199220" y="3414872"/>
              <a:chExt cx="1417268" cy="351828"/>
            </a:xfrm>
          </p:grpSpPr>
          <p:sp>
            <p:nvSpPr>
              <p:cNvPr id="1154" name="椭圆 1153">
                <a:extLst>
                  <a:ext uri="{FF2B5EF4-FFF2-40B4-BE49-F238E27FC236}">
                    <a16:creationId xmlns:a16="http://schemas.microsoft.com/office/drawing/2014/main" id="{54EFD5FF-BEA5-A055-A43B-12DCA5F39827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55" name="文本框 1154">
                <a:extLst>
                  <a:ext uri="{FF2B5EF4-FFF2-40B4-BE49-F238E27FC236}">
                    <a16:creationId xmlns:a16="http://schemas.microsoft.com/office/drawing/2014/main" id="{05F706B8-4AA9-B86C-1BB8-C1AD3DBD8BD4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Marvell</a:t>
                </a:r>
              </a:p>
            </p:txBody>
          </p:sp>
          <p:sp>
            <p:nvSpPr>
              <p:cNvPr id="1156" name="文本框 1155">
                <a:extLst>
                  <a:ext uri="{FF2B5EF4-FFF2-40B4-BE49-F238E27FC236}">
                    <a16:creationId xmlns:a16="http://schemas.microsoft.com/office/drawing/2014/main" id="{8ADA7060-3AF7-69B4-77CF-068181E211BB}"/>
                  </a:ext>
                </a:extLst>
              </p:cNvPr>
              <p:cNvSpPr txBox="1"/>
              <p:nvPr/>
            </p:nvSpPr>
            <p:spPr>
              <a:xfrm>
                <a:off x="2006888" y="3414872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65%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3nm</a:t>
                </a:r>
              </a:p>
            </p:txBody>
          </p:sp>
        </p:grpSp>
        <p:grpSp>
          <p:nvGrpSpPr>
            <p:cNvPr id="1157" name="组合 1156">
              <a:extLst>
                <a:ext uri="{FF2B5EF4-FFF2-40B4-BE49-F238E27FC236}">
                  <a16:creationId xmlns:a16="http://schemas.microsoft.com/office/drawing/2014/main" id="{5CCF344C-7726-169E-85A7-836DC666D811}"/>
                </a:ext>
              </a:extLst>
            </p:cNvPr>
            <p:cNvGrpSpPr/>
            <p:nvPr/>
          </p:nvGrpSpPr>
          <p:grpSpPr>
            <a:xfrm>
              <a:off x="6052583" y="4423761"/>
              <a:ext cx="1417268" cy="351828"/>
              <a:chOff x="1199220" y="3414872"/>
              <a:chExt cx="1417268" cy="351828"/>
            </a:xfrm>
          </p:grpSpPr>
          <p:sp>
            <p:nvSpPr>
              <p:cNvPr id="1158" name="椭圆 1157">
                <a:extLst>
                  <a:ext uri="{FF2B5EF4-FFF2-40B4-BE49-F238E27FC236}">
                    <a16:creationId xmlns:a16="http://schemas.microsoft.com/office/drawing/2014/main" id="{124C6199-D17C-6C40-0B52-5F6577CE9700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59" name="文本框 1158">
                <a:extLst>
                  <a:ext uri="{FF2B5EF4-FFF2-40B4-BE49-F238E27FC236}">
                    <a16:creationId xmlns:a16="http://schemas.microsoft.com/office/drawing/2014/main" id="{4120408B-AFC4-77F7-6A85-C0CD2EB6377F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Broadcom</a:t>
                </a:r>
              </a:p>
            </p:txBody>
          </p:sp>
          <p:sp>
            <p:nvSpPr>
              <p:cNvPr id="1160" name="文本框 1159">
                <a:extLst>
                  <a:ext uri="{FF2B5EF4-FFF2-40B4-BE49-F238E27FC236}">
                    <a16:creationId xmlns:a16="http://schemas.microsoft.com/office/drawing/2014/main" id="{7492B719-61FE-3144-D613-1243085EBE6E}"/>
                  </a:ext>
                </a:extLst>
              </p:cNvPr>
              <p:cNvSpPr txBox="1"/>
              <p:nvPr/>
            </p:nvSpPr>
            <p:spPr>
              <a:xfrm>
                <a:off x="2006888" y="3414872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20%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3nm</a:t>
                </a:r>
              </a:p>
            </p:txBody>
          </p:sp>
        </p:grpSp>
        <p:grpSp>
          <p:nvGrpSpPr>
            <p:cNvPr id="1161" name="组合 1160">
              <a:extLst>
                <a:ext uri="{FF2B5EF4-FFF2-40B4-BE49-F238E27FC236}">
                  <a16:creationId xmlns:a16="http://schemas.microsoft.com/office/drawing/2014/main" id="{5EEE5114-6C8A-3945-DA05-C59D51BB9972}"/>
                </a:ext>
              </a:extLst>
            </p:cNvPr>
            <p:cNvGrpSpPr/>
            <p:nvPr/>
          </p:nvGrpSpPr>
          <p:grpSpPr>
            <a:xfrm>
              <a:off x="6052583" y="5172471"/>
              <a:ext cx="1432921" cy="340093"/>
              <a:chOff x="1199220" y="3404600"/>
              <a:chExt cx="1432921" cy="340093"/>
            </a:xfrm>
          </p:grpSpPr>
          <p:sp>
            <p:nvSpPr>
              <p:cNvPr id="1162" name="椭圆 1161">
                <a:extLst>
                  <a:ext uri="{FF2B5EF4-FFF2-40B4-BE49-F238E27FC236}">
                    <a16:creationId xmlns:a16="http://schemas.microsoft.com/office/drawing/2014/main" id="{AA314420-34A9-161E-C997-E14D44B5EA9A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63" name="文本框 1162">
                <a:extLst>
                  <a:ext uri="{FF2B5EF4-FFF2-40B4-BE49-F238E27FC236}">
                    <a16:creationId xmlns:a16="http://schemas.microsoft.com/office/drawing/2014/main" id="{FB7991D8-44FB-7BD7-3525-AAFE5C0210FC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Credo</a:t>
                </a:r>
              </a:p>
            </p:txBody>
          </p:sp>
          <p:sp>
            <p:nvSpPr>
              <p:cNvPr id="1164" name="文本框 1163">
                <a:extLst>
                  <a:ext uri="{FF2B5EF4-FFF2-40B4-BE49-F238E27FC236}">
                    <a16:creationId xmlns:a16="http://schemas.microsoft.com/office/drawing/2014/main" id="{9699E8C2-F7C2-1344-944E-0F4798114955}"/>
                  </a:ext>
                </a:extLst>
              </p:cNvPr>
              <p:cNvSpPr txBox="1"/>
              <p:nvPr/>
            </p:nvSpPr>
            <p:spPr>
              <a:xfrm>
                <a:off x="2022541" y="3404600"/>
                <a:ext cx="609600" cy="3400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&lt;5%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3nm</a:t>
                </a:r>
              </a:p>
            </p:txBody>
          </p:sp>
        </p:grpSp>
      </p:grpSp>
      <p:sp>
        <p:nvSpPr>
          <p:cNvPr id="1171" name="椭圆 1170">
            <a:extLst>
              <a:ext uri="{FF2B5EF4-FFF2-40B4-BE49-F238E27FC236}">
                <a16:creationId xmlns:a16="http://schemas.microsoft.com/office/drawing/2014/main" id="{6FCB387F-FCE7-5083-5A2F-B5969890412A}"/>
              </a:ext>
            </a:extLst>
          </p:cNvPr>
          <p:cNvSpPr/>
          <p:nvPr/>
        </p:nvSpPr>
        <p:spPr>
          <a:xfrm>
            <a:off x="4999272" y="1196447"/>
            <a:ext cx="98624" cy="986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172" name="矩形 1171">
            <a:extLst>
              <a:ext uri="{FF2B5EF4-FFF2-40B4-BE49-F238E27FC236}">
                <a16:creationId xmlns:a16="http://schemas.microsoft.com/office/drawing/2014/main" id="{FDED4D4B-4032-77DC-4320-D9A589CACBF8}"/>
              </a:ext>
            </a:extLst>
          </p:cNvPr>
          <p:cNvSpPr/>
          <p:nvPr/>
        </p:nvSpPr>
        <p:spPr>
          <a:xfrm>
            <a:off x="5099241" y="1043709"/>
            <a:ext cx="106994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75" name="椭圆 1174">
            <a:extLst>
              <a:ext uri="{FF2B5EF4-FFF2-40B4-BE49-F238E27FC236}">
                <a16:creationId xmlns:a16="http://schemas.microsoft.com/office/drawing/2014/main" id="{54C6257E-5B42-FE2C-4FC7-A58AD84368D8}"/>
              </a:ext>
            </a:extLst>
          </p:cNvPr>
          <p:cNvSpPr/>
          <p:nvPr/>
        </p:nvSpPr>
        <p:spPr>
          <a:xfrm>
            <a:off x="6170528" y="1196447"/>
            <a:ext cx="98624" cy="9862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176" name="矩形 1175">
            <a:extLst>
              <a:ext uri="{FF2B5EF4-FFF2-40B4-BE49-F238E27FC236}">
                <a16:creationId xmlns:a16="http://schemas.microsoft.com/office/drawing/2014/main" id="{237729D4-1F47-254A-2119-6132C3A4B7AE}"/>
              </a:ext>
            </a:extLst>
          </p:cNvPr>
          <p:cNvSpPr/>
          <p:nvPr/>
        </p:nvSpPr>
        <p:spPr>
          <a:xfrm>
            <a:off x="6270498" y="1043709"/>
            <a:ext cx="1157330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Overseas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80" name="矩形 1179">
            <a:extLst>
              <a:ext uri="{FF2B5EF4-FFF2-40B4-BE49-F238E27FC236}">
                <a16:creationId xmlns:a16="http://schemas.microsoft.com/office/drawing/2014/main" id="{35D5AC3B-876C-173F-492B-7F034B52437E}"/>
              </a:ext>
            </a:extLst>
          </p:cNvPr>
          <p:cNvSpPr/>
          <p:nvPr/>
        </p:nvSpPr>
        <p:spPr>
          <a:xfrm>
            <a:off x="3295534" y="1438591"/>
            <a:ext cx="2337164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Optics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81" name="矩形 1180">
            <a:extLst>
              <a:ext uri="{FF2B5EF4-FFF2-40B4-BE49-F238E27FC236}">
                <a16:creationId xmlns:a16="http://schemas.microsoft.com/office/drawing/2014/main" id="{7047E656-C296-97EA-477B-E7DB5A36F749}"/>
              </a:ext>
            </a:extLst>
          </p:cNvPr>
          <p:cNvSpPr/>
          <p:nvPr/>
        </p:nvSpPr>
        <p:spPr>
          <a:xfrm>
            <a:off x="6492792" y="1453223"/>
            <a:ext cx="2524580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Electronics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682971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7EE77-1C8F-DB66-64C5-FA439EB9E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B6A44435-7579-619C-5697-A19EB91F307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207516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6A44435-7579-619C-5697-A19EB91F30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6B26BEBA-45D4-5A9F-54A3-D5E29DFEE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Broadcom 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industry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chain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B64B2BB-02EB-F2EB-5E33-1AC45D0FCFFF}"/>
              </a:ext>
            </a:extLst>
          </p:cNvPr>
          <p:cNvSpPr txBox="1"/>
          <p:nvPr/>
        </p:nvSpPr>
        <p:spPr>
          <a:xfrm>
            <a:off x="419231" y="6370193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Broadcom.</a:t>
            </a: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像" descr="图像">
            <a:extLst>
              <a:ext uri="{FF2B5EF4-FFF2-40B4-BE49-F238E27FC236}">
                <a16:creationId xmlns:a16="http://schemas.microsoft.com/office/drawing/2014/main" id="{BBD26E14-4CDD-302D-F65D-136D1C56D9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3513" y="4240526"/>
            <a:ext cx="689931" cy="154884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图像" descr="图像">
            <a:extLst>
              <a:ext uri="{FF2B5EF4-FFF2-40B4-BE49-F238E27FC236}">
                <a16:creationId xmlns:a16="http://schemas.microsoft.com/office/drawing/2014/main" id="{FE0193AE-9ECD-6C59-1CD3-7DFB441AA7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691" y="1993831"/>
            <a:ext cx="640576" cy="308849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图像" descr="图像">
            <a:extLst>
              <a:ext uri="{FF2B5EF4-FFF2-40B4-BE49-F238E27FC236}">
                <a16:creationId xmlns:a16="http://schemas.microsoft.com/office/drawing/2014/main" id="{E67EDC91-980D-2644-AFEE-3BA8BA7FC30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29736" b="29786"/>
          <a:stretch>
            <a:fillRect/>
          </a:stretch>
        </p:blipFill>
        <p:spPr>
          <a:xfrm>
            <a:off x="9582905" y="3194858"/>
            <a:ext cx="690031" cy="1250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686"/>
                </a:lnTo>
                <a:lnTo>
                  <a:pt x="4832" y="686"/>
                </a:lnTo>
                <a:cubicBezTo>
                  <a:pt x="9969" y="652"/>
                  <a:pt x="10193" y="636"/>
                  <a:pt x="9266" y="1166"/>
                </a:cubicBezTo>
                <a:cubicBezTo>
                  <a:pt x="8789" y="1438"/>
                  <a:pt x="8072" y="2110"/>
                  <a:pt x="7651" y="2674"/>
                </a:cubicBezTo>
                <a:lnTo>
                  <a:pt x="7316" y="3154"/>
                </a:lnTo>
                <a:lnTo>
                  <a:pt x="7266" y="4594"/>
                </a:lnTo>
                <a:cubicBezTo>
                  <a:pt x="7238" y="5380"/>
                  <a:pt x="7224" y="6007"/>
                  <a:pt x="7229" y="6034"/>
                </a:cubicBezTo>
                <a:cubicBezTo>
                  <a:pt x="7234" y="6062"/>
                  <a:pt x="7336" y="5958"/>
                  <a:pt x="7453" y="5760"/>
                </a:cubicBezTo>
                <a:cubicBezTo>
                  <a:pt x="7705" y="5332"/>
                  <a:pt x="8346" y="4367"/>
                  <a:pt x="8707" y="3909"/>
                </a:cubicBezTo>
                <a:cubicBezTo>
                  <a:pt x="9236" y="3238"/>
                  <a:pt x="10439" y="2121"/>
                  <a:pt x="10856" y="1920"/>
                </a:cubicBezTo>
                <a:cubicBezTo>
                  <a:pt x="10943" y="1878"/>
                  <a:pt x="11173" y="1815"/>
                  <a:pt x="11365" y="1714"/>
                </a:cubicBezTo>
                <a:cubicBezTo>
                  <a:pt x="11557" y="1614"/>
                  <a:pt x="11881" y="1486"/>
                  <a:pt x="12086" y="1440"/>
                </a:cubicBezTo>
                <a:cubicBezTo>
                  <a:pt x="12469" y="1354"/>
                  <a:pt x="12471" y="1240"/>
                  <a:pt x="12123" y="1029"/>
                </a:cubicBezTo>
                <a:cubicBezTo>
                  <a:pt x="12042" y="979"/>
                  <a:pt x="11974" y="891"/>
                  <a:pt x="11974" y="823"/>
                </a:cubicBezTo>
                <a:cubicBezTo>
                  <a:pt x="11974" y="700"/>
                  <a:pt x="13458" y="568"/>
                  <a:pt x="13514" y="686"/>
                </a:cubicBezTo>
                <a:cubicBezTo>
                  <a:pt x="13532" y="725"/>
                  <a:pt x="13526" y="934"/>
                  <a:pt x="13489" y="1440"/>
                </a:cubicBezTo>
                <a:cubicBezTo>
                  <a:pt x="13460" y="1837"/>
                  <a:pt x="13396" y="2762"/>
                  <a:pt x="13353" y="3429"/>
                </a:cubicBezTo>
                <a:lnTo>
                  <a:pt x="13278" y="4594"/>
                </a:lnTo>
                <a:lnTo>
                  <a:pt x="13986" y="4594"/>
                </a:lnTo>
                <a:lnTo>
                  <a:pt x="14694" y="4526"/>
                </a:lnTo>
                <a:lnTo>
                  <a:pt x="14731" y="3771"/>
                </a:lnTo>
                <a:cubicBezTo>
                  <a:pt x="14781" y="2480"/>
                  <a:pt x="14813" y="2644"/>
                  <a:pt x="14309" y="2606"/>
                </a:cubicBezTo>
                <a:cubicBezTo>
                  <a:pt x="13799" y="2567"/>
                  <a:pt x="13832" y="2667"/>
                  <a:pt x="13936" y="1371"/>
                </a:cubicBezTo>
                <a:lnTo>
                  <a:pt x="13986" y="617"/>
                </a:lnTo>
                <a:lnTo>
                  <a:pt x="14682" y="617"/>
                </a:lnTo>
                <a:cubicBezTo>
                  <a:pt x="15063" y="617"/>
                  <a:pt x="15384" y="653"/>
                  <a:pt x="15390" y="686"/>
                </a:cubicBezTo>
                <a:cubicBezTo>
                  <a:pt x="15399" y="738"/>
                  <a:pt x="15378" y="1498"/>
                  <a:pt x="15327" y="3086"/>
                </a:cubicBezTo>
                <a:lnTo>
                  <a:pt x="15315" y="3497"/>
                </a:lnTo>
                <a:lnTo>
                  <a:pt x="15539" y="3497"/>
                </a:lnTo>
                <a:lnTo>
                  <a:pt x="15762" y="3497"/>
                </a:lnTo>
                <a:lnTo>
                  <a:pt x="15824" y="2126"/>
                </a:lnTo>
                <a:lnTo>
                  <a:pt x="15899" y="686"/>
                </a:lnTo>
                <a:lnTo>
                  <a:pt x="16073" y="686"/>
                </a:lnTo>
                <a:cubicBezTo>
                  <a:pt x="16170" y="666"/>
                  <a:pt x="16260" y="690"/>
                  <a:pt x="16271" y="754"/>
                </a:cubicBezTo>
                <a:cubicBezTo>
                  <a:pt x="16285" y="827"/>
                  <a:pt x="16270" y="1350"/>
                  <a:pt x="16234" y="2126"/>
                </a:cubicBezTo>
                <a:cubicBezTo>
                  <a:pt x="16202" y="2811"/>
                  <a:pt x="16172" y="3390"/>
                  <a:pt x="16172" y="3429"/>
                </a:cubicBezTo>
                <a:cubicBezTo>
                  <a:pt x="16172" y="3467"/>
                  <a:pt x="16287" y="3498"/>
                  <a:pt x="16420" y="3497"/>
                </a:cubicBezTo>
                <a:lnTo>
                  <a:pt x="16656" y="3497"/>
                </a:lnTo>
                <a:lnTo>
                  <a:pt x="16743" y="2126"/>
                </a:lnTo>
                <a:lnTo>
                  <a:pt x="16843" y="686"/>
                </a:lnTo>
                <a:lnTo>
                  <a:pt x="17551" y="686"/>
                </a:lnTo>
                <a:lnTo>
                  <a:pt x="18259" y="686"/>
                </a:lnTo>
                <a:lnTo>
                  <a:pt x="18246" y="1029"/>
                </a:lnTo>
                <a:cubicBezTo>
                  <a:pt x="18242" y="1198"/>
                  <a:pt x="18223" y="1477"/>
                  <a:pt x="18209" y="1714"/>
                </a:cubicBezTo>
                <a:cubicBezTo>
                  <a:pt x="18180" y="2201"/>
                  <a:pt x="18224" y="2145"/>
                  <a:pt x="17725" y="2743"/>
                </a:cubicBezTo>
                <a:cubicBezTo>
                  <a:pt x="17542" y="2962"/>
                  <a:pt x="17369" y="3217"/>
                  <a:pt x="17352" y="3291"/>
                </a:cubicBezTo>
                <a:cubicBezTo>
                  <a:pt x="17326" y="3409"/>
                  <a:pt x="17228" y="5196"/>
                  <a:pt x="17228" y="5554"/>
                </a:cubicBezTo>
                <a:cubicBezTo>
                  <a:pt x="17228" y="5625"/>
                  <a:pt x="17387" y="5443"/>
                  <a:pt x="17576" y="5143"/>
                </a:cubicBezTo>
                <a:cubicBezTo>
                  <a:pt x="17956" y="4538"/>
                  <a:pt x="18085" y="4434"/>
                  <a:pt x="18072" y="4731"/>
                </a:cubicBezTo>
                <a:cubicBezTo>
                  <a:pt x="18068" y="4834"/>
                  <a:pt x="18047" y="5422"/>
                  <a:pt x="18023" y="6034"/>
                </a:cubicBezTo>
                <a:cubicBezTo>
                  <a:pt x="17999" y="6647"/>
                  <a:pt x="17964" y="7192"/>
                  <a:pt x="17948" y="7269"/>
                </a:cubicBezTo>
                <a:cubicBezTo>
                  <a:pt x="17933" y="7345"/>
                  <a:pt x="17792" y="7624"/>
                  <a:pt x="17638" y="7886"/>
                </a:cubicBezTo>
                <a:cubicBezTo>
                  <a:pt x="17483" y="8147"/>
                  <a:pt x="17341" y="8430"/>
                  <a:pt x="17327" y="8503"/>
                </a:cubicBezTo>
                <a:cubicBezTo>
                  <a:pt x="17299" y="8647"/>
                  <a:pt x="17198" y="10945"/>
                  <a:pt x="17215" y="11040"/>
                </a:cubicBezTo>
                <a:cubicBezTo>
                  <a:pt x="17221" y="11072"/>
                  <a:pt x="17358" y="10831"/>
                  <a:pt x="17514" y="10560"/>
                </a:cubicBezTo>
                <a:cubicBezTo>
                  <a:pt x="17669" y="10289"/>
                  <a:pt x="17794" y="10168"/>
                  <a:pt x="17799" y="10217"/>
                </a:cubicBezTo>
                <a:cubicBezTo>
                  <a:pt x="17805" y="10266"/>
                  <a:pt x="17771" y="11153"/>
                  <a:pt x="17725" y="12206"/>
                </a:cubicBezTo>
                <a:lnTo>
                  <a:pt x="17650" y="14126"/>
                </a:lnTo>
                <a:lnTo>
                  <a:pt x="17315" y="14194"/>
                </a:lnTo>
                <a:lnTo>
                  <a:pt x="16979" y="14194"/>
                </a:lnTo>
                <a:lnTo>
                  <a:pt x="16930" y="15291"/>
                </a:lnTo>
                <a:lnTo>
                  <a:pt x="16880" y="16389"/>
                </a:lnTo>
                <a:lnTo>
                  <a:pt x="17377" y="16389"/>
                </a:lnTo>
                <a:cubicBezTo>
                  <a:pt x="17926" y="16389"/>
                  <a:pt x="18001" y="16305"/>
                  <a:pt x="18072" y="15703"/>
                </a:cubicBezTo>
                <a:cubicBezTo>
                  <a:pt x="18094" y="15525"/>
                  <a:pt x="18229" y="12893"/>
                  <a:pt x="18371" y="9806"/>
                </a:cubicBezTo>
                <a:cubicBezTo>
                  <a:pt x="18512" y="6719"/>
                  <a:pt x="18639" y="4053"/>
                  <a:pt x="18656" y="3909"/>
                </a:cubicBezTo>
                <a:cubicBezTo>
                  <a:pt x="18680" y="3705"/>
                  <a:pt x="18731" y="3612"/>
                  <a:pt x="18867" y="3497"/>
                </a:cubicBezTo>
                <a:cubicBezTo>
                  <a:pt x="19492" y="2970"/>
                  <a:pt x="19789" y="2764"/>
                  <a:pt x="19811" y="2811"/>
                </a:cubicBezTo>
                <a:cubicBezTo>
                  <a:pt x="19840" y="2870"/>
                  <a:pt x="19822" y="3713"/>
                  <a:pt x="19787" y="3909"/>
                </a:cubicBezTo>
                <a:cubicBezTo>
                  <a:pt x="19776" y="3967"/>
                  <a:pt x="19586" y="4027"/>
                  <a:pt x="19364" y="4046"/>
                </a:cubicBezTo>
                <a:lnTo>
                  <a:pt x="18954" y="4046"/>
                </a:lnTo>
                <a:lnTo>
                  <a:pt x="18942" y="4389"/>
                </a:lnTo>
                <a:cubicBezTo>
                  <a:pt x="18934" y="4559"/>
                  <a:pt x="18913" y="4887"/>
                  <a:pt x="18905" y="5143"/>
                </a:cubicBezTo>
                <a:lnTo>
                  <a:pt x="18892" y="5623"/>
                </a:lnTo>
                <a:lnTo>
                  <a:pt x="19302" y="5623"/>
                </a:lnTo>
                <a:cubicBezTo>
                  <a:pt x="19525" y="5623"/>
                  <a:pt x="19706" y="5640"/>
                  <a:pt x="19712" y="5691"/>
                </a:cubicBezTo>
                <a:cubicBezTo>
                  <a:pt x="19718" y="5743"/>
                  <a:pt x="19716" y="5952"/>
                  <a:pt x="19700" y="6171"/>
                </a:cubicBezTo>
                <a:lnTo>
                  <a:pt x="19662" y="6583"/>
                </a:lnTo>
                <a:lnTo>
                  <a:pt x="19252" y="6651"/>
                </a:lnTo>
                <a:lnTo>
                  <a:pt x="18843" y="6651"/>
                </a:lnTo>
                <a:lnTo>
                  <a:pt x="18818" y="7131"/>
                </a:lnTo>
                <a:cubicBezTo>
                  <a:pt x="18804" y="7404"/>
                  <a:pt x="18789" y="7835"/>
                  <a:pt x="18780" y="8023"/>
                </a:cubicBezTo>
                <a:lnTo>
                  <a:pt x="18756" y="8297"/>
                </a:lnTo>
                <a:lnTo>
                  <a:pt x="19165" y="8297"/>
                </a:lnTo>
                <a:cubicBezTo>
                  <a:pt x="19507" y="8297"/>
                  <a:pt x="19577" y="8345"/>
                  <a:pt x="19588" y="8503"/>
                </a:cubicBezTo>
                <a:cubicBezTo>
                  <a:pt x="19595" y="8606"/>
                  <a:pt x="19591" y="8813"/>
                  <a:pt x="19575" y="8914"/>
                </a:cubicBezTo>
                <a:cubicBezTo>
                  <a:pt x="19553" y="9065"/>
                  <a:pt x="19464" y="9051"/>
                  <a:pt x="19128" y="9051"/>
                </a:cubicBezTo>
                <a:lnTo>
                  <a:pt x="18718" y="9051"/>
                </a:lnTo>
                <a:lnTo>
                  <a:pt x="18681" y="9874"/>
                </a:lnTo>
                <a:cubicBezTo>
                  <a:pt x="18661" y="10315"/>
                  <a:pt x="18644" y="10730"/>
                  <a:pt x="18644" y="10766"/>
                </a:cubicBezTo>
                <a:cubicBezTo>
                  <a:pt x="18644" y="10801"/>
                  <a:pt x="18828" y="10816"/>
                  <a:pt x="19054" y="10834"/>
                </a:cubicBezTo>
                <a:lnTo>
                  <a:pt x="19476" y="10903"/>
                </a:lnTo>
                <a:lnTo>
                  <a:pt x="19476" y="11177"/>
                </a:lnTo>
                <a:cubicBezTo>
                  <a:pt x="19476" y="11336"/>
                  <a:pt x="19446" y="12026"/>
                  <a:pt x="19414" y="12754"/>
                </a:cubicBezTo>
                <a:cubicBezTo>
                  <a:pt x="19358" y="14004"/>
                  <a:pt x="19353" y="14087"/>
                  <a:pt x="19302" y="14057"/>
                </a:cubicBezTo>
                <a:cubicBezTo>
                  <a:pt x="19272" y="14040"/>
                  <a:pt x="19201" y="13786"/>
                  <a:pt x="19153" y="13509"/>
                </a:cubicBezTo>
                <a:cubicBezTo>
                  <a:pt x="19064" y="12990"/>
                  <a:pt x="19067" y="12850"/>
                  <a:pt x="19116" y="11931"/>
                </a:cubicBezTo>
                <a:cubicBezTo>
                  <a:pt x="19126" y="11734"/>
                  <a:pt x="19101" y="11657"/>
                  <a:pt x="18867" y="11657"/>
                </a:cubicBezTo>
                <a:lnTo>
                  <a:pt x="18607" y="11657"/>
                </a:lnTo>
                <a:lnTo>
                  <a:pt x="18507" y="13920"/>
                </a:lnTo>
                <a:cubicBezTo>
                  <a:pt x="18450" y="15138"/>
                  <a:pt x="18395" y="16173"/>
                  <a:pt x="18395" y="16251"/>
                </a:cubicBezTo>
                <a:cubicBezTo>
                  <a:pt x="18395" y="16351"/>
                  <a:pt x="18472" y="16389"/>
                  <a:pt x="18644" y="16389"/>
                </a:cubicBezTo>
                <a:cubicBezTo>
                  <a:pt x="18889" y="16389"/>
                  <a:pt x="18896" y="16427"/>
                  <a:pt x="18917" y="16114"/>
                </a:cubicBezTo>
                <a:lnTo>
                  <a:pt x="18942" y="15771"/>
                </a:lnTo>
                <a:lnTo>
                  <a:pt x="19041" y="16114"/>
                </a:lnTo>
                <a:lnTo>
                  <a:pt x="19141" y="16389"/>
                </a:lnTo>
                <a:lnTo>
                  <a:pt x="19960" y="16389"/>
                </a:lnTo>
                <a:lnTo>
                  <a:pt x="20768" y="16320"/>
                </a:lnTo>
                <a:lnTo>
                  <a:pt x="20805" y="15497"/>
                </a:lnTo>
                <a:cubicBezTo>
                  <a:pt x="20825" y="15053"/>
                  <a:pt x="20852" y="14622"/>
                  <a:pt x="20867" y="14469"/>
                </a:cubicBezTo>
                <a:lnTo>
                  <a:pt x="20904" y="14194"/>
                </a:lnTo>
                <a:lnTo>
                  <a:pt x="20395" y="14194"/>
                </a:lnTo>
                <a:cubicBezTo>
                  <a:pt x="20113" y="14194"/>
                  <a:pt x="19881" y="14121"/>
                  <a:pt x="19873" y="14057"/>
                </a:cubicBezTo>
                <a:cubicBezTo>
                  <a:pt x="19866" y="13995"/>
                  <a:pt x="19874" y="13820"/>
                  <a:pt x="19886" y="13646"/>
                </a:cubicBezTo>
                <a:lnTo>
                  <a:pt x="19911" y="13303"/>
                </a:lnTo>
                <a:lnTo>
                  <a:pt x="20259" y="13234"/>
                </a:lnTo>
                <a:lnTo>
                  <a:pt x="20619" y="13234"/>
                </a:lnTo>
                <a:lnTo>
                  <a:pt x="20656" y="12480"/>
                </a:lnTo>
                <a:lnTo>
                  <a:pt x="20693" y="11726"/>
                </a:lnTo>
                <a:lnTo>
                  <a:pt x="20333" y="11657"/>
                </a:lnTo>
                <a:cubicBezTo>
                  <a:pt x="20002" y="11599"/>
                  <a:pt x="19987" y="11617"/>
                  <a:pt x="19985" y="11383"/>
                </a:cubicBezTo>
                <a:cubicBezTo>
                  <a:pt x="19981" y="10731"/>
                  <a:pt x="20003" y="10698"/>
                  <a:pt x="20358" y="10697"/>
                </a:cubicBezTo>
                <a:cubicBezTo>
                  <a:pt x="20779" y="10697"/>
                  <a:pt x="20800" y="10642"/>
                  <a:pt x="20880" y="9326"/>
                </a:cubicBezTo>
                <a:cubicBezTo>
                  <a:pt x="20934" y="8429"/>
                  <a:pt x="20943" y="8358"/>
                  <a:pt x="21029" y="8297"/>
                </a:cubicBezTo>
                <a:cubicBezTo>
                  <a:pt x="21111" y="8238"/>
                  <a:pt x="21113" y="8271"/>
                  <a:pt x="21140" y="7680"/>
                </a:cubicBezTo>
                <a:cubicBezTo>
                  <a:pt x="21185" y="6719"/>
                  <a:pt x="21183" y="6446"/>
                  <a:pt x="21116" y="6446"/>
                </a:cubicBezTo>
                <a:cubicBezTo>
                  <a:pt x="21084" y="6446"/>
                  <a:pt x="21047" y="6398"/>
                  <a:pt x="21041" y="6309"/>
                </a:cubicBezTo>
                <a:cubicBezTo>
                  <a:pt x="21035" y="6220"/>
                  <a:pt x="21053" y="5651"/>
                  <a:pt x="21078" y="5074"/>
                </a:cubicBezTo>
                <a:cubicBezTo>
                  <a:pt x="21103" y="4498"/>
                  <a:pt x="21128" y="4028"/>
                  <a:pt x="21128" y="3977"/>
                </a:cubicBezTo>
                <a:cubicBezTo>
                  <a:pt x="21128" y="3926"/>
                  <a:pt x="20946" y="3840"/>
                  <a:pt x="20731" y="3840"/>
                </a:cubicBezTo>
                <a:cubicBezTo>
                  <a:pt x="20499" y="3840"/>
                  <a:pt x="20329" y="3843"/>
                  <a:pt x="20321" y="3771"/>
                </a:cubicBezTo>
                <a:cubicBezTo>
                  <a:pt x="20297" y="3558"/>
                  <a:pt x="20361" y="2605"/>
                  <a:pt x="20408" y="2469"/>
                </a:cubicBezTo>
                <a:cubicBezTo>
                  <a:pt x="20435" y="2388"/>
                  <a:pt x="20665" y="2347"/>
                  <a:pt x="21016" y="2331"/>
                </a:cubicBezTo>
                <a:lnTo>
                  <a:pt x="21600" y="2331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783" y="1303"/>
                </a:moveTo>
                <a:lnTo>
                  <a:pt x="696" y="2400"/>
                </a:lnTo>
                <a:lnTo>
                  <a:pt x="609" y="3429"/>
                </a:lnTo>
                <a:lnTo>
                  <a:pt x="1851" y="3497"/>
                </a:lnTo>
                <a:cubicBezTo>
                  <a:pt x="3226" y="3566"/>
                  <a:pt x="3181" y="3534"/>
                  <a:pt x="3341" y="4389"/>
                </a:cubicBezTo>
                <a:cubicBezTo>
                  <a:pt x="3399" y="4696"/>
                  <a:pt x="3416" y="4902"/>
                  <a:pt x="3416" y="5280"/>
                </a:cubicBezTo>
                <a:cubicBezTo>
                  <a:pt x="3416" y="5684"/>
                  <a:pt x="3397" y="5834"/>
                  <a:pt x="3304" y="6377"/>
                </a:cubicBezTo>
                <a:cubicBezTo>
                  <a:pt x="3115" y="7478"/>
                  <a:pt x="2813" y="8359"/>
                  <a:pt x="2211" y="9463"/>
                </a:cubicBezTo>
                <a:lnTo>
                  <a:pt x="1888" y="10011"/>
                </a:lnTo>
                <a:lnTo>
                  <a:pt x="2372" y="12686"/>
                </a:lnTo>
                <a:lnTo>
                  <a:pt x="2869" y="15291"/>
                </a:lnTo>
                <a:lnTo>
                  <a:pt x="3403" y="15291"/>
                </a:lnTo>
                <a:cubicBezTo>
                  <a:pt x="3753" y="15294"/>
                  <a:pt x="3937" y="15237"/>
                  <a:pt x="3937" y="15154"/>
                </a:cubicBezTo>
                <a:cubicBezTo>
                  <a:pt x="3937" y="14929"/>
                  <a:pt x="3467" y="12404"/>
                  <a:pt x="3205" y="11246"/>
                </a:cubicBezTo>
                <a:cubicBezTo>
                  <a:pt x="3064" y="10627"/>
                  <a:pt x="2958" y="10137"/>
                  <a:pt x="2969" y="10080"/>
                </a:cubicBezTo>
                <a:cubicBezTo>
                  <a:pt x="2979" y="10023"/>
                  <a:pt x="3069" y="9874"/>
                  <a:pt x="3167" y="9806"/>
                </a:cubicBezTo>
                <a:cubicBezTo>
                  <a:pt x="3654" y="9466"/>
                  <a:pt x="4036" y="8338"/>
                  <a:pt x="4198" y="6720"/>
                </a:cubicBezTo>
                <a:cubicBezTo>
                  <a:pt x="4257" y="6130"/>
                  <a:pt x="4260" y="5943"/>
                  <a:pt x="4260" y="5006"/>
                </a:cubicBezTo>
                <a:cubicBezTo>
                  <a:pt x="4260" y="4075"/>
                  <a:pt x="4256" y="3862"/>
                  <a:pt x="4198" y="3291"/>
                </a:cubicBezTo>
                <a:cubicBezTo>
                  <a:pt x="4088" y="2194"/>
                  <a:pt x="3884" y="1595"/>
                  <a:pt x="3528" y="1371"/>
                </a:cubicBezTo>
                <a:cubicBezTo>
                  <a:pt x="3430" y="1310"/>
                  <a:pt x="3092" y="1307"/>
                  <a:pt x="2596" y="1303"/>
                </a:cubicBezTo>
                <a:cubicBezTo>
                  <a:pt x="2431" y="1301"/>
                  <a:pt x="2247" y="1297"/>
                  <a:pt x="2049" y="1303"/>
                </a:cubicBezTo>
                <a:lnTo>
                  <a:pt x="783" y="1303"/>
                </a:lnTo>
                <a:close/>
                <a:moveTo>
                  <a:pt x="14992" y="4114"/>
                </a:moveTo>
                <a:lnTo>
                  <a:pt x="14918" y="5897"/>
                </a:lnTo>
                <a:cubicBezTo>
                  <a:pt x="14831" y="7969"/>
                  <a:pt x="14731" y="10401"/>
                  <a:pt x="14731" y="10560"/>
                </a:cubicBezTo>
                <a:cubicBezTo>
                  <a:pt x="14731" y="10622"/>
                  <a:pt x="14946" y="10697"/>
                  <a:pt x="15216" y="10697"/>
                </a:cubicBezTo>
                <a:cubicBezTo>
                  <a:pt x="15481" y="10697"/>
                  <a:pt x="15706" y="10711"/>
                  <a:pt x="15712" y="10766"/>
                </a:cubicBezTo>
                <a:cubicBezTo>
                  <a:pt x="15719" y="10821"/>
                  <a:pt x="15711" y="11114"/>
                  <a:pt x="15700" y="11383"/>
                </a:cubicBezTo>
                <a:cubicBezTo>
                  <a:pt x="15689" y="11652"/>
                  <a:pt x="15682" y="12054"/>
                  <a:pt x="15675" y="12274"/>
                </a:cubicBezTo>
                <a:cubicBezTo>
                  <a:pt x="15668" y="12495"/>
                  <a:pt x="15631" y="13219"/>
                  <a:pt x="15601" y="13920"/>
                </a:cubicBezTo>
                <a:cubicBezTo>
                  <a:pt x="15533" y="15450"/>
                  <a:pt x="15533" y="16075"/>
                  <a:pt x="15588" y="16251"/>
                </a:cubicBezTo>
                <a:cubicBezTo>
                  <a:pt x="15612" y="16327"/>
                  <a:pt x="15840" y="16386"/>
                  <a:pt x="16160" y="16389"/>
                </a:cubicBezTo>
                <a:lnTo>
                  <a:pt x="16681" y="16389"/>
                </a:lnTo>
                <a:lnTo>
                  <a:pt x="16731" y="15497"/>
                </a:lnTo>
                <a:cubicBezTo>
                  <a:pt x="16753" y="15002"/>
                  <a:pt x="16787" y="14519"/>
                  <a:pt x="16806" y="14400"/>
                </a:cubicBezTo>
                <a:cubicBezTo>
                  <a:pt x="16838" y="14194"/>
                  <a:pt x="16816" y="14194"/>
                  <a:pt x="16495" y="14194"/>
                </a:cubicBezTo>
                <a:cubicBezTo>
                  <a:pt x="16308" y="14194"/>
                  <a:pt x="16153" y="14108"/>
                  <a:pt x="16147" y="14057"/>
                </a:cubicBezTo>
                <a:cubicBezTo>
                  <a:pt x="16132" y="13919"/>
                  <a:pt x="16244" y="11015"/>
                  <a:pt x="16271" y="10834"/>
                </a:cubicBezTo>
                <a:cubicBezTo>
                  <a:pt x="16285" y="10741"/>
                  <a:pt x="16350" y="10698"/>
                  <a:pt x="16433" y="10697"/>
                </a:cubicBezTo>
                <a:cubicBezTo>
                  <a:pt x="16615" y="10696"/>
                  <a:pt x="16720" y="10503"/>
                  <a:pt x="16793" y="10080"/>
                </a:cubicBezTo>
                <a:cubicBezTo>
                  <a:pt x="16843" y="9790"/>
                  <a:pt x="16863" y="9423"/>
                  <a:pt x="16917" y="7954"/>
                </a:cubicBezTo>
                <a:cubicBezTo>
                  <a:pt x="16960" y="6789"/>
                  <a:pt x="16971" y="6241"/>
                  <a:pt x="16955" y="6240"/>
                </a:cubicBezTo>
                <a:cubicBezTo>
                  <a:pt x="16926" y="6239"/>
                  <a:pt x="16509" y="6859"/>
                  <a:pt x="16495" y="6926"/>
                </a:cubicBezTo>
                <a:cubicBezTo>
                  <a:pt x="16490" y="6950"/>
                  <a:pt x="16466" y="7426"/>
                  <a:pt x="16445" y="7954"/>
                </a:cubicBezTo>
                <a:lnTo>
                  <a:pt x="16408" y="8914"/>
                </a:lnTo>
                <a:lnTo>
                  <a:pt x="15824" y="8983"/>
                </a:lnTo>
                <a:cubicBezTo>
                  <a:pt x="15423" y="9026"/>
                  <a:pt x="15223" y="9080"/>
                  <a:pt x="15178" y="9189"/>
                </a:cubicBezTo>
                <a:cubicBezTo>
                  <a:pt x="15136" y="9291"/>
                  <a:pt x="15105" y="9266"/>
                  <a:pt x="15091" y="9189"/>
                </a:cubicBezTo>
                <a:cubicBezTo>
                  <a:pt x="15077" y="9111"/>
                  <a:pt x="15112" y="8918"/>
                  <a:pt x="15191" y="8640"/>
                </a:cubicBezTo>
                <a:lnTo>
                  <a:pt x="15315" y="8229"/>
                </a:lnTo>
                <a:lnTo>
                  <a:pt x="15352" y="7200"/>
                </a:lnTo>
                <a:cubicBezTo>
                  <a:pt x="15375" y="6631"/>
                  <a:pt x="15403" y="6115"/>
                  <a:pt x="15414" y="6034"/>
                </a:cubicBezTo>
                <a:cubicBezTo>
                  <a:pt x="15428" y="5933"/>
                  <a:pt x="15564" y="5856"/>
                  <a:pt x="15837" y="5829"/>
                </a:cubicBezTo>
                <a:cubicBezTo>
                  <a:pt x="16212" y="5791"/>
                  <a:pt x="16241" y="5795"/>
                  <a:pt x="16358" y="5486"/>
                </a:cubicBezTo>
                <a:cubicBezTo>
                  <a:pt x="16460" y="5217"/>
                  <a:pt x="16623" y="4822"/>
                  <a:pt x="16942" y="4183"/>
                </a:cubicBezTo>
                <a:cubicBezTo>
                  <a:pt x="16961" y="4146"/>
                  <a:pt x="16531" y="4120"/>
                  <a:pt x="15986" y="4114"/>
                </a:cubicBezTo>
                <a:lnTo>
                  <a:pt x="14992" y="4114"/>
                </a:lnTo>
                <a:close/>
                <a:moveTo>
                  <a:pt x="4596" y="4457"/>
                </a:moveTo>
                <a:lnTo>
                  <a:pt x="4571" y="4937"/>
                </a:lnTo>
                <a:cubicBezTo>
                  <a:pt x="4436" y="7970"/>
                  <a:pt x="4245" y="12569"/>
                  <a:pt x="4236" y="13029"/>
                </a:cubicBezTo>
                <a:cubicBezTo>
                  <a:pt x="4214" y="14134"/>
                  <a:pt x="4360" y="14878"/>
                  <a:pt x="4633" y="15154"/>
                </a:cubicBezTo>
                <a:cubicBezTo>
                  <a:pt x="4790" y="15313"/>
                  <a:pt x="5685" y="15168"/>
                  <a:pt x="5912" y="14949"/>
                </a:cubicBezTo>
                <a:cubicBezTo>
                  <a:pt x="6018" y="14847"/>
                  <a:pt x="6148" y="14660"/>
                  <a:pt x="6198" y="14537"/>
                </a:cubicBezTo>
                <a:cubicBezTo>
                  <a:pt x="6303" y="14280"/>
                  <a:pt x="6422" y="13606"/>
                  <a:pt x="6471" y="12960"/>
                </a:cubicBezTo>
                <a:cubicBezTo>
                  <a:pt x="6518" y="12344"/>
                  <a:pt x="6696" y="8243"/>
                  <a:pt x="6832" y="4731"/>
                </a:cubicBezTo>
                <a:lnTo>
                  <a:pt x="6844" y="4457"/>
                </a:lnTo>
                <a:lnTo>
                  <a:pt x="6484" y="4457"/>
                </a:lnTo>
                <a:lnTo>
                  <a:pt x="6124" y="4457"/>
                </a:lnTo>
                <a:lnTo>
                  <a:pt x="6061" y="6309"/>
                </a:lnTo>
                <a:cubicBezTo>
                  <a:pt x="5893" y="11101"/>
                  <a:pt x="5818" y="12346"/>
                  <a:pt x="5627" y="12891"/>
                </a:cubicBezTo>
                <a:cubicBezTo>
                  <a:pt x="5525" y="13180"/>
                  <a:pt x="5296" y="13309"/>
                  <a:pt x="5180" y="13166"/>
                </a:cubicBezTo>
                <a:cubicBezTo>
                  <a:pt x="5044" y="12998"/>
                  <a:pt x="4993" y="12759"/>
                  <a:pt x="4993" y="12206"/>
                </a:cubicBezTo>
                <a:cubicBezTo>
                  <a:pt x="4993" y="11960"/>
                  <a:pt x="5068" y="10165"/>
                  <a:pt x="5155" y="8229"/>
                </a:cubicBezTo>
                <a:cubicBezTo>
                  <a:pt x="5241" y="6292"/>
                  <a:pt x="5304" y="4655"/>
                  <a:pt x="5304" y="4594"/>
                </a:cubicBezTo>
                <a:cubicBezTo>
                  <a:pt x="5304" y="4534"/>
                  <a:pt x="5153" y="4457"/>
                  <a:pt x="4956" y="4457"/>
                </a:cubicBezTo>
                <a:lnTo>
                  <a:pt x="4596" y="4457"/>
                </a:lnTo>
                <a:close/>
                <a:moveTo>
                  <a:pt x="11837" y="4457"/>
                </a:moveTo>
                <a:cubicBezTo>
                  <a:pt x="11532" y="4467"/>
                  <a:pt x="11316" y="4643"/>
                  <a:pt x="11092" y="5143"/>
                </a:cubicBezTo>
                <a:cubicBezTo>
                  <a:pt x="10625" y="6182"/>
                  <a:pt x="10303" y="8169"/>
                  <a:pt x="10235" y="10354"/>
                </a:cubicBezTo>
                <a:cubicBezTo>
                  <a:pt x="10158" y="12820"/>
                  <a:pt x="10471" y="14758"/>
                  <a:pt x="11017" y="15154"/>
                </a:cubicBezTo>
                <a:cubicBezTo>
                  <a:pt x="11309" y="15365"/>
                  <a:pt x="11858" y="14938"/>
                  <a:pt x="12185" y="14263"/>
                </a:cubicBezTo>
                <a:lnTo>
                  <a:pt x="12297" y="14057"/>
                </a:lnTo>
                <a:lnTo>
                  <a:pt x="12359" y="12754"/>
                </a:lnTo>
                <a:cubicBezTo>
                  <a:pt x="12389" y="12058"/>
                  <a:pt x="12411" y="11473"/>
                  <a:pt x="12409" y="11451"/>
                </a:cubicBezTo>
                <a:cubicBezTo>
                  <a:pt x="12406" y="11430"/>
                  <a:pt x="12336" y="11581"/>
                  <a:pt x="12259" y="11794"/>
                </a:cubicBezTo>
                <a:cubicBezTo>
                  <a:pt x="12071" y="12318"/>
                  <a:pt x="11686" y="13036"/>
                  <a:pt x="11514" y="13166"/>
                </a:cubicBezTo>
                <a:cubicBezTo>
                  <a:pt x="11349" y="13290"/>
                  <a:pt x="11201" y="13158"/>
                  <a:pt x="11117" y="12823"/>
                </a:cubicBezTo>
                <a:cubicBezTo>
                  <a:pt x="11043" y="12529"/>
                  <a:pt x="10964" y="11741"/>
                  <a:pt x="10993" y="11589"/>
                </a:cubicBezTo>
                <a:cubicBezTo>
                  <a:pt x="11004" y="11529"/>
                  <a:pt x="11265" y="11214"/>
                  <a:pt x="11576" y="10903"/>
                </a:cubicBezTo>
                <a:cubicBezTo>
                  <a:pt x="12174" y="10304"/>
                  <a:pt x="12335" y="10054"/>
                  <a:pt x="12483" y="9463"/>
                </a:cubicBezTo>
                <a:cubicBezTo>
                  <a:pt x="12582" y="9066"/>
                  <a:pt x="12630" y="8694"/>
                  <a:pt x="12669" y="7886"/>
                </a:cubicBezTo>
                <a:cubicBezTo>
                  <a:pt x="12732" y="6603"/>
                  <a:pt x="12564" y="5287"/>
                  <a:pt x="12272" y="4731"/>
                </a:cubicBezTo>
                <a:cubicBezTo>
                  <a:pt x="12138" y="4477"/>
                  <a:pt x="12078" y="4449"/>
                  <a:pt x="11837" y="4457"/>
                </a:cubicBezTo>
                <a:close/>
                <a:moveTo>
                  <a:pt x="10235" y="4800"/>
                </a:moveTo>
                <a:lnTo>
                  <a:pt x="10073" y="4937"/>
                </a:lnTo>
                <a:cubicBezTo>
                  <a:pt x="9985" y="4982"/>
                  <a:pt x="9820" y="5068"/>
                  <a:pt x="9713" y="5143"/>
                </a:cubicBezTo>
                <a:lnTo>
                  <a:pt x="9527" y="5280"/>
                </a:lnTo>
                <a:lnTo>
                  <a:pt x="9490" y="6171"/>
                </a:lnTo>
                <a:cubicBezTo>
                  <a:pt x="9470" y="6659"/>
                  <a:pt x="9403" y="7925"/>
                  <a:pt x="9353" y="9051"/>
                </a:cubicBezTo>
                <a:cubicBezTo>
                  <a:pt x="9302" y="10178"/>
                  <a:pt x="9253" y="11660"/>
                  <a:pt x="9229" y="12274"/>
                </a:cubicBezTo>
                <a:cubicBezTo>
                  <a:pt x="9205" y="12889"/>
                  <a:pt x="9165" y="13802"/>
                  <a:pt x="9142" y="14331"/>
                </a:cubicBezTo>
                <a:lnTo>
                  <a:pt x="9092" y="15291"/>
                </a:lnTo>
                <a:lnTo>
                  <a:pt x="9440" y="15291"/>
                </a:lnTo>
                <a:lnTo>
                  <a:pt x="9775" y="15291"/>
                </a:lnTo>
                <a:lnTo>
                  <a:pt x="9912" y="12274"/>
                </a:lnTo>
                <a:cubicBezTo>
                  <a:pt x="9983" y="10619"/>
                  <a:pt x="10082" y="8284"/>
                  <a:pt x="10135" y="7063"/>
                </a:cubicBezTo>
                <a:lnTo>
                  <a:pt x="10235" y="4800"/>
                </a:lnTo>
                <a:close/>
                <a:moveTo>
                  <a:pt x="1043" y="5006"/>
                </a:moveTo>
                <a:lnTo>
                  <a:pt x="981" y="6034"/>
                </a:lnTo>
                <a:cubicBezTo>
                  <a:pt x="942" y="6631"/>
                  <a:pt x="828" y="8304"/>
                  <a:pt x="733" y="9737"/>
                </a:cubicBezTo>
                <a:cubicBezTo>
                  <a:pt x="638" y="11171"/>
                  <a:pt x="526" y="12929"/>
                  <a:pt x="484" y="13577"/>
                </a:cubicBezTo>
                <a:cubicBezTo>
                  <a:pt x="443" y="14226"/>
                  <a:pt x="406" y="14828"/>
                  <a:pt x="397" y="14949"/>
                </a:cubicBezTo>
                <a:cubicBezTo>
                  <a:pt x="382" y="15155"/>
                  <a:pt x="400" y="15186"/>
                  <a:pt x="820" y="15154"/>
                </a:cubicBezTo>
                <a:lnTo>
                  <a:pt x="1267" y="15086"/>
                </a:lnTo>
                <a:lnTo>
                  <a:pt x="1391" y="13371"/>
                </a:lnTo>
                <a:cubicBezTo>
                  <a:pt x="1511" y="11576"/>
                  <a:pt x="1753" y="7833"/>
                  <a:pt x="1851" y="6309"/>
                </a:cubicBezTo>
                <a:cubicBezTo>
                  <a:pt x="1881" y="5831"/>
                  <a:pt x="1917" y="5331"/>
                  <a:pt x="1925" y="5211"/>
                </a:cubicBezTo>
                <a:cubicBezTo>
                  <a:pt x="1940" y="5009"/>
                  <a:pt x="1907" y="5005"/>
                  <a:pt x="1491" y="5006"/>
                </a:cubicBezTo>
                <a:lnTo>
                  <a:pt x="1043" y="5006"/>
                </a:lnTo>
                <a:close/>
                <a:moveTo>
                  <a:pt x="9055" y="5623"/>
                </a:moveTo>
                <a:cubicBezTo>
                  <a:pt x="9050" y="5595"/>
                  <a:pt x="8883" y="5664"/>
                  <a:pt x="8695" y="5829"/>
                </a:cubicBezTo>
                <a:lnTo>
                  <a:pt x="8359" y="6171"/>
                </a:lnTo>
                <a:lnTo>
                  <a:pt x="8173" y="10217"/>
                </a:lnTo>
                <a:cubicBezTo>
                  <a:pt x="7927" y="15628"/>
                  <a:pt x="7867" y="16689"/>
                  <a:pt x="7726" y="17554"/>
                </a:cubicBezTo>
                <a:cubicBezTo>
                  <a:pt x="7641" y="18075"/>
                  <a:pt x="7422" y="18721"/>
                  <a:pt x="7291" y="18857"/>
                </a:cubicBezTo>
                <a:cubicBezTo>
                  <a:pt x="7224" y="18927"/>
                  <a:pt x="7227" y="18960"/>
                  <a:pt x="7204" y="19611"/>
                </a:cubicBezTo>
                <a:cubicBezTo>
                  <a:pt x="7190" y="19997"/>
                  <a:pt x="7164" y="20469"/>
                  <a:pt x="7154" y="20640"/>
                </a:cubicBezTo>
                <a:lnTo>
                  <a:pt x="7142" y="20914"/>
                </a:lnTo>
                <a:lnTo>
                  <a:pt x="6695" y="20983"/>
                </a:lnTo>
                <a:cubicBezTo>
                  <a:pt x="6449" y="21001"/>
                  <a:pt x="6234" y="20974"/>
                  <a:pt x="6223" y="20914"/>
                </a:cubicBezTo>
                <a:cubicBezTo>
                  <a:pt x="6212" y="20853"/>
                  <a:pt x="6227" y="20690"/>
                  <a:pt x="6260" y="20571"/>
                </a:cubicBezTo>
                <a:cubicBezTo>
                  <a:pt x="6352" y="20241"/>
                  <a:pt x="6346" y="19742"/>
                  <a:pt x="6235" y="19337"/>
                </a:cubicBezTo>
                <a:cubicBezTo>
                  <a:pt x="6095" y="18826"/>
                  <a:pt x="6116" y="18555"/>
                  <a:pt x="6310" y="18583"/>
                </a:cubicBezTo>
                <a:cubicBezTo>
                  <a:pt x="6409" y="18597"/>
                  <a:pt x="6437" y="18583"/>
                  <a:pt x="6446" y="18377"/>
                </a:cubicBezTo>
                <a:cubicBezTo>
                  <a:pt x="6457" y="18149"/>
                  <a:pt x="6444" y="18170"/>
                  <a:pt x="6273" y="18171"/>
                </a:cubicBezTo>
                <a:cubicBezTo>
                  <a:pt x="6049" y="18174"/>
                  <a:pt x="5972" y="18314"/>
                  <a:pt x="5962" y="18857"/>
                </a:cubicBezTo>
                <a:cubicBezTo>
                  <a:pt x="5956" y="19198"/>
                  <a:pt x="5970" y="19254"/>
                  <a:pt x="6049" y="19543"/>
                </a:cubicBezTo>
                <a:cubicBezTo>
                  <a:pt x="6150" y="19910"/>
                  <a:pt x="6161" y="20000"/>
                  <a:pt x="6111" y="20229"/>
                </a:cubicBezTo>
                <a:cubicBezTo>
                  <a:pt x="6087" y="20337"/>
                  <a:pt x="6030" y="20355"/>
                  <a:pt x="5937" y="20297"/>
                </a:cubicBezTo>
                <a:cubicBezTo>
                  <a:pt x="5804" y="20214"/>
                  <a:pt x="5808" y="20226"/>
                  <a:pt x="5801" y="20571"/>
                </a:cubicBezTo>
                <a:cubicBezTo>
                  <a:pt x="5788" y="21178"/>
                  <a:pt x="5726" y="21093"/>
                  <a:pt x="5614" y="20229"/>
                </a:cubicBezTo>
                <a:cubicBezTo>
                  <a:pt x="5557" y="19786"/>
                  <a:pt x="5515" y="19368"/>
                  <a:pt x="5515" y="19337"/>
                </a:cubicBezTo>
                <a:cubicBezTo>
                  <a:pt x="5515" y="19306"/>
                  <a:pt x="5581" y="19018"/>
                  <a:pt x="5664" y="18720"/>
                </a:cubicBezTo>
                <a:lnTo>
                  <a:pt x="5813" y="18171"/>
                </a:lnTo>
                <a:lnTo>
                  <a:pt x="5714" y="18171"/>
                </a:lnTo>
                <a:cubicBezTo>
                  <a:pt x="5623" y="18139"/>
                  <a:pt x="5590" y="18187"/>
                  <a:pt x="5490" y="18583"/>
                </a:cubicBezTo>
                <a:cubicBezTo>
                  <a:pt x="5314" y="19280"/>
                  <a:pt x="5299" y="19045"/>
                  <a:pt x="5428" y="17349"/>
                </a:cubicBezTo>
                <a:cubicBezTo>
                  <a:pt x="5442" y="17161"/>
                  <a:pt x="5441" y="17143"/>
                  <a:pt x="5353" y="17143"/>
                </a:cubicBezTo>
                <a:lnTo>
                  <a:pt x="5242" y="17143"/>
                </a:lnTo>
                <a:lnTo>
                  <a:pt x="5192" y="18103"/>
                </a:lnTo>
                <a:cubicBezTo>
                  <a:pt x="5108" y="19428"/>
                  <a:pt x="5008" y="20654"/>
                  <a:pt x="4981" y="20846"/>
                </a:cubicBezTo>
                <a:cubicBezTo>
                  <a:pt x="4965" y="20957"/>
                  <a:pt x="4917" y="21008"/>
                  <a:pt x="4807" y="20983"/>
                </a:cubicBezTo>
                <a:lnTo>
                  <a:pt x="4645" y="20914"/>
                </a:lnTo>
                <a:lnTo>
                  <a:pt x="4658" y="20571"/>
                </a:lnTo>
                <a:cubicBezTo>
                  <a:pt x="4678" y="19543"/>
                  <a:pt x="4828" y="18557"/>
                  <a:pt x="4956" y="18651"/>
                </a:cubicBezTo>
                <a:cubicBezTo>
                  <a:pt x="5012" y="18693"/>
                  <a:pt x="5043" y="18555"/>
                  <a:pt x="5043" y="18240"/>
                </a:cubicBezTo>
                <a:cubicBezTo>
                  <a:pt x="5043" y="18180"/>
                  <a:pt x="4939" y="18157"/>
                  <a:pt x="4819" y="18171"/>
                </a:cubicBezTo>
                <a:lnTo>
                  <a:pt x="4608" y="18171"/>
                </a:lnTo>
                <a:lnTo>
                  <a:pt x="4558" y="18857"/>
                </a:lnTo>
                <a:cubicBezTo>
                  <a:pt x="4538" y="19233"/>
                  <a:pt x="4503" y="19905"/>
                  <a:pt x="4472" y="20297"/>
                </a:cubicBezTo>
                <a:lnTo>
                  <a:pt x="4409" y="20983"/>
                </a:lnTo>
                <a:lnTo>
                  <a:pt x="4298" y="20983"/>
                </a:lnTo>
                <a:cubicBezTo>
                  <a:pt x="4155" y="20983"/>
                  <a:pt x="4140" y="20809"/>
                  <a:pt x="4248" y="20503"/>
                </a:cubicBezTo>
                <a:cubicBezTo>
                  <a:pt x="4414" y="20031"/>
                  <a:pt x="4486" y="18952"/>
                  <a:pt x="4385" y="18446"/>
                </a:cubicBezTo>
                <a:cubicBezTo>
                  <a:pt x="4348" y="18262"/>
                  <a:pt x="4296" y="18206"/>
                  <a:pt x="4149" y="18171"/>
                </a:cubicBezTo>
                <a:cubicBezTo>
                  <a:pt x="3980" y="18132"/>
                  <a:pt x="3945" y="18156"/>
                  <a:pt x="3838" y="18446"/>
                </a:cubicBezTo>
                <a:cubicBezTo>
                  <a:pt x="3652" y="18947"/>
                  <a:pt x="3586" y="19984"/>
                  <a:pt x="3701" y="20571"/>
                </a:cubicBezTo>
                <a:cubicBezTo>
                  <a:pt x="3732" y="20729"/>
                  <a:pt x="3747" y="20870"/>
                  <a:pt x="3739" y="20914"/>
                </a:cubicBezTo>
                <a:cubicBezTo>
                  <a:pt x="3718" y="21027"/>
                  <a:pt x="3267" y="21028"/>
                  <a:pt x="3254" y="20914"/>
                </a:cubicBezTo>
                <a:cubicBezTo>
                  <a:pt x="3249" y="20863"/>
                  <a:pt x="3344" y="20191"/>
                  <a:pt x="3465" y="19474"/>
                </a:cubicBezTo>
                <a:lnTo>
                  <a:pt x="3689" y="18171"/>
                </a:lnTo>
                <a:lnTo>
                  <a:pt x="3590" y="18171"/>
                </a:lnTo>
                <a:cubicBezTo>
                  <a:pt x="3500" y="18133"/>
                  <a:pt x="3493" y="18142"/>
                  <a:pt x="3366" y="18926"/>
                </a:cubicBezTo>
                <a:cubicBezTo>
                  <a:pt x="3293" y="19374"/>
                  <a:pt x="3227" y="19713"/>
                  <a:pt x="3217" y="19680"/>
                </a:cubicBezTo>
                <a:cubicBezTo>
                  <a:pt x="3207" y="19647"/>
                  <a:pt x="3188" y="19268"/>
                  <a:pt x="3180" y="18857"/>
                </a:cubicBezTo>
                <a:lnTo>
                  <a:pt x="3167" y="18103"/>
                </a:lnTo>
                <a:lnTo>
                  <a:pt x="3068" y="18103"/>
                </a:lnTo>
                <a:cubicBezTo>
                  <a:pt x="2974" y="18103"/>
                  <a:pt x="2967" y="18157"/>
                  <a:pt x="2844" y="18994"/>
                </a:cubicBezTo>
                <a:cubicBezTo>
                  <a:pt x="2714" y="19886"/>
                  <a:pt x="2683" y="19994"/>
                  <a:pt x="2683" y="19406"/>
                </a:cubicBezTo>
                <a:cubicBezTo>
                  <a:pt x="2683" y="19222"/>
                  <a:pt x="2666" y="18839"/>
                  <a:pt x="2658" y="18583"/>
                </a:cubicBezTo>
                <a:cubicBezTo>
                  <a:pt x="2645" y="18139"/>
                  <a:pt x="2642" y="18103"/>
                  <a:pt x="2559" y="18103"/>
                </a:cubicBezTo>
                <a:cubicBezTo>
                  <a:pt x="2456" y="18103"/>
                  <a:pt x="2460" y="18130"/>
                  <a:pt x="2509" y="19680"/>
                </a:cubicBezTo>
                <a:cubicBezTo>
                  <a:pt x="2528" y="20279"/>
                  <a:pt x="2541" y="20780"/>
                  <a:pt x="2534" y="20846"/>
                </a:cubicBezTo>
                <a:cubicBezTo>
                  <a:pt x="2515" y="21011"/>
                  <a:pt x="2254" y="21013"/>
                  <a:pt x="2236" y="20846"/>
                </a:cubicBezTo>
                <a:cubicBezTo>
                  <a:pt x="2227" y="20772"/>
                  <a:pt x="2234" y="20647"/>
                  <a:pt x="2248" y="20571"/>
                </a:cubicBezTo>
                <a:cubicBezTo>
                  <a:pt x="2291" y="20337"/>
                  <a:pt x="2277" y="20224"/>
                  <a:pt x="2211" y="20297"/>
                </a:cubicBezTo>
                <a:cubicBezTo>
                  <a:pt x="2108" y="20411"/>
                  <a:pt x="2091" y="20200"/>
                  <a:pt x="2149" y="19406"/>
                </a:cubicBezTo>
                <a:cubicBezTo>
                  <a:pt x="2197" y="18748"/>
                  <a:pt x="2197" y="18688"/>
                  <a:pt x="2285" y="18651"/>
                </a:cubicBezTo>
                <a:cubicBezTo>
                  <a:pt x="2354" y="18623"/>
                  <a:pt x="2389" y="18558"/>
                  <a:pt x="2397" y="18377"/>
                </a:cubicBezTo>
                <a:cubicBezTo>
                  <a:pt x="2407" y="18174"/>
                  <a:pt x="2396" y="18103"/>
                  <a:pt x="2335" y="18103"/>
                </a:cubicBezTo>
                <a:cubicBezTo>
                  <a:pt x="2245" y="18103"/>
                  <a:pt x="2219" y="18059"/>
                  <a:pt x="2248" y="17760"/>
                </a:cubicBezTo>
                <a:cubicBezTo>
                  <a:pt x="2267" y="17565"/>
                  <a:pt x="2267" y="17484"/>
                  <a:pt x="2223" y="17486"/>
                </a:cubicBezTo>
                <a:cubicBezTo>
                  <a:pt x="2132" y="17489"/>
                  <a:pt x="2073" y="17655"/>
                  <a:pt x="2062" y="17897"/>
                </a:cubicBezTo>
                <a:cubicBezTo>
                  <a:pt x="2054" y="18053"/>
                  <a:pt x="2026" y="18103"/>
                  <a:pt x="1987" y="18103"/>
                </a:cubicBezTo>
                <a:cubicBezTo>
                  <a:pt x="1955" y="18103"/>
                  <a:pt x="1938" y="18143"/>
                  <a:pt x="1938" y="18171"/>
                </a:cubicBezTo>
                <a:cubicBezTo>
                  <a:pt x="1938" y="18200"/>
                  <a:pt x="1932" y="18347"/>
                  <a:pt x="1925" y="18446"/>
                </a:cubicBezTo>
                <a:cubicBezTo>
                  <a:pt x="1917" y="18558"/>
                  <a:pt x="1922" y="18610"/>
                  <a:pt x="1950" y="18651"/>
                </a:cubicBezTo>
                <a:cubicBezTo>
                  <a:pt x="1995" y="18716"/>
                  <a:pt x="2006" y="18713"/>
                  <a:pt x="1950" y="19474"/>
                </a:cubicBezTo>
                <a:cubicBezTo>
                  <a:pt x="1919" y="19899"/>
                  <a:pt x="1884" y="20392"/>
                  <a:pt x="1888" y="20571"/>
                </a:cubicBezTo>
                <a:cubicBezTo>
                  <a:pt x="1894" y="20869"/>
                  <a:pt x="1892" y="20947"/>
                  <a:pt x="1813" y="20983"/>
                </a:cubicBezTo>
                <a:cubicBezTo>
                  <a:pt x="1681" y="21043"/>
                  <a:pt x="1658" y="20941"/>
                  <a:pt x="1702" y="20571"/>
                </a:cubicBezTo>
                <a:lnTo>
                  <a:pt x="1739" y="20297"/>
                </a:lnTo>
                <a:lnTo>
                  <a:pt x="1565" y="20366"/>
                </a:lnTo>
                <a:cubicBezTo>
                  <a:pt x="1413" y="20429"/>
                  <a:pt x="1399" y="20408"/>
                  <a:pt x="1354" y="20160"/>
                </a:cubicBezTo>
                <a:cubicBezTo>
                  <a:pt x="1269" y="19689"/>
                  <a:pt x="1316" y="19514"/>
                  <a:pt x="1590" y="19474"/>
                </a:cubicBezTo>
                <a:lnTo>
                  <a:pt x="1838" y="19406"/>
                </a:lnTo>
                <a:lnTo>
                  <a:pt x="1838" y="18926"/>
                </a:lnTo>
                <a:cubicBezTo>
                  <a:pt x="1844" y="18567"/>
                  <a:pt x="1842" y="18426"/>
                  <a:pt x="1813" y="18309"/>
                </a:cubicBezTo>
                <a:cubicBezTo>
                  <a:pt x="1760" y="18092"/>
                  <a:pt x="1435" y="18089"/>
                  <a:pt x="1341" y="18309"/>
                </a:cubicBezTo>
                <a:cubicBezTo>
                  <a:pt x="1224" y="18586"/>
                  <a:pt x="1143" y="19186"/>
                  <a:pt x="1130" y="19817"/>
                </a:cubicBezTo>
                <a:cubicBezTo>
                  <a:pt x="1120" y="20313"/>
                  <a:pt x="1128" y="20382"/>
                  <a:pt x="1180" y="20571"/>
                </a:cubicBezTo>
                <a:cubicBezTo>
                  <a:pt x="1212" y="20688"/>
                  <a:pt x="1236" y="20785"/>
                  <a:pt x="1230" y="20846"/>
                </a:cubicBezTo>
                <a:cubicBezTo>
                  <a:pt x="1216" y="20967"/>
                  <a:pt x="940" y="21032"/>
                  <a:pt x="919" y="20914"/>
                </a:cubicBezTo>
                <a:cubicBezTo>
                  <a:pt x="904" y="20832"/>
                  <a:pt x="925" y="20501"/>
                  <a:pt x="1068" y="18514"/>
                </a:cubicBezTo>
                <a:lnTo>
                  <a:pt x="1168" y="17143"/>
                </a:lnTo>
                <a:lnTo>
                  <a:pt x="1068" y="17143"/>
                </a:lnTo>
                <a:cubicBezTo>
                  <a:pt x="984" y="17143"/>
                  <a:pt x="965" y="17187"/>
                  <a:pt x="944" y="17486"/>
                </a:cubicBezTo>
                <a:cubicBezTo>
                  <a:pt x="931" y="17673"/>
                  <a:pt x="903" y="18242"/>
                  <a:pt x="869" y="18720"/>
                </a:cubicBezTo>
                <a:cubicBezTo>
                  <a:pt x="836" y="19198"/>
                  <a:pt x="792" y="19622"/>
                  <a:pt x="783" y="19680"/>
                </a:cubicBezTo>
                <a:cubicBezTo>
                  <a:pt x="773" y="19738"/>
                  <a:pt x="716" y="19169"/>
                  <a:pt x="646" y="18446"/>
                </a:cubicBezTo>
                <a:lnTo>
                  <a:pt x="509" y="17143"/>
                </a:lnTo>
                <a:lnTo>
                  <a:pt x="385" y="17143"/>
                </a:lnTo>
                <a:lnTo>
                  <a:pt x="261" y="17143"/>
                </a:lnTo>
                <a:lnTo>
                  <a:pt x="186" y="18377"/>
                </a:lnTo>
                <a:cubicBezTo>
                  <a:pt x="80" y="20088"/>
                  <a:pt x="51" y="20386"/>
                  <a:pt x="25" y="20297"/>
                </a:cubicBezTo>
                <a:cubicBezTo>
                  <a:pt x="22" y="20289"/>
                  <a:pt x="27" y="21477"/>
                  <a:pt x="25" y="21600"/>
                </a:cubicBezTo>
                <a:lnTo>
                  <a:pt x="21600" y="21600"/>
                </a:lnTo>
                <a:lnTo>
                  <a:pt x="21600" y="20914"/>
                </a:lnTo>
                <a:lnTo>
                  <a:pt x="14545" y="20914"/>
                </a:lnTo>
                <a:cubicBezTo>
                  <a:pt x="9866" y="20914"/>
                  <a:pt x="7506" y="20860"/>
                  <a:pt x="7502" y="20777"/>
                </a:cubicBezTo>
                <a:cubicBezTo>
                  <a:pt x="7499" y="20709"/>
                  <a:pt x="7549" y="20593"/>
                  <a:pt x="7614" y="20503"/>
                </a:cubicBezTo>
                <a:cubicBezTo>
                  <a:pt x="7806" y="20237"/>
                  <a:pt x="8120" y="19356"/>
                  <a:pt x="8247" y="18720"/>
                </a:cubicBezTo>
                <a:cubicBezTo>
                  <a:pt x="8375" y="18083"/>
                  <a:pt x="8493" y="17116"/>
                  <a:pt x="8570" y="16046"/>
                </a:cubicBezTo>
                <a:cubicBezTo>
                  <a:pt x="8622" y="15338"/>
                  <a:pt x="9069" y="5712"/>
                  <a:pt x="9055" y="5623"/>
                </a:cubicBezTo>
                <a:close/>
                <a:moveTo>
                  <a:pt x="13241" y="5691"/>
                </a:moveTo>
                <a:lnTo>
                  <a:pt x="13203" y="6651"/>
                </a:lnTo>
                <a:cubicBezTo>
                  <a:pt x="13182" y="7146"/>
                  <a:pt x="13154" y="7560"/>
                  <a:pt x="13154" y="7611"/>
                </a:cubicBezTo>
                <a:cubicBezTo>
                  <a:pt x="13154" y="7663"/>
                  <a:pt x="13254" y="7680"/>
                  <a:pt x="13365" y="7680"/>
                </a:cubicBezTo>
                <a:cubicBezTo>
                  <a:pt x="13476" y="7680"/>
                  <a:pt x="13569" y="7755"/>
                  <a:pt x="13576" y="7817"/>
                </a:cubicBezTo>
                <a:cubicBezTo>
                  <a:pt x="13592" y="7957"/>
                  <a:pt x="13543" y="9182"/>
                  <a:pt x="13514" y="9394"/>
                </a:cubicBezTo>
                <a:cubicBezTo>
                  <a:pt x="13500" y="9499"/>
                  <a:pt x="13420" y="9600"/>
                  <a:pt x="13278" y="9600"/>
                </a:cubicBezTo>
                <a:lnTo>
                  <a:pt x="13067" y="9600"/>
                </a:lnTo>
                <a:lnTo>
                  <a:pt x="13054" y="10011"/>
                </a:lnTo>
                <a:cubicBezTo>
                  <a:pt x="13043" y="10267"/>
                  <a:pt x="13024" y="10715"/>
                  <a:pt x="13017" y="10971"/>
                </a:cubicBezTo>
                <a:lnTo>
                  <a:pt x="13005" y="11451"/>
                </a:lnTo>
                <a:lnTo>
                  <a:pt x="13203" y="11451"/>
                </a:lnTo>
                <a:cubicBezTo>
                  <a:pt x="13356" y="11451"/>
                  <a:pt x="13418" y="11456"/>
                  <a:pt x="13427" y="11589"/>
                </a:cubicBezTo>
                <a:cubicBezTo>
                  <a:pt x="13434" y="11685"/>
                  <a:pt x="13415" y="12307"/>
                  <a:pt x="13390" y="12960"/>
                </a:cubicBezTo>
                <a:cubicBezTo>
                  <a:pt x="13364" y="13613"/>
                  <a:pt x="13340" y="14514"/>
                  <a:pt x="13340" y="14949"/>
                </a:cubicBezTo>
                <a:cubicBezTo>
                  <a:pt x="13340" y="15616"/>
                  <a:pt x="13343" y="15769"/>
                  <a:pt x="13390" y="16046"/>
                </a:cubicBezTo>
                <a:lnTo>
                  <a:pt x="13452" y="16389"/>
                </a:lnTo>
                <a:lnTo>
                  <a:pt x="13874" y="16389"/>
                </a:lnTo>
                <a:lnTo>
                  <a:pt x="14309" y="16389"/>
                </a:lnTo>
                <a:lnTo>
                  <a:pt x="14346" y="15497"/>
                </a:lnTo>
                <a:cubicBezTo>
                  <a:pt x="14366" y="15002"/>
                  <a:pt x="14377" y="14519"/>
                  <a:pt x="14383" y="14400"/>
                </a:cubicBezTo>
                <a:cubicBezTo>
                  <a:pt x="14394" y="14202"/>
                  <a:pt x="14382" y="14194"/>
                  <a:pt x="14135" y="14194"/>
                </a:cubicBezTo>
                <a:cubicBezTo>
                  <a:pt x="13986" y="14194"/>
                  <a:pt x="13856" y="14117"/>
                  <a:pt x="13849" y="14057"/>
                </a:cubicBezTo>
                <a:cubicBezTo>
                  <a:pt x="13837" y="13951"/>
                  <a:pt x="13913" y="11726"/>
                  <a:pt x="13936" y="11520"/>
                </a:cubicBezTo>
                <a:cubicBezTo>
                  <a:pt x="13943" y="11463"/>
                  <a:pt x="14058" y="11451"/>
                  <a:pt x="14185" y="11451"/>
                </a:cubicBezTo>
                <a:lnTo>
                  <a:pt x="14408" y="11451"/>
                </a:lnTo>
                <a:lnTo>
                  <a:pt x="14433" y="10697"/>
                </a:lnTo>
                <a:cubicBezTo>
                  <a:pt x="14449" y="10285"/>
                  <a:pt x="14476" y="9837"/>
                  <a:pt x="14483" y="9737"/>
                </a:cubicBezTo>
                <a:cubicBezTo>
                  <a:pt x="14493" y="9586"/>
                  <a:pt x="14450" y="9600"/>
                  <a:pt x="14259" y="9600"/>
                </a:cubicBezTo>
                <a:cubicBezTo>
                  <a:pt x="14097" y="9600"/>
                  <a:pt x="14030" y="9505"/>
                  <a:pt x="14023" y="9394"/>
                </a:cubicBezTo>
                <a:cubicBezTo>
                  <a:pt x="14018" y="9309"/>
                  <a:pt x="14033" y="8912"/>
                  <a:pt x="14048" y="8503"/>
                </a:cubicBezTo>
                <a:lnTo>
                  <a:pt x="14073" y="7749"/>
                </a:lnTo>
                <a:lnTo>
                  <a:pt x="14321" y="7680"/>
                </a:lnTo>
                <a:lnTo>
                  <a:pt x="14557" y="7680"/>
                </a:lnTo>
                <a:lnTo>
                  <a:pt x="14607" y="6789"/>
                </a:lnTo>
                <a:cubicBezTo>
                  <a:pt x="14629" y="6311"/>
                  <a:pt x="14644" y="5880"/>
                  <a:pt x="14644" y="5829"/>
                </a:cubicBezTo>
                <a:cubicBezTo>
                  <a:pt x="14645" y="5777"/>
                  <a:pt x="14324" y="5691"/>
                  <a:pt x="13936" y="5691"/>
                </a:cubicBezTo>
                <a:lnTo>
                  <a:pt x="13241" y="5691"/>
                </a:lnTo>
                <a:close/>
                <a:moveTo>
                  <a:pt x="11837" y="6583"/>
                </a:moveTo>
                <a:cubicBezTo>
                  <a:pt x="11888" y="6587"/>
                  <a:pt x="11932" y="6702"/>
                  <a:pt x="11961" y="6857"/>
                </a:cubicBezTo>
                <a:cubicBezTo>
                  <a:pt x="12041" y="7270"/>
                  <a:pt x="12041" y="7669"/>
                  <a:pt x="11986" y="8297"/>
                </a:cubicBezTo>
                <a:cubicBezTo>
                  <a:pt x="11936" y="8869"/>
                  <a:pt x="11810" y="9503"/>
                  <a:pt x="11701" y="9737"/>
                </a:cubicBezTo>
                <a:cubicBezTo>
                  <a:pt x="11665" y="9814"/>
                  <a:pt x="11519" y="9984"/>
                  <a:pt x="11365" y="10149"/>
                </a:cubicBezTo>
                <a:cubicBezTo>
                  <a:pt x="11211" y="10313"/>
                  <a:pt x="11071" y="10423"/>
                  <a:pt x="11055" y="10423"/>
                </a:cubicBezTo>
                <a:cubicBezTo>
                  <a:pt x="10994" y="10423"/>
                  <a:pt x="10994" y="10069"/>
                  <a:pt x="11067" y="9394"/>
                </a:cubicBezTo>
                <a:cubicBezTo>
                  <a:pt x="11232" y="7883"/>
                  <a:pt x="11617" y="6564"/>
                  <a:pt x="11837" y="6583"/>
                </a:cubicBezTo>
                <a:close/>
                <a:moveTo>
                  <a:pt x="7862" y="6720"/>
                </a:moveTo>
                <a:cubicBezTo>
                  <a:pt x="7790" y="6704"/>
                  <a:pt x="7214" y="7221"/>
                  <a:pt x="7192" y="7337"/>
                </a:cubicBezTo>
                <a:cubicBezTo>
                  <a:pt x="7164" y="7479"/>
                  <a:pt x="6844" y="14684"/>
                  <a:pt x="6844" y="15154"/>
                </a:cubicBezTo>
                <a:cubicBezTo>
                  <a:pt x="6844" y="15210"/>
                  <a:pt x="6995" y="15291"/>
                  <a:pt x="7179" y="15291"/>
                </a:cubicBezTo>
                <a:lnTo>
                  <a:pt x="7502" y="15291"/>
                </a:lnTo>
                <a:lnTo>
                  <a:pt x="7602" y="13234"/>
                </a:lnTo>
                <a:cubicBezTo>
                  <a:pt x="7725" y="10425"/>
                  <a:pt x="7875" y="6810"/>
                  <a:pt x="7875" y="6720"/>
                </a:cubicBezTo>
                <a:cubicBezTo>
                  <a:pt x="7875" y="6714"/>
                  <a:pt x="7867" y="6721"/>
                  <a:pt x="7862" y="6720"/>
                </a:cubicBezTo>
                <a:close/>
                <a:moveTo>
                  <a:pt x="15054" y="11314"/>
                </a:moveTo>
                <a:lnTo>
                  <a:pt x="14980" y="12274"/>
                </a:lnTo>
                <a:cubicBezTo>
                  <a:pt x="14940" y="12803"/>
                  <a:pt x="14895" y="13407"/>
                  <a:pt x="14880" y="13646"/>
                </a:cubicBezTo>
                <a:lnTo>
                  <a:pt x="14855" y="14126"/>
                </a:lnTo>
                <a:lnTo>
                  <a:pt x="14694" y="14126"/>
                </a:lnTo>
                <a:lnTo>
                  <a:pt x="14532" y="14194"/>
                </a:lnTo>
                <a:lnTo>
                  <a:pt x="14508" y="14811"/>
                </a:lnTo>
                <a:cubicBezTo>
                  <a:pt x="14495" y="15167"/>
                  <a:pt x="14478" y="15653"/>
                  <a:pt x="14470" y="15909"/>
                </a:cubicBezTo>
                <a:lnTo>
                  <a:pt x="14458" y="16389"/>
                </a:lnTo>
                <a:lnTo>
                  <a:pt x="14744" y="16389"/>
                </a:lnTo>
                <a:cubicBezTo>
                  <a:pt x="14898" y="16389"/>
                  <a:pt x="15054" y="16324"/>
                  <a:pt x="15091" y="16251"/>
                </a:cubicBezTo>
                <a:cubicBezTo>
                  <a:pt x="15152" y="16135"/>
                  <a:pt x="15278" y="15361"/>
                  <a:pt x="15278" y="15086"/>
                </a:cubicBezTo>
                <a:cubicBezTo>
                  <a:pt x="15278" y="14904"/>
                  <a:pt x="15502" y="11609"/>
                  <a:pt x="15526" y="11451"/>
                </a:cubicBezTo>
                <a:cubicBezTo>
                  <a:pt x="15545" y="11327"/>
                  <a:pt x="15500" y="11314"/>
                  <a:pt x="15303" y="11314"/>
                </a:cubicBezTo>
                <a:lnTo>
                  <a:pt x="15054" y="11314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8" name="图像" descr="图像">
            <a:extLst>
              <a:ext uri="{FF2B5EF4-FFF2-40B4-BE49-F238E27FC236}">
                <a16:creationId xmlns:a16="http://schemas.microsoft.com/office/drawing/2014/main" id="{4F39512B-B284-D71D-F01B-262F5E8EDF5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8227" y="3126189"/>
            <a:ext cx="675217" cy="24908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图像" descr="图像">
            <a:extLst>
              <a:ext uri="{FF2B5EF4-FFF2-40B4-BE49-F238E27FC236}">
                <a16:creationId xmlns:a16="http://schemas.microsoft.com/office/drawing/2014/main" id="{B55F81F4-980C-BD3F-D029-745F7864464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5842" y="1917804"/>
            <a:ext cx="585273" cy="460903"/>
          </a:xfrm>
          <a:prstGeom prst="rect">
            <a:avLst/>
          </a:prstGeom>
          <a:ln w="12700">
            <a:miter lim="400000"/>
          </a:ln>
        </p:spPr>
      </p:pic>
      <p:pic>
        <p:nvPicPr>
          <p:cNvPr id="13" name="图像" descr="图像">
            <a:extLst>
              <a:ext uri="{FF2B5EF4-FFF2-40B4-BE49-F238E27FC236}">
                <a16:creationId xmlns:a16="http://schemas.microsoft.com/office/drawing/2014/main" id="{6B683B03-F1C1-CE14-D5C2-829D0C6E46A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49403" y="4517196"/>
            <a:ext cx="543158" cy="40894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" name="图像" descr="图像">
            <a:extLst>
              <a:ext uri="{FF2B5EF4-FFF2-40B4-BE49-F238E27FC236}">
                <a16:creationId xmlns:a16="http://schemas.microsoft.com/office/drawing/2014/main" id="{17092819-61F8-958F-8B6C-9DC3FC8DDDF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5842" y="2987591"/>
            <a:ext cx="585273" cy="460902"/>
          </a:xfrm>
          <a:prstGeom prst="rect">
            <a:avLst/>
          </a:prstGeom>
          <a:ln w="12700">
            <a:miter lim="400000"/>
          </a:ln>
        </p:spPr>
      </p:pic>
      <p:pic>
        <p:nvPicPr>
          <p:cNvPr id="15" name="图像" descr="图像">
            <a:extLst>
              <a:ext uri="{FF2B5EF4-FFF2-40B4-BE49-F238E27FC236}">
                <a16:creationId xmlns:a16="http://schemas.microsoft.com/office/drawing/2014/main" id="{3560F203-232C-CE9D-0D14-D0670C20F6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2894" y="5652182"/>
            <a:ext cx="640576" cy="30885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6" name="成组">
            <a:extLst>
              <a:ext uri="{FF2B5EF4-FFF2-40B4-BE49-F238E27FC236}">
                <a16:creationId xmlns:a16="http://schemas.microsoft.com/office/drawing/2014/main" id="{BDD0FD7E-35C8-65C1-93FD-95610624652F}"/>
              </a:ext>
            </a:extLst>
          </p:cNvPr>
          <p:cNvGrpSpPr/>
          <p:nvPr/>
        </p:nvGrpSpPr>
        <p:grpSpPr>
          <a:xfrm>
            <a:off x="2001499" y="1838431"/>
            <a:ext cx="1500841" cy="619649"/>
            <a:chOff x="0" y="0"/>
            <a:chExt cx="1500840" cy="619648"/>
          </a:xfrm>
        </p:grpSpPr>
        <p:sp>
          <p:nvSpPr>
            <p:cNvPr id="17" name="圆角矩形">
              <a:extLst>
                <a:ext uri="{FF2B5EF4-FFF2-40B4-BE49-F238E27FC236}">
                  <a16:creationId xmlns:a16="http://schemas.microsoft.com/office/drawing/2014/main" id="{B21BC5F5-F664-C942-FCE1-C0C950D56254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18" name="线条">
              <a:extLst>
                <a:ext uri="{FF2B5EF4-FFF2-40B4-BE49-F238E27FC236}">
                  <a16:creationId xmlns:a16="http://schemas.microsoft.com/office/drawing/2014/main" id="{ECB4DAAD-110F-C921-28F4-FF394C76D74C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19" name="成组">
            <a:extLst>
              <a:ext uri="{FF2B5EF4-FFF2-40B4-BE49-F238E27FC236}">
                <a16:creationId xmlns:a16="http://schemas.microsoft.com/office/drawing/2014/main" id="{3DB26431-27D7-0F8C-7233-A23834192AD6}"/>
              </a:ext>
            </a:extLst>
          </p:cNvPr>
          <p:cNvGrpSpPr/>
          <p:nvPr/>
        </p:nvGrpSpPr>
        <p:grpSpPr>
          <a:xfrm>
            <a:off x="2001499" y="2908217"/>
            <a:ext cx="1500841" cy="619650"/>
            <a:chOff x="0" y="0"/>
            <a:chExt cx="1500840" cy="619648"/>
          </a:xfrm>
        </p:grpSpPr>
        <p:sp>
          <p:nvSpPr>
            <p:cNvPr id="20" name="圆角矩形">
              <a:extLst>
                <a:ext uri="{FF2B5EF4-FFF2-40B4-BE49-F238E27FC236}">
                  <a16:creationId xmlns:a16="http://schemas.microsoft.com/office/drawing/2014/main" id="{1C15988C-BB6B-AC62-604C-BA339D45B508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1" name="线条">
              <a:extLst>
                <a:ext uri="{FF2B5EF4-FFF2-40B4-BE49-F238E27FC236}">
                  <a16:creationId xmlns:a16="http://schemas.microsoft.com/office/drawing/2014/main" id="{A2F7FF25-685F-9AF9-3761-8F4E029E3AD9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22" name="成组">
            <a:extLst>
              <a:ext uri="{FF2B5EF4-FFF2-40B4-BE49-F238E27FC236}">
                <a16:creationId xmlns:a16="http://schemas.microsoft.com/office/drawing/2014/main" id="{71C088CA-0059-C559-3D06-841EE84B503B}"/>
              </a:ext>
            </a:extLst>
          </p:cNvPr>
          <p:cNvGrpSpPr/>
          <p:nvPr/>
        </p:nvGrpSpPr>
        <p:grpSpPr>
          <a:xfrm>
            <a:off x="2001499" y="4008143"/>
            <a:ext cx="1500841" cy="619650"/>
            <a:chOff x="0" y="0"/>
            <a:chExt cx="1500840" cy="619648"/>
          </a:xfrm>
        </p:grpSpPr>
        <p:sp>
          <p:nvSpPr>
            <p:cNvPr id="23" name="圆角矩形">
              <a:extLst>
                <a:ext uri="{FF2B5EF4-FFF2-40B4-BE49-F238E27FC236}">
                  <a16:creationId xmlns:a16="http://schemas.microsoft.com/office/drawing/2014/main" id="{FB5820BC-A65B-6C41-80DB-6FB20AD43D65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4" name="线条">
              <a:extLst>
                <a:ext uri="{FF2B5EF4-FFF2-40B4-BE49-F238E27FC236}">
                  <a16:creationId xmlns:a16="http://schemas.microsoft.com/office/drawing/2014/main" id="{42C4FB13-8045-BEB8-961E-BDFF6763FDA2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25" name="成组">
            <a:extLst>
              <a:ext uri="{FF2B5EF4-FFF2-40B4-BE49-F238E27FC236}">
                <a16:creationId xmlns:a16="http://schemas.microsoft.com/office/drawing/2014/main" id="{3132D7F2-E062-EA13-D8EB-DCB831B3BD4D}"/>
              </a:ext>
            </a:extLst>
          </p:cNvPr>
          <p:cNvGrpSpPr/>
          <p:nvPr/>
        </p:nvGrpSpPr>
        <p:grpSpPr>
          <a:xfrm>
            <a:off x="4684689" y="2908217"/>
            <a:ext cx="1500841" cy="619650"/>
            <a:chOff x="0" y="0"/>
            <a:chExt cx="1500840" cy="619648"/>
          </a:xfrm>
        </p:grpSpPr>
        <p:sp>
          <p:nvSpPr>
            <p:cNvPr id="26" name="圆角矩形">
              <a:extLst>
                <a:ext uri="{FF2B5EF4-FFF2-40B4-BE49-F238E27FC236}">
                  <a16:creationId xmlns:a16="http://schemas.microsoft.com/office/drawing/2014/main" id="{127E5F11-C3FA-108C-458D-98CF60595C87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9" name="线条">
              <a:extLst>
                <a:ext uri="{FF2B5EF4-FFF2-40B4-BE49-F238E27FC236}">
                  <a16:creationId xmlns:a16="http://schemas.microsoft.com/office/drawing/2014/main" id="{C9EB55A6-7F31-9BB4-451C-109EE0C933C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0" name="成组">
            <a:extLst>
              <a:ext uri="{FF2B5EF4-FFF2-40B4-BE49-F238E27FC236}">
                <a16:creationId xmlns:a16="http://schemas.microsoft.com/office/drawing/2014/main" id="{E58D2A7A-B5A0-9640-28D6-F3D6EC00D079}"/>
              </a:ext>
            </a:extLst>
          </p:cNvPr>
          <p:cNvGrpSpPr/>
          <p:nvPr/>
        </p:nvGrpSpPr>
        <p:grpSpPr>
          <a:xfrm>
            <a:off x="9550515" y="2908217"/>
            <a:ext cx="1500842" cy="619650"/>
            <a:chOff x="0" y="0"/>
            <a:chExt cx="1500840" cy="619648"/>
          </a:xfrm>
        </p:grpSpPr>
        <p:sp>
          <p:nvSpPr>
            <p:cNvPr id="31" name="圆角矩形">
              <a:extLst>
                <a:ext uri="{FF2B5EF4-FFF2-40B4-BE49-F238E27FC236}">
                  <a16:creationId xmlns:a16="http://schemas.microsoft.com/office/drawing/2014/main" id="{86EA5054-28D7-28DD-4E45-41543B60A0B9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2" name="线条">
              <a:extLst>
                <a:ext uri="{FF2B5EF4-FFF2-40B4-BE49-F238E27FC236}">
                  <a16:creationId xmlns:a16="http://schemas.microsoft.com/office/drawing/2014/main" id="{13C44AEF-28C9-2732-C9E1-76996111413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3" name="成组">
            <a:extLst>
              <a:ext uri="{FF2B5EF4-FFF2-40B4-BE49-F238E27FC236}">
                <a16:creationId xmlns:a16="http://schemas.microsoft.com/office/drawing/2014/main" id="{23D40177-897B-0811-CB7C-6B2D00B62B15}"/>
              </a:ext>
            </a:extLst>
          </p:cNvPr>
          <p:cNvGrpSpPr/>
          <p:nvPr/>
        </p:nvGrpSpPr>
        <p:grpSpPr>
          <a:xfrm>
            <a:off x="6259571" y="4400094"/>
            <a:ext cx="1500842" cy="619650"/>
            <a:chOff x="0" y="0"/>
            <a:chExt cx="1500840" cy="619648"/>
          </a:xfrm>
        </p:grpSpPr>
        <p:sp>
          <p:nvSpPr>
            <p:cNvPr id="34" name="圆角矩形">
              <a:extLst>
                <a:ext uri="{FF2B5EF4-FFF2-40B4-BE49-F238E27FC236}">
                  <a16:creationId xmlns:a16="http://schemas.microsoft.com/office/drawing/2014/main" id="{A669F0D5-17E2-2C67-9670-4A449342EF05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5" name="线条">
              <a:extLst>
                <a:ext uri="{FF2B5EF4-FFF2-40B4-BE49-F238E27FC236}">
                  <a16:creationId xmlns:a16="http://schemas.microsoft.com/office/drawing/2014/main" id="{5D71E961-E677-2B71-475D-1FE069A5925C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6" name="成组">
            <a:extLst>
              <a:ext uri="{FF2B5EF4-FFF2-40B4-BE49-F238E27FC236}">
                <a16:creationId xmlns:a16="http://schemas.microsoft.com/office/drawing/2014/main" id="{6ED76F09-179C-7CDD-2B99-1F390A2E2D2A}"/>
              </a:ext>
            </a:extLst>
          </p:cNvPr>
          <p:cNvGrpSpPr/>
          <p:nvPr/>
        </p:nvGrpSpPr>
        <p:grpSpPr>
          <a:xfrm>
            <a:off x="6259571" y="5496782"/>
            <a:ext cx="1500842" cy="619650"/>
            <a:chOff x="0" y="0"/>
            <a:chExt cx="1500840" cy="619648"/>
          </a:xfrm>
        </p:grpSpPr>
        <p:sp>
          <p:nvSpPr>
            <p:cNvPr id="37" name="圆角矩形">
              <a:extLst>
                <a:ext uri="{FF2B5EF4-FFF2-40B4-BE49-F238E27FC236}">
                  <a16:creationId xmlns:a16="http://schemas.microsoft.com/office/drawing/2014/main" id="{B2D7A603-2FC9-1D2F-2665-D04FF7709F4D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8" name="线条">
              <a:extLst>
                <a:ext uri="{FF2B5EF4-FFF2-40B4-BE49-F238E27FC236}">
                  <a16:creationId xmlns:a16="http://schemas.microsoft.com/office/drawing/2014/main" id="{3DFA44C6-2038-AD64-7FCE-FEEBF94C23EF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pic>
        <p:nvPicPr>
          <p:cNvPr id="39" name="图像" descr="图像">
            <a:extLst>
              <a:ext uri="{FF2B5EF4-FFF2-40B4-BE49-F238E27FC236}">
                <a16:creationId xmlns:a16="http://schemas.microsoft.com/office/drawing/2014/main" id="{B84FC750-8B5A-049A-EBCD-1DB01437FDE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10581" y="3102740"/>
            <a:ext cx="711201" cy="2844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0" name="成组">
            <a:extLst>
              <a:ext uri="{FF2B5EF4-FFF2-40B4-BE49-F238E27FC236}">
                <a16:creationId xmlns:a16="http://schemas.microsoft.com/office/drawing/2014/main" id="{F1EF6F9F-BCEA-1941-C4D5-ECD486EA0833}"/>
              </a:ext>
            </a:extLst>
          </p:cNvPr>
          <p:cNvGrpSpPr/>
          <p:nvPr/>
        </p:nvGrpSpPr>
        <p:grpSpPr>
          <a:xfrm>
            <a:off x="7152846" y="2908217"/>
            <a:ext cx="1500842" cy="619650"/>
            <a:chOff x="0" y="0"/>
            <a:chExt cx="1500840" cy="619648"/>
          </a:xfrm>
        </p:grpSpPr>
        <p:sp>
          <p:nvSpPr>
            <p:cNvPr id="41" name="圆角矩形">
              <a:extLst>
                <a:ext uri="{FF2B5EF4-FFF2-40B4-BE49-F238E27FC236}">
                  <a16:creationId xmlns:a16="http://schemas.microsoft.com/office/drawing/2014/main" id="{0415A513-B67B-AF18-1C40-3703AFF2B8C4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42" name="线条">
              <a:extLst>
                <a:ext uri="{FF2B5EF4-FFF2-40B4-BE49-F238E27FC236}">
                  <a16:creationId xmlns:a16="http://schemas.microsoft.com/office/drawing/2014/main" id="{FDD34259-F5F6-10E9-4B93-A992395274A4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43" name="成组">
            <a:extLst>
              <a:ext uri="{FF2B5EF4-FFF2-40B4-BE49-F238E27FC236}">
                <a16:creationId xmlns:a16="http://schemas.microsoft.com/office/drawing/2014/main" id="{7D4F8195-21BD-D7C9-4C4B-CC09D42E6C87}"/>
              </a:ext>
            </a:extLst>
          </p:cNvPr>
          <p:cNvGrpSpPr/>
          <p:nvPr/>
        </p:nvGrpSpPr>
        <p:grpSpPr>
          <a:xfrm>
            <a:off x="3920828" y="5496809"/>
            <a:ext cx="1500841" cy="619650"/>
            <a:chOff x="0" y="0"/>
            <a:chExt cx="1500840" cy="619648"/>
          </a:xfrm>
        </p:grpSpPr>
        <p:sp>
          <p:nvSpPr>
            <p:cNvPr id="44" name="圆角矩形">
              <a:extLst>
                <a:ext uri="{FF2B5EF4-FFF2-40B4-BE49-F238E27FC236}">
                  <a16:creationId xmlns:a16="http://schemas.microsoft.com/office/drawing/2014/main" id="{A87B79DB-B3C4-885E-4C78-03415896FA60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45" name="线条">
              <a:extLst>
                <a:ext uri="{FF2B5EF4-FFF2-40B4-BE49-F238E27FC236}">
                  <a16:creationId xmlns:a16="http://schemas.microsoft.com/office/drawing/2014/main" id="{ED50CB0F-6F07-8079-B1F9-0C68B747757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sp>
        <p:nvSpPr>
          <p:cNvPr id="46" name="圆角矩形">
            <a:extLst>
              <a:ext uri="{FF2B5EF4-FFF2-40B4-BE49-F238E27FC236}">
                <a16:creationId xmlns:a16="http://schemas.microsoft.com/office/drawing/2014/main" id="{F3B16D33-0894-08E7-90E1-835C5E5EDBC5}"/>
              </a:ext>
            </a:extLst>
          </p:cNvPr>
          <p:cNvSpPr/>
          <p:nvPr/>
        </p:nvSpPr>
        <p:spPr>
          <a:xfrm>
            <a:off x="446664" y="1843508"/>
            <a:ext cx="750630" cy="609495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47" name="线条">
            <a:extLst>
              <a:ext uri="{FF2B5EF4-FFF2-40B4-BE49-F238E27FC236}">
                <a16:creationId xmlns:a16="http://schemas.microsoft.com/office/drawing/2014/main" id="{69EA68BD-01DA-79E5-94B2-4D22172AE6CD}"/>
              </a:ext>
            </a:extLst>
          </p:cNvPr>
          <p:cNvSpPr/>
          <p:nvPr/>
        </p:nvSpPr>
        <p:spPr>
          <a:xfrm flipV="1">
            <a:off x="11636373" y="1693320"/>
            <a:ext cx="1" cy="4436496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48" name="线条">
            <a:extLst>
              <a:ext uri="{FF2B5EF4-FFF2-40B4-BE49-F238E27FC236}">
                <a16:creationId xmlns:a16="http://schemas.microsoft.com/office/drawing/2014/main" id="{F9B64969-5977-B79B-EEDB-6D1FBACE9695}"/>
              </a:ext>
            </a:extLst>
          </p:cNvPr>
          <p:cNvSpPr/>
          <p:nvPr/>
        </p:nvSpPr>
        <p:spPr>
          <a:xfrm>
            <a:off x="1179334" y="2148255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49" name="线条">
            <a:extLst>
              <a:ext uri="{FF2B5EF4-FFF2-40B4-BE49-F238E27FC236}">
                <a16:creationId xmlns:a16="http://schemas.microsoft.com/office/drawing/2014/main" id="{4F9D8CD4-A283-252E-677C-C3E1AFD9DE57}"/>
              </a:ext>
            </a:extLst>
          </p:cNvPr>
          <p:cNvSpPr/>
          <p:nvPr/>
        </p:nvSpPr>
        <p:spPr>
          <a:xfrm>
            <a:off x="3496803" y="2123065"/>
            <a:ext cx="1197568" cy="1039288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0" name="线条">
            <a:extLst>
              <a:ext uri="{FF2B5EF4-FFF2-40B4-BE49-F238E27FC236}">
                <a16:creationId xmlns:a16="http://schemas.microsoft.com/office/drawing/2014/main" id="{B344E231-24DC-49AA-766E-B19FC93E49C1}"/>
              </a:ext>
            </a:extLst>
          </p:cNvPr>
          <p:cNvSpPr/>
          <p:nvPr/>
        </p:nvSpPr>
        <p:spPr>
          <a:xfrm flipV="1">
            <a:off x="3496702" y="3303523"/>
            <a:ext cx="1197816" cy="101361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1" name="线条">
            <a:extLst>
              <a:ext uri="{FF2B5EF4-FFF2-40B4-BE49-F238E27FC236}">
                <a16:creationId xmlns:a16="http://schemas.microsoft.com/office/drawing/2014/main" id="{7E7178DB-1510-4678-D362-8AAFF7E5A04B}"/>
              </a:ext>
            </a:extLst>
          </p:cNvPr>
          <p:cNvSpPr/>
          <p:nvPr/>
        </p:nvSpPr>
        <p:spPr>
          <a:xfrm>
            <a:off x="3493235" y="3244980"/>
            <a:ext cx="1200664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2" name="线条">
            <a:extLst>
              <a:ext uri="{FF2B5EF4-FFF2-40B4-BE49-F238E27FC236}">
                <a16:creationId xmlns:a16="http://schemas.microsoft.com/office/drawing/2014/main" id="{B8C06E0F-4039-82B1-E4D1-A4206B476862}"/>
              </a:ext>
            </a:extLst>
          </p:cNvPr>
          <p:cNvSpPr/>
          <p:nvPr/>
        </p:nvSpPr>
        <p:spPr>
          <a:xfrm>
            <a:off x="6186555" y="3244980"/>
            <a:ext cx="94733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3" name="线条">
            <a:extLst>
              <a:ext uri="{FF2B5EF4-FFF2-40B4-BE49-F238E27FC236}">
                <a16:creationId xmlns:a16="http://schemas.microsoft.com/office/drawing/2014/main" id="{43802721-9223-1D8C-2795-A36636E0C864}"/>
              </a:ext>
            </a:extLst>
          </p:cNvPr>
          <p:cNvSpPr/>
          <p:nvPr/>
        </p:nvSpPr>
        <p:spPr>
          <a:xfrm>
            <a:off x="8672640" y="3218042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4" name="线条">
            <a:extLst>
              <a:ext uri="{FF2B5EF4-FFF2-40B4-BE49-F238E27FC236}">
                <a16:creationId xmlns:a16="http://schemas.microsoft.com/office/drawing/2014/main" id="{08FD284D-DE0B-2983-4F55-3A3121E6B99E}"/>
              </a:ext>
            </a:extLst>
          </p:cNvPr>
          <p:cNvSpPr/>
          <p:nvPr/>
        </p:nvSpPr>
        <p:spPr>
          <a:xfrm>
            <a:off x="5415260" y="5817133"/>
            <a:ext cx="850720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5" name="线条">
            <a:extLst>
              <a:ext uri="{FF2B5EF4-FFF2-40B4-BE49-F238E27FC236}">
                <a16:creationId xmlns:a16="http://schemas.microsoft.com/office/drawing/2014/main" id="{08C58F7A-76B7-E391-8EF4-8ECD6283D51D}"/>
              </a:ext>
            </a:extLst>
          </p:cNvPr>
          <p:cNvSpPr/>
          <p:nvPr/>
        </p:nvSpPr>
        <p:spPr>
          <a:xfrm>
            <a:off x="7766237" y="5817133"/>
            <a:ext cx="3857962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6" name="线条">
            <a:extLst>
              <a:ext uri="{FF2B5EF4-FFF2-40B4-BE49-F238E27FC236}">
                <a16:creationId xmlns:a16="http://schemas.microsoft.com/office/drawing/2014/main" id="{8498752B-E99E-769A-AF7E-9654F728732D}"/>
              </a:ext>
            </a:extLst>
          </p:cNvPr>
          <p:cNvSpPr/>
          <p:nvPr/>
        </p:nvSpPr>
        <p:spPr>
          <a:xfrm>
            <a:off x="7773956" y="3405798"/>
            <a:ext cx="1732232" cy="12955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18555" y="21600"/>
                </a:lnTo>
                <a:lnTo>
                  <a:pt x="18555" y="0"/>
                </a:lnTo>
                <a:lnTo>
                  <a:pt x="21600" y="0"/>
                </a:lnTo>
              </a:path>
            </a:pathLst>
          </a:cu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7" name="终端用户">
            <a:extLst>
              <a:ext uri="{FF2B5EF4-FFF2-40B4-BE49-F238E27FC236}">
                <a16:creationId xmlns:a16="http://schemas.microsoft.com/office/drawing/2014/main" id="{B630544B-C738-0FF2-C48F-5134B0D13AE1}"/>
              </a:ext>
            </a:extLst>
          </p:cNvPr>
          <p:cNvSpPr txBox="1"/>
          <p:nvPr/>
        </p:nvSpPr>
        <p:spPr>
          <a:xfrm rot="5400000">
            <a:off x="11367326" y="3054297"/>
            <a:ext cx="1084590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Customers</a:t>
            </a:r>
            <a:endParaRPr dirty="0"/>
          </a:p>
        </p:txBody>
      </p:sp>
      <p:sp>
        <p:nvSpPr>
          <p:cNvPr id="58" name="线条">
            <a:extLst>
              <a:ext uri="{FF2B5EF4-FFF2-40B4-BE49-F238E27FC236}">
                <a16:creationId xmlns:a16="http://schemas.microsoft.com/office/drawing/2014/main" id="{28C4901F-C45B-B56F-0297-7AAD29F7407C}"/>
              </a:ext>
            </a:extLst>
          </p:cNvPr>
          <p:cNvSpPr/>
          <p:nvPr/>
        </p:nvSpPr>
        <p:spPr>
          <a:xfrm>
            <a:off x="11050826" y="3218042"/>
            <a:ext cx="53486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59" name="图像" descr="图像">
            <a:extLst>
              <a:ext uri="{FF2B5EF4-FFF2-40B4-BE49-F238E27FC236}">
                <a16:creationId xmlns:a16="http://schemas.microsoft.com/office/drawing/2014/main" id="{9FE71344-34C4-377C-82B8-85DF9CE93C9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6161" y="1956020"/>
            <a:ext cx="454026" cy="384470"/>
          </a:xfrm>
          <a:prstGeom prst="rect">
            <a:avLst/>
          </a:prstGeom>
          <a:ln w="12700">
            <a:miter lim="400000"/>
          </a:ln>
        </p:spPr>
      </p:pic>
      <p:pic>
        <p:nvPicPr>
          <p:cNvPr id="60" name="图像" descr="图像">
            <a:extLst>
              <a:ext uri="{FF2B5EF4-FFF2-40B4-BE49-F238E27FC236}">
                <a16:creationId xmlns:a16="http://schemas.microsoft.com/office/drawing/2014/main" id="{1E2877D0-A5C7-FBE2-3CF0-8A1636F6E0C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2029" y="3025807"/>
            <a:ext cx="454026" cy="384470"/>
          </a:xfrm>
          <a:prstGeom prst="rect">
            <a:avLst/>
          </a:prstGeom>
          <a:ln w="12700">
            <a:miter lim="400000"/>
          </a:ln>
        </p:spPr>
      </p:pic>
      <p:pic>
        <p:nvPicPr>
          <p:cNvPr id="61" name="图像" descr="图像">
            <a:extLst>
              <a:ext uri="{FF2B5EF4-FFF2-40B4-BE49-F238E27FC236}">
                <a16:creationId xmlns:a16="http://schemas.microsoft.com/office/drawing/2014/main" id="{6979870F-35B4-B673-412E-550DB4092E6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2029" y="4146394"/>
            <a:ext cx="454026" cy="384470"/>
          </a:xfrm>
          <a:prstGeom prst="rect">
            <a:avLst/>
          </a:prstGeom>
          <a:ln w="12700">
            <a:miter lim="400000"/>
          </a:ln>
        </p:spPr>
      </p:pic>
      <p:sp>
        <p:nvSpPr>
          <p:cNvPr id="62" name="交换机芯片晶圆">
            <a:extLst>
              <a:ext uri="{FF2B5EF4-FFF2-40B4-BE49-F238E27FC236}">
                <a16:creationId xmlns:a16="http://schemas.microsoft.com/office/drawing/2014/main" id="{25FB03BA-D7D0-F1EA-2D6C-C45B81B9DB13}"/>
              </a:ext>
            </a:extLst>
          </p:cNvPr>
          <p:cNvSpPr txBox="1"/>
          <p:nvPr/>
        </p:nvSpPr>
        <p:spPr>
          <a:xfrm>
            <a:off x="3495405" y="1849822"/>
            <a:ext cx="156042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Switch Chip Wafer</a:t>
            </a:r>
            <a:endParaRPr sz="1400" dirty="0"/>
          </a:p>
        </p:txBody>
      </p:sp>
      <p:sp>
        <p:nvSpPr>
          <p:cNvPr id="63" name="电芯片晶圆">
            <a:extLst>
              <a:ext uri="{FF2B5EF4-FFF2-40B4-BE49-F238E27FC236}">
                <a16:creationId xmlns:a16="http://schemas.microsoft.com/office/drawing/2014/main" id="{906D18B9-EDAB-57B8-B0F1-89AFCAECCCDE}"/>
              </a:ext>
            </a:extLst>
          </p:cNvPr>
          <p:cNvSpPr txBox="1"/>
          <p:nvPr/>
        </p:nvSpPr>
        <p:spPr>
          <a:xfrm>
            <a:off x="3495405" y="2952585"/>
            <a:ext cx="912812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EIC Wafer</a:t>
            </a:r>
            <a:endParaRPr sz="1400" dirty="0"/>
          </a:p>
        </p:txBody>
      </p:sp>
      <p:sp>
        <p:nvSpPr>
          <p:cNvPr id="64" name="硅光芯片晶圆">
            <a:extLst>
              <a:ext uri="{FF2B5EF4-FFF2-40B4-BE49-F238E27FC236}">
                <a16:creationId xmlns:a16="http://schemas.microsoft.com/office/drawing/2014/main" id="{77927AFA-B705-91C6-A93A-0E70941E2E64}"/>
              </a:ext>
            </a:extLst>
          </p:cNvPr>
          <p:cNvSpPr txBox="1"/>
          <p:nvPr/>
        </p:nvSpPr>
        <p:spPr>
          <a:xfrm>
            <a:off x="3502339" y="4371295"/>
            <a:ext cx="992962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 err="1"/>
              <a:t>SiPh</a:t>
            </a:r>
            <a:r>
              <a:rPr lang="en-US" sz="1400" dirty="0"/>
              <a:t> Wafer</a:t>
            </a:r>
            <a:endParaRPr sz="1400" dirty="0"/>
          </a:p>
        </p:txBody>
      </p:sp>
      <p:pic>
        <p:nvPicPr>
          <p:cNvPr id="65" name="Gemini.jpg" descr="Gemini.jpg">
            <a:extLst>
              <a:ext uri="{FF2B5EF4-FFF2-40B4-BE49-F238E27FC236}">
                <a16:creationId xmlns:a16="http://schemas.microsoft.com/office/drawing/2014/main" id="{C4DB1939-0A4E-B318-00A6-9638B77FCDC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372795" y="3097421"/>
            <a:ext cx="620085" cy="295119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图像" descr="图像">
            <a:extLst>
              <a:ext uri="{FF2B5EF4-FFF2-40B4-BE49-F238E27FC236}">
                <a16:creationId xmlns:a16="http://schemas.microsoft.com/office/drawing/2014/main" id="{65CD0739-4BDB-CE7B-2813-F247D10A697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48190" y="2994522"/>
            <a:ext cx="514685" cy="447041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图像" descr="图像">
            <a:extLst>
              <a:ext uri="{FF2B5EF4-FFF2-40B4-BE49-F238E27FC236}">
                <a16:creationId xmlns:a16="http://schemas.microsoft.com/office/drawing/2014/main" id="{EA132C4D-D984-3E5B-C2D9-2CEA0DE3F85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21820" y="2991063"/>
            <a:ext cx="514685" cy="447041"/>
          </a:xfrm>
          <a:prstGeom prst="rect">
            <a:avLst/>
          </a:prstGeom>
          <a:ln w="12700">
            <a:miter lim="400000"/>
          </a:ln>
        </p:spPr>
      </p:pic>
      <p:pic>
        <p:nvPicPr>
          <p:cNvPr id="68" name="图像" descr="图像">
            <a:extLst>
              <a:ext uri="{FF2B5EF4-FFF2-40B4-BE49-F238E27FC236}">
                <a16:creationId xmlns:a16="http://schemas.microsoft.com/office/drawing/2014/main" id="{9F8D8865-6867-FD21-B861-CE11B034B0B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48823" y="5740587"/>
            <a:ext cx="454026" cy="153094"/>
          </a:xfrm>
          <a:prstGeom prst="rect">
            <a:avLst/>
          </a:prstGeom>
          <a:ln w="12700">
            <a:miter lim="400000"/>
          </a:ln>
        </p:spPr>
      </p:pic>
      <p:pic>
        <p:nvPicPr>
          <p:cNvPr id="69" name="图像" descr="图像">
            <a:extLst>
              <a:ext uri="{FF2B5EF4-FFF2-40B4-BE49-F238E27FC236}">
                <a16:creationId xmlns:a16="http://schemas.microsoft.com/office/drawing/2014/main" id="{1D54271D-F5BA-5763-B053-3D1AE42FF9C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95013" y="4606801"/>
            <a:ext cx="634615" cy="295409"/>
          </a:xfrm>
          <a:prstGeom prst="rect">
            <a:avLst/>
          </a:prstGeom>
          <a:ln w="12700">
            <a:miter lim="400000"/>
          </a:ln>
        </p:spPr>
      </p:pic>
      <p:pic>
        <p:nvPicPr>
          <p:cNvPr id="70" name="RLM_CUSTOMER_MODEL_REV_A 1.png" descr="RLM_CUSTOMER_MODEL_REV_A 1.png">
            <a:extLst>
              <a:ext uri="{FF2B5EF4-FFF2-40B4-BE49-F238E27FC236}">
                <a16:creationId xmlns:a16="http://schemas.microsoft.com/office/drawing/2014/main" id="{55A6E3CE-D5E4-343F-ADF5-1980CFC6B5A6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9276" t="8882" r="6682" b="11663"/>
          <a:stretch>
            <a:fillRect/>
          </a:stretch>
        </p:blipFill>
        <p:spPr>
          <a:xfrm>
            <a:off x="7080386" y="5656062"/>
            <a:ext cx="663870" cy="3353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9" h="21599" extrusionOk="0">
                <a:moveTo>
                  <a:pt x="19763" y="0"/>
                </a:moveTo>
                <a:cubicBezTo>
                  <a:pt x="19223" y="1"/>
                  <a:pt x="19110" y="69"/>
                  <a:pt x="16964" y="1738"/>
                </a:cubicBezTo>
                <a:cubicBezTo>
                  <a:pt x="15885" y="2576"/>
                  <a:pt x="14953" y="3295"/>
                  <a:pt x="14887" y="3348"/>
                </a:cubicBezTo>
                <a:cubicBezTo>
                  <a:pt x="14773" y="3439"/>
                  <a:pt x="14764" y="3460"/>
                  <a:pt x="14745" y="3732"/>
                </a:cubicBezTo>
                <a:cubicBezTo>
                  <a:pt x="14723" y="4047"/>
                  <a:pt x="14713" y="4077"/>
                  <a:pt x="14332" y="4345"/>
                </a:cubicBezTo>
                <a:lnTo>
                  <a:pt x="14177" y="4447"/>
                </a:lnTo>
                <a:lnTo>
                  <a:pt x="14087" y="4294"/>
                </a:lnTo>
                <a:lnTo>
                  <a:pt x="13997" y="4141"/>
                </a:lnTo>
                <a:lnTo>
                  <a:pt x="13300" y="4703"/>
                </a:lnTo>
                <a:cubicBezTo>
                  <a:pt x="12521" y="5312"/>
                  <a:pt x="12574" y="5286"/>
                  <a:pt x="12345" y="4907"/>
                </a:cubicBezTo>
                <a:cubicBezTo>
                  <a:pt x="12286" y="4809"/>
                  <a:pt x="11905" y="4289"/>
                  <a:pt x="11494" y="3757"/>
                </a:cubicBezTo>
                <a:lnTo>
                  <a:pt x="10746" y="2811"/>
                </a:lnTo>
                <a:lnTo>
                  <a:pt x="10552" y="2939"/>
                </a:lnTo>
                <a:cubicBezTo>
                  <a:pt x="10250" y="3163"/>
                  <a:pt x="1763" y="9772"/>
                  <a:pt x="1754" y="9789"/>
                </a:cubicBezTo>
                <a:cubicBezTo>
                  <a:pt x="1750" y="9798"/>
                  <a:pt x="1727" y="10227"/>
                  <a:pt x="1703" y="10761"/>
                </a:cubicBezTo>
                <a:cubicBezTo>
                  <a:pt x="1679" y="11294"/>
                  <a:pt x="1643" y="11773"/>
                  <a:pt x="1625" y="11809"/>
                </a:cubicBezTo>
                <a:cubicBezTo>
                  <a:pt x="1608" y="11844"/>
                  <a:pt x="1339" y="12055"/>
                  <a:pt x="1032" y="12294"/>
                </a:cubicBezTo>
                <a:lnTo>
                  <a:pt x="477" y="12729"/>
                </a:lnTo>
                <a:lnTo>
                  <a:pt x="490" y="13087"/>
                </a:lnTo>
                <a:cubicBezTo>
                  <a:pt x="497" y="13306"/>
                  <a:pt x="486" y="13471"/>
                  <a:pt x="464" y="13521"/>
                </a:cubicBezTo>
                <a:cubicBezTo>
                  <a:pt x="441" y="13578"/>
                  <a:pt x="434" y="13882"/>
                  <a:pt x="439" y="14492"/>
                </a:cubicBezTo>
                <a:cubicBezTo>
                  <a:pt x="442" y="14976"/>
                  <a:pt x="427" y="15625"/>
                  <a:pt x="413" y="15924"/>
                </a:cubicBezTo>
                <a:lnTo>
                  <a:pt x="387" y="16461"/>
                </a:lnTo>
                <a:lnTo>
                  <a:pt x="219" y="16588"/>
                </a:lnTo>
                <a:cubicBezTo>
                  <a:pt x="123" y="16665"/>
                  <a:pt x="38" y="16757"/>
                  <a:pt x="26" y="16793"/>
                </a:cubicBezTo>
                <a:cubicBezTo>
                  <a:pt x="14" y="16829"/>
                  <a:pt x="0" y="17012"/>
                  <a:pt x="0" y="17176"/>
                </a:cubicBezTo>
                <a:lnTo>
                  <a:pt x="0" y="17457"/>
                </a:lnTo>
                <a:lnTo>
                  <a:pt x="232" y="17815"/>
                </a:lnTo>
                <a:cubicBezTo>
                  <a:pt x="360" y="18011"/>
                  <a:pt x="464" y="18198"/>
                  <a:pt x="464" y="18224"/>
                </a:cubicBezTo>
                <a:cubicBezTo>
                  <a:pt x="464" y="18250"/>
                  <a:pt x="418" y="18305"/>
                  <a:pt x="361" y="18352"/>
                </a:cubicBezTo>
                <a:cubicBezTo>
                  <a:pt x="271" y="18427"/>
                  <a:pt x="263" y="18454"/>
                  <a:pt x="271" y="18608"/>
                </a:cubicBezTo>
                <a:cubicBezTo>
                  <a:pt x="279" y="18763"/>
                  <a:pt x="376" y="18947"/>
                  <a:pt x="1187" y="20192"/>
                </a:cubicBezTo>
                <a:cubicBezTo>
                  <a:pt x="1695" y="20973"/>
                  <a:pt x="2135" y="21599"/>
                  <a:pt x="2167" y="21598"/>
                </a:cubicBezTo>
                <a:cubicBezTo>
                  <a:pt x="2199" y="21597"/>
                  <a:pt x="2375" y="21471"/>
                  <a:pt x="2567" y="21317"/>
                </a:cubicBezTo>
                <a:cubicBezTo>
                  <a:pt x="2871" y="21074"/>
                  <a:pt x="2927" y="21042"/>
                  <a:pt x="2967" y="21113"/>
                </a:cubicBezTo>
                <a:cubicBezTo>
                  <a:pt x="3039" y="21239"/>
                  <a:pt x="3091" y="21228"/>
                  <a:pt x="3535" y="20883"/>
                </a:cubicBezTo>
                <a:lnTo>
                  <a:pt x="3947" y="20550"/>
                </a:lnTo>
                <a:lnTo>
                  <a:pt x="4051" y="20704"/>
                </a:lnTo>
                <a:cubicBezTo>
                  <a:pt x="4142" y="20842"/>
                  <a:pt x="4176" y="20866"/>
                  <a:pt x="4296" y="20831"/>
                </a:cubicBezTo>
                <a:cubicBezTo>
                  <a:pt x="4371" y="20810"/>
                  <a:pt x="4576" y="20669"/>
                  <a:pt x="4760" y="20525"/>
                </a:cubicBezTo>
                <a:cubicBezTo>
                  <a:pt x="4944" y="20381"/>
                  <a:pt x="5242" y="20174"/>
                  <a:pt x="5418" y="20039"/>
                </a:cubicBezTo>
                <a:cubicBezTo>
                  <a:pt x="5594" y="19905"/>
                  <a:pt x="6595" y="19123"/>
                  <a:pt x="7650" y="18301"/>
                </a:cubicBezTo>
                <a:cubicBezTo>
                  <a:pt x="10516" y="16067"/>
                  <a:pt x="11035" y="15667"/>
                  <a:pt x="12320" y="14671"/>
                </a:cubicBezTo>
                <a:lnTo>
                  <a:pt x="13494" y="13751"/>
                </a:lnTo>
                <a:lnTo>
                  <a:pt x="13584" y="13879"/>
                </a:lnTo>
                <a:cubicBezTo>
                  <a:pt x="13635" y="13954"/>
                  <a:pt x="13686" y="14032"/>
                  <a:pt x="13700" y="14032"/>
                </a:cubicBezTo>
                <a:cubicBezTo>
                  <a:pt x="13733" y="14032"/>
                  <a:pt x="14713" y="13254"/>
                  <a:pt x="14861" y="13112"/>
                </a:cubicBezTo>
                <a:cubicBezTo>
                  <a:pt x="14925" y="13051"/>
                  <a:pt x="15058" y="12932"/>
                  <a:pt x="15158" y="12857"/>
                </a:cubicBezTo>
                <a:cubicBezTo>
                  <a:pt x="15301" y="12749"/>
                  <a:pt x="15338" y="12704"/>
                  <a:pt x="15325" y="12627"/>
                </a:cubicBezTo>
                <a:cubicBezTo>
                  <a:pt x="15305" y="12497"/>
                  <a:pt x="15340" y="12446"/>
                  <a:pt x="15790" y="12090"/>
                </a:cubicBezTo>
                <a:cubicBezTo>
                  <a:pt x="16116" y="11832"/>
                  <a:pt x="16168" y="11778"/>
                  <a:pt x="16177" y="11655"/>
                </a:cubicBezTo>
                <a:cubicBezTo>
                  <a:pt x="16190" y="11459"/>
                  <a:pt x="16217" y="11425"/>
                  <a:pt x="16280" y="11502"/>
                </a:cubicBezTo>
                <a:cubicBezTo>
                  <a:pt x="16365" y="11606"/>
                  <a:pt x="16551" y="11430"/>
                  <a:pt x="16551" y="11246"/>
                </a:cubicBezTo>
                <a:cubicBezTo>
                  <a:pt x="16551" y="11050"/>
                  <a:pt x="16590" y="11004"/>
                  <a:pt x="16680" y="11144"/>
                </a:cubicBezTo>
                <a:lnTo>
                  <a:pt x="16757" y="11272"/>
                </a:lnTo>
                <a:lnTo>
                  <a:pt x="17067" y="11016"/>
                </a:lnTo>
                <a:cubicBezTo>
                  <a:pt x="17339" y="10796"/>
                  <a:pt x="17390" y="10748"/>
                  <a:pt x="17467" y="10531"/>
                </a:cubicBezTo>
                <a:lnTo>
                  <a:pt x="17557" y="10275"/>
                </a:lnTo>
                <a:lnTo>
                  <a:pt x="17570" y="9125"/>
                </a:lnTo>
                <a:cubicBezTo>
                  <a:pt x="17580" y="7809"/>
                  <a:pt x="17592" y="7609"/>
                  <a:pt x="17763" y="7284"/>
                </a:cubicBezTo>
                <a:cubicBezTo>
                  <a:pt x="17856" y="7110"/>
                  <a:pt x="18109" y="6913"/>
                  <a:pt x="19376" y="5930"/>
                </a:cubicBezTo>
                <a:cubicBezTo>
                  <a:pt x="20197" y="5293"/>
                  <a:pt x="20939" y="4686"/>
                  <a:pt x="21027" y="4601"/>
                </a:cubicBezTo>
                <a:cubicBezTo>
                  <a:pt x="21115" y="4515"/>
                  <a:pt x="21250" y="4349"/>
                  <a:pt x="21324" y="4217"/>
                </a:cubicBezTo>
                <a:lnTo>
                  <a:pt x="21453" y="3962"/>
                </a:lnTo>
                <a:lnTo>
                  <a:pt x="21517" y="3297"/>
                </a:lnTo>
                <a:cubicBezTo>
                  <a:pt x="21600" y="2415"/>
                  <a:pt x="21598" y="1836"/>
                  <a:pt x="21517" y="1508"/>
                </a:cubicBezTo>
                <a:cubicBezTo>
                  <a:pt x="21435" y="1170"/>
                  <a:pt x="21190" y="762"/>
                  <a:pt x="20950" y="536"/>
                </a:cubicBezTo>
                <a:cubicBezTo>
                  <a:pt x="20840" y="433"/>
                  <a:pt x="20732" y="310"/>
                  <a:pt x="20705" y="281"/>
                </a:cubicBezTo>
                <a:cubicBezTo>
                  <a:pt x="20585" y="153"/>
                  <a:pt x="20064" y="-1"/>
                  <a:pt x="19763" y="0"/>
                </a:cubicBezTo>
                <a:close/>
                <a:moveTo>
                  <a:pt x="19350" y="1636"/>
                </a:moveTo>
                <a:lnTo>
                  <a:pt x="19815" y="2351"/>
                </a:lnTo>
                <a:cubicBezTo>
                  <a:pt x="20411" y="3265"/>
                  <a:pt x="20429" y="3286"/>
                  <a:pt x="20382" y="3374"/>
                </a:cubicBezTo>
                <a:cubicBezTo>
                  <a:pt x="20362" y="3412"/>
                  <a:pt x="19512" y="4071"/>
                  <a:pt x="18499" y="4856"/>
                </a:cubicBezTo>
                <a:cubicBezTo>
                  <a:pt x="17485" y="5642"/>
                  <a:pt x="16640" y="6338"/>
                  <a:pt x="16615" y="6390"/>
                </a:cubicBezTo>
                <a:cubicBezTo>
                  <a:pt x="16574" y="6477"/>
                  <a:pt x="16533" y="6432"/>
                  <a:pt x="16138" y="5827"/>
                </a:cubicBezTo>
                <a:cubicBezTo>
                  <a:pt x="15825" y="5347"/>
                  <a:pt x="15712" y="5125"/>
                  <a:pt x="15712" y="5035"/>
                </a:cubicBezTo>
                <a:cubicBezTo>
                  <a:pt x="15712" y="4863"/>
                  <a:pt x="15850" y="4451"/>
                  <a:pt x="15945" y="4319"/>
                </a:cubicBezTo>
                <a:cubicBezTo>
                  <a:pt x="15988" y="4258"/>
                  <a:pt x="16696" y="3679"/>
                  <a:pt x="17518" y="3041"/>
                </a:cubicBezTo>
                <a:cubicBezTo>
                  <a:pt x="18341" y="2404"/>
                  <a:pt x="19088" y="1837"/>
                  <a:pt x="19182" y="1763"/>
                </a:cubicBezTo>
                <a:lnTo>
                  <a:pt x="19350" y="1636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71" name="交换机芯片+CPO">
            <a:extLst>
              <a:ext uri="{FF2B5EF4-FFF2-40B4-BE49-F238E27FC236}">
                <a16:creationId xmlns:a16="http://schemas.microsoft.com/office/drawing/2014/main" id="{5BDB8277-9C5B-9D40-0A4B-89C9E3719F59}"/>
              </a:ext>
            </a:extLst>
          </p:cNvPr>
          <p:cNvSpPr txBox="1"/>
          <p:nvPr/>
        </p:nvSpPr>
        <p:spPr>
          <a:xfrm>
            <a:off x="4640576" y="2551263"/>
            <a:ext cx="1632817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Switch Chip </a:t>
            </a:r>
            <a:r>
              <a:rPr sz="1400" dirty="0"/>
              <a:t>+</a:t>
            </a:r>
            <a:r>
              <a:rPr lang="en-US" sz="1400" dirty="0"/>
              <a:t> </a:t>
            </a:r>
            <a:r>
              <a:rPr sz="1400" dirty="0"/>
              <a:t>CPO</a:t>
            </a:r>
          </a:p>
        </p:txBody>
      </p:sp>
      <p:sp>
        <p:nvSpPr>
          <p:cNvPr id="72" name="交换机芯片+CPO+Lens">
            <a:extLst>
              <a:ext uri="{FF2B5EF4-FFF2-40B4-BE49-F238E27FC236}">
                <a16:creationId xmlns:a16="http://schemas.microsoft.com/office/drawing/2014/main" id="{B859D7AB-B097-27AB-D1B8-D09470D72729}"/>
              </a:ext>
            </a:extLst>
          </p:cNvPr>
          <p:cNvSpPr txBox="1"/>
          <p:nvPr/>
        </p:nvSpPr>
        <p:spPr>
          <a:xfrm>
            <a:off x="6827679" y="2551262"/>
            <a:ext cx="222432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400" dirty="0"/>
              <a:t>Switch Chip </a:t>
            </a:r>
            <a:r>
              <a:rPr sz="1400" dirty="0"/>
              <a:t>+</a:t>
            </a:r>
            <a:r>
              <a:rPr lang="en-US" sz="1400" dirty="0"/>
              <a:t> </a:t>
            </a:r>
            <a:r>
              <a:rPr sz="1400" dirty="0"/>
              <a:t>CPO</a:t>
            </a:r>
            <a:r>
              <a:rPr lang="en-US" sz="1400" dirty="0"/>
              <a:t> </a:t>
            </a:r>
            <a:r>
              <a:rPr sz="1400" dirty="0"/>
              <a:t>+</a:t>
            </a:r>
            <a:r>
              <a:rPr lang="en-US" sz="1400" dirty="0"/>
              <a:t> </a:t>
            </a:r>
            <a:r>
              <a:rPr sz="1400" dirty="0"/>
              <a:t>Lens</a:t>
            </a:r>
          </a:p>
        </p:txBody>
      </p:sp>
      <p:sp>
        <p:nvSpPr>
          <p:cNvPr id="73" name="CPO交换机">
            <a:extLst>
              <a:ext uri="{FF2B5EF4-FFF2-40B4-BE49-F238E27FC236}">
                <a16:creationId xmlns:a16="http://schemas.microsoft.com/office/drawing/2014/main" id="{059CF1F5-84D4-E9BD-D876-48FE0522D7FE}"/>
              </a:ext>
            </a:extLst>
          </p:cNvPr>
          <p:cNvSpPr txBox="1"/>
          <p:nvPr/>
        </p:nvSpPr>
        <p:spPr>
          <a:xfrm>
            <a:off x="9799477" y="2562619"/>
            <a:ext cx="106054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 dirty="0"/>
              <a:t>CPO</a:t>
            </a:r>
            <a:r>
              <a:rPr lang="en-US" sz="1400" dirty="0"/>
              <a:t> Switch</a:t>
            </a:r>
            <a:endParaRPr sz="1400" dirty="0"/>
          </a:p>
        </p:txBody>
      </p:sp>
      <p:sp>
        <p:nvSpPr>
          <p:cNvPr id="74" name="光源芯片">
            <a:extLst>
              <a:ext uri="{FF2B5EF4-FFF2-40B4-BE49-F238E27FC236}">
                <a16:creationId xmlns:a16="http://schemas.microsoft.com/office/drawing/2014/main" id="{39909BA5-F493-CA87-A719-C5B2B0F4B256}"/>
              </a:ext>
            </a:extLst>
          </p:cNvPr>
          <p:cNvSpPr txBox="1"/>
          <p:nvPr/>
        </p:nvSpPr>
        <p:spPr>
          <a:xfrm>
            <a:off x="4534337" y="5196170"/>
            <a:ext cx="957953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Laser Chip</a:t>
            </a:r>
            <a:endParaRPr sz="1400" dirty="0"/>
          </a:p>
        </p:txBody>
      </p:sp>
      <p:sp>
        <p:nvSpPr>
          <p:cNvPr id="75" name="ELS光源模块">
            <a:extLst>
              <a:ext uri="{FF2B5EF4-FFF2-40B4-BE49-F238E27FC236}">
                <a16:creationId xmlns:a16="http://schemas.microsoft.com/office/drawing/2014/main" id="{3C434118-5C60-A7E0-5FF8-42865B31E5C5}"/>
              </a:ext>
            </a:extLst>
          </p:cNvPr>
          <p:cNvSpPr txBox="1"/>
          <p:nvPr/>
        </p:nvSpPr>
        <p:spPr>
          <a:xfrm>
            <a:off x="6265177" y="5196170"/>
            <a:ext cx="1565491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 dirty="0"/>
              <a:t>ELS</a:t>
            </a:r>
            <a:r>
              <a:rPr lang="en-US" sz="1400" dirty="0"/>
              <a:t> Laser Module</a:t>
            </a:r>
            <a:endParaRPr sz="1400" dirty="0"/>
          </a:p>
        </p:txBody>
      </p:sp>
      <p:sp>
        <p:nvSpPr>
          <p:cNvPr id="76" name="光缆">
            <a:extLst>
              <a:ext uri="{FF2B5EF4-FFF2-40B4-BE49-F238E27FC236}">
                <a16:creationId xmlns:a16="http://schemas.microsoft.com/office/drawing/2014/main" id="{8D6B0C8B-E43E-4F43-C45C-BB28A62E8425}"/>
              </a:ext>
            </a:extLst>
          </p:cNvPr>
          <p:cNvSpPr txBox="1"/>
          <p:nvPr/>
        </p:nvSpPr>
        <p:spPr>
          <a:xfrm>
            <a:off x="7139661" y="4120693"/>
            <a:ext cx="499494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Fiber</a:t>
            </a:r>
            <a:endParaRPr sz="1400" dirty="0"/>
          </a:p>
        </p:txBody>
      </p:sp>
      <p:pic>
        <p:nvPicPr>
          <p:cNvPr id="77" name="图像" descr="图像">
            <a:extLst>
              <a:ext uri="{FF2B5EF4-FFF2-40B4-BE49-F238E27FC236}">
                <a16:creationId xmlns:a16="http://schemas.microsoft.com/office/drawing/2014/main" id="{4126DE74-ED54-FF28-CE3E-4BF1C4C83C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495" y="3052687"/>
            <a:ext cx="640577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79" name="圆角矩形">
            <a:extLst>
              <a:ext uri="{FF2B5EF4-FFF2-40B4-BE49-F238E27FC236}">
                <a16:creationId xmlns:a16="http://schemas.microsoft.com/office/drawing/2014/main" id="{43B3D060-3C63-D883-BDD2-741CDF011B46}"/>
              </a:ext>
            </a:extLst>
          </p:cNvPr>
          <p:cNvSpPr/>
          <p:nvPr/>
        </p:nvSpPr>
        <p:spPr>
          <a:xfrm>
            <a:off x="428468" y="2902364"/>
            <a:ext cx="750631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80" name="线条">
            <a:extLst>
              <a:ext uri="{FF2B5EF4-FFF2-40B4-BE49-F238E27FC236}">
                <a16:creationId xmlns:a16="http://schemas.microsoft.com/office/drawing/2014/main" id="{97F5F0C1-3A29-DD4F-5029-86849558FF99}"/>
              </a:ext>
            </a:extLst>
          </p:cNvPr>
          <p:cNvSpPr/>
          <p:nvPr/>
        </p:nvSpPr>
        <p:spPr>
          <a:xfrm>
            <a:off x="1161139" y="3207111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81" name="图像" descr="图像">
            <a:extLst>
              <a:ext uri="{FF2B5EF4-FFF2-40B4-BE49-F238E27FC236}">
                <a16:creationId xmlns:a16="http://schemas.microsoft.com/office/drawing/2014/main" id="{49A305B1-4D96-80DB-523F-89CF9A91A7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154" y="4179221"/>
            <a:ext cx="640576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82" name="圆角矩形">
            <a:extLst>
              <a:ext uri="{FF2B5EF4-FFF2-40B4-BE49-F238E27FC236}">
                <a16:creationId xmlns:a16="http://schemas.microsoft.com/office/drawing/2014/main" id="{503F9F72-E0BC-8E5D-FE4A-BDA794B97C42}"/>
              </a:ext>
            </a:extLst>
          </p:cNvPr>
          <p:cNvSpPr/>
          <p:nvPr/>
        </p:nvSpPr>
        <p:spPr>
          <a:xfrm>
            <a:off x="434127" y="4028898"/>
            <a:ext cx="750630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83" name="线条">
            <a:extLst>
              <a:ext uri="{FF2B5EF4-FFF2-40B4-BE49-F238E27FC236}">
                <a16:creationId xmlns:a16="http://schemas.microsoft.com/office/drawing/2014/main" id="{54BEE894-C3DA-81F9-9441-88BBCACFF0B9}"/>
              </a:ext>
            </a:extLst>
          </p:cNvPr>
          <p:cNvSpPr/>
          <p:nvPr/>
        </p:nvSpPr>
        <p:spPr>
          <a:xfrm>
            <a:off x="1166797" y="4333645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4" name="线条">
            <a:extLst>
              <a:ext uri="{FF2B5EF4-FFF2-40B4-BE49-F238E27FC236}">
                <a16:creationId xmlns:a16="http://schemas.microsoft.com/office/drawing/2014/main" id="{9C7C610A-065D-F34F-AB0E-F5CB76599CD8}"/>
              </a:ext>
            </a:extLst>
          </p:cNvPr>
          <p:cNvSpPr/>
          <p:nvPr/>
        </p:nvSpPr>
        <p:spPr>
          <a:xfrm>
            <a:off x="2710186" y="2162415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5" name="线条">
            <a:extLst>
              <a:ext uri="{FF2B5EF4-FFF2-40B4-BE49-F238E27FC236}">
                <a16:creationId xmlns:a16="http://schemas.microsoft.com/office/drawing/2014/main" id="{7CEE02A9-4E03-A67A-5F91-2350A5FF842A}"/>
              </a:ext>
            </a:extLst>
          </p:cNvPr>
          <p:cNvSpPr/>
          <p:nvPr/>
        </p:nvSpPr>
        <p:spPr>
          <a:xfrm>
            <a:off x="2710350" y="3218042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6" name="线条">
            <a:extLst>
              <a:ext uri="{FF2B5EF4-FFF2-40B4-BE49-F238E27FC236}">
                <a16:creationId xmlns:a16="http://schemas.microsoft.com/office/drawing/2014/main" id="{19AB965B-F9BC-6F91-2CCB-CAEF23D793AA}"/>
              </a:ext>
            </a:extLst>
          </p:cNvPr>
          <p:cNvSpPr/>
          <p:nvPr/>
        </p:nvSpPr>
        <p:spPr>
          <a:xfrm>
            <a:off x="2710350" y="4336999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7" name="线条">
            <a:extLst>
              <a:ext uri="{FF2B5EF4-FFF2-40B4-BE49-F238E27FC236}">
                <a16:creationId xmlns:a16="http://schemas.microsoft.com/office/drawing/2014/main" id="{81342D89-D85F-6C24-8E00-0931111EE414}"/>
              </a:ext>
            </a:extLst>
          </p:cNvPr>
          <p:cNvSpPr/>
          <p:nvPr/>
        </p:nvSpPr>
        <p:spPr>
          <a:xfrm>
            <a:off x="5406845" y="322357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8" name="线条">
            <a:extLst>
              <a:ext uri="{FF2B5EF4-FFF2-40B4-BE49-F238E27FC236}">
                <a16:creationId xmlns:a16="http://schemas.microsoft.com/office/drawing/2014/main" id="{5F867F5A-B21C-0863-49E9-3D22C47E44F1}"/>
              </a:ext>
            </a:extLst>
          </p:cNvPr>
          <p:cNvSpPr/>
          <p:nvPr/>
        </p:nvSpPr>
        <p:spPr>
          <a:xfrm>
            <a:off x="7877867" y="322357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9" name="线条">
            <a:extLst>
              <a:ext uri="{FF2B5EF4-FFF2-40B4-BE49-F238E27FC236}">
                <a16:creationId xmlns:a16="http://schemas.microsoft.com/office/drawing/2014/main" id="{2CAF3A61-82BF-5636-5B5A-F0D925F3FD95}"/>
              </a:ext>
            </a:extLst>
          </p:cNvPr>
          <p:cNvSpPr/>
          <p:nvPr/>
        </p:nvSpPr>
        <p:spPr>
          <a:xfrm>
            <a:off x="6979472" y="4724445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0" name="线条">
            <a:extLst>
              <a:ext uri="{FF2B5EF4-FFF2-40B4-BE49-F238E27FC236}">
                <a16:creationId xmlns:a16="http://schemas.microsoft.com/office/drawing/2014/main" id="{93D38F5F-B272-A1F8-D5D1-145053E601AB}"/>
              </a:ext>
            </a:extLst>
          </p:cNvPr>
          <p:cNvSpPr/>
          <p:nvPr/>
        </p:nvSpPr>
        <p:spPr>
          <a:xfrm>
            <a:off x="6979472" y="5806606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1" name="线条">
            <a:extLst>
              <a:ext uri="{FF2B5EF4-FFF2-40B4-BE49-F238E27FC236}">
                <a16:creationId xmlns:a16="http://schemas.microsoft.com/office/drawing/2014/main" id="{50462EC7-9D93-2107-829A-4EBB92C3CAD8}"/>
              </a:ext>
            </a:extLst>
          </p:cNvPr>
          <p:cNvSpPr/>
          <p:nvPr/>
        </p:nvSpPr>
        <p:spPr>
          <a:xfrm>
            <a:off x="4643645" y="5824589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2" name="线条">
            <a:extLst>
              <a:ext uri="{FF2B5EF4-FFF2-40B4-BE49-F238E27FC236}">
                <a16:creationId xmlns:a16="http://schemas.microsoft.com/office/drawing/2014/main" id="{22D3443A-DC59-4FC7-AB6A-6893C04D7B56}"/>
              </a:ext>
            </a:extLst>
          </p:cNvPr>
          <p:cNvSpPr/>
          <p:nvPr/>
        </p:nvSpPr>
        <p:spPr>
          <a:xfrm>
            <a:off x="10285388" y="324369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93" name="图像" descr="图像">
            <a:extLst>
              <a:ext uri="{FF2B5EF4-FFF2-40B4-BE49-F238E27FC236}">
                <a16:creationId xmlns:a16="http://schemas.microsoft.com/office/drawing/2014/main" id="{08898D1B-FDD2-6721-BA6C-89494C84FB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9281" y="4550099"/>
            <a:ext cx="640576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94" name="圆角矩形">
            <a:extLst>
              <a:ext uri="{FF2B5EF4-FFF2-40B4-BE49-F238E27FC236}">
                <a16:creationId xmlns:a16="http://schemas.microsoft.com/office/drawing/2014/main" id="{E9EF0045-D1BA-A8A4-9599-B1C5EA8D1C49}"/>
              </a:ext>
            </a:extLst>
          </p:cNvPr>
          <p:cNvSpPr/>
          <p:nvPr/>
        </p:nvSpPr>
        <p:spPr>
          <a:xfrm>
            <a:off x="5104254" y="4399776"/>
            <a:ext cx="750630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95" name="线条">
            <a:extLst>
              <a:ext uri="{FF2B5EF4-FFF2-40B4-BE49-F238E27FC236}">
                <a16:creationId xmlns:a16="http://schemas.microsoft.com/office/drawing/2014/main" id="{C141C2E8-0DD4-EDFB-D7B7-F4CE47DFF16B}"/>
              </a:ext>
            </a:extLst>
          </p:cNvPr>
          <p:cNvSpPr/>
          <p:nvPr/>
        </p:nvSpPr>
        <p:spPr>
          <a:xfrm>
            <a:off x="5863644" y="4704524"/>
            <a:ext cx="40974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96" name="图像" descr="图像">
            <a:extLst>
              <a:ext uri="{FF2B5EF4-FFF2-40B4-BE49-F238E27FC236}">
                <a16:creationId xmlns:a16="http://schemas.microsoft.com/office/drawing/2014/main" id="{04BEF129-FEFF-1856-8FDA-1979A9FE70D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24000" y="5719926"/>
            <a:ext cx="597452" cy="191839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交换机芯片晶圆">
            <a:extLst>
              <a:ext uri="{FF2B5EF4-FFF2-40B4-BE49-F238E27FC236}">
                <a16:creationId xmlns:a16="http://schemas.microsoft.com/office/drawing/2014/main" id="{5499E43A-CE81-45D6-B9B8-2F27BFA3C927}"/>
              </a:ext>
            </a:extLst>
          </p:cNvPr>
          <p:cNvSpPr txBox="1"/>
          <p:nvPr/>
        </p:nvSpPr>
        <p:spPr>
          <a:xfrm>
            <a:off x="1338829" y="1400594"/>
            <a:ext cx="728724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Design</a:t>
            </a:r>
            <a:endParaRPr sz="1600" dirty="0"/>
          </a:p>
        </p:txBody>
      </p:sp>
      <p:sp>
        <p:nvSpPr>
          <p:cNvPr id="98" name="交换机芯片晶圆">
            <a:extLst>
              <a:ext uri="{FF2B5EF4-FFF2-40B4-BE49-F238E27FC236}">
                <a16:creationId xmlns:a16="http://schemas.microsoft.com/office/drawing/2014/main" id="{C9208BC7-DD09-88BE-BF53-AE96EC853AD7}"/>
              </a:ext>
            </a:extLst>
          </p:cNvPr>
          <p:cNvSpPr txBox="1"/>
          <p:nvPr/>
        </p:nvSpPr>
        <p:spPr>
          <a:xfrm>
            <a:off x="2510959" y="1400594"/>
            <a:ext cx="844140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Foundry</a:t>
            </a:r>
            <a:endParaRPr sz="1600" dirty="0"/>
          </a:p>
        </p:txBody>
      </p:sp>
      <p:sp>
        <p:nvSpPr>
          <p:cNvPr id="99" name="交换机芯片晶圆">
            <a:extLst>
              <a:ext uri="{FF2B5EF4-FFF2-40B4-BE49-F238E27FC236}">
                <a16:creationId xmlns:a16="http://schemas.microsoft.com/office/drawing/2014/main" id="{DB54E24A-1121-321E-AB7D-90687472E796}"/>
              </a:ext>
            </a:extLst>
          </p:cNvPr>
          <p:cNvSpPr txBox="1"/>
          <p:nvPr/>
        </p:nvSpPr>
        <p:spPr>
          <a:xfrm>
            <a:off x="4882984" y="1400594"/>
            <a:ext cx="1047721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Packaging</a:t>
            </a:r>
            <a:endParaRPr sz="1600" dirty="0"/>
          </a:p>
        </p:txBody>
      </p:sp>
      <p:sp>
        <p:nvSpPr>
          <p:cNvPr id="101" name="交换机芯片晶圆">
            <a:extLst>
              <a:ext uri="{FF2B5EF4-FFF2-40B4-BE49-F238E27FC236}">
                <a16:creationId xmlns:a16="http://schemas.microsoft.com/office/drawing/2014/main" id="{ABC92353-DE5C-4A15-47AA-54CCE1572C02}"/>
              </a:ext>
            </a:extLst>
          </p:cNvPr>
          <p:cNvSpPr txBox="1"/>
          <p:nvPr/>
        </p:nvSpPr>
        <p:spPr>
          <a:xfrm>
            <a:off x="6764648" y="1400594"/>
            <a:ext cx="2442333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Optoelectronic Integration</a:t>
            </a:r>
            <a:endParaRPr sz="1600" dirty="0"/>
          </a:p>
        </p:txBody>
      </p:sp>
      <p:sp>
        <p:nvSpPr>
          <p:cNvPr id="102" name="交换机芯片晶圆">
            <a:extLst>
              <a:ext uri="{FF2B5EF4-FFF2-40B4-BE49-F238E27FC236}">
                <a16:creationId xmlns:a16="http://schemas.microsoft.com/office/drawing/2014/main" id="{D63539C7-301C-68D9-0857-81A511AD973E}"/>
              </a:ext>
            </a:extLst>
          </p:cNvPr>
          <p:cNvSpPr txBox="1"/>
          <p:nvPr/>
        </p:nvSpPr>
        <p:spPr>
          <a:xfrm>
            <a:off x="9595157" y="1400594"/>
            <a:ext cx="1469183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Final Assembly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18410075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EC372D8E-1BE1-3AD0-3720-AA66F803D8A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94641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1" imgH="401" progId="TCLayout.ActiveDocument.1">
                  <p:embed/>
                </p:oleObj>
              </mc:Choice>
              <mc:Fallback>
                <p:oleObj name="think-cell 幻灯片" r:id="rId3" imgW="401" imgH="401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C372D8E-1BE1-3AD0-3720-AA66F803D8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0DDED3A3-2FF3-D80A-0229-EDC87C2FA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Map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5" name="图像" descr="图像">
            <a:extLst>
              <a:ext uri="{FF2B5EF4-FFF2-40B4-BE49-F238E27FC236}">
                <a16:creationId xmlns:a16="http://schemas.microsoft.com/office/drawing/2014/main" id="{10B9C398-0D29-FDF9-253D-E94BA659B4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6105" y="929335"/>
            <a:ext cx="10610274" cy="453108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Design House">
            <a:extLst>
              <a:ext uri="{FF2B5EF4-FFF2-40B4-BE49-F238E27FC236}">
                <a16:creationId xmlns:a16="http://schemas.microsoft.com/office/drawing/2014/main" id="{CADBE276-520A-8792-3762-C6BD2CFA051B}"/>
              </a:ext>
            </a:extLst>
          </p:cNvPr>
          <p:cNvSpPr txBox="1"/>
          <p:nvPr/>
        </p:nvSpPr>
        <p:spPr>
          <a:xfrm>
            <a:off x="1622857" y="929335"/>
            <a:ext cx="1540034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Design House</a:t>
            </a:r>
          </a:p>
        </p:txBody>
      </p:sp>
      <p:sp>
        <p:nvSpPr>
          <p:cNvPr id="7" name="Foundry">
            <a:extLst>
              <a:ext uri="{FF2B5EF4-FFF2-40B4-BE49-F238E27FC236}">
                <a16:creationId xmlns:a16="http://schemas.microsoft.com/office/drawing/2014/main" id="{A32CBAB7-DE28-0577-BDE6-B416B89B4D95}"/>
              </a:ext>
            </a:extLst>
          </p:cNvPr>
          <p:cNvSpPr txBox="1"/>
          <p:nvPr/>
        </p:nvSpPr>
        <p:spPr>
          <a:xfrm>
            <a:off x="3561005" y="929335"/>
            <a:ext cx="94275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Foundry</a:t>
            </a:r>
          </a:p>
        </p:txBody>
      </p:sp>
      <p:sp>
        <p:nvSpPr>
          <p:cNvPr id="8" name="OSAT">
            <a:extLst>
              <a:ext uri="{FF2B5EF4-FFF2-40B4-BE49-F238E27FC236}">
                <a16:creationId xmlns:a16="http://schemas.microsoft.com/office/drawing/2014/main" id="{231FDB93-E5F9-2B3D-9B40-6D5BF724A1E4}"/>
              </a:ext>
            </a:extLst>
          </p:cNvPr>
          <p:cNvSpPr txBox="1"/>
          <p:nvPr/>
        </p:nvSpPr>
        <p:spPr>
          <a:xfrm>
            <a:off x="5507117" y="970468"/>
            <a:ext cx="70968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OSAT</a:t>
            </a:r>
          </a:p>
        </p:txBody>
      </p:sp>
      <p:sp>
        <p:nvSpPr>
          <p:cNvPr id="9" name="Transceiver">
            <a:extLst>
              <a:ext uri="{FF2B5EF4-FFF2-40B4-BE49-F238E27FC236}">
                <a16:creationId xmlns:a16="http://schemas.microsoft.com/office/drawing/2014/main" id="{18662E40-DEFF-3E1E-6434-F49932D26949}"/>
              </a:ext>
            </a:extLst>
          </p:cNvPr>
          <p:cNvSpPr txBox="1"/>
          <p:nvPr/>
        </p:nvSpPr>
        <p:spPr>
          <a:xfrm>
            <a:off x="6868839" y="929335"/>
            <a:ext cx="128989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Transceiver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2453646A-DC3B-986B-6CC0-4526166DF97F}"/>
              </a:ext>
            </a:extLst>
          </p:cNvPr>
          <p:cNvSpPr txBox="1"/>
          <p:nvPr/>
        </p:nvSpPr>
        <p:spPr>
          <a:xfrm>
            <a:off x="8561029" y="929335"/>
            <a:ext cx="1197023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Equipment</a:t>
            </a:r>
          </a:p>
        </p:txBody>
      </p:sp>
      <p:sp>
        <p:nvSpPr>
          <p:cNvPr id="11" name="Operator">
            <a:extLst>
              <a:ext uri="{FF2B5EF4-FFF2-40B4-BE49-F238E27FC236}">
                <a16:creationId xmlns:a16="http://schemas.microsoft.com/office/drawing/2014/main" id="{95622BB5-E3D0-DA7B-7977-81AC14B0C04A}"/>
              </a:ext>
            </a:extLst>
          </p:cNvPr>
          <p:cNvSpPr txBox="1"/>
          <p:nvPr/>
        </p:nvSpPr>
        <p:spPr>
          <a:xfrm>
            <a:off x="10523815" y="929335"/>
            <a:ext cx="100626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Operator</a:t>
            </a:r>
          </a:p>
        </p:txBody>
      </p:sp>
      <p:sp>
        <p:nvSpPr>
          <p:cNvPr id="12" name="圆角矩形">
            <a:extLst>
              <a:ext uri="{FF2B5EF4-FFF2-40B4-BE49-F238E27FC236}">
                <a16:creationId xmlns:a16="http://schemas.microsoft.com/office/drawing/2014/main" id="{B0888714-9FB4-4F09-6591-601238B11943}"/>
              </a:ext>
            </a:extLst>
          </p:cNvPr>
          <p:cNvSpPr/>
          <p:nvPr/>
        </p:nvSpPr>
        <p:spPr>
          <a:xfrm>
            <a:off x="58155" y="3121489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5E5E5E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3" name="圆角矩形">
            <a:extLst>
              <a:ext uri="{FF2B5EF4-FFF2-40B4-BE49-F238E27FC236}">
                <a16:creationId xmlns:a16="http://schemas.microsoft.com/office/drawing/2014/main" id="{406A2D47-4B94-E322-EBFC-D8E2813F0303}"/>
              </a:ext>
            </a:extLst>
          </p:cNvPr>
          <p:cNvSpPr/>
          <p:nvPr/>
        </p:nvSpPr>
        <p:spPr>
          <a:xfrm>
            <a:off x="58155" y="1787773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4F8F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4" name="圆角矩形">
            <a:extLst>
              <a:ext uri="{FF2B5EF4-FFF2-40B4-BE49-F238E27FC236}">
                <a16:creationId xmlns:a16="http://schemas.microsoft.com/office/drawing/2014/main" id="{35CE7CDB-3169-93B9-8760-313546CE4F02}"/>
              </a:ext>
            </a:extLst>
          </p:cNvPr>
          <p:cNvSpPr/>
          <p:nvPr/>
        </p:nvSpPr>
        <p:spPr>
          <a:xfrm>
            <a:off x="58155" y="4407945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FF93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5" name="eIC">
            <a:extLst>
              <a:ext uri="{FF2B5EF4-FFF2-40B4-BE49-F238E27FC236}">
                <a16:creationId xmlns:a16="http://schemas.microsoft.com/office/drawing/2014/main" id="{A8E3AA0E-A5AF-DA4C-C1D9-D8DE57E716DB}"/>
              </a:ext>
            </a:extLst>
          </p:cNvPr>
          <p:cNvSpPr txBox="1"/>
          <p:nvPr/>
        </p:nvSpPr>
        <p:spPr>
          <a:xfrm>
            <a:off x="351861" y="3243109"/>
            <a:ext cx="60961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>
                <a:cs typeface="+mn-ea"/>
                <a:sym typeface="+mn-lt"/>
              </a:rPr>
              <a:t>eIC</a:t>
            </a:r>
            <a:endParaRPr dirty="0">
              <a:cs typeface="+mn-ea"/>
              <a:sym typeface="+mn-lt"/>
            </a:endParaRPr>
          </a:p>
        </p:txBody>
      </p:sp>
      <p:sp>
        <p:nvSpPr>
          <p:cNvPr id="16" name="Switch…">
            <a:extLst>
              <a:ext uri="{FF2B5EF4-FFF2-40B4-BE49-F238E27FC236}">
                <a16:creationId xmlns:a16="http://schemas.microsoft.com/office/drawing/2014/main" id="{5DEC8A1A-CFE9-4024-89E8-C8749EB994FC}"/>
              </a:ext>
            </a:extLst>
          </p:cNvPr>
          <p:cNvSpPr txBox="1"/>
          <p:nvPr/>
        </p:nvSpPr>
        <p:spPr>
          <a:xfrm>
            <a:off x="185291" y="1759185"/>
            <a:ext cx="942751" cy="614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rPr>
                <a:cs typeface="+mn-ea"/>
                <a:sym typeface="+mn-lt"/>
              </a:rPr>
              <a:t>Switch</a:t>
            </a:r>
          </a:p>
          <a:p>
            <a:pPr algn="ctr">
              <a:defRPr>
                <a:solidFill>
                  <a:srgbClr val="FFFFFF"/>
                </a:solidFill>
              </a:defRPr>
            </a:pPr>
            <a:r>
              <a:rPr>
                <a:cs typeface="+mn-ea"/>
                <a:sym typeface="+mn-lt"/>
              </a:rPr>
              <a:t>ASIC</a:t>
            </a:r>
          </a:p>
        </p:txBody>
      </p:sp>
      <p:sp>
        <p:nvSpPr>
          <p:cNvPr id="17" name="SiPho">
            <a:extLst>
              <a:ext uri="{FF2B5EF4-FFF2-40B4-BE49-F238E27FC236}">
                <a16:creationId xmlns:a16="http://schemas.microsoft.com/office/drawing/2014/main" id="{E9CED6CE-5F2F-1D17-3779-E4AFC3245030}"/>
              </a:ext>
            </a:extLst>
          </p:cNvPr>
          <p:cNvSpPr txBox="1"/>
          <p:nvPr/>
        </p:nvSpPr>
        <p:spPr>
          <a:xfrm>
            <a:off x="301824" y="4529565"/>
            <a:ext cx="709685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>
                <a:cs typeface="+mn-ea"/>
                <a:sym typeface="+mn-lt"/>
              </a:rPr>
              <a:t>SiPho</a:t>
            </a:r>
            <a:endParaRPr dirty="0">
              <a:cs typeface="+mn-ea"/>
              <a:sym typeface="+mn-lt"/>
            </a:endParaRPr>
          </a:p>
        </p:txBody>
      </p:sp>
      <p:sp>
        <p:nvSpPr>
          <p:cNvPr id="18" name="圆角矩形">
            <a:extLst>
              <a:ext uri="{FF2B5EF4-FFF2-40B4-BE49-F238E27FC236}">
                <a16:creationId xmlns:a16="http://schemas.microsoft.com/office/drawing/2014/main" id="{E15A83F6-BE55-5DD4-A56C-6900621D013A}"/>
              </a:ext>
            </a:extLst>
          </p:cNvPr>
          <p:cNvSpPr/>
          <p:nvPr/>
        </p:nvSpPr>
        <p:spPr>
          <a:xfrm>
            <a:off x="1382155" y="1456549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9" name="圆角矩形">
            <a:extLst>
              <a:ext uri="{FF2B5EF4-FFF2-40B4-BE49-F238E27FC236}">
                <a16:creationId xmlns:a16="http://schemas.microsoft.com/office/drawing/2014/main" id="{42205C62-5834-9B9C-B493-6D45E83BE2AD}"/>
              </a:ext>
            </a:extLst>
          </p:cNvPr>
          <p:cNvSpPr/>
          <p:nvPr/>
        </p:nvSpPr>
        <p:spPr>
          <a:xfrm>
            <a:off x="1382155" y="2784946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0" name="圆角矩形">
            <a:extLst>
              <a:ext uri="{FF2B5EF4-FFF2-40B4-BE49-F238E27FC236}">
                <a16:creationId xmlns:a16="http://schemas.microsoft.com/office/drawing/2014/main" id="{BBD7338F-A5F5-0EEE-DD0A-4ED422B2C9A4}"/>
              </a:ext>
            </a:extLst>
          </p:cNvPr>
          <p:cNvSpPr/>
          <p:nvPr/>
        </p:nvSpPr>
        <p:spPr>
          <a:xfrm>
            <a:off x="1382155" y="4113343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1" name="圆角矩形">
            <a:extLst>
              <a:ext uri="{FF2B5EF4-FFF2-40B4-BE49-F238E27FC236}">
                <a16:creationId xmlns:a16="http://schemas.microsoft.com/office/drawing/2014/main" id="{00038B72-55D3-4F1C-2A10-F6DBD85EFA97}"/>
              </a:ext>
            </a:extLst>
          </p:cNvPr>
          <p:cNvSpPr/>
          <p:nvPr/>
        </p:nvSpPr>
        <p:spPr>
          <a:xfrm>
            <a:off x="3163831" y="1456549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2" name="圆角矩形">
            <a:extLst>
              <a:ext uri="{FF2B5EF4-FFF2-40B4-BE49-F238E27FC236}">
                <a16:creationId xmlns:a16="http://schemas.microsoft.com/office/drawing/2014/main" id="{24DDE7D5-BF1D-8427-669E-28ED14D24EB5}"/>
              </a:ext>
            </a:extLst>
          </p:cNvPr>
          <p:cNvSpPr/>
          <p:nvPr/>
        </p:nvSpPr>
        <p:spPr>
          <a:xfrm>
            <a:off x="3163831" y="2784946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3" name="圆角矩形">
            <a:extLst>
              <a:ext uri="{FF2B5EF4-FFF2-40B4-BE49-F238E27FC236}">
                <a16:creationId xmlns:a16="http://schemas.microsoft.com/office/drawing/2014/main" id="{191C9FAD-1280-BAEC-07C9-7BE41E259572}"/>
              </a:ext>
            </a:extLst>
          </p:cNvPr>
          <p:cNvSpPr/>
          <p:nvPr/>
        </p:nvSpPr>
        <p:spPr>
          <a:xfrm>
            <a:off x="3163831" y="4113343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4" name="圆角矩形">
            <a:extLst>
              <a:ext uri="{FF2B5EF4-FFF2-40B4-BE49-F238E27FC236}">
                <a16:creationId xmlns:a16="http://schemas.microsoft.com/office/drawing/2014/main" id="{37CC8CAC-E6BA-9E59-27CD-E91E7DCD7D73}"/>
              </a:ext>
            </a:extLst>
          </p:cNvPr>
          <p:cNvSpPr/>
          <p:nvPr/>
        </p:nvSpPr>
        <p:spPr>
          <a:xfrm>
            <a:off x="4933666" y="1456549"/>
            <a:ext cx="1726992" cy="1247941"/>
          </a:xfrm>
          <a:prstGeom prst="roundRect">
            <a:avLst>
              <a:gd name="adj" fmla="val 4676"/>
            </a:avLst>
          </a:prstGeom>
          <a:solidFill>
            <a:srgbClr val="929292">
              <a:alpha val="21970"/>
            </a:srgbClr>
          </a:solidFill>
          <a:ln w="25400">
            <a:solidFill>
              <a:srgbClr val="FF2600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5" name="圆角矩形">
            <a:extLst>
              <a:ext uri="{FF2B5EF4-FFF2-40B4-BE49-F238E27FC236}">
                <a16:creationId xmlns:a16="http://schemas.microsoft.com/office/drawing/2014/main" id="{B93E1D7F-8B33-AACD-5536-FFF149E31A65}"/>
              </a:ext>
            </a:extLst>
          </p:cNvPr>
          <p:cNvSpPr/>
          <p:nvPr/>
        </p:nvSpPr>
        <p:spPr>
          <a:xfrm>
            <a:off x="6689942" y="2784946"/>
            <a:ext cx="1726992" cy="3917255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6" name="圆角矩形">
            <a:extLst>
              <a:ext uri="{FF2B5EF4-FFF2-40B4-BE49-F238E27FC236}">
                <a16:creationId xmlns:a16="http://schemas.microsoft.com/office/drawing/2014/main" id="{FDEC3622-2BD8-6A63-B4C3-0EE84BC83CDB}"/>
              </a:ext>
            </a:extLst>
          </p:cNvPr>
          <p:cNvSpPr/>
          <p:nvPr/>
        </p:nvSpPr>
        <p:spPr>
          <a:xfrm>
            <a:off x="8471618" y="1456549"/>
            <a:ext cx="1726992" cy="5242711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7" name="圆角矩形">
            <a:extLst>
              <a:ext uri="{FF2B5EF4-FFF2-40B4-BE49-F238E27FC236}">
                <a16:creationId xmlns:a16="http://schemas.microsoft.com/office/drawing/2014/main" id="{1783FF78-FD17-91C1-9239-9A5B26763E99}"/>
              </a:ext>
            </a:extLst>
          </p:cNvPr>
          <p:cNvSpPr/>
          <p:nvPr/>
        </p:nvSpPr>
        <p:spPr>
          <a:xfrm>
            <a:off x="10294695" y="1456549"/>
            <a:ext cx="1726992" cy="5242711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pic>
        <p:nvPicPr>
          <p:cNvPr id="28" name="图像" descr="图像">
            <a:extLst>
              <a:ext uri="{FF2B5EF4-FFF2-40B4-BE49-F238E27FC236}">
                <a16:creationId xmlns:a16="http://schemas.microsoft.com/office/drawing/2014/main" id="{3AF9760E-1F13-0D7F-EEC4-13E6DC2ECD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9523" y="4683197"/>
            <a:ext cx="698501" cy="39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图像" descr="图像">
            <a:extLst>
              <a:ext uri="{FF2B5EF4-FFF2-40B4-BE49-F238E27FC236}">
                <a16:creationId xmlns:a16="http://schemas.microsoft.com/office/drawing/2014/main" id="{828E73D4-4482-0B53-EA2A-05E1F637A5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3519" y="1634934"/>
            <a:ext cx="576840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图像" descr="图像">
            <a:extLst>
              <a:ext uri="{FF2B5EF4-FFF2-40B4-BE49-F238E27FC236}">
                <a16:creationId xmlns:a16="http://schemas.microsoft.com/office/drawing/2014/main" id="{8286DFCC-2E46-CB35-91D5-3765271303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7880" y="4177291"/>
            <a:ext cx="576840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图像" descr="图像">
            <a:extLst>
              <a:ext uri="{FF2B5EF4-FFF2-40B4-BE49-F238E27FC236}">
                <a16:creationId xmlns:a16="http://schemas.microsoft.com/office/drawing/2014/main" id="{960DA03A-CA0F-772B-00A8-5A30468768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9031" y="2971082"/>
            <a:ext cx="419101" cy="241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图像" descr="图像">
            <a:extLst>
              <a:ext uri="{FF2B5EF4-FFF2-40B4-BE49-F238E27FC236}">
                <a16:creationId xmlns:a16="http://schemas.microsoft.com/office/drawing/2014/main" id="{A080EEA6-138A-1DA2-36E2-EBFBC56B1F0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11619" y="2154616"/>
            <a:ext cx="540927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图像" descr="图像">
            <a:extLst>
              <a:ext uri="{FF2B5EF4-FFF2-40B4-BE49-F238E27FC236}">
                <a16:creationId xmlns:a16="http://schemas.microsoft.com/office/drawing/2014/main" id="{4D942B19-8258-9A54-2C80-F777C1E320E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66882" y="1545539"/>
            <a:ext cx="685801" cy="203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图像" descr="图像">
            <a:extLst>
              <a:ext uri="{FF2B5EF4-FFF2-40B4-BE49-F238E27FC236}">
                <a16:creationId xmlns:a16="http://schemas.microsoft.com/office/drawing/2014/main" id="{7AE3493F-CE17-705F-443A-439C885B8EC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34787" y="2195899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图像" descr="图像">
            <a:extLst>
              <a:ext uri="{FF2B5EF4-FFF2-40B4-BE49-F238E27FC236}">
                <a16:creationId xmlns:a16="http://schemas.microsoft.com/office/drawing/2014/main" id="{315948E3-E925-3CA3-0E3E-06D37DDC4AC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37005" y="4356962"/>
            <a:ext cx="622301" cy="139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图像" descr="图像">
            <a:extLst>
              <a:ext uri="{FF2B5EF4-FFF2-40B4-BE49-F238E27FC236}">
                <a16:creationId xmlns:a16="http://schemas.microsoft.com/office/drawing/2014/main" id="{8E558F5C-EA22-68EC-1915-B8C6432018D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4341" y="4942625"/>
            <a:ext cx="419101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图像" descr="图像">
            <a:extLst>
              <a:ext uri="{FF2B5EF4-FFF2-40B4-BE49-F238E27FC236}">
                <a16:creationId xmlns:a16="http://schemas.microsoft.com/office/drawing/2014/main" id="{AA7C27BF-7E9D-5A7E-B696-0A551174D40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00327" y="2892313"/>
            <a:ext cx="2540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图像" descr="图像">
            <a:extLst>
              <a:ext uri="{FF2B5EF4-FFF2-40B4-BE49-F238E27FC236}">
                <a16:creationId xmlns:a16="http://schemas.microsoft.com/office/drawing/2014/main" id="{992063A8-4ACB-B95C-8574-78150C2ADD2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4341" y="3174357"/>
            <a:ext cx="419101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图像" descr="图像">
            <a:extLst>
              <a:ext uri="{FF2B5EF4-FFF2-40B4-BE49-F238E27FC236}">
                <a16:creationId xmlns:a16="http://schemas.microsoft.com/office/drawing/2014/main" id="{A50B5F5A-0862-D0D3-C686-A18024E96B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146" y="3629223"/>
            <a:ext cx="711201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图像" descr="图像">
            <a:extLst>
              <a:ext uri="{FF2B5EF4-FFF2-40B4-BE49-F238E27FC236}">
                <a16:creationId xmlns:a16="http://schemas.microsoft.com/office/drawing/2014/main" id="{7D044CB4-A90E-0579-DEDF-AB701C44126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34350" y="2932258"/>
            <a:ext cx="723901" cy="114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图像" descr="图像">
            <a:extLst>
              <a:ext uri="{FF2B5EF4-FFF2-40B4-BE49-F238E27FC236}">
                <a16:creationId xmlns:a16="http://schemas.microsoft.com/office/drawing/2014/main" id="{90B72798-09D8-414F-CC71-D9126A784ED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07541" y="4515063"/>
            <a:ext cx="434653" cy="345747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图像" descr="图像">
            <a:extLst>
              <a:ext uri="{FF2B5EF4-FFF2-40B4-BE49-F238E27FC236}">
                <a16:creationId xmlns:a16="http://schemas.microsoft.com/office/drawing/2014/main" id="{2C0062D5-D60A-3538-4F14-014269D6BB6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64136" y="3667059"/>
            <a:ext cx="431075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图像" descr="图像">
            <a:extLst>
              <a:ext uri="{FF2B5EF4-FFF2-40B4-BE49-F238E27FC236}">
                <a16:creationId xmlns:a16="http://schemas.microsoft.com/office/drawing/2014/main" id="{3493FA37-6997-F83C-D68B-351C97E43DE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19746" y="2262214"/>
            <a:ext cx="558801" cy="444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图像" descr="图像">
            <a:extLst>
              <a:ext uri="{FF2B5EF4-FFF2-40B4-BE49-F238E27FC236}">
                <a16:creationId xmlns:a16="http://schemas.microsoft.com/office/drawing/2014/main" id="{8C657CA5-844E-D1D5-92E1-FD718DC6BF7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10113" y="1825121"/>
            <a:ext cx="418403" cy="418402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图像" descr="图像">
            <a:extLst>
              <a:ext uri="{FF2B5EF4-FFF2-40B4-BE49-F238E27FC236}">
                <a16:creationId xmlns:a16="http://schemas.microsoft.com/office/drawing/2014/main" id="{4C609C41-B3FC-0AAD-EA5E-C9C2458F47A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14570" y="2686201"/>
            <a:ext cx="604702" cy="481013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图像" descr="图像">
            <a:extLst>
              <a:ext uri="{FF2B5EF4-FFF2-40B4-BE49-F238E27FC236}">
                <a16:creationId xmlns:a16="http://schemas.microsoft.com/office/drawing/2014/main" id="{588C1EBB-807B-6ECC-542E-9E036726EAF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74021" y="3603475"/>
            <a:ext cx="6858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图像" descr="图像">
            <a:extLst>
              <a:ext uri="{FF2B5EF4-FFF2-40B4-BE49-F238E27FC236}">
                <a16:creationId xmlns:a16="http://schemas.microsoft.com/office/drawing/2014/main" id="{87328D1E-0AFE-1E31-1E50-63CF3AA796B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26688" y="4360582"/>
            <a:ext cx="765879" cy="236383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图像" descr="图像">
            <a:extLst>
              <a:ext uri="{FF2B5EF4-FFF2-40B4-BE49-F238E27FC236}">
                <a16:creationId xmlns:a16="http://schemas.microsoft.com/office/drawing/2014/main" id="{D9F90C1C-BC4F-B5A9-47B7-C4EA68953BE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759523" y="5517657"/>
            <a:ext cx="1016001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图片 11" descr="图片 11">
            <a:extLst>
              <a:ext uri="{FF2B5EF4-FFF2-40B4-BE49-F238E27FC236}">
                <a16:creationId xmlns:a16="http://schemas.microsoft.com/office/drawing/2014/main" id="{7E128E1A-2EF7-3405-D471-3E5F7996F0C7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32043" r="50500"/>
          <a:stretch>
            <a:fillRect/>
          </a:stretch>
        </p:blipFill>
        <p:spPr>
          <a:xfrm>
            <a:off x="10624943" y="2463170"/>
            <a:ext cx="1009056" cy="241264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图像" descr="图像">
            <a:extLst>
              <a:ext uri="{FF2B5EF4-FFF2-40B4-BE49-F238E27FC236}">
                <a16:creationId xmlns:a16="http://schemas.microsoft.com/office/drawing/2014/main" id="{53389874-574F-76D3-14C6-67A216C7D188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24586" t="23091" r="24586" b="23090"/>
          <a:stretch>
            <a:fillRect/>
          </a:stretch>
        </p:blipFill>
        <p:spPr>
          <a:xfrm>
            <a:off x="10902557" y="3136717"/>
            <a:ext cx="454179" cy="48091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图像" descr="图像">
            <a:extLst>
              <a:ext uri="{FF2B5EF4-FFF2-40B4-BE49-F238E27FC236}">
                <a16:creationId xmlns:a16="http://schemas.microsoft.com/office/drawing/2014/main" id="{58EC1F7D-306C-A242-958F-88875368C3DF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t="29736" r="12" b="29739"/>
          <a:stretch>
            <a:fillRect/>
          </a:stretch>
        </p:blipFill>
        <p:spPr>
          <a:xfrm>
            <a:off x="8868904" y="5063009"/>
            <a:ext cx="1050132" cy="190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720"/>
                </a:lnTo>
                <a:lnTo>
                  <a:pt x="4833" y="675"/>
                </a:lnTo>
                <a:cubicBezTo>
                  <a:pt x="9972" y="641"/>
                  <a:pt x="10201" y="641"/>
                  <a:pt x="9273" y="1170"/>
                </a:cubicBezTo>
                <a:cubicBezTo>
                  <a:pt x="8796" y="1442"/>
                  <a:pt x="8070" y="2136"/>
                  <a:pt x="7649" y="2700"/>
                </a:cubicBezTo>
                <a:lnTo>
                  <a:pt x="7322" y="3150"/>
                </a:lnTo>
                <a:lnTo>
                  <a:pt x="7273" y="4545"/>
                </a:lnTo>
                <a:cubicBezTo>
                  <a:pt x="7246" y="5330"/>
                  <a:pt x="7228" y="6003"/>
                  <a:pt x="7233" y="6030"/>
                </a:cubicBezTo>
                <a:cubicBezTo>
                  <a:pt x="7238" y="6057"/>
                  <a:pt x="7337" y="5912"/>
                  <a:pt x="7453" y="5715"/>
                </a:cubicBezTo>
                <a:cubicBezTo>
                  <a:pt x="7705" y="5288"/>
                  <a:pt x="8349" y="4372"/>
                  <a:pt x="8710" y="3915"/>
                </a:cubicBezTo>
                <a:cubicBezTo>
                  <a:pt x="9240" y="3245"/>
                  <a:pt x="10440" y="2136"/>
                  <a:pt x="10857" y="1935"/>
                </a:cubicBezTo>
                <a:cubicBezTo>
                  <a:pt x="10944" y="1893"/>
                  <a:pt x="11171" y="1765"/>
                  <a:pt x="11363" y="1665"/>
                </a:cubicBezTo>
                <a:cubicBezTo>
                  <a:pt x="11555" y="1565"/>
                  <a:pt x="11877" y="1486"/>
                  <a:pt x="12082" y="1440"/>
                </a:cubicBezTo>
                <a:cubicBezTo>
                  <a:pt x="12465" y="1354"/>
                  <a:pt x="12478" y="1247"/>
                  <a:pt x="12131" y="1035"/>
                </a:cubicBezTo>
                <a:cubicBezTo>
                  <a:pt x="12050" y="986"/>
                  <a:pt x="11984" y="878"/>
                  <a:pt x="11984" y="810"/>
                </a:cubicBezTo>
                <a:cubicBezTo>
                  <a:pt x="11984" y="687"/>
                  <a:pt x="13463" y="557"/>
                  <a:pt x="13518" y="675"/>
                </a:cubicBezTo>
                <a:cubicBezTo>
                  <a:pt x="13537" y="714"/>
                  <a:pt x="13531" y="980"/>
                  <a:pt x="13494" y="1485"/>
                </a:cubicBezTo>
                <a:cubicBezTo>
                  <a:pt x="13465" y="1882"/>
                  <a:pt x="13399" y="2709"/>
                  <a:pt x="13355" y="3375"/>
                </a:cubicBezTo>
                <a:lnTo>
                  <a:pt x="13282" y="4590"/>
                </a:lnTo>
                <a:lnTo>
                  <a:pt x="13992" y="4590"/>
                </a:lnTo>
                <a:lnTo>
                  <a:pt x="14702" y="4545"/>
                </a:lnTo>
                <a:lnTo>
                  <a:pt x="14727" y="3780"/>
                </a:lnTo>
                <a:cubicBezTo>
                  <a:pt x="14776" y="2490"/>
                  <a:pt x="14823" y="2648"/>
                  <a:pt x="14318" y="2610"/>
                </a:cubicBezTo>
                <a:cubicBezTo>
                  <a:pt x="13809" y="2571"/>
                  <a:pt x="13839" y="2644"/>
                  <a:pt x="13943" y="1350"/>
                </a:cubicBezTo>
                <a:lnTo>
                  <a:pt x="14000" y="630"/>
                </a:lnTo>
                <a:lnTo>
                  <a:pt x="14694" y="630"/>
                </a:lnTo>
                <a:cubicBezTo>
                  <a:pt x="15076" y="630"/>
                  <a:pt x="15390" y="642"/>
                  <a:pt x="15396" y="675"/>
                </a:cubicBezTo>
                <a:cubicBezTo>
                  <a:pt x="15405" y="727"/>
                  <a:pt x="15389" y="1519"/>
                  <a:pt x="15339" y="3105"/>
                </a:cubicBezTo>
                <a:lnTo>
                  <a:pt x="15322" y="3510"/>
                </a:lnTo>
                <a:lnTo>
                  <a:pt x="15543" y="3510"/>
                </a:lnTo>
                <a:lnTo>
                  <a:pt x="15771" y="3510"/>
                </a:lnTo>
                <a:lnTo>
                  <a:pt x="15837" y="2115"/>
                </a:lnTo>
                <a:lnTo>
                  <a:pt x="15902" y="720"/>
                </a:lnTo>
                <a:lnTo>
                  <a:pt x="16082" y="675"/>
                </a:lnTo>
                <a:cubicBezTo>
                  <a:pt x="16179" y="655"/>
                  <a:pt x="16266" y="656"/>
                  <a:pt x="16278" y="720"/>
                </a:cubicBezTo>
                <a:cubicBezTo>
                  <a:pt x="16291" y="792"/>
                  <a:pt x="16273" y="1340"/>
                  <a:pt x="16237" y="2115"/>
                </a:cubicBezTo>
                <a:cubicBezTo>
                  <a:pt x="16205" y="2800"/>
                  <a:pt x="16180" y="3381"/>
                  <a:pt x="16180" y="3420"/>
                </a:cubicBezTo>
                <a:cubicBezTo>
                  <a:pt x="16180" y="3459"/>
                  <a:pt x="16291" y="3466"/>
                  <a:pt x="16424" y="3465"/>
                </a:cubicBezTo>
                <a:lnTo>
                  <a:pt x="16661" y="3465"/>
                </a:lnTo>
                <a:lnTo>
                  <a:pt x="16751" y="2070"/>
                </a:lnTo>
                <a:lnTo>
                  <a:pt x="16841" y="720"/>
                </a:lnTo>
                <a:lnTo>
                  <a:pt x="17551" y="720"/>
                </a:lnTo>
                <a:lnTo>
                  <a:pt x="18261" y="720"/>
                </a:lnTo>
                <a:lnTo>
                  <a:pt x="18253" y="990"/>
                </a:lnTo>
                <a:cubicBezTo>
                  <a:pt x="18249" y="1159"/>
                  <a:pt x="18235" y="1518"/>
                  <a:pt x="18220" y="1755"/>
                </a:cubicBezTo>
                <a:cubicBezTo>
                  <a:pt x="18191" y="2242"/>
                  <a:pt x="18222" y="2147"/>
                  <a:pt x="17722" y="2745"/>
                </a:cubicBezTo>
                <a:cubicBezTo>
                  <a:pt x="17540" y="2963"/>
                  <a:pt x="17380" y="3210"/>
                  <a:pt x="17363" y="3285"/>
                </a:cubicBezTo>
                <a:cubicBezTo>
                  <a:pt x="17337" y="3403"/>
                  <a:pt x="17241" y="5177"/>
                  <a:pt x="17241" y="5535"/>
                </a:cubicBezTo>
                <a:cubicBezTo>
                  <a:pt x="17241" y="5606"/>
                  <a:pt x="17395" y="5430"/>
                  <a:pt x="17584" y="5130"/>
                </a:cubicBezTo>
                <a:cubicBezTo>
                  <a:pt x="17964" y="4526"/>
                  <a:pt x="18086" y="4428"/>
                  <a:pt x="18073" y="4725"/>
                </a:cubicBezTo>
                <a:cubicBezTo>
                  <a:pt x="18069" y="4827"/>
                  <a:pt x="18048" y="5418"/>
                  <a:pt x="18024" y="6030"/>
                </a:cubicBezTo>
                <a:cubicBezTo>
                  <a:pt x="18001" y="6642"/>
                  <a:pt x="17966" y="7213"/>
                  <a:pt x="17951" y="7290"/>
                </a:cubicBezTo>
                <a:cubicBezTo>
                  <a:pt x="17936" y="7367"/>
                  <a:pt x="17796" y="7614"/>
                  <a:pt x="17641" y="7875"/>
                </a:cubicBezTo>
                <a:cubicBezTo>
                  <a:pt x="17486" y="8136"/>
                  <a:pt x="17353" y="8432"/>
                  <a:pt x="17339" y="8505"/>
                </a:cubicBezTo>
                <a:cubicBezTo>
                  <a:pt x="17311" y="8649"/>
                  <a:pt x="17207" y="10930"/>
                  <a:pt x="17224" y="11025"/>
                </a:cubicBezTo>
                <a:cubicBezTo>
                  <a:pt x="17230" y="11057"/>
                  <a:pt x="17362" y="10846"/>
                  <a:pt x="17518" y="10575"/>
                </a:cubicBezTo>
                <a:cubicBezTo>
                  <a:pt x="17674" y="10304"/>
                  <a:pt x="17807" y="10121"/>
                  <a:pt x="17812" y="10170"/>
                </a:cubicBezTo>
                <a:cubicBezTo>
                  <a:pt x="17818" y="10219"/>
                  <a:pt x="17785" y="11143"/>
                  <a:pt x="17739" y="12195"/>
                </a:cubicBezTo>
                <a:lnTo>
                  <a:pt x="17649" y="14085"/>
                </a:lnTo>
                <a:lnTo>
                  <a:pt x="17314" y="14130"/>
                </a:lnTo>
                <a:lnTo>
                  <a:pt x="16980" y="14220"/>
                </a:lnTo>
                <a:lnTo>
                  <a:pt x="16931" y="15300"/>
                </a:lnTo>
                <a:lnTo>
                  <a:pt x="16882" y="16380"/>
                </a:lnTo>
                <a:lnTo>
                  <a:pt x="17388" y="16380"/>
                </a:lnTo>
                <a:cubicBezTo>
                  <a:pt x="17937" y="16380"/>
                  <a:pt x="18010" y="16307"/>
                  <a:pt x="18082" y="15705"/>
                </a:cubicBezTo>
                <a:cubicBezTo>
                  <a:pt x="18103" y="15527"/>
                  <a:pt x="18234" y="12848"/>
                  <a:pt x="18376" y="9765"/>
                </a:cubicBezTo>
                <a:cubicBezTo>
                  <a:pt x="18517" y="6682"/>
                  <a:pt x="18653" y="4059"/>
                  <a:pt x="18669" y="3915"/>
                </a:cubicBezTo>
                <a:cubicBezTo>
                  <a:pt x="18693" y="3711"/>
                  <a:pt x="18737" y="3625"/>
                  <a:pt x="18873" y="3510"/>
                </a:cubicBezTo>
                <a:cubicBezTo>
                  <a:pt x="19498" y="2984"/>
                  <a:pt x="19798" y="2743"/>
                  <a:pt x="19820" y="2790"/>
                </a:cubicBezTo>
                <a:cubicBezTo>
                  <a:pt x="19849" y="2848"/>
                  <a:pt x="19823" y="3674"/>
                  <a:pt x="19788" y="3870"/>
                </a:cubicBezTo>
                <a:cubicBezTo>
                  <a:pt x="19777" y="3928"/>
                  <a:pt x="19585" y="3986"/>
                  <a:pt x="19363" y="4005"/>
                </a:cubicBezTo>
                <a:lnTo>
                  <a:pt x="18963" y="4050"/>
                </a:lnTo>
                <a:lnTo>
                  <a:pt x="18947" y="4365"/>
                </a:lnTo>
                <a:cubicBezTo>
                  <a:pt x="18939" y="4535"/>
                  <a:pt x="18923" y="4874"/>
                  <a:pt x="18914" y="5130"/>
                </a:cubicBezTo>
                <a:lnTo>
                  <a:pt x="18898" y="5580"/>
                </a:lnTo>
                <a:lnTo>
                  <a:pt x="19306" y="5580"/>
                </a:lnTo>
                <a:cubicBezTo>
                  <a:pt x="19529" y="5580"/>
                  <a:pt x="19717" y="5618"/>
                  <a:pt x="19722" y="5670"/>
                </a:cubicBezTo>
                <a:cubicBezTo>
                  <a:pt x="19728" y="5722"/>
                  <a:pt x="19715" y="5946"/>
                  <a:pt x="19698" y="6165"/>
                </a:cubicBezTo>
                <a:lnTo>
                  <a:pt x="19673" y="6570"/>
                </a:lnTo>
                <a:lnTo>
                  <a:pt x="19257" y="6615"/>
                </a:lnTo>
                <a:lnTo>
                  <a:pt x="18849" y="6660"/>
                </a:lnTo>
                <a:lnTo>
                  <a:pt x="18824" y="7155"/>
                </a:lnTo>
                <a:cubicBezTo>
                  <a:pt x="18810" y="7428"/>
                  <a:pt x="18792" y="7778"/>
                  <a:pt x="18784" y="7965"/>
                </a:cubicBezTo>
                <a:lnTo>
                  <a:pt x="18767" y="8325"/>
                </a:lnTo>
                <a:lnTo>
                  <a:pt x="19176" y="8325"/>
                </a:lnTo>
                <a:cubicBezTo>
                  <a:pt x="19517" y="8325"/>
                  <a:pt x="19581" y="8347"/>
                  <a:pt x="19592" y="8505"/>
                </a:cubicBezTo>
                <a:cubicBezTo>
                  <a:pt x="19599" y="8608"/>
                  <a:pt x="19591" y="8764"/>
                  <a:pt x="19576" y="8865"/>
                </a:cubicBezTo>
                <a:cubicBezTo>
                  <a:pt x="19553" y="9016"/>
                  <a:pt x="19471" y="9045"/>
                  <a:pt x="19135" y="9045"/>
                </a:cubicBezTo>
                <a:lnTo>
                  <a:pt x="18727" y="9045"/>
                </a:lnTo>
                <a:lnTo>
                  <a:pt x="18694" y="9855"/>
                </a:lnTo>
                <a:cubicBezTo>
                  <a:pt x="18674" y="10295"/>
                  <a:pt x="18653" y="10674"/>
                  <a:pt x="18653" y="10710"/>
                </a:cubicBezTo>
                <a:cubicBezTo>
                  <a:pt x="18653" y="10746"/>
                  <a:pt x="18844" y="10826"/>
                  <a:pt x="19069" y="10845"/>
                </a:cubicBezTo>
                <a:lnTo>
                  <a:pt x="19478" y="10845"/>
                </a:lnTo>
                <a:lnTo>
                  <a:pt x="19478" y="11160"/>
                </a:lnTo>
                <a:cubicBezTo>
                  <a:pt x="19478" y="11319"/>
                  <a:pt x="19453" y="12052"/>
                  <a:pt x="19420" y="12780"/>
                </a:cubicBezTo>
                <a:cubicBezTo>
                  <a:pt x="19365" y="14029"/>
                  <a:pt x="19357" y="14070"/>
                  <a:pt x="19306" y="14040"/>
                </a:cubicBezTo>
                <a:cubicBezTo>
                  <a:pt x="19276" y="14023"/>
                  <a:pt x="19215" y="13777"/>
                  <a:pt x="19167" y="13500"/>
                </a:cubicBezTo>
                <a:cubicBezTo>
                  <a:pt x="19078" y="12982"/>
                  <a:pt x="19069" y="12798"/>
                  <a:pt x="19118" y="11880"/>
                </a:cubicBezTo>
                <a:cubicBezTo>
                  <a:pt x="19129" y="11682"/>
                  <a:pt x="19108" y="11655"/>
                  <a:pt x="18873" y="11655"/>
                </a:cubicBezTo>
                <a:lnTo>
                  <a:pt x="18620" y="11655"/>
                </a:lnTo>
                <a:lnTo>
                  <a:pt x="18514" y="13860"/>
                </a:lnTo>
                <a:cubicBezTo>
                  <a:pt x="18457" y="15077"/>
                  <a:pt x="18408" y="16167"/>
                  <a:pt x="18408" y="16245"/>
                </a:cubicBezTo>
                <a:cubicBezTo>
                  <a:pt x="18408" y="16344"/>
                  <a:pt x="18481" y="16380"/>
                  <a:pt x="18653" y="16380"/>
                </a:cubicBezTo>
                <a:cubicBezTo>
                  <a:pt x="18898" y="16380"/>
                  <a:pt x="18901" y="16377"/>
                  <a:pt x="18922" y="16065"/>
                </a:cubicBezTo>
                <a:lnTo>
                  <a:pt x="18947" y="15750"/>
                </a:lnTo>
                <a:lnTo>
                  <a:pt x="19045" y="16065"/>
                </a:lnTo>
                <a:lnTo>
                  <a:pt x="19143" y="16380"/>
                </a:lnTo>
                <a:lnTo>
                  <a:pt x="19959" y="16335"/>
                </a:lnTo>
                <a:lnTo>
                  <a:pt x="20776" y="16335"/>
                </a:lnTo>
                <a:lnTo>
                  <a:pt x="20816" y="15525"/>
                </a:lnTo>
                <a:cubicBezTo>
                  <a:pt x="20837" y="15082"/>
                  <a:pt x="20867" y="14598"/>
                  <a:pt x="20882" y="14445"/>
                </a:cubicBezTo>
                <a:lnTo>
                  <a:pt x="20906" y="14130"/>
                </a:lnTo>
                <a:lnTo>
                  <a:pt x="20400" y="14130"/>
                </a:lnTo>
                <a:cubicBezTo>
                  <a:pt x="20118" y="14130"/>
                  <a:pt x="19893" y="14103"/>
                  <a:pt x="19886" y="14040"/>
                </a:cubicBezTo>
                <a:cubicBezTo>
                  <a:pt x="19879" y="13978"/>
                  <a:pt x="19882" y="13764"/>
                  <a:pt x="19894" y="13590"/>
                </a:cubicBezTo>
                <a:lnTo>
                  <a:pt x="19910" y="13275"/>
                </a:lnTo>
                <a:lnTo>
                  <a:pt x="20269" y="13275"/>
                </a:lnTo>
                <a:lnTo>
                  <a:pt x="20620" y="13230"/>
                </a:lnTo>
                <a:lnTo>
                  <a:pt x="20661" y="12465"/>
                </a:lnTo>
                <a:lnTo>
                  <a:pt x="20694" y="11745"/>
                </a:lnTo>
                <a:lnTo>
                  <a:pt x="20343" y="11655"/>
                </a:lnTo>
                <a:cubicBezTo>
                  <a:pt x="20012" y="11596"/>
                  <a:pt x="19993" y="11574"/>
                  <a:pt x="19992" y="11340"/>
                </a:cubicBezTo>
                <a:cubicBezTo>
                  <a:pt x="19988" y="10689"/>
                  <a:pt x="20004" y="10665"/>
                  <a:pt x="20359" y="10665"/>
                </a:cubicBezTo>
                <a:cubicBezTo>
                  <a:pt x="20781" y="10664"/>
                  <a:pt x="20810" y="10585"/>
                  <a:pt x="20890" y="9270"/>
                </a:cubicBezTo>
                <a:cubicBezTo>
                  <a:pt x="20944" y="8374"/>
                  <a:pt x="20943" y="8386"/>
                  <a:pt x="21029" y="8325"/>
                </a:cubicBezTo>
                <a:cubicBezTo>
                  <a:pt x="21111" y="8266"/>
                  <a:pt x="21115" y="8241"/>
                  <a:pt x="21143" y="7650"/>
                </a:cubicBezTo>
                <a:cubicBezTo>
                  <a:pt x="21188" y="6690"/>
                  <a:pt x="21185" y="6480"/>
                  <a:pt x="21118" y="6480"/>
                </a:cubicBezTo>
                <a:cubicBezTo>
                  <a:pt x="21087" y="6480"/>
                  <a:pt x="21059" y="6389"/>
                  <a:pt x="21053" y="6300"/>
                </a:cubicBezTo>
                <a:cubicBezTo>
                  <a:pt x="21047" y="6211"/>
                  <a:pt x="21061" y="5661"/>
                  <a:pt x="21086" y="5085"/>
                </a:cubicBezTo>
                <a:cubicBezTo>
                  <a:pt x="21111" y="4509"/>
                  <a:pt x="21126" y="4011"/>
                  <a:pt x="21127" y="3960"/>
                </a:cubicBezTo>
                <a:cubicBezTo>
                  <a:pt x="21127" y="3909"/>
                  <a:pt x="20951" y="3870"/>
                  <a:pt x="20735" y="3870"/>
                </a:cubicBezTo>
                <a:cubicBezTo>
                  <a:pt x="20504" y="3870"/>
                  <a:pt x="20343" y="3806"/>
                  <a:pt x="20335" y="3735"/>
                </a:cubicBezTo>
                <a:cubicBezTo>
                  <a:pt x="20311" y="3522"/>
                  <a:pt x="20362" y="2611"/>
                  <a:pt x="20408" y="2475"/>
                </a:cubicBezTo>
                <a:cubicBezTo>
                  <a:pt x="20435" y="2395"/>
                  <a:pt x="20677" y="2356"/>
                  <a:pt x="21029" y="2340"/>
                </a:cubicBezTo>
                <a:lnTo>
                  <a:pt x="21600" y="2295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2049" y="1260"/>
                </a:moveTo>
                <a:lnTo>
                  <a:pt x="784" y="1305"/>
                </a:lnTo>
                <a:lnTo>
                  <a:pt x="694" y="2385"/>
                </a:lnTo>
                <a:lnTo>
                  <a:pt x="612" y="3420"/>
                </a:lnTo>
                <a:lnTo>
                  <a:pt x="1853" y="3510"/>
                </a:lnTo>
                <a:cubicBezTo>
                  <a:pt x="3228" y="3579"/>
                  <a:pt x="3187" y="3511"/>
                  <a:pt x="3347" y="4365"/>
                </a:cubicBezTo>
                <a:cubicBezTo>
                  <a:pt x="3405" y="4673"/>
                  <a:pt x="3420" y="4887"/>
                  <a:pt x="3420" y="5265"/>
                </a:cubicBezTo>
                <a:cubicBezTo>
                  <a:pt x="3420" y="5669"/>
                  <a:pt x="3399" y="5848"/>
                  <a:pt x="3306" y="6390"/>
                </a:cubicBezTo>
                <a:cubicBezTo>
                  <a:pt x="3117" y="7489"/>
                  <a:pt x="2815" y="8347"/>
                  <a:pt x="2212" y="9450"/>
                </a:cubicBezTo>
                <a:lnTo>
                  <a:pt x="1886" y="10035"/>
                </a:lnTo>
                <a:lnTo>
                  <a:pt x="2376" y="12645"/>
                </a:lnTo>
                <a:lnTo>
                  <a:pt x="2865" y="15255"/>
                </a:lnTo>
                <a:lnTo>
                  <a:pt x="3404" y="15255"/>
                </a:lnTo>
                <a:cubicBezTo>
                  <a:pt x="3754" y="15258"/>
                  <a:pt x="3935" y="15203"/>
                  <a:pt x="3935" y="15120"/>
                </a:cubicBezTo>
                <a:cubicBezTo>
                  <a:pt x="3935" y="14895"/>
                  <a:pt x="3463" y="12407"/>
                  <a:pt x="3200" y="11250"/>
                </a:cubicBezTo>
                <a:cubicBezTo>
                  <a:pt x="3060" y="10632"/>
                  <a:pt x="2953" y="10092"/>
                  <a:pt x="2963" y="10035"/>
                </a:cubicBezTo>
                <a:cubicBezTo>
                  <a:pt x="2974" y="9978"/>
                  <a:pt x="3061" y="9879"/>
                  <a:pt x="3159" y="9810"/>
                </a:cubicBezTo>
                <a:cubicBezTo>
                  <a:pt x="3646" y="9471"/>
                  <a:pt x="4033" y="8321"/>
                  <a:pt x="4196" y="6705"/>
                </a:cubicBezTo>
                <a:cubicBezTo>
                  <a:pt x="4255" y="6116"/>
                  <a:pt x="4261" y="5931"/>
                  <a:pt x="4261" y="4995"/>
                </a:cubicBezTo>
                <a:cubicBezTo>
                  <a:pt x="4261" y="4065"/>
                  <a:pt x="4253" y="3855"/>
                  <a:pt x="4196" y="3285"/>
                </a:cubicBezTo>
                <a:cubicBezTo>
                  <a:pt x="4086" y="2189"/>
                  <a:pt x="3883" y="1619"/>
                  <a:pt x="3527" y="1395"/>
                </a:cubicBezTo>
                <a:cubicBezTo>
                  <a:pt x="3429" y="1334"/>
                  <a:pt x="3092" y="1264"/>
                  <a:pt x="2596" y="1260"/>
                </a:cubicBezTo>
                <a:cubicBezTo>
                  <a:pt x="2430" y="1259"/>
                  <a:pt x="2247" y="1254"/>
                  <a:pt x="2049" y="1260"/>
                </a:cubicBezTo>
                <a:close/>
                <a:moveTo>
                  <a:pt x="14996" y="4095"/>
                </a:moveTo>
                <a:lnTo>
                  <a:pt x="14922" y="5895"/>
                </a:lnTo>
                <a:cubicBezTo>
                  <a:pt x="14835" y="7965"/>
                  <a:pt x="14743" y="10416"/>
                  <a:pt x="14743" y="10575"/>
                </a:cubicBezTo>
                <a:cubicBezTo>
                  <a:pt x="14743" y="10637"/>
                  <a:pt x="14955" y="10665"/>
                  <a:pt x="15224" y="10665"/>
                </a:cubicBezTo>
                <a:cubicBezTo>
                  <a:pt x="15490" y="10665"/>
                  <a:pt x="15708" y="10700"/>
                  <a:pt x="15714" y="10755"/>
                </a:cubicBezTo>
                <a:cubicBezTo>
                  <a:pt x="15720" y="10810"/>
                  <a:pt x="15717" y="11116"/>
                  <a:pt x="15706" y="11385"/>
                </a:cubicBezTo>
                <a:cubicBezTo>
                  <a:pt x="15695" y="11654"/>
                  <a:pt x="15680" y="12020"/>
                  <a:pt x="15673" y="12240"/>
                </a:cubicBezTo>
                <a:cubicBezTo>
                  <a:pt x="15666" y="12460"/>
                  <a:pt x="15639" y="13250"/>
                  <a:pt x="15608" y="13950"/>
                </a:cubicBezTo>
                <a:cubicBezTo>
                  <a:pt x="15541" y="15478"/>
                  <a:pt x="15537" y="16069"/>
                  <a:pt x="15592" y="16245"/>
                </a:cubicBezTo>
                <a:cubicBezTo>
                  <a:pt x="15615" y="16321"/>
                  <a:pt x="15844" y="16378"/>
                  <a:pt x="16163" y="16380"/>
                </a:cubicBezTo>
                <a:lnTo>
                  <a:pt x="16694" y="16380"/>
                </a:lnTo>
                <a:lnTo>
                  <a:pt x="16735" y="15480"/>
                </a:lnTo>
                <a:cubicBezTo>
                  <a:pt x="16756" y="14986"/>
                  <a:pt x="16789" y="14474"/>
                  <a:pt x="16808" y="14355"/>
                </a:cubicBezTo>
                <a:cubicBezTo>
                  <a:pt x="16841" y="14150"/>
                  <a:pt x="16820" y="14130"/>
                  <a:pt x="16498" y="14130"/>
                </a:cubicBezTo>
                <a:cubicBezTo>
                  <a:pt x="16311" y="14130"/>
                  <a:pt x="16152" y="14091"/>
                  <a:pt x="16147" y="14040"/>
                </a:cubicBezTo>
                <a:cubicBezTo>
                  <a:pt x="16132" y="13902"/>
                  <a:pt x="16251" y="11026"/>
                  <a:pt x="16278" y="10845"/>
                </a:cubicBezTo>
                <a:cubicBezTo>
                  <a:pt x="16291" y="10752"/>
                  <a:pt x="16350" y="10665"/>
                  <a:pt x="16433" y="10665"/>
                </a:cubicBezTo>
                <a:cubicBezTo>
                  <a:pt x="16615" y="10664"/>
                  <a:pt x="16718" y="10502"/>
                  <a:pt x="16792" y="10080"/>
                </a:cubicBezTo>
                <a:cubicBezTo>
                  <a:pt x="16842" y="9790"/>
                  <a:pt x="16869" y="9432"/>
                  <a:pt x="16922" y="7965"/>
                </a:cubicBezTo>
                <a:cubicBezTo>
                  <a:pt x="16965" y="6801"/>
                  <a:pt x="16972" y="6211"/>
                  <a:pt x="16955" y="6210"/>
                </a:cubicBezTo>
                <a:cubicBezTo>
                  <a:pt x="16926" y="6209"/>
                  <a:pt x="16512" y="6864"/>
                  <a:pt x="16498" y="6930"/>
                </a:cubicBezTo>
                <a:cubicBezTo>
                  <a:pt x="16493" y="6954"/>
                  <a:pt x="16469" y="7392"/>
                  <a:pt x="16449" y="7920"/>
                </a:cubicBezTo>
                <a:lnTo>
                  <a:pt x="16416" y="8865"/>
                </a:lnTo>
                <a:lnTo>
                  <a:pt x="15829" y="8955"/>
                </a:lnTo>
                <a:cubicBezTo>
                  <a:pt x="15427" y="8999"/>
                  <a:pt x="15229" y="9071"/>
                  <a:pt x="15184" y="9180"/>
                </a:cubicBezTo>
                <a:cubicBezTo>
                  <a:pt x="15141" y="9282"/>
                  <a:pt x="15108" y="9302"/>
                  <a:pt x="15094" y="9225"/>
                </a:cubicBezTo>
                <a:cubicBezTo>
                  <a:pt x="15080" y="9148"/>
                  <a:pt x="15113" y="8918"/>
                  <a:pt x="15192" y="8640"/>
                </a:cubicBezTo>
                <a:lnTo>
                  <a:pt x="15314" y="8235"/>
                </a:lnTo>
                <a:lnTo>
                  <a:pt x="15355" y="7200"/>
                </a:lnTo>
                <a:cubicBezTo>
                  <a:pt x="15378" y="6632"/>
                  <a:pt x="15409" y="6066"/>
                  <a:pt x="15420" y="5985"/>
                </a:cubicBezTo>
                <a:cubicBezTo>
                  <a:pt x="15434" y="5884"/>
                  <a:pt x="15564" y="5832"/>
                  <a:pt x="15837" y="5805"/>
                </a:cubicBezTo>
                <a:cubicBezTo>
                  <a:pt x="16213" y="5768"/>
                  <a:pt x="16242" y="5754"/>
                  <a:pt x="16359" y="5445"/>
                </a:cubicBezTo>
                <a:cubicBezTo>
                  <a:pt x="16461" y="5176"/>
                  <a:pt x="16627" y="4823"/>
                  <a:pt x="16947" y="4185"/>
                </a:cubicBezTo>
                <a:cubicBezTo>
                  <a:pt x="16966" y="4148"/>
                  <a:pt x="16529" y="4100"/>
                  <a:pt x="15984" y="4095"/>
                </a:cubicBezTo>
                <a:lnTo>
                  <a:pt x="14996" y="4095"/>
                </a:lnTo>
                <a:close/>
                <a:moveTo>
                  <a:pt x="11837" y="4410"/>
                </a:moveTo>
                <a:cubicBezTo>
                  <a:pt x="11531" y="4420"/>
                  <a:pt x="11318" y="4631"/>
                  <a:pt x="11094" y="5130"/>
                </a:cubicBezTo>
                <a:cubicBezTo>
                  <a:pt x="10627" y="6168"/>
                  <a:pt x="10305" y="8167"/>
                  <a:pt x="10237" y="10350"/>
                </a:cubicBezTo>
                <a:cubicBezTo>
                  <a:pt x="10160" y="12813"/>
                  <a:pt x="10474" y="14725"/>
                  <a:pt x="11020" y="15120"/>
                </a:cubicBezTo>
                <a:cubicBezTo>
                  <a:pt x="11312" y="15331"/>
                  <a:pt x="11860" y="14940"/>
                  <a:pt x="12188" y="14265"/>
                </a:cubicBezTo>
                <a:lnTo>
                  <a:pt x="12310" y="13995"/>
                </a:lnTo>
                <a:lnTo>
                  <a:pt x="12359" y="12735"/>
                </a:lnTo>
                <a:cubicBezTo>
                  <a:pt x="12389" y="12039"/>
                  <a:pt x="12411" y="11452"/>
                  <a:pt x="12408" y="11430"/>
                </a:cubicBezTo>
                <a:cubicBezTo>
                  <a:pt x="12405" y="11408"/>
                  <a:pt x="12338" y="11577"/>
                  <a:pt x="12261" y="11790"/>
                </a:cubicBezTo>
                <a:cubicBezTo>
                  <a:pt x="12073" y="12313"/>
                  <a:pt x="11690" y="13010"/>
                  <a:pt x="11518" y="13140"/>
                </a:cubicBezTo>
                <a:cubicBezTo>
                  <a:pt x="11354" y="13264"/>
                  <a:pt x="11203" y="13115"/>
                  <a:pt x="11118" y="12780"/>
                </a:cubicBezTo>
                <a:cubicBezTo>
                  <a:pt x="11044" y="12487"/>
                  <a:pt x="10967" y="11717"/>
                  <a:pt x="10996" y="11565"/>
                </a:cubicBezTo>
                <a:cubicBezTo>
                  <a:pt x="11007" y="11505"/>
                  <a:pt x="11273" y="11201"/>
                  <a:pt x="11584" y="10890"/>
                </a:cubicBezTo>
                <a:cubicBezTo>
                  <a:pt x="12182" y="10292"/>
                  <a:pt x="12342" y="10041"/>
                  <a:pt x="12490" y="9450"/>
                </a:cubicBezTo>
                <a:cubicBezTo>
                  <a:pt x="12589" y="9053"/>
                  <a:pt x="12630" y="8682"/>
                  <a:pt x="12669" y="7875"/>
                </a:cubicBezTo>
                <a:cubicBezTo>
                  <a:pt x="12732" y="6594"/>
                  <a:pt x="12569" y="5280"/>
                  <a:pt x="12278" y="4725"/>
                </a:cubicBezTo>
                <a:cubicBezTo>
                  <a:pt x="12144" y="4470"/>
                  <a:pt x="12078" y="4402"/>
                  <a:pt x="11837" y="4410"/>
                </a:cubicBezTo>
                <a:close/>
                <a:moveTo>
                  <a:pt x="4596" y="4500"/>
                </a:moveTo>
                <a:lnTo>
                  <a:pt x="4571" y="4950"/>
                </a:lnTo>
                <a:cubicBezTo>
                  <a:pt x="4437" y="7980"/>
                  <a:pt x="4246" y="12545"/>
                  <a:pt x="4237" y="13005"/>
                </a:cubicBezTo>
                <a:cubicBezTo>
                  <a:pt x="4215" y="14109"/>
                  <a:pt x="4356" y="14889"/>
                  <a:pt x="4629" y="15165"/>
                </a:cubicBezTo>
                <a:cubicBezTo>
                  <a:pt x="4786" y="15324"/>
                  <a:pt x="5690" y="15159"/>
                  <a:pt x="5918" y="14940"/>
                </a:cubicBezTo>
                <a:cubicBezTo>
                  <a:pt x="6024" y="14838"/>
                  <a:pt x="6146" y="14657"/>
                  <a:pt x="6196" y="14535"/>
                </a:cubicBezTo>
                <a:cubicBezTo>
                  <a:pt x="6301" y="14278"/>
                  <a:pt x="6425" y="13605"/>
                  <a:pt x="6473" y="12960"/>
                </a:cubicBezTo>
                <a:cubicBezTo>
                  <a:pt x="6520" y="12345"/>
                  <a:pt x="6698" y="8277"/>
                  <a:pt x="6833" y="4770"/>
                </a:cubicBezTo>
                <a:lnTo>
                  <a:pt x="6841" y="4500"/>
                </a:lnTo>
                <a:lnTo>
                  <a:pt x="6490" y="4500"/>
                </a:lnTo>
                <a:lnTo>
                  <a:pt x="6131" y="4500"/>
                </a:lnTo>
                <a:lnTo>
                  <a:pt x="6065" y="6300"/>
                </a:lnTo>
                <a:cubicBezTo>
                  <a:pt x="5897" y="11087"/>
                  <a:pt x="5816" y="12280"/>
                  <a:pt x="5624" y="12825"/>
                </a:cubicBezTo>
                <a:cubicBezTo>
                  <a:pt x="5523" y="13114"/>
                  <a:pt x="5292" y="13284"/>
                  <a:pt x="5176" y="13140"/>
                </a:cubicBezTo>
                <a:cubicBezTo>
                  <a:pt x="5040" y="12972"/>
                  <a:pt x="4996" y="12748"/>
                  <a:pt x="4996" y="12195"/>
                </a:cubicBezTo>
                <a:cubicBezTo>
                  <a:pt x="4996" y="11950"/>
                  <a:pt x="5065" y="10169"/>
                  <a:pt x="5151" y="8235"/>
                </a:cubicBezTo>
                <a:cubicBezTo>
                  <a:pt x="5238" y="6301"/>
                  <a:pt x="5314" y="4650"/>
                  <a:pt x="5314" y="4590"/>
                </a:cubicBezTo>
                <a:cubicBezTo>
                  <a:pt x="5314" y="4530"/>
                  <a:pt x="5153" y="4500"/>
                  <a:pt x="4955" y="4500"/>
                </a:cubicBezTo>
                <a:lnTo>
                  <a:pt x="4596" y="4500"/>
                </a:lnTo>
                <a:close/>
                <a:moveTo>
                  <a:pt x="10237" y="4815"/>
                </a:moveTo>
                <a:lnTo>
                  <a:pt x="10073" y="4905"/>
                </a:lnTo>
                <a:cubicBezTo>
                  <a:pt x="9985" y="4950"/>
                  <a:pt x="9829" y="5056"/>
                  <a:pt x="9722" y="5130"/>
                </a:cubicBezTo>
                <a:lnTo>
                  <a:pt x="9527" y="5265"/>
                </a:lnTo>
                <a:lnTo>
                  <a:pt x="9486" y="6120"/>
                </a:lnTo>
                <a:cubicBezTo>
                  <a:pt x="9466" y="6607"/>
                  <a:pt x="9414" y="7920"/>
                  <a:pt x="9363" y="9045"/>
                </a:cubicBezTo>
                <a:cubicBezTo>
                  <a:pt x="9313" y="10170"/>
                  <a:pt x="9248" y="11626"/>
                  <a:pt x="9224" y="12240"/>
                </a:cubicBezTo>
                <a:cubicBezTo>
                  <a:pt x="9201" y="12854"/>
                  <a:pt x="9166" y="13782"/>
                  <a:pt x="9143" y="14310"/>
                </a:cubicBezTo>
                <a:lnTo>
                  <a:pt x="9094" y="15255"/>
                </a:lnTo>
                <a:lnTo>
                  <a:pt x="9437" y="15255"/>
                </a:lnTo>
                <a:lnTo>
                  <a:pt x="9780" y="15255"/>
                </a:lnTo>
                <a:lnTo>
                  <a:pt x="9910" y="12240"/>
                </a:lnTo>
                <a:cubicBezTo>
                  <a:pt x="9981" y="10587"/>
                  <a:pt x="10085" y="8239"/>
                  <a:pt x="10139" y="7020"/>
                </a:cubicBezTo>
                <a:lnTo>
                  <a:pt x="10237" y="4815"/>
                </a:lnTo>
                <a:close/>
                <a:moveTo>
                  <a:pt x="1045" y="4995"/>
                </a:moveTo>
                <a:lnTo>
                  <a:pt x="971" y="6075"/>
                </a:lnTo>
                <a:cubicBezTo>
                  <a:pt x="932" y="6671"/>
                  <a:pt x="830" y="8333"/>
                  <a:pt x="735" y="9765"/>
                </a:cubicBezTo>
                <a:cubicBezTo>
                  <a:pt x="640" y="11197"/>
                  <a:pt x="523" y="12897"/>
                  <a:pt x="482" y="13545"/>
                </a:cubicBezTo>
                <a:cubicBezTo>
                  <a:pt x="441" y="14193"/>
                  <a:pt x="401" y="14819"/>
                  <a:pt x="392" y="14940"/>
                </a:cubicBezTo>
                <a:cubicBezTo>
                  <a:pt x="377" y="15146"/>
                  <a:pt x="405" y="15152"/>
                  <a:pt x="824" y="15120"/>
                </a:cubicBezTo>
                <a:lnTo>
                  <a:pt x="1273" y="15075"/>
                </a:lnTo>
                <a:lnTo>
                  <a:pt x="1388" y="13320"/>
                </a:lnTo>
                <a:cubicBezTo>
                  <a:pt x="1508" y="11527"/>
                  <a:pt x="1755" y="7778"/>
                  <a:pt x="1853" y="6255"/>
                </a:cubicBezTo>
                <a:cubicBezTo>
                  <a:pt x="1884" y="5778"/>
                  <a:pt x="1918" y="5294"/>
                  <a:pt x="1927" y="5175"/>
                </a:cubicBezTo>
                <a:cubicBezTo>
                  <a:pt x="1941" y="4973"/>
                  <a:pt x="1910" y="4994"/>
                  <a:pt x="1494" y="4995"/>
                </a:cubicBezTo>
                <a:lnTo>
                  <a:pt x="1045" y="4995"/>
                </a:lnTo>
                <a:close/>
                <a:moveTo>
                  <a:pt x="9053" y="5625"/>
                </a:moveTo>
                <a:cubicBezTo>
                  <a:pt x="9049" y="5597"/>
                  <a:pt x="8891" y="5686"/>
                  <a:pt x="8702" y="5850"/>
                </a:cubicBezTo>
                <a:lnTo>
                  <a:pt x="8359" y="6165"/>
                </a:lnTo>
                <a:lnTo>
                  <a:pt x="8180" y="10170"/>
                </a:lnTo>
                <a:cubicBezTo>
                  <a:pt x="7933" y="15574"/>
                  <a:pt x="7864" y="16641"/>
                  <a:pt x="7722" y="17505"/>
                </a:cubicBezTo>
                <a:cubicBezTo>
                  <a:pt x="7637" y="18025"/>
                  <a:pt x="7429" y="18674"/>
                  <a:pt x="7298" y="18810"/>
                </a:cubicBezTo>
                <a:cubicBezTo>
                  <a:pt x="7231" y="18879"/>
                  <a:pt x="7223" y="18925"/>
                  <a:pt x="7200" y="19575"/>
                </a:cubicBezTo>
                <a:cubicBezTo>
                  <a:pt x="7186" y="19960"/>
                  <a:pt x="7169" y="20440"/>
                  <a:pt x="7159" y="20610"/>
                </a:cubicBezTo>
                <a:lnTo>
                  <a:pt x="7143" y="20925"/>
                </a:lnTo>
                <a:lnTo>
                  <a:pt x="6694" y="20925"/>
                </a:lnTo>
                <a:cubicBezTo>
                  <a:pt x="6448" y="20944"/>
                  <a:pt x="6239" y="20940"/>
                  <a:pt x="6229" y="20880"/>
                </a:cubicBezTo>
                <a:cubicBezTo>
                  <a:pt x="6217" y="20818"/>
                  <a:pt x="6237" y="20683"/>
                  <a:pt x="6269" y="20565"/>
                </a:cubicBezTo>
                <a:cubicBezTo>
                  <a:pt x="6361" y="20235"/>
                  <a:pt x="6348" y="19709"/>
                  <a:pt x="6237" y="19305"/>
                </a:cubicBezTo>
                <a:cubicBezTo>
                  <a:pt x="6097" y="18794"/>
                  <a:pt x="6116" y="18557"/>
                  <a:pt x="6310" y="18585"/>
                </a:cubicBezTo>
                <a:cubicBezTo>
                  <a:pt x="6409" y="18599"/>
                  <a:pt x="6431" y="18566"/>
                  <a:pt x="6441" y="18360"/>
                </a:cubicBezTo>
                <a:cubicBezTo>
                  <a:pt x="6452" y="18132"/>
                  <a:pt x="6441" y="18133"/>
                  <a:pt x="6269" y="18135"/>
                </a:cubicBezTo>
                <a:cubicBezTo>
                  <a:pt x="6046" y="18137"/>
                  <a:pt x="5977" y="18268"/>
                  <a:pt x="5967" y="18810"/>
                </a:cubicBezTo>
                <a:cubicBezTo>
                  <a:pt x="5961" y="19151"/>
                  <a:pt x="5970" y="19242"/>
                  <a:pt x="6049" y="19530"/>
                </a:cubicBezTo>
                <a:cubicBezTo>
                  <a:pt x="6150" y="19897"/>
                  <a:pt x="6156" y="19977"/>
                  <a:pt x="6106" y="20205"/>
                </a:cubicBezTo>
                <a:cubicBezTo>
                  <a:pt x="6082" y="20313"/>
                  <a:pt x="6036" y="20353"/>
                  <a:pt x="5943" y="20295"/>
                </a:cubicBezTo>
                <a:cubicBezTo>
                  <a:pt x="5810" y="20212"/>
                  <a:pt x="5811" y="20220"/>
                  <a:pt x="5804" y="20565"/>
                </a:cubicBezTo>
                <a:cubicBezTo>
                  <a:pt x="5791" y="21171"/>
                  <a:pt x="5728" y="21023"/>
                  <a:pt x="5616" y="20160"/>
                </a:cubicBezTo>
                <a:cubicBezTo>
                  <a:pt x="5559" y="19718"/>
                  <a:pt x="5510" y="19336"/>
                  <a:pt x="5510" y="19305"/>
                </a:cubicBezTo>
                <a:cubicBezTo>
                  <a:pt x="5510" y="19274"/>
                  <a:pt x="5582" y="19018"/>
                  <a:pt x="5665" y="18720"/>
                </a:cubicBezTo>
                <a:lnTo>
                  <a:pt x="5812" y="18180"/>
                </a:lnTo>
                <a:lnTo>
                  <a:pt x="5714" y="18135"/>
                </a:lnTo>
                <a:cubicBezTo>
                  <a:pt x="5624" y="18103"/>
                  <a:pt x="5594" y="18145"/>
                  <a:pt x="5494" y="18540"/>
                </a:cubicBezTo>
                <a:cubicBezTo>
                  <a:pt x="5318" y="19236"/>
                  <a:pt x="5308" y="19019"/>
                  <a:pt x="5437" y="17325"/>
                </a:cubicBezTo>
                <a:cubicBezTo>
                  <a:pt x="5451" y="17137"/>
                  <a:pt x="5434" y="17145"/>
                  <a:pt x="5347" y="17145"/>
                </a:cubicBezTo>
                <a:lnTo>
                  <a:pt x="5249" y="17145"/>
                </a:lnTo>
                <a:lnTo>
                  <a:pt x="5192" y="18090"/>
                </a:lnTo>
                <a:cubicBezTo>
                  <a:pt x="5108" y="19414"/>
                  <a:pt x="5014" y="20644"/>
                  <a:pt x="4988" y="20835"/>
                </a:cubicBezTo>
                <a:cubicBezTo>
                  <a:pt x="4972" y="20946"/>
                  <a:pt x="4919" y="20950"/>
                  <a:pt x="4808" y="20925"/>
                </a:cubicBezTo>
                <a:lnTo>
                  <a:pt x="4645" y="20925"/>
                </a:lnTo>
                <a:lnTo>
                  <a:pt x="4653" y="20565"/>
                </a:lnTo>
                <a:cubicBezTo>
                  <a:pt x="4673" y="19538"/>
                  <a:pt x="4827" y="18536"/>
                  <a:pt x="4955" y="18630"/>
                </a:cubicBezTo>
                <a:cubicBezTo>
                  <a:pt x="5012" y="18672"/>
                  <a:pt x="5037" y="18539"/>
                  <a:pt x="5037" y="18225"/>
                </a:cubicBezTo>
                <a:cubicBezTo>
                  <a:pt x="5037" y="18165"/>
                  <a:pt x="4945" y="18121"/>
                  <a:pt x="4824" y="18135"/>
                </a:cubicBezTo>
                <a:lnTo>
                  <a:pt x="4604" y="18180"/>
                </a:lnTo>
                <a:lnTo>
                  <a:pt x="4563" y="18855"/>
                </a:lnTo>
                <a:cubicBezTo>
                  <a:pt x="4542" y="19230"/>
                  <a:pt x="4505" y="19858"/>
                  <a:pt x="4473" y="20250"/>
                </a:cubicBezTo>
                <a:lnTo>
                  <a:pt x="4416" y="20970"/>
                </a:lnTo>
                <a:lnTo>
                  <a:pt x="4302" y="20970"/>
                </a:lnTo>
                <a:cubicBezTo>
                  <a:pt x="4159" y="20970"/>
                  <a:pt x="4137" y="20826"/>
                  <a:pt x="4245" y="20520"/>
                </a:cubicBezTo>
                <a:cubicBezTo>
                  <a:pt x="4411" y="20048"/>
                  <a:pt x="4485" y="18910"/>
                  <a:pt x="4384" y="18405"/>
                </a:cubicBezTo>
                <a:cubicBezTo>
                  <a:pt x="4347" y="18222"/>
                  <a:pt x="4294" y="18169"/>
                  <a:pt x="4147" y="18135"/>
                </a:cubicBezTo>
                <a:cubicBezTo>
                  <a:pt x="3979" y="18096"/>
                  <a:pt x="3944" y="18116"/>
                  <a:pt x="3837" y="18405"/>
                </a:cubicBezTo>
                <a:cubicBezTo>
                  <a:pt x="3651" y="18906"/>
                  <a:pt x="3583" y="19933"/>
                  <a:pt x="3698" y="20520"/>
                </a:cubicBezTo>
                <a:cubicBezTo>
                  <a:pt x="3729" y="20677"/>
                  <a:pt x="3747" y="20836"/>
                  <a:pt x="3739" y="20880"/>
                </a:cubicBezTo>
                <a:cubicBezTo>
                  <a:pt x="3718" y="20993"/>
                  <a:pt x="3270" y="20994"/>
                  <a:pt x="3257" y="20880"/>
                </a:cubicBezTo>
                <a:cubicBezTo>
                  <a:pt x="3252" y="20829"/>
                  <a:pt x="3348" y="20201"/>
                  <a:pt x="3469" y="19485"/>
                </a:cubicBezTo>
                <a:lnTo>
                  <a:pt x="3690" y="18180"/>
                </a:lnTo>
                <a:lnTo>
                  <a:pt x="3592" y="18135"/>
                </a:lnTo>
                <a:cubicBezTo>
                  <a:pt x="3502" y="18097"/>
                  <a:pt x="3498" y="18117"/>
                  <a:pt x="3371" y="18900"/>
                </a:cubicBezTo>
                <a:cubicBezTo>
                  <a:pt x="3299" y="19348"/>
                  <a:pt x="3226" y="19698"/>
                  <a:pt x="3216" y="19665"/>
                </a:cubicBezTo>
                <a:cubicBezTo>
                  <a:pt x="3207" y="19632"/>
                  <a:pt x="3192" y="19266"/>
                  <a:pt x="3184" y="18855"/>
                </a:cubicBezTo>
                <a:lnTo>
                  <a:pt x="3167" y="18135"/>
                </a:lnTo>
                <a:lnTo>
                  <a:pt x="3069" y="18135"/>
                </a:lnTo>
                <a:cubicBezTo>
                  <a:pt x="2976" y="18135"/>
                  <a:pt x="2972" y="18154"/>
                  <a:pt x="2849" y="18990"/>
                </a:cubicBezTo>
                <a:cubicBezTo>
                  <a:pt x="2718" y="19880"/>
                  <a:pt x="2678" y="19983"/>
                  <a:pt x="2678" y="19395"/>
                </a:cubicBezTo>
                <a:cubicBezTo>
                  <a:pt x="2677" y="19212"/>
                  <a:pt x="2669" y="18841"/>
                  <a:pt x="2661" y="18585"/>
                </a:cubicBezTo>
                <a:cubicBezTo>
                  <a:pt x="2648" y="18141"/>
                  <a:pt x="2646" y="18135"/>
                  <a:pt x="2563" y="18135"/>
                </a:cubicBezTo>
                <a:cubicBezTo>
                  <a:pt x="2461" y="18135"/>
                  <a:pt x="2457" y="18071"/>
                  <a:pt x="2506" y="19620"/>
                </a:cubicBezTo>
                <a:cubicBezTo>
                  <a:pt x="2525" y="20219"/>
                  <a:pt x="2538" y="20769"/>
                  <a:pt x="2531" y="20835"/>
                </a:cubicBezTo>
                <a:cubicBezTo>
                  <a:pt x="2512" y="21000"/>
                  <a:pt x="2255" y="21002"/>
                  <a:pt x="2237" y="20835"/>
                </a:cubicBezTo>
                <a:cubicBezTo>
                  <a:pt x="2228" y="20761"/>
                  <a:pt x="2231" y="20641"/>
                  <a:pt x="2245" y="20565"/>
                </a:cubicBezTo>
                <a:cubicBezTo>
                  <a:pt x="2287" y="20331"/>
                  <a:pt x="2278" y="20222"/>
                  <a:pt x="2212" y="20295"/>
                </a:cubicBezTo>
                <a:cubicBezTo>
                  <a:pt x="2109" y="20409"/>
                  <a:pt x="2089" y="20143"/>
                  <a:pt x="2147" y="19350"/>
                </a:cubicBezTo>
                <a:cubicBezTo>
                  <a:pt x="2195" y="18693"/>
                  <a:pt x="2197" y="18666"/>
                  <a:pt x="2286" y="18630"/>
                </a:cubicBezTo>
                <a:cubicBezTo>
                  <a:pt x="2355" y="18602"/>
                  <a:pt x="2383" y="18541"/>
                  <a:pt x="2392" y="18360"/>
                </a:cubicBezTo>
                <a:cubicBezTo>
                  <a:pt x="2401" y="18157"/>
                  <a:pt x="2396" y="18135"/>
                  <a:pt x="2335" y="18135"/>
                </a:cubicBezTo>
                <a:cubicBezTo>
                  <a:pt x="2245" y="18135"/>
                  <a:pt x="2224" y="18029"/>
                  <a:pt x="2253" y="17730"/>
                </a:cubicBezTo>
                <a:cubicBezTo>
                  <a:pt x="2272" y="17535"/>
                  <a:pt x="2264" y="17504"/>
                  <a:pt x="2220" y="17505"/>
                </a:cubicBezTo>
                <a:cubicBezTo>
                  <a:pt x="2129" y="17508"/>
                  <a:pt x="2077" y="17623"/>
                  <a:pt x="2065" y="17865"/>
                </a:cubicBezTo>
                <a:cubicBezTo>
                  <a:pt x="2058" y="18021"/>
                  <a:pt x="2030" y="18135"/>
                  <a:pt x="1992" y="18135"/>
                </a:cubicBezTo>
                <a:cubicBezTo>
                  <a:pt x="1960" y="18135"/>
                  <a:pt x="1935" y="18151"/>
                  <a:pt x="1935" y="18180"/>
                </a:cubicBezTo>
                <a:cubicBezTo>
                  <a:pt x="1935" y="18209"/>
                  <a:pt x="1933" y="18306"/>
                  <a:pt x="1927" y="18405"/>
                </a:cubicBezTo>
                <a:cubicBezTo>
                  <a:pt x="1919" y="18517"/>
                  <a:pt x="1931" y="18589"/>
                  <a:pt x="1959" y="18630"/>
                </a:cubicBezTo>
                <a:cubicBezTo>
                  <a:pt x="2004" y="18695"/>
                  <a:pt x="1999" y="18724"/>
                  <a:pt x="1943" y="19485"/>
                </a:cubicBezTo>
                <a:cubicBezTo>
                  <a:pt x="1912" y="19909"/>
                  <a:pt x="1890" y="20386"/>
                  <a:pt x="1894" y="20565"/>
                </a:cubicBezTo>
                <a:cubicBezTo>
                  <a:pt x="1900" y="20862"/>
                  <a:pt x="1891" y="20889"/>
                  <a:pt x="1812" y="20925"/>
                </a:cubicBezTo>
                <a:cubicBezTo>
                  <a:pt x="1679" y="20985"/>
                  <a:pt x="1654" y="20934"/>
                  <a:pt x="1698" y="20565"/>
                </a:cubicBezTo>
                <a:lnTo>
                  <a:pt x="1739" y="20250"/>
                </a:lnTo>
                <a:lnTo>
                  <a:pt x="1567" y="20295"/>
                </a:lnTo>
                <a:cubicBezTo>
                  <a:pt x="1416" y="20358"/>
                  <a:pt x="1400" y="20362"/>
                  <a:pt x="1355" y="20115"/>
                </a:cubicBezTo>
                <a:cubicBezTo>
                  <a:pt x="1270" y="19645"/>
                  <a:pt x="1318" y="19480"/>
                  <a:pt x="1592" y="19440"/>
                </a:cubicBezTo>
                <a:lnTo>
                  <a:pt x="1837" y="19395"/>
                </a:lnTo>
                <a:lnTo>
                  <a:pt x="1845" y="18945"/>
                </a:lnTo>
                <a:cubicBezTo>
                  <a:pt x="1850" y="18586"/>
                  <a:pt x="1841" y="18387"/>
                  <a:pt x="1812" y="18270"/>
                </a:cubicBezTo>
                <a:cubicBezTo>
                  <a:pt x="1759" y="18054"/>
                  <a:pt x="1440" y="18050"/>
                  <a:pt x="1347" y="18270"/>
                </a:cubicBezTo>
                <a:cubicBezTo>
                  <a:pt x="1229" y="18547"/>
                  <a:pt x="1148" y="19124"/>
                  <a:pt x="1135" y="19755"/>
                </a:cubicBezTo>
                <a:cubicBezTo>
                  <a:pt x="1125" y="20250"/>
                  <a:pt x="1123" y="20331"/>
                  <a:pt x="1176" y="20520"/>
                </a:cubicBezTo>
                <a:cubicBezTo>
                  <a:pt x="1208" y="20637"/>
                  <a:pt x="1231" y="20774"/>
                  <a:pt x="1224" y="20835"/>
                </a:cubicBezTo>
                <a:cubicBezTo>
                  <a:pt x="1211" y="20956"/>
                  <a:pt x="936" y="20997"/>
                  <a:pt x="914" y="20880"/>
                </a:cubicBezTo>
                <a:cubicBezTo>
                  <a:pt x="899" y="20798"/>
                  <a:pt x="918" y="20524"/>
                  <a:pt x="1061" y="18540"/>
                </a:cubicBezTo>
                <a:lnTo>
                  <a:pt x="1167" y="17145"/>
                </a:lnTo>
                <a:lnTo>
                  <a:pt x="1069" y="17145"/>
                </a:lnTo>
                <a:cubicBezTo>
                  <a:pt x="985" y="17145"/>
                  <a:pt x="968" y="17162"/>
                  <a:pt x="947" y="17460"/>
                </a:cubicBezTo>
                <a:cubicBezTo>
                  <a:pt x="934" y="17647"/>
                  <a:pt x="899" y="18198"/>
                  <a:pt x="865" y="18675"/>
                </a:cubicBezTo>
                <a:cubicBezTo>
                  <a:pt x="832" y="19152"/>
                  <a:pt x="793" y="19607"/>
                  <a:pt x="784" y="19665"/>
                </a:cubicBezTo>
                <a:cubicBezTo>
                  <a:pt x="774" y="19723"/>
                  <a:pt x="715" y="19172"/>
                  <a:pt x="645" y="18450"/>
                </a:cubicBezTo>
                <a:lnTo>
                  <a:pt x="514" y="17145"/>
                </a:lnTo>
                <a:lnTo>
                  <a:pt x="384" y="17145"/>
                </a:lnTo>
                <a:lnTo>
                  <a:pt x="261" y="17145"/>
                </a:lnTo>
                <a:lnTo>
                  <a:pt x="180" y="18315"/>
                </a:lnTo>
                <a:cubicBezTo>
                  <a:pt x="73" y="20024"/>
                  <a:pt x="51" y="20384"/>
                  <a:pt x="24" y="20295"/>
                </a:cubicBezTo>
                <a:cubicBezTo>
                  <a:pt x="22" y="20287"/>
                  <a:pt x="26" y="21476"/>
                  <a:pt x="24" y="21600"/>
                </a:cubicBezTo>
                <a:lnTo>
                  <a:pt x="21600" y="21600"/>
                </a:lnTo>
                <a:lnTo>
                  <a:pt x="21600" y="20925"/>
                </a:lnTo>
                <a:lnTo>
                  <a:pt x="14555" y="20925"/>
                </a:lnTo>
                <a:cubicBezTo>
                  <a:pt x="9875" y="20925"/>
                  <a:pt x="7506" y="20872"/>
                  <a:pt x="7502" y="20790"/>
                </a:cubicBezTo>
                <a:cubicBezTo>
                  <a:pt x="7499" y="20722"/>
                  <a:pt x="7543" y="20565"/>
                  <a:pt x="7608" y="20475"/>
                </a:cubicBezTo>
                <a:cubicBezTo>
                  <a:pt x="7800" y="20210"/>
                  <a:pt x="8126" y="19310"/>
                  <a:pt x="8253" y="18675"/>
                </a:cubicBezTo>
                <a:cubicBezTo>
                  <a:pt x="8381" y="18038"/>
                  <a:pt x="8494" y="17089"/>
                  <a:pt x="8571" y="16020"/>
                </a:cubicBezTo>
                <a:cubicBezTo>
                  <a:pt x="8623" y="15313"/>
                  <a:pt x="9068" y="5714"/>
                  <a:pt x="9053" y="5625"/>
                </a:cubicBezTo>
                <a:close/>
                <a:moveTo>
                  <a:pt x="13241" y="5715"/>
                </a:moveTo>
                <a:lnTo>
                  <a:pt x="13200" y="6615"/>
                </a:lnTo>
                <a:cubicBezTo>
                  <a:pt x="13179" y="7109"/>
                  <a:pt x="13167" y="7554"/>
                  <a:pt x="13167" y="7605"/>
                </a:cubicBezTo>
                <a:cubicBezTo>
                  <a:pt x="13168" y="7656"/>
                  <a:pt x="13253" y="7695"/>
                  <a:pt x="13363" y="7695"/>
                </a:cubicBezTo>
                <a:cubicBezTo>
                  <a:pt x="13474" y="7695"/>
                  <a:pt x="13569" y="7768"/>
                  <a:pt x="13576" y="7830"/>
                </a:cubicBezTo>
                <a:cubicBezTo>
                  <a:pt x="13591" y="7969"/>
                  <a:pt x="13548" y="9193"/>
                  <a:pt x="13518" y="9405"/>
                </a:cubicBezTo>
                <a:cubicBezTo>
                  <a:pt x="13504" y="9510"/>
                  <a:pt x="13432" y="9540"/>
                  <a:pt x="13290" y="9540"/>
                </a:cubicBezTo>
                <a:lnTo>
                  <a:pt x="13078" y="9540"/>
                </a:lnTo>
                <a:lnTo>
                  <a:pt x="13053" y="10035"/>
                </a:lnTo>
                <a:cubicBezTo>
                  <a:pt x="13041" y="10291"/>
                  <a:pt x="13027" y="10679"/>
                  <a:pt x="13020" y="10935"/>
                </a:cubicBezTo>
                <a:lnTo>
                  <a:pt x="13012" y="11430"/>
                </a:lnTo>
                <a:lnTo>
                  <a:pt x="13208" y="11430"/>
                </a:lnTo>
                <a:cubicBezTo>
                  <a:pt x="13361" y="11430"/>
                  <a:pt x="13419" y="11477"/>
                  <a:pt x="13429" y="11610"/>
                </a:cubicBezTo>
                <a:cubicBezTo>
                  <a:pt x="13435" y="11706"/>
                  <a:pt x="13413" y="12308"/>
                  <a:pt x="13388" y="12960"/>
                </a:cubicBezTo>
                <a:cubicBezTo>
                  <a:pt x="13362" y="13612"/>
                  <a:pt x="13347" y="14506"/>
                  <a:pt x="13347" y="14940"/>
                </a:cubicBezTo>
                <a:cubicBezTo>
                  <a:pt x="13347" y="15607"/>
                  <a:pt x="13349" y="15788"/>
                  <a:pt x="13396" y="16065"/>
                </a:cubicBezTo>
                <a:lnTo>
                  <a:pt x="13453" y="16380"/>
                </a:lnTo>
                <a:lnTo>
                  <a:pt x="13878" y="16380"/>
                </a:lnTo>
                <a:lnTo>
                  <a:pt x="14310" y="16380"/>
                </a:lnTo>
                <a:lnTo>
                  <a:pt x="14343" y="15480"/>
                </a:lnTo>
                <a:cubicBezTo>
                  <a:pt x="14363" y="14986"/>
                  <a:pt x="14385" y="14474"/>
                  <a:pt x="14392" y="14355"/>
                </a:cubicBezTo>
                <a:cubicBezTo>
                  <a:pt x="14403" y="14157"/>
                  <a:pt x="14377" y="14130"/>
                  <a:pt x="14131" y="14130"/>
                </a:cubicBezTo>
                <a:cubicBezTo>
                  <a:pt x="13982" y="14130"/>
                  <a:pt x="13860" y="14100"/>
                  <a:pt x="13853" y="14040"/>
                </a:cubicBezTo>
                <a:cubicBezTo>
                  <a:pt x="13841" y="13934"/>
                  <a:pt x="13920" y="11726"/>
                  <a:pt x="13943" y="11520"/>
                </a:cubicBezTo>
                <a:cubicBezTo>
                  <a:pt x="13949" y="11463"/>
                  <a:pt x="14061" y="11430"/>
                  <a:pt x="14188" y="11430"/>
                </a:cubicBezTo>
                <a:lnTo>
                  <a:pt x="14416" y="11430"/>
                </a:lnTo>
                <a:lnTo>
                  <a:pt x="14441" y="10665"/>
                </a:lnTo>
                <a:cubicBezTo>
                  <a:pt x="14456" y="10253"/>
                  <a:pt x="14475" y="9819"/>
                  <a:pt x="14482" y="9720"/>
                </a:cubicBezTo>
                <a:cubicBezTo>
                  <a:pt x="14492" y="9569"/>
                  <a:pt x="14460" y="9540"/>
                  <a:pt x="14269" y="9540"/>
                </a:cubicBezTo>
                <a:cubicBezTo>
                  <a:pt x="14107" y="9540"/>
                  <a:pt x="14039" y="9515"/>
                  <a:pt x="14033" y="9405"/>
                </a:cubicBezTo>
                <a:cubicBezTo>
                  <a:pt x="14027" y="9320"/>
                  <a:pt x="14034" y="8914"/>
                  <a:pt x="14049" y="8505"/>
                </a:cubicBezTo>
                <a:lnTo>
                  <a:pt x="14073" y="7785"/>
                </a:lnTo>
                <a:lnTo>
                  <a:pt x="14327" y="7695"/>
                </a:lnTo>
                <a:lnTo>
                  <a:pt x="14571" y="7650"/>
                </a:lnTo>
                <a:lnTo>
                  <a:pt x="14604" y="6750"/>
                </a:lnTo>
                <a:cubicBezTo>
                  <a:pt x="14626" y="6273"/>
                  <a:pt x="14645" y="5856"/>
                  <a:pt x="14645" y="5805"/>
                </a:cubicBezTo>
                <a:cubicBezTo>
                  <a:pt x="14645" y="5754"/>
                  <a:pt x="14330" y="5715"/>
                  <a:pt x="13943" y="5715"/>
                </a:cubicBezTo>
                <a:lnTo>
                  <a:pt x="13241" y="5715"/>
                </a:lnTo>
                <a:close/>
                <a:moveTo>
                  <a:pt x="11837" y="6615"/>
                </a:moveTo>
                <a:cubicBezTo>
                  <a:pt x="11888" y="6619"/>
                  <a:pt x="11929" y="6685"/>
                  <a:pt x="11959" y="6840"/>
                </a:cubicBezTo>
                <a:cubicBezTo>
                  <a:pt x="12039" y="7252"/>
                  <a:pt x="12047" y="7652"/>
                  <a:pt x="11992" y="8280"/>
                </a:cubicBezTo>
                <a:cubicBezTo>
                  <a:pt x="11942" y="8851"/>
                  <a:pt x="11824" y="9441"/>
                  <a:pt x="11714" y="9675"/>
                </a:cubicBezTo>
                <a:cubicBezTo>
                  <a:pt x="11678" y="9751"/>
                  <a:pt x="11517" y="9961"/>
                  <a:pt x="11363" y="10125"/>
                </a:cubicBezTo>
                <a:cubicBezTo>
                  <a:pt x="11209" y="10289"/>
                  <a:pt x="11069" y="10440"/>
                  <a:pt x="11053" y="10440"/>
                </a:cubicBezTo>
                <a:cubicBezTo>
                  <a:pt x="10992" y="10440"/>
                  <a:pt x="11004" y="10034"/>
                  <a:pt x="11078" y="9360"/>
                </a:cubicBezTo>
                <a:cubicBezTo>
                  <a:pt x="11242" y="7850"/>
                  <a:pt x="11616" y="6596"/>
                  <a:pt x="11837" y="6615"/>
                </a:cubicBezTo>
                <a:close/>
                <a:moveTo>
                  <a:pt x="7869" y="6705"/>
                </a:moveTo>
                <a:cubicBezTo>
                  <a:pt x="7797" y="6689"/>
                  <a:pt x="7214" y="7219"/>
                  <a:pt x="7192" y="7335"/>
                </a:cubicBezTo>
                <a:cubicBezTo>
                  <a:pt x="7164" y="7477"/>
                  <a:pt x="6841" y="14695"/>
                  <a:pt x="6841" y="15165"/>
                </a:cubicBezTo>
                <a:cubicBezTo>
                  <a:pt x="6841" y="15221"/>
                  <a:pt x="6991" y="15255"/>
                  <a:pt x="7176" y="15255"/>
                </a:cubicBezTo>
                <a:lnTo>
                  <a:pt x="7510" y="15255"/>
                </a:lnTo>
                <a:lnTo>
                  <a:pt x="7600" y="13185"/>
                </a:lnTo>
                <a:cubicBezTo>
                  <a:pt x="7723" y="10379"/>
                  <a:pt x="7878" y="6795"/>
                  <a:pt x="7878" y="6705"/>
                </a:cubicBezTo>
                <a:cubicBezTo>
                  <a:pt x="7878" y="6699"/>
                  <a:pt x="7874" y="6706"/>
                  <a:pt x="7869" y="6705"/>
                </a:cubicBezTo>
                <a:close/>
                <a:moveTo>
                  <a:pt x="15061" y="11295"/>
                </a:moveTo>
                <a:lnTo>
                  <a:pt x="14988" y="12240"/>
                </a:lnTo>
                <a:cubicBezTo>
                  <a:pt x="14948" y="12768"/>
                  <a:pt x="14905" y="13396"/>
                  <a:pt x="14890" y="13635"/>
                </a:cubicBezTo>
                <a:lnTo>
                  <a:pt x="14857" y="14085"/>
                </a:lnTo>
                <a:lnTo>
                  <a:pt x="14702" y="14130"/>
                </a:lnTo>
                <a:lnTo>
                  <a:pt x="14539" y="14175"/>
                </a:lnTo>
                <a:lnTo>
                  <a:pt x="14514" y="14805"/>
                </a:lnTo>
                <a:cubicBezTo>
                  <a:pt x="14502" y="15160"/>
                  <a:pt x="14490" y="15674"/>
                  <a:pt x="14482" y="15930"/>
                </a:cubicBezTo>
                <a:lnTo>
                  <a:pt x="14465" y="16380"/>
                </a:lnTo>
                <a:lnTo>
                  <a:pt x="14743" y="16380"/>
                </a:lnTo>
                <a:cubicBezTo>
                  <a:pt x="14897" y="16380"/>
                  <a:pt x="15056" y="16318"/>
                  <a:pt x="15094" y="16245"/>
                </a:cubicBezTo>
                <a:cubicBezTo>
                  <a:pt x="15154" y="16129"/>
                  <a:pt x="15282" y="15305"/>
                  <a:pt x="15282" y="15030"/>
                </a:cubicBezTo>
                <a:cubicBezTo>
                  <a:pt x="15282" y="14849"/>
                  <a:pt x="15511" y="11633"/>
                  <a:pt x="15535" y="11475"/>
                </a:cubicBezTo>
                <a:cubicBezTo>
                  <a:pt x="15553" y="11350"/>
                  <a:pt x="15504" y="11295"/>
                  <a:pt x="15306" y="11295"/>
                </a:cubicBezTo>
                <a:lnTo>
                  <a:pt x="15061" y="1129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52" name="图像" descr="图像">
            <a:extLst>
              <a:ext uri="{FF2B5EF4-FFF2-40B4-BE49-F238E27FC236}">
                <a16:creationId xmlns:a16="http://schemas.microsoft.com/office/drawing/2014/main" id="{267017E2-6C15-9C59-72F1-F873B319E8F0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 l="10181" t="33840" r="8725" b="35390"/>
          <a:stretch>
            <a:fillRect/>
          </a:stretch>
        </p:blipFill>
        <p:spPr>
          <a:xfrm>
            <a:off x="9119095" y="5721864"/>
            <a:ext cx="677466" cy="1710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83" extrusionOk="0">
                <a:moveTo>
                  <a:pt x="5049" y="0"/>
                </a:moveTo>
                <a:lnTo>
                  <a:pt x="5011" y="4287"/>
                </a:lnTo>
                <a:lnTo>
                  <a:pt x="4986" y="8623"/>
                </a:lnTo>
                <a:lnTo>
                  <a:pt x="3442" y="8623"/>
                </a:lnTo>
                <a:lnTo>
                  <a:pt x="1885" y="8623"/>
                </a:lnTo>
                <a:lnTo>
                  <a:pt x="1860" y="4337"/>
                </a:lnTo>
                <a:lnTo>
                  <a:pt x="1835" y="50"/>
                </a:lnTo>
                <a:lnTo>
                  <a:pt x="911" y="50"/>
                </a:lnTo>
                <a:lnTo>
                  <a:pt x="0" y="50"/>
                </a:lnTo>
                <a:lnTo>
                  <a:pt x="0" y="10767"/>
                </a:lnTo>
                <a:lnTo>
                  <a:pt x="0" y="21483"/>
                </a:lnTo>
                <a:lnTo>
                  <a:pt x="215" y="21234"/>
                </a:lnTo>
                <a:cubicBezTo>
                  <a:pt x="335" y="21107"/>
                  <a:pt x="754" y="21037"/>
                  <a:pt x="1139" y="21034"/>
                </a:cubicBezTo>
                <a:lnTo>
                  <a:pt x="1835" y="21034"/>
                </a:lnTo>
                <a:lnTo>
                  <a:pt x="1860" y="16349"/>
                </a:lnTo>
                <a:lnTo>
                  <a:pt x="1885" y="11664"/>
                </a:lnTo>
                <a:lnTo>
                  <a:pt x="3442" y="11664"/>
                </a:lnTo>
                <a:lnTo>
                  <a:pt x="4986" y="11664"/>
                </a:lnTo>
                <a:lnTo>
                  <a:pt x="5036" y="16399"/>
                </a:lnTo>
                <a:lnTo>
                  <a:pt x="5087" y="21134"/>
                </a:lnTo>
                <a:lnTo>
                  <a:pt x="5935" y="21084"/>
                </a:lnTo>
                <a:cubicBezTo>
                  <a:pt x="6401" y="21069"/>
                  <a:pt x="6817" y="21049"/>
                  <a:pt x="6858" y="21034"/>
                </a:cubicBezTo>
                <a:cubicBezTo>
                  <a:pt x="6900" y="21020"/>
                  <a:pt x="6936" y="16335"/>
                  <a:pt x="6934" y="10617"/>
                </a:cubicBezTo>
                <a:lnTo>
                  <a:pt x="6922" y="200"/>
                </a:lnTo>
                <a:lnTo>
                  <a:pt x="5985" y="100"/>
                </a:lnTo>
                <a:lnTo>
                  <a:pt x="5049" y="0"/>
                </a:lnTo>
                <a:close/>
                <a:moveTo>
                  <a:pt x="19133" y="150"/>
                </a:moveTo>
                <a:cubicBezTo>
                  <a:pt x="16416" y="502"/>
                  <a:pt x="15369" y="1877"/>
                  <a:pt x="14818" y="5782"/>
                </a:cubicBezTo>
                <a:cubicBezTo>
                  <a:pt x="14482" y="8159"/>
                  <a:pt x="14469" y="12782"/>
                  <a:pt x="14792" y="15302"/>
                </a:cubicBezTo>
                <a:cubicBezTo>
                  <a:pt x="15222" y="18658"/>
                  <a:pt x="16204" y="20412"/>
                  <a:pt x="17968" y="20985"/>
                </a:cubicBezTo>
                <a:cubicBezTo>
                  <a:pt x="19329" y="21426"/>
                  <a:pt x="19414" y="21411"/>
                  <a:pt x="20562" y="21134"/>
                </a:cubicBezTo>
                <a:lnTo>
                  <a:pt x="21600" y="20885"/>
                </a:lnTo>
                <a:lnTo>
                  <a:pt x="21600" y="19190"/>
                </a:lnTo>
                <a:cubicBezTo>
                  <a:pt x="21600" y="17723"/>
                  <a:pt x="21582" y="17511"/>
                  <a:pt x="21435" y="17745"/>
                </a:cubicBezTo>
                <a:cubicBezTo>
                  <a:pt x="21342" y="17894"/>
                  <a:pt x="20692" y="18131"/>
                  <a:pt x="19993" y="18243"/>
                </a:cubicBezTo>
                <a:cubicBezTo>
                  <a:pt x="18965" y="18408"/>
                  <a:pt x="18626" y="18303"/>
                  <a:pt x="18247" y="17795"/>
                </a:cubicBezTo>
                <a:cubicBezTo>
                  <a:pt x="17244" y="16449"/>
                  <a:pt x="16754" y="14186"/>
                  <a:pt x="16754" y="10816"/>
                </a:cubicBezTo>
                <a:cubicBezTo>
                  <a:pt x="16754" y="7277"/>
                  <a:pt x="17220" y="4684"/>
                  <a:pt x="18057" y="3589"/>
                </a:cubicBezTo>
                <a:cubicBezTo>
                  <a:pt x="18600" y="2878"/>
                  <a:pt x="19881" y="2708"/>
                  <a:pt x="20942" y="3190"/>
                </a:cubicBezTo>
                <a:lnTo>
                  <a:pt x="21600" y="3489"/>
                </a:lnTo>
                <a:lnTo>
                  <a:pt x="21600" y="1944"/>
                </a:lnTo>
                <a:cubicBezTo>
                  <a:pt x="21600" y="496"/>
                  <a:pt x="21585" y="450"/>
                  <a:pt x="21246" y="200"/>
                </a:cubicBezTo>
                <a:cubicBezTo>
                  <a:pt x="21050" y="55"/>
                  <a:pt x="20096" y="25"/>
                  <a:pt x="19133" y="150"/>
                </a:cubicBezTo>
                <a:close/>
                <a:moveTo>
                  <a:pt x="8693" y="200"/>
                </a:moveTo>
                <a:lnTo>
                  <a:pt x="7656" y="499"/>
                </a:lnTo>
                <a:lnTo>
                  <a:pt x="7656" y="1894"/>
                </a:lnTo>
                <a:lnTo>
                  <a:pt x="7656" y="3340"/>
                </a:lnTo>
                <a:lnTo>
                  <a:pt x="8162" y="3041"/>
                </a:lnTo>
                <a:cubicBezTo>
                  <a:pt x="8826" y="2626"/>
                  <a:pt x="10814" y="2523"/>
                  <a:pt x="11186" y="2891"/>
                </a:cubicBezTo>
                <a:cubicBezTo>
                  <a:pt x="11577" y="3278"/>
                  <a:pt x="11819" y="4137"/>
                  <a:pt x="11819" y="5184"/>
                </a:cubicBezTo>
                <a:cubicBezTo>
                  <a:pt x="11819" y="6644"/>
                  <a:pt x="11712" y="7298"/>
                  <a:pt x="11325" y="8075"/>
                </a:cubicBezTo>
                <a:cubicBezTo>
                  <a:pt x="11008" y="8711"/>
                  <a:pt x="10750" y="8823"/>
                  <a:pt x="9592" y="8823"/>
                </a:cubicBezTo>
                <a:lnTo>
                  <a:pt x="8238" y="8823"/>
                </a:lnTo>
                <a:lnTo>
                  <a:pt x="8238" y="10119"/>
                </a:lnTo>
                <a:lnTo>
                  <a:pt x="8238" y="11464"/>
                </a:lnTo>
                <a:lnTo>
                  <a:pt x="9667" y="11464"/>
                </a:lnTo>
                <a:cubicBezTo>
                  <a:pt x="11234" y="11465"/>
                  <a:pt x="11574" y="11811"/>
                  <a:pt x="11945" y="13807"/>
                </a:cubicBezTo>
                <a:cubicBezTo>
                  <a:pt x="12193" y="15139"/>
                  <a:pt x="12101" y="16496"/>
                  <a:pt x="11692" y="17645"/>
                </a:cubicBezTo>
                <a:cubicBezTo>
                  <a:pt x="11401" y="18464"/>
                  <a:pt x="11284" y="18542"/>
                  <a:pt x="10072" y="18542"/>
                </a:cubicBezTo>
                <a:cubicBezTo>
                  <a:pt x="9353" y="18542"/>
                  <a:pt x="8495" y="18397"/>
                  <a:pt x="8162" y="18243"/>
                </a:cubicBezTo>
                <a:lnTo>
                  <a:pt x="7554" y="17994"/>
                </a:lnTo>
                <a:lnTo>
                  <a:pt x="7554" y="19489"/>
                </a:lnTo>
                <a:lnTo>
                  <a:pt x="7554" y="20985"/>
                </a:lnTo>
                <a:lnTo>
                  <a:pt x="9123" y="21084"/>
                </a:lnTo>
                <a:cubicBezTo>
                  <a:pt x="12470" y="21307"/>
                  <a:pt x="13624" y="20424"/>
                  <a:pt x="13995" y="17346"/>
                </a:cubicBezTo>
                <a:cubicBezTo>
                  <a:pt x="14297" y="14837"/>
                  <a:pt x="14131" y="12601"/>
                  <a:pt x="13565" y="11464"/>
                </a:cubicBezTo>
                <a:cubicBezTo>
                  <a:pt x="13352" y="11036"/>
                  <a:pt x="13118" y="10717"/>
                  <a:pt x="13046" y="10717"/>
                </a:cubicBezTo>
                <a:cubicBezTo>
                  <a:pt x="12974" y="10717"/>
                  <a:pt x="12839" y="10495"/>
                  <a:pt x="12742" y="10218"/>
                </a:cubicBezTo>
                <a:cubicBezTo>
                  <a:pt x="12584" y="9761"/>
                  <a:pt x="12619" y="9589"/>
                  <a:pt x="13135" y="8573"/>
                </a:cubicBezTo>
                <a:cubicBezTo>
                  <a:pt x="13833" y="7199"/>
                  <a:pt x="14019" y="5978"/>
                  <a:pt x="13856" y="3838"/>
                </a:cubicBezTo>
                <a:cubicBezTo>
                  <a:pt x="13736" y="2268"/>
                  <a:pt x="13446" y="1501"/>
                  <a:pt x="12679" y="798"/>
                </a:cubicBezTo>
                <a:cubicBezTo>
                  <a:pt x="12027" y="200"/>
                  <a:pt x="9867" y="-117"/>
                  <a:pt x="8693" y="20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53" name="图像" descr="图像">
            <a:extLst>
              <a:ext uri="{FF2B5EF4-FFF2-40B4-BE49-F238E27FC236}">
                <a16:creationId xmlns:a16="http://schemas.microsoft.com/office/drawing/2014/main" id="{5F18D3AA-2BFF-A68C-7961-E5A1C105EF0A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l="24416" t="35734" r="24416" b="35734"/>
          <a:stretch>
            <a:fillRect/>
          </a:stretch>
        </p:blipFill>
        <p:spPr>
          <a:xfrm>
            <a:off x="7029320" y="3775009"/>
            <a:ext cx="652764" cy="36399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图像" descr="图像">
            <a:extLst>
              <a:ext uri="{FF2B5EF4-FFF2-40B4-BE49-F238E27FC236}">
                <a16:creationId xmlns:a16="http://schemas.microsoft.com/office/drawing/2014/main" id="{E2078D4C-909B-2AA8-4B38-D1AD957120DA}"/>
              </a:ext>
            </a:extLst>
          </p:cNvPr>
          <p:cNvPicPr>
            <a:picLocks noChangeAspect="1"/>
          </p:cNvPicPr>
          <p:nvPr/>
        </p:nvPicPr>
        <p:blipFill>
          <a:blip r:embed="rId25"/>
          <a:srcRect t="36420" b="42055"/>
          <a:stretch>
            <a:fillRect/>
          </a:stretch>
        </p:blipFill>
        <p:spPr>
          <a:xfrm>
            <a:off x="7364541" y="4394239"/>
            <a:ext cx="709865" cy="152794"/>
          </a:xfrm>
          <a:prstGeom prst="rect">
            <a:avLst/>
          </a:prstGeom>
          <a:ln w="12700">
            <a:miter lim="400000"/>
          </a:ln>
        </p:spPr>
      </p:pic>
      <p:pic>
        <p:nvPicPr>
          <p:cNvPr id="55" name="图像" descr="图像">
            <a:extLst>
              <a:ext uri="{FF2B5EF4-FFF2-40B4-BE49-F238E27FC236}">
                <a16:creationId xmlns:a16="http://schemas.microsoft.com/office/drawing/2014/main" id="{102642E8-D59B-9B67-1EFA-D140627314E0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l="17789" t="36468" r="16267" b="41526"/>
          <a:stretch>
            <a:fillRect/>
          </a:stretch>
        </p:blipFill>
        <p:spPr>
          <a:xfrm>
            <a:off x="7020893" y="4898937"/>
            <a:ext cx="685877" cy="128444"/>
          </a:xfrm>
          <a:prstGeom prst="rect">
            <a:avLst/>
          </a:prstGeom>
          <a:ln w="12700">
            <a:miter lim="400000"/>
          </a:ln>
        </p:spPr>
      </p:pic>
      <p:pic>
        <p:nvPicPr>
          <p:cNvPr id="56" name="图像" descr="图像">
            <a:extLst>
              <a:ext uri="{FF2B5EF4-FFF2-40B4-BE49-F238E27FC236}">
                <a16:creationId xmlns:a16="http://schemas.microsoft.com/office/drawing/2014/main" id="{D4E35147-0780-AFFC-DA00-D65BDCC9CA30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552541" y="3321050"/>
            <a:ext cx="410211" cy="215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" name="图像" descr="图像">
            <a:extLst>
              <a:ext uri="{FF2B5EF4-FFF2-40B4-BE49-F238E27FC236}">
                <a16:creationId xmlns:a16="http://schemas.microsoft.com/office/drawing/2014/main" id="{2B22D3A9-0247-60CF-CAB5-20323DB4C34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53643" y="5629590"/>
            <a:ext cx="355601" cy="355601"/>
          </a:xfrm>
          <a:prstGeom prst="rect">
            <a:avLst/>
          </a:prstGeom>
          <a:ln w="12700">
            <a:miter lim="400000"/>
          </a:ln>
        </p:spPr>
      </p:pic>
      <p:sp>
        <p:nvSpPr>
          <p:cNvPr id="58" name="圆角矩形">
            <a:extLst>
              <a:ext uri="{FF2B5EF4-FFF2-40B4-BE49-F238E27FC236}">
                <a16:creationId xmlns:a16="http://schemas.microsoft.com/office/drawing/2014/main" id="{ABC4D325-9735-6CA0-FEC6-D45D60FDDCDC}"/>
              </a:ext>
            </a:extLst>
          </p:cNvPr>
          <p:cNvSpPr/>
          <p:nvPr/>
        </p:nvSpPr>
        <p:spPr>
          <a:xfrm>
            <a:off x="50923" y="5776529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009193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59" name="Laser">
            <a:extLst>
              <a:ext uri="{FF2B5EF4-FFF2-40B4-BE49-F238E27FC236}">
                <a16:creationId xmlns:a16="http://schemas.microsoft.com/office/drawing/2014/main" id="{C8A8A99A-DD48-41DB-FC66-B4BFD0010791}"/>
              </a:ext>
            </a:extLst>
          </p:cNvPr>
          <p:cNvSpPr txBox="1"/>
          <p:nvPr/>
        </p:nvSpPr>
        <p:spPr>
          <a:xfrm>
            <a:off x="294591" y="5898149"/>
            <a:ext cx="70968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Laser</a:t>
            </a:r>
          </a:p>
        </p:txBody>
      </p:sp>
      <p:sp>
        <p:nvSpPr>
          <p:cNvPr id="60" name="圆角矩形">
            <a:extLst>
              <a:ext uri="{FF2B5EF4-FFF2-40B4-BE49-F238E27FC236}">
                <a16:creationId xmlns:a16="http://schemas.microsoft.com/office/drawing/2014/main" id="{A5669F88-CD34-FCF2-ACBF-928D4936E24A}"/>
              </a:ext>
            </a:extLst>
          </p:cNvPr>
          <p:cNvSpPr/>
          <p:nvPr/>
        </p:nvSpPr>
        <p:spPr>
          <a:xfrm>
            <a:off x="1378177" y="5439516"/>
            <a:ext cx="5147865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pic>
        <p:nvPicPr>
          <p:cNvPr id="61" name="图像" descr="图像">
            <a:extLst>
              <a:ext uri="{FF2B5EF4-FFF2-40B4-BE49-F238E27FC236}">
                <a16:creationId xmlns:a16="http://schemas.microsoft.com/office/drawing/2014/main" id="{ADC5F1F2-A931-843E-BBF2-BFBC14F84E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9541" y="5562151"/>
            <a:ext cx="711201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2" name="图像" descr="图像">
            <a:extLst>
              <a:ext uri="{FF2B5EF4-FFF2-40B4-BE49-F238E27FC236}">
                <a16:creationId xmlns:a16="http://schemas.microsoft.com/office/drawing/2014/main" id="{9172F245-E15E-D74E-4F64-85231162D7DE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688281" y="5941135"/>
            <a:ext cx="919749" cy="203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3" name="图像" descr="图像">
            <a:extLst>
              <a:ext uri="{FF2B5EF4-FFF2-40B4-BE49-F238E27FC236}">
                <a16:creationId xmlns:a16="http://schemas.microsoft.com/office/drawing/2014/main" id="{5693C12B-2C09-BCC6-CCE0-394BAB4E54F4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793013" y="5781255"/>
            <a:ext cx="325002" cy="171054"/>
          </a:xfrm>
          <a:prstGeom prst="rect">
            <a:avLst/>
          </a:prstGeom>
          <a:ln w="12700">
            <a:miter lim="400000"/>
          </a:ln>
        </p:spPr>
      </p:pic>
      <p:pic>
        <p:nvPicPr>
          <p:cNvPr id="64" name="图像" descr="图像">
            <a:extLst>
              <a:ext uri="{FF2B5EF4-FFF2-40B4-BE49-F238E27FC236}">
                <a16:creationId xmlns:a16="http://schemas.microsoft.com/office/drawing/2014/main" id="{8EA9B264-3618-11D1-3530-136939F755A1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 l="11294" t="40160" r="11294" b="39725"/>
          <a:stretch>
            <a:fillRect/>
          </a:stretch>
        </p:blipFill>
        <p:spPr>
          <a:xfrm>
            <a:off x="2305037" y="6242645"/>
            <a:ext cx="988230" cy="171183"/>
          </a:xfrm>
          <a:prstGeom prst="rect">
            <a:avLst/>
          </a:prstGeom>
          <a:ln w="12700">
            <a:miter lim="400000"/>
          </a:ln>
        </p:spPr>
      </p:pic>
      <p:pic>
        <p:nvPicPr>
          <p:cNvPr id="65" name="图像" descr="图像">
            <a:extLst>
              <a:ext uri="{FF2B5EF4-FFF2-40B4-BE49-F238E27FC236}">
                <a16:creationId xmlns:a16="http://schemas.microsoft.com/office/drawing/2014/main" id="{89203286-A9D8-80B1-DB1F-BE3528DE7195}"/>
              </a:ext>
            </a:extLst>
          </p:cNvPr>
          <p:cNvPicPr>
            <a:picLocks noChangeAspect="1"/>
          </p:cNvPicPr>
          <p:nvPr/>
        </p:nvPicPr>
        <p:blipFill>
          <a:blip r:embed="rId30"/>
          <a:srcRect l="4131" t="32380" b="31480"/>
          <a:stretch>
            <a:fillRect/>
          </a:stretch>
        </p:blipFill>
        <p:spPr>
          <a:xfrm>
            <a:off x="5243122" y="5684359"/>
            <a:ext cx="652908" cy="246124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图像" descr="图像">
            <a:extLst>
              <a:ext uri="{FF2B5EF4-FFF2-40B4-BE49-F238E27FC236}">
                <a16:creationId xmlns:a16="http://schemas.microsoft.com/office/drawing/2014/main" id="{69E2B6E5-9D6A-0D32-5417-5A8A6B055F9A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537939" y="1573884"/>
            <a:ext cx="368301" cy="400220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图像" descr="图像">
            <a:extLst>
              <a:ext uri="{FF2B5EF4-FFF2-40B4-BE49-F238E27FC236}">
                <a16:creationId xmlns:a16="http://schemas.microsoft.com/office/drawing/2014/main" id="{CDDB41AD-EFB9-1F0D-5FE4-FAE852BC28DD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095489" y="2064539"/>
            <a:ext cx="585272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8" name="图像" descr="图像">
            <a:extLst>
              <a:ext uri="{FF2B5EF4-FFF2-40B4-BE49-F238E27FC236}">
                <a16:creationId xmlns:a16="http://schemas.microsoft.com/office/drawing/2014/main" id="{1D5F9ACE-96AB-C396-ED27-B4F143A008A7}"/>
              </a:ext>
            </a:extLst>
          </p:cNvPr>
          <p:cNvPicPr>
            <a:picLocks noChangeAspect="1"/>
          </p:cNvPicPr>
          <p:nvPr/>
        </p:nvPicPr>
        <p:blipFill>
          <a:blip r:embed="rId33"/>
          <a:srcRect l="2824" t="16949" r="2856" b="16971"/>
          <a:stretch>
            <a:fillRect/>
          </a:stretch>
        </p:blipFill>
        <p:spPr>
          <a:xfrm>
            <a:off x="6038890" y="1686048"/>
            <a:ext cx="527051" cy="1230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863" extrusionOk="0">
                <a:moveTo>
                  <a:pt x="3887" y="0"/>
                </a:moveTo>
                <a:lnTo>
                  <a:pt x="3855" y="8409"/>
                </a:lnTo>
                <a:lnTo>
                  <a:pt x="3822" y="16885"/>
                </a:lnTo>
                <a:lnTo>
                  <a:pt x="2521" y="16885"/>
                </a:lnTo>
                <a:lnTo>
                  <a:pt x="1236" y="16885"/>
                </a:lnTo>
                <a:lnTo>
                  <a:pt x="1187" y="14867"/>
                </a:lnTo>
                <a:cubicBezTo>
                  <a:pt x="1147" y="12874"/>
                  <a:pt x="1140" y="12849"/>
                  <a:pt x="569" y="12849"/>
                </a:cubicBezTo>
                <a:lnTo>
                  <a:pt x="0" y="12849"/>
                </a:lnTo>
                <a:lnTo>
                  <a:pt x="0" y="16011"/>
                </a:lnTo>
                <a:cubicBezTo>
                  <a:pt x="0" y="18691"/>
                  <a:pt x="50" y="19345"/>
                  <a:pt x="293" y="20047"/>
                </a:cubicBezTo>
                <a:cubicBezTo>
                  <a:pt x="523" y="20713"/>
                  <a:pt x="974" y="20854"/>
                  <a:pt x="2554" y="20854"/>
                </a:cubicBezTo>
                <a:cubicBezTo>
                  <a:pt x="5209" y="20854"/>
                  <a:pt x="5042" y="21600"/>
                  <a:pt x="5042" y="9351"/>
                </a:cubicBezTo>
                <a:lnTo>
                  <a:pt x="5042" y="0"/>
                </a:lnTo>
                <a:lnTo>
                  <a:pt x="4473" y="0"/>
                </a:lnTo>
                <a:lnTo>
                  <a:pt x="3887" y="0"/>
                </a:lnTo>
                <a:close/>
                <a:moveTo>
                  <a:pt x="8799" y="0"/>
                </a:moveTo>
                <a:cubicBezTo>
                  <a:pt x="6085" y="0"/>
                  <a:pt x="5946" y="449"/>
                  <a:pt x="5953" y="10562"/>
                </a:cubicBezTo>
                <a:cubicBezTo>
                  <a:pt x="5958" y="17276"/>
                  <a:pt x="6076" y="18868"/>
                  <a:pt x="6620" y="20114"/>
                </a:cubicBezTo>
                <a:cubicBezTo>
                  <a:pt x="6841" y="20621"/>
                  <a:pt x="7533" y="20841"/>
                  <a:pt x="9076" y="20854"/>
                </a:cubicBezTo>
                <a:lnTo>
                  <a:pt x="11239" y="20854"/>
                </a:lnTo>
                <a:lnTo>
                  <a:pt x="11288" y="18836"/>
                </a:lnTo>
                <a:lnTo>
                  <a:pt x="11320" y="16885"/>
                </a:lnTo>
                <a:lnTo>
                  <a:pt x="9271" y="16885"/>
                </a:lnTo>
                <a:lnTo>
                  <a:pt x="7205" y="16885"/>
                </a:lnTo>
                <a:lnTo>
                  <a:pt x="7222" y="10831"/>
                </a:lnTo>
                <a:cubicBezTo>
                  <a:pt x="7227" y="7519"/>
                  <a:pt x="7259" y="4599"/>
                  <a:pt x="7303" y="4305"/>
                </a:cubicBezTo>
                <a:cubicBezTo>
                  <a:pt x="7349" y="3997"/>
                  <a:pt x="8064" y="3767"/>
                  <a:pt x="8995" y="3767"/>
                </a:cubicBezTo>
                <a:lnTo>
                  <a:pt x="10605" y="3767"/>
                </a:lnTo>
                <a:lnTo>
                  <a:pt x="10605" y="1884"/>
                </a:lnTo>
                <a:lnTo>
                  <a:pt x="10605" y="0"/>
                </a:lnTo>
                <a:lnTo>
                  <a:pt x="8799" y="0"/>
                </a:lnTo>
                <a:close/>
                <a:moveTo>
                  <a:pt x="11320" y="16885"/>
                </a:moveTo>
                <a:lnTo>
                  <a:pt x="11971" y="16885"/>
                </a:lnTo>
                <a:lnTo>
                  <a:pt x="12622" y="16885"/>
                </a:lnTo>
                <a:lnTo>
                  <a:pt x="12654" y="18836"/>
                </a:lnTo>
                <a:lnTo>
                  <a:pt x="12703" y="20854"/>
                </a:lnTo>
                <a:lnTo>
                  <a:pt x="16428" y="20854"/>
                </a:lnTo>
                <a:lnTo>
                  <a:pt x="16428" y="19038"/>
                </a:lnTo>
                <a:lnTo>
                  <a:pt x="16428" y="17154"/>
                </a:lnTo>
                <a:lnTo>
                  <a:pt x="14590" y="17020"/>
                </a:lnTo>
                <a:lnTo>
                  <a:pt x="12752" y="16885"/>
                </a:lnTo>
                <a:lnTo>
                  <a:pt x="12670" y="14867"/>
                </a:lnTo>
                <a:cubicBezTo>
                  <a:pt x="12627" y="13766"/>
                  <a:pt x="12618" y="12729"/>
                  <a:pt x="12654" y="12580"/>
                </a:cubicBezTo>
                <a:cubicBezTo>
                  <a:pt x="12690" y="12430"/>
                  <a:pt x="13554" y="12311"/>
                  <a:pt x="14573" y="12311"/>
                </a:cubicBezTo>
                <a:lnTo>
                  <a:pt x="16428" y="12311"/>
                </a:lnTo>
                <a:lnTo>
                  <a:pt x="16428" y="10427"/>
                </a:lnTo>
                <a:lnTo>
                  <a:pt x="16428" y="8611"/>
                </a:lnTo>
                <a:lnTo>
                  <a:pt x="14525" y="8476"/>
                </a:lnTo>
                <a:lnTo>
                  <a:pt x="12622" y="8274"/>
                </a:lnTo>
                <a:lnTo>
                  <a:pt x="12654" y="6391"/>
                </a:lnTo>
                <a:cubicBezTo>
                  <a:pt x="12678" y="5361"/>
                  <a:pt x="12748" y="4396"/>
                  <a:pt x="12801" y="4171"/>
                </a:cubicBezTo>
                <a:cubicBezTo>
                  <a:pt x="12853" y="3945"/>
                  <a:pt x="14138" y="3823"/>
                  <a:pt x="15663" y="3902"/>
                </a:cubicBezTo>
                <a:lnTo>
                  <a:pt x="18445" y="4036"/>
                </a:lnTo>
                <a:lnTo>
                  <a:pt x="18477" y="12445"/>
                </a:lnTo>
                <a:lnTo>
                  <a:pt x="18510" y="20854"/>
                </a:lnTo>
                <a:lnTo>
                  <a:pt x="19664" y="20854"/>
                </a:lnTo>
                <a:lnTo>
                  <a:pt x="19697" y="12445"/>
                </a:lnTo>
                <a:lnTo>
                  <a:pt x="19730" y="4036"/>
                </a:lnTo>
                <a:lnTo>
                  <a:pt x="20673" y="3834"/>
                </a:lnTo>
                <a:lnTo>
                  <a:pt x="21600" y="3700"/>
                </a:lnTo>
                <a:lnTo>
                  <a:pt x="21600" y="1816"/>
                </a:lnTo>
                <a:lnTo>
                  <a:pt x="21600" y="0"/>
                </a:lnTo>
                <a:lnTo>
                  <a:pt x="16786" y="0"/>
                </a:lnTo>
                <a:lnTo>
                  <a:pt x="11955" y="0"/>
                </a:lnTo>
                <a:lnTo>
                  <a:pt x="11678" y="1211"/>
                </a:lnTo>
                <a:cubicBezTo>
                  <a:pt x="11428" y="2315"/>
                  <a:pt x="11386" y="3103"/>
                  <a:pt x="11353" y="9620"/>
                </a:cubicBezTo>
                <a:lnTo>
                  <a:pt x="11320" y="1688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69" name="图像" descr="图像">
            <a:extLst>
              <a:ext uri="{FF2B5EF4-FFF2-40B4-BE49-F238E27FC236}">
                <a16:creationId xmlns:a16="http://schemas.microsoft.com/office/drawing/2014/main" id="{9DC8309B-22DC-592A-3D95-15FBDC13D487}"/>
              </a:ext>
            </a:extLst>
          </p:cNvPr>
          <p:cNvPicPr>
            <a:picLocks noChangeAspect="1"/>
          </p:cNvPicPr>
          <p:nvPr/>
        </p:nvPicPr>
        <p:blipFill>
          <a:blip r:embed="rId34"/>
          <a:srcRect l="5884" t="22886" r="3998" b="18237"/>
          <a:stretch>
            <a:fillRect/>
          </a:stretch>
        </p:blipFill>
        <p:spPr>
          <a:xfrm>
            <a:off x="5859963" y="2112737"/>
            <a:ext cx="672204" cy="1284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0" h="21468" extrusionOk="0">
                <a:moveTo>
                  <a:pt x="531" y="115"/>
                </a:moveTo>
                <a:cubicBezTo>
                  <a:pt x="415" y="261"/>
                  <a:pt x="60" y="3352"/>
                  <a:pt x="60" y="4226"/>
                </a:cubicBezTo>
                <a:cubicBezTo>
                  <a:pt x="60" y="4413"/>
                  <a:pt x="292" y="4558"/>
                  <a:pt x="620" y="4558"/>
                </a:cubicBezTo>
                <a:cubicBezTo>
                  <a:pt x="1208" y="4558"/>
                  <a:pt x="1312" y="4802"/>
                  <a:pt x="1206" y="5818"/>
                </a:cubicBezTo>
                <a:cubicBezTo>
                  <a:pt x="1172" y="6144"/>
                  <a:pt x="1067" y="7352"/>
                  <a:pt x="964" y="8537"/>
                </a:cubicBezTo>
                <a:cubicBezTo>
                  <a:pt x="552" y="13282"/>
                  <a:pt x="168" y="17657"/>
                  <a:pt x="85" y="18484"/>
                </a:cubicBezTo>
                <a:cubicBezTo>
                  <a:pt x="-24" y="19570"/>
                  <a:pt x="-30" y="20065"/>
                  <a:pt x="73" y="20274"/>
                </a:cubicBezTo>
                <a:cubicBezTo>
                  <a:pt x="116" y="20364"/>
                  <a:pt x="407" y="20371"/>
                  <a:pt x="722" y="20274"/>
                </a:cubicBezTo>
                <a:cubicBezTo>
                  <a:pt x="1205" y="20126"/>
                  <a:pt x="1317" y="19940"/>
                  <a:pt x="1410" y="19346"/>
                </a:cubicBezTo>
                <a:cubicBezTo>
                  <a:pt x="1470" y="18958"/>
                  <a:pt x="1511" y="18545"/>
                  <a:pt x="1512" y="18351"/>
                </a:cubicBezTo>
                <a:cubicBezTo>
                  <a:pt x="1512" y="18158"/>
                  <a:pt x="1573" y="17411"/>
                  <a:pt x="1639" y="16693"/>
                </a:cubicBezTo>
                <a:cubicBezTo>
                  <a:pt x="1783" y="15126"/>
                  <a:pt x="2133" y="11114"/>
                  <a:pt x="2250" y="9730"/>
                </a:cubicBezTo>
                <a:cubicBezTo>
                  <a:pt x="2297" y="9184"/>
                  <a:pt x="2403" y="7989"/>
                  <a:pt x="2480" y="7078"/>
                </a:cubicBezTo>
                <a:cubicBezTo>
                  <a:pt x="2711" y="4315"/>
                  <a:pt x="2737" y="4194"/>
                  <a:pt x="3346" y="4293"/>
                </a:cubicBezTo>
                <a:cubicBezTo>
                  <a:pt x="3638" y="4340"/>
                  <a:pt x="3892" y="4503"/>
                  <a:pt x="3906" y="4624"/>
                </a:cubicBezTo>
                <a:cubicBezTo>
                  <a:pt x="3920" y="4745"/>
                  <a:pt x="3865" y="5612"/>
                  <a:pt x="3779" y="6547"/>
                </a:cubicBezTo>
                <a:cubicBezTo>
                  <a:pt x="3692" y="7483"/>
                  <a:pt x="3626" y="8333"/>
                  <a:pt x="3626" y="8470"/>
                </a:cubicBezTo>
                <a:cubicBezTo>
                  <a:pt x="3625" y="9195"/>
                  <a:pt x="3288" y="10546"/>
                  <a:pt x="2951" y="11189"/>
                </a:cubicBezTo>
                <a:cubicBezTo>
                  <a:pt x="2535" y="11984"/>
                  <a:pt x="2225" y="13290"/>
                  <a:pt x="2225" y="14240"/>
                </a:cubicBezTo>
                <a:cubicBezTo>
                  <a:pt x="2225" y="14960"/>
                  <a:pt x="2217" y="14984"/>
                  <a:pt x="2658" y="14372"/>
                </a:cubicBezTo>
                <a:cubicBezTo>
                  <a:pt x="2850" y="14107"/>
                  <a:pt x="3028" y="13976"/>
                  <a:pt x="3053" y="14107"/>
                </a:cubicBezTo>
                <a:cubicBezTo>
                  <a:pt x="3078" y="14238"/>
                  <a:pt x="3015" y="15281"/>
                  <a:pt x="2913" y="16428"/>
                </a:cubicBezTo>
                <a:cubicBezTo>
                  <a:pt x="2810" y="17575"/>
                  <a:pt x="2718" y="18898"/>
                  <a:pt x="2696" y="19346"/>
                </a:cubicBezTo>
                <a:lnTo>
                  <a:pt x="2645" y="20142"/>
                </a:lnTo>
                <a:lnTo>
                  <a:pt x="3282" y="20142"/>
                </a:lnTo>
                <a:cubicBezTo>
                  <a:pt x="3627" y="20139"/>
                  <a:pt x="3932" y="20010"/>
                  <a:pt x="3970" y="19876"/>
                </a:cubicBezTo>
                <a:cubicBezTo>
                  <a:pt x="4007" y="19743"/>
                  <a:pt x="4106" y="18931"/>
                  <a:pt x="4186" y="18020"/>
                </a:cubicBezTo>
                <a:cubicBezTo>
                  <a:pt x="4267" y="17108"/>
                  <a:pt x="4395" y="15703"/>
                  <a:pt x="4466" y="14903"/>
                </a:cubicBezTo>
                <a:lnTo>
                  <a:pt x="4594" y="13444"/>
                </a:lnTo>
                <a:lnTo>
                  <a:pt x="5192" y="13643"/>
                </a:lnTo>
                <a:cubicBezTo>
                  <a:pt x="6468" y="14039"/>
                  <a:pt x="7619" y="12127"/>
                  <a:pt x="7828" y="9266"/>
                </a:cubicBezTo>
                <a:cubicBezTo>
                  <a:pt x="7886" y="8477"/>
                  <a:pt x="7904" y="8451"/>
                  <a:pt x="7981" y="9001"/>
                </a:cubicBezTo>
                <a:cubicBezTo>
                  <a:pt x="8096" y="9816"/>
                  <a:pt x="8580" y="9435"/>
                  <a:pt x="8580" y="8537"/>
                </a:cubicBezTo>
                <a:cubicBezTo>
                  <a:pt x="8580" y="7810"/>
                  <a:pt x="8291" y="7423"/>
                  <a:pt x="7994" y="7741"/>
                </a:cubicBezTo>
                <a:cubicBezTo>
                  <a:pt x="7880" y="7863"/>
                  <a:pt x="7581" y="8501"/>
                  <a:pt x="7332" y="9134"/>
                </a:cubicBezTo>
                <a:cubicBezTo>
                  <a:pt x="6807" y="10465"/>
                  <a:pt x="6256" y="10955"/>
                  <a:pt x="5663" y="10659"/>
                </a:cubicBezTo>
                <a:cubicBezTo>
                  <a:pt x="5172" y="10413"/>
                  <a:pt x="4963" y="10055"/>
                  <a:pt x="4963" y="9465"/>
                </a:cubicBezTo>
                <a:cubicBezTo>
                  <a:pt x="4963" y="9228"/>
                  <a:pt x="5056" y="7957"/>
                  <a:pt x="5180" y="6614"/>
                </a:cubicBezTo>
                <a:lnTo>
                  <a:pt x="5409" y="4160"/>
                </a:lnTo>
                <a:lnTo>
                  <a:pt x="6479" y="4359"/>
                </a:lnTo>
                <a:lnTo>
                  <a:pt x="7548" y="4624"/>
                </a:lnTo>
                <a:lnTo>
                  <a:pt x="7727" y="2569"/>
                </a:lnTo>
                <a:cubicBezTo>
                  <a:pt x="7823" y="1451"/>
                  <a:pt x="7878" y="437"/>
                  <a:pt x="7854" y="314"/>
                </a:cubicBezTo>
                <a:cubicBezTo>
                  <a:pt x="7805" y="59"/>
                  <a:pt x="728" y="-132"/>
                  <a:pt x="531" y="115"/>
                </a:cubicBezTo>
                <a:close/>
                <a:moveTo>
                  <a:pt x="10108" y="248"/>
                </a:moveTo>
                <a:cubicBezTo>
                  <a:pt x="9939" y="248"/>
                  <a:pt x="9917" y="374"/>
                  <a:pt x="9917" y="1375"/>
                </a:cubicBezTo>
                <a:cubicBezTo>
                  <a:pt x="9917" y="2648"/>
                  <a:pt x="9870" y="3024"/>
                  <a:pt x="9764" y="2569"/>
                </a:cubicBezTo>
                <a:cubicBezTo>
                  <a:pt x="9724" y="2393"/>
                  <a:pt x="9592" y="2221"/>
                  <a:pt x="9471" y="2171"/>
                </a:cubicBezTo>
                <a:cubicBezTo>
                  <a:pt x="9290" y="2094"/>
                  <a:pt x="9255" y="2220"/>
                  <a:pt x="9255" y="2768"/>
                </a:cubicBezTo>
                <a:cubicBezTo>
                  <a:pt x="9255" y="3159"/>
                  <a:pt x="9329" y="3569"/>
                  <a:pt x="9433" y="3829"/>
                </a:cubicBezTo>
                <a:cubicBezTo>
                  <a:pt x="9529" y="4069"/>
                  <a:pt x="9599" y="4571"/>
                  <a:pt x="9599" y="4890"/>
                </a:cubicBezTo>
                <a:cubicBezTo>
                  <a:pt x="9599" y="5208"/>
                  <a:pt x="9634" y="5603"/>
                  <a:pt x="9675" y="5818"/>
                </a:cubicBezTo>
                <a:cubicBezTo>
                  <a:pt x="9779" y="6357"/>
                  <a:pt x="9577" y="7572"/>
                  <a:pt x="9395" y="7476"/>
                </a:cubicBezTo>
                <a:cubicBezTo>
                  <a:pt x="9269" y="7409"/>
                  <a:pt x="9252" y="7607"/>
                  <a:pt x="9191" y="10526"/>
                </a:cubicBezTo>
                <a:cubicBezTo>
                  <a:pt x="9155" y="12258"/>
                  <a:pt x="9104" y="13881"/>
                  <a:pt x="9077" y="14107"/>
                </a:cubicBezTo>
                <a:cubicBezTo>
                  <a:pt x="9010" y="14665"/>
                  <a:pt x="8754" y="13834"/>
                  <a:pt x="8656" y="12715"/>
                </a:cubicBezTo>
                <a:cubicBezTo>
                  <a:pt x="8613" y="12218"/>
                  <a:pt x="8533" y="11852"/>
                  <a:pt x="8453" y="11852"/>
                </a:cubicBezTo>
                <a:cubicBezTo>
                  <a:pt x="8334" y="11852"/>
                  <a:pt x="8322" y="12055"/>
                  <a:pt x="8338" y="13378"/>
                </a:cubicBezTo>
                <a:cubicBezTo>
                  <a:pt x="8348" y="14218"/>
                  <a:pt x="8317" y="15010"/>
                  <a:pt x="8274" y="15234"/>
                </a:cubicBezTo>
                <a:cubicBezTo>
                  <a:pt x="8136" y="15954"/>
                  <a:pt x="8197" y="16498"/>
                  <a:pt x="8440" y="16693"/>
                </a:cubicBezTo>
                <a:cubicBezTo>
                  <a:pt x="8758" y="16950"/>
                  <a:pt x="9560" y="17828"/>
                  <a:pt x="9955" y="18351"/>
                </a:cubicBezTo>
                <a:cubicBezTo>
                  <a:pt x="10130" y="18583"/>
                  <a:pt x="10336" y="18792"/>
                  <a:pt x="10414" y="18815"/>
                </a:cubicBezTo>
                <a:cubicBezTo>
                  <a:pt x="10632" y="18880"/>
                  <a:pt x="11390" y="17486"/>
                  <a:pt x="11611" y="16627"/>
                </a:cubicBezTo>
                <a:cubicBezTo>
                  <a:pt x="11719" y="16206"/>
                  <a:pt x="11859" y="15831"/>
                  <a:pt x="11917" y="15831"/>
                </a:cubicBezTo>
                <a:cubicBezTo>
                  <a:pt x="12051" y="15831"/>
                  <a:pt x="12049" y="15300"/>
                  <a:pt x="11917" y="15036"/>
                </a:cubicBezTo>
                <a:cubicBezTo>
                  <a:pt x="11861" y="14925"/>
                  <a:pt x="11604" y="14837"/>
                  <a:pt x="11331" y="14837"/>
                </a:cubicBezTo>
                <a:cubicBezTo>
                  <a:pt x="10667" y="14837"/>
                  <a:pt x="10662" y="14791"/>
                  <a:pt x="10656" y="9730"/>
                </a:cubicBezTo>
                <a:lnTo>
                  <a:pt x="10643" y="5752"/>
                </a:lnTo>
                <a:lnTo>
                  <a:pt x="10452" y="5420"/>
                </a:lnTo>
                <a:cubicBezTo>
                  <a:pt x="10346" y="5238"/>
                  <a:pt x="10253" y="4939"/>
                  <a:pt x="10248" y="4757"/>
                </a:cubicBezTo>
                <a:cubicBezTo>
                  <a:pt x="10243" y="4575"/>
                  <a:pt x="10354" y="3784"/>
                  <a:pt x="10490" y="3033"/>
                </a:cubicBezTo>
                <a:cubicBezTo>
                  <a:pt x="10626" y="2281"/>
                  <a:pt x="10717" y="1503"/>
                  <a:pt x="10694" y="1309"/>
                </a:cubicBezTo>
                <a:cubicBezTo>
                  <a:pt x="10634" y="804"/>
                  <a:pt x="10327" y="248"/>
                  <a:pt x="10108" y="248"/>
                </a:cubicBezTo>
                <a:close/>
                <a:moveTo>
                  <a:pt x="15623" y="579"/>
                </a:moveTo>
                <a:cubicBezTo>
                  <a:pt x="15490" y="579"/>
                  <a:pt x="15474" y="819"/>
                  <a:pt x="15444" y="2966"/>
                </a:cubicBezTo>
                <a:cubicBezTo>
                  <a:pt x="15424" y="4459"/>
                  <a:pt x="15371" y="5501"/>
                  <a:pt x="15304" y="5884"/>
                </a:cubicBezTo>
                <a:cubicBezTo>
                  <a:pt x="15247" y="6213"/>
                  <a:pt x="15202" y="6545"/>
                  <a:pt x="15202" y="6680"/>
                </a:cubicBezTo>
                <a:cubicBezTo>
                  <a:pt x="15202" y="6815"/>
                  <a:pt x="15137" y="7409"/>
                  <a:pt x="15049" y="8006"/>
                </a:cubicBezTo>
                <a:cubicBezTo>
                  <a:pt x="14962" y="8604"/>
                  <a:pt x="14884" y="9470"/>
                  <a:pt x="14884" y="9863"/>
                </a:cubicBezTo>
                <a:cubicBezTo>
                  <a:pt x="14884" y="10438"/>
                  <a:pt x="14920" y="10526"/>
                  <a:pt x="15075" y="10526"/>
                </a:cubicBezTo>
                <a:cubicBezTo>
                  <a:pt x="15182" y="10526"/>
                  <a:pt x="15285" y="10731"/>
                  <a:pt x="15304" y="10990"/>
                </a:cubicBezTo>
                <a:cubicBezTo>
                  <a:pt x="15347" y="11568"/>
                  <a:pt x="15203" y="13130"/>
                  <a:pt x="15024" y="13975"/>
                </a:cubicBezTo>
                <a:cubicBezTo>
                  <a:pt x="14950" y="14321"/>
                  <a:pt x="14884" y="14943"/>
                  <a:pt x="14884" y="15301"/>
                </a:cubicBezTo>
                <a:cubicBezTo>
                  <a:pt x="14884" y="15841"/>
                  <a:pt x="14917" y="15877"/>
                  <a:pt x="15062" y="15699"/>
                </a:cubicBezTo>
                <a:cubicBezTo>
                  <a:pt x="15435" y="15242"/>
                  <a:pt x="15432" y="15211"/>
                  <a:pt x="15432" y="17158"/>
                </a:cubicBezTo>
                <a:cubicBezTo>
                  <a:pt x="15432" y="18876"/>
                  <a:pt x="15441" y="18986"/>
                  <a:pt x="15597" y="19081"/>
                </a:cubicBezTo>
                <a:cubicBezTo>
                  <a:pt x="15729" y="19160"/>
                  <a:pt x="15773" y="19023"/>
                  <a:pt x="15826" y="18285"/>
                </a:cubicBezTo>
                <a:cubicBezTo>
                  <a:pt x="15863" y="17774"/>
                  <a:pt x="15901" y="16789"/>
                  <a:pt x="15903" y="16097"/>
                </a:cubicBezTo>
                <a:cubicBezTo>
                  <a:pt x="15905" y="15404"/>
                  <a:pt x="15920" y="14681"/>
                  <a:pt x="15941" y="14505"/>
                </a:cubicBezTo>
                <a:cubicBezTo>
                  <a:pt x="15997" y="14033"/>
                  <a:pt x="16094" y="14452"/>
                  <a:pt x="16094" y="15168"/>
                </a:cubicBezTo>
                <a:cubicBezTo>
                  <a:pt x="16094" y="15552"/>
                  <a:pt x="16148" y="15832"/>
                  <a:pt x="16234" y="15898"/>
                </a:cubicBezTo>
                <a:cubicBezTo>
                  <a:pt x="16413" y="16034"/>
                  <a:pt x="16489" y="17447"/>
                  <a:pt x="16438" y="19744"/>
                </a:cubicBezTo>
                <a:cubicBezTo>
                  <a:pt x="16399" y="21444"/>
                  <a:pt x="16406" y="21468"/>
                  <a:pt x="16565" y="21468"/>
                </a:cubicBezTo>
                <a:cubicBezTo>
                  <a:pt x="16692" y="21468"/>
                  <a:pt x="16738" y="21265"/>
                  <a:pt x="16769" y="20540"/>
                </a:cubicBezTo>
                <a:cubicBezTo>
                  <a:pt x="16796" y="19888"/>
                  <a:pt x="16908" y="19251"/>
                  <a:pt x="17151" y="18418"/>
                </a:cubicBezTo>
                <a:lnTo>
                  <a:pt x="17495" y="17224"/>
                </a:lnTo>
                <a:lnTo>
                  <a:pt x="17928" y="18351"/>
                </a:lnTo>
                <a:cubicBezTo>
                  <a:pt x="18406" y="19607"/>
                  <a:pt x="18394" y="19608"/>
                  <a:pt x="18513" y="19213"/>
                </a:cubicBezTo>
                <a:cubicBezTo>
                  <a:pt x="18651" y="18760"/>
                  <a:pt x="18532" y="17636"/>
                  <a:pt x="18272" y="16826"/>
                </a:cubicBezTo>
                <a:cubicBezTo>
                  <a:pt x="17806" y="15377"/>
                  <a:pt x="17773" y="15069"/>
                  <a:pt x="17788" y="12715"/>
                </a:cubicBezTo>
                <a:cubicBezTo>
                  <a:pt x="17797" y="11112"/>
                  <a:pt x="17840" y="10330"/>
                  <a:pt x="17940" y="9664"/>
                </a:cubicBezTo>
                <a:cubicBezTo>
                  <a:pt x="18014" y="9175"/>
                  <a:pt x="18068" y="8437"/>
                  <a:pt x="18068" y="8006"/>
                </a:cubicBezTo>
                <a:cubicBezTo>
                  <a:pt x="18068" y="7360"/>
                  <a:pt x="18044" y="7211"/>
                  <a:pt x="17889" y="7211"/>
                </a:cubicBezTo>
                <a:cubicBezTo>
                  <a:pt x="17786" y="7211"/>
                  <a:pt x="17682" y="7357"/>
                  <a:pt x="17660" y="7542"/>
                </a:cubicBezTo>
                <a:cubicBezTo>
                  <a:pt x="17638" y="7727"/>
                  <a:pt x="17583" y="7795"/>
                  <a:pt x="17546" y="7675"/>
                </a:cubicBezTo>
                <a:cubicBezTo>
                  <a:pt x="17500" y="7528"/>
                  <a:pt x="17493" y="6398"/>
                  <a:pt x="17520" y="4226"/>
                </a:cubicBezTo>
                <a:cubicBezTo>
                  <a:pt x="17546" y="2166"/>
                  <a:pt x="17535" y="909"/>
                  <a:pt x="17495" y="778"/>
                </a:cubicBezTo>
                <a:cubicBezTo>
                  <a:pt x="17384" y="420"/>
                  <a:pt x="17184" y="931"/>
                  <a:pt x="17164" y="1640"/>
                </a:cubicBezTo>
                <a:cubicBezTo>
                  <a:pt x="17150" y="2094"/>
                  <a:pt x="17063" y="2470"/>
                  <a:pt x="16896" y="2768"/>
                </a:cubicBezTo>
                <a:cubicBezTo>
                  <a:pt x="16595" y="3305"/>
                  <a:pt x="16540" y="3177"/>
                  <a:pt x="16540" y="1905"/>
                </a:cubicBezTo>
                <a:cubicBezTo>
                  <a:pt x="16540" y="1100"/>
                  <a:pt x="16512" y="911"/>
                  <a:pt x="16387" y="911"/>
                </a:cubicBezTo>
                <a:cubicBezTo>
                  <a:pt x="16133" y="911"/>
                  <a:pt x="16056" y="1774"/>
                  <a:pt x="16145" y="3497"/>
                </a:cubicBezTo>
                <a:cubicBezTo>
                  <a:pt x="16201" y="4591"/>
                  <a:pt x="16209" y="5113"/>
                  <a:pt x="16157" y="5619"/>
                </a:cubicBezTo>
                <a:cubicBezTo>
                  <a:pt x="16046" y="6699"/>
                  <a:pt x="15909" y="5713"/>
                  <a:pt x="15877" y="3563"/>
                </a:cubicBezTo>
                <a:cubicBezTo>
                  <a:pt x="15842" y="1176"/>
                  <a:pt x="15796" y="579"/>
                  <a:pt x="15623" y="579"/>
                </a:cubicBezTo>
                <a:close/>
                <a:moveTo>
                  <a:pt x="13254" y="712"/>
                </a:moveTo>
                <a:cubicBezTo>
                  <a:pt x="12917" y="383"/>
                  <a:pt x="12559" y="2006"/>
                  <a:pt x="12795" y="2768"/>
                </a:cubicBezTo>
                <a:cubicBezTo>
                  <a:pt x="12832" y="2886"/>
                  <a:pt x="12846" y="3167"/>
                  <a:pt x="12834" y="3364"/>
                </a:cubicBezTo>
                <a:cubicBezTo>
                  <a:pt x="12800" y="3889"/>
                  <a:pt x="12528" y="3883"/>
                  <a:pt x="12490" y="3364"/>
                </a:cubicBezTo>
                <a:cubicBezTo>
                  <a:pt x="12443" y="2726"/>
                  <a:pt x="12067" y="2809"/>
                  <a:pt x="11904" y="3497"/>
                </a:cubicBezTo>
                <a:cubicBezTo>
                  <a:pt x="11736" y="4207"/>
                  <a:pt x="11600" y="8504"/>
                  <a:pt x="11713" y="9598"/>
                </a:cubicBezTo>
                <a:cubicBezTo>
                  <a:pt x="11819" y="10628"/>
                  <a:pt x="12215" y="10326"/>
                  <a:pt x="12324" y="9134"/>
                </a:cubicBezTo>
                <a:cubicBezTo>
                  <a:pt x="12421" y="8072"/>
                  <a:pt x="12512" y="8038"/>
                  <a:pt x="12719" y="8868"/>
                </a:cubicBezTo>
                <a:lnTo>
                  <a:pt x="12872" y="9465"/>
                </a:lnTo>
                <a:lnTo>
                  <a:pt x="12630" y="10990"/>
                </a:lnTo>
                <a:cubicBezTo>
                  <a:pt x="12438" y="12300"/>
                  <a:pt x="12419" y="12685"/>
                  <a:pt x="12477" y="13245"/>
                </a:cubicBezTo>
                <a:cubicBezTo>
                  <a:pt x="12532" y="13785"/>
                  <a:pt x="12520" y="14045"/>
                  <a:pt x="12413" y="14638"/>
                </a:cubicBezTo>
                <a:cubicBezTo>
                  <a:pt x="12340" y="15042"/>
                  <a:pt x="12273" y="15820"/>
                  <a:pt x="12273" y="16296"/>
                </a:cubicBezTo>
                <a:cubicBezTo>
                  <a:pt x="12273" y="17350"/>
                  <a:pt x="12552" y="19085"/>
                  <a:pt x="12744" y="19280"/>
                </a:cubicBezTo>
                <a:cubicBezTo>
                  <a:pt x="12822" y="19358"/>
                  <a:pt x="13025" y="19454"/>
                  <a:pt x="13203" y="19479"/>
                </a:cubicBezTo>
                <a:cubicBezTo>
                  <a:pt x="13524" y="19523"/>
                  <a:pt x="13534" y="19490"/>
                  <a:pt x="13954" y="17224"/>
                </a:cubicBezTo>
                <a:cubicBezTo>
                  <a:pt x="14188" y="15965"/>
                  <a:pt x="14374" y="14803"/>
                  <a:pt x="14374" y="14638"/>
                </a:cubicBezTo>
                <a:cubicBezTo>
                  <a:pt x="14374" y="13880"/>
                  <a:pt x="14191" y="13145"/>
                  <a:pt x="13929" y="12914"/>
                </a:cubicBezTo>
                <a:cubicBezTo>
                  <a:pt x="13690" y="12703"/>
                  <a:pt x="13642" y="12530"/>
                  <a:pt x="13623" y="11852"/>
                </a:cubicBezTo>
                <a:cubicBezTo>
                  <a:pt x="13611" y="11406"/>
                  <a:pt x="13547" y="10893"/>
                  <a:pt x="13483" y="10659"/>
                </a:cubicBezTo>
                <a:cubicBezTo>
                  <a:pt x="13380" y="10284"/>
                  <a:pt x="13383" y="10077"/>
                  <a:pt x="13458" y="9333"/>
                </a:cubicBezTo>
                <a:cubicBezTo>
                  <a:pt x="13556" y="8344"/>
                  <a:pt x="13891" y="7023"/>
                  <a:pt x="14362" y="5752"/>
                </a:cubicBezTo>
                <a:cubicBezTo>
                  <a:pt x="14930" y="4217"/>
                  <a:pt x="14780" y="2900"/>
                  <a:pt x="14031" y="2900"/>
                </a:cubicBezTo>
                <a:cubicBezTo>
                  <a:pt x="13621" y="2900"/>
                  <a:pt x="13611" y="2930"/>
                  <a:pt x="13547" y="1972"/>
                </a:cubicBezTo>
                <a:cubicBezTo>
                  <a:pt x="13496" y="1217"/>
                  <a:pt x="13421" y="875"/>
                  <a:pt x="13254" y="712"/>
                </a:cubicBezTo>
                <a:close/>
                <a:moveTo>
                  <a:pt x="19940" y="1242"/>
                </a:moveTo>
                <a:cubicBezTo>
                  <a:pt x="19804" y="1264"/>
                  <a:pt x="19629" y="1515"/>
                  <a:pt x="19481" y="1972"/>
                </a:cubicBezTo>
                <a:cubicBezTo>
                  <a:pt x="18580" y="4768"/>
                  <a:pt x="18433" y="5479"/>
                  <a:pt x="18361" y="7542"/>
                </a:cubicBezTo>
                <a:cubicBezTo>
                  <a:pt x="18329" y="8443"/>
                  <a:pt x="18348" y="8925"/>
                  <a:pt x="18450" y="9598"/>
                </a:cubicBezTo>
                <a:cubicBezTo>
                  <a:pt x="18522" y="10077"/>
                  <a:pt x="18576" y="10978"/>
                  <a:pt x="18577" y="11587"/>
                </a:cubicBezTo>
                <a:cubicBezTo>
                  <a:pt x="18580" y="12941"/>
                  <a:pt x="18933" y="15131"/>
                  <a:pt x="19201" y="15500"/>
                </a:cubicBezTo>
                <a:cubicBezTo>
                  <a:pt x="19321" y="15664"/>
                  <a:pt x="19411" y="16126"/>
                  <a:pt x="19481" y="16892"/>
                </a:cubicBezTo>
                <a:cubicBezTo>
                  <a:pt x="19628" y="18491"/>
                  <a:pt x="19715" y="18802"/>
                  <a:pt x="20080" y="18948"/>
                </a:cubicBezTo>
                <a:cubicBezTo>
                  <a:pt x="20719" y="19205"/>
                  <a:pt x="20787" y="19151"/>
                  <a:pt x="20908" y="18683"/>
                </a:cubicBezTo>
                <a:cubicBezTo>
                  <a:pt x="21020" y="18248"/>
                  <a:pt x="21025" y="18172"/>
                  <a:pt x="20933" y="17688"/>
                </a:cubicBezTo>
                <a:cubicBezTo>
                  <a:pt x="20875" y="17378"/>
                  <a:pt x="20662" y="17029"/>
                  <a:pt x="20424" y="16892"/>
                </a:cubicBezTo>
                <a:cubicBezTo>
                  <a:pt x="19929" y="16608"/>
                  <a:pt x="19851" y="15944"/>
                  <a:pt x="20195" y="14837"/>
                </a:cubicBezTo>
                <a:cubicBezTo>
                  <a:pt x="20319" y="14436"/>
                  <a:pt x="20424" y="14049"/>
                  <a:pt x="20424" y="13908"/>
                </a:cubicBezTo>
                <a:cubicBezTo>
                  <a:pt x="20424" y="13767"/>
                  <a:pt x="20526" y="12918"/>
                  <a:pt x="20653" y="12051"/>
                </a:cubicBezTo>
                <a:cubicBezTo>
                  <a:pt x="20900" y="10366"/>
                  <a:pt x="20890" y="10070"/>
                  <a:pt x="20551" y="9664"/>
                </a:cubicBezTo>
                <a:cubicBezTo>
                  <a:pt x="20227" y="9276"/>
                  <a:pt x="20236" y="9332"/>
                  <a:pt x="20322" y="7807"/>
                </a:cubicBezTo>
                <a:cubicBezTo>
                  <a:pt x="20397" y="6468"/>
                  <a:pt x="20409" y="6437"/>
                  <a:pt x="20615" y="6481"/>
                </a:cubicBezTo>
                <a:cubicBezTo>
                  <a:pt x="20736" y="6507"/>
                  <a:pt x="20963" y="6612"/>
                  <a:pt x="21112" y="6746"/>
                </a:cubicBezTo>
                <a:cubicBezTo>
                  <a:pt x="21444" y="7048"/>
                  <a:pt x="21570" y="6588"/>
                  <a:pt x="21570" y="5088"/>
                </a:cubicBezTo>
                <a:cubicBezTo>
                  <a:pt x="21570" y="3771"/>
                  <a:pt x="21466" y="3263"/>
                  <a:pt x="21137" y="3033"/>
                </a:cubicBezTo>
                <a:cubicBezTo>
                  <a:pt x="20903" y="2869"/>
                  <a:pt x="20296" y="3561"/>
                  <a:pt x="20029" y="4293"/>
                </a:cubicBezTo>
                <a:cubicBezTo>
                  <a:pt x="19853" y="4775"/>
                  <a:pt x="19846" y="4064"/>
                  <a:pt x="20016" y="3232"/>
                </a:cubicBezTo>
                <a:cubicBezTo>
                  <a:pt x="20103" y="2809"/>
                  <a:pt x="20169" y="2238"/>
                  <a:pt x="20169" y="1905"/>
                </a:cubicBezTo>
                <a:cubicBezTo>
                  <a:pt x="20169" y="1472"/>
                  <a:pt x="20076" y="1221"/>
                  <a:pt x="19940" y="1242"/>
                </a:cubicBezTo>
                <a:close/>
                <a:moveTo>
                  <a:pt x="13903" y="3696"/>
                </a:moveTo>
                <a:cubicBezTo>
                  <a:pt x="13992" y="3872"/>
                  <a:pt x="13957" y="4202"/>
                  <a:pt x="13687" y="5553"/>
                </a:cubicBezTo>
                <a:cubicBezTo>
                  <a:pt x="13371" y="7127"/>
                  <a:pt x="13102" y="7705"/>
                  <a:pt x="13012" y="6945"/>
                </a:cubicBezTo>
                <a:cubicBezTo>
                  <a:pt x="12973" y="6616"/>
                  <a:pt x="13270" y="5221"/>
                  <a:pt x="13381" y="5221"/>
                </a:cubicBezTo>
                <a:cubicBezTo>
                  <a:pt x="13418" y="5221"/>
                  <a:pt x="13527" y="4838"/>
                  <a:pt x="13623" y="4359"/>
                </a:cubicBezTo>
                <a:cubicBezTo>
                  <a:pt x="13736" y="3794"/>
                  <a:pt x="13833" y="3556"/>
                  <a:pt x="13903" y="3696"/>
                </a:cubicBezTo>
                <a:close/>
                <a:moveTo>
                  <a:pt x="16043" y="10128"/>
                </a:moveTo>
                <a:cubicBezTo>
                  <a:pt x="16104" y="10444"/>
                  <a:pt x="16094" y="10653"/>
                  <a:pt x="16030" y="11057"/>
                </a:cubicBezTo>
                <a:cubicBezTo>
                  <a:pt x="15872" y="12048"/>
                  <a:pt x="15730" y="11364"/>
                  <a:pt x="15877" y="10327"/>
                </a:cubicBezTo>
                <a:cubicBezTo>
                  <a:pt x="15947" y="9835"/>
                  <a:pt x="15982" y="9815"/>
                  <a:pt x="16043" y="10128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0" name="图像" descr="图像">
            <a:extLst>
              <a:ext uri="{FF2B5EF4-FFF2-40B4-BE49-F238E27FC236}">
                <a16:creationId xmlns:a16="http://schemas.microsoft.com/office/drawing/2014/main" id="{E2D7CF9D-49E5-B327-04F1-B6A9FDDE7667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480644" y="2464862"/>
            <a:ext cx="646558" cy="152798"/>
          </a:xfrm>
          <a:prstGeom prst="rect">
            <a:avLst/>
          </a:prstGeom>
          <a:ln w="12700">
            <a:miter lim="400000"/>
          </a:ln>
        </p:spPr>
      </p:pic>
      <p:pic>
        <p:nvPicPr>
          <p:cNvPr id="71" name="图像" descr="图像">
            <a:extLst>
              <a:ext uri="{FF2B5EF4-FFF2-40B4-BE49-F238E27FC236}">
                <a16:creationId xmlns:a16="http://schemas.microsoft.com/office/drawing/2014/main" id="{482A1305-D556-711F-8923-8111C9BF0F0B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036673" y="1817131"/>
            <a:ext cx="585272" cy="194897"/>
          </a:xfrm>
          <a:prstGeom prst="rect">
            <a:avLst/>
          </a:prstGeom>
          <a:ln w="12700">
            <a:miter lim="400000"/>
          </a:ln>
        </p:spPr>
      </p:pic>
      <p:pic>
        <p:nvPicPr>
          <p:cNvPr id="72" name="图像" descr="图像">
            <a:extLst>
              <a:ext uri="{FF2B5EF4-FFF2-40B4-BE49-F238E27FC236}">
                <a16:creationId xmlns:a16="http://schemas.microsoft.com/office/drawing/2014/main" id="{750733ED-69C8-1880-8B1F-1BB9B0D89C17}"/>
              </a:ext>
            </a:extLst>
          </p:cNvPr>
          <p:cNvPicPr>
            <a:picLocks noChangeAspect="1"/>
          </p:cNvPicPr>
          <p:nvPr/>
        </p:nvPicPr>
        <p:blipFill>
          <a:blip r:embed="rId37"/>
          <a:srcRect l="27684" t="34270" r="28142" b="34717"/>
          <a:stretch>
            <a:fillRect/>
          </a:stretch>
        </p:blipFill>
        <p:spPr>
          <a:xfrm>
            <a:off x="3700686" y="2262566"/>
            <a:ext cx="537397" cy="2667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1" h="21365" extrusionOk="0">
                <a:moveTo>
                  <a:pt x="18425" y="9"/>
                </a:moveTo>
                <a:cubicBezTo>
                  <a:pt x="17995" y="54"/>
                  <a:pt x="17822" y="158"/>
                  <a:pt x="17421" y="549"/>
                </a:cubicBezTo>
                <a:cubicBezTo>
                  <a:pt x="17157" y="807"/>
                  <a:pt x="16878" y="1124"/>
                  <a:pt x="16800" y="1249"/>
                </a:cubicBezTo>
                <a:cubicBezTo>
                  <a:pt x="16660" y="1469"/>
                  <a:pt x="16671" y="1471"/>
                  <a:pt x="17278" y="1471"/>
                </a:cubicBezTo>
                <a:cubicBezTo>
                  <a:pt x="17840" y="1471"/>
                  <a:pt x="17934" y="1507"/>
                  <a:pt x="18202" y="1821"/>
                </a:cubicBezTo>
                <a:cubicBezTo>
                  <a:pt x="18619" y="2310"/>
                  <a:pt x="19062" y="3317"/>
                  <a:pt x="19222" y="4173"/>
                </a:cubicBezTo>
                <a:cubicBezTo>
                  <a:pt x="19388" y="5056"/>
                  <a:pt x="19495" y="6126"/>
                  <a:pt x="19429" y="6239"/>
                </a:cubicBezTo>
                <a:cubicBezTo>
                  <a:pt x="19403" y="6285"/>
                  <a:pt x="19137" y="6407"/>
                  <a:pt x="18840" y="6493"/>
                </a:cubicBezTo>
                <a:cubicBezTo>
                  <a:pt x="17294" y="6945"/>
                  <a:pt x="16274" y="8650"/>
                  <a:pt x="16274" y="10785"/>
                </a:cubicBezTo>
                <a:cubicBezTo>
                  <a:pt x="16274" y="12418"/>
                  <a:pt x="16837" y="13491"/>
                  <a:pt x="17899" y="13900"/>
                </a:cubicBezTo>
                <a:cubicBezTo>
                  <a:pt x="18110" y="13980"/>
                  <a:pt x="18304" y="14108"/>
                  <a:pt x="18330" y="14154"/>
                </a:cubicBezTo>
                <a:cubicBezTo>
                  <a:pt x="18413" y="14300"/>
                  <a:pt x="17586" y="16262"/>
                  <a:pt x="17134" y="16983"/>
                </a:cubicBezTo>
                <a:cubicBezTo>
                  <a:pt x="16348" y="18237"/>
                  <a:pt x="15721" y="18784"/>
                  <a:pt x="15030" y="18795"/>
                </a:cubicBezTo>
                <a:cubicBezTo>
                  <a:pt x="14346" y="18805"/>
                  <a:pt x="13751" y="18183"/>
                  <a:pt x="13373" y="17110"/>
                </a:cubicBezTo>
                <a:cubicBezTo>
                  <a:pt x="13133" y="16430"/>
                  <a:pt x="13084" y="16624"/>
                  <a:pt x="13198" y="17777"/>
                </a:cubicBezTo>
                <a:cubicBezTo>
                  <a:pt x="13395" y="19781"/>
                  <a:pt x="13911" y="20982"/>
                  <a:pt x="14680" y="21306"/>
                </a:cubicBezTo>
                <a:cubicBezTo>
                  <a:pt x="15192" y="21521"/>
                  <a:pt x="15929" y="21143"/>
                  <a:pt x="16608" y="20320"/>
                </a:cubicBezTo>
                <a:cubicBezTo>
                  <a:pt x="17399" y="19363"/>
                  <a:pt x="18502" y="16944"/>
                  <a:pt x="19063" y="14948"/>
                </a:cubicBezTo>
                <a:cubicBezTo>
                  <a:pt x="19261" y="14244"/>
                  <a:pt x="19316" y="14155"/>
                  <a:pt x="19525" y="14090"/>
                </a:cubicBezTo>
                <a:cubicBezTo>
                  <a:pt x="19962" y="13956"/>
                  <a:pt x="20457" y="13773"/>
                  <a:pt x="20465" y="13741"/>
                </a:cubicBezTo>
                <a:cubicBezTo>
                  <a:pt x="20528" y="13493"/>
                  <a:pt x="20795" y="12049"/>
                  <a:pt x="20784" y="12024"/>
                </a:cubicBezTo>
                <a:cubicBezTo>
                  <a:pt x="20776" y="12006"/>
                  <a:pt x="20636" y="12074"/>
                  <a:pt x="20481" y="12183"/>
                </a:cubicBezTo>
                <a:cubicBezTo>
                  <a:pt x="20326" y="12292"/>
                  <a:pt x="19997" y="12428"/>
                  <a:pt x="19732" y="12469"/>
                </a:cubicBezTo>
                <a:cubicBezTo>
                  <a:pt x="18236" y="12701"/>
                  <a:pt x="17618" y="10691"/>
                  <a:pt x="18632" y="8909"/>
                </a:cubicBezTo>
                <a:cubicBezTo>
                  <a:pt x="18800" y="8616"/>
                  <a:pt x="19052" y="8320"/>
                  <a:pt x="19238" y="8210"/>
                </a:cubicBezTo>
                <a:cubicBezTo>
                  <a:pt x="19650" y="7966"/>
                  <a:pt x="20453" y="7990"/>
                  <a:pt x="20784" y="8242"/>
                </a:cubicBezTo>
                <a:cubicBezTo>
                  <a:pt x="21178" y="8541"/>
                  <a:pt x="21186" y="8522"/>
                  <a:pt x="21390" y="7670"/>
                </a:cubicBezTo>
                <a:lnTo>
                  <a:pt x="21581" y="6875"/>
                </a:lnTo>
                <a:lnTo>
                  <a:pt x="21438" y="6748"/>
                </a:lnTo>
                <a:cubicBezTo>
                  <a:pt x="21356" y="6686"/>
                  <a:pt x="21148" y="6607"/>
                  <a:pt x="20975" y="6557"/>
                </a:cubicBezTo>
                <a:cubicBezTo>
                  <a:pt x="20803" y="6507"/>
                  <a:pt x="20621" y="6404"/>
                  <a:pt x="20577" y="6334"/>
                </a:cubicBezTo>
                <a:cubicBezTo>
                  <a:pt x="20528" y="6257"/>
                  <a:pt x="20497" y="5883"/>
                  <a:pt x="20497" y="5381"/>
                </a:cubicBezTo>
                <a:cubicBezTo>
                  <a:pt x="20497" y="4308"/>
                  <a:pt x="20324" y="2774"/>
                  <a:pt x="20131" y="2012"/>
                </a:cubicBezTo>
                <a:cubicBezTo>
                  <a:pt x="19747" y="503"/>
                  <a:pt x="19265" y="-79"/>
                  <a:pt x="18425" y="9"/>
                </a:cubicBezTo>
                <a:close/>
                <a:moveTo>
                  <a:pt x="6360" y="6493"/>
                </a:moveTo>
                <a:lnTo>
                  <a:pt x="6265" y="6907"/>
                </a:lnTo>
                <a:cubicBezTo>
                  <a:pt x="6213" y="7135"/>
                  <a:pt x="5909" y="8520"/>
                  <a:pt x="5595" y="9958"/>
                </a:cubicBezTo>
                <a:cubicBezTo>
                  <a:pt x="5282" y="11396"/>
                  <a:pt x="4955" y="12913"/>
                  <a:pt x="4862" y="13327"/>
                </a:cubicBezTo>
                <a:lnTo>
                  <a:pt x="4687" y="14058"/>
                </a:lnTo>
                <a:lnTo>
                  <a:pt x="5133" y="13995"/>
                </a:lnTo>
                <a:cubicBezTo>
                  <a:pt x="5372" y="13950"/>
                  <a:pt x="5704" y="13900"/>
                  <a:pt x="5882" y="13900"/>
                </a:cubicBezTo>
                <a:lnTo>
                  <a:pt x="6217" y="13900"/>
                </a:lnTo>
                <a:lnTo>
                  <a:pt x="6743" y="11198"/>
                </a:lnTo>
                <a:cubicBezTo>
                  <a:pt x="7037" y="9720"/>
                  <a:pt x="7304" y="8499"/>
                  <a:pt x="7332" y="8464"/>
                </a:cubicBezTo>
                <a:cubicBezTo>
                  <a:pt x="7417" y="8360"/>
                  <a:pt x="7441" y="8611"/>
                  <a:pt x="7540" y="11325"/>
                </a:cubicBezTo>
                <a:cubicBezTo>
                  <a:pt x="7592" y="12752"/>
                  <a:pt x="7649" y="13960"/>
                  <a:pt x="7667" y="13995"/>
                </a:cubicBezTo>
                <a:cubicBezTo>
                  <a:pt x="7685" y="14030"/>
                  <a:pt x="8009" y="14014"/>
                  <a:pt x="8400" y="13963"/>
                </a:cubicBezTo>
                <a:lnTo>
                  <a:pt x="9118" y="13868"/>
                </a:lnTo>
                <a:lnTo>
                  <a:pt x="9516" y="12819"/>
                </a:lnTo>
                <a:cubicBezTo>
                  <a:pt x="10535" y="10137"/>
                  <a:pt x="11114" y="8790"/>
                  <a:pt x="11174" y="8909"/>
                </a:cubicBezTo>
                <a:cubicBezTo>
                  <a:pt x="11214" y="8990"/>
                  <a:pt x="11091" y="9850"/>
                  <a:pt x="10839" y="11420"/>
                </a:cubicBezTo>
                <a:cubicBezTo>
                  <a:pt x="10625" y="12749"/>
                  <a:pt x="10456" y="13905"/>
                  <a:pt x="10456" y="13963"/>
                </a:cubicBezTo>
                <a:cubicBezTo>
                  <a:pt x="10456" y="14060"/>
                  <a:pt x="12111" y="13936"/>
                  <a:pt x="12162" y="13836"/>
                </a:cubicBezTo>
                <a:cubicBezTo>
                  <a:pt x="12174" y="13812"/>
                  <a:pt x="12340" y="12598"/>
                  <a:pt x="12528" y="11134"/>
                </a:cubicBezTo>
                <a:cubicBezTo>
                  <a:pt x="12717" y="9670"/>
                  <a:pt x="12933" y="8035"/>
                  <a:pt x="13006" y="7511"/>
                </a:cubicBezTo>
                <a:cubicBezTo>
                  <a:pt x="13080" y="6986"/>
                  <a:pt x="13134" y="6544"/>
                  <a:pt x="13134" y="6525"/>
                </a:cubicBezTo>
                <a:cubicBezTo>
                  <a:pt x="13134" y="6506"/>
                  <a:pt x="12603" y="6493"/>
                  <a:pt x="11939" y="6493"/>
                </a:cubicBezTo>
                <a:lnTo>
                  <a:pt x="10727" y="6493"/>
                </a:lnTo>
                <a:lnTo>
                  <a:pt x="9883" y="8718"/>
                </a:lnTo>
                <a:cubicBezTo>
                  <a:pt x="9417" y="9945"/>
                  <a:pt x="9005" y="10917"/>
                  <a:pt x="8974" y="10880"/>
                </a:cubicBezTo>
                <a:cubicBezTo>
                  <a:pt x="8944" y="10842"/>
                  <a:pt x="8926" y="10655"/>
                  <a:pt x="8926" y="10435"/>
                </a:cubicBezTo>
                <a:cubicBezTo>
                  <a:pt x="8926" y="10215"/>
                  <a:pt x="8887" y="9242"/>
                  <a:pt x="8847" y="8273"/>
                </a:cubicBezTo>
                <a:lnTo>
                  <a:pt x="8767" y="6493"/>
                </a:lnTo>
                <a:lnTo>
                  <a:pt x="7572" y="6493"/>
                </a:lnTo>
                <a:lnTo>
                  <a:pt x="6360" y="6493"/>
                </a:lnTo>
                <a:close/>
                <a:moveTo>
                  <a:pt x="14377" y="6493"/>
                </a:moveTo>
                <a:lnTo>
                  <a:pt x="14265" y="7225"/>
                </a:lnTo>
                <a:cubicBezTo>
                  <a:pt x="14202" y="7628"/>
                  <a:pt x="13893" y="9287"/>
                  <a:pt x="13580" y="10912"/>
                </a:cubicBezTo>
                <a:cubicBezTo>
                  <a:pt x="13268" y="12536"/>
                  <a:pt x="13006" y="13921"/>
                  <a:pt x="13006" y="13963"/>
                </a:cubicBezTo>
                <a:cubicBezTo>
                  <a:pt x="13006" y="14063"/>
                  <a:pt x="13619" y="14034"/>
                  <a:pt x="14345" y="13931"/>
                </a:cubicBezTo>
                <a:lnTo>
                  <a:pt x="14919" y="13868"/>
                </a:lnTo>
                <a:lnTo>
                  <a:pt x="15254" y="11929"/>
                </a:lnTo>
                <a:cubicBezTo>
                  <a:pt x="15438" y="10869"/>
                  <a:pt x="15751" y="9244"/>
                  <a:pt x="15939" y="8305"/>
                </a:cubicBezTo>
                <a:cubicBezTo>
                  <a:pt x="16127" y="7367"/>
                  <a:pt x="16274" y="6583"/>
                  <a:pt x="16274" y="6557"/>
                </a:cubicBezTo>
                <a:cubicBezTo>
                  <a:pt x="16274" y="6531"/>
                  <a:pt x="15854" y="6493"/>
                  <a:pt x="15333" y="6493"/>
                </a:cubicBezTo>
                <a:lnTo>
                  <a:pt x="14377" y="6493"/>
                </a:lnTo>
                <a:close/>
                <a:moveTo>
                  <a:pt x="1754" y="6652"/>
                </a:moveTo>
                <a:cubicBezTo>
                  <a:pt x="886" y="7189"/>
                  <a:pt x="471" y="8408"/>
                  <a:pt x="766" y="9545"/>
                </a:cubicBezTo>
                <a:cubicBezTo>
                  <a:pt x="870" y="9945"/>
                  <a:pt x="1257" y="10382"/>
                  <a:pt x="2057" y="10975"/>
                </a:cubicBezTo>
                <a:cubicBezTo>
                  <a:pt x="2635" y="11404"/>
                  <a:pt x="2781" y="11627"/>
                  <a:pt x="2679" y="11961"/>
                </a:cubicBezTo>
                <a:cubicBezTo>
                  <a:pt x="2433" y="12764"/>
                  <a:pt x="1329" y="12833"/>
                  <a:pt x="591" y="12088"/>
                </a:cubicBezTo>
                <a:cubicBezTo>
                  <a:pt x="455" y="11951"/>
                  <a:pt x="327" y="11843"/>
                  <a:pt x="320" y="11865"/>
                </a:cubicBezTo>
                <a:cubicBezTo>
                  <a:pt x="240" y="12107"/>
                  <a:pt x="-19" y="13454"/>
                  <a:pt x="1" y="13518"/>
                </a:cubicBezTo>
                <a:cubicBezTo>
                  <a:pt x="30" y="13612"/>
                  <a:pt x="952" y="13991"/>
                  <a:pt x="1308" y="14058"/>
                </a:cubicBezTo>
                <a:cubicBezTo>
                  <a:pt x="2406" y="14266"/>
                  <a:pt x="3539" y="13913"/>
                  <a:pt x="4113" y="13168"/>
                </a:cubicBezTo>
                <a:cubicBezTo>
                  <a:pt x="4395" y="12802"/>
                  <a:pt x="4639" y="12023"/>
                  <a:pt x="4639" y="11484"/>
                </a:cubicBezTo>
                <a:cubicBezTo>
                  <a:pt x="4639" y="10709"/>
                  <a:pt x="4178" y="10042"/>
                  <a:pt x="3268" y="9450"/>
                </a:cubicBezTo>
                <a:cubicBezTo>
                  <a:pt x="2498" y="8947"/>
                  <a:pt x="2325" y="8370"/>
                  <a:pt x="2822" y="7956"/>
                </a:cubicBezTo>
                <a:cubicBezTo>
                  <a:pt x="3134" y="7695"/>
                  <a:pt x="3681" y="7785"/>
                  <a:pt x="4209" y="8210"/>
                </a:cubicBezTo>
                <a:cubicBezTo>
                  <a:pt x="4424" y="8383"/>
                  <a:pt x="4600" y="8511"/>
                  <a:pt x="4607" y="8496"/>
                </a:cubicBezTo>
                <a:cubicBezTo>
                  <a:pt x="4649" y="8409"/>
                  <a:pt x="4959" y="6972"/>
                  <a:pt x="4942" y="6938"/>
                </a:cubicBezTo>
                <a:cubicBezTo>
                  <a:pt x="4931" y="6916"/>
                  <a:pt x="4738" y="6776"/>
                  <a:pt x="4511" y="6652"/>
                </a:cubicBezTo>
                <a:cubicBezTo>
                  <a:pt x="3931" y="6335"/>
                  <a:pt x="2262" y="6339"/>
                  <a:pt x="1754" y="6652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3" name="图像" descr="图像">
            <a:extLst>
              <a:ext uri="{FF2B5EF4-FFF2-40B4-BE49-F238E27FC236}">
                <a16:creationId xmlns:a16="http://schemas.microsoft.com/office/drawing/2014/main" id="{88536659-6C7D-2307-7E1D-C371E589F64A}"/>
              </a:ext>
            </a:extLst>
          </p:cNvPr>
          <p:cNvPicPr>
            <a:picLocks noChangeAspect="1"/>
          </p:cNvPicPr>
          <p:nvPr/>
        </p:nvPicPr>
        <p:blipFill>
          <a:blip r:embed="rId38"/>
          <a:srcRect t="35171" b="35171"/>
          <a:stretch>
            <a:fillRect/>
          </a:stretch>
        </p:blipFill>
        <p:spPr>
          <a:xfrm>
            <a:off x="7513080" y="5264080"/>
            <a:ext cx="685332" cy="203244"/>
          </a:xfrm>
          <a:prstGeom prst="rect">
            <a:avLst/>
          </a:prstGeom>
          <a:ln w="12700">
            <a:miter lim="400000"/>
          </a:ln>
        </p:spPr>
      </p:pic>
      <p:pic>
        <p:nvPicPr>
          <p:cNvPr id="74" name="图像" descr="图像">
            <a:extLst>
              <a:ext uri="{FF2B5EF4-FFF2-40B4-BE49-F238E27FC236}">
                <a16:creationId xmlns:a16="http://schemas.microsoft.com/office/drawing/2014/main" id="{6C079557-3240-A972-4257-37A1213BF888}"/>
              </a:ext>
            </a:extLst>
          </p:cNvPr>
          <p:cNvPicPr>
            <a:picLocks noChangeAspect="1"/>
          </p:cNvPicPr>
          <p:nvPr/>
        </p:nvPicPr>
        <p:blipFill>
          <a:blip r:embed="rId39"/>
          <a:srcRect t="18222" b="31569"/>
          <a:stretch>
            <a:fillRect/>
          </a:stretch>
        </p:blipFill>
        <p:spPr>
          <a:xfrm>
            <a:off x="2338212" y="4183000"/>
            <a:ext cx="531476" cy="2668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5" name="图像" descr="图像">
            <a:extLst>
              <a:ext uri="{FF2B5EF4-FFF2-40B4-BE49-F238E27FC236}">
                <a16:creationId xmlns:a16="http://schemas.microsoft.com/office/drawing/2014/main" id="{D9E40DF9-E615-4FAC-B810-62471940D7E2}"/>
              </a:ext>
            </a:extLst>
          </p:cNvPr>
          <p:cNvPicPr>
            <a:picLocks noChangeAspect="1"/>
          </p:cNvPicPr>
          <p:nvPr/>
        </p:nvPicPr>
        <p:blipFill>
          <a:blip r:embed="rId40"/>
          <a:srcRect t="38585" b="38585"/>
          <a:stretch>
            <a:fillRect/>
          </a:stretch>
        </p:blipFill>
        <p:spPr>
          <a:xfrm>
            <a:off x="1974825" y="4538428"/>
            <a:ext cx="750305" cy="171281"/>
          </a:xfrm>
          <a:prstGeom prst="rect">
            <a:avLst/>
          </a:prstGeom>
          <a:ln w="12700">
            <a:miter lim="400000"/>
          </a:ln>
        </p:spPr>
      </p:pic>
      <p:pic>
        <p:nvPicPr>
          <p:cNvPr id="76" name="图像" descr="图像">
            <a:extLst>
              <a:ext uri="{FF2B5EF4-FFF2-40B4-BE49-F238E27FC236}">
                <a16:creationId xmlns:a16="http://schemas.microsoft.com/office/drawing/2014/main" id="{D531A314-272E-13CE-18EC-E0C4011E6F7B}"/>
              </a:ext>
            </a:extLst>
          </p:cNvPr>
          <p:cNvPicPr>
            <a:picLocks noChangeAspect="1"/>
          </p:cNvPicPr>
          <p:nvPr/>
        </p:nvPicPr>
        <p:blipFill>
          <a:blip r:embed="rId41"/>
          <a:srcRect l="3322" t="22445" r="3246" b="22496"/>
          <a:stretch>
            <a:fillRect/>
          </a:stretch>
        </p:blipFill>
        <p:spPr>
          <a:xfrm>
            <a:off x="1485999" y="4944369"/>
            <a:ext cx="493316" cy="1526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51" extrusionOk="0">
                <a:moveTo>
                  <a:pt x="4692" y="0"/>
                </a:moveTo>
                <a:cubicBezTo>
                  <a:pt x="4450" y="40"/>
                  <a:pt x="4262" y="381"/>
                  <a:pt x="4153" y="1065"/>
                </a:cubicBezTo>
                <a:cubicBezTo>
                  <a:pt x="4097" y="1418"/>
                  <a:pt x="4084" y="1632"/>
                  <a:pt x="4084" y="2074"/>
                </a:cubicBezTo>
                <a:cubicBezTo>
                  <a:pt x="4084" y="2713"/>
                  <a:pt x="4133" y="3032"/>
                  <a:pt x="4257" y="3475"/>
                </a:cubicBezTo>
                <a:cubicBezTo>
                  <a:pt x="4347" y="3796"/>
                  <a:pt x="4436" y="3976"/>
                  <a:pt x="4553" y="4091"/>
                </a:cubicBezTo>
                <a:cubicBezTo>
                  <a:pt x="4656" y="4192"/>
                  <a:pt x="4854" y="4163"/>
                  <a:pt x="4970" y="4035"/>
                </a:cubicBezTo>
                <a:cubicBezTo>
                  <a:pt x="5125" y="3864"/>
                  <a:pt x="5287" y="3403"/>
                  <a:pt x="5352" y="2914"/>
                </a:cubicBezTo>
                <a:cubicBezTo>
                  <a:pt x="5417" y="2426"/>
                  <a:pt x="5404" y="1581"/>
                  <a:pt x="5335" y="1121"/>
                </a:cubicBezTo>
                <a:cubicBezTo>
                  <a:pt x="5232" y="436"/>
                  <a:pt x="5045" y="49"/>
                  <a:pt x="4796" y="0"/>
                </a:cubicBezTo>
                <a:lnTo>
                  <a:pt x="4692" y="0"/>
                </a:lnTo>
                <a:close/>
                <a:moveTo>
                  <a:pt x="11938" y="4876"/>
                </a:moveTo>
                <a:cubicBezTo>
                  <a:pt x="11699" y="4853"/>
                  <a:pt x="11418" y="4940"/>
                  <a:pt x="11243" y="5100"/>
                </a:cubicBezTo>
                <a:cubicBezTo>
                  <a:pt x="10541" y="5741"/>
                  <a:pt x="10096" y="7484"/>
                  <a:pt x="9975" y="9919"/>
                </a:cubicBezTo>
                <a:cubicBezTo>
                  <a:pt x="9936" y="10686"/>
                  <a:pt x="9962" y="12014"/>
                  <a:pt x="10027" y="12833"/>
                </a:cubicBezTo>
                <a:cubicBezTo>
                  <a:pt x="10201" y="15042"/>
                  <a:pt x="10658" y="16449"/>
                  <a:pt x="11417" y="16980"/>
                </a:cubicBezTo>
                <a:cubicBezTo>
                  <a:pt x="11640" y="17136"/>
                  <a:pt x="12012" y="17095"/>
                  <a:pt x="12268" y="16924"/>
                </a:cubicBezTo>
                <a:cubicBezTo>
                  <a:pt x="12966" y="16459"/>
                  <a:pt x="13503" y="14769"/>
                  <a:pt x="13659" y="12497"/>
                </a:cubicBezTo>
                <a:cubicBezTo>
                  <a:pt x="13699" y="11900"/>
                  <a:pt x="13702" y="11569"/>
                  <a:pt x="13693" y="10704"/>
                </a:cubicBezTo>
                <a:cubicBezTo>
                  <a:pt x="13680" y="9475"/>
                  <a:pt x="13652" y="9000"/>
                  <a:pt x="13502" y="8014"/>
                </a:cubicBezTo>
                <a:cubicBezTo>
                  <a:pt x="13251" y="6359"/>
                  <a:pt x="12758" y="5211"/>
                  <a:pt x="12164" y="4932"/>
                </a:cubicBezTo>
                <a:cubicBezTo>
                  <a:pt x="12098" y="4900"/>
                  <a:pt x="12018" y="4883"/>
                  <a:pt x="11938" y="4876"/>
                </a:cubicBezTo>
                <a:close/>
                <a:moveTo>
                  <a:pt x="19706" y="4876"/>
                </a:moveTo>
                <a:cubicBezTo>
                  <a:pt x="19608" y="4883"/>
                  <a:pt x="19511" y="4903"/>
                  <a:pt x="19445" y="4932"/>
                </a:cubicBezTo>
                <a:cubicBezTo>
                  <a:pt x="18896" y="5168"/>
                  <a:pt x="18595" y="5822"/>
                  <a:pt x="18385" y="7229"/>
                </a:cubicBezTo>
                <a:cubicBezTo>
                  <a:pt x="18269" y="8008"/>
                  <a:pt x="18265" y="8127"/>
                  <a:pt x="18333" y="8182"/>
                </a:cubicBezTo>
                <a:cubicBezTo>
                  <a:pt x="18409" y="8244"/>
                  <a:pt x="19082" y="8630"/>
                  <a:pt x="19115" y="8630"/>
                </a:cubicBezTo>
                <a:cubicBezTo>
                  <a:pt x="19129" y="8630"/>
                  <a:pt x="19163" y="8498"/>
                  <a:pt x="19185" y="8350"/>
                </a:cubicBezTo>
                <a:cubicBezTo>
                  <a:pt x="19248" y="7923"/>
                  <a:pt x="19382" y="7483"/>
                  <a:pt x="19497" y="7341"/>
                </a:cubicBezTo>
                <a:cubicBezTo>
                  <a:pt x="19582" y="7237"/>
                  <a:pt x="19664" y="7202"/>
                  <a:pt x="19880" y="7229"/>
                </a:cubicBezTo>
                <a:cubicBezTo>
                  <a:pt x="20155" y="7264"/>
                  <a:pt x="20227" y="7315"/>
                  <a:pt x="20331" y="7622"/>
                </a:cubicBezTo>
                <a:cubicBezTo>
                  <a:pt x="20462" y="8005"/>
                  <a:pt x="20506" y="9034"/>
                  <a:pt x="20401" y="9247"/>
                </a:cubicBezTo>
                <a:cubicBezTo>
                  <a:pt x="20333" y="9385"/>
                  <a:pt x="19947" y="9714"/>
                  <a:pt x="19532" y="9975"/>
                </a:cubicBezTo>
                <a:cubicBezTo>
                  <a:pt x="18920" y="10360"/>
                  <a:pt x="18619" y="10730"/>
                  <a:pt x="18420" y="11432"/>
                </a:cubicBezTo>
                <a:cubicBezTo>
                  <a:pt x="18261" y="11993"/>
                  <a:pt x="18208" y="12568"/>
                  <a:pt x="18194" y="13506"/>
                </a:cubicBezTo>
                <a:cubicBezTo>
                  <a:pt x="18185" y="14119"/>
                  <a:pt x="18185" y="14324"/>
                  <a:pt x="18229" y="14739"/>
                </a:cubicBezTo>
                <a:cubicBezTo>
                  <a:pt x="18361" y="16003"/>
                  <a:pt x="18637" y="16716"/>
                  <a:pt x="19115" y="17036"/>
                </a:cubicBezTo>
                <a:cubicBezTo>
                  <a:pt x="19142" y="17054"/>
                  <a:pt x="19256" y="17088"/>
                  <a:pt x="19376" y="17092"/>
                </a:cubicBezTo>
                <a:cubicBezTo>
                  <a:pt x="19742" y="17105"/>
                  <a:pt x="20054" y="16758"/>
                  <a:pt x="20349" y="16028"/>
                </a:cubicBezTo>
                <a:cubicBezTo>
                  <a:pt x="20441" y="15800"/>
                  <a:pt x="20531" y="15647"/>
                  <a:pt x="20540" y="15691"/>
                </a:cubicBezTo>
                <a:cubicBezTo>
                  <a:pt x="20548" y="15735"/>
                  <a:pt x="20579" y="16020"/>
                  <a:pt x="20609" y="16308"/>
                </a:cubicBezTo>
                <a:lnTo>
                  <a:pt x="20662" y="16812"/>
                </a:lnTo>
                <a:lnTo>
                  <a:pt x="21131" y="16812"/>
                </a:lnTo>
                <a:lnTo>
                  <a:pt x="21600" y="16868"/>
                </a:lnTo>
                <a:lnTo>
                  <a:pt x="21548" y="16420"/>
                </a:lnTo>
                <a:cubicBezTo>
                  <a:pt x="21413" y="15438"/>
                  <a:pt x="21410" y="15377"/>
                  <a:pt x="21391" y="11376"/>
                </a:cubicBezTo>
                <a:cubicBezTo>
                  <a:pt x="21373" y="7416"/>
                  <a:pt x="21366" y="7095"/>
                  <a:pt x="21252" y="6501"/>
                </a:cubicBezTo>
                <a:cubicBezTo>
                  <a:pt x="21129" y="5858"/>
                  <a:pt x="20836" y="5256"/>
                  <a:pt x="20540" y="5044"/>
                </a:cubicBezTo>
                <a:cubicBezTo>
                  <a:pt x="20369" y="4921"/>
                  <a:pt x="19998" y="4853"/>
                  <a:pt x="19706" y="4876"/>
                </a:cubicBezTo>
                <a:close/>
                <a:moveTo>
                  <a:pt x="1651" y="4932"/>
                </a:moveTo>
                <a:cubicBezTo>
                  <a:pt x="1391" y="4938"/>
                  <a:pt x="1136" y="4985"/>
                  <a:pt x="1008" y="5100"/>
                </a:cubicBezTo>
                <a:cubicBezTo>
                  <a:pt x="616" y="5449"/>
                  <a:pt x="352" y="6075"/>
                  <a:pt x="209" y="7061"/>
                </a:cubicBezTo>
                <a:cubicBezTo>
                  <a:pt x="132" y="7588"/>
                  <a:pt x="139" y="7697"/>
                  <a:pt x="139" y="8462"/>
                </a:cubicBezTo>
                <a:cubicBezTo>
                  <a:pt x="139" y="9220"/>
                  <a:pt x="138" y="9282"/>
                  <a:pt x="209" y="9751"/>
                </a:cubicBezTo>
                <a:cubicBezTo>
                  <a:pt x="306" y="10398"/>
                  <a:pt x="411" y="10808"/>
                  <a:pt x="591" y="11152"/>
                </a:cubicBezTo>
                <a:cubicBezTo>
                  <a:pt x="761" y="11477"/>
                  <a:pt x="1180" y="11928"/>
                  <a:pt x="1633" y="12273"/>
                </a:cubicBezTo>
                <a:cubicBezTo>
                  <a:pt x="2350" y="12819"/>
                  <a:pt x="2433" y="12935"/>
                  <a:pt x="2433" y="13618"/>
                </a:cubicBezTo>
                <a:cubicBezTo>
                  <a:pt x="2433" y="13945"/>
                  <a:pt x="2420" y="14051"/>
                  <a:pt x="2329" y="14346"/>
                </a:cubicBezTo>
                <a:cubicBezTo>
                  <a:pt x="2204" y="14749"/>
                  <a:pt x="2109" y="14856"/>
                  <a:pt x="1807" y="14907"/>
                </a:cubicBezTo>
                <a:cubicBezTo>
                  <a:pt x="1391" y="14977"/>
                  <a:pt x="1160" y="14593"/>
                  <a:pt x="1008" y="13618"/>
                </a:cubicBezTo>
                <a:lnTo>
                  <a:pt x="921" y="13057"/>
                </a:lnTo>
                <a:lnTo>
                  <a:pt x="678" y="13226"/>
                </a:lnTo>
                <a:cubicBezTo>
                  <a:pt x="539" y="13295"/>
                  <a:pt x="325" y="13396"/>
                  <a:pt x="209" y="13450"/>
                </a:cubicBezTo>
                <a:lnTo>
                  <a:pt x="0" y="13506"/>
                </a:lnTo>
                <a:lnTo>
                  <a:pt x="17" y="13786"/>
                </a:lnTo>
                <a:cubicBezTo>
                  <a:pt x="46" y="14207"/>
                  <a:pt x="180" y="14997"/>
                  <a:pt x="295" y="15411"/>
                </a:cubicBezTo>
                <a:cubicBezTo>
                  <a:pt x="505" y="16165"/>
                  <a:pt x="835" y="16748"/>
                  <a:pt x="1216" y="16980"/>
                </a:cubicBezTo>
                <a:cubicBezTo>
                  <a:pt x="1496" y="17150"/>
                  <a:pt x="2144" y="17087"/>
                  <a:pt x="2398" y="16868"/>
                </a:cubicBezTo>
                <a:cubicBezTo>
                  <a:pt x="2676" y="16629"/>
                  <a:pt x="2872" y="16230"/>
                  <a:pt x="3041" y="15691"/>
                </a:cubicBezTo>
                <a:cubicBezTo>
                  <a:pt x="3294" y="14885"/>
                  <a:pt x="3419" y="13946"/>
                  <a:pt x="3389" y="12889"/>
                </a:cubicBezTo>
                <a:cubicBezTo>
                  <a:pt x="3336" y="11075"/>
                  <a:pt x="3024" y="10286"/>
                  <a:pt x="1981" y="9471"/>
                </a:cubicBezTo>
                <a:cubicBezTo>
                  <a:pt x="1157" y="8827"/>
                  <a:pt x="1008" y="8659"/>
                  <a:pt x="1008" y="8070"/>
                </a:cubicBezTo>
                <a:cubicBezTo>
                  <a:pt x="1008" y="7397"/>
                  <a:pt x="1198" y="7117"/>
                  <a:pt x="1651" y="7117"/>
                </a:cubicBezTo>
                <a:cubicBezTo>
                  <a:pt x="1926" y="7117"/>
                  <a:pt x="1982" y="7136"/>
                  <a:pt x="2068" y="7285"/>
                </a:cubicBezTo>
                <a:cubicBezTo>
                  <a:pt x="2186" y="7489"/>
                  <a:pt x="2324" y="7960"/>
                  <a:pt x="2346" y="8238"/>
                </a:cubicBezTo>
                <a:cubicBezTo>
                  <a:pt x="2358" y="8396"/>
                  <a:pt x="2376" y="8438"/>
                  <a:pt x="2415" y="8406"/>
                </a:cubicBezTo>
                <a:cubicBezTo>
                  <a:pt x="2444" y="8384"/>
                  <a:pt x="2623" y="8293"/>
                  <a:pt x="2815" y="8182"/>
                </a:cubicBezTo>
                <a:cubicBezTo>
                  <a:pt x="3239" y="7938"/>
                  <a:pt x="3250" y="7938"/>
                  <a:pt x="3250" y="7790"/>
                </a:cubicBezTo>
                <a:cubicBezTo>
                  <a:pt x="3250" y="7535"/>
                  <a:pt x="3093" y="6591"/>
                  <a:pt x="2972" y="6164"/>
                </a:cubicBezTo>
                <a:cubicBezTo>
                  <a:pt x="2819" y="5629"/>
                  <a:pt x="2602" y="5250"/>
                  <a:pt x="2329" y="5044"/>
                </a:cubicBezTo>
                <a:cubicBezTo>
                  <a:pt x="2186" y="4936"/>
                  <a:pt x="1911" y="4925"/>
                  <a:pt x="1651" y="4932"/>
                </a:cubicBezTo>
                <a:close/>
                <a:moveTo>
                  <a:pt x="7785" y="4932"/>
                </a:moveTo>
                <a:cubicBezTo>
                  <a:pt x="7569" y="4932"/>
                  <a:pt x="7356" y="4946"/>
                  <a:pt x="7246" y="5044"/>
                </a:cubicBezTo>
                <a:cubicBezTo>
                  <a:pt x="6646" y="5576"/>
                  <a:pt x="6278" y="6850"/>
                  <a:pt x="6099" y="8910"/>
                </a:cubicBezTo>
                <a:cubicBezTo>
                  <a:pt x="6049" y="9494"/>
                  <a:pt x="6030" y="9749"/>
                  <a:pt x="6030" y="10984"/>
                </a:cubicBezTo>
                <a:cubicBezTo>
                  <a:pt x="6030" y="12219"/>
                  <a:pt x="6049" y="12474"/>
                  <a:pt x="6099" y="13057"/>
                </a:cubicBezTo>
                <a:cubicBezTo>
                  <a:pt x="6288" y="15227"/>
                  <a:pt x="6689" y="16478"/>
                  <a:pt x="7333" y="16924"/>
                </a:cubicBezTo>
                <a:cubicBezTo>
                  <a:pt x="7572" y="17090"/>
                  <a:pt x="7987" y="17102"/>
                  <a:pt x="8254" y="16924"/>
                </a:cubicBezTo>
                <a:cubicBezTo>
                  <a:pt x="8828" y="16543"/>
                  <a:pt x="9192" y="15462"/>
                  <a:pt x="9384" y="13618"/>
                </a:cubicBezTo>
                <a:cubicBezTo>
                  <a:pt x="9424" y="13235"/>
                  <a:pt x="9456" y="12898"/>
                  <a:pt x="9453" y="12889"/>
                </a:cubicBezTo>
                <a:cubicBezTo>
                  <a:pt x="9447" y="12869"/>
                  <a:pt x="8581" y="12441"/>
                  <a:pt x="8550" y="12441"/>
                </a:cubicBezTo>
                <a:cubicBezTo>
                  <a:pt x="8536" y="12441"/>
                  <a:pt x="8519" y="12596"/>
                  <a:pt x="8498" y="12833"/>
                </a:cubicBezTo>
                <a:cubicBezTo>
                  <a:pt x="8423" y="13655"/>
                  <a:pt x="8265" y="14271"/>
                  <a:pt x="8063" y="14515"/>
                </a:cubicBezTo>
                <a:cubicBezTo>
                  <a:pt x="7974" y="14623"/>
                  <a:pt x="7674" y="14625"/>
                  <a:pt x="7559" y="14515"/>
                </a:cubicBezTo>
                <a:cubicBezTo>
                  <a:pt x="7422" y="14382"/>
                  <a:pt x="7245" y="13909"/>
                  <a:pt x="7159" y="13450"/>
                </a:cubicBezTo>
                <a:cubicBezTo>
                  <a:pt x="7052" y="12870"/>
                  <a:pt x="7003" y="12045"/>
                  <a:pt x="7003" y="10872"/>
                </a:cubicBezTo>
                <a:cubicBezTo>
                  <a:pt x="7003" y="9312"/>
                  <a:pt x="7075" y="8553"/>
                  <a:pt x="7281" y="7902"/>
                </a:cubicBezTo>
                <a:cubicBezTo>
                  <a:pt x="7425" y="7448"/>
                  <a:pt x="7584" y="7277"/>
                  <a:pt x="7820" y="7285"/>
                </a:cubicBezTo>
                <a:cubicBezTo>
                  <a:pt x="8021" y="7293"/>
                  <a:pt x="8168" y="7457"/>
                  <a:pt x="8289" y="7846"/>
                </a:cubicBezTo>
                <a:cubicBezTo>
                  <a:pt x="8372" y="8114"/>
                  <a:pt x="8462" y="8618"/>
                  <a:pt x="8463" y="8854"/>
                </a:cubicBezTo>
                <a:cubicBezTo>
                  <a:pt x="8463" y="8927"/>
                  <a:pt x="8469" y="8999"/>
                  <a:pt x="8480" y="9023"/>
                </a:cubicBezTo>
                <a:cubicBezTo>
                  <a:pt x="8503" y="9068"/>
                  <a:pt x="9315" y="8669"/>
                  <a:pt x="9384" y="8574"/>
                </a:cubicBezTo>
                <a:cubicBezTo>
                  <a:pt x="9422" y="8522"/>
                  <a:pt x="9407" y="8460"/>
                  <a:pt x="9332" y="7902"/>
                </a:cubicBezTo>
                <a:cubicBezTo>
                  <a:pt x="9118" y="6321"/>
                  <a:pt x="8816" y="5427"/>
                  <a:pt x="8341" y="5044"/>
                </a:cubicBezTo>
                <a:cubicBezTo>
                  <a:pt x="8221" y="4947"/>
                  <a:pt x="8002" y="4931"/>
                  <a:pt x="7785" y="4932"/>
                </a:cubicBezTo>
                <a:close/>
                <a:moveTo>
                  <a:pt x="14545" y="5100"/>
                </a:moveTo>
                <a:cubicBezTo>
                  <a:pt x="14073" y="5100"/>
                  <a:pt x="14043" y="5141"/>
                  <a:pt x="14058" y="5268"/>
                </a:cubicBezTo>
                <a:cubicBezTo>
                  <a:pt x="14067" y="5343"/>
                  <a:pt x="14161" y="6108"/>
                  <a:pt x="14267" y="7005"/>
                </a:cubicBezTo>
                <a:cubicBezTo>
                  <a:pt x="14372" y="7902"/>
                  <a:pt x="14479" y="8878"/>
                  <a:pt x="14510" y="9135"/>
                </a:cubicBezTo>
                <a:cubicBezTo>
                  <a:pt x="14588" y="9774"/>
                  <a:pt x="15141" y="14462"/>
                  <a:pt x="15344" y="16196"/>
                </a:cubicBezTo>
                <a:lnTo>
                  <a:pt x="15431" y="16924"/>
                </a:lnTo>
                <a:lnTo>
                  <a:pt x="15379" y="17373"/>
                </a:lnTo>
                <a:cubicBezTo>
                  <a:pt x="15350" y="17627"/>
                  <a:pt x="15304" y="17945"/>
                  <a:pt x="15275" y="18101"/>
                </a:cubicBezTo>
                <a:cubicBezTo>
                  <a:pt x="15192" y="18534"/>
                  <a:pt x="15013" y="19012"/>
                  <a:pt x="14892" y="19110"/>
                </a:cubicBezTo>
                <a:cubicBezTo>
                  <a:pt x="14769" y="19210"/>
                  <a:pt x="14536" y="19202"/>
                  <a:pt x="14388" y="19110"/>
                </a:cubicBezTo>
                <a:cubicBezTo>
                  <a:pt x="14289" y="19048"/>
                  <a:pt x="14284" y="19025"/>
                  <a:pt x="14284" y="19222"/>
                </a:cubicBezTo>
                <a:cubicBezTo>
                  <a:pt x="14284" y="19334"/>
                  <a:pt x="14299" y="19888"/>
                  <a:pt x="14319" y="20399"/>
                </a:cubicBezTo>
                <a:cubicBezTo>
                  <a:pt x="14339" y="20910"/>
                  <a:pt x="14354" y="21321"/>
                  <a:pt x="14354" y="21351"/>
                </a:cubicBezTo>
                <a:cubicBezTo>
                  <a:pt x="14354" y="21382"/>
                  <a:pt x="14406" y="21423"/>
                  <a:pt x="14475" y="21464"/>
                </a:cubicBezTo>
                <a:cubicBezTo>
                  <a:pt x="14707" y="21600"/>
                  <a:pt x="15144" y="21573"/>
                  <a:pt x="15344" y="21407"/>
                </a:cubicBezTo>
                <a:cubicBezTo>
                  <a:pt x="15673" y="21136"/>
                  <a:pt x="15866" y="20806"/>
                  <a:pt x="16022" y="20063"/>
                </a:cubicBezTo>
                <a:cubicBezTo>
                  <a:pt x="16144" y="19480"/>
                  <a:pt x="16210" y="18920"/>
                  <a:pt x="16508" y="16308"/>
                </a:cubicBezTo>
                <a:cubicBezTo>
                  <a:pt x="16647" y="15090"/>
                  <a:pt x="16852" y="13325"/>
                  <a:pt x="16960" y="12385"/>
                </a:cubicBezTo>
                <a:cubicBezTo>
                  <a:pt x="17069" y="11445"/>
                  <a:pt x="17214" y="10098"/>
                  <a:pt x="17290" y="9415"/>
                </a:cubicBezTo>
                <a:cubicBezTo>
                  <a:pt x="17367" y="8731"/>
                  <a:pt x="17509" y="7532"/>
                  <a:pt x="17603" y="6725"/>
                </a:cubicBezTo>
                <a:cubicBezTo>
                  <a:pt x="17697" y="5918"/>
                  <a:pt x="17777" y="5192"/>
                  <a:pt x="17777" y="5156"/>
                </a:cubicBezTo>
                <a:cubicBezTo>
                  <a:pt x="17777" y="5119"/>
                  <a:pt x="17559" y="5099"/>
                  <a:pt x="17290" y="5100"/>
                </a:cubicBezTo>
                <a:lnTo>
                  <a:pt x="16804" y="5100"/>
                </a:lnTo>
                <a:lnTo>
                  <a:pt x="16387" y="9191"/>
                </a:lnTo>
                <a:cubicBezTo>
                  <a:pt x="16155" y="11443"/>
                  <a:pt x="15947" y="13282"/>
                  <a:pt x="15935" y="13282"/>
                </a:cubicBezTo>
                <a:cubicBezTo>
                  <a:pt x="15913" y="13282"/>
                  <a:pt x="15853" y="12784"/>
                  <a:pt x="15327" y="7790"/>
                </a:cubicBezTo>
                <a:lnTo>
                  <a:pt x="15049" y="5100"/>
                </a:lnTo>
                <a:lnTo>
                  <a:pt x="14545" y="5100"/>
                </a:lnTo>
                <a:close/>
                <a:moveTo>
                  <a:pt x="4310" y="5212"/>
                </a:moveTo>
                <a:cubicBezTo>
                  <a:pt x="4270" y="5162"/>
                  <a:pt x="4257" y="5460"/>
                  <a:pt x="4257" y="10984"/>
                </a:cubicBezTo>
                <a:lnTo>
                  <a:pt x="4257" y="16868"/>
                </a:lnTo>
                <a:lnTo>
                  <a:pt x="4744" y="16868"/>
                </a:lnTo>
                <a:lnTo>
                  <a:pt x="5231" y="16868"/>
                </a:lnTo>
                <a:lnTo>
                  <a:pt x="5231" y="10984"/>
                </a:lnTo>
                <a:cubicBezTo>
                  <a:pt x="5231" y="5464"/>
                  <a:pt x="5218" y="5171"/>
                  <a:pt x="5178" y="5212"/>
                </a:cubicBezTo>
                <a:cubicBezTo>
                  <a:pt x="4816" y="5578"/>
                  <a:pt x="4596" y="5570"/>
                  <a:pt x="4310" y="5212"/>
                </a:cubicBezTo>
                <a:close/>
                <a:moveTo>
                  <a:pt x="11782" y="7397"/>
                </a:moveTo>
                <a:cubicBezTo>
                  <a:pt x="11898" y="7378"/>
                  <a:pt x="12028" y="7387"/>
                  <a:pt x="12129" y="7509"/>
                </a:cubicBezTo>
                <a:cubicBezTo>
                  <a:pt x="12390" y="7825"/>
                  <a:pt x="12590" y="8602"/>
                  <a:pt x="12685" y="9639"/>
                </a:cubicBezTo>
                <a:cubicBezTo>
                  <a:pt x="12741" y="10249"/>
                  <a:pt x="12741" y="11587"/>
                  <a:pt x="12685" y="12273"/>
                </a:cubicBezTo>
                <a:cubicBezTo>
                  <a:pt x="12602" y="13303"/>
                  <a:pt x="12391" y="14087"/>
                  <a:pt x="12129" y="14402"/>
                </a:cubicBezTo>
                <a:cubicBezTo>
                  <a:pt x="11950" y="14619"/>
                  <a:pt x="11701" y="14628"/>
                  <a:pt x="11521" y="14402"/>
                </a:cubicBezTo>
                <a:cubicBezTo>
                  <a:pt x="11261" y="14075"/>
                  <a:pt x="11024" y="13108"/>
                  <a:pt x="10965" y="12105"/>
                </a:cubicBezTo>
                <a:cubicBezTo>
                  <a:pt x="10934" y="11574"/>
                  <a:pt x="10934" y="10393"/>
                  <a:pt x="10965" y="9863"/>
                </a:cubicBezTo>
                <a:cubicBezTo>
                  <a:pt x="11022" y="8902"/>
                  <a:pt x="11199" y="8035"/>
                  <a:pt x="11452" y="7622"/>
                </a:cubicBezTo>
                <a:cubicBezTo>
                  <a:pt x="11547" y="7466"/>
                  <a:pt x="11665" y="7417"/>
                  <a:pt x="11782" y="7397"/>
                </a:cubicBezTo>
                <a:close/>
                <a:moveTo>
                  <a:pt x="20401" y="11320"/>
                </a:moveTo>
                <a:cubicBezTo>
                  <a:pt x="20413" y="11323"/>
                  <a:pt x="20432" y="11308"/>
                  <a:pt x="20436" y="11320"/>
                </a:cubicBezTo>
                <a:cubicBezTo>
                  <a:pt x="20449" y="11364"/>
                  <a:pt x="20441" y="11776"/>
                  <a:pt x="20436" y="12329"/>
                </a:cubicBezTo>
                <a:cubicBezTo>
                  <a:pt x="20428" y="13205"/>
                  <a:pt x="20426" y="13346"/>
                  <a:pt x="20366" y="13674"/>
                </a:cubicBezTo>
                <a:cubicBezTo>
                  <a:pt x="20284" y="14126"/>
                  <a:pt x="20157" y="14513"/>
                  <a:pt x="20001" y="14739"/>
                </a:cubicBezTo>
                <a:cubicBezTo>
                  <a:pt x="19840" y="14971"/>
                  <a:pt x="19621" y="14997"/>
                  <a:pt x="19497" y="14851"/>
                </a:cubicBezTo>
                <a:cubicBezTo>
                  <a:pt x="19370" y="14700"/>
                  <a:pt x="19286" y="14504"/>
                  <a:pt x="19202" y="14122"/>
                </a:cubicBezTo>
                <a:cubicBezTo>
                  <a:pt x="19144" y="13860"/>
                  <a:pt x="19134" y="13718"/>
                  <a:pt x="19132" y="13338"/>
                </a:cubicBezTo>
                <a:cubicBezTo>
                  <a:pt x="19131" y="12931"/>
                  <a:pt x="19137" y="12870"/>
                  <a:pt x="19202" y="12609"/>
                </a:cubicBezTo>
                <a:cubicBezTo>
                  <a:pt x="19307" y="12187"/>
                  <a:pt x="19438" y="11999"/>
                  <a:pt x="19741" y="11769"/>
                </a:cubicBezTo>
                <a:cubicBezTo>
                  <a:pt x="19886" y="11657"/>
                  <a:pt x="20099" y="11461"/>
                  <a:pt x="20210" y="11376"/>
                </a:cubicBezTo>
                <a:cubicBezTo>
                  <a:pt x="20307" y="11302"/>
                  <a:pt x="20366" y="11312"/>
                  <a:pt x="20401" y="1132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7" name="图像" descr="图像">
            <a:extLst>
              <a:ext uri="{FF2B5EF4-FFF2-40B4-BE49-F238E27FC236}">
                <a16:creationId xmlns:a16="http://schemas.microsoft.com/office/drawing/2014/main" id="{F0FD71B9-D017-91DF-A2AD-F0C723F3B2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12212" y="4754989"/>
            <a:ext cx="609611" cy="180626"/>
          </a:xfrm>
          <a:prstGeom prst="rect">
            <a:avLst/>
          </a:prstGeom>
          <a:ln w="12700">
            <a:miter lim="400000"/>
          </a:ln>
        </p:spPr>
      </p:pic>
      <p:pic>
        <p:nvPicPr>
          <p:cNvPr id="78" name="图像" descr="图像">
            <a:extLst>
              <a:ext uri="{FF2B5EF4-FFF2-40B4-BE49-F238E27FC236}">
                <a16:creationId xmlns:a16="http://schemas.microsoft.com/office/drawing/2014/main" id="{650513F6-ED76-707A-3E6B-74D2B587B4A8}"/>
              </a:ext>
            </a:extLst>
          </p:cNvPr>
          <p:cNvPicPr>
            <a:picLocks noChangeAspect="1"/>
          </p:cNvPicPr>
          <p:nvPr/>
        </p:nvPicPr>
        <p:blipFill>
          <a:blip r:embed="rId42"/>
          <a:srcRect l="10845" t="20224" r="9454" b="19637"/>
          <a:stretch>
            <a:fillRect/>
          </a:stretch>
        </p:blipFill>
        <p:spPr>
          <a:xfrm>
            <a:off x="8833387" y="6232862"/>
            <a:ext cx="877758" cy="224860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图像" descr="图像">
            <a:extLst>
              <a:ext uri="{FF2B5EF4-FFF2-40B4-BE49-F238E27FC236}">
                <a16:creationId xmlns:a16="http://schemas.microsoft.com/office/drawing/2014/main" id="{AB8B13A4-0E06-4AD9-16C0-20814152DC31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5041038" y="1634866"/>
            <a:ext cx="353168" cy="278119"/>
          </a:xfrm>
          <a:prstGeom prst="rect">
            <a:avLst/>
          </a:prstGeom>
          <a:ln w="12700">
            <a:miter lim="400000"/>
          </a:ln>
        </p:spPr>
      </p:pic>
      <p:pic>
        <p:nvPicPr>
          <p:cNvPr id="80" name="图像" descr="图像">
            <a:extLst>
              <a:ext uri="{FF2B5EF4-FFF2-40B4-BE49-F238E27FC236}">
                <a16:creationId xmlns:a16="http://schemas.microsoft.com/office/drawing/2014/main" id="{613130EA-4EF5-7BA1-965B-192F7463CAC3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400274" y="1664071"/>
            <a:ext cx="419101" cy="330042"/>
          </a:xfrm>
          <a:prstGeom prst="rect">
            <a:avLst/>
          </a:prstGeom>
          <a:ln w="12700">
            <a:miter lim="400000"/>
          </a:ln>
        </p:spPr>
      </p:pic>
      <p:pic>
        <p:nvPicPr>
          <p:cNvPr id="81" name="图像" descr="图像">
            <a:extLst>
              <a:ext uri="{FF2B5EF4-FFF2-40B4-BE49-F238E27FC236}">
                <a16:creationId xmlns:a16="http://schemas.microsoft.com/office/drawing/2014/main" id="{57459ECC-52C3-C9C9-28EA-49188BC62ED2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248443" y="4333674"/>
            <a:ext cx="353168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82" name="图像" descr="图像">
            <a:extLst>
              <a:ext uri="{FF2B5EF4-FFF2-40B4-BE49-F238E27FC236}">
                <a16:creationId xmlns:a16="http://schemas.microsoft.com/office/drawing/2014/main" id="{00F19A80-AF57-C17D-74C0-2D8F451374C7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111982" y="3276129"/>
            <a:ext cx="434654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3" name="图像" descr="图像">
            <a:extLst>
              <a:ext uri="{FF2B5EF4-FFF2-40B4-BE49-F238E27FC236}">
                <a16:creationId xmlns:a16="http://schemas.microsoft.com/office/drawing/2014/main" id="{307D2B9A-23AA-50BE-0450-190E74FFB8A5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660754" y="5941135"/>
            <a:ext cx="4064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4" name="图像" descr="图像">
            <a:extLst>
              <a:ext uri="{FF2B5EF4-FFF2-40B4-BE49-F238E27FC236}">
                <a16:creationId xmlns:a16="http://schemas.microsoft.com/office/drawing/2014/main" id="{602A6950-B4AA-B227-6551-AC39E50EC4CC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631768" y="5128538"/>
            <a:ext cx="603251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5" name="图像" descr="图像">
            <a:extLst>
              <a:ext uri="{FF2B5EF4-FFF2-40B4-BE49-F238E27FC236}">
                <a16:creationId xmlns:a16="http://schemas.microsoft.com/office/drawing/2014/main" id="{A338611A-FA0C-5ABC-3704-9150E8698432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2206329" y="4968025"/>
            <a:ext cx="774701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6" name="图像" descr="图像">
            <a:extLst>
              <a:ext uri="{FF2B5EF4-FFF2-40B4-BE49-F238E27FC236}">
                <a16:creationId xmlns:a16="http://schemas.microsoft.com/office/drawing/2014/main" id="{83281EAF-8233-0811-69BD-6D0F23BE915C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529277" y="3122272"/>
            <a:ext cx="677053" cy="128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87" name="图像" descr="图像">
            <a:extLst>
              <a:ext uri="{FF2B5EF4-FFF2-40B4-BE49-F238E27FC236}">
                <a16:creationId xmlns:a16="http://schemas.microsoft.com/office/drawing/2014/main" id="{C96D0178-3D6A-E196-AEFD-3B944FA0A3ED}"/>
              </a:ext>
            </a:extLst>
          </p:cNvPr>
          <p:cNvPicPr>
            <a:picLocks noChangeAspect="1"/>
          </p:cNvPicPr>
          <p:nvPr/>
        </p:nvPicPr>
        <p:blipFill>
          <a:blip r:embed="rId49"/>
          <a:srcRect l="6527" t="39090" r="6527" b="39090"/>
          <a:stretch>
            <a:fillRect/>
          </a:stretch>
        </p:blipFill>
        <p:spPr>
          <a:xfrm>
            <a:off x="1504371" y="3385639"/>
            <a:ext cx="759251" cy="190531"/>
          </a:xfrm>
          <a:prstGeom prst="rect">
            <a:avLst/>
          </a:prstGeom>
          <a:ln w="12700">
            <a:miter lim="400000"/>
          </a:ln>
        </p:spPr>
      </p:pic>
      <p:pic>
        <p:nvPicPr>
          <p:cNvPr id="88" name="图像" descr="图像">
            <a:extLst>
              <a:ext uri="{FF2B5EF4-FFF2-40B4-BE49-F238E27FC236}">
                <a16:creationId xmlns:a16="http://schemas.microsoft.com/office/drawing/2014/main" id="{021675B9-6F55-149F-6E54-EBDD917E7253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2316657" y="2968367"/>
            <a:ext cx="673108" cy="208781"/>
          </a:xfrm>
          <a:prstGeom prst="rect">
            <a:avLst/>
          </a:prstGeom>
          <a:ln w="12700">
            <a:miter lim="400000"/>
          </a:ln>
        </p:spPr>
      </p:pic>
      <p:pic>
        <p:nvPicPr>
          <p:cNvPr id="89" name="图像" descr="图像">
            <a:extLst>
              <a:ext uri="{FF2B5EF4-FFF2-40B4-BE49-F238E27FC236}">
                <a16:creationId xmlns:a16="http://schemas.microsoft.com/office/drawing/2014/main" id="{65772F15-3F83-D21A-7F08-57A59A5BDD67}"/>
              </a:ext>
            </a:extLst>
          </p:cNvPr>
          <p:cNvPicPr>
            <a:picLocks noChangeAspect="1"/>
          </p:cNvPicPr>
          <p:nvPr/>
        </p:nvPicPr>
        <p:blipFill>
          <a:blip r:embed="rId51"/>
          <a:srcRect l="22811" t="36117" r="22811" b="36117"/>
          <a:stretch>
            <a:fillRect/>
          </a:stretch>
        </p:blipFill>
        <p:spPr>
          <a:xfrm>
            <a:off x="2286146" y="3188332"/>
            <a:ext cx="651122" cy="222755"/>
          </a:xfrm>
          <a:prstGeom prst="rect">
            <a:avLst/>
          </a:prstGeom>
          <a:ln w="12700">
            <a:miter lim="400000"/>
          </a:ln>
        </p:spPr>
      </p:pic>
      <p:pic>
        <p:nvPicPr>
          <p:cNvPr id="90" name="线条 线条" descr="线条 线条">
            <a:extLst>
              <a:ext uri="{FF2B5EF4-FFF2-40B4-BE49-F238E27FC236}">
                <a16:creationId xmlns:a16="http://schemas.microsoft.com/office/drawing/2014/main" id="{38600CAB-5DDC-E40E-302F-61065B9F986D}"/>
              </a:ext>
            </a:extLst>
          </p:cNvPr>
          <p:cNvPicPr>
            <a:picLocks/>
          </p:cNvPicPr>
          <p:nvPr/>
        </p:nvPicPr>
        <p:blipFill>
          <a:blip r:embed="rId52"/>
          <a:stretch>
            <a:fillRect/>
          </a:stretch>
        </p:blipFill>
        <p:spPr>
          <a:xfrm>
            <a:off x="6391283" y="6010872"/>
            <a:ext cx="460263" cy="216127"/>
          </a:xfrm>
          <a:prstGeom prst="rect">
            <a:avLst/>
          </a:prstGeom>
        </p:spPr>
      </p:pic>
      <p:pic>
        <p:nvPicPr>
          <p:cNvPr id="91" name="线条 线条" descr="线条 线条">
            <a:extLst>
              <a:ext uri="{FF2B5EF4-FFF2-40B4-BE49-F238E27FC236}">
                <a16:creationId xmlns:a16="http://schemas.microsoft.com/office/drawing/2014/main" id="{ACE46E4B-FD78-5D1A-FB7B-A8947985B084}"/>
              </a:ext>
            </a:extLst>
          </p:cNvPr>
          <p:cNvPicPr>
            <a:picLocks/>
          </p:cNvPicPr>
          <p:nvPr/>
        </p:nvPicPr>
        <p:blipFill>
          <a:blip r:embed="rId53"/>
          <a:stretch>
            <a:fillRect/>
          </a:stretch>
        </p:blipFill>
        <p:spPr>
          <a:xfrm>
            <a:off x="3020903" y="1983451"/>
            <a:ext cx="308861" cy="216127"/>
          </a:xfrm>
          <a:prstGeom prst="rect">
            <a:avLst/>
          </a:prstGeom>
        </p:spPr>
      </p:pic>
      <p:pic>
        <p:nvPicPr>
          <p:cNvPr id="92" name="线条 线条" descr="线条 线条">
            <a:extLst>
              <a:ext uri="{FF2B5EF4-FFF2-40B4-BE49-F238E27FC236}">
                <a16:creationId xmlns:a16="http://schemas.microsoft.com/office/drawing/2014/main" id="{46374897-9985-F9C2-B0A6-ABD2BE1397DC}"/>
              </a:ext>
            </a:extLst>
          </p:cNvPr>
          <p:cNvPicPr>
            <a:picLocks/>
          </p:cNvPicPr>
          <p:nvPr/>
        </p:nvPicPr>
        <p:blipFill>
          <a:blip r:embed="rId53"/>
          <a:stretch>
            <a:fillRect/>
          </a:stretch>
        </p:blipFill>
        <p:spPr>
          <a:xfrm>
            <a:off x="4815069" y="1963839"/>
            <a:ext cx="308861" cy="216127"/>
          </a:xfrm>
          <a:prstGeom prst="rect">
            <a:avLst/>
          </a:prstGeom>
        </p:spPr>
      </p:pic>
      <p:pic>
        <p:nvPicPr>
          <p:cNvPr id="93" name="线条 线条" descr="线条 线条">
            <a:extLst>
              <a:ext uri="{FF2B5EF4-FFF2-40B4-BE49-F238E27FC236}">
                <a16:creationId xmlns:a16="http://schemas.microsoft.com/office/drawing/2014/main" id="{4016990F-4344-CDB3-C2FB-DD8308A40819}"/>
              </a:ext>
            </a:extLst>
          </p:cNvPr>
          <p:cNvPicPr>
            <a:picLocks/>
          </p:cNvPicPr>
          <p:nvPr/>
        </p:nvPicPr>
        <p:blipFill>
          <a:blip r:embed="rId54"/>
          <a:stretch>
            <a:fillRect/>
          </a:stretch>
        </p:blipFill>
        <p:spPr>
          <a:xfrm>
            <a:off x="2999103" y="3331932"/>
            <a:ext cx="308861" cy="216126"/>
          </a:xfrm>
          <a:prstGeom prst="rect">
            <a:avLst/>
          </a:prstGeom>
        </p:spPr>
      </p:pic>
      <p:pic>
        <p:nvPicPr>
          <p:cNvPr id="94" name="线条 线条" descr="线条 线条">
            <a:extLst>
              <a:ext uri="{FF2B5EF4-FFF2-40B4-BE49-F238E27FC236}">
                <a16:creationId xmlns:a16="http://schemas.microsoft.com/office/drawing/2014/main" id="{5759A6A6-8438-94C6-D1BA-8609EA104F06}"/>
              </a:ext>
            </a:extLst>
          </p:cNvPr>
          <p:cNvPicPr>
            <a:picLocks/>
          </p:cNvPicPr>
          <p:nvPr/>
        </p:nvPicPr>
        <p:blipFill>
          <a:blip r:embed="rId54"/>
          <a:stretch>
            <a:fillRect/>
          </a:stretch>
        </p:blipFill>
        <p:spPr>
          <a:xfrm>
            <a:off x="3020903" y="4674689"/>
            <a:ext cx="308861" cy="216126"/>
          </a:xfrm>
          <a:prstGeom prst="rect">
            <a:avLst/>
          </a:prstGeom>
        </p:spPr>
      </p:pic>
      <p:pic>
        <p:nvPicPr>
          <p:cNvPr id="95" name="线条 形状" descr="线条 形状">
            <a:extLst>
              <a:ext uri="{FF2B5EF4-FFF2-40B4-BE49-F238E27FC236}">
                <a16:creationId xmlns:a16="http://schemas.microsoft.com/office/drawing/2014/main" id="{22790694-FC8A-FC8C-811B-4C5565FC9336}"/>
              </a:ext>
            </a:extLst>
          </p:cNvPr>
          <p:cNvPicPr>
            <a:picLocks/>
          </p:cNvPicPr>
          <p:nvPr/>
        </p:nvPicPr>
        <p:blipFill>
          <a:blip r:embed="rId55"/>
          <a:stretch>
            <a:fillRect/>
          </a:stretch>
        </p:blipFill>
        <p:spPr>
          <a:xfrm>
            <a:off x="4865043" y="2698499"/>
            <a:ext cx="1044563" cy="2018517"/>
          </a:xfrm>
          <a:prstGeom prst="rect">
            <a:avLst/>
          </a:prstGeom>
        </p:spPr>
      </p:pic>
      <p:pic>
        <p:nvPicPr>
          <p:cNvPr id="96" name="线条 形状" descr="线条 形状">
            <a:extLst>
              <a:ext uri="{FF2B5EF4-FFF2-40B4-BE49-F238E27FC236}">
                <a16:creationId xmlns:a16="http://schemas.microsoft.com/office/drawing/2014/main" id="{6D5937AE-CAA6-E2DD-2D94-E988E052784E}"/>
              </a:ext>
            </a:extLst>
          </p:cNvPr>
          <p:cNvPicPr>
            <a:picLocks/>
          </p:cNvPicPr>
          <p:nvPr/>
        </p:nvPicPr>
        <p:blipFill>
          <a:blip r:embed="rId56"/>
          <a:stretch>
            <a:fillRect/>
          </a:stretch>
        </p:blipFill>
        <p:spPr>
          <a:xfrm>
            <a:off x="4858855" y="2695084"/>
            <a:ext cx="1046104" cy="789064"/>
          </a:xfrm>
          <a:prstGeom prst="rect">
            <a:avLst/>
          </a:prstGeom>
        </p:spPr>
      </p:pic>
      <p:pic>
        <p:nvPicPr>
          <p:cNvPr id="97" name="线条 形状" descr="线条 形状">
            <a:extLst>
              <a:ext uri="{FF2B5EF4-FFF2-40B4-BE49-F238E27FC236}">
                <a16:creationId xmlns:a16="http://schemas.microsoft.com/office/drawing/2014/main" id="{F6899338-49B6-DD98-8D59-958FB63B51AD}"/>
              </a:ext>
            </a:extLst>
          </p:cNvPr>
          <p:cNvPicPr>
            <a:picLocks/>
          </p:cNvPicPr>
          <p:nvPr/>
        </p:nvPicPr>
        <p:blipFill>
          <a:blip r:embed="rId57"/>
          <a:stretch>
            <a:fillRect/>
          </a:stretch>
        </p:blipFill>
        <p:spPr>
          <a:xfrm rot="358425">
            <a:off x="7575405" y="6331394"/>
            <a:ext cx="3679479" cy="669601"/>
          </a:xfrm>
          <a:prstGeom prst="rect">
            <a:avLst/>
          </a:prstGeom>
        </p:spPr>
      </p:pic>
      <p:pic>
        <p:nvPicPr>
          <p:cNvPr id="98" name="线条 线条" descr="线条 线条">
            <a:extLst>
              <a:ext uri="{FF2B5EF4-FFF2-40B4-BE49-F238E27FC236}">
                <a16:creationId xmlns:a16="http://schemas.microsoft.com/office/drawing/2014/main" id="{AF829367-591E-3ABF-1BE6-28DDE715A902}"/>
              </a:ext>
            </a:extLst>
          </p:cNvPr>
          <p:cNvPicPr>
            <a:picLocks/>
          </p:cNvPicPr>
          <p:nvPr/>
        </p:nvPicPr>
        <p:blipFill>
          <a:blip r:embed="rId58"/>
          <a:stretch>
            <a:fillRect/>
          </a:stretch>
        </p:blipFill>
        <p:spPr>
          <a:xfrm>
            <a:off x="6648920" y="1927557"/>
            <a:ext cx="1887678" cy="308752"/>
          </a:xfrm>
          <a:prstGeom prst="rect">
            <a:avLst/>
          </a:prstGeom>
        </p:spPr>
      </p:pic>
      <p:pic>
        <p:nvPicPr>
          <p:cNvPr id="99" name="线条 线条" descr="线条 线条">
            <a:extLst>
              <a:ext uri="{FF2B5EF4-FFF2-40B4-BE49-F238E27FC236}">
                <a16:creationId xmlns:a16="http://schemas.microsoft.com/office/drawing/2014/main" id="{352D06B2-4427-CAEE-529E-43F3587A32B1}"/>
              </a:ext>
            </a:extLst>
          </p:cNvPr>
          <p:cNvPicPr>
            <a:picLocks/>
          </p:cNvPicPr>
          <p:nvPr/>
        </p:nvPicPr>
        <p:blipFill>
          <a:blip r:embed="rId59"/>
          <a:stretch>
            <a:fillRect/>
          </a:stretch>
        </p:blipFill>
        <p:spPr>
          <a:xfrm>
            <a:off x="10089589" y="3939236"/>
            <a:ext cx="444501" cy="308752"/>
          </a:xfrm>
          <a:prstGeom prst="rect">
            <a:avLst/>
          </a:prstGeom>
        </p:spPr>
      </p:pic>
      <p:pic>
        <p:nvPicPr>
          <p:cNvPr id="100" name="图像" descr="图像">
            <a:extLst>
              <a:ext uri="{FF2B5EF4-FFF2-40B4-BE49-F238E27FC236}">
                <a16:creationId xmlns:a16="http://schemas.microsoft.com/office/drawing/2014/main" id="{003E041E-5810-6FDC-9EC0-E344609F4A1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58787" y="3590741"/>
            <a:ext cx="609612" cy="18062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" name="图像" descr="图像">
            <a:extLst>
              <a:ext uri="{FF2B5EF4-FFF2-40B4-BE49-F238E27FC236}">
                <a16:creationId xmlns:a16="http://schemas.microsoft.com/office/drawing/2014/main" id="{F6909B18-AA8B-FB31-AEBF-09F9A562783D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6976540" y="6394017"/>
            <a:ext cx="711201" cy="18301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" name="图像" descr="图像">
            <a:extLst>
              <a:ext uri="{FF2B5EF4-FFF2-40B4-BE49-F238E27FC236}">
                <a16:creationId xmlns:a16="http://schemas.microsoft.com/office/drawing/2014/main" id="{5224AC44-DCC9-278C-A61D-F2A9F31453B6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2548684" y="1783150"/>
            <a:ext cx="448663" cy="512472"/>
          </a:xfrm>
          <a:prstGeom prst="rect">
            <a:avLst/>
          </a:prstGeom>
          <a:ln w="12700">
            <a:miter lim="400000"/>
          </a:ln>
        </p:spPr>
      </p:pic>
      <p:pic>
        <p:nvPicPr>
          <p:cNvPr id="103" name="图像" descr="图像">
            <a:extLst>
              <a:ext uri="{FF2B5EF4-FFF2-40B4-BE49-F238E27FC236}">
                <a16:creationId xmlns:a16="http://schemas.microsoft.com/office/drawing/2014/main" id="{1B5FF2FC-0E41-65CC-416B-A8A48EED1B29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67445" t="5856" r="4755" b="48912"/>
          <a:stretch>
            <a:fillRect/>
          </a:stretch>
        </p:blipFill>
        <p:spPr>
          <a:xfrm>
            <a:off x="3524881" y="3587696"/>
            <a:ext cx="377464" cy="35898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" name="图像" descr="图像">
            <a:extLst>
              <a:ext uri="{FF2B5EF4-FFF2-40B4-BE49-F238E27FC236}">
                <a16:creationId xmlns:a16="http://schemas.microsoft.com/office/drawing/2014/main" id="{1F23C48F-9CA4-E5D6-7C6D-03EC04A6B817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67445" t="5856" r="4755" b="48912"/>
          <a:stretch>
            <a:fillRect/>
          </a:stretch>
        </p:blipFill>
        <p:spPr>
          <a:xfrm>
            <a:off x="4074179" y="4624152"/>
            <a:ext cx="377463" cy="358985"/>
          </a:xfrm>
          <a:prstGeom prst="rect">
            <a:avLst/>
          </a:prstGeom>
          <a:ln w="12700">
            <a:miter lim="400000"/>
          </a:ln>
        </p:spPr>
      </p:pic>
      <p:pic>
        <p:nvPicPr>
          <p:cNvPr id="105" name="图像" descr="图像">
            <a:extLst>
              <a:ext uri="{FF2B5EF4-FFF2-40B4-BE49-F238E27FC236}">
                <a16:creationId xmlns:a16="http://schemas.microsoft.com/office/drawing/2014/main" id="{B68A75FF-AE0D-15D2-905E-A4CA9D21AB6D}"/>
              </a:ext>
            </a:extLst>
          </p:cNvPr>
          <p:cNvPicPr>
            <a:picLocks noChangeAspect="1"/>
          </p:cNvPicPr>
          <p:nvPr/>
        </p:nvPicPr>
        <p:blipFill>
          <a:blip r:embed="rId63"/>
          <a:srcRect t="30546" b="40315"/>
          <a:stretch>
            <a:fillRect/>
          </a:stretch>
        </p:blipFill>
        <p:spPr>
          <a:xfrm>
            <a:off x="4105493" y="3706223"/>
            <a:ext cx="555557" cy="1596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" name="图像" descr="图像">
            <a:extLst>
              <a:ext uri="{FF2B5EF4-FFF2-40B4-BE49-F238E27FC236}">
                <a16:creationId xmlns:a16="http://schemas.microsoft.com/office/drawing/2014/main" id="{4D7FA93A-D498-0DD8-6D18-E0C7E500DB21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41978" t="5748" r="32632" b="49892"/>
          <a:stretch>
            <a:fillRect/>
          </a:stretch>
        </p:blipFill>
        <p:spPr>
          <a:xfrm>
            <a:off x="4443985" y="2822705"/>
            <a:ext cx="377614" cy="38563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" name="图像" descr="图像">
            <a:extLst>
              <a:ext uri="{FF2B5EF4-FFF2-40B4-BE49-F238E27FC236}">
                <a16:creationId xmlns:a16="http://schemas.microsoft.com/office/drawing/2014/main" id="{0D6BF4C3-D708-C1EA-DB86-7BB35017155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62397" y="6288226"/>
            <a:ext cx="723901" cy="1143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9542498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图片 326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227" cy="158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790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/%#m/%#d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4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3&quot;&gt;&lt;elem m_fUsage=&quot;9.37428387583522493287E+00&quot;&gt;&lt;m_msothmcolidx val=&quot;0&quot;/&gt;&lt;m_rgb r=&quot;00&quot; g=&quot;52&quot; b=&quot;D9&quot;/&gt;&lt;/elem&gt;&lt;elem m_fUsage=&quot;4.39755252302736210357E-01&quot;&gt;&lt;m_msothmcolidx val=&quot;0&quot;/&gt;&lt;m_rgb r=&quot;C1&quot; g=&quot;E1&quot; b=&quot;FE&quot;/&gt;&lt;/elem&gt;&lt;elem m_fUsage=&quot;3.81520424476946215520E-02&quot;&gt;&lt;m_msothmcolidx val=&quot;0&quot;/&gt;&lt;m_rgb r=&quot;F3&quot; g=&quot;9B&quot; b=&quot;00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/////wMAaAwAAAAAAAAAAAAAIAD///////////////8AAAD////////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QAAAACABAAC9AGnnBaZltFpC79uhRNkEUFAAAAAAADAAAAAAADAAAAAQA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NAGnnBaZltFpC79uhRNkEUDRGF0YQAWAAAAAlBlcnNvbmFsSWQAAQAAAAAAAk5hbWUACwAAAFBlcnNvbmFsSWQAEFZlcnNpb24AAAAAAAlMYXN0V3JpdGUAsHg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18880348"/>
  <p:tag name="EMPOWERCHARTSPROPERTIES_A_LENGTH" val="24576"/>
  <p:tag name="RUNTIME_ID" val="a42a71d3-1212-4f7b-9f92-078c8c21d33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wU8HAC9fj9Mk/AVSt920Ag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AU8HAC9fj9Mk/AVSt920AgDRGF0YQAWAAAAAlBlcnNvbmFsSWQAAQAAAAAAAk5hbWUACwAAAFBlcnNvbmFsSWQAEFZlcnNpb24AAAAAAAlMYXN0V3JpdGUA2Hg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19369570"/>
  <p:tag name="EMPOWERCHARTSPROPERTIES_A_LENGTH" val="24576"/>
  <p:tag name="RUNTIME_ID" val="84dd2ccd-1789-47d8-a03f-1d56549baec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yT4yJ4wnONMsMOlw8nsa6w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CT4yJ4wnONMsMOlw8nsa6wDRGF0YQAWAAAAAlBlcnNvbmFsSWQAAQAAAAAAAk5hbWUACwAAAFBlcnNvbmFsSWQAEFZlcnNpb24AAAAAAAlMYXN0V3JpdGUAv3k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21747863"/>
  <p:tag name="EMPOWERCHARTSPROPERTIES_A_LENGTH" val="24576"/>
  <p:tag name="RUNTIME_ID" val="07947cc4-10f1-41e4-9fca-2f7b1050302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/////wMAaAwAAAAAAAAAAAAAIAD///////////////8AAAD////////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QAAAACABAACw5KfBUqlVdDmthDxechaE8FAAAAAAADAAAAAAADAAAAAQA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A5KfBUqlVdDmthDxechaE8DRGF0YQAWAAAAAlBlcnNvbmFsSWQAAQAAAAAAAk5hbWUACwAAAFBlcnNvbmFsSWQAEFZlcnNpb24AAAAAAAlMYXN0V3JpdGUAL3k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20313416"/>
  <p:tag name="EMPOWERCHARTSPROPERTIES_A_LENGTH" val="24576"/>
  <p:tag name="RUNTIME_ID" val="a9c46273-a22e-4b0e-98fc-78ba4e2ec66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SUt_zSweJQU1RUezW71I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ctMrEXPFu6pSwzJcRULtA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n0MEdSfrSaDv.LAoG3pDg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YNCtyhlJf_pUoSPgG0gw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BY3UlfYMT7sTOaywcJBtA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LTXxeVCRYkidSOzqbR8eg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rGpvmh9JzlH.e2oWZ9wFg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6D4ZAckJPdeaoRVi0IOnQ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dqj3A90TPHh1ZGjS04N2A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qJeucMBsUjwUsZnWwv3vw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Myeq5NkA4exYvPiptqTwA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AfzcKw3iHuXeXx11ylZaQ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jIfMePetepor.EpMvLIlA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7NWdC0EjBhNu2dzRw8Gw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bIzA774DUydItlCnvpx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sY.y7jpg.WzYRzLKQCV6Q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Ck_PjbItYHeX_A2bLX9Tw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nbNGgSTxv0oId7mjIhqAQ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Xq7aEz7UCVsxWGuJokqeg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F91vvfWEuXHI8p2ss1XXg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8zMdU9kvYUCATFna9sn2w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6gWc73Dbls8NwEOMv9Mog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6zKy9Ca9e9p40r5qy0hEA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1sXZ7CwQoMy2ztWQLodwg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60GeuDc1gEqYzYhfCBh2g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Q8wjURUoaL0JQ6mF6.XCQ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DfpnXD4ZWYShr7GAKFbww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0PFsDQF19_hozMwS30T5g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YV.DOFavRVvDCSMWkRYLg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NtB8OWFg6y72RjGygMhjQ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QddI.HsIjl0Xffl1.KG9Q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2Ko.Z.8UVi9EX4ZLieVeQ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E8MuQRPhOUVeIG4Ow823A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Af.Y_dfgHrioNxxs_R.Qg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TogSiZIguezNkNze8fhIw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kCqhAWLYmuKdEcImErIuA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f5Ikw13sDp1OyGn2etfyA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hQZLAW8ZG36j._XFkdnbw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cKNot7qFrLxGcNjatJZtw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wit7PAhKW8tuiM9n_dnLw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JikgJ5sZGWiv04PzTOXgw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E7RefiyZa_1uWHNSullVA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ZqdQSoP4tUT_D1kc2iujQ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CS9EUkWvmVH7nnExUULhw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9BNTdlG3cIB_JwRRAg1Rg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A7WbbA9bsbzVOSN0enq4w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n1SwnOZyudJaLrExxZELA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5wzh7KhocP044M_aCSZdQ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tfJqqcDkz5G6tNZjzDU7A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.VFklwYUfvClQZ63Sn90Q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xZaNRrBJNO8BEeAWKY4qw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E5S6i4EIRpYFmRoHuGu2w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QZXYIpYhlf7Km3fdzAcHg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MTd4pJX6Jg6ibxZ0eacRA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LJ37lG2e_ZGXxGC6mxe.A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ntS7Jf9KVx3COBQ8EKnYQ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PJpQtdpTaKPDccmXqGKQ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z0gIyfF69Guq2HQUlZITQ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WEddl7w4bNLs3vKrcofbw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tewTzsYSybqF9gFzZZemg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isJGo8CHv7CB3qxDdYI0Q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lBiCSrXgIsJdEX6fmrggw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1bLTdEvrX2KppyNVxoQ8w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wIAKd8p_DYIw8zQZRg5nA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Nt_G.51FchU_rKIRDvwmQ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yxEb7ELwcbLBrdoVoHO8A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YUW9fOpqYVFQAm9zCUaLg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FzK0bw0JBn4OIaXWVOm0g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lRTI4kDB5fHcKog_oUEog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QCHlON60YhDtMBi4Rcd1A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SZsxVFpZ8vAuJi0Ti_f1w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roX8tcph5wAE5BvMSLqZg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t9o7WG2rBsqp5EBZmd8Kw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tgywV900iGkeLOesWzDCQ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BOjuiIYORNu7YdRC5b9yQ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3RWuZDjJegpxfARVJWSJg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e1pjKh8i.p9m_8V.Cmy8Q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8n7KyDDzAUT3oLBTENhHA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qdD5dUxzfdwWVaaQgcJ8A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J81Juse4_6N4T3CiUJBHA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L5kj2XLrYRqUrn7uJlk2g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eNLKbHev4jR.Kzm8cFVag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.eaafkBmv_v9t4iXJpYXA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8xkHbz_JfkDm1DKlNQuWg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WC47CnNqYp3D42FRJ48MQ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T.KrK4gNyTT0LPd5ElfEA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nkLN5Cuky_hE8y9yeh4.A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170mHRm2fj9hHgzmyXbgA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r98au7.GszXVAxqCFSmsw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eeZEtnvDfgsO78Hw94.hQ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OXFwv1ylazqe1rhRF75YQ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yYbfddXThvKF.y1At.SPw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21BE_6.0ivETXkbKpFi_A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n5HFsbC0DI4zZvckuNs4g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QKt.hiPU7UPq6EcaYzSgQ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MP1VIr_0d38GtUNhH.9Xw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X7rmgYX9ndXwW1an6_U4g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K18cprmdNuFBeBvDpCZfg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GLJ9uMyF9CmLOXY8jYuHA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ohto7E7VESs7oNgc6UeQw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GZ2fRLXgibbMyA1zyKHkw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i9BJ7O9DxnsB2Fb2c7bQg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LWKPRgrPrEhVLa3oOQSBA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oNmMgxxlSRy4_oX3_mNaA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82clUYM5HAAQ0ZzNmk.ew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o2JD0TFChiq0ryMurqW9A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qOTtNz1lVgjhcVSfGB.Sg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fjy.7aMMW3FyTlo0nf0fw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xnYFqo0nbms3jjRchkNtg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_Rxm_S1ZBNQMO6SvT0Dcg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nsx.YumzwMnlp3T_e.66A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WE9o8Yel4XnbYxsrY_S7Q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KUs31k8H9i2YCoIwB1QsQ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C0pmX8ynLwIQd32djB2LQ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0R0P6mR53w1cKA0PEKoGw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qw_6OOzSXyaCPNL5CFxlw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GJzujuWxh2WxPJNS1UPcA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vJZ.FYzPnwLYRW7VVQjJw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j72WdqltxpSl2aWnvcrEw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_t.10na06NQqgkIIdRQhw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IBetSECsp7VJyd3QUISzg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YtmSuhW5xMD1W7aBGJdcA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QSPugWYXmHeFlv.QcWgfQ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Q1YU6DQk6Paxv_cQXYIAg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LzO3ynAOPRWx5J3c_L_AA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rV4oa0rLXZcYzp7vAY0Jw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rJ8sy4tQY9s93GbEePUxA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dk5q6yPSTyWeSoxfYadPg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x_RdgNy_86NarlH4rEjtg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oFPGU5FEYdEdGtwJVH3A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Qt3DxUXZ58J9v67yO7qjQ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lb8qKmf_IFx3gIdKYntug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byUl4x2qmQkVdb53HXCkw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2p_BupVdSEUHlrKCCIQKg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jxYkXycr3cSJHDGuG.NGQ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mGVlcK4y4VRYWQ8VEGcNg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F7qfojbT7o08LH47WYYKQ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BDAvuuhpMQcL3jfEanNxw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eb6VzZj70hvB6dTxd60TA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et4kR9_0FPjsO7h97E0ug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M2Rx6nbaMzuYgnuB6SfJA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fo7JrO.uxEJX5VxABEyQ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ZBwdgkHM2DOVeyParyjLQ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AwcI1L8XN5YV6itP2JmaQ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UL0GzAgPuDQRLftYLeFZA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JGEZEiwjt47EzUSH7rzkw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e8Gwc29oBnmBe2Pkky_g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0eGuWf4orBUE0sOPtMxLg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gk7QAcRoP2bNBtmu2tUqg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5bM2jszMPBTTUJC7saPsA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5VUM7dnxIdfBsljdTc6qQ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NcoXrLPlZvYzMzruUGggA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QHzdHR4M5VCyaLtVjW0lw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VCIU7Xjg0JNugw9Y88Stw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YbmDHKppaZIlZ6AGTyqg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FbW3.5CZYQcWqyrwrD9Bg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s9_1FzBapMlX8bqViYWKA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.xfcC6s0YOO4jumwhwZqw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bEbCl70fBbAmC9m7S8YBQ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j4OnO4UbTbmfM6tJAOPSw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CZ8ROc8TO9JMKUjugfA6g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zWmVT4bGgJgEVG_FMkKjA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TH4cQppHm7q3J_IBXmilQ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GTcnlgArQwT0UCeCtZFsA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cG3KxkP7Bgxw0y0qre8zA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White">
  <a:themeElements>
    <a:clrScheme name="Scheme1">
      <a:dk1>
        <a:srgbClr val="53585F"/>
      </a:dk1>
      <a:lt1>
        <a:srgbClr val="FFFFFF"/>
      </a:lt1>
      <a:dk2>
        <a:srgbClr val="FFFFFF"/>
      </a:dk2>
      <a:lt2>
        <a:srgbClr val="FFFFFF"/>
      </a:lt2>
      <a:accent1>
        <a:srgbClr val="0256FF"/>
      </a:accent1>
      <a:accent2>
        <a:srgbClr val="0365C0"/>
      </a:accent2>
      <a:accent3>
        <a:srgbClr val="0030B5"/>
      </a:accent3>
      <a:accent4>
        <a:srgbClr val="AAB8DC"/>
      </a:accent4>
      <a:accent5>
        <a:srgbClr val="00882B"/>
      </a:accent5>
      <a:accent6>
        <a:srgbClr val="DCDEE0"/>
      </a:accent6>
      <a:hlink>
        <a:srgbClr val="0000FF"/>
      </a:hlink>
      <a:folHlink>
        <a:srgbClr val="800080"/>
      </a:folHlink>
    </a:clrScheme>
    <a:fontScheme name="ab221536-0281-41d6-9fe9-601c1f06870a">
      <a:majorFont>
        <a:latin typeface="Arial"/>
        <a:ea typeface="楷体"/>
        <a:cs typeface=""/>
      </a:majorFont>
      <a:minorFont>
        <a:latin typeface="Arial"/>
        <a:ea typeface="楷体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48249</TotalTime>
  <Words>3567</Words>
  <Application>Microsoft Office PowerPoint</Application>
  <PresentationFormat>宽屏</PresentationFormat>
  <Paragraphs>880</Paragraphs>
  <Slides>31</Slides>
  <Notes>25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5" baseType="lpstr">
      <vt:lpstr>Futura</vt:lpstr>
      <vt:lpstr>Inherit</vt:lpstr>
      <vt:lpstr>PingFang SC</vt:lpstr>
      <vt:lpstr>等线</vt:lpstr>
      <vt:lpstr>楷体</vt:lpstr>
      <vt:lpstr>微软雅黑</vt:lpstr>
      <vt:lpstr>Arial</vt:lpstr>
      <vt:lpstr>Georgia</vt:lpstr>
      <vt:lpstr>Poppins</vt:lpstr>
      <vt:lpstr>Segoe UI</vt:lpstr>
      <vt:lpstr>Verdana</vt:lpstr>
      <vt:lpstr>Wingdings</vt:lpstr>
      <vt:lpstr>1_White</vt:lpstr>
      <vt:lpstr>think-cell 幻灯片</vt:lpstr>
      <vt:lpstr>CPO</vt:lpstr>
      <vt:lpstr>Table of contents</vt:lpstr>
      <vt:lpstr>Why the focus on CPO? Nvidia, Broadcom, and DeepSeek</vt:lpstr>
      <vt:lpstr>PowerPoint 演示文稿</vt:lpstr>
      <vt:lpstr>The copper speed wall in data center: breaking through with optical interconnects</vt:lpstr>
      <vt:lpstr>PowerPoint 演示文稿</vt:lpstr>
      <vt:lpstr>PowerPoint 演示文稿</vt:lpstr>
      <vt:lpstr>PowerPoint 演示文稿</vt:lpstr>
      <vt:lpstr>PO is currently the mainstream choice while tech giants target CPO soon</vt:lpstr>
      <vt:lpstr>Long-term path: CPO; Short-term path: multiple transition options</vt:lpstr>
      <vt:lpstr>IDC interconnect by distance: scale-up vs scale-out</vt:lpstr>
      <vt:lpstr>​Overseas: Scale-out first; Domestic: Scale-up or scale-out undetermined </vt:lpstr>
      <vt:lpstr>Overseas: pursue scale-out &amp; scale-up in parallel; CPO initial focus on scale-out (1-2 Years)</vt:lpstr>
      <vt:lpstr>Domestic Vendors Rely on Scale-Up to Close Performance Gap at High Power Cost</vt:lpstr>
      <vt:lpstr>CPO: a multi-billion-dollar market paved by data rate scaling</vt:lpstr>
      <vt:lpstr>CPO key modules: silicon photonics, electrical IC, switch ASIC, and integration &amp; delivery</vt:lpstr>
      <vt:lpstr>Supply chain: EICs &amp; switch chips - large Scale, high margin, long R&amp;D</vt:lpstr>
      <vt:lpstr>​Supply chain focus: Broadcom-led integrated giants and strategic domestic startups like ficonTEC</vt:lpstr>
      <vt:lpstr>Broadcom: the most comprehensive CPO capability profile</vt:lpstr>
      <vt:lpstr>Why Broadcom bets on CPO: aligning with HPC’s in-house ASIC trend + network support for ecosystem positioning</vt:lpstr>
      <vt:lpstr>Why Broadcom bets on CPO: aligning with HPC’s in-house ASIC trend + network support for ecosystem positioning</vt:lpstr>
      <vt:lpstr>FiconTEC: Key player for domestic substitution in CPO</vt:lpstr>
      <vt:lpstr>FiconTEC: Key player for domestic substitution in CPO</vt:lpstr>
      <vt:lpstr>PowerPoint 演示文稿</vt:lpstr>
      <vt:lpstr>Summary</vt:lpstr>
      <vt:lpstr>DeepSeek: Domestic LLM restricted by GPU interconnection bandwidth; CPO as priority exploration direction</vt:lpstr>
      <vt:lpstr>DeepSeek: H800, H100, and B200 bandwidth and inference rate comparison</vt:lpstr>
      <vt:lpstr>Overseas strong in electronics, weak in optics; Domestic vise versa - industry evidences</vt:lpstr>
      <vt:lpstr>Broadcom CPO industry chain</vt:lpstr>
      <vt:lpstr>CPO Map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Tencent_GO</dc:creator>
  <cp:lastModifiedBy>Deng Kunyu</cp:lastModifiedBy>
  <cp:revision>5466</cp:revision>
  <dcterms:created xsi:type="dcterms:W3CDTF">2025-06-16T21:28:33Z</dcterms:created>
  <dcterms:modified xsi:type="dcterms:W3CDTF">2025-10-13T10:19:46Z</dcterms:modified>
</cp:coreProperties>
</file>