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8.xml" ContentType="application/vnd.openxmlformats-officedocument.presentationml.notesSlide+xml"/>
  <Override PartName="/ppt/tags/tag53.xml" ContentType="application/vnd.openxmlformats-officedocument.presentationml.tags+xml"/>
  <Override PartName="/ppt/notesSlides/notesSlide9.xml" ContentType="application/vnd.openxmlformats-officedocument.presentationml.notesSlide+xml"/>
  <Override PartName="/ppt/tags/tag54.xml" ContentType="application/vnd.openxmlformats-officedocument.presentationml.tags+xml"/>
  <Override PartName="/ppt/notesSlides/notesSlide10.xml" ContentType="application/vnd.openxmlformats-officedocument.presentationml.notesSlide+xml"/>
  <Override PartName="/ppt/tags/tag55.xml" ContentType="application/vnd.openxmlformats-officedocument.presentationml.tags+xml"/>
  <Override PartName="/ppt/notesSlides/notesSlide11.xml" ContentType="application/vnd.openxmlformats-officedocument.presentationml.notesSlide+xml"/>
  <Override PartName="/ppt/tags/tag56.xml" ContentType="application/vnd.openxmlformats-officedocument.presentationml.tags+xml"/>
  <Override PartName="/ppt/notesSlides/notesSlide12.xml" ContentType="application/vnd.openxmlformats-officedocument.presentationml.notesSlide+xml"/>
  <Override PartName="/ppt/tags/tag57.xml" ContentType="application/vnd.openxmlformats-officedocument.presentationml.tags+xml"/>
  <Override PartName="/ppt/notesSlides/notesSlide13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16.xml" ContentType="application/vnd.openxmlformats-officedocument.presentationml.notesSlide+xml"/>
  <Override PartName="/ppt/charts/chart7.xml" ContentType="application/vnd.openxmlformats-officedocument.drawingml.chart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17.xml" ContentType="application/vnd.openxmlformats-officedocument.presentationml.notesSlide+xml"/>
  <Override PartName="/ppt/tags/tag131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132.xml" ContentType="application/vnd.openxmlformats-officedocument.presentationml.tags+xml"/>
  <Override PartName="/ppt/notesSlides/notesSlide19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170.xml" ContentType="application/vnd.openxmlformats-officedocument.presentationml.tags+xml"/>
  <Override PartName="/ppt/notesSlides/notesSlide21.xml" ContentType="application/vnd.openxmlformats-officedocument.presentationml.notesSlide+xml"/>
  <Override PartName="/ppt/tags/tag171.xml" ContentType="application/vnd.openxmlformats-officedocument.presentationml.tags+xml"/>
  <Override PartName="/ppt/notesSlides/notesSlide22.xml" ContentType="application/vnd.openxmlformats-officedocument.presentationml.notesSlid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notesSlides/notesSlide23.xml" ContentType="application/vnd.openxmlformats-officedocument.presentationml.notesSlide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notesSlides/notesSlide24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tags/tag197.xml" ContentType="application/vnd.openxmlformats-officedocument.presentationml.tags+xml"/>
  <Override PartName="/ppt/notesSlides/notesSlide25.xml" ContentType="application/vnd.openxmlformats-officedocument.presentationml.notesSlide+xml"/>
  <Override PartName="/ppt/tags/tag198.xml" ContentType="application/vnd.openxmlformats-officedocument.presentationml.tags+xml"/>
  <Override PartName="/ppt/notesSlides/notesSlide26.xml" ContentType="application/vnd.openxmlformats-officedocument.presentationml.notesSlide+xml"/>
  <Override PartName="/ppt/tags/tag19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147473085" r:id="rId3"/>
    <p:sldId id="2147473086" r:id="rId4"/>
    <p:sldId id="2147473087" r:id="rId5"/>
    <p:sldId id="332" r:id="rId6"/>
    <p:sldId id="319" r:id="rId7"/>
    <p:sldId id="338" r:id="rId8"/>
    <p:sldId id="2147473081" r:id="rId9"/>
    <p:sldId id="317" r:id="rId10"/>
    <p:sldId id="321" r:id="rId11"/>
    <p:sldId id="334" r:id="rId12"/>
    <p:sldId id="2147473074" r:id="rId13"/>
    <p:sldId id="320" r:id="rId14"/>
    <p:sldId id="2147473083" r:id="rId15"/>
    <p:sldId id="344" r:id="rId16"/>
    <p:sldId id="370" r:id="rId17"/>
    <p:sldId id="372" r:id="rId18"/>
    <p:sldId id="2147473084" r:id="rId19"/>
    <p:sldId id="327" r:id="rId20"/>
    <p:sldId id="331" r:id="rId21"/>
    <p:sldId id="283" r:id="rId22"/>
    <p:sldId id="364" r:id="rId23"/>
    <p:sldId id="326" r:id="rId24"/>
    <p:sldId id="315" r:id="rId25"/>
    <p:sldId id="367" r:id="rId26"/>
    <p:sldId id="339" r:id="rId27"/>
    <p:sldId id="363" r:id="rId28"/>
    <p:sldId id="2147473077" r:id="rId29"/>
    <p:sldId id="341" r:id="rId30"/>
    <p:sldId id="322" r:id="rId31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2147473085"/>
          </p14:sldIdLst>
        </p14:section>
        <p14:section name="1. Why CPO?" id="{200816D2-54B9-45F9-8CDC-D4443BE7A066}">
          <p14:sldIdLst>
            <p14:sldId id="2147473086"/>
          </p14:sldIdLst>
        </p14:section>
        <p14:section name="2. Why optical? Why co-packaged?" id="{9A5BC1CD-E46C-43F3-91AB-DCB40303C4FD}">
          <p14:sldIdLst>
            <p14:sldId id="2147473087"/>
            <p14:sldId id="332"/>
            <p14:sldId id="319"/>
            <p14:sldId id="338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3. Where Optical fits first: scale up or scale out?" id="{1A99B8B5-BE1D-46F2-B67F-83B8C3D9DB4A}">
          <p14:sldIdLst>
            <p14:sldId id="334"/>
            <p14:sldId id="2147473074"/>
            <p14:sldId id="320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44"/>
          </p14:sldIdLst>
        </p14:section>
        <p14:section name="6. Key players to watch: Broadcom and ficonTEC" id="{2FC5CD99-587C-4ED3-8213-2F2A4313F971}">
          <p14:sldIdLst>
            <p14:sldId id="370"/>
            <p14:sldId id="372"/>
            <p14:sldId id="2147473084"/>
            <p14:sldId id="327"/>
            <p14:sldId id="331"/>
            <p14:sldId id="283"/>
          </p14:sldIdLst>
        </p14:section>
        <p14:section name="Appendix" id="{8B5E7F54-8D61-4CE1-89AB-837BCD335EC0}">
          <p14:sldIdLst>
            <p14:sldId id="364"/>
            <p14:sldId id="326"/>
            <p14:sldId id="315"/>
            <p14:sldId id="367"/>
            <p14:sldId id="339"/>
            <p14:sldId id="363"/>
            <p14:sldId id="2147473077"/>
            <p14:sldId id="341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0052D9"/>
    <a:srgbClr val="53585F"/>
    <a:srgbClr val="F2F2F2"/>
    <a:srgbClr val="0256FF"/>
    <a:srgbClr val="E94D12"/>
    <a:srgbClr val="ECF6FF"/>
    <a:srgbClr val="DDE3F1"/>
    <a:srgbClr val="C1E1FE"/>
    <a:srgbClr val="9A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2" autoAdjust="0"/>
    <p:restoredTop sz="94392" autoAdjust="0"/>
  </p:normalViewPr>
  <p:slideViewPr>
    <p:cSldViewPr snapToGrid="0">
      <p:cViewPr>
        <p:scale>
          <a:sx n="75" d="100"/>
          <a:sy n="75" d="100"/>
        </p:scale>
        <p:origin x="266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044368600682595E-2"/>
          <c:y val="0.15735068912710568"/>
          <c:w val="0.81484641638225253"/>
          <c:h val="0.748851454823889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2B4-47EC-90FF-B062007EC5D1}"/>
              </c:ext>
            </c:extLst>
          </c:dPt>
          <c:dPt>
            <c:idx val="3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2B4-47EC-90FF-B062007EC5D1}"/>
              </c:ext>
            </c:extLst>
          </c:dPt>
          <c:dLbls>
            <c:dLbl>
              <c:idx val="1"/>
              <c:layout>
                <c:manualLayout>
                  <c:x val="0.321245733788395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2B4-47EC-90FF-B062007EC5D1}"/>
                </c:ext>
              </c:extLst>
            </c:dLbl>
            <c:dLbl>
              <c:idx val="2"/>
              <c:layout>
                <c:manualLayout>
                  <c:x val="0.4573378839590443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2B4-47EC-90FF-B062007EC5D1}"/>
                </c:ext>
              </c:extLst>
            </c:dLbl>
            <c:dLbl>
              <c:idx val="3"/>
              <c:layout>
                <c:manualLayout>
                  <c:x val="0.1821672354948805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2B4-47EC-90FF-B062007EC5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B4-47EC-90FF-B062007EC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51664"/>
        <c:axId val="1"/>
      </c:barChart>
      <c:catAx>
        <c:axId val="744516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4451664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'P5 铜到光'!$J$2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35-4111-8788-A0F2F6D5ECF1}"/>
            </c:ext>
          </c:extLst>
        </c:ser>
        <c:ser>
          <c:idx val="1"/>
          <c:order val="1"/>
          <c:tx>
            <c:strRef>
              <c:f>'P5 铜到光'!$J$3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35-4111-8788-A0F2F6D5ECF1}"/>
            </c:ext>
          </c:extLst>
        </c:ser>
        <c:ser>
          <c:idx val="2"/>
          <c:order val="2"/>
          <c:tx>
            <c:strRef>
              <c:f>'P5 铜到光'!$J$4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铜到光'!$K$4:$O$4</c:f>
              <c:numCache>
                <c:formatCode>General</c:formatCode>
                <c:ptCount val="5"/>
                <c:pt idx="2">
                  <c:v>620</c:v>
                </c:pt>
                <c:pt idx="3">
                  <c:v>930</c:v>
                </c:pt>
                <c:pt idx="4">
                  <c:v>1860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35-4111-8788-A0F2F6D5EC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01-4F32-B4D6-304B313EE203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01-4F32-B4D6-304B313EE203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01-4F32-B4D6-304B313EE2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483807"/>
        <c:axId val="1"/>
      </c:lineChart>
      <c:catAx>
        <c:axId val="1304838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483807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7719601903937693E-2"/>
          <c:y val="8.2516955538809347E-2"/>
          <c:w val="0.92102985720467334"/>
          <c:h val="0.83496608892238133"/>
        </c:manualLayout>
      </c:layout>
      <c:scatterChart>
        <c:scatterStyle val="lineMarker"/>
        <c:varyColors val="0"/>
        <c:ser>
          <c:idx val="0"/>
          <c:order val="0"/>
          <c:spPr>
            <a:ln w="1270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5313717005625271E-2"/>
                  <c:y val="-4.370761115297663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2E1-467E-A7B2-B131020487C5}"/>
                </c:ext>
              </c:extLst>
            </c:dLbl>
            <c:dLbl>
              <c:idx val="1"/>
              <c:layout>
                <c:manualLayout>
                  <c:x val="0"/>
                  <c:y val="-4.370761115297663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2E1-467E-A7B2-B131020487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38</c:v>
                </c:pt>
                <c:pt idx="1">
                  <c:v>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2E1-467E-A7B2-B131020487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Sheet1!$B$1:$B$17</c:f>
              <c:numCache>
                <c:formatCode>General</c:formatCode>
                <c:ptCount val="17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1E-43AC-97F8-67DCC15B9428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</c:numCache>
            </c:numRef>
          </c:xVal>
          <c:yVal>
            <c:numRef>
              <c:f>Sheet1!$C$1:$C$17</c:f>
              <c:numCache>
                <c:formatCode>General</c:formatCode>
                <c:ptCount val="17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F1E-43AC-97F8-67DCC15B9428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1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F1E-43AC-97F8-67DCC15B9428}"/>
              </c:ext>
            </c:extLst>
          </c:dPt>
          <c:xVal>
            <c:numRef>
              <c:f>Sheet1!$A$1:$A$17</c:f>
              <c:numCache>
                <c:formatCode>General</c:formatCode>
                <c:ptCount val="17"/>
                <c:pt idx="10">
                  <c:v>19723</c:v>
                </c:pt>
                <c:pt idx="11">
                  <c:v>20089</c:v>
                </c:pt>
                <c:pt idx="12">
                  <c:v>20089</c:v>
                </c:pt>
                <c:pt idx="13">
                  <c:v>19723</c:v>
                </c:pt>
                <c:pt idx="14">
                  <c:v>18993</c:v>
                </c:pt>
              </c:numCache>
            </c:numRef>
          </c:xVal>
          <c:yVal>
            <c:numRef>
              <c:f>Sheet1!$D$1:$D$17</c:f>
              <c:numCache>
                <c:formatCode>General</c:formatCode>
                <c:ptCount val="17"/>
                <c:pt idx="10">
                  <c:v>2615</c:v>
                </c:pt>
                <c:pt idx="11">
                  <c:v>5000</c:v>
                </c:pt>
                <c:pt idx="12">
                  <c:v>4600</c:v>
                </c:pt>
                <c:pt idx="13">
                  <c:v>1835</c:v>
                </c:pt>
                <c:pt idx="14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F1E-43AC-97F8-67DCC15B9428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15">
                  <c:v>20089</c:v>
                </c:pt>
                <c:pt idx="16">
                  <c:v>19358</c:v>
                </c:pt>
              </c:numCache>
            </c:numRef>
          </c:xVal>
          <c:yVal>
            <c:numRef>
              <c:f>Sheet1!$E$1:$E$17</c:f>
              <c:numCache>
                <c:formatCode>General</c:formatCode>
                <c:ptCount val="17"/>
                <c:pt idx="15">
                  <c:v>800</c:v>
                </c:pt>
                <c:pt idx="16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F1E-43AC-97F8-67DCC15B9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0527007"/>
        <c:axId val="1"/>
      </c:scatterChart>
      <c:valAx>
        <c:axId val="13052700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52700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12155757974144671"/>
                  <c:y val="-0.1946544213083433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0248825578903519"/>
                      <c:h val="0.1816873838113706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7.701240756926743E-2"/>
                  <c:y val="0.174784340735626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46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9.774977328017645E-3"/>
                  <c:y val="-3.01892174574498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Ficontec!$F$7:$H$7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Jan 2024 - Jul 2024</c:v>
                </c:pt>
              </c:strCache>
            </c:strRef>
          </c:cat>
          <c:val>
            <c:numRef>
              <c:f>Ficontec!$F$8:$H$8</c:f>
              <c:numCache>
                <c:formatCode>_ * #,##0_ ;_ * \-#,##0_ ;_ * "-"??_ ;_ @_ </c:formatCode>
                <c:ptCount val="3"/>
                <c:pt idx="0">
                  <c:v>28668.07</c:v>
                </c:pt>
                <c:pt idx="1">
                  <c:v>38244</c:v>
                </c:pt>
                <c:pt idx="2">
                  <c:v>12807.96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91-47D7-8A8A-519DA28A7FF9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(left)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8770528184642702E-3"/>
                  <c:y val="0.1157411052785069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391-47D7-8A8A-519DA28A7FF9}"/>
                </c:ext>
              </c:extLst>
            </c:dLbl>
            <c:dLbl>
              <c:idx val="1"/>
              <c:layout>
                <c:manualLayout>
                  <c:x val="8.8770528184642702E-3"/>
                  <c:y val="4.62962962962954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391-47D7-8A8A-519DA28A7FF9}"/>
                </c:ext>
              </c:extLst>
            </c:dLbl>
            <c:dLbl>
              <c:idx val="2"/>
              <c:layout>
                <c:manualLayout>
                  <c:x val="2.8850421660008879E-2"/>
                  <c:y val="0.1435196121318168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Ficontec!$F$7:$H$7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Jan 2024 - Jul 2024</c:v>
                </c:pt>
              </c:strCache>
            </c:strRef>
          </c:cat>
          <c:val>
            <c:numRef>
              <c:f>Ficontec!$F$10:$H$10</c:f>
              <c:numCache>
                <c:formatCode>_ * #,##0_ ;_ * \-#,##0_ ;_ * "-"??_ ;_ @_ </c:formatCode>
                <c:ptCount val="3"/>
                <c:pt idx="0">
                  <c:v>-62.61</c:v>
                </c:pt>
                <c:pt idx="1">
                  <c:v>2900.4</c:v>
                </c:pt>
                <c:pt idx="2">
                  <c:v>-2481.16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91-47D7-8A8A-519DA28A7F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1543653644074988E-2"/>
                  <c:y val="-3.01892174574498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391-47D7-8A8A-519DA28A7FF9}"/>
                </c:ext>
              </c:extLst>
            </c:dLbl>
            <c:dLbl>
              <c:idx val="1"/>
              <c:layout>
                <c:manualLayout>
                  <c:x val="3.1768676316057252E-2"/>
                  <c:y val="-3.88147081595783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Ficontec!$F$7:$H$7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Jan 2024 - Jul 2024</c:v>
                </c:pt>
              </c:strCache>
            </c:strRef>
          </c:cat>
          <c:val>
            <c:numRef>
              <c:f>Ficontec!$F$9:$H$9</c:f>
              <c:numCache>
                <c:formatCode>0.0%</c:formatCode>
                <c:ptCount val="3"/>
                <c:pt idx="0">
                  <c:v>0.4163</c:v>
                </c:pt>
                <c:pt idx="1">
                  <c:v>0.41620000000000001</c:v>
                </c:pt>
                <c:pt idx="2">
                  <c:v>0.40639999999999998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391-47D7-8A8A-519DA28A7F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7952858637036635"/>
          <c:w val="1"/>
          <c:h val="0.1788376641899509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7402269861286254"/>
          <c:w val="0.72258064516129028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62-4FCF-991F-262FCD3BEB6E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2673392181588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62-4FCF-991F-262FCD3BEB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801105775"/>
        <c:axId val="1"/>
      </c:barChart>
      <c:catAx>
        <c:axId val="18011057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011057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7402269861286254"/>
          <c:w val="0.92817679558011046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3556116015132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BD-463C-90FC-E5BB06559BA3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BD-463C-90FC-E5BB06559B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91252944"/>
        <c:axId val="1"/>
      </c:barChart>
      <c:catAx>
        <c:axId val="291252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12529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081-4540-9C3A-BFCE62F5BD0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081-4540-9C3A-BFCE62F5BD0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081-4540-9C3A-BFCE62F5BD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81-4540-9C3A-BFCE62F5B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37744"/>
        <c:axId val="1"/>
      </c:barChart>
      <c:catAx>
        <c:axId val="744377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4437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右边的铜为无源铜缆（安费诺、立讯）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上限目前看为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nvl72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，顶多一百多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Meta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dsf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全部用光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现有功耗数据是单模，单模是趋势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800G AEC</a:t>
            </a:r>
            <a:r>
              <a:rPr lang="zh-CN" altLang="en-US" dirty="0"/>
              <a:t> </a:t>
            </a:r>
            <a:r>
              <a:rPr lang="en-US" altLang="zh-CN" dirty="0"/>
              <a:t>10W</a:t>
            </a:r>
            <a:r>
              <a:rPr lang="zh-CN" altLang="en-US" dirty="0"/>
              <a:t>（</a:t>
            </a:r>
            <a:r>
              <a:rPr lang="en-US" altLang="zh-CN" dirty="0"/>
              <a:t>5m</a:t>
            </a:r>
            <a:r>
              <a:rPr lang="zh-CN" altLang="en-US" dirty="0"/>
              <a:t>），</a:t>
            </a:r>
            <a:r>
              <a:rPr lang="en-US" altLang="zh-CN" dirty="0"/>
              <a:t>5W</a:t>
            </a:r>
            <a:r>
              <a:rPr lang="zh-CN" altLang="en-US" dirty="0"/>
              <a:t>有可能是</a:t>
            </a:r>
            <a:r>
              <a:rPr lang="en-US" altLang="zh-CN" dirty="0"/>
              <a:t>half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单模是未来趋势，多模速率难提升（</a:t>
            </a:r>
            <a:r>
              <a:rPr lang="en-US" altLang="zh-CN" dirty="0"/>
              <a:t>224G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功耗测算逻辑：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9216 GPU -&gt; 9216 800G</a:t>
            </a:r>
            <a:r>
              <a:rPr lang="zh-CN" altLang="en-US" dirty="0"/>
              <a:t>光模块 </a:t>
            </a:r>
            <a:r>
              <a:rPr lang="en-US" altLang="zh-CN" dirty="0"/>
              <a:t>+ 14400 1.6T</a:t>
            </a:r>
            <a:r>
              <a:rPr lang="zh-CN" altLang="en-US" dirty="0"/>
              <a:t>光模块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光模块</a:t>
            </a:r>
            <a:r>
              <a:rPr lang="en-US" altLang="zh-CN" dirty="0"/>
              <a:t>-&gt;CPO</a:t>
            </a:r>
            <a:r>
              <a:rPr lang="zh-CN" altLang="en-US" dirty="0"/>
              <a:t>的系统级功耗节约（考虑交换机）：</a:t>
            </a:r>
            <a:r>
              <a:rPr lang="en-US" altLang="zh-CN" dirty="0"/>
              <a:t>800G 22W</a:t>
            </a:r>
            <a:r>
              <a:rPr lang="zh-CN" altLang="en-US" dirty="0"/>
              <a:t>，</a:t>
            </a:r>
            <a:r>
              <a:rPr lang="en-US" altLang="zh-CN" dirty="0"/>
              <a:t>1.6T 48W </a:t>
            </a:r>
            <a:r>
              <a:rPr lang="zh-CN" altLang="en-US" dirty="0"/>
              <a:t>（）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总功耗节约：</a:t>
            </a:r>
            <a:r>
              <a:rPr lang="en-US" altLang="zh-CN" dirty="0"/>
              <a:t>900 kW</a:t>
            </a:r>
          </a:p>
          <a:p>
            <a:pPr marL="0" indent="0">
              <a:buNone/>
            </a:pPr>
            <a:r>
              <a:rPr lang="zh-CN" altLang="en-US" dirty="0"/>
              <a:t>年电费节约：</a:t>
            </a:r>
            <a:r>
              <a:rPr lang="en-US" altLang="zh-CN" dirty="0"/>
              <a:t>5.5 </a:t>
            </a:r>
            <a:r>
              <a:rPr lang="en-US" altLang="zh-CN" dirty="0" err="1"/>
              <a:t>mn</a:t>
            </a:r>
            <a:r>
              <a:rPr lang="en-US" altLang="zh-CN" dirty="0"/>
              <a:t> RMB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LPO </a:t>
            </a:r>
            <a:r>
              <a:rPr lang="zh-CN" altLang="en-US" dirty="0"/>
              <a:t>隐性成本高，稳定性并不理想；线性架构导致性能（连通性）没有那么高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NPO </a:t>
            </a:r>
            <a:r>
              <a:rPr lang="zh-CN" altLang="en-US" dirty="0"/>
              <a:t>压接，非毁坏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OCS</a:t>
            </a:r>
            <a:r>
              <a:rPr lang="zh-CN" altLang="en-US" dirty="0"/>
              <a:t>很难用，需要对模型流量和卡非常了解，技术难点太高。单层级非常大的组网规模可用（可以看一下量）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Scale up</a:t>
            </a:r>
            <a:r>
              <a:rPr lang="zh-CN" altLang="en-US" dirty="0"/>
              <a:t>以后从铜转光的重要原因：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面板上无法容纳光模块过多数量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GPU</a:t>
            </a:r>
            <a:r>
              <a:rPr lang="zh-CN" altLang="en-US" dirty="0"/>
              <a:t>功耗很高，无法容纳高能耗的互联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时延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Sitrus</a:t>
            </a:r>
            <a:r>
              <a:rPr lang="zh-CN" altLang="en-US" dirty="0"/>
              <a:t>、盛科备注</a:t>
            </a:r>
            <a:endParaRPr lang="en-US" altLang="zh-CN" dirty="0"/>
          </a:p>
          <a:p>
            <a:r>
              <a:rPr lang="en-US" altLang="zh-CN" dirty="0"/>
              <a:t>CPO</a:t>
            </a:r>
            <a:r>
              <a:rPr lang="zh-CN" altLang="en-US" dirty="0"/>
              <a:t>线性对</a:t>
            </a:r>
            <a:r>
              <a:rPr lang="en-US" altLang="zh-CN" dirty="0" err="1"/>
              <a:t>serdes</a:t>
            </a:r>
            <a:r>
              <a:rPr lang="zh-CN" altLang="en-US" dirty="0"/>
              <a:t>要求更高</a:t>
            </a:r>
            <a:endParaRPr lang="en-US" altLang="zh-CN" dirty="0"/>
          </a:p>
          <a:p>
            <a:r>
              <a:rPr lang="en-US" altLang="zh-CN" dirty="0"/>
              <a:t>Scale up</a:t>
            </a:r>
            <a:r>
              <a:rPr lang="zh-CN" altLang="en-US" dirty="0"/>
              <a:t>的光可能更快发生：</a:t>
            </a:r>
            <a:r>
              <a:rPr lang="en-US" altLang="zh-CN" dirty="0"/>
              <a:t>OCP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363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. Meta</a:t>
            </a:r>
            <a:r>
              <a:rPr lang="zh-CN" altLang="en-US" dirty="0"/>
              <a:t>正在小规模试验点，稳定性有待商榷（</a:t>
            </a:r>
            <a:r>
              <a:rPr lang="en-US" altLang="zh-CN" dirty="0"/>
              <a:t>BER</a:t>
            </a:r>
            <a:r>
              <a:rPr lang="zh-CN" altLang="en-US" dirty="0"/>
              <a:t>相比</a:t>
            </a:r>
            <a:r>
              <a:rPr lang="en-US" altLang="zh-CN" dirty="0"/>
              <a:t>PO</a:t>
            </a:r>
            <a:r>
              <a:rPr lang="zh-CN" altLang="en-US" dirty="0"/>
              <a:t>低两到三个数量级，但比</a:t>
            </a:r>
            <a:r>
              <a:rPr lang="en-US" altLang="zh-CN" dirty="0"/>
              <a:t>TH 4</a:t>
            </a:r>
            <a:r>
              <a:rPr lang="zh-CN" altLang="en-US" dirty="0"/>
              <a:t>高 </a:t>
            </a:r>
            <a:r>
              <a:rPr lang="en-US" altLang="zh-CN" dirty="0"/>
              <a:t>2-3</a:t>
            </a:r>
            <a:r>
              <a:rPr lang="zh-CN" altLang="en-US" dirty="0"/>
              <a:t>个数量级）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光模块配比：线性</a:t>
            </a:r>
            <a:r>
              <a:rPr lang="en-US" altLang="zh-CN" dirty="0"/>
              <a:t>+</a:t>
            </a:r>
            <a:r>
              <a:rPr lang="zh-CN" altLang="en-US" dirty="0"/>
              <a:t>阶跃</a:t>
            </a:r>
            <a:endParaRPr lang="en-US" dirty="0"/>
          </a:p>
          <a:p>
            <a:r>
              <a:rPr lang="en-US" dirty="0"/>
              <a:t>1</a:t>
            </a:r>
            <a:r>
              <a:rPr lang="zh-CN" altLang="en-US" dirty="0"/>
              <a:t>层：几百到几千，</a:t>
            </a:r>
            <a:r>
              <a:rPr lang="en-US" altLang="zh-CN" dirty="0"/>
              <a:t>1:3</a:t>
            </a:r>
          </a:p>
          <a:p>
            <a:r>
              <a:rPr lang="en-US" dirty="0"/>
              <a:t>2</a:t>
            </a:r>
            <a:r>
              <a:rPr lang="zh-CN" altLang="en-US" dirty="0"/>
              <a:t>层：万卡，</a:t>
            </a:r>
            <a:r>
              <a:rPr lang="en-US" altLang="zh-CN" dirty="0"/>
              <a:t>1:5</a:t>
            </a:r>
          </a:p>
          <a:p>
            <a:r>
              <a:rPr lang="en-US" dirty="0"/>
              <a:t>3</a:t>
            </a:r>
            <a:r>
              <a:rPr lang="zh-CN" altLang="en-US" dirty="0"/>
              <a:t>层：大几万卡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谷歌</a:t>
            </a:r>
            <a:r>
              <a:rPr lang="en-US" altLang="zh-CN" dirty="0"/>
              <a:t>TPU</a:t>
            </a:r>
            <a:r>
              <a:rPr lang="zh-CN" altLang="en-US" dirty="0"/>
              <a:t>出货量：</a:t>
            </a:r>
            <a:r>
              <a:rPr lang="en-US" altLang="zh-CN" dirty="0"/>
              <a:t>2025, 2-2.5mn</a:t>
            </a:r>
            <a:r>
              <a:rPr lang="zh-CN" altLang="en-US" dirty="0"/>
              <a:t>，占</a:t>
            </a:r>
            <a:r>
              <a:rPr lang="en-US" altLang="zh-CN" dirty="0"/>
              <a:t>60%</a:t>
            </a:r>
            <a:r>
              <a:rPr lang="zh-CN" altLang="en-US" dirty="0"/>
              <a:t>以上（份额预计长期保持）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博通</a:t>
            </a:r>
            <a:r>
              <a:rPr lang="en-US" altLang="zh-CN" dirty="0"/>
              <a:t>TH6 CPO</a:t>
            </a:r>
            <a:r>
              <a:rPr lang="zh-CN" altLang="en-US" dirty="0"/>
              <a:t>芯片报价：可能为</a:t>
            </a:r>
            <a:r>
              <a:rPr lang="en-US" altLang="zh-CN" dirty="0"/>
              <a:t>$20k</a:t>
            </a:r>
            <a:r>
              <a:rPr lang="zh-CN" altLang="en-US" dirty="0"/>
              <a:t>，</a:t>
            </a:r>
            <a:r>
              <a:rPr lang="en-US" altLang="zh-CN" dirty="0"/>
              <a:t>BOM</a:t>
            </a:r>
            <a:r>
              <a:rPr lang="zh-CN" altLang="en-US" dirty="0"/>
              <a:t>占比</a:t>
            </a:r>
            <a:r>
              <a:rPr lang="en-US" altLang="zh-CN" dirty="0"/>
              <a:t>20-30%</a:t>
            </a:r>
            <a:r>
              <a:rPr lang="zh-CN" altLang="en-US" dirty="0"/>
              <a:t>，整机价格</a:t>
            </a:r>
            <a:r>
              <a:rPr lang="en-US" altLang="zh-CN" dirty="0"/>
              <a:t>$60-100k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第一代样机</a:t>
            </a:r>
            <a:r>
              <a:rPr lang="en-US" altLang="zh-CN" dirty="0"/>
              <a:t>TH4</a:t>
            </a:r>
            <a:r>
              <a:rPr lang="zh-CN" altLang="en-US" dirty="0"/>
              <a:t>已在机房跑测试</a:t>
            </a:r>
            <a:endParaRPr lang="en-US" altLang="zh-CN" dirty="0"/>
          </a:p>
          <a:p>
            <a:r>
              <a:rPr lang="en-US" altLang="zh-CN" dirty="0"/>
              <a:t>TH5</a:t>
            </a:r>
            <a:r>
              <a:rPr lang="zh-CN" altLang="en-US" dirty="0"/>
              <a:t>正在测试，还没测完，</a:t>
            </a:r>
            <a:r>
              <a:rPr lang="en-US" altLang="zh-CN" dirty="0"/>
              <a:t>Meta</a:t>
            </a:r>
            <a:r>
              <a:rPr lang="zh-CN" altLang="en-US" dirty="0"/>
              <a:t>的数据来看还需要打磨稳定性（误码率</a:t>
            </a:r>
            <a:r>
              <a:rPr lang="en-US" altLang="zh-CN" dirty="0"/>
              <a:t>1e-9</a:t>
            </a:r>
            <a:r>
              <a:rPr lang="zh-CN" altLang="en-US" dirty="0"/>
              <a:t>、误码分布是否在纠错码的纠错范围内</a:t>
            </a:r>
            <a:r>
              <a:rPr lang="en-US" altLang="zh-CN" dirty="0"/>
              <a:t>+Buff</a:t>
            </a:r>
          </a:p>
          <a:p>
            <a:r>
              <a:rPr lang="en-US" altLang="zh-CN" dirty="0"/>
              <a:t>er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ASIC 43%</a:t>
            </a:r>
            <a:r>
              <a:rPr lang="zh-CN" altLang="en-US" dirty="0"/>
              <a:t>的</a:t>
            </a:r>
            <a:r>
              <a:rPr lang="en-US" altLang="zh-CN" dirty="0"/>
              <a:t>share</a:t>
            </a:r>
            <a:r>
              <a:rPr lang="zh-CN" altLang="en-US" dirty="0"/>
              <a:t>在</a:t>
            </a:r>
            <a:r>
              <a:rPr lang="en-US" altLang="zh-CN" dirty="0"/>
              <a:t>26</a:t>
            </a:r>
            <a:r>
              <a:rPr lang="zh-CN" altLang="en-US" dirty="0"/>
              <a:t>年比较</a:t>
            </a:r>
            <a:r>
              <a:rPr lang="en-US" altLang="zh-CN" dirty="0"/>
              <a:t>fair</a:t>
            </a:r>
          </a:p>
          <a:p>
            <a:endParaRPr lang="en-US" altLang="zh-CN" dirty="0"/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计算卡出货量（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2025E</a:t>
            </a:r>
            <a:r>
              <a:rPr lang="en-US" altLang="zh-CN" dirty="0"/>
              <a:t> </a:t>
            </a:r>
          </a:p>
          <a:p>
            <a:r>
              <a:rPr lang="en-US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550</a:t>
            </a:r>
            <a:r>
              <a:rPr lang="en-US" altLang="zh-CN" dirty="0"/>
              <a:t> </a:t>
            </a:r>
          </a:p>
          <a:p>
            <a:r>
              <a:rPr lang="en-US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ASIC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390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 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Others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博通：通过</a:t>
            </a:r>
            <a:r>
              <a:rPr lang="en-US" altLang="zh-CN" dirty="0"/>
              <a:t>CPO</a:t>
            </a:r>
            <a:r>
              <a:rPr lang="zh-CN" altLang="en-US" dirty="0"/>
              <a:t>绑定光、电芯片，产业链绑定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光进铜退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场景：光会先在</a:t>
            </a:r>
            <a:r>
              <a:rPr lang="en-US" altLang="zh-CN" dirty="0"/>
              <a:t>scale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路径：长期</a:t>
            </a:r>
            <a:r>
              <a:rPr lang="en-US" altLang="zh-CN" dirty="0"/>
              <a:t>CPO</a:t>
            </a:r>
            <a:r>
              <a:rPr lang="zh-CN" altLang="en-US" dirty="0"/>
              <a:t>短期不明朗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3350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删</a:t>
            </a: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7.xml"/><Relationship Id="rId7" Type="http://schemas.openxmlformats.org/officeDocument/2006/relationships/oleObject" Target="../embeddings/oleObject4.bin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2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10" Type="http://schemas.openxmlformats.org/officeDocument/2006/relationships/chart" Target="../charts/chart1.xml"/><Relationship Id="rId4" Type="http://schemas.openxmlformats.org/officeDocument/2006/relationships/tags" Target="../tags/tag13.xml"/><Relationship Id="rId9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jpe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chart" Target="../charts/chart2.xml"/><Relationship Id="rId17" Type="http://schemas.openxmlformats.org/officeDocument/2006/relationships/image" Target="../media/image22.jpeg"/><Relationship Id="rId2" Type="http://schemas.openxmlformats.org/officeDocument/2006/relationships/tags" Target="../tags/tag16.xml"/><Relationship Id="rId16" Type="http://schemas.microsoft.com/office/2007/relationships/hdphoto" Target="../media/hdphoto2.wdp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8.emf"/><Relationship Id="rId5" Type="http://schemas.openxmlformats.org/officeDocument/2006/relationships/tags" Target="../tags/tag19.xml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7.bin"/><Relationship Id="rId4" Type="http://schemas.openxmlformats.org/officeDocument/2006/relationships/tags" Target="../tags/tag18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4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chart" Target="../charts/chart3.xml"/><Relationship Id="rId2" Type="http://schemas.openxmlformats.org/officeDocument/2006/relationships/tags" Target="../tags/tag23.xml"/><Relationship Id="rId16" Type="http://schemas.openxmlformats.org/officeDocument/2006/relationships/image" Target="../media/image8.emf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image" Target="../media/image25.png"/><Relationship Id="rId3" Type="http://schemas.openxmlformats.org/officeDocument/2006/relationships/tags" Target="../tags/tag36.xml"/><Relationship Id="rId21" Type="http://schemas.openxmlformats.org/officeDocument/2006/relationships/notesSlide" Target="../notesSlides/notesSlide8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image" Target="../media/image24.png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slideLayout" Target="../slideLayouts/slideLayout2.xml"/><Relationship Id="rId29" Type="http://schemas.openxmlformats.org/officeDocument/2006/relationships/image" Target="../media/image28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image" Target="../media/image23.png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image" Target="../media/image18.emf"/><Relationship Id="rId28" Type="http://schemas.openxmlformats.org/officeDocument/2006/relationships/image" Target="../media/image27.jpeg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oleObject" Target="../embeddings/oleObject9.bin"/><Relationship Id="rId27" Type="http://schemas.openxmlformats.org/officeDocument/2006/relationships/image" Target="../media/image26.png"/><Relationship Id="rId30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6" Type="http://schemas.openxmlformats.org/officeDocument/2006/relationships/image" Target="../media/image15.png"/><Relationship Id="rId5" Type="http://schemas.openxmlformats.org/officeDocument/2006/relationships/image" Target="../media/image8.emf"/><Relationship Id="rId10" Type="http://schemas.openxmlformats.org/officeDocument/2006/relationships/image" Target="../media/image37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image" Target="../media/image7.emf"/><Relationship Id="rId3" Type="http://schemas.openxmlformats.org/officeDocument/2006/relationships/tags" Target="../tags/tag60.xml"/><Relationship Id="rId21" Type="http://schemas.openxmlformats.org/officeDocument/2006/relationships/image" Target="../media/image25.png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oleObject" Target="../embeddings/oleObject15.bin"/><Relationship Id="rId2" Type="http://schemas.openxmlformats.org/officeDocument/2006/relationships/tags" Target="../tags/tag59.xml"/><Relationship Id="rId16" Type="http://schemas.openxmlformats.org/officeDocument/2006/relationships/notesSlide" Target="../notesSlides/notesSlide14.xml"/><Relationship Id="rId20" Type="http://schemas.openxmlformats.org/officeDocument/2006/relationships/image" Target="../media/image10.png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24" Type="http://schemas.openxmlformats.org/officeDocument/2006/relationships/chart" Target="../charts/chart5.xml"/><Relationship Id="rId5" Type="http://schemas.openxmlformats.org/officeDocument/2006/relationships/tags" Target="../tags/tag62.xml"/><Relationship Id="rId15" Type="http://schemas.openxmlformats.org/officeDocument/2006/relationships/slideLayout" Target="../slideLayouts/slideLayout13.xml"/><Relationship Id="rId23" Type="http://schemas.openxmlformats.org/officeDocument/2006/relationships/image" Target="../media/image45.jpeg"/><Relationship Id="rId10" Type="http://schemas.openxmlformats.org/officeDocument/2006/relationships/tags" Target="../tags/tag67.xml"/><Relationship Id="rId19" Type="http://schemas.openxmlformats.org/officeDocument/2006/relationships/image" Target="../media/image9.png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Relationship Id="rId22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8.png"/><Relationship Id="rId21" Type="http://schemas.openxmlformats.org/officeDocument/2006/relationships/image" Target="../media/image55.png"/><Relationship Id="rId42" Type="http://schemas.microsoft.com/office/2007/relationships/hdphoto" Target="../media/hdphoto18.wdp"/><Relationship Id="rId47" Type="http://schemas.openxmlformats.org/officeDocument/2006/relationships/image" Target="../media/image71.png"/><Relationship Id="rId63" Type="http://schemas.microsoft.com/office/2007/relationships/hdphoto" Target="../media/hdphoto27.wdp"/><Relationship Id="rId68" Type="http://schemas.openxmlformats.org/officeDocument/2006/relationships/image" Target="../media/image36.png"/><Relationship Id="rId16" Type="http://schemas.openxmlformats.org/officeDocument/2006/relationships/image" Target="../media/image52.png"/><Relationship Id="rId11" Type="http://schemas.microsoft.com/office/2007/relationships/hdphoto" Target="../media/hdphoto9.wdp"/><Relationship Id="rId32" Type="http://schemas.openxmlformats.org/officeDocument/2006/relationships/image" Target="../media/image62.png"/><Relationship Id="rId37" Type="http://schemas.openxmlformats.org/officeDocument/2006/relationships/image" Target="../media/image66.png"/><Relationship Id="rId53" Type="http://schemas.openxmlformats.org/officeDocument/2006/relationships/image" Target="../media/image73.png"/><Relationship Id="rId58" Type="http://schemas.openxmlformats.org/officeDocument/2006/relationships/image" Target="../media/image76.png"/><Relationship Id="rId74" Type="http://schemas.microsoft.com/office/2007/relationships/hdphoto" Target="../media/hdphoto31.wdp"/><Relationship Id="rId79" Type="http://schemas.openxmlformats.org/officeDocument/2006/relationships/image" Target="../media/image87.png"/><Relationship Id="rId5" Type="http://schemas.openxmlformats.org/officeDocument/2006/relationships/image" Target="../media/image46.png"/><Relationship Id="rId61" Type="http://schemas.microsoft.com/office/2007/relationships/hdphoto" Target="../media/hdphoto26.wdp"/><Relationship Id="rId82" Type="http://schemas.microsoft.com/office/2007/relationships/hdphoto" Target="../media/hdphoto35.wdp"/><Relationship Id="rId19" Type="http://schemas.openxmlformats.org/officeDocument/2006/relationships/image" Target="../media/image24.png"/><Relationship Id="rId14" Type="http://schemas.openxmlformats.org/officeDocument/2006/relationships/image" Target="../media/image51.png"/><Relationship Id="rId22" Type="http://schemas.openxmlformats.org/officeDocument/2006/relationships/image" Target="../media/image56.png"/><Relationship Id="rId27" Type="http://schemas.openxmlformats.org/officeDocument/2006/relationships/image" Target="../media/image59.png"/><Relationship Id="rId30" Type="http://schemas.openxmlformats.org/officeDocument/2006/relationships/image" Target="../media/image61.png"/><Relationship Id="rId35" Type="http://schemas.openxmlformats.org/officeDocument/2006/relationships/image" Target="../media/image64.png"/><Relationship Id="rId43" Type="http://schemas.openxmlformats.org/officeDocument/2006/relationships/image" Target="../media/image69.png"/><Relationship Id="rId48" Type="http://schemas.microsoft.com/office/2007/relationships/hdphoto" Target="../media/hdphoto21.wdp"/><Relationship Id="rId56" Type="http://schemas.openxmlformats.org/officeDocument/2006/relationships/image" Target="../media/image75.png"/><Relationship Id="rId64" Type="http://schemas.openxmlformats.org/officeDocument/2006/relationships/image" Target="../media/image79.png"/><Relationship Id="rId69" Type="http://schemas.openxmlformats.org/officeDocument/2006/relationships/image" Target="../media/image81.png"/><Relationship Id="rId77" Type="http://schemas.openxmlformats.org/officeDocument/2006/relationships/image" Target="../media/image86.png"/><Relationship Id="rId8" Type="http://schemas.openxmlformats.org/officeDocument/2006/relationships/image" Target="../media/image48.png"/><Relationship Id="rId51" Type="http://schemas.openxmlformats.org/officeDocument/2006/relationships/image" Target="../media/image72.png"/><Relationship Id="rId72" Type="http://schemas.microsoft.com/office/2007/relationships/hdphoto" Target="../media/hdphoto30.wdp"/><Relationship Id="rId80" Type="http://schemas.microsoft.com/office/2007/relationships/hdphoto" Target="../media/hdphoto34.wdp"/><Relationship Id="rId3" Type="http://schemas.openxmlformats.org/officeDocument/2006/relationships/oleObject" Target="../embeddings/oleObject16.bin"/><Relationship Id="rId12" Type="http://schemas.openxmlformats.org/officeDocument/2006/relationships/image" Target="../media/image50.png"/><Relationship Id="rId17" Type="http://schemas.microsoft.com/office/2007/relationships/hdphoto" Target="../media/hdphoto11.wdp"/><Relationship Id="rId25" Type="http://schemas.microsoft.com/office/2007/relationships/hdphoto" Target="../media/hdphoto13.wdp"/><Relationship Id="rId33" Type="http://schemas.microsoft.com/office/2007/relationships/hdphoto" Target="../media/hdphoto16.wdp"/><Relationship Id="rId38" Type="http://schemas.openxmlformats.org/officeDocument/2006/relationships/image" Target="../media/image67.png"/><Relationship Id="rId46" Type="http://schemas.microsoft.com/office/2007/relationships/hdphoto" Target="../media/hdphoto20.wdp"/><Relationship Id="rId59" Type="http://schemas.microsoft.com/office/2007/relationships/hdphoto" Target="../media/hdphoto25.wdp"/><Relationship Id="rId67" Type="http://schemas.microsoft.com/office/2007/relationships/hdphoto" Target="../media/hdphoto29.wdp"/><Relationship Id="rId20" Type="http://schemas.openxmlformats.org/officeDocument/2006/relationships/image" Target="../media/image54.png"/><Relationship Id="rId41" Type="http://schemas.openxmlformats.org/officeDocument/2006/relationships/image" Target="../media/image68.png"/><Relationship Id="rId54" Type="http://schemas.openxmlformats.org/officeDocument/2006/relationships/image" Target="../media/image74.png"/><Relationship Id="rId62" Type="http://schemas.openxmlformats.org/officeDocument/2006/relationships/image" Target="../media/image78.png"/><Relationship Id="rId70" Type="http://schemas.openxmlformats.org/officeDocument/2006/relationships/image" Target="../media/image82.png"/><Relationship Id="rId75" Type="http://schemas.openxmlformats.org/officeDocument/2006/relationships/image" Target="../media/image85.png"/><Relationship Id="rId83" Type="http://schemas.openxmlformats.org/officeDocument/2006/relationships/image" Target="../media/image89.png"/><Relationship Id="rId1" Type="http://schemas.openxmlformats.org/officeDocument/2006/relationships/tags" Target="../tags/tag72.xml"/><Relationship Id="rId6" Type="http://schemas.microsoft.com/office/2007/relationships/hdphoto" Target="../media/hdphoto7.wdp"/><Relationship Id="rId15" Type="http://schemas.microsoft.com/office/2007/relationships/hdphoto" Target="../media/hdphoto10.wdp"/><Relationship Id="rId23" Type="http://schemas.microsoft.com/office/2007/relationships/hdphoto" Target="../media/hdphoto12.wdp"/><Relationship Id="rId28" Type="http://schemas.microsoft.com/office/2007/relationships/hdphoto" Target="../media/hdphoto14.wdp"/><Relationship Id="rId36" Type="http://schemas.openxmlformats.org/officeDocument/2006/relationships/image" Target="../media/image65.png"/><Relationship Id="rId49" Type="http://schemas.openxmlformats.org/officeDocument/2006/relationships/image" Target="../media/image28.png"/><Relationship Id="rId57" Type="http://schemas.microsoft.com/office/2007/relationships/hdphoto" Target="../media/hdphoto24.wdp"/><Relationship Id="rId10" Type="http://schemas.openxmlformats.org/officeDocument/2006/relationships/image" Target="../media/image49.png"/><Relationship Id="rId31" Type="http://schemas.microsoft.com/office/2007/relationships/hdphoto" Target="../media/hdphoto15.wdp"/><Relationship Id="rId44" Type="http://schemas.microsoft.com/office/2007/relationships/hdphoto" Target="../media/hdphoto19.wdp"/><Relationship Id="rId52" Type="http://schemas.microsoft.com/office/2007/relationships/hdphoto" Target="../media/hdphoto22.wdp"/><Relationship Id="rId60" Type="http://schemas.openxmlformats.org/officeDocument/2006/relationships/image" Target="../media/image77.png"/><Relationship Id="rId65" Type="http://schemas.microsoft.com/office/2007/relationships/hdphoto" Target="../media/hdphoto28.wdp"/><Relationship Id="rId73" Type="http://schemas.openxmlformats.org/officeDocument/2006/relationships/image" Target="../media/image84.png"/><Relationship Id="rId78" Type="http://schemas.microsoft.com/office/2007/relationships/hdphoto" Target="../media/hdphoto33.wdp"/><Relationship Id="rId81" Type="http://schemas.openxmlformats.org/officeDocument/2006/relationships/image" Target="../media/image88.png"/><Relationship Id="rId4" Type="http://schemas.openxmlformats.org/officeDocument/2006/relationships/image" Target="../media/image8.emf"/><Relationship Id="rId9" Type="http://schemas.microsoft.com/office/2007/relationships/hdphoto" Target="../media/hdphoto8.wdp"/><Relationship Id="rId13" Type="http://schemas.openxmlformats.org/officeDocument/2006/relationships/image" Target="../media/image23.png"/><Relationship Id="rId18" Type="http://schemas.openxmlformats.org/officeDocument/2006/relationships/image" Target="../media/image53.png"/><Relationship Id="rId39" Type="http://schemas.microsoft.com/office/2007/relationships/hdphoto" Target="../media/hdphoto17.wdp"/><Relationship Id="rId34" Type="http://schemas.openxmlformats.org/officeDocument/2006/relationships/image" Target="../media/image63.png"/><Relationship Id="rId50" Type="http://schemas.microsoft.com/office/2007/relationships/hdphoto" Target="../media/hdphoto3.wdp"/><Relationship Id="rId55" Type="http://schemas.microsoft.com/office/2007/relationships/hdphoto" Target="../media/hdphoto23.wdp"/><Relationship Id="rId76" Type="http://schemas.microsoft.com/office/2007/relationships/hdphoto" Target="../media/hdphoto32.wdp"/><Relationship Id="rId7" Type="http://schemas.openxmlformats.org/officeDocument/2006/relationships/image" Target="../media/image47.png"/><Relationship Id="rId71" Type="http://schemas.openxmlformats.org/officeDocument/2006/relationships/image" Target="../media/image83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0.png"/><Relationship Id="rId24" Type="http://schemas.openxmlformats.org/officeDocument/2006/relationships/image" Target="../media/image57.png"/><Relationship Id="rId40" Type="http://schemas.openxmlformats.org/officeDocument/2006/relationships/image" Target="../media/image35.png"/><Relationship Id="rId45" Type="http://schemas.openxmlformats.org/officeDocument/2006/relationships/image" Target="../media/image70.png"/><Relationship Id="rId66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chart" Target="../charts/chart6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image" Target="../media/image18.emf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77.xml"/><Relationship Id="rId10" Type="http://schemas.openxmlformats.org/officeDocument/2006/relationships/notesSlide" Target="../notesSlides/notesSlide15.xml"/><Relationship Id="rId4" Type="http://schemas.openxmlformats.org/officeDocument/2006/relationships/tags" Target="../tags/tag76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93.xml"/><Relationship Id="rId18" Type="http://schemas.openxmlformats.org/officeDocument/2006/relationships/tags" Target="../tags/tag98.xml"/><Relationship Id="rId26" Type="http://schemas.openxmlformats.org/officeDocument/2006/relationships/tags" Target="../tags/tag106.xml"/><Relationship Id="rId39" Type="http://schemas.openxmlformats.org/officeDocument/2006/relationships/tags" Target="../tags/tag119.xml"/><Relationship Id="rId21" Type="http://schemas.openxmlformats.org/officeDocument/2006/relationships/tags" Target="../tags/tag101.xml"/><Relationship Id="rId34" Type="http://schemas.openxmlformats.org/officeDocument/2006/relationships/tags" Target="../tags/tag114.xml"/><Relationship Id="rId42" Type="http://schemas.openxmlformats.org/officeDocument/2006/relationships/tags" Target="../tags/tag122.xml"/><Relationship Id="rId47" Type="http://schemas.openxmlformats.org/officeDocument/2006/relationships/image" Target="../media/image18.emf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6" Type="http://schemas.openxmlformats.org/officeDocument/2006/relationships/tags" Target="../tags/tag96.xml"/><Relationship Id="rId29" Type="http://schemas.openxmlformats.org/officeDocument/2006/relationships/tags" Target="../tags/tag109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tags" Target="../tags/tag91.xml"/><Relationship Id="rId24" Type="http://schemas.openxmlformats.org/officeDocument/2006/relationships/tags" Target="../tags/tag104.xml"/><Relationship Id="rId32" Type="http://schemas.openxmlformats.org/officeDocument/2006/relationships/tags" Target="../tags/tag112.xml"/><Relationship Id="rId37" Type="http://schemas.openxmlformats.org/officeDocument/2006/relationships/tags" Target="../tags/tag117.xml"/><Relationship Id="rId40" Type="http://schemas.openxmlformats.org/officeDocument/2006/relationships/tags" Target="../tags/tag120.xml"/><Relationship Id="rId45" Type="http://schemas.openxmlformats.org/officeDocument/2006/relationships/notesSlide" Target="../notesSlides/notesSlide16.xml"/><Relationship Id="rId5" Type="http://schemas.openxmlformats.org/officeDocument/2006/relationships/tags" Target="../tags/tag85.xml"/><Relationship Id="rId15" Type="http://schemas.openxmlformats.org/officeDocument/2006/relationships/tags" Target="../tags/tag95.xml"/><Relationship Id="rId23" Type="http://schemas.openxmlformats.org/officeDocument/2006/relationships/tags" Target="../tags/tag103.xml"/><Relationship Id="rId28" Type="http://schemas.openxmlformats.org/officeDocument/2006/relationships/tags" Target="../tags/tag108.xml"/><Relationship Id="rId36" Type="http://schemas.openxmlformats.org/officeDocument/2006/relationships/tags" Target="../tags/tag116.xml"/><Relationship Id="rId10" Type="http://schemas.openxmlformats.org/officeDocument/2006/relationships/tags" Target="../tags/tag90.xml"/><Relationship Id="rId19" Type="http://schemas.openxmlformats.org/officeDocument/2006/relationships/tags" Target="../tags/tag99.xml"/><Relationship Id="rId31" Type="http://schemas.openxmlformats.org/officeDocument/2006/relationships/tags" Target="../tags/tag111.xml"/><Relationship Id="rId44" Type="http://schemas.openxmlformats.org/officeDocument/2006/relationships/slideLayout" Target="../slideLayouts/slideLayout2.xml"/><Relationship Id="rId4" Type="http://schemas.openxmlformats.org/officeDocument/2006/relationships/tags" Target="../tags/tag84.xml"/><Relationship Id="rId9" Type="http://schemas.openxmlformats.org/officeDocument/2006/relationships/tags" Target="../tags/tag89.xml"/><Relationship Id="rId14" Type="http://schemas.openxmlformats.org/officeDocument/2006/relationships/tags" Target="../tags/tag94.xml"/><Relationship Id="rId22" Type="http://schemas.openxmlformats.org/officeDocument/2006/relationships/tags" Target="../tags/tag102.xml"/><Relationship Id="rId27" Type="http://schemas.openxmlformats.org/officeDocument/2006/relationships/tags" Target="../tags/tag107.xml"/><Relationship Id="rId30" Type="http://schemas.openxmlformats.org/officeDocument/2006/relationships/tags" Target="../tags/tag110.xml"/><Relationship Id="rId35" Type="http://schemas.openxmlformats.org/officeDocument/2006/relationships/tags" Target="../tags/tag115.xml"/><Relationship Id="rId43" Type="http://schemas.openxmlformats.org/officeDocument/2006/relationships/tags" Target="../tags/tag123.xml"/><Relationship Id="rId48" Type="http://schemas.openxmlformats.org/officeDocument/2006/relationships/chart" Target="../charts/chart7.xml"/><Relationship Id="rId8" Type="http://schemas.openxmlformats.org/officeDocument/2006/relationships/tags" Target="../tags/tag88.xml"/><Relationship Id="rId3" Type="http://schemas.openxmlformats.org/officeDocument/2006/relationships/tags" Target="../tags/tag83.xml"/><Relationship Id="rId12" Type="http://schemas.openxmlformats.org/officeDocument/2006/relationships/tags" Target="../tags/tag92.xml"/><Relationship Id="rId17" Type="http://schemas.openxmlformats.org/officeDocument/2006/relationships/tags" Target="../tags/tag97.xml"/><Relationship Id="rId25" Type="http://schemas.openxmlformats.org/officeDocument/2006/relationships/tags" Target="../tags/tag105.xml"/><Relationship Id="rId33" Type="http://schemas.openxmlformats.org/officeDocument/2006/relationships/tags" Target="../tags/tag113.xml"/><Relationship Id="rId38" Type="http://schemas.openxmlformats.org/officeDocument/2006/relationships/tags" Target="../tags/tag118.xml"/><Relationship Id="rId46" Type="http://schemas.openxmlformats.org/officeDocument/2006/relationships/oleObject" Target="../embeddings/oleObject18.bin"/><Relationship Id="rId20" Type="http://schemas.openxmlformats.org/officeDocument/2006/relationships/tags" Target="../tags/tag100.xml"/><Relationship Id="rId41" Type="http://schemas.openxmlformats.org/officeDocument/2006/relationships/tags" Target="../tags/tag12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tags" Target="../tags/tag126.xml"/><Relationship Id="rId21" Type="http://schemas.openxmlformats.org/officeDocument/2006/relationships/image" Target="../media/image97.png"/><Relationship Id="rId7" Type="http://schemas.openxmlformats.org/officeDocument/2006/relationships/tags" Target="../tags/tag130.xml"/><Relationship Id="rId12" Type="http://schemas.openxmlformats.org/officeDocument/2006/relationships/image" Target="../media/image47.png"/><Relationship Id="rId17" Type="http://schemas.openxmlformats.org/officeDocument/2006/relationships/image" Target="../media/image94.png"/><Relationship Id="rId25" Type="http://schemas.openxmlformats.org/officeDocument/2006/relationships/image" Target="../media/image100.png"/><Relationship Id="rId2" Type="http://schemas.openxmlformats.org/officeDocument/2006/relationships/tags" Target="../tags/tag125.xml"/><Relationship Id="rId16" Type="http://schemas.openxmlformats.org/officeDocument/2006/relationships/image" Target="../media/image93.jpeg"/><Relationship Id="rId20" Type="http://schemas.openxmlformats.org/officeDocument/2006/relationships/image" Target="../media/image50.png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image" Target="../media/image18.emf"/><Relationship Id="rId24" Type="http://schemas.openxmlformats.org/officeDocument/2006/relationships/image" Target="../media/image99.png"/><Relationship Id="rId5" Type="http://schemas.openxmlformats.org/officeDocument/2006/relationships/tags" Target="../tags/tag128.xml"/><Relationship Id="rId15" Type="http://schemas.openxmlformats.org/officeDocument/2006/relationships/image" Target="../media/image92.png"/><Relationship Id="rId23" Type="http://schemas.microsoft.com/office/2007/relationships/hdphoto" Target="../media/hdphoto36.wdp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96.png"/><Relationship Id="rId4" Type="http://schemas.openxmlformats.org/officeDocument/2006/relationships/tags" Target="../tags/tag127.xml"/><Relationship Id="rId9" Type="http://schemas.openxmlformats.org/officeDocument/2006/relationships/notesSlide" Target="../notesSlides/notesSlide17.xml"/><Relationship Id="rId14" Type="http://schemas.openxmlformats.org/officeDocument/2006/relationships/image" Target="../media/image91.png"/><Relationship Id="rId22" Type="http://schemas.openxmlformats.org/officeDocument/2006/relationships/image" Target="../media/image9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microsoft.com/office/2007/relationships/hdphoto" Target="../media/hdphoto19.wdp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01.png"/><Relationship Id="rId12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1.xml"/><Relationship Id="rId6" Type="http://schemas.openxmlformats.org/officeDocument/2006/relationships/chart" Target="../charts/chart8.xml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20.bin"/><Relationship Id="rId9" Type="http://schemas.openxmlformats.org/officeDocument/2006/relationships/image" Target="../media/image66.png"/><Relationship Id="rId14" Type="http://schemas.openxmlformats.org/officeDocument/2006/relationships/chart" Target="../charts/chart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04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2.xml"/><Relationship Id="rId6" Type="http://schemas.openxmlformats.org/officeDocument/2006/relationships/image" Target="../media/image103.png"/><Relationship Id="rId11" Type="http://schemas.openxmlformats.org/officeDocument/2006/relationships/image" Target="../media/image108.svg"/><Relationship Id="rId5" Type="http://schemas.openxmlformats.org/officeDocument/2006/relationships/image" Target="../media/image18.emf"/><Relationship Id="rId10" Type="http://schemas.openxmlformats.org/officeDocument/2006/relationships/image" Target="../media/image107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106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tags" Target="../tags/tag145.xml"/><Relationship Id="rId18" Type="http://schemas.openxmlformats.org/officeDocument/2006/relationships/tags" Target="../tags/tag150.xml"/><Relationship Id="rId26" Type="http://schemas.openxmlformats.org/officeDocument/2006/relationships/tags" Target="../tags/tag158.xml"/><Relationship Id="rId39" Type="http://schemas.openxmlformats.org/officeDocument/2006/relationships/notesSlide" Target="../notesSlides/notesSlide20.xml"/><Relationship Id="rId21" Type="http://schemas.openxmlformats.org/officeDocument/2006/relationships/tags" Target="../tags/tag153.xml"/><Relationship Id="rId34" Type="http://schemas.openxmlformats.org/officeDocument/2006/relationships/tags" Target="../tags/tag166.xml"/><Relationship Id="rId42" Type="http://schemas.openxmlformats.org/officeDocument/2006/relationships/chart" Target="../charts/chart10.xml"/><Relationship Id="rId47" Type="http://schemas.openxmlformats.org/officeDocument/2006/relationships/chart" Target="../charts/chart13.xml"/><Relationship Id="rId7" Type="http://schemas.openxmlformats.org/officeDocument/2006/relationships/tags" Target="../tags/tag139.xml"/><Relationship Id="rId2" Type="http://schemas.openxmlformats.org/officeDocument/2006/relationships/tags" Target="../tags/tag134.xml"/><Relationship Id="rId16" Type="http://schemas.openxmlformats.org/officeDocument/2006/relationships/tags" Target="../tags/tag148.xml"/><Relationship Id="rId29" Type="http://schemas.openxmlformats.org/officeDocument/2006/relationships/tags" Target="../tags/tag161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tags" Target="../tags/tag143.xml"/><Relationship Id="rId24" Type="http://schemas.openxmlformats.org/officeDocument/2006/relationships/tags" Target="../tags/tag156.xml"/><Relationship Id="rId32" Type="http://schemas.openxmlformats.org/officeDocument/2006/relationships/tags" Target="../tags/tag164.xml"/><Relationship Id="rId37" Type="http://schemas.openxmlformats.org/officeDocument/2006/relationships/tags" Target="../tags/tag169.xml"/><Relationship Id="rId40" Type="http://schemas.openxmlformats.org/officeDocument/2006/relationships/oleObject" Target="../embeddings/oleObject22.bin"/><Relationship Id="rId45" Type="http://schemas.openxmlformats.org/officeDocument/2006/relationships/image" Target="../media/image110.png"/><Relationship Id="rId5" Type="http://schemas.openxmlformats.org/officeDocument/2006/relationships/tags" Target="../tags/tag137.xml"/><Relationship Id="rId15" Type="http://schemas.openxmlformats.org/officeDocument/2006/relationships/tags" Target="../tags/tag147.xml"/><Relationship Id="rId23" Type="http://schemas.openxmlformats.org/officeDocument/2006/relationships/tags" Target="../tags/tag155.xml"/><Relationship Id="rId28" Type="http://schemas.openxmlformats.org/officeDocument/2006/relationships/tags" Target="../tags/tag160.xml"/><Relationship Id="rId36" Type="http://schemas.openxmlformats.org/officeDocument/2006/relationships/tags" Target="../tags/tag168.xml"/><Relationship Id="rId10" Type="http://schemas.openxmlformats.org/officeDocument/2006/relationships/tags" Target="../tags/tag142.xml"/><Relationship Id="rId19" Type="http://schemas.openxmlformats.org/officeDocument/2006/relationships/tags" Target="../tags/tag151.xml"/><Relationship Id="rId31" Type="http://schemas.openxmlformats.org/officeDocument/2006/relationships/tags" Target="../tags/tag163.xml"/><Relationship Id="rId44" Type="http://schemas.openxmlformats.org/officeDocument/2006/relationships/chart" Target="../charts/chart12.xml"/><Relationship Id="rId4" Type="http://schemas.openxmlformats.org/officeDocument/2006/relationships/tags" Target="../tags/tag136.xml"/><Relationship Id="rId9" Type="http://schemas.openxmlformats.org/officeDocument/2006/relationships/tags" Target="../tags/tag141.xml"/><Relationship Id="rId14" Type="http://schemas.openxmlformats.org/officeDocument/2006/relationships/tags" Target="../tags/tag146.xml"/><Relationship Id="rId22" Type="http://schemas.openxmlformats.org/officeDocument/2006/relationships/tags" Target="../tags/tag154.xml"/><Relationship Id="rId27" Type="http://schemas.openxmlformats.org/officeDocument/2006/relationships/tags" Target="../tags/tag159.xml"/><Relationship Id="rId30" Type="http://schemas.openxmlformats.org/officeDocument/2006/relationships/tags" Target="../tags/tag162.xml"/><Relationship Id="rId35" Type="http://schemas.openxmlformats.org/officeDocument/2006/relationships/tags" Target="../tags/tag167.xml"/><Relationship Id="rId43" Type="http://schemas.openxmlformats.org/officeDocument/2006/relationships/chart" Target="../charts/chart11.xml"/><Relationship Id="rId8" Type="http://schemas.openxmlformats.org/officeDocument/2006/relationships/tags" Target="../tags/tag140.xml"/><Relationship Id="rId3" Type="http://schemas.openxmlformats.org/officeDocument/2006/relationships/tags" Target="../tags/tag135.xml"/><Relationship Id="rId12" Type="http://schemas.openxmlformats.org/officeDocument/2006/relationships/tags" Target="../tags/tag144.xml"/><Relationship Id="rId17" Type="http://schemas.openxmlformats.org/officeDocument/2006/relationships/tags" Target="../tags/tag149.xml"/><Relationship Id="rId25" Type="http://schemas.openxmlformats.org/officeDocument/2006/relationships/tags" Target="../tags/tag157.xml"/><Relationship Id="rId33" Type="http://schemas.openxmlformats.org/officeDocument/2006/relationships/tags" Target="../tags/tag165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37.wdp"/><Relationship Id="rId20" Type="http://schemas.openxmlformats.org/officeDocument/2006/relationships/tags" Target="../tags/tag152.xml"/><Relationship Id="rId41" Type="http://schemas.openxmlformats.org/officeDocument/2006/relationships/image" Target="../media/image8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notesSlide" Target="../notesSlides/notesSlide21.xml"/><Relationship Id="rId7" Type="http://schemas.microsoft.com/office/2007/relationships/hdphoto" Target="../media/hdphoto3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0.xml"/><Relationship Id="rId6" Type="http://schemas.openxmlformats.org/officeDocument/2006/relationships/image" Target="../media/image111.png"/><Relationship Id="rId11" Type="http://schemas.microsoft.com/office/2007/relationships/hdphoto" Target="../media/hdphoto39.wdp"/><Relationship Id="rId5" Type="http://schemas.openxmlformats.org/officeDocument/2006/relationships/image" Target="../media/image8.emf"/><Relationship Id="rId10" Type="http://schemas.openxmlformats.org/officeDocument/2006/relationships/image" Target="../media/image114.png"/><Relationship Id="rId4" Type="http://schemas.openxmlformats.org/officeDocument/2006/relationships/oleObject" Target="../embeddings/oleObject23.bin"/><Relationship Id="rId9" Type="http://schemas.openxmlformats.org/officeDocument/2006/relationships/image" Target="../media/image11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17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36.png"/><Relationship Id="rId12" Type="http://schemas.openxmlformats.org/officeDocument/2006/relationships/image" Target="../media/image1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1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66.png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8.png"/><Relationship Id="rId18" Type="http://schemas.openxmlformats.org/officeDocument/2006/relationships/image" Target="../media/image98.png"/><Relationship Id="rId26" Type="http://schemas.openxmlformats.org/officeDocument/2006/relationships/image" Target="../media/image71.png"/><Relationship Id="rId3" Type="http://schemas.openxmlformats.org/officeDocument/2006/relationships/tags" Target="../tags/tag174.xml"/><Relationship Id="rId21" Type="http://schemas.microsoft.com/office/2007/relationships/hdphoto" Target="../media/hdphoto40.wdp"/><Relationship Id="rId7" Type="http://schemas.openxmlformats.org/officeDocument/2006/relationships/image" Target="../media/image66.png"/><Relationship Id="rId12" Type="http://schemas.openxmlformats.org/officeDocument/2006/relationships/image" Target="../media/image50.png"/><Relationship Id="rId17" Type="http://schemas.openxmlformats.org/officeDocument/2006/relationships/image" Target="../media/image35.png"/><Relationship Id="rId25" Type="http://schemas.openxmlformats.org/officeDocument/2006/relationships/image" Target="../media/image120.png"/><Relationship Id="rId2" Type="http://schemas.openxmlformats.org/officeDocument/2006/relationships/tags" Target="../tags/tag173.xml"/><Relationship Id="rId16" Type="http://schemas.microsoft.com/office/2007/relationships/hdphoto" Target="../media/hdphoto19.wdp"/><Relationship Id="rId20" Type="http://schemas.openxmlformats.org/officeDocument/2006/relationships/image" Target="../media/image119.png"/><Relationship Id="rId1" Type="http://schemas.openxmlformats.org/officeDocument/2006/relationships/tags" Target="../tags/tag172.xml"/><Relationship Id="rId6" Type="http://schemas.openxmlformats.org/officeDocument/2006/relationships/image" Target="../media/image18.emf"/><Relationship Id="rId11" Type="http://schemas.openxmlformats.org/officeDocument/2006/relationships/image" Target="../media/image23.png"/><Relationship Id="rId24" Type="http://schemas.openxmlformats.org/officeDocument/2006/relationships/image" Target="../media/image63.png"/><Relationship Id="rId5" Type="http://schemas.openxmlformats.org/officeDocument/2006/relationships/oleObject" Target="../embeddings/oleObject25.bin"/><Relationship Id="rId15" Type="http://schemas.openxmlformats.org/officeDocument/2006/relationships/image" Target="../media/image69.png"/><Relationship Id="rId23" Type="http://schemas.microsoft.com/office/2007/relationships/hdphoto" Target="../media/hdphoto32.wdp"/><Relationship Id="rId10" Type="http://schemas.openxmlformats.org/officeDocument/2006/relationships/image" Target="../media/image81.png"/><Relationship Id="rId19" Type="http://schemas.microsoft.com/office/2007/relationships/hdphoto" Target="../media/hdphoto36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18.png"/><Relationship Id="rId14" Type="http://schemas.microsoft.com/office/2007/relationships/hdphoto" Target="../media/hdphoto18.wdp"/><Relationship Id="rId22" Type="http://schemas.openxmlformats.org/officeDocument/2006/relationships/image" Target="../media/image85.png"/><Relationship Id="rId27" Type="http://schemas.microsoft.com/office/2007/relationships/hdphoto" Target="../media/hdphoto21.wdp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22.png"/><Relationship Id="rId12" Type="http://schemas.openxmlformats.org/officeDocument/2006/relationships/image" Target="../media/image1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5.xml"/><Relationship Id="rId6" Type="http://schemas.openxmlformats.org/officeDocument/2006/relationships/image" Target="../media/image121.png"/><Relationship Id="rId11" Type="http://schemas.openxmlformats.org/officeDocument/2006/relationships/image" Target="../media/image124.png"/><Relationship Id="rId5" Type="http://schemas.openxmlformats.org/officeDocument/2006/relationships/image" Target="../media/image8.emf"/><Relationship Id="rId10" Type="http://schemas.openxmlformats.org/officeDocument/2006/relationships/image" Target="../media/image123.png"/><Relationship Id="rId4" Type="http://schemas.openxmlformats.org/officeDocument/2006/relationships/oleObject" Target="../embeddings/oleObject26.bin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13" Type="http://schemas.openxmlformats.org/officeDocument/2006/relationships/tags" Target="../tags/tag188.xml"/><Relationship Id="rId18" Type="http://schemas.openxmlformats.org/officeDocument/2006/relationships/tags" Target="../tags/tag193.xml"/><Relationship Id="rId26" Type="http://schemas.openxmlformats.org/officeDocument/2006/relationships/chart" Target="../charts/chart14.xml"/><Relationship Id="rId3" Type="http://schemas.openxmlformats.org/officeDocument/2006/relationships/tags" Target="../tags/tag178.xml"/><Relationship Id="rId21" Type="http://schemas.openxmlformats.org/officeDocument/2006/relationships/tags" Target="../tags/tag196.xml"/><Relationship Id="rId7" Type="http://schemas.openxmlformats.org/officeDocument/2006/relationships/tags" Target="../tags/tag182.xml"/><Relationship Id="rId12" Type="http://schemas.openxmlformats.org/officeDocument/2006/relationships/tags" Target="../tags/tag187.xml"/><Relationship Id="rId17" Type="http://schemas.openxmlformats.org/officeDocument/2006/relationships/tags" Target="../tags/tag192.xml"/><Relationship Id="rId25" Type="http://schemas.openxmlformats.org/officeDocument/2006/relationships/image" Target="../media/image8.emf"/><Relationship Id="rId2" Type="http://schemas.openxmlformats.org/officeDocument/2006/relationships/tags" Target="../tags/tag177.xml"/><Relationship Id="rId16" Type="http://schemas.openxmlformats.org/officeDocument/2006/relationships/tags" Target="../tags/tag191.xml"/><Relationship Id="rId20" Type="http://schemas.openxmlformats.org/officeDocument/2006/relationships/tags" Target="../tags/tag195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tags" Target="../tags/tag186.xml"/><Relationship Id="rId24" Type="http://schemas.openxmlformats.org/officeDocument/2006/relationships/oleObject" Target="../embeddings/oleObject27.bin"/><Relationship Id="rId5" Type="http://schemas.openxmlformats.org/officeDocument/2006/relationships/tags" Target="../tags/tag180.xml"/><Relationship Id="rId15" Type="http://schemas.openxmlformats.org/officeDocument/2006/relationships/tags" Target="../tags/tag190.xml"/><Relationship Id="rId23" Type="http://schemas.openxmlformats.org/officeDocument/2006/relationships/notesSlide" Target="../notesSlides/notesSlide24.xml"/><Relationship Id="rId10" Type="http://schemas.openxmlformats.org/officeDocument/2006/relationships/tags" Target="../tags/tag185.xml"/><Relationship Id="rId19" Type="http://schemas.openxmlformats.org/officeDocument/2006/relationships/tags" Target="../tags/tag194.xml"/><Relationship Id="rId4" Type="http://schemas.openxmlformats.org/officeDocument/2006/relationships/tags" Target="../tags/tag179.xml"/><Relationship Id="rId9" Type="http://schemas.openxmlformats.org/officeDocument/2006/relationships/tags" Target="../tags/tag184.xml"/><Relationship Id="rId14" Type="http://schemas.openxmlformats.org/officeDocument/2006/relationships/tags" Target="../tags/tag189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7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23.png"/><Relationship Id="rId12" Type="http://schemas.openxmlformats.org/officeDocument/2006/relationships/image" Target="../media/image118.png"/><Relationship Id="rId17" Type="http://schemas.openxmlformats.org/officeDocument/2006/relationships/image" Target="../media/image13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1.png"/><Relationship Id="rId1" Type="http://schemas.openxmlformats.org/officeDocument/2006/relationships/tags" Target="../tags/tag198.xml"/><Relationship Id="rId6" Type="http://schemas.openxmlformats.org/officeDocument/2006/relationships/image" Target="../media/image126.png"/><Relationship Id="rId11" Type="http://schemas.openxmlformats.org/officeDocument/2006/relationships/image" Target="../media/image127.png"/><Relationship Id="rId5" Type="http://schemas.openxmlformats.org/officeDocument/2006/relationships/image" Target="../media/image18.emf"/><Relationship Id="rId15" Type="http://schemas.openxmlformats.org/officeDocument/2006/relationships/image" Target="../media/image130.png"/><Relationship Id="rId10" Type="http://schemas.openxmlformats.org/officeDocument/2006/relationships/image" Target="../media/image66.png"/><Relationship Id="rId19" Type="http://schemas.openxmlformats.org/officeDocument/2006/relationships/image" Target="../media/image134.png"/><Relationship Id="rId4" Type="http://schemas.openxmlformats.org/officeDocument/2006/relationships/oleObject" Target="../embeddings/oleObject29.bin"/><Relationship Id="rId9" Type="http://schemas.openxmlformats.org/officeDocument/2006/relationships/image" Target="../media/image64.png"/><Relationship Id="rId14" Type="http://schemas.openxmlformats.org/officeDocument/2006/relationships/image" Target="../media/image129.jpe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8.png"/><Relationship Id="rId39" Type="http://schemas.openxmlformats.org/officeDocument/2006/relationships/image" Target="../media/image158.png"/><Relationship Id="rId21" Type="http://schemas.openxmlformats.org/officeDocument/2006/relationships/image" Target="../media/image145.png"/><Relationship Id="rId34" Type="http://schemas.openxmlformats.org/officeDocument/2006/relationships/image" Target="../media/image65.png"/><Relationship Id="rId42" Type="http://schemas.openxmlformats.org/officeDocument/2006/relationships/image" Target="../media/image160.png"/><Relationship Id="rId47" Type="http://schemas.openxmlformats.org/officeDocument/2006/relationships/image" Target="../media/image164.png"/><Relationship Id="rId50" Type="http://schemas.openxmlformats.org/officeDocument/2006/relationships/image" Target="../media/image54.png"/><Relationship Id="rId55" Type="http://schemas.openxmlformats.org/officeDocument/2006/relationships/image" Target="../media/image170.png"/><Relationship Id="rId63" Type="http://schemas.openxmlformats.org/officeDocument/2006/relationships/image" Target="../media/image177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png"/><Relationship Id="rId29" Type="http://schemas.openxmlformats.org/officeDocument/2006/relationships/image" Target="../media/image151.png"/><Relationship Id="rId11" Type="http://schemas.openxmlformats.org/officeDocument/2006/relationships/image" Target="../media/image24.png"/><Relationship Id="rId24" Type="http://schemas.openxmlformats.org/officeDocument/2006/relationships/image" Target="../media/image146.png"/><Relationship Id="rId32" Type="http://schemas.openxmlformats.org/officeDocument/2006/relationships/image" Target="../media/image64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2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image" Target="../media/image135.png"/><Relationship Id="rId61" Type="http://schemas.openxmlformats.org/officeDocument/2006/relationships/image" Target="../media/image53.png"/><Relationship Id="rId19" Type="http://schemas.openxmlformats.org/officeDocument/2006/relationships/image" Target="../media/image143.png"/><Relationship Id="rId14" Type="http://schemas.openxmlformats.org/officeDocument/2006/relationships/image" Target="../media/image140.png"/><Relationship Id="rId22" Type="http://schemas.openxmlformats.org/officeDocument/2006/relationships/image" Target="../media/image81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4.png"/><Relationship Id="rId43" Type="http://schemas.openxmlformats.org/officeDocument/2006/relationships/image" Target="../media/image66.png"/><Relationship Id="rId48" Type="http://schemas.openxmlformats.org/officeDocument/2006/relationships/image" Target="../media/image165.png"/><Relationship Id="rId56" Type="http://schemas.openxmlformats.org/officeDocument/2006/relationships/image" Target="../media/image171.png"/><Relationship Id="rId8" Type="http://schemas.openxmlformats.org/officeDocument/2006/relationships/image" Target="../media/image137.png"/><Relationship Id="rId51" Type="http://schemas.openxmlformats.org/officeDocument/2006/relationships/image" Target="../media/image166.png"/><Relationship Id="rId3" Type="http://schemas.openxmlformats.org/officeDocument/2006/relationships/oleObject" Target="../embeddings/oleObject30.bin"/><Relationship Id="rId12" Type="http://schemas.openxmlformats.org/officeDocument/2006/relationships/image" Target="../media/image126.png"/><Relationship Id="rId17" Type="http://schemas.openxmlformats.org/officeDocument/2006/relationships/image" Target="../media/image141.png"/><Relationship Id="rId25" Type="http://schemas.openxmlformats.org/officeDocument/2006/relationships/image" Target="../media/image147.png"/><Relationship Id="rId33" Type="http://schemas.openxmlformats.org/officeDocument/2006/relationships/image" Target="../media/image153.png"/><Relationship Id="rId38" Type="http://schemas.openxmlformats.org/officeDocument/2006/relationships/image" Target="../media/image157.png"/><Relationship Id="rId46" Type="http://schemas.openxmlformats.org/officeDocument/2006/relationships/image" Target="../media/image163.png"/><Relationship Id="rId59" Type="http://schemas.openxmlformats.org/officeDocument/2006/relationships/image" Target="../media/image174.png"/><Relationship Id="rId20" Type="http://schemas.openxmlformats.org/officeDocument/2006/relationships/image" Target="../media/image144.png"/><Relationship Id="rId41" Type="http://schemas.openxmlformats.org/officeDocument/2006/relationships/image" Target="../media/image60.png"/><Relationship Id="rId54" Type="http://schemas.openxmlformats.org/officeDocument/2006/relationships/image" Target="../media/image169.png"/><Relationship Id="rId62" Type="http://schemas.openxmlformats.org/officeDocument/2006/relationships/image" Target="../media/image176.png"/><Relationship Id="rId1" Type="http://schemas.openxmlformats.org/officeDocument/2006/relationships/tags" Target="../tags/tag199.xml"/><Relationship Id="rId6" Type="http://schemas.openxmlformats.org/officeDocument/2006/relationships/image" Target="../media/image136.png"/><Relationship Id="rId15" Type="http://schemas.openxmlformats.org/officeDocument/2006/relationships/image" Target="../media/image55.png"/><Relationship Id="rId23" Type="http://schemas.openxmlformats.org/officeDocument/2006/relationships/image" Target="../media/image82.png"/><Relationship Id="rId28" Type="http://schemas.openxmlformats.org/officeDocument/2006/relationships/image" Target="../media/image150.png"/><Relationship Id="rId36" Type="http://schemas.openxmlformats.org/officeDocument/2006/relationships/image" Target="../media/image155.png"/><Relationship Id="rId49" Type="http://schemas.openxmlformats.org/officeDocument/2006/relationships/image" Target="../media/image58.png"/><Relationship Id="rId57" Type="http://schemas.openxmlformats.org/officeDocument/2006/relationships/image" Target="../media/image172.png"/><Relationship Id="rId10" Type="http://schemas.openxmlformats.org/officeDocument/2006/relationships/image" Target="../media/image35.png"/><Relationship Id="rId31" Type="http://schemas.openxmlformats.org/officeDocument/2006/relationships/image" Target="../media/image63.png"/><Relationship Id="rId44" Type="http://schemas.openxmlformats.org/officeDocument/2006/relationships/image" Target="../media/image161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image" Target="../media/image18.emf"/><Relationship Id="rId9" Type="http://schemas.openxmlformats.org/officeDocument/2006/relationships/image" Target="../media/image1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8558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1738571"/>
            <a:ext cx="8960418" cy="2031325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From pluggable to co-packaged optics (CPO): an intro to AIDC interconnect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349" imgH="350" progId="TCLayout.ActiveDocument.1">
                  <p:embed/>
                </p:oleObj>
              </mc:Choice>
              <mc:Fallback>
                <p:oleObj name="think-cell 幻灯片" r:id="rId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Background: </a:t>
            </a:r>
            <a:r>
              <a:rPr lang="en-US" sz="1600" dirty="0">
                <a:solidFill>
                  <a:prstClr val="black"/>
                </a:solidFill>
              </a:rPr>
              <a:t>w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hy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the transition from copper to optical, and from pluggable to CPO</a:t>
            </a:r>
            <a:r>
              <a:rPr lang="en-US" altLang="zh-CN" sz="1600" dirty="0">
                <a:solidFill>
                  <a:prstClr val="black"/>
                </a:solidFill>
              </a:rPr>
              <a:t>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How does the CPO value chain look?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Broadcom, and emerging players</a:t>
            </a: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3">
            <a:extLst>
              <a:ext uri="{FF2B5EF4-FFF2-40B4-BE49-F238E27FC236}">
                <a16:creationId xmlns:a16="http://schemas.microsoft.com/office/drawing/2014/main" id="{66DC64BD-ECC4-3DAC-C3DB-2B0ED0EC975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300334" y="1773311"/>
            <a:ext cx="1352711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0052D9"/>
                </a:solidFill>
              </a:rPr>
              <a:t>Tech</a:t>
            </a:r>
            <a:endParaRPr kumimoji="0" lang="en-US" sz="3200" b="1" i="0" u="none" strike="noStrike" kern="1200" cap="none" spc="0" normalizeH="0" baseline="0" noProof="0" dirty="0">
              <a:solidFill>
                <a:srgbClr val="0052D9"/>
              </a:solidFill>
              <a:effectLst/>
              <a:uLnTx/>
              <a:uFillTx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AE265D59-EBB0-FF67-33E9-BD13DB5E1BD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00334" y="4374447"/>
            <a:ext cx="172190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rPr>
              <a:t>Markets</a:t>
            </a:r>
          </a:p>
        </p:txBody>
      </p:sp>
    </p:spTree>
    <p:extLst>
      <p:ext uri="{BB962C8B-B14F-4D97-AF65-F5344CB8AC3E}">
        <p14:creationId xmlns:p14="http://schemas.microsoft.com/office/powerpoint/2010/main" val="255695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4281439" y="1296324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 from copper to optics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 2 CPO switches in Mar 25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319474"/>
            <a:ext cx="4031564" cy="4705923"/>
            <a:chOff x="8206661" y="1337390"/>
            <a:chExt cx="4031564" cy="4705923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115416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limitations restrict training, inference, and network scalability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could deliver higher bandwidth and enhance energy efficiency (published in May 25)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614233" y="1299724"/>
            <a:ext cx="4049178" cy="4446277"/>
            <a:chOff x="4154770" y="1381593"/>
            <a:chExt cx="4049178" cy="4446277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304778"/>
              <a:chOff x="4154770" y="1523092"/>
              <a:chExt cx="3657269" cy="4304778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938719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 </a:t>
                </a:r>
                <a:r>
                  <a:rPr lang="en-US" altLang="zh-CN" sz="1400" dirty="0"/>
                  <a:t>announced</a:t>
                </a:r>
                <a:r>
                  <a:rPr lang="en-US" sz="1400" dirty="0"/>
                  <a:t> in 2021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 25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9969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42" name="Bullet2">
            <a:extLst>
              <a:ext uri="{FF2B5EF4-FFF2-40B4-BE49-F238E27FC236}">
                <a16:creationId xmlns:a16="http://schemas.microsoft.com/office/drawing/2014/main" id="{AD7E5E9D-5BB8-E5F7-B5D6-8BDBDE8FCCB6}"/>
              </a:ext>
            </a:extLst>
          </p:cNvPr>
          <p:cNvSpPr>
            <a:spLocks/>
          </p:cNvSpPr>
          <p:nvPr/>
        </p:nvSpPr>
        <p:spPr>
          <a:xfrm flipH="1">
            <a:off x="1969465" y="1686290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Distance</a:t>
            </a:r>
            <a:endParaRPr lang="en-US" altLang="zh-CN" b="1" dirty="0">
              <a:cs typeface="Arial" panose="020B0604020202020204" pitchFamily="34" charset="0"/>
            </a:endParaRPr>
          </a:p>
        </p:txBody>
      </p:sp>
      <p:sp>
        <p:nvSpPr>
          <p:cNvPr id="43" name="Text2">
            <a:extLst>
              <a:ext uri="{FF2B5EF4-FFF2-40B4-BE49-F238E27FC236}">
                <a16:creationId xmlns:a16="http://schemas.microsoft.com/office/drawing/2014/main" id="{0B1BFAA2-8A23-4D8A-51B5-EAC207FF8428}"/>
              </a:ext>
            </a:extLst>
          </p:cNvPr>
          <p:cNvSpPr>
            <a:spLocks/>
          </p:cNvSpPr>
          <p:nvPr/>
        </p:nvSpPr>
        <p:spPr>
          <a:xfrm flipH="1">
            <a:off x="1525684" y="2244684"/>
            <a:ext cx="337822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Long-reach transmission demands high power; low power limits reach.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41" name="Number2">
            <a:extLst>
              <a:ext uri="{FF2B5EF4-FFF2-40B4-BE49-F238E27FC236}">
                <a16:creationId xmlns:a16="http://schemas.microsoft.com/office/drawing/2014/main" id="{88D41197-0323-1967-31F4-7F86FD4170ED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4987555" y="1874675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1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36" name="Number3">
            <a:extLst>
              <a:ext uri="{FF2B5EF4-FFF2-40B4-BE49-F238E27FC236}">
                <a16:creationId xmlns:a16="http://schemas.microsoft.com/office/drawing/2014/main" id="{92787A42-58EB-D724-89E3-05CC3AC7C966}"/>
              </a:ext>
            </a:extLst>
          </p:cNvPr>
          <p:cNvSpPr txBox="1">
            <a:spLocks noChangeAspect="1"/>
          </p:cNvSpPr>
          <p:nvPr/>
        </p:nvSpPr>
        <p:spPr>
          <a:xfrm>
            <a:off x="8202929" y="4915943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3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en-US" altLang="zh-CN" dirty="0">
              <a:cs typeface="+mn-ea"/>
            </a:endParaRP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Bullet2">
            <a:extLst>
              <a:ext uri="{FF2B5EF4-FFF2-40B4-BE49-F238E27FC236}">
                <a16:creationId xmlns:a16="http://schemas.microsoft.com/office/drawing/2014/main" id="{020D2B8C-297B-1DE8-7205-1FCC7FF548A2}"/>
              </a:ext>
            </a:extLst>
          </p:cNvPr>
          <p:cNvSpPr>
            <a:spLocks/>
          </p:cNvSpPr>
          <p:nvPr/>
        </p:nvSpPr>
        <p:spPr>
          <a:xfrm flipH="1">
            <a:off x="459341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</a:t>
            </a:r>
          </a:p>
        </p:txBody>
      </p:sp>
      <p:sp>
        <p:nvSpPr>
          <p:cNvPr id="16" name="Text2">
            <a:extLst>
              <a:ext uri="{FF2B5EF4-FFF2-40B4-BE49-F238E27FC236}">
                <a16:creationId xmlns:a16="http://schemas.microsoft.com/office/drawing/2014/main" id="{5009F1E3-5AC0-17B2-CC3B-ED261A33494A}"/>
              </a:ext>
            </a:extLst>
          </p:cNvPr>
          <p:cNvSpPr>
            <a:spLocks/>
          </p:cNvSpPr>
          <p:nvPr/>
        </p:nvSpPr>
        <p:spPr>
          <a:xfrm flipH="1">
            <a:off x="114300" y="5279781"/>
            <a:ext cx="327948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Long-distance suffers signal attenuation, requiring power compensation.</a:t>
            </a:r>
          </a:p>
          <a:p>
            <a:pPr algn="r">
              <a:lnSpc>
                <a:spcPct val="12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Number2">
            <a:extLst>
              <a:ext uri="{FF2B5EF4-FFF2-40B4-BE49-F238E27FC236}">
                <a16:creationId xmlns:a16="http://schemas.microsoft.com/office/drawing/2014/main" id="{15E7B3D2-FCDE-F42D-CD2F-EDACC50481DB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3477431" y="4909772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2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F15A32-A814-56E7-29DB-6B80BF7F2D5B}"/>
              </a:ext>
            </a:extLst>
          </p:cNvPr>
          <p:cNvSpPr txBox="1"/>
          <p:nvPr/>
        </p:nvSpPr>
        <p:spPr>
          <a:xfrm>
            <a:off x="511331" y="954770"/>
            <a:ext cx="9902071" cy="6601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System goal: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Given a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</a:rPr>
              <a:t>1</a:t>
            </a:r>
            <a:r>
              <a:rPr lang="en-US" altLang="zh-CN" dirty="0">
                <a:solidFill>
                  <a:srgbClr val="0052D9"/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(BER, the core transmission reliability metric in IDC data communications) target, optimize the </a:t>
            </a:r>
            <a:r>
              <a:rPr lang="en-US" altLang="zh-CN" b="1" dirty="0">
                <a:solidFill>
                  <a:srgbClr val="0052D9"/>
                </a:solidFill>
              </a:rPr>
              <a:t>tradeoff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rgbClr val="0052D9"/>
                </a:solidFill>
              </a:rPr>
              <a:t>among speed, distance and power</a:t>
            </a:r>
          </a:p>
        </p:txBody>
      </p:sp>
      <p:sp>
        <p:nvSpPr>
          <p:cNvPr id="10" name="箭头: V 形 16">
            <a:extLst>
              <a:ext uri="{FF2B5EF4-FFF2-40B4-BE49-F238E27FC236}">
                <a16:creationId xmlns:a16="http://schemas.microsoft.com/office/drawing/2014/main" id="{564095E9-45CF-C725-810F-6C82C31F658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99097538-5B00-3BEC-760F-081A6BBADCB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528C5323-562D-2E0B-28E8-74E2FB42B72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F5D60CA3-9BF9-8ED5-9EBF-BDC4C25EA2A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A6CA927F-42E7-C0C6-C599-D30229B79E2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E4EF8779-777C-B465-2C3C-B68E4B80D3A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EC0D612-EA19-2984-15A6-E24C4C83C70D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6" name="箭头: V 形 38">
            <a:extLst>
              <a:ext uri="{FF2B5EF4-FFF2-40B4-BE49-F238E27FC236}">
                <a16:creationId xmlns:a16="http://schemas.microsoft.com/office/drawing/2014/main" id="{913561E4-584D-D147-6B72-55ED6DB3CF6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9CFE0779-AAF3-6FA8-F794-E8E2D802C56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speed, distance, and power</a:t>
            </a:r>
          </a:p>
        </p:txBody>
      </p:sp>
      <p:sp>
        <p:nvSpPr>
          <p:cNvPr id="28" name="Bullet3">
            <a:extLst>
              <a:ext uri="{FF2B5EF4-FFF2-40B4-BE49-F238E27FC236}">
                <a16:creationId xmlns:a16="http://schemas.microsoft.com/office/drawing/2014/main" id="{F33F20C3-404C-CFAC-FE2F-1F08BDA22E7F}"/>
              </a:ext>
            </a:extLst>
          </p:cNvPr>
          <p:cNvSpPr>
            <a:spLocks/>
          </p:cNvSpPr>
          <p:nvPr/>
        </p:nvSpPr>
        <p:spPr>
          <a:xfrm>
            <a:off x="8798215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Speed</a:t>
            </a:r>
          </a:p>
        </p:txBody>
      </p:sp>
      <p:sp>
        <p:nvSpPr>
          <p:cNvPr id="29" name="Text3">
            <a:extLst>
              <a:ext uri="{FF2B5EF4-FFF2-40B4-BE49-F238E27FC236}">
                <a16:creationId xmlns:a16="http://schemas.microsoft.com/office/drawing/2014/main" id="{03D816A1-5FFA-29A6-6ADA-75BC93325A19}"/>
              </a:ext>
            </a:extLst>
          </p:cNvPr>
          <p:cNvSpPr>
            <a:spLocks/>
          </p:cNvSpPr>
          <p:nvPr/>
        </p:nvSpPr>
        <p:spPr>
          <a:xfrm>
            <a:off x="8798215" y="5279781"/>
            <a:ext cx="2934444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Low power + extended distance requires reduced data rates or bandwidth.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B736DF8D-83B2-DAA8-7F17-E9DA338888C1}"/>
              </a:ext>
            </a:extLst>
          </p:cNvPr>
          <p:cNvSpPr/>
          <p:nvPr/>
        </p:nvSpPr>
        <p:spPr>
          <a:xfrm>
            <a:off x="8269905" y="4082965"/>
            <a:ext cx="3147481" cy="460134"/>
          </a:xfrm>
          <a:prstGeom prst="wedgeRoundRectCallout">
            <a:avLst>
              <a:gd name="adj1" fmla="val -35726"/>
              <a:gd name="adj2" fmla="val 85652"/>
              <a:gd name="adj3" fmla="val 16667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market prioritize speed over power (not a constraint).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364CC8-2C58-47A7-1128-247A74EC90BB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2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15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1123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295570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270192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20198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34473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358" y="4680979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612146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8988438"/>
              </p:ext>
            </p:extLst>
          </p:nvPr>
        </p:nvGraphicFramePr>
        <p:xfrm>
          <a:off x="6656932" y="2768948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180100" y="2255330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351461" y="4217151"/>
            <a:ext cx="2089482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~2.5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331115" y="3798621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408636" y="2372448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 100 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088569" y="2585759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114601" y="26226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232741" y="4577740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59510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536859" y="3942701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1410013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Optics</a:t>
              </a:r>
              <a:r>
                <a:rPr kumimoji="1" lang="zh-CN" altLang="en-US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significantly</a:t>
              </a:r>
              <a:r>
                <a:rPr kumimoji="1" lang="zh-CN" altLang="en-US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increases effective reach</a:t>
              </a:r>
              <a:endParaRPr kumimoji="1"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34315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208605" y="2589479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01868" y="3173639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295592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360521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18293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D452F59-7E6C-B5B1-4D12-BE01D84608AC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7534E5F8-C4F0-7853-B1B4-046B7CCFB365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A9C42D71-C223-1524-CEC5-9AB4E9B273C1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31C27468-2CF7-2E89-8D83-0062AFF6587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A8DAD8FD-DB2B-57DC-5EAE-CF859EAADC8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0244EA9F-B96C-378A-717B-9EA7877B673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6B30D712-D06D-A2A4-512D-F1528684954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917892E8-E61E-39D2-2A17-453E8F40788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208C64-7A7F-E99E-DE99-6B618A4561FD}"/>
              </a:ext>
            </a:extLst>
          </p:cNvPr>
          <p:cNvSpPr txBox="1">
            <a:spLocks/>
          </p:cNvSpPr>
          <p:nvPr/>
        </p:nvSpPr>
        <p:spPr>
          <a:xfrm>
            <a:off x="182120" y="568704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Optical interconnect overcomes the bottleneck of copper reach in IDC scaling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F029CA-0463-DB2A-70A5-9689E0A43C97}"/>
              </a:ext>
            </a:extLst>
          </p:cNvPr>
          <p:cNvSpPr txBox="1"/>
          <p:nvPr/>
        </p:nvSpPr>
        <p:spPr>
          <a:xfrm>
            <a:off x="1369213" y="2717489"/>
            <a:ext cx="1541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Copper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03C444-9C69-25E7-DE27-A424CC02591F}"/>
              </a:ext>
            </a:extLst>
          </p:cNvPr>
          <p:cNvSpPr txBox="1"/>
          <p:nvPr/>
        </p:nvSpPr>
        <p:spPr>
          <a:xfrm>
            <a:off x="4495095" y="2498004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Optics dominate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672C56-1A7B-9480-A903-37CFC5B8561D}"/>
              </a:ext>
            </a:extLst>
          </p:cNvPr>
          <p:cNvSpPr txBox="1"/>
          <p:nvPr/>
        </p:nvSpPr>
        <p:spPr>
          <a:xfrm>
            <a:off x="4063266" y="4650201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Optics dominate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B635C7-4B7E-0EF4-EFC2-1F7D0A6BA00D}"/>
              </a:ext>
            </a:extLst>
          </p:cNvPr>
          <p:cNvSpPr txBox="1"/>
          <p:nvPr/>
        </p:nvSpPr>
        <p:spPr>
          <a:xfrm>
            <a:off x="9304885" y="2711076"/>
            <a:ext cx="1656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2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8134350" y="1131887"/>
            <a:ext cx="3489076" cy="453390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601027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 Broadcom.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8349970" y="1297245"/>
            <a:ext cx="3146070" cy="30019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50%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 increase,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~40%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system-level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5- </a:t>
            </a:r>
            <a:r>
              <a:rPr kumimoji="1"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16D727F9-A939-883A-6F2F-1F74E16EE74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273842"/>
              </p:ext>
            </p:extLst>
          </p:nvPr>
        </p:nvGraphicFramePr>
        <p:xfrm>
          <a:off x="1641475" y="1776413"/>
          <a:ext cx="37211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6C207414-8AE3-9784-EF1C-BF41CCA361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468938" y="4262438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81F127A-4CD7-4BA2-AE8F-D2A3D7448094}" type="datetime'P''''''''''''''''''''''''''''''O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DCD97CB7-F89E-1C03-7660-C6D9621BADD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468938" y="5038725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90D8F29-B490-4BBF-83C4-E9BC72CFCAE0}" type="datetime'''''''''''''''''''CP''''''''''''''''O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7390EFEA-FCAB-1BA9-DFE5-38B71D2AD22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181225" y="2679700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&lt; 0.1</a:t>
            </a:r>
            <a:endParaRPr lang="zh-CN" altLang="en-US" sz="1800" dirty="0">
              <a:cs typeface="+mn-cs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8976" y="1641475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6263203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The transmission reach of DAC is less than 2 meters. AEC integrates signal enhancement chips (re-timer) to extend the reach (5 meters) using more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Consider GB200 NVL72 cluster with 9,216 B200 GPUs with 2-layer interconnect.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498527" y="113982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529616" y="4087814"/>
            <a:ext cx="916597" cy="144462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529616" y="2422525"/>
            <a:ext cx="916597" cy="148113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≤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 rot="16200000">
            <a:off x="877888" y="3005138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13" y="3408363"/>
            <a:ext cx="502071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6823890" y="4184650"/>
            <a:ext cx="627695" cy="3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581" y="4962525"/>
            <a:ext cx="389300" cy="37465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>
            <a:cxnSpLocks/>
          </p:cNvCxnSpPr>
          <p:nvPr/>
        </p:nvCxnSpPr>
        <p:spPr>
          <a:xfrm>
            <a:off x="529616" y="3997325"/>
            <a:ext cx="70887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image-20250810150708856">
            <a:extLst>
              <a:ext uri="{FF2B5EF4-FFF2-40B4-BE49-F238E27FC236}">
                <a16:creationId xmlns:a16="http://schemas.microsoft.com/office/drawing/2014/main" id="{06453414-A956-66C2-0EA9-8660DF9A2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6837702" y="2643188"/>
            <a:ext cx="598515" cy="37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6A55DB69-2315-DC0C-0F72-6F463A428652}"/>
              </a:ext>
            </a:extLst>
          </p:cNvPr>
          <p:cNvSpPr txBox="1"/>
          <p:nvPr/>
        </p:nvSpPr>
        <p:spPr>
          <a:xfrm rot="16200000">
            <a:off x="876300" y="4608513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Optical</a:t>
            </a:r>
          </a:p>
        </p:txBody>
      </p:sp>
      <p:cxnSp>
        <p:nvCxnSpPr>
          <p:cNvPr id="132" name="Straight Connector 69">
            <a:extLst>
              <a:ext uri="{FF2B5EF4-FFF2-40B4-BE49-F238E27FC236}">
                <a16:creationId xmlns:a16="http://schemas.microsoft.com/office/drawing/2014/main" id="{DA1D4792-B452-63E4-15AE-20E2A4F53BB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488976" y="1482724"/>
            <a:ext cx="7129437" cy="3810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8220F0-D202-A023-62EA-C0E8010DCB57}"/>
              </a:ext>
            </a:extLst>
          </p:cNvPr>
          <p:cNvSpPr txBox="1"/>
          <p:nvPr/>
        </p:nvSpPr>
        <p:spPr>
          <a:xfrm>
            <a:off x="5349571" y="2422525"/>
            <a:ext cx="176248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Direct Attach Copper Cable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(DAC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3F2AC22-96D4-B524-69A6-CE2E4B53E6D4}"/>
              </a:ext>
            </a:extLst>
          </p:cNvPr>
          <p:cNvSpPr txBox="1"/>
          <p:nvPr/>
        </p:nvSpPr>
        <p:spPr>
          <a:xfrm>
            <a:off x="5349571" y="3195638"/>
            <a:ext cx="149594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Active Electrical Cable 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(AEC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13699F08-5D91-DD3F-9CA1-B7415640E91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E3FE933C-6D7A-0C8D-0189-3B6563776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C2C07A80-BCBF-A854-73A8-4C9A3CCB9B28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FBFD3182-542B-D39D-4AD5-70ED32BD33C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00FD3751-AC63-A9B2-DE58-5F6177CB6276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6E875E7-B63C-28F9-E4CE-F32E3F7453E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D1B3DED3-5BE5-74D8-CEFF-38866F57C4C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26D1C861-3DED-3344-288B-FE92786B39ED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A0A75861-8016-56BE-3EA5-ACE100B1B54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power issue in the copper-to-optical migration is cut significantly by CPO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B6AFCA-F951-26CD-8152-D980CBE33B82}"/>
              </a:ext>
            </a:extLst>
          </p:cNvPr>
          <p:cNvSpPr/>
          <p:nvPr/>
        </p:nvSpPr>
        <p:spPr>
          <a:xfrm>
            <a:off x="10498283" y="0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0127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B58C7BF0-64AE-6ABF-6B33-4DCF0F223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9135005"/>
              </p:ext>
            </p:extLst>
          </p:nvPr>
        </p:nvGraphicFramePr>
        <p:xfrm>
          <a:off x="233588" y="192946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30" name="标题 1">
            <a:extLst>
              <a:ext uri="{FF2B5EF4-FFF2-40B4-BE49-F238E27FC236}">
                <a16:creationId xmlns:a16="http://schemas.microsoft.com/office/drawing/2014/main" id="{D60EE0F1-1A2C-4E3B-233B-4041968CD8D4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Optical interconnect is expected to surpass copper in transmission rate</a:t>
            </a:r>
          </a:p>
        </p:txBody>
      </p:sp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145746"/>
              </p:ext>
            </p:extLst>
          </p:nvPr>
        </p:nvGraphicFramePr>
        <p:xfrm>
          <a:off x="6388302" y="217934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1255" y="275762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951255" y="32881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39439" y="5889478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bandwidth per card.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21221" y="1376906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952555" y="42208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869103" y="467707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991642" y="375240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CE16986-4D40-A41A-E6B6-A05C05606FD1}"/>
              </a:ext>
            </a:extLst>
          </p:cNvPr>
          <p:cNvSpPr txBox="1"/>
          <p:nvPr/>
        </p:nvSpPr>
        <p:spPr>
          <a:xfrm>
            <a:off x="6319506" y="1164944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at 448Gbps vs </a:t>
            </a:r>
            <a:r>
              <a:rPr kumimoji="1"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at 224Gbps</a:t>
            </a:r>
            <a:endParaRPr kumimoji="1"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932CE7E-7053-F560-8F79-599E34A7B976}"/>
              </a:ext>
            </a:extLst>
          </p:cNvPr>
          <p:cNvSpPr txBox="1"/>
          <p:nvPr/>
        </p:nvSpPr>
        <p:spPr>
          <a:xfrm>
            <a:off x="6165433" y="1341677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89" name="直线连接符 38">
            <a:extLst>
              <a:ext uri="{FF2B5EF4-FFF2-40B4-BE49-F238E27FC236}">
                <a16:creationId xmlns:a16="http://schemas.microsoft.com/office/drawing/2014/main" id="{A2459047-D2F5-6A93-6043-F65FE093ABAC}"/>
              </a:ext>
            </a:extLst>
          </p:cNvPr>
          <p:cNvCxnSpPr>
            <a:cxnSpLocks/>
          </p:cNvCxnSpPr>
          <p:nvPr/>
        </p:nvCxnSpPr>
        <p:spPr>
          <a:xfrm>
            <a:off x="6319506" y="1484306"/>
            <a:ext cx="5459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2C7B039-FE12-C778-F388-F1495DFAED31}"/>
              </a:ext>
            </a:extLst>
          </p:cNvPr>
          <p:cNvSpPr txBox="1"/>
          <p:nvPr/>
        </p:nvSpPr>
        <p:spPr>
          <a:xfrm>
            <a:off x="370058" y="1139544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Transmission rate growth lags compute</a:t>
            </a:r>
            <a:endParaRPr kumimoji="1" lang="en-US" altLang="zh-CN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782250" y="226374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835798" y="3329351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algn="ctr">
              <a:spcBef>
                <a:spcPts val="100"/>
              </a:spcBef>
              <a:spcAft>
                <a:spcPts val="100"/>
              </a:spcAft>
              <a:defRPr kumimoji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Training</a:t>
            </a:r>
          </a:p>
          <a:p>
            <a:r>
              <a:rPr lang="en-US" altLang="zh-CN" dirty="0"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4807539" y="4394955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3x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541859" y="219531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674574" y="319898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049829" y="406899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127423" y="445218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207664" y="4511960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289660" y="39285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3904569" y="344553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018462" y="46299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1800GB/s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257147" y="4922496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900GB/s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17019" y="499968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600GB/s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122330" y="361705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047822" y="406654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126725" y="350899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11968" y="295631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28610" y="243992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461554" y="190753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  <p:sp>
        <p:nvSpPr>
          <p:cNvPr id="4" name="箭头: V 形 16">
            <a:extLst>
              <a:ext uri="{FF2B5EF4-FFF2-40B4-BE49-F238E27FC236}">
                <a16:creationId xmlns:a16="http://schemas.microsoft.com/office/drawing/2014/main" id="{EA6D6BC1-745D-0A52-CF7A-4B1A1C8C6D84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F15FE67E-9668-8464-D112-F5527D17268F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C94E6E9-BBA1-76CE-623B-99C4F5055F1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D6C2B4AC-35A5-B22D-ECC9-520585409A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F7EDB52-40CC-8407-F2F4-E5C5DEACA0E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4EC8EE51-7094-45FB-49B6-0FDA2E9624B3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0F192861-4C52-241E-31C7-4105308CFB6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2C555C44-9566-D783-5AD2-375F758C063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2707002-0D03-6E32-A47C-AAFABBC1C2F1}"/>
              </a:ext>
            </a:extLst>
          </p:cNvPr>
          <p:cNvSpPr txBox="1"/>
          <p:nvPr/>
        </p:nvSpPr>
        <p:spPr>
          <a:xfrm>
            <a:off x="1678408" y="5126469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300GB/s</a:t>
            </a:r>
          </a:p>
        </p:txBody>
      </p:sp>
      <p:cxnSp>
        <p:nvCxnSpPr>
          <p:cNvPr id="43" name="直线连接符 38">
            <a:extLst>
              <a:ext uri="{FF2B5EF4-FFF2-40B4-BE49-F238E27FC236}">
                <a16:creationId xmlns:a16="http://schemas.microsoft.com/office/drawing/2014/main" id="{DAB85C9D-4D05-701D-D6C8-7FF0C32CBB64}"/>
              </a:ext>
            </a:extLst>
          </p:cNvPr>
          <p:cNvCxnSpPr>
            <a:cxnSpLocks/>
          </p:cNvCxnSpPr>
          <p:nvPr/>
        </p:nvCxnSpPr>
        <p:spPr>
          <a:xfrm>
            <a:off x="372826" y="1484306"/>
            <a:ext cx="5459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E2E3AE15-1DDB-80A2-131E-84B8317CC1A8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6999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2" imgW="401" imgH="401" progId="TCLayout.ActiveDocument.1">
                  <p:embed/>
                </p:oleObj>
              </mc:Choice>
              <mc:Fallback>
                <p:oleObj name="think-cell 幻灯片" r:id="rId22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标题 1">
            <a:extLst>
              <a:ext uri="{FF2B5EF4-FFF2-40B4-BE49-F238E27FC236}">
                <a16:creationId xmlns:a16="http://schemas.microsoft.com/office/drawing/2014/main" id="{01BB7E47-391D-4E6C-A76B-8B8D3501818C}"/>
              </a:ext>
            </a:extLst>
          </p:cNvPr>
          <p:cNvSpPr txBox="1">
            <a:spLocks/>
          </p:cNvSpPr>
          <p:nvPr/>
        </p:nvSpPr>
        <p:spPr>
          <a:xfrm>
            <a:off x="182120" y="535117"/>
            <a:ext cx="11899198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Copper-to-optical migration: players adopt different roadmaps within optical interconnect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>
            <a:off x="1803400" y="4573578"/>
            <a:ext cx="2086997" cy="1090794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97359C2-6AD0-A4F9-F307-FF05B095E0C4}"/>
              </a:ext>
            </a:extLst>
          </p:cNvPr>
          <p:cNvGrpSpPr/>
          <p:nvPr/>
        </p:nvGrpSpPr>
        <p:grpSpPr>
          <a:xfrm>
            <a:off x="4625524" y="3781358"/>
            <a:ext cx="2580904" cy="792220"/>
            <a:chOff x="2174481" y="4777695"/>
            <a:chExt cx="2522880" cy="792220"/>
          </a:xfrm>
        </p:grpSpPr>
        <p:sp>
          <p:nvSpPr>
            <p:cNvPr id="6" name="TextBox 40">
              <a:extLst>
                <a:ext uri="{FF2B5EF4-FFF2-40B4-BE49-F238E27FC236}">
                  <a16:creationId xmlns:a16="http://schemas.microsoft.com/office/drawing/2014/main" id="{B60BE343-79D9-0D53-8A84-AE008C14AF27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2425472" cy="20005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CPC + LPO 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Co-Packaged Copper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Linear-drive Pluggable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CF3334-8686-B869-5F7A-13596D197ADD}"/>
                </a:ext>
              </a:extLst>
            </p:cNvPr>
            <p:cNvSpPr txBox="1"/>
            <p:nvPr/>
          </p:nvSpPr>
          <p:spPr>
            <a:xfrm>
              <a:off x="2174481" y="5262138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~10W</a:t>
              </a: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549738"/>
            <a:ext cx="8183112" cy="4069906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0069" y="1253308"/>
            <a:ext cx="869462" cy="2241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Time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21191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1968905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09325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18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17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22601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6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8503452" y="4225017"/>
            <a:ext cx="3144923" cy="3164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Short-term: non-</a:t>
            </a:r>
            <a:r>
              <a:rPr lang="en-US" altLang="zh-CN" sz="1600" b="1" dirty="0">
                <a:ea typeface="Verdana" pitchFamily="34" charset="0"/>
              </a:rPr>
              <a:t>consensus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9360409" y="1908769"/>
            <a:ext cx="23947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Long-term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687022" y="-1232195"/>
            <a:ext cx="5095308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17014" y="203834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2874422" y="2027928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99616" y="4225018"/>
            <a:ext cx="729616" cy="40506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482360"/>
            <a:ext cx="1107757" cy="457444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3998024" y="4186105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265228" y="244565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892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58361" y="3519351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33844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/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294405" y="2307335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2193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3202"/>
            <a:ext cx="590782" cy="225262"/>
          </a:xfrm>
          <a:prstGeom prst="rect">
            <a:avLst/>
          </a:prstGeom>
        </p:spPr>
      </p:pic>
      <p:sp>
        <p:nvSpPr>
          <p:cNvPr id="13" name="TextBox 40">
            <a:extLst>
              <a:ext uri="{FF2B5EF4-FFF2-40B4-BE49-F238E27FC236}">
                <a16:creationId xmlns:a16="http://schemas.microsoft.com/office/drawing/2014/main" id="{96E98ECC-3221-97A2-1DB9-7B136B568747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2365951" y="471786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Today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671AFF3-9992-7169-6362-4E869E89A32B}"/>
              </a:ext>
            </a:extLst>
          </p:cNvPr>
          <p:cNvSpPr/>
          <p:nvPr/>
        </p:nvSpPr>
        <p:spPr>
          <a:xfrm>
            <a:off x="8366483" y="1621371"/>
            <a:ext cx="3347783" cy="1528305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15B03B8-5730-1EEC-1E22-E83296BB0F6F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chemeClr val="tx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A568ADE-7941-FF4D-C0ED-31A2633890F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E09A684-FFFC-632B-1076-B07B42FDA61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EBB90F3B-854F-AB02-3784-AED9079CAA6A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24" name="箭头: V 形 26">
            <a:extLst>
              <a:ext uri="{FF2B5EF4-FFF2-40B4-BE49-F238E27FC236}">
                <a16:creationId xmlns:a16="http://schemas.microsoft.com/office/drawing/2014/main" id="{5E516DF2-C9D6-AD8E-BCFF-A90BDF31A99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5B03680D-6909-1971-35FB-13F3F039DE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31" name="箭头: V 形 38">
            <a:extLst>
              <a:ext uri="{FF2B5EF4-FFF2-40B4-BE49-F238E27FC236}">
                <a16:creationId xmlns:a16="http://schemas.microsoft.com/office/drawing/2014/main" id="{18418C9F-8B90-51FB-5417-7649C9372975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32" name="箭头: V 形 38">
            <a:extLst>
              <a:ext uri="{FF2B5EF4-FFF2-40B4-BE49-F238E27FC236}">
                <a16:creationId xmlns:a16="http://schemas.microsoft.com/office/drawing/2014/main" id="{294A3BD2-6EEA-A62A-FCC6-B95D606F9E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33" name="箭头: V 形 38">
            <a:extLst>
              <a:ext uri="{FF2B5EF4-FFF2-40B4-BE49-F238E27FC236}">
                <a16:creationId xmlns:a16="http://schemas.microsoft.com/office/drawing/2014/main" id="{35AF69D3-D40F-8063-1AFC-8BE9B982C10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C1C5AF-DCED-31C8-68B7-45C4830E9B31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5676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1958710" y="3420791"/>
            <a:ext cx="278765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730678" y="2260875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2045491" y="5391972"/>
            <a:ext cx="2787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634884" y="2822345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421039" y="3415596"/>
            <a:ext cx="1361697" cy="30777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646035" y="5376583"/>
            <a:ext cx="911703" cy="30777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333996"/>
            <a:ext cx="10132483" cy="9459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 bypassing PCB traces, it reduces loss from ​22 dB to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cuts power by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​70%(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200 Gbps/line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345878" y="3737138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257554" y="2260875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598423" y="2976270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cs typeface="+mn-ea"/>
                    <a:sym typeface="+mn-lt"/>
                  </a:rPr>
                  <a:t>ASIC</a:t>
                </a:r>
                <a:endParaRPr lang="zh-CN" altLang="en-US" sz="9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583098" y="4894890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792034" y="5372953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985505" y="3485563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115223" y="3694447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10033494" y="3695271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807135" y="3444998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771299" y="3685356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44790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375876" y="3755780"/>
            <a:ext cx="9013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2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575324" y="3489765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572562" y="3468726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777855" y="3295424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5559" y="3256171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ASIC/GPU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195477" y="3569834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392390" y="3631944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609251" y="3541429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684943" y="2990265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2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2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348375" y="3460759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346441" y="3530341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591294" y="3527137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589706" y="3771654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10059385" y="3700035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807135" y="5377218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771299" y="5617576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345878" y="5669358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375876" y="5688000"/>
            <a:ext cx="9013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2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575324" y="5421985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572562" y="5400946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777855" y="5227644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68959" y="5187328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ASIC/GPU</a:t>
            </a: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214575" y="5485703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332355" y="5566494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609251" y="5473649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458685" y="5019972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348375" y="5392979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346441" y="5462561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819895" y="5374163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784350" y="5255035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472386" y="4778353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2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979930" y="5322019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335530" y="5314893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181832" y="5538819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807881" y="3768981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10019124" y="3571225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301119" y="3693230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219390" y="3694054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138260" y="3769702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248297" y="3698083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141935" y="3699332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290524" y="4470767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286108" y="3438679"/>
            <a:ext cx="11210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1.6-3.2Tbps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179885" y="2260875"/>
            <a:ext cx="145120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 rate limit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286108" y="5299639"/>
            <a:ext cx="2787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102.4Tbps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(16 × 6.4T)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66393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324922" y="532486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箭头: V 形 16">
            <a:extLst>
              <a:ext uri="{FF2B5EF4-FFF2-40B4-BE49-F238E27FC236}">
                <a16:creationId xmlns:a16="http://schemas.microsoft.com/office/drawing/2014/main" id="{1C92D3D4-0D93-B061-E3AB-340E06D2E2A2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7CE450F1-7790-9482-D46D-B7628EE9953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CEA8FA8F-F110-D796-2793-820266093BA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A6E218C-2BAD-D511-DC0B-3F91B6A3283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844AE7CD-DBC6-72EC-42A4-1B0A84BD155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EA6255A-E58B-DAE0-80EE-D866CF57A8E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7E83AD60-B35D-A648-EDF5-C27B021CD6F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1184231D-7847-383F-7A76-54EA2572A442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5645EAFE-A837-32C0-BFDE-CC20F82DC86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overcomes PO’s constraints: signal loss, power consumption, and speed limitations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对话气泡: 圆角矩形 22">
            <a:extLst>
              <a:ext uri="{FF2B5EF4-FFF2-40B4-BE49-F238E27FC236}">
                <a16:creationId xmlns:a16="http://schemas.microsoft.com/office/drawing/2014/main" id="{5A1EFA71-FBF8-12A8-E6FB-6978EB42174F}"/>
              </a:ext>
            </a:extLst>
          </p:cNvPr>
          <p:cNvSpPr/>
          <p:nvPr/>
        </p:nvSpPr>
        <p:spPr>
          <a:xfrm>
            <a:off x="7423619" y="6232885"/>
            <a:ext cx="4187134" cy="408293"/>
          </a:xfrm>
          <a:prstGeom prst="wedgeRoundRectCallout">
            <a:avLst>
              <a:gd name="adj1" fmla="val -21167"/>
              <a:gd name="adj2" fmla="val -85426"/>
              <a:gd name="adj3" fmla="val 16667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Co-packaging adds expense and maintenance challenges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F5D204-48C3-48B6-A04E-18083587FA9F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000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404547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viewed as 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for next-gen interconnect technologies.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422969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3249614"/>
            <a:ext cx="1084357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1286114"/>
            <a:ext cx="4843779" cy="442913"/>
            <a:chOff x="3873011" y="995866"/>
            <a:chExt cx="2652543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65254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2006839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1287702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1984375" y="205049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530975" y="2049702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584689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1990725" y="2673589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844F1B-C95E-1A69-4E59-4E369A0B197F}"/>
              </a:ext>
            </a:extLst>
          </p:cNvPr>
          <p:cNvSpPr txBox="1"/>
          <p:nvPr/>
        </p:nvSpPr>
        <p:spPr>
          <a:xfrm>
            <a:off x="6563761" y="2673589"/>
            <a:ext cx="2788754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mn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-scale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15241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415835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5154263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8451" y="3994256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75" y="3900850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7537" y="4022032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064984" y="4569758"/>
            <a:ext cx="175577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 CR3: 80%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4255953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444" y="4247113"/>
            <a:ext cx="415694" cy="27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688" y="5485109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526980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 25: 1.6T first to certify &amp; ship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526980"/>
            <a:ext cx="420369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volume production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Spectrum-X CPO switch volume production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5480018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925" y="5537190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998756"/>
            <a:ext cx="10887074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5160345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5154262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106258" y="4411902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箭头: V 形 16">
            <a:extLst>
              <a:ext uri="{FF2B5EF4-FFF2-40B4-BE49-F238E27FC236}">
                <a16:creationId xmlns:a16="http://schemas.microsoft.com/office/drawing/2014/main" id="{1A9F3A34-60BB-6A48-9000-92B0DCB6988D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91844C96-D10C-0AF8-C938-3FAB31ACF11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179910FA-123F-881B-CB02-4BBB7C90EFB2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B4F67835-6778-9554-0D75-5E4D856EE115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EA6364F0-D1CC-702B-D254-3AA40DE776A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A2C623B9-702C-9A0D-3C22-EBFC27D75632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74BEDECA-B233-1805-3E21-9D28FF7D78D4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AA11E9DC-07CA-261D-E998-83421B8570A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86C6896-A827-A73E-A4CE-B41409C26C8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If CPO becomes mainstream, global giants are expected to gain even greater influence in the new value chain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8328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603B8AF-4281-3BEE-B9BA-437A0148F07B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B320C2A-DB5C-3245-4F40-6BAB50935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BF630148-6F8B-80B3-889F-4B01FCA3E4F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01E07D6D-3037-7CE8-A727-C991FC8D2AB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C6C8EA5C-1A71-F6FF-B958-5B5B94987B2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6E1887C5-1DB5-74FA-0761-14C871F4698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49FF3E5-17D3-519C-67E0-89263FF2578B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6B673292-A339-8E7C-C3BE-8D30498F1F5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00A55582-BF97-6E3F-3445-964D44D6E36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IDC interconnect: scale-up vs scale-out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E84309-A105-05D8-B741-5C4C40A0BC12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2731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723372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652395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342030" y="1274753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959732" y="1274753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2065170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2099097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2051564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711701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2036369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711701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5647221" y="3825777"/>
            <a:ext cx="3130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Transmission reach matters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Easier to commercialize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742479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5" y="6287653"/>
            <a:ext cx="11497549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Sitrus Official Web Site.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Note 1: Sitrus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are two leading Chinese companies specializing in high-speed DSP chips and switch chips, respectively. 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2873858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713222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742479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r>
              <a:rPr lang="en-US" altLang="zh-CN" sz="1400" baseline="30000" dirty="0"/>
              <a:t>1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2873858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495573" y="5064870"/>
            <a:ext cx="51220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Chip limitations drive longer-reach scale-up solutions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optical essential for scale-up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677778" y="5064870"/>
            <a:ext cx="38530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Starting testing of optical in IDCs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still dominates in the short-term 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675830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7" y="3527875"/>
            <a:ext cx="10624673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  <a:endCxn id="56" idx="3"/>
          </p:cNvCxnSpPr>
          <p:nvPr/>
        </p:nvCxnSpPr>
        <p:spPr>
          <a:xfrm>
            <a:off x="992937" y="4647822"/>
            <a:ext cx="1062467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342030" y="3916683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Initial adoption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356839" y="4734728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Acceleration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652395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757340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2794952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2B70AA6-EC4C-AE08-3C64-C84FC2A0F7C5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5890BD31-0156-37EB-A453-73982328B8A2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CFCA75F-261F-88F0-A468-FF668537D8B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C365A660-1A28-3611-A5B9-85AF89E3C04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CAC005BA-8D0A-9994-FCC4-52216BD55077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58F60712-3BC1-A7A4-0BB0-9C417B14C740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86FC258E-7AA5-BC78-0F15-29BFBC5F606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9CB29951-CA02-BFDA-F9A6-C4CCF1CC63F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8A979A0-39E3-58F5-23D2-8E0B7E10874A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​Optical interconnect adoption is prioritized in scale-out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D902A4C-B64C-5B72-01E5-249A0DD391EE}"/>
              </a:ext>
            </a:extLst>
          </p:cNvPr>
          <p:cNvSpPr txBox="1"/>
          <p:nvPr/>
        </p:nvSpPr>
        <p:spPr>
          <a:xfrm>
            <a:off x="6396136" y="4734728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Aggressive push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1666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532468" y="4150344"/>
            <a:ext cx="9841468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719188" y="3205849"/>
            <a:ext cx="634602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828011" y="269275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8332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1442" y="236293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5141" y="241642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8011" y="235568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7708" y="244057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4095911" y="4332214"/>
            <a:ext cx="673878" cy="41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4753113" y="4312418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2303719" y="428636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719188" y="4312220"/>
            <a:ext cx="619600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4747497" y="4781281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2615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7023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6910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2702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2288484" y="4755223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3372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1701073" y="4350647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710072" y="5449501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823352" y="5449501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1280975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421246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30651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293849" y="477537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Sampling and Testing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4707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521286" y="28179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764749" y="2840012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3556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27023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323716" y="3777413"/>
            <a:ext cx="2434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Oct 25: Sampling and Testing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Volume production date.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91947" y="1452937"/>
            <a:ext cx="1005662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Volume production timeline: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2026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​;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Scale-up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2028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(per Broadcom)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adoption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may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delay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due to gaps in supply chain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maturity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and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maintainability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compared to PO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02FF8B8-4623-9F6B-77AA-3EE0650042D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C33DA70B-755F-D849-9A71-E1AA104BCE7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02680C8F-5510-D244-03EB-8D6C7E0F4EF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8C63058E-B22C-9483-7301-76AF0930FF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BFE478B8-4F04-CEA4-FC9E-64553E746DC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4DCADA7-ACD1-65A6-C867-A255EEAAAD4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30FF3-96C2-9B29-35D7-27675598A1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1375C11-BCF2-B976-0ECD-B4048F9CBB4C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DF436C0-7002-0C50-3B31-81EAB5CBD376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941151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Overseas players pursue scale-out and scale-up in parallel, with CPO initially focused on scale-out for 1-2 years</a:t>
            </a:r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15" name="直线连接符 30">
            <a:extLst>
              <a:ext uri="{FF2B5EF4-FFF2-40B4-BE49-F238E27FC236}">
                <a16:creationId xmlns:a16="http://schemas.microsoft.com/office/drawing/2014/main" id="{C94A70D6-4F6E-E7E0-3074-52D3CD4F5781}"/>
              </a:ext>
            </a:extLst>
          </p:cNvPr>
          <p:cNvCxnSpPr>
            <a:cxnSpLocks/>
          </p:cNvCxnSpPr>
          <p:nvPr/>
        </p:nvCxnSpPr>
        <p:spPr>
          <a:xfrm>
            <a:off x="1542305" y="2687148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528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349" imgH="350" progId="TCLayout.ActiveDocument.1">
                  <p:embed/>
                </p:oleObj>
              </mc:Choice>
              <mc:Fallback>
                <p:oleObj name="think-cell 幻灯片" r:id="rId1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7" name="Textplatzhalter 9">
            <a:extLst>
              <a:ext uri="{FF2B5EF4-FFF2-40B4-BE49-F238E27FC236}">
                <a16:creationId xmlns:a16="http://schemas.microsoft.com/office/drawing/2014/main" id="{F1AA5767-C3B1-190C-FB29-D68B3867C869}"/>
              </a:ext>
            </a:extLst>
          </p:cNvPr>
          <p:cNvSpPr txBox="1">
            <a:spLocks/>
          </p:cNvSpPr>
          <p:nvPr/>
        </p:nvSpPr>
        <p:spPr bwMode="gray">
          <a:xfrm>
            <a:off x="1527175" y="1930400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88" name="Textplatzhalter 9">
            <a:extLst>
              <a:ext uri="{FF2B5EF4-FFF2-40B4-BE49-F238E27FC236}">
                <a16:creationId xmlns:a16="http://schemas.microsoft.com/office/drawing/2014/main" id="{F10F0791-C3AE-497A-1C7D-1DC07E35C3B2}"/>
              </a:ext>
            </a:extLst>
          </p:cNvPr>
          <p:cNvSpPr txBox="1">
            <a:spLocks/>
          </p:cNvSpPr>
          <p:nvPr/>
        </p:nvSpPr>
        <p:spPr bwMode="gray">
          <a:xfrm>
            <a:off x="1527175" y="4111625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89" name="Textplatzhalter 9">
            <a:extLst>
              <a:ext uri="{FF2B5EF4-FFF2-40B4-BE49-F238E27FC236}">
                <a16:creationId xmlns:a16="http://schemas.microsoft.com/office/drawing/2014/main" id="{EAF70CB0-9EFB-5CAE-7CE2-16709086E9DA}"/>
              </a:ext>
            </a:extLst>
          </p:cNvPr>
          <p:cNvSpPr txBox="1">
            <a:spLocks/>
          </p:cNvSpPr>
          <p:nvPr/>
        </p:nvSpPr>
        <p:spPr bwMode="gray">
          <a:xfrm>
            <a:off x="1527175" y="5424488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6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390" name="文本框 1389">
            <a:extLst>
              <a:ext uri="{FF2B5EF4-FFF2-40B4-BE49-F238E27FC236}">
                <a16:creationId xmlns:a16="http://schemas.microsoft.com/office/drawing/2014/main" id="{EB242B47-4000-582B-BBCD-85BADA26C0B9}"/>
              </a:ext>
            </a:extLst>
          </p:cNvPr>
          <p:cNvSpPr txBox="1"/>
          <p:nvPr/>
        </p:nvSpPr>
        <p:spPr>
          <a:xfrm>
            <a:off x="727075" y="1117600"/>
            <a:ext cx="1231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1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1391" name="文本框 1390">
            <a:extLst>
              <a:ext uri="{FF2B5EF4-FFF2-40B4-BE49-F238E27FC236}">
                <a16:creationId xmlns:a16="http://schemas.microsoft.com/office/drawing/2014/main" id="{747EDC4D-0EC5-E158-C861-A1675D8A35E1}"/>
              </a:ext>
            </a:extLst>
          </p:cNvPr>
          <p:cNvSpPr txBox="1"/>
          <p:nvPr/>
        </p:nvSpPr>
        <p:spPr>
          <a:xfrm>
            <a:off x="1679575" y="1111250"/>
            <a:ext cx="199866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1392" name="连接符: 肘形 1391">
            <a:extLst>
              <a:ext uri="{FF2B5EF4-FFF2-40B4-BE49-F238E27FC236}">
                <a16:creationId xmlns:a16="http://schemas.microsoft.com/office/drawing/2014/main" id="{62D04A46-BFF4-D397-4D01-7594DE1115C2}"/>
              </a:ext>
            </a:extLst>
          </p:cNvPr>
          <p:cNvCxnSpPr>
            <a:cxnSpLocks/>
            <a:stCxn id="1390" idx="2"/>
            <a:endCxn id="1387" idx="1"/>
          </p:cNvCxnSpPr>
          <p:nvPr/>
        </p:nvCxnSpPr>
        <p:spPr>
          <a:xfrm rot="16200000" flipH="1">
            <a:off x="1131491" y="1657747"/>
            <a:ext cx="607219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4" name="连接符: 肘形 1393">
            <a:extLst>
              <a:ext uri="{FF2B5EF4-FFF2-40B4-BE49-F238E27FC236}">
                <a16:creationId xmlns:a16="http://schemas.microsoft.com/office/drawing/2014/main" id="{1EC5009C-66EE-19E3-0C14-F9534DFE8127}"/>
              </a:ext>
            </a:extLst>
          </p:cNvPr>
          <p:cNvCxnSpPr>
            <a:cxnSpLocks/>
            <a:stCxn id="1390" idx="2"/>
            <a:endCxn id="1388" idx="1"/>
          </p:cNvCxnSpPr>
          <p:nvPr/>
        </p:nvCxnSpPr>
        <p:spPr>
          <a:xfrm rot="16200000" flipH="1">
            <a:off x="40878" y="2748360"/>
            <a:ext cx="2788444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5" name="连接符: 肘形 1394">
            <a:extLst>
              <a:ext uri="{FF2B5EF4-FFF2-40B4-BE49-F238E27FC236}">
                <a16:creationId xmlns:a16="http://schemas.microsoft.com/office/drawing/2014/main" id="{62D3C7F8-8782-560F-8582-278202F8C896}"/>
              </a:ext>
            </a:extLst>
          </p:cNvPr>
          <p:cNvCxnSpPr>
            <a:cxnSpLocks/>
            <a:stCxn id="1390" idx="2"/>
            <a:endCxn id="1389" idx="1"/>
          </p:cNvCxnSpPr>
          <p:nvPr/>
        </p:nvCxnSpPr>
        <p:spPr>
          <a:xfrm rot="16200000" flipH="1">
            <a:off x="-615553" y="3404791"/>
            <a:ext cx="4101307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6" name="文本框 1395">
            <a:extLst>
              <a:ext uri="{FF2B5EF4-FFF2-40B4-BE49-F238E27FC236}">
                <a16:creationId xmlns:a16="http://schemas.microsoft.com/office/drawing/2014/main" id="{E3DD09DE-A7DF-5221-0067-149ADB8BA771}"/>
              </a:ext>
            </a:extLst>
          </p:cNvPr>
          <p:cNvSpPr txBox="1"/>
          <p:nvPr/>
        </p:nvSpPr>
        <p:spPr>
          <a:xfrm>
            <a:off x="1663700" y="2220913"/>
            <a:ext cx="1997075" cy="5222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97" name="Textplatzhalter 9">
            <a:extLst>
              <a:ext uri="{FF2B5EF4-FFF2-40B4-BE49-F238E27FC236}">
                <a16:creationId xmlns:a16="http://schemas.microsoft.com/office/drawing/2014/main" id="{9F0ACECA-B650-4903-BF26-69A29C9B24F5}"/>
              </a:ext>
            </a:extLst>
          </p:cNvPr>
          <p:cNvSpPr txBox="1">
            <a:spLocks/>
          </p:cNvSpPr>
          <p:nvPr/>
        </p:nvSpPr>
        <p:spPr bwMode="gray">
          <a:xfrm>
            <a:off x="4659313" y="1871663"/>
            <a:ext cx="192246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98" name="Textplatzhalter 9">
            <a:extLst>
              <a:ext uri="{FF2B5EF4-FFF2-40B4-BE49-F238E27FC236}">
                <a16:creationId xmlns:a16="http://schemas.microsoft.com/office/drawing/2014/main" id="{16613BED-01DA-2195-569B-E554B01B411F}"/>
              </a:ext>
            </a:extLst>
          </p:cNvPr>
          <p:cNvSpPr txBox="1">
            <a:spLocks/>
          </p:cNvSpPr>
          <p:nvPr/>
        </p:nvSpPr>
        <p:spPr bwMode="gray">
          <a:xfrm>
            <a:off x="4659313" y="3195638"/>
            <a:ext cx="314801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1399" name="连接符: 肘形 1398">
            <a:extLst>
              <a:ext uri="{FF2B5EF4-FFF2-40B4-BE49-F238E27FC236}">
                <a16:creationId xmlns:a16="http://schemas.microsoft.com/office/drawing/2014/main" id="{C9256714-B85D-2349-8F2C-7BCEBE8772C6}"/>
              </a:ext>
            </a:extLst>
          </p:cNvPr>
          <p:cNvCxnSpPr>
            <a:cxnSpLocks/>
            <a:stCxn id="1396" idx="1"/>
            <a:endCxn id="1410" idx="1"/>
          </p:cNvCxnSpPr>
          <p:nvPr/>
        </p:nvCxnSpPr>
        <p:spPr>
          <a:xfrm>
            <a:off x="3654238" y="2220913"/>
            <a:ext cx="801875" cy="64055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0" name="组合 1399">
            <a:extLst>
              <a:ext uri="{FF2B5EF4-FFF2-40B4-BE49-F238E27FC236}">
                <a16:creationId xmlns:a16="http://schemas.microsoft.com/office/drawing/2014/main" id="{03E729F7-5DD7-88B6-1C9F-7284F6170396}"/>
              </a:ext>
            </a:extLst>
          </p:cNvPr>
          <p:cNvGrpSpPr/>
          <p:nvPr/>
        </p:nvGrpSpPr>
        <p:grpSpPr>
          <a:xfrm>
            <a:off x="5449888" y="1408113"/>
            <a:ext cx="887413" cy="258763"/>
            <a:chOff x="5019885" y="4088857"/>
            <a:chExt cx="969121" cy="350678"/>
          </a:xfrm>
        </p:grpSpPr>
        <p:pic>
          <p:nvPicPr>
            <p:cNvPr id="1401" name="图片 1400">
              <a:extLst>
                <a:ext uri="{FF2B5EF4-FFF2-40B4-BE49-F238E27FC236}">
                  <a16:creationId xmlns:a16="http://schemas.microsoft.com/office/drawing/2014/main" id="{68317D66-12E6-B5D0-F5CD-42913A0C4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1402" name="图片 1401">
              <a:extLst>
                <a:ext uri="{FF2B5EF4-FFF2-40B4-BE49-F238E27FC236}">
                  <a16:creationId xmlns:a16="http://schemas.microsoft.com/office/drawing/2014/main" id="{CAC6DD95-C822-E899-858F-FBC3B44F1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403" name="Textplatzhalter 9">
            <a:extLst>
              <a:ext uri="{FF2B5EF4-FFF2-40B4-BE49-F238E27FC236}">
                <a16:creationId xmlns:a16="http://schemas.microsoft.com/office/drawing/2014/main" id="{EA764E57-925F-570A-EB1A-F368F015C986}"/>
              </a:ext>
            </a:extLst>
          </p:cNvPr>
          <p:cNvSpPr txBox="1">
            <a:spLocks/>
          </p:cNvSpPr>
          <p:nvPr/>
        </p:nvSpPr>
        <p:spPr bwMode="gray">
          <a:xfrm>
            <a:off x="4659313" y="2312988"/>
            <a:ext cx="3302000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404" name="组合 1403">
            <a:extLst>
              <a:ext uri="{FF2B5EF4-FFF2-40B4-BE49-F238E27FC236}">
                <a16:creationId xmlns:a16="http://schemas.microsoft.com/office/drawing/2014/main" id="{522532FF-3127-8AEA-05DD-510B3C05E401}"/>
              </a:ext>
            </a:extLst>
          </p:cNvPr>
          <p:cNvGrpSpPr/>
          <p:nvPr/>
        </p:nvGrpSpPr>
        <p:grpSpPr>
          <a:xfrm>
            <a:off x="5483225" y="2744788"/>
            <a:ext cx="1123950" cy="255588"/>
            <a:chOff x="4391911" y="2529715"/>
            <a:chExt cx="1124028" cy="256470"/>
          </a:xfrm>
        </p:grpSpPr>
        <p:pic>
          <p:nvPicPr>
            <p:cNvPr id="1405" name="Picture 2">
              <a:extLst>
                <a:ext uri="{FF2B5EF4-FFF2-40B4-BE49-F238E27FC236}">
                  <a16:creationId xmlns:a16="http://schemas.microsoft.com/office/drawing/2014/main" id="{8211F662-0C6E-5017-ABB5-6DA257A42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6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84FE8021-0FF0-5A5F-69DB-9BF5BCC20A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7" name="Picture 6" descr="Google Cloud Logo - Significado, História e PNG">
              <a:extLst>
                <a:ext uri="{FF2B5EF4-FFF2-40B4-BE49-F238E27FC236}">
                  <a16:creationId xmlns:a16="http://schemas.microsoft.com/office/drawing/2014/main" id="{18886AD4-28FE-552D-3B9A-2F67DF8D27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08" name="Textplatzhalter 9">
            <a:extLst>
              <a:ext uri="{FF2B5EF4-FFF2-40B4-BE49-F238E27FC236}">
                <a16:creationId xmlns:a16="http://schemas.microsoft.com/office/drawing/2014/main" id="{5F3D983E-EB14-A418-08B7-E97C6511E8B1}"/>
              </a:ext>
            </a:extLst>
          </p:cNvPr>
          <p:cNvSpPr txBox="1">
            <a:spLocks/>
          </p:cNvSpPr>
          <p:nvPr/>
        </p:nvSpPr>
        <p:spPr bwMode="gray">
          <a:xfrm>
            <a:off x="4659313" y="3635375"/>
            <a:ext cx="3302000" cy="18573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09" name="Textplatzhalter 9">
            <a:extLst>
              <a:ext uri="{FF2B5EF4-FFF2-40B4-BE49-F238E27FC236}">
                <a16:creationId xmlns:a16="http://schemas.microsoft.com/office/drawing/2014/main" id="{A9F654BE-F0DA-B8D1-B3FA-F9320B7E041C}"/>
              </a:ext>
            </a:extLst>
          </p:cNvPr>
          <p:cNvSpPr txBox="1">
            <a:spLocks/>
          </p:cNvSpPr>
          <p:nvPr/>
        </p:nvSpPr>
        <p:spPr bwMode="gray">
          <a:xfrm>
            <a:off x="4452938" y="1430338"/>
            <a:ext cx="954088" cy="21590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410" name="Textplatzhalter 9">
            <a:extLst>
              <a:ext uri="{FF2B5EF4-FFF2-40B4-BE49-F238E27FC236}">
                <a16:creationId xmlns:a16="http://schemas.microsoft.com/office/drawing/2014/main" id="{5B2C3355-5A5C-48D5-C65E-15F42F14FF9C}"/>
              </a:ext>
            </a:extLst>
          </p:cNvPr>
          <p:cNvSpPr txBox="1">
            <a:spLocks/>
          </p:cNvSpPr>
          <p:nvPr/>
        </p:nvSpPr>
        <p:spPr bwMode="gray">
          <a:xfrm>
            <a:off x="4456113" y="2754313"/>
            <a:ext cx="969963" cy="21431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411" name="连接符: 肘形 1410">
            <a:extLst>
              <a:ext uri="{FF2B5EF4-FFF2-40B4-BE49-F238E27FC236}">
                <a16:creationId xmlns:a16="http://schemas.microsoft.com/office/drawing/2014/main" id="{176651E9-7E49-9E42-CA3C-0F2316F55C6E}"/>
              </a:ext>
            </a:extLst>
          </p:cNvPr>
          <p:cNvCxnSpPr>
            <a:cxnSpLocks/>
            <a:stCxn id="1396" idx="1"/>
            <a:endCxn id="1409" idx="1"/>
          </p:cNvCxnSpPr>
          <p:nvPr/>
        </p:nvCxnSpPr>
        <p:spPr>
          <a:xfrm flipV="1">
            <a:off x="3654238" y="1538288"/>
            <a:ext cx="798700" cy="68262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64" name="Chart 3">
            <a:extLst>
              <a:ext uri="{FF2B5EF4-FFF2-40B4-BE49-F238E27FC236}">
                <a16:creationId xmlns:a16="http://schemas.microsoft.com/office/drawing/2014/main" id="{F96090E8-A0AD-01F5-DD7D-E38709D8696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94487925"/>
              </p:ext>
            </p:extLst>
          </p:nvPr>
        </p:nvGraphicFramePr>
        <p:xfrm>
          <a:off x="4435475" y="415131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1413" name="Text Placeholder 4">
            <a:extLst>
              <a:ext uri="{FF2B5EF4-FFF2-40B4-BE49-F238E27FC236}">
                <a16:creationId xmlns:a16="http://schemas.microsoft.com/office/drawing/2014/main" id="{FBFB7213-CBD7-DE45-432A-A372CEC0420D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4243388" y="489108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06FE5113-0210-46DD-867E-EF96C17807F8}" type="datetime'''''0'''''''''''''''''''''''''''''''''">
              <a:rPr lang="en-US" altLang="en-US" sz="1400" smtClean="0">
                <a:cs typeface="+mn-cs"/>
              </a:rPr>
              <a:pPr/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1414" name="Text Placeholder 4">
            <a:extLst>
              <a:ext uri="{FF2B5EF4-FFF2-40B4-BE49-F238E27FC236}">
                <a16:creationId xmlns:a16="http://schemas.microsoft.com/office/drawing/2014/main" id="{F8874D96-401C-37D7-A28E-EAAC1A1161DB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4144963" y="4510088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134EEDA4-C57D-4E3E-98A4-C474F13D4585}" type="datetime'''''''''''''''''''''''''''''''''''''''''10'''''''''''''''">
              <a:rPr lang="en-US" altLang="en-US" sz="1400" smtClean="0">
                <a:cs typeface="+mn-cs"/>
              </a:rPr>
              <a:pPr/>
              <a:t>10</a:t>
            </a:fld>
            <a:endParaRPr lang="en-US" sz="1400" dirty="0">
              <a:cs typeface="+mn-cs"/>
            </a:endParaRPr>
          </a:p>
        </p:txBody>
      </p:sp>
      <p:sp>
        <p:nvSpPr>
          <p:cNvPr id="1415" name="Text Placeholder 4">
            <a:extLst>
              <a:ext uri="{FF2B5EF4-FFF2-40B4-BE49-F238E27FC236}">
                <a16:creationId xmlns:a16="http://schemas.microsoft.com/office/drawing/2014/main" id="{D4735798-ECD9-C96E-7D9B-95DA3531A1DB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986213" y="412750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6C037253-83FD-4C05-BA2C-9EB93CF0F1A9}" type="datetime'2''''''''''''0'''''''''''''''''''''''''''''''''''''''''''''''">
              <a:rPr lang="en-US" altLang="en-US" sz="1400" smtClean="0">
                <a:cs typeface="+mn-cs"/>
              </a:rPr>
              <a:pPr/>
              <a:t>20</a:t>
            </a:fld>
            <a:r>
              <a:rPr lang="en-US" altLang="en-US" sz="140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422" name="Text Placeholder 4">
            <a:extLst>
              <a:ext uri="{FF2B5EF4-FFF2-40B4-BE49-F238E27FC236}">
                <a16:creationId xmlns:a16="http://schemas.microsoft.com/office/drawing/2014/main" id="{26BEA46B-F84F-C1B1-E1DB-B4077DE09376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4354513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7E9AB6B-AED5-4989-80F2-B00C0F8FFBB7}" type="datetime'''''''''''''''''''''''''''''''''''2''6''E'''''''''''''">
              <a:rPr lang="en-US" altLang="en-US" sz="1400" smtClean="0">
                <a:cs typeface="+mn-cs"/>
              </a:rPr>
              <a:pPr/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425" name="Text Placeholder 4">
            <a:extLst>
              <a:ext uri="{FF2B5EF4-FFF2-40B4-BE49-F238E27FC236}">
                <a16:creationId xmlns:a16="http://schemas.microsoft.com/office/drawing/2014/main" id="{260DCF94-A67F-A051-2326-04AEDB9FA4AB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53975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6A0894C-D2F7-4F71-8111-F9C66CE83905}" type="datetime'2''''''''''''''''7E'''''''''''''">
              <a:rPr lang="en-US" altLang="en-US" sz="1400" smtClean="0">
                <a:cs typeface="+mn-cs"/>
              </a:rPr>
              <a:pPr/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426" name="Text Placeholder 4">
            <a:extLst>
              <a:ext uri="{FF2B5EF4-FFF2-40B4-BE49-F238E27FC236}">
                <a16:creationId xmlns:a16="http://schemas.microsoft.com/office/drawing/2014/main" id="{789C8F66-69AA-1D93-3383-062C75DB003E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6448425" y="48529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19DD1B3-BA0B-43E1-8849-0C02258FFE44}" type="datetime'''''''''''''''''''''''''''''''1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1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427" name="Text Placeholder 4">
            <a:extLst>
              <a:ext uri="{FF2B5EF4-FFF2-40B4-BE49-F238E27FC236}">
                <a16:creationId xmlns:a16="http://schemas.microsoft.com/office/drawing/2014/main" id="{9B25B4A6-4275-9C84-0F58-BE43E0E39327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6448425" y="45862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FC0665D-B063-4850-B12C-9ED24FAB4E11}" type="datetime'''''''''''8''''''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8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429" name="Text Placeholder 4">
            <a:extLst>
              <a:ext uri="{FF2B5EF4-FFF2-40B4-BE49-F238E27FC236}">
                <a16:creationId xmlns:a16="http://schemas.microsoft.com/office/drawing/2014/main" id="{2AFD4170-D175-5BF4-5A2C-C5886FC5AEEA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6399213" y="415290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75B0ABA-583D-427D-B2B3-76EE3A7BCEE8}" type="datetime'''''''''''1''5'''">
              <a:rPr lang="en-US" altLang="en-US" sz="1400" b="1" smtClean="0">
                <a:solidFill>
                  <a:srgbClr val="0052D9"/>
                </a:solidFill>
                <a:cs typeface="+mn-cs"/>
              </a:rPr>
              <a:pPr/>
              <a:t>15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430" name="Text Placeholder 4">
            <a:extLst>
              <a:ext uri="{FF2B5EF4-FFF2-40B4-BE49-F238E27FC236}">
                <a16:creationId xmlns:a16="http://schemas.microsoft.com/office/drawing/2014/main" id="{0195472A-19CC-87DE-E781-C564ADC5D6C2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64389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B629FA-6B17-4ED8-8E9A-5B6EFE342258}" type="datetime'''''''''2''''''''''8''''''''''''''''''''E'''''''''''''''''''">
              <a:rPr lang="en-US" altLang="en-US" sz="1400" smtClean="0">
                <a:cs typeface="+mn-cs"/>
              </a:rPr>
              <a:pPr/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431" name="Text Placeholder 4">
            <a:extLst>
              <a:ext uri="{FF2B5EF4-FFF2-40B4-BE49-F238E27FC236}">
                <a16:creationId xmlns:a16="http://schemas.microsoft.com/office/drawing/2014/main" id="{CD843854-562C-D299-99A6-AADA2314B6C9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6948488" y="47593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056E814-3E32-4F13-A75D-26EA28FB411A}" type="datetime'''''''''80''''''''''''''''''''''''''''''''''''''''0G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432" name="Text Placeholder 4">
            <a:extLst>
              <a:ext uri="{FF2B5EF4-FFF2-40B4-BE49-F238E27FC236}">
                <a16:creationId xmlns:a16="http://schemas.microsoft.com/office/drawing/2014/main" id="{D03AFBA1-008A-17A7-293F-8B90471A35EC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6948488" y="44958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101933D4-9C1F-4F55-B684-C4B13A82FA02}" type="datetime'''''''''''''''1.''6''''''''''''''''''T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433" name="Text Placeholder 4">
            <a:extLst>
              <a:ext uri="{FF2B5EF4-FFF2-40B4-BE49-F238E27FC236}">
                <a16:creationId xmlns:a16="http://schemas.microsoft.com/office/drawing/2014/main" id="{CA9F22E8-3AB0-7626-CC0F-F2C109A72E64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948488" y="42322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34DC2B7-0738-4155-8EF8-DB7C64A9AA63}" type="datetime'''''3''''''.''''''''''''''''''''''''''2''''''''''''''T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434" name="文本框 1433">
            <a:extLst>
              <a:ext uri="{FF2B5EF4-FFF2-40B4-BE49-F238E27FC236}">
                <a16:creationId xmlns:a16="http://schemas.microsoft.com/office/drawing/2014/main" id="{977F2327-63BF-71DD-543F-53761CD76AC2}"/>
              </a:ext>
            </a:extLst>
          </p:cNvPr>
          <p:cNvSpPr txBox="1"/>
          <p:nvPr/>
        </p:nvSpPr>
        <p:spPr>
          <a:xfrm>
            <a:off x="1663700" y="4405313"/>
            <a:ext cx="1997075" cy="5238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35" name="文本框 1434">
            <a:extLst>
              <a:ext uri="{FF2B5EF4-FFF2-40B4-BE49-F238E27FC236}">
                <a16:creationId xmlns:a16="http://schemas.microsoft.com/office/drawing/2014/main" id="{1A24FF55-8D07-0994-8912-6B20E3BCFD9B}"/>
              </a:ext>
            </a:extLst>
          </p:cNvPr>
          <p:cNvSpPr txBox="1"/>
          <p:nvPr/>
        </p:nvSpPr>
        <p:spPr>
          <a:xfrm>
            <a:off x="1663700" y="5699125"/>
            <a:ext cx="2111375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36" name="Textplatzhalter 9">
            <a:extLst>
              <a:ext uri="{FF2B5EF4-FFF2-40B4-BE49-F238E27FC236}">
                <a16:creationId xmlns:a16="http://schemas.microsoft.com/office/drawing/2014/main" id="{C0F94439-DC7D-8640-1D0E-67F196557AEA}"/>
              </a:ext>
            </a:extLst>
          </p:cNvPr>
          <p:cNvSpPr txBox="1">
            <a:spLocks/>
          </p:cNvSpPr>
          <p:nvPr/>
        </p:nvSpPr>
        <p:spPr bwMode="gray">
          <a:xfrm>
            <a:off x="7798263" y="5349353"/>
            <a:ext cx="4040811" cy="105157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-&gt;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~$900 / port in 2025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Rate 2x -&gt; price 2x;</a:t>
            </a:r>
          </a:p>
          <a:p>
            <a:r>
              <a:rPr lang="en-US" altLang="zh-CN" sz="1200" dirty="0">
                <a:sym typeface="+mn-lt"/>
              </a:rPr>
              <a:t>Price descending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accelerates in 2027 </a:t>
            </a:r>
            <a:r>
              <a:rPr lang="en-US" altLang="zh-CN" sz="1200" dirty="0">
                <a:sym typeface="+mn-lt"/>
              </a:rPr>
              <a:t>as CPO starts penetration.</a:t>
            </a:r>
          </a:p>
        </p:txBody>
      </p:sp>
      <p:sp>
        <p:nvSpPr>
          <p:cNvPr id="1437" name="文本框 1436">
            <a:extLst>
              <a:ext uri="{FF2B5EF4-FFF2-40B4-BE49-F238E27FC236}">
                <a16:creationId xmlns:a16="http://schemas.microsoft.com/office/drawing/2014/main" id="{DC911E28-30C5-4722-83E5-6FBFC054E366}"/>
              </a:ext>
            </a:extLst>
          </p:cNvPr>
          <p:cNvSpPr txBox="1"/>
          <p:nvPr/>
        </p:nvSpPr>
        <p:spPr>
          <a:xfrm>
            <a:off x="379626" y="6295257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2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3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438" name="Textplatzhalter 9">
            <a:extLst>
              <a:ext uri="{FF2B5EF4-FFF2-40B4-BE49-F238E27FC236}">
                <a16:creationId xmlns:a16="http://schemas.microsoft.com/office/drawing/2014/main" id="{F20ECEAD-DA35-9C4C-D55B-F4E44DD4B118}"/>
              </a:ext>
            </a:extLst>
          </p:cNvPr>
          <p:cNvSpPr txBox="1">
            <a:spLocks/>
          </p:cNvSpPr>
          <p:nvPr/>
        </p:nvSpPr>
        <p:spPr bwMode="gray">
          <a:xfrm>
            <a:off x="7798263" y="4044485"/>
            <a:ext cx="3972517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CPO starts penetration in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late 2027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: 1 year for mass production &amp; half year for HPC adoption</a:t>
            </a:r>
          </a:p>
        </p:txBody>
      </p:sp>
      <p:sp>
        <p:nvSpPr>
          <p:cNvPr id="1439" name="Textplatzhalter 9">
            <a:extLst>
              <a:ext uri="{FF2B5EF4-FFF2-40B4-BE49-F238E27FC236}">
                <a16:creationId xmlns:a16="http://schemas.microsoft.com/office/drawing/2014/main" id="{8B54E0EE-7744-600F-E4A7-BF4BB4F08691}"/>
              </a:ext>
            </a:extLst>
          </p:cNvPr>
          <p:cNvSpPr txBox="1">
            <a:spLocks/>
          </p:cNvSpPr>
          <p:nvPr/>
        </p:nvSpPr>
        <p:spPr bwMode="gray">
          <a:xfrm>
            <a:off x="7798263" y="1660696"/>
            <a:ext cx="4040811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440" name="文本框 1439">
            <a:extLst>
              <a:ext uri="{FF2B5EF4-FFF2-40B4-BE49-F238E27FC236}">
                <a16:creationId xmlns:a16="http://schemas.microsoft.com/office/drawing/2014/main" id="{27E9DECE-2FC1-59B6-43DA-8749AD5DC605}"/>
              </a:ext>
            </a:extLst>
          </p:cNvPr>
          <p:cNvSpPr txBox="1"/>
          <p:nvPr/>
        </p:nvSpPr>
        <p:spPr>
          <a:xfrm>
            <a:off x="2959100" y="1909763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 57mn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1" name="文本框 1440">
            <a:extLst>
              <a:ext uri="{FF2B5EF4-FFF2-40B4-BE49-F238E27FC236}">
                <a16:creationId xmlns:a16="http://schemas.microsoft.com/office/drawing/2014/main" id="{B40DE99B-CDD4-D6BC-F9F0-5E412E8AF681}"/>
              </a:ext>
            </a:extLst>
          </p:cNvPr>
          <p:cNvSpPr txBox="1"/>
          <p:nvPr/>
        </p:nvSpPr>
        <p:spPr>
          <a:xfrm>
            <a:off x="3195638" y="4083050"/>
            <a:ext cx="1997075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~10%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42" name="文本框 1441">
            <a:extLst>
              <a:ext uri="{FF2B5EF4-FFF2-40B4-BE49-F238E27FC236}">
                <a16:creationId xmlns:a16="http://schemas.microsoft.com/office/drawing/2014/main" id="{CD60B7EC-3107-E2E5-D13E-23E96FE8B69F}"/>
              </a:ext>
            </a:extLst>
          </p:cNvPr>
          <p:cNvSpPr txBox="1"/>
          <p:nvPr/>
        </p:nvSpPr>
        <p:spPr>
          <a:xfrm>
            <a:off x="2582863" y="5389563"/>
            <a:ext cx="782638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~$1000 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43" name="文本框 1442">
            <a:extLst>
              <a:ext uri="{FF2B5EF4-FFF2-40B4-BE49-F238E27FC236}">
                <a16:creationId xmlns:a16="http://schemas.microsoft.com/office/drawing/2014/main" id="{A59A707E-2595-B2E3-0CB5-A62040826D2D}"/>
              </a:ext>
            </a:extLst>
          </p:cNvPr>
          <p:cNvSpPr txBox="1"/>
          <p:nvPr/>
        </p:nvSpPr>
        <p:spPr>
          <a:xfrm>
            <a:off x="6005513" y="1824038"/>
            <a:ext cx="8572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4" name="文本框 1443">
            <a:extLst>
              <a:ext uri="{FF2B5EF4-FFF2-40B4-BE49-F238E27FC236}">
                <a16:creationId xmlns:a16="http://schemas.microsoft.com/office/drawing/2014/main" id="{6E731C7D-7489-7FB3-23A1-E40293ED0FB2}"/>
              </a:ext>
            </a:extLst>
          </p:cNvPr>
          <p:cNvSpPr txBox="1"/>
          <p:nvPr/>
        </p:nvSpPr>
        <p:spPr>
          <a:xfrm>
            <a:off x="6484938" y="2247900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45" name="文本框 1444">
            <a:extLst>
              <a:ext uri="{FF2B5EF4-FFF2-40B4-BE49-F238E27FC236}">
                <a16:creationId xmlns:a16="http://schemas.microsoft.com/office/drawing/2014/main" id="{32DB798C-0AEF-C7B9-EF5F-4570BA2DB6E7}"/>
              </a:ext>
            </a:extLst>
          </p:cNvPr>
          <p:cNvSpPr txBox="1"/>
          <p:nvPr/>
        </p:nvSpPr>
        <p:spPr>
          <a:xfrm>
            <a:off x="6005513" y="3149383"/>
            <a:ext cx="857250" cy="277813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~6.3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6" name="文本框 1445">
            <a:extLst>
              <a:ext uri="{FF2B5EF4-FFF2-40B4-BE49-F238E27FC236}">
                <a16:creationId xmlns:a16="http://schemas.microsoft.com/office/drawing/2014/main" id="{A273CBD3-2C88-98A5-2E1D-ECEC31BA3E86}"/>
              </a:ext>
            </a:extLst>
          </p:cNvPr>
          <p:cNvSpPr txBox="1"/>
          <p:nvPr/>
        </p:nvSpPr>
        <p:spPr>
          <a:xfrm>
            <a:off x="6537325" y="3586163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47" name="Textplatzhalter 9">
            <a:extLst>
              <a:ext uri="{FF2B5EF4-FFF2-40B4-BE49-F238E27FC236}">
                <a16:creationId xmlns:a16="http://schemas.microsoft.com/office/drawing/2014/main" id="{7444545F-D854-8627-3DA0-C894B3AF6DB9}"/>
              </a:ext>
            </a:extLst>
          </p:cNvPr>
          <p:cNvSpPr txBox="1">
            <a:spLocks/>
          </p:cNvSpPr>
          <p:nvPr/>
        </p:nvSpPr>
        <p:spPr bwMode="gray">
          <a:xfrm>
            <a:off x="7798263" y="2089234"/>
            <a:ext cx="4040812" cy="55399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(~3x 1.6T transceivers / card).</a:t>
            </a:r>
          </a:p>
        </p:txBody>
      </p:sp>
      <p:sp>
        <p:nvSpPr>
          <p:cNvPr id="1448" name="Textplatzhalter 9">
            <a:extLst>
              <a:ext uri="{FF2B5EF4-FFF2-40B4-BE49-F238E27FC236}">
                <a16:creationId xmlns:a16="http://schemas.microsoft.com/office/drawing/2014/main" id="{B827B430-14FD-3DFA-E1F4-3A0F2CECA873}"/>
              </a:ext>
            </a:extLst>
          </p:cNvPr>
          <p:cNvSpPr txBox="1">
            <a:spLocks/>
          </p:cNvSpPr>
          <p:nvPr/>
        </p:nvSpPr>
        <p:spPr bwMode="gray">
          <a:xfrm>
            <a:off x="7798263" y="3429000"/>
            <a:ext cx="4040812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49" name="Textplatzhalter 9">
            <a:extLst>
              <a:ext uri="{FF2B5EF4-FFF2-40B4-BE49-F238E27FC236}">
                <a16:creationId xmlns:a16="http://schemas.microsoft.com/office/drawing/2014/main" id="{B646EBF2-EABE-1FC8-2743-0118153B2477}"/>
              </a:ext>
            </a:extLst>
          </p:cNvPr>
          <p:cNvSpPr txBox="1">
            <a:spLocks/>
          </p:cNvSpPr>
          <p:nvPr/>
        </p:nvSpPr>
        <p:spPr bwMode="gray">
          <a:xfrm>
            <a:off x="7798263" y="2981640"/>
            <a:ext cx="4072684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~55%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of total datacenter AI chip volumes (Google TPU: &gt; 4mn in 2028 with a shipment share of ~70%); </a:t>
            </a:r>
          </a:p>
        </p:txBody>
      </p:sp>
      <p:sp>
        <p:nvSpPr>
          <p:cNvPr id="1450" name="文本框 1449">
            <a:extLst>
              <a:ext uri="{FF2B5EF4-FFF2-40B4-BE49-F238E27FC236}">
                <a16:creationId xmlns:a16="http://schemas.microsoft.com/office/drawing/2014/main" id="{87DDA19C-4815-B515-BBB8-F6EB0B654C0E}"/>
              </a:ext>
            </a:extLst>
          </p:cNvPr>
          <p:cNvSpPr txBox="1"/>
          <p:nvPr/>
        </p:nvSpPr>
        <p:spPr>
          <a:xfrm>
            <a:off x="6369050" y="1392238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~26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51" name="文本框 1450">
            <a:extLst>
              <a:ext uri="{FF2B5EF4-FFF2-40B4-BE49-F238E27FC236}">
                <a16:creationId xmlns:a16="http://schemas.microsoft.com/office/drawing/2014/main" id="{EF7348D2-94AC-16A8-C879-B0DAF6D52802}"/>
              </a:ext>
            </a:extLst>
          </p:cNvPr>
          <p:cNvSpPr txBox="1"/>
          <p:nvPr/>
        </p:nvSpPr>
        <p:spPr>
          <a:xfrm>
            <a:off x="6654475" y="27117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~31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52" name="文本框 1451">
            <a:extLst>
              <a:ext uri="{FF2B5EF4-FFF2-40B4-BE49-F238E27FC236}">
                <a16:creationId xmlns:a16="http://schemas.microsoft.com/office/drawing/2014/main" id="{82204CCB-6A99-AD18-8749-29ECEEC211DB}"/>
              </a:ext>
            </a:extLst>
          </p:cNvPr>
          <p:cNvSpPr txBox="1"/>
          <p:nvPr/>
        </p:nvSpPr>
        <p:spPr>
          <a:xfrm>
            <a:off x="7601086" y="1170724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454" name="箭头: V 形 16">
            <a:extLst>
              <a:ext uri="{FF2B5EF4-FFF2-40B4-BE49-F238E27FC236}">
                <a16:creationId xmlns:a16="http://schemas.microsoft.com/office/drawing/2014/main" id="{5A4B73DD-4289-96BC-4397-DB839DB09308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5" name="箭头: V 形 26">
            <a:extLst>
              <a:ext uri="{FF2B5EF4-FFF2-40B4-BE49-F238E27FC236}">
                <a16:creationId xmlns:a16="http://schemas.microsoft.com/office/drawing/2014/main" id="{5028A8F8-0B79-0FA0-BAFD-2A0A7DB3D86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6" name="箭头: V 形 38">
            <a:extLst>
              <a:ext uri="{FF2B5EF4-FFF2-40B4-BE49-F238E27FC236}">
                <a16:creationId xmlns:a16="http://schemas.microsoft.com/office/drawing/2014/main" id="{4BFE644B-FF24-FE83-4432-F30D1EAA11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7" name="箭头: V 形 26">
            <a:extLst>
              <a:ext uri="{FF2B5EF4-FFF2-40B4-BE49-F238E27FC236}">
                <a16:creationId xmlns:a16="http://schemas.microsoft.com/office/drawing/2014/main" id="{69F64DD4-A91E-C721-5688-B3F4E3A98C8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8" name="箭头: V 形 38">
            <a:extLst>
              <a:ext uri="{FF2B5EF4-FFF2-40B4-BE49-F238E27FC236}">
                <a16:creationId xmlns:a16="http://schemas.microsoft.com/office/drawing/2014/main" id="{03ACB343-7599-D3DD-8CAB-227393836AF8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9" name="箭头: V 形 38">
            <a:extLst>
              <a:ext uri="{FF2B5EF4-FFF2-40B4-BE49-F238E27FC236}">
                <a16:creationId xmlns:a16="http://schemas.microsoft.com/office/drawing/2014/main" id="{F6FABFF3-9861-6482-A5A7-28BCCAE19E9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60" name="箭头: V 形 38">
            <a:extLst>
              <a:ext uri="{FF2B5EF4-FFF2-40B4-BE49-F238E27FC236}">
                <a16:creationId xmlns:a16="http://schemas.microsoft.com/office/drawing/2014/main" id="{13A24C74-1C72-03EC-29CE-B920460C2F95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61" name="箭头: V 形 38">
            <a:extLst>
              <a:ext uri="{FF2B5EF4-FFF2-40B4-BE49-F238E27FC236}">
                <a16:creationId xmlns:a16="http://schemas.microsoft.com/office/drawing/2014/main" id="{632CC3EC-21D4-8ED2-65DF-BBD599006C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462" name="标题 1">
            <a:extLst>
              <a:ext uri="{FF2B5EF4-FFF2-40B4-BE49-F238E27FC236}">
                <a16:creationId xmlns:a16="http://schemas.microsoft.com/office/drawing/2014/main" id="{B03756F3-6A8B-F757-4708-044CE3632633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082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Estimating the CPO market: driven by port growth and data rate scaling 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1018D7-4F0D-61A7-1E77-435F084D37E9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4966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25DA8EB-6898-749E-4B75-BE09059E8D8C}"/>
              </a:ext>
            </a:extLst>
          </p:cNvPr>
          <p:cNvSpPr/>
          <p:nvPr/>
        </p:nvSpPr>
        <p:spPr>
          <a:xfrm>
            <a:off x="152308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DBAB5C-14EE-530A-5851-EB8348DC0F48}"/>
              </a:ext>
            </a:extLst>
          </p:cNvPr>
          <p:cNvSpPr/>
          <p:nvPr/>
        </p:nvSpPr>
        <p:spPr>
          <a:xfrm>
            <a:off x="3111978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B7D584-F80D-1DBF-BEB6-A8EF9F3D08AF}"/>
              </a:ext>
            </a:extLst>
          </p:cNvPr>
          <p:cNvSpPr/>
          <p:nvPr/>
        </p:nvSpPr>
        <p:spPr>
          <a:xfrm>
            <a:off x="511887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C50562-3723-2C0F-AB6C-391519390581}"/>
              </a:ext>
            </a:extLst>
          </p:cNvPr>
          <p:cNvSpPr/>
          <p:nvPr/>
        </p:nvSpPr>
        <p:spPr>
          <a:xfrm>
            <a:off x="7067801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8976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9045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9026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8976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8955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9045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34044" y="3981620"/>
            <a:ext cx="8646276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9026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9727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51109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3152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3196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3341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3196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4025567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4021634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359" y="4496284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2603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5832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22162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9916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2505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51443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51676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52163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30562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30182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2390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71279" y="4478910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8733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9172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60352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119" y="6046099"/>
            <a:ext cx="11083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 on POs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169" y="4300215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981620"/>
            <a:ext cx="574356" cy="1483958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11481" y="21105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96462" y="26633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5884" t="22886" r="3998" b="18237"/>
          <a:stretch>
            <a:fillRect/>
          </a:stretch>
        </p:blipFill>
        <p:spPr>
          <a:xfrm>
            <a:off x="11273920" y="5906762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87657" y="21777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5783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21444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2610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22271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6195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6164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8806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265797"/>
            <a:ext cx="475097" cy="89818"/>
          </a:xfrm>
          <a:prstGeom prst="rect">
            <a:avLst/>
          </a:prstGeom>
        </p:spPr>
      </p:pic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250593"/>
            <a:ext cx="431753" cy="1646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6158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5438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8533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2796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52002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038042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30528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2614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5181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6633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6633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6633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21655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6016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1833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6195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71279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46682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0233" y="2225906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21833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6195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30528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499040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61683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134026" y="4478663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30048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58873" y="52308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51551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29736" r="12" b="29739"/>
          <a:stretch>
            <a:fillRect/>
          </a:stretch>
        </p:blipFill>
        <p:spPr>
          <a:xfrm>
            <a:off x="9353452" y="56068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0"/>
          <a:srcRect l="10181" t="33840" r="8725" b="35390"/>
          <a:stretch>
            <a:fillRect/>
          </a:stretch>
        </p:blipFill>
        <p:spPr>
          <a:xfrm>
            <a:off x="9910587" y="52695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4747" y="4526059"/>
            <a:ext cx="504030" cy="133869"/>
          </a:xfrm>
          <a:prstGeom prst="rect">
            <a:avLst/>
          </a:prstGeom>
        </p:spPr>
      </p:pic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4029393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4905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40327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2753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40352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30088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9155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9736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111908" y="4516057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940379" y="4521330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2121" y="4029393"/>
            <a:ext cx="681323" cy="155067"/>
          </a:xfrm>
          <a:prstGeom prst="rect">
            <a:avLst/>
          </a:prstGeom>
        </p:spPr>
      </p:pic>
      <p:pic>
        <p:nvPicPr>
          <p:cNvPr id="9" name="图像" descr="图像">
            <a:extLst>
              <a:ext uri="{FF2B5EF4-FFF2-40B4-BE49-F238E27FC236}">
                <a16:creationId xmlns:a16="http://schemas.microsoft.com/office/drawing/2014/main" id="{9B560A77-4C23-2EF3-8CA3-33BC5B15026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98265" y="5321524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8" name="箭头: V 形 16">
            <a:extLst>
              <a:ext uri="{FF2B5EF4-FFF2-40B4-BE49-F238E27FC236}">
                <a16:creationId xmlns:a16="http://schemas.microsoft.com/office/drawing/2014/main" id="{96CED149-B340-003D-3DB4-5004F64EC06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3A119602-5BAA-8EE2-2083-234BC721BF6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33AC97C8-66C3-4C77-6D64-768F8E6A2C00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26">
            <a:extLst>
              <a:ext uri="{FF2B5EF4-FFF2-40B4-BE49-F238E27FC236}">
                <a16:creationId xmlns:a16="http://schemas.microsoft.com/office/drawing/2014/main" id="{C2887F6B-4D75-D995-2AD8-D539AB2ACCEC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3A13707E-279F-651D-319D-8B24C653671C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4FAD260D-103F-7E48-754F-2C9263F9CE7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17B61FB-23EA-B719-9A0E-55C9205F03F7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C84712F-4A67-79D0-D75F-E09E18233DF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8B7D4C1B-86A2-2625-7859-34D58E52F171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3086548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supply chain is in early stage, with most players in initial strategic development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624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401" imgH="401" progId="TCLayout.ActiveDocument.1">
                  <p:embed/>
                </p:oleObj>
              </mc:Choice>
              <mc:Fallback>
                <p:oleObj name="think-cell 幻灯片" r:id="rId11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1852434" y="4259263"/>
            <a:ext cx="3317180" cy="33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600" b="1" dirty="0">
                <a:solidFill>
                  <a:srgbClr val="0052D9"/>
                </a:solidFill>
                <a:latin typeface="+mn-lt"/>
              </a:rPr>
              <a:t>64% </a:t>
            </a:r>
            <a:r>
              <a:rPr lang="en-US" altLang="zh-CN" sz="1600" dirty="0">
                <a:latin typeface="+mn-lt"/>
              </a:rPr>
              <a:t>of ASIC shipment</a:t>
            </a:r>
            <a:endParaRPr lang="zh-CN" altLang="en-US" sz="1600" dirty="0">
              <a:latin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19" name="Chart 3">
            <a:extLst>
              <a:ext uri="{FF2B5EF4-FFF2-40B4-BE49-F238E27FC236}">
                <a16:creationId xmlns:a16="http://schemas.microsoft.com/office/drawing/2014/main" id="{BAE9A7B9-AD72-884B-DC3A-B2FCE79C315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83783396"/>
              </p:ext>
            </p:extLst>
          </p:nvPr>
        </p:nvGraphicFramePr>
        <p:xfrm>
          <a:off x="387350" y="1938338"/>
          <a:ext cx="7337425" cy="4213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B489EA60-FB9E-B479-EF8F-4B96201852A6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687388" y="59213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0707544-5DC2-450D-800F-06F729107162}" type="datetime'''''''''''''''''''''''''2''''''''''''0''2''4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9" name="Text Placeholder 4">
            <a:extLst>
              <a:ext uri="{FF2B5EF4-FFF2-40B4-BE49-F238E27FC236}">
                <a16:creationId xmlns:a16="http://schemas.microsoft.com/office/drawing/2014/main" id="{E3919886-5C91-1E70-3A1D-9878438494F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4067175" y="59213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6619F04-B9AF-456C-8ACB-D3DC2B3B4819}" type="datetime'''''''''''2''0''''''2''''''''''''''''''''''''''''''''''''''5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110" name="Text Placeholder 4">
            <a:extLst>
              <a:ext uri="{FF2B5EF4-FFF2-40B4-BE49-F238E27FC236}">
                <a16:creationId xmlns:a16="http://schemas.microsoft.com/office/drawing/2014/main" id="{BC7B20BB-C38D-55C6-8377-34AA6329FC20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7386638" y="5921375"/>
            <a:ext cx="512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682446-8E78-4001-8410-D7B1B2974D6B}" type="datetime'''''''2''''''''''''''''0''''''''''''''''2''''6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2026</a:t>
            </a:fld>
            <a:r>
              <a:rPr lang="en-US" altLang="zh-CN" sz="1400" dirty="0">
                <a:effectLst/>
                <a:cs typeface="+mn-cs"/>
              </a:rPr>
              <a:t>E</a:t>
            </a:r>
            <a:endParaRPr lang="zh-CN" altLang="en-US" sz="14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469900" y="1416050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  <a:latin typeface="PingFang SC"/>
              </a:rPr>
              <a:t>Accelerator chips shipment unit share</a:t>
            </a:r>
            <a:r>
              <a:rPr lang="zh-CN" altLang="en-US" sz="1600" b="1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b="1" dirty="0">
              <a:solidFill>
                <a:srgbClr val="000000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4268788" y="1585913"/>
            <a:ext cx="238125" cy="0"/>
          </a:xfrm>
          <a:prstGeom prst="line">
            <a:avLst/>
          </a:prstGeom>
          <a:ln w="12700" cap="rnd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4564063" y="1487488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>
            <a:off x="546685" y="1809750"/>
            <a:ext cx="709633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CE31EFFF-B49B-448C-7CC3-DDDB0395575F}"/>
              </a:ext>
            </a:extLst>
          </p:cNvPr>
          <p:cNvGrpSpPr/>
          <p:nvPr/>
        </p:nvGrpSpPr>
        <p:grpSpPr>
          <a:xfrm>
            <a:off x="8330961" y="3321050"/>
            <a:ext cx="3528377" cy="1130300"/>
            <a:chOff x="8330962" y="3369711"/>
            <a:chExt cx="3528377" cy="1130359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012A1E5-C527-E5DF-0FC8-3D86F59979D3}"/>
                </a:ext>
              </a:extLst>
            </p:cNvPr>
            <p:cNvSpPr txBox="1"/>
            <p:nvPr/>
          </p:nvSpPr>
          <p:spPr>
            <a:xfrm>
              <a:off x="8330962" y="3735758"/>
              <a:ext cx="3528377" cy="764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​ASIC: High costs,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limited TSMC supply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;</a:t>
              </a:r>
            </a:p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​Nvidia continues to dominate 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AI cloud compute.​</a:t>
              </a:r>
              <a:endPara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endParaRPr>
            </a:p>
          </p:txBody>
        </p:sp>
        <p:sp>
          <p:nvSpPr>
            <p:cNvPr id="964" name="文本框 963">
              <a:extLst>
                <a:ext uri="{FF2B5EF4-FFF2-40B4-BE49-F238E27FC236}">
                  <a16:creationId xmlns:a16="http://schemas.microsoft.com/office/drawing/2014/main" id="{FA12F98D-AFB1-F69C-EB36-438FF7419D87}"/>
                </a:ext>
              </a:extLst>
            </p:cNvPr>
            <p:cNvSpPr txBox="1"/>
            <p:nvPr/>
          </p:nvSpPr>
          <p:spPr>
            <a:xfrm>
              <a:off x="8330962" y="3369711"/>
              <a:ext cx="34736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6">
                      <a:lumMod val="10000"/>
                    </a:schemeClr>
                  </a:solidFill>
                </a:rPr>
                <a:t>Pessimistic scenario</a:t>
              </a:r>
              <a:endParaRPr lang="zh-CN" altLang="en-US" b="1" dirty="0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7730347-D337-A98D-9983-B7999340FB78}"/>
              </a:ext>
            </a:extLst>
          </p:cNvPr>
          <p:cNvGrpSpPr/>
          <p:nvPr/>
        </p:nvGrpSpPr>
        <p:grpSpPr>
          <a:xfrm>
            <a:off x="8330961" y="1920875"/>
            <a:ext cx="6114326" cy="1177925"/>
            <a:chOff x="8330962" y="1990805"/>
            <a:chExt cx="6114326" cy="1177637"/>
          </a:xfrm>
        </p:grpSpPr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A7C07FBA-FD55-123B-6CC2-D48F932459CC}"/>
                </a:ext>
              </a:extLst>
            </p:cNvPr>
            <p:cNvSpPr txBox="1"/>
            <p:nvPr/>
          </p:nvSpPr>
          <p:spPr>
            <a:xfrm>
              <a:off x="8330962" y="1990805"/>
              <a:ext cx="61143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6">
                      <a:lumMod val="10000"/>
                    </a:schemeClr>
                  </a:solidFill>
                </a:rPr>
                <a:t>Optimistic scenario</a:t>
              </a:r>
              <a:endParaRPr lang="zh-CN" altLang="en-US" b="1" dirty="0"/>
            </a:p>
          </p:txBody>
        </p:sp>
        <p:sp>
          <p:nvSpPr>
            <p:cNvPr id="966" name="文本框 965">
              <a:extLst>
                <a:ext uri="{FF2B5EF4-FFF2-40B4-BE49-F238E27FC236}">
                  <a16:creationId xmlns:a16="http://schemas.microsoft.com/office/drawing/2014/main" id="{3EA0C51F-3CA4-A0C8-3FC9-3D399000562D}"/>
                </a:ext>
              </a:extLst>
            </p:cNvPr>
            <p:cNvSpPr txBox="1"/>
            <p:nvPr/>
          </p:nvSpPr>
          <p:spPr>
            <a:xfrm>
              <a:off x="8330962" y="2404130"/>
              <a:ext cx="3770682" cy="764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New orders from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OpenAI &amp; </a:t>
              </a:r>
              <a:r>
                <a:rPr lang="en-US" altLang="zh-CN" sz="1400" b="1" dirty="0" err="1">
                  <a:solidFill>
                    <a:srgbClr val="0052D9"/>
                  </a:solidFill>
                  <a:latin typeface="PingFang SC"/>
                </a:rPr>
                <a:t>xAI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;</a:t>
              </a:r>
            </a:p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Bring forward the “ASIC &gt; GPU” inflection point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from 2027–28 to 2026.</a:t>
              </a:r>
            </a:p>
          </p:txBody>
        </p:sp>
      </p:grpSp>
      <p:sp>
        <p:nvSpPr>
          <p:cNvPr id="974" name="文本框 973">
            <a:extLst>
              <a:ext uri="{FF2B5EF4-FFF2-40B4-BE49-F238E27FC236}">
                <a16:creationId xmlns:a16="http://schemas.microsoft.com/office/drawing/2014/main" id="{4A0EDC42-EC67-E512-0376-3F88A096A93E}"/>
              </a:ext>
            </a:extLst>
          </p:cNvPr>
          <p:cNvSpPr txBox="1"/>
          <p:nvPr/>
        </p:nvSpPr>
        <p:spPr>
          <a:xfrm>
            <a:off x="7443292" y="3340100"/>
            <a:ext cx="692534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rgbClr val="53585F"/>
                </a:solidFill>
                <a:cs typeface="+mn-ea"/>
                <a:sym typeface="+mn-lt"/>
              </a:rPr>
              <a:t>40</a:t>
            </a:r>
            <a:endParaRPr lang="zh-CN" altLang="en-US" sz="1600" dirty="0">
              <a:solidFill>
                <a:srgbClr val="53585F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BA6DC29F-2F32-4C09-DD44-BFC52F4A2956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96EC195-8899-8A5E-B5D8-A7F844A19E4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4AF2616F-7067-CE40-F56B-BF32B1A6C3A7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BF0154A2-3DC7-6BEB-E106-F3A49DC1C9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77B13DB9-068E-84F5-049C-C00A96EA238F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56ED6FC-330C-B999-B5F3-B49C536D6A2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6AC6926F-50F7-8AC1-E109-76C3C0B44D98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67DB1388-E8A0-D988-8947-0FAAA046B80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6C4D10B-9B88-1796-38A9-8DBBE89A039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ASIC becomes the long-term trend, and Broadcom plays a central role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8EA2409A-BAC3-B86A-7829-7DD960D5E89F}"/>
              </a:ext>
            </a:extLst>
          </p:cNvPr>
          <p:cNvSpPr/>
          <p:nvPr/>
        </p:nvSpPr>
        <p:spPr>
          <a:xfrm>
            <a:off x="4271867" y="2271713"/>
            <a:ext cx="3400425" cy="1127125"/>
          </a:xfrm>
          <a:custGeom>
            <a:avLst/>
            <a:gdLst>
              <a:gd name="connsiteX0" fmla="*/ 3353147 w 3355924"/>
              <a:gd name="connsiteY0" fmla="*/ 0 h 1108353"/>
              <a:gd name="connsiteX1" fmla="*/ 3355924 w 3355924"/>
              <a:gd name="connsiteY1" fmla="*/ 31966 h 1108353"/>
              <a:gd name="connsiteX2" fmla="*/ 3355924 w 3355924"/>
              <a:gd name="connsiteY2" fmla="*/ 1063951 h 1108353"/>
              <a:gd name="connsiteX3" fmla="*/ 0 w 3355924"/>
              <a:gd name="connsiteY3" fmla="*/ 1108353 h 1108353"/>
              <a:gd name="connsiteX4" fmla="*/ 3353147 w 3355924"/>
              <a:gd name="connsiteY4" fmla="*/ 0 h 1108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5924" h="1108353">
                <a:moveTo>
                  <a:pt x="3353147" y="0"/>
                </a:moveTo>
                <a:lnTo>
                  <a:pt x="3355924" y="31966"/>
                </a:lnTo>
                <a:lnTo>
                  <a:pt x="3355924" y="1063951"/>
                </a:lnTo>
                <a:lnTo>
                  <a:pt x="0" y="1108353"/>
                </a:lnTo>
                <a:lnTo>
                  <a:pt x="3353147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C90B8B1-FB15-F189-57AB-74DD8FAC12F8}"/>
              </a:ext>
            </a:extLst>
          </p:cNvPr>
          <p:cNvSpPr/>
          <p:nvPr/>
        </p:nvSpPr>
        <p:spPr>
          <a:xfrm>
            <a:off x="7662672" y="2206625"/>
            <a:ext cx="521208" cy="119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7A93FB98-297C-B532-4214-27E43624EFFC}"/>
              </a:ext>
            </a:extLst>
          </p:cNvPr>
          <p:cNvSpPr txBox="1"/>
          <p:nvPr/>
        </p:nvSpPr>
        <p:spPr>
          <a:xfrm>
            <a:off x="5072608" y="4167188"/>
            <a:ext cx="3317180" cy="33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600" b="1" dirty="0">
                <a:solidFill>
                  <a:srgbClr val="0052D9"/>
                </a:solidFill>
                <a:latin typeface="+mn-lt"/>
              </a:rPr>
              <a:t>62% </a:t>
            </a:r>
            <a:r>
              <a:rPr lang="en-US" altLang="zh-CN" sz="1600" dirty="0">
                <a:latin typeface="+mn-lt"/>
              </a:rPr>
              <a:t>of ASIC shipment</a:t>
            </a:r>
            <a:endParaRPr lang="zh-CN" altLang="en-US" sz="1600" dirty="0">
              <a:latin typeface="+mn-lt"/>
            </a:endParaRPr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E9F351E7-C6DE-5848-D3CB-18F38D3CE9C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8643" y="4162425"/>
            <a:ext cx="632175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B9E3F1A7-F673-1C4B-A38A-552D5172A78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30794" y="4241800"/>
            <a:ext cx="632175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椭圆 104">
            <a:extLst>
              <a:ext uri="{FF2B5EF4-FFF2-40B4-BE49-F238E27FC236}">
                <a16:creationId xmlns:a16="http://schemas.microsoft.com/office/drawing/2014/main" id="{60A4F9E3-CD48-F399-7825-8414EC477106}"/>
              </a:ext>
            </a:extLst>
          </p:cNvPr>
          <p:cNvSpPr/>
          <p:nvPr/>
        </p:nvSpPr>
        <p:spPr>
          <a:xfrm>
            <a:off x="4237369" y="4311651"/>
            <a:ext cx="86582" cy="857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6B77CCB7-D3DE-56FA-E8F3-5B4B0ECBA6F0}"/>
              </a:ext>
            </a:extLst>
          </p:cNvPr>
          <p:cNvSpPr/>
          <p:nvPr/>
        </p:nvSpPr>
        <p:spPr>
          <a:xfrm>
            <a:off x="1033310" y="4419601"/>
            <a:ext cx="86582" cy="857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10A4028A-9D6D-42FE-027C-827646C8FD32}"/>
              </a:ext>
            </a:extLst>
          </p:cNvPr>
          <p:cNvSpPr txBox="1"/>
          <p:nvPr/>
        </p:nvSpPr>
        <p:spPr>
          <a:xfrm>
            <a:off x="7422808" y="1944688"/>
            <a:ext cx="692534" cy="338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rgbClr val="53585F"/>
                </a:solidFill>
                <a:cs typeface="+mn-ea"/>
                <a:sym typeface="+mn-lt"/>
              </a:rPr>
              <a:t>60</a:t>
            </a:r>
            <a:endParaRPr lang="zh-CN" altLang="en-US" sz="1600" dirty="0">
              <a:solidFill>
                <a:srgbClr val="53585F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1DF02B-FE14-92FB-6B61-01D59A8CB9C7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867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6" imgW="401" imgH="401" progId="TCLayout.ActiveDocument.1">
                  <p:embed/>
                </p:oleObj>
              </mc:Choice>
              <mc:Fallback>
                <p:oleObj name="think-cell 幻灯片" r:id="rId46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79" name="Chart 3">
            <a:extLst>
              <a:ext uri="{FF2B5EF4-FFF2-40B4-BE49-F238E27FC236}">
                <a16:creationId xmlns:a16="http://schemas.microsoft.com/office/drawing/2014/main" id="{0FA503A8-30BE-0138-C929-9DCCDE5322A8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998978028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8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9725"/>
            <a:ext cx="180975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5B92FAB-A900-B766-FC50-C785FB0633A3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3992564" y="5357814"/>
            <a:ext cx="7937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86875" y="5984875"/>
            <a:ext cx="1905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351338" y="53260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6497638" y="458470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3044825" y="5251450"/>
            <a:ext cx="9477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7302500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4629150" y="5995988"/>
            <a:ext cx="2490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</a:t>
            </a:r>
            <a:r>
              <a:rPr lang="en-US" altLang="zh-CN" sz="1400" dirty="0">
                <a:cs typeface="+mn-cs"/>
              </a:rPr>
              <a:t>c</a:t>
            </a:r>
            <a:r>
              <a:rPr lang="en-US" altLang="zh-CN" sz="1400" dirty="0">
                <a:effectLst/>
                <a:cs typeface="+mn-cs"/>
              </a:rPr>
              <a:t>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7523163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354518" y="4644921"/>
            <a:ext cx="683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664844" y="1356058"/>
            <a:ext cx="10751185" cy="871523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Weaker per-card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performance, requiring optical interconnect  (CPO)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</a:rPr>
              <a:t>of same‑gen GPU throughput​; Cloud ASICs could drive ​</a:t>
            </a:r>
            <a:r>
              <a:rPr lang="en-US" altLang="zh-CN" sz="1600" b="1" dirty="0">
                <a:solidFill>
                  <a:srgbClr val="0052D9"/>
                </a:solidFill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</a:rPr>
              <a:t>;</a:t>
            </a: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97CF8EB8-9DD9-0B27-0644-C6D4390BFE0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26">
            <a:extLst>
              <a:ext uri="{FF2B5EF4-FFF2-40B4-BE49-F238E27FC236}">
                <a16:creationId xmlns:a16="http://schemas.microsoft.com/office/drawing/2014/main" id="{E0EB3148-9AAC-BF38-F9B6-D6EF520D2F7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BD3AF3F9-D97F-F4E1-9BA6-924E9D2D9A8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C70DEF0D-EC28-7FFF-229D-75A125431F3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6E8201B4-4475-B363-A2FE-D3DE7A7BD0D4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58801-4FA2-4032-F74F-234ED00B885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BB5FAF9D-123E-61C4-922D-3430EAC7911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C6A51B61-3FEF-AE22-144A-5610A294765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76D421E0-1AC7-EB32-4766-58302424A8A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ASIC relies more on optical interconnect, and Broadcom attempts to lock in the data center ecosystem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A4C285-896F-0DFD-4932-0E8201E3CFDB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17225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536699"/>
            <a:ext cx="1239838" cy="11255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75088"/>
            <a:ext cx="1239838" cy="9604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926013"/>
            <a:ext cx="1239838" cy="1495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4133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536700"/>
            <a:ext cx="2376488" cy="3540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86213"/>
            <a:ext cx="3154565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66788"/>
            <a:ext cx="1779588" cy="338138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920751"/>
            <a:ext cx="2054225" cy="366713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946150"/>
            <a:ext cx="2137727" cy="338138"/>
            <a:chOff x="1471613" y="4870565"/>
            <a:chExt cx="2137266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999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59074"/>
            <a:ext cx="1239838" cy="419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819275"/>
            <a:ext cx="823686" cy="604838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54200"/>
            <a:ext cx="2284413" cy="6048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830513"/>
            <a:ext cx="1327150" cy="276225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4" y="5011738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4133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862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-&gt;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5011738"/>
            <a:ext cx="187325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4133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862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5011738"/>
            <a:ext cx="187325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419350"/>
            <a:ext cx="132715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527175"/>
            <a:ext cx="2660650" cy="3540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54200"/>
            <a:ext cx="3019425" cy="6048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428875"/>
            <a:ext cx="190023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527175"/>
            <a:ext cx="2376488" cy="3524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55863"/>
            <a:ext cx="154622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4" y="1863725"/>
            <a:ext cx="562600" cy="504825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89238"/>
            <a:ext cx="1327150" cy="360363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732089"/>
            <a:ext cx="1327150" cy="474663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833563"/>
            <a:ext cx="509472" cy="61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901825"/>
            <a:ext cx="593795" cy="50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54200"/>
            <a:ext cx="1751013" cy="3397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62313"/>
            <a:ext cx="1239838" cy="5222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0" y="3362325"/>
            <a:ext cx="578224" cy="32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349625"/>
            <a:ext cx="437061" cy="347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55975"/>
            <a:ext cx="595112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84550"/>
            <a:ext cx="972347" cy="27781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433763"/>
            <a:ext cx="1062777" cy="17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97250"/>
            <a:ext cx="407038" cy="252413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55975"/>
            <a:ext cx="595112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BD5C0D23-9662-EC9D-7D48-50666C31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875" y="915988"/>
            <a:ext cx="1000138" cy="25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zh-CN" sz="1600" baseline="30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8E66A-5C5C-D85E-82FD-91B613AC8637}"/>
              </a:ext>
            </a:extLst>
          </p:cNvPr>
          <p:cNvSpPr txBox="1"/>
          <p:nvPr/>
        </p:nvSpPr>
        <p:spPr>
          <a:xfrm>
            <a:off x="168656" y="6433193"/>
            <a:ext cx="10843832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Lightmatter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(CEO: Nicholas Harris)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SuiJi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Technology (a Chinese optical compute company invested by Tencent. CEO: Yichen Shen), spin-off from the same MIT team.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箭头: V 形 16">
            <a:extLst>
              <a:ext uri="{FF2B5EF4-FFF2-40B4-BE49-F238E27FC236}">
                <a16:creationId xmlns:a16="http://schemas.microsoft.com/office/drawing/2014/main" id="{B778F042-E7CC-3420-0A35-AC716C8FB421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6EACEE7A-CA6E-2688-0ABD-BCA8197B167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CF806A2A-665B-7C24-3354-FC77892C407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26">
            <a:extLst>
              <a:ext uri="{FF2B5EF4-FFF2-40B4-BE49-F238E27FC236}">
                <a16:creationId xmlns:a16="http://schemas.microsoft.com/office/drawing/2014/main" id="{2CF3DC42-10D8-3C6F-6076-99B7AC9305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2D18B810-BF3D-A4B2-05B7-2884CFCC8D42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50EAD00E-0FC3-DAAC-66E7-428BE2BC3E6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1C0689E-DAE4-3789-68B6-7A0F798EF80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252912DB-F7F0-2B4A-C407-8A55651D6B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A12438E5-A672-077E-429C-399B1FD331F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Startups with a long-term vision in optical: Ayar Labs, Celestial AI, and </a:t>
            </a:r>
            <a:r>
              <a:rPr lang="en-US" altLang="zh-CN" dirty="0" err="1">
                <a:cs typeface="+mn-ea"/>
                <a:sym typeface="+mn-lt"/>
              </a:rPr>
              <a:t>Lightmatter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5EF42A-FF05-05E1-F550-29544BF443A5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467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94272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Supply chain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suppliers for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substitution: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Fully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acquired by Chinese companies 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Robotechnik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2025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48" name="图表 47">
            <a:extLst>
              <a:ext uri="{FF2B5EF4-FFF2-40B4-BE49-F238E27FC236}">
                <a16:creationId xmlns:a16="http://schemas.microsoft.com/office/drawing/2014/main" id="{9CA2B7F5-636B-74F6-F003-C7DBB25899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3844640"/>
              </p:ext>
            </p:extLst>
          </p:nvPr>
        </p:nvGraphicFramePr>
        <p:xfrm>
          <a:off x="454479" y="3586145"/>
          <a:ext cx="2076555" cy="174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DA16EADF-E9DD-99F1-5404-4C1109ED7A7F}"/>
              </a:ext>
            </a:extLst>
          </p:cNvPr>
          <p:cNvSpPr txBox="1"/>
          <p:nvPr/>
        </p:nvSpPr>
        <p:spPr>
          <a:xfrm>
            <a:off x="664059" y="5272220"/>
            <a:ext cx="1657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400" i="0" u="none" strike="noStrike" cap="none" normalizeH="0" baseline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cs typeface="+mn-ea"/>
                <a:sym typeface="+mn-lt"/>
              </a:rPr>
              <a:t>Micro-assembly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206B548-D3F7-F5B0-24B2-E58C56F958A0}"/>
              </a:ext>
            </a:extLst>
          </p:cNvPr>
          <p:cNvSpPr txBox="1"/>
          <p:nvPr/>
        </p:nvSpPr>
        <p:spPr>
          <a:xfrm>
            <a:off x="306300" y="2809593"/>
            <a:ext cx="23729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Revenue </a:t>
            </a:r>
            <a:r>
              <a:rPr lang="en-US" altLang="zh-CN" sz="1600" b="1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reakdown </a:t>
            </a:r>
          </a:p>
          <a:p>
            <a:pPr algn="ctr"/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(23A)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54" name="Rectangle 1">
            <a:extLst>
              <a:ext uri="{FF2B5EF4-FFF2-40B4-BE49-F238E27FC236}">
                <a16:creationId xmlns:a16="http://schemas.microsoft.com/office/drawing/2014/main" id="{238384CD-D569-DECA-49ED-B8DB7C347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210" y="3422704"/>
            <a:ext cx="2191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Test equipment, etc.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2215615" y="3846837"/>
            <a:ext cx="14282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Test-to-repair </a:t>
            </a:r>
          </a:p>
          <a:p>
            <a:pPr algn="ctr"/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All-in-one</a:t>
            </a: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3564491" y="3494016"/>
            <a:ext cx="196986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8191" y="4869452"/>
            <a:ext cx="1003077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2371036" y="5757070"/>
            <a:ext cx="1117386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AL-Series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0970" y="3321827"/>
            <a:ext cx="937518" cy="51758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3AB8744-1816-94B2-9C00-3E25E0082394}"/>
              </a:ext>
            </a:extLst>
          </p:cNvPr>
          <p:cNvSpPr txBox="1"/>
          <p:nvPr/>
        </p:nvSpPr>
        <p:spPr>
          <a:xfrm>
            <a:off x="619191" y="1679564"/>
            <a:ext cx="5555903" cy="3049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Business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F28D85-5C03-3A81-8A26-60B62060D3FB}"/>
              </a:ext>
            </a:extLst>
          </p:cNvPr>
          <p:cNvSpPr txBox="1"/>
          <p:nvPr/>
        </p:nvSpPr>
        <p:spPr>
          <a:xfrm>
            <a:off x="465118" y="1885069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6" name="直线连接符 38">
            <a:extLst>
              <a:ext uri="{FF2B5EF4-FFF2-40B4-BE49-F238E27FC236}">
                <a16:creationId xmlns:a16="http://schemas.microsoft.com/office/drawing/2014/main" id="{4D397C5B-EA4A-5BFE-EB62-89221C1A0084}"/>
              </a:ext>
            </a:extLst>
          </p:cNvPr>
          <p:cNvCxnSpPr>
            <a:cxnSpLocks/>
          </p:cNvCxnSpPr>
          <p:nvPr/>
        </p:nvCxnSpPr>
        <p:spPr>
          <a:xfrm>
            <a:off x="619191" y="201836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2E45891-AA0F-BA61-F047-6C6D5F7934D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2795D3AF-2042-A615-A258-20E0D507117A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F8EB073C-081D-E4DD-EFCC-9E214038FBBD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AD7D300E-353E-067A-ECB1-741CD4B583D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DDBA0293-7660-2864-A578-2B3832EC45F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52DA96AF-1ADF-31BF-F9D4-032C97D405E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5D686DC7-DDFA-FD66-9B07-A0DB7CEACD86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9F037490-EE62-1C84-56F6-1EB97EAE98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866665E4-B220-67E3-02CA-0673B9C7401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 is a globally dominant player in 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 packaging and testing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D678FAE-C347-7B5C-0805-B89964F8FE4C}"/>
              </a:ext>
            </a:extLst>
          </p:cNvPr>
          <p:cNvSpPr txBox="1"/>
          <p:nvPr/>
        </p:nvSpPr>
        <p:spPr>
          <a:xfrm>
            <a:off x="6457309" y="2190355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 gross margin,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exceeding the industry average for assembly and test (~30%)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A3CEA30-6FF6-E99F-B83F-76C060C9C17E}"/>
              </a:ext>
            </a:extLst>
          </p:cNvPr>
          <p:cNvSpPr txBox="1"/>
          <p:nvPr/>
        </p:nvSpPr>
        <p:spPr>
          <a:xfrm>
            <a:off x="6312916" y="2843166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10k RMB</a:t>
            </a:r>
            <a:endParaRPr lang="zh-CN" altLang="en-US" sz="1600" dirty="0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35FE7AD-C3DF-BB72-4506-BA46CA52D535}"/>
              </a:ext>
            </a:extLst>
          </p:cNvPr>
          <p:cNvSpPr txBox="1"/>
          <p:nvPr/>
        </p:nvSpPr>
        <p:spPr>
          <a:xfrm>
            <a:off x="6353683" y="1679563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Financials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56" name="直线连接符 38">
            <a:extLst>
              <a:ext uri="{FF2B5EF4-FFF2-40B4-BE49-F238E27FC236}">
                <a16:creationId xmlns:a16="http://schemas.microsoft.com/office/drawing/2014/main" id="{2473AB42-4AAF-1784-7998-36E88874E9D2}"/>
              </a:ext>
            </a:extLst>
          </p:cNvPr>
          <p:cNvCxnSpPr>
            <a:cxnSpLocks/>
          </p:cNvCxnSpPr>
          <p:nvPr/>
        </p:nvCxnSpPr>
        <p:spPr>
          <a:xfrm>
            <a:off x="6353683" y="2024325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50B53C94-13C7-3956-68E8-7877258C5FDD}"/>
              </a:ext>
            </a:extLst>
          </p:cNvPr>
          <p:cNvGrpSpPr/>
          <p:nvPr/>
        </p:nvGrpSpPr>
        <p:grpSpPr>
          <a:xfrm>
            <a:off x="3802430" y="3069550"/>
            <a:ext cx="2511560" cy="936606"/>
            <a:chOff x="3647918" y="2836213"/>
            <a:chExt cx="2511560" cy="936606"/>
          </a:xfrm>
        </p:grpSpPr>
        <p:pic>
          <p:nvPicPr>
            <p:cNvPr id="38" name="图像" descr="图像">
              <a:extLst>
                <a:ext uri="{FF2B5EF4-FFF2-40B4-BE49-F238E27FC236}">
                  <a16:creationId xmlns:a16="http://schemas.microsoft.com/office/drawing/2014/main" id="{A8B61700-E71E-052A-6BA8-41360A55A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45104" y="2867316"/>
              <a:ext cx="419582" cy="330421"/>
            </a:xfrm>
            <a:prstGeom prst="rect">
              <a:avLst/>
            </a:prstGeom>
            <a:ln w="12700">
              <a:noFill/>
              <a:miter lim="400000"/>
            </a:ln>
          </p:spPr>
        </p:pic>
        <p:pic>
          <p:nvPicPr>
            <p:cNvPr id="39" name="图像" descr="图像">
              <a:extLst>
                <a:ext uri="{FF2B5EF4-FFF2-40B4-BE49-F238E27FC236}">
                  <a16:creationId xmlns:a16="http://schemas.microsoft.com/office/drawing/2014/main" id="{CE367E1B-9DAB-ED02-2FC5-BCEB6D4E8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720822" y="2836213"/>
              <a:ext cx="480351" cy="382097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F728610D-0DBA-4F08-274B-62B2F3CFAFA8}"/>
                </a:ext>
              </a:extLst>
            </p:cNvPr>
            <p:cNvSpPr txBox="1"/>
            <p:nvPr/>
          </p:nvSpPr>
          <p:spPr>
            <a:xfrm>
              <a:off x="3647918" y="3249599"/>
              <a:ext cx="25115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>
                  <a:solidFill>
                    <a:srgbClr val="0052D9"/>
                  </a:solidFill>
                  <a:cs typeface="+mn-ea"/>
                </a:defRPr>
              </a:lvl1pPr>
            </a:lstStyle>
            <a:p>
              <a:r>
                <a:rPr lang="en-US" altLang="zh-CN" dirty="0"/>
                <a:t>Vied for</a:t>
              </a:r>
              <a:r>
                <a:rPr lang="en-US" altLang="zh-CN" b="0" dirty="0">
                  <a:solidFill>
                    <a:schemeClr val="accent6">
                      <a:lumMod val="10000"/>
                    </a:schemeClr>
                  </a:solidFill>
                </a:rPr>
                <a:t> by Nvidia and TSMC</a:t>
              </a:r>
              <a:endParaRPr lang="zh-CN" altLang="en-US" b="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</p:grpSp>
      <p:sp>
        <p:nvSpPr>
          <p:cNvPr id="65" name="箭头: 右 64">
            <a:extLst>
              <a:ext uri="{FF2B5EF4-FFF2-40B4-BE49-F238E27FC236}">
                <a16:creationId xmlns:a16="http://schemas.microsoft.com/office/drawing/2014/main" id="{65240450-F863-2893-1A9F-B2636C5A03C8}"/>
              </a:ext>
            </a:extLst>
          </p:cNvPr>
          <p:cNvSpPr/>
          <p:nvPr/>
        </p:nvSpPr>
        <p:spPr>
          <a:xfrm>
            <a:off x="3564491" y="5335404"/>
            <a:ext cx="196986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E3C97A-979B-FBF5-2F6D-9B167B435D75}"/>
              </a:ext>
            </a:extLst>
          </p:cNvPr>
          <p:cNvSpPr txBox="1"/>
          <p:nvPr/>
        </p:nvSpPr>
        <p:spPr>
          <a:xfrm>
            <a:off x="717530" y="2190355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FiconTEC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is the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key supplier of Nvidia, TSMC, and Broadcom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/CPO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8EB3B42-288D-39FE-3D08-3B0C280A9685}"/>
              </a:ext>
            </a:extLst>
          </p:cNvPr>
          <p:cNvGrpSpPr/>
          <p:nvPr/>
        </p:nvGrpSpPr>
        <p:grpSpPr>
          <a:xfrm>
            <a:off x="3802430" y="4951015"/>
            <a:ext cx="2352330" cy="1134285"/>
            <a:chOff x="3802430" y="4806337"/>
            <a:chExt cx="2352330" cy="1134285"/>
          </a:xfrm>
        </p:grpSpPr>
        <p:pic>
          <p:nvPicPr>
            <p:cNvPr id="13" name="图像" descr="图像">
              <a:extLst>
                <a:ext uri="{FF2B5EF4-FFF2-40B4-BE49-F238E27FC236}">
                  <a16:creationId xmlns:a16="http://schemas.microsoft.com/office/drawing/2014/main" id="{0F55D439-9AF4-9096-3A8C-049DE507D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67728" y="4806337"/>
              <a:ext cx="480351" cy="382097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4C032225-D2D2-9620-A8A2-3A2DA8D0F752}"/>
                </a:ext>
              </a:extLst>
            </p:cNvPr>
            <p:cNvGrpSpPr/>
            <p:nvPr/>
          </p:nvGrpSpPr>
          <p:grpSpPr>
            <a:xfrm>
              <a:off x="3802430" y="4813250"/>
              <a:ext cx="2352330" cy="1127372"/>
              <a:chOff x="3802430" y="4813250"/>
              <a:chExt cx="2352330" cy="1127372"/>
            </a:xfrm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00CB502-63EF-FBC8-D378-1D3CD4CB83AB}"/>
                  </a:ext>
                </a:extLst>
              </p:cNvPr>
              <p:cNvGrpSpPr/>
              <p:nvPr/>
            </p:nvGrpSpPr>
            <p:grpSpPr>
              <a:xfrm>
                <a:off x="3802430" y="4813250"/>
                <a:ext cx="2352330" cy="1127372"/>
                <a:chOff x="3413830" y="4553687"/>
                <a:chExt cx="2352330" cy="1127372"/>
              </a:xfrm>
            </p:grpSpPr>
            <p:pic>
              <p:nvPicPr>
                <p:cNvPr id="35" name="图像" descr="图像">
                  <a:extLst>
                    <a:ext uri="{FF2B5EF4-FFF2-40B4-BE49-F238E27FC236}">
                      <a16:creationId xmlns:a16="http://schemas.microsoft.com/office/drawing/2014/main" id="{4E2D8880-945C-EBA6-EF8B-5FF6C5004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05530" y="4553687"/>
                  <a:ext cx="717208" cy="345798"/>
                </a:xfrm>
                <a:prstGeom prst="rect">
                  <a:avLst/>
                </a:prstGeom>
                <a:ln w="12700">
                  <a:miter lim="400000"/>
                </a:ln>
              </p:spPr>
            </p:pic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87412890-DF33-E443-4B29-DF265BEB8374}"/>
                    </a:ext>
                  </a:extLst>
                </p:cNvPr>
                <p:cNvSpPr txBox="1"/>
                <p:nvPr/>
              </p:nvSpPr>
              <p:spPr>
                <a:xfrm>
                  <a:off x="3413830" y="4942395"/>
                  <a:ext cx="2352330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400" b="1" dirty="0">
                      <a:solidFill>
                        <a:srgbClr val="0052D9"/>
                      </a:solidFill>
                      <a:cs typeface="+mn-ea"/>
                      <a:sym typeface="+mn-lt"/>
                    </a:rPr>
                    <a:t>Sole supplier </a:t>
                  </a:r>
                  <a:r>
                    <a:rPr lang="en-US" altLang="zh-CN" sz="1400" dirty="0">
                      <a:solidFill>
                        <a:srgbClr val="333333"/>
                      </a:solidFill>
                      <a:cs typeface="+mn-ea"/>
                      <a:sym typeface="+mn-lt"/>
                    </a:rPr>
                    <a:t>of Broadcom’s CPO optical coupling equipment</a:t>
                  </a:r>
                  <a:endParaRPr lang="zh-CN" altLang="en-US" sz="1400" dirty="0"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62894F22-D52A-A819-1E38-4BB5595965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9804" b="89542" l="9690" r="91860">
                            <a14:foregroundMark x1="10078" y1="40523" x2="10078" y2="40523"/>
                            <a14:foregroundMark x1="20930" y1="37255" x2="20930" y2="37255"/>
                            <a14:foregroundMark x1="32171" y1="35948" x2="32171" y2="35948"/>
                            <a14:foregroundMark x1="40698" y1="37255" x2="40698" y2="37255"/>
                            <a14:foregroundMark x1="52713" y1="39869" x2="52713" y2="39869"/>
                            <a14:foregroundMark x1="60465" y1="35948" x2="60465" y2="35948"/>
                            <a14:foregroundMark x1="72093" y1="30719" x2="72093" y2="30719"/>
                            <a14:foregroundMark x1="81783" y1="36601" x2="81783" y2="36601"/>
                            <a14:foregroundMark x1="91860" y1="40523" x2="91860" y2="40523"/>
                            <a14:foregroundMark x1="23643" y1="68627" x2="23643" y2="68627"/>
                            <a14:foregroundMark x1="35271" y1="75163" x2="35271" y2="75163"/>
                            <a14:foregroundMark x1="45349" y1="71242" x2="45349" y2="71242"/>
                            <a14:foregroundMark x1="58140" y1="73203" x2="58140" y2="73203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433714" y="4846088"/>
                <a:ext cx="482359" cy="286050"/>
              </a:xfrm>
              <a:prstGeom prst="rect">
                <a:avLst/>
              </a:prstGeom>
            </p:spPr>
          </p:pic>
        </p:grpSp>
      </p:grpSp>
      <p:graphicFrame>
        <p:nvGraphicFramePr>
          <p:cNvPr id="18" name="图表 17">
            <a:extLst>
              <a:ext uri="{FF2B5EF4-FFF2-40B4-BE49-F238E27FC236}">
                <a16:creationId xmlns:a16="http://schemas.microsoft.com/office/drawing/2014/main" id="{7BDE8422-A032-BADE-C38B-4A7C505B9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3866123"/>
              </p:ext>
            </p:extLst>
          </p:nvPr>
        </p:nvGraphicFramePr>
        <p:xfrm>
          <a:off x="6513081" y="3181720"/>
          <a:ext cx="5196943" cy="294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74B0F002-4A66-64AF-6D82-E4CDA1972536}"/>
              </a:ext>
            </a:extLst>
          </p:cNvPr>
          <p:cNvSpPr/>
          <p:nvPr/>
        </p:nvSpPr>
        <p:spPr>
          <a:xfrm>
            <a:off x="10413402" y="68206"/>
            <a:ext cx="1693717" cy="5495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WIP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07711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30864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圆角矩形 17">
            <a:extLst>
              <a:ext uri="{FF2B5EF4-FFF2-40B4-BE49-F238E27FC236}">
                <a16:creationId xmlns:a16="http://schemas.microsoft.com/office/drawing/2014/main" id="{8C490B1B-238E-017E-D669-07006FE3DA26}"/>
              </a:ext>
            </a:extLst>
          </p:cNvPr>
          <p:cNvSpPr/>
          <p:nvPr/>
        </p:nvSpPr>
        <p:spPr>
          <a:xfrm>
            <a:off x="1486342" y="1458410"/>
            <a:ext cx="9219315" cy="4074289"/>
          </a:xfrm>
          <a:prstGeom prst="roundRect">
            <a:avLst>
              <a:gd name="adj" fmla="val 5634"/>
            </a:avLst>
          </a:prstGeom>
          <a:noFill/>
          <a:ln w="1270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DE03AA-E419-63A9-32E6-F52C6D09B996}"/>
              </a:ext>
            </a:extLst>
          </p:cNvPr>
          <p:cNvSpPr txBox="1"/>
          <p:nvPr/>
        </p:nvSpPr>
        <p:spPr>
          <a:xfrm>
            <a:off x="3161911" y="1898188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Trend: </a:t>
            </a:r>
            <a:r>
              <a:rPr kumimoji="1" lang="en-US" altLang="zh-CN" b="1" dirty="0">
                <a:solidFill>
                  <a:srgbClr val="0052D9"/>
                </a:solidFill>
              </a:rPr>
              <a:t>"Optics-in, Copper-out"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is the established path for high-speed AIDC interconnects</a:t>
            </a:r>
          </a:p>
        </p:txBody>
      </p:sp>
      <p:pic>
        <p:nvPicPr>
          <p:cNvPr id="10" name="图形 9" descr="共享 纯色填充">
            <a:extLst>
              <a:ext uri="{FF2B5EF4-FFF2-40B4-BE49-F238E27FC236}">
                <a16:creationId xmlns:a16="http://schemas.microsoft.com/office/drawing/2014/main" id="{1A0AA4FC-5BC2-4A38-F831-60802C5A07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06966" y="1818371"/>
            <a:ext cx="699894" cy="699894"/>
          </a:xfrm>
          <a:prstGeom prst="rect">
            <a:avLst/>
          </a:prstGeom>
        </p:spPr>
      </p:pic>
      <p:pic>
        <p:nvPicPr>
          <p:cNvPr id="12" name="图形 11" descr="用路劲指引两个插针 纯色填充">
            <a:extLst>
              <a:ext uri="{FF2B5EF4-FFF2-40B4-BE49-F238E27FC236}">
                <a16:creationId xmlns:a16="http://schemas.microsoft.com/office/drawing/2014/main" id="{C170A57E-BDAC-393D-8725-B1F6AAC501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06965" y="4429110"/>
            <a:ext cx="699896" cy="699896"/>
          </a:xfrm>
          <a:prstGeom prst="rect">
            <a:avLst/>
          </a:prstGeom>
        </p:spPr>
      </p:pic>
      <p:pic>
        <p:nvPicPr>
          <p:cNvPr id="14" name="图形 13" descr="标尺 纯色填充">
            <a:extLst>
              <a:ext uri="{FF2B5EF4-FFF2-40B4-BE49-F238E27FC236}">
                <a16:creationId xmlns:a16="http://schemas.microsoft.com/office/drawing/2014/main" id="{5E661328-186A-EA23-E764-AA71D10314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06966" y="3181982"/>
            <a:ext cx="699895" cy="69989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0E636E7-928B-BDEA-FCE7-9E42F07C3B03}"/>
              </a:ext>
            </a:extLst>
          </p:cNvPr>
          <p:cNvSpPr txBox="1"/>
          <p:nvPr/>
        </p:nvSpPr>
        <p:spPr>
          <a:xfrm>
            <a:off x="3161911" y="3169436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Scenario: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Optical interconnect gets </a:t>
            </a:r>
            <a:r>
              <a:rPr kumimoji="1" lang="en-US" altLang="zh-CN" b="1" dirty="0">
                <a:solidFill>
                  <a:srgbClr val="0052D9"/>
                </a:solidFill>
              </a:rPr>
              <a:t>adopted first</a:t>
            </a: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in </a:t>
            </a:r>
            <a:r>
              <a:rPr kumimoji="1" lang="en-US" altLang="zh-CN" b="1" dirty="0">
                <a:solidFill>
                  <a:srgbClr val="0052D9"/>
                </a:solidFill>
              </a:rPr>
              <a:t>scale-out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, with </a:t>
            </a:r>
            <a:r>
              <a:rPr kumimoji="1" lang="en-US" altLang="zh-CN" b="1" dirty="0">
                <a:solidFill>
                  <a:srgbClr val="0052D9"/>
                </a:solidFill>
              </a:rPr>
              <a:t>accelerated penetration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in </a:t>
            </a:r>
            <a:r>
              <a:rPr kumimoji="1" lang="en-US" altLang="zh-CN" b="1" dirty="0">
                <a:solidFill>
                  <a:srgbClr val="0052D9"/>
                </a:solidFill>
              </a:rPr>
              <a:t>scale-up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DDAE0B-118D-4952-45B8-0152E35B8061}"/>
              </a:ext>
            </a:extLst>
          </p:cNvPr>
          <p:cNvSpPr txBox="1"/>
          <p:nvPr/>
        </p:nvSpPr>
        <p:spPr>
          <a:xfrm>
            <a:off x="3161911" y="4440684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Roadmap: </a:t>
            </a:r>
            <a:r>
              <a:rPr kumimoji="1" lang="en-US" altLang="zh-CN" b="1" dirty="0">
                <a:solidFill>
                  <a:srgbClr val="0052D9"/>
                </a:solidFill>
              </a:rPr>
              <a:t>CPO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is the </a:t>
            </a:r>
            <a:r>
              <a:rPr kumimoji="1" lang="en-US" altLang="zh-CN" b="1" dirty="0">
                <a:solidFill>
                  <a:srgbClr val="0052D9"/>
                </a:solidFill>
              </a:rPr>
              <a:t>long-term bet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, while near-term solution is still not determined.​</a:t>
            </a:r>
            <a:endParaRPr kumimoji="1"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262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标题 1">
            <a:extLst>
              <a:ext uri="{FF2B5EF4-FFF2-40B4-BE49-F238E27FC236}">
                <a16:creationId xmlns:a16="http://schemas.microsoft.com/office/drawing/2014/main" id="{25CD3D8D-5AC2-5B1A-FCE2-BA1C8298719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68855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0769" y="1270598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37966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59568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26" name="Chart 3">
            <a:extLst>
              <a:ext uri="{FF2B5EF4-FFF2-40B4-BE49-F238E27FC236}">
                <a16:creationId xmlns:a16="http://schemas.microsoft.com/office/drawing/2014/main" id="{3526D029-54BB-38D9-26F4-DF3670DCFB4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1030679"/>
              </p:ext>
            </p:extLst>
          </p:nvPr>
        </p:nvGraphicFramePr>
        <p:xfrm>
          <a:off x="236538" y="3306763"/>
          <a:ext cx="295275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3279775"/>
            <a:ext cx="0" cy="14081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31289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4" name="Chart 3">
            <a:extLst>
              <a:ext uri="{FF2B5EF4-FFF2-40B4-BE49-F238E27FC236}">
                <a16:creationId xmlns:a16="http://schemas.microsoft.com/office/drawing/2014/main" id="{50FA7E51-4061-1051-1F17-2E7C6ADDD49F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124824879"/>
              </p:ext>
            </p:extLst>
          </p:nvPr>
        </p:nvGraphicFramePr>
        <p:xfrm>
          <a:off x="3205163" y="3306763"/>
          <a:ext cx="229870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3279775"/>
            <a:ext cx="0" cy="8985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3128963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31" name="Chart 3">
            <a:extLst>
              <a:ext uri="{FF2B5EF4-FFF2-40B4-BE49-F238E27FC236}">
                <a16:creationId xmlns:a16="http://schemas.microsoft.com/office/drawing/2014/main" id="{3E018337-54A1-E8C3-618A-AC787944EFCF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9963757"/>
              </p:ext>
            </p:extLst>
          </p:nvPr>
        </p:nvGraphicFramePr>
        <p:xfrm>
          <a:off x="8926513" y="240347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59092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59092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325688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68855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61778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61778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61302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61302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51777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398318632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4270807-19F5-82EA-5095-54DD56BE4E5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2CDBB286-514A-C3DD-B610-6EAEB0B2072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973581AF-BC26-3870-951E-06D5A68B3BD3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DBA4F55F-64CD-D67A-B934-2EC74DD48530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833DA09-92C7-BDD6-CB44-D549FFCA132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5120B92-F28E-89C1-1D0F-9B53622AFDD7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62F22FA5-0713-A5CD-EAAC-D224F339EDB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3D142005-6B66-2132-5ADC-810741C45A0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5628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8403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8403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8403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8963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5312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4409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3966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5575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4303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4303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4213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4303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8403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9630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6728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6728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30281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5575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9999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40303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41570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4454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40960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8771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7081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52087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41721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7449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1909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4522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7B132474-1F83-AE4D-E0A9-4476516CFE2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DAA5085E-F9E8-35F2-D32A-604EFC4192D8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02F37066-4DC8-92DE-D7FE-A4585674047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662D24E4-B70C-4447-7172-F98B9A65BEAD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F351F441-22F3-41D2-52EB-3E15B32922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E9244910-B3BC-5754-6CBC-E3D05C208489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5F48C039-CC95-591D-3C25-AC386ACD77C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833BE20-FB7C-4EEF-F175-BA355BB05F1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41AFD4E0-E94C-110D-F00E-5478C32F050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key modules: Silicon photonics (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), electrical IC (EIC), switch ASIC, and integration &amp; delivery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229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427527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466054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82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11911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: 5y/gen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514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13379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6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987976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854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988078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2.5/3D: 5y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95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757209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633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755299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964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378DD288-304F-BDF5-BC40-624BE828D0CA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32533A7D-610C-57EE-E1B6-624F31A35A7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06F22A0-9384-3C6C-DD64-658F189A89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26">
            <a:extLst>
              <a:ext uri="{FF2B5EF4-FFF2-40B4-BE49-F238E27FC236}">
                <a16:creationId xmlns:a16="http://schemas.microsoft.com/office/drawing/2014/main" id="{2C19AA9A-7BA6-62E1-7A64-00491D24A4E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箭头: V 形 38">
            <a:extLst>
              <a:ext uri="{FF2B5EF4-FFF2-40B4-BE49-F238E27FC236}">
                <a16:creationId xmlns:a16="http://schemas.microsoft.com/office/drawing/2014/main" id="{34868A3C-A982-0230-511F-F2108BA3115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329109B2-8BAA-315A-C676-691722F44AA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7300CBF0-F47B-1388-E191-D77893717A4C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E4818409-6350-C0E8-DA1E-AEB87A54C334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6ECCFF72-07AB-4C34-4D4B-B9E09ACE79C9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7215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0626CFDE-102D-A4B9-E7F4-2CEC3FD78D79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38EE4FD-67DD-D75F-A552-D2E3AC709641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0D9FBBCA-438B-90D1-83BB-534EA5EE0A09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B597C2E-4003-A9DB-7167-A3A95C8809B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ED1421FC-C915-BA38-D044-EE4B96EB1FC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7D64F0C1-FD97-E859-602A-365049C621AE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76E6197-4A5C-6B5B-A7F8-35664DE271E1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F4521371-2ECD-3FDF-C7C4-0C478BBC52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C499D2EC-6D89-D8EF-F6B5-92FBCF73DDF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43685548825170350540E+00&quot;&gt;&lt;m_msothmcolidx val=&quot;0&quot;/&gt;&lt;m_rgb r=&quot;00&quot; g=&quot;52&quot; b=&quot;D9&quot;/&gt;&lt;/elem&gt;&lt;elem m_fUsage=&quot;3.95779727072462617077E-01&quot;&gt;&lt;m_msothmcolidx val=&quot;0&quot;/&gt;&lt;m_rgb r=&quot;C1&quot; g=&quot;E1&quot; b=&quot;FE&quot;/&gt;&lt;/elem&gt;&lt;elem m_fUsage=&quot;3.43368382029251573151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AeVIIhGnBjlN5lZ10SA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5RxkP25tVVDTHH2b9w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0xe_u31lUImfj5d6dRj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UTQzoBhYfKti.S8bqSE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PbmvvwCBeA25eeGBGVj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67FhgdV43web0IvejAt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Xlve0.sbqzKr0TGexKu5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leF9BCCx5wZgEvMMmVe6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00ipfqNQf0eKt9E4K6I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glj20eGuyFnCPGw2tTh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ROSLTjkZmXwbOMRJJz6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xqA8Hyh_Dx7QO7Lblny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VUFVBgcMdLpo2LdhDMb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oYHXtmpOF9WJvf7wPWG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C6dv41d8cxAEJ7O8tVt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1isQJ8P1QkT9LX5tyAh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xTLoqOZY.VknIUBvpLt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2mptHrUhQQwiW818cZGo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cZ4ldOFDMyXpbCdiSyc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zDIDKmFT3UUGY2eTaj9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51067</TotalTime>
  <Words>3975</Words>
  <Application>Microsoft Office PowerPoint</Application>
  <PresentationFormat>宽屏</PresentationFormat>
  <Paragraphs>1009</Paragraphs>
  <Slides>30</Slides>
  <Notes>26</Notes>
  <HiddenSlides>3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4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From pluggable to co-packaged optics (CPO): an intro to AIDC interconnect</vt:lpstr>
      <vt:lpstr>Table of contents</vt:lpstr>
      <vt:lpstr>Why the focus on CPO?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5948</cp:revision>
  <dcterms:created xsi:type="dcterms:W3CDTF">2025-06-16T21:28:33Z</dcterms:created>
  <dcterms:modified xsi:type="dcterms:W3CDTF">2025-10-16T09:23:39Z</dcterms:modified>
</cp:coreProperties>
</file>