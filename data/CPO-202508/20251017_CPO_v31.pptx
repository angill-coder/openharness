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notesSlides/notesSlide9.xml" ContentType="application/vnd.openxmlformats-officedocument.presentationml.notesSlide+xml"/>
  <Override PartName="/ppt/tags/tag54.xml" ContentType="application/vnd.openxmlformats-officedocument.presentationml.tags+xml"/>
  <Override PartName="/ppt/notesSlides/notesSlide10.xml" ContentType="application/vnd.openxmlformats-officedocument.presentationml.notesSlide+xml"/>
  <Override PartName="/ppt/tags/tag55.xml" ContentType="application/vnd.openxmlformats-officedocument.presentationml.tags+xml"/>
  <Override PartName="/ppt/notesSlides/notesSlide11.xml" ContentType="application/vnd.openxmlformats-officedocument.presentationml.notesSlide+xml"/>
  <Override PartName="/ppt/tags/tag56.xml" ContentType="application/vnd.openxmlformats-officedocument.presentationml.tags+xml"/>
  <Override PartName="/ppt/notesSlides/notesSlide12.xml" ContentType="application/vnd.openxmlformats-officedocument.presentationml.notesSlide+xml"/>
  <Override PartName="/ppt/tags/tag57.xml" ContentType="application/vnd.openxmlformats-officedocument.presentationml.tags+xml"/>
  <Override PartName="/ppt/notesSlides/notesSlide13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tags/tag72.xml" ContentType="application/vnd.openxmlformats-officedocument.presentationml.tags+xml"/>
  <Override PartName="/ppt/notesSlides/notesSlide15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6.xml" ContentType="application/vnd.openxmlformats-officedocument.drawingml.chart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18.xml" ContentType="application/vnd.openxmlformats-officedocument.presentationml.notesSlide+xml"/>
  <Override PartName="/ppt/tags/tag133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34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135.xml" ContentType="application/vnd.openxmlformats-officedocument.presentationml.tags+xml"/>
  <Override PartName="/ppt/notesSlides/notesSlide21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notesSlides/notesSlide22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ags/tag173.xml" ContentType="application/vnd.openxmlformats-officedocument.presentationml.tags+xml"/>
  <Override PartName="/ppt/notesSlides/notesSlide23.xml" ContentType="application/vnd.openxmlformats-officedocument.presentationml.notesSlide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notesSlides/notesSlide24.xml" ContentType="application/vnd.openxmlformats-officedocument.presentationml.notesSlide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25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tags/tag199.xml" ContentType="application/vnd.openxmlformats-officedocument.presentationml.tags+xml"/>
  <Override PartName="/ppt/notesSlides/notesSlide26.xml" ContentType="application/vnd.openxmlformats-officedocument.presentationml.notesSlide+xml"/>
  <Override PartName="/ppt/tags/tag200.xml" ContentType="application/vnd.openxmlformats-officedocument.presentationml.tags+xml"/>
  <Override PartName="/ppt/notesSlides/notesSlide27.xml" ContentType="application/vnd.openxmlformats-officedocument.presentationml.notesSlide+xml"/>
  <Override PartName="/ppt/tags/tag20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147473085" r:id="rId3"/>
    <p:sldId id="2147473086" r:id="rId4"/>
    <p:sldId id="2147473087" r:id="rId5"/>
    <p:sldId id="332" r:id="rId6"/>
    <p:sldId id="31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2147473083" r:id="rId15"/>
    <p:sldId id="315" r:id="rId16"/>
    <p:sldId id="344" r:id="rId17"/>
    <p:sldId id="370" r:id="rId18"/>
    <p:sldId id="372" r:id="rId19"/>
    <p:sldId id="2147473084" r:id="rId20"/>
    <p:sldId id="327" r:id="rId21"/>
    <p:sldId id="2147473076" r:id="rId22"/>
    <p:sldId id="331" r:id="rId23"/>
    <p:sldId id="283" r:id="rId24"/>
    <p:sldId id="364" r:id="rId25"/>
    <p:sldId id="326" r:id="rId26"/>
    <p:sldId id="367" r:id="rId27"/>
    <p:sldId id="339" r:id="rId28"/>
    <p:sldId id="363" r:id="rId29"/>
    <p:sldId id="2147473077" r:id="rId30"/>
    <p:sldId id="341" r:id="rId31"/>
    <p:sldId id="322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31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70"/>
            <p14:sldId id="372"/>
            <p14:sldId id="2147473084"/>
            <p14:sldId id="327"/>
            <p14:sldId id="2147473076"/>
            <p14:sldId id="331"/>
            <p14:sldId id="283"/>
          </p14:sldIdLst>
        </p14:section>
        <p14:section name="Appendix" id="{8B5E7F54-8D61-4CE1-89AB-837BCD335EC0}">
          <p14:sldIdLst>
            <p14:sldId id="364"/>
            <p14:sldId id="326"/>
            <p14:sldId id="367"/>
            <p14:sldId id="339"/>
            <p14:sldId id="363"/>
            <p14:sldId id="2147473077"/>
            <p14:sldId id="341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A6A6A6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2" autoAdjust="0"/>
    <p:restoredTop sz="80797" autoAdjust="0"/>
  </p:normalViewPr>
  <p:slideViewPr>
    <p:cSldViewPr snapToGrid="0">
      <p:cViewPr>
        <p:scale>
          <a:sx n="125" d="100"/>
          <a:sy n="125" d="100"/>
        </p:scale>
        <p:origin x="197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01-4F32-B4D6-304B313EE203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01-4F32-B4D6-304B313EE203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01-4F32-B4D6-304B313EE2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483807"/>
        <c:axId val="1"/>
      </c:lineChart>
      <c:catAx>
        <c:axId val="1304838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483807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924289566479984E-2"/>
          <c:y val="0.12792297111416781"/>
          <c:w val="0.88301182327317984"/>
          <c:h val="0.76203576341127921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lgDash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F3-49A9-A5DF-E5E5A95CDE36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513378967019291E-2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9F3-49A9-A5DF-E5E5A95CDE36}"/>
                </c:ext>
              </c:extLst>
            </c:dLbl>
            <c:dLbl>
              <c:idx val="1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9F3-49A9-A5DF-E5E5A95CD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Sheet1!$B$1:$B$17</c:f>
              <c:numCache>
                <c:formatCode>General</c:formatCode>
                <c:ptCount val="17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1E-43AC-97F8-67DCC15B9428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</c:numCache>
            </c:numRef>
          </c:xVal>
          <c:yVal>
            <c:numRef>
              <c:f>Sheet1!$C$1:$C$17</c:f>
              <c:numCache>
                <c:formatCode>General</c:formatCode>
                <c:ptCount val="17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F1E-43AC-97F8-67DCC15B9428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1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F1E-43AC-97F8-67DCC15B9428}"/>
              </c:ext>
            </c:extLst>
          </c:dPt>
          <c:xVal>
            <c:numRef>
              <c:f>Sheet1!$A$1:$A$17</c:f>
              <c:numCache>
                <c:formatCode>General</c:formatCode>
                <c:ptCount val="17"/>
                <c:pt idx="10">
                  <c:v>19723</c:v>
                </c:pt>
                <c:pt idx="11">
                  <c:v>20089</c:v>
                </c:pt>
                <c:pt idx="12">
                  <c:v>20089</c:v>
                </c:pt>
                <c:pt idx="13">
                  <c:v>19723</c:v>
                </c:pt>
                <c:pt idx="14">
                  <c:v>18993</c:v>
                </c:pt>
              </c:numCache>
            </c:numRef>
          </c:xVal>
          <c:yVal>
            <c:numRef>
              <c:f>Sheet1!$D$1:$D$17</c:f>
              <c:numCache>
                <c:formatCode>General</c:formatCode>
                <c:ptCount val="17"/>
                <c:pt idx="10">
                  <c:v>2615</c:v>
                </c:pt>
                <c:pt idx="11">
                  <c:v>5000</c:v>
                </c:pt>
                <c:pt idx="12">
                  <c:v>4600</c:v>
                </c:pt>
                <c:pt idx="13">
                  <c:v>1835</c:v>
                </c:pt>
                <c:pt idx="14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F1E-43AC-97F8-67DCC15B9428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15">
                  <c:v>20089</c:v>
                </c:pt>
                <c:pt idx="16">
                  <c:v>19358</c:v>
                </c:pt>
              </c:numCache>
            </c:numRef>
          </c:xVal>
          <c:yVal>
            <c:numRef>
              <c:f>Sheet1!$E$1:$E$17</c:f>
              <c:numCache>
                <c:formatCode>General</c:formatCode>
                <c:ptCount val="17"/>
                <c:pt idx="15">
                  <c:v>800</c:v>
                </c:pt>
                <c:pt idx="16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F1E-43AC-97F8-67DCC15B9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527007"/>
        <c:axId val="1"/>
      </c:scatterChart>
      <c:valAx>
        <c:axId val="13052700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52700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5E-4432-9216-DA7D215BDDAB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5E-4432-9216-DA7D215BD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5E-4432-9216-DA7D215BD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右边的铜为无源铜缆（安费诺、立讯）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上限目前看为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nvl72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，顶多一百多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Meta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dsf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全部用光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功耗测算逻辑：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9216 GPU -&gt; 9216 800G</a:t>
            </a:r>
            <a:r>
              <a:rPr lang="zh-CN" altLang="en-US" dirty="0"/>
              <a:t>光模块 </a:t>
            </a:r>
            <a:r>
              <a:rPr lang="en-US" altLang="zh-CN" dirty="0"/>
              <a:t>+ 14400 1.6T</a:t>
            </a:r>
            <a:r>
              <a:rPr lang="zh-CN" altLang="en-US" dirty="0"/>
              <a:t>光模块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光模块</a:t>
            </a:r>
            <a:r>
              <a:rPr lang="en-US" altLang="zh-CN" dirty="0"/>
              <a:t>-&gt;CPO</a:t>
            </a:r>
            <a:r>
              <a:rPr lang="zh-CN" altLang="en-US" dirty="0"/>
              <a:t>的系统级功耗节约（考虑交换机）：</a:t>
            </a:r>
            <a:r>
              <a:rPr lang="en-US" altLang="zh-CN" dirty="0"/>
              <a:t>800G 22W</a:t>
            </a:r>
            <a:r>
              <a:rPr lang="zh-CN" altLang="en-US" dirty="0"/>
              <a:t>，</a:t>
            </a:r>
            <a:r>
              <a:rPr lang="en-US" altLang="zh-CN" dirty="0"/>
              <a:t>1.6T 48W </a:t>
            </a:r>
            <a:r>
              <a:rPr lang="zh-CN" altLang="en-US" dirty="0"/>
              <a:t>（）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总功耗节约：</a:t>
            </a:r>
            <a:r>
              <a:rPr lang="en-US" altLang="zh-CN" dirty="0"/>
              <a:t>900 kW</a:t>
            </a:r>
          </a:p>
          <a:p>
            <a:pPr marL="0" indent="0">
              <a:buNone/>
            </a:pPr>
            <a:r>
              <a:rPr lang="zh-CN" altLang="en-US" dirty="0"/>
              <a:t>年电费节约：</a:t>
            </a:r>
            <a:r>
              <a:rPr lang="en-US" altLang="zh-CN" dirty="0"/>
              <a:t>5.5 </a:t>
            </a:r>
            <a:r>
              <a:rPr lang="en-US" altLang="zh-CN" dirty="0" err="1"/>
              <a:t>mn</a:t>
            </a:r>
            <a:r>
              <a:rPr lang="en-US" altLang="zh-CN" dirty="0"/>
              <a:t> RMB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OCS</a:t>
            </a:r>
            <a:r>
              <a:rPr lang="zh-CN" altLang="en-US" dirty="0"/>
              <a:t>很难用，需要对模型流量和卡非常了解，技术难点太高。单层级非常大的组网规模可用（可以看一下量）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面板上无法容纳光模块过多数量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GPU</a:t>
            </a:r>
            <a:r>
              <a:rPr lang="zh-CN" altLang="en-US" dirty="0"/>
              <a:t>功耗很高，无法容纳高能耗的互联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时延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Sitrus</a:t>
            </a:r>
            <a:r>
              <a:rPr lang="zh-CN" altLang="en-US" dirty="0"/>
              <a:t>、盛科备注</a:t>
            </a:r>
            <a:endParaRPr lang="en-US" altLang="zh-CN" dirty="0"/>
          </a:p>
          <a:p>
            <a:r>
              <a:rPr lang="en-US" altLang="zh-CN" dirty="0"/>
              <a:t>CPO</a:t>
            </a:r>
            <a:r>
              <a:rPr lang="zh-CN" altLang="en-US" dirty="0"/>
              <a:t>线性对</a:t>
            </a:r>
            <a:r>
              <a:rPr lang="en-US" altLang="zh-CN" dirty="0" err="1"/>
              <a:t>serdes</a:t>
            </a:r>
            <a:r>
              <a:rPr lang="zh-CN" altLang="en-US" dirty="0"/>
              <a:t>要求更高</a:t>
            </a:r>
            <a:endParaRPr lang="en-US" altLang="zh-CN" dirty="0"/>
          </a:p>
          <a:p>
            <a:r>
              <a:rPr lang="en-US" altLang="zh-CN" dirty="0"/>
              <a:t>Scale up</a:t>
            </a:r>
            <a:r>
              <a:rPr lang="zh-CN" altLang="en-US" dirty="0"/>
              <a:t>的光可能更快发生：</a:t>
            </a:r>
            <a:r>
              <a:rPr lang="en-US" altLang="zh-CN" dirty="0"/>
              <a:t>OCP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6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光模块配比：线性</a:t>
            </a:r>
            <a:r>
              <a:rPr lang="en-US" altLang="zh-CN" dirty="0"/>
              <a:t>+</a:t>
            </a:r>
            <a:r>
              <a:rPr lang="zh-CN" altLang="en-US" dirty="0"/>
              <a:t>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谷歌</a:t>
            </a:r>
            <a:r>
              <a:rPr lang="en-US" altLang="zh-CN" dirty="0"/>
              <a:t>TPU</a:t>
            </a:r>
            <a:r>
              <a:rPr lang="zh-CN" altLang="en-US" dirty="0"/>
              <a:t>出货量：</a:t>
            </a:r>
            <a:r>
              <a:rPr lang="en-US" altLang="zh-CN" dirty="0"/>
              <a:t>2025, 2-2.5mn</a:t>
            </a:r>
            <a:r>
              <a:rPr lang="zh-CN" altLang="en-US" dirty="0"/>
              <a:t>，占</a:t>
            </a:r>
            <a:r>
              <a:rPr lang="en-US" altLang="zh-CN" dirty="0"/>
              <a:t>75%</a:t>
            </a:r>
            <a:r>
              <a:rPr lang="zh-CN" altLang="en-US" dirty="0"/>
              <a:t>（份额预计长期保持）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博通</a:t>
            </a:r>
            <a:r>
              <a:rPr lang="en-US" altLang="zh-CN" dirty="0"/>
              <a:t>TH6 CPO</a:t>
            </a:r>
            <a:r>
              <a:rPr lang="zh-CN" altLang="en-US" dirty="0"/>
              <a:t>芯片报价：可能为</a:t>
            </a:r>
            <a:r>
              <a:rPr lang="en-US" altLang="zh-CN" dirty="0"/>
              <a:t>$20k</a:t>
            </a:r>
            <a:r>
              <a:rPr lang="zh-CN" altLang="en-US" dirty="0"/>
              <a:t>，</a:t>
            </a:r>
            <a:r>
              <a:rPr lang="en-US" altLang="zh-CN" dirty="0"/>
              <a:t>BOM</a:t>
            </a:r>
            <a:r>
              <a:rPr lang="zh-CN" altLang="en-US" dirty="0"/>
              <a:t>占比</a:t>
            </a:r>
            <a:r>
              <a:rPr lang="en-US" altLang="zh-CN" dirty="0"/>
              <a:t>20-30%</a:t>
            </a:r>
            <a:r>
              <a:rPr lang="zh-CN" altLang="en-US" dirty="0"/>
              <a:t>，整机价格</a:t>
            </a:r>
            <a:r>
              <a:rPr lang="en-US" altLang="zh-CN" dirty="0"/>
              <a:t>$60-100k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删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第一代样机</a:t>
            </a:r>
            <a:r>
              <a:rPr lang="en-US" altLang="zh-CN" dirty="0"/>
              <a:t>TH4</a:t>
            </a:r>
            <a:r>
              <a:rPr lang="zh-CN" altLang="en-US" dirty="0"/>
              <a:t>已在机房跑测试</a:t>
            </a:r>
            <a:endParaRPr lang="en-US" altLang="zh-CN" dirty="0"/>
          </a:p>
          <a:p>
            <a:r>
              <a:rPr lang="en-US" altLang="zh-CN" dirty="0"/>
              <a:t>TH5</a:t>
            </a:r>
            <a:r>
              <a:rPr lang="zh-CN" altLang="en-US" dirty="0"/>
              <a:t>正在测试，还没测完，</a:t>
            </a:r>
            <a:r>
              <a:rPr lang="en-US" altLang="zh-CN" dirty="0"/>
              <a:t>Meta</a:t>
            </a:r>
            <a:r>
              <a:rPr lang="zh-CN" altLang="en-US" dirty="0"/>
              <a:t>的数据来看还需要打磨稳定性（误码率</a:t>
            </a:r>
            <a:r>
              <a:rPr lang="en-US" altLang="zh-CN" dirty="0"/>
              <a:t>1e-9</a:t>
            </a:r>
            <a:r>
              <a:rPr lang="zh-CN" altLang="en-US" dirty="0"/>
              <a:t>、误码分布是否在纠错码的纠错范围内</a:t>
            </a:r>
            <a:r>
              <a:rPr lang="en-US" altLang="zh-CN" dirty="0"/>
              <a:t>+Buffer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</a:t>
            </a:r>
            <a:r>
              <a:rPr lang="en-US" altLang="zh-CN" dirty="0"/>
              <a:t>CPO</a:t>
            </a:r>
            <a:r>
              <a:rPr lang="zh-CN" altLang="en-US" dirty="0"/>
              <a:t>绑定光、电芯片，产业链绑定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光进铜退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场景：光会先在</a:t>
            </a:r>
            <a:r>
              <a:rPr lang="en-US" altLang="zh-CN" dirty="0"/>
              <a:t>scale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路径：长期</a:t>
            </a:r>
            <a:r>
              <a:rPr lang="en-US" altLang="zh-CN" dirty="0"/>
              <a:t>CPO</a:t>
            </a:r>
            <a:r>
              <a:rPr lang="zh-CN" altLang="en-US" dirty="0"/>
              <a:t>短期不明朗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35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25.png"/><Relationship Id="rId3" Type="http://schemas.openxmlformats.org/officeDocument/2006/relationships/tags" Target="../tags/tag36.xml"/><Relationship Id="rId21" Type="http://schemas.openxmlformats.org/officeDocument/2006/relationships/notesSlide" Target="../notesSlides/notesSlide8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image" Target="../media/image24.png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slideLayout" Target="../slideLayouts/slideLayout2.xml"/><Relationship Id="rId29" Type="http://schemas.openxmlformats.org/officeDocument/2006/relationships/image" Target="../media/image28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image" Target="../media/image23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image" Target="../media/image18.emf"/><Relationship Id="rId28" Type="http://schemas.openxmlformats.org/officeDocument/2006/relationships/image" Target="../media/image27.jpe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oleObject" Target="../embeddings/oleObject9.bin"/><Relationship Id="rId27" Type="http://schemas.openxmlformats.org/officeDocument/2006/relationships/image" Target="../media/image26.png"/><Relationship Id="rId30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image" Target="../media/image15.png"/><Relationship Id="rId5" Type="http://schemas.openxmlformats.org/officeDocument/2006/relationships/image" Target="../media/image8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7.emf"/><Relationship Id="rId3" Type="http://schemas.openxmlformats.org/officeDocument/2006/relationships/tags" Target="../tags/tag60.xml"/><Relationship Id="rId21" Type="http://schemas.openxmlformats.org/officeDocument/2006/relationships/image" Target="../media/image25.png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oleObject" Target="../embeddings/oleObject15.bin"/><Relationship Id="rId2" Type="http://schemas.openxmlformats.org/officeDocument/2006/relationships/tags" Target="../tags/tag59.xml"/><Relationship Id="rId16" Type="http://schemas.openxmlformats.org/officeDocument/2006/relationships/notesSlide" Target="../notesSlides/notesSlide14.xml"/><Relationship Id="rId20" Type="http://schemas.openxmlformats.org/officeDocument/2006/relationships/image" Target="../media/image10.pn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chart" Target="../charts/chart5.xml"/><Relationship Id="rId5" Type="http://schemas.openxmlformats.org/officeDocument/2006/relationships/tags" Target="../tags/tag62.xml"/><Relationship Id="rId15" Type="http://schemas.openxmlformats.org/officeDocument/2006/relationships/slideLayout" Target="../slideLayouts/slideLayout13.xml"/><Relationship Id="rId23" Type="http://schemas.openxmlformats.org/officeDocument/2006/relationships/image" Target="../media/image45.jpeg"/><Relationship Id="rId10" Type="http://schemas.openxmlformats.org/officeDocument/2006/relationships/tags" Target="../tags/tag67.xml"/><Relationship Id="rId19" Type="http://schemas.openxmlformats.org/officeDocument/2006/relationships/image" Target="../media/image9.png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9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6.png"/><Relationship Id="rId12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47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2.png"/><Relationship Id="rId21" Type="http://schemas.openxmlformats.org/officeDocument/2006/relationships/image" Target="../media/image59.png"/><Relationship Id="rId42" Type="http://schemas.microsoft.com/office/2007/relationships/hdphoto" Target="../media/hdphoto18.wdp"/><Relationship Id="rId47" Type="http://schemas.openxmlformats.org/officeDocument/2006/relationships/image" Target="../media/image74.png"/><Relationship Id="rId63" Type="http://schemas.microsoft.com/office/2007/relationships/hdphoto" Target="../media/hdphoto27.wdp"/><Relationship Id="rId68" Type="http://schemas.openxmlformats.org/officeDocument/2006/relationships/image" Target="../media/image36.png"/><Relationship Id="rId16" Type="http://schemas.openxmlformats.org/officeDocument/2006/relationships/image" Target="../media/image56.png"/><Relationship Id="rId11" Type="http://schemas.microsoft.com/office/2007/relationships/hdphoto" Target="../media/hdphoto9.wdp"/><Relationship Id="rId32" Type="http://schemas.openxmlformats.org/officeDocument/2006/relationships/image" Target="../media/image66.png"/><Relationship Id="rId37" Type="http://schemas.openxmlformats.org/officeDocument/2006/relationships/image" Target="../media/image47.png"/><Relationship Id="rId53" Type="http://schemas.openxmlformats.org/officeDocument/2006/relationships/image" Target="../media/image76.png"/><Relationship Id="rId58" Type="http://schemas.openxmlformats.org/officeDocument/2006/relationships/image" Target="../media/image79.png"/><Relationship Id="rId74" Type="http://schemas.microsoft.com/office/2007/relationships/hdphoto" Target="../media/hdphoto31.wdp"/><Relationship Id="rId79" Type="http://schemas.openxmlformats.org/officeDocument/2006/relationships/image" Target="../media/image90.png"/><Relationship Id="rId5" Type="http://schemas.openxmlformats.org/officeDocument/2006/relationships/image" Target="../media/image50.png"/><Relationship Id="rId61" Type="http://schemas.microsoft.com/office/2007/relationships/hdphoto" Target="../media/hdphoto26.wdp"/><Relationship Id="rId82" Type="http://schemas.microsoft.com/office/2007/relationships/hdphoto" Target="../media/hdphoto35.wdp"/><Relationship Id="rId19" Type="http://schemas.openxmlformats.org/officeDocument/2006/relationships/image" Target="../media/image24.png"/><Relationship Id="rId14" Type="http://schemas.openxmlformats.org/officeDocument/2006/relationships/image" Target="../media/image55.png"/><Relationship Id="rId22" Type="http://schemas.openxmlformats.org/officeDocument/2006/relationships/image" Target="../media/image60.png"/><Relationship Id="rId27" Type="http://schemas.openxmlformats.org/officeDocument/2006/relationships/image" Target="../media/image63.png"/><Relationship Id="rId30" Type="http://schemas.openxmlformats.org/officeDocument/2006/relationships/image" Target="../media/image65.png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microsoft.com/office/2007/relationships/hdphoto" Target="../media/hdphoto21.wdp"/><Relationship Id="rId56" Type="http://schemas.openxmlformats.org/officeDocument/2006/relationships/image" Target="../media/image78.png"/><Relationship Id="rId64" Type="http://schemas.openxmlformats.org/officeDocument/2006/relationships/image" Target="../media/image82.png"/><Relationship Id="rId69" Type="http://schemas.openxmlformats.org/officeDocument/2006/relationships/image" Target="../media/image84.png"/><Relationship Id="rId77" Type="http://schemas.openxmlformats.org/officeDocument/2006/relationships/image" Target="../media/image89.png"/><Relationship Id="rId8" Type="http://schemas.openxmlformats.org/officeDocument/2006/relationships/image" Target="../media/image52.png"/><Relationship Id="rId51" Type="http://schemas.openxmlformats.org/officeDocument/2006/relationships/image" Target="../media/image75.png"/><Relationship Id="rId72" Type="http://schemas.microsoft.com/office/2007/relationships/hdphoto" Target="../media/hdphoto30.wdp"/><Relationship Id="rId80" Type="http://schemas.microsoft.com/office/2007/relationships/hdphoto" Target="../media/hdphoto34.wdp"/><Relationship Id="rId3" Type="http://schemas.openxmlformats.org/officeDocument/2006/relationships/oleObject" Target="../embeddings/oleObject17.bin"/><Relationship Id="rId12" Type="http://schemas.openxmlformats.org/officeDocument/2006/relationships/image" Target="../media/image54.png"/><Relationship Id="rId17" Type="http://schemas.microsoft.com/office/2007/relationships/hdphoto" Target="../media/hdphoto11.wdp"/><Relationship Id="rId25" Type="http://schemas.microsoft.com/office/2007/relationships/hdphoto" Target="../media/hdphoto13.wdp"/><Relationship Id="rId33" Type="http://schemas.microsoft.com/office/2007/relationships/hdphoto" Target="../media/hdphoto16.wdp"/><Relationship Id="rId38" Type="http://schemas.openxmlformats.org/officeDocument/2006/relationships/image" Target="../media/image70.png"/><Relationship Id="rId46" Type="http://schemas.microsoft.com/office/2007/relationships/hdphoto" Target="../media/hdphoto20.wdp"/><Relationship Id="rId59" Type="http://schemas.microsoft.com/office/2007/relationships/hdphoto" Target="../media/hdphoto25.wdp"/><Relationship Id="rId67" Type="http://schemas.microsoft.com/office/2007/relationships/hdphoto" Target="../media/hdphoto29.wdp"/><Relationship Id="rId20" Type="http://schemas.openxmlformats.org/officeDocument/2006/relationships/image" Target="../media/image58.png"/><Relationship Id="rId41" Type="http://schemas.openxmlformats.org/officeDocument/2006/relationships/image" Target="../media/image71.png"/><Relationship Id="rId54" Type="http://schemas.openxmlformats.org/officeDocument/2006/relationships/image" Target="../media/image77.png"/><Relationship Id="rId62" Type="http://schemas.openxmlformats.org/officeDocument/2006/relationships/image" Target="../media/image81.png"/><Relationship Id="rId70" Type="http://schemas.openxmlformats.org/officeDocument/2006/relationships/image" Target="../media/image85.png"/><Relationship Id="rId75" Type="http://schemas.openxmlformats.org/officeDocument/2006/relationships/image" Target="../media/image88.png"/><Relationship Id="rId83" Type="http://schemas.openxmlformats.org/officeDocument/2006/relationships/image" Target="../media/image92.png"/><Relationship Id="rId1" Type="http://schemas.openxmlformats.org/officeDocument/2006/relationships/tags" Target="../tags/tag73.xml"/><Relationship Id="rId6" Type="http://schemas.microsoft.com/office/2007/relationships/hdphoto" Target="../media/hdphoto7.wdp"/><Relationship Id="rId15" Type="http://schemas.microsoft.com/office/2007/relationships/hdphoto" Target="../media/hdphoto10.wdp"/><Relationship Id="rId23" Type="http://schemas.microsoft.com/office/2007/relationships/hdphoto" Target="../media/hdphoto12.wdp"/><Relationship Id="rId28" Type="http://schemas.microsoft.com/office/2007/relationships/hdphoto" Target="../media/hdphoto14.wdp"/><Relationship Id="rId36" Type="http://schemas.openxmlformats.org/officeDocument/2006/relationships/image" Target="../media/image69.png"/><Relationship Id="rId49" Type="http://schemas.openxmlformats.org/officeDocument/2006/relationships/image" Target="../media/image28.png"/><Relationship Id="rId57" Type="http://schemas.microsoft.com/office/2007/relationships/hdphoto" Target="../media/hdphoto24.wdp"/><Relationship Id="rId10" Type="http://schemas.openxmlformats.org/officeDocument/2006/relationships/image" Target="../media/image53.png"/><Relationship Id="rId31" Type="http://schemas.microsoft.com/office/2007/relationships/hdphoto" Target="../media/hdphoto15.wdp"/><Relationship Id="rId44" Type="http://schemas.microsoft.com/office/2007/relationships/hdphoto" Target="../media/hdphoto19.wdp"/><Relationship Id="rId52" Type="http://schemas.microsoft.com/office/2007/relationships/hdphoto" Target="../media/hdphoto22.wdp"/><Relationship Id="rId60" Type="http://schemas.openxmlformats.org/officeDocument/2006/relationships/image" Target="../media/image80.png"/><Relationship Id="rId65" Type="http://schemas.microsoft.com/office/2007/relationships/hdphoto" Target="../media/hdphoto28.wdp"/><Relationship Id="rId73" Type="http://schemas.openxmlformats.org/officeDocument/2006/relationships/image" Target="../media/image87.png"/><Relationship Id="rId78" Type="http://schemas.microsoft.com/office/2007/relationships/hdphoto" Target="../media/hdphoto33.wdp"/><Relationship Id="rId81" Type="http://schemas.openxmlformats.org/officeDocument/2006/relationships/image" Target="../media/image91.png"/><Relationship Id="rId4" Type="http://schemas.openxmlformats.org/officeDocument/2006/relationships/image" Target="../media/image8.emf"/><Relationship Id="rId9" Type="http://schemas.microsoft.com/office/2007/relationships/hdphoto" Target="../media/hdphoto8.wdp"/><Relationship Id="rId13" Type="http://schemas.openxmlformats.org/officeDocument/2006/relationships/image" Target="../media/image23.png"/><Relationship Id="rId18" Type="http://schemas.openxmlformats.org/officeDocument/2006/relationships/image" Target="../media/image57.png"/><Relationship Id="rId39" Type="http://schemas.microsoft.com/office/2007/relationships/hdphoto" Target="../media/hdphoto17.wdp"/><Relationship Id="rId34" Type="http://schemas.openxmlformats.org/officeDocument/2006/relationships/image" Target="../media/image67.png"/><Relationship Id="rId50" Type="http://schemas.microsoft.com/office/2007/relationships/hdphoto" Target="../media/hdphoto3.wdp"/><Relationship Id="rId55" Type="http://schemas.microsoft.com/office/2007/relationships/hdphoto" Target="../media/hdphoto23.wdp"/><Relationship Id="rId76" Type="http://schemas.microsoft.com/office/2007/relationships/hdphoto" Target="../media/hdphoto32.wdp"/><Relationship Id="rId7" Type="http://schemas.openxmlformats.org/officeDocument/2006/relationships/image" Target="../media/image51.png"/><Relationship Id="rId71" Type="http://schemas.openxmlformats.org/officeDocument/2006/relationships/image" Target="../media/image86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4.png"/><Relationship Id="rId24" Type="http://schemas.openxmlformats.org/officeDocument/2006/relationships/image" Target="../media/image61.png"/><Relationship Id="rId40" Type="http://schemas.openxmlformats.org/officeDocument/2006/relationships/image" Target="../media/image35.png"/><Relationship Id="rId45" Type="http://schemas.openxmlformats.org/officeDocument/2006/relationships/image" Target="../media/image73.png"/><Relationship Id="rId66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image" Target="../media/image18.emf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oleObject" Target="../embeddings/oleObject18.bin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7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26" Type="http://schemas.openxmlformats.org/officeDocument/2006/relationships/tags" Target="../tags/tag108.xml"/><Relationship Id="rId39" Type="http://schemas.openxmlformats.org/officeDocument/2006/relationships/tags" Target="../tags/tag121.xml"/><Relationship Id="rId21" Type="http://schemas.openxmlformats.org/officeDocument/2006/relationships/tags" Target="../tags/tag103.xml"/><Relationship Id="rId34" Type="http://schemas.openxmlformats.org/officeDocument/2006/relationships/tags" Target="../tags/tag116.xml"/><Relationship Id="rId42" Type="http://schemas.openxmlformats.org/officeDocument/2006/relationships/tags" Target="../tags/tag124.xml"/><Relationship Id="rId47" Type="http://schemas.openxmlformats.org/officeDocument/2006/relationships/image" Target="../media/image18.emf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9" Type="http://schemas.openxmlformats.org/officeDocument/2006/relationships/tags" Target="../tags/tag111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24" Type="http://schemas.openxmlformats.org/officeDocument/2006/relationships/tags" Target="../tags/tag106.xml"/><Relationship Id="rId32" Type="http://schemas.openxmlformats.org/officeDocument/2006/relationships/tags" Target="../tags/tag114.xml"/><Relationship Id="rId37" Type="http://schemas.openxmlformats.org/officeDocument/2006/relationships/tags" Target="../tags/tag119.xml"/><Relationship Id="rId40" Type="http://schemas.openxmlformats.org/officeDocument/2006/relationships/tags" Target="../tags/tag122.xml"/><Relationship Id="rId45" Type="http://schemas.openxmlformats.org/officeDocument/2006/relationships/notesSlide" Target="../notesSlides/notesSlide17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23" Type="http://schemas.openxmlformats.org/officeDocument/2006/relationships/tags" Target="../tags/tag105.xml"/><Relationship Id="rId28" Type="http://schemas.openxmlformats.org/officeDocument/2006/relationships/tags" Target="../tags/tag110.xml"/><Relationship Id="rId36" Type="http://schemas.openxmlformats.org/officeDocument/2006/relationships/tags" Target="../tags/tag118.xml"/><Relationship Id="rId10" Type="http://schemas.openxmlformats.org/officeDocument/2006/relationships/tags" Target="../tags/tag92.xml"/><Relationship Id="rId19" Type="http://schemas.openxmlformats.org/officeDocument/2006/relationships/tags" Target="../tags/tag101.xml"/><Relationship Id="rId31" Type="http://schemas.openxmlformats.org/officeDocument/2006/relationships/tags" Target="../tags/tag113.xml"/><Relationship Id="rId44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tags" Target="../tags/tag104.xml"/><Relationship Id="rId27" Type="http://schemas.openxmlformats.org/officeDocument/2006/relationships/tags" Target="../tags/tag109.xml"/><Relationship Id="rId30" Type="http://schemas.openxmlformats.org/officeDocument/2006/relationships/tags" Target="../tags/tag112.xml"/><Relationship Id="rId35" Type="http://schemas.openxmlformats.org/officeDocument/2006/relationships/tags" Target="../tags/tag117.xml"/><Relationship Id="rId43" Type="http://schemas.openxmlformats.org/officeDocument/2006/relationships/tags" Target="../tags/tag125.xml"/><Relationship Id="rId48" Type="http://schemas.openxmlformats.org/officeDocument/2006/relationships/chart" Target="../charts/chart7.xml"/><Relationship Id="rId8" Type="http://schemas.openxmlformats.org/officeDocument/2006/relationships/tags" Target="../tags/tag90.xml"/><Relationship Id="rId3" Type="http://schemas.openxmlformats.org/officeDocument/2006/relationships/tags" Target="../tags/tag85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5" Type="http://schemas.openxmlformats.org/officeDocument/2006/relationships/tags" Target="../tags/tag107.xml"/><Relationship Id="rId33" Type="http://schemas.openxmlformats.org/officeDocument/2006/relationships/tags" Target="../tags/tag115.xml"/><Relationship Id="rId38" Type="http://schemas.openxmlformats.org/officeDocument/2006/relationships/tags" Target="../tags/tag120.xml"/><Relationship Id="rId46" Type="http://schemas.openxmlformats.org/officeDocument/2006/relationships/oleObject" Target="../embeddings/oleObject19.bin"/><Relationship Id="rId20" Type="http://schemas.openxmlformats.org/officeDocument/2006/relationships/tags" Target="../tags/tag102.xml"/><Relationship Id="rId41" Type="http://schemas.openxmlformats.org/officeDocument/2006/relationships/tags" Target="../tags/tag12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3" Type="http://schemas.openxmlformats.org/officeDocument/2006/relationships/tags" Target="../tags/tag128.xml"/><Relationship Id="rId21" Type="http://schemas.openxmlformats.org/officeDocument/2006/relationships/image" Target="../media/image100.png"/><Relationship Id="rId7" Type="http://schemas.openxmlformats.org/officeDocument/2006/relationships/tags" Target="../tags/tag132.xml"/><Relationship Id="rId12" Type="http://schemas.openxmlformats.org/officeDocument/2006/relationships/image" Target="../media/image51.png"/><Relationship Id="rId17" Type="http://schemas.openxmlformats.org/officeDocument/2006/relationships/image" Target="../media/image97.png"/><Relationship Id="rId25" Type="http://schemas.openxmlformats.org/officeDocument/2006/relationships/image" Target="../media/image103.png"/><Relationship Id="rId2" Type="http://schemas.openxmlformats.org/officeDocument/2006/relationships/tags" Target="../tags/tag127.xml"/><Relationship Id="rId16" Type="http://schemas.openxmlformats.org/officeDocument/2006/relationships/image" Target="../media/image96.jpeg"/><Relationship Id="rId20" Type="http://schemas.openxmlformats.org/officeDocument/2006/relationships/image" Target="../media/image54.png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image" Target="../media/image18.emf"/><Relationship Id="rId24" Type="http://schemas.openxmlformats.org/officeDocument/2006/relationships/image" Target="../media/image102.png"/><Relationship Id="rId5" Type="http://schemas.openxmlformats.org/officeDocument/2006/relationships/tags" Target="../tags/tag130.xml"/><Relationship Id="rId15" Type="http://schemas.openxmlformats.org/officeDocument/2006/relationships/image" Target="../media/image95.png"/><Relationship Id="rId23" Type="http://schemas.microsoft.com/office/2007/relationships/hdphoto" Target="../media/hdphoto36.wdp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99.png"/><Relationship Id="rId4" Type="http://schemas.openxmlformats.org/officeDocument/2006/relationships/tags" Target="../tags/tag129.xml"/><Relationship Id="rId9" Type="http://schemas.openxmlformats.org/officeDocument/2006/relationships/notesSlide" Target="../notesSlides/notesSlide18.xml"/><Relationship Id="rId14" Type="http://schemas.openxmlformats.org/officeDocument/2006/relationships/image" Target="../media/image94.png"/><Relationship Id="rId22" Type="http://schemas.openxmlformats.org/officeDocument/2006/relationships/image" Target="../media/image10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3.xml"/><Relationship Id="rId6" Type="http://schemas.openxmlformats.org/officeDocument/2006/relationships/chart" Target="../charts/chart8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1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7.svg"/><Relationship Id="rId12" Type="http://schemas.openxmlformats.org/officeDocument/2006/relationships/image" Target="../media/image110.png"/><Relationship Id="rId2" Type="http://schemas.openxmlformats.org/officeDocument/2006/relationships/slideLayout" Target="../slideLayouts/slideLayout2.xml"/><Relationship Id="rId16" Type="http://schemas.openxmlformats.org/officeDocument/2006/relationships/chart" Target="../charts/chart10.xml"/><Relationship Id="rId1" Type="http://schemas.openxmlformats.org/officeDocument/2006/relationships/tags" Target="../tags/tag134.xml"/><Relationship Id="rId6" Type="http://schemas.openxmlformats.org/officeDocument/2006/relationships/image" Target="../media/image106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5" Type="http://schemas.openxmlformats.org/officeDocument/2006/relationships/image" Target="../media/image113.png"/><Relationship Id="rId10" Type="http://schemas.openxmlformats.org/officeDocument/2006/relationships/chart" Target="../charts/chart9.xml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09.svg"/><Relationship Id="rId14" Type="http://schemas.openxmlformats.org/officeDocument/2006/relationships/image" Target="../media/image1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5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148.xml"/><Relationship Id="rId18" Type="http://schemas.openxmlformats.org/officeDocument/2006/relationships/tags" Target="../tags/tag153.xml"/><Relationship Id="rId26" Type="http://schemas.openxmlformats.org/officeDocument/2006/relationships/tags" Target="../tags/tag161.xml"/><Relationship Id="rId39" Type="http://schemas.openxmlformats.org/officeDocument/2006/relationships/notesSlide" Target="../notesSlides/notesSlide22.xml"/><Relationship Id="rId21" Type="http://schemas.openxmlformats.org/officeDocument/2006/relationships/tags" Target="../tags/tag156.xml"/><Relationship Id="rId34" Type="http://schemas.openxmlformats.org/officeDocument/2006/relationships/tags" Target="../tags/tag169.xml"/><Relationship Id="rId42" Type="http://schemas.openxmlformats.org/officeDocument/2006/relationships/chart" Target="../charts/chart11.xml"/><Relationship Id="rId47" Type="http://schemas.openxmlformats.org/officeDocument/2006/relationships/chart" Target="../charts/chart14.xml"/><Relationship Id="rId7" Type="http://schemas.openxmlformats.org/officeDocument/2006/relationships/tags" Target="../tags/tag142.xml"/><Relationship Id="rId2" Type="http://schemas.openxmlformats.org/officeDocument/2006/relationships/tags" Target="../tags/tag137.xml"/><Relationship Id="rId16" Type="http://schemas.openxmlformats.org/officeDocument/2006/relationships/tags" Target="../tags/tag151.xml"/><Relationship Id="rId29" Type="http://schemas.openxmlformats.org/officeDocument/2006/relationships/tags" Target="../tags/tag164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24" Type="http://schemas.openxmlformats.org/officeDocument/2006/relationships/tags" Target="../tags/tag159.xml"/><Relationship Id="rId32" Type="http://schemas.openxmlformats.org/officeDocument/2006/relationships/tags" Target="../tags/tag167.xml"/><Relationship Id="rId37" Type="http://schemas.openxmlformats.org/officeDocument/2006/relationships/tags" Target="../tags/tag172.xml"/><Relationship Id="rId40" Type="http://schemas.openxmlformats.org/officeDocument/2006/relationships/oleObject" Target="../embeddings/oleObject24.bin"/><Relationship Id="rId45" Type="http://schemas.openxmlformats.org/officeDocument/2006/relationships/image" Target="../media/image115.png"/><Relationship Id="rId5" Type="http://schemas.openxmlformats.org/officeDocument/2006/relationships/tags" Target="../tags/tag140.xml"/><Relationship Id="rId15" Type="http://schemas.openxmlformats.org/officeDocument/2006/relationships/tags" Target="../tags/tag150.xml"/><Relationship Id="rId23" Type="http://schemas.openxmlformats.org/officeDocument/2006/relationships/tags" Target="../tags/tag158.xml"/><Relationship Id="rId28" Type="http://schemas.openxmlformats.org/officeDocument/2006/relationships/tags" Target="../tags/tag163.xml"/><Relationship Id="rId36" Type="http://schemas.openxmlformats.org/officeDocument/2006/relationships/tags" Target="../tags/tag171.xml"/><Relationship Id="rId10" Type="http://schemas.openxmlformats.org/officeDocument/2006/relationships/tags" Target="../tags/tag145.xml"/><Relationship Id="rId19" Type="http://schemas.openxmlformats.org/officeDocument/2006/relationships/tags" Target="../tags/tag154.xml"/><Relationship Id="rId31" Type="http://schemas.openxmlformats.org/officeDocument/2006/relationships/tags" Target="../tags/tag166.xml"/><Relationship Id="rId44" Type="http://schemas.openxmlformats.org/officeDocument/2006/relationships/chart" Target="../charts/chart13.xml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tags" Target="../tags/tag149.xml"/><Relationship Id="rId22" Type="http://schemas.openxmlformats.org/officeDocument/2006/relationships/tags" Target="../tags/tag157.xml"/><Relationship Id="rId27" Type="http://schemas.openxmlformats.org/officeDocument/2006/relationships/tags" Target="../tags/tag162.xml"/><Relationship Id="rId30" Type="http://schemas.openxmlformats.org/officeDocument/2006/relationships/tags" Target="../tags/tag165.xml"/><Relationship Id="rId35" Type="http://schemas.openxmlformats.org/officeDocument/2006/relationships/tags" Target="../tags/tag170.xml"/><Relationship Id="rId43" Type="http://schemas.openxmlformats.org/officeDocument/2006/relationships/chart" Target="../charts/chart12.xml"/><Relationship Id="rId8" Type="http://schemas.openxmlformats.org/officeDocument/2006/relationships/tags" Target="../tags/tag143.xml"/><Relationship Id="rId3" Type="http://schemas.openxmlformats.org/officeDocument/2006/relationships/tags" Target="../tags/tag138.xml"/><Relationship Id="rId12" Type="http://schemas.openxmlformats.org/officeDocument/2006/relationships/tags" Target="../tags/tag147.xml"/><Relationship Id="rId17" Type="http://schemas.openxmlformats.org/officeDocument/2006/relationships/tags" Target="../tags/tag152.xml"/><Relationship Id="rId25" Type="http://schemas.openxmlformats.org/officeDocument/2006/relationships/tags" Target="../tags/tag160.xml"/><Relationship Id="rId33" Type="http://schemas.openxmlformats.org/officeDocument/2006/relationships/tags" Target="../tags/tag168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37.wdp"/><Relationship Id="rId20" Type="http://schemas.openxmlformats.org/officeDocument/2006/relationships/tags" Target="../tags/tag155.xml"/><Relationship Id="rId41" Type="http://schemas.openxmlformats.org/officeDocument/2006/relationships/image" Target="../media/image8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notesSlide" Target="../notesSlides/notesSlide23.xml"/><Relationship Id="rId7" Type="http://schemas.microsoft.com/office/2007/relationships/hdphoto" Target="../media/hdphoto3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3.xml"/><Relationship Id="rId6" Type="http://schemas.openxmlformats.org/officeDocument/2006/relationships/image" Target="../media/image116.png"/><Relationship Id="rId11" Type="http://schemas.microsoft.com/office/2007/relationships/hdphoto" Target="../media/hdphoto39.wdp"/><Relationship Id="rId5" Type="http://schemas.openxmlformats.org/officeDocument/2006/relationships/image" Target="../media/image8.emf"/><Relationship Id="rId10" Type="http://schemas.openxmlformats.org/officeDocument/2006/relationships/image" Target="../media/image119.png"/><Relationship Id="rId4" Type="http://schemas.openxmlformats.org/officeDocument/2006/relationships/oleObject" Target="../embeddings/oleObject25.bin"/><Relationship Id="rId9" Type="http://schemas.openxmlformats.org/officeDocument/2006/relationships/image" Target="../media/image11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1.png"/><Relationship Id="rId18" Type="http://schemas.openxmlformats.org/officeDocument/2006/relationships/image" Target="../media/image101.png"/><Relationship Id="rId26" Type="http://schemas.openxmlformats.org/officeDocument/2006/relationships/image" Target="../media/image74.png"/><Relationship Id="rId3" Type="http://schemas.openxmlformats.org/officeDocument/2006/relationships/tags" Target="../tags/tag176.xml"/><Relationship Id="rId21" Type="http://schemas.microsoft.com/office/2007/relationships/hdphoto" Target="../media/hdphoto40.wdp"/><Relationship Id="rId7" Type="http://schemas.openxmlformats.org/officeDocument/2006/relationships/image" Target="../media/image47.png"/><Relationship Id="rId12" Type="http://schemas.openxmlformats.org/officeDocument/2006/relationships/image" Target="../media/image54.png"/><Relationship Id="rId17" Type="http://schemas.openxmlformats.org/officeDocument/2006/relationships/image" Target="../media/image35.png"/><Relationship Id="rId25" Type="http://schemas.openxmlformats.org/officeDocument/2006/relationships/image" Target="../media/image122.png"/><Relationship Id="rId2" Type="http://schemas.openxmlformats.org/officeDocument/2006/relationships/tags" Target="../tags/tag175.xml"/><Relationship Id="rId16" Type="http://schemas.microsoft.com/office/2007/relationships/hdphoto" Target="../media/hdphoto19.wdp"/><Relationship Id="rId20" Type="http://schemas.openxmlformats.org/officeDocument/2006/relationships/image" Target="../media/image121.png"/><Relationship Id="rId1" Type="http://schemas.openxmlformats.org/officeDocument/2006/relationships/tags" Target="../tags/tag174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67.png"/><Relationship Id="rId5" Type="http://schemas.openxmlformats.org/officeDocument/2006/relationships/oleObject" Target="../embeddings/oleObject26.bin"/><Relationship Id="rId15" Type="http://schemas.openxmlformats.org/officeDocument/2006/relationships/image" Target="../media/image72.png"/><Relationship Id="rId23" Type="http://schemas.microsoft.com/office/2007/relationships/hdphoto" Target="../media/hdphoto32.wdp"/><Relationship Id="rId10" Type="http://schemas.openxmlformats.org/officeDocument/2006/relationships/image" Target="../media/image84.png"/><Relationship Id="rId19" Type="http://schemas.microsoft.com/office/2007/relationships/hdphoto" Target="../media/hdphoto36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20.png"/><Relationship Id="rId14" Type="http://schemas.microsoft.com/office/2007/relationships/hdphoto" Target="../media/hdphoto18.wdp"/><Relationship Id="rId22" Type="http://schemas.openxmlformats.org/officeDocument/2006/relationships/image" Target="../media/image88.png"/><Relationship Id="rId27" Type="http://schemas.microsoft.com/office/2007/relationships/hdphoto" Target="../media/hdphoto21.wdp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24.png"/><Relationship Id="rId12" Type="http://schemas.openxmlformats.org/officeDocument/2006/relationships/image" Target="../media/image1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7.xml"/><Relationship Id="rId6" Type="http://schemas.openxmlformats.org/officeDocument/2006/relationships/image" Target="../media/image123.png"/><Relationship Id="rId11" Type="http://schemas.openxmlformats.org/officeDocument/2006/relationships/image" Target="../media/image126.png"/><Relationship Id="rId5" Type="http://schemas.openxmlformats.org/officeDocument/2006/relationships/image" Target="../media/image8.emf"/><Relationship Id="rId10" Type="http://schemas.openxmlformats.org/officeDocument/2006/relationships/image" Target="../media/image125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13" Type="http://schemas.openxmlformats.org/officeDocument/2006/relationships/tags" Target="../tags/tag190.xml"/><Relationship Id="rId18" Type="http://schemas.openxmlformats.org/officeDocument/2006/relationships/tags" Target="../tags/tag195.xml"/><Relationship Id="rId26" Type="http://schemas.openxmlformats.org/officeDocument/2006/relationships/chart" Target="../charts/chart15.xml"/><Relationship Id="rId3" Type="http://schemas.openxmlformats.org/officeDocument/2006/relationships/tags" Target="../tags/tag180.xml"/><Relationship Id="rId21" Type="http://schemas.openxmlformats.org/officeDocument/2006/relationships/tags" Target="../tags/tag198.xml"/><Relationship Id="rId7" Type="http://schemas.openxmlformats.org/officeDocument/2006/relationships/tags" Target="../tags/tag184.xml"/><Relationship Id="rId12" Type="http://schemas.openxmlformats.org/officeDocument/2006/relationships/tags" Target="../tags/tag189.xml"/><Relationship Id="rId17" Type="http://schemas.openxmlformats.org/officeDocument/2006/relationships/tags" Target="../tags/tag194.xml"/><Relationship Id="rId25" Type="http://schemas.openxmlformats.org/officeDocument/2006/relationships/image" Target="../media/image8.emf"/><Relationship Id="rId2" Type="http://schemas.openxmlformats.org/officeDocument/2006/relationships/tags" Target="../tags/tag179.xml"/><Relationship Id="rId16" Type="http://schemas.openxmlformats.org/officeDocument/2006/relationships/tags" Target="../tags/tag193.xml"/><Relationship Id="rId20" Type="http://schemas.openxmlformats.org/officeDocument/2006/relationships/tags" Target="../tags/tag197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182.xml"/><Relationship Id="rId15" Type="http://schemas.openxmlformats.org/officeDocument/2006/relationships/tags" Target="../tags/tag192.xml"/><Relationship Id="rId23" Type="http://schemas.openxmlformats.org/officeDocument/2006/relationships/notesSlide" Target="../notesSlides/notesSlide25.xml"/><Relationship Id="rId10" Type="http://schemas.openxmlformats.org/officeDocument/2006/relationships/tags" Target="../tags/tag187.xml"/><Relationship Id="rId19" Type="http://schemas.openxmlformats.org/officeDocument/2006/relationships/tags" Target="../tags/tag196.xml"/><Relationship Id="rId4" Type="http://schemas.openxmlformats.org/officeDocument/2006/relationships/tags" Target="../tags/tag181.xml"/><Relationship Id="rId9" Type="http://schemas.openxmlformats.org/officeDocument/2006/relationships/tags" Target="../tags/tag186.xml"/><Relationship Id="rId14" Type="http://schemas.openxmlformats.org/officeDocument/2006/relationships/tags" Target="../tags/tag191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9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3.png"/><Relationship Id="rId12" Type="http://schemas.openxmlformats.org/officeDocument/2006/relationships/image" Target="../media/image120.png"/><Relationship Id="rId17" Type="http://schemas.openxmlformats.org/officeDocument/2006/relationships/image" Target="../media/image13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3.png"/><Relationship Id="rId1" Type="http://schemas.openxmlformats.org/officeDocument/2006/relationships/tags" Target="../tags/tag200.xml"/><Relationship Id="rId6" Type="http://schemas.openxmlformats.org/officeDocument/2006/relationships/image" Target="../media/image128.png"/><Relationship Id="rId11" Type="http://schemas.openxmlformats.org/officeDocument/2006/relationships/image" Target="../media/image129.png"/><Relationship Id="rId5" Type="http://schemas.openxmlformats.org/officeDocument/2006/relationships/image" Target="../media/image18.emf"/><Relationship Id="rId15" Type="http://schemas.openxmlformats.org/officeDocument/2006/relationships/image" Target="../media/image132.png"/><Relationship Id="rId10" Type="http://schemas.openxmlformats.org/officeDocument/2006/relationships/image" Target="../media/image47.png"/><Relationship Id="rId19" Type="http://schemas.openxmlformats.org/officeDocument/2006/relationships/image" Target="../media/image136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68.png"/><Relationship Id="rId14" Type="http://schemas.openxmlformats.org/officeDocument/2006/relationships/image" Target="../media/image131.jpe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.png"/><Relationship Id="rId18" Type="http://schemas.openxmlformats.org/officeDocument/2006/relationships/image" Target="../media/image143.png"/><Relationship Id="rId26" Type="http://schemas.openxmlformats.org/officeDocument/2006/relationships/image" Target="../media/image149.png"/><Relationship Id="rId39" Type="http://schemas.openxmlformats.org/officeDocument/2006/relationships/image" Target="../media/image159.png"/><Relationship Id="rId21" Type="http://schemas.openxmlformats.org/officeDocument/2006/relationships/image" Target="../media/image146.png"/><Relationship Id="rId34" Type="http://schemas.openxmlformats.org/officeDocument/2006/relationships/image" Target="../media/image69.png"/><Relationship Id="rId42" Type="http://schemas.openxmlformats.org/officeDocument/2006/relationships/image" Target="../media/image161.png"/><Relationship Id="rId47" Type="http://schemas.openxmlformats.org/officeDocument/2006/relationships/image" Target="../media/image165.png"/><Relationship Id="rId50" Type="http://schemas.openxmlformats.org/officeDocument/2006/relationships/image" Target="../media/image58.png"/><Relationship Id="rId55" Type="http://schemas.openxmlformats.org/officeDocument/2006/relationships/image" Target="../media/image171.png"/><Relationship Id="rId63" Type="http://schemas.openxmlformats.org/officeDocument/2006/relationships/image" Target="../media/image178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4.png"/><Relationship Id="rId29" Type="http://schemas.openxmlformats.org/officeDocument/2006/relationships/image" Target="../media/image152.png"/><Relationship Id="rId11" Type="http://schemas.openxmlformats.org/officeDocument/2006/relationships/image" Target="../media/image24.png"/><Relationship Id="rId24" Type="http://schemas.openxmlformats.org/officeDocument/2006/relationships/image" Target="../media/image147.png"/><Relationship Id="rId32" Type="http://schemas.openxmlformats.org/officeDocument/2006/relationships/image" Target="../media/image68.png"/><Relationship Id="rId37" Type="http://schemas.openxmlformats.org/officeDocument/2006/relationships/image" Target="../media/image157.png"/><Relationship Id="rId40" Type="http://schemas.openxmlformats.org/officeDocument/2006/relationships/image" Target="../media/image160.png"/><Relationship Id="rId45" Type="http://schemas.openxmlformats.org/officeDocument/2006/relationships/image" Target="../media/image163.png"/><Relationship Id="rId53" Type="http://schemas.openxmlformats.org/officeDocument/2006/relationships/image" Target="../media/image169.png"/><Relationship Id="rId58" Type="http://schemas.openxmlformats.org/officeDocument/2006/relationships/image" Target="../media/image174.png"/><Relationship Id="rId5" Type="http://schemas.openxmlformats.org/officeDocument/2006/relationships/image" Target="../media/image137.png"/><Relationship Id="rId61" Type="http://schemas.openxmlformats.org/officeDocument/2006/relationships/image" Target="../media/image57.png"/><Relationship Id="rId19" Type="http://schemas.openxmlformats.org/officeDocument/2006/relationships/image" Target="../media/image144.png"/><Relationship Id="rId14" Type="http://schemas.openxmlformats.org/officeDocument/2006/relationships/image" Target="../media/image141.png"/><Relationship Id="rId22" Type="http://schemas.openxmlformats.org/officeDocument/2006/relationships/image" Target="../media/image84.png"/><Relationship Id="rId27" Type="http://schemas.openxmlformats.org/officeDocument/2006/relationships/image" Target="../media/image150.png"/><Relationship Id="rId30" Type="http://schemas.openxmlformats.org/officeDocument/2006/relationships/image" Target="../media/image153.png"/><Relationship Id="rId35" Type="http://schemas.openxmlformats.org/officeDocument/2006/relationships/image" Target="../media/image155.png"/><Relationship Id="rId43" Type="http://schemas.openxmlformats.org/officeDocument/2006/relationships/image" Target="../media/image47.png"/><Relationship Id="rId48" Type="http://schemas.openxmlformats.org/officeDocument/2006/relationships/image" Target="../media/image166.png"/><Relationship Id="rId56" Type="http://schemas.openxmlformats.org/officeDocument/2006/relationships/image" Target="../media/image172.png"/><Relationship Id="rId8" Type="http://schemas.openxmlformats.org/officeDocument/2006/relationships/image" Target="../media/image139.png"/><Relationship Id="rId51" Type="http://schemas.openxmlformats.org/officeDocument/2006/relationships/image" Target="../media/image167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8.png"/><Relationship Id="rId17" Type="http://schemas.openxmlformats.org/officeDocument/2006/relationships/image" Target="../media/image142.png"/><Relationship Id="rId25" Type="http://schemas.openxmlformats.org/officeDocument/2006/relationships/image" Target="../media/image148.png"/><Relationship Id="rId33" Type="http://schemas.openxmlformats.org/officeDocument/2006/relationships/image" Target="../media/image154.png"/><Relationship Id="rId38" Type="http://schemas.openxmlformats.org/officeDocument/2006/relationships/image" Target="../media/image158.png"/><Relationship Id="rId46" Type="http://schemas.openxmlformats.org/officeDocument/2006/relationships/image" Target="../media/image164.png"/><Relationship Id="rId59" Type="http://schemas.openxmlformats.org/officeDocument/2006/relationships/image" Target="../media/image175.png"/><Relationship Id="rId20" Type="http://schemas.openxmlformats.org/officeDocument/2006/relationships/image" Target="../media/image145.png"/><Relationship Id="rId41" Type="http://schemas.openxmlformats.org/officeDocument/2006/relationships/image" Target="../media/image64.png"/><Relationship Id="rId54" Type="http://schemas.openxmlformats.org/officeDocument/2006/relationships/image" Target="../media/image170.png"/><Relationship Id="rId62" Type="http://schemas.openxmlformats.org/officeDocument/2006/relationships/image" Target="../media/image177.png"/><Relationship Id="rId1" Type="http://schemas.openxmlformats.org/officeDocument/2006/relationships/tags" Target="../tags/tag201.xml"/><Relationship Id="rId6" Type="http://schemas.openxmlformats.org/officeDocument/2006/relationships/image" Target="../media/image138.png"/><Relationship Id="rId15" Type="http://schemas.openxmlformats.org/officeDocument/2006/relationships/image" Target="../media/image59.png"/><Relationship Id="rId23" Type="http://schemas.openxmlformats.org/officeDocument/2006/relationships/image" Target="../media/image85.png"/><Relationship Id="rId28" Type="http://schemas.openxmlformats.org/officeDocument/2006/relationships/image" Target="../media/image151.png"/><Relationship Id="rId36" Type="http://schemas.openxmlformats.org/officeDocument/2006/relationships/image" Target="../media/image156.png"/><Relationship Id="rId49" Type="http://schemas.openxmlformats.org/officeDocument/2006/relationships/image" Target="../media/image62.png"/><Relationship Id="rId57" Type="http://schemas.openxmlformats.org/officeDocument/2006/relationships/image" Target="../media/image173.png"/><Relationship Id="rId10" Type="http://schemas.openxmlformats.org/officeDocument/2006/relationships/image" Target="../media/image35.png"/><Relationship Id="rId31" Type="http://schemas.openxmlformats.org/officeDocument/2006/relationships/image" Target="../media/image67.png"/><Relationship Id="rId44" Type="http://schemas.openxmlformats.org/officeDocument/2006/relationships/image" Target="../media/image162.png"/><Relationship Id="rId52" Type="http://schemas.openxmlformats.org/officeDocument/2006/relationships/image" Target="../media/image168.png"/><Relationship Id="rId60" Type="http://schemas.openxmlformats.org/officeDocument/2006/relationships/image" Target="../media/image176.png"/><Relationship Id="rId4" Type="http://schemas.openxmlformats.org/officeDocument/2006/relationships/image" Target="../media/image18.emf"/><Relationship Id="rId9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94100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2415679"/>
            <a:ext cx="8960418" cy="1354217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optics: an intro to 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r>
              <a:rPr lang="en-US" sz="1600" dirty="0">
                <a:solidFill>
                  <a:prstClr val="black"/>
                </a:solidFill>
              </a:rPr>
              <a:t>, and emerging players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 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705923"/>
            <a:chOff x="8206661" y="1337390"/>
            <a:chExt cx="4031564" cy="4705923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115416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enhance energy efficiency (published in May 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rgbClr val="0052D9"/>
                </a:solidFill>
              </a:rPr>
              <a:t>among speed, distance and power</a:t>
            </a: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B736DF8D-83B2-DAA8-7F17-E9DA338888C1}"/>
              </a:ext>
            </a:extLst>
          </p:cNvPr>
          <p:cNvSpPr/>
          <p:nvPr/>
        </p:nvSpPr>
        <p:spPr>
          <a:xfrm>
            <a:off x="8269905" y="4082965"/>
            <a:ext cx="3147481" cy="460134"/>
          </a:xfrm>
          <a:prstGeom prst="wedgeRoundRectCallout">
            <a:avLst>
              <a:gd name="adj1" fmla="val -35726"/>
              <a:gd name="adj2" fmla="val 85652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market prioritize speed over power (not a constraint).</a:t>
            </a: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1123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295570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270192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20198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34473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468097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61214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8988438"/>
              </p:ext>
            </p:extLst>
          </p:nvPr>
        </p:nvGraphicFramePr>
        <p:xfrm>
          <a:off x="6656932" y="2768948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180100" y="225533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351461" y="4217151"/>
            <a:ext cx="2089482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~2.5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331115" y="3798621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408636" y="2372448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084087" y="2585759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114601" y="26226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232741" y="4577740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59510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536859" y="3942701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1410013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Optics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significantly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increases effective reach</a:t>
              </a:r>
              <a:endPara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34315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208605" y="2589479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17363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295592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360521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18293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568704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sz="2300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sz="2300" dirty="0"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271748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2498004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Optics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465020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Optics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B635C7-4B7E-0EF4-EFC2-1F7D0A6BA00D}"/>
              </a:ext>
            </a:extLst>
          </p:cNvPr>
          <p:cNvSpPr txBox="1"/>
          <p:nvPr/>
        </p:nvSpPr>
        <p:spPr>
          <a:xfrm>
            <a:off x="9304885" y="2711076"/>
            <a:ext cx="165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 Broadcom.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146070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~40%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system-level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5- </a:t>
            </a:r>
            <a:r>
              <a:rPr kumimoji="1"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Consider GB200 NVL72 cluster with 9,216 B200 GPUs with 2-layer interconnect.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by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6898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​Breaking through the copper speed wall with optical interconnects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1733883"/>
              </p:ext>
            </p:extLst>
          </p:nvPr>
        </p:nvGraphicFramePr>
        <p:xfrm>
          <a:off x="638830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29273" y="605527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024519" y="1377054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53585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99203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406736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0724497"/>
              </p:ext>
            </p:extLst>
          </p:nvPr>
        </p:nvGraphicFramePr>
        <p:xfrm>
          <a:off x="24853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346706" y="113969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448 Gbps: The tipping point for optical over copper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5303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growth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2443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7905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12817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31882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176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3006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93201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1F1E5F-8631-9151-10D4-87465BBF10C3}"/>
              </a:ext>
            </a:extLst>
          </p:cNvPr>
          <p:cNvSpPr/>
          <p:nvPr/>
        </p:nvSpPr>
        <p:spPr>
          <a:xfrm>
            <a:off x="12214935" y="2365745"/>
            <a:ext cx="1753243" cy="30015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</a:rPr>
              <a:t>改标题</a:t>
            </a:r>
            <a:endParaRPr lang="en-US" altLang="zh-CN" sz="14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带宽数据单位</a:t>
            </a:r>
            <a:endParaRPr lang="en-US" altLang="zh-CN" sz="14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</a:rPr>
              <a:t>即便机柜内当速度上去以后，也会出现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</a:rPr>
              <a:t>optical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</a:rPr>
              <a:t>替代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</a:rPr>
              <a:t>copper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</a:rPr>
              <a:t>的情况？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en-US" altLang="zh-CN" sz="1400" b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场景下短期是否会发生光替代铜？</a:t>
            </a:r>
            <a:endParaRPr lang="en-US" altLang="zh-CN" sz="14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en-US" altLang="zh-CN" sz="14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zh-CN" alt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2" imgW="401" imgH="401" progId="TCLayout.ActiveDocument.1">
                  <p:embed/>
                </p:oleObj>
              </mc:Choice>
              <mc:Fallback>
                <p:oleObj name="think-cell 幻灯片" r:id="rId22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535117"/>
            <a:ext cx="1189919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sz="2300" dirty="0">
                <a:cs typeface="+mn-ea"/>
              </a:rPr>
              <a:t>Copper-to-optical migration: players adopt different roadmaps within optical interconnect</a:t>
            </a:r>
            <a:endParaRPr lang="zh-CN" altLang="en-US" sz="2300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~10W</a:t>
              </a: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0069" y="1253308"/>
            <a:ext cx="869462" cy="2241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Time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18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17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6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F962D4D-EED7-E494-542F-0F959964DC10}"/>
              </a:ext>
            </a:extLst>
          </p:cNvPr>
          <p:cNvSpPr/>
          <p:nvPr/>
        </p:nvSpPr>
        <p:spPr>
          <a:xfrm>
            <a:off x="12593423" y="203784"/>
            <a:ext cx="1894449" cy="11525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 switch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和传统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是否可以混用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4B31E37-99A1-12D9-0EE1-BD98FF7F4A71}"/>
              </a:ext>
            </a:extLst>
          </p:cNvPr>
          <p:cNvSpPr/>
          <p:nvPr/>
        </p:nvSpPr>
        <p:spPr>
          <a:xfrm>
            <a:off x="12593423" y="1635599"/>
            <a:ext cx="1894449" cy="14143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PO=&gt;CPO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tipping point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，如果成本差不多，为什么还没部署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567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958710" y="3420791"/>
            <a:ext cx="278765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730678" y="2260875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2045491" y="5391972"/>
            <a:ext cx="2787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634884" y="2822345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421039" y="3415596"/>
            <a:ext cx="1361697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646035" y="5376583"/>
            <a:ext cx="911703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314946"/>
            <a:ext cx="10132483" cy="9459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 bypassing PCB traces, it reduces loss from ​22 dB to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cuts power by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345878" y="3737138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257554" y="2260875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598423" y="2976270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cs typeface="+mn-ea"/>
                    <a:sym typeface="+mn-lt"/>
                  </a:rPr>
                  <a:t>ASIC</a:t>
                </a:r>
                <a:endParaRPr lang="zh-CN" altLang="en-US" sz="9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583098" y="4894890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792034" y="5372953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985505" y="3485563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115223" y="3694447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10033494" y="3695271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807135" y="3444998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771299" y="3685356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375876" y="3755780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575324" y="3489765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572562" y="3468726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777855" y="3295424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889037" y="3250799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195477" y="3569834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392390" y="3631944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609251" y="3541429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554267" y="2902198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684943" y="2990265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2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2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348375" y="3460759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346441" y="3530341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591294" y="3527137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589706" y="3771654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10059385" y="3700035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807135" y="5377218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771299" y="5617576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345878" y="5669358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375876" y="5688000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575324" y="5421985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572562" y="5400946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777855" y="5227644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889037" y="5183019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214575" y="5485703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332355" y="5566494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609251" y="5473649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602616" y="4885640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458685" y="5019972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348375" y="5392979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346441" y="5462561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819895" y="5374163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784350" y="5255035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472386" y="4778353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2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979930" y="5322019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335530" y="5314893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181832" y="5538819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807881" y="3768981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10019124" y="3571225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301119" y="3693230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219390" y="3694054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138260" y="3769702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248297" y="3698083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141935" y="3699332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290524" y="4470767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286108" y="3438679"/>
            <a:ext cx="11210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179885" y="2260875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286108" y="5299639"/>
            <a:ext cx="2787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102.4Tbps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(16 × 6.4T)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5A1EFA71-FBF8-12A8-E6FB-6978EB42174F}"/>
              </a:ext>
            </a:extLst>
          </p:cNvPr>
          <p:cNvSpPr/>
          <p:nvPr/>
        </p:nvSpPr>
        <p:spPr>
          <a:xfrm>
            <a:off x="7423619" y="6232885"/>
            <a:ext cx="4187134" cy="408293"/>
          </a:xfrm>
          <a:prstGeom prst="wedgeRoundRectCallout">
            <a:avLst>
              <a:gd name="adj1" fmla="val -21167"/>
              <a:gd name="adj2" fmla="val -85426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Co-packaging adds expense and maintenance challenges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BA9096-5E12-528C-31E3-65461A7C16F1}"/>
              </a:ext>
            </a:extLst>
          </p:cNvPr>
          <p:cNvSpPr/>
          <p:nvPr/>
        </p:nvSpPr>
        <p:spPr>
          <a:xfrm>
            <a:off x="12238441" y="1808480"/>
            <a:ext cx="4220759" cy="32114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ASIC/GPU </a:t>
            </a:r>
          </a:p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DSP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一部分能力放到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ASIC(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serdes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)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，是否意味着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ASIC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的功耗会显著上升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2. ASIC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边上的光引擎（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6.4T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）和光模块的光引擎可比嘛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@sidong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viewed as 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for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1984375" y="1726406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530975" y="172561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1990725" y="2349500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563761" y="2349500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mn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451" y="36701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537" y="3697943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064984" y="4245669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9318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3923024"/>
            <a:ext cx="415694" cy="27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10625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adopts in the long run, global giants may gain supply chain leverage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C18B9A-C5A3-8B83-873D-28410A6C0091}"/>
              </a:ext>
            </a:extLst>
          </p:cNvPr>
          <p:cNvSpPr/>
          <p:nvPr/>
        </p:nvSpPr>
        <p:spPr>
          <a:xfrm>
            <a:off x="10247034" y="0"/>
            <a:ext cx="1894449" cy="6063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Check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单位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GB vs Gb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</a:t>
            </a:r>
            <a:r>
              <a:rPr kumimoji="1"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≤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</a:t>
            </a:r>
            <a:r>
              <a:rPr kumimoji="1"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≫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by distance: scale-up vs scale-out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C03898-DCB0-E67C-258B-B683BED671A1}"/>
              </a:ext>
            </a:extLst>
          </p:cNvPr>
          <p:cNvSpPr/>
          <p:nvPr/>
        </p:nvSpPr>
        <p:spPr>
          <a:xfrm>
            <a:off x="10247034" y="0"/>
            <a:ext cx="1894449" cy="6063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9317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063976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 first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323300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Priority undetermined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2735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3074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2599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9200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2447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9200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1495546" y="4257842"/>
            <a:ext cx="2860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6" y="628765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Sitrus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Official Web Site.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9215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603523" y="5226917"/>
            <a:ext cx="41939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optics essential for scale-up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B9130E-3826-3AAE-6107-DF2BA19FAC94}"/>
              </a:ext>
            </a:extLst>
          </p:cNvPr>
          <p:cNvSpPr txBox="1"/>
          <p:nvPr/>
        </p:nvSpPr>
        <p:spPr>
          <a:xfrm>
            <a:off x="6858552" y="4257842"/>
            <a:ext cx="2895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95546" y="5313308"/>
            <a:ext cx="34544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dominates in the short-term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8" y="3736218"/>
            <a:ext cx="10411818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  <a:endCxn id="56" idx="3"/>
          </p:cNvCxnSpPr>
          <p:nvPr/>
        </p:nvCxnSpPr>
        <p:spPr>
          <a:xfrm>
            <a:off x="992938" y="4856165"/>
            <a:ext cx="1041181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3999353" y="3687708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b="1" dirty="0">
                <a:solidFill>
                  <a:srgbClr val="0052D9"/>
                </a:solidFill>
                <a:latin typeface="Arial"/>
                <a:sym typeface="Futura"/>
              </a:rPr>
              <a:t>Optical interconnect fits first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4046674" y="4900622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dirty="0">
                <a:latin typeface="Arial"/>
                <a:sym typeface="Futura"/>
              </a:rPr>
              <a:t>Optical interconnect</a:t>
            </a:r>
            <a:r>
              <a:rPr lang="en-US" altLang="zh-CN" sz="1800" dirty="0">
                <a:latin typeface="Arial"/>
                <a:sym typeface="Futura"/>
              </a:rPr>
              <a:t> adopts in the long-term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FE6ECF-F5D4-C801-6067-A3A43188B6FB}"/>
              </a:ext>
            </a:extLst>
          </p:cNvPr>
          <p:cNvSpPr txBox="1"/>
          <p:nvPr/>
        </p:nvSpPr>
        <p:spPr>
          <a:xfrm>
            <a:off x="6486954" y="3874690"/>
            <a:ext cx="4712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dirty="0">
                <a:latin typeface="Arial"/>
                <a:sym typeface="Futura"/>
              </a:rPr>
              <a:t>Optical interconnect critical in both </a:t>
            </a:r>
            <a:r>
              <a:rPr lang="en-US" altLang="zh-CN" dirty="0"/>
              <a:t>scenarios</a:t>
            </a:r>
            <a:endParaRPr lang="en-US" altLang="zh-CN" sz="1800" dirty="0"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30032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9654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​Overseas players prioritize scale-out in optical interconnect adoption while domestic markets remain undetermined 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2BAFA2-9A7C-03B8-50CF-62A656911516}"/>
              </a:ext>
            </a:extLst>
          </p:cNvPr>
          <p:cNvSpPr/>
          <p:nvPr/>
        </p:nvSpPr>
        <p:spPr>
          <a:xfrm>
            <a:off x="12224500" y="68206"/>
            <a:ext cx="1894449" cy="14079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的影响，为什么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在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里会被弱化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0AB532-BDAB-1B92-AA88-7FB3C7852E03}"/>
              </a:ext>
            </a:extLst>
          </p:cNvPr>
          <p:cNvSpPr/>
          <p:nvPr/>
        </p:nvSpPr>
        <p:spPr>
          <a:xfrm>
            <a:off x="1495546" y="4205318"/>
            <a:ext cx="8663376" cy="6063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D530F3A-2A8D-A26E-5840-30E232FAC86A}"/>
              </a:ext>
            </a:extLst>
          </p:cNvPr>
          <p:cNvSpPr/>
          <p:nvPr/>
        </p:nvSpPr>
        <p:spPr>
          <a:xfrm>
            <a:off x="6774368" y="5305874"/>
            <a:ext cx="4326767" cy="10132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积极尝试：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电弱，希望弯道超车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单片性能差</a:t>
            </a: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1503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270969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3980165" y="4332214"/>
            <a:ext cx="673878" cy="41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4637367" y="4312418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2350285" y="428636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4608603" y="4781281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2335050" y="4755223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1747639" y="4350647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8299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323716" y="3777413"/>
            <a:ext cx="2434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Oct 25: Sampling and Testing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may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756EAC-B52C-DC4A-52A8-1CCF38B5A7AA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90E715-1EB2-0855-6260-C71CD1DC2A64}"/>
              </a:ext>
            </a:extLst>
          </p:cNvPr>
          <p:cNvSpPr/>
          <p:nvPr/>
        </p:nvSpPr>
        <p:spPr>
          <a:xfrm>
            <a:off x="12273635" y="114288"/>
            <a:ext cx="1894449" cy="14710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ESUN: ethernet scale up network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528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49" imgH="350" progId="TCLayout.ActiveDocument.1">
                  <p:embed/>
                </p:oleObj>
              </mc:Choice>
              <mc:Fallback>
                <p:oleObj name="think-cell 幻灯片" r:id="rId1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7" name="Textplatzhalter 9">
            <a:extLst>
              <a:ext uri="{FF2B5EF4-FFF2-40B4-BE49-F238E27FC236}">
                <a16:creationId xmlns:a16="http://schemas.microsoft.com/office/drawing/2014/main" id="{F1AA5767-C3B1-190C-FB29-D68B3867C869}"/>
              </a:ext>
            </a:extLst>
          </p:cNvPr>
          <p:cNvSpPr txBox="1">
            <a:spLocks/>
          </p:cNvSpPr>
          <p:nvPr/>
        </p:nvSpPr>
        <p:spPr bwMode="gray">
          <a:xfrm>
            <a:off x="1527175" y="1930400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8" name="Textplatzhalter 9">
            <a:extLst>
              <a:ext uri="{FF2B5EF4-FFF2-40B4-BE49-F238E27FC236}">
                <a16:creationId xmlns:a16="http://schemas.microsoft.com/office/drawing/2014/main" id="{F10F0791-C3AE-497A-1C7D-1DC07E35C3B2}"/>
              </a:ext>
            </a:extLst>
          </p:cNvPr>
          <p:cNvSpPr txBox="1">
            <a:spLocks/>
          </p:cNvSpPr>
          <p:nvPr/>
        </p:nvSpPr>
        <p:spPr bwMode="gray">
          <a:xfrm>
            <a:off x="1527175" y="4111625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9" name="Textplatzhalter 9">
            <a:extLst>
              <a:ext uri="{FF2B5EF4-FFF2-40B4-BE49-F238E27FC236}">
                <a16:creationId xmlns:a16="http://schemas.microsoft.com/office/drawing/2014/main" id="{EAF70CB0-9EFB-5CAE-7CE2-16709086E9DA}"/>
              </a:ext>
            </a:extLst>
          </p:cNvPr>
          <p:cNvSpPr txBox="1">
            <a:spLocks/>
          </p:cNvSpPr>
          <p:nvPr/>
        </p:nvSpPr>
        <p:spPr bwMode="gray">
          <a:xfrm>
            <a:off x="1527175" y="5424488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390" name="文本框 1389">
            <a:extLst>
              <a:ext uri="{FF2B5EF4-FFF2-40B4-BE49-F238E27FC236}">
                <a16:creationId xmlns:a16="http://schemas.microsoft.com/office/drawing/2014/main" id="{EB242B47-4000-582B-BBCD-85BADA26C0B9}"/>
              </a:ext>
            </a:extLst>
          </p:cNvPr>
          <p:cNvSpPr txBox="1"/>
          <p:nvPr/>
        </p:nvSpPr>
        <p:spPr>
          <a:xfrm>
            <a:off x="727075" y="1117600"/>
            <a:ext cx="1231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1391" name="文本框 1390">
            <a:extLst>
              <a:ext uri="{FF2B5EF4-FFF2-40B4-BE49-F238E27FC236}">
                <a16:creationId xmlns:a16="http://schemas.microsoft.com/office/drawing/2014/main" id="{747EDC4D-0EC5-E158-C861-A1675D8A35E1}"/>
              </a:ext>
            </a:extLst>
          </p:cNvPr>
          <p:cNvSpPr txBox="1"/>
          <p:nvPr/>
        </p:nvSpPr>
        <p:spPr>
          <a:xfrm>
            <a:off x="1679575" y="1111250"/>
            <a:ext cx="199866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1392" name="连接符: 肘形 1391">
            <a:extLst>
              <a:ext uri="{FF2B5EF4-FFF2-40B4-BE49-F238E27FC236}">
                <a16:creationId xmlns:a16="http://schemas.microsoft.com/office/drawing/2014/main" id="{62D04A46-BFF4-D397-4D01-7594DE1115C2}"/>
              </a:ext>
            </a:extLst>
          </p:cNvPr>
          <p:cNvCxnSpPr>
            <a:cxnSpLocks/>
            <a:stCxn id="1390" idx="2"/>
            <a:endCxn id="1387" idx="1"/>
          </p:cNvCxnSpPr>
          <p:nvPr/>
        </p:nvCxnSpPr>
        <p:spPr>
          <a:xfrm rot="16200000" flipH="1">
            <a:off x="1131491" y="1657747"/>
            <a:ext cx="607219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连接符: 肘形 1393">
            <a:extLst>
              <a:ext uri="{FF2B5EF4-FFF2-40B4-BE49-F238E27FC236}">
                <a16:creationId xmlns:a16="http://schemas.microsoft.com/office/drawing/2014/main" id="{1EC5009C-66EE-19E3-0C14-F9534DFE8127}"/>
              </a:ext>
            </a:extLst>
          </p:cNvPr>
          <p:cNvCxnSpPr>
            <a:cxnSpLocks/>
            <a:stCxn id="1390" idx="2"/>
            <a:endCxn id="1388" idx="1"/>
          </p:cNvCxnSpPr>
          <p:nvPr/>
        </p:nvCxnSpPr>
        <p:spPr>
          <a:xfrm rot="16200000" flipH="1">
            <a:off x="40878" y="2748360"/>
            <a:ext cx="2788444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连接符: 肘形 1394">
            <a:extLst>
              <a:ext uri="{FF2B5EF4-FFF2-40B4-BE49-F238E27FC236}">
                <a16:creationId xmlns:a16="http://schemas.microsoft.com/office/drawing/2014/main" id="{62D3C7F8-8782-560F-8582-278202F8C896}"/>
              </a:ext>
            </a:extLst>
          </p:cNvPr>
          <p:cNvCxnSpPr>
            <a:cxnSpLocks/>
            <a:stCxn id="1390" idx="2"/>
            <a:endCxn id="1389" idx="1"/>
          </p:cNvCxnSpPr>
          <p:nvPr/>
        </p:nvCxnSpPr>
        <p:spPr>
          <a:xfrm rot="16200000" flipH="1">
            <a:off x="-615553" y="3404791"/>
            <a:ext cx="4101307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6" name="文本框 1395">
            <a:extLst>
              <a:ext uri="{FF2B5EF4-FFF2-40B4-BE49-F238E27FC236}">
                <a16:creationId xmlns:a16="http://schemas.microsoft.com/office/drawing/2014/main" id="{E3DD09DE-A7DF-5221-0067-149ADB8BA771}"/>
              </a:ext>
            </a:extLst>
          </p:cNvPr>
          <p:cNvSpPr txBox="1"/>
          <p:nvPr/>
        </p:nvSpPr>
        <p:spPr>
          <a:xfrm>
            <a:off x="1663700" y="2220913"/>
            <a:ext cx="1997075" cy="5222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7" name="Textplatzhalter 9">
            <a:extLst>
              <a:ext uri="{FF2B5EF4-FFF2-40B4-BE49-F238E27FC236}">
                <a16:creationId xmlns:a16="http://schemas.microsoft.com/office/drawing/2014/main" id="{9F0ACECA-B650-4903-BF26-69A29C9B24F5}"/>
              </a:ext>
            </a:extLst>
          </p:cNvPr>
          <p:cNvSpPr txBox="1">
            <a:spLocks/>
          </p:cNvSpPr>
          <p:nvPr/>
        </p:nvSpPr>
        <p:spPr bwMode="gray">
          <a:xfrm>
            <a:off x="4659313" y="1871663"/>
            <a:ext cx="192246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8" name="Textplatzhalter 9">
            <a:extLst>
              <a:ext uri="{FF2B5EF4-FFF2-40B4-BE49-F238E27FC236}">
                <a16:creationId xmlns:a16="http://schemas.microsoft.com/office/drawing/2014/main" id="{16613BED-01DA-2195-569B-E554B01B411F}"/>
              </a:ext>
            </a:extLst>
          </p:cNvPr>
          <p:cNvSpPr txBox="1">
            <a:spLocks/>
          </p:cNvSpPr>
          <p:nvPr/>
        </p:nvSpPr>
        <p:spPr bwMode="gray">
          <a:xfrm>
            <a:off x="4659313" y="3195638"/>
            <a:ext cx="314801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1399" name="连接符: 肘形 1398">
            <a:extLst>
              <a:ext uri="{FF2B5EF4-FFF2-40B4-BE49-F238E27FC236}">
                <a16:creationId xmlns:a16="http://schemas.microsoft.com/office/drawing/2014/main" id="{C9256714-B85D-2349-8F2C-7BCEBE8772C6}"/>
              </a:ext>
            </a:extLst>
          </p:cNvPr>
          <p:cNvCxnSpPr>
            <a:cxnSpLocks/>
            <a:stCxn id="1396" idx="1"/>
            <a:endCxn id="1410" idx="1"/>
          </p:cNvCxnSpPr>
          <p:nvPr/>
        </p:nvCxnSpPr>
        <p:spPr>
          <a:xfrm>
            <a:off x="3654238" y="2220913"/>
            <a:ext cx="801875" cy="64055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0" name="组合 1399">
            <a:extLst>
              <a:ext uri="{FF2B5EF4-FFF2-40B4-BE49-F238E27FC236}">
                <a16:creationId xmlns:a16="http://schemas.microsoft.com/office/drawing/2014/main" id="{03E729F7-5DD7-88B6-1C9F-7284F6170396}"/>
              </a:ext>
            </a:extLst>
          </p:cNvPr>
          <p:cNvGrpSpPr/>
          <p:nvPr/>
        </p:nvGrpSpPr>
        <p:grpSpPr>
          <a:xfrm>
            <a:off x="5449888" y="1408113"/>
            <a:ext cx="887413" cy="258763"/>
            <a:chOff x="5019885" y="4088857"/>
            <a:chExt cx="969121" cy="350678"/>
          </a:xfrm>
        </p:grpSpPr>
        <p:pic>
          <p:nvPicPr>
            <p:cNvPr id="1401" name="图片 1400">
              <a:extLst>
                <a:ext uri="{FF2B5EF4-FFF2-40B4-BE49-F238E27FC236}">
                  <a16:creationId xmlns:a16="http://schemas.microsoft.com/office/drawing/2014/main" id="{68317D66-12E6-B5D0-F5CD-42913A0C4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1402" name="图片 1401">
              <a:extLst>
                <a:ext uri="{FF2B5EF4-FFF2-40B4-BE49-F238E27FC236}">
                  <a16:creationId xmlns:a16="http://schemas.microsoft.com/office/drawing/2014/main" id="{CAC6DD95-C822-E899-858F-FBC3B44F1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403" name="Textplatzhalter 9">
            <a:extLst>
              <a:ext uri="{FF2B5EF4-FFF2-40B4-BE49-F238E27FC236}">
                <a16:creationId xmlns:a16="http://schemas.microsoft.com/office/drawing/2014/main" id="{EA764E57-925F-570A-EB1A-F368F015C986}"/>
              </a:ext>
            </a:extLst>
          </p:cNvPr>
          <p:cNvSpPr txBox="1">
            <a:spLocks/>
          </p:cNvSpPr>
          <p:nvPr/>
        </p:nvSpPr>
        <p:spPr bwMode="gray">
          <a:xfrm>
            <a:off x="4659313" y="2312988"/>
            <a:ext cx="3302000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404" name="组合 1403">
            <a:extLst>
              <a:ext uri="{FF2B5EF4-FFF2-40B4-BE49-F238E27FC236}">
                <a16:creationId xmlns:a16="http://schemas.microsoft.com/office/drawing/2014/main" id="{522532FF-3127-8AEA-05DD-510B3C05E401}"/>
              </a:ext>
            </a:extLst>
          </p:cNvPr>
          <p:cNvGrpSpPr/>
          <p:nvPr/>
        </p:nvGrpSpPr>
        <p:grpSpPr>
          <a:xfrm>
            <a:off x="5483225" y="2744788"/>
            <a:ext cx="1123950" cy="255588"/>
            <a:chOff x="4391911" y="2529715"/>
            <a:chExt cx="1124028" cy="256470"/>
          </a:xfrm>
        </p:grpSpPr>
        <p:pic>
          <p:nvPicPr>
            <p:cNvPr id="1405" name="Picture 2">
              <a:extLst>
                <a:ext uri="{FF2B5EF4-FFF2-40B4-BE49-F238E27FC236}">
                  <a16:creationId xmlns:a16="http://schemas.microsoft.com/office/drawing/2014/main" id="{8211F662-0C6E-5017-ABB5-6DA257A42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6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84FE8021-0FF0-5A5F-69DB-9BF5BCC20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7" name="Picture 6" descr="Google Cloud Logo - Significado, História e PNG">
              <a:extLst>
                <a:ext uri="{FF2B5EF4-FFF2-40B4-BE49-F238E27FC236}">
                  <a16:creationId xmlns:a16="http://schemas.microsoft.com/office/drawing/2014/main" id="{18886AD4-28FE-552D-3B9A-2F67DF8D27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08" name="Textplatzhalter 9">
            <a:extLst>
              <a:ext uri="{FF2B5EF4-FFF2-40B4-BE49-F238E27FC236}">
                <a16:creationId xmlns:a16="http://schemas.microsoft.com/office/drawing/2014/main" id="{5F3D983E-EB14-A418-08B7-E97C6511E8B1}"/>
              </a:ext>
            </a:extLst>
          </p:cNvPr>
          <p:cNvSpPr txBox="1">
            <a:spLocks/>
          </p:cNvSpPr>
          <p:nvPr/>
        </p:nvSpPr>
        <p:spPr bwMode="gray">
          <a:xfrm>
            <a:off x="4659313" y="3635375"/>
            <a:ext cx="3302000" cy="18573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09" name="Textplatzhalter 9">
            <a:extLst>
              <a:ext uri="{FF2B5EF4-FFF2-40B4-BE49-F238E27FC236}">
                <a16:creationId xmlns:a16="http://schemas.microsoft.com/office/drawing/2014/main" id="{A9F654BE-F0DA-B8D1-B3FA-F9320B7E041C}"/>
              </a:ext>
            </a:extLst>
          </p:cNvPr>
          <p:cNvSpPr txBox="1">
            <a:spLocks/>
          </p:cNvSpPr>
          <p:nvPr/>
        </p:nvSpPr>
        <p:spPr bwMode="gray">
          <a:xfrm>
            <a:off x="4452938" y="1430338"/>
            <a:ext cx="954088" cy="2159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410" name="Textplatzhalter 9">
            <a:extLst>
              <a:ext uri="{FF2B5EF4-FFF2-40B4-BE49-F238E27FC236}">
                <a16:creationId xmlns:a16="http://schemas.microsoft.com/office/drawing/2014/main" id="{5B2C3355-5A5C-48D5-C65E-15F42F14FF9C}"/>
              </a:ext>
            </a:extLst>
          </p:cNvPr>
          <p:cNvSpPr txBox="1">
            <a:spLocks/>
          </p:cNvSpPr>
          <p:nvPr/>
        </p:nvSpPr>
        <p:spPr bwMode="gray">
          <a:xfrm>
            <a:off x="4456113" y="2754313"/>
            <a:ext cx="969963" cy="21431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411" name="连接符: 肘形 1410">
            <a:extLst>
              <a:ext uri="{FF2B5EF4-FFF2-40B4-BE49-F238E27FC236}">
                <a16:creationId xmlns:a16="http://schemas.microsoft.com/office/drawing/2014/main" id="{176651E9-7E49-9E42-CA3C-0F2316F55C6E}"/>
              </a:ext>
            </a:extLst>
          </p:cNvPr>
          <p:cNvCxnSpPr>
            <a:cxnSpLocks/>
            <a:stCxn id="1396" idx="1"/>
            <a:endCxn id="1409" idx="1"/>
          </p:cNvCxnSpPr>
          <p:nvPr/>
        </p:nvCxnSpPr>
        <p:spPr>
          <a:xfrm flipV="1">
            <a:off x="3654238" y="1538288"/>
            <a:ext cx="798700" cy="68262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64" name="Chart 3">
            <a:extLst>
              <a:ext uri="{FF2B5EF4-FFF2-40B4-BE49-F238E27FC236}">
                <a16:creationId xmlns:a16="http://schemas.microsoft.com/office/drawing/2014/main" id="{F96090E8-A0AD-01F5-DD7D-E38709D8696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4487925"/>
              </p:ext>
            </p:extLst>
          </p:nvPr>
        </p:nvGraphicFramePr>
        <p:xfrm>
          <a:off x="4435475" y="415131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413" name="Text Placeholder 4">
            <a:extLst>
              <a:ext uri="{FF2B5EF4-FFF2-40B4-BE49-F238E27FC236}">
                <a16:creationId xmlns:a16="http://schemas.microsoft.com/office/drawing/2014/main" id="{FBFB7213-CBD7-DE45-432A-A372CEC0420D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4243388" y="489108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06FE5113-0210-46DD-867E-EF96C17807F8}" type="datetime'''''0'''''''''''''''''''''''''''''''''">
              <a:rPr lang="en-US" altLang="en-US" sz="1400" smtClean="0">
                <a:cs typeface="+mn-cs"/>
              </a:rPr>
              <a:pPr/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414" name="Text Placeholder 4">
            <a:extLst>
              <a:ext uri="{FF2B5EF4-FFF2-40B4-BE49-F238E27FC236}">
                <a16:creationId xmlns:a16="http://schemas.microsoft.com/office/drawing/2014/main" id="{F8874D96-401C-37D7-A28E-EAAC1A1161DB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144963" y="4510088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134EEDA4-C57D-4E3E-98A4-C474F13D4585}" type="datetime'''''''''''''''''''''''''''''''''''''''''10'''''''''''''''">
              <a:rPr lang="en-US" altLang="en-US" sz="1400" smtClean="0">
                <a:cs typeface="+mn-cs"/>
              </a:rPr>
              <a:pPr/>
              <a:t>10</a:t>
            </a:fld>
            <a:endParaRPr lang="en-US" sz="1400" dirty="0">
              <a:cs typeface="+mn-cs"/>
            </a:endParaRPr>
          </a:p>
        </p:txBody>
      </p:sp>
      <p:sp>
        <p:nvSpPr>
          <p:cNvPr id="1415" name="Text Placeholder 4">
            <a:extLst>
              <a:ext uri="{FF2B5EF4-FFF2-40B4-BE49-F238E27FC236}">
                <a16:creationId xmlns:a16="http://schemas.microsoft.com/office/drawing/2014/main" id="{D4735798-ECD9-C96E-7D9B-95DA3531A1DB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986213" y="412750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6C037253-83FD-4C05-BA2C-9EB93CF0F1A9}" type="datetime'2''''''''''''0'''''''''''''''''''''''''''''''''''''''''''''''">
              <a:rPr lang="en-US" altLang="en-US" sz="1400" smtClean="0">
                <a:cs typeface="+mn-cs"/>
              </a:rPr>
              <a:pPr/>
              <a:t>20</a:t>
            </a:fld>
            <a:r>
              <a:rPr lang="en-US" altLang="en-US" sz="140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422" name="Text Placeholder 4">
            <a:extLst>
              <a:ext uri="{FF2B5EF4-FFF2-40B4-BE49-F238E27FC236}">
                <a16:creationId xmlns:a16="http://schemas.microsoft.com/office/drawing/2014/main" id="{26BEA46B-F84F-C1B1-E1DB-B4077DE09376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354513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7E9AB6B-AED5-4989-80F2-B00C0F8FFBB7}" type="datetime'''''''''''''''''''''''''''''''''''2''6''E'''''''''''''">
              <a:rPr lang="en-US" altLang="en-US" sz="1400" smtClean="0">
                <a:cs typeface="+mn-cs"/>
              </a:rPr>
              <a:pPr/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425" name="Text Placeholder 4">
            <a:extLst>
              <a:ext uri="{FF2B5EF4-FFF2-40B4-BE49-F238E27FC236}">
                <a16:creationId xmlns:a16="http://schemas.microsoft.com/office/drawing/2014/main" id="{260DCF94-A67F-A051-2326-04AEDB9FA4AB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3975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6A0894C-D2F7-4F71-8111-F9C66CE83905}" type="datetime'2''''''''''''''''7E'''''''''''''">
              <a:rPr lang="en-US" altLang="en-US" sz="1400" smtClean="0">
                <a:cs typeface="+mn-cs"/>
              </a:rPr>
              <a:pPr/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426" name="Text Placeholder 4">
            <a:extLst>
              <a:ext uri="{FF2B5EF4-FFF2-40B4-BE49-F238E27FC236}">
                <a16:creationId xmlns:a16="http://schemas.microsoft.com/office/drawing/2014/main" id="{789C8F66-69AA-1D93-3383-062C75DB003E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6448425" y="48529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19DD1B3-BA0B-43E1-8849-0C02258FFE44}" type="datetime'''''''''''''''''''''''''''''''1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1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427" name="Text Placeholder 4">
            <a:extLst>
              <a:ext uri="{FF2B5EF4-FFF2-40B4-BE49-F238E27FC236}">
                <a16:creationId xmlns:a16="http://schemas.microsoft.com/office/drawing/2014/main" id="{9B25B4A6-4275-9C84-0F58-BE43E0E39327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6448425" y="45862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FC0665D-B063-4850-B12C-9ED24FAB4E11}" type="datetime'''''''''''8''''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8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29" name="Text Placeholder 4">
            <a:extLst>
              <a:ext uri="{FF2B5EF4-FFF2-40B4-BE49-F238E27FC236}">
                <a16:creationId xmlns:a16="http://schemas.microsoft.com/office/drawing/2014/main" id="{2AFD4170-D175-5BF4-5A2C-C5886FC5AEEA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6399213" y="415290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75B0ABA-583D-427D-B2B3-76EE3A7BCEE8}" type="datetime'''''''''''1''5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15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30" name="Text Placeholder 4">
            <a:extLst>
              <a:ext uri="{FF2B5EF4-FFF2-40B4-BE49-F238E27FC236}">
                <a16:creationId xmlns:a16="http://schemas.microsoft.com/office/drawing/2014/main" id="{0195472A-19CC-87DE-E781-C564ADC5D6C2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64389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B629FA-6B17-4ED8-8E9A-5B6EFE342258}" type="datetime'''''''''2''''''''''8''''''''''''''''''''E'''''''''''''''''''">
              <a:rPr lang="en-US" altLang="en-US" sz="1400" smtClean="0">
                <a:cs typeface="+mn-cs"/>
              </a:rPr>
              <a:pPr/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431" name="Text Placeholder 4">
            <a:extLst>
              <a:ext uri="{FF2B5EF4-FFF2-40B4-BE49-F238E27FC236}">
                <a16:creationId xmlns:a16="http://schemas.microsoft.com/office/drawing/2014/main" id="{CD843854-562C-D299-99A6-AADA2314B6C9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948488" y="47593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056E814-3E32-4F13-A75D-26EA28FB411A}" type="datetime'''''''''80''''''''''''''''''''''''''''''''''''''''0G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432" name="Text Placeholder 4">
            <a:extLst>
              <a:ext uri="{FF2B5EF4-FFF2-40B4-BE49-F238E27FC236}">
                <a16:creationId xmlns:a16="http://schemas.microsoft.com/office/drawing/2014/main" id="{D03AFBA1-008A-17A7-293F-8B90471A35EC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948488" y="44958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01933D4-9C1F-4F55-B684-C4B13A82FA02}" type="datetime'''''''''''''''1.''6''''''''''''''''''T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433" name="Text Placeholder 4">
            <a:extLst>
              <a:ext uri="{FF2B5EF4-FFF2-40B4-BE49-F238E27FC236}">
                <a16:creationId xmlns:a16="http://schemas.microsoft.com/office/drawing/2014/main" id="{CA9F22E8-3AB0-7626-CC0F-F2C109A72E64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948488" y="42322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34DC2B7-0738-4155-8EF8-DB7C64A9AA63}" type="datetime'''''3''''''.''''''''''''''''''''''''''2''''''''''''''T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434" name="文本框 1433">
            <a:extLst>
              <a:ext uri="{FF2B5EF4-FFF2-40B4-BE49-F238E27FC236}">
                <a16:creationId xmlns:a16="http://schemas.microsoft.com/office/drawing/2014/main" id="{977F2327-63BF-71DD-543F-53761CD76AC2}"/>
              </a:ext>
            </a:extLst>
          </p:cNvPr>
          <p:cNvSpPr txBox="1"/>
          <p:nvPr/>
        </p:nvSpPr>
        <p:spPr>
          <a:xfrm>
            <a:off x="1663700" y="4405313"/>
            <a:ext cx="1997075" cy="5238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5" name="文本框 1434">
            <a:extLst>
              <a:ext uri="{FF2B5EF4-FFF2-40B4-BE49-F238E27FC236}">
                <a16:creationId xmlns:a16="http://schemas.microsoft.com/office/drawing/2014/main" id="{1A24FF55-8D07-0994-8912-6B20E3BCFD9B}"/>
              </a:ext>
            </a:extLst>
          </p:cNvPr>
          <p:cNvSpPr txBox="1"/>
          <p:nvPr/>
        </p:nvSpPr>
        <p:spPr>
          <a:xfrm>
            <a:off x="1663700" y="5699125"/>
            <a:ext cx="2111375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6" name="Textplatzhalter 9">
            <a:extLst>
              <a:ext uri="{FF2B5EF4-FFF2-40B4-BE49-F238E27FC236}">
                <a16:creationId xmlns:a16="http://schemas.microsoft.com/office/drawing/2014/main" id="{C0F94439-DC7D-8640-1D0E-67F196557AEA}"/>
              </a:ext>
            </a:extLst>
          </p:cNvPr>
          <p:cNvSpPr txBox="1">
            <a:spLocks/>
          </p:cNvSpPr>
          <p:nvPr/>
        </p:nvSpPr>
        <p:spPr bwMode="gray">
          <a:xfrm>
            <a:off x="7798263" y="5349353"/>
            <a:ext cx="4040811" cy="80278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-&gt;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~$700 / port in 2025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Price descending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accelerates in 2027 </a:t>
            </a:r>
            <a:r>
              <a:rPr lang="en-US" altLang="zh-CN" sz="1200" dirty="0">
                <a:sym typeface="+mn-lt"/>
              </a:rPr>
              <a:t>as CPO starts penetration.</a:t>
            </a:r>
          </a:p>
        </p:txBody>
      </p:sp>
      <p:sp>
        <p:nvSpPr>
          <p:cNvPr id="1437" name="文本框 1436">
            <a:extLst>
              <a:ext uri="{FF2B5EF4-FFF2-40B4-BE49-F238E27FC236}">
                <a16:creationId xmlns:a16="http://schemas.microsoft.com/office/drawing/2014/main" id="{DC911E28-30C5-4722-83E5-6FBFC054E366}"/>
              </a:ext>
            </a:extLst>
          </p:cNvPr>
          <p:cNvSpPr txBox="1"/>
          <p:nvPr/>
        </p:nvSpPr>
        <p:spPr>
          <a:xfrm>
            <a:off x="379626" y="6295257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2, 3, 5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38" name="Textplatzhalter 9">
            <a:extLst>
              <a:ext uri="{FF2B5EF4-FFF2-40B4-BE49-F238E27FC236}">
                <a16:creationId xmlns:a16="http://schemas.microsoft.com/office/drawing/2014/main" id="{F20ECEAD-DA35-9C4C-D55B-F4E44DD4B118}"/>
              </a:ext>
            </a:extLst>
          </p:cNvPr>
          <p:cNvSpPr txBox="1">
            <a:spLocks/>
          </p:cNvSpPr>
          <p:nvPr/>
        </p:nvSpPr>
        <p:spPr bwMode="gray">
          <a:xfrm>
            <a:off x="7798263" y="4044485"/>
            <a:ext cx="3972517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late 2027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: 1 year for mass production &amp; half year for HPC adoption</a:t>
            </a:r>
          </a:p>
        </p:txBody>
      </p:sp>
      <p:sp>
        <p:nvSpPr>
          <p:cNvPr id="1439" name="Textplatzhalter 9">
            <a:extLst>
              <a:ext uri="{FF2B5EF4-FFF2-40B4-BE49-F238E27FC236}">
                <a16:creationId xmlns:a16="http://schemas.microsoft.com/office/drawing/2014/main" id="{8B54E0EE-7744-600F-E4A7-BF4BB4F08691}"/>
              </a:ext>
            </a:extLst>
          </p:cNvPr>
          <p:cNvSpPr txBox="1">
            <a:spLocks/>
          </p:cNvSpPr>
          <p:nvPr/>
        </p:nvSpPr>
        <p:spPr bwMode="gray">
          <a:xfrm>
            <a:off x="7798263" y="1660696"/>
            <a:ext cx="4040811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440" name="文本框 1439">
            <a:extLst>
              <a:ext uri="{FF2B5EF4-FFF2-40B4-BE49-F238E27FC236}">
                <a16:creationId xmlns:a16="http://schemas.microsoft.com/office/drawing/2014/main" id="{27E9DECE-2FC1-59B6-43DA-8749AD5DC605}"/>
              </a:ext>
            </a:extLst>
          </p:cNvPr>
          <p:cNvSpPr txBox="1"/>
          <p:nvPr/>
        </p:nvSpPr>
        <p:spPr>
          <a:xfrm>
            <a:off x="2959100" y="1909763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 57mn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1" name="文本框 1440">
            <a:extLst>
              <a:ext uri="{FF2B5EF4-FFF2-40B4-BE49-F238E27FC236}">
                <a16:creationId xmlns:a16="http://schemas.microsoft.com/office/drawing/2014/main" id="{B40DE99B-CDD4-D6BC-F9F0-5E412E8AF681}"/>
              </a:ext>
            </a:extLst>
          </p:cNvPr>
          <p:cNvSpPr txBox="1"/>
          <p:nvPr/>
        </p:nvSpPr>
        <p:spPr>
          <a:xfrm>
            <a:off x="3195638" y="4083050"/>
            <a:ext cx="1997075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2" name="文本框 1441">
            <a:extLst>
              <a:ext uri="{FF2B5EF4-FFF2-40B4-BE49-F238E27FC236}">
                <a16:creationId xmlns:a16="http://schemas.microsoft.com/office/drawing/2014/main" id="{CD60B7EC-3107-E2E5-D13E-23E96FE8B69F}"/>
              </a:ext>
            </a:extLst>
          </p:cNvPr>
          <p:cNvSpPr txBox="1"/>
          <p:nvPr/>
        </p:nvSpPr>
        <p:spPr>
          <a:xfrm>
            <a:off x="2582863" y="5389563"/>
            <a:ext cx="782638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~$1000 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3" name="文本框 1442">
            <a:extLst>
              <a:ext uri="{FF2B5EF4-FFF2-40B4-BE49-F238E27FC236}">
                <a16:creationId xmlns:a16="http://schemas.microsoft.com/office/drawing/2014/main" id="{A59A707E-2595-B2E3-0CB5-A62040826D2D}"/>
              </a:ext>
            </a:extLst>
          </p:cNvPr>
          <p:cNvSpPr txBox="1"/>
          <p:nvPr/>
        </p:nvSpPr>
        <p:spPr>
          <a:xfrm>
            <a:off x="6005513" y="1824038"/>
            <a:ext cx="8572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4" name="文本框 1443">
            <a:extLst>
              <a:ext uri="{FF2B5EF4-FFF2-40B4-BE49-F238E27FC236}">
                <a16:creationId xmlns:a16="http://schemas.microsoft.com/office/drawing/2014/main" id="{6E731C7D-7489-7FB3-23A1-E40293ED0FB2}"/>
              </a:ext>
            </a:extLst>
          </p:cNvPr>
          <p:cNvSpPr txBox="1"/>
          <p:nvPr/>
        </p:nvSpPr>
        <p:spPr>
          <a:xfrm>
            <a:off x="6484938" y="2247900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5" name="文本框 1444">
            <a:extLst>
              <a:ext uri="{FF2B5EF4-FFF2-40B4-BE49-F238E27FC236}">
                <a16:creationId xmlns:a16="http://schemas.microsoft.com/office/drawing/2014/main" id="{32DB798C-0AEF-C7B9-EF5F-4570BA2DB6E7}"/>
              </a:ext>
            </a:extLst>
          </p:cNvPr>
          <p:cNvSpPr txBox="1"/>
          <p:nvPr/>
        </p:nvSpPr>
        <p:spPr>
          <a:xfrm>
            <a:off x="6005513" y="3149383"/>
            <a:ext cx="857250" cy="277813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~6.3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6" name="文本框 1445">
            <a:extLst>
              <a:ext uri="{FF2B5EF4-FFF2-40B4-BE49-F238E27FC236}">
                <a16:creationId xmlns:a16="http://schemas.microsoft.com/office/drawing/2014/main" id="{A273CBD3-2C88-98A5-2E1D-ECEC31BA3E86}"/>
              </a:ext>
            </a:extLst>
          </p:cNvPr>
          <p:cNvSpPr txBox="1"/>
          <p:nvPr/>
        </p:nvSpPr>
        <p:spPr>
          <a:xfrm>
            <a:off x="6537325" y="3586163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7" name="Textplatzhalter 9">
            <a:extLst>
              <a:ext uri="{FF2B5EF4-FFF2-40B4-BE49-F238E27FC236}">
                <a16:creationId xmlns:a16="http://schemas.microsoft.com/office/drawing/2014/main" id="{7444545F-D854-8627-3DA0-C894B3AF6DB9}"/>
              </a:ext>
            </a:extLst>
          </p:cNvPr>
          <p:cNvSpPr txBox="1">
            <a:spLocks/>
          </p:cNvSpPr>
          <p:nvPr/>
        </p:nvSpPr>
        <p:spPr bwMode="gray">
          <a:xfrm>
            <a:off x="7798263" y="2089234"/>
            <a:ext cx="4040812" cy="55399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(~3x 1.6T transceivers / card).</a:t>
            </a:r>
          </a:p>
        </p:txBody>
      </p:sp>
      <p:sp>
        <p:nvSpPr>
          <p:cNvPr id="1448" name="Textplatzhalter 9">
            <a:extLst>
              <a:ext uri="{FF2B5EF4-FFF2-40B4-BE49-F238E27FC236}">
                <a16:creationId xmlns:a16="http://schemas.microsoft.com/office/drawing/2014/main" id="{B827B430-14FD-3DFA-E1F4-3A0F2CECA873}"/>
              </a:ext>
            </a:extLst>
          </p:cNvPr>
          <p:cNvSpPr txBox="1">
            <a:spLocks/>
          </p:cNvSpPr>
          <p:nvPr/>
        </p:nvSpPr>
        <p:spPr bwMode="gray">
          <a:xfrm>
            <a:off x="7798263" y="3429000"/>
            <a:ext cx="4040812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49" name="Textplatzhalter 9">
            <a:extLst>
              <a:ext uri="{FF2B5EF4-FFF2-40B4-BE49-F238E27FC236}">
                <a16:creationId xmlns:a16="http://schemas.microsoft.com/office/drawing/2014/main" id="{B646EBF2-EABE-1FC8-2743-0118153B2477}"/>
              </a:ext>
            </a:extLst>
          </p:cNvPr>
          <p:cNvSpPr txBox="1">
            <a:spLocks/>
          </p:cNvSpPr>
          <p:nvPr/>
        </p:nvSpPr>
        <p:spPr bwMode="gray">
          <a:xfrm>
            <a:off x="7798263" y="2981640"/>
            <a:ext cx="4072684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~55%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of total datacenter AI chip volumes (Google TPU: &gt; 4mn in 2028 with a shipment share of ~70%); </a:t>
            </a:r>
          </a:p>
        </p:txBody>
      </p:sp>
      <p:sp>
        <p:nvSpPr>
          <p:cNvPr id="1450" name="文本框 1449">
            <a:extLst>
              <a:ext uri="{FF2B5EF4-FFF2-40B4-BE49-F238E27FC236}">
                <a16:creationId xmlns:a16="http://schemas.microsoft.com/office/drawing/2014/main" id="{87DDA19C-4815-B515-BBB8-F6EB0B654C0E}"/>
              </a:ext>
            </a:extLst>
          </p:cNvPr>
          <p:cNvSpPr txBox="1"/>
          <p:nvPr/>
        </p:nvSpPr>
        <p:spPr>
          <a:xfrm>
            <a:off x="6369050" y="1392238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~26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1" name="文本框 1450">
            <a:extLst>
              <a:ext uri="{FF2B5EF4-FFF2-40B4-BE49-F238E27FC236}">
                <a16:creationId xmlns:a16="http://schemas.microsoft.com/office/drawing/2014/main" id="{EF7348D2-94AC-16A8-C879-B0DAF6D52802}"/>
              </a:ext>
            </a:extLst>
          </p:cNvPr>
          <p:cNvSpPr txBox="1"/>
          <p:nvPr/>
        </p:nvSpPr>
        <p:spPr>
          <a:xfrm>
            <a:off x="6654475" y="27117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~31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2" name="文本框 1451">
            <a:extLst>
              <a:ext uri="{FF2B5EF4-FFF2-40B4-BE49-F238E27FC236}">
                <a16:creationId xmlns:a16="http://schemas.microsoft.com/office/drawing/2014/main" id="{82204CCB-6A99-AD18-8749-29ECEEC211DB}"/>
              </a:ext>
            </a:extLst>
          </p:cNvPr>
          <p:cNvSpPr txBox="1"/>
          <p:nvPr/>
        </p:nvSpPr>
        <p:spPr>
          <a:xfrm>
            <a:off x="7601086" y="1170724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53" name="矩形 1452">
            <a:extLst>
              <a:ext uri="{FF2B5EF4-FFF2-40B4-BE49-F238E27FC236}">
                <a16:creationId xmlns:a16="http://schemas.microsoft.com/office/drawing/2014/main" id="{FEC6C330-8DD1-3260-0BC0-78A30ABAF28B}"/>
              </a:ext>
            </a:extLst>
          </p:cNvPr>
          <p:cNvSpPr/>
          <p:nvPr/>
        </p:nvSpPr>
        <p:spPr>
          <a:xfrm>
            <a:off x="12323922" y="676140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WIP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title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4" name="箭头: V 形 16">
            <a:extLst>
              <a:ext uri="{FF2B5EF4-FFF2-40B4-BE49-F238E27FC236}">
                <a16:creationId xmlns:a16="http://schemas.microsoft.com/office/drawing/2014/main" id="{5A4B73DD-4289-96BC-4397-DB839DB09308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5" name="箭头: V 形 26">
            <a:extLst>
              <a:ext uri="{FF2B5EF4-FFF2-40B4-BE49-F238E27FC236}">
                <a16:creationId xmlns:a16="http://schemas.microsoft.com/office/drawing/2014/main" id="{5028A8F8-0B79-0FA0-BAFD-2A0A7DB3D86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6" name="箭头: V 形 38">
            <a:extLst>
              <a:ext uri="{FF2B5EF4-FFF2-40B4-BE49-F238E27FC236}">
                <a16:creationId xmlns:a16="http://schemas.microsoft.com/office/drawing/2014/main" id="{4BFE644B-FF24-FE83-4432-F30D1EAA11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7" name="箭头: V 形 26">
            <a:extLst>
              <a:ext uri="{FF2B5EF4-FFF2-40B4-BE49-F238E27FC236}">
                <a16:creationId xmlns:a16="http://schemas.microsoft.com/office/drawing/2014/main" id="{69F64DD4-A91E-C721-5688-B3F4E3A98C8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8" name="箭头: V 形 38">
            <a:extLst>
              <a:ext uri="{FF2B5EF4-FFF2-40B4-BE49-F238E27FC236}">
                <a16:creationId xmlns:a16="http://schemas.microsoft.com/office/drawing/2014/main" id="{03ACB343-7599-D3DD-8CAB-227393836AF8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9" name="箭头: V 形 38">
            <a:extLst>
              <a:ext uri="{FF2B5EF4-FFF2-40B4-BE49-F238E27FC236}">
                <a16:creationId xmlns:a16="http://schemas.microsoft.com/office/drawing/2014/main" id="{F6FABFF3-9861-6482-A5A7-28BCCAE19E9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60" name="箭头: V 形 38">
            <a:extLst>
              <a:ext uri="{FF2B5EF4-FFF2-40B4-BE49-F238E27FC236}">
                <a16:creationId xmlns:a16="http://schemas.microsoft.com/office/drawing/2014/main" id="{13A24C74-1C72-03EC-29CE-B920460C2F95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61" name="箭头: V 形 38">
            <a:extLst>
              <a:ext uri="{FF2B5EF4-FFF2-40B4-BE49-F238E27FC236}">
                <a16:creationId xmlns:a16="http://schemas.microsoft.com/office/drawing/2014/main" id="{632CC3EC-21D4-8ED2-65DF-BBD599006C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462" name="标题 1">
            <a:extLst>
              <a:ext uri="{FF2B5EF4-FFF2-40B4-BE49-F238E27FC236}">
                <a16:creationId xmlns:a16="http://schemas.microsoft.com/office/drawing/2014/main" id="{B03756F3-6A8B-F757-4708-044CE3632633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CPO is a multi-billion-dollar market paved by data rate scaling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427527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466054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2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11911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 5y/gen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14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13379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6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987976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854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988078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2.5/3D: 5y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5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757209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633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755299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964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3D332E-FEE7-17D5-703C-E5B1FA1761DD}"/>
              </a:ext>
            </a:extLst>
          </p:cNvPr>
          <p:cNvSpPr/>
          <p:nvPr/>
        </p:nvSpPr>
        <p:spPr>
          <a:xfrm>
            <a:off x="10115431" y="-269601"/>
            <a:ext cx="1894449" cy="8424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确认一下光和电的机会点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F8793D-AFD3-1F61-202A-67C71BAD03AF}"/>
              </a:ext>
            </a:extLst>
          </p:cNvPr>
          <p:cNvSpPr/>
          <p:nvPr/>
        </p:nvSpPr>
        <p:spPr>
          <a:xfrm>
            <a:off x="1571112" y="5873187"/>
            <a:ext cx="2161148" cy="6143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Siph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中际旭创的时间确认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BD2A014-E3C8-7FF5-2C25-8DE27B37023A}"/>
              </a:ext>
            </a:extLst>
          </p:cNvPr>
          <p:cNvSpPr/>
          <p:nvPr/>
        </p:nvSpPr>
        <p:spPr>
          <a:xfrm>
            <a:off x="8100251" y="-284183"/>
            <a:ext cx="1894449" cy="8424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119" y="6046099"/>
            <a:ext cx="11083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 on POs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cs typeface="+mn-ea"/>
                <a:sym typeface="+mn-lt"/>
              </a:rPr>
              <a:t>ficonTEC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F8F001-A798-3FC5-E188-44B91C339C08}"/>
              </a:ext>
            </a:extLst>
          </p:cNvPr>
          <p:cNvSpPr/>
          <p:nvPr/>
        </p:nvSpPr>
        <p:spPr>
          <a:xfrm>
            <a:off x="10887153" y="42272"/>
            <a:ext cx="2161148" cy="12264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产业链处于早期阶段，多数公司仍在早期布局</a:t>
            </a: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90720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B819E793-3146-7BC0-3C1C-F3175CBC3FA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43078970"/>
              </p:ext>
            </p:extLst>
          </p:nvPr>
        </p:nvGraphicFramePr>
        <p:xfrm>
          <a:off x="387350" y="1824038"/>
          <a:ext cx="7653338" cy="461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 useBgFill="1"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4043363" y="3679824"/>
            <a:ext cx="454025" cy="274638"/>
          </a:xfrm>
          <a:prstGeom prst="rect">
            <a:avLst/>
          </a:prstGeom>
          <a:ln>
            <a:noFill/>
          </a:ln>
          <a:effectLst/>
        </p:spPr>
        <p:txBody>
          <a:bodyPr vert="horz" wrap="none" lIns="33338" tIns="0" rIns="3333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8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800" dirty="0">
              <a:cs typeface="+mn-cs"/>
            </a:endParaRP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4E1A86B5-3450-CD77-317A-BEB7EAAD878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288213" y="4127500"/>
            <a:ext cx="708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20~30</a:t>
            </a:r>
            <a:endParaRPr lang="zh-CN" altLang="en-US" sz="18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292100" y="1690688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Shipment unit share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dirty="0">
              <a:solidFill>
                <a:srgbClr val="000000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2743200" y="1860550"/>
            <a:ext cx="228600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3560763" y="1860550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033713" y="1762125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852863" y="1762125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12A1E5-C527-E5DF-0FC8-3D86F59979D3}"/>
              </a:ext>
            </a:extLst>
          </p:cNvPr>
          <p:cNvSpPr txBox="1"/>
          <p:nvPr/>
        </p:nvSpPr>
        <p:spPr>
          <a:xfrm>
            <a:off x="8330962" y="3735758"/>
            <a:ext cx="3528377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​ASIC: High costs,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limited TSMC supply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​Nvidia continues to dominate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AI cloud compute.​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0DA3CF-3767-0AEA-75AE-EB826B843EF9}"/>
              </a:ext>
            </a:extLst>
          </p:cNvPr>
          <p:cNvSpPr txBox="1"/>
          <p:nvPr/>
        </p:nvSpPr>
        <p:spPr>
          <a:xfrm>
            <a:off x="327660" y="1154721"/>
            <a:ext cx="87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 becomes the long-term trend; Broadcom plays a central role</a:t>
            </a:r>
            <a:endParaRPr lang="zh-CN" altLang="en-US" dirty="0"/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427673" y="1546913"/>
            <a:ext cx="7515225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F32C493-823A-5118-2E4F-36E3ABD2BFEA}"/>
              </a:ext>
            </a:extLst>
          </p:cNvPr>
          <p:cNvCxnSpPr>
            <a:cxnSpLocks/>
          </p:cNvCxnSpPr>
          <p:nvPr/>
        </p:nvCxnSpPr>
        <p:spPr>
          <a:xfrm flipV="1">
            <a:off x="897846" y="3990974"/>
            <a:ext cx="3389674" cy="767797"/>
          </a:xfrm>
          <a:prstGeom prst="line">
            <a:avLst/>
          </a:prstGeom>
          <a:ln w="1905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A76F7B2-9937-B624-8716-8A0BFD1B4BBB}"/>
              </a:ext>
            </a:extLst>
          </p:cNvPr>
          <p:cNvCxnSpPr>
            <a:cxnSpLocks/>
          </p:cNvCxnSpPr>
          <p:nvPr/>
        </p:nvCxnSpPr>
        <p:spPr>
          <a:xfrm flipV="1">
            <a:off x="4245283" y="3611770"/>
            <a:ext cx="3397736" cy="388532"/>
          </a:xfrm>
          <a:prstGeom prst="line">
            <a:avLst/>
          </a:prstGeom>
          <a:ln w="9525">
            <a:solidFill>
              <a:srgbClr val="0052D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7C07FBA-FD55-123B-6CC2-D48F932459CC}"/>
              </a:ext>
            </a:extLst>
          </p:cNvPr>
          <p:cNvSpPr txBox="1"/>
          <p:nvPr/>
        </p:nvSpPr>
        <p:spPr>
          <a:xfrm>
            <a:off x="8330962" y="1990805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Optimistic scenario</a:t>
            </a:r>
            <a:endParaRPr lang="zh-CN" altLang="en-US" b="1" dirty="0"/>
          </a:p>
        </p:txBody>
      </p:sp>
      <p:sp>
        <p:nvSpPr>
          <p:cNvPr id="964" name="文本框 963">
            <a:extLst>
              <a:ext uri="{FF2B5EF4-FFF2-40B4-BE49-F238E27FC236}">
                <a16:creationId xmlns:a16="http://schemas.microsoft.com/office/drawing/2014/main" id="{FA12F98D-AFB1-F69C-EB36-438FF7419D87}"/>
              </a:ext>
            </a:extLst>
          </p:cNvPr>
          <p:cNvSpPr txBox="1"/>
          <p:nvPr/>
        </p:nvSpPr>
        <p:spPr>
          <a:xfrm>
            <a:off x="8330962" y="3369711"/>
            <a:ext cx="3473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Pessimistic scenario</a:t>
            </a:r>
            <a:endParaRPr lang="zh-CN" altLang="en-US" b="1" dirty="0"/>
          </a:p>
        </p:txBody>
      </p:sp>
      <p:sp>
        <p:nvSpPr>
          <p:cNvPr id="966" name="文本框 965">
            <a:extLst>
              <a:ext uri="{FF2B5EF4-FFF2-40B4-BE49-F238E27FC236}">
                <a16:creationId xmlns:a16="http://schemas.microsoft.com/office/drawing/2014/main" id="{3EA0C51F-3CA4-A0C8-3FC9-3D399000562D}"/>
              </a:ext>
            </a:extLst>
          </p:cNvPr>
          <p:cNvSpPr txBox="1"/>
          <p:nvPr/>
        </p:nvSpPr>
        <p:spPr>
          <a:xfrm>
            <a:off x="8330962" y="2404130"/>
            <a:ext cx="3770682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New orders from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OpenAI &amp; </a:t>
            </a:r>
            <a:r>
              <a:rPr lang="en-US" altLang="zh-CN" sz="1400" b="1" dirty="0" err="1">
                <a:solidFill>
                  <a:srgbClr val="0052D9"/>
                </a:solidFill>
                <a:latin typeface="PingFang SC"/>
              </a:rPr>
              <a:t>xAI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Bring forward the “ASIC &gt; GPU” inflection point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from 2027–28 to 2026.</a:t>
            </a:r>
          </a:p>
        </p:txBody>
      </p: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348154" y="3256502"/>
            <a:ext cx="69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53585F"/>
                </a:solidFill>
                <a:cs typeface="+mn-ea"/>
                <a:sym typeface="+mn-lt"/>
              </a:rPr>
              <a:t>~40</a:t>
            </a:r>
            <a:endParaRPr lang="zh-CN" altLang="en-US" dirty="0">
              <a:solidFill>
                <a:srgbClr val="53585F"/>
              </a:solidFill>
            </a:endParaRPr>
          </a:p>
        </p:txBody>
      </p:sp>
      <p:sp>
        <p:nvSpPr>
          <p:cNvPr id="1013" name="文本框 1012">
            <a:extLst>
              <a:ext uri="{FF2B5EF4-FFF2-40B4-BE49-F238E27FC236}">
                <a16:creationId xmlns:a16="http://schemas.microsoft.com/office/drawing/2014/main" id="{3ABC8DEF-3EDC-5D1E-C5C2-56BBD98FEC48}"/>
              </a:ext>
            </a:extLst>
          </p:cNvPr>
          <p:cNvSpPr txBox="1"/>
          <p:nvPr/>
        </p:nvSpPr>
        <p:spPr>
          <a:xfrm>
            <a:off x="8330962" y="4571981"/>
            <a:ext cx="352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b="1">
                <a:solidFill>
                  <a:schemeClr val="tx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​Broadcom</a:t>
            </a:r>
          </a:p>
        </p:txBody>
      </p:sp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8330962" y="4941313"/>
            <a:ext cx="7242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r>
              <a:rPr lang="en-US" altLang="zh-CN"/>
              <a:t>Maintain ~50</a:t>
            </a:r>
            <a:r>
              <a:rPr lang="en-US" altLang="zh-CN" dirty="0"/>
              <a:t>% share in ASIC design.</a:t>
            </a:r>
            <a:endParaRPr lang="zh-CN" altLang="en-US" dirty="0"/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9FFB91-3FD7-BA39-39D8-B26C3A143D1F}"/>
              </a:ext>
            </a:extLst>
          </p:cNvPr>
          <p:cNvSpPr/>
          <p:nvPr/>
        </p:nvSpPr>
        <p:spPr>
          <a:xfrm>
            <a:off x="12749735" y="856830"/>
            <a:ext cx="1894449" cy="18762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博通放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24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25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年占比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确认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25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年的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asic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33%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是否合理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867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6" imgW="401" imgH="401" progId="TCLayout.ActiveDocument.1">
                  <p:embed/>
                </p:oleObj>
              </mc:Choice>
              <mc:Fallback>
                <p:oleObj name="think-cell 幻灯片" r:id="rId4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79" name="Chart 3">
            <a:extLst>
              <a:ext uri="{FF2B5EF4-FFF2-40B4-BE49-F238E27FC236}">
                <a16:creationId xmlns:a16="http://schemas.microsoft.com/office/drawing/2014/main" id="{0FA503A8-30BE-0138-C929-9DCCDE5322A8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99897802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9725"/>
            <a:ext cx="180975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5B92FAB-A900-B766-FC50-C785FB0633A3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3992564" y="5357814"/>
            <a:ext cx="7937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86875" y="59848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351338" y="53260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6497638" y="458470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3044825" y="5251450"/>
            <a:ext cx="9477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302500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4629150" y="5995988"/>
            <a:ext cx="2490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</a:t>
            </a:r>
            <a:r>
              <a:rPr lang="en-US" altLang="zh-CN" sz="1400" dirty="0">
                <a:cs typeface="+mn-cs"/>
              </a:rPr>
              <a:t>c</a:t>
            </a:r>
            <a:r>
              <a:rPr lang="en-US" altLang="zh-CN" sz="1400" dirty="0">
                <a:effectLst/>
                <a:cs typeface="+mn-cs"/>
              </a:rPr>
              <a:t>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7523163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354518" y="4644921"/>
            <a:ext cx="683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894588"/>
            <a:ext cx="2137727" cy="338554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864621"/>
            <a:ext cx="1000138" cy="25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startups comparison: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AB76E9-7FAE-F115-5B07-8254E623082F}"/>
              </a:ext>
            </a:extLst>
          </p:cNvPr>
          <p:cNvSpPr/>
          <p:nvPr/>
        </p:nvSpPr>
        <p:spPr>
          <a:xfrm>
            <a:off x="9881122" y="81195"/>
            <a:ext cx="1894449" cy="7280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更面向未来的一些厂商</a:t>
            </a: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982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534831"/>
            <a:ext cx="3611656" cy="2857559"/>
            <a:chOff x="1052162" y="3711406"/>
            <a:chExt cx="3611656" cy="285755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711406"/>
              <a:ext cx="3154068" cy="2857559"/>
              <a:chOff x="923365" y="3573928"/>
              <a:chExt cx="3154068" cy="285755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77438" y="3573928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</a:t>
                </a:r>
                <a:r>
                  <a:rPr lang="en-US" altLang="zh-CN" sz="1600" b="1" dirty="0">
                    <a:solidFill>
                      <a:srgbClr val="000000"/>
                    </a:solidFill>
                    <a:cs typeface="+mn-ea"/>
                    <a:sym typeface="+mn-lt"/>
                  </a:rPr>
                  <a:t>b</a:t>
                </a:r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726" y="4752126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826F6B-CBFE-BD60-2C66-CEDFFE4790D5}"/>
              </a:ext>
            </a:extLst>
          </p:cNvPr>
          <p:cNvSpPr/>
          <p:nvPr/>
        </p:nvSpPr>
        <p:spPr>
          <a:xfrm>
            <a:off x="10219601" y="101240"/>
            <a:ext cx="1894449" cy="7280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两页并一页</a:t>
            </a: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0357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D7193-CA48-7240-D427-8FCDD66A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 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Delivery: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r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476136" y="2586724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EDC682C-4840-7EDD-E708-9098B702124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C3745814-81A1-AFBF-DF48-D20DFA266F0C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7E1AE28-C6C4-7017-65EE-5B0F38BB7F1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81574F7C-0AB5-CD3A-9C76-6EFC04F01D9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FBB70297-A980-4C1B-C1AB-FBCFE784F1DD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01EC9057-E6A6-8C1A-8BBB-F5B175BA538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C7A365A2-76A3-CC5A-1D7A-5AF1A63532F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4C88A52D-3F64-C211-CC97-D6291991DD9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0FBF159E-7CDA-A259-C621-7E793CFA2BF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2145651"/>
              </p:ext>
            </p:extLst>
          </p:nvPr>
        </p:nvGraphicFramePr>
        <p:xfrm>
          <a:off x="499971" y="2964742"/>
          <a:ext cx="5329171" cy="2986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E24DFD12-6E4F-94B0-18E6-4E460C1DA68A}"/>
              </a:ext>
            </a:extLst>
          </p:cNvPr>
          <p:cNvSpPr/>
          <p:nvPr/>
        </p:nvSpPr>
        <p:spPr>
          <a:xfrm>
            <a:off x="9925493" y="101240"/>
            <a:ext cx="2188557" cy="7280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两页并一页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看有没有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24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年的数</a:t>
            </a:r>
          </a:p>
        </p:txBody>
      </p: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0C3AAC-2373-323E-222A-B6DC4757DCA5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7428387583522493287E+00&quot;&gt;&lt;m_msothmcolidx val=&quot;0&quot;/&gt;&lt;m_rgb r=&quot;00&quot; g=&quot;52&quot; b=&quot;D9&quot;/&gt;&lt;/elem&gt;&lt;elem m_fUsage=&quot;4.39755252302736210357E-01&quot;&gt;&lt;m_msothmcolidx val=&quot;0&quot;/&gt;&lt;m_rgb r=&quot;C1&quot; g=&quot;E1&quot; b=&quot;FE&quot;/&gt;&lt;/elem&gt;&lt;elem m_fUsage=&quot;3.81520424476946215520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UTQzoBhYfKti.S8bqSE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PbmvvwCBeA25eeGBGVj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67FhgdV43web0IvejAt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Xlve0.sbqzKr0TGexKu5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leF9BCCx5wZgEvMMmVe6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00ipfqNQf0eKt9E4K6I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glj20eGuyFnCPGw2tTh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ROSLTjkZmXwbOMRJJz6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xqA8Hyh_Dx7QO7Lblny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VUFVBgcMdLpo2LdhDMb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oYHXtmpOF9WJvf7wPWG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C6dv41d8cxAEJ7O8tVt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1isQJ8P1QkT9LX5tyAh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XFwv1ylazqe1rhRF75Y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zDIDKmFT3UUGY2eTaj9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50415</TotalTime>
  <Words>4180</Words>
  <Application>Microsoft Office PowerPoint</Application>
  <PresentationFormat>宽屏</PresentationFormat>
  <Paragraphs>1039</Paragraphs>
  <Slides>31</Slides>
  <Notes>27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optics: an intro to 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PowerPoint 演示文稿</vt:lpstr>
      <vt:lpstr>PowerPoint 演示文稿</vt:lpstr>
      <vt:lpstr>PowerPoint 演示文稿</vt:lpstr>
      <vt:lpstr>PowerPoint 演示文稿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5798</cp:revision>
  <dcterms:created xsi:type="dcterms:W3CDTF">2025-06-16T21:28:33Z</dcterms:created>
  <dcterms:modified xsi:type="dcterms:W3CDTF">2025-10-15T12:09:08Z</dcterms:modified>
</cp:coreProperties>
</file>