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7.xml" ContentType="application/vnd.openxmlformats-officedocument.presentationml.notesSlide+xml"/>
  <Override PartName="/ppt/tags/tag119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20.xml" ContentType="application/vnd.openxmlformats-officedocument.presentationml.tags+xml"/>
  <Override PartName="/ppt/notesSlides/notesSlide19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58.xml" ContentType="application/vnd.openxmlformats-officedocument.presentationml.tags+xml"/>
  <Override PartName="/ppt/notesSlides/notesSlide21.xml" ContentType="application/vnd.openxmlformats-officedocument.presentationml.notesSlide+xml"/>
  <Override PartName="/ppt/tags/tag159.xml" ContentType="application/vnd.openxmlformats-officedocument.presentationml.tags+xml"/>
  <Override PartName="/ppt/notesSlides/notesSlide22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23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85.xml" ContentType="application/vnd.openxmlformats-officedocument.presentationml.tags+xml"/>
  <Override PartName="/ppt/notesSlides/notesSlide25.xml" ContentType="application/vnd.openxmlformats-officedocument.presentationml.notesSlide+xml"/>
  <Override PartName="/ppt/tags/tag186.xml" ContentType="application/vnd.openxmlformats-officedocument.presentationml.tags+xml"/>
  <Override PartName="/ppt/notesSlides/notesSlide26.xml" ContentType="application/vnd.openxmlformats-officedocument.presentationml.notesSlide+xml"/>
  <Override PartName="/ppt/tags/tag1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44" r:id="rId16"/>
    <p:sldId id="370" r:id="rId17"/>
    <p:sldId id="372" r:id="rId18"/>
    <p:sldId id="2147473084" r:id="rId19"/>
    <p:sldId id="327" r:id="rId20"/>
    <p:sldId id="331" r:id="rId21"/>
    <p:sldId id="283" r:id="rId22"/>
    <p:sldId id="364" r:id="rId23"/>
    <p:sldId id="326" r:id="rId24"/>
    <p:sldId id="315" r:id="rId25"/>
    <p:sldId id="367" r:id="rId26"/>
    <p:sldId id="339" r:id="rId27"/>
    <p:sldId id="363" r:id="rId28"/>
    <p:sldId id="2147473077" r:id="rId29"/>
    <p:sldId id="341" r:id="rId30"/>
    <p:sldId id="322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2" autoAdjust="0"/>
    <p:restoredTop sz="94392" autoAdjust="0"/>
  </p:normalViewPr>
  <p:slideViewPr>
    <p:cSldViewPr snapToGrid="0">
      <p:cViewPr>
        <p:scale>
          <a:sx n="66" d="100"/>
          <a:sy n="66" d="100"/>
        </p:scale>
        <p:origin x="617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869239013933547E-2"/>
          <c:y val="5.2504038772213248E-2"/>
          <c:w val="0.90219721329046088"/>
          <c:h val="0.8949919224555734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24.657534246575342</c:v>
                </c:pt>
                <c:pt idx="1">
                  <c:v>25.531914893617021</c:v>
                </c:pt>
                <c:pt idx="2">
                  <c:v>27.900000000000002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B-4AEF-9E62-8AD8F62CE161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13.698630136986299</c:v>
                </c:pt>
                <c:pt idx="1">
                  <c:v>15.957446808510639</c:v>
                </c:pt>
                <c:pt idx="2">
                  <c:v>17.099999999999998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5B-4AEF-9E62-8AD8F62CE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215962767"/>
        <c:axId val="1"/>
      </c:barChart>
      <c:catAx>
        <c:axId val="2159627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5962767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Sheet1!$B$1:$B$10</c:f>
              <c:numCache>
                <c:formatCode>General</c:formatCode>
                <c:ptCount val="10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FF-4387-AFC0-C7BC08F9C9B4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Sheet1!$C$1:$C$10</c:f>
              <c:numCache>
                <c:formatCode>General</c:formatCode>
                <c:ptCount val="10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2FF-4387-AFC0-C7BC08F9C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1273647"/>
        <c:axId val="1"/>
      </c:scatterChart>
      <c:valAx>
        <c:axId val="41127364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127364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9.774977328017645E-3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Ficontec!$F$8:$H$8</c:f>
              <c:numCache>
                <c:formatCode>_(* #,##0.00_);_(* \(#,##0.00\);_(* "-"??_);_(@_)</c:formatCode>
                <c:ptCount val="3"/>
                <c:pt idx="0">
                  <c:v>2.87</c:v>
                </c:pt>
                <c:pt idx="1">
                  <c:v>3.8243999999999998</c:v>
                </c:pt>
                <c:pt idx="2">
                  <c:v>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7D7-8A8A-519DA28A7FF9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770528184642702E-3"/>
                  <c:y val="0.11574110527850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1-47D7-8A8A-519DA28A7FF9}"/>
                </c:ext>
              </c:extLst>
            </c:dLbl>
            <c:dLbl>
              <c:idx val="1"/>
              <c:layout>
                <c:manualLayout>
                  <c:x val="8.8770528184642702E-3"/>
                  <c:y val="4.6296296296295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1-47D7-8A8A-519DA28A7FF9}"/>
                </c:ext>
              </c:extLst>
            </c:dLbl>
            <c:dLbl>
              <c:idx val="2"/>
              <c:layout>
                <c:manualLayout>
                  <c:x val="2.885042225785437E-2"/>
                  <c:y val="1.41373150952879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Ficontec!$F$10:$H$10</c:f>
              <c:numCache>
                <c:formatCode>_(* #,##0.00_);_(* \(#,##0.00\);_(* "-"??_);_(@_)</c:formatCode>
                <c:ptCount val="3"/>
                <c:pt idx="0">
                  <c:v>-6.3E-3</c:v>
                </c:pt>
                <c:pt idx="1">
                  <c:v>0.28999999999999998</c:v>
                </c:pt>
                <c:pt idx="2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1543653644074988E-2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91-47D7-8A8A-519DA28A7FF9}"/>
                </c:ext>
              </c:extLst>
            </c:dLbl>
            <c:dLbl>
              <c:idx val="1"/>
              <c:layout>
                <c:manualLayout>
                  <c:x val="3.1768676316057252E-2"/>
                  <c:y val="-3.8814708159578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Ficontec!$F$9:$H$9</c:f>
              <c:numCache>
                <c:formatCode>0.0%</c:formatCode>
                <c:ptCount val="3"/>
                <c:pt idx="0">
                  <c:v>0.4163</c:v>
                </c:pt>
                <c:pt idx="1">
                  <c:v>0.41620000000000001</c:v>
                </c:pt>
                <c:pt idx="2">
                  <c:v>0.401980198019802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52858637036635"/>
          <c:w val="1"/>
          <c:h val="0.17883766418995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60%</a:t>
            </a:r>
            <a:r>
              <a:rPr lang="zh-CN" altLang="en-US" dirty="0"/>
              <a:t>以上（份额预计长期保持）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</a:t>
            </a:r>
          </a:p>
          <a:p>
            <a:r>
              <a:rPr lang="en-US" altLang="zh-CN" dirty="0"/>
              <a:t>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ASIC 43%</a:t>
            </a:r>
            <a:r>
              <a:rPr lang="zh-CN" altLang="en-US" dirty="0"/>
              <a:t>的</a:t>
            </a:r>
            <a:r>
              <a:rPr lang="en-US" altLang="zh-CN" dirty="0"/>
              <a:t>share</a:t>
            </a:r>
            <a:r>
              <a:rPr lang="zh-CN" altLang="en-US" dirty="0"/>
              <a:t>在</a:t>
            </a:r>
            <a:r>
              <a:rPr lang="en-US" altLang="zh-CN" dirty="0"/>
              <a:t>26</a:t>
            </a:r>
            <a:r>
              <a:rPr lang="zh-CN" altLang="en-US" dirty="0"/>
              <a:t>年比较</a:t>
            </a:r>
            <a:r>
              <a:rPr lang="en-US" altLang="zh-CN" dirty="0"/>
              <a:t>fair</a:t>
            </a:r>
          </a:p>
          <a:p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计算卡出货量（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2025E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ASIC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博通：通过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6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2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image" Target="../media/image18.emf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oleObject" Target="../embeddings/oleObject17.bin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77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26" Type="http://schemas.openxmlformats.org/officeDocument/2006/relationships/tags" Target="../tags/tag107.xml"/><Relationship Id="rId3" Type="http://schemas.openxmlformats.org/officeDocument/2006/relationships/tags" Target="../tags/tag84.xml"/><Relationship Id="rId21" Type="http://schemas.openxmlformats.org/officeDocument/2006/relationships/tags" Target="../tags/tag102.xml"/><Relationship Id="rId34" Type="http://schemas.openxmlformats.org/officeDocument/2006/relationships/image" Target="../media/image18.emf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tags" Target="../tags/tag106.xml"/><Relationship Id="rId33" Type="http://schemas.openxmlformats.org/officeDocument/2006/relationships/oleObject" Target="../embeddings/oleObject18.bin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0" Type="http://schemas.openxmlformats.org/officeDocument/2006/relationships/tags" Target="../tags/tag101.xml"/><Relationship Id="rId29" Type="http://schemas.openxmlformats.org/officeDocument/2006/relationships/tags" Target="../tags/tag110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32" Type="http://schemas.openxmlformats.org/officeDocument/2006/relationships/notesSlide" Target="../notesSlides/notesSlide16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28" Type="http://schemas.openxmlformats.org/officeDocument/2006/relationships/tags" Target="../tags/tag109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Relationship Id="rId27" Type="http://schemas.openxmlformats.org/officeDocument/2006/relationships/tags" Target="../tags/tag108.xml"/><Relationship Id="rId30" Type="http://schemas.openxmlformats.org/officeDocument/2006/relationships/tags" Target="../tags/tag111.xml"/><Relationship Id="rId35" Type="http://schemas.openxmlformats.org/officeDocument/2006/relationships/chart" Target="../charts/chart7.xml"/><Relationship Id="rId8" Type="http://schemas.openxmlformats.org/officeDocument/2006/relationships/tags" Target="../tags/tag8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14.xml"/><Relationship Id="rId21" Type="http://schemas.openxmlformats.org/officeDocument/2006/relationships/image" Target="../media/image97.png"/><Relationship Id="rId7" Type="http://schemas.openxmlformats.org/officeDocument/2006/relationships/tags" Target="../tags/tag118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13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16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96.png"/><Relationship Id="rId4" Type="http://schemas.openxmlformats.org/officeDocument/2006/relationships/tags" Target="../tags/tag115.xml"/><Relationship Id="rId9" Type="http://schemas.openxmlformats.org/officeDocument/2006/relationships/notesSlide" Target="../notesSlides/notesSlide17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9.wdp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01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Relationship Id="rId6" Type="http://schemas.openxmlformats.org/officeDocument/2006/relationships/chart" Target="../charts/chart8.xml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6.png"/><Relationship Id="rId1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26" Type="http://schemas.openxmlformats.org/officeDocument/2006/relationships/tags" Target="../tags/tag146.xml"/><Relationship Id="rId39" Type="http://schemas.openxmlformats.org/officeDocument/2006/relationships/notesSlide" Target="../notesSlides/notesSlide20.xml"/><Relationship Id="rId21" Type="http://schemas.openxmlformats.org/officeDocument/2006/relationships/tags" Target="../tags/tag141.xml"/><Relationship Id="rId34" Type="http://schemas.openxmlformats.org/officeDocument/2006/relationships/tags" Target="../tags/tag154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2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9" Type="http://schemas.openxmlformats.org/officeDocument/2006/relationships/tags" Target="../tags/tag149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24" Type="http://schemas.openxmlformats.org/officeDocument/2006/relationships/tags" Target="../tags/tag144.xml"/><Relationship Id="rId32" Type="http://schemas.openxmlformats.org/officeDocument/2006/relationships/tags" Target="../tags/tag152.xml"/><Relationship Id="rId37" Type="http://schemas.openxmlformats.org/officeDocument/2006/relationships/tags" Target="../tags/tag157.xml"/><Relationship Id="rId40" Type="http://schemas.openxmlformats.org/officeDocument/2006/relationships/oleObject" Target="../embeddings/oleObject22.bin"/><Relationship Id="rId45" Type="http://schemas.openxmlformats.org/officeDocument/2006/relationships/image" Target="../media/image110.png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23" Type="http://schemas.openxmlformats.org/officeDocument/2006/relationships/tags" Target="../tags/tag143.xml"/><Relationship Id="rId28" Type="http://schemas.openxmlformats.org/officeDocument/2006/relationships/tags" Target="../tags/tag148.xml"/><Relationship Id="rId36" Type="http://schemas.openxmlformats.org/officeDocument/2006/relationships/tags" Target="../tags/tag156.xml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31" Type="http://schemas.openxmlformats.org/officeDocument/2006/relationships/tags" Target="../tags/tag151.xml"/><Relationship Id="rId44" Type="http://schemas.openxmlformats.org/officeDocument/2006/relationships/chart" Target="../charts/chart12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Relationship Id="rId22" Type="http://schemas.openxmlformats.org/officeDocument/2006/relationships/tags" Target="../tags/tag142.xml"/><Relationship Id="rId27" Type="http://schemas.openxmlformats.org/officeDocument/2006/relationships/tags" Target="../tags/tag147.xml"/><Relationship Id="rId30" Type="http://schemas.openxmlformats.org/officeDocument/2006/relationships/tags" Target="../tags/tag150.xml"/><Relationship Id="rId35" Type="http://schemas.openxmlformats.org/officeDocument/2006/relationships/tags" Target="../tags/tag155.xml"/><Relationship Id="rId43" Type="http://schemas.openxmlformats.org/officeDocument/2006/relationships/chart" Target="../charts/chart11.xml"/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5" Type="http://schemas.openxmlformats.org/officeDocument/2006/relationships/tags" Target="../tags/tag145.xml"/><Relationship Id="rId33" Type="http://schemas.openxmlformats.org/officeDocument/2006/relationships/tags" Target="../tags/tag15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40.xml"/><Relationship Id="rId4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1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62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61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60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chart" Target="../charts/chart14.xml"/><Relationship Id="rId3" Type="http://schemas.openxmlformats.org/officeDocument/2006/relationships/tags" Target="../tags/tag166.xml"/><Relationship Id="rId21" Type="http://schemas.openxmlformats.org/officeDocument/2006/relationships/tags" Target="../tags/tag184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image" Target="../media/image8.emf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tags" Target="../tags/tag183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24" Type="http://schemas.openxmlformats.org/officeDocument/2006/relationships/oleObject" Target="../embeddings/oleObject27.bin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23" Type="http://schemas.openxmlformats.org/officeDocument/2006/relationships/notesSlide" Target="../notesSlides/notesSlide24.xml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86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0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87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8558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1738571"/>
            <a:ext cx="8960418" cy="2031325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 (CPO): an intro to AIDC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4301759" y="1296324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29632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614233" y="1342044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distance, power and speed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markets prioritize speed over power (not a constraint).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Optical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69069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5733188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5986117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Consider GB200 NVL72 cluster with 9,216 B200 GPUs with 2-layer interconnect.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3: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At the 2025 Optica Executive Forum held in March, Broadcom demonstrated power savings of CPO in full 64-port system tests.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Optical interconnect is expected to surpass copper in transmission rate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at 448Gbps vs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TextBox 40">
            <a:extLst>
              <a:ext uri="{FF2B5EF4-FFF2-40B4-BE49-F238E27FC236}">
                <a16:creationId xmlns:a16="http://schemas.microsoft.com/office/drawing/2014/main" id="{B60BE343-79D9-0D53-8A84-AE008C14AF2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725172" y="3781358"/>
            <a:ext cx="2481256" cy="20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CPC + LPO 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Co-Packaged Copper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Linear-drive Pluggable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CF3334-8686-B869-5F7A-13596D197ADD}"/>
              </a:ext>
            </a:extLst>
          </p:cNvPr>
          <p:cNvSpPr txBox="1"/>
          <p:nvPr/>
        </p:nvSpPr>
        <p:spPr>
          <a:xfrm>
            <a:off x="4625524" y="4265801"/>
            <a:ext cx="1398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1400" dirty="0">
                <a:ea typeface="Verdana" pitchFamily="34" charset="0"/>
              </a:rPr>
              <a:t>~10W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2874422" y="2027928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3767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1796" y="3527439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0039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7058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310076" y="3276108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2082044" y="21419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396857" y="5247289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677662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270913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231900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044630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​~60%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(port-level)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224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59245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4893483" y="21419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234352" y="2831587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219027" y="4750207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228270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340880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54976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55058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300315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540673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534272" y="2141975"/>
            <a:ext cx="245623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4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Side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view</a:t>
            </a: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611097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345082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324043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15074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550647" y="3109941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425151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487261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396746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845582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316076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385658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382454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626971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555352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232535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472893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52467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543317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277302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256263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08296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537340" y="5049379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341020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421811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328966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4875289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248296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317878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229480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110352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633670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177336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170210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394136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624298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426542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5485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5493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625019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55340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554649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326084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6393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324922" y="532486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 and power consumption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326253" y="6088202"/>
            <a:ext cx="4141402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404547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422969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3249614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1286114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2006839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1287702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205049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2049702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584689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673589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673589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15241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415835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5154263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964485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921903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984025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569758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236111" y="4253758"/>
            <a:ext cx="799571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4207589"/>
            <a:ext cx="475508" cy="314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485109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526980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526980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480018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537190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998756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5160345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5154262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411902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becomes mainstream, global giants are expected to gain even greater influence in the new value chain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can be categorized into scale-up and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723372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06517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099097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051564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711701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036369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711701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3825777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5" y="6287653"/>
            <a:ext cx="11497549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Sitrus Official Web Site.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Note 1: Sitrus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are two leading Chinese companies specializing in high-speed DSP chips and switch chips, respectively. 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713222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r>
              <a:rPr lang="en-US" altLang="zh-CN" sz="1400" baseline="30000" dirty="0"/>
              <a:t>1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064870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50815" y="5064870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67583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527875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647822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3916683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75734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794952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is prioritized in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532468" y="4150344"/>
            <a:ext cx="9841468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828011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442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41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011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7708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03719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288484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01073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521286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764749" y="2840012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941151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players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线连接符 30">
            <a:extLst>
              <a:ext uri="{FF2B5EF4-FFF2-40B4-BE49-F238E27FC236}">
                <a16:creationId xmlns:a16="http://schemas.microsoft.com/office/drawing/2014/main" id="{C94A70D6-4F6E-E7E0-3074-52D3CD4F5781}"/>
              </a:ext>
            </a:extLst>
          </p:cNvPr>
          <p:cNvCxnSpPr>
            <a:cxnSpLocks/>
          </p:cNvCxnSpPr>
          <p:nvPr/>
        </p:nvCxnSpPr>
        <p:spPr>
          <a:xfrm>
            <a:off x="1542305" y="2687148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105157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~$900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Rate 2x -&gt; price 2x;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476761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850697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279235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611089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3163729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port growth and data rate scaling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308654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in early stage, with most players in initial strategic development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60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77" name="Chart 3">
            <a:extLst>
              <a:ext uri="{FF2B5EF4-FFF2-40B4-BE49-F238E27FC236}">
                <a16:creationId xmlns:a16="http://schemas.microsoft.com/office/drawing/2014/main" id="{0660BF01-A0B9-0C16-613E-B99CAF9BF0D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9054829"/>
              </p:ext>
            </p:extLst>
          </p:nvPr>
        </p:nvGraphicFramePr>
        <p:xfrm>
          <a:off x="966788" y="2209800"/>
          <a:ext cx="5924550" cy="393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B11290-C5E8-00BB-FCCF-F66A1471E35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9475" y="59928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1E04587-2444-4732-96DC-933860662048}" type="datetime'2''''''''''''''0''''''''2''''''''''''''4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54E640D-9272-F000-B549-355CD09B77E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873500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704AF08-5A73-4172-8450-A64C7A53E8C5}" type="datetime'2''''''0''''''''''''''''2''''''''''5''''''''''''''''E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757F8F91-D215-3247-2FEE-04319649C05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54675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71BE698-5314-42A0-BD12-BD2606CC9883}" type="datetime'2''''''0''''''''''''''2''''''''6''E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33DB20-BC15-83FB-CF23-93FAD05D020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228850" y="3446463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E5D9EC6-2255-44FD-94F4-6097D973709B}" type="datetime'''''''''''''''''3''''''8'''''''''''''''">
              <a:rPr lang="zh-CN" altLang="en-US" sz="1400" smtClean="0">
                <a:cs typeface="+mn-cs"/>
              </a:rPr>
              <a:pPr/>
              <a:t>38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4A7B7F2-4B74-4B2A-AE0C-719D8345B6C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11613" y="3263900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664D29-F59F-40B0-B461-2618CBEC2152}" type="datetime'''''''''4''''''1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 sz="1400" dirty="0">
              <a:cs typeface="+mn-cs"/>
            </a:endParaRPr>
          </a:p>
        </p:txBody>
      </p:sp>
      <p:sp>
        <p:nvSpPr>
          <p:cNvPr id="148" name="Text Placeholder 4">
            <a:extLst>
              <a:ext uri="{FF2B5EF4-FFF2-40B4-BE49-F238E27FC236}">
                <a16:creationId xmlns:a16="http://schemas.microsoft.com/office/drawing/2014/main" id="{4ACE41F6-3F39-0B4B-67D9-2CAA4D12AB5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5792788" y="3057525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4D5E66F-9534-4A49-9DA4-43101394A066}" type="datetime'''''4''''''''5'''''''''''''''''''''''''''''">
              <a:rPr lang="zh-CN" altLang="en-US" sz="1400" smtClean="0">
                <a:cs typeface="+mn-cs"/>
              </a:rPr>
              <a:pPr/>
              <a:t>45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469900" y="1416050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ASIC shipment unit share </a:t>
            </a:r>
            <a:r>
              <a:rPr lang="zh-CN" altLang="en-US" sz="1600" b="1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b="1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546685" y="1809750"/>
            <a:ext cx="709633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7934720" y="3330257"/>
            <a:ext cx="4353799" cy="914896"/>
            <a:chOff x="8330962" y="3369711"/>
            <a:chExt cx="4353799" cy="91494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4353799" cy="54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7934721" y="2023688"/>
            <a:ext cx="6114326" cy="1177925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4099800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2027–28 to 2026.</a:t>
              </a:r>
            </a:p>
          </p:txBody>
        </p:sp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becomes the long-term trend, and Broadcom plays a central role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11957" y="5089610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5677358" y="2085975"/>
            <a:ext cx="476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400" dirty="0">
              <a:solidFill>
                <a:srgbClr val="53585F"/>
              </a:solidFill>
            </a:endParaRPr>
          </a:p>
        </p:txBody>
      </p:sp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125F3C94-F330-B60B-017B-F4824B0726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4719" y="5066556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2588948" y="5066100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CEC1B2B-95E8-C9DA-834B-D0929E37A03C}"/>
              </a:ext>
            </a:extLst>
          </p:cNvPr>
          <p:cNvSpPr txBox="1"/>
          <p:nvPr/>
        </p:nvSpPr>
        <p:spPr>
          <a:xfrm>
            <a:off x="4392600" y="5043046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pic>
        <p:nvPicPr>
          <p:cNvPr id="140" name="图像" descr="图像">
            <a:extLst>
              <a:ext uri="{FF2B5EF4-FFF2-40B4-BE49-F238E27FC236}">
                <a16:creationId xmlns:a16="http://schemas.microsoft.com/office/drawing/2014/main" id="{2C9EE6E8-6397-5ADF-71AC-39CD9F948A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8910" y="4973563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矩形 151">
            <a:extLst>
              <a:ext uri="{FF2B5EF4-FFF2-40B4-BE49-F238E27FC236}">
                <a16:creationId xmlns:a16="http://schemas.microsoft.com/office/drawing/2014/main" id="{63C863ED-281D-79C8-8479-E8741DEE6FF8}"/>
              </a:ext>
            </a:extLst>
          </p:cNvPr>
          <p:cNvSpPr/>
          <p:nvPr/>
        </p:nvSpPr>
        <p:spPr>
          <a:xfrm>
            <a:off x="5671780" y="2403944"/>
            <a:ext cx="488149" cy="896786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FC1481D-0EE6-05EA-1135-2AF4B9064C35}"/>
              </a:ext>
            </a:extLst>
          </p:cNvPr>
          <p:cNvSpPr txBox="1"/>
          <p:nvPr/>
        </p:nvSpPr>
        <p:spPr>
          <a:xfrm>
            <a:off x="6196252" y="4950053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60-70%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994D21CE-3AEC-0AB1-2EA5-ACB676D607D0}"/>
              </a:ext>
            </a:extLst>
          </p:cNvPr>
          <p:cNvCxnSpPr>
            <a:endCxn id="114" idx="1"/>
          </p:cNvCxnSpPr>
          <p:nvPr/>
        </p:nvCxnSpPr>
        <p:spPr>
          <a:xfrm flipV="1">
            <a:off x="6154349" y="2208399"/>
            <a:ext cx="1780372" cy="195545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9EBAC6A6-816F-D55E-671A-B10C072287F8}"/>
              </a:ext>
            </a:extLst>
          </p:cNvPr>
          <p:cNvCxnSpPr>
            <a:cxnSpLocks/>
            <a:endCxn id="964" idx="1"/>
          </p:cNvCxnSpPr>
          <p:nvPr/>
        </p:nvCxnSpPr>
        <p:spPr>
          <a:xfrm>
            <a:off x="6159929" y="3300730"/>
            <a:ext cx="1774791" cy="214184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894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401" imgH="401" progId="TCLayout.ActiveDocument.1">
                  <p:embed/>
                </p:oleObj>
              </mc:Choice>
              <mc:Fallback>
                <p:oleObj name="think-cell 幻灯片" r:id="rId3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1211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443663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10934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9C6E932D-55E6-802C-F9E0-F8FF5D4BFEC9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40729546"/>
              </p:ext>
            </p:extLst>
          </p:nvPr>
        </p:nvGraphicFramePr>
        <p:xfrm>
          <a:off x="1057275" y="25971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701800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022725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6345238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674100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995025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2654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959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286875" y="60610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81100" y="23415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9213850" y="31734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6508750" y="44767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4187825" y="45831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865313" y="45783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1865313" y="535305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837613" y="44275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6508750" y="5072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4351338" y="54022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9955213" y="48895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148138" y="51657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173413" y="2428875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962400" y="2428875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3394075" y="2374900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4183063" y="2374900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721225"/>
            <a:ext cx="683287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752850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8085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664844" y="1356058"/>
            <a:ext cx="10751185" cy="87152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Weaker per-card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performance, requiring optical interconnect  (CPO)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</a:rPr>
              <a:t>of same‑gen GPU throughput​; Cloud ASICs could drive ​</a:t>
            </a:r>
            <a:r>
              <a:rPr lang="en-US" altLang="zh-CN" sz="1600" b="1" dirty="0">
                <a:solidFill>
                  <a:srgbClr val="0052D9"/>
                </a:solidFill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6743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5680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264695"/>
            <a:ext cx="282576" cy="1254125"/>
          </a:xfrm>
          <a:prstGeom prst="bentConnector3">
            <a:avLst>
              <a:gd name="adj1" fmla="val -808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relies more on optical interconnect, and Broadcom attempts to lock in the data center ecosystem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94272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The only supplier in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fully-automated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listed company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9CA2B7F5-636B-74F6-F003-C7DBB2589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844640"/>
              </p:ext>
            </p:extLst>
          </p:nvPr>
        </p:nvGraphicFramePr>
        <p:xfrm>
          <a:off x="454479" y="3586145"/>
          <a:ext cx="2076555" cy="174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664059" y="5272220"/>
            <a:ext cx="165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cs typeface="+mn-ea"/>
                <a:sym typeface="+mn-lt"/>
              </a:rPr>
              <a:t>Micro-assembly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306300" y="2809593"/>
            <a:ext cx="2372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Revenue </a:t>
            </a:r>
            <a:r>
              <a:rPr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reakdown </a:t>
            </a:r>
          </a:p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(23A)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238384CD-D569-DECA-49ED-B8DB7C34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0" y="3422704"/>
            <a:ext cx="2191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Test equipment, etc.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215615" y="3846837"/>
            <a:ext cx="142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564491" y="3494016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191" y="4869452"/>
            <a:ext cx="1003077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2371036" y="5757070"/>
            <a:ext cx="1117386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AL-Series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970" y="3321827"/>
            <a:ext cx="937518" cy="5175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 is a globally dominant player in 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 packaging and testing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 gross margin,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exceeding the industry average for assembly and testing (~30%).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312916" y="284316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10k RMB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Financials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802430" y="3069550"/>
            <a:ext cx="2511560" cy="936606"/>
            <a:chOff x="3647918" y="2836213"/>
            <a:chExt cx="2511560" cy="936606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2511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564491" y="5335404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E3C97A-979B-FBF5-2F6D-9B167B435D75}"/>
              </a:ext>
            </a:extLst>
          </p:cNvPr>
          <p:cNvSpPr txBox="1"/>
          <p:nvPr/>
        </p:nvSpPr>
        <p:spPr>
          <a:xfrm>
            <a:off x="717530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FiconTEC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is the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key supplier of Nvidia, TSMC, and Broadcom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testing. 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EB3B42-288D-39FE-3D08-3B0C280A9685}"/>
              </a:ext>
            </a:extLst>
          </p:cNvPr>
          <p:cNvGrpSpPr/>
          <p:nvPr/>
        </p:nvGrpSpPr>
        <p:grpSpPr>
          <a:xfrm>
            <a:off x="3802430" y="4951015"/>
            <a:ext cx="2352330" cy="1134285"/>
            <a:chOff x="3802430" y="4806337"/>
            <a:chExt cx="2352330" cy="1134285"/>
          </a:xfrm>
        </p:grpSpPr>
        <p:pic>
          <p:nvPicPr>
            <p:cNvPr id="13" name="图像" descr="图像">
              <a:extLst>
                <a:ext uri="{FF2B5EF4-FFF2-40B4-BE49-F238E27FC236}">
                  <a16:creationId xmlns:a16="http://schemas.microsoft.com/office/drawing/2014/main" id="{0F55D439-9AF4-9096-3A8C-049DE507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7728" y="4806337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C032225-D2D2-9620-A8A2-3A2DA8D0F752}"/>
                </a:ext>
              </a:extLst>
            </p:cNvPr>
            <p:cNvGrpSpPr/>
            <p:nvPr/>
          </p:nvGrpSpPr>
          <p:grpSpPr>
            <a:xfrm>
              <a:off x="3802430" y="4813250"/>
              <a:ext cx="2352330" cy="1127372"/>
              <a:chOff x="3802430" y="4813250"/>
              <a:chExt cx="2352330" cy="1127372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00CB502-63EF-FBC8-D378-1D3CD4CB83AB}"/>
                  </a:ext>
                </a:extLst>
              </p:cNvPr>
              <p:cNvGrpSpPr/>
              <p:nvPr/>
            </p:nvGrpSpPr>
            <p:grpSpPr>
              <a:xfrm>
                <a:off x="3802430" y="4813250"/>
                <a:ext cx="2352330" cy="1127372"/>
                <a:chOff x="3413830" y="4553687"/>
                <a:chExt cx="2352330" cy="1127372"/>
              </a:xfrm>
            </p:grpSpPr>
            <p:pic>
              <p:nvPicPr>
                <p:cNvPr id="35" name="图像" descr="图像">
                  <a:extLst>
                    <a:ext uri="{FF2B5EF4-FFF2-40B4-BE49-F238E27FC236}">
                      <a16:creationId xmlns:a16="http://schemas.microsoft.com/office/drawing/2014/main" id="{4E2D8880-945C-EBA6-EF8B-5FF6C5004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530" y="4553687"/>
                  <a:ext cx="717208" cy="34579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412890-DF33-E443-4B29-DF265BEB8374}"/>
                    </a:ext>
                  </a:extLst>
                </p:cNvPr>
                <p:cNvSpPr txBox="1"/>
                <p:nvPr/>
              </p:nvSpPr>
              <p:spPr>
                <a:xfrm>
                  <a:off x="3413830" y="4942395"/>
                  <a:ext cx="235233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0052D9"/>
                      </a:solidFill>
                      <a:cs typeface="+mn-ea"/>
                      <a:sym typeface="+mn-lt"/>
                    </a:rPr>
                    <a:t>Sole supplier </a:t>
                  </a:r>
                  <a:r>
                    <a:rPr lang="en-US" altLang="zh-CN" sz="1400" dirty="0">
                      <a:solidFill>
                        <a:srgbClr val="333333"/>
                      </a:solidFill>
                      <a:cs typeface="+mn-ea"/>
                      <a:sym typeface="+mn-lt"/>
                    </a:rPr>
                    <a:t>of Broadcom and Nvidia’s CPO optical coupling equipment</a:t>
                  </a:r>
                  <a:endParaRPr lang="zh-CN" altLang="en-US" sz="1400" dirty="0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2894F22-D52A-A819-1E38-4BB559596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804" b="89542" l="9690" r="91860">
                            <a14:foregroundMark x1="10078" y1="40523" x2="10078" y2="40523"/>
                            <a14:foregroundMark x1="20930" y1="37255" x2="20930" y2="37255"/>
                            <a14:foregroundMark x1="32171" y1="35948" x2="32171" y2="35948"/>
                            <a14:foregroundMark x1="40698" y1="37255" x2="40698" y2="37255"/>
                            <a14:foregroundMark x1="52713" y1="39869" x2="52713" y2="39869"/>
                            <a14:foregroundMark x1="60465" y1="35948" x2="60465" y2="35948"/>
                            <a14:foregroundMark x1="72093" y1="30719" x2="72093" y2="30719"/>
                            <a14:foregroundMark x1="81783" y1="36601" x2="81783" y2="36601"/>
                            <a14:foregroundMark x1="91860" y1="40523" x2="91860" y2="40523"/>
                            <a14:foregroundMark x1="23643" y1="68627" x2="23643" y2="68627"/>
                            <a14:foregroundMark x1="35271" y1="75163" x2="35271" y2="75163"/>
                            <a14:foregroundMark x1="45349" y1="71242" x2="45349" y2="71242"/>
                            <a14:foregroundMark x1="58140" y1="73203" x2="58140" y2="7320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433714" y="4846088"/>
                <a:ext cx="482359" cy="286050"/>
              </a:xfrm>
              <a:prstGeom prst="rect">
                <a:avLst/>
              </a:prstGeom>
            </p:spPr>
          </p:pic>
        </p:grpSp>
      </p:grp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829841"/>
              </p:ext>
            </p:extLst>
          </p:nvPr>
        </p:nvGraphicFramePr>
        <p:xfrm>
          <a:off x="6513081" y="3181720"/>
          <a:ext cx="5196943" cy="294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771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30864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AIDC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gets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b="1" dirty="0">
                <a:solidFill>
                  <a:srgbClr val="0052D9"/>
                </a:solidFill>
              </a:rPr>
              <a:t>CPO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is the </a:t>
            </a:r>
            <a:r>
              <a:rPr kumimoji="1" lang="en-US" altLang="zh-CN" b="1" dirty="0">
                <a:solidFill>
                  <a:srgbClr val="0052D9"/>
                </a:solidFill>
              </a:rPr>
              <a:t>long-term bet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while near-term solution </a:t>
            </a:r>
            <a:r>
              <a:rPr kumimoji="1" lang="en-US" altLang="zh-CN">
                <a:solidFill>
                  <a:schemeClr val="accent6">
                    <a:lumMod val="10000"/>
                  </a:schemeClr>
                </a:solidFill>
              </a:rPr>
              <a:t>is still not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58946765093549302605E+00&quot;&gt;&lt;m_msothmcolidx val=&quot;0&quot;/&gt;&lt;m_rgb r=&quot;00&quot; g=&quot;52&quot; b=&quot;D9&quot;/&gt;&lt;/elem&gt;&lt;elem m_fUsage=&quot;2.88523421035825233805E-01&quot;&gt;&lt;m_msothmcolidx val=&quot;0&quot;/&gt;&lt;m_rgb r=&quot;C1&quot; g=&quot;E1&quot; b=&quot;FE&quot;/&gt;&lt;/elem&gt;&lt;elem m_fUsage=&quot;2.5031555049932444068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UCi9eY7gNLWFBUd_J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2ivospCuo22Xw_JiRA_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Ut2Mtmg1.kZ6dZzXrpP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Fhllhrvd6V41kLH8Zmb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1A72f0cVKodMbyCYFic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R3xfsd18NGxgnxdTL46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51346</TotalTime>
  <Words>3974</Words>
  <Application>Microsoft Office PowerPoint</Application>
  <PresentationFormat>宽屏</PresentationFormat>
  <Paragraphs>994</Paragraphs>
  <Slides>30</Slides>
  <Notes>26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 (CPO): an intro to AIDC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5991</cp:revision>
  <dcterms:created xsi:type="dcterms:W3CDTF">2025-06-16T21:28:33Z</dcterms:created>
  <dcterms:modified xsi:type="dcterms:W3CDTF">2025-10-16T14:18:31Z</dcterms:modified>
</cp:coreProperties>
</file>