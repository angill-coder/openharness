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8.xml" ContentType="application/vnd.openxmlformats-officedocument.presentationml.notesSlide+xml"/>
  <Override PartName="/ppt/tags/tag56.xml" ContentType="application/vnd.openxmlformats-officedocument.presentationml.tags+xml"/>
  <Override PartName="/ppt/notesSlides/notesSlide9.xml" ContentType="application/vnd.openxmlformats-officedocument.presentationml.notesSlide+xml"/>
  <Override PartName="/ppt/tags/tag57.xml" ContentType="application/vnd.openxmlformats-officedocument.presentationml.tags+xml"/>
  <Override PartName="/ppt/notesSlides/notesSlide10.xml" ContentType="application/vnd.openxmlformats-officedocument.presentationml.notesSlide+xml"/>
  <Override PartName="/ppt/tags/tag58.xml" ContentType="application/vnd.openxmlformats-officedocument.presentationml.tags+xml"/>
  <Override PartName="/ppt/notesSlides/notesSlide11.xml" ContentType="application/vnd.openxmlformats-officedocument.presentationml.notesSlide+xml"/>
  <Override PartName="/ppt/tags/tag59.xml" ContentType="application/vnd.openxmlformats-officedocument.presentationml.tags+xml"/>
  <Override PartName="/ppt/notesSlides/notesSlide12.xml" ContentType="application/vnd.openxmlformats-officedocument.presentationml.notesSlide+xml"/>
  <Override PartName="/ppt/tags/tag60.xml" ContentType="application/vnd.openxmlformats-officedocument.presentationml.tags+xml"/>
  <Override PartName="/ppt/notesSlides/notesSlide13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9.xml" ContentType="application/vnd.openxmlformats-officedocument.drawingml.chart+xml"/>
  <Override PartName="/ppt/tags/tag112.xml" ContentType="application/vnd.openxmlformats-officedocument.presentationml.tags+xml"/>
  <Override PartName="/ppt/notesSlides/notesSlide16.xml" ContentType="application/vnd.openxmlformats-officedocument.presentationml.notesSlide+xml"/>
  <Override PartName="/ppt/tags/tag113.xml" ContentType="application/vnd.openxmlformats-officedocument.presentationml.tags+xml"/>
  <Override PartName="/ppt/notesSlides/notesSlide17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18.xml" ContentType="application/vnd.openxmlformats-officedocument.presentationml.notesSlide+xml"/>
  <Override PartName="/ppt/charts/chart10.xml" ContentType="application/vnd.openxmlformats-officedocument.drawingml.chart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notesSlides/notesSlide19.xml" ContentType="application/vnd.openxmlformats-officedocument.presentationml.notesSlide+xml"/>
  <Override PartName="/ppt/charts/chart11.xml" ContentType="application/vnd.openxmlformats-officedocument.drawingml.chart+xml"/>
  <Override PartName="/ppt/tags/tag166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12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167.xml" ContentType="application/vnd.openxmlformats-officedocument.presentationml.tags+xml"/>
  <Override PartName="/ppt/notesSlides/notesSlide21.xml" ContentType="application/vnd.openxmlformats-officedocument.presentationml.notesSlide+xml"/>
  <Override PartName="/ppt/charts/chart13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4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5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notesSlides/notesSlide22.xml" ContentType="application/vnd.openxmlformats-officedocument.presentationml.notesSlide+xml"/>
  <Override PartName="/ppt/tags/tag175.xml" ContentType="application/vnd.openxmlformats-officedocument.presentationml.tags+xml"/>
  <Override PartName="/ppt/notesSlides/notesSlide23.xml" ContentType="application/vnd.openxmlformats-officedocument.presentationml.notesSlide+xml"/>
  <Override PartName="/ppt/tags/tag176.xml" ContentType="application/vnd.openxmlformats-officedocument.presentationml.tags+xml"/>
  <Override PartName="/ppt/notesSlides/notesSlide24.xml" ContentType="application/vnd.openxmlformats-officedocument.presentationml.notesSlide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notesSlides/notesSlide25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tags/tag198.xml" ContentType="application/vnd.openxmlformats-officedocument.presentationml.tags+xml"/>
  <Override PartName="/ppt/notesSlides/notesSlide26.xml" ContentType="application/vnd.openxmlformats-officedocument.presentationml.notesSlide+xml"/>
  <Override PartName="/ppt/tags/tag199.xml" ContentType="application/vnd.openxmlformats-officedocument.presentationml.tags+xml"/>
  <Override PartName="/ppt/notesSlides/notesSlide27.xml" ContentType="application/vnd.openxmlformats-officedocument.presentationml.notesSlide+xml"/>
  <Override PartName="/ppt/tags/tag20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147473085" r:id="rId3"/>
    <p:sldId id="2147473086" r:id="rId4"/>
    <p:sldId id="2147473087" r:id="rId5"/>
    <p:sldId id="332" r:id="rId6"/>
    <p:sldId id="319" r:id="rId7"/>
    <p:sldId id="338" r:id="rId8"/>
    <p:sldId id="2147473081" r:id="rId9"/>
    <p:sldId id="317" r:id="rId10"/>
    <p:sldId id="321" r:id="rId11"/>
    <p:sldId id="334" r:id="rId12"/>
    <p:sldId id="2147473074" r:id="rId13"/>
    <p:sldId id="320" r:id="rId14"/>
    <p:sldId id="364" r:id="rId15"/>
    <p:sldId id="2147473083" r:id="rId16"/>
    <p:sldId id="326" r:id="rId17"/>
    <p:sldId id="315" r:id="rId18"/>
    <p:sldId id="344" r:id="rId19"/>
    <p:sldId id="367" r:id="rId20"/>
    <p:sldId id="370" r:id="rId21"/>
    <p:sldId id="372" r:id="rId22"/>
    <p:sldId id="327" r:id="rId23"/>
    <p:sldId id="2147473076" r:id="rId24"/>
    <p:sldId id="2147473084" r:id="rId25"/>
    <p:sldId id="331" r:id="rId26"/>
    <p:sldId id="339" r:id="rId27"/>
    <p:sldId id="363" r:id="rId28"/>
    <p:sldId id="2147473077" r:id="rId29"/>
    <p:sldId id="341" r:id="rId30"/>
    <p:sldId id="322" r:id="rId31"/>
    <p:sldId id="283" r:id="rId32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2147473085"/>
          </p14:sldIdLst>
        </p14:section>
        <p14:section name="1. Why CPO?" id="{200816D2-54B9-45F9-8CDC-D4443BE7A066}">
          <p14:sldIdLst>
            <p14:sldId id="2147473086"/>
          </p14:sldIdLst>
        </p14:section>
        <p14:section name="2. Why optical? Why co-packaged?" id="{9A5BC1CD-E46C-43F3-91AB-DCB40303C4FD}">
          <p14:sldIdLst>
            <p14:sldId id="2147473087"/>
            <p14:sldId id="332"/>
            <p14:sldId id="319"/>
            <p14:sldId id="338"/>
          </p14:sldIdLst>
        </p14:section>
        <p14:section name="2.1. From PO to CPO" id="{AC662842-13A9-4DD4-839E-4873B26B8162}">
          <p14:sldIdLst>
            <p14:sldId id="2147473081"/>
            <p14:sldId id="317"/>
            <p14:sldId id="321"/>
          </p14:sldIdLst>
        </p14:section>
        <p14:section name="3. Where Optical fits first: scale up or scale out?" id="{1A99B8B5-BE1D-46F2-B67F-83B8C3D9DB4A}">
          <p14:sldIdLst>
            <p14:sldId id="334"/>
            <p14:sldId id="2147473074"/>
            <p14:sldId id="320"/>
            <p14:sldId id="364"/>
          </p14:sldIdLst>
        </p14:section>
        <p14:section name="4. How big?" id="{5A34DE6B-36BE-4840-9C61-5B0269E52512}">
          <p14:sldIdLst>
            <p14:sldId id="2147473083"/>
          </p14:sldIdLst>
        </p14:section>
        <p14:section name="5. Which segment matters most?" id="{8B027970-4C5E-4A21-ABEE-C3F2C08A42F2}">
          <p14:sldIdLst>
            <p14:sldId id="326"/>
            <p14:sldId id="315"/>
            <p14:sldId id="344"/>
          </p14:sldIdLst>
        </p14:section>
        <p14:section name="6. Key players to watch: Broadcom and ficonTEC" id="{2FC5CD99-587C-4ED3-8213-2F2A4313F971}">
          <p14:sldIdLst>
            <p14:sldId id="367"/>
            <p14:sldId id="370"/>
            <p14:sldId id="372"/>
            <p14:sldId id="327"/>
            <p14:sldId id="2147473076"/>
            <p14:sldId id="2147473084"/>
            <p14:sldId id="331"/>
          </p14:sldIdLst>
        </p14:section>
        <p14:section name="Appendix" id="{8B5E7F54-8D61-4CE1-89AB-837BCD335EC0}">
          <p14:sldIdLst>
            <p14:sldId id="339"/>
            <p14:sldId id="363"/>
            <p14:sldId id="2147473077"/>
            <p14:sldId id="34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A6A6A6"/>
    <a:srgbClr val="53585F"/>
    <a:srgbClr val="F2F2F2"/>
    <a:srgbClr val="0256FF"/>
    <a:srgbClr val="E94D12"/>
    <a:srgbClr val="ECF6FF"/>
    <a:srgbClr val="DDE3F1"/>
    <a:srgbClr val="C1E1FE"/>
    <a:srgbClr val="9AB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22" autoAdjust="0"/>
    <p:restoredTop sz="86019" autoAdjust="0"/>
  </p:normalViewPr>
  <p:slideViewPr>
    <p:cSldViewPr snapToGrid="0">
      <p:cViewPr varScale="1">
        <p:scale>
          <a:sx n="64" d="100"/>
          <a:sy n="64" d="100"/>
        </p:scale>
        <p:origin x="562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929_CPO&#24213;&#3129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4044368600682595E-2"/>
          <c:y val="0.15735068912710568"/>
          <c:w val="0.81484641638225253"/>
          <c:h val="0.7488514548238897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2B4-47EC-90FF-B062007EC5D1}"/>
              </c:ext>
            </c:extLst>
          </c:dPt>
          <c:dPt>
            <c:idx val="3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2B4-47EC-90FF-B062007EC5D1}"/>
              </c:ext>
            </c:extLst>
          </c:dPt>
          <c:dLbls>
            <c:dLbl>
              <c:idx val="1"/>
              <c:layout>
                <c:manualLayout>
                  <c:x val="0.32124573378839588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2B4-47EC-90FF-B062007EC5D1}"/>
                </c:ext>
              </c:extLst>
            </c:dLbl>
            <c:dLbl>
              <c:idx val="2"/>
              <c:layout>
                <c:manualLayout>
                  <c:x val="0.4573378839590443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2B4-47EC-90FF-B062007EC5D1}"/>
                </c:ext>
              </c:extLst>
            </c:dLbl>
            <c:dLbl>
              <c:idx val="3"/>
              <c:layout>
                <c:manualLayout>
                  <c:x val="0.1821672354948805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2B4-47EC-90FF-B062007EC5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15</c:v>
                </c:pt>
                <c:pt idx="3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B4-47EC-90FF-B062007EC5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51664"/>
        <c:axId val="1"/>
      </c:barChart>
      <c:catAx>
        <c:axId val="7445166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4451664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CF-42DE-BB37-8C72B62C3948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CF-42DE-BB37-8C72B62C3948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CF-42DE-BB37-8C72B62C3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7402269861286254"/>
          <c:w val="0.72258064516129028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62-4FCF-991F-262FCD3BEB6E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26733921815889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E62-4FCF-991F-262FCD3BEB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801105775"/>
        <c:axId val="1"/>
      </c:barChart>
      <c:catAx>
        <c:axId val="18011057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011057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7402269861286254"/>
          <c:w val="0.92817679558011046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3556116015132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BD-463C-90FC-E5BB06559BA3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BD-463C-90FC-E5BB06559B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91252944"/>
        <c:axId val="1"/>
      </c:barChart>
      <c:catAx>
        <c:axId val="2912529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12529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081-4540-9C3A-BFCE62F5BD0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081-4540-9C3A-BFCE62F5BD0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081-4540-9C3A-BFCE62F5BD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81-4540-9C3A-BFCE62F5B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37744"/>
        <c:axId val="1"/>
      </c:barChart>
      <c:catAx>
        <c:axId val="744377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44377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69724770642202E-2"/>
          <c:y val="8.8888888888888892E-2"/>
          <c:w val="0.92660550458715596"/>
          <c:h val="0.8222222222222221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1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6D8-403B-B878-23AEDAEC52C1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6D8-403B-B878-23AEDAEC52C1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Sheet1!$A$3:$C$3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6D8-403B-B878-23AEDAEC52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94443952"/>
        <c:axId val="1"/>
      </c:lineChart>
      <c:catAx>
        <c:axId val="39444395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394443952"/>
        <c:crosses val="min"/>
        <c:crossBetween val="midCat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4924289566479984E-2"/>
          <c:y val="0.10483586304271091"/>
          <c:w val="0.88301182327317984"/>
          <c:h val="0.78220967172608546"/>
        </c:manualLayout>
      </c:layout>
      <c:scatterChart>
        <c:scatterStyle val="lineMarker"/>
        <c:varyColors val="0"/>
        <c:ser>
          <c:idx val="0"/>
          <c:order val="0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1987139597593859E-2"/>
                  <c:y val="-3.671020120014119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960-4DF6-B1A9-57FBBD17A90A}"/>
                </c:ext>
              </c:extLst>
            </c:dLbl>
            <c:dLbl>
              <c:idx val="2"/>
              <c:layout>
                <c:manualLayout>
                  <c:x val="0"/>
                  <c:y val="-3.671020120014119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960-4DF6-B1A9-57FBBD17A90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38</c:v>
                </c:pt>
                <c:pt idx="1">
                  <c:v>41</c:v>
                </c:pt>
                <c:pt idx="2">
                  <c:v>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B960-4DF6-B1A9-57FBBD17A9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Sheet1!$B$1:$B$17</c:f>
              <c:numCache>
                <c:formatCode>General</c:formatCode>
                <c:ptCount val="17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1E-43AC-97F8-67DCC15B9428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</c:numCache>
            </c:numRef>
          </c:xVal>
          <c:yVal>
            <c:numRef>
              <c:f>Sheet1!$C$1:$C$17</c:f>
              <c:numCache>
                <c:formatCode>General</c:formatCode>
                <c:ptCount val="17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F1E-43AC-97F8-67DCC15B9428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circle"/>
            <c:size val="7"/>
            <c:spPr>
              <a:solidFill>
                <a:srgbClr val="C0C0C0"/>
              </a:solidFill>
              <a:ln w="9525" cmpd="sng" algn="ctr">
                <a:solidFill>
                  <a:srgbClr val="C0C0C0"/>
                </a:solidFill>
                <a:prstDash val="solid"/>
              </a:ln>
            </c:spPr>
          </c:marker>
          <c:dPt>
            <c:idx val="11"/>
            <c:marker>
              <c:spPr>
                <a:solidFill>
                  <a:schemeClr val="accent5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F1E-43AC-97F8-67DCC15B9428}"/>
              </c:ext>
            </c:extLst>
          </c:dPt>
          <c:xVal>
            <c:numRef>
              <c:f>Sheet1!$A$1:$A$17</c:f>
              <c:numCache>
                <c:formatCode>General</c:formatCode>
                <c:ptCount val="17"/>
                <c:pt idx="10">
                  <c:v>19723</c:v>
                </c:pt>
                <c:pt idx="11">
                  <c:v>20089</c:v>
                </c:pt>
                <c:pt idx="12">
                  <c:v>20089</c:v>
                </c:pt>
                <c:pt idx="13">
                  <c:v>19723</c:v>
                </c:pt>
                <c:pt idx="14">
                  <c:v>18993</c:v>
                </c:pt>
              </c:numCache>
            </c:numRef>
          </c:xVal>
          <c:yVal>
            <c:numRef>
              <c:f>Sheet1!$D$1:$D$17</c:f>
              <c:numCache>
                <c:formatCode>General</c:formatCode>
                <c:ptCount val="17"/>
                <c:pt idx="10">
                  <c:v>2615</c:v>
                </c:pt>
                <c:pt idx="11">
                  <c:v>5000</c:v>
                </c:pt>
                <c:pt idx="12">
                  <c:v>4600</c:v>
                </c:pt>
                <c:pt idx="13">
                  <c:v>1835</c:v>
                </c:pt>
                <c:pt idx="14">
                  <c:v>432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F1E-43AC-97F8-67DCC15B9428}"/>
            </c:ext>
          </c:extLst>
        </c:ser>
        <c:ser>
          <c:idx val="3"/>
          <c:order val="3"/>
          <c:spPr>
            <a:ln>
              <a:noFill/>
            </a:ln>
          </c:spPr>
          <c:marker>
            <c:symbol val="circle"/>
            <c:size val="7"/>
            <c:spPr>
              <a:solidFill>
                <a:srgbClr val="C30C3E"/>
              </a:solidFill>
              <a:ln w="9525" cmpd="sng" algn="ctr">
                <a:solidFill>
                  <a:srgbClr val="C30C3E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15">
                  <c:v>20089</c:v>
                </c:pt>
                <c:pt idx="16">
                  <c:v>19358</c:v>
                </c:pt>
              </c:numCache>
            </c:numRef>
          </c:xVal>
          <c:yVal>
            <c:numRef>
              <c:f>Sheet1!$E$1:$E$17</c:f>
              <c:numCache>
                <c:formatCode>General</c:formatCode>
                <c:ptCount val="17"/>
                <c:pt idx="15">
                  <c:v>800</c:v>
                </c:pt>
                <c:pt idx="16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F1E-43AC-97F8-67DCC15B94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0527007"/>
        <c:axId val="1"/>
      </c:scatterChart>
      <c:valAx>
        <c:axId val="130527007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0527007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45181605359569404"/>
                  <c:y val="-9.28574360879713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17024892085929"/>
                      <c:h val="0.181687598510008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0.19933061188045326"/>
                  <c:y val="0.2474961197267989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6"/>
            </a:solidFill>
          </c:spPr>
          <c:dPt>
            <c:idx val="0"/>
            <c:bubble3D val="0"/>
            <c:explosion val="9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9-495D-97DB-D08FE0B5DAB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99-495D-97DB-D08FE0B5DAB2}"/>
              </c:ext>
            </c:extLst>
          </c:dPt>
          <c:dLbls>
            <c:dLbl>
              <c:idx val="0"/>
              <c:layout>
                <c:manualLayout>
                  <c:x val="-0.18208374909235203"/>
                  <c:y val="6.4115210977213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9-495D-97DB-D08FE0B5DAB2}"/>
                </c:ext>
              </c:extLst>
            </c:dLbl>
            <c:dLbl>
              <c:idx val="1"/>
              <c:layout>
                <c:manualLayout>
                  <c:x val="0.21953623863801"/>
                  <c:y val="-2.75801479811291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99-495D-97DB-D08FE0B5D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Ficontec!$K$2:$K$3</c:f>
              <c:strCache>
                <c:ptCount val="2"/>
                <c:pt idx="0">
                  <c:v>前五大客户</c:v>
                </c:pt>
                <c:pt idx="1">
                  <c:v>其他</c:v>
                </c:pt>
              </c:strCache>
            </c:strRef>
          </c:cat>
          <c:val>
            <c:numRef>
              <c:f>Ficontec!$L$2:$L$3</c:f>
              <c:numCache>
                <c:formatCode>0%</c:formatCode>
                <c:ptCount val="2"/>
                <c:pt idx="0">
                  <c:v>0.42</c:v>
                </c:pt>
                <c:pt idx="1">
                  <c:v>0.58000000000000007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99-495D-97DB-D08FE0B5DAB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0052D9"/>
            </a:solidFill>
          </c:spPr>
          <c:dPt>
            <c:idx val="0"/>
            <c:bubble3D val="0"/>
            <c:explosion val="8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04-412D-B844-C5F261DCD04A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04-412D-B844-C5F261DCD04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504-412D-B844-C5F261DCD0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Ficontec!$O$2:$O$3</c:f>
              <c:strCache>
                <c:ptCount val="2"/>
                <c:pt idx="0">
                  <c:v>Tech Group AS</c:v>
                </c:pt>
                <c:pt idx="1">
                  <c:v>其他</c:v>
                </c:pt>
              </c:strCache>
            </c:strRef>
          </c:cat>
          <c:val>
            <c:numRef>
              <c:f>Ficontec!$P$2:$P$3</c:f>
              <c:numCache>
                <c:formatCode>0%</c:formatCode>
                <c:ptCount val="2"/>
                <c:pt idx="0">
                  <c:v>0.38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04-412D-B844-C5F261DCD0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5E-4432-9216-DA7D215BDDAB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margin (left)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5E-4432-9216-DA7D215BDD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5E-4432-9216-DA7D215BDD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98411808"/>
        <c:crosses val="max"/>
        <c:crossBetween val="between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无源铜缆（安费诺、立讯）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现有功耗数据是单模，单模是趋势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800G AEC</a:t>
            </a:r>
            <a:r>
              <a:rPr lang="zh-CN" altLang="en-US" dirty="0"/>
              <a:t> </a:t>
            </a:r>
            <a:r>
              <a:rPr lang="en-US" altLang="zh-CN" dirty="0"/>
              <a:t>10W</a:t>
            </a:r>
            <a:r>
              <a:rPr lang="zh-CN" altLang="en-US" dirty="0"/>
              <a:t>（</a:t>
            </a:r>
            <a:r>
              <a:rPr lang="en-US" altLang="zh-CN" dirty="0"/>
              <a:t>5m</a:t>
            </a:r>
            <a:r>
              <a:rPr lang="zh-CN" altLang="en-US" dirty="0"/>
              <a:t>），</a:t>
            </a:r>
            <a:r>
              <a:rPr lang="en-US" altLang="zh-CN" dirty="0"/>
              <a:t>5W</a:t>
            </a:r>
            <a:r>
              <a:rPr lang="zh-CN" altLang="en-US" dirty="0"/>
              <a:t>有可能是</a:t>
            </a:r>
            <a:r>
              <a:rPr lang="en-US" altLang="zh-CN" dirty="0"/>
              <a:t>half</a:t>
            </a:r>
            <a:r>
              <a:rPr lang="zh-CN" altLang="en-US" dirty="0"/>
              <a:t>架构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单模是未来趋势，多模速率难提升（</a:t>
            </a:r>
            <a:r>
              <a:rPr lang="en-US" altLang="zh-CN" dirty="0"/>
              <a:t>224G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LPO </a:t>
            </a:r>
            <a:r>
              <a:rPr lang="zh-CN" altLang="en-US" dirty="0"/>
              <a:t>隐性成本高，稳定性并不理想；线性架构导致性能（连通性）没有那么高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NPO </a:t>
            </a:r>
            <a:r>
              <a:rPr lang="zh-CN" altLang="en-US" dirty="0"/>
              <a:t>压接，非毁坏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Rubin Ultra NVL576: 144x GPUs with 576 dies;</a:t>
            </a:r>
          </a:p>
          <a:p>
            <a:r>
              <a:rPr lang="en-US" altLang="zh-CN" dirty="0"/>
              <a:t>GB200 NVL72: 72 GPUs.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Sitrus</a:t>
            </a:r>
            <a:r>
              <a:rPr lang="zh-CN" altLang="en-US" dirty="0"/>
              <a:t>、盛科备注：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363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Broadcom TH 5 CPO switch’s first customers: Meta, Tencent, </a:t>
            </a:r>
            <a:r>
              <a:rPr lang="en-US" altLang="zh-CN" dirty="0" err="1"/>
              <a:t>Bytedance</a:t>
            </a:r>
            <a:r>
              <a:rPr lang="en-US" altLang="zh-CN" dirty="0"/>
              <a:t>. Meta</a:t>
            </a:r>
            <a:r>
              <a:rPr lang="zh-CN" altLang="en-US" dirty="0"/>
              <a:t>正在小规模试验点，稳定性有待商榷（</a:t>
            </a:r>
            <a:r>
              <a:rPr lang="en-US" altLang="zh-CN" dirty="0"/>
              <a:t>BER</a:t>
            </a:r>
            <a:r>
              <a:rPr lang="zh-CN" altLang="en-US" dirty="0"/>
              <a:t>相比</a:t>
            </a:r>
            <a:r>
              <a:rPr lang="en-US" altLang="zh-CN" dirty="0"/>
              <a:t>PO</a:t>
            </a:r>
            <a:r>
              <a:rPr lang="zh-CN" altLang="en-US" dirty="0"/>
              <a:t>低两到三个数量级，但比</a:t>
            </a:r>
            <a:r>
              <a:rPr lang="en-US" altLang="zh-CN" dirty="0"/>
              <a:t>TH 4</a:t>
            </a:r>
            <a:r>
              <a:rPr lang="zh-CN" altLang="en-US" dirty="0"/>
              <a:t>高 </a:t>
            </a:r>
            <a:r>
              <a:rPr lang="en-US" altLang="zh-CN" dirty="0"/>
              <a:t>2-3</a:t>
            </a:r>
            <a:r>
              <a:rPr lang="zh-CN" altLang="en-US" dirty="0"/>
              <a:t>个数量级）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光模块配比：线性</a:t>
            </a:r>
            <a:r>
              <a:rPr lang="en-US" altLang="zh-CN" dirty="0"/>
              <a:t>+</a:t>
            </a:r>
            <a:r>
              <a:rPr lang="zh-CN" altLang="en-US" dirty="0"/>
              <a:t>阶跃</a:t>
            </a:r>
            <a:endParaRPr lang="en-US" dirty="0"/>
          </a:p>
          <a:p>
            <a:r>
              <a:rPr lang="en-US" dirty="0"/>
              <a:t>1</a:t>
            </a:r>
            <a:r>
              <a:rPr lang="zh-CN" altLang="en-US" dirty="0"/>
              <a:t>层：几百到几千，</a:t>
            </a:r>
            <a:r>
              <a:rPr lang="en-US" altLang="zh-CN" dirty="0"/>
              <a:t>1:3</a:t>
            </a:r>
          </a:p>
          <a:p>
            <a:r>
              <a:rPr lang="en-US" dirty="0"/>
              <a:t>2</a:t>
            </a:r>
            <a:r>
              <a:rPr lang="zh-CN" altLang="en-US" dirty="0"/>
              <a:t>层：万卡，</a:t>
            </a:r>
            <a:r>
              <a:rPr lang="en-US" altLang="zh-CN" dirty="0"/>
              <a:t>1:5</a:t>
            </a:r>
          </a:p>
          <a:p>
            <a:r>
              <a:rPr lang="en-US" dirty="0"/>
              <a:t>3</a:t>
            </a:r>
            <a:r>
              <a:rPr lang="zh-CN" altLang="en-US" dirty="0"/>
              <a:t>层：大几万卡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谷歌</a:t>
            </a:r>
            <a:r>
              <a:rPr lang="en-US" altLang="zh-CN" dirty="0"/>
              <a:t>TPU</a:t>
            </a:r>
            <a:r>
              <a:rPr lang="zh-CN" altLang="en-US" dirty="0"/>
              <a:t>出货量：</a:t>
            </a:r>
            <a:r>
              <a:rPr lang="en-US" altLang="zh-CN" dirty="0"/>
              <a:t>2025, 2-2.5mn</a:t>
            </a:r>
            <a:r>
              <a:rPr lang="zh-CN" altLang="en-US" dirty="0"/>
              <a:t>，占</a:t>
            </a:r>
            <a:r>
              <a:rPr lang="en-US" altLang="zh-CN" dirty="0"/>
              <a:t>75%</a:t>
            </a:r>
            <a:r>
              <a:rPr lang="zh-CN" altLang="en-US" dirty="0"/>
              <a:t>（份额预计长期保持）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博通</a:t>
            </a:r>
            <a:r>
              <a:rPr lang="en-US" altLang="zh-CN" dirty="0"/>
              <a:t>TH6 CPO</a:t>
            </a:r>
            <a:r>
              <a:rPr lang="zh-CN" altLang="en-US" dirty="0"/>
              <a:t>芯片报价：可能为</a:t>
            </a:r>
            <a:r>
              <a:rPr lang="en-US" altLang="zh-CN" dirty="0"/>
              <a:t>$20k</a:t>
            </a:r>
            <a:r>
              <a:rPr lang="zh-CN" altLang="en-US" dirty="0"/>
              <a:t>，</a:t>
            </a:r>
            <a:r>
              <a:rPr lang="en-US" altLang="zh-CN" dirty="0"/>
              <a:t>BOM</a:t>
            </a:r>
            <a:r>
              <a:rPr lang="zh-CN" altLang="en-US" dirty="0"/>
              <a:t>占比</a:t>
            </a:r>
            <a:r>
              <a:rPr lang="en-US" altLang="zh-CN" dirty="0"/>
              <a:t>20-30%</a:t>
            </a:r>
            <a:r>
              <a:rPr lang="zh-CN" altLang="en-US" dirty="0"/>
              <a:t>，整机价格</a:t>
            </a:r>
            <a:r>
              <a:rPr lang="en-US" altLang="zh-CN" dirty="0"/>
              <a:t>$60-100k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36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删</a:t>
            </a:r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F003-E03B-537C-77FD-36F84EE2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9CE9ED-012E-2F0E-85E1-3EDADC460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A3CA08-D59B-F645-3F9D-C77975767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6F8B8D-2853-E2A5-D1B5-DA7BA3BF7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3514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F65D-05B4-6E46-409D-38911DEE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76BE86-5122-7EBB-C1DF-0EC4BCB04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6F3BC-ADCD-B45C-44BE-C323DF996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D32B4-2CCA-6BEB-A9A5-CE90CB7D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4817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光进铜退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场景：光会先在</a:t>
            </a:r>
            <a:r>
              <a:rPr lang="en-US" altLang="zh-CN" dirty="0"/>
              <a:t>scale 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路径：长期</a:t>
            </a:r>
            <a:r>
              <a:rPr lang="en-US" altLang="zh-CN" dirty="0"/>
              <a:t>CPO</a:t>
            </a:r>
            <a:r>
              <a:rPr lang="zh-CN" altLang="en-US" dirty="0"/>
              <a:t>短期不明朗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3350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98E0C6-D3B1-F8C9-B459-367963940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7.xml"/><Relationship Id="rId7" Type="http://schemas.openxmlformats.org/officeDocument/2006/relationships/oleObject" Target="../embeddings/oleObject4.bin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12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.xml"/><Relationship Id="rId10" Type="http://schemas.openxmlformats.org/officeDocument/2006/relationships/chart" Target="../charts/chart1.xml"/><Relationship Id="rId4" Type="http://schemas.openxmlformats.org/officeDocument/2006/relationships/tags" Target="../tags/tag13.xml"/><Relationship Id="rId9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9.jpe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chart" Target="../charts/chart2.xml"/><Relationship Id="rId17" Type="http://schemas.openxmlformats.org/officeDocument/2006/relationships/image" Target="../media/image22.jpeg"/><Relationship Id="rId2" Type="http://schemas.openxmlformats.org/officeDocument/2006/relationships/tags" Target="../tags/tag16.xml"/><Relationship Id="rId16" Type="http://schemas.microsoft.com/office/2007/relationships/hdphoto" Target="../media/hdphoto2.wdp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8.emf"/><Relationship Id="rId5" Type="http://schemas.openxmlformats.org/officeDocument/2006/relationships/tags" Target="../tags/tag19.xml"/><Relationship Id="rId15" Type="http://schemas.openxmlformats.org/officeDocument/2006/relationships/image" Target="../media/image21.png"/><Relationship Id="rId10" Type="http://schemas.openxmlformats.org/officeDocument/2006/relationships/oleObject" Target="../embeddings/oleObject7.bin"/><Relationship Id="rId4" Type="http://schemas.openxmlformats.org/officeDocument/2006/relationships/tags" Target="../tags/tag18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slideLayout" Target="../slideLayouts/slideLayout2.xml"/><Relationship Id="rId18" Type="http://schemas.openxmlformats.org/officeDocument/2006/relationships/chart" Target="../charts/chart4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chart" Target="../charts/chart3.xml"/><Relationship Id="rId2" Type="http://schemas.openxmlformats.org/officeDocument/2006/relationships/tags" Target="../tags/tag23.xml"/><Relationship Id="rId16" Type="http://schemas.openxmlformats.org/officeDocument/2006/relationships/image" Target="../media/image8.emf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oleObject" Target="../embeddings/oleObject8.bin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26" Type="http://schemas.openxmlformats.org/officeDocument/2006/relationships/image" Target="../media/image18.emf"/><Relationship Id="rId3" Type="http://schemas.openxmlformats.org/officeDocument/2006/relationships/tags" Target="../tags/tag36.xml"/><Relationship Id="rId21" Type="http://schemas.openxmlformats.org/officeDocument/2006/relationships/tags" Target="../tags/tag54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5" Type="http://schemas.openxmlformats.org/officeDocument/2006/relationships/oleObject" Target="../embeddings/oleObject9.bin"/><Relationship Id="rId33" Type="http://schemas.microsoft.com/office/2007/relationships/hdphoto" Target="../media/hdphoto3.wdp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tags" Target="../tags/tag53.xml"/><Relationship Id="rId29" Type="http://schemas.openxmlformats.org/officeDocument/2006/relationships/image" Target="../media/image25.pn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24" Type="http://schemas.openxmlformats.org/officeDocument/2006/relationships/notesSlide" Target="../notesSlides/notesSlide8.xml"/><Relationship Id="rId32" Type="http://schemas.openxmlformats.org/officeDocument/2006/relationships/image" Target="../media/image28.png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slideLayout" Target="../slideLayouts/slideLayout2.xml"/><Relationship Id="rId28" Type="http://schemas.openxmlformats.org/officeDocument/2006/relationships/image" Target="../media/image24.png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31" Type="http://schemas.openxmlformats.org/officeDocument/2006/relationships/image" Target="../media/image27.jpeg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tags" Target="../tags/tag55.xml"/><Relationship Id="rId27" Type="http://schemas.openxmlformats.org/officeDocument/2006/relationships/image" Target="../media/image23.png"/><Relationship Id="rId30" Type="http://schemas.openxmlformats.org/officeDocument/2006/relationships/image" Target="../media/image26.png"/><Relationship Id="rId8" Type="http://schemas.openxmlformats.org/officeDocument/2006/relationships/tags" Target="../tags/tag4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6" Type="http://schemas.openxmlformats.org/officeDocument/2006/relationships/image" Target="../media/image29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1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Relationship Id="rId6" Type="http://schemas.openxmlformats.org/officeDocument/2006/relationships/image" Target="../media/image32.png"/><Relationship Id="rId11" Type="http://schemas.microsoft.com/office/2007/relationships/hdphoto" Target="../media/hdphoto6.wdp"/><Relationship Id="rId5" Type="http://schemas.openxmlformats.org/officeDocument/2006/relationships/image" Target="../media/image8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12.bin"/><Relationship Id="rId9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Relationship Id="rId6" Type="http://schemas.openxmlformats.org/officeDocument/2006/relationships/image" Target="../media/image15.png"/><Relationship Id="rId5" Type="http://schemas.openxmlformats.org/officeDocument/2006/relationships/image" Target="../media/image8.emf"/><Relationship Id="rId10" Type="http://schemas.openxmlformats.org/officeDocument/2006/relationships/image" Target="../media/image37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0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Relationship Id="rId6" Type="http://schemas.openxmlformats.org/officeDocument/2006/relationships/image" Target="../media/image9.png"/><Relationship Id="rId11" Type="http://schemas.openxmlformats.org/officeDocument/2006/relationships/image" Target="../media/image39.png"/><Relationship Id="rId5" Type="http://schemas.openxmlformats.org/officeDocument/2006/relationships/image" Target="../media/image8.emf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png"/><Relationship Id="rId1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73.xml"/><Relationship Id="rId18" Type="http://schemas.openxmlformats.org/officeDocument/2006/relationships/tags" Target="../tags/tag78.xml"/><Relationship Id="rId26" Type="http://schemas.openxmlformats.org/officeDocument/2006/relationships/tags" Target="../tags/tag86.xml"/><Relationship Id="rId39" Type="http://schemas.openxmlformats.org/officeDocument/2006/relationships/notesSlide" Target="../notesSlides/notesSlide14.xml"/><Relationship Id="rId21" Type="http://schemas.openxmlformats.org/officeDocument/2006/relationships/tags" Target="../tags/tag81.xml"/><Relationship Id="rId34" Type="http://schemas.openxmlformats.org/officeDocument/2006/relationships/tags" Target="../tags/tag94.xml"/><Relationship Id="rId42" Type="http://schemas.openxmlformats.org/officeDocument/2006/relationships/chart" Target="../charts/chart5.xml"/><Relationship Id="rId47" Type="http://schemas.openxmlformats.org/officeDocument/2006/relationships/chart" Target="../charts/chart8.xml"/><Relationship Id="rId7" Type="http://schemas.openxmlformats.org/officeDocument/2006/relationships/tags" Target="../tags/tag67.xml"/><Relationship Id="rId2" Type="http://schemas.openxmlformats.org/officeDocument/2006/relationships/tags" Target="../tags/tag62.xml"/><Relationship Id="rId16" Type="http://schemas.openxmlformats.org/officeDocument/2006/relationships/tags" Target="../tags/tag76.xml"/><Relationship Id="rId29" Type="http://schemas.openxmlformats.org/officeDocument/2006/relationships/tags" Target="../tags/tag89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24" Type="http://schemas.openxmlformats.org/officeDocument/2006/relationships/tags" Target="../tags/tag84.xml"/><Relationship Id="rId32" Type="http://schemas.openxmlformats.org/officeDocument/2006/relationships/tags" Target="../tags/tag92.xml"/><Relationship Id="rId37" Type="http://schemas.openxmlformats.org/officeDocument/2006/relationships/tags" Target="../tags/tag97.xml"/><Relationship Id="rId40" Type="http://schemas.openxmlformats.org/officeDocument/2006/relationships/oleObject" Target="../embeddings/oleObject15.bin"/><Relationship Id="rId45" Type="http://schemas.openxmlformats.org/officeDocument/2006/relationships/image" Target="../media/image44.png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23" Type="http://schemas.openxmlformats.org/officeDocument/2006/relationships/tags" Target="../tags/tag83.xml"/><Relationship Id="rId28" Type="http://schemas.openxmlformats.org/officeDocument/2006/relationships/tags" Target="../tags/tag88.xml"/><Relationship Id="rId36" Type="http://schemas.openxmlformats.org/officeDocument/2006/relationships/tags" Target="../tags/tag96.xml"/><Relationship Id="rId10" Type="http://schemas.openxmlformats.org/officeDocument/2006/relationships/tags" Target="../tags/tag70.xml"/><Relationship Id="rId19" Type="http://schemas.openxmlformats.org/officeDocument/2006/relationships/tags" Target="../tags/tag79.xml"/><Relationship Id="rId31" Type="http://schemas.openxmlformats.org/officeDocument/2006/relationships/tags" Target="../tags/tag91.xml"/><Relationship Id="rId44" Type="http://schemas.openxmlformats.org/officeDocument/2006/relationships/chart" Target="../charts/chart7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Relationship Id="rId22" Type="http://schemas.openxmlformats.org/officeDocument/2006/relationships/tags" Target="../tags/tag82.xml"/><Relationship Id="rId27" Type="http://schemas.openxmlformats.org/officeDocument/2006/relationships/tags" Target="../tags/tag87.xml"/><Relationship Id="rId30" Type="http://schemas.openxmlformats.org/officeDocument/2006/relationships/tags" Target="../tags/tag90.xml"/><Relationship Id="rId35" Type="http://schemas.openxmlformats.org/officeDocument/2006/relationships/tags" Target="../tags/tag95.xml"/><Relationship Id="rId43" Type="http://schemas.openxmlformats.org/officeDocument/2006/relationships/chart" Target="../charts/chart6.xml"/><Relationship Id="rId8" Type="http://schemas.openxmlformats.org/officeDocument/2006/relationships/tags" Target="../tags/tag68.xml"/><Relationship Id="rId3" Type="http://schemas.openxmlformats.org/officeDocument/2006/relationships/tags" Target="../tags/tag63.xml"/><Relationship Id="rId12" Type="http://schemas.openxmlformats.org/officeDocument/2006/relationships/tags" Target="../tags/tag72.xml"/><Relationship Id="rId17" Type="http://schemas.openxmlformats.org/officeDocument/2006/relationships/tags" Target="../tags/tag77.xml"/><Relationship Id="rId25" Type="http://schemas.openxmlformats.org/officeDocument/2006/relationships/tags" Target="../tags/tag85.xml"/><Relationship Id="rId33" Type="http://schemas.openxmlformats.org/officeDocument/2006/relationships/tags" Target="../tags/tag93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7.wdp"/><Relationship Id="rId20" Type="http://schemas.openxmlformats.org/officeDocument/2006/relationships/tags" Target="../tags/tag80.xml"/><Relationship Id="rId41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tags" Target="../tags/tag110.xml"/><Relationship Id="rId18" Type="http://schemas.openxmlformats.org/officeDocument/2006/relationships/image" Target="../media/image7.emf"/><Relationship Id="rId3" Type="http://schemas.openxmlformats.org/officeDocument/2006/relationships/tags" Target="../tags/tag100.xml"/><Relationship Id="rId21" Type="http://schemas.openxmlformats.org/officeDocument/2006/relationships/image" Target="../media/image25.png"/><Relationship Id="rId7" Type="http://schemas.openxmlformats.org/officeDocument/2006/relationships/tags" Target="../tags/tag104.xml"/><Relationship Id="rId12" Type="http://schemas.openxmlformats.org/officeDocument/2006/relationships/tags" Target="../tags/tag109.xml"/><Relationship Id="rId17" Type="http://schemas.openxmlformats.org/officeDocument/2006/relationships/oleObject" Target="../embeddings/oleObject16.bin"/><Relationship Id="rId2" Type="http://schemas.openxmlformats.org/officeDocument/2006/relationships/tags" Target="../tags/tag99.xml"/><Relationship Id="rId16" Type="http://schemas.openxmlformats.org/officeDocument/2006/relationships/notesSlide" Target="../notesSlides/notesSlide15.xml"/><Relationship Id="rId20" Type="http://schemas.openxmlformats.org/officeDocument/2006/relationships/image" Target="../media/image10.png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24" Type="http://schemas.openxmlformats.org/officeDocument/2006/relationships/chart" Target="../charts/chart9.xml"/><Relationship Id="rId5" Type="http://schemas.openxmlformats.org/officeDocument/2006/relationships/tags" Target="../tags/tag102.xml"/><Relationship Id="rId15" Type="http://schemas.openxmlformats.org/officeDocument/2006/relationships/slideLayout" Target="../slideLayouts/slideLayout13.xml"/><Relationship Id="rId23" Type="http://schemas.openxmlformats.org/officeDocument/2006/relationships/image" Target="../media/image46.jpeg"/><Relationship Id="rId10" Type="http://schemas.openxmlformats.org/officeDocument/2006/relationships/tags" Target="../tags/tag107.xml"/><Relationship Id="rId19" Type="http://schemas.openxmlformats.org/officeDocument/2006/relationships/image" Target="../media/image9.png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tags" Target="../tags/tag111.xml"/><Relationship Id="rId22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notesSlide" Target="../notesSlides/notesSlide16.xml"/><Relationship Id="rId7" Type="http://schemas.microsoft.com/office/2007/relationships/hdphoto" Target="../media/hdphoto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Relationship Id="rId6" Type="http://schemas.openxmlformats.org/officeDocument/2006/relationships/image" Target="../media/image47.png"/><Relationship Id="rId11" Type="http://schemas.microsoft.com/office/2007/relationships/hdphoto" Target="../media/hdphoto9.wdp"/><Relationship Id="rId5" Type="http://schemas.openxmlformats.org/officeDocument/2006/relationships/image" Target="../media/image8.emf"/><Relationship Id="rId10" Type="http://schemas.openxmlformats.org/officeDocument/2006/relationships/image" Target="../media/image50.png"/><Relationship Id="rId4" Type="http://schemas.openxmlformats.org/officeDocument/2006/relationships/oleObject" Target="../embeddings/oleObject17.bin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4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36.png"/><Relationship Id="rId12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Relationship Id="rId6" Type="http://schemas.openxmlformats.org/officeDocument/2006/relationships/image" Target="../media/image23.png"/><Relationship Id="rId11" Type="http://schemas.openxmlformats.org/officeDocument/2006/relationships/image" Target="../media/image37.png"/><Relationship Id="rId5" Type="http://schemas.openxmlformats.org/officeDocument/2006/relationships/image" Target="../media/image8.emf"/><Relationship Id="rId10" Type="http://schemas.openxmlformats.org/officeDocument/2006/relationships/image" Target="../media/image52.png"/><Relationship Id="rId4" Type="http://schemas.openxmlformats.org/officeDocument/2006/relationships/oleObject" Target="../embeddings/oleObject18.bin"/><Relationship Id="rId9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7.png"/><Relationship Id="rId21" Type="http://schemas.openxmlformats.org/officeDocument/2006/relationships/image" Target="../media/image64.png"/><Relationship Id="rId42" Type="http://schemas.microsoft.com/office/2007/relationships/hdphoto" Target="../media/hdphoto21.wdp"/><Relationship Id="rId47" Type="http://schemas.openxmlformats.org/officeDocument/2006/relationships/image" Target="../media/image79.png"/><Relationship Id="rId63" Type="http://schemas.microsoft.com/office/2007/relationships/hdphoto" Target="../media/hdphoto30.wdp"/><Relationship Id="rId68" Type="http://schemas.openxmlformats.org/officeDocument/2006/relationships/image" Target="../media/image36.png"/><Relationship Id="rId16" Type="http://schemas.openxmlformats.org/officeDocument/2006/relationships/image" Target="../media/image61.png"/><Relationship Id="rId11" Type="http://schemas.microsoft.com/office/2007/relationships/hdphoto" Target="../media/hdphoto12.wdp"/><Relationship Id="rId32" Type="http://schemas.openxmlformats.org/officeDocument/2006/relationships/image" Target="../media/image71.png"/><Relationship Id="rId37" Type="http://schemas.openxmlformats.org/officeDocument/2006/relationships/image" Target="../media/image52.png"/><Relationship Id="rId53" Type="http://schemas.openxmlformats.org/officeDocument/2006/relationships/image" Target="../media/image81.png"/><Relationship Id="rId58" Type="http://schemas.openxmlformats.org/officeDocument/2006/relationships/image" Target="../media/image84.png"/><Relationship Id="rId74" Type="http://schemas.microsoft.com/office/2007/relationships/hdphoto" Target="../media/hdphoto34.wdp"/><Relationship Id="rId79" Type="http://schemas.openxmlformats.org/officeDocument/2006/relationships/image" Target="../media/image95.png"/><Relationship Id="rId5" Type="http://schemas.openxmlformats.org/officeDocument/2006/relationships/image" Target="../media/image55.png"/><Relationship Id="rId61" Type="http://schemas.microsoft.com/office/2007/relationships/hdphoto" Target="../media/hdphoto29.wdp"/><Relationship Id="rId82" Type="http://schemas.microsoft.com/office/2007/relationships/hdphoto" Target="../media/hdphoto38.wdp"/><Relationship Id="rId19" Type="http://schemas.openxmlformats.org/officeDocument/2006/relationships/image" Target="../media/image24.png"/><Relationship Id="rId14" Type="http://schemas.openxmlformats.org/officeDocument/2006/relationships/image" Target="../media/image60.png"/><Relationship Id="rId22" Type="http://schemas.openxmlformats.org/officeDocument/2006/relationships/image" Target="../media/image65.png"/><Relationship Id="rId27" Type="http://schemas.openxmlformats.org/officeDocument/2006/relationships/image" Target="../media/image68.png"/><Relationship Id="rId30" Type="http://schemas.openxmlformats.org/officeDocument/2006/relationships/image" Target="../media/image70.png"/><Relationship Id="rId35" Type="http://schemas.openxmlformats.org/officeDocument/2006/relationships/image" Target="../media/image73.png"/><Relationship Id="rId43" Type="http://schemas.openxmlformats.org/officeDocument/2006/relationships/image" Target="../media/image77.png"/><Relationship Id="rId48" Type="http://schemas.microsoft.com/office/2007/relationships/hdphoto" Target="../media/hdphoto24.wdp"/><Relationship Id="rId56" Type="http://schemas.openxmlformats.org/officeDocument/2006/relationships/image" Target="../media/image83.png"/><Relationship Id="rId64" Type="http://schemas.openxmlformats.org/officeDocument/2006/relationships/image" Target="../media/image87.png"/><Relationship Id="rId69" Type="http://schemas.openxmlformats.org/officeDocument/2006/relationships/image" Target="../media/image89.png"/><Relationship Id="rId77" Type="http://schemas.openxmlformats.org/officeDocument/2006/relationships/image" Target="../media/image94.png"/><Relationship Id="rId8" Type="http://schemas.openxmlformats.org/officeDocument/2006/relationships/image" Target="../media/image57.png"/><Relationship Id="rId51" Type="http://schemas.openxmlformats.org/officeDocument/2006/relationships/image" Target="../media/image80.png"/><Relationship Id="rId72" Type="http://schemas.microsoft.com/office/2007/relationships/hdphoto" Target="../media/hdphoto33.wdp"/><Relationship Id="rId80" Type="http://schemas.microsoft.com/office/2007/relationships/hdphoto" Target="../media/hdphoto37.wdp"/><Relationship Id="rId3" Type="http://schemas.openxmlformats.org/officeDocument/2006/relationships/oleObject" Target="../embeddings/oleObject19.bin"/><Relationship Id="rId12" Type="http://schemas.openxmlformats.org/officeDocument/2006/relationships/image" Target="../media/image59.png"/><Relationship Id="rId17" Type="http://schemas.microsoft.com/office/2007/relationships/hdphoto" Target="../media/hdphoto14.wdp"/><Relationship Id="rId25" Type="http://schemas.microsoft.com/office/2007/relationships/hdphoto" Target="../media/hdphoto16.wdp"/><Relationship Id="rId33" Type="http://schemas.microsoft.com/office/2007/relationships/hdphoto" Target="../media/hdphoto19.wdp"/><Relationship Id="rId38" Type="http://schemas.openxmlformats.org/officeDocument/2006/relationships/image" Target="../media/image75.png"/><Relationship Id="rId46" Type="http://schemas.microsoft.com/office/2007/relationships/hdphoto" Target="../media/hdphoto23.wdp"/><Relationship Id="rId59" Type="http://schemas.microsoft.com/office/2007/relationships/hdphoto" Target="../media/hdphoto28.wdp"/><Relationship Id="rId67" Type="http://schemas.microsoft.com/office/2007/relationships/hdphoto" Target="../media/hdphoto32.wdp"/><Relationship Id="rId20" Type="http://schemas.openxmlformats.org/officeDocument/2006/relationships/image" Target="../media/image63.png"/><Relationship Id="rId41" Type="http://schemas.openxmlformats.org/officeDocument/2006/relationships/image" Target="../media/image76.png"/><Relationship Id="rId54" Type="http://schemas.openxmlformats.org/officeDocument/2006/relationships/image" Target="../media/image82.png"/><Relationship Id="rId62" Type="http://schemas.openxmlformats.org/officeDocument/2006/relationships/image" Target="../media/image86.png"/><Relationship Id="rId70" Type="http://schemas.openxmlformats.org/officeDocument/2006/relationships/image" Target="../media/image90.png"/><Relationship Id="rId75" Type="http://schemas.openxmlformats.org/officeDocument/2006/relationships/image" Target="../media/image93.png"/><Relationship Id="rId83" Type="http://schemas.openxmlformats.org/officeDocument/2006/relationships/image" Target="../media/image97.png"/><Relationship Id="rId1" Type="http://schemas.openxmlformats.org/officeDocument/2006/relationships/tags" Target="../tags/tag114.xml"/><Relationship Id="rId6" Type="http://schemas.microsoft.com/office/2007/relationships/hdphoto" Target="../media/hdphoto10.wdp"/><Relationship Id="rId15" Type="http://schemas.microsoft.com/office/2007/relationships/hdphoto" Target="../media/hdphoto13.wdp"/><Relationship Id="rId23" Type="http://schemas.microsoft.com/office/2007/relationships/hdphoto" Target="../media/hdphoto15.wdp"/><Relationship Id="rId28" Type="http://schemas.microsoft.com/office/2007/relationships/hdphoto" Target="../media/hdphoto17.wdp"/><Relationship Id="rId36" Type="http://schemas.openxmlformats.org/officeDocument/2006/relationships/image" Target="../media/image74.png"/><Relationship Id="rId49" Type="http://schemas.openxmlformats.org/officeDocument/2006/relationships/image" Target="../media/image28.png"/><Relationship Id="rId57" Type="http://schemas.microsoft.com/office/2007/relationships/hdphoto" Target="../media/hdphoto27.wdp"/><Relationship Id="rId10" Type="http://schemas.openxmlformats.org/officeDocument/2006/relationships/image" Target="../media/image58.png"/><Relationship Id="rId31" Type="http://schemas.microsoft.com/office/2007/relationships/hdphoto" Target="../media/hdphoto18.wdp"/><Relationship Id="rId44" Type="http://schemas.microsoft.com/office/2007/relationships/hdphoto" Target="../media/hdphoto22.wdp"/><Relationship Id="rId52" Type="http://schemas.microsoft.com/office/2007/relationships/hdphoto" Target="../media/hdphoto25.wdp"/><Relationship Id="rId60" Type="http://schemas.openxmlformats.org/officeDocument/2006/relationships/image" Target="../media/image85.png"/><Relationship Id="rId65" Type="http://schemas.microsoft.com/office/2007/relationships/hdphoto" Target="../media/hdphoto31.wdp"/><Relationship Id="rId73" Type="http://schemas.openxmlformats.org/officeDocument/2006/relationships/image" Target="../media/image92.png"/><Relationship Id="rId78" Type="http://schemas.microsoft.com/office/2007/relationships/hdphoto" Target="../media/hdphoto36.wdp"/><Relationship Id="rId81" Type="http://schemas.openxmlformats.org/officeDocument/2006/relationships/image" Target="../media/image96.png"/><Relationship Id="rId4" Type="http://schemas.openxmlformats.org/officeDocument/2006/relationships/image" Target="../media/image8.emf"/><Relationship Id="rId9" Type="http://schemas.microsoft.com/office/2007/relationships/hdphoto" Target="../media/hdphoto11.wdp"/><Relationship Id="rId13" Type="http://schemas.openxmlformats.org/officeDocument/2006/relationships/image" Target="../media/image23.png"/><Relationship Id="rId18" Type="http://schemas.openxmlformats.org/officeDocument/2006/relationships/image" Target="../media/image62.png"/><Relationship Id="rId39" Type="http://schemas.microsoft.com/office/2007/relationships/hdphoto" Target="../media/hdphoto20.wdp"/><Relationship Id="rId34" Type="http://schemas.openxmlformats.org/officeDocument/2006/relationships/image" Target="../media/image72.png"/><Relationship Id="rId50" Type="http://schemas.microsoft.com/office/2007/relationships/hdphoto" Target="../media/hdphoto3.wdp"/><Relationship Id="rId55" Type="http://schemas.microsoft.com/office/2007/relationships/hdphoto" Target="../media/hdphoto26.wdp"/><Relationship Id="rId76" Type="http://schemas.microsoft.com/office/2007/relationships/hdphoto" Target="../media/hdphoto35.wdp"/><Relationship Id="rId7" Type="http://schemas.openxmlformats.org/officeDocument/2006/relationships/image" Target="../media/image56.png"/><Relationship Id="rId71" Type="http://schemas.openxmlformats.org/officeDocument/2006/relationships/image" Target="../media/image91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9.png"/><Relationship Id="rId24" Type="http://schemas.openxmlformats.org/officeDocument/2006/relationships/image" Target="../media/image66.png"/><Relationship Id="rId40" Type="http://schemas.openxmlformats.org/officeDocument/2006/relationships/image" Target="../media/image35.png"/><Relationship Id="rId45" Type="http://schemas.openxmlformats.org/officeDocument/2006/relationships/image" Target="../media/image78.png"/><Relationship Id="rId66" Type="http://schemas.openxmlformats.org/officeDocument/2006/relationships/image" Target="../media/image8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6.png"/><Relationship Id="rId18" Type="http://schemas.openxmlformats.org/officeDocument/2006/relationships/image" Target="../media/image99.png"/><Relationship Id="rId26" Type="http://schemas.openxmlformats.org/officeDocument/2006/relationships/image" Target="../media/image79.png"/><Relationship Id="rId3" Type="http://schemas.openxmlformats.org/officeDocument/2006/relationships/tags" Target="../tags/tag117.xml"/><Relationship Id="rId21" Type="http://schemas.microsoft.com/office/2007/relationships/hdphoto" Target="../media/hdphoto40.wdp"/><Relationship Id="rId7" Type="http://schemas.openxmlformats.org/officeDocument/2006/relationships/image" Target="../media/image52.png"/><Relationship Id="rId12" Type="http://schemas.openxmlformats.org/officeDocument/2006/relationships/image" Target="../media/image59.png"/><Relationship Id="rId17" Type="http://schemas.openxmlformats.org/officeDocument/2006/relationships/image" Target="../media/image35.png"/><Relationship Id="rId25" Type="http://schemas.openxmlformats.org/officeDocument/2006/relationships/image" Target="../media/image101.png"/><Relationship Id="rId2" Type="http://schemas.openxmlformats.org/officeDocument/2006/relationships/tags" Target="../tags/tag116.xml"/><Relationship Id="rId16" Type="http://schemas.microsoft.com/office/2007/relationships/hdphoto" Target="../media/hdphoto22.wdp"/><Relationship Id="rId20" Type="http://schemas.openxmlformats.org/officeDocument/2006/relationships/image" Target="../media/image100.png"/><Relationship Id="rId1" Type="http://schemas.openxmlformats.org/officeDocument/2006/relationships/tags" Target="../tags/tag115.xml"/><Relationship Id="rId6" Type="http://schemas.openxmlformats.org/officeDocument/2006/relationships/image" Target="../media/image18.emf"/><Relationship Id="rId11" Type="http://schemas.openxmlformats.org/officeDocument/2006/relationships/image" Target="../media/image23.png"/><Relationship Id="rId24" Type="http://schemas.openxmlformats.org/officeDocument/2006/relationships/image" Target="../media/image72.png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77.png"/><Relationship Id="rId23" Type="http://schemas.microsoft.com/office/2007/relationships/hdphoto" Target="../media/hdphoto35.wdp"/><Relationship Id="rId10" Type="http://schemas.openxmlformats.org/officeDocument/2006/relationships/image" Target="../media/image89.png"/><Relationship Id="rId19" Type="http://schemas.microsoft.com/office/2007/relationships/hdphoto" Target="../media/hdphoto39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98.png"/><Relationship Id="rId14" Type="http://schemas.microsoft.com/office/2007/relationships/hdphoto" Target="../media/hdphoto21.wdp"/><Relationship Id="rId22" Type="http://schemas.openxmlformats.org/officeDocument/2006/relationships/image" Target="../media/image93.png"/><Relationship Id="rId27" Type="http://schemas.microsoft.com/office/2007/relationships/hdphoto" Target="../media/hdphoto24.wd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tags" Target="../tags/tag120.xml"/><Relationship Id="rId7" Type="http://schemas.openxmlformats.org/officeDocument/2006/relationships/notesSlide" Target="../notesSlides/notesSlide18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2.xml"/><Relationship Id="rId10" Type="http://schemas.openxmlformats.org/officeDocument/2006/relationships/chart" Target="../charts/chart10.xml"/><Relationship Id="rId4" Type="http://schemas.openxmlformats.org/officeDocument/2006/relationships/tags" Target="../tags/tag121.xml"/><Relationship Id="rId9" Type="http://schemas.openxmlformats.org/officeDocument/2006/relationships/image" Target="../media/image18.emf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135.xml"/><Relationship Id="rId18" Type="http://schemas.openxmlformats.org/officeDocument/2006/relationships/tags" Target="../tags/tag140.xml"/><Relationship Id="rId26" Type="http://schemas.openxmlformats.org/officeDocument/2006/relationships/tags" Target="../tags/tag148.xml"/><Relationship Id="rId39" Type="http://schemas.openxmlformats.org/officeDocument/2006/relationships/tags" Target="../tags/tag161.xml"/><Relationship Id="rId21" Type="http://schemas.openxmlformats.org/officeDocument/2006/relationships/tags" Target="../tags/tag143.xml"/><Relationship Id="rId34" Type="http://schemas.openxmlformats.org/officeDocument/2006/relationships/tags" Target="../tags/tag156.xml"/><Relationship Id="rId42" Type="http://schemas.openxmlformats.org/officeDocument/2006/relationships/tags" Target="../tags/tag164.xml"/><Relationship Id="rId47" Type="http://schemas.openxmlformats.org/officeDocument/2006/relationships/image" Target="../media/image18.emf"/><Relationship Id="rId7" Type="http://schemas.openxmlformats.org/officeDocument/2006/relationships/tags" Target="../tags/tag129.xml"/><Relationship Id="rId2" Type="http://schemas.openxmlformats.org/officeDocument/2006/relationships/tags" Target="../tags/tag124.xml"/><Relationship Id="rId16" Type="http://schemas.openxmlformats.org/officeDocument/2006/relationships/tags" Target="../tags/tag138.xml"/><Relationship Id="rId29" Type="http://schemas.openxmlformats.org/officeDocument/2006/relationships/tags" Target="../tags/tag151.xml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11" Type="http://schemas.openxmlformats.org/officeDocument/2006/relationships/tags" Target="../tags/tag133.xml"/><Relationship Id="rId24" Type="http://schemas.openxmlformats.org/officeDocument/2006/relationships/tags" Target="../tags/tag146.xml"/><Relationship Id="rId32" Type="http://schemas.openxmlformats.org/officeDocument/2006/relationships/tags" Target="../tags/tag154.xml"/><Relationship Id="rId37" Type="http://schemas.openxmlformats.org/officeDocument/2006/relationships/tags" Target="../tags/tag159.xml"/><Relationship Id="rId40" Type="http://schemas.openxmlformats.org/officeDocument/2006/relationships/tags" Target="../tags/tag162.xml"/><Relationship Id="rId45" Type="http://schemas.openxmlformats.org/officeDocument/2006/relationships/notesSlide" Target="../notesSlides/notesSlide19.xml"/><Relationship Id="rId5" Type="http://schemas.openxmlformats.org/officeDocument/2006/relationships/tags" Target="../tags/tag127.xml"/><Relationship Id="rId15" Type="http://schemas.openxmlformats.org/officeDocument/2006/relationships/tags" Target="../tags/tag137.xml"/><Relationship Id="rId23" Type="http://schemas.openxmlformats.org/officeDocument/2006/relationships/tags" Target="../tags/tag145.xml"/><Relationship Id="rId28" Type="http://schemas.openxmlformats.org/officeDocument/2006/relationships/tags" Target="../tags/tag150.xml"/><Relationship Id="rId36" Type="http://schemas.openxmlformats.org/officeDocument/2006/relationships/tags" Target="../tags/tag158.xml"/><Relationship Id="rId10" Type="http://schemas.openxmlformats.org/officeDocument/2006/relationships/tags" Target="../tags/tag132.xml"/><Relationship Id="rId19" Type="http://schemas.openxmlformats.org/officeDocument/2006/relationships/tags" Target="../tags/tag141.xml"/><Relationship Id="rId31" Type="http://schemas.openxmlformats.org/officeDocument/2006/relationships/tags" Target="../tags/tag153.xml"/><Relationship Id="rId44" Type="http://schemas.openxmlformats.org/officeDocument/2006/relationships/slideLayout" Target="../slideLayouts/slideLayout2.xml"/><Relationship Id="rId4" Type="http://schemas.openxmlformats.org/officeDocument/2006/relationships/tags" Target="../tags/tag126.xml"/><Relationship Id="rId9" Type="http://schemas.openxmlformats.org/officeDocument/2006/relationships/tags" Target="../tags/tag131.xml"/><Relationship Id="rId14" Type="http://schemas.openxmlformats.org/officeDocument/2006/relationships/tags" Target="../tags/tag136.xml"/><Relationship Id="rId22" Type="http://schemas.openxmlformats.org/officeDocument/2006/relationships/tags" Target="../tags/tag144.xml"/><Relationship Id="rId27" Type="http://schemas.openxmlformats.org/officeDocument/2006/relationships/tags" Target="../tags/tag149.xml"/><Relationship Id="rId30" Type="http://schemas.openxmlformats.org/officeDocument/2006/relationships/tags" Target="../tags/tag152.xml"/><Relationship Id="rId35" Type="http://schemas.openxmlformats.org/officeDocument/2006/relationships/tags" Target="../tags/tag157.xml"/><Relationship Id="rId43" Type="http://schemas.openxmlformats.org/officeDocument/2006/relationships/tags" Target="../tags/tag165.xml"/><Relationship Id="rId48" Type="http://schemas.openxmlformats.org/officeDocument/2006/relationships/chart" Target="../charts/chart11.xml"/><Relationship Id="rId8" Type="http://schemas.openxmlformats.org/officeDocument/2006/relationships/tags" Target="../tags/tag130.xml"/><Relationship Id="rId3" Type="http://schemas.openxmlformats.org/officeDocument/2006/relationships/tags" Target="../tags/tag125.xml"/><Relationship Id="rId12" Type="http://schemas.openxmlformats.org/officeDocument/2006/relationships/tags" Target="../tags/tag134.xml"/><Relationship Id="rId17" Type="http://schemas.openxmlformats.org/officeDocument/2006/relationships/tags" Target="../tags/tag139.xml"/><Relationship Id="rId25" Type="http://schemas.openxmlformats.org/officeDocument/2006/relationships/tags" Target="../tags/tag147.xml"/><Relationship Id="rId33" Type="http://schemas.openxmlformats.org/officeDocument/2006/relationships/tags" Target="../tags/tag155.xml"/><Relationship Id="rId38" Type="http://schemas.openxmlformats.org/officeDocument/2006/relationships/tags" Target="../tags/tag160.xml"/><Relationship Id="rId46" Type="http://schemas.openxmlformats.org/officeDocument/2006/relationships/oleObject" Target="../embeddings/oleObject22.bin"/><Relationship Id="rId20" Type="http://schemas.openxmlformats.org/officeDocument/2006/relationships/tags" Target="../tags/tag142.xml"/><Relationship Id="rId41" Type="http://schemas.openxmlformats.org/officeDocument/2006/relationships/tags" Target="../tags/tag16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0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6.xml"/><Relationship Id="rId6" Type="http://schemas.openxmlformats.org/officeDocument/2006/relationships/chart" Target="../charts/chart12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09.png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105.svg"/><Relationship Id="rId12" Type="http://schemas.openxmlformats.org/officeDocument/2006/relationships/image" Target="../media/image108.png"/><Relationship Id="rId17" Type="http://schemas.openxmlformats.org/officeDocument/2006/relationships/chart" Target="../charts/chart15.xml"/><Relationship Id="rId2" Type="http://schemas.openxmlformats.org/officeDocument/2006/relationships/slideLayout" Target="../slideLayouts/slideLayout2.xml"/><Relationship Id="rId16" Type="http://schemas.openxmlformats.org/officeDocument/2006/relationships/chart" Target="../charts/chart14.xml"/><Relationship Id="rId1" Type="http://schemas.openxmlformats.org/officeDocument/2006/relationships/tags" Target="../tags/tag167.xml"/><Relationship Id="rId6" Type="http://schemas.openxmlformats.org/officeDocument/2006/relationships/image" Target="../media/image104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5" Type="http://schemas.openxmlformats.org/officeDocument/2006/relationships/image" Target="../media/image111.png"/><Relationship Id="rId10" Type="http://schemas.openxmlformats.org/officeDocument/2006/relationships/chart" Target="../charts/chart13.xml"/><Relationship Id="rId4" Type="http://schemas.openxmlformats.org/officeDocument/2006/relationships/oleObject" Target="../embeddings/oleObject24.bin"/><Relationship Id="rId9" Type="http://schemas.openxmlformats.org/officeDocument/2006/relationships/image" Target="../media/image107.svg"/><Relationship Id="rId14" Type="http://schemas.openxmlformats.org/officeDocument/2006/relationships/image" Target="../media/image11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tags" Target="../tags/tag170.xml"/><Relationship Id="rId21" Type="http://schemas.openxmlformats.org/officeDocument/2006/relationships/image" Target="../media/image119.png"/><Relationship Id="rId7" Type="http://schemas.openxmlformats.org/officeDocument/2006/relationships/tags" Target="../tags/tag174.xml"/><Relationship Id="rId12" Type="http://schemas.openxmlformats.org/officeDocument/2006/relationships/image" Target="../media/image56.png"/><Relationship Id="rId17" Type="http://schemas.openxmlformats.org/officeDocument/2006/relationships/image" Target="../media/image116.png"/><Relationship Id="rId25" Type="http://schemas.openxmlformats.org/officeDocument/2006/relationships/image" Target="../media/image121.png"/><Relationship Id="rId2" Type="http://schemas.openxmlformats.org/officeDocument/2006/relationships/tags" Target="../tags/tag169.xml"/><Relationship Id="rId16" Type="http://schemas.openxmlformats.org/officeDocument/2006/relationships/image" Target="../media/image115.jpeg"/><Relationship Id="rId20" Type="http://schemas.openxmlformats.org/officeDocument/2006/relationships/image" Target="../media/image59.png"/><Relationship Id="rId1" Type="http://schemas.openxmlformats.org/officeDocument/2006/relationships/tags" Target="../tags/tag168.xml"/><Relationship Id="rId6" Type="http://schemas.openxmlformats.org/officeDocument/2006/relationships/tags" Target="../tags/tag173.xml"/><Relationship Id="rId11" Type="http://schemas.openxmlformats.org/officeDocument/2006/relationships/image" Target="../media/image18.emf"/><Relationship Id="rId24" Type="http://schemas.openxmlformats.org/officeDocument/2006/relationships/image" Target="../media/image120.png"/><Relationship Id="rId5" Type="http://schemas.openxmlformats.org/officeDocument/2006/relationships/tags" Target="../tags/tag172.xml"/><Relationship Id="rId15" Type="http://schemas.openxmlformats.org/officeDocument/2006/relationships/image" Target="../media/image114.png"/><Relationship Id="rId23" Type="http://schemas.microsoft.com/office/2007/relationships/hdphoto" Target="../media/hdphoto39.wdp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118.png"/><Relationship Id="rId4" Type="http://schemas.openxmlformats.org/officeDocument/2006/relationships/tags" Target="../tags/tag171.xml"/><Relationship Id="rId9" Type="http://schemas.openxmlformats.org/officeDocument/2006/relationships/notesSlide" Target="../notesSlides/notesSlide22.xml"/><Relationship Id="rId14" Type="http://schemas.openxmlformats.org/officeDocument/2006/relationships/image" Target="../media/image113.png"/><Relationship Id="rId22" Type="http://schemas.openxmlformats.org/officeDocument/2006/relationships/image" Target="../media/image9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5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6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123.png"/><Relationship Id="rId12" Type="http://schemas.openxmlformats.org/officeDocument/2006/relationships/image" Target="../media/image1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6.xml"/><Relationship Id="rId6" Type="http://schemas.openxmlformats.org/officeDocument/2006/relationships/image" Target="../media/image122.png"/><Relationship Id="rId11" Type="http://schemas.openxmlformats.org/officeDocument/2006/relationships/image" Target="../media/image125.png"/><Relationship Id="rId5" Type="http://schemas.openxmlformats.org/officeDocument/2006/relationships/image" Target="../media/image8.emf"/><Relationship Id="rId10" Type="http://schemas.openxmlformats.org/officeDocument/2006/relationships/image" Target="../media/image124.png"/><Relationship Id="rId4" Type="http://schemas.openxmlformats.org/officeDocument/2006/relationships/oleObject" Target="../embeddings/oleObject27.bin"/><Relationship Id="rId9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84.xml"/><Relationship Id="rId13" Type="http://schemas.openxmlformats.org/officeDocument/2006/relationships/tags" Target="../tags/tag189.xml"/><Relationship Id="rId18" Type="http://schemas.openxmlformats.org/officeDocument/2006/relationships/tags" Target="../tags/tag194.xml"/><Relationship Id="rId26" Type="http://schemas.openxmlformats.org/officeDocument/2006/relationships/chart" Target="../charts/chart16.xml"/><Relationship Id="rId3" Type="http://schemas.openxmlformats.org/officeDocument/2006/relationships/tags" Target="../tags/tag179.xml"/><Relationship Id="rId21" Type="http://schemas.openxmlformats.org/officeDocument/2006/relationships/tags" Target="../tags/tag197.xml"/><Relationship Id="rId7" Type="http://schemas.openxmlformats.org/officeDocument/2006/relationships/tags" Target="../tags/tag183.xml"/><Relationship Id="rId12" Type="http://schemas.openxmlformats.org/officeDocument/2006/relationships/tags" Target="../tags/tag188.xml"/><Relationship Id="rId17" Type="http://schemas.openxmlformats.org/officeDocument/2006/relationships/tags" Target="../tags/tag193.xml"/><Relationship Id="rId25" Type="http://schemas.openxmlformats.org/officeDocument/2006/relationships/image" Target="../media/image8.emf"/><Relationship Id="rId2" Type="http://schemas.openxmlformats.org/officeDocument/2006/relationships/tags" Target="../tags/tag178.xml"/><Relationship Id="rId16" Type="http://schemas.openxmlformats.org/officeDocument/2006/relationships/tags" Target="../tags/tag192.xml"/><Relationship Id="rId20" Type="http://schemas.openxmlformats.org/officeDocument/2006/relationships/tags" Target="../tags/tag196.xml"/><Relationship Id="rId1" Type="http://schemas.openxmlformats.org/officeDocument/2006/relationships/tags" Target="../tags/tag177.xml"/><Relationship Id="rId6" Type="http://schemas.openxmlformats.org/officeDocument/2006/relationships/tags" Target="../tags/tag182.xml"/><Relationship Id="rId11" Type="http://schemas.openxmlformats.org/officeDocument/2006/relationships/tags" Target="../tags/tag187.xml"/><Relationship Id="rId24" Type="http://schemas.openxmlformats.org/officeDocument/2006/relationships/oleObject" Target="../embeddings/oleObject28.bin"/><Relationship Id="rId5" Type="http://schemas.openxmlformats.org/officeDocument/2006/relationships/tags" Target="../tags/tag181.xml"/><Relationship Id="rId15" Type="http://schemas.openxmlformats.org/officeDocument/2006/relationships/tags" Target="../tags/tag191.xml"/><Relationship Id="rId23" Type="http://schemas.openxmlformats.org/officeDocument/2006/relationships/notesSlide" Target="../notesSlides/notesSlide25.xml"/><Relationship Id="rId10" Type="http://schemas.openxmlformats.org/officeDocument/2006/relationships/tags" Target="../tags/tag186.xml"/><Relationship Id="rId19" Type="http://schemas.openxmlformats.org/officeDocument/2006/relationships/tags" Target="../tags/tag195.xml"/><Relationship Id="rId4" Type="http://schemas.openxmlformats.org/officeDocument/2006/relationships/tags" Target="../tags/tag180.xml"/><Relationship Id="rId9" Type="http://schemas.openxmlformats.org/officeDocument/2006/relationships/tags" Target="../tags/tag185.xml"/><Relationship Id="rId14" Type="http://schemas.openxmlformats.org/officeDocument/2006/relationships/tags" Target="../tags/tag190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8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129.png"/><Relationship Id="rId18" Type="http://schemas.openxmlformats.org/officeDocument/2006/relationships/image" Target="../media/image134.png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23.png"/><Relationship Id="rId12" Type="http://schemas.openxmlformats.org/officeDocument/2006/relationships/image" Target="../media/image98.png"/><Relationship Id="rId17" Type="http://schemas.openxmlformats.org/officeDocument/2006/relationships/image" Target="../media/image13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2.png"/><Relationship Id="rId1" Type="http://schemas.openxmlformats.org/officeDocument/2006/relationships/tags" Target="../tags/tag199.xml"/><Relationship Id="rId6" Type="http://schemas.openxmlformats.org/officeDocument/2006/relationships/image" Target="../media/image127.png"/><Relationship Id="rId11" Type="http://schemas.openxmlformats.org/officeDocument/2006/relationships/image" Target="../media/image128.png"/><Relationship Id="rId5" Type="http://schemas.openxmlformats.org/officeDocument/2006/relationships/image" Target="../media/image18.emf"/><Relationship Id="rId15" Type="http://schemas.openxmlformats.org/officeDocument/2006/relationships/image" Target="../media/image131.png"/><Relationship Id="rId10" Type="http://schemas.openxmlformats.org/officeDocument/2006/relationships/image" Target="../media/image52.png"/><Relationship Id="rId19" Type="http://schemas.openxmlformats.org/officeDocument/2006/relationships/image" Target="../media/image135.png"/><Relationship Id="rId4" Type="http://schemas.openxmlformats.org/officeDocument/2006/relationships/oleObject" Target="../embeddings/oleObject30.bin"/><Relationship Id="rId9" Type="http://schemas.openxmlformats.org/officeDocument/2006/relationships/image" Target="../media/image73.png"/><Relationship Id="rId14" Type="http://schemas.openxmlformats.org/officeDocument/2006/relationships/image" Target="../media/image130.jpe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png"/><Relationship Id="rId18" Type="http://schemas.openxmlformats.org/officeDocument/2006/relationships/image" Target="../media/image142.png"/><Relationship Id="rId26" Type="http://schemas.openxmlformats.org/officeDocument/2006/relationships/image" Target="../media/image148.png"/><Relationship Id="rId39" Type="http://schemas.openxmlformats.org/officeDocument/2006/relationships/image" Target="../media/image158.png"/><Relationship Id="rId21" Type="http://schemas.openxmlformats.org/officeDocument/2006/relationships/image" Target="../media/image145.png"/><Relationship Id="rId34" Type="http://schemas.openxmlformats.org/officeDocument/2006/relationships/image" Target="../media/image74.png"/><Relationship Id="rId42" Type="http://schemas.openxmlformats.org/officeDocument/2006/relationships/image" Target="../media/image160.png"/><Relationship Id="rId47" Type="http://schemas.openxmlformats.org/officeDocument/2006/relationships/image" Target="../media/image164.png"/><Relationship Id="rId50" Type="http://schemas.openxmlformats.org/officeDocument/2006/relationships/image" Target="../media/image63.png"/><Relationship Id="rId55" Type="http://schemas.openxmlformats.org/officeDocument/2006/relationships/image" Target="../media/image170.png"/><Relationship Id="rId63" Type="http://schemas.openxmlformats.org/officeDocument/2006/relationships/image" Target="../media/image177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9.png"/><Relationship Id="rId29" Type="http://schemas.openxmlformats.org/officeDocument/2006/relationships/image" Target="../media/image151.png"/><Relationship Id="rId11" Type="http://schemas.openxmlformats.org/officeDocument/2006/relationships/image" Target="../media/image24.png"/><Relationship Id="rId24" Type="http://schemas.openxmlformats.org/officeDocument/2006/relationships/image" Target="../media/image146.png"/><Relationship Id="rId32" Type="http://schemas.openxmlformats.org/officeDocument/2006/relationships/image" Target="../media/image73.png"/><Relationship Id="rId37" Type="http://schemas.openxmlformats.org/officeDocument/2006/relationships/image" Target="../media/image156.png"/><Relationship Id="rId40" Type="http://schemas.openxmlformats.org/officeDocument/2006/relationships/image" Target="../media/image159.png"/><Relationship Id="rId45" Type="http://schemas.openxmlformats.org/officeDocument/2006/relationships/image" Target="../media/image162.png"/><Relationship Id="rId53" Type="http://schemas.openxmlformats.org/officeDocument/2006/relationships/image" Target="../media/image168.png"/><Relationship Id="rId58" Type="http://schemas.openxmlformats.org/officeDocument/2006/relationships/image" Target="../media/image173.png"/><Relationship Id="rId5" Type="http://schemas.openxmlformats.org/officeDocument/2006/relationships/image" Target="../media/image136.png"/><Relationship Id="rId61" Type="http://schemas.openxmlformats.org/officeDocument/2006/relationships/image" Target="../media/image62.png"/><Relationship Id="rId19" Type="http://schemas.openxmlformats.org/officeDocument/2006/relationships/image" Target="../media/image143.png"/><Relationship Id="rId14" Type="http://schemas.openxmlformats.org/officeDocument/2006/relationships/image" Target="../media/image140.png"/><Relationship Id="rId22" Type="http://schemas.openxmlformats.org/officeDocument/2006/relationships/image" Target="../media/image89.png"/><Relationship Id="rId27" Type="http://schemas.openxmlformats.org/officeDocument/2006/relationships/image" Target="../media/image149.png"/><Relationship Id="rId30" Type="http://schemas.openxmlformats.org/officeDocument/2006/relationships/image" Target="../media/image152.png"/><Relationship Id="rId35" Type="http://schemas.openxmlformats.org/officeDocument/2006/relationships/image" Target="../media/image154.png"/><Relationship Id="rId43" Type="http://schemas.openxmlformats.org/officeDocument/2006/relationships/image" Target="../media/image52.png"/><Relationship Id="rId48" Type="http://schemas.openxmlformats.org/officeDocument/2006/relationships/image" Target="../media/image165.png"/><Relationship Id="rId56" Type="http://schemas.openxmlformats.org/officeDocument/2006/relationships/image" Target="../media/image171.png"/><Relationship Id="rId8" Type="http://schemas.openxmlformats.org/officeDocument/2006/relationships/image" Target="../media/image138.png"/><Relationship Id="rId51" Type="http://schemas.openxmlformats.org/officeDocument/2006/relationships/image" Target="../media/image166.png"/><Relationship Id="rId3" Type="http://schemas.openxmlformats.org/officeDocument/2006/relationships/oleObject" Target="../embeddings/oleObject31.bin"/><Relationship Id="rId12" Type="http://schemas.openxmlformats.org/officeDocument/2006/relationships/image" Target="../media/image127.png"/><Relationship Id="rId17" Type="http://schemas.openxmlformats.org/officeDocument/2006/relationships/image" Target="../media/image141.png"/><Relationship Id="rId25" Type="http://schemas.openxmlformats.org/officeDocument/2006/relationships/image" Target="../media/image147.png"/><Relationship Id="rId33" Type="http://schemas.openxmlformats.org/officeDocument/2006/relationships/image" Target="../media/image153.png"/><Relationship Id="rId38" Type="http://schemas.openxmlformats.org/officeDocument/2006/relationships/image" Target="../media/image157.png"/><Relationship Id="rId46" Type="http://schemas.openxmlformats.org/officeDocument/2006/relationships/image" Target="../media/image163.png"/><Relationship Id="rId59" Type="http://schemas.openxmlformats.org/officeDocument/2006/relationships/image" Target="../media/image174.png"/><Relationship Id="rId20" Type="http://schemas.openxmlformats.org/officeDocument/2006/relationships/image" Target="../media/image144.png"/><Relationship Id="rId41" Type="http://schemas.openxmlformats.org/officeDocument/2006/relationships/image" Target="../media/image69.png"/><Relationship Id="rId54" Type="http://schemas.openxmlformats.org/officeDocument/2006/relationships/image" Target="../media/image169.png"/><Relationship Id="rId62" Type="http://schemas.openxmlformats.org/officeDocument/2006/relationships/image" Target="../media/image176.png"/><Relationship Id="rId1" Type="http://schemas.openxmlformats.org/officeDocument/2006/relationships/tags" Target="../tags/tag200.xml"/><Relationship Id="rId6" Type="http://schemas.openxmlformats.org/officeDocument/2006/relationships/image" Target="../media/image137.png"/><Relationship Id="rId15" Type="http://schemas.openxmlformats.org/officeDocument/2006/relationships/image" Target="../media/image64.png"/><Relationship Id="rId23" Type="http://schemas.openxmlformats.org/officeDocument/2006/relationships/image" Target="../media/image90.png"/><Relationship Id="rId28" Type="http://schemas.openxmlformats.org/officeDocument/2006/relationships/image" Target="../media/image150.png"/><Relationship Id="rId36" Type="http://schemas.openxmlformats.org/officeDocument/2006/relationships/image" Target="../media/image155.png"/><Relationship Id="rId49" Type="http://schemas.openxmlformats.org/officeDocument/2006/relationships/image" Target="../media/image67.png"/><Relationship Id="rId57" Type="http://schemas.openxmlformats.org/officeDocument/2006/relationships/image" Target="../media/image172.png"/><Relationship Id="rId10" Type="http://schemas.openxmlformats.org/officeDocument/2006/relationships/image" Target="../media/image35.png"/><Relationship Id="rId31" Type="http://schemas.openxmlformats.org/officeDocument/2006/relationships/image" Target="../media/image72.png"/><Relationship Id="rId44" Type="http://schemas.openxmlformats.org/officeDocument/2006/relationships/image" Target="../media/image161.png"/><Relationship Id="rId52" Type="http://schemas.openxmlformats.org/officeDocument/2006/relationships/image" Target="../media/image167.png"/><Relationship Id="rId60" Type="http://schemas.openxmlformats.org/officeDocument/2006/relationships/image" Target="../media/image175.png"/><Relationship Id="rId4" Type="http://schemas.openxmlformats.org/officeDocument/2006/relationships/image" Target="../media/image18.emf"/><Relationship Id="rId9" Type="http://schemas.openxmlformats.org/officeDocument/2006/relationships/image" Target="../media/image10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46800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CC5A34-E94C-9C85-43D4-E435CB73F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ct </a:t>
            </a: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2415679"/>
            <a:ext cx="8960418" cy="1354217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From Pluggable to Co-Packaged Optics: an Intro to IDC Interconnect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349" imgH="350" progId="TCLayout.ActiveDocument.1">
                  <p:embed/>
                </p:oleObj>
              </mc:Choice>
              <mc:Fallback>
                <p:oleObj name="think-cell 幻灯片" r:id="rId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Background: </a:t>
            </a:r>
            <a:r>
              <a:rPr lang="en-US" sz="1600" dirty="0">
                <a:solidFill>
                  <a:prstClr val="black"/>
                </a:solidFill>
              </a:rPr>
              <a:t>w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hy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the transition from copper to optical, and from pluggable to CPO</a:t>
            </a:r>
            <a:r>
              <a:rPr lang="en-US" altLang="zh-CN" sz="1600" dirty="0">
                <a:solidFill>
                  <a:prstClr val="black"/>
                </a:solidFill>
              </a:rPr>
              <a:t>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How does the CPO value chain look?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Broadcom, </a:t>
            </a:r>
            <a:r>
              <a:rPr lang="en-US" sz="1600" dirty="0" err="1">
                <a:solidFill>
                  <a:prstClr val="black"/>
                </a:solidFill>
              </a:rPr>
              <a:t>ficonTEC</a:t>
            </a:r>
            <a:r>
              <a:rPr lang="en-US" sz="1600" dirty="0">
                <a:solidFill>
                  <a:prstClr val="black"/>
                </a:solidFill>
              </a:rPr>
              <a:t>, and emerging suppliers</a:t>
            </a: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3">
            <a:extLst>
              <a:ext uri="{FF2B5EF4-FFF2-40B4-BE49-F238E27FC236}">
                <a16:creationId xmlns:a16="http://schemas.microsoft.com/office/drawing/2014/main" id="{66DC64BD-ECC4-3DAC-C3DB-2B0ED0EC975F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300334" y="1773311"/>
            <a:ext cx="1352711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0052D9"/>
                </a:solidFill>
              </a:rPr>
              <a:t>Tech</a:t>
            </a:r>
            <a:endParaRPr kumimoji="0" lang="en-US" sz="3200" b="1" i="0" u="none" strike="noStrike" kern="1200" cap="none" spc="0" normalizeH="0" baseline="0" noProof="0" dirty="0">
              <a:solidFill>
                <a:srgbClr val="0052D9"/>
              </a:solidFill>
              <a:effectLst/>
              <a:uLnTx/>
              <a:uFillTx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AE265D59-EBB0-FF67-33E9-BD13DB5E1BD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300334" y="4374447"/>
            <a:ext cx="172190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rPr>
              <a:t>Markets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71D560-1596-A9A4-974F-7D43E9DB0FE1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edited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95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</a:t>
            </a:r>
            <a:endParaRPr 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61BAA2-87BF-3F6E-EF71-5C4FAAE53FE0}"/>
              </a:ext>
            </a:extLst>
          </p:cNvPr>
          <p:cNvGrpSpPr/>
          <p:nvPr/>
        </p:nvGrpSpPr>
        <p:grpSpPr>
          <a:xfrm>
            <a:off x="306197" y="1337390"/>
            <a:ext cx="3788426" cy="4059592"/>
            <a:chOff x="363631" y="1337390"/>
            <a:chExt cx="3788426" cy="4059592"/>
          </a:xfrm>
        </p:grpSpPr>
        <p:sp>
          <p:nvSpPr>
            <p:cNvPr id="2" name="Rechteck 52">
              <a:extLst>
                <a:ext uri="{FF2B5EF4-FFF2-40B4-BE49-F238E27FC236}">
                  <a16:creationId xmlns:a16="http://schemas.microsoft.com/office/drawing/2014/main" id="{FE2110A6-EDBD-8697-B5F7-4B336BB31161}"/>
                </a:ext>
              </a:extLst>
            </p:cNvPr>
            <p:cNvSpPr>
              <a:spLocks/>
            </p:cNvSpPr>
            <p:nvPr/>
          </p:nvSpPr>
          <p:spPr>
            <a:xfrm>
              <a:off x="407987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8" name="Inhaltsplatzhalter 2">
              <a:extLst>
                <a:ext uri="{FF2B5EF4-FFF2-40B4-BE49-F238E27FC236}">
                  <a16:creationId xmlns:a16="http://schemas.microsoft.com/office/drawing/2014/main" id="{6634A095-ABD0-527D-E2B1-46D80EE1E49A}"/>
                </a:ext>
              </a:extLst>
            </p:cNvPr>
            <p:cNvSpPr txBox="1">
              <a:spLocks/>
            </p:cNvSpPr>
            <p:nvPr/>
          </p:nvSpPr>
          <p:spPr>
            <a:xfrm>
              <a:off x="474582" y="4889151"/>
              <a:ext cx="3563744" cy="50783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altLang="zh-CN" sz="1400" dirty="0"/>
                <a:t>Pivot from copper to optics</a:t>
              </a:r>
            </a:p>
            <a:p>
              <a:pPr>
                <a:spcBef>
                  <a:spcPts val="600"/>
                </a:spcBef>
              </a:pPr>
              <a:r>
                <a:rPr lang="en-US" altLang="zh-CN" sz="1400" dirty="0"/>
                <a:t>Launch 2 CPO switches in Mar 25</a:t>
              </a:r>
              <a:endParaRPr lang="en-US" sz="1400" dirty="0"/>
            </a:p>
          </p:txBody>
        </p:sp>
        <p:sp>
          <p:nvSpPr>
            <p:cNvPr id="15" name="Textplatzhalter 9">
              <a:extLst>
                <a:ext uri="{FF2B5EF4-FFF2-40B4-BE49-F238E27FC236}">
                  <a16:creationId xmlns:a16="http://schemas.microsoft.com/office/drawing/2014/main" id="{F3F9DCEA-95C5-231D-DDE1-741629D3FFE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7170" y="1929720"/>
              <a:ext cx="3563744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Premiere advanced CPO switches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sp>
          <p:nvSpPr>
            <p:cNvPr id="6" name="Rechteck 22">
              <a:extLst>
                <a:ext uri="{FF2B5EF4-FFF2-40B4-BE49-F238E27FC236}">
                  <a16:creationId xmlns:a16="http://schemas.microsoft.com/office/drawing/2014/main" id="{2E50D80A-1704-3509-9D6E-FF86D2EDA342}"/>
                </a:ext>
              </a:extLst>
            </p:cNvPr>
            <p:cNvSpPr>
              <a:spLocks/>
            </p:cNvSpPr>
            <p:nvPr/>
          </p:nvSpPr>
          <p:spPr>
            <a:xfrm>
              <a:off x="1524259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GTC 2025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B0F00AE-79C7-64B9-F55F-63167A365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3631" y="1513532"/>
              <a:ext cx="443699" cy="319247"/>
            </a:xfrm>
            <a:prstGeom prst="rect">
              <a:avLst/>
            </a:prstGeom>
            <a:noFill/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E42ACC8-7E17-BB78-EF6C-B7F46444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7330" y="1573189"/>
              <a:ext cx="740492" cy="199933"/>
            </a:xfrm>
            <a:prstGeom prst="rect">
              <a:avLst/>
            </a:prstGeom>
            <a:noFill/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3BC45A2-D98F-47EB-BEC6-315762D7D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48" y="2506344"/>
              <a:ext cx="3142640" cy="1901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8A680D-C507-6147-38A4-8538D21017AA}"/>
              </a:ext>
            </a:extLst>
          </p:cNvPr>
          <p:cNvGrpSpPr/>
          <p:nvPr/>
        </p:nvGrpSpPr>
        <p:grpSpPr>
          <a:xfrm>
            <a:off x="7829534" y="1319474"/>
            <a:ext cx="4031564" cy="4490480"/>
            <a:chOff x="8206661" y="1337390"/>
            <a:chExt cx="4031564" cy="4490480"/>
          </a:xfrm>
        </p:grpSpPr>
        <p:sp>
          <p:nvSpPr>
            <p:cNvPr id="3" name="Rechteck 53">
              <a:extLst>
                <a:ext uri="{FF2B5EF4-FFF2-40B4-BE49-F238E27FC236}">
                  <a16:creationId xmlns:a16="http://schemas.microsoft.com/office/drawing/2014/main" id="{A3D89242-83E7-0754-DC42-B6C7A9C3DB38}"/>
                </a:ext>
              </a:extLst>
            </p:cNvPr>
            <p:cNvSpPr>
              <a:spLocks/>
            </p:cNvSpPr>
            <p:nvPr/>
          </p:nvSpPr>
          <p:spPr>
            <a:xfrm>
              <a:off x="8242203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9" name="Inhaltsplatzhalter 2">
              <a:extLst>
                <a:ext uri="{FF2B5EF4-FFF2-40B4-BE49-F238E27FC236}">
                  <a16:creationId xmlns:a16="http://schemas.microsoft.com/office/drawing/2014/main" id="{AD8FE314-262A-C078-EDB0-5CA09AA3D723}"/>
                </a:ext>
              </a:extLst>
            </p:cNvPr>
            <p:cNvSpPr txBox="1">
              <a:spLocks/>
            </p:cNvSpPr>
            <p:nvPr/>
          </p:nvSpPr>
          <p:spPr>
            <a:xfrm>
              <a:off x="8256794" y="4889151"/>
              <a:ext cx="3660375" cy="93871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sz="1400" dirty="0"/>
                <a:t>Bandwidth limitations restrict training, inference, and network scalability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/>
                <a:t>CPO could deliver higher bandwidth and energy efficiency (published in May 25)</a:t>
              </a:r>
            </a:p>
          </p:txBody>
        </p:sp>
        <p:sp>
          <p:nvSpPr>
            <p:cNvPr id="11" name="Rechteck 22">
              <a:extLst>
                <a:ext uri="{FF2B5EF4-FFF2-40B4-BE49-F238E27FC236}">
                  <a16:creationId xmlns:a16="http://schemas.microsoft.com/office/drawing/2014/main" id="{D122097B-3085-F1BA-955F-93F0AF30E4E8}"/>
                </a:ext>
              </a:extLst>
            </p:cNvPr>
            <p:cNvSpPr>
              <a:spLocks/>
            </p:cNvSpPr>
            <p:nvPr/>
          </p:nvSpPr>
          <p:spPr>
            <a:xfrm>
              <a:off x="9538802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《Insights into DS-V3》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3D30D61-CEC3-4A04-6835-9D269EB0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62" b="88889" l="3125" r="94697">
                          <a14:foregroundMark x1="6155" y1="31418" x2="6155" y2="31418"/>
                          <a14:foregroundMark x1="11364" y1="83525" x2="11364" y2="83525"/>
                          <a14:foregroundMark x1="3125" y1="59387" x2="3125" y2="59387"/>
                          <a14:foregroundMark x1="32576" y1="59387" x2="32576" y2="59387"/>
                          <a14:foregroundMark x1="41098" y1="55556" x2="41098" y2="55556"/>
                          <a14:foregroundMark x1="49242" y1="54789" x2="49242" y2="54789"/>
                          <a14:foregroundMark x1="57765" y1="56705" x2="57765" y2="56705"/>
                          <a14:foregroundMark x1="68845" y1="55939" x2="68845" y2="55939"/>
                          <a14:foregroundMark x1="78030" y1="57088" x2="78030" y2="57088"/>
                          <a14:foregroundMark x1="82765" y1="54023" x2="82765" y2="54023"/>
                          <a14:foregroundMark x1="91288" y1="54406" x2="91288" y2="54406"/>
                          <a14:foregroundMark x1="94697" y1="55556" x2="94697" y2="5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0787" y="1510354"/>
              <a:ext cx="1317379" cy="325602"/>
            </a:xfrm>
            <a:prstGeom prst="rect">
              <a:avLst/>
            </a:prstGeom>
          </p:spPr>
        </p:pic>
        <p:sp>
          <p:nvSpPr>
            <p:cNvPr id="13" name="Textplatzhalter 9">
              <a:extLst>
                <a:ext uri="{FF2B5EF4-FFF2-40B4-BE49-F238E27FC236}">
                  <a16:creationId xmlns:a16="http://schemas.microsoft.com/office/drawing/2014/main" id="{AF68D50D-414D-635E-2792-0BEAB0496A5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56794" y="1929720"/>
              <a:ext cx="3981431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Highlight CPO’s importance under limited</a:t>
              </a:r>
              <a:r>
                <a:rPr lang="zh-CN" altLang="en-US" b="1" dirty="0"/>
                <a:t> </a:t>
              </a:r>
              <a:r>
                <a:rPr lang="en-US" altLang="zh-CN" b="1" dirty="0"/>
                <a:t>bandwidth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D943F7C-E7EF-9207-A884-3A534698B846}"/>
                </a:ext>
              </a:extLst>
            </p:cNvPr>
            <p:cNvGrpSpPr/>
            <p:nvPr/>
          </p:nvGrpSpPr>
          <p:grpSpPr>
            <a:xfrm>
              <a:off x="8206661" y="2501169"/>
              <a:ext cx="3509584" cy="1911646"/>
              <a:chOff x="7440021" y="1361951"/>
              <a:chExt cx="3509584" cy="1911646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234BB60-FB48-622D-A498-75516FE24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022" y="1361951"/>
                <a:ext cx="3509583" cy="553199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594A99E-9B03-0559-EB83-31733FA28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b="68697"/>
              <a:stretch/>
            </p:blipFill>
            <p:spPr>
              <a:xfrm>
                <a:off x="7440021" y="1877371"/>
                <a:ext cx="3444240" cy="1396226"/>
              </a:xfrm>
              <a:prstGeom prst="rect">
                <a:avLst/>
              </a:prstGeom>
            </p:spPr>
          </p:pic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9EA39E-0613-8F9A-4489-6AACB923E3C7}"/>
                  </a:ext>
                </a:extLst>
              </p:cNvPr>
              <p:cNvSpPr/>
              <p:nvPr/>
            </p:nvSpPr>
            <p:spPr>
              <a:xfrm>
                <a:off x="7440021" y="1877370"/>
                <a:ext cx="3444240" cy="515310"/>
              </a:xfrm>
              <a:prstGeom prst="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1FE6AA-B936-2C70-469E-7E327AF3E7CE}"/>
              </a:ext>
            </a:extLst>
          </p:cNvPr>
          <p:cNvGrpSpPr/>
          <p:nvPr/>
        </p:nvGrpSpPr>
        <p:grpSpPr>
          <a:xfrm>
            <a:off x="3937489" y="1381593"/>
            <a:ext cx="4049178" cy="4446277"/>
            <a:chOff x="4154770" y="1381593"/>
            <a:chExt cx="4049178" cy="4446277"/>
          </a:xfrm>
        </p:grpSpPr>
        <p:sp>
          <p:nvSpPr>
            <p:cNvPr id="23" name="Rechteck 23">
              <a:extLst>
                <a:ext uri="{FF2B5EF4-FFF2-40B4-BE49-F238E27FC236}">
                  <a16:creationId xmlns:a16="http://schemas.microsoft.com/office/drawing/2014/main" id="{D46FDC1B-0589-0C6F-14BE-04FAC0134390}"/>
                </a:ext>
              </a:extLst>
            </p:cNvPr>
            <p:cNvSpPr>
              <a:spLocks/>
            </p:cNvSpPr>
            <p:nvPr/>
          </p:nvSpPr>
          <p:spPr>
            <a:xfrm>
              <a:off x="5576150" y="1381593"/>
              <a:ext cx="2627798" cy="583124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</a:rPr>
                <a:t>Tomahawk Switches</a:t>
              </a:r>
              <a:endParaRPr lang="en-US" sz="1400" b="1" dirty="0">
                <a:solidFill>
                  <a:srgbClr val="0052D9"/>
                </a:solidFill>
                <a:sym typeface="Futur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AEDBC2-E141-C8D2-352D-0441C029259C}"/>
                </a:ext>
              </a:extLst>
            </p:cNvPr>
            <p:cNvGrpSpPr/>
            <p:nvPr/>
          </p:nvGrpSpPr>
          <p:grpSpPr>
            <a:xfrm>
              <a:off x="4154770" y="1523092"/>
              <a:ext cx="3657269" cy="4304778"/>
              <a:chOff x="4154770" y="1523092"/>
              <a:chExt cx="3657269" cy="4304778"/>
            </a:xfrm>
          </p:grpSpPr>
          <p:sp>
            <p:nvSpPr>
              <p:cNvPr id="14" name="Rechteck 54">
                <a:extLst>
                  <a:ext uri="{FF2B5EF4-FFF2-40B4-BE49-F238E27FC236}">
                    <a16:creationId xmlns:a16="http://schemas.microsoft.com/office/drawing/2014/main" id="{3D6A41AE-49DF-B3A5-B25A-942FE82A13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54770" y="2496855"/>
                <a:ext cx="3563744" cy="158027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cap="all" spc="100">
                    <a:solidFill>
                      <a:schemeClr val="accent5"/>
                    </a:solidFill>
                  </a:rPr>
                  <a:t>IMAGE</a:t>
                </a:r>
              </a:p>
            </p:txBody>
          </p:sp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4AEC338-DA13-8B7F-9021-2039CE822D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362" y="4889151"/>
                <a:ext cx="3563744" cy="938719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n-US" sz="1400" dirty="0"/>
                  <a:t>Tomahawk 4: 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CPO switch chip </a:t>
                </a:r>
                <a:r>
                  <a:rPr lang="en-US" altLang="zh-CN" sz="1400" dirty="0"/>
                  <a:t>announced</a:t>
                </a:r>
                <a:r>
                  <a:rPr lang="en-US" sz="1400" dirty="0"/>
                  <a:t> in 2021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/>
                  <a:t>Tomahawk 6: fastest CPO switch chip, announced in Apr 25</a:t>
                </a:r>
                <a:endParaRPr lang="en-US" sz="1400" dirty="0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CBBA7B24-CECB-4D5E-2109-668B333CB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8296" y="1523092"/>
                <a:ext cx="312632" cy="300127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16E62E3A-EFCC-484A-7059-19CC0144F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37992" y="1610438"/>
                <a:ext cx="861094" cy="125435"/>
              </a:xfrm>
              <a:prstGeom prst="rect">
                <a:avLst/>
              </a:prstGeom>
            </p:spPr>
          </p:pic>
          <p:sp>
            <p:nvSpPr>
              <p:cNvPr id="31" name="Textplatzhalter 9">
                <a:extLst>
                  <a:ext uri="{FF2B5EF4-FFF2-40B4-BE49-F238E27FC236}">
                    <a16:creationId xmlns:a16="http://schemas.microsoft.com/office/drawing/2014/main" id="{C5A4A542-2958-433B-B7FD-8AE91883B95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248295" y="1929720"/>
                <a:ext cx="3563744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CN" b="1" dirty="0"/>
                  <a:t>Accelerate CPO ecosystem adoption</a:t>
                </a:r>
                <a:endParaRPr lang="en-US" sz="1400" dirty="0">
                  <a:solidFill>
                    <a:srgbClr val="0052D9"/>
                  </a:solidFill>
                </a:endParaRPr>
              </a:p>
            </p:txBody>
          </p:sp>
          <p:pic>
            <p:nvPicPr>
              <p:cNvPr id="33" name="图片 32" descr="男人戴着眼镜&#10;&#10;AI 生成的内容可能不正确。">
                <a:extLst>
                  <a:ext uri="{FF2B5EF4-FFF2-40B4-BE49-F238E27FC236}">
                    <a16:creationId xmlns:a16="http://schemas.microsoft.com/office/drawing/2014/main" id="{519DC953-2C84-BF8C-246B-B569654A2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97" t="4454" r="24533" b="12287"/>
              <a:stretch/>
            </p:blipFill>
            <p:spPr>
              <a:xfrm>
                <a:off x="4248295" y="2510615"/>
                <a:ext cx="3141178" cy="1892755"/>
              </a:xfrm>
              <a:prstGeom prst="rect">
                <a:avLst/>
              </a:prstGeom>
            </p:spPr>
          </p:pic>
        </p:grp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4221E6D3-62B1-CCAB-F76F-0EF314262914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edited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695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42" name="Bullet2">
            <a:extLst>
              <a:ext uri="{FF2B5EF4-FFF2-40B4-BE49-F238E27FC236}">
                <a16:creationId xmlns:a16="http://schemas.microsoft.com/office/drawing/2014/main" id="{AD7E5E9D-5BB8-E5F7-B5D6-8BDBDE8FCCB6}"/>
              </a:ext>
            </a:extLst>
          </p:cNvPr>
          <p:cNvSpPr>
            <a:spLocks/>
          </p:cNvSpPr>
          <p:nvPr/>
        </p:nvSpPr>
        <p:spPr>
          <a:xfrm flipH="1">
            <a:off x="1969465" y="1686290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Distance</a:t>
            </a:r>
            <a:endParaRPr lang="en-US" altLang="zh-CN" b="1" dirty="0">
              <a:cs typeface="Arial" panose="020B0604020202020204" pitchFamily="34" charset="0"/>
            </a:endParaRPr>
          </a:p>
        </p:txBody>
      </p:sp>
      <p:sp>
        <p:nvSpPr>
          <p:cNvPr id="43" name="Text2">
            <a:extLst>
              <a:ext uri="{FF2B5EF4-FFF2-40B4-BE49-F238E27FC236}">
                <a16:creationId xmlns:a16="http://schemas.microsoft.com/office/drawing/2014/main" id="{0B1BFAA2-8A23-4D8A-51B5-EAC207FF8428}"/>
              </a:ext>
            </a:extLst>
          </p:cNvPr>
          <p:cNvSpPr>
            <a:spLocks/>
          </p:cNvSpPr>
          <p:nvPr/>
        </p:nvSpPr>
        <p:spPr>
          <a:xfrm flipH="1">
            <a:off x="1525684" y="2244684"/>
            <a:ext cx="337822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Long-reach transmission demands high power; low power limits reach.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41" name="Number2">
            <a:extLst>
              <a:ext uri="{FF2B5EF4-FFF2-40B4-BE49-F238E27FC236}">
                <a16:creationId xmlns:a16="http://schemas.microsoft.com/office/drawing/2014/main" id="{88D41197-0323-1967-31F4-7F86FD4170ED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4987555" y="1874675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1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36" name="Number3">
            <a:extLst>
              <a:ext uri="{FF2B5EF4-FFF2-40B4-BE49-F238E27FC236}">
                <a16:creationId xmlns:a16="http://schemas.microsoft.com/office/drawing/2014/main" id="{92787A42-58EB-D724-89E3-05CC3AC7C966}"/>
              </a:ext>
            </a:extLst>
          </p:cNvPr>
          <p:cNvSpPr txBox="1">
            <a:spLocks noChangeAspect="1"/>
          </p:cNvSpPr>
          <p:nvPr/>
        </p:nvSpPr>
        <p:spPr>
          <a:xfrm>
            <a:off x="8202929" y="4915943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3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en-US" altLang="zh-CN" dirty="0">
              <a:cs typeface="+mn-ea"/>
            </a:endParaRP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15" name="Bullet2">
            <a:extLst>
              <a:ext uri="{FF2B5EF4-FFF2-40B4-BE49-F238E27FC236}">
                <a16:creationId xmlns:a16="http://schemas.microsoft.com/office/drawing/2014/main" id="{020D2B8C-297B-1DE8-7205-1FCC7FF548A2}"/>
              </a:ext>
            </a:extLst>
          </p:cNvPr>
          <p:cNvSpPr>
            <a:spLocks/>
          </p:cNvSpPr>
          <p:nvPr/>
        </p:nvSpPr>
        <p:spPr>
          <a:xfrm flipH="1">
            <a:off x="459341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</a:t>
            </a:r>
          </a:p>
        </p:txBody>
      </p:sp>
      <p:sp>
        <p:nvSpPr>
          <p:cNvPr id="16" name="Text2">
            <a:extLst>
              <a:ext uri="{FF2B5EF4-FFF2-40B4-BE49-F238E27FC236}">
                <a16:creationId xmlns:a16="http://schemas.microsoft.com/office/drawing/2014/main" id="{5009F1E3-5AC0-17B2-CC3B-ED261A33494A}"/>
              </a:ext>
            </a:extLst>
          </p:cNvPr>
          <p:cNvSpPr>
            <a:spLocks/>
          </p:cNvSpPr>
          <p:nvPr/>
        </p:nvSpPr>
        <p:spPr>
          <a:xfrm flipH="1">
            <a:off x="114300" y="5279781"/>
            <a:ext cx="327948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Long-distance suffers signal attenuation, requiring power compensation.</a:t>
            </a:r>
          </a:p>
          <a:p>
            <a:pPr algn="r">
              <a:lnSpc>
                <a:spcPct val="12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Number2">
            <a:extLst>
              <a:ext uri="{FF2B5EF4-FFF2-40B4-BE49-F238E27FC236}">
                <a16:creationId xmlns:a16="http://schemas.microsoft.com/office/drawing/2014/main" id="{15E7B3D2-FCDE-F42D-CD2F-EDACC50481DB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3477431" y="4909772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2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F15A32-A814-56E7-29DB-6B80BF7F2D5B}"/>
              </a:ext>
            </a:extLst>
          </p:cNvPr>
          <p:cNvSpPr txBox="1"/>
          <p:nvPr/>
        </p:nvSpPr>
        <p:spPr>
          <a:xfrm>
            <a:off x="511331" y="954770"/>
            <a:ext cx="9902071" cy="6601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System goal: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Given a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Bit Error Rate</a:t>
            </a:r>
            <a:r>
              <a:rPr kumimoji="1" lang="en-US" altLang="zh-CN" b="1" baseline="30000" dirty="0">
                <a:solidFill>
                  <a:srgbClr val="0052D9"/>
                </a:solidFill>
                <a:cs typeface="+mn-ea"/>
              </a:rPr>
              <a:t>1</a:t>
            </a:r>
            <a:r>
              <a:rPr lang="en-US" altLang="zh-CN" dirty="0">
                <a:solidFill>
                  <a:srgbClr val="0052D9"/>
                </a:solidFill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(BER, the core transmission reliability metric in IDC data communications) target, optimize the </a:t>
            </a:r>
            <a:r>
              <a:rPr lang="en-US" altLang="zh-CN" b="1" dirty="0">
                <a:solidFill>
                  <a:srgbClr val="0052D9"/>
                </a:solidFill>
              </a:rPr>
              <a:t>tradeoff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1"/>
                </a:solidFill>
              </a:rPr>
              <a:t>among speed, distance and power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BF969B-CDA8-DE01-25CA-98ED64CEF8FA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edited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箭头: V 形 16">
            <a:extLst>
              <a:ext uri="{FF2B5EF4-FFF2-40B4-BE49-F238E27FC236}">
                <a16:creationId xmlns:a16="http://schemas.microsoft.com/office/drawing/2014/main" id="{564095E9-45CF-C725-810F-6C82C31F658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99097538-5B00-3BEC-760F-081A6BBADCB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528C5323-562D-2E0B-28E8-74E2FB42B72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F5D60CA3-9BF9-8ED5-9EBF-BDC4C25EA2A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A6CA927F-42E7-C0C6-C599-D30229B79E2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E4EF8779-777C-B465-2C3C-B68E4B80D3A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EC0D612-EA19-2984-15A6-E24C4C83C70D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6" name="箭头: V 形 38">
            <a:extLst>
              <a:ext uri="{FF2B5EF4-FFF2-40B4-BE49-F238E27FC236}">
                <a16:creationId xmlns:a16="http://schemas.microsoft.com/office/drawing/2014/main" id="{913561E4-584D-D147-6B72-55ED6DB3CF6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9CFE0779-AAF3-6FA8-F794-E8E2D802C56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trade-off triangle in IDCs: speed, distance, and power</a:t>
            </a:r>
          </a:p>
        </p:txBody>
      </p:sp>
      <p:sp>
        <p:nvSpPr>
          <p:cNvPr id="28" name="Bullet3">
            <a:extLst>
              <a:ext uri="{FF2B5EF4-FFF2-40B4-BE49-F238E27FC236}">
                <a16:creationId xmlns:a16="http://schemas.microsoft.com/office/drawing/2014/main" id="{F33F20C3-404C-CFAC-FE2F-1F08BDA22E7F}"/>
              </a:ext>
            </a:extLst>
          </p:cNvPr>
          <p:cNvSpPr>
            <a:spLocks/>
          </p:cNvSpPr>
          <p:nvPr/>
        </p:nvSpPr>
        <p:spPr>
          <a:xfrm>
            <a:off x="8798215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Speed</a:t>
            </a:r>
          </a:p>
        </p:txBody>
      </p:sp>
      <p:sp>
        <p:nvSpPr>
          <p:cNvPr id="29" name="Text3">
            <a:extLst>
              <a:ext uri="{FF2B5EF4-FFF2-40B4-BE49-F238E27FC236}">
                <a16:creationId xmlns:a16="http://schemas.microsoft.com/office/drawing/2014/main" id="{03D816A1-5FFA-29A6-6ADA-75BC93325A19}"/>
              </a:ext>
            </a:extLst>
          </p:cNvPr>
          <p:cNvSpPr>
            <a:spLocks/>
          </p:cNvSpPr>
          <p:nvPr/>
        </p:nvSpPr>
        <p:spPr>
          <a:xfrm>
            <a:off x="8798215" y="5279781"/>
            <a:ext cx="2934444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Low power + extended distance requires reduced data rates or bandwidth.</a:t>
            </a:r>
          </a:p>
        </p:txBody>
      </p:sp>
    </p:spTree>
    <p:extLst>
      <p:ext uri="{BB962C8B-B14F-4D97-AF65-F5344CB8AC3E}">
        <p14:creationId xmlns:p14="http://schemas.microsoft.com/office/powerpoint/2010/main" val="16812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152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32999-7A6A-C0DA-FA39-6557A781C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10165" y="1475620"/>
            <a:ext cx="526891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Intra-rack GPU interconnect: Copper dominates;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Inter-rack / DC interconnect: Optics dominate.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56932" y="4870606"/>
            <a:ext cx="5054508" cy="932742"/>
          </a:xfrm>
          <a:prstGeom prst="roundRect">
            <a:avLst>
              <a:gd name="adj" fmla="val 3533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“The practical limit for copper interconnect is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2.5 m - 3 m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defining a cluster size ceiling of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~10,000 GPUs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.”</a:t>
            </a: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 Broadcom expert</a:t>
            </a: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34751" y="3597055"/>
            <a:ext cx="4763" cy="2767453"/>
          </a:xfrm>
          <a:prstGeom prst="bentConnector3">
            <a:avLst>
              <a:gd name="adj1" fmla="val -479949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0323601-200F-D610-B725-2585A75D42C9}"/>
              </a:ext>
            </a:extLst>
          </p:cNvPr>
          <p:cNvSpPr/>
          <p:nvPr/>
        </p:nvSpPr>
        <p:spPr>
          <a:xfrm>
            <a:off x="754063" y="3343275"/>
            <a:ext cx="1941513" cy="1350963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015E140-7A1D-7F16-C4EE-332851B5DB38}"/>
              </a:ext>
            </a:extLst>
          </p:cNvPr>
          <p:cNvSpPr txBox="1"/>
          <p:nvPr/>
        </p:nvSpPr>
        <p:spPr>
          <a:xfrm>
            <a:off x="2549525" y="3843338"/>
            <a:ext cx="712788" cy="36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0" name="矩形: 圆角 3679">
            <a:extLst>
              <a:ext uri="{FF2B5EF4-FFF2-40B4-BE49-F238E27FC236}">
                <a16:creationId xmlns:a16="http://schemas.microsoft.com/office/drawing/2014/main" id="{08C830D4-FADA-DEE1-76AB-5CF7450C0330}"/>
              </a:ext>
            </a:extLst>
          </p:cNvPr>
          <p:cNvSpPr/>
          <p:nvPr/>
        </p:nvSpPr>
        <p:spPr>
          <a:xfrm>
            <a:off x="606425" y="2986088"/>
            <a:ext cx="2493963" cy="1997075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652358" y="5322329"/>
            <a:ext cx="318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173995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3530285"/>
              </p:ext>
            </p:extLst>
          </p:nvPr>
        </p:nvGraphicFramePr>
        <p:xfrm>
          <a:off x="6656932" y="2178398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180100" y="1664780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351461" y="3626601"/>
            <a:ext cx="2089482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~2.5 m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331115" y="3208071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408636" y="1781898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 100 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Optics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084087" y="1995209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114601" y="2032091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232741" y="3987190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453290" y="6319390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112 Gbps is the current mainstream rate, while 224 Gbps is now emerging.​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536859" y="3352151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971862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2.5m =&gt; 100m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relies on optical interconnect​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1850" y="2984500"/>
            <a:ext cx="2493963" cy="1993900"/>
            <a:chOff x="1222821" y="2091768"/>
            <a:chExt cx="2380843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222821" y="2239553"/>
              <a:ext cx="1816564" cy="440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cs typeface="+mn-ea"/>
                  <a:sym typeface="+mn-lt"/>
                </a:rPr>
                <a:t>Inter-rack</a:t>
              </a:r>
            </a:p>
            <a:p>
              <a:pPr algn="ctr"/>
              <a:r>
                <a:rPr lang="en-US" altLang="zh-CN" sz="1200" b="1" dirty="0">
                  <a:solidFill>
                    <a:srgbClr val="0052D9"/>
                  </a:solidFill>
                  <a:cs typeface="+mn-ea"/>
                  <a:sym typeface="+mn-lt"/>
                </a:rPr>
                <a:t>&gt; 5 m</a:t>
              </a:r>
              <a:endParaRPr lang="zh-CN" altLang="en-US" sz="1200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208605" y="1998929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4EEAED-AA0D-020A-DBDC-FB4B50C53BF3}"/>
              </a:ext>
            </a:extLst>
          </p:cNvPr>
          <p:cNvSpPr txBox="1"/>
          <p:nvPr/>
        </p:nvSpPr>
        <p:spPr>
          <a:xfrm>
            <a:off x="901868" y="3814989"/>
            <a:ext cx="1412875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Intra-rack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&lt; 5 m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EDC536A-B8D8-9BFC-D44D-B38B648BBF70}"/>
              </a:ext>
            </a:extLst>
          </p:cNvPr>
          <p:cNvSpPr/>
          <p:nvPr/>
        </p:nvSpPr>
        <p:spPr>
          <a:xfrm>
            <a:off x="850901" y="3597275"/>
            <a:ext cx="696913" cy="227013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09B40C-454D-3A61-980C-EB6CC6526363}"/>
              </a:ext>
            </a:extLst>
          </p:cNvPr>
          <p:cNvSpPr/>
          <p:nvPr/>
        </p:nvSpPr>
        <p:spPr>
          <a:xfrm>
            <a:off x="850901" y="4246563"/>
            <a:ext cx="696913" cy="228600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0E25B2A-1888-C02A-16E0-B7C0DAF25DA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99358" y="3824288"/>
            <a:ext cx="0" cy="422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D452F59-7E6C-B5B1-4D12-BE01D84608AC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7534E5F8-C4F0-7853-B1B4-046B7CCFB365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A9C42D71-C223-1524-CEC5-9AB4E9B273C1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31C27468-2CF7-2E89-8D83-0062AFF6587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A8DAD8FD-DB2B-57DC-5EAE-CF859EAADC8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0244EA9F-B96C-378A-717B-9EA7877B673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6B30D712-D06D-A2A4-512D-F1528684954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917892E8-E61E-39D2-2A17-453E8F40788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20208C64-7A7F-E99E-DE99-6B618A4561FD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Optical interconnect overcomes the bottleneck of copper reach in IDC scaling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D14B1D-855E-E31A-17B6-AE87A5F59F9D}"/>
              </a:ext>
            </a:extLst>
          </p:cNvPr>
          <p:cNvSpPr/>
          <p:nvPr/>
        </p:nvSpPr>
        <p:spPr>
          <a:xfrm>
            <a:off x="10438757" y="24281"/>
            <a:ext cx="1753243" cy="4862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</a:rPr>
              <a:t>edited</a:t>
            </a:r>
            <a:endParaRPr lang="zh-CN" altLang="en-US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0F029CA-0463-DB2A-70A5-9689E0A43C97}"/>
              </a:ext>
            </a:extLst>
          </p:cNvPr>
          <p:cNvSpPr txBox="1"/>
          <p:nvPr/>
        </p:nvSpPr>
        <p:spPr>
          <a:xfrm>
            <a:off x="1369213" y="3358839"/>
            <a:ext cx="1541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Copper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D03C444-9C69-25E7-DE27-A424CC02591F}"/>
              </a:ext>
            </a:extLst>
          </p:cNvPr>
          <p:cNvSpPr txBox="1"/>
          <p:nvPr/>
        </p:nvSpPr>
        <p:spPr>
          <a:xfrm>
            <a:off x="4495095" y="3139354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Optical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F672C56-1A7B-9480-A903-37CFC5B8561D}"/>
              </a:ext>
            </a:extLst>
          </p:cNvPr>
          <p:cNvSpPr txBox="1"/>
          <p:nvPr/>
        </p:nvSpPr>
        <p:spPr>
          <a:xfrm>
            <a:off x="4063266" y="5291551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Optical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8E29AB-08CA-40AB-D568-154BDA8CDF74}"/>
              </a:ext>
            </a:extLst>
          </p:cNvPr>
          <p:cNvSpPr/>
          <p:nvPr/>
        </p:nvSpPr>
        <p:spPr>
          <a:xfrm>
            <a:off x="12208083" y="1173995"/>
            <a:ext cx="1753243" cy="4862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</a:rPr>
              <a:t>10000GPU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</a:rPr>
              <a:t>确定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</a:rPr>
              <a:t>@sidong</a:t>
            </a:r>
            <a:endParaRPr lang="zh-CN" altLang="en-US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B635C7-4B7E-0EF4-EFC2-1F7D0A6BA00D}"/>
              </a:ext>
            </a:extLst>
          </p:cNvPr>
          <p:cNvSpPr txBox="1"/>
          <p:nvPr/>
        </p:nvSpPr>
        <p:spPr>
          <a:xfrm>
            <a:off x="9304885" y="2120526"/>
            <a:ext cx="1656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724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B6DFAD90-E638-3B22-4A23-1AD8AC4AFECD}"/>
              </a:ext>
            </a:extLst>
          </p:cNvPr>
          <p:cNvSpPr/>
          <p:nvPr/>
        </p:nvSpPr>
        <p:spPr>
          <a:xfrm>
            <a:off x="8134350" y="1131887"/>
            <a:ext cx="3489076" cy="4533900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45403" y="6010274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8349970" y="1297245"/>
            <a:ext cx="3057836" cy="30019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pluggable: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50%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power consumption increase,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7.4%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~60%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cut;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Million-scale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21" name="Chart 3">
            <a:extLst>
              <a:ext uri="{FF2B5EF4-FFF2-40B4-BE49-F238E27FC236}">
                <a16:creationId xmlns:a16="http://schemas.microsoft.com/office/drawing/2014/main" id="{16D727F9-A939-883A-6F2F-1F74E16EE74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273842"/>
              </p:ext>
            </p:extLst>
          </p:nvPr>
        </p:nvGraphicFramePr>
        <p:xfrm>
          <a:off x="1641475" y="1776413"/>
          <a:ext cx="37211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6C207414-8AE3-9784-EF1C-BF41CCA361F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468938" y="4262438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81F127A-4CD7-4BA2-AE8F-D2A3D7448094}" type="datetime'P''''''''''''''''''''''''''''''O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DCD97CB7-F89E-1C03-7660-C6D9621BADD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468938" y="5038725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90D8F29-B490-4BBF-83C4-E9BC72CFCAE0}" type="datetime'''''''''''''''''''CP''''''''''''''''O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113" name="Text Placeholder 4">
            <a:extLst>
              <a:ext uri="{FF2B5EF4-FFF2-40B4-BE49-F238E27FC236}">
                <a16:creationId xmlns:a16="http://schemas.microsoft.com/office/drawing/2014/main" id="{7390EFEA-FCAB-1BA9-DFE5-38B71D2AD22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2181225" y="2679700"/>
            <a:ext cx="581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&lt; 0.1</a:t>
            </a:r>
            <a:endParaRPr lang="zh-CN" altLang="en-US" sz="1800" dirty="0">
              <a:cs typeface="+mn-cs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88976" y="1641475"/>
            <a:ext cx="281883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Power (W per 800G port)</a:t>
            </a:r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3" y="6263203"/>
            <a:ext cx="1212716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The transmission reach of DAC is less than 2 meters. AEC integrates signal enhancement chips (re-timer) to extend the reach (5 meters) using more power.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Based on the GB200 NVL72 expansion solution, totaling 9,216 B200 GPUs. The average power consumption per card in GB200 is 900W.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498527" y="1139825"/>
            <a:ext cx="5676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Pluggable,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B49E84-8C9B-69C6-1FD6-497BC0CEFD8F}"/>
              </a:ext>
            </a:extLst>
          </p:cNvPr>
          <p:cNvSpPr txBox="1"/>
          <p:nvPr/>
        </p:nvSpPr>
        <p:spPr>
          <a:xfrm>
            <a:off x="529616" y="4087814"/>
            <a:ext cx="916597" cy="144462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(&gt;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17C285-0F4A-8942-82E8-1916081C4DE9}"/>
              </a:ext>
            </a:extLst>
          </p:cNvPr>
          <p:cNvSpPr txBox="1"/>
          <p:nvPr/>
        </p:nvSpPr>
        <p:spPr>
          <a:xfrm>
            <a:off x="529616" y="2422525"/>
            <a:ext cx="916597" cy="148113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Short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≤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83AE4-619F-0E69-97D1-420FC17358C7}"/>
              </a:ext>
            </a:extLst>
          </p:cNvPr>
          <p:cNvSpPr txBox="1"/>
          <p:nvPr/>
        </p:nvSpPr>
        <p:spPr>
          <a:xfrm rot="16200000">
            <a:off x="877888" y="3005138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 descr="image-20250810142041539">
            <a:extLst>
              <a:ext uri="{FF2B5EF4-FFF2-40B4-BE49-F238E27FC236}">
                <a16:creationId xmlns:a16="http://schemas.microsoft.com/office/drawing/2014/main" id="{B0647645-1DC9-2911-0D2D-C58EF242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813" y="3408363"/>
            <a:ext cx="502071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具有SGMII接口热插拔光模块 ESFP Optical Moudule with SGMII （SGMII SFP） - 知乎">
            <a:extLst>
              <a:ext uri="{FF2B5EF4-FFF2-40B4-BE49-F238E27FC236}">
                <a16:creationId xmlns:a16="http://schemas.microsoft.com/office/drawing/2014/main" id="{0C3D5394-D631-CE4C-8600-8907C115E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8" t="21981" r="10185" b="29244"/>
          <a:stretch/>
        </p:blipFill>
        <p:spPr bwMode="auto">
          <a:xfrm>
            <a:off x="6823890" y="4184650"/>
            <a:ext cx="627695" cy="38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85AA76EB-3293-69CC-BDE5-47CE9B68EB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518" b="94786" l="5914" r="97491">
                        <a14:foregroundMark x1="19713" y1="6145" x2="6093" y2="7263"/>
                        <a14:foregroundMark x1="6093" y1="7263" x2="14337" y2="78585"/>
                        <a14:foregroundMark x1="14337" y1="78585" x2="41577" y2="92179"/>
                        <a14:foregroundMark x1="41577" y1="92179" x2="75448" y2="90130"/>
                        <a14:foregroundMark x1="75448" y1="90130" x2="84946" y2="83799"/>
                        <a14:foregroundMark x1="84946" y1="83799" x2="91756" y2="70205"/>
                        <a14:foregroundMark x1="91756" y1="70205" x2="85305" y2="27933"/>
                        <a14:foregroundMark x1="85305" y1="27933" x2="79749" y2="15084"/>
                        <a14:foregroundMark x1="79749" y1="15084" x2="21147" y2="8566"/>
                        <a14:foregroundMark x1="21147" y1="8566" x2="17025" y2="6518"/>
                        <a14:foregroundMark x1="6093" y1="7821" x2="6452" y2="27561"/>
                        <a14:foregroundMark x1="19713" y1="23650" x2="24014" y2="74302"/>
                        <a14:foregroundMark x1="15233" y1="27188" x2="18638" y2="91806"/>
                        <a14:foregroundMark x1="22222" y1="14525" x2="33513" y2="14525"/>
                        <a14:foregroundMark x1="33513" y1="14525" x2="45520" y2="13966"/>
                        <a14:foregroundMark x1="33154" y1="86220" x2="72581" y2="81750"/>
                        <a14:foregroundMark x1="72581" y1="81750" x2="79570" y2="83054"/>
                        <a14:foregroundMark x1="23835" y1="90875" x2="34946" y2="94786"/>
                        <a14:foregroundMark x1="34946" y1="94786" x2="63620" y2="92179"/>
                        <a14:foregroundMark x1="91398" y1="64246" x2="93190" y2="76909"/>
                        <a14:foregroundMark x1="93190" y1="76909" x2="85125" y2="80447"/>
                        <a14:foregroundMark x1="94145" y1="75176" x2="93190" y2="81378"/>
                        <a14:foregroundMark x1="93190" y1="81378" x2="89606" y2="82682"/>
                        <a14:foregroundMark x1="53226" y1="18436" x2="60215" y2="77654"/>
                        <a14:foregroundMark x1="28853" y1="53073" x2="89469" y2="45374"/>
                        <a14:foregroundMark x1="26703" y1="26629" x2="53584" y2="26257"/>
                        <a14:foregroundMark x1="62007" y1="22160" x2="67921" y2="43762"/>
                        <a14:foregroundMark x1="71505" y1="48603" x2="75090" y2="67970"/>
                        <a14:foregroundMark x1="71147" y1="25512" x2="70609" y2="51210"/>
                        <a14:foregroundMark x1="33154" y1="21974" x2="34588" y2="59963"/>
                        <a14:foregroundMark x1="34588" y1="59963" x2="53226" y2="69646"/>
                        <a14:foregroundMark x1="53226" y1="69646" x2="79570" y2="69832"/>
                        <a14:foregroundMark x1="79570" y1="69832" x2="79928" y2="69460"/>
                        <a14:foregroundMark x1="37455" y1="60521" x2="51971" y2="73557"/>
                        <a14:foregroundMark x1="51971" y1="73557" x2="51971" y2="73557"/>
                        <a14:foregroundMark x1="33513" y1="62011" x2="39964" y2="72067"/>
                        <a14:foregroundMark x1="39964" y1="72067" x2="46774" y2="70577"/>
                        <a14:foregroundMark x1="77957" y1="25140" x2="82079" y2="31099"/>
                        <a14:backgroundMark x1="3763" y1="51955" x2="3047" y2="82868"/>
                        <a14:backgroundMark x1="92832" y1="26257" x2="97133" y2="52700"/>
                        <a14:backgroundMark x1="91219" y1="27002" x2="99283" y2="78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42581" y="4962525"/>
            <a:ext cx="389300" cy="37465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506337-6F5A-448F-7CA9-0E1DAE97AA45}"/>
              </a:ext>
            </a:extLst>
          </p:cNvPr>
          <p:cNvCxnSpPr>
            <a:cxnSpLocks/>
          </p:cNvCxnSpPr>
          <p:nvPr/>
        </p:nvCxnSpPr>
        <p:spPr>
          <a:xfrm>
            <a:off x="529616" y="3997325"/>
            <a:ext cx="7088797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image-20250810150708856">
            <a:extLst>
              <a:ext uri="{FF2B5EF4-FFF2-40B4-BE49-F238E27FC236}">
                <a16:creationId xmlns:a16="http://schemas.microsoft.com/office/drawing/2014/main" id="{06453414-A956-66C2-0EA9-8660DF9A2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40"/>
          <a:stretch/>
        </p:blipFill>
        <p:spPr bwMode="auto">
          <a:xfrm>
            <a:off x="6837702" y="2643188"/>
            <a:ext cx="598515" cy="37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文本框 128">
            <a:extLst>
              <a:ext uri="{FF2B5EF4-FFF2-40B4-BE49-F238E27FC236}">
                <a16:creationId xmlns:a16="http://schemas.microsoft.com/office/drawing/2014/main" id="{6A55DB69-2315-DC0C-0F72-6F463A428652}"/>
              </a:ext>
            </a:extLst>
          </p:cNvPr>
          <p:cNvSpPr txBox="1"/>
          <p:nvPr/>
        </p:nvSpPr>
        <p:spPr>
          <a:xfrm rot="16200000">
            <a:off x="876300" y="4608513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Optical</a:t>
            </a:r>
          </a:p>
        </p:txBody>
      </p:sp>
      <p:cxnSp>
        <p:nvCxnSpPr>
          <p:cNvPr id="132" name="Straight Connector 69">
            <a:extLst>
              <a:ext uri="{FF2B5EF4-FFF2-40B4-BE49-F238E27FC236}">
                <a16:creationId xmlns:a16="http://schemas.microsoft.com/office/drawing/2014/main" id="{DA1D4792-B452-63E4-15AE-20E2A4F53BBC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>
            <a:off x="488976" y="1482724"/>
            <a:ext cx="7129437" cy="3810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FD8220F0-D202-A023-62EA-C0E8010DCB57}"/>
              </a:ext>
            </a:extLst>
          </p:cNvPr>
          <p:cNvSpPr txBox="1"/>
          <p:nvPr/>
        </p:nvSpPr>
        <p:spPr>
          <a:xfrm>
            <a:off x="5349571" y="2422525"/>
            <a:ext cx="176248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Direct Attach Copper Cable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(DAC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F3F2AC22-96D4-B524-69A6-CE2E4B53E6D4}"/>
              </a:ext>
            </a:extLst>
          </p:cNvPr>
          <p:cNvSpPr txBox="1"/>
          <p:nvPr/>
        </p:nvSpPr>
        <p:spPr>
          <a:xfrm>
            <a:off x="5349571" y="3195638"/>
            <a:ext cx="149594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Active Electrical Cable </a:t>
            </a:r>
          </a:p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(AEC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13699F08-5D91-DD3F-9CA1-B7415640E91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E3FE933C-6D7A-0C8D-0189-3B6563776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C2C07A80-BCBF-A854-73A8-4C9A3CCB9B28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FBFD3182-542B-D39D-4AD5-70ED32BD33C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00FD3751-AC63-A9B2-DE58-5F6177CB6276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6E875E7-B63C-28F9-E4CE-F32E3F7453E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D1B3DED3-5BE5-74D8-CEFF-38866F57C4C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26D1C861-3DED-3344-288B-FE92786B39ED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A0A75861-8016-56BE-3EA5-ACE100B1B54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power issue in the copper-to-optical migration is cut significantly with CPO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A723C7-A654-4E92-2955-761FA249C45D}"/>
              </a:ext>
            </a:extLst>
          </p:cNvPr>
          <p:cNvSpPr/>
          <p:nvPr/>
        </p:nvSpPr>
        <p:spPr>
          <a:xfrm>
            <a:off x="12208083" y="1173995"/>
            <a:ext cx="1753243" cy="4862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</a:rPr>
              <a:t>备注里写一下功耗估算逻辑和数据</a:t>
            </a: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6898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404" imgH="405" progId="TCLayout.ActiveDocument.1">
                  <p:embed/>
                </p:oleObj>
              </mc:Choice>
              <mc:Fallback>
                <p:oleObj name="think-cell 幻灯片" r:id="rId1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F1ACE-62DC-6BFF-33F3-2B9D22D2B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标题 1">
            <a:extLst>
              <a:ext uri="{FF2B5EF4-FFF2-40B4-BE49-F238E27FC236}">
                <a16:creationId xmlns:a16="http://schemas.microsoft.com/office/drawing/2014/main" id="{D60EE0F1-1A2C-4E3B-233B-4041968CD8D4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​Breaking through the copper speed wall with optical interconnects</a:t>
            </a:r>
          </a:p>
        </p:txBody>
      </p:sp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1733883"/>
              </p:ext>
            </p:extLst>
          </p:nvPr>
        </p:nvGraphicFramePr>
        <p:xfrm>
          <a:off x="6388302" y="249430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0951255" y="307258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0951255" y="36437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29273" y="6055273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bandwidth.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transmission rate growth aligns with InfiniBand.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wall, and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024519" y="1261308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B8C5B985-123B-5E5B-694E-C5248B1DAF9C}"/>
              </a:ext>
            </a:extLst>
          </p:cNvPr>
          <p:cNvSpPr txBox="1"/>
          <p:nvPr/>
        </p:nvSpPr>
        <p:spPr>
          <a:xfrm>
            <a:off x="6278519" y="1529170"/>
            <a:ext cx="5269570" cy="328613"/>
          </a:xfrm>
          <a:prstGeom prst="rect">
            <a:avLst/>
          </a:prstGeom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dirty="0"/>
              <a:t>​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 (theoretical limit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):​​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224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Gbps/line; 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Optical (3.2T transceiver/CPO):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448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952555" y="453585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H100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4.0)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869103" y="4992033"/>
            <a:ext cx="1497705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A100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3.0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991642" y="4067368"/>
            <a:ext cx="155834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B100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5.0)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0C3D0EE-0AAE-5FDA-C19D-D60482CFE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0724497"/>
              </p:ext>
            </p:extLst>
          </p:nvPr>
        </p:nvGraphicFramePr>
        <p:xfrm>
          <a:off x="248536" y="224442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30B87E-BE31-2C31-7690-D1F862E02D80}"/>
              </a:ext>
            </a:extLst>
          </p:cNvPr>
          <p:cNvGrpSpPr/>
          <p:nvPr/>
        </p:nvGrpSpPr>
        <p:grpSpPr>
          <a:xfrm>
            <a:off x="346706" y="971862"/>
            <a:ext cx="11708217" cy="503758"/>
            <a:chOff x="504186" y="971862"/>
            <a:chExt cx="11708217" cy="503758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CE16986-4D40-A41A-E6B6-A05C05606FD1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448 Gbps: The tipping point for optical over copper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932CE7E-7053-F560-8F79-599E34A7B976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9" name="直线连接符 38">
              <a:extLst>
                <a:ext uri="{FF2B5EF4-FFF2-40B4-BE49-F238E27FC236}">
                  <a16:creationId xmlns:a16="http://schemas.microsoft.com/office/drawing/2014/main" id="{A2459047-D2F5-6A93-6043-F65FE093ABA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5303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C7B039-FE12-C778-F388-F1495DFAED31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Transmission rate growth lags behind compute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" name="直线连接符 38">
              <a:extLst>
                <a:ext uri="{FF2B5EF4-FFF2-40B4-BE49-F238E27FC236}">
                  <a16:creationId xmlns:a16="http://schemas.microsoft.com/office/drawing/2014/main" id="{9BCB1723-D312-8F2C-8985-206A2EAC758A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30A2CCF-4792-4187-740B-53EDD1BC7B7C}"/>
              </a:ext>
            </a:extLst>
          </p:cNvPr>
          <p:cNvSpPr txBox="1"/>
          <p:nvPr/>
        </p:nvSpPr>
        <p:spPr>
          <a:xfrm>
            <a:off x="44066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Copper-based transmission rate: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GPU computing power: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5.6-11x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782250" y="257870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824435" y="3663216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algn="ctr">
              <a:spcBef>
                <a:spcPts val="100"/>
              </a:spcBef>
              <a:spcAft>
                <a:spcPts val="100"/>
              </a:spcAft>
              <a:defRPr kumimoji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Training</a:t>
            </a:r>
          </a:p>
          <a:p>
            <a:r>
              <a:rPr lang="en-US" altLang="zh-CN" dirty="0"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4879050" y="4718894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541859" y="251027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674574" y="351394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049829" y="438395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127423" y="476714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128177" y="482566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318825" y="41883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3904569" y="376049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011766" y="4783574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800Gbps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230067" y="509555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400Gbps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317019" y="53146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200Gbps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122330" y="3932016"/>
            <a:ext cx="1506174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Rubin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6.0)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047822" y="438150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126725" y="382395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111968" y="327127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128610" y="275488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Transceiver/CPO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461554" y="22224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  <p:sp>
        <p:nvSpPr>
          <p:cNvPr id="4" name="箭头: V 形 16">
            <a:extLst>
              <a:ext uri="{FF2B5EF4-FFF2-40B4-BE49-F238E27FC236}">
                <a16:creationId xmlns:a16="http://schemas.microsoft.com/office/drawing/2014/main" id="{EA6D6BC1-745D-0A52-CF7A-4B1A1C8C6D84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F15FE67E-9668-8464-D112-F5527D17268F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C94E6E9-BBA1-76CE-623B-99C4F5055F1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D6C2B4AC-35A5-B22D-ECC9-520585409A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F7EDB52-40CC-8407-F2F4-E5C5DEACA0E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4EC8EE51-7094-45FB-49B6-0FDA2E9624B3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0F192861-4C52-241E-31C7-4105308CFB6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2C555C44-9566-D783-5AD2-375F758C063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69996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5" imgW="401" imgH="401" progId="TCLayout.ActiveDocument.1">
                  <p:embed/>
                </p:oleObj>
              </mc:Choice>
              <mc:Fallback>
                <p:oleObj name="think-cell 幻灯片" r:id="rId25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CB356-32B4-AB08-9889-83549FF967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标题 1">
            <a:extLst>
              <a:ext uri="{FF2B5EF4-FFF2-40B4-BE49-F238E27FC236}">
                <a16:creationId xmlns:a16="http://schemas.microsoft.com/office/drawing/2014/main" id="{01BB7E47-391D-4E6C-A76B-8B8D3501818C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Copper-to-optical migration: Different players adopt different roadmaps within optical interconnect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77AF5D9-C73F-CF0C-F4A8-B0E3672A6AA9}"/>
              </a:ext>
            </a:extLst>
          </p:cNvPr>
          <p:cNvSpPr/>
          <p:nvPr/>
        </p:nvSpPr>
        <p:spPr>
          <a:xfrm>
            <a:off x="1803400" y="4573578"/>
            <a:ext cx="2086997" cy="1090794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97359C2-6AD0-A4F9-F307-FF05B095E0C4}"/>
              </a:ext>
            </a:extLst>
          </p:cNvPr>
          <p:cNvGrpSpPr/>
          <p:nvPr/>
        </p:nvGrpSpPr>
        <p:grpSpPr>
          <a:xfrm>
            <a:off x="4625524" y="3781358"/>
            <a:ext cx="2580904" cy="792220"/>
            <a:chOff x="2174481" y="4777695"/>
            <a:chExt cx="2522880" cy="792220"/>
          </a:xfrm>
        </p:grpSpPr>
        <p:sp>
          <p:nvSpPr>
            <p:cNvPr id="6" name="TextBox 40">
              <a:extLst>
                <a:ext uri="{FF2B5EF4-FFF2-40B4-BE49-F238E27FC236}">
                  <a16:creationId xmlns:a16="http://schemas.microsoft.com/office/drawing/2014/main" id="{B60BE343-79D9-0D53-8A84-AE008C14AF27}"/>
                </a:ext>
              </a:extLst>
            </p:cNvPr>
            <p:cNvSpPr txBox="1">
              <a:spLocks/>
            </p:cNvSpPr>
            <p:nvPr>
              <p:custDataLst>
                <p:tags r:id="rId22"/>
              </p:custDataLst>
            </p:nvPr>
          </p:nvSpPr>
          <p:spPr>
            <a:xfrm>
              <a:off x="2271889" y="4777695"/>
              <a:ext cx="2425472" cy="20005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CPC + LPO 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Co-Packaged Copper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Linear-drive Pluggable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BCF3334-8686-B869-5F7A-13596D197ADD}"/>
                </a:ext>
              </a:extLst>
            </p:cNvPr>
            <p:cNvSpPr txBox="1"/>
            <p:nvPr/>
          </p:nvSpPr>
          <p:spPr>
            <a:xfrm>
              <a:off x="2174481" y="5262138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~10W</a:t>
              </a: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Meta, Huawei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549738"/>
            <a:ext cx="8183112" cy="4069906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9460068" y="1292101"/>
            <a:ext cx="2033819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Barriers to adoption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per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8492997" y="21191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7" name="TextBox 40">
            <a:extLst>
              <a:ext uri="{FF2B5EF4-FFF2-40B4-BE49-F238E27FC236}">
                <a16:creationId xmlns:a16="http://schemas.microsoft.com/office/drawing/2014/main" id="{0B33B3F5-F303-8C26-795F-B128DBE985D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1355630" y="12921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Low</a:t>
            </a:r>
          </a:p>
        </p:txBody>
      </p:sp>
      <p:sp>
        <p:nvSpPr>
          <p:cNvPr id="39" name="TextBox 40">
            <a:extLst>
              <a:ext uri="{FF2B5EF4-FFF2-40B4-BE49-F238E27FC236}">
                <a16:creationId xmlns:a16="http://schemas.microsoft.com/office/drawing/2014/main" id="{A692F1EA-F65B-71F9-F34E-3AE61D4EF08D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7692483" y="12921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High</a:t>
            </a: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1968905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09325" y="5051880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21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~15W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466833" y="3230578"/>
            <a:ext cx="2307556" cy="613802"/>
            <a:chOff x="2189450" y="4777695"/>
            <a:chExt cx="2307556" cy="613802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89450" y="5083720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~9W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78422" y="2260100"/>
            <a:ext cx="1952520" cy="536996"/>
            <a:chOff x="2189902" y="4777695"/>
            <a:chExt cx="1952520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89902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~5.5W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8503452" y="4225017"/>
            <a:ext cx="3144923" cy="3164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Short-term: non-</a:t>
            </a:r>
            <a:r>
              <a:rPr lang="en-US" altLang="zh-CN" sz="1600" b="1" dirty="0">
                <a:ea typeface="Verdana" pitchFamily="34" charset="0"/>
              </a:rPr>
              <a:t>consensus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9360409" y="1908769"/>
            <a:ext cx="23947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Future (Long-term)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TextBox 40">
            <a:extLst>
              <a:ext uri="{FF2B5EF4-FFF2-40B4-BE49-F238E27FC236}">
                <a16:creationId xmlns:a16="http://schemas.microsoft.com/office/drawing/2014/main" id="{88FF1BB7-D136-FCD2-72A4-FBB3A2A7833A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4524056" y="12921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Medium</a:t>
            </a: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687022" y="-1232195"/>
            <a:ext cx="5095308" cy="11715007"/>
          </a:xfrm>
          <a:prstGeom prst="arc">
            <a:avLst>
              <a:gd name="adj1" fmla="val 16200000"/>
              <a:gd name="adj2" fmla="val 9669"/>
            </a:avLst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17014" y="2038346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3146638" y="2016941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I.</a:t>
            </a:r>
            <a:r>
              <a:rPr lang="zh-CN" altLang="en-US" sz="1600" b="1" dirty="0">
                <a:ea typeface="Verdana" pitchFamily="34" charset="0"/>
              </a:rPr>
              <a:t> </a:t>
            </a:r>
            <a:r>
              <a:rPr lang="en-US" altLang="zh-CN" sz="1600" b="1" dirty="0">
                <a:ea typeface="Verdana" pitchFamily="34" charset="0"/>
              </a:rPr>
              <a:t>2019: 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299616" y="4225018"/>
            <a:ext cx="729616" cy="405062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482360"/>
            <a:ext cx="1107757" cy="457444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3998024" y="4186105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265228" y="244565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5075707" y="4900118"/>
            <a:ext cx="3062782" cy="2462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II. 2022-2025: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18926" y="3556887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58361" y="3519351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33844" y="5101638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 sz="700" b="1">
                <a:solidFill>
                  <a:schemeClr val="bg1"/>
                </a:solidFill>
                <a:ea typeface="Verdana" pitchFamily="34" charset="0"/>
              </a:defRPr>
            </a:lvl1pPr>
          </a:lstStyle>
          <a:p>
            <a:r>
              <a:rPr lang="en-US" altLang="zh-CN" dirty="0"/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294405" y="2307335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102.4T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  <p:sp>
        <p:nvSpPr>
          <p:cNvPr id="4" name="Freeform 431">
            <a:extLst>
              <a:ext uri="{FF2B5EF4-FFF2-40B4-BE49-F238E27FC236}">
                <a16:creationId xmlns:a16="http://schemas.microsoft.com/office/drawing/2014/main" id="{89FA6FA2-BF2E-DABD-C1C0-0CF774B86624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4396324" y="3545039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A27F46-B590-801B-AB88-FC04E5BE1489}"/>
              </a:ext>
            </a:extLst>
          </p:cNvPr>
          <p:cNvSpPr txBox="1"/>
          <p:nvPr/>
        </p:nvSpPr>
        <p:spPr>
          <a:xfrm>
            <a:off x="4259346" y="3553734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1.6T</a:t>
            </a:r>
          </a:p>
        </p:txBody>
      </p:sp>
      <p:pic>
        <p:nvPicPr>
          <p:cNvPr id="1026" name="Picture 2" descr="002475立讯精密股票,概念,资讯,产品,前景,技术分析_赢家财富网">
            <a:extLst>
              <a:ext uri="{FF2B5EF4-FFF2-40B4-BE49-F238E27FC236}">
                <a16:creationId xmlns:a16="http://schemas.microsoft.com/office/drawing/2014/main" id="{4793BDC3-AEA7-C3CF-F842-B3201B029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9" t="20634" r="12257" b="30237"/>
          <a:stretch/>
        </p:blipFill>
        <p:spPr bwMode="auto">
          <a:xfrm>
            <a:off x="5284907" y="4302193"/>
            <a:ext cx="936852" cy="23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5CA9088-C869-D02D-9408-E5A0FD2B0B7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73" y="4303202"/>
            <a:ext cx="590782" cy="225262"/>
          </a:xfrm>
          <a:prstGeom prst="rect">
            <a:avLst/>
          </a:prstGeom>
        </p:spPr>
      </p:pic>
      <p:sp>
        <p:nvSpPr>
          <p:cNvPr id="13" name="TextBox 40">
            <a:extLst>
              <a:ext uri="{FF2B5EF4-FFF2-40B4-BE49-F238E27FC236}">
                <a16:creationId xmlns:a16="http://schemas.microsoft.com/office/drawing/2014/main" id="{96E98ECC-3221-97A2-1DB9-7B136B568747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>
          <a:xfrm>
            <a:off x="2365951" y="4717869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Today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671AFF3-9992-7169-6362-4E869E89A32B}"/>
              </a:ext>
            </a:extLst>
          </p:cNvPr>
          <p:cNvSpPr/>
          <p:nvPr/>
        </p:nvSpPr>
        <p:spPr>
          <a:xfrm>
            <a:off x="8366483" y="1621371"/>
            <a:ext cx="3347783" cy="1528305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15B03B8-5730-1EEC-1E22-E83296BB0F6F}"/>
              </a:ext>
            </a:extLst>
          </p:cNvPr>
          <p:cNvSpPr/>
          <p:nvPr/>
        </p:nvSpPr>
        <p:spPr>
          <a:xfrm rot="21380359">
            <a:off x="3981705" y="2982764"/>
            <a:ext cx="5050766" cy="1684910"/>
          </a:xfrm>
          <a:prstGeom prst="ellipse">
            <a:avLst/>
          </a:prstGeom>
          <a:ln w="6350">
            <a:solidFill>
              <a:schemeClr val="tx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A568ADE-7941-FF4D-C0ED-31A2633890F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E09A684-FFFC-632B-1076-B07B42FDA61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EBB90F3B-854F-AB02-3784-AED9079CAA6A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24" name="箭头: V 形 26">
            <a:extLst>
              <a:ext uri="{FF2B5EF4-FFF2-40B4-BE49-F238E27FC236}">
                <a16:creationId xmlns:a16="http://schemas.microsoft.com/office/drawing/2014/main" id="{5E516DF2-C9D6-AD8E-BCFF-A90BDF31A99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5B03680D-6909-1971-35FB-13F3F039DE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31" name="箭头: V 形 38">
            <a:extLst>
              <a:ext uri="{FF2B5EF4-FFF2-40B4-BE49-F238E27FC236}">
                <a16:creationId xmlns:a16="http://schemas.microsoft.com/office/drawing/2014/main" id="{18418C9F-8B90-51FB-5417-7649C9372975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32" name="箭头: V 形 38">
            <a:extLst>
              <a:ext uri="{FF2B5EF4-FFF2-40B4-BE49-F238E27FC236}">
                <a16:creationId xmlns:a16="http://schemas.microsoft.com/office/drawing/2014/main" id="{294A3BD2-6EEA-A62A-FCC6-B95D606F9E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33" name="箭头: V 形 38">
            <a:extLst>
              <a:ext uri="{FF2B5EF4-FFF2-40B4-BE49-F238E27FC236}">
                <a16:creationId xmlns:a16="http://schemas.microsoft.com/office/drawing/2014/main" id="{35AF69D3-D40F-8063-1AFC-8BE9B982C10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F962D4D-EED7-E494-542F-0F959964DC10}"/>
              </a:ext>
            </a:extLst>
          </p:cNvPr>
          <p:cNvSpPr/>
          <p:nvPr/>
        </p:nvSpPr>
        <p:spPr>
          <a:xfrm>
            <a:off x="12593423" y="203784"/>
            <a:ext cx="1894449" cy="115257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 switch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和传统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是否可以混用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4B31E37-99A1-12D9-0EE1-BD98FF7F4A71}"/>
              </a:ext>
            </a:extLst>
          </p:cNvPr>
          <p:cNvSpPr/>
          <p:nvPr/>
        </p:nvSpPr>
        <p:spPr>
          <a:xfrm>
            <a:off x="12593423" y="1635599"/>
            <a:ext cx="1894449" cy="14143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PO=&gt;CPO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tipping point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，如果成本差不多，为什么还没部署</a:t>
            </a:r>
          </a:p>
        </p:txBody>
      </p:sp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86181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B7AE4-B65B-C4C4-1B81-0F6F5726F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1848821" y="359243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1620789" y="2447903"/>
            <a:ext cx="1173211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1935602" y="549870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524995" y="3009373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311150" y="3602624"/>
            <a:ext cx="1361697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536146" y="5522069"/>
            <a:ext cx="911703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394687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Bypasses PCB traces, reducing loss from ​22 dB to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cutting power by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​70%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constraint: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​​ PCB-induced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loss/distortion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becomes uncorrectable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beyond 200 Gbps/line;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 (20W,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2/3 of total module power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);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311150" y="6314217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Power consumption in 1.6T port (from Nvidia).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235989" y="392416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5147665" y="244790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488534" y="3163298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ASIC</a:t>
                </a:r>
                <a:endParaRPr lang="zh-CN" altLang="en-US" sz="10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473209" y="5081918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682145" y="5559981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875616" y="3672591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005334" y="3881475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9923605" y="3882299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697246" y="3632026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661410" y="3872384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187141" y="244790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Side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265987" y="394280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465435" y="367679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462673" y="365575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667966" y="348245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779148" y="343782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085588" y="3756862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282501" y="3818972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499362" y="372845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26" name="文本框 2225">
            <a:extLst>
              <a:ext uri="{FF2B5EF4-FFF2-40B4-BE49-F238E27FC236}">
                <a16:creationId xmlns:a16="http://schemas.microsoft.com/office/drawing/2014/main" id="{455C7CC0-F6B0-B45C-7FA1-54946414C3CC}"/>
              </a:ext>
            </a:extLst>
          </p:cNvPr>
          <p:cNvSpPr txBox="1"/>
          <p:nvPr/>
        </p:nvSpPr>
        <p:spPr>
          <a:xfrm>
            <a:off x="7444378" y="3089226"/>
            <a:ext cx="112812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575054" y="3177293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Transceiver: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r>
              <a:rPr kumimoji="1" lang="en-US" altLang="zh-CN" sz="1400" b="1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238486" y="364778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236552" y="3717369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481405" y="3714165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479817" y="3958682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9949496" y="3887063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697246" y="5564246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661410" y="5804604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235989" y="585638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265987" y="587502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465435" y="560901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462673" y="558797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667966" y="541467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779148" y="537004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104686" y="5672731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222466" y="5753522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499362" y="566067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74" name="文本框 2273">
            <a:extLst>
              <a:ext uri="{FF2B5EF4-FFF2-40B4-BE49-F238E27FC236}">
                <a16:creationId xmlns:a16="http://schemas.microsoft.com/office/drawing/2014/main" id="{4CEBBF05-9ED7-45E3-F1CD-E8E480E1E2C2}"/>
              </a:ext>
            </a:extLst>
          </p:cNvPr>
          <p:cNvSpPr txBox="1"/>
          <p:nvPr/>
        </p:nvSpPr>
        <p:spPr>
          <a:xfrm>
            <a:off x="7492727" y="5072668"/>
            <a:ext cx="95414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348796" y="5207000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238486" y="558000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236552" y="5649589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710006" y="5561191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674461" y="5442063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362497" y="4965381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</a:t>
            </a:r>
            <a:r>
              <a:rPr kumimoji="1" lang="en-US" altLang="zh-CN" sz="14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870041" y="5509047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225641" y="5501921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071943" y="5725847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697992" y="3956009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9909235" y="3758253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191230" y="3880258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109501" y="3881082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028371" y="3956730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138408" y="3885111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032046" y="3886360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180635" y="4657795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3176219" y="3602624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1.6-3.2Tbps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3069996" y="2447903"/>
            <a:ext cx="1451204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Total rate limit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3176219" y="548666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&gt; 12.8Tbps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55725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53802" y="551282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箭头: V 形 16">
            <a:extLst>
              <a:ext uri="{FF2B5EF4-FFF2-40B4-BE49-F238E27FC236}">
                <a16:creationId xmlns:a16="http://schemas.microsoft.com/office/drawing/2014/main" id="{1C92D3D4-0D93-B061-E3AB-340E06D2E2A2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7CE450F1-7790-9482-D46D-B7628EE9953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CEA8FA8F-F110-D796-2793-820266093BA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A6E218C-2BAD-D511-DC0B-3F91B6A3283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844AE7CD-DBC6-72EC-42A4-1B0A84BD155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EA6255A-E58B-DAE0-80EE-D866CF57A8E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7E83AD60-B35D-A648-EDF5-C27B021CD6F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1184231D-7847-383F-7A76-54EA2572A442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5645EAFE-A837-32C0-BFDE-CC20F82DC86D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overcomes PO’s constraints: signal loss, power consumption, and speed limitations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0000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080458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among next-gen interconnect technologies.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098880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2925525"/>
            <a:ext cx="10843577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962025"/>
            <a:ext cx="4843779" cy="442913"/>
            <a:chOff x="3873011" y="995866"/>
            <a:chExt cx="2652543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652543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1682750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963613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379663" y="173831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(2025)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894513" y="171926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(2026)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260600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582863" y="233997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B844F1B-C95E-1A69-4E59-4E369A0B197F}"/>
              </a:ext>
            </a:extLst>
          </p:cNvPr>
          <p:cNvSpPr txBox="1"/>
          <p:nvPr/>
        </p:nvSpPr>
        <p:spPr>
          <a:xfrm>
            <a:off x="6848447" y="2280838"/>
            <a:ext cx="2788754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$10mn-scale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03667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Stanley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091746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4830174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players’ 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7013" y="3644867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375" y="3576761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2994" y="3686692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282951" y="4245669"/>
            <a:ext cx="175577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 CR3: 80%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366250" y="3627064"/>
            <a:ext cx="712788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2444" y="3618224"/>
            <a:ext cx="415694" cy="274682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8294688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688" y="5161020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202891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2024: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units.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 25: 1.6T first to certify &amp; ship.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202891"/>
            <a:ext cx="420369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Spectrum-X CPO switch volume production.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volume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3" y="5155929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5925" y="5213101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674667"/>
            <a:ext cx="10887074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4836256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4830173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324225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7958138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5" name="箭头: V 形 16">
            <a:extLst>
              <a:ext uri="{FF2B5EF4-FFF2-40B4-BE49-F238E27FC236}">
                <a16:creationId xmlns:a16="http://schemas.microsoft.com/office/drawing/2014/main" id="{1A9F3A34-60BB-6A48-9000-92B0DCB6988D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91844C96-D10C-0AF8-C938-3FAB31ACF11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179910FA-123F-881B-CB02-4BBB7C90EFB2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B4F67835-6778-9554-0D75-5E4D856EE115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EA6364F0-D1CC-702B-D254-3AA40DE776A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A2C623B9-702C-9A0D-3C22-EBFC27D75632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74BEDECA-B233-1805-3E21-9D28FF7D78D4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AA11E9DC-07CA-261D-E998-83421B8570A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786C6896-A827-A73E-A4CE-B41409C26C8E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If CPO adopts in the long run, global giants might gain supply chain leverage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83285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29460" y="2387186"/>
            <a:ext cx="3255009" cy="328255"/>
            <a:chOff x="1136493" y="2708586"/>
            <a:chExt cx="3255009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504808" y="2708586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36493" y="2876386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59778"/>
            <a:ext cx="2938500" cy="656510"/>
            <a:chOff x="944683" y="5429516"/>
            <a:chExt cx="2938500" cy="656510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29516"/>
              <a:ext cx="2938500" cy="328255"/>
              <a:chOff x="1177467" y="2692083"/>
              <a:chExt cx="2938500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566527" y="2692083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3630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Single-node direct &amp; full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</a:t>
            </a:r>
            <a:r>
              <a:rPr kumimoji="1" lang="zh-CN" altLang="en-US" sz="1600" b="1" dirty="0">
                <a:solidFill>
                  <a:srgbClr val="0052D9"/>
                </a:solidFill>
                <a:cs typeface="+mn-ea"/>
                <a:sym typeface="+mn-lt"/>
              </a:rPr>
              <a:t>≤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TB/s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sub-</a:t>
            </a:r>
            <a:r>
              <a:rPr kumimoji="1" lang="el-GR" altLang="zh-CN" sz="1600" b="1" dirty="0">
                <a:solidFill>
                  <a:srgbClr val="0052D9"/>
                </a:solidFill>
                <a:cs typeface="+mn-ea"/>
                <a:sym typeface="+mn-lt"/>
              </a:rPr>
              <a:t>μ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3551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(&gt;&gt;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GB/s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 err="1">
                <a:solidFill>
                  <a:srgbClr val="0052D9"/>
                </a:solidFill>
                <a:cs typeface="+mn-ea"/>
                <a:sym typeface="+mn-lt"/>
              </a:rPr>
              <a:t>ms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294371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271571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49293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0182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47718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2786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Switch</a:t>
            </a: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951044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32600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89232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603B8AF-4281-3BEE-B9BA-437A0148F07B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B320C2A-DB5C-3245-4F40-6BAB50935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BF630148-6F8B-80B3-889F-4B01FCA3E4F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01E07D6D-3037-7CE8-A727-C991FC8D2AB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C6C8EA5C-1A71-F6FF-B958-5B5B94987B2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6E1887C5-1DB5-74FA-0761-14C871F4698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49FF3E5-17D3-519C-67E0-89263FF2578B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6B673292-A339-8E7C-C3BE-8D30498F1F5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00A55582-BF97-6E3F-3445-964D44D6E36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IDC interconnect by distance: Scale-up vs scale-out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2731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C55812-9CB6-EA95-7068-A340A4C2A3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396028" y="193171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992938" y="18607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063976" y="14637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Overseas: Scale-out first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323300" y="14637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Domestic: Priority undetermined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1052862" y="2273513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6596292" y="2307440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622" y="2259907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927574" y="2920044"/>
            <a:ext cx="14161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in electronics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300" y="2244712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6517634" y="2920044"/>
            <a:ext cx="15719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Weak in electronics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1495546" y="4257842"/>
            <a:ext cx="28600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commercialize.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3899562" y="29508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&gt; 80%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 DSP chips</a:t>
            </a:r>
            <a:endParaRPr lang="zh-CN" altLang="en-US" sz="1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46216" y="628765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Sitrus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Official Web Site.</a:t>
            </a: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60396" y="30822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D67CD67-32B1-3FA7-2FA8-5A8D0D18208B}"/>
              </a:ext>
            </a:extLst>
          </p:cNvPr>
          <p:cNvGrpSpPr/>
          <p:nvPr/>
        </p:nvGrpSpPr>
        <p:grpSpPr>
          <a:xfrm>
            <a:off x="2357287" y="2921565"/>
            <a:ext cx="1193163" cy="643288"/>
            <a:chOff x="2412754" y="2586502"/>
            <a:chExt cx="1193163" cy="643288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2B1AA71-8DBA-436A-A1BD-27AAF8AD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12754" y="2586502"/>
              <a:ext cx="325584" cy="312561"/>
            </a:xfrm>
            <a:prstGeom prst="rect">
              <a:avLst/>
            </a:prstGeom>
          </p:spPr>
        </p:pic>
        <p:pic>
          <p:nvPicPr>
            <p:cNvPr id="58" name="图像" descr="图像">
              <a:extLst>
                <a:ext uri="{FF2B5EF4-FFF2-40B4-BE49-F238E27FC236}">
                  <a16:creationId xmlns:a16="http://schemas.microsoft.com/office/drawing/2014/main" id="{DC6A92A6-AC30-3119-2689-5CFB930D7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34418" y="2943833"/>
              <a:ext cx="965100" cy="28595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0754605A-E031-7BC5-E6F4-C816BEB88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60245" y="2681675"/>
              <a:ext cx="845672" cy="123188"/>
            </a:xfrm>
            <a:prstGeom prst="rect">
              <a:avLst/>
            </a:prstGeom>
          </p:spPr>
        </p:pic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9036885" y="29508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&lt; 5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%</a:t>
            </a:r>
          </a:p>
          <a:p>
            <a:r>
              <a:rPr lang="en-US" altLang="zh-CN" sz="1400" dirty="0"/>
              <a:t>Switch/ DSP chips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8697717" y="30822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858551" y="5039160"/>
            <a:ext cx="3143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Weak in electronics, making optics essential for scale-up.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2B9130E-3826-3AAE-6107-DF2BA19FAC94}"/>
              </a:ext>
            </a:extLst>
          </p:cNvPr>
          <p:cNvSpPr txBox="1"/>
          <p:nvPr/>
        </p:nvSpPr>
        <p:spPr>
          <a:xfrm>
            <a:off x="6858552" y="4257842"/>
            <a:ext cx="2895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commercialize.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528053E-136C-5E7A-B417-6EE4B3CBBD28}"/>
              </a:ext>
            </a:extLst>
          </p:cNvPr>
          <p:cNvSpPr txBox="1"/>
          <p:nvPr/>
        </p:nvSpPr>
        <p:spPr>
          <a:xfrm>
            <a:off x="1495546" y="5294877"/>
            <a:ext cx="34544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Copper dominates in the short-term;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Mass production: 2027-2028.</a:t>
            </a:r>
            <a:endParaRPr lang="zh-CN" altLang="zh-CN" sz="14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14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A1F494-D536-C176-B7C1-AB7D95AD7531}"/>
              </a:ext>
            </a:extLst>
          </p:cNvPr>
          <p:cNvSpPr txBox="1"/>
          <p:nvPr/>
        </p:nvSpPr>
        <p:spPr>
          <a:xfrm rot="16200000">
            <a:off x="-39553" y="388417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Scale-out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9FD8C0D-FFDD-7804-90C3-09C54D4D9B81}"/>
              </a:ext>
            </a:extLst>
          </p:cNvPr>
          <p:cNvSpPr/>
          <p:nvPr/>
        </p:nvSpPr>
        <p:spPr>
          <a:xfrm>
            <a:off x="992938" y="3736218"/>
            <a:ext cx="10411818" cy="2239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线连接符 34">
            <a:extLst>
              <a:ext uri="{FF2B5EF4-FFF2-40B4-BE49-F238E27FC236}">
                <a16:creationId xmlns:a16="http://schemas.microsoft.com/office/drawing/2014/main" id="{E6B72889-3F44-CB0C-DD6A-D907724BC53F}"/>
              </a:ext>
            </a:extLst>
          </p:cNvPr>
          <p:cNvCxnSpPr>
            <a:cxnSpLocks/>
            <a:stCxn id="56" idx="1"/>
          </p:cNvCxnSpPr>
          <p:nvPr/>
        </p:nvCxnSpPr>
        <p:spPr>
          <a:xfrm>
            <a:off x="992938" y="4856165"/>
            <a:ext cx="520590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34">
            <a:extLst>
              <a:ext uri="{FF2B5EF4-FFF2-40B4-BE49-F238E27FC236}">
                <a16:creationId xmlns:a16="http://schemas.microsoft.com/office/drawing/2014/main" id="{66CFC39C-4D69-9C82-182B-5DEC4C0CFC2B}"/>
              </a:ext>
            </a:extLst>
          </p:cNvPr>
          <p:cNvCxnSpPr>
            <a:cxnSpLocks/>
            <a:stCxn id="56" idx="0"/>
            <a:endCxn id="56" idx="2"/>
          </p:cNvCxnSpPr>
          <p:nvPr/>
        </p:nvCxnSpPr>
        <p:spPr>
          <a:xfrm>
            <a:off x="6198847" y="3736218"/>
            <a:ext cx="0" cy="223989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8541B59-DD34-7827-2676-A3F9027F8189}"/>
              </a:ext>
            </a:extLst>
          </p:cNvPr>
          <p:cNvSpPr txBox="1"/>
          <p:nvPr/>
        </p:nvSpPr>
        <p:spPr>
          <a:xfrm>
            <a:off x="1223489" y="3874690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b="1" dirty="0">
                <a:solidFill>
                  <a:srgbClr val="0052D9"/>
                </a:solidFill>
                <a:latin typeface="Arial"/>
                <a:sym typeface="Futura"/>
              </a:rPr>
              <a:t>Optical interconnect fits first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43CF05-24F9-013A-43E0-F4DED3447F33}"/>
              </a:ext>
            </a:extLst>
          </p:cNvPr>
          <p:cNvSpPr txBox="1"/>
          <p:nvPr/>
        </p:nvSpPr>
        <p:spPr>
          <a:xfrm>
            <a:off x="1223489" y="4914694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dirty="0">
                <a:latin typeface="Arial"/>
                <a:sym typeface="Futura"/>
              </a:rPr>
              <a:t>Optical interconnect</a:t>
            </a:r>
            <a:r>
              <a:rPr lang="en-US" altLang="zh-CN" sz="1800" dirty="0">
                <a:latin typeface="Arial"/>
                <a:sym typeface="Futura"/>
              </a:rPr>
              <a:t> adopts in the long-term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EFE6ECF-F5D4-C801-6067-A3A43188B6FB}"/>
              </a:ext>
            </a:extLst>
          </p:cNvPr>
          <p:cNvSpPr txBox="1"/>
          <p:nvPr/>
        </p:nvSpPr>
        <p:spPr>
          <a:xfrm>
            <a:off x="6486954" y="3874690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dirty="0">
                <a:latin typeface="Arial"/>
                <a:sym typeface="Futura"/>
              </a:rPr>
              <a:t>Optical interconnect critical in both </a:t>
            </a:r>
            <a:r>
              <a:rPr lang="en-US" altLang="zh-CN" dirty="0"/>
              <a:t>scenarios</a:t>
            </a:r>
            <a:endParaRPr lang="en-US" altLang="zh-CN" sz="1800" dirty="0">
              <a:latin typeface="Arial"/>
              <a:sym typeface="Futura"/>
            </a:endParaRPr>
          </a:p>
        </p:txBody>
      </p:sp>
      <p:cxnSp>
        <p:nvCxnSpPr>
          <p:cNvPr id="86" name="直线连接符 34">
            <a:extLst>
              <a:ext uri="{FF2B5EF4-FFF2-40B4-BE49-F238E27FC236}">
                <a16:creationId xmlns:a16="http://schemas.microsoft.com/office/drawing/2014/main" id="{2E4A6C43-FC1E-9AD9-7C64-C9DE1CD00AD6}"/>
              </a:ext>
            </a:extLst>
          </p:cNvPr>
          <p:cNvCxnSpPr>
            <a:cxnSpLocks/>
          </p:cNvCxnSpPr>
          <p:nvPr/>
        </p:nvCxnSpPr>
        <p:spPr>
          <a:xfrm>
            <a:off x="6521786" y="18607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64DEECB-BEA6-DC65-A748-C5FE06F64D67}"/>
              </a:ext>
            </a:extLst>
          </p:cNvPr>
          <p:cNvSpPr txBox="1"/>
          <p:nvPr/>
        </p:nvSpPr>
        <p:spPr>
          <a:xfrm rot="16200000">
            <a:off x="-56753" y="496568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Scale-up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0E386A-1484-D77E-0CB1-D0C4A12D0EFF}"/>
              </a:ext>
            </a:extLst>
          </p:cNvPr>
          <p:cNvGrpSpPr/>
          <p:nvPr/>
        </p:nvGrpSpPr>
        <p:grpSpPr>
          <a:xfrm>
            <a:off x="8103171" y="3003295"/>
            <a:ext cx="584600" cy="479829"/>
            <a:chOff x="8121016" y="2651708"/>
            <a:chExt cx="584600" cy="4798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53CC244-6589-83C1-0F32-2D83B89EB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1016" y="2651708"/>
              <a:ext cx="504145" cy="24292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68C46C0-5675-5F85-9A9F-27BA430E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21016" y="2957030"/>
              <a:ext cx="584600" cy="174507"/>
            </a:xfrm>
            <a:prstGeom prst="rect">
              <a:avLst/>
            </a:prstGeom>
          </p:spPr>
        </p:pic>
      </p:grp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2B70AA6-EC4C-AE08-3C64-C84FC2A0F7C5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5890BD31-0156-37EB-A453-73982328B8A2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CFCA75F-261F-88F0-A468-FF668537D8B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C365A660-1A28-3611-A5B9-85AF89E3C04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CAC005BA-8D0A-9994-FCC4-52216BD55077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58F60712-3BC1-A7A4-0BB0-9C417B14C740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86FC258E-7AA5-BC78-0F15-29BFBC5F606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9CB29951-CA02-BFDA-F9A6-C4CCF1CC63F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E8A979A0-39E3-58F5-23D2-8E0B7E10874A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9654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​Overseas prioritize scale-out in optical interconnect adoption, while domestic markets remain undetermined 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2BAFA2-9A7C-03B8-50CF-62A656911516}"/>
              </a:ext>
            </a:extLst>
          </p:cNvPr>
          <p:cNvSpPr/>
          <p:nvPr/>
        </p:nvSpPr>
        <p:spPr>
          <a:xfrm>
            <a:off x="12224500" y="68206"/>
            <a:ext cx="1894449" cy="14079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Serdes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的影响，为什么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Serdes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在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里会被弱化</a:t>
            </a:r>
          </a:p>
        </p:txBody>
      </p: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1666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150344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719188" y="3205849"/>
            <a:ext cx="634602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269275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270969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8332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4487" y="236293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8186" y="241642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0109" y="235568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9806" y="244057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4421862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4306512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4306512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719188" y="4312220"/>
            <a:ext cx="619600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2259422" y="4775375"/>
            <a:ext cx="2167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2615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270230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769100"/>
            <a:ext cx="21173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Q3 25: Volume production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2702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576 Rubin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7691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703212" y="4775375"/>
            <a:ext cx="2088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Volume production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3372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4370799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710072" y="5449501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823352" y="5449501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1280975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421246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306512"/>
            <a:ext cx="2007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8293849" y="4775375"/>
            <a:ext cx="21958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24: Sampling and Testing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4707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28179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2829994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3556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270230"/>
            <a:ext cx="20016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8323716" y="3777413"/>
            <a:ext cx="24341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Oct 25: Sampling and Testing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11970" y="626351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Nomura research, BNP.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Volume production date.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91947" y="1452937"/>
            <a:ext cx="1005662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Volume production timeline: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2026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​;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Scale-up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2028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(per Broadcom);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adoption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might delay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due to gaps in supply chain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maturity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and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maintainability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compared to PO.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756EAC-B52C-DC4A-52A8-1CCF38B5A7AA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02FF8B8-4623-9F6B-77AA-3EE0650042D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C33DA70B-755F-D849-9A71-E1AA104BCE7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02680C8F-5510-D244-03EB-8D6C7E0F4EF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8C63058E-B22C-9483-7301-76AF0930FF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BFE478B8-4F04-CEA4-FC9E-64553E746DC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4DCADA7-ACD1-65A6-C867-A255EEAAAD4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30FF3-96C2-9B29-35D7-27675598A1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1375C11-BCF2-B976-0ECD-B4048F9CBB4C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3DF436C0-7002-0C50-3B31-81EAB5CBD376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Overseas pursue scale-out and scale-up in parallel, with CPO initially focused on scale-out for 1-2 years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5262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18FFAE-5A4A-E52C-2BCF-98BD75C6F9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标题 1">
            <a:extLst>
              <a:ext uri="{FF2B5EF4-FFF2-40B4-BE49-F238E27FC236}">
                <a16:creationId xmlns:a16="http://schemas.microsoft.com/office/drawing/2014/main" id="{25CD3D8D-5AC2-5B1A-FCE2-BA1C8298719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68855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0769" y="1270598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Transceiver power consumption is based on 400G POs; Ascend 910C single-card power ≈ 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37966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59568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 m</a:t>
            </a:r>
          </a:p>
        </p:txBody>
      </p:sp>
      <p:graphicFrame>
        <p:nvGraphicFramePr>
          <p:cNvPr id="26" name="Chart 3">
            <a:extLst>
              <a:ext uri="{FF2B5EF4-FFF2-40B4-BE49-F238E27FC236}">
                <a16:creationId xmlns:a16="http://schemas.microsoft.com/office/drawing/2014/main" id="{3526D029-54BB-38D9-26F4-DF3670DCFB4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51030679"/>
              </p:ext>
            </p:extLst>
          </p:nvPr>
        </p:nvGraphicFramePr>
        <p:xfrm>
          <a:off x="236538" y="3306763"/>
          <a:ext cx="295275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3279775"/>
            <a:ext cx="0" cy="14081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31289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4" name="Chart 3">
            <a:extLst>
              <a:ext uri="{FF2B5EF4-FFF2-40B4-BE49-F238E27FC236}">
                <a16:creationId xmlns:a16="http://schemas.microsoft.com/office/drawing/2014/main" id="{50FA7E51-4061-1051-1F17-2E7C6ADDD49F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124824879"/>
              </p:ext>
            </p:extLst>
          </p:nvPr>
        </p:nvGraphicFramePr>
        <p:xfrm>
          <a:off x="3205163" y="3306763"/>
          <a:ext cx="229870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3279775"/>
            <a:ext cx="0" cy="8985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3128963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31" name="Chart 3">
            <a:extLst>
              <a:ext uri="{FF2B5EF4-FFF2-40B4-BE49-F238E27FC236}">
                <a16:creationId xmlns:a16="http://schemas.microsoft.com/office/drawing/2014/main" id="{3E018337-54A1-E8C3-618A-AC787944EFCF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69963757"/>
              </p:ext>
            </p:extLst>
          </p:nvPr>
        </p:nvGraphicFramePr>
        <p:xfrm>
          <a:off x="8926513" y="240347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59092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59092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325688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68855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~⅓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~1.7 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61778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61778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61302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61302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51777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3398318632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 per 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0C3AAC-2373-323E-222A-B6DC4757DCA5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4270807-19F5-82EA-5095-54DD56BE4E5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2CDBB286-514A-C3DD-B610-6EAEB0B2072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973581AF-BC26-3870-951E-06D5A68B3BD3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DBA4F55F-64CD-D67A-B934-2EC74DD48530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833DA09-92C7-BDD6-CB44-D549FFCA132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5120B92-F28E-89C1-1D0F-9B53622AFDD7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62F22FA5-0713-A5CD-EAAC-D224F339EDB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3D142005-6B66-2132-5ADC-810741C45A0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94660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349" imgH="350" progId="TCLayout.ActiveDocument.1">
                  <p:embed/>
                </p:oleObj>
              </mc:Choice>
              <mc:Fallback>
                <p:oleObj name="think-cell 幻灯片" r:id="rId1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133321FE-471A-9D58-E3A4-347153EAA1B8}"/>
              </a:ext>
            </a:extLst>
          </p:cNvPr>
          <p:cNvSpPr txBox="1">
            <a:spLocks/>
          </p:cNvSpPr>
          <p:nvPr/>
        </p:nvSpPr>
        <p:spPr bwMode="gray">
          <a:xfrm>
            <a:off x="1527175" y="1930400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Potential ports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6491FCF5-AD49-434C-5A20-FF06D36E6CB1}"/>
              </a:ext>
            </a:extLst>
          </p:cNvPr>
          <p:cNvSpPr txBox="1">
            <a:spLocks/>
          </p:cNvSpPr>
          <p:nvPr/>
        </p:nvSpPr>
        <p:spPr bwMode="gray">
          <a:xfrm>
            <a:off x="1527175" y="4111625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Penetration rate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4</a:t>
            </a:r>
            <a:endParaRPr kumimoji="1" lang="zh-CN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9B00FACC-372C-5C1D-5048-D7C653DF206B}"/>
              </a:ext>
            </a:extLst>
          </p:cNvPr>
          <p:cNvSpPr txBox="1">
            <a:spLocks/>
          </p:cNvSpPr>
          <p:nvPr/>
        </p:nvSpPr>
        <p:spPr bwMode="gray">
          <a:xfrm>
            <a:off x="1527175" y="5424488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Unit Price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5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AAAD5A-F8E2-104B-6B50-9D8452BBF226}"/>
              </a:ext>
            </a:extLst>
          </p:cNvPr>
          <p:cNvSpPr txBox="1"/>
          <p:nvPr/>
        </p:nvSpPr>
        <p:spPr>
          <a:xfrm>
            <a:off x="727075" y="1117600"/>
            <a:ext cx="1231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4CFA27-1578-017B-51D5-05E1E2E9944F}"/>
              </a:ext>
            </a:extLst>
          </p:cNvPr>
          <p:cNvSpPr txBox="1"/>
          <p:nvPr/>
        </p:nvSpPr>
        <p:spPr>
          <a:xfrm>
            <a:off x="1679575" y="1111250"/>
            <a:ext cx="199866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: 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~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6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bn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 2028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7A51EBDC-CB07-8627-0006-B31EF5BB4551}"/>
              </a:ext>
            </a:extLst>
          </p:cNvPr>
          <p:cNvCxnSpPr>
            <a:cxnSpLocks/>
            <a:stCxn id="3" idx="2"/>
            <a:endCxn id="16" idx="1"/>
          </p:cNvCxnSpPr>
          <p:nvPr/>
        </p:nvCxnSpPr>
        <p:spPr>
          <a:xfrm rot="16200000" flipH="1">
            <a:off x="1131491" y="1657747"/>
            <a:ext cx="607219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26AFD03A-67CB-4AE1-FEED-B5A5484B352C}"/>
              </a:ext>
            </a:extLst>
          </p:cNvPr>
          <p:cNvCxnSpPr>
            <a:cxnSpLocks/>
            <a:stCxn id="3" idx="2"/>
            <a:endCxn id="17" idx="1"/>
          </p:cNvCxnSpPr>
          <p:nvPr/>
        </p:nvCxnSpPr>
        <p:spPr>
          <a:xfrm rot="16200000" flipH="1">
            <a:off x="40878" y="2748360"/>
            <a:ext cx="2788444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6E224059-1B99-F5CF-A4B7-F2683AF536C2}"/>
              </a:ext>
            </a:extLst>
          </p:cNvPr>
          <p:cNvCxnSpPr>
            <a:cxnSpLocks/>
            <a:stCxn id="3" idx="2"/>
            <a:endCxn id="18" idx="1"/>
          </p:cNvCxnSpPr>
          <p:nvPr/>
        </p:nvCxnSpPr>
        <p:spPr>
          <a:xfrm rot="16200000" flipH="1">
            <a:off x="-615553" y="3404791"/>
            <a:ext cx="4101307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6FB2F7F-8885-41A9-3656-5B3F067CEC91}"/>
              </a:ext>
            </a:extLst>
          </p:cNvPr>
          <p:cNvSpPr txBox="1"/>
          <p:nvPr/>
        </p:nvSpPr>
        <p:spPr>
          <a:xfrm>
            <a:off x="1663700" y="2220913"/>
            <a:ext cx="1997075" cy="5222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 shipments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5" name="Textplatzhalter 9">
            <a:extLst>
              <a:ext uri="{FF2B5EF4-FFF2-40B4-BE49-F238E27FC236}">
                <a16:creationId xmlns:a16="http://schemas.microsoft.com/office/drawing/2014/main" id="{DDAB04C4-EB46-7D5D-3566-ADC7163CC7A3}"/>
              </a:ext>
            </a:extLst>
          </p:cNvPr>
          <p:cNvSpPr txBox="1">
            <a:spLocks/>
          </p:cNvSpPr>
          <p:nvPr/>
        </p:nvSpPr>
        <p:spPr bwMode="gray">
          <a:xfrm>
            <a:off x="4659313" y="1871663"/>
            <a:ext cx="1922463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shipments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6" name="Textplatzhalter 9">
            <a:extLst>
              <a:ext uri="{FF2B5EF4-FFF2-40B4-BE49-F238E27FC236}">
                <a16:creationId xmlns:a16="http://schemas.microsoft.com/office/drawing/2014/main" id="{5EF8663E-051B-B4A4-54DB-38B83B7C0B33}"/>
              </a:ext>
            </a:extLst>
          </p:cNvPr>
          <p:cNvSpPr txBox="1">
            <a:spLocks/>
          </p:cNvSpPr>
          <p:nvPr/>
        </p:nvSpPr>
        <p:spPr bwMode="gray">
          <a:xfrm>
            <a:off x="4659313" y="3195638"/>
            <a:ext cx="3148013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shipment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53AB518C-C4AA-2D26-2D1E-648D1301FD07}"/>
              </a:ext>
            </a:extLst>
          </p:cNvPr>
          <p:cNvCxnSpPr>
            <a:cxnSpLocks/>
            <a:stCxn id="44" idx="1"/>
            <a:endCxn id="1031" idx="1"/>
          </p:cNvCxnSpPr>
          <p:nvPr/>
        </p:nvCxnSpPr>
        <p:spPr>
          <a:xfrm>
            <a:off x="3654238" y="2220913"/>
            <a:ext cx="801875" cy="64055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17F350D-6B79-18FD-51E5-6B5B0A7A3634}"/>
              </a:ext>
            </a:extLst>
          </p:cNvPr>
          <p:cNvGrpSpPr/>
          <p:nvPr/>
        </p:nvGrpSpPr>
        <p:grpSpPr>
          <a:xfrm>
            <a:off x="5449888" y="1408113"/>
            <a:ext cx="887413" cy="258763"/>
            <a:chOff x="5019885" y="4088857"/>
            <a:chExt cx="969121" cy="350678"/>
          </a:xfrm>
        </p:grpSpPr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6740A79A-8726-4776-9DD3-2CE7E1AFE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A3C19EEB-AA1B-8A22-383D-36E1201DD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sp>
        <p:nvSpPr>
          <p:cNvPr id="1024" name="Textplatzhalter 9">
            <a:extLst>
              <a:ext uri="{FF2B5EF4-FFF2-40B4-BE49-F238E27FC236}">
                <a16:creationId xmlns:a16="http://schemas.microsoft.com/office/drawing/2014/main" id="{1332662F-95E6-6C6C-14F0-42E36CBF7D68}"/>
              </a:ext>
            </a:extLst>
          </p:cNvPr>
          <p:cNvSpPr txBox="1">
            <a:spLocks/>
          </p:cNvSpPr>
          <p:nvPr/>
        </p:nvSpPr>
        <p:spPr bwMode="gray">
          <a:xfrm>
            <a:off x="4659313" y="2312988"/>
            <a:ext cx="3302000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1032" name="组合 1031">
            <a:extLst>
              <a:ext uri="{FF2B5EF4-FFF2-40B4-BE49-F238E27FC236}">
                <a16:creationId xmlns:a16="http://schemas.microsoft.com/office/drawing/2014/main" id="{1D87FE20-FB05-1D1F-2AFD-520976D32D80}"/>
              </a:ext>
            </a:extLst>
          </p:cNvPr>
          <p:cNvGrpSpPr/>
          <p:nvPr/>
        </p:nvGrpSpPr>
        <p:grpSpPr>
          <a:xfrm>
            <a:off x="5483225" y="2744788"/>
            <a:ext cx="1123950" cy="255588"/>
            <a:chOff x="4391911" y="2529715"/>
            <a:chExt cx="1124028" cy="256470"/>
          </a:xfrm>
        </p:grpSpPr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C3BE9785-5F82-55B9-BDDA-BA31D657AC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690" y="2543766"/>
              <a:ext cx="237249" cy="22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¿Qué es Amazon Web Services (AWS) y por qué aprenderlo? – Programa en Línea">
              <a:extLst>
                <a:ext uri="{FF2B5EF4-FFF2-40B4-BE49-F238E27FC236}">
                  <a16:creationId xmlns:a16="http://schemas.microsoft.com/office/drawing/2014/main" id="{E2DB309D-C908-878B-CC14-DA377EDBB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362" y="2543766"/>
              <a:ext cx="342448" cy="228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Google Cloud Logo - Significado, História e PNG">
              <a:extLst>
                <a:ext uri="{FF2B5EF4-FFF2-40B4-BE49-F238E27FC236}">
                  <a16:creationId xmlns:a16="http://schemas.microsoft.com/office/drawing/2014/main" id="{6975AF66-40D0-D28E-8A61-2D0CBBEF7F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76" t="3770" r="22049" b="1928"/>
            <a:stretch/>
          </p:blipFill>
          <p:spPr bwMode="auto">
            <a:xfrm>
              <a:off x="4391911" y="2529715"/>
              <a:ext cx="272570" cy="256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27" name="Textplatzhalter 9">
            <a:extLst>
              <a:ext uri="{FF2B5EF4-FFF2-40B4-BE49-F238E27FC236}">
                <a16:creationId xmlns:a16="http://schemas.microsoft.com/office/drawing/2014/main" id="{22552676-7B18-0D9A-89FB-138C0250C458}"/>
              </a:ext>
            </a:extLst>
          </p:cNvPr>
          <p:cNvSpPr txBox="1">
            <a:spLocks/>
          </p:cNvSpPr>
          <p:nvPr/>
        </p:nvSpPr>
        <p:spPr bwMode="gray">
          <a:xfrm>
            <a:off x="4659313" y="3635375"/>
            <a:ext cx="3302000" cy="18573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029" name="Textplatzhalter 9">
            <a:extLst>
              <a:ext uri="{FF2B5EF4-FFF2-40B4-BE49-F238E27FC236}">
                <a16:creationId xmlns:a16="http://schemas.microsoft.com/office/drawing/2014/main" id="{E2B009F4-8061-4E51-9FD0-C395BF5B0898}"/>
              </a:ext>
            </a:extLst>
          </p:cNvPr>
          <p:cNvSpPr txBox="1">
            <a:spLocks/>
          </p:cNvSpPr>
          <p:nvPr/>
        </p:nvSpPr>
        <p:spPr bwMode="gray">
          <a:xfrm>
            <a:off x="4452938" y="1430338"/>
            <a:ext cx="954088" cy="21590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ports</a:t>
            </a:r>
          </a:p>
        </p:txBody>
      </p:sp>
      <p:sp>
        <p:nvSpPr>
          <p:cNvPr id="1031" name="Textplatzhalter 9">
            <a:extLst>
              <a:ext uri="{FF2B5EF4-FFF2-40B4-BE49-F238E27FC236}">
                <a16:creationId xmlns:a16="http://schemas.microsoft.com/office/drawing/2014/main" id="{3031B129-A9F8-A3CA-9A25-09FCA5061D45}"/>
              </a:ext>
            </a:extLst>
          </p:cNvPr>
          <p:cNvSpPr txBox="1">
            <a:spLocks/>
          </p:cNvSpPr>
          <p:nvPr/>
        </p:nvSpPr>
        <p:spPr bwMode="gray">
          <a:xfrm>
            <a:off x="4456113" y="2754313"/>
            <a:ext cx="969963" cy="21431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ports</a:t>
            </a:r>
          </a:p>
        </p:txBody>
      </p:sp>
      <p:cxnSp>
        <p:nvCxnSpPr>
          <p:cNvPr id="1034" name="连接符: 肘形 1033">
            <a:extLst>
              <a:ext uri="{FF2B5EF4-FFF2-40B4-BE49-F238E27FC236}">
                <a16:creationId xmlns:a16="http://schemas.microsoft.com/office/drawing/2014/main" id="{70840A1C-CF44-1D56-14C2-41FEFB5DCBAC}"/>
              </a:ext>
            </a:extLst>
          </p:cNvPr>
          <p:cNvCxnSpPr>
            <a:cxnSpLocks/>
            <a:stCxn id="44" idx="1"/>
            <a:endCxn id="1029" idx="1"/>
          </p:cNvCxnSpPr>
          <p:nvPr/>
        </p:nvCxnSpPr>
        <p:spPr>
          <a:xfrm flipV="1">
            <a:off x="3654238" y="1538288"/>
            <a:ext cx="798700" cy="682625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Chart 3">
            <a:extLst>
              <a:ext uri="{FF2B5EF4-FFF2-40B4-BE49-F238E27FC236}">
                <a16:creationId xmlns:a16="http://schemas.microsoft.com/office/drawing/2014/main" id="{599D497E-1C6D-1E3D-CB6F-2A83FECD18E7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20592045"/>
              </p:ext>
            </p:extLst>
          </p:nvPr>
        </p:nvGraphicFramePr>
        <p:xfrm>
          <a:off x="4435475" y="4151313"/>
          <a:ext cx="2249488" cy="92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1122" name="Text Placeholder 4">
            <a:extLst>
              <a:ext uri="{FF2B5EF4-FFF2-40B4-BE49-F238E27FC236}">
                <a16:creationId xmlns:a16="http://schemas.microsoft.com/office/drawing/2014/main" id="{B06CF0C9-E443-79E3-28D0-5033F94EE76B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4243388" y="489108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47867155-0C77-46BF-9F6A-EEC40F0A4E8A}" type="datetime'''''''''''''''''''''''''''''''''''''''''''''''''0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en-US" sz="1400" dirty="0">
              <a:cs typeface="+mn-cs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D61FA547-AA77-14F7-0EA5-88237189013E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4144963" y="4510088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9613867A-6C70-40A1-B80F-6F2AD1011DB7}" type="datetime'''''''''''''''''''''''1''''''''''''''''''''''''0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sz="1400" dirty="0">
              <a:cs typeface="+mn-cs"/>
            </a:endParaRPr>
          </a:p>
        </p:txBody>
      </p:sp>
      <p:sp>
        <p:nvSpPr>
          <p:cNvPr id="1124" name="Text Placeholder 4">
            <a:extLst>
              <a:ext uri="{FF2B5EF4-FFF2-40B4-BE49-F238E27FC236}">
                <a16:creationId xmlns:a16="http://schemas.microsoft.com/office/drawing/2014/main" id="{BCCCB18C-3566-F8EA-669F-42EB6856D799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986213" y="412750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FE6B8691-5F22-4F76-A802-44B440702DB6}" type="datetime'''''''''''''''''''20''''''''''''''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20</a:t>
            </a:fld>
            <a:r>
              <a:rPr lang="en-US" altLang="en-US" sz="1400" dirty="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061" name="Text Placeholder 4">
            <a:extLst>
              <a:ext uri="{FF2B5EF4-FFF2-40B4-BE49-F238E27FC236}">
                <a16:creationId xmlns:a16="http://schemas.microsoft.com/office/drawing/2014/main" id="{330B9421-81E8-3987-E0F4-28829518F75A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4354513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5A349D7-288B-4048-8601-5F55D45DFB5A}" type="datetime'''''''''''''''''''''''2''6''E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062" name="Text Placeholder 4">
            <a:extLst>
              <a:ext uri="{FF2B5EF4-FFF2-40B4-BE49-F238E27FC236}">
                <a16:creationId xmlns:a16="http://schemas.microsoft.com/office/drawing/2014/main" id="{988E448E-8B77-1400-E19A-6A3783D7276F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5397500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9DCB31A-94AF-4E5F-A6D4-9E5E117C7FEC}" type="datetime'2''7''''''''''''''''''''''''''''''''''''''''''E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352" name="Text Placeholder 4">
            <a:extLst>
              <a:ext uri="{FF2B5EF4-FFF2-40B4-BE49-F238E27FC236}">
                <a16:creationId xmlns:a16="http://schemas.microsoft.com/office/drawing/2014/main" id="{198A5A74-4BBC-A116-D461-F3AE0322BB2D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6448425" y="48529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31D9A6A-ECE7-4C7A-ABF2-47C920CD1DB4}" type="datetime'''''''''''''''''''''''''''''''''''''''''''''''''''1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1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349" name="Text Placeholder 4">
            <a:extLst>
              <a:ext uri="{FF2B5EF4-FFF2-40B4-BE49-F238E27FC236}">
                <a16:creationId xmlns:a16="http://schemas.microsoft.com/office/drawing/2014/main" id="{CE4BE880-A68A-7E8F-3169-3FD8D6102223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6448425" y="45862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BE5D70D-5022-4DC7-A952-C0B6BC60E82C}" type="datetime'''''''''''''''''''''''''''''''''8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8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355" name="Text Placeholder 4">
            <a:extLst>
              <a:ext uri="{FF2B5EF4-FFF2-40B4-BE49-F238E27FC236}">
                <a16:creationId xmlns:a16="http://schemas.microsoft.com/office/drawing/2014/main" id="{AD8F9F10-DADD-48BA-F137-CA2D6C182CF4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6399213" y="415290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1EAFF8D-29B2-493B-80BF-5DDE42AAB1AE}" type="datetime'''''''''''''''''''''''''''''1''''''''''''''''''''5'''">
              <a:rPr lang="en-US" altLang="en-US" sz="1400" b="1" smtClean="0">
                <a:solidFill>
                  <a:srgbClr val="0052D9"/>
                </a:solidFill>
                <a:cs typeface="+mn-cs"/>
              </a:rPr>
              <a:pPr/>
              <a:t>15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063" name="Text Placeholder 4">
            <a:extLst>
              <a:ext uri="{FF2B5EF4-FFF2-40B4-BE49-F238E27FC236}">
                <a16:creationId xmlns:a16="http://schemas.microsoft.com/office/drawing/2014/main" id="{966E5B4D-19F3-71AB-7F7C-DB12C3897E48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6438900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60D3045-293C-4F33-8FC8-B69552A67803}" type="datetime'''''''2''''''''''''''''''''''8''''''''''E''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051" name="Text Placeholder 4">
            <a:extLst>
              <a:ext uri="{FF2B5EF4-FFF2-40B4-BE49-F238E27FC236}">
                <a16:creationId xmlns:a16="http://schemas.microsoft.com/office/drawing/2014/main" id="{5D58E8BE-6E49-2471-B20C-35AA8DB34F72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6948488" y="475932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DD8B0E8F-0D39-4D3C-A85D-A50756EE8777}" type="datetime'''''''''''''''''''''8''''''''''''''''''00G''''''''''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2AFC1402-D656-E6AF-AAAA-23FF900B434E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6948488" y="449580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DD1A7DD-A28F-460A-B07A-F85E1437C2AD}" type="datetime'''''1''''''''''''''''''.''''''6''''''''''''''''''''''T''''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067" name="Text Placeholder 4">
            <a:extLst>
              <a:ext uri="{FF2B5EF4-FFF2-40B4-BE49-F238E27FC236}">
                <a16:creationId xmlns:a16="http://schemas.microsoft.com/office/drawing/2014/main" id="{967F946C-A303-81F3-DF78-6D378FC90C55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948488" y="423227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BE37AC63-CBE8-4866-830B-4FEDB1586AA4}" type="datetime'''''3''''''''''''''.2''''''''''''''T''''''''''''''''''''''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071" name="文本框 1070">
            <a:extLst>
              <a:ext uri="{FF2B5EF4-FFF2-40B4-BE49-F238E27FC236}">
                <a16:creationId xmlns:a16="http://schemas.microsoft.com/office/drawing/2014/main" id="{F3AA76B9-FA8D-6A83-E9D4-BB84583A8DD8}"/>
              </a:ext>
            </a:extLst>
          </p:cNvPr>
          <p:cNvSpPr txBox="1"/>
          <p:nvPr/>
        </p:nvSpPr>
        <p:spPr>
          <a:xfrm>
            <a:off x="1663700" y="4405313"/>
            <a:ext cx="1997075" cy="5238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transceivers =&gt; CPO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219" name="文本框 1218">
            <a:extLst>
              <a:ext uri="{FF2B5EF4-FFF2-40B4-BE49-F238E27FC236}">
                <a16:creationId xmlns:a16="http://schemas.microsoft.com/office/drawing/2014/main" id="{430E845B-A1CC-4553-9086-1EB2235674E3}"/>
              </a:ext>
            </a:extLst>
          </p:cNvPr>
          <p:cNvSpPr txBox="1"/>
          <p:nvPr/>
        </p:nvSpPr>
        <p:spPr>
          <a:xfrm>
            <a:off x="1663700" y="5699125"/>
            <a:ext cx="2111375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Per-port CPO value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242" name="Textplatzhalter 9">
            <a:extLst>
              <a:ext uri="{FF2B5EF4-FFF2-40B4-BE49-F238E27FC236}">
                <a16:creationId xmlns:a16="http://schemas.microsoft.com/office/drawing/2014/main" id="{692C5931-3CCF-D55F-4677-A886D3FC9611}"/>
              </a:ext>
            </a:extLst>
          </p:cNvPr>
          <p:cNvSpPr txBox="1">
            <a:spLocks/>
          </p:cNvSpPr>
          <p:nvPr/>
        </p:nvSpPr>
        <p:spPr bwMode="gray">
          <a:xfrm>
            <a:off x="7798263" y="5349353"/>
            <a:ext cx="4040811" cy="80278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 kumimoji="1" sz="1400">
                <a:solidFill>
                  <a:srgbClr val="53585F">
                    <a:lumMod val="50000"/>
                  </a:srgbClr>
                </a:solidFill>
                <a:cs typeface="+mn-ea"/>
              </a:defRPr>
            </a:lvl1pPr>
            <a:lvl2pPr marL="180975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2pPr>
            <a:lvl3pPr marL="36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3pPr>
            <a:lvl4pPr marL="541338" indent="-179388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/>
            </a:lvl4pPr>
            <a:lvl5pPr marL="72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zh-CN" sz="1200" dirty="0">
                <a:sym typeface="+mn-lt"/>
              </a:rPr>
              <a:t>Nvidia Quantum CPO switch: $120-130k with 144 800G ports -&gt;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~$700 / port in 2025</a:t>
            </a:r>
            <a:r>
              <a:rPr lang="en-US" altLang="zh-CN" sz="1200" dirty="0">
                <a:sym typeface="+mn-lt"/>
              </a:rPr>
              <a:t>; </a:t>
            </a:r>
          </a:p>
          <a:p>
            <a:r>
              <a:rPr lang="en-US" altLang="zh-CN" sz="1200" dirty="0">
                <a:sym typeface="+mn-lt"/>
              </a:rPr>
              <a:t>Price descending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accelerates in 2027 </a:t>
            </a:r>
            <a:r>
              <a:rPr lang="en-US" altLang="zh-CN" sz="1200" dirty="0">
                <a:sym typeface="+mn-lt"/>
              </a:rPr>
              <a:t>as CPO starts penetration.</a:t>
            </a:r>
          </a:p>
        </p:txBody>
      </p:sp>
      <p:sp>
        <p:nvSpPr>
          <p:cNvPr id="1248" name="文本框 1247">
            <a:extLst>
              <a:ext uri="{FF2B5EF4-FFF2-40B4-BE49-F238E27FC236}">
                <a16:creationId xmlns:a16="http://schemas.microsoft.com/office/drawing/2014/main" id="{B9B1CF88-61FC-54BA-FFE2-EF370A95B54F}"/>
              </a:ext>
            </a:extLst>
          </p:cNvPr>
          <p:cNvSpPr txBox="1"/>
          <p:nvPr/>
        </p:nvSpPr>
        <p:spPr>
          <a:xfrm>
            <a:off x="379626" y="6295257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HSBC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Goldman Sachs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2, 3, 5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Citi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4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1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Note 1: The model focuses primarily on the calculation logic, given that GPU/ASIC shipments and transceiver attach ratios are highly scenario-dependent. 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249" name="Textplatzhalter 9">
            <a:extLst>
              <a:ext uri="{FF2B5EF4-FFF2-40B4-BE49-F238E27FC236}">
                <a16:creationId xmlns:a16="http://schemas.microsoft.com/office/drawing/2014/main" id="{19B337B2-D5E5-C2C9-AE76-908F57F2A0D8}"/>
              </a:ext>
            </a:extLst>
          </p:cNvPr>
          <p:cNvSpPr txBox="1">
            <a:spLocks/>
          </p:cNvSpPr>
          <p:nvPr/>
        </p:nvSpPr>
        <p:spPr bwMode="gray">
          <a:xfrm>
            <a:off x="7798263" y="4044485"/>
            <a:ext cx="3972517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CPO starts penetration in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late 2027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: 1 year for mass production &amp; half year for HPC adoption</a:t>
            </a:r>
          </a:p>
        </p:txBody>
      </p:sp>
      <p:sp>
        <p:nvSpPr>
          <p:cNvPr id="1369" name="Textplatzhalter 9">
            <a:extLst>
              <a:ext uri="{FF2B5EF4-FFF2-40B4-BE49-F238E27FC236}">
                <a16:creationId xmlns:a16="http://schemas.microsoft.com/office/drawing/2014/main" id="{9C61EA30-EC03-DB77-DDE9-7D0334F34DA0}"/>
              </a:ext>
            </a:extLst>
          </p:cNvPr>
          <p:cNvSpPr txBox="1">
            <a:spLocks/>
          </p:cNvSpPr>
          <p:nvPr/>
        </p:nvSpPr>
        <p:spPr bwMode="gray">
          <a:xfrm>
            <a:off x="7798263" y="1660696"/>
            <a:ext cx="4040811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(1.8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and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Ultra (3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replace Hopper and Blackwell.</a:t>
            </a:r>
          </a:p>
        </p:txBody>
      </p:sp>
      <p:sp>
        <p:nvSpPr>
          <p:cNvPr id="1375" name="文本框 1374">
            <a:extLst>
              <a:ext uri="{FF2B5EF4-FFF2-40B4-BE49-F238E27FC236}">
                <a16:creationId xmlns:a16="http://schemas.microsoft.com/office/drawing/2014/main" id="{76F2B39E-2A54-4575-5AFD-56BA2C129BE1}"/>
              </a:ext>
            </a:extLst>
          </p:cNvPr>
          <p:cNvSpPr txBox="1"/>
          <p:nvPr/>
        </p:nvSpPr>
        <p:spPr>
          <a:xfrm>
            <a:off x="2959100" y="1909763"/>
            <a:ext cx="1998663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 57mn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76" name="文本框 1375">
            <a:extLst>
              <a:ext uri="{FF2B5EF4-FFF2-40B4-BE49-F238E27FC236}">
                <a16:creationId xmlns:a16="http://schemas.microsoft.com/office/drawing/2014/main" id="{81CA0002-94CC-CC2D-994D-89171AAE0B80}"/>
              </a:ext>
            </a:extLst>
          </p:cNvPr>
          <p:cNvSpPr txBox="1"/>
          <p:nvPr/>
        </p:nvSpPr>
        <p:spPr>
          <a:xfrm>
            <a:off x="3195638" y="4083050"/>
            <a:ext cx="1997075" cy="3063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~10%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77" name="文本框 1376">
            <a:extLst>
              <a:ext uri="{FF2B5EF4-FFF2-40B4-BE49-F238E27FC236}">
                <a16:creationId xmlns:a16="http://schemas.microsoft.com/office/drawing/2014/main" id="{F446EDFB-20D2-6756-38F8-5209CCD8859D}"/>
              </a:ext>
            </a:extLst>
          </p:cNvPr>
          <p:cNvSpPr txBox="1"/>
          <p:nvPr/>
        </p:nvSpPr>
        <p:spPr>
          <a:xfrm>
            <a:off x="2582863" y="5389563"/>
            <a:ext cx="782638" cy="3063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~$1000 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93" name="文本框 1392">
            <a:extLst>
              <a:ext uri="{FF2B5EF4-FFF2-40B4-BE49-F238E27FC236}">
                <a16:creationId xmlns:a16="http://schemas.microsoft.com/office/drawing/2014/main" id="{4DC0B05E-6518-8C5B-F97D-2CE5B0E8645C}"/>
              </a:ext>
            </a:extLst>
          </p:cNvPr>
          <p:cNvSpPr txBox="1"/>
          <p:nvPr/>
        </p:nvSpPr>
        <p:spPr>
          <a:xfrm>
            <a:off x="6005513" y="1824038"/>
            <a:ext cx="8572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6" name="文本框 1415">
            <a:extLst>
              <a:ext uri="{FF2B5EF4-FFF2-40B4-BE49-F238E27FC236}">
                <a16:creationId xmlns:a16="http://schemas.microsoft.com/office/drawing/2014/main" id="{116CCA58-F5E6-1706-E874-92A77133DBA3}"/>
              </a:ext>
            </a:extLst>
          </p:cNvPr>
          <p:cNvSpPr txBox="1"/>
          <p:nvPr/>
        </p:nvSpPr>
        <p:spPr>
          <a:xfrm>
            <a:off x="6484938" y="2247900"/>
            <a:ext cx="15303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7" name="文本框 1416">
            <a:extLst>
              <a:ext uri="{FF2B5EF4-FFF2-40B4-BE49-F238E27FC236}">
                <a16:creationId xmlns:a16="http://schemas.microsoft.com/office/drawing/2014/main" id="{61964997-15BE-BF36-AFAD-E7D11AA4FF61}"/>
              </a:ext>
            </a:extLst>
          </p:cNvPr>
          <p:cNvSpPr txBox="1"/>
          <p:nvPr/>
        </p:nvSpPr>
        <p:spPr>
          <a:xfrm>
            <a:off x="6005513" y="3149383"/>
            <a:ext cx="857250" cy="277813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~6.3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8" name="文本框 1417">
            <a:extLst>
              <a:ext uri="{FF2B5EF4-FFF2-40B4-BE49-F238E27FC236}">
                <a16:creationId xmlns:a16="http://schemas.microsoft.com/office/drawing/2014/main" id="{3EDB9800-E355-2737-F766-E1479A7CF65D}"/>
              </a:ext>
            </a:extLst>
          </p:cNvPr>
          <p:cNvSpPr txBox="1"/>
          <p:nvPr/>
        </p:nvSpPr>
        <p:spPr>
          <a:xfrm>
            <a:off x="6537325" y="3586163"/>
            <a:ext cx="15303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9" name="Textplatzhalter 9">
            <a:extLst>
              <a:ext uri="{FF2B5EF4-FFF2-40B4-BE49-F238E27FC236}">
                <a16:creationId xmlns:a16="http://schemas.microsoft.com/office/drawing/2014/main" id="{F33DF096-EC3C-1D64-F689-F1526B680CF4}"/>
              </a:ext>
            </a:extLst>
          </p:cNvPr>
          <p:cNvSpPr txBox="1">
            <a:spLocks/>
          </p:cNvSpPr>
          <p:nvPr/>
        </p:nvSpPr>
        <p:spPr bwMode="gray">
          <a:xfrm>
            <a:off x="7798263" y="2089234"/>
            <a:ext cx="4040812" cy="55399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. Rubin requires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twice the number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of transceivers compared to GB300 (~3x 1.6T transceivers / card).</a:t>
            </a:r>
          </a:p>
        </p:txBody>
      </p:sp>
      <p:sp>
        <p:nvSpPr>
          <p:cNvPr id="1420" name="Textplatzhalter 9">
            <a:extLst>
              <a:ext uri="{FF2B5EF4-FFF2-40B4-BE49-F238E27FC236}">
                <a16:creationId xmlns:a16="http://schemas.microsoft.com/office/drawing/2014/main" id="{1C0E3EB3-CE6D-5FD1-3011-2D0A4894D15D}"/>
              </a:ext>
            </a:extLst>
          </p:cNvPr>
          <p:cNvSpPr txBox="1">
            <a:spLocks/>
          </p:cNvSpPr>
          <p:nvPr/>
        </p:nvSpPr>
        <p:spPr bwMode="gray">
          <a:xfrm>
            <a:off x="7798263" y="3429000"/>
            <a:ext cx="4040812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1, driven by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lower performance per card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increased cluster networking complexity.</a:t>
            </a:r>
          </a:p>
        </p:txBody>
      </p:sp>
      <p:sp>
        <p:nvSpPr>
          <p:cNvPr id="1421" name="Textplatzhalter 9">
            <a:extLst>
              <a:ext uri="{FF2B5EF4-FFF2-40B4-BE49-F238E27FC236}">
                <a16:creationId xmlns:a16="http://schemas.microsoft.com/office/drawing/2014/main" id="{927DC90D-8F68-EF27-1640-F3FB06905974}"/>
              </a:ext>
            </a:extLst>
          </p:cNvPr>
          <p:cNvSpPr txBox="1">
            <a:spLocks/>
          </p:cNvSpPr>
          <p:nvPr/>
        </p:nvSpPr>
        <p:spPr bwMode="gray">
          <a:xfrm>
            <a:off x="7798263" y="2981640"/>
            <a:ext cx="4072684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~55%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of total datacenter AI chip volumes (Google TPU: &gt; 4mn in 2028 with a shipment share of ~70%); </a:t>
            </a:r>
          </a:p>
        </p:txBody>
      </p:sp>
      <p:sp>
        <p:nvSpPr>
          <p:cNvPr id="1423" name="文本框 1422">
            <a:extLst>
              <a:ext uri="{FF2B5EF4-FFF2-40B4-BE49-F238E27FC236}">
                <a16:creationId xmlns:a16="http://schemas.microsoft.com/office/drawing/2014/main" id="{CA575760-A05C-94E3-A9F6-D9BA29A60A55}"/>
              </a:ext>
            </a:extLst>
          </p:cNvPr>
          <p:cNvSpPr txBox="1"/>
          <p:nvPr/>
        </p:nvSpPr>
        <p:spPr>
          <a:xfrm>
            <a:off x="6369050" y="1392238"/>
            <a:ext cx="1998663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~26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4" name="文本框 1423">
            <a:extLst>
              <a:ext uri="{FF2B5EF4-FFF2-40B4-BE49-F238E27FC236}">
                <a16:creationId xmlns:a16="http://schemas.microsoft.com/office/drawing/2014/main" id="{37A4122F-AB89-43A6-8617-3D8D1B7A75E0}"/>
              </a:ext>
            </a:extLst>
          </p:cNvPr>
          <p:cNvSpPr txBox="1"/>
          <p:nvPr/>
        </p:nvSpPr>
        <p:spPr>
          <a:xfrm>
            <a:off x="6654475" y="2711748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~31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8" name="文本框 1427">
            <a:extLst>
              <a:ext uri="{FF2B5EF4-FFF2-40B4-BE49-F238E27FC236}">
                <a16:creationId xmlns:a16="http://schemas.microsoft.com/office/drawing/2014/main" id="{CADBA52A-2BD1-B0DF-7E59-294220A41D4F}"/>
              </a:ext>
            </a:extLst>
          </p:cNvPr>
          <p:cNvSpPr txBox="1"/>
          <p:nvPr/>
        </p:nvSpPr>
        <p:spPr>
          <a:xfrm>
            <a:off x="7601086" y="1170724"/>
            <a:ext cx="186493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Key assumptions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36F1D5-6951-4ADB-FD66-BAD4FA3A6E92}"/>
              </a:ext>
            </a:extLst>
          </p:cNvPr>
          <p:cNvSpPr/>
          <p:nvPr/>
        </p:nvSpPr>
        <p:spPr>
          <a:xfrm>
            <a:off x="12323922" y="676140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WIP</a:t>
            </a:r>
          </a:p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TH6-Davisson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B44D49B6-C631-BCE3-A008-76DBF1C06DE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A23CCE44-374D-A0D4-E2EE-86487C14027B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383259A7-3747-47A9-1383-0175C9E9572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890C8A96-EB71-3801-E7CE-A71A9F4F7C3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8523DDD8-7A89-0D47-B540-7E3D90843A1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CC9CB37C-FC71-7821-D9DA-B680BAD0CE56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94ECAEA2-1B1E-36DF-2E1F-EEC64E4FD17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D9376328-0EEC-3565-D385-EE063C48DD05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EC50463E-38B9-A6F0-0011-D4E050B1959E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53585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CPO is a multi-billion-dollar market paved by data rate scaling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6904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5628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AE1A48-D8F9-D337-3C9A-0CE7F89E9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8403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8403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8403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8963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5312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4409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3966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5575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4303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4303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4213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4303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8403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9630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6728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6728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30281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5575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9999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40303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41570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4454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40960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8771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7081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52087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41721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7449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1909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4522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7B132474-1F83-AE4D-E0A9-4476516CFE2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DAA5085E-F9E8-35F2-D32A-604EFC4192D8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02F37066-4DC8-92DE-D7FE-A4585674047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662D24E4-B70C-4447-7172-F98B9A65BEAD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F351F441-22F3-41D2-52EB-3E15B32922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E9244910-B3BC-5754-6CBC-E3D05C208489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5F48C039-CC95-591D-3C25-AC386ACD77C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833BE20-FB7C-4EEF-F175-BA355BB05F1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41AFD4E0-E94C-110D-F00E-5478C32F050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key modules: Silicon photonics (</a:t>
            </a:r>
            <a:r>
              <a:rPr lang="en-US" altLang="zh-CN" dirty="0" err="1">
                <a:cs typeface="+mn-ea"/>
                <a:sym typeface="+mn-lt"/>
              </a:rPr>
              <a:t>SiPh</a:t>
            </a:r>
            <a:r>
              <a:rPr lang="en-US" altLang="zh-CN" dirty="0">
                <a:cs typeface="+mn-ea"/>
                <a:sym typeface="+mn-lt"/>
              </a:rPr>
              <a:t>), electrical IC (EIC), switch ASIC, and integration &amp; delivery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6229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83355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4240826" y="4937214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4660547" y="5575086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0826" y="5626894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826" y="3669812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032757" y="4937214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8786" y="5005571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235396" y="557508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9166" y="5614403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9930561" y="5575086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9346" y="4961567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9931582" y="4937214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955" y="5005571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7604069" y="4947618"/>
            <a:ext cx="184732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7459" y="5653729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7624119" y="5575086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60446" y="5560475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83355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8135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Dom-</a:t>
            </a:r>
            <a:r>
              <a:rPr kumimoji="1" lang="en-US" altLang="zh-CN" sz="1000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estic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8431F0-8173-EAF9-7690-7A067ED78A39}"/>
              </a:ext>
            </a:extLst>
          </p:cNvPr>
          <p:cNvSpPr txBox="1"/>
          <p:nvPr/>
        </p:nvSpPr>
        <p:spPr>
          <a:xfrm>
            <a:off x="5195227" y="3866472"/>
            <a:ext cx="1666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(Acquired by Marvell</a:t>
            </a:r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378DD288-304F-BDF5-BC40-624BE828D0CA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32533A7D-610C-57EE-E1B6-624F31A35A7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06F22A0-9384-3C6C-DD64-658F189A89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26">
            <a:extLst>
              <a:ext uri="{FF2B5EF4-FFF2-40B4-BE49-F238E27FC236}">
                <a16:creationId xmlns:a16="http://schemas.microsoft.com/office/drawing/2014/main" id="{2C19AA9A-7BA6-62E1-7A64-00491D24A4E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4" name="箭头: V 形 38">
            <a:extLst>
              <a:ext uri="{FF2B5EF4-FFF2-40B4-BE49-F238E27FC236}">
                <a16:creationId xmlns:a16="http://schemas.microsoft.com/office/drawing/2014/main" id="{34868A3C-A982-0230-511F-F2108BA3115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329109B2-8BAA-315A-C676-691722F44AA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7300CBF0-F47B-1388-E191-D77893717A4C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E4818409-6350-C0E8-DA1E-AEB87A54C334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6ECCFF72-07AB-4C34-4D4B-B9E09ACE79C9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3D332E-FEE7-17D5-703C-E5B1FA1761DD}"/>
              </a:ext>
            </a:extLst>
          </p:cNvPr>
          <p:cNvSpPr/>
          <p:nvPr/>
        </p:nvSpPr>
        <p:spPr>
          <a:xfrm>
            <a:off x="10229417" y="44252"/>
            <a:ext cx="1894449" cy="8424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确认一下光和电的机会点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9B70BD-5FD0-EAE3-5A6F-68A959AB0926}"/>
              </a:ext>
            </a:extLst>
          </p:cNvPr>
          <p:cNvSpPr txBox="1"/>
          <p:nvPr/>
        </p:nvSpPr>
        <p:spPr>
          <a:xfrm>
            <a:off x="1588467" y="4631865"/>
            <a:ext cx="8556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4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7700EE9-43C8-1B61-3680-988B33975029}"/>
              </a:ext>
            </a:extLst>
          </p:cNvPr>
          <p:cNvSpPr txBox="1"/>
          <p:nvPr/>
        </p:nvSpPr>
        <p:spPr>
          <a:xfrm>
            <a:off x="4145018" y="4628605"/>
            <a:ext cx="8556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endParaRPr lang="zh-CN" altLang="en-US" sz="14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6FAA28F-80C3-37F8-8539-5A73681BC2E7}"/>
              </a:ext>
            </a:extLst>
          </p:cNvPr>
          <p:cNvSpPr txBox="1"/>
          <p:nvPr/>
        </p:nvSpPr>
        <p:spPr>
          <a:xfrm>
            <a:off x="7053506" y="4631865"/>
            <a:ext cx="13030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IDC switch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60A24F8-86A1-554C-8F53-702A58217435}"/>
              </a:ext>
            </a:extLst>
          </p:cNvPr>
          <p:cNvSpPr txBox="1"/>
          <p:nvPr/>
        </p:nvSpPr>
        <p:spPr>
          <a:xfrm>
            <a:off x="9468015" y="4631865"/>
            <a:ext cx="20239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2.5/3D packaging</a:t>
            </a: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4966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DF293-6EC6-5BA6-23C9-9E4E91F46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25DA8EB-6898-749E-4B75-BE09059E8D8C}"/>
              </a:ext>
            </a:extLst>
          </p:cNvPr>
          <p:cNvSpPr/>
          <p:nvPr/>
        </p:nvSpPr>
        <p:spPr>
          <a:xfrm>
            <a:off x="152308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DBAB5C-14EE-530A-5851-EB8348DC0F48}"/>
              </a:ext>
            </a:extLst>
          </p:cNvPr>
          <p:cNvSpPr/>
          <p:nvPr/>
        </p:nvSpPr>
        <p:spPr>
          <a:xfrm>
            <a:off x="3111978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B7D584-F80D-1DBF-BEB6-A8EF9F3D08AF}"/>
              </a:ext>
            </a:extLst>
          </p:cNvPr>
          <p:cNvSpPr/>
          <p:nvPr/>
        </p:nvSpPr>
        <p:spPr>
          <a:xfrm>
            <a:off x="511887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C50562-3723-2C0F-AB6C-391519390581}"/>
              </a:ext>
            </a:extLst>
          </p:cNvPr>
          <p:cNvSpPr/>
          <p:nvPr/>
        </p:nvSpPr>
        <p:spPr>
          <a:xfrm>
            <a:off x="7067801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8976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9045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9026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8976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8955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9045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34044" y="3981620"/>
            <a:ext cx="8646276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9026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972774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51109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6D4738FA-150A-F754-08BE-C0A19513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349" y="5849436"/>
            <a:ext cx="281393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Prototype Phase</a:t>
            </a: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3152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3196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3341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3196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4025567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4021634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8359" y="4496284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2603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5832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22162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9916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2505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51443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51676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52163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30562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30182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2390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71279" y="4478910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8733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9172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60352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104" y="6118238"/>
            <a:ext cx="13788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5161" name="Rectangle 8">
            <a:extLst>
              <a:ext uri="{FF2B5EF4-FFF2-40B4-BE49-F238E27FC236}">
                <a16:creationId xmlns:a16="http://schemas.microsoft.com/office/drawing/2014/main" id="{60BD655F-3DEC-B0FC-30F4-0F6B0A4DE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2578" y="5857936"/>
            <a:ext cx="21907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Delivery Phase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2169" y="4300215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981620"/>
            <a:ext cx="574356" cy="1483958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11481" y="21105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696462" y="26633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l="5884" t="22886" r="3998" b="18237"/>
          <a:stretch>
            <a:fillRect/>
          </a:stretch>
        </p:blipFill>
        <p:spPr>
          <a:xfrm>
            <a:off x="11273920" y="5906762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87657" y="21777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5783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21444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542610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22271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6195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6164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8806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265797"/>
            <a:ext cx="475097" cy="89818"/>
          </a:xfrm>
          <a:prstGeom prst="rect">
            <a:avLst/>
          </a:prstGeom>
        </p:spPr>
      </p:pic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250593"/>
            <a:ext cx="431753" cy="1646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6158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5438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8533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2796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 cstate="print">
            <a:extLst>
              <a:ext uri="{BEBA8EAE-BF5A-486C-A8C5-ECC9F3942E4B}">
                <a14:imgProps xmlns:a14="http://schemas.microsoft.com/office/drawing/2010/main">
                  <a14:imgLayer r:embed="rId57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52002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038042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30528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2614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5181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6633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6633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6633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21655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6016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1833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6195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171279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46682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0233" y="2225906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21833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6195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30528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499040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61683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4" cstate="print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134026" y="4478663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30048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58873" y="52308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51551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69"/>
          <a:srcRect t="29736" r="12" b="29739"/>
          <a:stretch>
            <a:fillRect/>
          </a:stretch>
        </p:blipFill>
        <p:spPr>
          <a:xfrm>
            <a:off x="9353452" y="56068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0"/>
          <a:srcRect l="10181" t="33840" r="8725" b="35390"/>
          <a:stretch>
            <a:fillRect/>
          </a:stretch>
        </p:blipFill>
        <p:spPr>
          <a:xfrm>
            <a:off x="9910587" y="52695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BEBA8EAE-BF5A-486C-A8C5-ECC9F3942E4B}">
                <a14:imgProps xmlns:a14="http://schemas.microsoft.com/office/drawing/2010/main">
                  <a14:imgLayer r:embed="rId72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4747" y="4526059"/>
            <a:ext cx="504030" cy="133869"/>
          </a:xfrm>
          <a:prstGeom prst="rect">
            <a:avLst/>
          </a:prstGeom>
        </p:spPr>
      </p:pic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4029393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4905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40327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2753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40352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30088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9155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9736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111908" y="4516057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940379" y="4521330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2121" y="4029393"/>
            <a:ext cx="681323" cy="155067"/>
          </a:xfrm>
          <a:prstGeom prst="rect">
            <a:avLst/>
          </a:prstGeom>
        </p:spPr>
      </p:pic>
      <p:pic>
        <p:nvPicPr>
          <p:cNvPr id="9" name="图像" descr="图像">
            <a:extLst>
              <a:ext uri="{FF2B5EF4-FFF2-40B4-BE49-F238E27FC236}">
                <a16:creationId xmlns:a16="http://schemas.microsoft.com/office/drawing/2014/main" id="{9B560A77-4C23-2EF3-8CA3-33BC5B15026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98265" y="5321524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8" name="箭头: V 形 16">
            <a:extLst>
              <a:ext uri="{FF2B5EF4-FFF2-40B4-BE49-F238E27FC236}">
                <a16:creationId xmlns:a16="http://schemas.microsoft.com/office/drawing/2014/main" id="{96CED149-B340-003D-3DB4-5004F64EC06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3A119602-5BAA-8EE2-2083-234BC721BF6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33AC97C8-66C3-4C77-6D64-768F8E6A2C00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26">
            <a:extLst>
              <a:ext uri="{FF2B5EF4-FFF2-40B4-BE49-F238E27FC236}">
                <a16:creationId xmlns:a16="http://schemas.microsoft.com/office/drawing/2014/main" id="{C2887F6B-4D75-D995-2AD8-D539AB2ACCEC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3A13707E-279F-651D-319D-8B24C653671C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4FAD260D-103F-7E48-754F-2C9263F9CE7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17B61FB-23EA-B719-9A0E-55C9205F03F7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C84712F-4A67-79D0-D75F-E09E18233DF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8B7D4C1B-86A2-2625-7859-34D58E52F171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​Supply chain focus: Broadcom-led integrated giants and strategic domestic startups like </a:t>
            </a:r>
            <a:r>
              <a:rPr lang="en-US" altLang="zh-CN" dirty="0" err="1">
                <a:cs typeface="+mn-ea"/>
                <a:sym typeface="+mn-lt"/>
              </a:rPr>
              <a:t>ficonTEC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7215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7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90E2C8-8DD7-2A1E-C004-C710B2EDF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0626CFDE-102D-A4B9-E7F4-2CEC3FD78D79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38EE4FD-67DD-D75F-A552-D2E3AC709641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0D9FBBCA-438B-90D1-83BB-534EA5EE0A09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B597C2E-4003-A9DB-7167-A3A95C8809B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ED1421FC-C915-BA38-D044-EE4B96EB1FC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7D64F0C1-FD97-E859-602A-365049C621AE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76E6197-4A5C-6B5B-A7F8-35664DE271E1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F4521371-2ECD-3FDF-C7C4-0C478BBC52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C499D2EC-6D89-D8EF-F6B5-92FBCF73DDF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21058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BNP.</a:t>
            </a:r>
          </a:p>
        </p:txBody>
      </p:sp>
      <p:graphicFrame>
        <p:nvGraphicFramePr>
          <p:cNvPr id="62" name="Chart 3">
            <a:extLst>
              <a:ext uri="{FF2B5EF4-FFF2-40B4-BE49-F238E27FC236}">
                <a16:creationId xmlns:a16="http://schemas.microsoft.com/office/drawing/2014/main" id="{104F2D5B-61F6-D77F-1FAC-E780088B0F75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27931357"/>
              </p:ext>
            </p:extLst>
          </p:nvPr>
        </p:nvGraphicFramePr>
        <p:xfrm>
          <a:off x="387350" y="1943100"/>
          <a:ext cx="7653338" cy="4497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7EB6330D-FCCC-9C0C-A71C-6B3CFCF23DAC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7785100" y="2414588"/>
            <a:ext cx="415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19BDF311-8EFC-4172-8284-BE1A7BCFF18F}" type="datetime'''''''''''''''''''''''''''''''A''''S''IC''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ASIC</a:t>
            </a:fld>
            <a:endParaRPr lang="zh-CN" altLang="en-US" sz="1400" dirty="0">
              <a:cs typeface="+mn-cs"/>
            </a:endParaRPr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5A196F74-FF13-FBFC-E0B6-A72C758B445B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4140200" y="3257550"/>
            <a:ext cx="247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40</a:t>
            </a:r>
            <a:endParaRPr lang="zh-CN" altLang="en-US" sz="14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292100" y="1690688"/>
            <a:ext cx="5626100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Shipment unit share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(%)</a:t>
            </a:r>
            <a:endParaRPr lang="zh-CN" altLang="en-US" sz="1600" dirty="0">
              <a:solidFill>
                <a:srgbClr val="000000"/>
              </a:solidFill>
              <a:latin typeface="PingFang SC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12A1E5-C527-E5DF-0FC8-3D86F59979D3}"/>
              </a:ext>
            </a:extLst>
          </p:cNvPr>
          <p:cNvSpPr txBox="1"/>
          <p:nvPr/>
        </p:nvSpPr>
        <p:spPr>
          <a:xfrm>
            <a:off x="8330962" y="3735758"/>
            <a:ext cx="3528377" cy="764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​ASIC: High costs,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limited TSMC supply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​Nvidia continues to dominate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AI cloud compute.​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latin typeface="PingFang SC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20DA3CF-3767-0AEA-75AE-EB826B843EF9}"/>
              </a:ext>
            </a:extLst>
          </p:cNvPr>
          <p:cNvSpPr txBox="1"/>
          <p:nvPr/>
        </p:nvSpPr>
        <p:spPr>
          <a:xfrm>
            <a:off x="327660" y="1154721"/>
            <a:ext cx="8761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① 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 becomes the long-term trend; Broadcom plays a central role</a:t>
            </a:r>
            <a:endParaRPr lang="zh-CN" altLang="en-US" dirty="0"/>
          </a:p>
        </p:txBody>
      </p:sp>
      <p:cxnSp>
        <p:nvCxnSpPr>
          <p:cNvPr id="28" name="Straight Connector 69">
            <a:extLst>
              <a:ext uri="{FF2B5EF4-FFF2-40B4-BE49-F238E27FC236}">
                <a16:creationId xmlns:a16="http://schemas.microsoft.com/office/drawing/2014/main" id="{88D6CD56-04C8-1C24-DAEA-7A90C7F53771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>
            <a:off x="427673" y="1546913"/>
            <a:ext cx="7515225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FF32C493-823A-5118-2E4F-36E3ABD2BFEA}"/>
              </a:ext>
            </a:extLst>
          </p:cNvPr>
          <p:cNvCxnSpPr>
            <a:cxnSpLocks/>
          </p:cNvCxnSpPr>
          <p:nvPr/>
        </p:nvCxnSpPr>
        <p:spPr>
          <a:xfrm flipV="1">
            <a:off x="2741613" y="4571783"/>
            <a:ext cx="3389674" cy="767797"/>
          </a:xfrm>
          <a:prstGeom prst="line">
            <a:avLst/>
          </a:prstGeom>
          <a:ln w="1905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0A76F7B2-9937-B624-8716-8A0BFD1B4BBB}"/>
              </a:ext>
            </a:extLst>
          </p:cNvPr>
          <p:cNvCxnSpPr>
            <a:cxnSpLocks/>
          </p:cNvCxnSpPr>
          <p:nvPr/>
        </p:nvCxnSpPr>
        <p:spPr>
          <a:xfrm flipV="1">
            <a:off x="4265157" y="3486912"/>
            <a:ext cx="3315219" cy="42332"/>
          </a:xfrm>
          <a:prstGeom prst="line">
            <a:avLst/>
          </a:prstGeom>
          <a:ln w="9525">
            <a:solidFill>
              <a:srgbClr val="0052D9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A7C07FBA-FD55-123B-6CC2-D48F932459CC}"/>
              </a:ext>
            </a:extLst>
          </p:cNvPr>
          <p:cNvSpPr txBox="1"/>
          <p:nvPr/>
        </p:nvSpPr>
        <p:spPr>
          <a:xfrm>
            <a:off x="8330962" y="1990805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Optimistic scenario</a:t>
            </a:r>
            <a:endParaRPr lang="zh-CN" altLang="en-US" b="1" dirty="0"/>
          </a:p>
        </p:txBody>
      </p:sp>
      <p:sp>
        <p:nvSpPr>
          <p:cNvPr id="964" name="文本框 963">
            <a:extLst>
              <a:ext uri="{FF2B5EF4-FFF2-40B4-BE49-F238E27FC236}">
                <a16:creationId xmlns:a16="http://schemas.microsoft.com/office/drawing/2014/main" id="{FA12F98D-AFB1-F69C-EB36-438FF7419D87}"/>
              </a:ext>
            </a:extLst>
          </p:cNvPr>
          <p:cNvSpPr txBox="1"/>
          <p:nvPr/>
        </p:nvSpPr>
        <p:spPr>
          <a:xfrm>
            <a:off x="8330962" y="3369711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Pessimistic scenario</a:t>
            </a:r>
            <a:endParaRPr lang="zh-CN" altLang="en-US" b="1" dirty="0"/>
          </a:p>
        </p:txBody>
      </p:sp>
      <p:sp>
        <p:nvSpPr>
          <p:cNvPr id="966" name="文本框 965">
            <a:extLst>
              <a:ext uri="{FF2B5EF4-FFF2-40B4-BE49-F238E27FC236}">
                <a16:creationId xmlns:a16="http://schemas.microsoft.com/office/drawing/2014/main" id="{3EA0C51F-3CA4-A0C8-3FC9-3D399000562D}"/>
              </a:ext>
            </a:extLst>
          </p:cNvPr>
          <p:cNvSpPr txBox="1"/>
          <p:nvPr/>
        </p:nvSpPr>
        <p:spPr>
          <a:xfrm>
            <a:off x="8330962" y="2404130"/>
            <a:ext cx="3770682" cy="76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New orders from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OpenAI &amp; </a:t>
            </a:r>
            <a:r>
              <a:rPr lang="en-US" altLang="zh-CN" sz="1400" b="1" dirty="0" err="1">
                <a:solidFill>
                  <a:srgbClr val="0052D9"/>
                </a:solidFill>
                <a:latin typeface="PingFang SC"/>
              </a:rPr>
              <a:t>xAI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Bring forward the “ASIC &gt; GPU” inflection point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from 2027–28 to 2026.</a:t>
            </a:r>
          </a:p>
        </p:txBody>
      </p:sp>
      <p:sp>
        <p:nvSpPr>
          <p:cNvPr id="974" name="文本框 973">
            <a:extLst>
              <a:ext uri="{FF2B5EF4-FFF2-40B4-BE49-F238E27FC236}">
                <a16:creationId xmlns:a16="http://schemas.microsoft.com/office/drawing/2014/main" id="{4A0EDC42-EC67-E512-0376-3F88A096A93E}"/>
              </a:ext>
            </a:extLst>
          </p:cNvPr>
          <p:cNvSpPr txBox="1"/>
          <p:nvPr/>
        </p:nvSpPr>
        <p:spPr>
          <a:xfrm>
            <a:off x="7348154" y="3256502"/>
            <a:ext cx="69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53585F"/>
                </a:solidFill>
                <a:cs typeface="+mn-ea"/>
                <a:sym typeface="+mn-lt"/>
              </a:rPr>
              <a:t>~40</a:t>
            </a:r>
            <a:endParaRPr lang="zh-CN" altLang="en-US" dirty="0">
              <a:solidFill>
                <a:srgbClr val="53585F"/>
              </a:solidFill>
            </a:endParaRPr>
          </a:p>
        </p:txBody>
      </p:sp>
      <p:sp>
        <p:nvSpPr>
          <p:cNvPr id="1013" name="文本框 1012">
            <a:extLst>
              <a:ext uri="{FF2B5EF4-FFF2-40B4-BE49-F238E27FC236}">
                <a16:creationId xmlns:a16="http://schemas.microsoft.com/office/drawing/2014/main" id="{3ABC8DEF-3EDC-5D1E-C5C2-56BBD98FEC48}"/>
              </a:ext>
            </a:extLst>
          </p:cNvPr>
          <p:cNvSpPr txBox="1"/>
          <p:nvPr/>
        </p:nvSpPr>
        <p:spPr>
          <a:xfrm>
            <a:off x="8330962" y="4571981"/>
            <a:ext cx="3528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b="1">
                <a:solidFill>
                  <a:schemeClr val="tx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/>
              <a:t>​Broadcom</a:t>
            </a:r>
          </a:p>
        </p:txBody>
      </p:sp>
      <p:sp>
        <p:nvSpPr>
          <p:cNvPr id="1015" name="文本框 1014">
            <a:extLst>
              <a:ext uri="{FF2B5EF4-FFF2-40B4-BE49-F238E27FC236}">
                <a16:creationId xmlns:a16="http://schemas.microsoft.com/office/drawing/2014/main" id="{19487E5B-EFB5-957E-B4FE-36D9F87E85BB}"/>
              </a:ext>
            </a:extLst>
          </p:cNvPr>
          <p:cNvSpPr txBox="1"/>
          <p:nvPr/>
        </p:nvSpPr>
        <p:spPr>
          <a:xfrm>
            <a:off x="8330962" y="4941313"/>
            <a:ext cx="7242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r>
              <a:rPr lang="en-US" altLang="zh-CN"/>
              <a:t>Maintain ~50</a:t>
            </a:r>
            <a:r>
              <a:rPr lang="en-US" altLang="zh-CN" dirty="0"/>
              <a:t>% share in ASIC design.</a:t>
            </a:r>
            <a:endParaRPr lang="zh-CN" altLang="en-US" dirty="0"/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BA6DC29F-2F32-4C09-DD44-BFC52F4A2956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96EC195-8899-8A5E-B5D8-A7F844A19E4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4AF2616F-7067-CE40-F56B-BF32B1A6C3A7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BF0154A2-3DC7-6BEB-E106-F3A49DC1C9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77B13DB9-068E-84F5-049C-C00A96EA238F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56ED6FC-330C-B999-B5F3-B49C536D6A2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6AC6926F-50F7-8AC1-E109-76C3C0B44D98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67DB1388-E8A0-D988-8947-0FAAA046B80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C6C4D10B-9B88-1796-38A9-8DBBE89A039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 dual alignment with HPC ASIC &amp; network ecosystem trends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9FFB91-3FD7-BA39-39D8-B26C3A143D1F}"/>
              </a:ext>
            </a:extLst>
          </p:cNvPr>
          <p:cNvSpPr/>
          <p:nvPr/>
        </p:nvSpPr>
        <p:spPr>
          <a:xfrm>
            <a:off x="12749735" y="856830"/>
            <a:ext cx="1894449" cy="18762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博通放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24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25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年占比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确认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25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年的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asic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33%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是否合理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9" name="等腰三角形 48">
            <a:extLst>
              <a:ext uri="{FF2B5EF4-FFF2-40B4-BE49-F238E27FC236}">
                <a16:creationId xmlns:a16="http://schemas.microsoft.com/office/drawing/2014/main" id="{8800E714-5B55-52D5-71D9-CB258435F258}"/>
              </a:ext>
            </a:extLst>
          </p:cNvPr>
          <p:cNvSpPr/>
          <p:nvPr/>
        </p:nvSpPr>
        <p:spPr>
          <a:xfrm rot="15896541">
            <a:off x="5412012" y="1367762"/>
            <a:ext cx="1085194" cy="3469421"/>
          </a:xfrm>
          <a:prstGeom prst="triangle">
            <a:avLst>
              <a:gd name="adj" fmla="val 23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867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6" imgW="401" imgH="401" progId="TCLayout.ActiveDocument.1">
                  <p:embed/>
                </p:oleObj>
              </mc:Choice>
              <mc:Fallback>
                <p:oleObj name="think-cell 幻灯片" r:id="rId46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D8489-94F6-87DD-8224-C8747CE67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0934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1211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443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79" name="Chart 3">
            <a:extLst>
              <a:ext uri="{FF2B5EF4-FFF2-40B4-BE49-F238E27FC236}">
                <a16:creationId xmlns:a16="http://schemas.microsoft.com/office/drawing/2014/main" id="{0FA503A8-30BE-0138-C929-9DCCDE5322A8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998978028"/>
              </p:ext>
            </p:extLst>
          </p:nvPr>
        </p:nvGraphicFramePr>
        <p:xfrm>
          <a:off x="1057275" y="25209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8"/>
          </a:graphicData>
        </a:graphic>
      </p:graphicFrame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227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6345238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6741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09950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7018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1892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19725"/>
            <a:ext cx="180975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2" name="直接连接符 961">
            <a:extLst>
              <a:ext uri="{FF2B5EF4-FFF2-40B4-BE49-F238E27FC236}">
                <a16:creationId xmlns:a16="http://schemas.microsoft.com/office/drawing/2014/main" id="{9B74301A-A0CA-E78E-1C2A-F9368306858E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 bwMode="auto">
          <a:xfrm flipH="1">
            <a:off x="8821738" y="3106738"/>
            <a:ext cx="417513" cy="76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5B92FAB-A900-B766-FC50-C785FB0633A3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3992564" y="5357814"/>
            <a:ext cx="79375" cy="3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286875" y="5984875"/>
            <a:ext cx="1905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23925" y="22653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/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213850" y="30972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6508750" y="44005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4187825" y="45069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865313" y="45021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8837613" y="43513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6508750" y="49958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351338" y="53260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9955213" y="48133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148138" y="50895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0" name="Text Placeholder 4">
            <a:extLst>
              <a:ext uri="{FF2B5EF4-FFF2-40B4-BE49-F238E27FC236}">
                <a16:creationId xmlns:a16="http://schemas.microsoft.com/office/drawing/2014/main" id="{D886B005-FDCB-2966-54C3-3A32B664BFDB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6508750" y="42084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BD21EBC-5A05-484F-B854-FF6FB66FEE31}" type="datetime'''''A''''MD-M''''''''''''''''I3''25''''x'''''''''''''">
              <a:rPr lang="en-US" altLang="en-US" sz="1200" smtClean="0">
                <a:cs typeface="+mn-cs"/>
              </a:rPr>
              <a:pPr/>
              <a:t>AMD-MI325x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1" name="Text Placeholder 4">
            <a:extLst>
              <a:ext uri="{FF2B5EF4-FFF2-40B4-BE49-F238E27FC236}">
                <a16:creationId xmlns:a16="http://schemas.microsoft.com/office/drawing/2014/main" id="{C414824F-1196-F93E-3563-5DEC24650A92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9239250" y="2928938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7B8667-5208-40F9-AC86-FD59038E6E0D}" type="datetime'''''''AM''''D''-M''''''''I''''''''''''''''3''''''''5''5X'''">
              <a:rPr lang="en-US" altLang="en-US" sz="1200" smtClean="0">
                <a:cs typeface="+mn-cs"/>
              </a:rPr>
              <a:pPr/>
              <a:t>AMD-MI355X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2" name="Text Placeholder 4">
            <a:extLst>
              <a:ext uri="{FF2B5EF4-FFF2-40B4-BE49-F238E27FC236}">
                <a16:creationId xmlns:a16="http://schemas.microsoft.com/office/drawing/2014/main" id="{5F465B63-F343-8F8D-DF94-A4E74C0D81C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8837613" y="3286125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A01359-1439-4648-A683-72B279A68492}" type="datetime'AMD-''''''M''I3''''5''''''''''''''''0''X'''''''''''''''''">
              <a:rPr lang="en-US" altLang="en-US" sz="1200" smtClean="0">
                <a:cs typeface="+mn-cs"/>
              </a:rPr>
              <a:pPr/>
              <a:t>AMD-MI350X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3" name="Text Placeholder 4">
            <a:extLst>
              <a:ext uri="{FF2B5EF4-FFF2-40B4-BE49-F238E27FC236}">
                <a16:creationId xmlns:a16="http://schemas.microsoft.com/office/drawing/2014/main" id="{35535685-F5BB-DCBC-EB44-F38C5B472CB6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6497638" y="458470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DE3590-D6D1-434B-B988-960D47C45346}" type="datetime'''''''''''''I''n''''t''el''''''-''Ga''''u''di3'''">
              <a:rPr lang="en-US" altLang="en-US" sz="1200" smtClean="0">
                <a:cs typeface="+mn-cs"/>
              </a:rPr>
              <a:pPr/>
              <a:t>Intel-Gaudi3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4" name="Text Placeholder 4">
            <a:extLst>
              <a:ext uri="{FF2B5EF4-FFF2-40B4-BE49-F238E27FC236}">
                <a16:creationId xmlns:a16="http://schemas.microsoft.com/office/drawing/2014/main" id="{2123150F-E7D7-2441-974E-669E757F4517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1865313" y="5121275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AC0DD1A-8534-4EBE-AB0F-7228FE072712}" type="datetime'''I''''nt''e''''''l''''-''G''''a''''''''''''''u''''''''d''i2'">
              <a:rPr lang="en-US" altLang="en-US" sz="1200" smtClean="0">
                <a:cs typeface="+mn-cs"/>
              </a:rPr>
              <a:pPr/>
              <a:t>Intel-Gaudi2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96" name="Text Placeholder 4">
            <a:extLst>
              <a:ext uri="{FF2B5EF4-FFF2-40B4-BE49-F238E27FC236}">
                <a16:creationId xmlns:a16="http://schemas.microsoft.com/office/drawing/2014/main" id="{780EE3A0-16BB-1165-434C-1AD61F92C97E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8837613" y="5049838"/>
            <a:ext cx="955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 dirty="0">
                <a:cs typeface="+mn-cs"/>
              </a:rPr>
              <a:t>Ascend 910C</a:t>
            </a:r>
            <a:endParaRPr lang="zh-CN" altLang="en-US" sz="1200" dirty="0">
              <a:cs typeface="+mn-cs"/>
            </a:endParaRPr>
          </a:p>
        </p:txBody>
      </p:sp>
      <p:sp>
        <p:nvSpPr>
          <p:cNvPr id="897" name="Text Placeholder 4">
            <a:extLst>
              <a:ext uri="{FF2B5EF4-FFF2-40B4-BE49-F238E27FC236}">
                <a16:creationId xmlns:a16="http://schemas.microsoft.com/office/drawing/2014/main" id="{449AC1F5-9358-17AF-2879-668579C26DCE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3044825" y="5251450"/>
            <a:ext cx="9477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cs typeface="+mn-cs"/>
              </a:rPr>
              <a:t>Ascend 910B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1865313" y="532130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2414588" y="6049963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3203575" y="6049963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0" name="椭圆 869">
            <a:extLst>
              <a:ext uri="{FF2B5EF4-FFF2-40B4-BE49-F238E27FC236}">
                <a16:creationId xmlns:a16="http://schemas.microsoft.com/office/drawing/2014/main" id="{405800EB-BD20-C600-40A5-8FA6BF6750EC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4408488" y="6049963"/>
            <a:ext cx="88900" cy="889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椭圆 904">
            <a:extLst>
              <a:ext uri="{FF2B5EF4-FFF2-40B4-BE49-F238E27FC236}">
                <a16:creationId xmlns:a16="http://schemas.microsoft.com/office/drawing/2014/main" id="{55C0D5DC-0681-9DAC-812B-469FE2B6311B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7302500" y="6049963"/>
            <a:ext cx="88900" cy="88900"/>
          </a:xfrm>
          <a:prstGeom prst="ellips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auto">
          <a:xfrm>
            <a:off x="2635250" y="599598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41"/>
            </p:custDataLst>
          </p:nvPr>
        </p:nvSpPr>
        <p:spPr bwMode="auto">
          <a:xfrm>
            <a:off x="3424238" y="5995988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4" name="Text Placeholder 4">
            <a:extLst>
              <a:ext uri="{FF2B5EF4-FFF2-40B4-BE49-F238E27FC236}">
                <a16:creationId xmlns:a16="http://schemas.microsoft.com/office/drawing/2014/main" id="{38F9F285-AD6F-772B-DDB8-4022EAA23921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4629150" y="5995988"/>
            <a:ext cx="2490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General-purpose </a:t>
            </a:r>
            <a:r>
              <a:rPr lang="en-US" altLang="zh-CN" sz="1400" dirty="0">
                <a:cs typeface="+mn-cs"/>
              </a:rPr>
              <a:t>c</a:t>
            </a:r>
            <a:r>
              <a:rPr lang="en-US" altLang="zh-CN" sz="1400" dirty="0">
                <a:effectLst/>
                <a:cs typeface="+mn-cs"/>
              </a:rPr>
              <a:t>ompute Card</a:t>
            </a:r>
            <a:endParaRPr lang="zh-CN" altLang="en-US" sz="1400" dirty="0">
              <a:cs typeface="+mn-cs"/>
            </a:endParaRPr>
          </a:p>
        </p:txBody>
      </p:sp>
      <p:sp>
        <p:nvSpPr>
          <p:cNvPr id="902" name="Text Placeholder 4">
            <a:extLst>
              <a:ext uri="{FF2B5EF4-FFF2-40B4-BE49-F238E27FC236}">
                <a16:creationId xmlns:a16="http://schemas.microsoft.com/office/drawing/2014/main" id="{48464A32-A818-AD2C-AB46-A951EF4A860B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7523163" y="5995988"/>
            <a:ext cx="592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Huawei</a:t>
            </a:r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354518" y="4644921"/>
            <a:ext cx="683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677256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7323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711199" y="995013"/>
            <a:ext cx="10751185" cy="99888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Weaker per-card performance, requiring optical interconnect &amp; CPO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Top‑end ASICs deliver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~40%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of same‑gen GPU throughput​ (similar to domestic scale-up logic);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Cloud ASICs could drive ​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; leaders (e.g., Google, Amazon) are reserving CPO interfaces.</a:t>
            </a:r>
            <a:endParaRPr lang="en-US" altLang="zh-CN" sz="1600" b="1" dirty="0">
              <a:solidFill>
                <a:srgbClr val="0052D9"/>
              </a:solidFill>
              <a:latin typeface="PingFang SC"/>
            </a:endParaRPr>
          </a:p>
        </p:txBody>
      </p:sp>
      <p:sp>
        <p:nvSpPr>
          <p:cNvPr id="970" name="椭圆 969">
            <a:extLst>
              <a:ext uri="{FF2B5EF4-FFF2-40B4-BE49-F238E27FC236}">
                <a16:creationId xmlns:a16="http://schemas.microsoft.com/office/drawing/2014/main" id="{5289E6A9-D493-F31A-9DE2-B6F2E426B6BC}"/>
              </a:ext>
            </a:extLst>
          </p:cNvPr>
          <p:cNvSpPr/>
          <p:nvPr/>
        </p:nvSpPr>
        <p:spPr>
          <a:xfrm rot="922616">
            <a:off x="8579227" y="4328133"/>
            <a:ext cx="2564839" cy="729053"/>
          </a:xfrm>
          <a:prstGeom prst="ellipse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3" name="文本框 972">
            <a:extLst>
              <a:ext uri="{FF2B5EF4-FFF2-40B4-BE49-F238E27FC236}">
                <a16:creationId xmlns:a16="http://schemas.microsoft.com/office/drawing/2014/main" id="{5149B298-0469-865F-021D-44604F556D39}"/>
              </a:ext>
            </a:extLst>
          </p:cNvPr>
          <p:cNvSpPr txBox="1"/>
          <p:nvPr/>
        </p:nvSpPr>
        <p:spPr>
          <a:xfrm>
            <a:off x="8973876" y="4575822"/>
            <a:ext cx="2938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52D9"/>
                </a:solidFill>
              </a:rPr>
              <a:t>Reserving CPO interfaces</a:t>
            </a:r>
            <a:endParaRPr lang="zh-CN" altLang="en-US" sz="1200" dirty="0">
              <a:solidFill>
                <a:srgbClr val="0052D9"/>
              </a:solidFill>
            </a:endParaRP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5981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4918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188495"/>
            <a:ext cx="282576" cy="1254125"/>
          </a:xfrm>
          <a:prstGeom prst="bentConnector3">
            <a:avLst>
              <a:gd name="adj1" fmla="val -144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97CF8EB8-9DD9-0B27-0644-C6D4390BFE0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26">
            <a:extLst>
              <a:ext uri="{FF2B5EF4-FFF2-40B4-BE49-F238E27FC236}">
                <a16:creationId xmlns:a16="http://schemas.microsoft.com/office/drawing/2014/main" id="{E0EB3148-9AAC-BF38-F9B6-D6EF520D2F7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BD3AF3F9-D97F-F4E1-9BA6-924E9D2D9A8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C70DEF0D-EC28-7FFF-229D-75A125431F3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6E8201B4-4475-B363-A2FE-D3DE7A7BD0D4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58801-4FA2-4032-F74F-234ED00B885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BB5FAF9D-123E-61C4-922D-3430EAC7911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C6A51B61-3FEF-AE22-144A-5610A294765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76D421E0-1AC7-EB32-4766-58302424A8A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 dual alignment with HPC ASIC &amp; network ecosystem trends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0467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89827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One of the very few global suppliers for automated </a:t>
            </a:r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/CPO module assembly &amp; test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Prospects: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Unmatched high-precision packaging capability, crucial for CPO era.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678657-096D-B78D-191E-F3A961E120A8}"/>
              </a:ext>
            </a:extLst>
          </p:cNvPr>
          <p:cNvSpPr txBox="1"/>
          <p:nvPr/>
        </p:nvSpPr>
        <p:spPr>
          <a:xfrm>
            <a:off x="1734893" y="266604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Acquired 100% by Chinese listed company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Robotechnik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for RMB 1.01bn.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B5CBD8-B142-509A-526A-B947849110E3}"/>
              </a:ext>
            </a:extLst>
          </p:cNvPr>
          <p:cNvSpPr txBox="1"/>
          <p:nvPr/>
        </p:nvSpPr>
        <p:spPr>
          <a:xfrm>
            <a:off x="1740424" y="4603028"/>
            <a:ext cx="2303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Seed-round investment. 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6D9C25-13C6-F2D7-5457-4E1AB9466572}"/>
              </a:ext>
            </a:extLst>
          </p:cNvPr>
          <p:cNvSpPr txBox="1"/>
          <p:nvPr/>
        </p:nvSpPr>
        <p:spPr>
          <a:xfrm>
            <a:off x="1734893" y="5118495"/>
            <a:ext cx="2173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Founded in Germany.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733F027-A8A6-A925-8AD6-9E76BA7DC9A4}"/>
              </a:ext>
            </a:extLst>
          </p:cNvPr>
          <p:cNvCxnSpPr>
            <a:cxnSpLocks/>
          </p:cNvCxnSpPr>
          <p:nvPr/>
        </p:nvCxnSpPr>
        <p:spPr>
          <a:xfrm flipV="1">
            <a:off x="1300497" y="2415935"/>
            <a:ext cx="0" cy="32741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B5D8CDE-AE66-371A-E90F-DA8720FF0DEE}"/>
              </a:ext>
            </a:extLst>
          </p:cNvPr>
          <p:cNvGrpSpPr/>
          <p:nvPr/>
        </p:nvGrpSpPr>
        <p:grpSpPr>
          <a:xfrm>
            <a:off x="485223" y="5132398"/>
            <a:ext cx="919575" cy="338554"/>
            <a:chOff x="1859669" y="5445325"/>
            <a:chExt cx="919575" cy="338554"/>
          </a:xfrm>
        </p:grpSpPr>
        <p:sp>
          <p:nvSpPr>
            <p:cNvPr id="19" name="iconfont-1018-792472">
              <a:extLst>
                <a:ext uri="{FF2B5EF4-FFF2-40B4-BE49-F238E27FC236}">
                  <a16:creationId xmlns:a16="http://schemas.microsoft.com/office/drawing/2014/main" id="{EA814B08-CD52-C99A-FC8F-44F9D9CF41C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13A64F3-F6F8-C5E7-1730-DC0120AEDA39}"/>
                </a:ext>
              </a:extLst>
            </p:cNvPr>
            <p:cNvSpPr txBox="1"/>
            <p:nvPr/>
          </p:nvSpPr>
          <p:spPr>
            <a:xfrm>
              <a:off x="1859669" y="5445325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2001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82009A-1C4D-7B9A-C8FC-7ED364E2601A}"/>
              </a:ext>
            </a:extLst>
          </p:cNvPr>
          <p:cNvGrpSpPr/>
          <p:nvPr/>
        </p:nvGrpSpPr>
        <p:grpSpPr>
          <a:xfrm>
            <a:off x="471097" y="4606886"/>
            <a:ext cx="940990" cy="338554"/>
            <a:chOff x="1838254" y="5428614"/>
            <a:chExt cx="940990" cy="338554"/>
          </a:xfrm>
        </p:grpSpPr>
        <p:sp>
          <p:nvSpPr>
            <p:cNvPr id="23" name="iconfont-1018-792472">
              <a:extLst>
                <a:ext uri="{FF2B5EF4-FFF2-40B4-BE49-F238E27FC236}">
                  <a16:creationId xmlns:a16="http://schemas.microsoft.com/office/drawing/2014/main" id="{519F1AE7-5299-0A4E-7D76-85AA281803A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BD83B27-AFD4-55EA-5D0E-5F07B18765DA}"/>
                </a:ext>
              </a:extLst>
            </p:cNvPr>
            <p:cNvSpPr txBox="1"/>
            <p:nvPr/>
          </p:nvSpPr>
          <p:spPr>
            <a:xfrm>
              <a:off x="1838254" y="5428614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2002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114B66-5026-3686-F582-3B3346627BEE}"/>
              </a:ext>
            </a:extLst>
          </p:cNvPr>
          <p:cNvGrpSpPr/>
          <p:nvPr/>
        </p:nvGrpSpPr>
        <p:grpSpPr>
          <a:xfrm>
            <a:off x="454252" y="2676978"/>
            <a:ext cx="950546" cy="338554"/>
            <a:chOff x="1828698" y="5427390"/>
            <a:chExt cx="950546" cy="338554"/>
          </a:xfrm>
        </p:grpSpPr>
        <p:sp>
          <p:nvSpPr>
            <p:cNvPr id="30" name="iconfont-1018-792472">
              <a:extLst>
                <a:ext uri="{FF2B5EF4-FFF2-40B4-BE49-F238E27FC236}">
                  <a16:creationId xmlns:a16="http://schemas.microsoft.com/office/drawing/2014/main" id="{0BEE1C87-1BCF-4B35-4846-2AF0E32B8080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95C5602-CF13-CA75-F2EB-4D1EF5788514}"/>
                </a:ext>
              </a:extLst>
            </p:cNvPr>
            <p:cNvSpPr txBox="1"/>
            <p:nvPr/>
          </p:nvSpPr>
          <p:spPr>
            <a:xfrm>
              <a:off x="1828698" y="5427390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2025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6206123" y="2534831"/>
            <a:ext cx="3611656" cy="2857559"/>
            <a:chOff x="1052162" y="3711406"/>
            <a:chExt cx="3611656" cy="2857559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052162" y="3711406"/>
              <a:ext cx="3154068" cy="2857559"/>
              <a:chOff x="923365" y="3573928"/>
              <a:chExt cx="3154068" cy="2857559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923365" y="4019930"/>
                <a:ext cx="2867096" cy="2411557"/>
                <a:chOff x="-606906" y="3683598"/>
                <a:chExt cx="4077225" cy="2411557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64896350"/>
                    </p:ext>
                  </p:extLst>
                </p:nvPr>
              </p:nvGraphicFramePr>
              <p:xfrm>
                <a:off x="-606906" y="3683598"/>
                <a:ext cx="4077225" cy="241155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309835" y="5072455"/>
                  <a:ext cx="23569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en-US" altLang="zh-CN" sz="14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cs typeface="+mn-ea"/>
                      <a:sym typeface="+mn-lt"/>
                    </a:rPr>
                    <a:t>Micro-assembly</a:t>
                  </a:r>
                  <a:endPara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077438" y="3573928"/>
                <a:ext cx="299999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Revenue </a:t>
                </a:r>
                <a:r>
                  <a:rPr lang="en-US" altLang="zh-CN" sz="1600" b="1" dirty="0">
                    <a:solidFill>
                      <a:srgbClr val="000000"/>
                    </a:solidFill>
                    <a:cs typeface="+mn-ea"/>
                    <a:sym typeface="+mn-lt"/>
                  </a:rPr>
                  <a:t>b</a:t>
                </a:r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reakdown (2023A)</a:t>
                </a:r>
                <a:endParaRPr lang="zh-CN" altLang="en-US" sz="16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726" y="4752126"/>
              <a:ext cx="21910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Test equipment, etc.</a:t>
              </a:r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10425530" y="2927153"/>
            <a:ext cx="14825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Test, clean, and repair all-in-one</a:t>
            </a: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04AA4F32-38A1-7B54-5FB8-4F12418B8799}"/>
              </a:ext>
            </a:extLst>
          </p:cNvPr>
          <p:cNvSpPr/>
          <p:nvPr/>
        </p:nvSpPr>
        <p:spPr>
          <a:xfrm>
            <a:off x="8811656" y="4592377"/>
            <a:ext cx="397658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8811656" y="3481940"/>
            <a:ext cx="395821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403" y="4212820"/>
            <a:ext cx="794640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8962379" y="5100438"/>
            <a:ext cx="2326067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ASSEMBLYLINE </a:t>
            </a: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449F9DE-04A3-C679-0A3E-51CD7E98111D}"/>
              </a:ext>
            </a:extLst>
          </p:cNvPr>
          <p:cNvSpPr txBox="1"/>
          <p:nvPr/>
        </p:nvSpPr>
        <p:spPr>
          <a:xfrm>
            <a:off x="10425530" y="4357980"/>
            <a:ext cx="1628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World-leading accuracy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311" y="3128181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9471785" y="2830346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Jun 25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01B3C-D376-430F-E4FD-DC804DBC7316}"/>
              </a:ext>
            </a:extLst>
          </p:cNvPr>
          <p:cNvSpPr txBox="1"/>
          <p:nvPr/>
        </p:nvSpPr>
        <p:spPr>
          <a:xfrm>
            <a:off x="9623093" y="398117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2021</a:t>
            </a:r>
            <a:endParaRPr lang="zh-CN" altLang="en-US" sz="1400" dirty="0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1DF4F54-ACF5-0EDD-30F4-D437EA0B87CE}"/>
              </a:ext>
            </a:extLst>
          </p:cNvPr>
          <p:cNvGrpSpPr/>
          <p:nvPr/>
        </p:nvGrpSpPr>
        <p:grpSpPr>
          <a:xfrm>
            <a:off x="537888" y="1682936"/>
            <a:ext cx="11708217" cy="503758"/>
            <a:chOff x="504186" y="971862"/>
            <a:chExt cx="11708217" cy="503758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3AB8744-1816-94B2-9C00-3E25E0082394}"/>
                </a:ext>
              </a:extLst>
            </p:cNvPr>
            <p:cNvSpPr txBox="1"/>
            <p:nvPr/>
          </p:nvSpPr>
          <p:spPr>
            <a:xfrm>
              <a:off x="6326494" y="971862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Business: </a:t>
              </a:r>
              <a:r>
                <a:rPr kumimoji="1"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Dominator of micro-assembly &amp; automated testing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endPara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EF28D85-5C03-3A81-8A26-60B62060D3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6" name="直线连接符 38">
              <a:extLst>
                <a:ext uri="{FF2B5EF4-FFF2-40B4-BE49-F238E27FC236}">
                  <a16:creationId xmlns:a16="http://schemas.microsoft.com/office/drawing/2014/main" id="{4D397C5B-EA4A-5BFE-EB62-89221C1A0084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6602519-8481-C94D-D0B4-6052293840F3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600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Roadmap: </a:t>
              </a:r>
              <a:r>
                <a: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Filling a key domestic technology gap</a:t>
              </a:r>
            </a:p>
          </p:txBody>
        </p:sp>
        <p:cxnSp>
          <p:nvCxnSpPr>
            <p:cNvPr id="28" name="直线连接符 38">
              <a:extLst>
                <a:ext uri="{FF2B5EF4-FFF2-40B4-BE49-F238E27FC236}">
                  <a16:creationId xmlns:a16="http://schemas.microsoft.com/office/drawing/2014/main" id="{B951D61A-748E-0E3C-606E-1CA19A2F1843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D82071D-970F-F3A0-535E-4D40EB488751}"/>
              </a:ext>
            </a:extLst>
          </p:cNvPr>
          <p:cNvGrpSpPr/>
          <p:nvPr/>
        </p:nvGrpSpPr>
        <p:grpSpPr>
          <a:xfrm>
            <a:off x="454252" y="3458453"/>
            <a:ext cx="950546" cy="338554"/>
            <a:chOff x="1828698" y="5414143"/>
            <a:chExt cx="950546" cy="338554"/>
          </a:xfrm>
        </p:grpSpPr>
        <p:sp>
          <p:nvSpPr>
            <p:cNvPr id="36" name="iconfont-1018-792472">
              <a:extLst>
                <a:ext uri="{FF2B5EF4-FFF2-40B4-BE49-F238E27FC236}">
                  <a16:creationId xmlns:a16="http://schemas.microsoft.com/office/drawing/2014/main" id="{A29B70AE-BBE0-A010-0467-D6E6F1E94D0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F6B58DA-1FA7-AA67-9630-823153F52A6F}"/>
                </a:ext>
              </a:extLst>
            </p:cNvPr>
            <p:cNvSpPr txBox="1"/>
            <p:nvPr/>
          </p:nvSpPr>
          <p:spPr>
            <a:xfrm>
              <a:off x="1828698" y="5414143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2023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09DC35FD-6D45-2F67-D36A-7887702F5A9A}"/>
              </a:ext>
            </a:extLst>
          </p:cNvPr>
          <p:cNvSpPr txBox="1"/>
          <p:nvPr/>
        </p:nvSpPr>
        <p:spPr>
          <a:xfrm>
            <a:off x="1734893" y="346987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Robotechnik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announced a plan to acquire 100% of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ficonTEC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2E45891-AA0F-BA61-F047-6C6D5F7934D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2795D3AF-2042-A615-A258-20E0D507117A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F8EB073C-081D-E4DD-EFCC-9E214038FBBD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AD7D300E-353E-067A-ECB1-741CD4B583D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DDBA0293-7660-2864-A578-2B3832EC45F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52DA96AF-1ADF-31BF-F9D4-032C97D405E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5D686DC7-DDFA-FD66-9B07-A0DB7CEACD86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9F037490-EE62-1C84-56F6-1EB97EAE98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866665E4-B220-67E3-02CA-0673B9C7401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826F6B-CBFE-BD60-2C66-CEDFFE4790D5}"/>
              </a:ext>
            </a:extLst>
          </p:cNvPr>
          <p:cNvSpPr/>
          <p:nvPr/>
        </p:nvSpPr>
        <p:spPr>
          <a:xfrm>
            <a:off x="10219601" y="101240"/>
            <a:ext cx="1894449" cy="7280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两页并一页</a:t>
            </a: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1BDC-57D5-6296-4A18-0996B96F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C8D7193-CA48-7240-D427-8FCDD66A11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30357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8D7193-CA48-7240-D427-8FCDD66A11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6F37090B-D7E1-AF07-55F2-1DA4E6CD4DCF}"/>
              </a:ext>
            </a:extLst>
          </p:cNvPr>
          <p:cNvSpPr txBox="1"/>
          <p:nvPr/>
        </p:nvSpPr>
        <p:spPr>
          <a:xfrm>
            <a:off x="9285449" y="2145617"/>
            <a:ext cx="1499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Capacity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94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Output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80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Sales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96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E2C905-5861-8AD9-CEC2-355C7FDD9A34}"/>
              </a:ext>
            </a:extLst>
          </p:cNvPr>
          <p:cNvSpPr txBox="1"/>
          <p:nvPr/>
        </p:nvSpPr>
        <p:spPr>
          <a:xfrm>
            <a:off x="291221" y="6368845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4F127C78-D2E0-A10F-C230-9B118FD0FF04}"/>
              </a:ext>
            </a:extLst>
          </p:cNvPr>
          <p:cNvGrpSpPr/>
          <p:nvPr/>
        </p:nvGrpSpPr>
        <p:grpSpPr>
          <a:xfrm>
            <a:off x="7542699" y="2154534"/>
            <a:ext cx="1583563" cy="720830"/>
            <a:chOff x="7148096" y="4207316"/>
            <a:chExt cx="1583563" cy="720830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602BAC1A-9EC2-0265-9B30-BCB751A79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7255" y="4207316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6E6131D-A6D6-E87E-1155-83A8BF50D08F}"/>
                </a:ext>
              </a:extLst>
            </p:cNvPr>
            <p:cNvSpPr txBox="1"/>
            <p:nvPr/>
          </p:nvSpPr>
          <p:spPr>
            <a:xfrm>
              <a:off x="7148096" y="4651147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Global delivery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1AC81B6-FCF6-669F-7A0C-F4DBF47FA9BE}"/>
                </a:ext>
              </a:extLst>
            </p:cNvPr>
            <p:cNvSpPr txBox="1"/>
            <p:nvPr/>
          </p:nvSpPr>
          <p:spPr>
            <a:xfrm>
              <a:off x="7855359" y="4210827"/>
              <a:ext cx="8763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700+</a:t>
              </a: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units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EC933776-19D1-AC36-B2BB-DFFC91331E5F}"/>
              </a:ext>
            </a:extLst>
          </p:cNvPr>
          <p:cNvGrpSpPr/>
          <p:nvPr/>
        </p:nvGrpSpPr>
        <p:grpSpPr>
          <a:xfrm>
            <a:off x="6114468" y="2136298"/>
            <a:ext cx="2151113" cy="757302"/>
            <a:chOff x="9187616" y="4153814"/>
            <a:chExt cx="2151113" cy="757302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9CF8E86B-5543-D8FC-A9C0-7525DEE8E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9819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FBCB6DF-5221-467C-4631-74E4DD0DCFB1}"/>
                </a:ext>
              </a:extLst>
            </p:cNvPr>
            <p:cNvSpPr txBox="1"/>
            <p:nvPr/>
          </p:nvSpPr>
          <p:spPr>
            <a:xfrm>
              <a:off x="9187616" y="4634117"/>
              <a:ext cx="1006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ASP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BECAF00-E053-D171-4AB9-594A36566AEA}"/>
                </a:ext>
              </a:extLst>
            </p:cNvPr>
            <p:cNvSpPr txBox="1"/>
            <p:nvPr/>
          </p:nvSpPr>
          <p:spPr>
            <a:xfrm>
              <a:off x="9909049" y="4258449"/>
              <a:ext cx="14296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i="0" u="none" strike="noStrike" cap="none" normalizeH="0" baseline="0" dirty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cs typeface="+mn-ea"/>
                  <a:sym typeface="+mn-lt"/>
                </a:rPr>
                <a:t>RMB</a:t>
              </a:r>
            </a:p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2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.</a:t>
              </a:r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35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 </a:t>
              </a:r>
              <a:r>
                <a:rPr kumimoji="0" lang="en-US" altLang="zh-CN" sz="1400" b="1" i="0" u="none" strike="noStrike" cap="none" normalizeH="0" baseline="0" dirty="0" err="1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mn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4D798BC0-1F92-C066-E77E-C936AEE30E67}"/>
              </a:ext>
            </a:extLst>
          </p:cNvPr>
          <p:cNvSpPr txBox="1"/>
          <p:nvPr/>
        </p:nvSpPr>
        <p:spPr>
          <a:xfrm>
            <a:off x="10474526" y="4696258"/>
            <a:ext cx="2015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Tech Group AS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Standard hardware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3867685-FC17-6A49-69E6-DAF24016AD84}"/>
              </a:ext>
            </a:extLst>
          </p:cNvPr>
          <p:cNvSpPr txBox="1"/>
          <p:nvPr/>
        </p:nvSpPr>
        <p:spPr>
          <a:xfrm>
            <a:off x="6331208" y="148093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Delivery: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L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ow-volume, high-price,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heavy on delivery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. 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8310F639-3DED-4B57-A020-7BEC0B37D869}"/>
              </a:ext>
            </a:extLst>
          </p:cNvPr>
          <p:cNvSpPr txBox="1"/>
          <p:nvPr/>
        </p:nvSpPr>
        <p:spPr>
          <a:xfrm>
            <a:off x="585334" y="1480930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 margin: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exceeds the industry average for assembly and test (~30%);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Losses: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Continue to narrow.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6D16714-C616-B238-C78A-F7EF6A9E7034}"/>
              </a:ext>
            </a:extLst>
          </p:cNvPr>
          <p:cNvGrpSpPr/>
          <p:nvPr/>
        </p:nvGrpSpPr>
        <p:grpSpPr>
          <a:xfrm>
            <a:off x="10705053" y="2152179"/>
            <a:ext cx="1334236" cy="725541"/>
            <a:chOff x="10926477" y="4990752"/>
            <a:chExt cx="1334236" cy="725541"/>
          </a:xfrm>
        </p:grpSpPr>
        <p:sp>
          <p:nvSpPr>
            <p:cNvPr id="96" name="recycling_95966">
              <a:extLst>
                <a:ext uri="{FF2B5EF4-FFF2-40B4-BE49-F238E27FC236}">
                  <a16:creationId xmlns:a16="http://schemas.microsoft.com/office/drawing/2014/main" id="{73936BFA-5739-FC18-7794-74A63461B452}"/>
                </a:ext>
              </a:extLst>
            </p:cNvPr>
            <p:cNvSpPr/>
            <p:nvPr/>
          </p:nvSpPr>
          <p:spPr>
            <a:xfrm>
              <a:off x="11025775" y="4990752"/>
              <a:ext cx="341259" cy="307177"/>
            </a:xfrm>
            <a:custGeom>
              <a:avLst/>
              <a:gdLst>
                <a:gd name="connsiteX0" fmla="*/ 138150 w 606227"/>
                <a:gd name="connsiteY0" fmla="*/ 242463 h 545683"/>
                <a:gd name="connsiteX1" fmla="*/ 170297 w 606227"/>
                <a:gd name="connsiteY1" fmla="*/ 378135 h 545683"/>
                <a:gd name="connsiteX2" fmla="*/ 132533 w 606227"/>
                <a:gd name="connsiteY2" fmla="*/ 355702 h 545683"/>
                <a:gd name="connsiteX3" fmla="*/ 107556 w 606227"/>
                <a:gd name="connsiteY3" fmla="*/ 399256 h 545683"/>
                <a:gd name="connsiteX4" fmla="*/ 265185 w 606227"/>
                <a:gd name="connsiteY4" fmla="*/ 400568 h 545683"/>
                <a:gd name="connsiteX5" fmla="*/ 264348 w 606227"/>
                <a:gd name="connsiteY5" fmla="*/ 510824 h 545683"/>
                <a:gd name="connsiteX6" fmla="*/ 90705 w 606227"/>
                <a:gd name="connsiteY6" fmla="*/ 509631 h 545683"/>
                <a:gd name="connsiteX7" fmla="*/ 72899 w 606227"/>
                <a:gd name="connsiteY7" fmla="*/ 480396 h 545683"/>
                <a:gd name="connsiteX8" fmla="*/ 5258 w 606227"/>
                <a:gd name="connsiteY8" fmla="*/ 362265 h 545683"/>
                <a:gd name="connsiteX9" fmla="*/ 39676 w 606227"/>
                <a:gd name="connsiteY9" fmla="*/ 299858 h 545683"/>
                <a:gd name="connsiteX10" fmla="*/ 0 w 606227"/>
                <a:gd name="connsiteY10" fmla="*/ 275993 h 545683"/>
                <a:gd name="connsiteX11" fmla="*/ 522226 w 606227"/>
                <a:gd name="connsiteY11" fmla="*/ 201253 h 545683"/>
                <a:gd name="connsiteX12" fmla="*/ 606227 w 606227"/>
                <a:gd name="connsiteY12" fmla="*/ 352105 h 545683"/>
                <a:gd name="connsiteX13" fmla="*/ 587706 w 606227"/>
                <a:gd name="connsiteY13" fmla="*/ 383374 h 545683"/>
                <a:gd name="connsiteX14" fmla="*/ 516849 w 606227"/>
                <a:gd name="connsiteY14" fmla="*/ 499496 h 545683"/>
                <a:gd name="connsiteX15" fmla="*/ 445515 w 606227"/>
                <a:gd name="connsiteY15" fmla="*/ 499496 h 545683"/>
                <a:gd name="connsiteX16" fmla="*/ 443603 w 606227"/>
                <a:gd name="connsiteY16" fmla="*/ 545683 h 545683"/>
                <a:gd name="connsiteX17" fmla="*/ 347534 w 606227"/>
                <a:gd name="connsiteY17" fmla="*/ 441137 h 545683"/>
                <a:gd name="connsiteX18" fmla="*/ 451131 w 606227"/>
                <a:gd name="connsiteY18" fmla="*/ 347451 h 545683"/>
                <a:gd name="connsiteX19" fmla="*/ 449697 w 606227"/>
                <a:gd name="connsiteY19" fmla="*/ 391370 h 545683"/>
                <a:gd name="connsiteX20" fmla="*/ 499882 w 606227"/>
                <a:gd name="connsiteY20" fmla="*/ 392205 h 545683"/>
                <a:gd name="connsiteX21" fmla="*/ 424963 w 606227"/>
                <a:gd name="connsiteY21" fmla="*/ 253646 h 545683"/>
                <a:gd name="connsiteX22" fmla="*/ 224895 w 606227"/>
                <a:gd name="connsiteY22" fmla="*/ 0 h 545683"/>
                <a:gd name="connsiteX23" fmla="*/ 393884 w 606227"/>
                <a:gd name="connsiteY23" fmla="*/ 119 h 545683"/>
                <a:gd name="connsiteX24" fmla="*/ 430933 w 606227"/>
                <a:gd name="connsiteY24" fmla="*/ 60975 h 545683"/>
                <a:gd name="connsiteX25" fmla="*/ 471447 w 606227"/>
                <a:gd name="connsiteY25" fmla="*/ 38422 h 545683"/>
                <a:gd name="connsiteX26" fmla="*/ 432008 w 606227"/>
                <a:gd name="connsiteY26" fmla="*/ 174810 h 545683"/>
                <a:gd name="connsiteX27" fmla="*/ 298036 w 606227"/>
                <a:gd name="connsiteY27" fmla="*/ 135194 h 545683"/>
                <a:gd name="connsiteX28" fmla="*/ 336399 w 606227"/>
                <a:gd name="connsiteY28" fmla="*/ 113597 h 545683"/>
                <a:gd name="connsiteX29" fmla="*/ 310943 w 606227"/>
                <a:gd name="connsiteY29" fmla="*/ 70401 h 545683"/>
                <a:gd name="connsiteX30" fmla="*/ 231468 w 606227"/>
                <a:gd name="connsiteY30" fmla="*/ 206192 h 545683"/>
                <a:gd name="connsiteX31" fmla="*/ 135979 w 606227"/>
                <a:gd name="connsiteY31" fmla="*/ 150587 h 545683"/>
                <a:gd name="connsiteX32" fmla="*/ 211032 w 606227"/>
                <a:gd name="connsiteY32" fmla="*/ 22194 h 545683"/>
                <a:gd name="connsiteX33" fmla="*/ 224178 w 606227"/>
                <a:gd name="connsiteY33" fmla="*/ 1074 h 54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27" h="545683">
                  <a:moveTo>
                    <a:pt x="138150" y="242463"/>
                  </a:moveTo>
                  <a:lnTo>
                    <a:pt x="170297" y="378135"/>
                  </a:lnTo>
                  <a:lnTo>
                    <a:pt x="132533" y="355702"/>
                  </a:lnTo>
                  <a:lnTo>
                    <a:pt x="107556" y="399256"/>
                  </a:lnTo>
                  <a:lnTo>
                    <a:pt x="265185" y="400568"/>
                  </a:lnTo>
                  <a:lnTo>
                    <a:pt x="264348" y="510824"/>
                  </a:lnTo>
                  <a:lnTo>
                    <a:pt x="90705" y="509631"/>
                  </a:lnTo>
                  <a:lnTo>
                    <a:pt x="72899" y="480396"/>
                  </a:lnTo>
                  <a:lnTo>
                    <a:pt x="5258" y="362265"/>
                  </a:lnTo>
                  <a:lnTo>
                    <a:pt x="39676" y="299858"/>
                  </a:lnTo>
                  <a:lnTo>
                    <a:pt x="0" y="275993"/>
                  </a:lnTo>
                  <a:close/>
                  <a:moveTo>
                    <a:pt x="522226" y="201253"/>
                  </a:moveTo>
                  <a:lnTo>
                    <a:pt x="606227" y="352105"/>
                  </a:lnTo>
                  <a:lnTo>
                    <a:pt x="587706" y="383374"/>
                  </a:lnTo>
                  <a:lnTo>
                    <a:pt x="516849" y="499496"/>
                  </a:lnTo>
                  <a:lnTo>
                    <a:pt x="445515" y="499496"/>
                  </a:lnTo>
                  <a:lnTo>
                    <a:pt x="443603" y="545683"/>
                  </a:lnTo>
                  <a:lnTo>
                    <a:pt x="347534" y="441137"/>
                  </a:lnTo>
                  <a:lnTo>
                    <a:pt x="451131" y="347451"/>
                  </a:lnTo>
                  <a:lnTo>
                    <a:pt x="449697" y="391370"/>
                  </a:lnTo>
                  <a:lnTo>
                    <a:pt x="499882" y="392205"/>
                  </a:lnTo>
                  <a:lnTo>
                    <a:pt x="424963" y="253646"/>
                  </a:lnTo>
                  <a:close/>
                  <a:moveTo>
                    <a:pt x="224895" y="0"/>
                  </a:moveTo>
                  <a:lnTo>
                    <a:pt x="393884" y="119"/>
                  </a:lnTo>
                  <a:lnTo>
                    <a:pt x="430933" y="60975"/>
                  </a:lnTo>
                  <a:lnTo>
                    <a:pt x="471447" y="38422"/>
                  </a:lnTo>
                  <a:lnTo>
                    <a:pt x="432008" y="174810"/>
                  </a:lnTo>
                  <a:lnTo>
                    <a:pt x="298036" y="135194"/>
                  </a:lnTo>
                  <a:lnTo>
                    <a:pt x="336399" y="113597"/>
                  </a:lnTo>
                  <a:lnTo>
                    <a:pt x="310943" y="70401"/>
                  </a:lnTo>
                  <a:lnTo>
                    <a:pt x="231468" y="206192"/>
                  </a:lnTo>
                  <a:lnTo>
                    <a:pt x="135979" y="150587"/>
                  </a:lnTo>
                  <a:lnTo>
                    <a:pt x="211032" y="22194"/>
                  </a:lnTo>
                  <a:cubicBezTo>
                    <a:pt x="218322" y="9785"/>
                    <a:pt x="224178" y="1074"/>
                    <a:pt x="224178" y="1074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9E9CC53B-7005-CE44-88F3-B1926D6E0590}"/>
                </a:ext>
              </a:extLst>
            </p:cNvPr>
            <p:cNvSpPr txBox="1"/>
            <p:nvPr/>
          </p:nvSpPr>
          <p:spPr>
            <a:xfrm>
              <a:off x="10926477" y="5254628"/>
              <a:ext cx="12817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Capacity utilization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r</a:t>
              </a: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ate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934908C-038A-74F4-2541-255F5FC481F2}"/>
                </a:ext>
              </a:extLst>
            </p:cNvPr>
            <p:cNvSpPr txBox="1"/>
            <p:nvPr/>
          </p:nvSpPr>
          <p:spPr>
            <a:xfrm>
              <a:off x="11384413" y="4990752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85%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101" name="流程图: 摘录 100">
            <a:extLst>
              <a:ext uri="{FF2B5EF4-FFF2-40B4-BE49-F238E27FC236}">
                <a16:creationId xmlns:a16="http://schemas.microsoft.com/office/drawing/2014/main" id="{F9435C5D-EA39-E35F-D9C6-FA0B709B2A29}"/>
              </a:ext>
            </a:extLst>
          </p:cNvPr>
          <p:cNvSpPr/>
          <p:nvPr/>
        </p:nvSpPr>
        <p:spPr>
          <a:xfrm rot="16200000">
            <a:off x="8827761" y="2444155"/>
            <a:ext cx="508635" cy="141589"/>
          </a:xfrm>
          <a:prstGeom prst="flowChartExtra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6870F55-1F02-5005-570F-6715AF3C7B87}"/>
              </a:ext>
            </a:extLst>
          </p:cNvPr>
          <p:cNvSpPr txBox="1"/>
          <p:nvPr/>
        </p:nvSpPr>
        <p:spPr>
          <a:xfrm>
            <a:off x="6333459" y="3535345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Customers &amp; suppliers: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Concentrated.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BDA9797-E868-ABEC-0EB4-EE0ED70DF04C}"/>
              </a:ext>
            </a:extLst>
          </p:cNvPr>
          <p:cNvSpPr txBox="1"/>
          <p:nvPr/>
        </p:nvSpPr>
        <p:spPr>
          <a:xfrm>
            <a:off x="476136" y="2586724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cs typeface="+mn-ea"/>
                <a:sym typeface="+mn-lt"/>
              </a:rPr>
              <a:t>$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0.1 b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cs typeface="+mn-ea"/>
                <a:sym typeface="+mn-lt"/>
              </a:rPr>
              <a:t>n</a:t>
            </a:r>
            <a:endParaRPr lang="zh-CN" altLang="en-US" sz="1600" dirty="0">
              <a:solidFill>
                <a:schemeClr val="tx2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708A5BC3-0638-EAA0-1424-BC1B68D19B74}"/>
              </a:ext>
            </a:extLst>
          </p:cNvPr>
          <p:cNvGrpSpPr/>
          <p:nvPr/>
        </p:nvGrpSpPr>
        <p:grpSpPr>
          <a:xfrm>
            <a:off x="5866516" y="4177718"/>
            <a:ext cx="2508785" cy="1575336"/>
            <a:chOff x="5814358" y="4940035"/>
            <a:chExt cx="2508785" cy="1575336"/>
          </a:xfrm>
        </p:grpSpPr>
        <p:graphicFrame>
          <p:nvGraphicFramePr>
            <p:cNvPr id="111" name="图表 110">
              <a:extLst>
                <a:ext uri="{FF2B5EF4-FFF2-40B4-BE49-F238E27FC236}">
                  <a16:creationId xmlns:a16="http://schemas.microsoft.com/office/drawing/2014/main" id="{6BF004F2-0E6F-F1E8-65F5-04D15B03587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814358" y="4940035"/>
            <a:ext cx="2326067" cy="15753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29D20555-710A-CF3E-59D4-812649C1AE5B}"/>
                </a:ext>
              </a:extLst>
            </p:cNvPr>
            <p:cNvSpPr txBox="1"/>
            <p:nvPr/>
          </p:nvSpPr>
          <p:spPr>
            <a:xfrm>
              <a:off x="6977391" y="5297086"/>
              <a:ext cx="1345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CR5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0016804-8EE1-ABC8-B867-EC011A597B58}"/>
              </a:ext>
            </a:extLst>
          </p:cNvPr>
          <p:cNvSpPr txBox="1"/>
          <p:nvPr/>
        </p:nvSpPr>
        <p:spPr>
          <a:xfrm>
            <a:off x="6837459" y="4028565"/>
            <a:ext cx="257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Customer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4144C124-CE35-BD02-AB92-FC9C9826E8E0}"/>
              </a:ext>
            </a:extLst>
          </p:cNvPr>
          <p:cNvSpPr/>
          <p:nvPr/>
        </p:nvSpPr>
        <p:spPr>
          <a:xfrm>
            <a:off x="7674593" y="4568641"/>
            <a:ext cx="244731" cy="790243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27" name="图像" descr="图像">
            <a:extLst>
              <a:ext uri="{FF2B5EF4-FFF2-40B4-BE49-F238E27FC236}">
                <a16:creationId xmlns:a16="http://schemas.microsoft.com/office/drawing/2014/main" id="{566B7F98-4CED-CABC-C1B9-9F1062B19E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8391" y="4847900"/>
            <a:ext cx="328497" cy="158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图像" descr="图像">
            <a:extLst>
              <a:ext uri="{FF2B5EF4-FFF2-40B4-BE49-F238E27FC236}">
                <a16:creationId xmlns:a16="http://schemas.microsoft.com/office/drawing/2014/main" id="{EFB0FB51-0DA1-CA79-0ED8-F899D5B510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98544" y="4824981"/>
            <a:ext cx="349749" cy="188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9B7808E-4484-BAC0-4A60-112C17C59B1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88033" y="4426818"/>
            <a:ext cx="424641" cy="150013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CAFC942D-DC8A-0DD7-D16B-BFB93A02EF1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90404" y="4433868"/>
            <a:ext cx="283204" cy="181777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DECCF4AE-B034-A500-F180-28A4E8F53CA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8615" y="5167183"/>
            <a:ext cx="246629" cy="295634"/>
          </a:xfrm>
          <a:prstGeom prst="rect">
            <a:avLst/>
          </a:prstGeom>
        </p:spPr>
      </p:pic>
      <p:graphicFrame>
        <p:nvGraphicFramePr>
          <p:cNvPr id="142" name="图表 141">
            <a:extLst>
              <a:ext uri="{FF2B5EF4-FFF2-40B4-BE49-F238E27FC236}">
                <a16:creationId xmlns:a16="http://schemas.microsoft.com/office/drawing/2014/main" id="{0084530E-F3E9-6239-321E-68D35470C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6824754"/>
              </p:ext>
            </p:extLst>
          </p:nvPr>
        </p:nvGraphicFramePr>
        <p:xfrm>
          <a:off x="8546152" y="4167255"/>
          <a:ext cx="2645530" cy="158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43" name="文本框 142">
            <a:extLst>
              <a:ext uri="{FF2B5EF4-FFF2-40B4-BE49-F238E27FC236}">
                <a16:creationId xmlns:a16="http://schemas.microsoft.com/office/drawing/2014/main" id="{20018B50-AA6C-C5C9-C003-D4702FBD28D7}"/>
              </a:ext>
            </a:extLst>
          </p:cNvPr>
          <p:cNvSpPr txBox="1"/>
          <p:nvPr/>
        </p:nvSpPr>
        <p:spPr>
          <a:xfrm>
            <a:off x="9563295" y="4028565"/>
            <a:ext cx="2283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Supplier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A0DCBE-D7FF-90D0-EC0F-3A009988E477}"/>
              </a:ext>
            </a:extLst>
          </p:cNvPr>
          <p:cNvSpPr txBox="1"/>
          <p:nvPr/>
        </p:nvSpPr>
        <p:spPr>
          <a:xfrm>
            <a:off x="6304016" y="906638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Upstream &amp; downstream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F8A0BE-A2CA-6D42-0FFD-9053CE30A86B}"/>
              </a:ext>
            </a:extLst>
          </p:cNvPr>
          <p:cNvSpPr txBox="1"/>
          <p:nvPr/>
        </p:nvSpPr>
        <p:spPr>
          <a:xfrm>
            <a:off x="6149943" y="1108771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9" name="直线连接符 38">
            <a:extLst>
              <a:ext uri="{FF2B5EF4-FFF2-40B4-BE49-F238E27FC236}">
                <a16:creationId xmlns:a16="http://schemas.microsoft.com/office/drawing/2014/main" id="{AD4B2ECD-EC7F-9344-722A-39484F0E9966}"/>
              </a:ext>
            </a:extLst>
          </p:cNvPr>
          <p:cNvCxnSpPr>
            <a:cxnSpLocks/>
          </p:cNvCxnSpPr>
          <p:nvPr/>
        </p:nvCxnSpPr>
        <p:spPr>
          <a:xfrm>
            <a:off x="6304016" y="1242065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B6577D0-0D94-E457-0325-8CF6EA0DCB14}"/>
              </a:ext>
            </a:extLst>
          </p:cNvPr>
          <p:cNvSpPr txBox="1"/>
          <p:nvPr/>
        </p:nvSpPr>
        <p:spPr>
          <a:xfrm>
            <a:off x="481708" y="906638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Profitability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12" name="直线连接符 38">
            <a:extLst>
              <a:ext uri="{FF2B5EF4-FFF2-40B4-BE49-F238E27FC236}">
                <a16:creationId xmlns:a16="http://schemas.microsoft.com/office/drawing/2014/main" id="{2506657E-C86D-DD1E-1BD0-D88F4099D28D}"/>
              </a:ext>
            </a:extLst>
          </p:cNvPr>
          <p:cNvCxnSpPr>
            <a:cxnSpLocks/>
          </p:cNvCxnSpPr>
          <p:nvPr/>
        </p:nvCxnSpPr>
        <p:spPr>
          <a:xfrm>
            <a:off x="481708" y="1251400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EDC682C-4840-7EDD-E708-9098B702124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C3745814-81A1-AFBF-DF48-D20DFA266F0C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7E1AE28-C6C4-7017-65EE-5B0F38BB7F1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81574F7C-0AB5-CD3A-9C76-6EFC04F01D9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FBB70297-A980-4C1B-C1AB-FBCFE784F1DD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01EC9057-E6A6-8C1A-8BBB-F5B175BA538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C7A365A2-76A3-CC5A-1D7A-5AF1A63532F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4C88A52D-3F64-C211-CC97-D6291991DD9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0FBF159E-7CDA-A259-C621-7E793CFA2BF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cs typeface="+mn-ea"/>
              <a:sym typeface="+mn-lt"/>
            </a:endParaRPr>
          </a:p>
        </p:txBody>
      </p:sp>
      <p:graphicFrame>
        <p:nvGraphicFramePr>
          <p:cNvPr id="21" name="图表 20">
            <a:extLst>
              <a:ext uri="{FF2B5EF4-FFF2-40B4-BE49-F238E27FC236}">
                <a16:creationId xmlns:a16="http://schemas.microsoft.com/office/drawing/2014/main" id="{7BDE8422-A032-BADE-C38B-4A7C505B9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2145651"/>
              </p:ext>
            </p:extLst>
          </p:nvPr>
        </p:nvGraphicFramePr>
        <p:xfrm>
          <a:off x="499971" y="2964742"/>
          <a:ext cx="5329171" cy="2986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E24DFD12-6E4F-94B0-18E6-4E460C1DA68A}"/>
              </a:ext>
            </a:extLst>
          </p:cNvPr>
          <p:cNvSpPr/>
          <p:nvPr/>
        </p:nvSpPr>
        <p:spPr>
          <a:xfrm>
            <a:off x="9925493" y="101240"/>
            <a:ext cx="2188557" cy="7280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两页并一页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看有没有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24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年的数</a:t>
            </a:r>
          </a:p>
        </p:txBody>
      </p:sp>
    </p:spTree>
    <p:extLst>
      <p:ext uri="{BB962C8B-B14F-4D97-AF65-F5344CB8AC3E}">
        <p14:creationId xmlns:p14="http://schemas.microsoft.com/office/powerpoint/2010/main" val="3974647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CB96-BE57-1503-2FD9-603BFDB9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1006903C-DEA3-BB6F-5D03-FF8B34EF3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06903C-DEA3-BB6F-5D03-FF8B34EF3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2C96E1A-F1DA-0FE6-D668-409B24160D86}"/>
              </a:ext>
            </a:extLst>
          </p:cNvPr>
          <p:cNvSpPr txBox="1"/>
          <p:nvPr/>
        </p:nvSpPr>
        <p:spPr>
          <a:xfrm>
            <a:off x="158751" y="1486366"/>
            <a:ext cx="1239838" cy="1125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98E9E9-F222-6EC2-D500-F4FDEA6D1152}"/>
              </a:ext>
            </a:extLst>
          </p:cNvPr>
          <p:cNvSpPr txBox="1"/>
          <p:nvPr/>
        </p:nvSpPr>
        <p:spPr>
          <a:xfrm>
            <a:off x="158751" y="3824770"/>
            <a:ext cx="1239838" cy="9604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DB348E-3544-E762-A941-FB9C6387F7AB}"/>
              </a:ext>
            </a:extLst>
          </p:cNvPr>
          <p:cNvSpPr txBox="1"/>
          <p:nvPr/>
        </p:nvSpPr>
        <p:spPr>
          <a:xfrm>
            <a:off x="158751" y="4875698"/>
            <a:ext cx="1239838" cy="14943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75CCDDAC-1A77-0038-814A-258E1A412810}"/>
              </a:ext>
            </a:extLst>
          </p:cNvPr>
          <p:cNvCxnSpPr>
            <a:cxnSpLocks/>
          </p:cNvCxnSpPr>
          <p:nvPr/>
        </p:nvCxnSpPr>
        <p:spPr>
          <a:xfrm>
            <a:off x="1636713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F5DB464-4368-B2A7-5F21-74F11D6F402D}"/>
              </a:ext>
            </a:extLst>
          </p:cNvPr>
          <p:cNvSpPr txBox="1"/>
          <p:nvPr/>
        </p:nvSpPr>
        <p:spPr>
          <a:xfrm>
            <a:off x="1644650" y="5362143"/>
            <a:ext cx="3057525" cy="7012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Dec 24: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DDDD8F-872A-C279-3780-A3E58A04E1A7}"/>
              </a:ext>
            </a:extLst>
          </p:cNvPr>
          <p:cNvSpPr txBox="1"/>
          <p:nvPr/>
        </p:nvSpPr>
        <p:spPr>
          <a:xfrm>
            <a:off x="1636713" y="1486366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I/O (OIO)</a:t>
            </a:r>
            <a:r>
              <a:rPr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30781B-680E-9A07-7865-989E30193041}"/>
              </a:ext>
            </a:extLst>
          </p:cNvPr>
          <p:cNvSpPr txBox="1"/>
          <p:nvPr/>
        </p:nvSpPr>
        <p:spPr>
          <a:xfrm>
            <a:off x="1644649" y="3934764"/>
            <a:ext cx="3154565" cy="106800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BD1CE0F-036D-D634-82B5-E3757CC9764E}"/>
              </a:ext>
            </a:extLst>
          </p:cNvPr>
          <p:cNvGrpSpPr/>
          <p:nvPr/>
        </p:nvGrpSpPr>
        <p:grpSpPr>
          <a:xfrm>
            <a:off x="1701800" y="915608"/>
            <a:ext cx="1779588" cy="338554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C57D74D-D091-8361-DAE9-2A8DD4AA2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EC64C46F-52A9-22E0-8C6F-190BEDEE8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E66ED0C-37F1-C360-26FD-F2CE7F3374C2}"/>
              </a:ext>
            </a:extLst>
          </p:cNvPr>
          <p:cNvGrpSpPr/>
          <p:nvPr/>
        </p:nvGrpSpPr>
        <p:grpSpPr>
          <a:xfrm>
            <a:off x="5105400" y="870274"/>
            <a:ext cx="2054225" cy="366882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46D4CA6-B944-2A49-7700-3DE63249B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60A6EFAC-5A16-8E85-FB5E-2D1131AD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258B20-51AD-AF52-1B9B-568FE334D687}"/>
              </a:ext>
            </a:extLst>
          </p:cNvPr>
          <p:cNvGrpSpPr/>
          <p:nvPr/>
        </p:nvGrpSpPr>
        <p:grpSpPr>
          <a:xfrm>
            <a:off x="8672513" y="894588"/>
            <a:ext cx="2137727" cy="338554"/>
            <a:chOff x="1471613" y="4870565"/>
            <a:chExt cx="2137266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985D077-26FB-7C40-A1F9-A3B94DB8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0791F730-C783-9438-AB74-428608F73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999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0EAE0ED8-4AD1-22C5-67BE-5576BDA33927}"/>
              </a:ext>
            </a:extLst>
          </p:cNvPr>
          <p:cNvSpPr txBox="1"/>
          <p:nvPr/>
        </p:nvSpPr>
        <p:spPr>
          <a:xfrm>
            <a:off x="165211" y="2708925"/>
            <a:ext cx="1239838" cy="4183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C790383-6D01-E8D6-2127-94981BC7B0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768049"/>
            <a:ext cx="823913" cy="60500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F1D58D5E-2AE8-B0D2-E291-073374B3B620}"/>
              </a:ext>
            </a:extLst>
          </p:cNvPr>
          <p:cNvSpPr txBox="1"/>
          <p:nvPr/>
        </p:nvSpPr>
        <p:spPr>
          <a:xfrm>
            <a:off x="2592387" y="1803591"/>
            <a:ext cx="2284413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 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EB99328-D669-B148-800F-2EA5A67290D4}"/>
              </a:ext>
            </a:extLst>
          </p:cNvPr>
          <p:cNvGrpSpPr/>
          <p:nvPr/>
        </p:nvGrpSpPr>
        <p:grpSpPr>
          <a:xfrm>
            <a:off x="1037636" y="2779599"/>
            <a:ext cx="1327150" cy="276999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AA0816F-B6A4-6F80-33DF-F68480D717AA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C31A8D4-0D51-3024-0A67-56BF639BAFC5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061A1CC-F321-E6C8-9895-C3399A1A7B16}"/>
              </a:ext>
            </a:extLst>
          </p:cNvPr>
          <p:cNvSpPr txBox="1"/>
          <p:nvPr/>
        </p:nvSpPr>
        <p:spPr>
          <a:xfrm>
            <a:off x="1858374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Dec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49A1208-8AF8-48B8-6175-B375D8C10719}"/>
              </a:ext>
            </a:extLst>
          </p:cNvPr>
          <p:cNvSpPr txBox="1"/>
          <p:nvPr/>
        </p:nvSpPr>
        <p:spPr>
          <a:xfrm>
            <a:off x="1938338" y="48920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3EF63949-AFB1-8196-9F47-41741ED38C9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A9675A1C-5E00-3110-9817-7EA8CBBD261C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3" y="4960938"/>
            <a:ext cx="187325" cy="187325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F7ADC0A8-7C24-55D5-397D-D84E5B077D50}"/>
              </a:ext>
            </a:extLst>
          </p:cNvPr>
          <p:cNvCxnSpPr>
            <a:cxnSpLocks/>
          </p:cNvCxnSpPr>
          <p:nvPr/>
        </p:nvCxnSpPr>
        <p:spPr>
          <a:xfrm>
            <a:off x="5080000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88EC6371-1866-9525-F70C-0F603C9B81F0}"/>
              </a:ext>
            </a:extLst>
          </p:cNvPr>
          <p:cNvCxnSpPr>
            <a:cxnSpLocks/>
          </p:cNvCxnSpPr>
          <p:nvPr/>
        </p:nvCxnSpPr>
        <p:spPr>
          <a:xfrm>
            <a:off x="8645525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734AF3D-4AF0-C4A4-A322-B9EC79C23D38}"/>
              </a:ext>
            </a:extLst>
          </p:cNvPr>
          <p:cNvSpPr txBox="1"/>
          <p:nvPr/>
        </p:nvSpPr>
        <p:spPr>
          <a:xfrm>
            <a:off x="5094288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H2 25: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27E: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4DEF997-7753-29ED-F4F2-FF7A07D1E260}"/>
              </a:ext>
            </a:extLst>
          </p:cNvPr>
          <p:cNvSpPr txBox="1"/>
          <p:nvPr/>
        </p:nvSpPr>
        <p:spPr>
          <a:xfrm>
            <a:off x="5094288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7E1F7AF-0656-5197-C748-0CB14DAA1B4E}"/>
              </a:ext>
            </a:extLst>
          </p:cNvPr>
          <p:cNvSpPr txBox="1"/>
          <p:nvPr/>
        </p:nvSpPr>
        <p:spPr>
          <a:xfrm>
            <a:off x="55673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C1(Feb 25):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343A558-C9B2-0E84-CDD0-EC5665CE5FE4}"/>
              </a:ext>
            </a:extLst>
          </p:cNvPr>
          <p:cNvSpPr txBox="1"/>
          <p:nvPr/>
        </p:nvSpPr>
        <p:spPr>
          <a:xfrm>
            <a:off x="5387975" y="4891981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-&gt;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A5DE629-AF42-C3FB-989A-F78A0461D4E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F7CED1C8-DF9A-D515-1469-E0B2DADE643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7E61C1B-727E-B79E-1874-49BDB12D3A5D}"/>
              </a:ext>
            </a:extLst>
          </p:cNvPr>
          <p:cNvSpPr txBox="1"/>
          <p:nvPr/>
        </p:nvSpPr>
        <p:spPr>
          <a:xfrm>
            <a:off x="8661400" y="53625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E: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chiplets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5AEAEA9-F6E7-AD94-3562-1523E8BDA2FE}"/>
              </a:ext>
            </a:extLst>
          </p:cNvPr>
          <p:cNvSpPr txBox="1"/>
          <p:nvPr/>
        </p:nvSpPr>
        <p:spPr>
          <a:xfrm>
            <a:off x="8661400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CED92E6-39C0-1B3E-61A7-E18D0BF438D1}"/>
              </a:ext>
            </a:extLst>
          </p:cNvPr>
          <p:cNvSpPr txBox="1"/>
          <p:nvPr/>
        </p:nvSpPr>
        <p:spPr>
          <a:xfrm>
            <a:off x="91741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(Oct 24)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08A4C39-DD83-2D59-5FC2-97D272039D44}"/>
              </a:ext>
            </a:extLst>
          </p:cNvPr>
          <p:cNvSpPr txBox="1"/>
          <p:nvPr/>
        </p:nvSpPr>
        <p:spPr>
          <a:xfrm>
            <a:off x="8955088" y="489198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8A3DA74-1DF6-FBE5-C0CA-C8E5804EC91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B8B7A8A5-9C40-2882-C5BB-FF1490D0941B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EFFA177-F541-A695-7585-FB080D35D653}"/>
              </a:ext>
            </a:extLst>
          </p:cNvPr>
          <p:cNvSpPr txBox="1"/>
          <p:nvPr/>
        </p:nvSpPr>
        <p:spPr>
          <a:xfrm>
            <a:off x="1566862" y="2368481"/>
            <a:ext cx="1327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EF3A6E5-B955-758D-F599-E5FB41637753}"/>
              </a:ext>
            </a:extLst>
          </p:cNvPr>
          <p:cNvSpPr txBox="1"/>
          <p:nvPr/>
        </p:nvSpPr>
        <p:spPr>
          <a:xfrm>
            <a:off x="5083175" y="1476692"/>
            <a:ext cx="2660650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i="1" dirty="0">
                <a:cs typeface="+mn-ea"/>
                <a:sym typeface="+mn-lt"/>
              </a:rPr>
              <a:t>​Optical full-stack solutions.</a:t>
            </a:r>
            <a:endParaRPr lang="zh-CN" altLang="zh-CN" i="1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ECC610-1F85-244B-9C34-AC12033D4EB5}"/>
              </a:ext>
            </a:extLst>
          </p:cNvPr>
          <p:cNvSpPr txBox="1"/>
          <p:nvPr/>
        </p:nvSpPr>
        <p:spPr>
          <a:xfrm>
            <a:off x="5843588" y="1803591"/>
            <a:ext cx="3019425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A097463-9DF5-73B2-E926-D05A134AF1DA}"/>
              </a:ext>
            </a:extLst>
          </p:cNvPr>
          <p:cNvSpPr txBox="1"/>
          <p:nvPr/>
        </p:nvSpPr>
        <p:spPr>
          <a:xfrm>
            <a:off x="4979988" y="2378171"/>
            <a:ext cx="1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20F89C7-9067-E627-E2C0-8373F8D7FC5B}"/>
              </a:ext>
            </a:extLst>
          </p:cNvPr>
          <p:cNvSpPr txBox="1"/>
          <p:nvPr/>
        </p:nvSpPr>
        <p:spPr>
          <a:xfrm>
            <a:off x="8636000" y="1475715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8FBE9A6-47BE-77AC-A89A-2293D5B1A9C1}"/>
              </a:ext>
            </a:extLst>
          </p:cNvPr>
          <p:cNvSpPr txBox="1"/>
          <p:nvPr/>
        </p:nvSpPr>
        <p:spPr>
          <a:xfrm>
            <a:off x="8564563" y="2405772"/>
            <a:ext cx="1546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D18E7163-7568-1332-ADA2-20B9462E416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5" y="1813667"/>
            <a:ext cx="561975" cy="504264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EFDDCB4-14ED-F11C-C05A-2323A09FEEA5}"/>
              </a:ext>
            </a:extLst>
          </p:cNvPr>
          <p:cNvGrpSpPr/>
          <p:nvPr/>
        </p:nvGrpSpPr>
        <p:grpSpPr>
          <a:xfrm>
            <a:off x="4649788" y="2738098"/>
            <a:ext cx="1327150" cy="360000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44EC7DC0-0776-FC47-C141-181ECFE8467A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44B58E0-5415-7F5A-9860-ABE21802A1A9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A41F71BA-1795-72A6-A253-B75038283210}"/>
              </a:ext>
            </a:extLst>
          </p:cNvPr>
          <p:cNvGrpSpPr/>
          <p:nvPr/>
        </p:nvGrpSpPr>
        <p:grpSpPr>
          <a:xfrm>
            <a:off x="8215313" y="2680498"/>
            <a:ext cx="1327150" cy="475200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3FDD1E8-9392-7086-DF50-C82AA3017F9C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6F4AD91E-6DFA-D07A-E66B-BDC8A00221AE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D878633-2AD6-E739-E6C8-38AD1A111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782164"/>
            <a:ext cx="509588" cy="6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51A417A4-409C-DF23-E53F-18640DC0F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851597"/>
            <a:ext cx="593725" cy="50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AB8AC76C-CB4C-7FA2-24C8-8185062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03591"/>
            <a:ext cx="1751013" cy="3400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6D5A0A72-7484-B97A-9644-3167D8F0CCFC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3329A8-FDD6-6B2F-DE20-8D1826530D09}"/>
              </a:ext>
            </a:extLst>
          </p:cNvPr>
          <p:cNvSpPr txBox="1"/>
          <p:nvPr/>
        </p:nvSpPr>
        <p:spPr>
          <a:xfrm>
            <a:off x="158750" y="3211022"/>
            <a:ext cx="1239838" cy="5233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73634F-AAE9-97EF-5E5A-21428062D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1" y="3312007"/>
            <a:ext cx="576559" cy="32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C7B9ACD0-CCD1-09E4-FBFA-ACE0D3086E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299205"/>
            <a:ext cx="436151" cy="346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38F3A0F8-CCB4-9D45-CDD3-2F9C11BE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553CFF-0616-1EC6-887A-889163CE22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34308"/>
            <a:ext cx="968567" cy="27673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232023B0-8A2B-4B44-B1D5-91C632C51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383571"/>
            <a:ext cx="1055774" cy="17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1BBFFF2F-46B5-8A89-55F6-726DEB3F13B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45854"/>
            <a:ext cx="409018" cy="253641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8DC75930-BA75-A601-D653-28C6710FD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3">
            <a:extLst>
              <a:ext uri="{FF2B5EF4-FFF2-40B4-BE49-F238E27FC236}">
                <a16:creationId xmlns:a16="http://schemas.microsoft.com/office/drawing/2014/main" id="{BD5C0D23-9662-EC9D-7D48-50666C319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5875" y="864621"/>
            <a:ext cx="1000138" cy="256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zh-CN" altLang="zh-CN" sz="1600" baseline="30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F8E66A-5C5C-D85E-82FD-91B613AC8637}"/>
              </a:ext>
            </a:extLst>
          </p:cNvPr>
          <p:cNvSpPr txBox="1"/>
          <p:nvPr/>
        </p:nvSpPr>
        <p:spPr>
          <a:xfrm>
            <a:off x="168656" y="6433193"/>
            <a:ext cx="10843832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Lightmatter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(CEO: Nicholas Harris)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SuiJi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Technology (a Chinese optical compute company invested by Tencent. CEO: Yichen Shen), spin-off from the same MIT team. 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箭头: V 形 16">
            <a:extLst>
              <a:ext uri="{FF2B5EF4-FFF2-40B4-BE49-F238E27FC236}">
                <a16:creationId xmlns:a16="http://schemas.microsoft.com/office/drawing/2014/main" id="{B778F042-E7CC-3420-0A35-AC716C8FB421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6EACEE7A-CA6E-2688-0ABD-BCA8197B167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CF806A2A-665B-7C24-3354-FC77892C407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26">
            <a:extLst>
              <a:ext uri="{FF2B5EF4-FFF2-40B4-BE49-F238E27FC236}">
                <a16:creationId xmlns:a16="http://schemas.microsoft.com/office/drawing/2014/main" id="{2CF3DC42-10D8-3C6F-6076-99B7AC9305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2D18B810-BF3D-A4B2-05B7-2884CFCC8D42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50EAD00E-0FC3-DAAC-66E7-428BE2BC3E6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1C0689E-DAE4-3789-68B6-7A0F798EF80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252912DB-F7F0-2B4A-C407-8A55651D6B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A12438E5-A672-077E-429C-399B1FD331F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startups comparison: Ayar Labs, Celestial AI, and </a:t>
            </a:r>
            <a:r>
              <a:rPr lang="en-US" altLang="zh-CN" dirty="0" err="1">
                <a:cs typeface="+mn-ea"/>
                <a:sym typeface="+mn-lt"/>
              </a:rPr>
              <a:t>Lightmatter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212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399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5FAC44-04A3-F476-ECB1-114806092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bandwidth;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3877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949011-16AD-DFC9-57DA-DB3A2B34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H800, H100, and B200 bandwidth and inference rate comparison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781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F6C33D-7FC8-FFE5-5C5C-B4C29E7630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electronics, weak in optics; Domestic vise versa - industry evidences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751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372D8E-1BE1-3AD0-3720-AA66F803D8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37428387583522493287E+00&quot;&gt;&lt;m_msothmcolidx val=&quot;0&quot;/&gt;&lt;m_rgb r=&quot;00&quot; g=&quot;52&quot; b=&quot;D9&quot;/&gt;&lt;/elem&gt;&lt;elem m_fUsage=&quot;4.39755252302736210357E-01&quot;&gt;&lt;m_msothmcolidx val=&quot;0&quot;/&gt;&lt;m_rgb r=&quot;C1&quot; g=&quot;E1&quot; b=&quot;FE&quot;/&gt;&lt;/elem&gt;&lt;elem m_fUsage=&quot;3.81520424476946215520E-02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AeVIIhGnBjlN5lZ10SA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D5RxkP25tVVDTHH2b9w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0xe_u31lUImfj5d6dRj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BiCSrXgIsJdEX6fmrgg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1bLTdEvrX2KppyNVxoQ8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d7W19mC50ALb.PHzP8q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IAKd8p_DYIw8zQZRg5n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xEb7ELwcbLBrdoVoHO8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UW9fOpqYVFQAm9zCUaL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zK0bw0JBn4OIaXWVOm0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RTI4kDB5fHcKog_oUEo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QCHlON60YhDtMBi4Rcd1A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SZsxVFpZ8vAuJi0Ti_f1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oX8tcph5wAE5BvMSLqZ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9o7WG2rBsqp5EBZmd8K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gywV900iGkeLOesWzDC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u31ZUwO0nGSeGVjcw0V6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EUiSk1n9z9u5csu.uSxI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Rxm_S1ZBNQMO6SvT0Dc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zDIDKmFT3UUGY2eTaj9Q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1YU6DQk6Paxv_cQXYIA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zO3ynAOPRWx5J3c_L_A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V4oa0rLXZcYzp7vAY0J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J8sy4tQY9s93GbEePUxA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k5q6yPSTyWeSoxfYadPg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_RdgNy_86NarlH4rEjtg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oFPGU5FEYdEdGtwJVH3A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p_BupVdSEUHlrKCCIQKg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YkXycr3cSJHDGuG.NGQ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DAvuuhpMQcL3jfEanNxw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b6VzZj70hvB6dTxd60TA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50499</TotalTime>
  <Words>3993</Words>
  <Application>Microsoft Office PowerPoint</Application>
  <PresentationFormat>宽屏</PresentationFormat>
  <Paragraphs>1017</Paragraphs>
  <Slides>31</Slides>
  <Notes>27</Notes>
  <HiddenSlides>3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From Pluggable to Co-Packaged Optics: an Intro to IDC Interconnect</vt:lpstr>
      <vt:lpstr>Table of contents</vt:lpstr>
      <vt:lpstr>Why the focus on CPO?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DeepSeek: Domestic LLM restricted by GPU interconnection bandwidth; CPO as priority exploration direction</vt:lpstr>
      <vt:lpstr>DeepSeek: H800, H100, and B200 bandwidth and inference rate comparison</vt:lpstr>
      <vt:lpstr>Overseas strong in electronics, weak in optics; Domestic vise versa - industry evidences</vt:lpstr>
      <vt:lpstr>Broadcom CPO industry chain</vt:lpstr>
      <vt:lpstr>CPO 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5767</cp:revision>
  <dcterms:created xsi:type="dcterms:W3CDTF">2025-06-16T21:28:33Z</dcterms:created>
  <dcterms:modified xsi:type="dcterms:W3CDTF">2025-10-15T13:42:45Z</dcterms:modified>
</cp:coreProperties>
</file>