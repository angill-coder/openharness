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3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notesSlides/notesSlide3.xml" ContentType="application/vnd.openxmlformats-officedocument.presentationml.notesSlide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notesSlides/notesSlide4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109.xml" ContentType="application/vnd.openxmlformats-officedocument.presentationml.tags+xml"/>
  <Override PartName="/ppt/charts/chart10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11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12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notesSlides/notesSlide5.xml" ContentType="application/vnd.openxmlformats-officedocument.presentationml.notesSlide+xml"/>
  <Override PartName="/ppt/tags/tag120.xml" ContentType="application/vnd.openxmlformats-officedocument.presentationml.tags+xml"/>
  <Override PartName="/ppt/notesSlides/notesSlide6.xml" ContentType="application/vnd.openxmlformats-officedocument.presentationml.notesSlide+xml"/>
  <Override PartName="/ppt/tags/tag12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332" r:id="rId3"/>
    <p:sldId id="319" r:id="rId4"/>
    <p:sldId id="321" r:id="rId5"/>
    <p:sldId id="317" r:id="rId6"/>
    <p:sldId id="314" r:id="rId7"/>
    <p:sldId id="320" r:id="rId8"/>
    <p:sldId id="313" r:id="rId9"/>
    <p:sldId id="316" r:id="rId10"/>
    <p:sldId id="326" r:id="rId11"/>
    <p:sldId id="315" r:id="rId12"/>
    <p:sldId id="327" r:id="rId13"/>
    <p:sldId id="323" r:id="rId14"/>
    <p:sldId id="329" r:id="rId15"/>
    <p:sldId id="330" r:id="rId16"/>
    <p:sldId id="328" r:id="rId17"/>
    <p:sldId id="331" r:id="rId18"/>
    <p:sldId id="322" r:id="rId19"/>
    <p:sldId id="283" r:id="rId20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239A09C8-330C-4419-85BC-2F9D711F0A78}">
          <p14:sldIdLst>
            <p14:sldId id="256"/>
            <p14:sldId id="332"/>
            <p14:sldId id="319"/>
            <p14:sldId id="321"/>
            <p14:sldId id="317"/>
            <p14:sldId id="314"/>
            <p14:sldId id="320"/>
            <p14:sldId id="313"/>
            <p14:sldId id="316"/>
            <p14:sldId id="326"/>
            <p14:sldId id="315"/>
            <p14:sldId id="327"/>
            <p14:sldId id="323"/>
            <p14:sldId id="329"/>
            <p14:sldId id="330"/>
            <p14:sldId id="328"/>
            <p14:sldId id="331"/>
            <p14:sldId id="322"/>
            <p14:sldId id="28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D9"/>
    <a:srgbClr val="D9D9D9"/>
    <a:srgbClr val="C1E1FE"/>
    <a:srgbClr val="0055E0"/>
    <a:srgbClr val="FF7201"/>
    <a:srgbClr val="A6A6A6"/>
    <a:srgbClr val="DDE3F1"/>
    <a:srgbClr val="04647C"/>
    <a:srgbClr val="3776F5"/>
    <a:srgbClr val="0365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 autoAdjust="0"/>
    <p:restoredTop sz="86779" autoAdjust="0"/>
  </p:normalViewPr>
  <p:slideViewPr>
    <p:cSldViewPr snapToGrid="0">
      <p:cViewPr varScale="1">
        <p:scale>
          <a:sx n="84" d="100"/>
          <a:sy n="84" d="100"/>
        </p:scale>
        <p:origin x="3444" y="12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-386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gs" Target="tags/tag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1.xlsb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2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3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4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5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6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7.xlsb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Work\CPO-202508\20250814_CPO&#24213;&#31295;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21832579185520362"/>
          <c:w val="0.86707938820101971"/>
          <c:h val="0.563348416289592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217194570135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FF-45C7-A181-10CEFF6A673C}"/>
                </c:ext>
              </c:extLst>
            </c:dLbl>
            <c:dLbl>
              <c:idx val="1"/>
              <c:layout>
                <c:manualLayout>
                  <c:x val="0"/>
                  <c:y val="-0.13122171945701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EFF-45C7-A181-10CEFF6A673C}"/>
                </c:ext>
              </c:extLst>
            </c:dLbl>
            <c:dLbl>
              <c:idx val="2"/>
              <c:layout>
                <c:manualLayout>
                  <c:x val="0"/>
                  <c:y val="-0.14027149321266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FF-45C7-A181-10CEFF6A673C}"/>
                </c:ext>
              </c:extLst>
            </c:dLbl>
            <c:dLbl>
              <c:idx val="3"/>
              <c:layout>
                <c:manualLayout>
                  <c:x val="0"/>
                  <c:y val="-0.15950226244343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EFF-45C7-A181-10CEFF6A673C}"/>
                </c:ext>
              </c:extLst>
            </c:dLbl>
            <c:dLbl>
              <c:idx val="4"/>
              <c:layout>
                <c:manualLayout>
                  <c:x val="0"/>
                  <c:y val="-0.17873303167420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EFF-45C7-A181-10CEFF6A673C}"/>
                </c:ext>
              </c:extLst>
            </c:dLbl>
            <c:dLbl>
              <c:idx val="5"/>
              <c:layout>
                <c:manualLayout>
                  <c:x val="0"/>
                  <c:y val="-0.226244343891402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EFF-45C7-A181-10CEFF6A673C}"/>
                </c:ext>
              </c:extLst>
            </c:dLbl>
            <c:dLbl>
              <c:idx val="6"/>
              <c:layout>
                <c:manualLayout>
                  <c:x val="0"/>
                  <c:y val="-0.32013574660633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EFF-45C7-A181-10CEFF6A67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FF-45C7-A181-10CEFF6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276191"/>
        <c:axId val="1"/>
      </c:barChart>
      <c:catAx>
        <c:axId val="1685276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5276191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17561419472247497"/>
          <c:w val="0.86707938820101971"/>
          <c:h val="0.6487716105550500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66787989080982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B49-43BD-9B8F-7EE1528E651F}"/>
                </c:ext>
              </c:extLst>
            </c:dLbl>
            <c:dLbl>
              <c:idx val="1"/>
              <c:layout>
                <c:manualLayout>
                  <c:x val="0"/>
                  <c:y val="-0.23839854413102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B49-43BD-9B8F-7EE1528E651F}"/>
                </c:ext>
              </c:extLst>
            </c:dLbl>
            <c:dLbl>
              <c:idx val="2"/>
              <c:layout>
                <c:manualLayout>
                  <c:x val="0"/>
                  <c:y val="-0.151046405823475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B49-43BD-9B8F-7EE1528E651F}"/>
                </c:ext>
              </c:extLst>
            </c:dLbl>
            <c:dLbl>
              <c:idx val="3"/>
              <c:layout>
                <c:manualLayout>
                  <c:x val="0"/>
                  <c:y val="-0.1301182893539581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B49-43BD-9B8F-7EE1528E651F}"/>
                </c:ext>
              </c:extLst>
            </c:dLbl>
            <c:dLbl>
              <c:idx val="4"/>
              <c:layout>
                <c:manualLayout>
                  <c:x val="0"/>
                  <c:y val="-0.10737033666969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B49-43BD-9B8F-7EE1528E651F}"/>
                </c:ext>
              </c:extLst>
            </c:dLbl>
            <c:dLbl>
              <c:idx val="5"/>
              <c:layout>
                <c:manualLayout>
                  <c:x val="0"/>
                  <c:y val="-0.10737033666969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B49-43BD-9B8F-7EE1528E651F}"/>
                </c:ext>
              </c:extLst>
            </c:dLbl>
            <c:dLbl>
              <c:idx val="6"/>
              <c:layout>
                <c:manualLayout>
                  <c:x val="0"/>
                  <c:y val="-9.73612374886260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B49-43BD-9B8F-7EE1528E651F}"/>
                </c:ext>
              </c:extLst>
            </c:dLbl>
            <c:dLbl>
              <c:idx val="7"/>
              <c:layout>
                <c:manualLayout>
                  <c:x val="0"/>
                  <c:y val="-9.73612374886260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B49-43BD-9B8F-7EE1528E65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Sheet1!$A$1:$H$1</c:f>
              <c:numCache>
                <c:formatCode>General</c:formatCode>
                <c:ptCount val="8"/>
                <c:pt idx="0">
                  <c:v>25</c:v>
                </c:pt>
                <c:pt idx="1">
                  <c:v>15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49-43BD-9B8F-7EE1528E6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95634559"/>
        <c:axId val="1"/>
      </c:barChart>
      <c:catAx>
        <c:axId val="15956345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95634559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0"/>
          <c:tx>
            <c:strRef>
              <c:f>Sheet1!$M$2</c:f>
              <c:strCache>
                <c:ptCount val="1"/>
                <c:pt idx="0">
                  <c:v>单通道带宽（Gb/s）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Sheet1!$M$3:$M$6</c:f>
              <c:numCache>
                <c:formatCode>General</c:formatCode>
                <c:ptCount val="4"/>
                <c:pt idx="0">
                  <c:v>50</c:v>
                </c:pt>
                <c:pt idx="1">
                  <c:v>100</c:v>
                </c:pt>
                <c:pt idx="2">
                  <c:v>200</c:v>
                </c:pt>
                <c:pt idx="3">
                  <c:v>400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964581919"/>
        <c:axId val="964586239"/>
      </c:lineChart>
      <c:lineChart>
        <c:grouping val="standard"/>
        <c:varyColors val="0"/>
        <c:ser>
          <c:idx val="0"/>
          <c:order val="1"/>
          <c:tx>
            <c:strRef>
              <c:f>Sheet1!$N$2</c:f>
              <c:strCache>
                <c:ptCount val="1"/>
                <c:pt idx="0">
                  <c:v>算力（TFLOPS，FP16）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5"/>
              </a:solidFill>
              <a:ln w="9525">
                <a:solidFill>
                  <a:schemeClr val="accent5"/>
                </a:solidFill>
              </a:ln>
              <a:effectLst/>
            </c:spPr>
          </c:marker>
          <c:cat>
            <c:numRef>
              <c:f>Sheet1!$L$3:$L$6</c:f>
              <c:numCache>
                <c:formatCode>General</c:formatCode>
                <c:ptCount val="4"/>
                <c:pt idx="0">
                  <c:v>2020</c:v>
                </c:pt>
                <c:pt idx="1">
                  <c:v>2022</c:v>
                </c:pt>
                <c:pt idx="2">
                  <c:v>2024</c:v>
                </c:pt>
                <c:pt idx="3">
                  <c:v>2026</c:v>
                </c:pt>
              </c:numCache>
            </c:numRef>
          </c:cat>
          <c:val>
            <c:numRef>
              <c:f>Sheet1!$N$3:$N$6</c:f>
              <c:numCache>
                <c:formatCode>General</c:formatCode>
                <c:ptCount val="4"/>
                <c:pt idx="0">
                  <c:v>312</c:v>
                </c:pt>
                <c:pt idx="1">
                  <c:v>1000</c:v>
                </c:pt>
                <c:pt idx="2">
                  <c:v>1750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A0D-40AD-B8B0-ACAF878ADD8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70973295"/>
        <c:axId val="2070979055"/>
      </c:lineChart>
      <c:catAx>
        <c:axId val="964581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6239"/>
        <c:crosses val="autoZero"/>
        <c:auto val="1"/>
        <c:lblAlgn val="ctr"/>
        <c:lblOffset val="100"/>
        <c:noMultiLvlLbl val="0"/>
      </c:catAx>
      <c:valAx>
        <c:axId val="964586239"/>
        <c:scaling>
          <c:logBase val="2"/>
          <c:orientation val="minMax"/>
          <c:max val="1600"/>
          <c:min val="25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964581919"/>
        <c:crosses val="autoZero"/>
        <c:crossBetween val="between"/>
      </c:valAx>
      <c:valAx>
        <c:axId val="2070979055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solidFill>
              <a:schemeClr val="accent1"/>
            </a:solidFill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070973295"/>
        <c:crosses val="max"/>
        <c:crossBetween val="between"/>
      </c:valAx>
      <c:catAx>
        <c:axId val="207097329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7097905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291828793774319E-2"/>
          <c:y val="0.20146137787056367"/>
          <c:w val="0.94941634241245132"/>
          <c:h val="0.5970772442588726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384133611691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F99-467A-A68D-B4023C54391F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F99-467A-A68D-B4023C5439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40</c:v>
                </c:pt>
                <c:pt idx="1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F99-467A-A68D-B4023C54391F}"/>
            </c:ext>
          </c:extLst>
        </c:ser>
        <c:ser>
          <c:idx val="1"/>
          <c:order val="1"/>
          <c:spPr>
            <a:solidFill>
              <a:schemeClr val="accent6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38413361169101E-3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F99-467A-A68D-B4023C54391F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&quot;%&quot;;&quot;-&quot;#,##0&quot;%&quot;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F99-467A-A68D-B4023C5439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60</c:v>
                </c:pt>
                <c:pt idx="1">
                  <c:v>30.000000000000004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FF99-467A-A68D-B4023C5439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461951"/>
        <c:axId val="1"/>
      </c:barChart>
      <c:catAx>
        <c:axId val="168546195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8546195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1140159767610751E-2"/>
          <c:y val="0.10699588477366255"/>
          <c:w val="0.88997821350762529"/>
          <c:h val="0.78600823045267487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val>
            <c:numRef>
              <c:f>Sheet1!$A$1:$C$1</c:f>
              <c:numCache>
                <c:formatCode>General</c:formatCode>
                <c:ptCount val="3"/>
                <c:pt idx="0">
                  <c:v>4</c:v>
                </c:pt>
                <c:pt idx="1">
                  <c:v>6.5</c:v>
                </c:pt>
                <c:pt idx="2">
                  <c:v>2.4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751-4CE8-BE1E-7F5F056E9E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24455631"/>
        <c:axId val="1"/>
      </c:barChart>
      <c:catAx>
        <c:axId val="12445563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24455631"/>
        <c:crosses val="min"/>
        <c:crossBetween val="between"/>
        <c:majorUnit val="2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21832579185520362"/>
          <c:w val="0.86707938820101971"/>
          <c:h val="0.5633484162895927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21719457013574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EFF-45C7-A181-10CEFF6A673C}"/>
                </c:ext>
              </c:extLst>
            </c:dLbl>
            <c:dLbl>
              <c:idx val="1"/>
              <c:layout>
                <c:manualLayout>
                  <c:x val="0"/>
                  <c:y val="-0.1312217194570135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EFF-45C7-A181-10CEFF6A673C}"/>
                </c:ext>
              </c:extLst>
            </c:dLbl>
            <c:dLbl>
              <c:idx val="2"/>
              <c:layout>
                <c:manualLayout>
                  <c:x val="0"/>
                  <c:y val="-0.1402714932126696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FEFF-45C7-A181-10CEFF6A673C}"/>
                </c:ext>
              </c:extLst>
            </c:dLbl>
            <c:dLbl>
              <c:idx val="3"/>
              <c:layout>
                <c:manualLayout>
                  <c:x val="0"/>
                  <c:y val="-0.15950226244343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FEFF-45C7-A181-10CEFF6A673C}"/>
                </c:ext>
              </c:extLst>
            </c:dLbl>
            <c:dLbl>
              <c:idx val="4"/>
              <c:layout>
                <c:manualLayout>
                  <c:x val="0"/>
                  <c:y val="-0.1787330316742081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FEFF-45C7-A181-10CEFF6A673C}"/>
                </c:ext>
              </c:extLst>
            </c:dLbl>
            <c:dLbl>
              <c:idx val="5"/>
              <c:layout>
                <c:manualLayout>
                  <c:x val="0"/>
                  <c:y val="-0.226244343891402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FEFF-45C7-A181-10CEFF6A673C}"/>
                </c:ext>
              </c:extLst>
            </c:dLbl>
            <c:dLbl>
              <c:idx val="6"/>
              <c:layout>
                <c:manualLayout>
                  <c:x val="0"/>
                  <c:y val="-0.3201357466063348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FEFF-45C7-A181-10CEFF6A673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Sheet1!$A$1:$G$1</c:f>
              <c:numCache>
                <c:formatCode>General</c:formatCode>
                <c:ptCount val="7"/>
                <c:pt idx="0">
                  <c:v>3</c:v>
                </c:pt>
                <c:pt idx="1">
                  <c:v>4</c:v>
                </c:pt>
                <c:pt idx="2">
                  <c:v>5</c:v>
                </c:pt>
                <c:pt idx="3">
                  <c:v>7</c:v>
                </c:pt>
                <c:pt idx="4">
                  <c:v>9</c:v>
                </c:pt>
                <c:pt idx="5">
                  <c:v>14</c:v>
                </c:pt>
                <c:pt idx="6">
                  <c:v>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FEFF-45C7-A181-10CEFF6A673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85276191"/>
        <c:axId val="1"/>
      </c:barChart>
      <c:catAx>
        <c:axId val="1685276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685276191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1398397669337218"/>
          <c:y val="0.17561419472247497"/>
          <c:w val="0.86707938820101971"/>
          <c:h val="0.64877161055505006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3466787989080982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B49-43BD-9B8F-7EE1528E651F}"/>
                </c:ext>
              </c:extLst>
            </c:dLbl>
            <c:dLbl>
              <c:idx val="1"/>
              <c:layout>
                <c:manualLayout>
                  <c:x val="0"/>
                  <c:y val="-0.238398544131028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B49-43BD-9B8F-7EE1528E651F}"/>
                </c:ext>
              </c:extLst>
            </c:dLbl>
            <c:dLbl>
              <c:idx val="2"/>
              <c:layout>
                <c:manualLayout>
                  <c:x val="0"/>
                  <c:y val="-0.1510464058234758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B49-43BD-9B8F-7EE1528E651F}"/>
                </c:ext>
              </c:extLst>
            </c:dLbl>
            <c:dLbl>
              <c:idx val="3"/>
              <c:layout>
                <c:manualLayout>
                  <c:x val="0"/>
                  <c:y val="-0.1301182893539581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B49-43BD-9B8F-7EE1528E651F}"/>
                </c:ext>
              </c:extLst>
            </c:dLbl>
            <c:dLbl>
              <c:idx val="4"/>
              <c:layout>
                <c:manualLayout>
                  <c:x val="0"/>
                  <c:y val="-0.10737033666969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B49-43BD-9B8F-7EE1528E651F}"/>
                </c:ext>
              </c:extLst>
            </c:dLbl>
            <c:dLbl>
              <c:idx val="5"/>
              <c:layout>
                <c:manualLayout>
                  <c:x val="0"/>
                  <c:y val="-0.107370336669699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B49-43BD-9B8F-7EE1528E651F}"/>
                </c:ext>
              </c:extLst>
            </c:dLbl>
            <c:dLbl>
              <c:idx val="6"/>
              <c:layout>
                <c:manualLayout>
                  <c:x val="0"/>
                  <c:y val="-9.73612374886260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B49-43BD-9B8F-7EE1528E651F}"/>
                </c:ext>
              </c:extLst>
            </c:dLbl>
            <c:dLbl>
              <c:idx val="7"/>
              <c:layout>
                <c:manualLayout>
                  <c:x val="0"/>
                  <c:y val="-9.736123748862601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B49-43BD-9B8F-7EE1528E651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Sheet1!$A$1:$H$1</c:f>
              <c:numCache>
                <c:formatCode>General</c:formatCode>
                <c:ptCount val="8"/>
                <c:pt idx="0">
                  <c:v>25</c:v>
                </c:pt>
                <c:pt idx="1">
                  <c:v>15</c:v>
                </c:pt>
                <c:pt idx="2">
                  <c:v>7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2</c:v>
                </c:pt>
                <c:pt idx="7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B49-43BD-9B8F-7EE1528E65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595634559"/>
        <c:axId val="1"/>
      </c:barChart>
      <c:catAx>
        <c:axId val="159563455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595634559"/>
        <c:crosses val="min"/>
        <c:crossBetween val="between"/>
        <c:majorUnit val="10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747742136406104E-2"/>
          <c:y val="0.20294426919032596"/>
          <c:w val="0.88632824665213328"/>
          <c:h val="0.5941114616193480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71BD-423D-8891-EDFD147C7076}"/>
              </c:ext>
            </c:extLst>
          </c:dPt>
          <c:dLbls>
            <c:dLbl>
              <c:idx val="1"/>
              <c:layout>
                <c:manualLayout>
                  <c:x val="0"/>
                  <c:y val="-0.1009463722397476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71BD-423D-8891-EDFD147C7076}"/>
                </c:ext>
              </c:extLst>
            </c:dLbl>
            <c:dLbl>
              <c:idx val="2"/>
              <c:layout>
                <c:manualLayout>
                  <c:x val="0"/>
                  <c:y val="-0.1335436382754994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71BD-423D-8891-EDFD147C7076}"/>
                </c:ext>
              </c:extLst>
            </c:dLbl>
            <c:dLbl>
              <c:idx val="3"/>
              <c:layout>
                <c:manualLayout>
                  <c:x val="0"/>
                  <c:y val="-0.3375394321766561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71BD-423D-8891-EDFD147C707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Sheet1!$A$1:$D$1</c:f>
              <c:numCache>
                <c:formatCode>General</c:formatCode>
                <c:ptCount val="4"/>
                <c:pt idx="0">
                  <c:v>0</c:v>
                </c:pt>
                <c:pt idx="1">
                  <c:v>2.9000000000000004</c:v>
                </c:pt>
                <c:pt idx="2">
                  <c:v>9.5</c:v>
                </c:pt>
                <c:pt idx="3">
                  <c:v>50.6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BD-423D-8891-EDFD147C70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195609280"/>
        <c:axId val="1"/>
      </c:barChart>
      <c:catAx>
        <c:axId val="119560928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6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1195609280"/>
        <c:crosses val="min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9.307166220636337E-2"/>
          <c:y val="0.15477145148356056"/>
          <c:w val="0.79542075527802558"/>
          <c:h val="0.6904570970328789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52D9"/>
            </a:solidFill>
            <a:ln>
              <a:noFill/>
            </a:ln>
          </c:spPr>
          <c:invertIfNegative val="0"/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61E-4EF7-926E-3C11374B3389}"/>
                </c:ext>
              </c:extLst>
            </c:dLbl>
            <c:dLbl>
              <c:idx val="2"/>
              <c:layout>
                <c:manualLayout>
                  <c:x val="0"/>
                  <c:y val="-8.019246190858059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61E-4EF7-926E-3C11374B3389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61E-4EF7-926E-3C11374B3389}"/>
                </c:ext>
              </c:extLst>
            </c:dLbl>
            <c:dLbl>
              <c:idx val="4"/>
              <c:layout>
                <c:manualLayout>
                  <c:x val="0"/>
                  <c:y val="-8.019246190858059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861E-4EF7-926E-3C11374B3389}"/>
                </c:ext>
              </c:extLst>
            </c:dLbl>
            <c:dLbl>
              <c:idx val="5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4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861E-4EF7-926E-3C11374B338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Sheet1!$A$1:$F$1</c:f>
              <c:numCache>
                <c:formatCode>General</c:formatCode>
                <c:ptCount val="6"/>
                <c:pt idx="0">
                  <c:v>3.5</c:v>
                </c:pt>
                <c:pt idx="1">
                  <c:v>5.8</c:v>
                </c:pt>
                <c:pt idx="2">
                  <c:v>10.9</c:v>
                </c:pt>
                <c:pt idx="3">
                  <c:v>15.8</c:v>
                </c:pt>
                <c:pt idx="4">
                  <c:v>15.7</c:v>
                </c:pt>
                <c:pt idx="5">
                  <c:v>18.899999999999999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61E-4EF7-926E-3C11374B3389}"/>
            </c:ext>
          </c:extLst>
        </c:ser>
        <c:ser>
          <c:idx val="1"/>
          <c:order val="1"/>
          <c:spPr>
            <a:solidFill>
              <a:schemeClr val="accent6"/>
            </a:solidFill>
            <a:ln>
              <a:noFill/>
            </a:ln>
          </c:spPr>
          <c:invertIfNegative val="0"/>
          <c:val>
            <c:numRef>
              <c:f>Sheet1!$A$2:$F$2</c:f>
              <c:numCache>
                <c:formatCode>General</c:formatCode>
                <c:ptCount val="6"/>
                <c:pt idx="0">
                  <c:v>3.5</c:v>
                </c:pt>
                <c:pt idx="1">
                  <c:v>3.0000000000000009</c:v>
                </c:pt>
                <c:pt idx="2">
                  <c:v>2.9000000000000004</c:v>
                </c:pt>
                <c:pt idx="3">
                  <c:v>3.6999999999999993</c:v>
                </c:pt>
                <c:pt idx="4">
                  <c:v>2.5</c:v>
                </c:pt>
                <c:pt idx="5">
                  <c:v>2.1999999999999993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61E-4EF7-926E-3C11374B3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64876063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rgbClr val="007770"/>
              </a:solidFill>
              <a:prstDash val="solid"/>
            </a:ln>
          </c:spPr>
          <c:marker>
            <c:symbol val="none"/>
          </c:marker>
          <c:val>
            <c:numRef>
              <c:f>Sheet1!$A$3:$F$3</c:f>
              <c:numCache>
                <c:formatCode>General</c:formatCode>
                <c:ptCount val="6"/>
                <c:pt idx="0">
                  <c:v>50</c:v>
                </c:pt>
                <c:pt idx="1">
                  <c:v>65.909090909090907</c:v>
                </c:pt>
                <c:pt idx="2">
                  <c:v>78.985507246376812</c:v>
                </c:pt>
                <c:pt idx="3">
                  <c:v>81.025641025641022</c:v>
                </c:pt>
                <c:pt idx="4">
                  <c:v>86.263736263736263</c:v>
                </c:pt>
                <c:pt idx="5">
                  <c:v>89.573459715639814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7-861E-4EF7-926E-3C11374B33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26487606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3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64876063"/>
        <c:crosses val="min"/>
        <c:crossBetween val="between"/>
        <c:majorUnit val="10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100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#,##0;&quot;-&quot;#,##0" sourceLinked="0"/>
        <c:majorTickMark val="out"/>
        <c:minorTickMark val="none"/>
        <c:tickLblPos val="nextTo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ax"/>
        <c:crossBetween val="between"/>
        <c:majorUnit val="20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互连技术变迁!$L$2</c:f>
              <c:strCache>
                <c:ptCount val="1"/>
                <c:pt idx="0">
                  <c:v>连接器+线缆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互连技术变迁!$M$1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互连技术变迁!$M$2</c:f>
              <c:numCache>
                <c:formatCode>0%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F4-4686-970D-9E4CAB2F27E8}"/>
            </c:ext>
          </c:extLst>
        </c:ser>
        <c:ser>
          <c:idx val="1"/>
          <c:order val="1"/>
          <c:tx>
            <c:strRef>
              <c:f>互连技术变迁!$L$3</c:f>
              <c:strCache>
                <c:ptCount val="1"/>
                <c:pt idx="0">
                  <c:v>物理层接口芯片（高速传输接口）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互连技术变迁!$M$1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互连技术变迁!$M$3</c:f>
              <c:numCache>
                <c:formatCode>0%</c:formatCode>
                <c:ptCount val="1"/>
                <c:pt idx="0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F4-4686-970D-9E4CAB2F27E8}"/>
            </c:ext>
          </c:extLst>
        </c:ser>
        <c:ser>
          <c:idx val="2"/>
          <c:order val="2"/>
          <c:tx>
            <c:strRef>
              <c:f>互连技术变迁!$L$4</c:f>
              <c:strCache>
                <c:ptCount val="1"/>
                <c:pt idx="0">
                  <c:v>周边硬件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互连技术变迁!$M$1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互连技术变迁!$M$4</c:f>
              <c:numCache>
                <c:formatCode>0%</c:formatCode>
                <c:ptCount val="1"/>
                <c:pt idx="0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F4-4686-970D-9E4CAB2F27E8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63922640"/>
        <c:axId val="963914960"/>
      </c:barChart>
      <c:catAx>
        <c:axId val="96392264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3914960"/>
        <c:crosses val="autoZero"/>
        <c:auto val="1"/>
        <c:lblAlgn val="ctr"/>
        <c:lblOffset val="100"/>
        <c:noMultiLvlLbl val="0"/>
      </c:catAx>
      <c:valAx>
        <c:axId val="963914960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639226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互连技术变迁!$N$2</c:f>
              <c:strCache>
                <c:ptCount val="1"/>
                <c:pt idx="0">
                  <c:v>光芯片+光源（激光器）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互连技术变迁!$O$1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互连技术变迁!$O$2</c:f>
              <c:numCache>
                <c:formatCode>0%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6B-4291-AC2E-EB4C6C93BFB3}"/>
            </c:ext>
          </c:extLst>
        </c:ser>
        <c:ser>
          <c:idx val="1"/>
          <c:order val="1"/>
          <c:tx>
            <c:strRef>
              <c:f>互连技术变迁!$N$3</c:f>
              <c:strCache>
                <c:ptCount val="1"/>
                <c:pt idx="0">
                  <c:v>电光接口芯片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互连技术变迁!$O$1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互连技术变迁!$O$3</c:f>
              <c:numCache>
                <c:formatCode>0%</c:formatCode>
                <c:ptCount val="1"/>
                <c:pt idx="0">
                  <c:v>0.1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6B-4291-AC2E-EB4C6C93BFB3}"/>
            </c:ext>
          </c:extLst>
        </c:ser>
        <c:ser>
          <c:idx val="2"/>
          <c:order val="2"/>
          <c:tx>
            <c:strRef>
              <c:f>互连技术变迁!$N$4</c:f>
              <c:strCache>
                <c:ptCount val="1"/>
                <c:pt idx="0">
                  <c:v>周边硬件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互连技术变迁!$O$1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互连技术变迁!$O$4</c:f>
              <c:numCache>
                <c:formatCode>0%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C6B-4291-AC2E-EB4C6C93BFB3}"/>
            </c:ext>
          </c:extLst>
        </c:ser>
        <c:ser>
          <c:idx val="3"/>
          <c:order val="3"/>
          <c:tx>
            <c:strRef>
              <c:f>互连技术变迁!$N$5</c:f>
              <c:strCache>
                <c:ptCount val="1"/>
                <c:pt idx="0">
                  <c:v>光模块盒子（工程和供应链的最优形态）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互连技术变迁!$O$1</c:f>
              <c:strCache>
                <c:ptCount val="1"/>
                <c:pt idx="0">
                  <c:v>份额</c:v>
                </c:pt>
              </c:strCache>
            </c:strRef>
          </c:cat>
          <c:val>
            <c:numRef>
              <c:f>互连技术变迁!$O$5</c:f>
              <c:numCache>
                <c:formatCode>0%</c:formatCode>
                <c:ptCount val="1"/>
                <c:pt idx="0">
                  <c:v>0.35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C6B-4291-AC2E-EB4C6C93BFB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63921680"/>
        <c:axId val="963922160"/>
      </c:barChart>
      <c:catAx>
        <c:axId val="96392168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3922160"/>
        <c:crosses val="autoZero"/>
        <c:auto val="1"/>
        <c:lblAlgn val="ctr"/>
        <c:lblOffset val="100"/>
        <c:noMultiLvlLbl val="0"/>
      </c:catAx>
      <c:valAx>
        <c:axId val="963922160"/>
        <c:scaling>
          <c:orientation val="minMax"/>
          <c:max val="1"/>
        </c:scaling>
        <c:delete val="1"/>
        <c:axPos val="l"/>
        <c:numFmt formatCode="0%" sourceLinked="1"/>
        <c:majorTickMark val="none"/>
        <c:minorTickMark val="none"/>
        <c:tickLblPos val="nextTo"/>
        <c:crossAx val="96392168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互连技术变迁!$P$2</c:f>
              <c:strCache>
                <c:ptCount val="1"/>
                <c:pt idx="0">
                  <c:v>（硅）光芯片 + 光源（外置光源）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互连技术变迁!$Q$1</c:f>
              <c:strCache>
                <c:ptCount val="1"/>
                <c:pt idx="0">
                  <c:v>份额（预测）</c:v>
                </c:pt>
              </c:strCache>
            </c:strRef>
          </c:cat>
          <c:val>
            <c:numRef>
              <c:f>互连技术变迁!$Q$2</c:f>
              <c:numCache>
                <c:formatCode>0%</c:formatCode>
                <c:ptCount val="1"/>
                <c:pt idx="0">
                  <c:v>0.2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54-4E79-900E-558EEF348990}"/>
            </c:ext>
          </c:extLst>
        </c:ser>
        <c:ser>
          <c:idx val="1"/>
          <c:order val="1"/>
          <c:tx>
            <c:strRef>
              <c:f>互连技术变迁!$P$3</c:f>
              <c:strCache>
                <c:ptCount val="1"/>
                <c:pt idx="0">
                  <c:v>电光接口芯片（高速接口）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互连技术变迁!$Q$1</c:f>
              <c:strCache>
                <c:ptCount val="1"/>
                <c:pt idx="0">
                  <c:v>份额（预测）</c:v>
                </c:pt>
              </c:strCache>
            </c:strRef>
          </c:cat>
          <c:val>
            <c:numRef>
              <c:f>互连技术变迁!$Q$3</c:f>
              <c:numCache>
                <c:formatCode>0%</c:formatCode>
                <c:ptCount val="1"/>
                <c:pt idx="0">
                  <c:v>0.15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254-4E79-900E-558EEF348990}"/>
            </c:ext>
          </c:extLst>
        </c:ser>
        <c:ser>
          <c:idx val="2"/>
          <c:order val="2"/>
          <c:tx>
            <c:strRef>
              <c:f>互连技术变迁!$P$4</c:f>
              <c:strCache>
                <c:ptCount val="1"/>
                <c:pt idx="0">
                  <c:v>周边硬件（演化为封装与系统配套）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互连技术变迁!$Q$1</c:f>
              <c:strCache>
                <c:ptCount val="1"/>
                <c:pt idx="0">
                  <c:v>份额（预测）</c:v>
                </c:pt>
              </c:strCache>
            </c:strRef>
          </c:cat>
          <c:val>
            <c:numRef>
              <c:f>互连技术变迁!$Q$4</c:f>
              <c:numCache>
                <c:formatCode>0%</c:formatCode>
                <c:ptCount val="1"/>
                <c:pt idx="0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254-4E79-900E-558EEF348990}"/>
            </c:ext>
          </c:extLst>
        </c:ser>
        <c:ser>
          <c:idx val="3"/>
          <c:order val="3"/>
          <c:tx>
            <c:strRef>
              <c:f>互连技术变迁!$P$5</c:f>
              <c:strCache>
                <c:ptCount val="1"/>
                <c:pt idx="0">
                  <c:v>交换机芯片+光引擎封装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互连技术变迁!$Q$1</c:f>
              <c:strCache>
                <c:ptCount val="1"/>
                <c:pt idx="0">
                  <c:v>份额（预测）</c:v>
                </c:pt>
              </c:strCache>
            </c:strRef>
          </c:cat>
          <c:val>
            <c:numRef>
              <c:f>互连技术变迁!$Q$5</c:f>
              <c:numCache>
                <c:formatCode>0%</c:formatCode>
                <c:ptCount val="1"/>
                <c:pt idx="0">
                  <c:v>0.25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254-4E79-900E-558EEF34899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963915920"/>
        <c:axId val="963924080"/>
      </c:barChart>
      <c:catAx>
        <c:axId val="9639159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963924080"/>
        <c:crosses val="autoZero"/>
        <c:auto val="1"/>
        <c:lblAlgn val="ctr"/>
        <c:lblOffset val="100"/>
        <c:noMultiLvlLbl val="0"/>
      </c:catAx>
      <c:valAx>
        <c:axId val="963924080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9639159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zh-CN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E122AA-3DD6-491B-8E01-9C859ED232BE}" type="datetimeFigureOut">
              <a:rPr lang="zh-CN" altLang="en-US" smtClean="0"/>
              <a:t>2025/8/20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/>
          </a:p>
          <a:p>
            <a:pPr lvl="1"/>
            <a:r>
              <a:rPr lang="zh-CN" altLang="en-US"/>
              <a:t>二级</a:t>
            </a:r>
            <a:endParaRPr/>
          </a:p>
          <a:p>
            <a:pPr lvl="2"/>
            <a:r>
              <a:rPr lang="zh-CN" altLang="en-US"/>
              <a:t>三级</a:t>
            </a:r>
            <a:endParaRPr/>
          </a:p>
          <a:p>
            <a:pPr lvl="3"/>
            <a:r>
              <a:rPr lang="zh-CN" altLang="en-US"/>
              <a:t>四级</a:t>
            </a:r>
            <a:endParaRPr/>
          </a:p>
          <a:p>
            <a:pPr lvl="4"/>
            <a:r>
              <a:rPr lang="zh-CN" altLang="en-US"/>
              <a:t>五级</a:t>
            </a:r>
            <a:endParaRPr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132800-FE64-4159-8F62-EF1F0A4E3E2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）以自身背景出发，也经历了从纯技术背景出身，过渡到偏商业分析的场景，也经历了不爱画</a:t>
            </a:r>
            <a:r>
              <a:rPr lang="en-US" altLang="zh-CN" dirty="0"/>
              <a:t>PPT </a:t>
            </a:r>
            <a:r>
              <a:rPr lang="zh-CN" altLang="en-US" dirty="0"/>
              <a:t>到 不讨厌画</a:t>
            </a:r>
            <a:r>
              <a:rPr lang="en-US" altLang="zh-CN" dirty="0"/>
              <a:t>PPT</a:t>
            </a:r>
            <a:r>
              <a:rPr lang="zh-CN" altLang="en-US" dirty="0"/>
              <a:t>的过程；</a:t>
            </a:r>
            <a:endParaRPr lang="en-US" altLang="zh-CN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/>
              <a:t>2</a:t>
            </a:r>
            <a:r>
              <a:rPr lang="zh-CN" altLang="en-US" dirty="0"/>
              <a:t>）讲好一个故事 </a:t>
            </a:r>
            <a:r>
              <a:rPr lang="en-US" altLang="zh-CN" dirty="0"/>
              <a:t>&amp; </a:t>
            </a:r>
            <a:r>
              <a:rPr lang="zh-CN" altLang="en-US" dirty="0"/>
              <a:t>以</a:t>
            </a:r>
            <a:r>
              <a:rPr lang="en-US" altLang="zh-CN" dirty="0"/>
              <a:t>PPT</a:t>
            </a:r>
            <a:r>
              <a:rPr lang="zh-CN" altLang="en-US" dirty="0"/>
              <a:t>的形式来呈现，是工作当中非常重要的技能；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31642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AB9F2-4393-7A21-C03B-ECDA81CC92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AD0FC4-7D3E-F1A8-1B29-D1388CEEC8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D92472D-0B08-14B0-CBDC-81D348F029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615051-E466-499A-DC21-BB2A80CF72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433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0714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773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5188F-0C1B-9BB9-B624-B8CEE13CF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15D10F4C-27ED-860C-C110-B7EE030448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8BE31EE-32EA-8555-6100-0B4F5670EA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595747-82F0-E094-AEBD-AE7CD9579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6315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0132800-FE64-4159-8F62-EF1F0A4E3E2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2390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6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" name="Documenttype"/>
          <p:cNvSpPr>
            <a:spLocks noGrp="1"/>
          </p:cNvSpPr>
          <p:nvPr>
            <p:ph type="body" sz="quarter" idx="13" hasCustomPrompt="1"/>
          </p:nvPr>
        </p:nvSpPr>
        <p:spPr bwMode="ltGray">
          <a:xfrm>
            <a:off x="550801" y="4881475"/>
            <a:ext cx="7736926" cy="2154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1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Edit date or title/role</a:t>
            </a:r>
            <a:endParaRPr/>
          </a:p>
        </p:txBody>
      </p:sp>
      <p:sp>
        <p:nvSpPr>
          <p:cNvPr id="5" name="Subtitle"/>
          <p:cNvSpPr>
            <a:spLocks noGrp="1"/>
          </p:cNvSpPr>
          <p:nvPr>
            <p:ph type="subTitle" idx="1"/>
          </p:nvPr>
        </p:nvSpPr>
        <p:spPr bwMode="ltGray">
          <a:xfrm>
            <a:off x="551942" y="4170626"/>
            <a:ext cx="7736926" cy="307777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lvl1pPr>
              <a:defRPr lang="en-US" sz="20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Title"/>
          <p:cNvSpPr>
            <a:spLocks noGrp="1"/>
          </p:cNvSpPr>
          <p:nvPr>
            <p:ph type="title"/>
          </p:nvPr>
        </p:nvSpPr>
        <p:spPr bwMode="ltGray">
          <a:xfrm>
            <a:off x="551942" y="3090446"/>
            <a:ext cx="7736926" cy="677108"/>
          </a:xfrm>
          <a:prstGeom prst="rect">
            <a:avLst/>
          </a:prstGeo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400" dirty="0">
                <a:solidFill>
                  <a:schemeClr val="tx2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图片 11" descr="03_Tencent_English logo_Reverse type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466705" y="31750"/>
            <a:ext cx="1647825" cy="677545"/>
          </a:xfrm>
          <a:prstGeom prst="rect">
            <a:avLst/>
          </a:prstGeom>
        </p:spPr>
      </p:pic>
      <p:sp>
        <p:nvSpPr>
          <p:cNvPr id="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1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12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</p:spPr>
        <p:txBody>
          <a:bodyPr vert="horz" wrap="square" lIns="0" tIns="0" rIns="0" bIns="0" rtlCol="0" anchor="ctr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 dirty="0"/>
              <a:t>Click to edit Master title style</a:t>
            </a:r>
            <a:endParaRPr/>
          </a:p>
        </p:txBody>
      </p:sp>
      <p:sp>
        <p:nvSpPr>
          <p:cNvPr id="13" name="3. Subtitle"/>
          <p:cNvSpPr>
            <a:spLocks noGrp="1"/>
          </p:cNvSpPr>
          <p:nvPr>
            <p:ph type="subTitle" idx="1"/>
          </p:nvPr>
        </p:nvSpPr>
        <p:spPr>
          <a:xfrm>
            <a:off x="158750" y="916604"/>
            <a:ext cx="9677146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 lang="en-US" sz="1800" b="0" dirty="0"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Click to edit Master subtitle style</a:t>
            </a:r>
            <a:endParaRPr/>
          </a:p>
        </p:txBody>
      </p:sp>
      <p:sp>
        <p:nvSpPr>
          <p:cNvPr id="14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15" name="5. Source" hidden="1"/>
          <p:cNvSpPr txBox="1"/>
          <p:nvPr userDrawn="1"/>
        </p:nvSpPr>
        <p:spPr>
          <a:xfrm>
            <a:off x="554735" y="6498754"/>
            <a:ext cx="7277861" cy="123111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sz="80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6" name="Text Placeholder 4"/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49" name="RectangleLight"/>
          <p:cNvSpPr/>
          <p:nvPr userDrawn="1"/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5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5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2514600" cy="769441"/>
          </a:xfr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2" name="3. Subtitle"/>
          <p:cNvSpPr>
            <a:spLocks noGrp="1"/>
          </p:cNvSpPr>
          <p:nvPr>
            <p:ph type="subTitle" idx="1"/>
          </p:nvPr>
        </p:nvSpPr>
        <p:spPr>
          <a:xfrm>
            <a:off x="554736" y="3659644"/>
            <a:ext cx="2514600" cy="553998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5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2514601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5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5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9" name="RectangleLight"/>
          <p:cNvSpPr/>
          <p:nvPr userDrawn="1"/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6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61" name="2. Slide Title"/>
          <p:cNvSpPr>
            <a:spLocks noGrp="1"/>
          </p:cNvSpPr>
          <p:nvPr>
            <p:ph type="title"/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>
            <a:lvl1pPr>
              <a:defRPr lang="en-US" dirty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2" name="3. Subtitle"/>
          <p:cNvSpPr>
            <a:spLocks noGrp="1"/>
          </p:cNvSpPr>
          <p:nvPr>
            <p:ph type="subTitle" idx="1"/>
          </p:nvPr>
        </p:nvSpPr>
        <p:spPr>
          <a:xfrm>
            <a:off x="554735" y="3659644"/>
            <a:ext cx="3465575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6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465577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6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/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6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69" name="RectangleLight"/>
          <p:cNvSpPr/>
          <p:nvPr userDrawn="1"/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7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7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5065776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7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7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78" name="Rectangle 3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79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0" name="RectangleLight"/>
          <p:cNvSpPr/>
          <p:nvPr userDrawn="1"/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81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8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6967728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3" name="5. Source" hidden="1"/>
          <p:cNvSpPr txBox="1"/>
          <p:nvPr userDrawn="1"/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8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8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/4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Object 6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8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89" name="RectangleLight"/>
          <p:cNvSpPr/>
          <p:nvPr userDrawn="1"/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rgbClr val="D5E3FF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lvl="0" algn="ctr"/>
            <a:endParaRPr lang="en-US" noProof="0" dirty="0">
              <a:solidFill>
                <a:srgbClr val="F0F0F0"/>
              </a:solidFill>
              <a:latin typeface="+mj-lt"/>
              <a:ea typeface="+mj-ea"/>
              <a:sym typeface="微软雅黑" panose="020B0503020204020204" pitchFamily="34" charset="-122"/>
            </a:endParaRPr>
          </a:p>
        </p:txBody>
      </p:sp>
      <p:sp>
        <p:nvSpPr>
          <p:cNvPr id="9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8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1" name="2. Slide Title"/>
          <p:cNvSpPr>
            <a:spLocks noGrp="1"/>
          </p:cNvSpPr>
          <p:nvPr>
            <p:ph type="title"/>
          </p:nvPr>
        </p:nvSpPr>
        <p:spPr>
          <a:xfrm>
            <a:off x="554736" y="17221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2" name="3. Subtitle"/>
          <p:cNvSpPr>
            <a:spLocks noGrp="1"/>
          </p:cNvSpPr>
          <p:nvPr>
            <p:ph type="subTitle" idx="1"/>
          </p:nvPr>
        </p:nvSpPr>
        <p:spPr>
          <a:xfrm>
            <a:off x="554736" y="988324"/>
            <a:ext cx="7918704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3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94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tx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95" name="图片 7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Cus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Object 1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98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99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0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554735" y="41597"/>
            <a:ext cx="3843338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solidFill>
                  <a:schemeClr val="bg1"/>
                </a:solidFill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pic>
        <p:nvPicPr>
          <p:cNvPr id="101" name="图片 3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End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Object 1" hidden="1"/>
          <p:cNvPicPr/>
          <p:nvPr/>
        </p:nvPicPr>
        <p:blipFill>
          <a:blip r:embed="rId3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04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105" name="TextBox 11"/>
          <p:cNvSpPr txBox="1"/>
          <p:nvPr userDrawn="1"/>
        </p:nvSpPr>
        <p:spPr bwMode="ltGray">
          <a:xfrm>
            <a:off x="4427988" y="3090446"/>
            <a:ext cx="3336024" cy="67710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lv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dirty="0">
                <a:cs typeface="Arial" panose="020B0604020202020204" pitchFamily="34" charset="0"/>
              </a:defRPr>
            </a:lvl1pPr>
            <a:lvl2pPr marL="228600" lvl="1" indent="-2286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dirty="0"/>
            </a:lvl2pPr>
            <a:lvl3pPr marL="438785" lvl="2" indent="-21018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dirty="0"/>
            </a:lvl3pPr>
            <a:lvl4pPr marL="594360" lvl="3" indent="-15557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dirty="0"/>
            </a:lvl4pPr>
            <a:lvl5pPr marL="814070" lvl="4" indent="-1460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dirty="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4400" b="1" dirty="0">
                <a:solidFill>
                  <a:schemeClr val="bg2"/>
                </a:solidFill>
                <a:latin typeface="+mj-lt"/>
                <a:ea typeface="+mj-ea"/>
                <a:sym typeface="微软雅黑" panose="020B0503020204020204" pitchFamily="34" charset="-122"/>
              </a:rPr>
              <a:t>THANK YOU</a:t>
            </a:r>
            <a:endParaRPr/>
          </a:p>
        </p:txBody>
      </p:sp>
      <p:sp>
        <p:nvSpPr>
          <p:cNvPr id="106" name="文本框 3"/>
          <p:cNvSpPr txBox="1"/>
          <p:nvPr userDrawn="1"/>
        </p:nvSpPr>
        <p:spPr>
          <a:xfrm>
            <a:off x="2007704" y="2723322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3-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19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2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  <p:sp>
        <p:nvSpPr>
          <p:cNvPr id="21" name="2. Slide Title"/>
          <p:cNvSpPr>
            <a:spLocks noGrp="1"/>
          </p:cNvSpPr>
          <p:nvPr>
            <p:ph type="title"/>
          </p:nvPr>
        </p:nvSpPr>
        <p:spPr>
          <a:xfrm>
            <a:off x="158750" y="175171"/>
            <a:ext cx="9677146" cy="989512"/>
          </a:xfrm>
        </p:spPr>
        <p:txBody>
          <a:bodyPr vert="horz">
            <a:noAutofit/>
          </a:bodyPr>
          <a:lstStyle>
            <a:lvl1pPr>
              <a:defRPr>
                <a:solidFill>
                  <a:schemeClr val="tx1"/>
                </a:solidFill>
                <a:latin typeface="+mj-lt"/>
                <a:ea typeface="+mj-ea"/>
                <a:sym typeface="微软雅黑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22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Source: …</a:t>
            </a:r>
            <a:endParaRPr/>
          </a:p>
        </p:txBody>
      </p:sp>
      <p:sp>
        <p:nvSpPr>
          <p:cNvPr id="23" name="1. On-page tracker"/>
          <p:cNvSpPr>
            <a:spLocks noGrp="1"/>
          </p:cNvSpPr>
          <p:nvPr>
            <p:ph type="body" sz="quarter" idx="10" hasCustomPrompt="1"/>
          </p:nvPr>
        </p:nvSpPr>
        <p:spPr>
          <a:xfrm>
            <a:off x="158750" y="41597"/>
            <a:ext cx="4239323" cy="12311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spAutoFit/>
          </a:bodyPr>
          <a:lstStyle>
            <a:lvl1pPr>
              <a:defRPr lang="en-US" sz="800" b="0" dirty="0">
                <a:latin typeface="+mj-lt"/>
                <a:ea typeface="+mj-ea"/>
                <a:cs typeface="+mn-cs"/>
                <a:sym typeface="微软雅黑" panose="020B0503020204020204" pitchFamily="34" charset="-122"/>
              </a:defRPr>
            </a:lvl1pPr>
          </a:lstStyle>
          <a:p>
            <a:pPr lvl="0">
              <a:buNone/>
            </a:pPr>
            <a:r>
              <a:rPr lang="en-US" dirty="0"/>
              <a:t>Add tracker</a:t>
            </a:r>
            <a:endParaRPr/>
          </a:p>
        </p:txBody>
      </p:sp>
      <p:sp>
        <p:nvSpPr>
          <p:cNvPr id="24" name="Text Placeholder 4"/>
          <p:cNvSpPr>
            <a:spLocks noGrp="1"/>
          </p:cNvSpPr>
          <p:nvPr>
            <p:ph idx="1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  <p:pic>
        <p:nvPicPr>
          <p:cNvPr id="25" name="图片 6" descr="03_Tencent_English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ject 2" hidden="1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28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1"/>
              </a:spcBef>
              <a:spcAft>
                <a:spcPct val="1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29" name="2. Slide Title"/>
          <p:cNvSpPr>
            <a:spLocks noGrp="1"/>
          </p:cNvSpPr>
          <p:nvPr>
            <p:ph type="title"/>
          </p:nvPr>
        </p:nvSpPr>
        <p:spPr>
          <a:xfrm>
            <a:off x="158750" y="182372"/>
            <a:ext cx="1147851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en-US" dirty="0"/>
              <a:t>Click to edit Master title style</a:t>
            </a:r>
            <a:endParaRPr/>
          </a:p>
        </p:txBody>
      </p:sp>
      <p:sp>
        <p:nvSpPr>
          <p:cNvPr id="30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rPr>
              <a:t>‹#›</a:t>
            </a:fld>
            <a:endParaRPr lang="en-US" sz="90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</a:endParaRPr>
          </a:p>
        </p:txBody>
      </p:sp>
      <p:sp>
        <p:nvSpPr>
          <p:cNvPr id="31" name="5. Source" hidden="1"/>
          <p:cNvSpPr txBox="1"/>
          <p:nvPr userDrawn="1"/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6255" indent="-2876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88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  <a:endParaRPr/>
          </a:p>
        </p:txBody>
      </p:sp>
      <p:sp>
        <p:nvSpPr>
          <p:cNvPr id="32" name="1. On-page tracker"/>
          <p:cNvSpPr>
            <a:spLocks noGrp="1"/>
          </p:cNvSpPr>
          <p:nvPr>
            <p:ph type="body" sz="quarter" idx="17" hasCustomPrompt="1"/>
          </p:nvPr>
        </p:nvSpPr>
        <p:spPr>
          <a:xfrm>
            <a:off x="7159752" y="78768"/>
            <a:ext cx="4480560" cy="123111"/>
          </a:xfrm>
        </p:spPr>
        <p:txBody>
          <a:bodyPr anchor="ctr" anchorCtr="0">
            <a:spAutoFit/>
          </a:bodyPr>
          <a:lstStyle>
            <a:lvl1pPr algn="r">
              <a:defRPr sz="800">
                <a:latin typeface="+mj-lt"/>
                <a:ea typeface="+mj-ea"/>
              </a:defRPr>
            </a:lvl1pPr>
          </a:lstStyle>
          <a:p>
            <a:pPr lvl="0"/>
            <a:r>
              <a:rPr lang="en-US" dirty="0"/>
              <a:t>Chapter › Topic</a:t>
            </a:r>
            <a:endParaRPr/>
          </a:p>
        </p:txBody>
      </p:sp>
      <p:sp>
        <p:nvSpPr>
          <p:cNvPr id="33" name="3. Subtitle"/>
          <p:cNvSpPr>
            <a:spLocks noGrp="1"/>
          </p:cNvSpPr>
          <p:nvPr>
            <p:ph type="subTitle" idx="1"/>
          </p:nvPr>
        </p:nvSpPr>
        <p:spPr>
          <a:xfrm>
            <a:off x="158750" y="919250"/>
            <a:ext cx="11478514" cy="246221"/>
          </a:xfrm>
        </p:spPr>
        <p:txBody>
          <a:bodyPr anchor="ctr" anchorCtr="0"/>
          <a:lstStyle>
            <a:lvl1pPr>
              <a:defRPr>
                <a:latin typeface="+mj-lt"/>
                <a:ea typeface="+mj-ea"/>
              </a:defRPr>
            </a:lvl1pPr>
          </a:lstStyle>
          <a:p>
            <a:r>
              <a:rPr lang="en-US" sz="1600"/>
              <a:t>Click to edit Master subtitle style</a:t>
            </a:r>
            <a:endParaRPr lang="en-US" sz="1600" dirty="0"/>
          </a:p>
        </p:txBody>
      </p:sp>
      <p:sp>
        <p:nvSpPr>
          <p:cNvPr id="34" name="Text Placeholder 4"/>
          <p:cNvSpPr>
            <a:spLocks noGrp="1"/>
          </p:cNvSpPr>
          <p:nvPr>
            <p:ph idx="18"/>
          </p:nvPr>
        </p:nvSpPr>
        <p:spPr>
          <a:xfrm>
            <a:off x="158750" y="2170800"/>
            <a:ext cx="2880641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Click to edit Master text styles</a:t>
            </a:r>
            <a:endParaRPr/>
          </a:p>
          <a:p>
            <a:pPr lvl="1"/>
            <a:r>
              <a:rPr lang="en-US" dirty="0"/>
              <a:t>Second level</a:t>
            </a:r>
            <a:endParaRPr/>
          </a:p>
          <a:p>
            <a:pPr lvl="2"/>
            <a:r>
              <a:rPr lang="en-US" dirty="0"/>
              <a:t>Third level</a:t>
            </a:r>
            <a:endParaRPr/>
          </a:p>
          <a:p>
            <a:pPr lvl="3"/>
            <a:r>
              <a:rPr lang="en-US" dirty="0"/>
              <a:t>Fourth level</a:t>
            </a:r>
            <a:endParaRPr/>
          </a:p>
          <a:p>
            <a:pPr lvl="4"/>
            <a:r>
              <a:rPr lang="en-US" dirty="0"/>
              <a:t>Fifth level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7" name="think-cell data - do not delete" hidden="1">
            <a:extLst>
              <a:ext uri="{FF2B5EF4-FFF2-40B4-BE49-F238E27FC236}">
                <a16:creationId xmlns:a16="http://schemas.microsoft.com/office/drawing/2014/main" id="{5498E0C6-D3B1-F8C9-B459-3679639405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94992585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7" descr="03_Tencent_English logo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10466705" y="31750"/>
            <a:ext cx="1636395" cy="673100"/>
          </a:xfrm>
          <a:prstGeom prst="rect">
            <a:avLst/>
          </a:prstGeom>
        </p:spPr>
      </p:pic>
      <p:pic>
        <p:nvPicPr>
          <p:cNvPr id="3" name="Object 6" hidden="1"/>
          <p:cNvPicPr/>
          <p:nvPr/>
        </p:nvPicPr>
        <p:blipFill>
          <a:blip r:embed="rId17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4" name="Rectangle 1" hidden="1"/>
          <p:cNvSpPr/>
          <p:nvPr userDrawn="1"/>
        </p:nvSpPr>
        <p:spPr>
          <a:xfrm>
            <a:off x="0" y="0"/>
            <a:ext cx="158750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2500" b="1" i="0" baseline="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  <a:sym typeface="微软雅黑" panose="020B0503020204020204" pitchFamily="34" charset="-122"/>
            </a:endParaRPr>
          </a:p>
        </p:txBody>
      </p:sp>
      <p:sp>
        <p:nvSpPr>
          <p:cNvPr id="5" name="4. Footnote" hidden="1"/>
          <p:cNvSpPr txBox="1"/>
          <p:nvPr userDrawn="1"/>
        </p:nvSpPr>
        <p:spPr>
          <a:xfrm>
            <a:off x="553972" y="6278400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noAutofit/>
          </a:bodyPr>
          <a:lstStyle>
            <a:defPPr>
              <a:defRPr lang="en-US"/>
            </a:defPPr>
            <a:lvl1pPr marL="203200" marR="0" lvl="0" indent="-212725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800"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Footnotes</a:t>
            </a:r>
            <a:endParaRPr/>
          </a:p>
        </p:txBody>
      </p:sp>
      <p:sp>
        <p:nvSpPr>
          <p:cNvPr id="6" name="2. Slide Title"/>
          <p:cNvSpPr>
            <a:spLocks noGrp="1"/>
          </p:cNvSpPr>
          <p:nvPr>
            <p:ph type="title"/>
          </p:nvPr>
        </p:nvSpPr>
        <p:spPr>
          <a:xfrm>
            <a:off x="158750" y="1722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/>
          <a:p>
            <a:pPr lvl="0"/>
            <a:r>
              <a:rPr lang="en-US" dirty="0"/>
              <a:t>Click to edit Master title style</a:t>
            </a:r>
            <a:endParaRPr/>
          </a:p>
        </p:txBody>
      </p:sp>
      <p:grpSp>
        <p:nvGrpSpPr>
          <p:cNvPr id="7" name="Grid" hidden="1"/>
          <p:cNvGrpSpPr/>
          <p:nvPr userDrawn="1"/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8" name="slide margin"/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" name="Straight Connector 60"/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61"/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62"/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63"/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64"/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65"/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66"/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67"/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68"/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69"/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70"/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71"/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Freeform: Shape 72"/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2" name="Freeform: Shape 73"/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3" name="Freeform: Shape 74"/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4" name="Freeform: Shape 75"/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5" name="Freeform: Shape 76"/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6" name="Freeform: Shape 77"/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7" name="Freeform: Shape 78"/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8" name="Freeform: Shape 79"/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29" name="Freeform: Shape 80"/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0" name="Freeform: Shape 81"/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1" name="Freeform: Shape 82"/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2" name="Freeform: Shape 83"/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3" name="Freeform: Shape 84"/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4" name="Freeform: Shape 85"/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5" name="Freeform: Shape 86"/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6" name="Freeform: Shape 87"/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7" name="Freeform: Shape 88"/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8" name="Freeform: Shape 89"/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39" name="Freeform: Shape 90"/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0" name="Freeform: Shape 91"/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1" name="Freeform: Shape 92"/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Freeform: Shape 93"/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Freeform: Shape 94"/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4" name="Freeform: Shape 95"/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5" name="Freeform: Shape 96"/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46" name="Straight Connector 97"/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98"/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99"/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100"/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101"/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104"/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106"/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107"/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108"/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109"/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110"/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111"/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112"/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113"/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114"/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15"/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116"/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117"/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118"/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119"/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120"/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121"/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122"/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123"/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124"/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125"/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126"/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127"/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128"/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129"/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130"/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131"/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132"/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133"/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134"/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135"/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136"/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137"/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138"/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139"/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140"/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141"/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142"/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143"/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0" name="main body box"/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noAutofit/>
            </a:bodyPr>
            <a:lstStyle/>
            <a:p>
              <a:endParaRPr lang="en-US" sz="132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cxnSp>
          <p:nvCxnSpPr>
            <p:cNvPr id="91" name="Straight Connector 145"/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92" name="Straight Connector 146"/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sp>
        <p:nvSpPr>
          <p:cNvPr id="93" name="Sticker" hidden="1"/>
          <p:cNvSpPr txBox="1"/>
          <p:nvPr userDrawn="1"/>
        </p:nvSpPr>
        <p:spPr>
          <a:xfrm>
            <a:off x="554736" y="1323648"/>
            <a:ext cx="431208" cy="123111"/>
          </a:xfrm>
          <a:prstGeom prst="rect">
            <a:avLst/>
          </a:prstGeom>
          <a:noFill/>
          <a:ln w="6350">
            <a:noFill/>
            <a:miter lim="800000"/>
          </a:ln>
        </p:spPr>
        <p:txBody>
          <a:bodyPr vert="horz" wrap="none" lIns="0" tIns="0" rIns="0" bIns="0" rtlCol="0">
            <a:spAutoFit/>
          </a:bodyPr>
          <a:lstStyle>
            <a:defPPr>
              <a:defRPr lang="en-US"/>
            </a:defPPr>
            <a:lvl1pPr>
              <a:spcBef>
                <a:spcPts val="300"/>
              </a:spcBef>
              <a:spcAft>
                <a:spcPts val="300"/>
              </a:spcAft>
              <a:buNone/>
              <a:defRPr sz="800" b="1" cap="all" baseline="0"/>
            </a:lvl1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STICKER</a:t>
            </a:r>
            <a:endParaRPr/>
          </a:p>
        </p:txBody>
      </p:sp>
      <p:sp>
        <p:nvSpPr>
          <p:cNvPr id="94" name="ACET" hidden="1"/>
          <p:cNvSpPr txBox="1"/>
          <p:nvPr userDrawn="1"/>
        </p:nvSpPr>
        <p:spPr>
          <a:xfrm>
            <a:off x="554736" y="2170800"/>
            <a:ext cx="3049253" cy="49244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lv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Segoe UI" panose="020B0502040204020203" pitchFamily="34" charset="0"/>
              <a:buChar char="​"/>
              <a:defRPr sz="1600" b="1">
                <a:cs typeface="Arial" panose="020B0604020202020204" pitchFamily="34" charset="0"/>
              </a:defRPr>
            </a:lvl1pPr>
            <a:lvl2pPr marL="228600" lvl="1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Wingdings" panose="05000000000000000000" pitchFamily="2" charset="2"/>
              <a:buChar char=""/>
              <a:defRPr sz="1600"/>
            </a:lvl2pPr>
            <a:lvl3pPr marL="443230" lvl="2" indent="-21463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10000"/>
              <a:buFont typeface="Arial" panose="020B0604020202020204" pitchFamily="34" charset="0"/>
              <a:buChar char="‒"/>
              <a:defRPr sz="1600"/>
            </a:lvl3pPr>
            <a:lvl4pPr marL="598805" lvl="3" indent="-15240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sz="1600"/>
            </a:lvl4pPr>
            <a:lvl5pPr marL="817880" lvl="4" indent="-14795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̶"/>
              <a:defRPr sz="1600"/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lvl="0"/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Above Chart Exhibit Title</a:t>
            </a:r>
            <a:b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b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Unit of Measure</a:t>
            </a:r>
            <a:endParaRPr/>
          </a:p>
        </p:txBody>
      </p:sp>
      <p:sp>
        <p:nvSpPr>
          <p:cNvPr id="95" name="Text Placeholder 4"/>
          <p:cNvSpPr>
            <a:spLocks noGrp="1"/>
          </p:cNvSpPr>
          <p:nvPr>
            <p:ph type="body" idx="1"/>
          </p:nvPr>
        </p:nvSpPr>
        <p:spPr>
          <a:xfrm>
            <a:off x="158750" y="2170800"/>
            <a:ext cx="2880641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Text</a:t>
            </a:r>
            <a:endParaRPr lang="en-US" dirty="0"/>
          </a:p>
        </p:txBody>
      </p:sp>
      <p:grpSp>
        <p:nvGrpSpPr>
          <p:cNvPr id="96" name="LegendLines" hidden="1"/>
          <p:cNvGrpSpPr/>
          <p:nvPr userDrawn="1"/>
        </p:nvGrpSpPr>
        <p:grpSpPr>
          <a:xfrm>
            <a:off x="10317304" y="3150223"/>
            <a:ext cx="1361638" cy="958286"/>
            <a:chOff x="10162879" y="3243772"/>
            <a:chExt cx="1361638" cy="958286"/>
          </a:xfrm>
        </p:grpSpPr>
        <p:sp>
          <p:nvSpPr>
            <p:cNvPr id="97" name="Legend1" hidden="1"/>
            <p:cNvSpPr txBox="1"/>
            <p:nvPr/>
          </p:nvSpPr>
          <p:spPr>
            <a:xfrm>
              <a:off x="10886522" y="324377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8" name="Legend2" hidden="1"/>
            <p:cNvSpPr txBox="1"/>
            <p:nvPr/>
          </p:nvSpPr>
          <p:spPr>
            <a:xfrm>
              <a:off x="10886522" y="3615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99" name="Legend3" hidden="1"/>
            <p:cNvSpPr txBox="1"/>
            <p:nvPr/>
          </p:nvSpPr>
          <p:spPr>
            <a:xfrm>
              <a:off x="10886522" y="398661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0" name="LineLegend3" hidden="1"/>
            <p:cNvSpPr>
              <a:spLocks noChangeShapeType="1"/>
            </p:cNvSpPr>
            <p:nvPr/>
          </p:nvSpPr>
          <p:spPr bwMode="gray">
            <a:xfrm>
              <a:off x="10162879" y="409278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1" name="LineLegend2" hidden="1"/>
            <p:cNvSpPr>
              <a:spLocks noChangeShapeType="1"/>
            </p:cNvSpPr>
            <p:nvPr/>
          </p:nvSpPr>
          <p:spPr bwMode="gray">
            <a:xfrm>
              <a:off x="10162879" y="3719425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2" name="LineLegend1" hidden="1"/>
            <p:cNvSpPr>
              <a:spLocks noChangeShapeType="1"/>
            </p:cNvSpPr>
            <p:nvPr/>
          </p:nvSpPr>
          <p:spPr bwMode="gray">
            <a:xfrm>
              <a:off x="10162879" y="335149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</a:ln>
            <a:effectLst/>
          </p:spPr>
          <p:txBody>
            <a:bodyPr/>
            <a:lstStyle/>
            <a:p>
              <a:endParaRPr lang="en-US" sz="1400" baseline="0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grpSp>
        <p:nvGrpSpPr>
          <p:cNvPr id="103" name="LegendMoons" hidden="1"/>
          <p:cNvGrpSpPr/>
          <p:nvPr userDrawn="1"/>
        </p:nvGrpSpPr>
        <p:grpSpPr>
          <a:xfrm>
            <a:off x="10688315" y="1145373"/>
            <a:ext cx="990627" cy="1731859"/>
            <a:chOff x="7723680" y="1702457"/>
            <a:chExt cx="990627" cy="1731859"/>
          </a:xfrm>
        </p:grpSpPr>
        <p:sp>
          <p:nvSpPr>
            <p:cNvPr id="104" name="Legend1" hidden="1"/>
            <p:cNvSpPr txBox="1"/>
            <p:nvPr/>
          </p:nvSpPr>
          <p:spPr>
            <a:xfrm>
              <a:off x="8076312" y="1709816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5" name="Legend2" hidden="1"/>
            <p:cNvSpPr txBox="1"/>
            <p:nvPr/>
          </p:nvSpPr>
          <p:spPr>
            <a:xfrm>
              <a:off x="8076312" y="2085275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6" name="Legend3" hidden="1"/>
            <p:cNvSpPr txBox="1"/>
            <p:nvPr/>
          </p:nvSpPr>
          <p:spPr>
            <a:xfrm>
              <a:off x="8076312" y="246073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7" name="Legend4" hidden="1"/>
            <p:cNvSpPr txBox="1"/>
            <p:nvPr/>
          </p:nvSpPr>
          <p:spPr>
            <a:xfrm>
              <a:off x="8076312" y="2836193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08" name="Legend5" hidden="1"/>
            <p:cNvSpPr txBox="1"/>
            <p:nvPr/>
          </p:nvSpPr>
          <p:spPr>
            <a:xfrm>
              <a:off x="8076312" y="321165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grpSp>
          <p:nvGrpSpPr>
            <p:cNvPr id="109" name="MoonLegend1" hidden="1"/>
            <p:cNvGrpSpPr>
              <a:grpSpLocks noChangeAspect="1"/>
            </p:cNvGrpSpPr>
            <p:nvPr/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10" name="Oval 213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1" name="Arc 214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2" name="MoonLegend2" hidden="1"/>
            <p:cNvGrpSpPr>
              <a:grpSpLocks noChangeAspect="1"/>
            </p:cNvGrpSpPr>
            <p:nvPr/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13" name="Oval 211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4" name="Arc 212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5" name="MoonLegend3" hidden="1"/>
            <p:cNvGrpSpPr>
              <a:grpSpLocks noChangeAspect="1"/>
            </p:cNvGrpSpPr>
            <p:nvPr/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16" name="Oval 209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17" name="Arc 210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18" name="MoonLegend4" hidden="1"/>
            <p:cNvGrpSpPr>
              <a:grpSpLocks noChangeAspect="1"/>
            </p:cNvGrpSpPr>
            <p:nvPr/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19" name="Oval 207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0" name="Arc 208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grpSp>
          <p:nvGrpSpPr>
            <p:cNvPr id="121" name="MoonLegend5" hidden="1"/>
            <p:cNvGrpSpPr>
              <a:grpSpLocks noChangeAspect="1"/>
            </p:cNvGrpSpPr>
            <p:nvPr/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22" name="Oval 205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23" name="Arc 206" hidden="1"/>
              <p:cNvSpPr/>
              <p:nvPr/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124" name="LegendBoxes" hidden="1"/>
          <p:cNvGrpSpPr/>
          <p:nvPr userDrawn="1"/>
        </p:nvGrpSpPr>
        <p:grpSpPr>
          <a:xfrm>
            <a:off x="10714801" y="4381500"/>
            <a:ext cx="964141" cy="1717282"/>
            <a:chOff x="10652400" y="4322824"/>
            <a:chExt cx="964141" cy="1717282"/>
          </a:xfrm>
        </p:grpSpPr>
        <p:sp>
          <p:nvSpPr>
            <p:cNvPr id="125" name="RectangleLegend1" hidden="1"/>
            <p:cNvSpPr/>
            <p:nvPr/>
          </p:nvSpPr>
          <p:spPr>
            <a:xfrm>
              <a:off x="10652400" y="4344182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6" name="RectangleLegend2" hidden="1"/>
            <p:cNvSpPr/>
            <p:nvPr/>
          </p:nvSpPr>
          <p:spPr>
            <a:xfrm>
              <a:off x="10652400" y="4723680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7" name="RectangleLegend3" hidden="1"/>
            <p:cNvSpPr/>
            <p:nvPr/>
          </p:nvSpPr>
          <p:spPr>
            <a:xfrm>
              <a:off x="10652400" y="5097276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8" name="RectangleLegend4" hidden="1"/>
            <p:cNvSpPr/>
            <p:nvPr/>
          </p:nvSpPr>
          <p:spPr>
            <a:xfrm>
              <a:off x="10652400" y="5470872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29" name="RectangleLegend5" hidden="1"/>
            <p:cNvSpPr/>
            <p:nvPr/>
          </p:nvSpPr>
          <p:spPr>
            <a:xfrm>
              <a:off x="10652400" y="5844468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30" name="Legend1" hidden="1"/>
            <p:cNvSpPr txBox="1"/>
            <p:nvPr/>
          </p:nvSpPr>
          <p:spPr>
            <a:xfrm>
              <a:off x="10978546" y="4322824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1" name="Legend2" hidden="1"/>
            <p:cNvSpPr txBox="1"/>
            <p:nvPr/>
          </p:nvSpPr>
          <p:spPr>
            <a:xfrm>
              <a:off x="10978546" y="470232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2" name="Legend3" hidden="1"/>
            <p:cNvSpPr txBox="1"/>
            <p:nvPr/>
          </p:nvSpPr>
          <p:spPr>
            <a:xfrm>
              <a:off x="10978546" y="5081820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3" name="Legend4" hidden="1"/>
            <p:cNvSpPr txBox="1"/>
            <p:nvPr/>
          </p:nvSpPr>
          <p:spPr>
            <a:xfrm>
              <a:off x="10978546" y="5453241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  <p:sp>
          <p:nvSpPr>
            <p:cNvPr id="134" name="Legend5" hidden="1"/>
            <p:cNvSpPr txBox="1"/>
            <p:nvPr/>
          </p:nvSpPr>
          <p:spPr>
            <a:xfrm>
              <a:off x="10978545" y="5824662"/>
              <a:ext cx="637995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non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Legend</a:t>
              </a:r>
              <a:endParaRPr/>
            </a:p>
          </p:txBody>
        </p:sp>
      </p:grpSp>
      <p:sp>
        <p:nvSpPr>
          <p:cNvPr id="135" name="Slide Number"/>
          <p:cNvSpPr>
            <a:spLocks noChangeArrowheads="1"/>
          </p:cNvSpPr>
          <p:nvPr userDrawn="1"/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870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b="0" smtClean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rPr>
              <a:t>‹#›</a:t>
            </a:fld>
            <a:endParaRPr lang="en-US" sz="900" b="0" dirty="0">
              <a:solidFill>
                <a:schemeClr val="tx1"/>
              </a:solidFill>
              <a:latin typeface="+mj-lt"/>
              <a:ea typeface="+mj-ea"/>
              <a:cs typeface="Arial" panose="020B0604020202020204" pitchFamily="34" charset="0"/>
              <a:sym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1"/>
        </a:spcBef>
        <a:buNone/>
        <a:defRPr lang="en-US" sz="2500" b="0" kern="1200" spc="0" baseline="0" dirty="0">
          <a:ln w="6350" cap="flat">
            <a:noFill/>
            <a:miter lim="800000"/>
          </a:ln>
          <a:solidFill>
            <a:schemeClr val="tx1"/>
          </a:solidFill>
          <a:latin typeface="+mn-lt"/>
          <a:ea typeface="+mn-ea"/>
          <a:cs typeface="+mj-cs"/>
          <a:sym typeface="微软雅黑" panose="020B0503020204020204" pitchFamily="34" charset="-122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tx1"/>
        </a:buClr>
        <a:buSzPct val="100000"/>
        <a:buFont typeface="Segoe UI" panose="020B0502040204020203" pitchFamily="34" charset="0"/>
        <a:buChar char="​"/>
        <a:defRPr lang="en-US" sz="1600" kern="1200" dirty="0">
          <a:solidFill>
            <a:schemeClr val="tx1"/>
          </a:solidFill>
          <a:latin typeface="+mn-lt"/>
          <a:ea typeface="+mn-ea"/>
          <a:cs typeface="Arial" panose="020B0604020202020204" pitchFamily="34" charset="0"/>
          <a:sym typeface="微软雅黑" panose="020B0503020204020204" pitchFamily="34" charset="-122"/>
        </a:defRPr>
      </a:lvl1pPr>
      <a:lvl2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Wingdings" panose="05000000000000000000" pitchFamily="2" charset="2"/>
        <a:buChar char="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2pPr>
      <a:lvl3pPr marL="438785" indent="-21018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10000"/>
        <a:buFont typeface="Arial" panose="020B0604020202020204" pitchFamily="34" charset="0"/>
        <a:buChar char="‒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3pPr>
      <a:lvl4pPr marL="594360" indent="-15557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•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4pPr>
      <a:lvl5pPr marL="814070" indent="-1460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Clr>
          <a:schemeClr val="tx1"/>
        </a:buClr>
        <a:buSzPct val="100000"/>
        <a:buFont typeface="Arial" panose="020B0604020202020204" pitchFamily="34" charset="0"/>
        <a:buChar char="̶"/>
        <a:defRPr lang="en-US" sz="1600" kern="1200" dirty="0">
          <a:solidFill>
            <a:schemeClr val="tx1"/>
          </a:solidFill>
          <a:latin typeface="+mn-lt"/>
          <a:ea typeface="+mn-ea"/>
          <a:cs typeface="+mn-cs"/>
          <a:sym typeface="微软雅黑" panose="020B0503020204020204" pitchFamily="34" charset="-122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7.e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11.xml"/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" Type="http://schemas.openxmlformats.org/officeDocument/2006/relationships/tags" Target="../tags/tag6.xml"/><Relationship Id="rId21" Type="http://schemas.openxmlformats.org/officeDocument/2006/relationships/tags" Target="../tags/tag24.xml"/><Relationship Id="rId7" Type="http://schemas.openxmlformats.org/officeDocument/2006/relationships/tags" Target="../tags/tag10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0" Type="http://schemas.openxmlformats.org/officeDocument/2006/relationships/tags" Target="../tags/tag23.xml"/><Relationship Id="rId29" Type="http://schemas.openxmlformats.org/officeDocument/2006/relationships/image" Target="../media/image7.emf"/><Relationship Id="rId1" Type="http://schemas.openxmlformats.org/officeDocument/2006/relationships/tags" Target="../tags/tag4.xml"/><Relationship Id="rId6" Type="http://schemas.openxmlformats.org/officeDocument/2006/relationships/tags" Target="../tags/tag9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oleObject" Target="../embeddings/oleObject3.bin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chart" Target="../charts/chart2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slideLayout" Target="../slideLayouts/slideLayout2.xml"/><Relationship Id="rId30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42.xml"/><Relationship Id="rId18" Type="http://schemas.openxmlformats.org/officeDocument/2006/relationships/tags" Target="../tags/tag47.xml"/><Relationship Id="rId26" Type="http://schemas.openxmlformats.org/officeDocument/2006/relationships/tags" Target="../tags/tag55.xml"/><Relationship Id="rId3" Type="http://schemas.openxmlformats.org/officeDocument/2006/relationships/tags" Target="../tags/tag32.xml"/><Relationship Id="rId21" Type="http://schemas.openxmlformats.org/officeDocument/2006/relationships/tags" Target="../tags/tag50.xml"/><Relationship Id="rId34" Type="http://schemas.openxmlformats.org/officeDocument/2006/relationships/chart" Target="../charts/chart5.xml"/><Relationship Id="rId7" Type="http://schemas.openxmlformats.org/officeDocument/2006/relationships/tags" Target="../tags/tag36.xml"/><Relationship Id="rId12" Type="http://schemas.openxmlformats.org/officeDocument/2006/relationships/tags" Target="../tags/tag41.xml"/><Relationship Id="rId17" Type="http://schemas.openxmlformats.org/officeDocument/2006/relationships/tags" Target="../tags/tag46.xml"/><Relationship Id="rId25" Type="http://schemas.openxmlformats.org/officeDocument/2006/relationships/tags" Target="../tags/tag54.xml"/><Relationship Id="rId33" Type="http://schemas.openxmlformats.org/officeDocument/2006/relationships/chart" Target="../charts/chart4.xml"/><Relationship Id="rId2" Type="http://schemas.openxmlformats.org/officeDocument/2006/relationships/tags" Target="../tags/tag31.xml"/><Relationship Id="rId16" Type="http://schemas.openxmlformats.org/officeDocument/2006/relationships/tags" Target="../tags/tag45.xml"/><Relationship Id="rId20" Type="http://schemas.openxmlformats.org/officeDocument/2006/relationships/tags" Target="../tags/tag49.xml"/><Relationship Id="rId29" Type="http://schemas.openxmlformats.org/officeDocument/2006/relationships/oleObject" Target="../embeddings/oleObject4.bin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11" Type="http://schemas.openxmlformats.org/officeDocument/2006/relationships/tags" Target="../tags/tag40.xml"/><Relationship Id="rId24" Type="http://schemas.openxmlformats.org/officeDocument/2006/relationships/tags" Target="../tags/tag53.xml"/><Relationship Id="rId32" Type="http://schemas.openxmlformats.org/officeDocument/2006/relationships/image" Target="../media/image8.png"/><Relationship Id="rId5" Type="http://schemas.openxmlformats.org/officeDocument/2006/relationships/tags" Target="../tags/tag34.xml"/><Relationship Id="rId15" Type="http://schemas.openxmlformats.org/officeDocument/2006/relationships/tags" Target="../tags/tag44.xml"/><Relationship Id="rId23" Type="http://schemas.openxmlformats.org/officeDocument/2006/relationships/tags" Target="../tags/tag52.xml"/><Relationship Id="rId28" Type="http://schemas.openxmlformats.org/officeDocument/2006/relationships/notesSlide" Target="../notesSlides/notesSlide2.xml"/><Relationship Id="rId10" Type="http://schemas.openxmlformats.org/officeDocument/2006/relationships/tags" Target="../tags/tag39.xml"/><Relationship Id="rId19" Type="http://schemas.openxmlformats.org/officeDocument/2006/relationships/tags" Target="../tags/tag48.xml"/><Relationship Id="rId31" Type="http://schemas.openxmlformats.org/officeDocument/2006/relationships/chart" Target="../charts/chart3.xml"/><Relationship Id="rId4" Type="http://schemas.openxmlformats.org/officeDocument/2006/relationships/tags" Target="../tags/tag33.xml"/><Relationship Id="rId9" Type="http://schemas.openxmlformats.org/officeDocument/2006/relationships/tags" Target="../tags/tag38.xml"/><Relationship Id="rId14" Type="http://schemas.openxmlformats.org/officeDocument/2006/relationships/tags" Target="../tags/tag43.xml"/><Relationship Id="rId22" Type="http://schemas.openxmlformats.org/officeDocument/2006/relationships/tags" Target="../tags/tag51.xml"/><Relationship Id="rId27" Type="http://schemas.openxmlformats.org/officeDocument/2006/relationships/slideLayout" Target="../slideLayouts/slideLayout2.xml"/><Relationship Id="rId30" Type="http://schemas.openxmlformats.org/officeDocument/2006/relationships/image" Target="../media/image7.emf"/><Relationship Id="rId35" Type="http://schemas.openxmlformats.org/officeDocument/2006/relationships/image" Target="../media/image9.png"/><Relationship Id="rId8" Type="http://schemas.openxmlformats.org/officeDocument/2006/relationships/tags" Target="../tags/tag3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oleObject" Target="../embeddings/oleObject5.bin"/><Relationship Id="rId21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17" Type="http://schemas.openxmlformats.org/officeDocument/2006/relationships/image" Target="../media/image23.jpe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tags" Target="../tags/tag56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9.jpeg"/><Relationship Id="rId10" Type="http://schemas.openxmlformats.org/officeDocument/2006/relationships/image" Target="../media/image16.png"/><Relationship Id="rId19" Type="http://schemas.openxmlformats.org/officeDocument/2006/relationships/image" Target="../media/image25.png"/><Relationship Id="rId4" Type="http://schemas.openxmlformats.org/officeDocument/2006/relationships/image" Target="../media/image10.emf"/><Relationship Id="rId9" Type="http://schemas.openxmlformats.org/officeDocument/2006/relationships/image" Target="../media/image15.png"/><Relationship Id="rId14" Type="http://schemas.openxmlformats.org/officeDocument/2006/relationships/image" Target="../media/image20.png"/><Relationship Id="rId22" Type="http://schemas.openxmlformats.org/officeDocument/2006/relationships/image" Target="../media/image2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notesSlide" Target="../notesSlides/notesSlide3.xml"/><Relationship Id="rId7" Type="http://schemas.openxmlformats.org/officeDocument/2006/relationships/image" Target="../media/image3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7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10" Type="http://schemas.openxmlformats.org/officeDocument/2006/relationships/image" Target="../media/image34.png"/><Relationship Id="rId4" Type="http://schemas.openxmlformats.org/officeDocument/2006/relationships/oleObject" Target="../embeddings/oleObject6.bin"/><Relationship Id="rId9" Type="http://schemas.openxmlformats.org/officeDocument/2006/relationships/image" Target="../media/image33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65.xml"/><Relationship Id="rId13" Type="http://schemas.openxmlformats.org/officeDocument/2006/relationships/tags" Target="../tags/tag70.xml"/><Relationship Id="rId18" Type="http://schemas.openxmlformats.org/officeDocument/2006/relationships/tags" Target="../tags/tag75.xml"/><Relationship Id="rId26" Type="http://schemas.openxmlformats.org/officeDocument/2006/relationships/tags" Target="../tags/tag83.xml"/><Relationship Id="rId3" Type="http://schemas.openxmlformats.org/officeDocument/2006/relationships/tags" Target="../tags/tag60.xml"/><Relationship Id="rId21" Type="http://schemas.openxmlformats.org/officeDocument/2006/relationships/tags" Target="../tags/tag78.xml"/><Relationship Id="rId7" Type="http://schemas.openxmlformats.org/officeDocument/2006/relationships/tags" Target="../tags/tag64.xml"/><Relationship Id="rId12" Type="http://schemas.openxmlformats.org/officeDocument/2006/relationships/tags" Target="../tags/tag69.xml"/><Relationship Id="rId17" Type="http://schemas.openxmlformats.org/officeDocument/2006/relationships/tags" Target="../tags/tag74.xml"/><Relationship Id="rId25" Type="http://schemas.openxmlformats.org/officeDocument/2006/relationships/tags" Target="../tags/tag82.xml"/><Relationship Id="rId2" Type="http://schemas.openxmlformats.org/officeDocument/2006/relationships/tags" Target="../tags/tag59.xml"/><Relationship Id="rId16" Type="http://schemas.openxmlformats.org/officeDocument/2006/relationships/tags" Target="../tags/tag73.xml"/><Relationship Id="rId20" Type="http://schemas.openxmlformats.org/officeDocument/2006/relationships/tags" Target="../tags/tag77.xml"/><Relationship Id="rId29" Type="http://schemas.openxmlformats.org/officeDocument/2006/relationships/image" Target="../media/image7.emf"/><Relationship Id="rId1" Type="http://schemas.openxmlformats.org/officeDocument/2006/relationships/tags" Target="../tags/tag58.xml"/><Relationship Id="rId6" Type="http://schemas.openxmlformats.org/officeDocument/2006/relationships/tags" Target="../tags/tag63.xml"/><Relationship Id="rId11" Type="http://schemas.openxmlformats.org/officeDocument/2006/relationships/tags" Target="../tags/tag68.xml"/><Relationship Id="rId24" Type="http://schemas.openxmlformats.org/officeDocument/2006/relationships/tags" Target="../tags/tag81.xml"/><Relationship Id="rId5" Type="http://schemas.openxmlformats.org/officeDocument/2006/relationships/tags" Target="../tags/tag62.xml"/><Relationship Id="rId15" Type="http://schemas.openxmlformats.org/officeDocument/2006/relationships/tags" Target="../tags/tag72.xml"/><Relationship Id="rId23" Type="http://schemas.openxmlformats.org/officeDocument/2006/relationships/tags" Target="../tags/tag80.xml"/><Relationship Id="rId28" Type="http://schemas.openxmlformats.org/officeDocument/2006/relationships/oleObject" Target="../embeddings/oleObject3.bin"/><Relationship Id="rId10" Type="http://schemas.openxmlformats.org/officeDocument/2006/relationships/tags" Target="../tags/tag67.xml"/><Relationship Id="rId19" Type="http://schemas.openxmlformats.org/officeDocument/2006/relationships/tags" Target="../tags/tag76.xml"/><Relationship Id="rId31" Type="http://schemas.openxmlformats.org/officeDocument/2006/relationships/chart" Target="../charts/chart7.xml"/><Relationship Id="rId4" Type="http://schemas.openxmlformats.org/officeDocument/2006/relationships/tags" Target="../tags/tag61.xml"/><Relationship Id="rId9" Type="http://schemas.openxmlformats.org/officeDocument/2006/relationships/tags" Target="../tags/tag66.xml"/><Relationship Id="rId14" Type="http://schemas.openxmlformats.org/officeDocument/2006/relationships/tags" Target="../tags/tag71.xml"/><Relationship Id="rId22" Type="http://schemas.openxmlformats.org/officeDocument/2006/relationships/tags" Target="../tags/tag79.xml"/><Relationship Id="rId27" Type="http://schemas.openxmlformats.org/officeDocument/2006/relationships/slideLayout" Target="../slideLayouts/slideLayout2.xml"/><Relationship Id="rId30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oleObject" Target="../embeddings/oleObject7.bin"/><Relationship Id="rId7" Type="http://schemas.openxmlformats.org/officeDocument/2006/relationships/image" Target="../media/image35.png"/><Relationship Id="rId12" Type="http://schemas.openxmlformats.org/officeDocument/2006/relationships/image" Target="../media/image40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4.xml"/><Relationship Id="rId6" Type="http://schemas.openxmlformats.org/officeDocument/2006/relationships/image" Target="../media/image12.png"/><Relationship Id="rId11" Type="http://schemas.openxmlformats.org/officeDocument/2006/relationships/image" Target="../media/image39.png"/><Relationship Id="rId5" Type="http://schemas.openxmlformats.org/officeDocument/2006/relationships/image" Target="../media/image11.png"/><Relationship Id="rId15" Type="http://schemas.openxmlformats.org/officeDocument/2006/relationships/image" Target="../media/image43.png"/><Relationship Id="rId10" Type="http://schemas.openxmlformats.org/officeDocument/2006/relationships/image" Target="../media/image38.jpeg"/><Relationship Id="rId4" Type="http://schemas.openxmlformats.org/officeDocument/2006/relationships/image" Target="../media/image7.emf"/><Relationship Id="rId9" Type="http://schemas.openxmlformats.org/officeDocument/2006/relationships/image" Target="../media/image37.png"/><Relationship Id="rId14" Type="http://schemas.openxmlformats.org/officeDocument/2006/relationships/image" Target="../media/image42.jpe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tags" Target="../tags/tag97.xml"/><Relationship Id="rId18" Type="http://schemas.openxmlformats.org/officeDocument/2006/relationships/tags" Target="../tags/tag102.xml"/><Relationship Id="rId26" Type="http://schemas.openxmlformats.org/officeDocument/2006/relationships/notesSlide" Target="../notesSlides/notesSlide4.xml"/><Relationship Id="rId3" Type="http://schemas.openxmlformats.org/officeDocument/2006/relationships/tags" Target="../tags/tag87.xml"/><Relationship Id="rId21" Type="http://schemas.openxmlformats.org/officeDocument/2006/relationships/tags" Target="../tags/tag105.xml"/><Relationship Id="rId34" Type="http://schemas.openxmlformats.org/officeDocument/2006/relationships/chart" Target="../charts/chart9.xml"/><Relationship Id="rId7" Type="http://schemas.openxmlformats.org/officeDocument/2006/relationships/tags" Target="../tags/tag91.xml"/><Relationship Id="rId12" Type="http://schemas.openxmlformats.org/officeDocument/2006/relationships/tags" Target="../tags/tag96.xml"/><Relationship Id="rId17" Type="http://schemas.openxmlformats.org/officeDocument/2006/relationships/tags" Target="../tags/tag101.xml"/><Relationship Id="rId25" Type="http://schemas.openxmlformats.org/officeDocument/2006/relationships/slideLayout" Target="../slideLayouts/slideLayout2.xml"/><Relationship Id="rId33" Type="http://schemas.openxmlformats.org/officeDocument/2006/relationships/chart" Target="../charts/chart8.xml"/><Relationship Id="rId2" Type="http://schemas.openxmlformats.org/officeDocument/2006/relationships/tags" Target="../tags/tag86.xml"/><Relationship Id="rId16" Type="http://schemas.openxmlformats.org/officeDocument/2006/relationships/tags" Target="../tags/tag100.xml"/><Relationship Id="rId20" Type="http://schemas.openxmlformats.org/officeDocument/2006/relationships/tags" Target="../tags/tag104.xml"/><Relationship Id="rId29" Type="http://schemas.openxmlformats.org/officeDocument/2006/relationships/image" Target="../media/image44.png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11" Type="http://schemas.openxmlformats.org/officeDocument/2006/relationships/tags" Target="../tags/tag95.xml"/><Relationship Id="rId24" Type="http://schemas.openxmlformats.org/officeDocument/2006/relationships/tags" Target="../tags/tag108.xml"/><Relationship Id="rId32" Type="http://schemas.openxmlformats.org/officeDocument/2006/relationships/image" Target="../media/image47.svg"/><Relationship Id="rId5" Type="http://schemas.openxmlformats.org/officeDocument/2006/relationships/tags" Target="../tags/tag89.xml"/><Relationship Id="rId15" Type="http://schemas.openxmlformats.org/officeDocument/2006/relationships/tags" Target="../tags/tag99.xml"/><Relationship Id="rId23" Type="http://schemas.openxmlformats.org/officeDocument/2006/relationships/tags" Target="../tags/tag107.xml"/><Relationship Id="rId28" Type="http://schemas.openxmlformats.org/officeDocument/2006/relationships/image" Target="../media/image7.emf"/><Relationship Id="rId10" Type="http://schemas.openxmlformats.org/officeDocument/2006/relationships/tags" Target="../tags/tag94.xml"/><Relationship Id="rId19" Type="http://schemas.openxmlformats.org/officeDocument/2006/relationships/tags" Target="../tags/tag103.xml"/><Relationship Id="rId31" Type="http://schemas.openxmlformats.org/officeDocument/2006/relationships/image" Target="../media/image46.png"/><Relationship Id="rId4" Type="http://schemas.openxmlformats.org/officeDocument/2006/relationships/tags" Target="../tags/tag88.xml"/><Relationship Id="rId9" Type="http://schemas.openxmlformats.org/officeDocument/2006/relationships/tags" Target="../tags/tag93.xml"/><Relationship Id="rId14" Type="http://schemas.openxmlformats.org/officeDocument/2006/relationships/tags" Target="../tags/tag98.xml"/><Relationship Id="rId22" Type="http://schemas.openxmlformats.org/officeDocument/2006/relationships/tags" Target="../tags/tag106.xml"/><Relationship Id="rId27" Type="http://schemas.openxmlformats.org/officeDocument/2006/relationships/oleObject" Target="../embeddings/oleObject8.bin"/><Relationship Id="rId30" Type="http://schemas.openxmlformats.org/officeDocument/2006/relationships/image" Target="../media/image45.svg"/><Relationship Id="rId35" Type="http://schemas.openxmlformats.org/officeDocument/2006/relationships/image" Target="../media/image48.png"/><Relationship Id="rId8" Type="http://schemas.openxmlformats.org/officeDocument/2006/relationships/tags" Target="../tags/tag9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openxmlformats.org/officeDocument/2006/relationships/oleObject" Target="../embeddings/oleObject9.bin"/><Relationship Id="rId7" Type="http://schemas.openxmlformats.org/officeDocument/2006/relationships/chart" Target="../charts/chart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Relationship Id="rId6" Type="http://schemas.openxmlformats.org/officeDocument/2006/relationships/chart" Target="../charts/chart10.xml"/><Relationship Id="rId5" Type="http://schemas.openxmlformats.org/officeDocument/2006/relationships/image" Target="../media/image49.png"/><Relationship Id="rId4" Type="http://schemas.openxmlformats.org/officeDocument/2006/relationships/image" Target="../media/image10.emf"/><Relationship Id="rId9" Type="http://schemas.openxmlformats.org/officeDocument/2006/relationships/image" Target="../media/image5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0.xml"/><Relationship Id="rId5" Type="http://schemas.openxmlformats.org/officeDocument/2006/relationships/image" Target="../media/image51.jpeg"/><Relationship Id="rId4" Type="http://schemas.openxmlformats.org/officeDocument/2006/relationships/image" Target="../media/image7.e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18.xml"/><Relationship Id="rId13" Type="http://schemas.openxmlformats.org/officeDocument/2006/relationships/image" Target="../media/image53.png"/><Relationship Id="rId18" Type="http://schemas.openxmlformats.org/officeDocument/2006/relationships/image" Target="../media/image15.png"/><Relationship Id="rId3" Type="http://schemas.openxmlformats.org/officeDocument/2006/relationships/tags" Target="../tags/tag113.xml"/><Relationship Id="rId7" Type="http://schemas.openxmlformats.org/officeDocument/2006/relationships/tags" Target="../tags/tag117.xml"/><Relationship Id="rId12" Type="http://schemas.openxmlformats.org/officeDocument/2006/relationships/image" Target="../media/image52.png"/><Relationship Id="rId17" Type="http://schemas.openxmlformats.org/officeDocument/2006/relationships/image" Target="../media/image56.png"/><Relationship Id="rId2" Type="http://schemas.openxmlformats.org/officeDocument/2006/relationships/tags" Target="../tags/tag112.xml"/><Relationship Id="rId16" Type="http://schemas.openxmlformats.org/officeDocument/2006/relationships/image" Target="../media/image13.png"/><Relationship Id="rId20" Type="http://schemas.openxmlformats.org/officeDocument/2006/relationships/image" Target="../media/image27.png"/><Relationship Id="rId1" Type="http://schemas.openxmlformats.org/officeDocument/2006/relationships/tags" Target="../tags/tag111.xml"/><Relationship Id="rId6" Type="http://schemas.openxmlformats.org/officeDocument/2006/relationships/tags" Target="../tags/tag116.xml"/><Relationship Id="rId11" Type="http://schemas.openxmlformats.org/officeDocument/2006/relationships/image" Target="../media/image7.emf"/><Relationship Id="rId5" Type="http://schemas.openxmlformats.org/officeDocument/2006/relationships/tags" Target="../tags/tag115.xml"/><Relationship Id="rId15" Type="http://schemas.openxmlformats.org/officeDocument/2006/relationships/image" Target="../media/image55.png"/><Relationship Id="rId10" Type="http://schemas.openxmlformats.org/officeDocument/2006/relationships/oleObject" Target="../embeddings/oleObject11.bin"/><Relationship Id="rId19" Type="http://schemas.openxmlformats.org/officeDocument/2006/relationships/image" Target="../media/image57.png"/><Relationship Id="rId4" Type="http://schemas.openxmlformats.org/officeDocument/2006/relationships/tags" Target="../tags/tag114.xml"/><Relationship Id="rId9" Type="http://schemas.openxmlformats.org/officeDocument/2006/relationships/slideLayout" Target="../slideLayouts/slideLayout2.xml"/><Relationship Id="rId14" Type="http://schemas.openxmlformats.org/officeDocument/2006/relationships/image" Target="../media/image54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59.sv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9.xml"/><Relationship Id="rId6" Type="http://schemas.openxmlformats.org/officeDocument/2006/relationships/image" Target="../media/image58.pn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2.bin"/><Relationship Id="rId9" Type="http://schemas.openxmlformats.org/officeDocument/2006/relationships/image" Target="../media/image61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0.xml"/><Relationship Id="rId6" Type="http://schemas.openxmlformats.org/officeDocument/2006/relationships/image" Target="../media/image62.jpeg"/><Relationship Id="rId5" Type="http://schemas.openxmlformats.org/officeDocument/2006/relationships/image" Target="../media/image10.emf"/><Relationship Id="rId4" Type="http://schemas.openxmlformats.org/officeDocument/2006/relationships/oleObject" Target="../embeddings/oleObject1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0.png"/><Relationship Id="rId18" Type="http://schemas.openxmlformats.org/officeDocument/2006/relationships/image" Target="../media/image74.png"/><Relationship Id="rId26" Type="http://schemas.openxmlformats.org/officeDocument/2006/relationships/image" Target="../media/image81.png"/><Relationship Id="rId39" Type="http://schemas.openxmlformats.org/officeDocument/2006/relationships/image" Target="../media/image93.png"/><Relationship Id="rId21" Type="http://schemas.openxmlformats.org/officeDocument/2006/relationships/image" Target="../media/image77.png"/><Relationship Id="rId34" Type="http://schemas.openxmlformats.org/officeDocument/2006/relationships/image" Target="../media/image88.png"/><Relationship Id="rId42" Type="http://schemas.openxmlformats.org/officeDocument/2006/relationships/image" Target="../media/image96.png"/><Relationship Id="rId47" Type="http://schemas.openxmlformats.org/officeDocument/2006/relationships/image" Target="../media/image100.png"/><Relationship Id="rId50" Type="http://schemas.openxmlformats.org/officeDocument/2006/relationships/image" Target="../media/image103.png"/><Relationship Id="rId55" Type="http://schemas.openxmlformats.org/officeDocument/2006/relationships/image" Target="../media/image108.png"/><Relationship Id="rId63" Type="http://schemas.openxmlformats.org/officeDocument/2006/relationships/image" Target="../media/image116.png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55.png"/><Relationship Id="rId29" Type="http://schemas.openxmlformats.org/officeDocument/2006/relationships/image" Target="../media/image84.png"/><Relationship Id="rId11" Type="http://schemas.openxmlformats.org/officeDocument/2006/relationships/image" Target="../media/image68.png"/><Relationship Id="rId24" Type="http://schemas.openxmlformats.org/officeDocument/2006/relationships/image" Target="../media/image79.png"/><Relationship Id="rId32" Type="http://schemas.openxmlformats.org/officeDocument/2006/relationships/image" Target="../media/image25.png"/><Relationship Id="rId37" Type="http://schemas.openxmlformats.org/officeDocument/2006/relationships/image" Target="../media/image91.png"/><Relationship Id="rId40" Type="http://schemas.openxmlformats.org/officeDocument/2006/relationships/image" Target="../media/image94.png"/><Relationship Id="rId45" Type="http://schemas.openxmlformats.org/officeDocument/2006/relationships/image" Target="../media/image98.png"/><Relationship Id="rId53" Type="http://schemas.openxmlformats.org/officeDocument/2006/relationships/image" Target="../media/image106.png"/><Relationship Id="rId58" Type="http://schemas.openxmlformats.org/officeDocument/2006/relationships/image" Target="../media/image111.png"/><Relationship Id="rId5" Type="http://schemas.openxmlformats.org/officeDocument/2006/relationships/image" Target="../media/image63.png"/><Relationship Id="rId61" Type="http://schemas.openxmlformats.org/officeDocument/2006/relationships/image" Target="../media/image114.png"/><Relationship Id="rId19" Type="http://schemas.openxmlformats.org/officeDocument/2006/relationships/image" Target="../media/image75.png"/><Relationship Id="rId14" Type="http://schemas.openxmlformats.org/officeDocument/2006/relationships/image" Target="../media/image71.png"/><Relationship Id="rId22" Type="http://schemas.openxmlformats.org/officeDocument/2006/relationships/image" Target="../media/image22.png"/><Relationship Id="rId27" Type="http://schemas.openxmlformats.org/officeDocument/2006/relationships/image" Target="../media/image82.png"/><Relationship Id="rId30" Type="http://schemas.openxmlformats.org/officeDocument/2006/relationships/image" Target="../media/image85.png"/><Relationship Id="rId35" Type="http://schemas.openxmlformats.org/officeDocument/2006/relationships/image" Target="../media/image89.png"/><Relationship Id="rId43" Type="http://schemas.openxmlformats.org/officeDocument/2006/relationships/image" Target="../media/image14.png"/><Relationship Id="rId48" Type="http://schemas.openxmlformats.org/officeDocument/2006/relationships/image" Target="../media/image101.png"/><Relationship Id="rId56" Type="http://schemas.openxmlformats.org/officeDocument/2006/relationships/image" Target="../media/image109.png"/><Relationship Id="rId8" Type="http://schemas.openxmlformats.org/officeDocument/2006/relationships/image" Target="../media/image65.png"/><Relationship Id="rId51" Type="http://schemas.openxmlformats.org/officeDocument/2006/relationships/image" Target="../media/image104.png"/><Relationship Id="rId3" Type="http://schemas.openxmlformats.org/officeDocument/2006/relationships/oleObject" Target="../embeddings/oleObject13.bin"/><Relationship Id="rId12" Type="http://schemas.openxmlformats.org/officeDocument/2006/relationships/image" Target="../media/image69.png"/><Relationship Id="rId17" Type="http://schemas.openxmlformats.org/officeDocument/2006/relationships/image" Target="../media/image73.png"/><Relationship Id="rId25" Type="http://schemas.openxmlformats.org/officeDocument/2006/relationships/image" Target="../media/image80.png"/><Relationship Id="rId33" Type="http://schemas.openxmlformats.org/officeDocument/2006/relationships/image" Target="../media/image87.png"/><Relationship Id="rId38" Type="http://schemas.openxmlformats.org/officeDocument/2006/relationships/image" Target="../media/image92.png"/><Relationship Id="rId46" Type="http://schemas.openxmlformats.org/officeDocument/2006/relationships/image" Target="../media/image99.png"/><Relationship Id="rId59" Type="http://schemas.openxmlformats.org/officeDocument/2006/relationships/image" Target="../media/image112.png"/><Relationship Id="rId20" Type="http://schemas.openxmlformats.org/officeDocument/2006/relationships/image" Target="../media/image76.png"/><Relationship Id="rId41" Type="http://schemas.openxmlformats.org/officeDocument/2006/relationships/image" Target="../media/image95.png"/><Relationship Id="rId54" Type="http://schemas.openxmlformats.org/officeDocument/2006/relationships/image" Target="../media/image107.png"/><Relationship Id="rId62" Type="http://schemas.openxmlformats.org/officeDocument/2006/relationships/image" Target="../media/image115.png"/><Relationship Id="rId1" Type="http://schemas.openxmlformats.org/officeDocument/2006/relationships/tags" Target="../tags/tag121.xml"/><Relationship Id="rId6" Type="http://schemas.openxmlformats.org/officeDocument/2006/relationships/image" Target="../media/image64.png"/><Relationship Id="rId15" Type="http://schemas.openxmlformats.org/officeDocument/2006/relationships/image" Target="../media/image72.png"/><Relationship Id="rId23" Type="http://schemas.openxmlformats.org/officeDocument/2006/relationships/image" Target="../media/image78.png"/><Relationship Id="rId28" Type="http://schemas.openxmlformats.org/officeDocument/2006/relationships/image" Target="../media/image83.png"/><Relationship Id="rId36" Type="http://schemas.openxmlformats.org/officeDocument/2006/relationships/image" Target="../media/image90.png"/><Relationship Id="rId49" Type="http://schemas.openxmlformats.org/officeDocument/2006/relationships/image" Target="../media/image102.png"/><Relationship Id="rId57" Type="http://schemas.openxmlformats.org/officeDocument/2006/relationships/image" Target="../media/image110.png"/><Relationship Id="rId10" Type="http://schemas.openxmlformats.org/officeDocument/2006/relationships/image" Target="../media/image67.png"/><Relationship Id="rId31" Type="http://schemas.openxmlformats.org/officeDocument/2006/relationships/image" Target="../media/image86.png"/><Relationship Id="rId44" Type="http://schemas.openxmlformats.org/officeDocument/2006/relationships/image" Target="../media/image97.png"/><Relationship Id="rId52" Type="http://schemas.openxmlformats.org/officeDocument/2006/relationships/image" Target="../media/image105.png"/><Relationship Id="rId60" Type="http://schemas.openxmlformats.org/officeDocument/2006/relationships/image" Target="../media/image113.png"/><Relationship Id="rId4" Type="http://schemas.openxmlformats.org/officeDocument/2006/relationships/image" Target="../media/image10.emf"/><Relationship Id="rId9" Type="http://schemas.openxmlformats.org/officeDocument/2006/relationships/image" Target="../media/image66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2CC5A34-E94C-9C85-43D4-E435CB73F06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7322523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" name="图片 1"/>
          <p:cNvPicPr/>
          <p:nvPr/>
        </p:nvPicPr>
        <p:blipFill>
          <a:blip r:embed="rId6"/>
          <a:stretch>
            <a:fillRect/>
          </a:stretch>
        </p:blipFill>
        <p:spPr>
          <a:xfrm>
            <a:off x="1588" y="1588"/>
            <a:ext cx="1588" cy="1588"/>
          </a:xfrm>
          <a:prstGeom prst="rect">
            <a:avLst/>
          </a:prstGeom>
        </p:spPr>
      </p:pic>
      <p:sp>
        <p:nvSpPr>
          <p:cNvPr id="3" name="文本占位符 1"/>
          <p:cNvSpPr>
            <a:spLocks noGrp="1"/>
          </p:cNvSpPr>
          <p:nvPr>
            <p:ph type="body" sz="quarter" idx="13"/>
          </p:nvPr>
        </p:nvSpPr>
        <p:spPr>
          <a:xfrm>
            <a:off x="550801" y="4881475"/>
            <a:ext cx="7740650" cy="215900"/>
          </a:xfrm>
        </p:spPr>
        <p:txBody>
          <a:bodyPr/>
          <a:lstStyle/>
          <a:p>
            <a:pPr>
              <a:buClr>
                <a:schemeClr val="tx1">
                  <a:alpha val="100000"/>
                </a:schemeClr>
              </a:buClr>
              <a:buSzPct val="100000"/>
              <a:buFont typeface="Segoe UI" panose="020B0502040204020203" pitchFamily="34" charset="0"/>
              <a:buChar char="​"/>
            </a:pPr>
            <a:r>
              <a:rPr lang="en-US" dirty="0"/>
              <a:t>2025/</a:t>
            </a:r>
            <a:r>
              <a:rPr lang="en-US" altLang="zh-CN" dirty="0"/>
              <a:t>08</a:t>
            </a:r>
            <a:endParaRPr lang="zh-CN" dirty="0"/>
          </a:p>
        </p:txBody>
      </p:sp>
      <p:sp>
        <p:nvSpPr>
          <p:cNvPr id="4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标题 3"/>
          <p:cNvSpPr>
            <a:spLocks noGrp="1"/>
          </p:cNvSpPr>
          <p:nvPr>
            <p:ph type="title"/>
          </p:nvPr>
        </p:nvSpPr>
        <p:spPr>
          <a:xfrm>
            <a:off x="551942" y="3090446"/>
            <a:ext cx="7740650" cy="679450"/>
          </a:xfrm>
        </p:spPr>
        <p:txBody>
          <a:bodyPr vert="horz"/>
          <a:lstStyle/>
          <a:p>
            <a:pPr>
              <a:buNone/>
            </a:pPr>
            <a:r>
              <a:rPr lang="en-US" altLang="zh-CN" dirty="0"/>
              <a:t>CPO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C2142-6504-B9B4-CBED-3D265AAB7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C1FC24B-9E23-FCA0-83AB-7138FD1C3D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8" imgW="404" imgH="405" progId="TCLayout.ActiveDocument.1">
                  <p:embed/>
                </p:oleObj>
              </mc:Choice>
              <mc:Fallback>
                <p:oleObj name="think-cell 幻灯片" r:id="rId28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11AF1C5-56F9-9940-02AA-B60CF2F35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IDC</a:t>
            </a:r>
            <a:r>
              <a:rPr lang="zh-CN" altLang="en-US" dirty="0"/>
              <a:t>中</a:t>
            </a:r>
            <a:r>
              <a:rPr lang="en-US" altLang="zh-CN" dirty="0"/>
              <a:t>Scale Up </a:t>
            </a:r>
            <a:r>
              <a:rPr lang="zh-CN" altLang="en-US" dirty="0"/>
              <a:t>与 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27A7DA-D5D1-B360-5FF2-5264A582D167}"/>
              </a:ext>
            </a:extLst>
          </p:cNvPr>
          <p:cNvSpPr/>
          <p:nvPr/>
        </p:nvSpPr>
        <p:spPr>
          <a:xfrm>
            <a:off x="12346623" y="1343025"/>
            <a:ext cx="2018686" cy="12946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解释光模块在数据中心的环节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有效距离一两个数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FCBB847A-7BAC-63B4-2F41-26DD828E1C14}"/>
              </a:ext>
            </a:extLst>
          </p:cNvPr>
          <p:cNvSpPr txBox="1"/>
          <p:nvPr/>
        </p:nvSpPr>
        <p:spPr>
          <a:xfrm>
            <a:off x="524504" y="847033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纵向叠加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，卡间距离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cm-m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9D26EF83-7B6D-778A-6B64-86B5A6A965AC}"/>
              </a:ext>
            </a:extLst>
          </p:cNvPr>
          <p:cNvGrpSpPr/>
          <p:nvPr/>
        </p:nvGrpSpPr>
        <p:grpSpPr>
          <a:xfrm>
            <a:off x="3569693" y="1595514"/>
            <a:ext cx="1110580" cy="1550051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A275F8E5-0C4E-1448-E5B3-6F1AF3DF7F9F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2B9CF1D7-EB4A-19C7-4332-7706BD41E3DF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8B669C98-36D3-2DC0-FB98-DECCD572E0EA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215C3DBA-98DB-4C41-A095-D6E9DE7276BD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2DDF3E3C-B033-3F56-60A5-D3AF24563D34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EEAD20BA-E111-872C-9310-5D089E478DB0}"/>
              </a:ext>
            </a:extLst>
          </p:cNvPr>
          <p:cNvGrpSpPr/>
          <p:nvPr/>
        </p:nvGrpSpPr>
        <p:grpSpPr>
          <a:xfrm>
            <a:off x="1469666" y="1595513"/>
            <a:ext cx="1075291" cy="1550052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965E25FB-042E-752B-1B21-8045D7BD7AF2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DECE4D8-2D7C-33C6-66F8-D8587EC9F1EB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B31EB4A6-2F41-A510-ECA3-FA1D4314AB5D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F9201A86-A9F8-C928-1199-A1C8317A7B06}"/>
              </a:ext>
            </a:extLst>
          </p:cNvPr>
          <p:cNvSpPr/>
          <p:nvPr/>
        </p:nvSpPr>
        <p:spPr>
          <a:xfrm rot="5400000">
            <a:off x="3032860" y="2241272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27AFADDE-684D-76FF-ED5E-BB0883027CDE}"/>
              </a:ext>
            </a:extLst>
          </p:cNvPr>
          <p:cNvSpPr/>
          <p:nvPr/>
        </p:nvSpPr>
        <p:spPr>
          <a:xfrm rot="5400000">
            <a:off x="2240582" y="5125035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5AFA96AA-26BF-B317-BCE6-13DE6EC24C32}"/>
              </a:ext>
            </a:extLst>
          </p:cNvPr>
          <p:cNvGrpSpPr/>
          <p:nvPr/>
        </p:nvGrpSpPr>
        <p:grpSpPr>
          <a:xfrm>
            <a:off x="2524710" y="1688003"/>
            <a:ext cx="431456" cy="1040793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5612C2CA-7487-B790-747F-CF07F79EB1DD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D080EB64-9D40-F836-B215-251AE7B1A239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5F6B986-5E92-5600-3E10-FA9E10CB0A84}"/>
              </a:ext>
            </a:extLst>
          </p:cNvPr>
          <p:cNvGrpSpPr/>
          <p:nvPr/>
        </p:nvGrpSpPr>
        <p:grpSpPr>
          <a:xfrm>
            <a:off x="4651608" y="1670176"/>
            <a:ext cx="431456" cy="1040793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BE172E11-EEDA-1954-1652-4148ABE5E306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E3A056FA-BCC5-B3B2-6B74-05583D251B0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9942AD3E-0243-9F8D-3BBE-3D1D0405045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389242" y="2312029"/>
            <a:ext cx="321852" cy="2255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863E6579-9356-5949-62B4-BD607835B401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389242" y="2312029"/>
            <a:ext cx="321852" cy="55956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87C2165D-110D-6A55-4BBE-E000622E9F7D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526914" y="1872224"/>
            <a:ext cx="311078" cy="42197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0871629E-A91A-7BF3-5C3B-AADF82C76ECE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526914" y="2206236"/>
            <a:ext cx="311079" cy="8796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205A8889-7ECC-C0E7-F31C-A5D6788B99E4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526914" y="2294202"/>
            <a:ext cx="311078" cy="24604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4D4D8B18-E7E8-E290-FC71-A2C35566C5C9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526914" y="2294202"/>
            <a:ext cx="311078" cy="5800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D1571794-466C-9ECB-22D5-0AD860A9C980}"/>
              </a:ext>
            </a:extLst>
          </p:cNvPr>
          <p:cNvGrpSpPr/>
          <p:nvPr/>
        </p:nvGrpSpPr>
        <p:grpSpPr>
          <a:xfrm>
            <a:off x="870255" y="4611893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A9CFED0C-C5C8-70FA-C735-A85B2182F5D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40652628-7233-9F92-B8BC-64AFE2386BF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97C86563-9B1C-5AC2-3D94-57242B2BDFDF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E46F5CE3-F122-B50A-5DFC-56E64A4E0978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A3B29D23-5F37-BF08-4898-C2011A14AD9E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63781D92-4BEC-7BA6-BB36-D552CA8AEB06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AE4B18C1-503F-697F-0558-FFFD7390ABBE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A78475D6-A9C6-2B4F-C6A2-72AC0B881247}"/>
              </a:ext>
            </a:extLst>
          </p:cNvPr>
          <p:cNvGrpSpPr/>
          <p:nvPr/>
        </p:nvGrpSpPr>
        <p:grpSpPr>
          <a:xfrm>
            <a:off x="2847855" y="3913613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655869C3-C6A7-FA99-6392-56EBED0C6AFD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F4DA2476-B1C5-AA7F-86A8-4825B7B86D7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2C8012CD-B402-C196-F3CA-498BD8486C99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9C135BE1-B868-25CD-B6E5-38303BC50592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1EEFAE68-B91A-8AC8-D012-9F54CA2CAE8F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BC37673A-DABA-F906-2BB0-1B44F13CBEAF}"/>
              </a:ext>
            </a:extLst>
          </p:cNvPr>
          <p:cNvGrpSpPr/>
          <p:nvPr/>
        </p:nvGrpSpPr>
        <p:grpSpPr>
          <a:xfrm>
            <a:off x="2871943" y="5344303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CFDDEAE8-BD88-F4AB-E1FD-692B7A965A96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412A1DFB-824D-4ADE-6839-B7EAE99EEDBD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92FBFED9-EEAE-5456-D940-0CDCE0357514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8BF0E8F4-CC07-658D-FC07-A63C64EE392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F166B3AE-9800-342B-8917-A05D5B05797E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349FB1E8-2ED6-EB0C-2BC8-9081E5FB11A9}"/>
              </a:ext>
            </a:extLst>
          </p:cNvPr>
          <p:cNvGrpSpPr/>
          <p:nvPr/>
        </p:nvGrpSpPr>
        <p:grpSpPr>
          <a:xfrm>
            <a:off x="4187156" y="3913613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F2855A3A-B2F5-2584-134D-8470C851334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D542B57A-569E-1AF7-F68B-AD414B8B071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038A0050-8206-D186-D05E-533A3D8FA45E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BA499E6D-DA6F-3849-CCDF-193BBBDB385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2EB48ED1-4B6D-5F43-E406-30CDE8FE1FAC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822A31C-B397-E9AA-02F6-822704F1393A}"/>
              </a:ext>
            </a:extLst>
          </p:cNvPr>
          <p:cNvGrpSpPr/>
          <p:nvPr/>
        </p:nvGrpSpPr>
        <p:grpSpPr>
          <a:xfrm>
            <a:off x="4181899" y="5344303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A444B65E-0228-BD2E-A40A-2F24B4F81361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3DB00DB7-B705-CC86-3CE8-E409A73DB5B6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707984F9-2515-726F-38CE-B57245E91280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102A6C25-5645-34AA-5CC7-962CB1DD711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3EB45D3-DFD0-B896-6A8E-E8422AC6E50A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B2E521CC-2408-6A85-36DA-985994ECA8E8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3997701" y="4862496"/>
            <a:ext cx="21167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0325B44E-AB9E-C39C-2A98-E033136CE0F4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4015437" y="4862496"/>
            <a:ext cx="199198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4DEA9E3D-92AE-C697-7ACC-FE17EEDFB838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3997701" y="4862496"/>
            <a:ext cx="17736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C84F15C9-33D7-51CA-C218-0F5F05D3F641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4209378" y="4862496"/>
            <a:ext cx="525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F9478CD5-A52C-B137-66D2-7EF621884E62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3997701" y="4862496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51CAA25C-DDD5-D143-AAC8-1C7FE9D5D395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4015437" y="5557815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B0F04F1F-B7C6-EBF5-08EF-77EE958C1F26}"/>
              </a:ext>
            </a:extLst>
          </p:cNvPr>
          <p:cNvGrpSpPr/>
          <p:nvPr/>
        </p:nvGrpSpPr>
        <p:grpSpPr>
          <a:xfrm>
            <a:off x="517971" y="1216313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E64EF022-78BB-6895-24DA-DEE29289F0BE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F8E81B31-E2A9-5192-E979-77F1F630CD3C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307CC22A-CCC6-4D44-DC02-EC51BC3A8FF1}"/>
              </a:ext>
            </a:extLst>
          </p:cNvPr>
          <p:cNvSpPr txBox="1"/>
          <p:nvPr/>
        </p:nvSpPr>
        <p:spPr>
          <a:xfrm>
            <a:off x="524504" y="340734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算力节点横向互连，节点距离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m-km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0CFD5E0F-4B52-B447-DC64-8BCCDD773497}"/>
              </a:ext>
            </a:extLst>
          </p:cNvPr>
          <p:cNvSpPr txBox="1"/>
          <p:nvPr/>
        </p:nvSpPr>
        <p:spPr>
          <a:xfrm>
            <a:off x="1740008" y="454692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FADDC3B0-6DA2-BF31-64AF-8CF9B00BC950}"/>
              </a:ext>
            </a:extLst>
          </p:cNvPr>
          <p:cNvSpPr txBox="1"/>
          <p:nvPr/>
        </p:nvSpPr>
        <p:spPr>
          <a:xfrm>
            <a:off x="3650832" y="3875473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B4381F0-6385-7155-90BC-E113A0D58E3E}"/>
              </a:ext>
            </a:extLst>
          </p:cNvPr>
          <p:cNvSpPr/>
          <p:nvPr/>
        </p:nvSpPr>
        <p:spPr>
          <a:xfrm>
            <a:off x="3976523" y="4833823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D2ACD24C-DC11-905E-59FC-8D62AF0EA919}"/>
              </a:ext>
            </a:extLst>
          </p:cNvPr>
          <p:cNvSpPr/>
          <p:nvPr/>
        </p:nvSpPr>
        <p:spPr>
          <a:xfrm>
            <a:off x="4193602" y="483139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C18357BC-3F63-6843-F6E2-D9EBA1CEB9DC}"/>
              </a:ext>
            </a:extLst>
          </p:cNvPr>
          <p:cNvSpPr/>
          <p:nvPr/>
        </p:nvSpPr>
        <p:spPr>
          <a:xfrm>
            <a:off x="3996784" y="553269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10254AE5-0E3D-67E0-2C31-7239AF43B9E9}"/>
              </a:ext>
            </a:extLst>
          </p:cNvPr>
          <p:cNvSpPr/>
          <p:nvPr/>
        </p:nvSpPr>
        <p:spPr>
          <a:xfrm>
            <a:off x="4187014" y="5536426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99BEF00D-A311-4A2F-ABF3-7028A3277BCA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3648988" y="4245445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AA271BE-1061-84A3-ED4E-E3A98ABCDC04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3648986" y="4484669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44F8BD5D-885F-5D2A-0CA0-D9A0E7A38FDB}"/>
              </a:ext>
            </a:extLst>
          </p:cNvPr>
          <p:cNvSpPr/>
          <p:nvPr/>
        </p:nvSpPr>
        <p:spPr>
          <a:xfrm>
            <a:off x="376252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3EB20156-49FA-55E4-9448-5E547D25DD1D}"/>
              </a:ext>
            </a:extLst>
          </p:cNvPr>
          <p:cNvSpPr/>
          <p:nvPr/>
        </p:nvSpPr>
        <p:spPr>
          <a:xfrm>
            <a:off x="4397965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241747D7-1124-AD73-DCA4-77F760129B8E}"/>
              </a:ext>
            </a:extLst>
          </p:cNvPr>
          <p:cNvSpPr/>
          <p:nvPr/>
        </p:nvSpPr>
        <p:spPr>
          <a:xfrm>
            <a:off x="3772919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5F2B61BA-A6D0-1BFF-7A8A-F4D239368D02}"/>
              </a:ext>
            </a:extLst>
          </p:cNvPr>
          <p:cNvSpPr/>
          <p:nvPr/>
        </p:nvSpPr>
        <p:spPr>
          <a:xfrm>
            <a:off x="4397965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4BD645E1-DBA2-9092-4037-290998D12919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3673074" y="5925498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5F8B2C4A-B844-DB33-4313-F9862FC4604B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3673076" y="5676135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06BFBAF6-BB0E-110D-8340-AC47E13EA642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4443684" y="4245445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C47C1FA2-C111-191C-83B1-90BB94340221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4443685" y="4486869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BC4D1D81-190D-3FC9-804D-4F913A0ED43A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4443684" y="5676134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59CDD64F-D41D-B90D-F7AE-16A5A4D6B7AB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4443684" y="5925499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E019D128-B110-E1F6-F93C-393F61EFD1FC}"/>
              </a:ext>
            </a:extLst>
          </p:cNvPr>
          <p:cNvSpPr/>
          <p:nvPr/>
        </p:nvSpPr>
        <p:spPr>
          <a:xfrm>
            <a:off x="3924503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46477D02-129D-9C2E-3C6D-3D63152685CC}"/>
              </a:ext>
            </a:extLst>
          </p:cNvPr>
          <p:cNvSpPr/>
          <p:nvPr/>
        </p:nvSpPr>
        <p:spPr>
          <a:xfrm>
            <a:off x="423685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CE296847-4533-FE03-DDEF-186ACA1F2F7C}"/>
              </a:ext>
            </a:extLst>
          </p:cNvPr>
          <p:cNvSpPr/>
          <p:nvPr/>
        </p:nvSpPr>
        <p:spPr>
          <a:xfrm>
            <a:off x="3941539" y="590499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A8F5EE82-693E-5C52-8962-C9BB8646C1C4}"/>
              </a:ext>
            </a:extLst>
          </p:cNvPr>
          <p:cNvSpPr/>
          <p:nvPr/>
        </p:nvSpPr>
        <p:spPr>
          <a:xfrm>
            <a:off x="4235095" y="590353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8CA6890F-0E0A-CF01-E0A9-FD6A4C85E4F6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3808246" y="4484669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17347AFC-CFE7-8F29-9F3C-8251712DC8F8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4282576" y="4484669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A2AE2BB6-1762-6CCE-48CE-CEA3ACC6982C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3818638" y="5925498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19592682-4EE0-79D5-8595-F5CAF7E47AA7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4280814" y="5925498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03132B9D-4854-895A-CFFE-662665B22780}"/>
              </a:ext>
            </a:extLst>
          </p:cNvPr>
          <p:cNvGrpSpPr/>
          <p:nvPr/>
        </p:nvGrpSpPr>
        <p:grpSpPr>
          <a:xfrm>
            <a:off x="540317" y="3852677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D1D101FE-4DF0-899A-BF1B-00AA5B7DBCDB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BB3DF70E-2952-0F11-3BB1-B6048D3DAC35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99AB7532-9D35-5CCE-C6E2-6DB4D5569C1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3B54F34A-CE0E-8936-6DAA-45B09663BDFF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E1D1FEBA-938A-3562-0934-FBCBECD015E8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3351" name="矩形 3350">
            <a:extLst>
              <a:ext uri="{FF2B5EF4-FFF2-40B4-BE49-F238E27FC236}">
                <a16:creationId xmlns:a16="http://schemas.microsoft.com/office/drawing/2014/main" id="{3F33AF71-98E2-073F-C72C-3C3AEDE81009}"/>
              </a:ext>
            </a:extLst>
          </p:cNvPr>
          <p:cNvSpPr/>
          <p:nvPr/>
        </p:nvSpPr>
        <p:spPr>
          <a:xfrm>
            <a:off x="12346623" y="2997731"/>
            <a:ext cx="3664561" cy="267840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简单的制约三角形（可以放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），距离、信息损耗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(BER 40%)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每机架增加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增长率，对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意味着什么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现状是什么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，省功耗到底意味着什么，功耗整体会降低多少？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4A65848-8AB1-1F19-6C1C-4ED8B41ABC64}"/>
              </a:ext>
            </a:extLst>
          </p:cNvPr>
          <p:cNvSpPr txBox="1"/>
          <p:nvPr/>
        </p:nvSpPr>
        <p:spPr>
          <a:xfrm>
            <a:off x="5970588" y="827088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功耗、速率、距离取舍：光模块在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优先适配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FC4906E-4DD0-5C1B-5F74-952C95DE35EE}"/>
              </a:ext>
            </a:extLst>
          </p:cNvPr>
          <p:cNvSpPr txBox="1"/>
          <p:nvPr/>
        </p:nvSpPr>
        <p:spPr>
          <a:xfrm>
            <a:off x="6073775" y="1343025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暂不适配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：光互联功耗随速度增长显著上升，如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NVL72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因光学链路功耗过高（每机架增加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）只能采用铜互连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DD606CEB-1682-03C9-E149-9FF0E42FB554}"/>
              </a:ext>
            </a:extLst>
          </p:cNvPr>
          <p:cNvSpPr txBox="1"/>
          <p:nvPr/>
        </p:nvSpPr>
        <p:spPr>
          <a:xfrm>
            <a:off x="3992284" y="3875472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0B80D1-6C3C-D771-C2F3-FA892D198EF1}"/>
              </a:ext>
            </a:extLst>
          </p:cNvPr>
          <p:cNvSpPr txBox="1"/>
          <p:nvPr/>
        </p:nvSpPr>
        <p:spPr>
          <a:xfrm>
            <a:off x="3669264" y="6197720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683806E-9EE7-3795-8A20-D55B7F534211}"/>
              </a:ext>
            </a:extLst>
          </p:cNvPr>
          <p:cNvSpPr txBox="1"/>
          <p:nvPr/>
        </p:nvSpPr>
        <p:spPr>
          <a:xfrm>
            <a:off x="4010716" y="6197719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ED8DF3-CDD1-2C5A-19A1-C1EF94DB9D06}"/>
              </a:ext>
            </a:extLst>
          </p:cNvPr>
          <p:cNvSpPr txBox="1"/>
          <p:nvPr/>
        </p:nvSpPr>
        <p:spPr>
          <a:xfrm>
            <a:off x="6067426" y="3759200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适配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：传输速率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&lt;=&gt;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传输距离减少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30-50%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，导致超过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米的连接需采用光互连取代铜互连。（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vs FPP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508" name="Chart 3">
            <a:extLst>
              <a:ext uri="{FF2B5EF4-FFF2-40B4-BE49-F238E27FC236}">
                <a16:creationId xmlns:a16="http://schemas.microsoft.com/office/drawing/2014/main" id="{FA1AC864-6FAB-059E-50CE-17954B4F3A34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6361113" y="2249488"/>
          <a:ext cx="435927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3420" name="直接连接符 3419">
            <a:extLst>
              <a:ext uri="{FF2B5EF4-FFF2-40B4-BE49-F238E27FC236}">
                <a16:creationId xmlns:a16="http://schemas.microsoft.com/office/drawing/2014/main" id="{E71E3D05-6A33-7773-BA49-51257001D1B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9826625" y="2133600"/>
            <a:ext cx="0" cy="5667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1" name="直接连接符 3420">
            <a:extLst>
              <a:ext uri="{FF2B5EF4-FFF2-40B4-BE49-F238E27FC236}">
                <a16:creationId xmlns:a16="http://schemas.microsoft.com/office/drawing/2014/main" id="{5B84EBF7-2C92-2DAD-6034-14000105592A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826625" y="2133600"/>
            <a:ext cx="539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2" name="直接连接符 3421">
            <a:extLst>
              <a:ext uri="{FF2B5EF4-FFF2-40B4-BE49-F238E27FC236}">
                <a16:creationId xmlns:a16="http://schemas.microsoft.com/office/drawing/2014/main" id="{D8D33B67-1750-FF43-EE1E-E19CBB565986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366375" y="2133600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4" name="Text Placeholder 4">
            <a:extLst>
              <a:ext uri="{FF2B5EF4-FFF2-40B4-BE49-F238E27FC236}">
                <a16:creationId xmlns:a16="http://schemas.microsoft.com/office/drawing/2014/main" id="{253AB414-7BD6-3A73-D691-C950BD81498F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70725" y="3405188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475EC3-683F-4F67-8116-B29F93B345CD}" type="datetime'''''''''''''''''''''''''''''''1''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99" name="Text Placeholder 4">
            <a:extLst>
              <a:ext uri="{FF2B5EF4-FFF2-40B4-BE49-F238E27FC236}">
                <a16:creationId xmlns:a16="http://schemas.microsoft.com/office/drawing/2014/main" id="{E7840E24-434E-3780-2EE5-764CC4AD5654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56126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042603C-FF20-45F3-91FB-FD2CAC855BA2}" type="datetime'''''''''''''''''''''''''''''''''''''''''''1''''''''''''0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0" name="Text Placeholder 4">
            <a:extLst>
              <a:ext uri="{FF2B5EF4-FFF2-40B4-BE49-F238E27FC236}">
                <a16:creationId xmlns:a16="http://schemas.microsoft.com/office/drawing/2014/main" id="{A3911066-BE52-7303-04E0-505703F75C27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0101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28959A9-BB07-4F93-9DCE-40E63A7CAF1A}" type="datetime'4''''''''''''''''''''''''''''''''''''''''''0'''''">
              <a:rPr lang="zh-CN" altLang="en-US" sz="1400" smtClean="0">
                <a:cs typeface="+mn-cs"/>
              </a:rPr>
              <a:pPr/>
              <a:t>40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6" name="Text Placeholder 4">
            <a:extLst>
              <a:ext uri="{FF2B5EF4-FFF2-40B4-BE49-F238E27FC236}">
                <a16:creationId xmlns:a16="http://schemas.microsoft.com/office/drawing/2014/main" id="{B97F7A6B-30A2-E594-DBB7-4A3DA25C8369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931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07D7B08-8A28-4D1D-8757-D8078690525A}" type="datetime'''''''''''''''''''''10''''''''''''''''''''0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8" name="Text Placeholder 4">
            <a:extLst>
              <a:ext uri="{FF2B5EF4-FFF2-40B4-BE49-F238E27FC236}">
                <a16:creationId xmlns:a16="http://schemas.microsoft.com/office/drawing/2014/main" id="{05DB308F-FA69-3314-31E0-E89CF144E800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28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3AD261-03C4-4BCF-B050-8E555F298E3C}" type="datetime'2''''''''''''''''''''''''''0''''''''''''0''''''''''''''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9" name="Text Placeholder 4">
            <a:extLst>
              <a:ext uri="{FF2B5EF4-FFF2-40B4-BE49-F238E27FC236}">
                <a16:creationId xmlns:a16="http://schemas.microsoft.com/office/drawing/2014/main" id="{37DFAD35-8097-A506-CD76-8448801E7D5E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6726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61BDB9E-66BC-4B87-BBF4-A6287BDED399}" type="datetime'''4''''''''''''''''''''''''''''0''''''0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11" name="Text Placeholder 4">
            <a:extLst>
              <a:ext uri="{FF2B5EF4-FFF2-40B4-BE49-F238E27FC236}">
                <a16:creationId xmlns:a16="http://schemas.microsoft.com/office/drawing/2014/main" id="{4884ECF0-94CC-A735-B56E-42D392C9A740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2123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0B71B0D-2E04-4E15-8B39-833BDE05E7D6}" type="datetime'''''''''''''''''8''0''0''''''''''''''''''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19" name="Text Placeholder 4">
            <a:extLst>
              <a:ext uri="{FF2B5EF4-FFF2-40B4-BE49-F238E27FC236}">
                <a16:creationId xmlns:a16="http://schemas.microsoft.com/office/drawing/2014/main" id="{47EC424C-DB68-6E95-050F-AF40622A358C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72650" y="19827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54794A5-5734-4ECA-8C79-69548A450634}" type="datetime'''''+''''''''''''''''''''''''''7''''''''''''''1''%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+71%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10" name="Text Placeholder 4">
            <a:extLst>
              <a:ext uri="{FF2B5EF4-FFF2-40B4-BE49-F238E27FC236}">
                <a16:creationId xmlns:a16="http://schemas.microsoft.com/office/drawing/2014/main" id="{0E40B645-51C6-625E-F7A8-FE35E0F7B3D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705475" y="2149475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Power(w)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17" name="Text Placeholder 4">
            <a:extLst>
              <a:ext uri="{FF2B5EF4-FFF2-40B4-BE49-F238E27FC236}">
                <a16:creationId xmlns:a16="http://schemas.microsoft.com/office/drawing/2014/main" id="{67482C71-D007-C778-E341-F0E441B415EF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61600" y="321786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Optical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509" name="Chart 3">
            <a:extLst>
              <a:ext uri="{FF2B5EF4-FFF2-40B4-BE49-F238E27FC236}">
                <a16:creationId xmlns:a16="http://schemas.microsoft.com/office/drawing/2014/main" id="{23679B4A-6918-15C6-684A-6A77671E26CF}"/>
              </a:ext>
            </a:extLst>
          </p:cNvPr>
          <p:cNvGraphicFramePr/>
          <p:nvPr>
            <p:custDataLst>
              <p:tags r:id="rId16"/>
            </p:custDataLst>
          </p:nvPr>
        </p:nvGraphicFramePr>
        <p:xfrm>
          <a:off x="6257925" y="4610100"/>
          <a:ext cx="4359275" cy="1744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3444" name="Text Placeholder 4">
            <a:extLst>
              <a:ext uri="{FF2B5EF4-FFF2-40B4-BE49-F238E27FC236}">
                <a16:creationId xmlns:a16="http://schemas.microsoft.com/office/drawing/2014/main" id="{FA46A94C-B09B-D206-C909-25068CFC6F48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935788" y="6107113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994EDF5-41AB-44C9-8643-CCA0385B3F12}" type="datetime'''''''''''''''''''''''''''''''''1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5" name="Text Placeholder 4">
            <a:extLst>
              <a:ext uri="{FF2B5EF4-FFF2-40B4-BE49-F238E27FC236}">
                <a16:creationId xmlns:a16="http://schemas.microsoft.com/office/drawing/2014/main" id="{9BBB481C-A130-8215-AFD0-3999DE40C3A3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7358063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87BC156-6677-4CB3-9399-E9004E5B2912}" type="datetime'''''1''''''''0''''''''''''''''''''''''''''''''''''''''''''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6" name="Text Placeholder 4">
            <a:extLst>
              <a:ext uri="{FF2B5EF4-FFF2-40B4-BE49-F238E27FC236}">
                <a16:creationId xmlns:a16="http://schemas.microsoft.com/office/drawing/2014/main" id="{DAC0628D-A142-95DC-8C9F-4797765DFA69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7831138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A3DA8E2-C6B5-45A5-BEA6-5B5B3D1B543C}" type="datetime'''''2''5'''''''''''''''''''''''''''''''''''''''''">
              <a:rPr lang="zh-CN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7" name="Text Placeholder 4">
            <a:extLst>
              <a:ext uri="{FF2B5EF4-FFF2-40B4-BE49-F238E27FC236}">
                <a16:creationId xmlns:a16="http://schemas.microsoft.com/office/drawing/2014/main" id="{498E0114-F108-F5EF-62B1-0FF3B2A1425C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8304213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007A98-CBC8-4E33-9DEE-1626D01E11A1}" type="datetime'''''''''''''''''''''''''''''50'''''''''''''''''''''''''''''''">
              <a:rPr lang="zh-CN" altLang="en-US" sz="1400" smtClean="0">
                <a:cs typeface="+mn-cs"/>
              </a:rPr>
              <a:pPr/>
              <a:t>50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8" name="Text Placeholder 4">
            <a:extLst>
              <a:ext uri="{FF2B5EF4-FFF2-40B4-BE49-F238E27FC236}">
                <a16:creationId xmlns:a16="http://schemas.microsoft.com/office/drawing/2014/main" id="{9043AA45-E8AC-ECB2-83E0-87FAAAF914B6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8726488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E642F2F-4453-40F9-9AED-F23E8C4F1CD3}" type="datetime'''''''''''''''''''''1''''''''''''''''''0''''''0''''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9" name="Text Placeholder 4">
            <a:extLst>
              <a:ext uri="{FF2B5EF4-FFF2-40B4-BE49-F238E27FC236}">
                <a16:creationId xmlns:a16="http://schemas.microsoft.com/office/drawing/2014/main" id="{C89DC1F1-E2C0-9249-ACDB-BF61C302FF15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9199563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F58903A-B35F-4D96-A381-62AC7A4C2E3E}" type="datetime'''''''2''''''''''''''''''''''''''''''''''0''''''''''''''0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0" name="Text Placeholder 4">
            <a:extLst>
              <a:ext uri="{FF2B5EF4-FFF2-40B4-BE49-F238E27FC236}">
                <a16:creationId xmlns:a16="http://schemas.microsoft.com/office/drawing/2014/main" id="{5CA300F8-7632-9257-4D1B-CBD7A0214339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9671050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B72D465-9580-42E3-BF8B-1CFE1481F805}" type="datetime'''''''''''''4''''''''''0''''''''''''''''''0''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66" name="Text Placeholder 4">
            <a:extLst>
              <a:ext uri="{FF2B5EF4-FFF2-40B4-BE49-F238E27FC236}">
                <a16:creationId xmlns:a16="http://schemas.microsoft.com/office/drawing/2014/main" id="{8373D011-4F54-7D5C-39E4-ECD52889CF62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10144125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EDD58C0-EF92-49F3-B103-5C87F3B42B6C}" type="datetime'''''''''''''''''8''''0''''''''''''''''''''''''''''''''0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2" name="Text Placeholder 4">
            <a:extLst>
              <a:ext uri="{FF2B5EF4-FFF2-40B4-BE49-F238E27FC236}">
                <a16:creationId xmlns:a16="http://schemas.microsoft.com/office/drawing/2014/main" id="{E717215F-6325-4BF7-FD21-0D500EB8F649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6059488" y="444341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Maximum Reach(m)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53" name="Text Placeholder 4">
            <a:extLst>
              <a:ext uri="{FF2B5EF4-FFF2-40B4-BE49-F238E27FC236}">
                <a16:creationId xmlns:a16="http://schemas.microsoft.com/office/drawing/2014/main" id="{98ABCCC9-F1CE-2F2F-8E9D-7B45F5BB3782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0225088" y="591661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Copper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97" name="文本框 3496">
            <a:extLst>
              <a:ext uri="{FF2B5EF4-FFF2-40B4-BE49-F238E27FC236}">
                <a16:creationId xmlns:a16="http://schemas.microsoft.com/office/drawing/2014/main" id="{06A7B8BE-5A73-76E6-FD60-98CB7C22E236}"/>
              </a:ext>
            </a:extLst>
          </p:cNvPr>
          <p:cNvSpPr txBox="1"/>
          <p:nvPr/>
        </p:nvSpPr>
        <p:spPr>
          <a:xfrm>
            <a:off x="550345" y="65474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04" name="圆角矩形 1636">
            <a:extLst>
              <a:ext uri="{FF2B5EF4-FFF2-40B4-BE49-F238E27FC236}">
                <a16:creationId xmlns:a16="http://schemas.microsoft.com/office/drawing/2014/main" id="{65A8A2F0-74DB-B094-042B-43018D948C42}"/>
              </a:ext>
            </a:extLst>
          </p:cNvPr>
          <p:cNvSpPr/>
          <p:nvPr/>
        </p:nvSpPr>
        <p:spPr>
          <a:xfrm>
            <a:off x="447166" y="1207041"/>
            <a:ext cx="5096385" cy="2060430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5" name="圆角矩形 1636">
            <a:extLst>
              <a:ext uri="{FF2B5EF4-FFF2-40B4-BE49-F238E27FC236}">
                <a16:creationId xmlns:a16="http://schemas.microsoft.com/office/drawing/2014/main" id="{6641A744-FDB3-C840-74A4-1DB9B9F0ED0C}"/>
              </a:ext>
            </a:extLst>
          </p:cNvPr>
          <p:cNvSpPr/>
          <p:nvPr/>
        </p:nvSpPr>
        <p:spPr>
          <a:xfrm>
            <a:off x="448597" y="3791594"/>
            <a:ext cx="5096385" cy="2767204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6" name="圆角矩形 1636">
            <a:extLst>
              <a:ext uri="{FF2B5EF4-FFF2-40B4-BE49-F238E27FC236}">
                <a16:creationId xmlns:a16="http://schemas.microsoft.com/office/drawing/2014/main" id="{D008739D-E2A5-1365-B4F1-682DDB494263}"/>
              </a:ext>
            </a:extLst>
          </p:cNvPr>
          <p:cNvSpPr/>
          <p:nvPr/>
        </p:nvSpPr>
        <p:spPr>
          <a:xfrm>
            <a:off x="5907128" y="1171575"/>
            <a:ext cx="5813425" cy="5387975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080C04C-CF0F-D20B-5616-237D9AC77257}"/>
              </a:ext>
            </a:extLst>
          </p:cNvPr>
          <p:cNvSpPr/>
          <p:nvPr/>
        </p:nvSpPr>
        <p:spPr>
          <a:xfrm>
            <a:off x="12346623" y="256415"/>
            <a:ext cx="3546661" cy="12946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提前，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重要，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大矛盾：带宽、功耗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互连跟进</a:t>
            </a:r>
          </a:p>
        </p:txBody>
      </p:sp>
    </p:spTree>
    <p:extLst>
      <p:ext uri="{BB962C8B-B14F-4D97-AF65-F5344CB8AC3E}">
        <p14:creationId xmlns:p14="http://schemas.microsoft.com/office/powerpoint/2010/main" val="9478213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E80F2B-B77D-64EE-D8EB-5C6CFE2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1B79062-AB10-AD66-28A3-873272074B8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75992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9" imgW="404" imgH="405" progId="TCLayout.ActiveDocument.1">
                  <p:embed/>
                </p:oleObj>
              </mc:Choice>
              <mc:Fallback>
                <p:oleObj name="think-cell 幻灯片" r:id="rId29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0" name="图表 169">
            <a:extLst>
              <a:ext uri="{FF2B5EF4-FFF2-40B4-BE49-F238E27FC236}">
                <a16:creationId xmlns:a16="http://schemas.microsoft.com/office/drawing/2014/main" id="{FD31AF14-B73B-A8E9-0FE7-F8D55AB2C1D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9562208"/>
              </p:ext>
            </p:extLst>
          </p:nvPr>
        </p:nvGraphicFramePr>
        <p:xfrm>
          <a:off x="908842" y="2700079"/>
          <a:ext cx="4444361" cy="352292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85" name="矩形 84">
            <a:extLst>
              <a:ext uri="{FF2B5EF4-FFF2-40B4-BE49-F238E27FC236}">
                <a16:creationId xmlns:a16="http://schemas.microsoft.com/office/drawing/2014/main" id="{FF1EFA6A-B5E2-37F1-2E1C-3E8A3409FD65}"/>
              </a:ext>
            </a:extLst>
          </p:cNvPr>
          <p:cNvSpPr/>
          <p:nvPr/>
        </p:nvSpPr>
        <p:spPr>
          <a:xfrm>
            <a:off x="1345949" y="4278581"/>
            <a:ext cx="3562602" cy="1366985"/>
          </a:xfrm>
          <a:prstGeom prst="rect">
            <a:avLst/>
          </a:prstGeom>
          <a:solidFill>
            <a:srgbClr val="D9D9D9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EFB85BF-305F-E33D-92EE-2DE82D3AE658}"/>
              </a:ext>
            </a:extLst>
          </p:cNvPr>
          <p:cNvSpPr/>
          <p:nvPr/>
        </p:nvSpPr>
        <p:spPr>
          <a:xfrm>
            <a:off x="3647440" y="3858793"/>
            <a:ext cx="816610" cy="4043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DECB916C-5AEC-9474-D7DA-340428AA075F}"/>
              </a:ext>
            </a:extLst>
          </p:cNvPr>
          <p:cNvSpPr/>
          <p:nvPr/>
        </p:nvSpPr>
        <p:spPr>
          <a:xfrm>
            <a:off x="1365225" y="2896560"/>
            <a:ext cx="3543325" cy="1356678"/>
          </a:xfrm>
          <a:prstGeom prst="rect">
            <a:avLst/>
          </a:prstGeom>
          <a:solidFill>
            <a:srgbClr val="C1E1FE">
              <a:alpha val="25000"/>
            </a:srgbClr>
          </a:solidFill>
          <a:ln>
            <a:noFill/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6" name="Text Placeholder 4">
            <a:extLst>
              <a:ext uri="{FF2B5EF4-FFF2-40B4-BE49-F238E27FC236}">
                <a16:creationId xmlns:a16="http://schemas.microsoft.com/office/drawing/2014/main" id="{0E03A28A-3F06-F45A-3EC7-F294C5E0102D}"/>
              </a:ext>
            </a:extLst>
          </p:cNvPr>
          <p:cNvSpPr txBox="1">
            <a:spLocks/>
          </p:cNvSpPr>
          <p:nvPr>
            <p:custDataLst>
              <p:tags r:id="rId2"/>
            </p:custDataLst>
          </p:nvPr>
        </p:nvSpPr>
        <p:spPr bwMode="auto">
          <a:xfrm>
            <a:off x="5215602" y="350012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rgbClr val="0052D9"/>
                </a:solidFill>
                <a:latin typeface="+mn-lt"/>
                <a:ea typeface="+mn-ea"/>
                <a:cs typeface="+mn-cs"/>
              </a:rPr>
              <a:t>光互连</a:t>
            </a:r>
          </a:p>
        </p:txBody>
      </p:sp>
      <p:sp>
        <p:nvSpPr>
          <p:cNvPr id="121" name="Text Placeholder 4">
            <a:extLst>
              <a:ext uri="{FF2B5EF4-FFF2-40B4-BE49-F238E27FC236}">
                <a16:creationId xmlns:a16="http://schemas.microsoft.com/office/drawing/2014/main" id="{0C4BD4AD-4E1C-96ED-BBA8-99930409182F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1412349" y="3436247"/>
            <a:ext cx="1231792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800" dirty="0">
                <a:latin typeface="+mn-lt"/>
                <a:ea typeface="+mn-ea"/>
                <a:cs typeface="+mn-cs"/>
              </a:rPr>
              <a:t>400-800Gbp/s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1000" b="1" dirty="0"/>
              <a:t>可插拔光模块</a:t>
            </a:r>
            <a:endParaRPr lang="en-US" altLang="zh-CN" sz="1000" b="1" dirty="0"/>
          </a:p>
        </p:txBody>
      </p:sp>
      <p:sp>
        <p:nvSpPr>
          <p:cNvPr id="126" name="Text Placeholder 4">
            <a:extLst>
              <a:ext uri="{FF2B5EF4-FFF2-40B4-BE49-F238E27FC236}">
                <a16:creationId xmlns:a16="http://schemas.microsoft.com/office/drawing/2014/main" id="{0BAE0DE9-4212-1ACF-B85A-227E056632B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1412349" y="2749550"/>
            <a:ext cx="1231792" cy="27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lang="zh-CN" altLang="en-US" sz="800" dirty="0">
                <a:latin typeface="+mn-lt"/>
                <a:ea typeface="+mn-ea"/>
                <a:cs typeface="+mn-cs"/>
              </a:rPr>
              <a:t>上限</a:t>
            </a:r>
            <a:r>
              <a:rPr lang="en-US" altLang="zh-CN" sz="800" dirty="0">
                <a:latin typeface="+mn-lt"/>
                <a:ea typeface="+mn-ea"/>
                <a:cs typeface="+mn-cs"/>
              </a:rPr>
              <a:t>800-1600Gbp/s</a:t>
            </a:r>
          </a:p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 dirty="0"/>
              <a:t>CPO</a:t>
            </a:r>
          </a:p>
        </p:txBody>
      </p:sp>
      <p:sp>
        <p:nvSpPr>
          <p:cNvPr id="140" name="Text Placeholder 4">
            <a:extLst>
              <a:ext uri="{FF2B5EF4-FFF2-40B4-BE49-F238E27FC236}">
                <a16:creationId xmlns:a16="http://schemas.microsoft.com/office/drawing/2014/main" id="{CB616965-4BBA-BE5C-A44C-CB5B7EACF935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5211773" y="4796796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b="1" dirty="0">
                <a:solidFill>
                  <a:schemeClr val="tx2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铜互连</a:t>
            </a:r>
          </a:p>
        </p:txBody>
      </p:sp>
      <p:cxnSp>
        <p:nvCxnSpPr>
          <p:cNvPr id="144" name="直接连接符 143">
            <a:extLst>
              <a:ext uri="{FF2B5EF4-FFF2-40B4-BE49-F238E27FC236}">
                <a16:creationId xmlns:a16="http://schemas.microsoft.com/office/drawing/2014/main" id="{2145DC05-4BE5-FDDC-6F47-6C6D47525797}"/>
              </a:ext>
            </a:extLst>
          </p:cNvPr>
          <p:cNvCxnSpPr>
            <a:cxnSpLocks/>
          </p:cNvCxnSpPr>
          <p:nvPr/>
        </p:nvCxnSpPr>
        <p:spPr>
          <a:xfrm>
            <a:off x="1446629" y="3189288"/>
            <a:ext cx="3379481" cy="0"/>
          </a:xfrm>
          <a:prstGeom prst="line">
            <a:avLst/>
          </a:prstGeom>
          <a:ln>
            <a:solidFill>
              <a:schemeClr val="tx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连接符 147">
            <a:extLst>
              <a:ext uri="{FF2B5EF4-FFF2-40B4-BE49-F238E27FC236}">
                <a16:creationId xmlns:a16="http://schemas.microsoft.com/office/drawing/2014/main" id="{C8D3D418-40A8-74BF-381B-3B8F9B2D8EA6}"/>
              </a:ext>
            </a:extLst>
          </p:cNvPr>
          <p:cNvCxnSpPr>
            <a:cxnSpLocks/>
          </p:cNvCxnSpPr>
          <p:nvPr/>
        </p:nvCxnSpPr>
        <p:spPr>
          <a:xfrm flipV="1">
            <a:off x="3632617" y="3782593"/>
            <a:ext cx="831433" cy="435251"/>
          </a:xfrm>
          <a:prstGeom prst="line">
            <a:avLst/>
          </a:prstGeom>
          <a:ln w="28575">
            <a:solidFill>
              <a:srgbClr val="3776F5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3A8EF30C-01C4-5A4D-BA06-CA312802E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光进铜退，光互连打破算力释放瓶颈并大幅降低</a:t>
            </a:r>
            <a:r>
              <a:rPr lang="en-US" altLang="zh-CN" dirty="0" err="1"/>
              <a:t>Opex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437E1BD-8AB9-CCEF-E6FA-328D12C1C0D2}"/>
              </a:ext>
            </a:extLst>
          </p:cNvPr>
          <p:cNvSpPr/>
          <p:nvPr/>
        </p:nvSpPr>
        <p:spPr>
          <a:xfrm>
            <a:off x="-3874111" y="1211262"/>
            <a:ext cx="3664561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铜到光的变化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:</a:t>
            </a: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 by 2 matrix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： 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横轴：时间轴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纵轴：算力 、 卡间互联速度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AF76A16-6ACA-3FF8-EA47-440929F8F2E1}"/>
              </a:ext>
            </a:extLst>
          </p:cNvPr>
          <p:cNvSpPr/>
          <p:nvPr/>
        </p:nvSpPr>
        <p:spPr>
          <a:xfrm>
            <a:off x="-3874111" y="3995483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Call out box for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单通道速度 用铜的话，快达到极限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D5168A3-66D3-32AB-59E5-E2A163F11CBD}"/>
              </a:ext>
            </a:extLst>
          </p:cNvPr>
          <p:cNvSpPr/>
          <p:nvPr/>
        </p:nvSpPr>
        <p:spPr>
          <a:xfrm>
            <a:off x="12216452" y="-634733"/>
            <a:ext cx="4112355" cy="265518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可插拔光模块到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的变化：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部件成本节省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8EB054B-860C-6119-EE78-C9F49426F4CE}"/>
              </a:ext>
            </a:extLst>
          </p:cNvPr>
          <p:cNvSpPr/>
          <p:nvPr/>
        </p:nvSpPr>
        <p:spPr>
          <a:xfrm>
            <a:off x="12255653" y="2240421"/>
            <a:ext cx="1887478" cy="104421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目前找到的数据为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2022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年，只支持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AIDC 50-60%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的论断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1B75C849-9B8A-D63E-8B72-8C179694304E}"/>
              </a:ext>
            </a:extLst>
          </p:cNvPr>
          <p:cNvSpPr txBox="1"/>
          <p:nvPr/>
        </p:nvSpPr>
        <p:spPr>
          <a:xfrm>
            <a:off x="593744" y="6293734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zh-CN" altLang="zh-CN" sz="1200" dirty="0">
                <a:solidFill>
                  <a:schemeClr val="tx1">
                    <a:lumMod val="50000"/>
                  </a:schemeClr>
                </a:solidFill>
              </a:rPr>
              <a:t>阿里云专家访谈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：有效传输速率，指在给定距离内，保证误码率不超过可用临界值的稳定传输速率</a:t>
            </a: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32912538-B799-7D65-AD3E-B2E340B2B4FA}"/>
              </a:ext>
            </a:extLst>
          </p:cNvPr>
          <p:cNvSpPr txBox="1"/>
          <p:nvPr/>
        </p:nvSpPr>
        <p:spPr>
          <a:xfrm>
            <a:off x="593842" y="925513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铜</a:t>
            </a:r>
            <a:r>
              <a:rPr lang="zh-CN" altLang="en-US" sz="1600" b="1" dirty="0"/>
              <a:t>互连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光</a:t>
            </a:r>
            <a:r>
              <a:rPr lang="zh-CN" altLang="en-US" sz="1600" b="1" dirty="0"/>
              <a:t>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：突破传输速率极限</a:t>
            </a: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7235EA0E-F6AA-1CB6-0B48-7FEF9AAE7D54}"/>
              </a:ext>
            </a:extLst>
          </p:cNvPr>
          <p:cNvSpPr txBox="1"/>
          <p:nvPr/>
        </p:nvSpPr>
        <p:spPr>
          <a:xfrm>
            <a:off x="526048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1FCD2634-59DE-8F39-5610-C55A55AA4B9F}"/>
              </a:ext>
            </a:extLst>
          </p:cNvPr>
          <p:cNvSpPr txBox="1"/>
          <p:nvPr/>
        </p:nvSpPr>
        <p:spPr>
          <a:xfrm>
            <a:off x="535626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89" name="直线连接符 38">
            <a:extLst>
              <a:ext uri="{FF2B5EF4-FFF2-40B4-BE49-F238E27FC236}">
                <a16:creationId xmlns:a16="http://schemas.microsoft.com/office/drawing/2014/main" id="{A0A19E09-9315-06F8-B87B-C0BAB1F84086}"/>
              </a:ext>
            </a:extLst>
          </p:cNvPr>
          <p:cNvCxnSpPr>
            <a:cxnSpLocks/>
          </p:cNvCxnSpPr>
          <p:nvPr/>
        </p:nvCxnSpPr>
        <p:spPr>
          <a:xfrm>
            <a:off x="593842" y="12366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文本框 152">
            <a:extLst>
              <a:ext uri="{FF2B5EF4-FFF2-40B4-BE49-F238E27FC236}">
                <a16:creationId xmlns:a16="http://schemas.microsoft.com/office/drawing/2014/main" id="{02389C66-484B-8D1E-7609-0B4CC52E2D90}"/>
              </a:ext>
            </a:extLst>
          </p:cNvPr>
          <p:cNvSpPr txBox="1"/>
          <p:nvPr/>
        </p:nvSpPr>
        <p:spPr>
          <a:xfrm>
            <a:off x="593842" y="1354138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即将触达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铜互连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有效</a:t>
            </a:r>
            <a:r>
              <a:rPr kumimoji="1" lang="zh-CN" altLang="zh-CN" sz="1600" b="1" dirty="0">
                <a:solidFill>
                  <a:schemeClr val="tx1">
                    <a:lumMod val="50000"/>
                  </a:schemeClr>
                </a:solidFill>
              </a:rPr>
              <a:t>传输速率</a:t>
            </a:r>
            <a:r>
              <a:rPr kumimoji="1" lang="en-US" altLang="zh-CN" sz="1600" b="1" baseline="30000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极限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224Gbp/s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，光互连上限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400-800Gbp/s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可支持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扩充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A100 =&gt; B100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算力增长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5.6x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，单通道带宽仅增长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，连接成为硬件能力释放瓶颈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64" name="Text Placeholder 4">
            <a:extLst>
              <a:ext uri="{FF2B5EF4-FFF2-40B4-BE49-F238E27FC236}">
                <a16:creationId xmlns:a16="http://schemas.microsoft.com/office/drawing/2014/main" id="{830AB16E-C972-BBF8-D1C8-D71FAA3DEA79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273105" y="4913365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H100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65" name="Text Placeholder 4">
            <a:extLst>
              <a:ext uri="{FF2B5EF4-FFF2-40B4-BE49-F238E27FC236}">
                <a16:creationId xmlns:a16="http://schemas.microsoft.com/office/drawing/2014/main" id="{0452812A-49EE-56BD-9B7F-70336DF81FC2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408769" y="5282968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A100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6" name="Text Placeholder 4">
            <a:extLst>
              <a:ext uri="{FF2B5EF4-FFF2-40B4-BE49-F238E27FC236}">
                <a16:creationId xmlns:a16="http://schemas.microsoft.com/office/drawing/2014/main" id="{E705A99E-4D86-52C8-0AD9-E2E91CD08F0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210469" y="4313202"/>
            <a:ext cx="803486" cy="2800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200" b="1" dirty="0">
                <a:latin typeface="+mn-lt"/>
                <a:ea typeface="+mn-ea"/>
                <a:cs typeface="+mn-cs"/>
              </a:rPr>
              <a:t>B100</a:t>
            </a:r>
            <a:endParaRPr lang="zh-CN" altLang="en-US" sz="1200" b="1" dirty="0">
              <a:latin typeface="+mn-lt"/>
              <a:ea typeface="+mn-ea"/>
              <a:cs typeface="+mn-cs"/>
            </a:endParaRPr>
          </a:p>
        </p:txBody>
      </p:sp>
      <p:sp>
        <p:nvSpPr>
          <p:cNvPr id="177" name="文本框 176">
            <a:extLst>
              <a:ext uri="{FF2B5EF4-FFF2-40B4-BE49-F238E27FC236}">
                <a16:creationId xmlns:a16="http://schemas.microsoft.com/office/drawing/2014/main" id="{8CCE80E4-31EE-417D-C895-F988DE7DBE3F}"/>
              </a:ext>
            </a:extLst>
          </p:cNvPr>
          <p:cNvSpPr txBox="1"/>
          <p:nvPr/>
        </p:nvSpPr>
        <p:spPr>
          <a:xfrm>
            <a:off x="6355333" y="920750"/>
            <a:ext cx="5885909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=&gt;CPO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显著降低功耗并降低</a:t>
            </a:r>
            <a:r>
              <a:rPr lang="en-US" altLang="zh-CN" sz="1600" b="1" dirty="0" err="1">
                <a:solidFill>
                  <a:schemeClr val="tx1">
                    <a:lumMod val="50000"/>
                  </a:schemeClr>
                </a:solidFill>
              </a:rPr>
              <a:t>Opex</a:t>
            </a:r>
            <a:endParaRPr kumimoji="1" lang="zh-CN" altLang="en-US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41A9180C-80D1-3377-9D69-56C91B740D2B}"/>
              </a:ext>
            </a:extLst>
          </p:cNvPr>
          <p:cNvSpPr txBox="1"/>
          <p:nvPr/>
        </p:nvSpPr>
        <p:spPr>
          <a:xfrm>
            <a:off x="6293189" y="1098550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57ABF4B0-F1CD-A26C-6E97-9FDC7A0485CD}"/>
              </a:ext>
            </a:extLst>
          </p:cNvPr>
          <p:cNvSpPr txBox="1"/>
          <p:nvPr/>
        </p:nvSpPr>
        <p:spPr>
          <a:xfrm>
            <a:off x="6302767" y="1185863"/>
            <a:ext cx="5130761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en-US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180" name="直线连接符 38">
            <a:extLst>
              <a:ext uri="{FF2B5EF4-FFF2-40B4-BE49-F238E27FC236}">
                <a16:creationId xmlns:a16="http://schemas.microsoft.com/office/drawing/2014/main" id="{33AC93B9-61D7-CD01-23F1-C701BAD35A85}"/>
              </a:ext>
            </a:extLst>
          </p:cNvPr>
          <p:cNvCxnSpPr>
            <a:cxnSpLocks/>
          </p:cNvCxnSpPr>
          <p:nvPr/>
        </p:nvCxnSpPr>
        <p:spPr>
          <a:xfrm>
            <a:off x="6360983" y="123666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4656004-4D79-6CA0-4E54-C1C75A2F0891}"/>
              </a:ext>
            </a:extLst>
          </p:cNvPr>
          <p:cNvSpPr txBox="1"/>
          <p:nvPr/>
        </p:nvSpPr>
        <p:spPr>
          <a:xfrm>
            <a:off x="6360983" y="1354138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传统通算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O</a:t>
            </a:r>
            <a:r>
              <a:rPr kumimoji="1" lang="zh-CN" altLang="zh-CN" sz="1600" dirty="0">
                <a:solidFill>
                  <a:schemeClr val="tx1">
                    <a:lumMod val="50000"/>
                  </a:schemeClr>
                </a:solidFill>
              </a:rPr>
              <a:t>pex中电费占比35-40%，而智算中心电费占比65-70%；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115154D-BF4F-3FE2-994F-651E7AE8C2AF}"/>
              </a:ext>
            </a:extLst>
          </p:cNvPr>
          <p:cNvSpPr txBox="1"/>
          <p:nvPr/>
        </p:nvSpPr>
        <p:spPr>
          <a:xfrm>
            <a:off x="6355333" y="3605627"/>
            <a:ext cx="5550916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方案：将光模块进一步缩小集成，可降低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~60%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单通道功耗，对应节约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xx AIDC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电费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C42C12AA-9375-448D-AD60-8BB241436DB4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6591300" y="4313238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单通道功耗（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w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）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8BABA9A-A629-A6C4-D09C-2400856429E6}"/>
              </a:ext>
            </a:extLst>
          </p:cNvPr>
          <p:cNvSpPr/>
          <p:nvPr/>
        </p:nvSpPr>
        <p:spPr>
          <a:xfrm>
            <a:off x="12241242" y="5593023"/>
            <a:ext cx="2511408" cy="129176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电费占比饼图，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transceiver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功耗占电费饼图，（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GTC2025 Rubin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功耗），成本拆分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7296FA3-CE51-38FB-A7FC-D242807229AE}"/>
              </a:ext>
            </a:extLst>
          </p:cNvPr>
          <p:cNvSpPr/>
          <p:nvPr/>
        </p:nvSpPr>
        <p:spPr>
          <a:xfrm>
            <a:off x="12241242" y="3941027"/>
            <a:ext cx="4351308" cy="14867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200" dirty="0">
                <a:solidFill>
                  <a:schemeClr val="tx1">
                    <a:lumMod val="50000"/>
                  </a:schemeClr>
                </a:solidFill>
              </a:rPr>
              <a:t>Meta</a:t>
            </a:r>
            <a:r>
              <a:rPr lang="zh-CN" altLang="en-US" sz="12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文章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明确指出封装内光互联和硅光子技术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是突破当前AI硬件带宽和能效瓶颈的关键方向，需通过硬件-软件-网络协同设计实现以下目标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带宽扩展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能效提升（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将通信能耗占比从当前的30%以上降至10%以内）、</a:t>
            </a:r>
            <a:r>
              <a:rPr lang="zh-CN" altLang="zh-CN" sz="1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大规模扩展性</a:t>
            </a:r>
            <a:r>
              <a:rPr lang="zh-CN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（百万级GPU集群的低延迟全局连接）的目标。</a:t>
            </a:r>
            <a:endParaRPr lang="zh-CN" altLang="zh-CN" sz="12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endParaRPr lang="zh-CN" altLang="en-US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7669F4FF-8E69-30B4-5EFA-FE13E9DCE8F6}"/>
              </a:ext>
            </a:extLst>
          </p:cNvPr>
          <p:cNvSpPr/>
          <p:nvPr/>
        </p:nvSpPr>
        <p:spPr>
          <a:xfrm>
            <a:off x="-3719737" y="5969827"/>
            <a:ext cx="3664561" cy="58445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算力增长不均衡有宏观报告</a:t>
            </a:r>
          </a:p>
        </p:txBody>
      </p:sp>
      <p:pic>
        <p:nvPicPr>
          <p:cNvPr id="39" name="图片 38">
            <a:extLst>
              <a:ext uri="{FF2B5EF4-FFF2-40B4-BE49-F238E27FC236}">
                <a16:creationId xmlns:a16="http://schemas.microsoft.com/office/drawing/2014/main" id="{EFF4A1E8-97EA-6C71-4457-B4D250BF3135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4272629" y="2074593"/>
            <a:ext cx="2160511" cy="1352053"/>
          </a:xfrm>
          <a:prstGeom prst="rect">
            <a:avLst/>
          </a:prstGeom>
        </p:spPr>
      </p:pic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30DEE2F1-B360-42AD-7974-1C7DE681E056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 flipV="1">
            <a:off x="8828088" y="2513013"/>
            <a:ext cx="687388" cy="271463"/>
          </a:xfrm>
          <a:prstGeom prst="line">
            <a:avLst/>
          </a:prstGeom>
          <a:ln w="3175" cap="flat" cmpd="sng" algn="ctr">
            <a:solidFill>
              <a:schemeClr val="tx1"/>
            </a:solidFill>
            <a:prstDash val="lgDash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70" name="Chart 3">
            <a:extLst>
              <a:ext uri="{FF2B5EF4-FFF2-40B4-BE49-F238E27FC236}">
                <a16:creationId xmlns:a16="http://schemas.microsoft.com/office/drawing/2014/main" id="{2CBE6C48-A822-284E-2FE2-A32D797443B3}"/>
              </a:ext>
            </a:extLst>
          </p:cNvPr>
          <p:cNvGraphicFramePr/>
          <p:nvPr>
            <p:custDataLst>
              <p:tags r:id="rId11"/>
            </p:custDataLst>
            <p:extLst>
              <p:ext uri="{D42A27DB-BD31-4B8C-83A1-F6EECF244321}">
                <p14:modId xmlns:p14="http://schemas.microsoft.com/office/powerpoint/2010/main" val="1275760471"/>
              </p:ext>
            </p:extLst>
          </p:nvPr>
        </p:nvGraphicFramePr>
        <p:xfrm>
          <a:off x="7540625" y="1933575"/>
          <a:ext cx="3263900" cy="1520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057DEA29-69C9-3227-F981-E9AF681903CB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8059738" y="3206750"/>
            <a:ext cx="6746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13621E3-1431-44B2-8A7C-85FC0172AD7D}" type="datetime'传''''''统I''''''''''''''D''''''C'''''''''''''''''''''''">
              <a:rPr lang="zh-CN" altLang="en-US" sz="1400" smtClean="0">
                <a:cs typeface="+mn-cs"/>
              </a:rPr>
              <a:pPr/>
              <a:t>传统IDC</a:t>
            </a:fld>
            <a:endParaRPr lang="zh-CN" altLang="en-US" sz="1400" dirty="0">
              <a:cs typeface="+mn-cs"/>
            </a:endParaRP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A087442A-F585-1C3B-3BA7-1351B01D1084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26613" y="3206750"/>
            <a:ext cx="4381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FDB5359-8672-4B0A-B32E-3C60B64948EE}" type="datetime'''''AI''''''''''D''''''''''''C'''''''''''''">
              <a:rPr lang="en-US" altLang="en-US" sz="1400" smtClean="0">
                <a:cs typeface="+mn-cs"/>
              </a:rPr>
              <a:pPr/>
              <a:t>AIDC</a:t>
            </a:fld>
            <a:endParaRPr lang="zh-CN" altLang="en-US" sz="1400" dirty="0">
              <a:cs typeface="+mn-cs"/>
            </a:endParaRP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E11775AD-5E85-EB55-81D2-F731D821224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7467600" y="2405063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7B0FCD70-F18B-4D1C-BDF8-A5C530345B39}" type="datetime'其''''''''''''''''''他'''''''''''''''''''''''''''''''">
              <a:rPr lang="zh-CN" altLang="en-US" sz="1400" smtClean="0">
                <a:cs typeface="+mn-cs"/>
              </a:rPr>
              <a:pPr/>
              <a:t>其他</a:t>
            </a:fld>
            <a:endParaRPr lang="zh-CN" altLang="en-US" sz="1400" dirty="0">
              <a:cs typeface="+mn-cs"/>
            </a:endParaRP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2BDAC27-D752-D4B0-437A-93AD49C0A359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7467600" y="2859088"/>
            <a:ext cx="355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r">
              <a:spcBef>
                <a:spcPct val="0"/>
              </a:spcBef>
              <a:spcAft>
                <a:spcPct val="0"/>
              </a:spcAft>
            </a:pPr>
            <a:fld id="{2C931152-9BB7-450D-9CC8-02AD5DB4329A}" type="datetime'''''''''''''电''''''''''''''''''''''''''''''''''''''''''费'''''">
              <a:rPr lang="zh-CN" altLang="en-US" sz="1400" smtClean="0">
                <a:cs typeface="+mn-cs"/>
              </a:rPr>
              <a:pPr/>
              <a:t>电费</a:t>
            </a:fld>
            <a:endParaRPr lang="zh-CN" altLang="en-US" sz="1400" dirty="0">
              <a:cs typeface="+mn-cs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3EBFD7C1-5585-51B0-02E2-7E49EC84C264}"/>
              </a:ext>
            </a:extLst>
          </p:cNvPr>
          <p:cNvSpPr txBox="1"/>
          <p:nvPr/>
        </p:nvSpPr>
        <p:spPr>
          <a:xfrm>
            <a:off x="6610511" y="1924494"/>
            <a:ext cx="5040559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数据中心电费占</a:t>
            </a:r>
            <a:r>
              <a:rPr lang="en-US" altLang="zh-CN" sz="1400" dirty="0" err="1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Opex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比</a:t>
            </a:r>
          </a:p>
        </p:txBody>
      </p:sp>
      <p:graphicFrame>
        <p:nvGraphicFramePr>
          <p:cNvPr id="368" name="Chart 3">
            <a:extLst>
              <a:ext uri="{FF2B5EF4-FFF2-40B4-BE49-F238E27FC236}">
                <a16:creationId xmlns:a16="http://schemas.microsoft.com/office/drawing/2014/main" id="{41117AB1-CC98-A302-11C0-31F0905F8F6D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2671967633"/>
              </p:ext>
            </p:extLst>
          </p:nvPr>
        </p:nvGraphicFramePr>
        <p:xfrm>
          <a:off x="6835775" y="4541838"/>
          <a:ext cx="4371975" cy="1928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269" name="直接连接符 268">
            <a:extLst>
              <a:ext uri="{FF2B5EF4-FFF2-40B4-BE49-F238E27FC236}">
                <a16:creationId xmlns:a16="http://schemas.microsoft.com/office/drawing/2014/main" id="{C108E948-70E2-F4FC-12B5-C72C81F60C47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 flipV="1">
            <a:off x="9178925" y="4805363"/>
            <a:ext cx="0" cy="188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0" name="直接连接符 269">
            <a:extLst>
              <a:ext uri="{FF2B5EF4-FFF2-40B4-BE49-F238E27FC236}">
                <a16:creationId xmlns:a16="http://schemas.microsoft.com/office/drawing/2014/main" id="{F6578B86-2335-88C4-B9C8-631C4C8F9A79}"/>
              </a:ext>
            </a:extLst>
          </p:cNvPr>
          <p:cNvCxnSpPr/>
          <p:nvPr>
            <p:custDataLst>
              <p:tags r:id="rId18"/>
            </p:custDataLst>
          </p:nvPr>
        </p:nvCxnSpPr>
        <p:spPr bwMode="auto">
          <a:xfrm>
            <a:off x="9178925" y="4805363"/>
            <a:ext cx="1296988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1" name="直接连接符 270">
            <a:extLst>
              <a:ext uri="{FF2B5EF4-FFF2-40B4-BE49-F238E27FC236}">
                <a16:creationId xmlns:a16="http://schemas.microsoft.com/office/drawing/2014/main" id="{EEFE292B-D0A0-20CC-BC60-BAE3A928AACE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>
            <a:off x="10475913" y="4805363"/>
            <a:ext cx="0" cy="96678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7" name="Text Placeholder 4">
            <a:extLst>
              <a:ext uri="{FF2B5EF4-FFF2-40B4-BE49-F238E27FC236}">
                <a16:creationId xmlns:a16="http://schemas.microsoft.com/office/drawing/2014/main" id="{EE605E94-4724-DEF2-7912-9130B91ED26E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gray">
          <a:xfrm>
            <a:off x="7729538" y="5778500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3-5</a:t>
            </a:r>
            <a:endParaRPr lang="zh-CN" altLang="en-US" sz="14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55" name="Text Placeholder 4">
            <a:extLst>
              <a:ext uri="{FF2B5EF4-FFF2-40B4-BE49-F238E27FC236}">
                <a16:creationId xmlns:a16="http://schemas.microsoft.com/office/drawing/2014/main" id="{12CCB4E7-78E5-38E8-125C-7614CBCAF0AB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7786688" y="6323013"/>
            <a:ext cx="190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2D55D17-8FFB-46F4-A7BF-C2EF9B990784}" type="datetime'''''铜'''''''''">
              <a:rPr lang="zh-CN" altLang="en-US" sz="1400" smtClean="0">
                <a:cs typeface="+mn-cs"/>
              </a:rPr>
              <a:pPr/>
              <a:t>铜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6" name="Text Placeholder 4">
            <a:extLst>
              <a:ext uri="{FF2B5EF4-FFF2-40B4-BE49-F238E27FC236}">
                <a16:creationId xmlns:a16="http://schemas.microsoft.com/office/drawing/2014/main" id="{2D714D05-B240-7E6B-C34D-A9C32BCD887C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gray">
          <a:xfrm>
            <a:off x="9026525" y="5541963"/>
            <a:ext cx="3063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/>
                </a:solidFill>
              </a:rPr>
              <a:t>5-8</a:t>
            </a:r>
            <a:endParaRPr lang="zh-CN" altLang="en-US" sz="1400" dirty="0">
              <a:solidFill>
                <a:schemeClr val="bg1"/>
              </a:solidFill>
              <a:cs typeface="+mn-cs"/>
            </a:endParaRPr>
          </a:p>
        </p:txBody>
      </p:sp>
      <p:sp>
        <p:nvSpPr>
          <p:cNvPr id="171" name="Text Placeholder 4">
            <a:extLst>
              <a:ext uri="{FF2B5EF4-FFF2-40B4-BE49-F238E27FC236}">
                <a16:creationId xmlns:a16="http://schemas.microsoft.com/office/drawing/2014/main" id="{C4877991-8815-3B0C-239A-FA241A1A2A3D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8639175" y="6323013"/>
            <a:ext cx="10795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E127392-BFE0-4860-83BD-5CFAE24C683C}" type="datetime'''''''''''可''''''''''''插''''''''''''''''''拔光''''模''''块'''">
              <a:rPr lang="zh-CN" altLang="en-US" sz="1400" smtClean="0">
                <a:cs typeface="+mn-cs"/>
              </a:rPr>
              <a:pPr/>
              <a:t>可插拔光模块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3" name="Text Placeholder 4">
            <a:extLst>
              <a:ext uri="{FF2B5EF4-FFF2-40B4-BE49-F238E27FC236}">
                <a16:creationId xmlns:a16="http://schemas.microsoft.com/office/drawing/2014/main" id="{BB709C0C-4FD8-2E1A-C5FC-902A7B56B955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gray">
          <a:xfrm>
            <a:off x="10328275" y="5930900"/>
            <a:ext cx="2968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53390113-E74C-4AFE-97FC-A33B57D3516D}" type="datetime'''''''''''''''''2'''''''''''''''''''''''">
              <a:rPr lang="zh-CN" altLang="en-US" sz="14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</a:t>
            </a:fld>
            <a:r>
              <a:rPr lang="en-US" altLang="zh-CN" sz="1400" dirty="0">
                <a:solidFill>
                  <a:schemeClr val="tx2"/>
                </a:solidFill>
                <a:effectLst/>
                <a:cs typeface="+mn-cs"/>
              </a:rPr>
              <a:t>.4</a:t>
            </a:r>
            <a:endParaRPr lang="zh-CN" altLang="en-US" sz="14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82" name="Text Placeholder 4">
            <a:extLst>
              <a:ext uri="{FF2B5EF4-FFF2-40B4-BE49-F238E27FC236}">
                <a16:creationId xmlns:a16="http://schemas.microsoft.com/office/drawing/2014/main" id="{62BEE835-D25C-5772-E70E-E3B50279754D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10277475" y="6323013"/>
            <a:ext cx="398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176B2D5-5628-4116-8002-3DBBCA4C15B9}" type="datetime'''''''''''''''C''''''''P''O'''''''''''''''''''''''''''''''''''">
              <a:rPr lang="en-US" altLang="en-US" sz="1400" smtClean="0">
                <a:cs typeface="+mn-cs"/>
              </a:rPr>
              <a:pPr/>
              <a:t>CPO</a:t>
            </a:fld>
            <a:endParaRPr lang="zh-CN" altLang="en-US" sz="1400" dirty="0">
              <a:cs typeface="+mn-cs"/>
            </a:endParaRPr>
          </a:p>
        </p:txBody>
      </p:sp>
      <p:sp>
        <p:nvSpPr>
          <p:cNvPr id="267" name="Text Placeholder 4">
            <a:extLst>
              <a:ext uri="{FF2B5EF4-FFF2-40B4-BE49-F238E27FC236}">
                <a16:creationId xmlns:a16="http://schemas.microsoft.com/office/drawing/2014/main" id="{9660483F-E692-1656-25FE-7D1AA851843D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 bwMode="auto">
          <a:xfrm>
            <a:off x="9532938" y="4654550"/>
            <a:ext cx="587375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D21FFE5-290F-478E-813B-C3667B3F5B7E}" type="datetime'''''''-''''''''''''''''''''6''''''''''3%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-63%</a:t>
            </a:fld>
            <a:endParaRPr lang="zh-CN" altLang="en-US" sz="1400" b="1" dirty="0">
              <a:cs typeface="+mn-c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FDDBF6DD-60A7-1C22-CB47-4CE8A11EA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20300" y="6926876"/>
            <a:ext cx="8362950" cy="4162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08630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2" name="think-cell data - do not delete" hidden="1">
            <a:extLst>
              <a:ext uri="{FF2B5EF4-FFF2-40B4-BE49-F238E27FC236}">
                <a16:creationId xmlns:a16="http://schemas.microsoft.com/office/drawing/2014/main" id="{9626425B-D7C9-EE32-8B7E-F896A973C6F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48890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572F8DDA-EA12-3D19-91E3-EB0B2B9B9A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光模块技术路径选择：巨头布局</a:t>
            </a:r>
            <a:r>
              <a:rPr lang="en-US" altLang="zh-CN" dirty="0"/>
              <a:t>CPO</a:t>
            </a:r>
            <a:r>
              <a:rPr lang="zh-CN" altLang="en-US" dirty="0"/>
              <a:t>，初创布局</a:t>
            </a:r>
            <a:r>
              <a:rPr lang="en-US" altLang="zh-CN" dirty="0"/>
              <a:t>OIO</a:t>
            </a:r>
            <a:r>
              <a:rPr lang="zh-CN" altLang="en-US" dirty="0"/>
              <a:t>（加上</a:t>
            </a:r>
            <a:r>
              <a:rPr lang="en-US" altLang="zh-CN" dirty="0"/>
              <a:t>FPP</a:t>
            </a:r>
            <a:r>
              <a:rPr lang="zh-CN" altLang="en-US" dirty="0"/>
              <a:t>）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DC95DE2-3311-E9ED-688C-8DD5EA4430CE}"/>
              </a:ext>
            </a:extLst>
          </p:cNvPr>
          <p:cNvSpPr/>
          <p:nvPr/>
        </p:nvSpPr>
        <p:spPr>
          <a:xfrm>
            <a:off x="12428376" y="2034582"/>
            <a:ext cx="4735635" cy="419093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新一页（讲完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的必要性后）技术路径选择，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不细讲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博通：最好商用的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，技术路线规划图（左）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创业公司：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一步到位，不用被大厂生态制约（右）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重点突出一些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的早期和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的成熟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各家的动作：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的产品发布、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的合作和导入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博通的图可以不放，直接一句话总结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3C1B0D0-D3FE-AF36-2AC7-554F19B3489C}"/>
              </a:ext>
            </a:extLst>
          </p:cNvPr>
          <p:cNvSpPr txBox="1"/>
          <p:nvPr/>
        </p:nvSpPr>
        <p:spPr>
          <a:xfrm>
            <a:off x="694471" y="1953046"/>
            <a:ext cx="936104" cy="82142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路径对比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79D3A06-0ACF-F28E-498D-9892DB459C5F}"/>
              </a:ext>
            </a:extLst>
          </p:cNvPr>
          <p:cNvSpPr txBox="1"/>
          <p:nvPr/>
        </p:nvSpPr>
        <p:spPr>
          <a:xfrm>
            <a:off x="694471" y="3063575"/>
            <a:ext cx="936104" cy="626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主要玩家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60A4822-D7A2-03C6-FC9D-D8DABC059119}"/>
              </a:ext>
            </a:extLst>
          </p:cNvPr>
          <p:cNvSpPr txBox="1"/>
          <p:nvPr/>
        </p:nvSpPr>
        <p:spPr>
          <a:xfrm>
            <a:off x="695400" y="4081718"/>
            <a:ext cx="936104" cy="12244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布局环节</a:t>
            </a:r>
          </a:p>
        </p:txBody>
      </p:sp>
      <p:cxnSp>
        <p:nvCxnSpPr>
          <p:cNvPr id="34" name="直线连接符 8">
            <a:extLst>
              <a:ext uri="{FF2B5EF4-FFF2-40B4-BE49-F238E27FC236}">
                <a16:creationId xmlns:a16="http://schemas.microsoft.com/office/drawing/2014/main" id="{92D521B5-6713-18DC-5E72-62681B8FE3A0}"/>
              </a:ext>
            </a:extLst>
          </p:cNvPr>
          <p:cNvCxnSpPr>
            <a:cxnSpLocks/>
          </p:cNvCxnSpPr>
          <p:nvPr/>
        </p:nvCxnSpPr>
        <p:spPr>
          <a:xfrm>
            <a:off x="1991544" y="2954493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线连接符 30">
            <a:extLst>
              <a:ext uri="{FF2B5EF4-FFF2-40B4-BE49-F238E27FC236}">
                <a16:creationId xmlns:a16="http://schemas.microsoft.com/office/drawing/2014/main" id="{64BF7E5D-564A-FDE0-3825-E5CDFEA8CD23}"/>
              </a:ext>
            </a:extLst>
          </p:cNvPr>
          <p:cNvCxnSpPr>
            <a:cxnSpLocks/>
          </p:cNvCxnSpPr>
          <p:nvPr/>
        </p:nvCxnSpPr>
        <p:spPr>
          <a:xfrm>
            <a:off x="6986282" y="1448010"/>
            <a:ext cx="4474146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文本框 37">
            <a:extLst>
              <a:ext uri="{FF2B5EF4-FFF2-40B4-BE49-F238E27FC236}">
                <a16:creationId xmlns:a16="http://schemas.microsoft.com/office/drawing/2014/main" id="{792BF100-A7AB-CF8D-0B2B-E098437F2754}"/>
              </a:ext>
            </a:extLst>
          </p:cNvPr>
          <p:cNvSpPr txBox="1"/>
          <p:nvPr/>
        </p:nvSpPr>
        <p:spPr>
          <a:xfrm>
            <a:off x="6986282" y="3055839"/>
            <a:ext cx="4474146" cy="109345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初创：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一步到位从而绕过巨头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生态制约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49494FF3-E904-C618-C411-ADFA82260737}"/>
              </a:ext>
            </a:extLst>
          </p:cNvPr>
          <p:cNvSpPr txBox="1"/>
          <p:nvPr/>
        </p:nvSpPr>
        <p:spPr>
          <a:xfrm>
            <a:off x="6986449" y="1953046"/>
            <a:ext cx="4474146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通过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2.5D/3D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集成技术将光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I/O 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芯片与计算芯片集成于同一多芯片封装，实现芯片间直接光通信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本质：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光信号替代电信号直接完成芯片间互连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42" name="直线连接符 34">
            <a:extLst>
              <a:ext uri="{FF2B5EF4-FFF2-40B4-BE49-F238E27FC236}">
                <a16:creationId xmlns:a16="http://schemas.microsoft.com/office/drawing/2014/main" id="{92AE7B20-0E62-6537-08C9-4B4B44AD472D}"/>
              </a:ext>
            </a:extLst>
          </p:cNvPr>
          <p:cNvCxnSpPr>
            <a:cxnSpLocks/>
          </p:cNvCxnSpPr>
          <p:nvPr/>
        </p:nvCxnSpPr>
        <p:spPr>
          <a:xfrm>
            <a:off x="2114550" y="1448010"/>
            <a:ext cx="4473575" cy="1588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>
            <a:extLst>
              <a:ext uri="{FF2B5EF4-FFF2-40B4-BE49-F238E27FC236}">
                <a16:creationId xmlns:a16="http://schemas.microsoft.com/office/drawing/2014/main" id="{56DAA0BA-6916-61F6-44E6-348BEED0985A}"/>
              </a:ext>
            </a:extLst>
          </p:cNvPr>
          <p:cNvSpPr txBox="1"/>
          <p:nvPr/>
        </p:nvSpPr>
        <p:spPr>
          <a:xfrm>
            <a:off x="2114550" y="1953046"/>
            <a:ext cx="447357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将光模块和交换芯片紧邻封装在一起，显著降低功耗、提高信号完整性、减少延迟，并且缩小体积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本质：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缩短电信号路径，未突破电信号底层限制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60F05AC7-7CFD-0E60-3FDD-2CCEFB3069E8}"/>
              </a:ext>
            </a:extLst>
          </p:cNvPr>
          <p:cNvSpPr txBox="1"/>
          <p:nvPr/>
        </p:nvSpPr>
        <p:spPr>
          <a:xfrm>
            <a:off x="2114550" y="100427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Co-Packaged Optics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996278A5-28AB-DF4B-68D8-6B09966A2C4D}"/>
              </a:ext>
            </a:extLst>
          </p:cNvPr>
          <p:cNvSpPr txBox="1"/>
          <p:nvPr/>
        </p:nvSpPr>
        <p:spPr>
          <a:xfrm>
            <a:off x="6986853" y="1004272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OIO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（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In-Packaged Optical I/O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CE94BF99-C1A7-188F-866F-B10A5E174762}"/>
              </a:ext>
            </a:extLst>
          </p:cNvPr>
          <p:cNvSpPr txBox="1"/>
          <p:nvPr/>
        </p:nvSpPr>
        <p:spPr>
          <a:xfrm>
            <a:off x="2113797" y="1538344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光通信进阶方案，技术成熟</a:t>
            </a: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F63527A4-38F5-2583-88D9-82E94A2685BF}"/>
              </a:ext>
            </a:extLst>
          </p:cNvPr>
          <p:cNvSpPr txBox="1"/>
          <p:nvPr/>
        </p:nvSpPr>
        <p:spPr>
          <a:xfrm>
            <a:off x="6986282" y="1543876"/>
            <a:ext cx="3168000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光通信终极形态，研发与验证阶段</a:t>
            </a: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88FB5E51-9ECE-7368-8C10-FDA37AC76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7275" y="3479844"/>
            <a:ext cx="487382" cy="350678"/>
          </a:xfrm>
          <a:prstGeom prst="rect">
            <a:avLst/>
          </a:prstGeom>
        </p:spPr>
      </p:pic>
      <p:pic>
        <p:nvPicPr>
          <p:cNvPr id="59" name="图片 58">
            <a:extLst>
              <a:ext uri="{FF2B5EF4-FFF2-40B4-BE49-F238E27FC236}">
                <a16:creationId xmlns:a16="http://schemas.microsoft.com/office/drawing/2014/main" id="{448C6786-1751-A660-4813-8EE9706460C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4657" y="3545375"/>
            <a:ext cx="813396" cy="219617"/>
          </a:xfrm>
          <a:prstGeom prst="rect">
            <a:avLst/>
          </a:prstGeom>
        </p:spPr>
      </p:pic>
      <p:pic>
        <p:nvPicPr>
          <p:cNvPr id="60" name="图像" descr="图像">
            <a:extLst>
              <a:ext uri="{FF2B5EF4-FFF2-40B4-BE49-F238E27FC236}">
                <a16:creationId xmlns:a16="http://schemas.microsoft.com/office/drawing/2014/main" id="{E137054D-360E-C5A4-E853-C39432BC95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7568" y="3500758"/>
            <a:ext cx="640577" cy="308850"/>
          </a:xfrm>
          <a:prstGeom prst="rect">
            <a:avLst/>
          </a:prstGeom>
          <a:ln w="12700">
            <a:miter lim="400000"/>
          </a:ln>
        </p:spPr>
      </p:pic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6E35BBAA-6792-5AE8-3612-7B8020700ED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77184" y="3461761"/>
            <a:ext cx="491231" cy="386844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B36BC0C1-A345-5C17-8242-A5B9869AA5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338" y="3517208"/>
            <a:ext cx="775992" cy="216870"/>
          </a:xfrm>
          <a:prstGeom prst="rect">
            <a:avLst/>
          </a:prstGeo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659E0D8A-2DDE-C04F-7C5B-AA2A723EE182}"/>
              </a:ext>
            </a:extLst>
          </p:cNvPr>
          <p:cNvGrpSpPr/>
          <p:nvPr/>
        </p:nvGrpSpPr>
        <p:grpSpPr>
          <a:xfrm>
            <a:off x="2059300" y="4574601"/>
            <a:ext cx="4499185" cy="1796391"/>
            <a:chOff x="2124557" y="4097423"/>
            <a:chExt cx="4499185" cy="1796391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1A7A49E1-7BED-61D0-1680-353995049012}"/>
                </a:ext>
              </a:extLst>
            </p:cNvPr>
            <p:cNvGrpSpPr/>
            <p:nvPr/>
          </p:nvGrpSpPr>
          <p:grpSpPr>
            <a:xfrm>
              <a:off x="2124557" y="4274892"/>
              <a:ext cx="482518" cy="391794"/>
              <a:chOff x="2041466" y="4860623"/>
              <a:chExt cx="750630" cy="609495"/>
            </a:xfrm>
          </p:grpSpPr>
          <p:pic>
            <p:nvPicPr>
              <p:cNvPr id="68" name="图像" descr="图像">
                <a:extLst>
                  <a:ext uri="{FF2B5EF4-FFF2-40B4-BE49-F238E27FC236}">
                    <a16:creationId xmlns:a16="http://schemas.microsoft.com/office/drawing/2014/main" id="{09B8B26C-67BD-06AA-B0EA-BA10E51CF3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6493" y="5010946"/>
                <a:ext cx="640576" cy="308849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73" name="圆角矩形">
                <a:extLst>
                  <a:ext uri="{FF2B5EF4-FFF2-40B4-BE49-F238E27FC236}">
                    <a16:creationId xmlns:a16="http://schemas.microsoft.com/office/drawing/2014/main" id="{92F0854B-B506-0060-3934-18DFC95FC56D}"/>
                  </a:ext>
                </a:extLst>
              </p:cNvPr>
              <p:cNvSpPr/>
              <p:nvPr/>
            </p:nvSpPr>
            <p:spPr>
              <a:xfrm>
                <a:off x="2041466" y="4860623"/>
                <a:ext cx="750630" cy="609495"/>
              </a:xfrm>
              <a:prstGeom prst="roundRect">
                <a:avLst>
                  <a:gd name="adj" fmla="val 15903"/>
                </a:avLst>
              </a:prstGeom>
              <a:ln w="12700">
                <a:solidFill>
                  <a:schemeClr val="accent1"/>
                </a:solidFill>
                <a:miter/>
              </a:ln>
            </p:spPr>
            <p:txBody>
              <a:bodyPr lIns="45719" rIns="45719" anchor="ctr"/>
              <a:lstStyle/>
              <a:p>
                <a:endParaRPr/>
              </a:p>
            </p:txBody>
          </p:sp>
        </p:grpSp>
        <p:sp>
          <p:nvSpPr>
            <p:cNvPr id="74" name="线条">
              <a:extLst>
                <a:ext uri="{FF2B5EF4-FFF2-40B4-BE49-F238E27FC236}">
                  <a16:creationId xmlns:a16="http://schemas.microsoft.com/office/drawing/2014/main" id="{2A4E6EFD-23A8-7558-A178-D303E9A1AB63}"/>
                </a:ext>
              </a:extLst>
            </p:cNvPr>
            <p:cNvSpPr/>
            <p:nvPr/>
          </p:nvSpPr>
          <p:spPr>
            <a:xfrm>
              <a:off x="2607075" y="4481994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grpSp>
          <p:nvGrpSpPr>
            <p:cNvPr id="166" name="组合 165">
              <a:extLst>
                <a:ext uri="{FF2B5EF4-FFF2-40B4-BE49-F238E27FC236}">
                  <a16:creationId xmlns:a16="http://schemas.microsoft.com/office/drawing/2014/main" id="{E7C973EE-8B69-2D18-6B24-EF3220A380DE}"/>
                </a:ext>
              </a:extLst>
            </p:cNvPr>
            <p:cNvGrpSpPr/>
            <p:nvPr/>
          </p:nvGrpSpPr>
          <p:grpSpPr>
            <a:xfrm>
              <a:off x="2845702" y="4278094"/>
              <a:ext cx="934309" cy="385746"/>
              <a:chOff x="3047024" y="4842775"/>
              <a:chExt cx="934309" cy="385746"/>
            </a:xfrm>
          </p:grpSpPr>
          <p:pic>
            <p:nvPicPr>
              <p:cNvPr id="69" name="图像" descr="图像">
                <a:extLst>
                  <a:ext uri="{FF2B5EF4-FFF2-40B4-BE49-F238E27FC236}">
                    <a16:creationId xmlns:a16="http://schemas.microsoft.com/office/drawing/2014/main" id="{EC4165D5-ADA9-5BC7-B51E-BA03F10FB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153908" y="4925314"/>
                <a:ext cx="300993" cy="237032"/>
              </a:xfrm>
              <a:prstGeom prst="rect">
                <a:avLst/>
              </a:prstGeom>
              <a:ln w="12700">
                <a:miter lim="400000"/>
              </a:ln>
            </p:spPr>
          </p:pic>
          <p:grpSp>
            <p:nvGrpSpPr>
              <p:cNvPr id="70" name="成组">
                <a:extLst>
                  <a:ext uri="{FF2B5EF4-FFF2-40B4-BE49-F238E27FC236}">
                    <a16:creationId xmlns:a16="http://schemas.microsoft.com/office/drawing/2014/main" id="{E04D72DD-19A3-C61B-7826-49A075D18165}"/>
                  </a:ext>
                </a:extLst>
              </p:cNvPr>
              <p:cNvGrpSpPr/>
              <p:nvPr/>
            </p:nvGrpSpPr>
            <p:grpSpPr>
              <a:xfrm>
                <a:off x="3047024" y="4842775"/>
                <a:ext cx="934309" cy="385746"/>
                <a:chOff x="0" y="0"/>
                <a:chExt cx="1500840" cy="619648"/>
              </a:xfrm>
            </p:grpSpPr>
            <p:sp>
              <p:nvSpPr>
                <p:cNvPr id="71" name="圆角矩形">
                  <a:extLst>
                    <a:ext uri="{FF2B5EF4-FFF2-40B4-BE49-F238E27FC236}">
                      <a16:creationId xmlns:a16="http://schemas.microsoft.com/office/drawing/2014/main" id="{D76D1C3F-6BD7-71D2-5106-061D3A9331AD}"/>
                    </a:ext>
                  </a:extLst>
                </p:cNvPr>
                <p:cNvSpPr/>
                <p:nvPr/>
              </p:nvSpPr>
              <p:spPr>
                <a:xfrm>
                  <a:off x="0" y="5077"/>
                  <a:ext cx="1500841" cy="609495"/>
                </a:xfrm>
                <a:prstGeom prst="roundRect">
                  <a:avLst>
                    <a:gd name="adj" fmla="val 15903"/>
                  </a:avLst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72" name="线条">
                  <a:extLst>
                    <a:ext uri="{FF2B5EF4-FFF2-40B4-BE49-F238E27FC236}">
                      <a16:creationId xmlns:a16="http://schemas.microsoft.com/office/drawing/2014/main" id="{94EF1FEF-19CE-AE46-498E-85E401134267}"/>
                    </a:ext>
                  </a:extLst>
                </p:cNvPr>
                <p:cNvSpPr/>
                <p:nvPr/>
              </p:nvSpPr>
              <p:spPr>
                <a:xfrm flipV="1">
                  <a:off x="778341" y="0"/>
                  <a:ext cx="1" cy="619649"/>
                </a:xfrm>
                <a:prstGeom prst="line">
                  <a:avLst/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</p:grpSp>
          <p:pic>
            <p:nvPicPr>
              <p:cNvPr id="75" name="图像" descr="图像">
                <a:extLst>
                  <a:ext uri="{FF2B5EF4-FFF2-40B4-BE49-F238E27FC236}">
                    <a16:creationId xmlns:a16="http://schemas.microsoft.com/office/drawing/2014/main" id="{B5E79CE6-B18F-A2F8-BBF0-195FAD4769D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31177" y="4947712"/>
                <a:ext cx="227013" cy="192235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76" name="线条">
                <a:extLst>
                  <a:ext uri="{FF2B5EF4-FFF2-40B4-BE49-F238E27FC236}">
                    <a16:creationId xmlns:a16="http://schemas.microsoft.com/office/drawing/2014/main" id="{83F8CAD9-A7D4-015F-7E91-9D0FD7B14457}"/>
                  </a:ext>
                </a:extLst>
              </p:cNvPr>
              <p:cNvSpPr/>
              <p:nvPr/>
            </p:nvSpPr>
            <p:spPr>
              <a:xfrm>
                <a:off x="3486065" y="5045583"/>
                <a:ext cx="136903" cy="1"/>
              </a:xfrm>
              <a:prstGeom prst="line">
                <a:avLst/>
              </a:prstGeom>
              <a:ln w="25400">
                <a:solidFill>
                  <a:schemeClr val="accent4">
                    <a:lumOff val="-6980"/>
                  </a:schemeClr>
                </a:solidFill>
                <a:miter/>
                <a:tailEnd type="triangle"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79" name="电芯片晶圆">
              <a:extLst>
                <a:ext uri="{FF2B5EF4-FFF2-40B4-BE49-F238E27FC236}">
                  <a16:creationId xmlns:a16="http://schemas.microsoft.com/office/drawing/2014/main" id="{962FF06B-D866-8D70-609B-2D790C28983D}"/>
                </a:ext>
              </a:extLst>
            </p:cNvPr>
            <p:cNvSpPr txBox="1"/>
            <p:nvPr/>
          </p:nvSpPr>
          <p:spPr>
            <a:xfrm>
              <a:off x="3089525" y="4109154"/>
              <a:ext cx="502700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芯片晶圆</a:t>
              </a:r>
              <a:endParaRPr dirty="0"/>
            </a:p>
          </p:txBody>
        </p:sp>
        <p:pic>
          <p:nvPicPr>
            <p:cNvPr id="106" name="图像" descr="图像">
              <a:extLst>
                <a:ext uri="{FF2B5EF4-FFF2-40B4-BE49-F238E27FC236}">
                  <a16:creationId xmlns:a16="http://schemas.microsoft.com/office/drawing/2014/main" id="{618CFFCD-5677-1595-C9AA-B63A7D55FA9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3401191" y="5588157"/>
              <a:ext cx="280649" cy="90115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99" name="光缆">
              <a:extLst>
                <a:ext uri="{FF2B5EF4-FFF2-40B4-BE49-F238E27FC236}">
                  <a16:creationId xmlns:a16="http://schemas.microsoft.com/office/drawing/2014/main" id="{07AE6739-0B8D-644B-1F6D-865D1E81A6DC}"/>
                </a:ext>
              </a:extLst>
            </p:cNvPr>
            <p:cNvSpPr txBox="1"/>
            <p:nvPr/>
          </p:nvSpPr>
          <p:spPr>
            <a:xfrm>
              <a:off x="3176567" y="4661590"/>
              <a:ext cx="307341" cy="231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光缆</a:t>
              </a:r>
              <a:endParaRPr dirty="0"/>
            </a:p>
          </p:txBody>
        </p:sp>
        <p:grpSp>
          <p:nvGrpSpPr>
            <p:cNvPr id="107" name="组合 106">
              <a:extLst>
                <a:ext uri="{FF2B5EF4-FFF2-40B4-BE49-F238E27FC236}">
                  <a16:creationId xmlns:a16="http://schemas.microsoft.com/office/drawing/2014/main" id="{B5DD2C33-3498-8573-13FE-EF4392ABBE60}"/>
                </a:ext>
              </a:extLst>
            </p:cNvPr>
            <p:cNvGrpSpPr/>
            <p:nvPr/>
          </p:nvGrpSpPr>
          <p:grpSpPr>
            <a:xfrm>
              <a:off x="2125731" y="4828973"/>
              <a:ext cx="482518" cy="391794"/>
              <a:chOff x="2041466" y="4860623"/>
              <a:chExt cx="750630" cy="609495"/>
            </a:xfrm>
          </p:grpSpPr>
          <p:pic>
            <p:nvPicPr>
              <p:cNvPr id="108" name="图像" descr="图像">
                <a:extLst>
                  <a:ext uri="{FF2B5EF4-FFF2-40B4-BE49-F238E27FC236}">
                    <a16:creationId xmlns:a16="http://schemas.microsoft.com/office/drawing/2014/main" id="{A03A7C8E-FC80-3377-69AF-C906CFAB79D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096493" y="5010946"/>
                <a:ext cx="640576" cy="308849"/>
              </a:xfrm>
              <a:prstGeom prst="rect">
                <a:avLst/>
              </a:prstGeom>
              <a:ln w="12700">
                <a:miter lim="400000"/>
              </a:ln>
            </p:spPr>
          </p:pic>
          <p:sp>
            <p:nvSpPr>
              <p:cNvPr id="109" name="圆角矩形">
                <a:extLst>
                  <a:ext uri="{FF2B5EF4-FFF2-40B4-BE49-F238E27FC236}">
                    <a16:creationId xmlns:a16="http://schemas.microsoft.com/office/drawing/2014/main" id="{86E1AFA0-EFC8-E356-8C4E-7AD1F0350CF7}"/>
                  </a:ext>
                </a:extLst>
              </p:cNvPr>
              <p:cNvSpPr/>
              <p:nvPr/>
            </p:nvSpPr>
            <p:spPr>
              <a:xfrm>
                <a:off x="2041466" y="4860623"/>
                <a:ext cx="750630" cy="609495"/>
              </a:xfrm>
              <a:prstGeom prst="roundRect">
                <a:avLst>
                  <a:gd name="adj" fmla="val 15903"/>
                </a:avLst>
              </a:prstGeom>
              <a:ln w="12700">
                <a:solidFill>
                  <a:schemeClr val="accent1"/>
                </a:solidFill>
                <a:miter/>
              </a:ln>
            </p:spPr>
            <p:txBody>
              <a:bodyPr lIns="45719" rIns="45719" anchor="ctr"/>
              <a:lstStyle/>
              <a:p>
                <a:endParaRPr/>
              </a:p>
            </p:txBody>
          </p:sp>
        </p:grpSp>
        <p:sp>
          <p:nvSpPr>
            <p:cNvPr id="117" name="线条">
              <a:extLst>
                <a:ext uri="{FF2B5EF4-FFF2-40B4-BE49-F238E27FC236}">
                  <a16:creationId xmlns:a16="http://schemas.microsoft.com/office/drawing/2014/main" id="{D081659F-CACA-1EA9-4388-455814ABB2BA}"/>
                </a:ext>
              </a:extLst>
            </p:cNvPr>
            <p:cNvSpPr/>
            <p:nvPr/>
          </p:nvSpPr>
          <p:spPr>
            <a:xfrm>
              <a:off x="2607075" y="5034805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grpSp>
          <p:nvGrpSpPr>
            <p:cNvPr id="167" name="组合 166">
              <a:extLst>
                <a:ext uri="{FF2B5EF4-FFF2-40B4-BE49-F238E27FC236}">
                  <a16:creationId xmlns:a16="http://schemas.microsoft.com/office/drawing/2014/main" id="{AD20CC46-89D4-F480-FABC-F9464EBFF902}"/>
                </a:ext>
              </a:extLst>
            </p:cNvPr>
            <p:cNvGrpSpPr/>
            <p:nvPr/>
          </p:nvGrpSpPr>
          <p:grpSpPr>
            <a:xfrm>
              <a:off x="2843194" y="4831360"/>
              <a:ext cx="934309" cy="385746"/>
              <a:chOff x="3048198" y="5396856"/>
              <a:chExt cx="934309" cy="385746"/>
            </a:xfrm>
          </p:grpSpPr>
          <p:pic>
            <p:nvPicPr>
              <p:cNvPr id="95" name="图像" descr="图像">
                <a:extLst>
                  <a:ext uri="{FF2B5EF4-FFF2-40B4-BE49-F238E27FC236}">
                    <a16:creationId xmlns:a16="http://schemas.microsoft.com/office/drawing/2014/main" id="{3AAF40AD-39B1-0059-A79F-6B3E63B437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597193" y="5523593"/>
                <a:ext cx="347588" cy="161800"/>
              </a:xfrm>
              <a:prstGeom prst="rect">
                <a:avLst/>
              </a:prstGeom>
              <a:ln w="12700">
                <a:miter lim="400000"/>
              </a:ln>
            </p:spPr>
          </p:pic>
          <p:grpSp>
            <p:nvGrpSpPr>
              <p:cNvPr id="110" name="组合 109">
                <a:extLst>
                  <a:ext uri="{FF2B5EF4-FFF2-40B4-BE49-F238E27FC236}">
                    <a16:creationId xmlns:a16="http://schemas.microsoft.com/office/drawing/2014/main" id="{2E5E64C4-ADFD-5419-14DD-B635BEFC42E6}"/>
                  </a:ext>
                </a:extLst>
              </p:cNvPr>
              <p:cNvGrpSpPr/>
              <p:nvPr/>
            </p:nvGrpSpPr>
            <p:grpSpPr>
              <a:xfrm>
                <a:off x="3048198" y="5396856"/>
                <a:ext cx="934309" cy="385746"/>
                <a:chOff x="3273599" y="4845799"/>
                <a:chExt cx="934309" cy="385746"/>
              </a:xfrm>
            </p:grpSpPr>
            <p:grpSp>
              <p:nvGrpSpPr>
                <p:cNvPr id="112" name="成组">
                  <a:extLst>
                    <a:ext uri="{FF2B5EF4-FFF2-40B4-BE49-F238E27FC236}">
                      <a16:creationId xmlns:a16="http://schemas.microsoft.com/office/drawing/2014/main" id="{9E9FC385-1523-9E38-63AE-8F79837866BC}"/>
                    </a:ext>
                  </a:extLst>
                </p:cNvPr>
                <p:cNvGrpSpPr/>
                <p:nvPr/>
              </p:nvGrpSpPr>
              <p:grpSpPr>
                <a:xfrm>
                  <a:off x="3273599" y="4845799"/>
                  <a:ext cx="934309" cy="385746"/>
                  <a:chOff x="0" y="0"/>
                  <a:chExt cx="1500840" cy="619648"/>
                </a:xfrm>
              </p:grpSpPr>
              <p:sp>
                <p:nvSpPr>
                  <p:cNvPr id="115" name="圆角矩形">
                    <a:extLst>
                      <a:ext uri="{FF2B5EF4-FFF2-40B4-BE49-F238E27FC236}">
                        <a16:creationId xmlns:a16="http://schemas.microsoft.com/office/drawing/2014/main" id="{0F6ACD3B-02A9-A62D-B6C2-E7CCC52D15CB}"/>
                      </a:ext>
                    </a:extLst>
                  </p:cNvPr>
                  <p:cNvSpPr/>
                  <p:nvPr/>
                </p:nvSpPr>
                <p:spPr>
                  <a:xfrm>
                    <a:off x="0" y="5077"/>
                    <a:ext cx="1500841" cy="609495"/>
                  </a:xfrm>
                  <a:prstGeom prst="roundRect">
                    <a:avLst>
                      <a:gd name="adj" fmla="val 15903"/>
                    </a:avLst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16" name="线条">
                    <a:extLst>
                      <a:ext uri="{FF2B5EF4-FFF2-40B4-BE49-F238E27FC236}">
                        <a16:creationId xmlns:a16="http://schemas.microsoft.com/office/drawing/2014/main" id="{9657F2EB-10CF-6DAA-5F10-8FD101A50498}"/>
                      </a:ext>
                    </a:extLst>
                  </p:cNvPr>
                  <p:cNvSpPr/>
                  <p:nvPr/>
                </p:nvSpPr>
                <p:spPr>
                  <a:xfrm flipV="1">
                    <a:off x="778341" y="0"/>
                    <a:ext cx="1" cy="61964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114" name="线条">
                  <a:extLst>
                    <a:ext uri="{FF2B5EF4-FFF2-40B4-BE49-F238E27FC236}">
                      <a16:creationId xmlns:a16="http://schemas.microsoft.com/office/drawing/2014/main" id="{EFCACB44-E6BE-5DD0-1FF1-5E8EE08BA097}"/>
                    </a:ext>
                  </a:extLst>
                </p:cNvPr>
                <p:cNvSpPr/>
                <p:nvPr/>
              </p:nvSpPr>
              <p:spPr>
                <a:xfrm>
                  <a:off x="3712640" y="5048607"/>
                  <a:ext cx="136903" cy="1"/>
                </a:xfrm>
                <a:prstGeom prst="line">
                  <a:avLst/>
                </a:prstGeom>
                <a:ln w="25400">
                  <a:solidFill>
                    <a:schemeClr val="accent4">
                      <a:lumOff val="-6980"/>
                    </a:schemeClr>
                  </a:solidFill>
                  <a:miter/>
                  <a:tailEnd type="triangle"/>
                </a:ln>
              </p:spPr>
              <p:txBody>
                <a:bodyPr lIns="45719" rIns="45719"/>
                <a:lstStyle/>
                <a:p>
                  <a:endParaRPr/>
                </a:p>
              </p:txBody>
            </p:sp>
          </p:grpSp>
          <p:pic>
            <p:nvPicPr>
              <p:cNvPr id="118" name="图像" descr="图像">
                <a:extLst>
                  <a:ext uri="{FF2B5EF4-FFF2-40B4-BE49-F238E27FC236}">
                    <a16:creationId xmlns:a16="http://schemas.microsoft.com/office/drawing/2014/main" id="{2E478550-2FD2-7554-8D12-3E7EAB85DB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162254" y="5494922"/>
                <a:ext cx="286562" cy="208336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sp>
          <p:nvSpPr>
            <p:cNvPr id="122" name="光缆">
              <a:extLst>
                <a:ext uri="{FF2B5EF4-FFF2-40B4-BE49-F238E27FC236}">
                  <a16:creationId xmlns:a16="http://schemas.microsoft.com/office/drawing/2014/main" id="{1D5F6698-080A-D0E4-4EBE-A8078DADE45F}"/>
                </a:ext>
              </a:extLst>
            </p:cNvPr>
            <p:cNvSpPr txBox="1"/>
            <p:nvPr/>
          </p:nvSpPr>
          <p:spPr>
            <a:xfrm>
              <a:off x="3430879" y="5240274"/>
              <a:ext cx="698266" cy="215444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lang="en-US" altLang="zh-CN" dirty="0"/>
                <a:t>ELS</a:t>
              </a:r>
              <a:r>
                <a:rPr lang="zh-CN" altLang="en-US" dirty="0"/>
                <a:t>光源模块</a:t>
              </a:r>
            </a:p>
          </p:txBody>
        </p:sp>
        <p:grpSp>
          <p:nvGrpSpPr>
            <p:cNvPr id="124" name="组合 123">
              <a:extLst>
                <a:ext uri="{FF2B5EF4-FFF2-40B4-BE49-F238E27FC236}">
                  <a16:creationId xmlns:a16="http://schemas.microsoft.com/office/drawing/2014/main" id="{A3761C46-1292-F4CB-1934-D34AD01FF482}"/>
                </a:ext>
              </a:extLst>
            </p:cNvPr>
            <p:cNvGrpSpPr/>
            <p:nvPr/>
          </p:nvGrpSpPr>
          <p:grpSpPr>
            <a:xfrm>
              <a:off x="3288327" y="5420673"/>
              <a:ext cx="934310" cy="385747"/>
              <a:chOff x="3273599" y="4845799"/>
              <a:chExt cx="934310" cy="385747"/>
            </a:xfrm>
          </p:grpSpPr>
          <p:grpSp>
            <p:nvGrpSpPr>
              <p:cNvPr id="127" name="成组">
                <a:extLst>
                  <a:ext uri="{FF2B5EF4-FFF2-40B4-BE49-F238E27FC236}">
                    <a16:creationId xmlns:a16="http://schemas.microsoft.com/office/drawing/2014/main" id="{62051C0D-DAAB-3DB2-70FD-F8903B697D3D}"/>
                  </a:ext>
                </a:extLst>
              </p:cNvPr>
              <p:cNvGrpSpPr/>
              <p:nvPr/>
            </p:nvGrpSpPr>
            <p:grpSpPr>
              <a:xfrm>
                <a:off x="3273599" y="4845799"/>
                <a:ext cx="934310" cy="385747"/>
                <a:chOff x="0" y="0"/>
                <a:chExt cx="1500842" cy="619649"/>
              </a:xfrm>
            </p:grpSpPr>
            <p:sp>
              <p:nvSpPr>
                <p:cNvPr id="129" name="圆角矩形">
                  <a:extLst>
                    <a:ext uri="{FF2B5EF4-FFF2-40B4-BE49-F238E27FC236}">
                      <a16:creationId xmlns:a16="http://schemas.microsoft.com/office/drawing/2014/main" id="{29EFD920-9E88-B5EF-F879-64639D94F4C8}"/>
                    </a:ext>
                  </a:extLst>
                </p:cNvPr>
                <p:cNvSpPr/>
                <p:nvPr/>
              </p:nvSpPr>
              <p:spPr>
                <a:xfrm>
                  <a:off x="0" y="5078"/>
                  <a:ext cx="1500842" cy="609497"/>
                </a:xfrm>
                <a:prstGeom prst="roundRect">
                  <a:avLst>
                    <a:gd name="adj" fmla="val 15903"/>
                  </a:avLst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30" name="线条">
                  <a:extLst>
                    <a:ext uri="{FF2B5EF4-FFF2-40B4-BE49-F238E27FC236}">
                      <a16:creationId xmlns:a16="http://schemas.microsoft.com/office/drawing/2014/main" id="{C6D2D0A3-C456-A2E8-9C19-B94B0200CE12}"/>
                    </a:ext>
                  </a:extLst>
                </p:cNvPr>
                <p:cNvSpPr/>
                <p:nvPr/>
              </p:nvSpPr>
              <p:spPr>
                <a:xfrm flipV="1">
                  <a:off x="778341" y="0"/>
                  <a:ext cx="1" cy="619649"/>
                </a:xfrm>
                <a:prstGeom prst="line">
                  <a:avLst/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128" name="线条">
                <a:extLst>
                  <a:ext uri="{FF2B5EF4-FFF2-40B4-BE49-F238E27FC236}">
                    <a16:creationId xmlns:a16="http://schemas.microsoft.com/office/drawing/2014/main" id="{0D8AADAF-3080-164C-A401-F5113EA53756}"/>
                  </a:ext>
                </a:extLst>
              </p:cNvPr>
              <p:cNvSpPr/>
              <p:nvPr/>
            </p:nvSpPr>
            <p:spPr>
              <a:xfrm>
                <a:off x="3712640" y="5048607"/>
                <a:ext cx="136903" cy="1"/>
              </a:xfrm>
              <a:prstGeom prst="line">
                <a:avLst/>
              </a:prstGeom>
              <a:ln w="25400">
                <a:solidFill>
                  <a:schemeClr val="accent4">
                    <a:lumOff val="-6980"/>
                  </a:schemeClr>
                </a:solidFill>
                <a:miter/>
                <a:tailEnd type="triangle"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125" name="线条">
              <a:extLst>
                <a:ext uri="{FF2B5EF4-FFF2-40B4-BE49-F238E27FC236}">
                  <a16:creationId xmlns:a16="http://schemas.microsoft.com/office/drawing/2014/main" id="{5F54B3B3-0328-BDA0-3BA5-9D7B745047F0}"/>
                </a:ext>
              </a:extLst>
            </p:cNvPr>
            <p:cNvSpPr/>
            <p:nvPr/>
          </p:nvSpPr>
          <p:spPr>
            <a:xfrm>
              <a:off x="3072151" y="5630400"/>
              <a:ext cx="184729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B839AA27-ABE8-28B9-5594-F679B781FAAE}"/>
                </a:ext>
              </a:extLst>
            </p:cNvPr>
            <p:cNvGrpSpPr/>
            <p:nvPr/>
          </p:nvGrpSpPr>
          <p:grpSpPr>
            <a:xfrm>
              <a:off x="2132462" y="5420673"/>
              <a:ext cx="934310" cy="385747"/>
              <a:chOff x="2112714" y="6435603"/>
              <a:chExt cx="934310" cy="385747"/>
            </a:xfrm>
          </p:grpSpPr>
          <p:grpSp>
            <p:nvGrpSpPr>
              <p:cNvPr id="134" name="组合 133">
                <a:extLst>
                  <a:ext uri="{FF2B5EF4-FFF2-40B4-BE49-F238E27FC236}">
                    <a16:creationId xmlns:a16="http://schemas.microsoft.com/office/drawing/2014/main" id="{BC2F7A91-1254-DAC2-9569-4703019B6026}"/>
                  </a:ext>
                </a:extLst>
              </p:cNvPr>
              <p:cNvGrpSpPr/>
              <p:nvPr/>
            </p:nvGrpSpPr>
            <p:grpSpPr>
              <a:xfrm>
                <a:off x="2112714" y="6435603"/>
                <a:ext cx="934310" cy="385747"/>
                <a:chOff x="3273599" y="4845799"/>
                <a:chExt cx="934310" cy="385747"/>
              </a:xfrm>
            </p:grpSpPr>
            <p:grpSp>
              <p:nvGrpSpPr>
                <p:cNvPr id="135" name="成组">
                  <a:extLst>
                    <a:ext uri="{FF2B5EF4-FFF2-40B4-BE49-F238E27FC236}">
                      <a16:creationId xmlns:a16="http://schemas.microsoft.com/office/drawing/2014/main" id="{934B7CE2-E88C-62E3-44CB-7B686F21D258}"/>
                    </a:ext>
                  </a:extLst>
                </p:cNvPr>
                <p:cNvGrpSpPr/>
                <p:nvPr/>
              </p:nvGrpSpPr>
              <p:grpSpPr>
                <a:xfrm>
                  <a:off x="3273599" y="4845799"/>
                  <a:ext cx="934310" cy="385747"/>
                  <a:chOff x="0" y="0"/>
                  <a:chExt cx="1500842" cy="619649"/>
                </a:xfrm>
              </p:grpSpPr>
              <p:sp>
                <p:nvSpPr>
                  <p:cNvPr id="137" name="圆角矩形">
                    <a:extLst>
                      <a:ext uri="{FF2B5EF4-FFF2-40B4-BE49-F238E27FC236}">
                        <a16:creationId xmlns:a16="http://schemas.microsoft.com/office/drawing/2014/main" id="{1AC6D3E6-ECBB-6062-044C-5D2A710DD1C0}"/>
                      </a:ext>
                    </a:extLst>
                  </p:cNvPr>
                  <p:cNvSpPr/>
                  <p:nvPr/>
                </p:nvSpPr>
                <p:spPr>
                  <a:xfrm>
                    <a:off x="0" y="5078"/>
                    <a:ext cx="1500842" cy="609497"/>
                  </a:xfrm>
                  <a:prstGeom prst="roundRect">
                    <a:avLst>
                      <a:gd name="adj" fmla="val 15903"/>
                    </a:avLst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38" name="线条">
                    <a:extLst>
                      <a:ext uri="{FF2B5EF4-FFF2-40B4-BE49-F238E27FC236}">
                        <a16:creationId xmlns:a16="http://schemas.microsoft.com/office/drawing/2014/main" id="{B2FB895E-12FE-5189-D144-F9656F898106}"/>
                      </a:ext>
                    </a:extLst>
                  </p:cNvPr>
                  <p:cNvSpPr/>
                  <p:nvPr/>
                </p:nvSpPr>
                <p:spPr>
                  <a:xfrm flipV="1">
                    <a:off x="778341" y="0"/>
                    <a:ext cx="1" cy="61964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136" name="线条">
                  <a:extLst>
                    <a:ext uri="{FF2B5EF4-FFF2-40B4-BE49-F238E27FC236}">
                      <a16:creationId xmlns:a16="http://schemas.microsoft.com/office/drawing/2014/main" id="{D9994785-1B36-5554-C4D9-DD12DAF4916F}"/>
                    </a:ext>
                  </a:extLst>
                </p:cNvPr>
                <p:cNvSpPr/>
                <p:nvPr/>
              </p:nvSpPr>
              <p:spPr>
                <a:xfrm>
                  <a:off x="3712640" y="5048607"/>
                  <a:ext cx="136903" cy="1"/>
                </a:xfrm>
                <a:prstGeom prst="line">
                  <a:avLst/>
                </a:prstGeom>
                <a:ln w="25400">
                  <a:solidFill>
                    <a:schemeClr val="accent4">
                      <a:lumOff val="-6980"/>
                    </a:schemeClr>
                  </a:solidFill>
                  <a:miter/>
                  <a:tailEnd type="triangle"/>
                </a:ln>
              </p:spPr>
              <p:txBody>
                <a:bodyPr lIns="45719" rIns="45719"/>
                <a:lstStyle/>
                <a:p>
                  <a:endParaRPr/>
                </a:p>
              </p:txBody>
            </p:sp>
          </p:grpSp>
          <p:pic>
            <p:nvPicPr>
              <p:cNvPr id="139" name="图像" descr="图像">
                <a:extLst>
                  <a:ext uri="{FF2B5EF4-FFF2-40B4-BE49-F238E27FC236}">
                    <a16:creationId xmlns:a16="http://schemas.microsoft.com/office/drawing/2014/main" id="{F2F0FBF1-0491-5640-0835-68DC6A19C9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49169" y="6520117"/>
                <a:ext cx="411773" cy="198534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140" name="图像" descr="图像">
                <a:extLst>
                  <a:ext uri="{FF2B5EF4-FFF2-40B4-BE49-F238E27FC236}">
                    <a16:creationId xmlns:a16="http://schemas.microsoft.com/office/drawing/2014/main" id="{2B103692-2C72-B6D1-52A3-3B81C4A114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2689168" y="6586321"/>
                <a:ext cx="308961" cy="104179"/>
              </a:xfrm>
              <a:prstGeom prst="rect">
                <a:avLst/>
              </a:prstGeom>
              <a:ln w="12700">
                <a:miter lim="400000"/>
              </a:ln>
            </p:spPr>
          </p:pic>
        </p:grpSp>
        <p:pic>
          <p:nvPicPr>
            <p:cNvPr id="141" name="RLM_CUSTOMER_MODEL_REV_A 1.png" descr="RLM_CUSTOMER_MODEL_REV_A 1.png">
              <a:extLst>
                <a:ext uri="{FF2B5EF4-FFF2-40B4-BE49-F238E27FC236}">
                  <a16:creationId xmlns:a16="http://schemas.microsoft.com/office/drawing/2014/main" id="{25D27526-BB85-58C8-1EC0-49767B910043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l="9276" t="8882" r="6682" b="11663"/>
            <a:stretch>
              <a:fillRect/>
            </a:stretch>
          </p:blipFill>
          <p:spPr>
            <a:xfrm>
              <a:off x="3891570" y="5541116"/>
              <a:ext cx="285670" cy="14430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9" h="21599" extrusionOk="0">
                  <a:moveTo>
                    <a:pt x="19763" y="0"/>
                  </a:moveTo>
                  <a:cubicBezTo>
                    <a:pt x="19223" y="1"/>
                    <a:pt x="19110" y="69"/>
                    <a:pt x="16964" y="1738"/>
                  </a:cubicBezTo>
                  <a:cubicBezTo>
                    <a:pt x="15885" y="2576"/>
                    <a:pt x="14953" y="3295"/>
                    <a:pt x="14887" y="3348"/>
                  </a:cubicBezTo>
                  <a:cubicBezTo>
                    <a:pt x="14773" y="3439"/>
                    <a:pt x="14764" y="3460"/>
                    <a:pt x="14745" y="3732"/>
                  </a:cubicBezTo>
                  <a:cubicBezTo>
                    <a:pt x="14723" y="4047"/>
                    <a:pt x="14713" y="4077"/>
                    <a:pt x="14332" y="4345"/>
                  </a:cubicBezTo>
                  <a:lnTo>
                    <a:pt x="14177" y="4447"/>
                  </a:lnTo>
                  <a:lnTo>
                    <a:pt x="14087" y="4294"/>
                  </a:lnTo>
                  <a:lnTo>
                    <a:pt x="13997" y="4141"/>
                  </a:lnTo>
                  <a:lnTo>
                    <a:pt x="13300" y="4703"/>
                  </a:lnTo>
                  <a:cubicBezTo>
                    <a:pt x="12521" y="5312"/>
                    <a:pt x="12574" y="5286"/>
                    <a:pt x="12345" y="4907"/>
                  </a:cubicBezTo>
                  <a:cubicBezTo>
                    <a:pt x="12286" y="4809"/>
                    <a:pt x="11905" y="4289"/>
                    <a:pt x="11494" y="3757"/>
                  </a:cubicBezTo>
                  <a:lnTo>
                    <a:pt x="10746" y="2811"/>
                  </a:lnTo>
                  <a:lnTo>
                    <a:pt x="10552" y="2939"/>
                  </a:lnTo>
                  <a:cubicBezTo>
                    <a:pt x="10250" y="3163"/>
                    <a:pt x="1763" y="9772"/>
                    <a:pt x="1754" y="9789"/>
                  </a:cubicBezTo>
                  <a:cubicBezTo>
                    <a:pt x="1750" y="9798"/>
                    <a:pt x="1727" y="10227"/>
                    <a:pt x="1703" y="10761"/>
                  </a:cubicBezTo>
                  <a:cubicBezTo>
                    <a:pt x="1679" y="11294"/>
                    <a:pt x="1643" y="11773"/>
                    <a:pt x="1625" y="11809"/>
                  </a:cubicBezTo>
                  <a:cubicBezTo>
                    <a:pt x="1608" y="11844"/>
                    <a:pt x="1339" y="12055"/>
                    <a:pt x="1032" y="12294"/>
                  </a:cubicBezTo>
                  <a:lnTo>
                    <a:pt x="477" y="12729"/>
                  </a:lnTo>
                  <a:lnTo>
                    <a:pt x="490" y="13087"/>
                  </a:lnTo>
                  <a:cubicBezTo>
                    <a:pt x="497" y="13306"/>
                    <a:pt x="486" y="13471"/>
                    <a:pt x="464" y="13521"/>
                  </a:cubicBezTo>
                  <a:cubicBezTo>
                    <a:pt x="441" y="13578"/>
                    <a:pt x="434" y="13882"/>
                    <a:pt x="439" y="14492"/>
                  </a:cubicBezTo>
                  <a:cubicBezTo>
                    <a:pt x="442" y="14976"/>
                    <a:pt x="427" y="15625"/>
                    <a:pt x="413" y="15924"/>
                  </a:cubicBezTo>
                  <a:lnTo>
                    <a:pt x="387" y="16461"/>
                  </a:lnTo>
                  <a:lnTo>
                    <a:pt x="219" y="16588"/>
                  </a:lnTo>
                  <a:cubicBezTo>
                    <a:pt x="123" y="16665"/>
                    <a:pt x="38" y="16757"/>
                    <a:pt x="26" y="16793"/>
                  </a:cubicBezTo>
                  <a:cubicBezTo>
                    <a:pt x="14" y="16829"/>
                    <a:pt x="0" y="17012"/>
                    <a:pt x="0" y="17176"/>
                  </a:cubicBezTo>
                  <a:lnTo>
                    <a:pt x="0" y="17457"/>
                  </a:lnTo>
                  <a:lnTo>
                    <a:pt x="232" y="17815"/>
                  </a:lnTo>
                  <a:cubicBezTo>
                    <a:pt x="360" y="18011"/>
                    <a:pt x="464" y="18198"/>
                    <a:pt x="464" y="18224"/>
                  </a:cubicBezTo>
                  <a:cubicBezTo>
                    <a:pt x="464" y="18250"/>
                    <a:pt x="418" y="18305"/>
                    <a:pt x="361" y="18352"/>
                  </a:cubicBezTo>
                  <a:cubicBezTo>
                    <a:pt x="271" y="18427"/>
                    <a:pt x="263" y="18454"/>
                    <a:pt x="271" y="18608"/>
                  </a:cubicBezTo>
                  <a:cubicBezTo>
                    <a:pt x="279" y="18763"/>
                    <a:pt x="376" y="18947"/>
                    <a:pt x="1187" y="20192"/>
                  </a:cubicBezTo>
                  <a:cubicBezTo>
                    <a:pt x="1695" y="20973"/>
                    <a:pt x="2135" y="21599"/>
                    <a:pt x="2167" y="21598"/>
                  </a:cubicBezTo>
                  <a:cubicBezTo>
                    <a:pt x="2199" y="21597"/>
                    <a:pt x="2375" y="21471"/>
                    <a:pt x="2567" y="21317"/>
                  </a:cubicBezTo>
                  <a:cubicBezTo>
                    <a:pt x="2871" y="21074"/>
                    <a:pt x="2927" y="21042"/>
                    <a:pt x="2967" y="21113"/>
                  </a:cubicBezTo>
                  <a:cubicBezTo>
                    <a:pt x="3039" y="21239"/>
                    <a:pt x="3091" y="21228"/>
                    <a:pt x="3535" y="20883"/>
                  </a:cubicBezTo>
                  <a:lnTo>
                    <a:pt x="3947" y="20550"/>
                  </a:lnTo>
                  <a:lnTo>
                    <a:pt x="4051" y="20704"/>
                  </a:lnTo>
                  <a:cubicBezTo>
                    <a:pt x="4142" y="20842"/>
                    <a:pt x="4176" y="20866"/>
                    <a:pt x="4296" y="20831"/>
                  </a:cubicBezTo>
                  <a:cubicBezTo>
                    <a:pt x="4371" y="20810"/>
                    <a:pt x="4576" y="20669"/>
                    <a:pt x="4760" y="20525"/>
                  </a:cubicBezTo>
                  <a:cubicBezTo>
                    <a:pt x="4944" y="20381"/>
                    <a:pt x="5242" y="20174"/>
                    <a:pt x="5418" y="20039"/>
                  </a:cubicBezTo>
                  <a:cubicBezTo>
                    <a:pt x="5594" y="19905"/>
                    <a:pt x="6595" y="19123"/>
                    <a:pt x="7650" y="18301"/>
                  </a:cubicBezTo>
                  <a:cubicBezTo>
                    <a:pt x="10516" y="16067"/>
                    <a:pt x="11035" y="15667"/>
                    <a:pt x="12320" y="14671"/>
                  </a:cubicBezTo>
                  <a:lnTo>
                    <a:pt x="13494" y="13751"/>
                  </a:lnTo>
                  <a:lnTo>
                    <a:pt x="13584" y="13879"/>
                  </a:lnTo>
                  <a:cubicBezTo>
                    <a:pt x="13635" y="13954"/>
                    <a:pt x="13686" y="14032"/>
                    <a:pt x="13700" y="14032"/>
                  </a:cubicBezTo>
                  <a:cubicBezTo>
                    <a:pt x="13733" y="14032"/>
                    <a:pt x="14713" y="13254"/>
                    <a:pt x="14861" y="13112"/>
                  </a:cubicBezTo>
                  <a:cubicBezTo>
                    <a:pt x="14925" y="13051"/>
                    <a:pt x="15058" y="12932"/>
                    <a:pt x="15158" y="12857"/>
                  </a:cubicBezTo>
                  <a:cubicBezTo>
                    <a:pt x="15301" y="12749"/>
                    <a:pt x="15338" y="12704"/>
                    <a:pt x="15325" y="12627"/>
                  </a:cubicBezTo>
                  <a:cubicBezTo>
                    <a:pt x="15305" y="12497"/>
                    <a:pt x="15340" y="12446"/>
                    <a:pt x="15790" y="12090"/>
                  </a:cubicBezTo>
                  <a:cubicBezTo>
                    <a:pt x="16116" y="11832"/>
                    <a:pt x="16168" y="11778"/>
                    <a:pt x="16177" y="11655"/>
                  </a:cubicBezTo>
                  <a:cubicBezTo>
                    <a:pt x="16190" y="11459"/>
                    <a:pt x="16217" y="11425"/>
                    <a:pt x="16280" y="11502"/>
                  </a:cubicBezTo>
                  <a:cubicBezTo>
                    <a:pt x="16365" y="11606"/>
                    <a:pt x="16551" y="11430"/>
                    <a:pt x="16551" y="11246"/>
                  </a:cubicBezTo>
                  <a:cubicBezTo>
                    <a:pt x="16551" y="11050"/>
                    <a:pt x="16590" y="11004"/>
                    <a:pt x="16680" y="11144"/>
                  </a:cubicBezTo>
                  <a:lnTo>
                    <a:pt x="16757" y="11272"/>
                  </a:lnTo>
                  <a:lnTo>
                    <a:pt x="17067" y="11016"/>
                  </a:lnTo>
                  <a:cubicBezTo>
                    <a:pt x="17339" y="10796"/>
                    <a:pt x="17390" y="10748"/>
                    <a:pt x="17467" y="10531"/>
                  </a:cubicBezTo>
                  <a:lnTo>
                    <a:pt x="17557" y="10275"/>
                  </a:lnTo>
                  <a:lnTo>
                    <a:pt x="17570" y="9125"/>
                  </a:lnTo>
                  <a:cubicBezTo>
                    <a:pt x="17580" y="7809"/>
                    <a:pt x="17592" y="7609"/>
                    <a:pt x="17763" y="7284"/>
                  </a:cubicBezTo>
                  <a:cubicBezTo>
                    <a:pt x="17856" y="7110"/>
                    <a:pt x="18109" y="6913"/>
                    <a:pt x="19376" y="5930"/>
                  </a:cubicBezTo>
                  <a:cubicBezTo>
                    <a:pt x="20197" y="5293"/>
                    <a:pt x="20939" y="4686"/>
                    <a:pt x="21027" y="4601"/>
                  </a:cubicBezTo>
                  <a:cubicBezTo>
                    <a:pt x="21115" y="4515"/>
                    <a:pt x="21250" y="4349"/>
                    <a:pt x="21324" y="4217"/>
                  </a:cubicBezTo>
                  <a:lnTo>
                    <a:pt x="21453" y="3962"/>
                  </a:lnTo>
                  <a:lnTo>
                    <a:pt x="21517" y="3297"/>
                  </a:lnTo>
                  <a:cubicBezTo>
                    <a:pt x="21600" y="2415"/>
                    <a:pt x="21598" y="1836"/>
                    <a:pt x="21517" y="1508"/>
                  </a:cubicBezTo>
                  <a:cubicBezTo>
                    <a:pt x="21435" y="1170"/>
                    <a:pt x="21190" y="762"/>
                    <a:pt x="20950" y="536"/>
                  </a:cubicBezTo>
                  <a:cubicBezTo>
                    <a:pt x="20840" y="433"/>
                    <a:pt x="20732" y="310"/>
                    <a:pt x="20705" y="281"/>
                  </a:cubicBezTo>
                  <a:cubicBezTo>
                    <a:pt x="20585" y="153"/>
                    <a:pt x="20064" y="-1"/>
                    <a:pt x="19763" y="0"/>
                  </a:cubicBezTo>
                  <a:close/>
                  <a:moveTo>
                    <a:pt x="19350" y="1636"/>
                  </a:moveTo>
                  <a:lnTo>
                    <a:pt x="19815" y="2351"/>
                  </a:lnTo>
                  <a:cubicBezTo>
                    <a:pt x="20411" y="3265"/>
                    <a:pt x="20429" y="3286"/>
                    <a:pt x="20382" y="3374"/>
                  </a:cubicBezTo>
                  <a:cubicBezTo>
                    <a:pt x="20362" y="3412"/>
                    <a:pt x="19512" y="4071"/>
                    <a:pt x="18499" y="4856"/>
                  </a:cubicBezTo>
                  <a:cubicBezTo>
                    <a:pt x="17485" y="5642"/>
                    <a:pt x="16640" y="6338"/>
                    <a:pt x="16615" y="6390"/>
                  </a:cubicBezTo>
                  <a:cubicBezTo>
                    <a:pt x="16574" y="6477"/>
                    <a:pt x="16533" y="6432"/>
                    <a:pt x="16138" y="5827"/>
                  </a:cubicBezTo>
                  <a:cubicBezTo>
                    <a:pt x="15825" y="5347"/>
                    <a:pt x="15712" y="5125"/>
                    <a:pt x="15712" y="5035"/>
                  </a:cubicBezTo>
                  <a:cubicBezTo>
                    <a:pt x="15712" y="4863"/>
                    <a:pt x="15850" y="4451"/>
                    <a:pt x="15945" y="4319"/>
                  </a:cubicBezTo>
                  <a:cubicBezTo>
                    <a:pt x="15988" y="4258"/>
                    <a:pt x="16696" y="3679"/>
                    <a:pt x="17518" y="3041"/>
                  </a:cubicBezTo>
                  <a:cubicBezTo>
                    <a:pt x="18341" y="2404"/>
                    <a:pt x="19088" y="1837"/>
                    <a:pt x="19182" y="1763"/>
                  </a:cubicBezTo>
                  <a:lnTo>
                    <a:pt x="19350" y="1636"/>
                  </a:lnTo>
                  <a:close/>
                </a:path>
              </a:pathLst>
            </a:custGeom>
            <a:ln w="12700">
              <a:miter lim="400000"/>
            </a:ln>
          </p:spPr>
        </p:pic>
        <p:pic>
          <p:nvPicPr>
            <p:cNvPr id="143" name="图像" descr="图像">
              <a:extLst>
                <a:ext uri="{FF2B5EF4-FFF2-40B4-BE49-F238E27FC236}">
                  <a16:creationId xmlns:a16="http://schemas.microsoft.com/office/drawing/2014/main" id="{59BF8559-C9C6-9EC2-CEB9-BD0262FC9C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 t="29736" b="29786"/>
            <a:stretch>
              <a:fillRect/>
            </a:stretch>
          </p:blipFill>
          <p:spPr>
            <a:xfrm>
              <a:off x="5274713" y="4441874"/>
              <a:ext cx="314263" cy="569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0" y="686"/>
                  </a:lnTo>
                  <a:lnTo>
                    <a:pt x="4832" y="686"/>
                  </a:lnTo>
                  <a:cubicBezTo>
                    <a:pt x="9969" y="652"/>
                    <a:pt x="10193" y="636"/>
                    <a:pt x="9266" y="1166"/>
                  </a:cubicBezTo>
                  <a:cubicBezTo>
                    <a:pt x="8789" y="1438"/>
                    <a:pt x="8072" y="2110"/>
                    <a:pt x="7651" y="2674"/>
                  </a:cubicBezTo>
                  <a:lnTo>
                    <a:pt x="7316" y="3154"/>
                  </a:lnTo>
                  <a:lnTo>
                    <a:pt x="7266" y="4594"/>
                  </a:lnTo>
                  <a:cubicBezTo>
                    <a:pt x="7238" y="5380"/>
                    <a:pt x="7224" y="6007"/>
                    <a:pt x="7229" y="6034"/>
                  </a:cubicBezTo>
                  <a:cubicBezTo>
                    <a:pt x="7234" y="6062"/>
                    <a:pt x="7336" y="5958"/>
                    <a:pt x="7453" y="5760"/>
                  </a:cubicBezTo>
                  <a:cubicBezTo>
                    <a:pt x="7705" y="5332"/>
                    <a:pt x="8346" y="4367"/>
                    <a:pt x="8707" y="3909"/>
                  </a:cubicBezTo>
                  <a:cubicBezTo>
                    <a:pt x="9236" y="3238"/>
                    <a:pt x="10439" y="2121"/>
                    <a:pt x="10856" y="1920"/>
                  </a:cubicBezTo>
                  <a:cubicBezTo>
                    <a:pt x="10943" y="1878"/>
                    <a:pt x="11173" y="1815"/>
                    <a:pt x="11365" y="1714"/>
                  </a:cubicBezTo>
                  <a:cubicBezTo>
                    <a:pt x="11557" y="1614"/>
                    <a:pt x="11881" y="1486"/>
                    <a:pt x="12086" y="1440"/>
                  </a:cubicBezTo>
                  <a:cubicBezTo>
                    <a:pt x="12469" y="1354"/>
                    <a:pt x="12471" y="1240"/>
                    <a:pt x="12123" y="1029"/>
                  </a:cubicBezTo>
                  <a:cubicBezTo>
                    <a:pt x="12042" y="979"/>
                    <a:pt x="11974" y="891"/>
                    <a:pt x="11974" y="823"/>
                  </a:cubicBezTo>
                  <a:cubicBezTo>
                    <a:pt x="11974" y="700"/>
                    <a:pt x="13458" y="568"/>
                    <a:pt x="13514" y="686"/>
                  </a:cubicBezTo>
                  <a:cubicBezTo>
                    <a:pt x="13532" y="725"/>
                    <a:pt x="13526" y="934"/>
                    <a:pt x="13489" y="1440"/>
                  </a:cubicBezTo>
                  <a:cubicBezTo>
                    <a:pt x="13460" y="1837"/>
                    <a:pt x="13396" y="2762"/>
                    <a:pt x="13353" y="3429"/>
                  </a:cubicBezTo>
                  <a:lnTo>
                    <a:pt x="13278" y="4594"/>
                  </a:lnTo>
                  <a:lnTo>
                    <a:pt x="13986" y="4594"/>
                  </a:lnTo>
                  <a:lnTo>
                    <a:pt x="14694" y="4526"/>
                  </a:lnTo>
                  <a:lnTo>
                    <a:pt x="14731" y="3771"/>
                  </a:lnTo>
                  <a:cubicBezTo>
                    <a:pt x="14781" y="2480"/>
                    <a:pt x="14813" y="2644"/>
                    <a:pt x="14309" y="2606"/>
                  </a:cubicBezTo>
                  <a:cubicBezTo>
                    <a:pt x="13799" y="2567"/>
                    <a:pt x="13832" y="2667"/>
                    <a:pt x="13936" y="1371"/>
                  </a:cubicBezTo>
                  <a:lnTo>
                    <a:pt x="13986" y="617"/>
                  </a:lnTo>
                  <a:lnTo>
                    <a:pt x="14682" y="617"/>
                  </a:lnTo>
                  <a:cubicBezTo>
                    <a:pt x="15063" y="617"/>
                    <a:pt x="15384" y="653"/>
                    <a:pt x="15390" y="686"/>
                  </a:cubicBezTo>
                  <a:cubicBezTo>
                    <a:pt x="15399" y="738"/>
                    <a:pt x="15378" y="1498"/>
                    <a:pt x="15327" y="3086"/>
                  </a:cubicBezTo>
                  <a:lnTo>
                    <a:pt x="15315" y="3497"/>
                  </a:lnTo>
                  <a:lnTo>
                    <a:pt x="15539" y="3497"/>
                  </a:lnTo>
                  <a:lnTo>
                    <a:pt x="15762" y="3497"/>
                  </a:lnTo>
                  <a:lnTo>
                    <a:pt x="15824" y="2126"/>
                  </a:lnTo>
                  <a:lnTo>
                    <a:pt x="15899" y="686"/>
                  </a:lnTo>
                  <a:lnTo>
                    <a:pt x="16073" y="686"/>
                  </a:lnTo>
                  <a:cubicBezTo>
                    <a:pt x="16170" y="666"/>
                    <a:pt x="16260" y="690"/>
                    <a:pt x="16271" y="754"/>
                  </a:cubicBezTo>
                  <a:cubicBezTo>
                    <a:pt x="16285" y="827"/>
                    <a:pt x="16270" y="1350"/>
                    <a:pt x="16234" y="2126"/>
                  </a:cubicBezTo>
                  <a:cubicBezTo>
                    <a:pt x="16202" y="2811"/>
                    <a:pt x="16172" y="3390"/>
                    <a:pt x="16172" y="3429"/>
                  </a:cubicBezTo>
                  <a:cubicBezTo>
                    <a:pt x="16172" y="3467"/>
                    <a:pt x="16287" y="3498"/>
                    <a:pt x="16420" y="3497"/>
                  </a:cubicBezTo>
                  <a:lnTo>
                    <a:pt x="16656" y="3497"/>
                  </a:lnTo>
                  <a:lnTo>
                    <a:pt x="16743" y="2126"/>
                  </a:lnTo>
                  <a:lnTo>
                    <a:pt x="16843" y="686"/>
                  </a:lnTo>
                  <a:lnTo>
                    <a:pt x="17551" y="686"/>
                  </a:lnTo>
                  <a:lnTo>
                    <a:pt x="18259" y="686"/>
                  </a:lnTo>
                  <a:lnTo>
                    <a:pt x="18246" y="1029"/>
                  </a:lnTo>
                  <a:cubicBezTo>
                    <a:pt x="18242" y="1198"/>
                    <a:pt x="18223" y="1477"/>
                    <a:pt x="18209" y="1714"/>
                  </a:cubicBezTo>
                  <a:cubicBezTo>
                    <a:pt x="18180" y="2201"/>
                    <a:pt x="18224" y="2145"/>
                    <a:pt x="17725" y="2743"/>
                  </a:cubicBezTo>
                  <a:cubicBezTo>
                    <a:pt x="17542" y="2962"/>
                    <a:pt x="17369" y="3217"/>
                    <a:pt x="17352" y="3291"/>
                  </a:cubicBezTo>
                  <a:cubicBezTo>
                    <a:pt x="17326" y="3409"/>
                    <a:pt x="17228" y="5196"/>
                    <a:pt x="17228" y="5554"/>
                  </a:cubicBezTo>
                  <a:cubicBezTo>
                    <a:pt x="17228" y="5625"/>
                    <a:pt x="17387" y="5443"/>
                    <a:pt x="17576" y="5143"/>
                  </a:cubicBezTo>
                  <a:cubicBezTo>
                    <a:pt x="17956" y="4538"/>
                    <a:pt x="18085" y="4434"/>
                    <a:pt x="18072" y="4731"/>
                  </a:cubicBezTo>
                  <a:cubicBezTo>
                    <a:pt x="18068" y="4834"/>
                    <a:pt x="18047" y="5422"/>
                    <a:pt x="18023" y="6034"/>
                  </a:cubicBezTo>
                  <a:cubicBezTo>
                    <a:pt x="17999" y="6647"/>
                    <a:pt x="17964" y="7192"/>
                    <a:pt x="17948" y="7269"/>
                  </a:cubicBezTo>
                  <a:cubicBezTo>
                    <a:pt x="17933" y="7345"/>
                    <a:pt x="17792" y="7624"/>
                    <a:pt x="17638" y="7886"/>
                  </a:cubicBezTo>
                  <a:cubicBezTo>
                    <a:pt x="17483" y="8147"/>
                    <a:pt x="17341" y="8430"/>
                    <a:pt x="17327" y="8503"/>
                  </a:cubicBezTo>
                  <a:cubicBezTo>
                    <a:pt x="17299" y="8647"/>
                    <a:pt x="17198" y="10945"/>
                    <a:pt x="17215" y="11040"/>
                  </a:cubicBezTo>
                  <a:cubicBezTo>
                    <a:pt x="17221" y="11072"/>
                    <a:pt x="17358" y="10831"/>
                    <a:pt x="17514" y="10560"/>
                  </a:cubicBezTo>
                  <a:cubicBezTo>
                    <a:pt x="17669" y="10289"/>
                    <a:pt x="17794" y="10168"/>
                    <a:pt x="17799" y="10217"/>
                  </a:cubicBezTo>
                  <a:cubicBezTo>
                    <a:pt x="17805" y="10266"/>
                    <a:pt x="17771" y="11153"/>
                    <a:pt x="17725" y="12206"/>
                  </a:cubicBezTo>
                  <a:lnTo>
                    <a:pt x="17650" y="14126"/>
                  </a:lnTo>
                  <a:lnTo>
                    <a:pt x="17315" y="14194"/>
                  </a:lnTo>
                  <a:lnTo>
                    <a:pt x="16979" y="14194"/>
                  </a:lnTo>
                  <a:lnTo>
                    <a:pt x="16930" y="15291"/>
                  </a:lnTo>
                  <a:lnTo>
                    <a:pt x="16880" y="16389"/>
                  </a:lnTo>
                  <a:lnTo>
                    <a:pt x="17377" y="16389"/>
                  </a:lnTo>
                  <a:cubicBezTo>
                    <a:pt x="17926" y="16389"/>
                    <a:pt x="18001" y="16305"/>
                    <a:pt x="18072" y="15703"/>
                  </a:cubicBezTo>
                  <a:cubicBezTo>
                    <a:pt x="18094" y="15525"/>
                    <a:pt x="18229" y="12893"/>
                    <a:pt x="18371" y="9806"/>
                  </a:cubicBezTo>
                  <a:cubicBezTo>
                    <a:pt x="18512" y="6719"/>
                    <a:pt x="18639" y="4053"/>
                    <a:pt x="18656" y="3909"/>
                  </a:cubicBezTo>
                  <a:cubicBezTo>
                    <a:pt x="18680" y="3705"/>
                    <a:pt x="18731" y="3612"/>
                    <a:pt x="18867" y="3497"/>
                  </a:cubicBezTo>
                  <a:cubicBezTo>
                    <a:pt x="19492" y="2970"/>
                    <a:pt x="19789" y="2764"/>
                    <a:pt x="19811" y="2811"/>
                  </a:cubicBezTo>
                  <a:cubicBezTo>
                    <a:pt x="19840" y="2870"/>
                    <a:pt x="19822" y="3713"/>
                    <a:pt x="19787" y="3909"/>
                  </a:cubicBezTo>
                  <a:cubicBezTo>
                    <a:pt x="19776" y="3967"/>
                    <a:pt x="19586" y="4027"/>
                    <a:pt x="19364" y="4046"/>
                  </a:cubicBezTo>
                  <a:lnTo>
                    <a:pt x="18954" y="4046"/>
                  </a:lnTo>
                  <a:lnTo>
                    <a:pt x="18942" y="4389"/>
                  </a:lnTo>
                  <a:cubicBezTo>
                    <a:pt x="18934" y="4559"/>
                    <a:pt x="18913" y="4887"/>
                    <a:pt x="18905" y="5143"/>
                  </a:cubicBezTo>
                  <a:lnTo>
                    <a:pt x="18892" y="5623"/>
                  </a:lnTo>
                  <a:lnTo>
                    <a:pt x="19302" y="5623"/>
                  </a:lnTo>
                  <a:cubicBezTo>
                    <a:pt x="19525" y="5623"/>
                    <a:pt x="19706" y="5640"/>
                    <a:pt x="19712" y="5691"/>
                  </a:cubicBezTo>
                  <a:cubicBezTo>
                    <a:pt x="19718" y="5743"/>
                    <a:pt x="19716" y="5952"/>
                    <a:pt x="19700" y="6171"/>
                  </a:cubicBezTo>
                  <a:lnTo>
                    <a:pt x="19662" y="6583"/>
                  </a:lnTo>
                  <a:lnTo>
                    <a:pt x="19252" y="6651"/>
                  </a:lnTo>
                  <a:lnTo>
                    <a:pt x="18843" y="6651"/>
                  </a:lnTo>
                  <a:lnTo>
                    <a:pt x="18818" y="7131"/>
                  </a:lnTo>
                  <a:cubicBezTo>
                    <a:pt x="18804" y="7404"/>
                    <a:pt x="18789" y="7835"/>
                    <a:pt x="18780" y="8023"/>
                  </a:cubicBezTo>
                  <a:lnTo>
                    <a:pt x="18756" y="8297"/>
                  </a:lnTo>
                  <a:lnTo>
                    <a:pt x="19165" y="8297"/>
                  </a:lnTo>
                  <a:cubicBezTo>
                    <a:pt x="19507" y="8297"/>
                    <a:pt x="19577" y="8345"/>
                    <a:pt x="19588" y="8503"/>
                  </a:cubicBezTo>
                  <a:cubicBezTo>
                    <a:pt x="19595" y="8606"/>
                    <a:pt x="19591" y="8813"/>
                    <a:pt x="19575" y="8914"/>
                  </a:cubicBezTo>
                  <a:cubicBezTo>
                    <a:pt x="19553" y="9065"/>
                    <a:pt x="19464" y="9051"/>
                    <a:pt x="19128" y="9051"/>
                  </a:cubicBezTo>
                  <a:lnTo>
                    <a:pt x="18718" y="9051"/>
                  </a:lnTo>
                  <a:lnTo>
                    <a:pt x="18681" y="9874"/>
                  </a:lnTo>
                  <a:cubicBezTo>
                    <a:pt x="18661" y="10315"/>
                    <a:pt x="18644" y="10730"/>
                    <a:pt x="18644" y="10766"/>
                  </a:cubicBezTo>
                  <a:cubicBezTo>
                    <a:pt x="18644" y="10801"/>
                    <a:pt x="18828" y="10816"/>
                    <a:pt x="19054" y="10834"/>
                  </a:cubicBezTo>
                  <a:lnTo>
                    <a:pt x="19476" y="10903"/>
                  </a:lnTo>
                  <a:lnTo>
                    <a:pt x="19476" y="11177"/>
                  </a:lnTo>
                  <a:cubicBezTo>
                    <a:pt x="19476" y="11336"/>
                    <a:pt x="19446" y="12026"/>
                    <a:pt x="19414" y="12754"/>
                  </a:cubicBezTo>
                  <a:cubicBezTo>
                    <a:pt x="19358" y="14004"/>
                    <a:pt x="19353" y="14087"/>
                    <a:pt x="19302" y="14057"/>
                  </a:cubicBezTo>
                  <a:cubicBezTo>
                    <a:pt x="19272" y="14040"/>
                    <a:pt x="19201" y="13786"/>
                    <a:pt x="19153" y="13509"/>
                  </a:cubicBezTo>
                  <a:cubicBezTo>
                    <a:pt x="19064" y="12990"/>
                    <a:pt x="19067" y="12850"/>
                    <a:pt x="19116" y="11931"/>
                  </a:cubicBezTo>
                  <a:cubicBezTo>
                    <a:pt x="19126" y="11734"/>
                    <a:pt x="19101" y="11657"/>
                    <a:pt x="18867" y="11657"/>
                  </a:cubicBezTo>
                  <a:lnTo>
                    <a:pt x="18607" y="11657"/>
                  </a:lnTo>
                  <a:lnTo>
                    <a:pt x="18507" y="13920"/>
                  </a:lnTo>
                  <a:cubicBezTo>
                    <a:pt x="18450" y="15138"/>
                    <a:pt x="18395" y="16173"/>
                    <a:pt x="18395" y="16251"/>
                  </a:cubicBezTo>
                  <a:cubicBezTo>
                    <a:pt x="18395" y="16351"/>
                    <a:pt x="18472" y="16389"/>
                    <a:pt x="18644" y="16389"/>
                  </a:cubicBezTo>
                  <a:cubicBezTo>
                    <a:pt x="18889" y="16389"/>
                    <a:pt x="18896" y="16427"/>
                    <a:pt x="18917" y="16114"/>
                  </a:cubicBezTo>
                  <a:lnTo>
                    <a:pt x="18942" y="15771"/>
                  </a:lnTo>
                  <a:lnTo>
                    <a:pt x="19041" y="16114"/>
                  </a:lnTo>
                  <a:lnTo>
                    <a:pt x="19141" y="16389"/>
                  </a:lnTo>
                  <a:lnTo>
                    <a:pt x="19960" y="16389"/>
                  </a:lnTo>
                  <a:lnTo>
                    <a:pt x="20768" y="16320"/>
                  </a:lnTo>
                  <a:lnTo>
                    <a:pt x="20805" y="15497"/>
                  </a:lnTo>
                  <a:cubicBezTo>
                    <a:pt x="20825" y="15053"/>
                    <a:pt x="20852" y="14622"/>
                    <a:pt x="20867" y="14469"/>
                  </a:cubicBezTo>
                  <a:lnTo>
                    <a:pt x="20904" y="14194"/>
                  </a:lnTo>
                  <a:lnTo>
                    <a:pt x="20395" y="14194"/>
                  </a:lnTo>
                  <a:cubicBezTo>
                    <a:pt x="20113" y="14194"/>
                    <a:pt x="19881" y="14121"/>
                    <a:pt x="19873" y="14057"/>
                  </a:cubicBezTo>
                  <a:cubicBezTo>
                    <a:pt x="19866" y="13995"/>
                    <a:pt x="19874" y="13820"/>
                    <a:pt x="19886" y="13646"/>
                  </a:cubicBezTo>
                  <a:lnTo>
                    <a:pt x="19911" y="13303"/>
                  </a:lnTo>
                  <a:lnTo>
                    <a:pt x="20259" y="13234"/>
                  </a:lnTo>
                  <a:lnTo>
                    <a:pt x="20619" y="13234"/>
                  </a:lnTo>
                  <a:lnTo>
                    <a:pt x="20656" y="12480"/>
                  </a:lnTo>
                  <a:lnTo>
                    <a:pt x="20693" y="11726"/>
                  </a:lnTo>
                  <a:lnTo>
                    <a:pt x="20333" y="11657"/>
                  </a:lnTo>
                  <a:cubicBezTo>
                    <a:pt x="20002" y="11599"/>
                    <a:pt x="19987" y="11617"/>
                    <a:pt x="19985" y="11383"/>
                  </a:cubicBezTo>
                  <a:cubicBezTo>
                    <a:pt x="19981" y="10731"/>
                    <a:pt x="20003" y="10698"/>
                    <a:pt x="20358" y="10697"/>
                  </a:cubicBezTo>
                  <a:cubicBezTo>
                    <a:pt x="20779" y="10697"/>
                    <a:pt x="20800" y="10642"/>
                    <a:pt x="20880" y="9326"/>
                  </a:cubicBezTo>
                  <a:cubicBezTo>
                    <a:pt x="20934" y="8429"/>
                    <a:pt x="20943" y="8358"/>
                    <a:pt x="21029" y="8297"/>
                  </a:cubicBezTo>
                  <a:cubicBezTo>
                    <a:pt x="21111" y="8238"/>
                    <a:pt x="21113" y="8271"/>
                    <a:pt x="21140" y="7680"/>
                  </a:cubicBezTo>
                  <a:cubicBezTo>
                    <a:pt x="21185" y="6719"/>
                    <a:pt x="21183" y="6446"/>
                    <a:pt x="21116" y="6446"/>
                  </a:cubicBezTo>
                  <a:cubicBezTo>
                    <a:pt x="21084" y="6446"/>
                    <a:pt x="21047" y="6398"/>
                    <a:pt x="21041" y="6309"/>
                  </a:cubicBezTo>
                  <a:cubicBezTo>
                    <a:pt x="21035" y="6220"/>
                    <a:pt x="21053" y="5651"/>
                    <a:pt x="21078" y="5074"/>
                  </a:cubicBezTo>
                  <a:cubicBezTo>
                    <a:pt x="21103" y="4498"/>
                    <a:pt x="21128" y="4028"/>
                    <a:pt x="21128" y="3977"/>
                  </a:cubicBezTo>
                  <a:cubicBezTo>
                    <a:pt x="21128" y="3926"/>
                    <a:pt x="20946" y="3840"/>
                    <a:pt x="20731" y="3840"/>
                  </a:cubicBezTo>
                  <a:cubicBezTo>
                    <a:pt x="20499" y="3840"/>
                    <a:pt x="20329" y="3843"/>
                    <a:pt x="20321" y="3771"/>
                  </a:cubicBezTo>
                  <a:cubicBezTo>
                    <a:pt x="20297" y="3558"/>
                    <a:pt x="20361" y="2605"/>
                    <a:pt x="20408" y="2469"/>
                  </a:cubicBezTo>
                  <a:cubicBezTo>
                    <a:pt x="20435" y="2388"/>
                    <a:pt x="20665" y="2347"/>
                    <a:pt x="21016" y="2331"/>
                  </a:cubicBezTo>
                  <a:lnTo>
                    <a:pt x="21600" y="2331"/>
                  </a:lnTo>
                  <a:lnTo>
                    <a:pt x="21600" y="0"/>
                  </a:lnTo>
                  <a:lnTo>
                    <a:pt x="0" y="0"/>
                  </a:lnTo>
                  <a:close/>
                  <a:moveTo>
                    <a:pt x="783" y="1303"/>
                  </a:moveTo>
                  <a:lnTo>
                    <a:pt x="696" y="2400"/>
                  </a:lnTo>
                  <a:lnTo>
                    <a:pt x="609" y="3429"/>
                  </a:lnTo>
                  <a:lnTo>
                    <a:pt x="1851" y="3497"/>
                  </a:lnTo>
                  <a:cubicBezTo>
                    <a:pt x="3226" y="3566"/>
                    <a:pt x="3181" y="3534"/>
                    <a:pt x="3341" y="4389"/>
                  </a:cubicBezTo>
                  <a:cubicBezTo>
                    <a:pt x="3399" y="4696"/>
                    <a:pt x="3416" y="4902"/>
                    <a:pt x="3416" y="5280"/>
                  </a:cubicBezTo>
                  <a:cubicBezTo>
                    <a:pt x="3416" y="5684"/>
                    <a:pt x="3397" y="5834"/>
                    <a:pt x="3304" y="6377"/>
                  </a:cubicBezTo>
                  <a:cubicBezTo>
                    <a:pt x="3115" y="7478"/>
                    <a:pt x="2813" y="8359"/>
                    <a:pt x="2211" y="9463"/>
                  </a:cubicBezTo>
                  <a:lnTo>
                    <a:pt x="1888" y="10011"/>
                  </a:lnTo>
                  <a:lnTo>
                    <a:pt x="2372" y="12686"/>
                  </a:lnTo>
                  <a:lnTo>
                    <a:pt x="2869" y="15291"/>
                  </a:lnTo>
                  <a:lnTo>
                    <a:pt x="3403" y="15291"/>
                  </a:lnTo>
                  <a:cubicBezTo>
                    <a:pt x="3753" y="15294"/>
                    <a:pt x="3937" y="15237"/>
                    <a:pt x="3937" y="15154"/>
                  </a:cubicBezTo>
                  <a:cubicBezTo>
                    <a:pt x="3937" y="14929"/>
                    <a:pt x="3467" y="12404"/>
                    <a:pt x="3205" y="11246"/>
                  </a:cubicBezTo>
                  <a:cubicBezTo>
                    <a:pt x="3064" y="10627"/>
                    <a:pt x="2958" y="10137"/>
                    <a:pt x="2969" y="10080"/>
                  </a:cubicBezTo>
                  <a:cubicBezTo>
                    <a:pt x="2979" y="10023"/>
                    <a:pt x="3069" y="9874"/>
                    <a:pt x="3167" y="9806"/>
                  </a:cubicBezTo>
                  <a:cubicBezTo>
                    <a:pt x="3654" y="9466"/>
                    <a:pt x="4036" y="8338"/>
                    <a:pt x="4198" y="6720"/>
                  </a:cubicBezTo>
                  <a:cubicBezTo>
                    <a:pt x="4257" y="6130"/>
                    <a:pt x="4260" y="5943"/>
                    <a:pt x="4260" y="5006"/>
                  </a:cubicBezTo>
                  <a:cubicBezTo>
                    <a:pt x="4260" y="4075"/>
                    <a:pt x="4256" y="3862"/>
                    <a:pt x="4198" y="3291"/>
                  </a:cubicBezTo>
                  <a:cubicBezTo>
                    <a:pt x="4088" y="2194"/>
                    <a:pt x="3884" y="1595"/>
                    <a:pt x="3528" y="1371"/>
                  </a:cubicBezTo>
                  <a:cubicBezTo>
                    <a:pt x="3430" y="1310"/>
                    <a:pt x="3092" y="1307"/>
                    <a:pt x="2596" y="1303"/>
                  </a:cubicBezTo>
                  <a:cubicBezTo>
                    <a:pt x="2431" y="1301"/>
                    <a:pt x="2247" y="1297"/>
                    <a:pt x="2049" y="1303"/>
                  </a:cubicBezTo>
                  <a:lnTo>
                    <a:pt x="783" y="1303"/>
                  </a:lnTo>
                  <a:close/>
                  <a:moveTo>
                    <a:pt x="14992" y="4114"/>
                  </a:moveTo>
                  <a:lnTo>
                    <a:pt x="14918" y="5897"/>
                  </a:lnTo>
                  <a:cubicBezTo>
                    <a:pt x="14831" y="7969"/>
                    <a:pt x="14731" y="10401"/>
                    <a:pt x="14731" y="10560"/>
                  </a:cubicBezTo>
                  <a:cubicBezTo>
                    <a:pt x="14731" y="10622"/>
                    <a:pt x="14946" y="10697"/>
                    <a:pt x="15216" y="10697"/>
                  </a:cubicBezTo>
                  <a:cubicBezTo>
                    <a:pt x="15481" y="10697"/>
                    <a:pt x="15706" y="10711"/>
                    <a:pt x="15712" y="10766"/>
                  </a:cubicBezTo>
                  <a:cubicBezTo>
                    <a:pt x="15719" y="10821"/>
                    <a:pt x="15711" y="11114"/>
                    <a:pt x="15700" y="11383"/>
                  </a:cubicBezTo>
                  <a:cubicBezTo>
                    <a:pt x="15689" y="11652"/>
                    <a:pt x="15682" y="12054"/>
                    <a:pt x="15675" y="12274"/>
                  </a:cubicBezTo>
                  <a:cubicBezTo>
                    <a:pt x="15668" y="12495"/>
                    <a:pt x="15631" y="13219"/>
                    <a:pt x="15601" y="13920"/>
                  </a:cubicBezTo>
                  <a:cubicBezTo>
                    <a:pt x="15533" y="15450"/>
                    <a:pt x="15533" y="16075"/>
                    <a:pt x="15588" y="16251"/>
                  </a:cubicBezTo>
                  <a:cubicBezTo>
                    <a:pt x="15612" y="16327"/>
                    <a:pt x="15840" y="16386"/>
                    <a:pt x="16160" y="16389"/>
                  </a:cubicBezTo>
                  <a:lnTo>
                    <a:pt x="16681" y="16389"/>
                  </a:lnTo>
                  <a:lnTo>
                    <a:pt x="16731" y="15497"/>
                  </a:lnTo>
                  <a:cubicBezTo>
                    <a:pt x="16753" y="15002"/>
                    <a:pt x="16787" y="14519"/>
                    <a:pt x="16806" y="14400"/>
                  </a:cubicBezTo>
                  <a:cubicBezTo>
                    <a:pt x="16838" y="14194"/>
                    <a:pt x="16816" y="14194"/>
                    <a:pt x="16495" y="14194"/>
                  </a:cubicBezTo>
                  <a:cubicBezTo>
                    <a:pt x="16308" y="14194"/>
                    <a:pt x="16153" y="14108"/>
                    <a:pt x="16147" y="14057"/>
                  </a:cubicBezTo>
                  <a:cubicBezTo>
                    <a:pt x="16132" y="13919"/>
                    <a:pt x="16244" y="11015"/>
                    <a:pt x="16271" y="10834"/>
                  </a:cubicBezTo>
                  <a:cubicBezTo>
                    <a:pt x="16285" y="10741"/>
                    <a:pt x="16350" y="10698"/>
                    <a:pt x="16433" y="10697"/>
                  </a:cubicBezTo>
                  <a:cubicBezTo>
                    <a:pt x="16615" y="10696"/>
                    <a:pt x="16720" y="10503"/>
                    <a:pt x="16793" y="10080"/>
                  </a:cubicBezTo>
                  <a:cubicBezTo>
                    <a:pt x="16843" y="9790"/>
                    <a:pt x="16863" y="9423"/>
                    <a:pt x="16917" y="7954"/>
                  </a:cubicBezTo>
                  <a:cubicBezTo>
                    <a:pt x="16960" y="6789"/>
                    <a:pt x="16971" y="6241"/>
                    <a:pt x="16955" y="6240"/>
                  </a:cubicBezTo>
                  <a:cubicBezTo>
                    <a:pt x="16926" y="6239"/>
                    <a:pt x="16509" y="6859"/>
                    <a:pt x="16495" y="6926"/>
                  </a:cubicBezTo>
                  <a:cubicBezTo>
                    <a:pt x="16490" y="6950"/>
                    <a:pt x="16466" y="7426"/>
                    <a:pt x="16445" y="7954"/>
                  </a:cubicBezTo>
                  <a:lnTo>
                    <a:pt x="16408" y="8914"/>
                  </a:lnTo>
                  <a:lnTo>
                    <a:pt x="15824" y="8983"/>
                  </a:lnTo>
                  <a:cubicBezTo>
                    <a:pt x="15423" y="9026"/>
                    <a:pt x="15223" y="9080"/>
                    <a:pt x="15178" y="9189"/>
                  </a:cubicBezTo>
                  <a:cubicBezTo>
                    <a:pt x="15136" y="9291"/>
                    <a:pt x="15105" y="9266"/>
                    <a:pt x="15091" y="9189"/>
                  </a:cubicBezTo>
                  <a:cubicBezTo>
                    <a:pt x="15077" y="9111"/>
                    <a:pt x="15112" y="8918"/>
                    <a:pt x="15191" y="8640"/>
                  </a:cubicBezTo>
                  <a:lnTo>
                    <a:pt x="15315" y="8229"/>
                  </a:lnTo>
                  <a:lnTo>
                    <a:pt x="15352" y="7200"/>
                  </a:lnTo>
                  <a:cubicBezTo>
                    <a:pt x="15375" y="6631"/>
                    <a:pt x="15403" y="6115"/>
                    <a:pt x="15414" y="6034"/>
                  </a:cubicBezTo>
                  <a:cubicBezTo>
                    <a:pt x="15428" y="5933"/>
                    <a:pt x="15564" y="5856"/>
                    <a:pt x="15837" y="5829"/>
                  </a:cubicBezTo>
                  <a:cubicBezTo>
                    <a:pt x="16212" y="5791"/>
                    <a:pt x="16241" y="5795"/>
                    <a:pt x="16358" y="5486"/>
                  </a:cubicBezTo>
                  <a:cubicBezTo>
                    <a:pt x="16460" y="5217"/>
                    <a:pt x="16623" y="4822"/>
                    <a:pt x="16942" y="4183"/>
                  </a:cubicBezTo>
                  <a:cubicBezTo>
                    <a:pt x="16961" y="4146"/>
                    <a:pt x="16531" y="4120"/>
                    <a:pt x="15986" y="4114"/>
                  </a:cubicBezTo>
                  <a:lnTo>
                    <a:pt x="14992" y="4114"/>
                  </a:lnTo>
                  <a:close/>
                  <a:moveTo>
                    <a:pt x="4596" y="4457"/>
                  </a:moveTo>
                  <a:lnTo>
                    <a:pt x="4571" y="4937"/>
                  </a:lnTo>
                  <a:cubicBezTo>
                    <a:pt x="4436" y="7970"/>
                    <a:pt x="4245" y="12569"/>
                    <a:pt x="4236" y="13029"/>
                  </a:cubicBezTo>
                  <a:cubicBezTo>
                    <a:pt x="4214" y="14134"/>
                    <a:pt x="4360" y="14878"/>
                    <a:pt x="4633" y="15154"/>
                  </a:cubicBezTo>
                  <a:cubicBezTo>
                    <a:pt x="4790" y="15313"/>
                    <a:pt x="5685" y="15168"/>
                    <a:pt x="5912" y="14949"/>
                  </a:cubicBezTo>
                  <a:cubicBezTo>
                    <a:pt x="6018" y="14847"/>
                    <a:pt x="6148" y="14660"/>
                    <a:pt x="6198" y="14537"/>
                  </a:cubicBezTo>
                  <a:cubicBezTo>
                    <a:pt x="6303" y="14280"/>
                    <a:pt x="6422" y="13606"/>
                    <a:pt x="6471" y="12960"/>
                  </a:cubicBezTo>
                  <a:cubicBezTo>
                    <a:pt x="6518" y="12344"/>
                    <a:pt x="6696" y="8243"/>
                    <a:pt x="6832" y="4731"/>
                  </a:cubicBezTo>
                  <a:lnTo>
                    <a:pt x="6844" y="4457"/>
                  </a:lnTo>
                  <a:lnTo>
                    <a:pt x="6484" y="4457"/>
                  </a:lnTo>
                  <a:lnTo>
                    <a:pt x="6124" y="4457"/>
                  </a:lnTo>
                  <a:lnTo>
                    <a:pt x="6061" y="6309"/>
                  </a:lnTo>
                  <a:cubicBezTo>
                    <a:pt x="5893" y="11101"/>
                    <a:pt x="5818" y="12346"/>
                    <a:pt x="5627" y="12891"/>
                  </a:cubicBezTo>
                  <a:cubicBezTo>
                    <a:pt x="5525" y="13180"/>
                    <a:pt x="5296" y="13309"/>
                    <a:pt x="5180" y="13166"/>
                  </a:cubicBezTo>
                  <a:cubicBezTo>
                    <a:pt x="5044" y="12998"/>
                    <a:pt x="4993" y="12759"/>
                    <a:pt x="4993" y="12206"/>
                  </a:cubicBezTo>
                  <a:cubicBezTo>
                    <a:pt x="4993" y="11960"/>
                    <a:pt x="5068" y="10165"/>
                    <a:pt x="5155" y="8229"/>
                  </a:cubicBezTo>
                  <a:cubicBezTo>
                    <a:pt x="5241" y="6292"/>
                    <a:pt x="5304" y="4655"/>
                    <a:pt x="5304" y="4594"/>
                  </a:cubicBezTo>
                  <a:cubicBezTo>
                    <a:pt x="5304" y="4534"/>
                    <a:pt x="5153" y="4457"/>
                    <a:pt x="4956" y="4457"/>
                  </a:cubicBezTo>
                  <a:lnTo>
                    <a:pt x="4596" y="4457"/>
                  </a:lnTo>
                  <a:close/>
                  <a:moveTo>
                    <a:pt x="11837" y="4457"/>
                  </a:moveTo>
                  <a:cubicBezTo>
                    <a:pt x="11532" y="4467"/>
                    <a:pt x="11316" y="4643"/>
                    <a:pt x="11092" y="5143"/>
                  </a:cubicBezTo>
                  <a:cubicBezTo>
                    <a:pt x="10625" y="6182"/>
                    <a:pt x="10303" y="8169"/>
                    <a:pt x="10235" y="10354"/>
                  </a:cubicBezTo>
                  <a:cubicBezTo>
                    <a:pt x="10158" y="12820"/>
                    <a:pt x="10471" y="14758"/>
                    <a:pt x="11017" y="15154"/>
                  </a:cubicBezTo>
                  <a:cubicBezTo>
                    <a:pt x="11309" y="15365"/>
                    <a:pt x="11858" y="14938"/>
                    <a:pt x="12185" y="14263"/>
                  </a:cubicBezTo>
                  <a:lnTo>
                    <a:pt x="12297" y="14057"/>
                  </a:lnTo>
                  <a:lnTo>
                    <a:pt x="12359" y="12754"/>
                  </a:lnTo>
                  <a:cubicBezTo>
                    <a:pt x="12389" y="12058"/>
                    <a:pt x="12411" y="11473"/>
                    <a:pt x="12409" y="11451"/>
                  </a:cubicBezTo>
                  <a:cubicBezTo>
                    <a:pt x="12406" y="11430"/>
                    <a:pt x="12336" y="11581"/>
                    <a:pt x="12259" y="11794"/>
                  </a:cubicBezTo>
                  <a:cubicBezTo>
                    <a:pt x="12071" y="12318"/>
                    <a:pt x="11686" y="13036"/>
                    <a:pt x="11514" y="13166"/>
                  </a:cubicBezTo>
                  <a:cubicBezTo>
                    <a:pt x="11349" y="13290"/>
                    <a:pt x="11201" y="13158"/>
                    <a:pt x="11117" y="12823"/>
                  </a:cubicBezTo>
                  <a:cubicBezTo>
                    <a:pt x="11043" y="12529"/>
                    <a:pt x="10964" y="11741"/>
                    <a:pt x="10993" y="11589"/>
                  </a:cubicBezTo>
                  <a:cubicBezTo>
                    <a:pt x="11004" y="11529"/>
                    <a:pt x="11265" y="11214"/>
                    <a:pt x="11576" y="10903"/>
                  </a:cubicBezTo>
                  <a:cubicBezTo>
                    <a:pt x="12174" y="10304"/>
                    <a:pt x="12335" y="10054"/>
                    <a:pt x="12483" y="9463"/>
                  </a:cubicBezTo>
                  <a:cubicBezTo>
                    <a:pt x="12582" y="9066"/>
                    <a:pt x="12630" y="8694"/>
                    <a:pt x="12669" y="7886"/>
                  </a:cubicBezTo>
                  <a:cubicBezTo>
                    <a:pt x="12732" y="6603"/>
                    <a:pt x="12564" y="5287"/>
                    <a:pt x="12272" y="4731"/>
                  </a:cubicBezTo>
                  <a:cubicBezTo>
                    <a:pt x="12138" y="4477"/>
                    <a:pt x="12078" y="4449"/>
                    <a:pt x="11837" y="4457"/>
                  </a:cubicBezTo>
                  <a:close/>
                  <a:moveTo>
                    <a:pt x="10235" y="4800"/>
                  </a:moveTo>
                  <a:lnTo>
                    <a:pt x="10073" y="4937"/>
                  </a:lnTo>
                  <a:cubicBezTo>
                    <a:pt x="9985" y="4982"/>
                    <a:pt x="9820" y="5068"/>
                    <a:pt x="9713" y="5143"/>
                  </a:cubicBezTo>
                  <a:lnTo>
                    <a:pt x="9527" y="5280"/>
                  </a:lnTo>
                  <a:lnTo>
                    <a:pt x="9490" y="6171"/>
                  </a:lnTo>
                  <a:cubicBezTo>
                    <a:pt x="9470" y="6659"/>
                    <a:pt x="9403" y="7925"/>
                    <a:pt x="9353" y="9051"/>
                  </a:cubicBezTo>
                  <a:cubicBezTo>
                    <a:pt x="9302" y="10178"/>
                    <a:pt x="9253" y="11660"/>
                    <a:pt x="9229" y="12274"/>
                  </a:cubicBezTo>
                  <a:cubicBezTo>
                    <a:pt x="9205" y="12889"/>
                    <a:pt x="9165" y="13802"/>
                    <a:pt x="9142" y="14331"/>
                  </a:cubicBezTo>
                  <a:lnTo>
                    <a:pt x="9092" y="15291"/>
                  </a:lnTo>
                  <a:lnTo>
                    <a:pt x="9440" y="15291"/>
                  </a:lnTo>
                  <a:lnTo>
                    <a:pt x="9775" y="15291"/>
                  </a:lnTo>
                  <a:lnTo>
                    <a:pt x="9912" y="12274"/>
                  </a:lnTo>
                  <a:cubicBezTo>
                    <a:pt x="9983" y="10619"/>
                    <a:pt x="10082" y="8284"/>
                    <a:pt x="10135" y="7063"/>
                  </a:cubicBezTo>
                  <a:lnTo>
                    <a:pt x="10235" y="4800"/>
                  </a:lnTo>
                  <a:close/>
                  <a:moveTo>
                    <a:pt x="1043" y="5006"/>
                  </a:moveTo>
                  <a:lnTo>
                    <a:pt x="981" y="6034"/>
                  </a:lnTo>
                  <a:cubicBezTo>
                    <a:pt x="942" y="6631"/>
                    <a:pt x="828" y="8304"/>
                    <a:pt x="733" y="9737"/>
                  </a:cubicBezTo>
                  <a:cubicBezTo>
                    <a:pt x="638" y="11171"/>
                    <a:pt x="526" y="12929"/>
                    <a:pt x="484" y="13577"/>
                  </a:cubicBezTo>
                  <a:cubicBezTo>
                    <a:pt x="443" y="14226"/>
                    <a:pt x="406" y="14828"/>
                    <a:pt x="397" y="14949"/>
                  </a:cubicBezTo>
                  <a:cubicBezTo>
                    <a:pt x="382" y="15155"/>
                    <a:pt x="400" y="15186"/>
                    <a:pt x="820" y="15154"/>
                  </a:cubicBezTo>
                  <a:lnTo>
                    <a:pt x="1267" y="15086"/>
                  </a:lnTo>
                  <a:lnTo>
                    <a:pt x="1391" y="13371"/>
                  </a:lnTo>
                  <a:cubicBezTo>
                    <a:pt x="1511" y="11576"/>
                    <a:pt x="1753" y="7833"/>
                    <a:pt x="1851" y="6309"/>
                  </a:cubicBezTo>
                  <a:cubicBezTo>
                    <a:pt x="1881" y="5831"/>
                    <a:pt x="1917" y="5331"/>
                    <a:pt x="1925" y="5211"/>
                  </a:cubicBezTo>
                  <a:cubicBezTo>
                    <a:pt x="1940" y="5009"/>
                    <a:pt x="1907" y="5005"/>
                    <a:pt x="1491" y="5006"/>
                  </a:cubicBezTo>
                  <a:lnTo>
                    <a:pt x="1043" y="5006"/>
                  </a:lnTo>
                  <a:close/>
                  <a:moveTo>
                    <a:pt x="9055" y="5623"/>
                  </a:moveTo>
                  <a:cubicBezTo>
                    <a:pt x="9050" y="5595"/>
                    <a:pt x="8883" y="5664"/>
                    <a:pt x="8695" y="5829"/>
                  </a:cubicBezTo>
                  <a:lnTo>
                    <a:pt x="8359" y="6171"/>
                  </a:lnTo>
                  <a:lnTo>
                    <a:pt x="8173" y="10217"/>
                  </a:lnTo>
                  <a:cubicBezTo>
                    <a:pt x="7927" y="15628"/>
                    <a:pt x="7867" y="16689"/>
                    <a:pt x="7726" y="17554"/>
                  </a:cubicBezTo>
                  <a:cubicBezTo>
                    <a:pt x="7641" y="18075"/>
                    <a:pt x="7422" y="18721"/>
                    <a:pt x="7291" y="18857"/>
                  </a:cubicBezTo>
                  <a:cubicBezTo>
                    <a:pt x="7224" y="18927"/>
                    <a:pt x="7227" y="18960"/>
                    <a:pt x="7204" y="19611"/>
                  </a:cubicBezTo>
                  <a:cubicBezTo>
                    <a:pt x="7190" y="19997"/>
                    <a:pt x="7164" y="20469"/>
                    <a:pt x="7154" y="20640"/>
                  </a:cubicBezTo>
                  <a:lnTo>
                    <a:pt x="7142" y="20914"/>
                  </a:lnTo>
                  <a:lnTo>
                    <a:pt x="6695" y="20983"/>
                  </a:lnTo>
                  <a:cubicBezTo>
                    <a:pt x="6449" y="21001"/>
                    <a:pt x="6234" y="20974"/>
                    <a:pt x="6223" y="20914"/>
                  </a:cubicBezTo>
                  <a:cubicBezTo>
                    <a:pt x="6212" y="20853"/>
                    <a:pt x="6227" y="20690"/>
                    <a:pt x="6260" y="20571"/>
                  </a:cubicBezTo>
                  <a:cubicBezTo>
                    <a:pt x="6352" y="20241"/>
                    <a:pt x="6346" y="19742"/>
                    <a:pt x="6235" y="19337"/>
                  </a:cubicBezTo>
                  <a:cubicBezTo>
                    <a:pt x="6095" y="18826"/>
                    <a:pt x="6116" y="18555"/>
                    <a:pt x="6310" y="18583"/>
                  </a:cubicBezTo>
                  <a:cubicBezTo>
                    <a:pt x="6409" y="18597"/>
                    <a:pt x="6437" y="18583"/>
                    <a:pt x="6446" y="18377"/>
                  </a:cubicBezTo>
                  <a:cubicBezTo>
                    <a:pt x="6457" y="18149"/>
                    <a:pt x="6444" y="18170"/>
                    <a:pt x="6273" y="18171"/>
                  </a:cubicBezTo>
                  <a:cubicBezTo>
                    <a:pt x="6049" y="18174"/>
                    <a:pt x="5972" y="18314"/>
                    <a:pt x="5962" y="18857"/>
                  </a:cubicBezTo>
                  <a:cubicBezTo>
                    <a:pt x="5956" y="19198"/>
                    <a:pt x="5970" y="19254"/>
                    <a:pt x="6049" y="19543"/>
                  </a:cubicBezTo>
                  <a:cubicBezTo>
                    <a:pt x="6150" y="19910"/>
                    <a:pt x="6161" y="20000"/>
                    <a:pt x="6111" y="20229"/>
                  </a:cubicBezTo>
                  <a:cubicBezTo>
                    <a:pt x="6087" y="20337"/>
                    <a:pt x="6030" y="20355"/>
                    <a:pt x="5937" y="20297"/>
                  </a:cubicBezTo>
                  <a:cubicBezTo>
                    <a:pt x="5804" y="20214"/>
                    <a:pt x="5808" y="20226"/>
                    <a:pt x="5801" y="20571"/>
                  </a:cubicBezTo>
                  <a:cubicBezTo>
                    <a:pt x="5788" y="21178"/>
                    <a:pt x="5726" y="21093"/>
                    <a:pt x="5614" y="20229"/>
                  </a:cubicBezTo>
                  <a:cubicBezTo>
                    <a:pt x="5557" y="19786"/>
                    <a:pt x="5515" y="19368"/>
                    <a:pt x="5515" y="19337"/>
                  </a:cubicBezTo>
                  <a:cubicBezTo>
                    <a:pt x="5515" y="19306"/>
                    <a:pt x="5581" y="19018"/>
                    <a:pt x="5664" y="18720"/>
                  </a:cubicBezTo>
                  <a:lnTo>
                    <a:pt x="5813" y="18171"/>
                  </a:lnTo>
                  <a:lnTo>
                    <a:pt x="5714" y="18171"/>
                  </a:lnTo>
                  <a:cubicBezTo>
                    <a:pt x="5623" y="18139"/>
                    <a:pt x="5590" y="18187"/>
                    <a:pt x="5490" y="18583"/>
                  </a:cubicBezTo>
                  <a:cubicBezTo>
                    <a:pt x="5314" y="19280"/>
                    <a:pt x="5299" y="19045"/>
                    <a:pt x="5428" y="17349"/>
                  </a:cubicBezTo>
                  <a:cubicBezTo>
                    <a:pt x="5442" y="17161"/>
                    <a:pt x="5441" y="17143"/>
                    <a:pt x="5353" y="17143"/>
                  </a:cubicBezTo>
                  <a:lnTo>
                    <a:pt x="5242" y="17143"/>
                  </a:lnTo>
                  <a:lnTo>
                    <a:pt x="5192" y="18103"/>
                  </a:lnTo>
                  <a:cubicBezTo>
                    <a:pt x="5108" y="19428"/>
                    <a:pt x="5008" y="20654"/>
                    <a:pt x="4981" y="20846"/>
                  </a:cubicBezTo>
                  <a:cubicBezTo>
                    <a:pt x="4965" y="20957"/>
                    <a:pt x="4917" y="21008"/>
                    <a:pt x="4807" y="20983"/>
                  </a:cubicBezTo>
                  <a:lnTo>
                    <a:pt x="4645" y="20914"/>
                  </a:lnTo>
                  <a:lnTo>
                    <a:pt x="4658" y="20571"/>
                  </a:lnTo>
                  <a:cubicBezTo>
                    <a:pt x="4678" y="19543"/>
                    <a:pt x="4828" y="18557"/>
                    <a:pt x="4956" y="18651"/>
                  </a:cubicBezTo>
                  <a:cubicBezTo>
                    <a:pt x="5012" y="18693"/>
                    <a:pt x="5043" y="18555"/>
                    <a:pt x="5043" y="18240"/>
                  </a:cubicBezTo>
                  <a:cubicBezTo>
                    <a:pt x="5043" y="18180"/>
                    <a:pt x="4939" y="18157"/>
                    <a:pt x="4819" y="18171"/>
                  </a:cubicBezTo>
                  <a:lnTo>
                    <a:pt x="4608" y="18171"/>
                  </a:lnTo>
                  <a:lnTo>
                    <a:pt x="4558" y="18857"/>
                  </a:lnTo>
                  <a:cubicBezTo>
                    <a:pt x="4538" y="19233"/>
                    <a:pt x="4503" y="19905"/>
                    <a:pt x="4472" y="20297"/>
                  </a:cubicBezTo>
                  <a:lnTo>
                    <a:pt x="4409" y="20983"/>
                  </a:lnTo>
                  <a:lnTo>
                    <a:pt x="4298" y="20983"/>
                  </a:lnTo>
                  <a:cubicBezTo>
                    <a:pt x="4155" y="20983"/>
                    <a:pt x="4140" y="20809"/>
                    <a:pt x="4248" y="20503"/>
                  </a:cubicBezTo>
                  <a:cubicBezTo>
                    <a:pt x="4414" y="20031"/>
                    <a:pt x="4486" y="18952"/>
                    <a:pt x="4385" y="18446"/>
                  </a:cubicBezTo>
                  <a:cubicBezTo>
                    <a:pt x="4348" y="18262"/>
                    <a:pt x="4296" y="18206"/>
                    <a:pt x="4149" y="18171"/>
                  </a:cubicBezTo>
                  <a:cubicBezTo>
                    <a:pt x="3980" y="18132"/>
                    <a:pt x="3945" y="18156"/>
                    <a:pt x="3838" y="18446"/>
                  </a:cubicBezTo>
                  <a:cubicBezTo>
                    <a:pt x="3652" y="18947"/>
                    <a:pt x="3586" y="19984"/>
                    <a:pt x="3701" y="20571"/>
                  </a:cubicBezTo>
                  <a:cubicBezTo>
                    <a:pt x="3732" y="20729"/>
                    <a:pt x="3747" y="20870"/>
                    <a:pt x="3739" y="20914"/>
                  </a:cubicBezTo>
                  <a:cubicBezTo>
                    <a:pt x="3718" y="21027"/>
                    <a:pt x="3267" y="21028"/>
                    <a:pt x="3254" y="20914"/>
                  </a:cubicBezTo>
                  <a:cubicBezTo>
                    <a:pt x="3249" y="20863"/>
                    <a:pt x="3344" y="20191"/>
                    <a:pt x="3465" y="19474"/>
                  </a:cubicBezTo>
                  <a:lnTo>
                    <a:pt x="3689" y="18171"/>
                  </a:lnTo>
                  <a:lnTo>
                    <a:pt x="3590" y="18171"/>
                  </a:lnTo>
                  <a:cubicBezTo>
                    <a:pt x="3500" y="18133"/>
                    <a:pt x="3493" y="18142"/>
                    <a:pt x="3366" y="18926"/>
                  </a:cubicBezTo>
                  <a:cubicBezTo>
                    <a:pt x="3293" y="19374"/>
                    <a:pt x="3227" y="19713"/>
                    <a:pt x="3217" y="19680"/>
                  </a:cubicBezTo>
                  <a:cubicBezTo>
                    <a:pt x="3207" y="19647"/>
                    <a:pt x="3188" y="19268"/>
                    <a:pt x="3180" y="18857"/>
                  </a:cubicBezTo>
                  <a:lnTo>
                    <a:pt x="3167" y="18103"/>
                  </a:lnTo>
                  <a:lnTo>
                    <a:pt x="3068" y="18103"/>
                  </a:lnTo>
                  <a:cubicBezTo>
                    <a:pt x="2974" y="18103"/>
                    <a:pt x="2967" y="18157"/>
                    <a:pt x="2844" y="18994"/>
                  </a:cubicBezTo>
                  <a:cubicBezTo>
                    <a:pt x="2714" y="19886"/>
                    <a:pt x="2683" y="19994"/>
                    <a:pt x="2683" y="19406"/>
                  </a:cubicBezTo>
                  <a:cubicBezTo>
                    <a:pt x="2683" y="19222"/>
                    <a:pt x="2666" y="18839"/>
                    <a:pt x="2658" y="18583"/>
                  </a:cubicBezTo>
                  <a:cubicBezTo>
                    <a:pt x="2645" y="18139"/>
                    <a:pt x="2642" y="18103"/>
                    <a:pt x="2559" y="18103"/>
                  </a:cubicBezTo>
                  <a:cubicBezTo>
                    <a:pt x="2456" y="18103"/>
                    <a:pt x="2460" y="18130"/>
                    <a:pt x="2509" y="19680"/>
                  </a:cubicBezTo>
                  <a:cubicBezTo>
                    <a:pt x="2528" y="20279"/>
                    <a:pt x="2541" y="20780"/>
                    <a:pt x="2534" y="20846"/>
                  </a:cubicBezTo>
                  <a:cubicBezTo>
                    <a:pt x="2515" y="21011"/>
                    <a:pt x="2254" y="21013"/>
                    <a:pt x="2236" y="20846"/>
                  </a:cubicBezTo>
                  <a:cubicBezTo>
                    <a:pt x="2227" y="20772"/>
                    <a:pt x="2234" y="20647"/>
                    <a:pt x="2248" y="20571"/>
                  </a:cubicBezTo>
                  <a:cubicBezTo>
                    <a:pt x="2291" y="20337"/>
                    <a:pt x="2277" y="20224"/>
                    <a:pt x="2211" y="20297"/>
                  </a:cubicBezTo>
                  <a:cubicBezTo>
                    <a:pt x="2108" y="20411"/>
                    <a:pt x="2091" y="20200"/>
                    <a:pt x="2149" y="19406"/>
                  </a:cubicBezTo>
                  <a:cubicBezTo>
                    <a:pt x="2197" y="18748"/>
                    <a:pt x="2197" y="18688"/>
                    <a:pt x="2285" y="18651"/>
                  </a:cubicBezTo>
                  <a:cubicBezTo>
                    <a:pt x="2354" y="18623"/>
                    <a:pt x="2389" y="18558"/>
                    <a:pt x="2397" y="18377"/>
                  </a:cubicBezTo>
                  <a:cubicBezTo>
                    <a:pt x="2407" y="18174"/>
                    <a:pt x="2396" y="18103"/>
                    <a:pt x="2335" y="18103"/>
                  </a:cubicBezTo>
                  <a:cubicBezTo>
                    <a:pt x="2245" y="18103"/>
                    <a:pt x="2219" y="18059"/>
                    <a:pt x="2248" y="17760"/>
                  </a:cubicBezTo>
                  <a:cubicBezTo>
                    <a:pt x="2267" y="17565"/>
                    <a:pt x="2267" y="17484"/>
                    <a:pt x="2223" y="17486"/>
                  </a:cubicBezTo>
                  <a:cubicBezTo>
                    <a:pt x="2132" y="17489"/>
                    <a:pt x="2073" y="17655"/>
                    <a:pt x="2062" y="17897"/>
                  </a:cubicBezTo>
                  <a:cubicBezTo>
                    <a:pt x="2054" y="18053"/>
                    <a:pt x="2026" y="18103"/>
                    <a:pt x="1987" y="18103"/>
                  </a:cubicBezTo>
                  <a:cubicBezTo>
                    <a:pt x="1955" y="18103"/>
                    <a:pt x="1938" y="18143"/>
                    <a:pt x="1938" y="18171"/>
                  </a:cubicBezTo>
                  <a:cubicBezTo>
                    <a:pt x="1938" y="18200"/>
                    <a:pt x="1932" y="18347"/>
                    <a:pt x="1925" y="18446"/>
                  </a:cubicBezTo>
                  <a:cubicBezTo>
                    <a:pt x="1917" y="18558"/>
                    <a:pt x="1922" y="18610"/>
                    <a:pt x="1950" y="18651"/>
                  </a:cubicBezTo>
                  <a:cubicBezTo>
                    <a:pt x="1995" y="18716"/>
                    <a:pt x="2006" y="18713"/>
                    <a:pt x="1950" y="19474"/>
                  </a:cubicBezTo>
                  <a:cubicBezTo>
                    <a:pt x="1919" y="19899"/>
                    <a:pt x="1884" y="20392"/>
                    <a:pt x="1888" y="20571"/>
                  </a:cubicBezTo>
                  <a:cubicBezTo>
                    <a:pt x="1894" y="20869"/>
                    <a:pt x="1892" y="20947"/>
                    <a:pt x="1813" y="20983"/>
                  </a:cubicBezTo>
                  <a:cubicBezTo>
                    <a:pt x="1681" y="21043"/>
                    <a:pt x="1658" y="20941"/>
                    <a:pt x="1702" y="20571"/>
                  </a:cubicBezTo>
                  <a:lnTo>
                    <a:pt x="1739" y="20297"/>
                  </a:lnTo>
                  <a:lnTo>
                    <a:pt x="1565" y="20366"/>
                  </a:lnTo>
                  <a:cubicBezTo>
                    <a:pt x="1413" y="20429"/>
                    <a:pt x="1399" y="20408"/>
                    <a:pt x="1354" y="20160"/>
                  </a:cubicBezTo>
                  <a:cubicBezTo>
                    <a:pt x="1269" y="19689"/>
                    <a:pt x="1316" y="19514"/>
                    <a:pt x="1590" y="19474"/>
                  </a:cubicBezTo>
                  <a:lnTo>
                    <a:pt x="1838" y="19406"/>
                  </a:lnTo>
                  <a:lnTo>
                    <a:pt x="1838" y="18926"/>
                  </a:lnTo>
                  <a:cubicBezTo>
                    <a:pt x="1844" y="18567"/>
                    <a:pt x="1842" y="18426"/>
                    <a:pt x="1813" y="18309"/>
                  </a:cubicBezTo>
                  <a:cubicBezTo>
                    <a:pt x="1760" y="18092"/>
                    <a:pt x="1435" y="18089"/>
                    <a:pt x="1341" y="18309"/>
                  </a:cubicBezTo>
                  <a:cubicBezTo>
                    <a:pt x="1224" y="18586"/>
                    <a:pt x="1143" y="19186"/>
                    <a:pt x="1130" y="19817"/>
                  </a:cubicBezTo>
                  <a:cubicBezTo>
                    <a:pt x="1120" y="20313"/>
                    <a:pt x="1128" y="20382"/>
                    <a:pt x="1180" y="20571"/>
                  </a:cubicBezTo>
                  <a:cubicBezTo>
                    <a:pt x="1212" y="20688"/>
                    <a:pt x="1236" y="20785"/>
                    <a:pt x="1230" y="20846"/>
                  </a:cubicBezTo>
                  <a:cubicBezTo>
                    <a:pt x="1216" y="20967"/>
                    <a:pt x="940" y="21032"/>
                    <a:pt x="919" y="20914"/>
                  </a:cubicBezTo>
                  <a:cubicBezTo>
                    <a:pt x="904" y="20832"/>
                    <a:pt x="925" y="20501"/>
                    <a:pt x="1068" y="18514"/>
                  </a:cubicBezTo>
                  <a:lnTo>
                    <a:pt x="1168" y="17143"/>
                  </a:lnTo>
                  <a:lnTo>
                    <a:pt x="1068" y="17143"/>
                  </a:lnTo>
                  <a:cubicBezTo>
                    <a:pt x="984" y="17143"/>
                    <a:pt x="965" y="17187"/>
                    <a:pt x="944" y="17486"/>
                  </a:cubicBezTo>
                  <a:cubicBezTo>
                    <a:pt x="931" y="17673"/>
                    <a:pt x="903" y="18242"/>
                    <a:pt x="869" y="18720"/>
                  </a:cubicBezTo>
                  <a:cubicBezTo>
                    <a:pt x="836" y="19198"/>
                    <a:pt x="792" y="19622"/>
                    <a:pt x="783" y="19680"/>
                  </a:cubicBezTo>
                  <a:cubicBezTo>
                    <a:pt x="773" y="19738"/>
                    <a:pt x="716" y="19169"/>
                    <a:pt x="646" y="18446"/>
                  </a:cubicBezTo>
                  <a:lnTo>
                    <a:pt x="509" y="17143"/>
                  </a:lnTo>
                  <a:lnTo>
                    <a:pt x="385" y="17143"/>
                  </a:lnTo>
                  <a:lnTo>
                    <a:pt x="261" y="17143"/>
                  </a:lnTo>
                  <a:lnTo>
                    <a:pt x="186" y="18377"/>
                  </a:lnTo>
                  <a:cubicBezTo>
                    <a:pt x="80" y="20088"/>
                    <a:pt x="51" y="20386"/>
                    <a:pt x="25" y="20297"/>
                  </a:cubicBezTo>
                  <a:cubicBezTo>
                    <a:pt x="22" y="20289"/>
                    <a:pt x="27" y="21477"/>
                    <a:pt x="25" y="21600"/>
                  </a:cubicBezTo>
                  <a:lnTo>
                    <a:pt x="21600" y="21600"/>
                  </a:lnTo>
                  <a:lnTo>
                    <a:pt x="21600" y="20914"/>
                  </a:lnTo>
                  <a:lnTo>
                    <a:pt x="14545" y="20914"/>
                  </a:lnTo>
                  <a:cubicBezTo>
                    <a:pt x="9866" y="20914"/>
                    <a:pt x="7506" y="20860"/>
                    <a:pt x="7502" y="20777"/>
                  </a:cubicBezTo>
                  <a:cubicBezTo>
                    <a:pt x="7499" y="20709"/>
                    <a:pt x="7549" y="20593"/>
                    <a:pt x="7614" y="20503"/>
                  </a:cubicBezTo>
                  <a:cubicBezTo>
                    <a:pt x="7806" y="20237"/>
                    <a:pt x="8120" y="19356"/>
                    <a:pt x="8247" y="18720"/>
                  </a:cubicBezTo>
                  <a:cubicBezTo>
                    <a:pt x="8375" y="18083"/>
                    <a:pt x="8493" y="17116"/>
                    <a:pt x="8570" y="16046"/>
                  </a:cubicBezTo>
                  <a:cubicBezTo>
                    <a:pt x="8622" y="15338"/>
                    <a:pt x="9069" y="5712"/>
                    <a:pt x="9055" y="5623"/>
                  </a:cubicBezTo>
                  <a:close/>
                  <a:moveTo>
                    <a:pt x="13241" y="5691"/>
                  </a:moveTo>
                  <a:lnTo>
                    <a:pt x="13203" y="6651"/>
                  </a:lnTo>
                  <a:cubicBezTo>
                    <a:pt x="13182" y="7146"/>
                    <a:pt x="13154" y="7560"/>
                    <a:pt x="13154" y="7611"/>
                  </a:cubicBezTo>
                  <a:cubicBezTo>
                    <a:pt x="13154" y="7663"/>
                    <a:pt x="13254" y="7680"/>
                    <a:pt x="13365" y="7680"/>
                  </a:cubicBezTo>
                  <a:cubicBezTo>
                    <a:pt x="13476" y="7680"/>
                    <a:pt x="13569" y="7755"/>
                    <a:pt x="13576" y="7817"/>
                  </a:cubicBezTo>
                  <a:cubicBezTo>
                    <a:pt x="13592" y="7957"/>
                    <a:pt x="13543" y="9182"/>
                    <a:pt x="13514" y="9394"/>
                  </a:cubicBezTo>
                  <a:cubicBezTo>
                    <a:pt x="13500" y="9499"/>
                    <a:pt x="13420" y="9600"/>
                    <a:pt x="13278" y="9600"/>
                  </a:cubicBezTo>
                  <a:lnTo>
                    <a:pt x="13067" y="9600"/>
                  </a:lnTo>
                  <a:lnTo>
                    <a:pt x="13054" y="10011"/>
                  </a:lnTo>
                  <a:cubicBezTo>
                    <a:pt x="13043" y="10267"/>
                    <a:pt x="13024" y="10715"/>
                    <a:pt x="13017" y="10971"/>
                  </a:cubicBezTo>
                  <a:lnTo>
                    <a:pt x="13005" y="11451"/>
                  </a:lnTo>
                  <a:lnTo>
                    <a:pt x="13203" y="11451"/>
                  </a:lnTo>
                  <a:cubicBezTo>
                    <a:pt x="13356" y="11451"/>
                    <a:pt x="13418" y="11456"/>
                    <a:pt x="13427" y="11589"/>
                  </a:cubicBezTo>
                  <a:cubicBezTo>
                    <a:pt x="13434" y="11685"/>
                    <a:pt x="13415" y="12307"/>
                    <a:pt x="13390" y="12960"/>
                  </a:cubicBezTo>
                  <a:cubicBezTo>
                    <a:pt x="13364" y="13613"/>
                    <a:pt x="13340" y="14514"/>
                    <a:pt x="13340" y="14949"/>
                  </a:cubicBezTo>
                  <a:cubicBezTo>
                    <a:pt x="13340" y="15616"/>
                    <a:pt x="13343" y="15769"/>
                    <a:pt x="13390" y="16046"/>
                  </a:cubicBezTo>
                  <a:lnTo>
                    <a:pt x="13452" y="16389"/>
                  </a:lnTo>
                  <a:lnTo>
                    <a:pt x="13874" y="16389"/>
                  </a:lnTo>
                  <a:lnTo>
                    <a:pt x="14309" y="16389"/>
                  </a:lnTo>
                  <a:lnTo>
                    <a:pt x="14346" y="15497"/>
                  </a:lnTo>
                  <a:cubicBezTo>
                    <a:pt x="14366" y="15002"/>
                    <a:pt x="14377" y="14519"/>
                    <a:pt x="14383" y="14400"/>
                  </a:cubicBezTo>
                  <a:cubicBezTo>
                    <a:pt x="14394" y="14202"/>
                    <a:pt x="14382" y="14194"/>
                    <a:pt x="14135" y="14194"/>
                  </a:cubicBezTo>
                  <a:cubicBezTo>
                    <a:pt x="13986" y="14194"/>
                    <a:pt x="13856" y="14117"/>
                    <a:pt x="13849" y="14057"/>
                  </a:cubicBezTo>
                  <a:cubicBezTo>
                    <a:pt x="13837" y="13951"/>
                    <a:pt x="13913" y="11726"/>
                    <a:pt x="13936" y="11520"/>
                  </a:cubicBezTo>
                  <a:cubicBezTo>
                    <a:pt x="13943" y="11463"/>
                    <a:pt x="14058" y="11451"/>
                    <a:pt x="14185" y="11451"/>
                  </a:cubicBezTo>
                  <a:lnTo>
                    <a:pt x="14408" y="11451"/>
                  </a:lnTo>
                  <a:lnTo>
                    <a:pt x="14433" y="10697"/>
                  </a:lnTo>
                  <a:cubicBezTo>
                    <a:pt x="14449" y="10285"/>
                    <a:pt x="14476" y="9837"/>
                    <a:pt x="14483" y="9737"/>
                  </a:cubicBezTo>
                  <a:cubicBezTo>
                    <a:pt x="14493" y="9586"/>
                    <a:pt x="14450" y="9600"/>
                    <a:pt x="14259" y="9600"/>
                  </a:cubicBezTo>
                  <a:cubicBezTo>
                    <a:pt x="14097" y="9600"/>
                    <a:pt x="14030" y="9505"/>
                    <a:pt x="14023" y="9394"/>
                  </a:cubicBezTo>
                  <a:cubicBezTo>
                    <a:pt x="14018" y="9309"/>
                    <a:pt x="14033" y="8912"/>
                    <a:pt x="14048" y="8503"/>
                  </a:cubicBezTo>
                  <a:lnTo>
                    <a:pt x="14073" y="7749"/>
                  </a:lnTo>
                  <a:lnTo>
                    <a:pt x="14321" y="7680"/>
                  </a:lnTo>
                  <a:lnTo>
                    <a:pt x="14557" y="7680"/>
                  </a:lnTo>
                  <a:lnTo>
                    <a:pt x="14607" y="6789"/>
                  </a:lnTo>
                  <a:cubicBezTo>
                    <a:pt x="14629" y="6311"/>
                    <a:pt x="14644" y="5880"/>
                    <a:pt x="14644" y="5829"/>
                  </a:cubicBezTo>
                  <a:cubicBezTo>
                    <a:pt x="14645" y="5777"/>
                    <a:pt x="14324" y="5691"/>
                    <a:pt x="13936" y="5691"/>
                  </a:cubicBezTo>
                  <a:lnTo>
                    <a:pt x="13241" y="5691"/>
                  </a:lnTo>
                  <a:close/>
                  <a:moveTo>
                    <a:pt x="11837" y="6583"/>
                  </a:moveTo>
                  <a:cubicBezTo>
                    <a:pt x="11888" y="6587"/>
                    <a:pt x="11932" y="6702"/>
                    <a:pt x="11961" y="6857"/>
                  </a:cubicBezTo>
                  <a:cubicBezTo>
                    <a:pt x="12041" y="7270"/>
                    <a:pt x="12041" y="7669"/>
                    <a:pt x="11986" y="8297"/>
                  </a:cubicBezTo>
                  <a:cubicBezTo>
                    <a:pt x="11936" y="8869"/>
                    <a:pt x="11810" y="9503"/>
                    <a:pt x="11701" y="9737"/>
                  </a:cubicBezTo>
                  <a:cubicBezTo>
                    <a:pt x="11665" y="9814"/>
                    <a:pt x="11519" y="9984"/>
                    <a:pt x="11365" y="10149"/>
                  </a:cubicBezTo>
                  <a:cubicBezTo>
                    <a:pt x="11211" y="10313"/>
                    <a:pt x="11071" y="10423"/>
                    <a:pt x="11055" y="10423"/>
                  </a:cubicBezTo>
                  <a:cubicBezTo>
                    <a:pt x="10994" y="10423"/>
                    <a:pt x="10994" y="10069"/>
                    <a:pt x="11067" y="9394"/>
                  </a:cubicBezTo>
                  <a:cubicBezTo>
                    <a:pt x="11232" y="7883"/>
                    <a:pt x="11617" y="6564"/>
                    <a:pt x="11837" y="6583"/>
                  </a:cubicBezTo>
                  <a:close/>
                  <a:moveTo>
                    <a:pt x="7862" y="6720"/>
                  </a:moveTo>
                  <a:cubicBezTo>
                    <a:pt x="7790" y="6704"/>
                    <a:pt x="7214" y="7221"/>
                    <a:pt x="7192" y="7337"/>
                  </a:cubicBezTo>
                  <a:cubicBezTo>
                    <a:pt x="7164" y="7479"/>
                    <a:pt x="6844" y="14684"/>
                    <a:pt x="6844" y="15154"/>
                  </a:cubicBezTo>
                  <a:cubicBezTo>
                    <a:pt x="6844" y="15210"/>
                    <a:pt x="6995" y="15291"/>
                    <a:pt x="7179" y="15291"/>
                  </a:cubicBezTo>
                  <a:lnTo>
                    <a:pt x="7502" y="15291"/>
                  </a:lnTo>
                  <a:lnTo>
                    <a:pt x="7602" y="13234"/>
                  </a:lnTo>
                  <a:cubicBezTo>
                    <a:pt x="7725" y="10425"/>
                    <a:pt x="7875" y="6810"/>
                    <a:pt x="7875" y="6720"/>
                  </a:cubicBezTo>
                  <a:cubicBezTo>
                    <a:pt x="7875" y="6714"/>
                    <a:pt x="7867" y="6721"/>
                    <a:pt x="7862" y="6720"/>
                  </a:cubicBezTo>
                  <a:close/>
                  <a:moveTo>
                    <a:pt x="15054" y="11314"/>
                  </a:moveTo>
                  <a:lnTo>
                    <a:pt x="14980" y="12274"/>
                  </a:lnTo>
                  <a:cubicBezTo>
                    <a:pt x="14940" y="12803"/>
                    <a:pt x="14895" y="13407"/>
                    <a:pt x="14880" y="13646"/>
                  </a:cubicBezTo>
                  <a:lnTo>
                    <a:pt x="14855" y="14126"/>
                  </a:lnTo>
                  <a:lnTo>
                    <a:pt x="14694" y="14126"/>
                  </a:lnTo>
                  <a:lnTo>
                    <a:pt x="14532" y="14194"/>
                  </a:lnTo>
                  <a:lnTo>
                    <a:pt x="14508" y="14811"/>
                  </a:lnTo>
                  <a:cubicBezTo>
                    <a:pt x="14495" y="15167"/>
                    <a:pt x="14478" y="15653"/>
                    <a:pt x="14470" y="15909"/>
                  </a:cubicBezTo>
                  <a:lnTo>
                    <a:pt x="14458" y="16389"/>
                  </a:lnTo>
                  <a:lnTo>
                    <a:pt x="14744" y="16389"/>
                  </a:lnTo>
                  <a:cubicBezTo>
                    <a:pt x="14898" y="16389"/>
                    <a:pt x="15054" y="16324"/>
                    <a:pt x="15091" y="16251"/>
                  </a:cubicBezTo>
                  <a:cubicBezTo>
                    <a:pt x="15152" y="16135"/>
                    <a:pt x="15278" y="15361"/>
                    <a:pt x="15278" y="15086"/>
                  </a:cubicBezTo>
                  <a:cubicBezTo>
                    <a:pt x="15278" y="14904"/>
                    <a:pt x="15502" y="11609"/>
                    <a:pt x="15526" y="11451"/>
                  </a:cubicBezTo>
                  <a:cubicBezTo>
                    <a:pt x="15545" y="11327"/>
                    <a:pt x="15500" y="11314"/>
                    <a:pt x="15303" y="11314"/>
                  </a:cubicBezTo>
                  <a:lnTo>
                    <a:pt x="15054" y="11314"/>
                  </a:lnTo>
                  <a:close/>
                </a:path>
              </a:pathLst>
            </a:custGeom>
            <a:ln w="12700">
              <a:miter lim="400000"/>
            </a:ln>
          </p:spPr>
        </p:pic>
        <p:pic>
          <p:nvPicPr>
            <p:cNvPr id="157" name="Gemini.jpg" descr="Gemini.jpg">
              <a:extLst>
                <a:ext uri="{FF2B5EF4-FFF2-40B4-BE49-F238E27FC236}">
                  <a16:creationId xmlns:a16="http://schemas.microsoft.com/office/drawing/2014/main" id="{0A96F64A-DF37-526A-A38D-A334BD01CC68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5791763" y="4406166"/>
              <a:ext cx="272311" cy="129602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162" name="CPO交换机">
              <a:extLst>
                <a:ext uri="{FF2B5EF4-FFF2-40B4-BE49-F238E27FC236}">
                  <a16:creationId xmlns:a16="http://schemas.microsoft.com/office/drawing/2014/main" id="{8C252137-3E74-8666-1F09-4343040CD989}"/>
                </a:ext>
              </a:extLst>
            </p:cNvPr>
            <p:cNvSpPr txBox="1"/>
            <p:nvPr/>
          </p:nvSpPr>
          <p:spPr>
            <a:xfrm>
              <a:off x="5375150" y="4109154"/>
              <a:ext cx="629107" cy="231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CPO交换机</a:t>
              </a:r>
              <a:endParaRPr dirty="0"/>
            </a:p>
          </p:txBody>
        </p:sp>
        <p:grpSp>
          <p:nvGrpSpPr>
            <p:cNvPr id="177" name="组合 176">
              <a:extLst>
                <a:ext uri="{FF2B5EF4-FFF2-40B4-BE49-F238E27FC236}">
                  <a16:creationId xmlns:a16="http://schemas.microsoft.com/office/drawing/2014/main" id="{64730070-651F-86DE-BF77-A72492104DB2}"/>
                </a:ext>
              </a:extLst>
            </p:cNvPr>
            <p:cNvGrpSpPr/>
            <p:nvPr/>
          </p:nvGrpSpPr>
          <p:grpSpPr>
            <a:xfrm>
              <a:off x="4018639" y="4276512"/>
              <a:ext cx="934309" cy="385746"/>
              <a:chOff x="4230445" y="4851134"/>
              <a:chExt cx="934309" cy="385746"/>
            </a:xfrm>
          </p:grpSpPr>
          <p:pic>
            <p:nvPicPr>
              <p:cNvPr id="81" name="图像" descr="图像">
                <a:extLst>
                  <a:ext uri="{FF2B5EF4-FFF2-40B4-BE49-F238E27FC236}">
                    <a16:creationId xmlns:a16="http://schemas.microsoft.com/office/drawing/2014/main" id="{9B13B865-193D-D25F-837D-DF0B918FA93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4832165" y="4960068"/>
                <a:ext cx="215406" cy="187096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144" name="图像" descr="图像">
                <a:extLst>
                  <a:ext uri="{FF2B5EF4-FFF2-40B4-BE49-F238E27FC236}">
                    <a16:creationId xmlns:a16="http://schemas.microsoft.com/office/drawing/2014/main" id="{0331A85B-0F16-F1B2-7854-BA5438346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31398" y="4918949"/>
                <a:ext cx="297675" cy="109809"/>
              </a:xfrm>
              <a:prstGeom prst="rect">
                <a:avLst/>
              </a:prstGeom>
              <a:ln w="12700">
                <a:miter lim="400000"/>
              </a:ln>
            </p:spPr>
          </p:pic>
          <p:pic>
            <p:nvPicPr>
              <p:cNvPr id="168" name="图像" descr="图像">
                <a:extLst>
                  <a:ext uri="{FF2B5EF4-FFF2-40B4-BE49-F238E27FC236}">
                    <a16:creationId xmlns:a16="http://schemas.microsoft.com/office/drawing/2014/main" id="{E058D778-1A34-C83B-E55D-448BDEE94B7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4306852" y="5055178"/>
                <a:ext cx="346766" cy="138707"/>
              </a:xfrm>
              <a:prstGeom prst="rect">
                <a:avLst/>
              </a:prstGeom>
              <a:ln w="12700">
                <a:miter lim="400000"/>
              </a:ln>
            </p:spPr>
          </p:pic>
          <p:grpSp>
            <p:nvGrpSpPr>
              <p:cNvPr id="169" name="组合 168">
                <a:extLst>
                  <a:ext uri="{FF2B5EF4-FFF2-40B4-BE49-F238E27FC236}">
                    <a16:creationId xmlns:a16="http://schemas.microsoft.com/office/drawing/2014/main" id="{C37C3685-1A99-85F0-0BAF-8FC589FC0F88}"/>
                  </a:ext>
                </a:extLst>
              </p:cNvPr>
              <p:cNvGrpSpPr/>
              <p:nvPr/>
            </p:nvGrpSpPr>
            <p:grpSpPr>
              <a:xfrm>
                <a:off x="4230445" y="4851134"/>
                <a:ext cx="934309" cy="385746"/>
                <a:chOff x="3047024" y="4842775"/>
                <a:chExt cx="934309" cy="385746"/>
              </a:xfrm>
            </p:grpSpPr>
            <p:grpSp>
              <p:nvGrpSpPr>
                <p:cNvPr id="171" name="成组">
                  <a:extLst>
                    <a:ext uri="{FF2B5EF4-FFF2-40B4-BE49-F238E27FC236}">
                      <a16:creationId xmlns:a16="http://schemas.microsoft.com/office/drawing/2014/main" id="{4B04E7F8-4A01-633D-6ECA-F5C1E44B1E42}"/>
                    </a:ext>
                  </a:extLst>
                </p:cNvPr>
                <p:cNvGrpSpPr/>
                <p:nvPr/>
              </p:nvGrpSpPr>
              <p:grpSpPr>
                <a:xfrm>
                  <a:off x="3047024" y="4842775"/>
                  <a:ext cx="934309" cy="385746"/>
                  <a:chOff x="0" y="0"/>
                  <a:chExt cx="1500840" cy="619648"/>
                </a:xfrm>
              </p:grpSpPr>
              <p:sp>
                <p:nvSpPr>
                  <p:cNvPr id="174" name="圆角矩形">
                    <a:extLst>
                      <a:ext uri="{FF2B5EF4-FFF2-40B4-BE49-F238E27FC236}">
                        <a16:creationId xmlns:a16="http://schemas.microsoft.com/office/drawing/2014/main" id="{652803EA-5285-6C7A-9BF0-A35923D1005B}"/>
                      </a:ext>
                    </a:extLst>
                  </p:cNvPr>
                  <p:cNvSpPr/>
                  <p:nvPr/>
                </p:nvSpPr>
                <p:spPr>
                  <a:xfrm>
                    <a:off x="0" y="5077"/>
                    <a:ext cx="1500841" cy="609495"/>
                  </a:xfrm>
                  <a:prstGeom prst="roundRect">
                    <a:avLst>
                      <a:gd name="adj" fmla="val 15903"/>
                    </a:avLst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ctr">
                    <a:noAutofit/>
                  </a:bodyPr>
                  <a:lstStyle/>
                  <a:p>
                    <a:endParaRPr/>
                  </a:p>
                </p:txBody>
              </p:sp>
              <p:sp>
                <p:nvSpPr>
                  <p:cNvPr id="175" name="线条">
                    <a:extLst>
                      <a:ext uri="{FF2B5EF4-FFF2-40B4-BE49-F238E27FC236}">
                        <a16:creationId xmlns:a16="http://schemas.microsoft.com/office/drawing/2014/main" id="{F3A7BE6D-0C03-5DB2-B32B-3BB0F5F2D54A}"/>
                      </a:ext>
                    </a:extLst>
                  </p:cNvPr>
                  <p:cNvSpPr/>
                  <p:nvPr/>
                </p:nvSpPr>
                <p:spPr>
                  <a:xfrm flipV="1">
                    <a:off x="778341" y="0"/>
                    <a:ext cx="1" cy="61964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accent1"/>
                    </a:solidFill>
                    <a:prstDash val="solid"/>
                    <a:miter lim="800000"/>
                  </a:ln>
                  <a:effectLst/>
                </p:spPr>
                <p:txBody>
                  <a:bodyPr wrap="square" lIns="45719" tIns="45719" rIns="45719" bIns="45719" numCol="1" anchor="t">
                    <a:noAutofit/>
                  </a:bodyPr>
                  <a:lstStyle/>
                  <a:p>
                    <a:endParaRPr/>
                  </a:p>
                </p:txBody>
              </p:sp>
            </p:grpSp>
            <p:sp>
              <p:nvSpPr>
                <p:cNvPr id="173" name="线条">
                  <a:extLst>
                    <a:ext uri="{FF2B5EF4-FFF2-40B4-BE49-F238E27FC236}">
                      <a16:creationId xmlns:a16="http://schemas.microsoft.com/office/drawing/2014/main" id="{690E2BA5-526B-556E-869C-D1F31C71752F}"/>
                    </a:ext>
                  </a:extLst>
                </p:cNvPr>
                <p:cNvSpPr/>
                <p:nvPr/>
              </p:nvSpPr>
              <p:spPr>
                <a:xfrm>
                  <a:off x="3486065" y="5045583"/>
                  <a:ext cx="136903" cy="1"/>
                </a:xfrm>
                <a:prstGeom prst="line">
                  <a:avLst/>
                </a:prstGeom>
                <a:ln w="25400">
                  <a:solidFill>
                    <a:schemeClr val="accent4">
                      <a:lumOff val="-6980"/>
                    </a:schemeClr>
                  </a:solidFill>
                  <a:miter/>
                  <a:tailEnd type="triangle"/>
                </a:ln>
              </p:spPr>
              <p:txBody>
                <a:bodyPr lIns="45719" rIns="45719"/>
                <a:lstStyle/>
                <a:p>
                  <a:endParaRPr/>
                </a:p>
              </p:txBody>
            </p:sp>
          </p:grpSp>
        </p:grpSp>
        <p:sp>
          <p:nvSpPr>
            <p:cNvPr id="176" name="线条">
              <a:extLst>
                <a:ext uri="{FF2B5EF4-FFF2-40B4-BE49-F238E27FC236}">
                  <a16:creationId xmlns:a16="http://schemas.microsoft.com/office/drawing/2014/main" id="{3E2D9076-414E-C0CB-87E7-A7D06B1845E4}"/>
                </a:ext>
              </a:extLst>
            </p:cNvPr>
            <p:cNvSpPr/>
            <p:nvPr/>
          </p:nvSpPr>
          <p:spPr>
            <a:xfrm>
              <a:off x="3780471" y="4479148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78" name="交换机芯片+CPO+Lens">
              <a:extLst>
                <a:ext uri="{FF2B5EF4-FFF2-40B4-BE49-F238E27FC236}">
                  <a16:creationId xmlns:a16="http://schemas.microsoft.com/office/drawing/2014/main" id="{34854976-6DB1-228D-29DB-C75DCA144508}"/>
                </a:ext>
              </a:extLst>
            </p:cNvPr>
            <p:cNvSpPr txBox="1"/>
            <p:nvPr/>
          </p:nvSpPr>
          <p:spPr>
            <a:xfrm>
              <a:off x="3964203" y="4097423"/>
              <a:ext cx="1171288" cy="23114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45719" rIns="45719">
              <a:spAutoFit/>
            </a:bodyPr>
            <a:lstStyle>
              <a:lvl1pPr>
                <a:defRPr sz="800">
                  <a:solidFill>
                    <a:schemeClr val="accent3"/>
                  </a:solidFill>
                </a:defRPr>
              </a:lvl1pPr>
            </a:lstStyle>
            <a:p>
              <a:r>
                <a:rPr dirty="0" err="1"/>
                <a:t>交换机芯片+CPO+Lens</a:t>
              </a:r>
              <a:endParaRPr dirty="0"/>
            </a:p>
          </p:txBody>
        </p:sp>
        <p:grpSp>
          <p:nvGrpSpPr>
            <p:cNvPr id="183" name="组合 182">
              <a:extLst>
                <a:ext uri="{FF2B5EF4-FFF2-40B4-BE49-F238E27FC236}">
                  <a16:creationId xmlns:a16="http://schemas.microsoft.com/office/drawing/2014/main" id="{1B8A448F-AE07-AFBA-3E5B-24DFF0D9F62B}"/>
                </a:ext>
              </a:extLst>
            </p:cNvPr>
            <p:cNvGrpSpPr/>
            <p:nvPr/>
          </p:nvGrpSpPr>
          <p:grpSpPr>
            <a:xfrm>
              <a:off x="5196003" y="4274042"/>
              <a:ext cx="934309" cy="385746"/>
              <a:chOff x="3047024" y="4842775"/>
              <a:chExt cx="934309" cy="385746"/>
            </a:xfrm>
          </p:grpSpPr>
          <p:grpSp>
            <p:nvGrpSpPr>
              <p:cNvPr id="184" name="成组">
                <a:extLst>
                  <a:ext uri="{FF2B5EF4-FFF2-40B4-BE49-F238E27FC236}">
                    <a16:creationId xmlns:a16="http://schemas.microsoft.com/office/drawing/2014/main" id="{A7FBCD15-42EE-674E-A33E-27425618CBF6}"/>
                  </a:ext>
                </a:extLst>
              </p:cNvPr>
              <p:cNvGrpSpPr/>
              <p:nvPr/>
            </p:nvGrpSpPr>
            <p:grpSpPr>
              <a:xfrm>
                <a:off x="3047024" y="4842775"/>
                <a:ext cx="934309" cy="385746"/>
                <a:chOff x="0" y="0"/>
                <a:chExt cx="1500840" cy="619648"/>
              </a:xfrm>
            </p:grpSpPr>
            <p:sp>
              <p:nvSpPr>
                <p:cNvPr id="186" name="圆角矩形">
                  <a:extLst>
                    <a:ext uri="{FF2B5EF4-FFF2-40B4-BE49-F238E27FC236}">
                      <a16:creationId xmlns:a16="http://schemas.microsoft.com/office/drawing/2014/main" id="{0E863A07-365B-ECCB-F476-AF8EDE3D819B}"/>
                    </a:ext>
                  </a:extLst>
                </p:cNvPr>
                <p:cNvSpPr/>
                <p:nvPr/>
              </p:nvSpPr>
              <p:spPr>
                <a:xfrm>
                  <a:off x="0" y="5077"/>
                  <a:ext cx="1500841" cy="609495"/>
                </a:xfrm>
                <a:prstGeom prst="roundRect">
                  <a:avLst>
                    <a:gd name="adj" fmla="val 15903"/>
                  </a:avLst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ctr">
                  <a:noAutofit/>
                </a:bodyPr>
                <a:lstStyle/>
                <a:p>
                  <a:endParaRPr/>
                </a:p>
              </p:txBody>
            </p:sp>
            <p:sp>
              <p:nvSpPr>
                <p:cNvPr id="187" name="线条">
                  <a:extLst>
                    <a:ext uri="{FF2B5EF4-FFF2-40B4-BE49-F238E27FC236}">
                      <a16:creationId xmlns:a16="http://schemas.microsoft.com/office/drawing/2014/main" id="{97CA8665-A88B-7AEC-28DE-36C48823AEA6}"/>
                    </a:ext>
                  </a:extLst>
                </p:cNvPr>
                <p:cNvSpPr/>
                <p:nvPr/>
              </p:nvSpPr>
              <p:spPr>
                <a:xfrm flipV="1">
                  <a:off x="778341" y="0"/>
                  <a:ext cx="1" cy="619649"/>
                </a:xfrm>
                <a:prstGeom prst="line">
                  <a:avLst/>
                </a:prstGeom>
                <a:noFill/>
                <a:ln w="12700" cap="flat">
                  <a:solidFill>
                    <a:schemeClr val="accent1"/>
                  </a:solidFill>
                  <a:prstDash val="solid"/>
                  <a:miter lim="800000"/>
                </a:ln>
                <a:effectLst/>
              </p:spPr>
              <p:txBody>
                <a:bodyPr wrap="square" lIns="45719" tIns="45719" rIns="45719" bIns="45719" numCol="1" anchor="t">
                  <a:noAutofit/>
                </a:bodyPr>
                <a:lstStyle/>
                <a:p>
                  <a:endParaRPr/>
                </a:p>
              </p:txBody>
            </p:sp>
          </p:grpSp>
          <p:sp>
            <p:nvSpPr>
              <p:cNvPr id="185" name="线条">
                <a:extLst>
                  <a:ext uri="{FF2B5EF4-FFF2-40B4-BE49-F238E27FC236}">
                    <a16:creationId xmlns:a16="http://schemas.microsoft.com/office/drawing/2014/main" id="{72C8BB94-5FE1-8B8B-C182-C24A07AC942A}"/>
                  </a:ext>
                </a:extLst>
              </p:cNvPr>
              <p:cNvSpPr/>
              <p:nvPr/>
            </p:nvSpPr>
            <p:spPr>
              <a:xfrm>
                <a:off x="3486065" y="5045583"/>
                <a:ext cx="136903" cy="1"/>
              </a:xfrm>
              <a:prstGeom prst="line">
                <a:avLst/>
              </a:prstGeom>
              <a:ln w="25400">
                <a:solidFill>
                  <a:schemeClr val="accent4">
                    <a:lumOff val="-6980"/>
                  </a:schemeClr>
                </a:solidFill>
                <a:miter/>
                <a:tailEnd type="triangle"/>
              </a:ln>
            </p:spPr>
            <p:txBody>
              <a:bodyPr lIns="45719" rIns="45719"/>
              <a:lstStyle/>
              <a:p>
                <a:endParaRPr/>
              </a:p>
            </p:txBody>
          </p:sp>
        </p:grpSp>
        <p:sp>
          <p:nvSpPr>
            <p:cNvPr id="188" name="线条">
              <a:extLst>
                <a:ext uri="{FF2B5EF4-FFF2-40B4-BE49-F238E27FC236}">
                  <a16:creationId xmlns:a16="http://schemas.microsoft.com/office/drawing/2014/main" id="{50D3E415-DAA2-D6E0-D20E-C079817B4161}"/>
                </a:ext>
              </a:extLst>
            </p:cNvPr>
            <p:cNvSpPr/>
            <p:nvPr/>
          </p:nvSpPr>
          <p:spPr>
            <a:xfrm>
              <a:off x="4957835" y="4476678"/>
              <a:ext cx="197685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89" name="线条">
              <a:extLst>
                <a:ext uri="{FF2B5EF4-FFF2-40B4-BE49-F238E27FC236}">
                  <a16:creationId xmlns:a16="http://schemas.microsoft.com/office/drawing/2014/main" id="{BDDF5D22-1B32-A1FE-71B2-619B83836BA4}"/>
                </a:ext>
              </a:extLst>
            </p:cNvPr>
            <p:cNvSpPr/>
            <p:nvPr/>
          </p:nvSpPr>
          <p:spPr>
            <a:xfrm flipV="1">
              <a:off x="6402582" y="4179860"/>
              <a:ext cx="0" cy="1713954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90" name="线条">
              <a:extLst>
                <a:ext uri="{FF2B5EF4-FFF2-40B4-BE49-F238E27FC236}">
                  <a16:creationId xmlns:a16="http://schemas.microsoft.com/office/drawing/2014/main" id="{2A056CEC-D38B-602A-E549-3B8FBAB4360C}"/>
                </a:ext>
              </a:extLst>
            </p:cNvPr>
            <p:cNvSpPr/>
            <p:nvPr/>
          </p:nvSpPr>
          <p:spPr>
            <a:xfrm>
              <a:off x="4223317" y="5604455"/>
              <a:ext cx="2146333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sp>
          <p:nvSpPr>
            <p:cNvPr id="192" name="终端用户">
              <a:extLst>
                <a:ext uri="{FF2B5EF4-FFF2-40B4-BE49-F238E27FC236}">
                  <a16:creationId xmlns:a16="http://schemas.microsoft.com/office/drawing/2014/main" id="{C7F25935-84ED-4F27-3897-5D5CDE811703}"/>
                </a:ext>
              </a:extLst>
            </p:cNvPr>
            <p:cNvSpPr txBox="1"/>
            <p:nvPr/>
          </p:nvSpPr>
          <p:spPr>
            <a:xfrm>
              <a:off x="6411332" y="4721946"/>
              <a:ext cx="212410" cy="7078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>
                <a:defRPr sz="1600">
                  <a:solidFill>
                    <a:schemeClr val="accent2"/>
                  </a:solidFill>
                </a:defRPr>
              </a:lvl1pPr>
            </a:lstStyle>
            <a:p>
              <a:r>
                <a:rPr sz="1000" dirty="0" err="1">
                  <a:solidFill>
                    <a:schemeClr val="accent3"/>
                  </a:solidFill>
                </a:rPr>
                <a:t>终端用户</a:t>
              </a:r>
              <a:endParaRPr sz="1000" dirty="0">
                <a:solidFill>
                  <a:schemeClr val="accent3"/>
                </a:solidFill>
              </a:endParaRPr>
            </a:p>
          </p:txBody>
        </p:sp>
        <p:sp>
          <p:nvSpPr>
            <p:cNvPr id="193" name="线条">
              <a:extLst>
                <a:ext uri="{FF2B5EF4-FFF2-40B4-BE49-F238E27FC236}">
                  <a16:creationId xmlns:a16="http://schemas.microsoft.com/office/drawing/2014/main" id="{56E11754-9925-1FC9-A113-B1EC5FC14FD3}"/>
                </a:ext>
              </a:extLst>
            </p:cNvPr>
            <p:cNvSpPr/>
            <p:nvPr/>
          </p:nvSpPr>
          <p:spPr>
            <a:xfrm>
              <a:off x="6130313" y="4478994"/>
              <a:ext cx="239337" cy="0"/>
            </a:xfrm>
            <a:prstGeom prst="line">
              <a:avLst/>
            </a:prstGeom>
            <a:ln w="12700">
              <a:solidFill>
                <a:schemeClr val="accent1"/>
              </a:solidFill>
              <a:miter/>
              <a:tailEnd type="triangle"/>
            </a:ln>
          </p:spPr>
          <p:txBody>
            <a:bodyPr lIns="45719" rIns="45719"/>
            <a:lstStyle/>
            <a:p>
              <a:endParaRPr/>
            </a:p>
          </p:txBody>
        </p:sp>
        <p:cxnSp>
          <p:nvCxnSpPr>
            <p:cNvPr id="201" name="连接符: 肘形 200">
              <a:extLst>
                <a:ext uri="{FF2B5EF4-FFF2-40B4-BE49-F238E27FC236}">
                  <a16:creationId xmlns:a16="http://schemas.microsoft.com/office/drawing/2014/main" id="{63BBC94D-1260-7918-09FE-F69EA7F7C61C}"/>
                </a:ext>
              </a:extLst>
            </p:cNvPr>
            <p:cNvCxnSpPr>
              <a:cxnSpLocks/>
              <a:stCxn id="115" idx="3"/>
            </p:cNvCxnSpPr>
            <p:nvPr/>
          </p:nvCxnSpPr>
          <p:spPr>
            <a:xfrm flipV="1">
              <a:off x="3777504" y="4476678"/>
              <a:ext cx="1260341" cy="547556"/>
            </a:xfrm>
            <a:prstGeom prst="bentConnector3">
              <a:avLst>
                <a:gd name="adj1" fmla="val 99577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4" name="文本框 203">
            <a:extLst>
              <a:ext uri="{FF2B5EF4-FFF2-40B4-BE49-F238E27FC236}">
                <a16:creationId xmlns:a16="http://schemas.microsoft.com/office/drawing/2014/main" id="{41918CB3-DEB4-5CEB-E499-F3AD8D4AE173}"/>
              </a:ext>
            </a:extLst>
          </p:cNvPr>
          <p:cNvSpPr txBox="1"/>
          <p:nvPr/>
        </p:nvSpPr>
        <p:spPr>
          <a:xfrm>
            <a:off x="2113797" y="3076130"/>
            <a:ext cx="4224038" cy="269709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巨头：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为新一代技术中最易商业化落地的路径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206" name="直线连接符 8">
            <a:extLst>
              <a:ext uri="{FF2B5EF4-FFF2-40B4-BE49-F238E27FC236}">
                <a16:creationId xmlns:a16="http://schemas.microsoft.com/office/drawing/2014/main" id="{E35DCE34-0796-486F-D72A-4696FB25FC09}"/>
              </a:ext>
            </a:extLst>
          </p:cNvPr>
          <p:cNvCxnSpPr>
            <a:cxnSpLocks/>
          </p:cNvCxnSpPr>
          <p:nvPr/>
        </p:nvCxnSpPr>
        <p:spPr>
          <a:xfrm>
            <a:off x="1991544" y="4007582"/>
            <a:ext cx="9289032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7" name="博通全面参与CPO生态各个环节，以定制的合作模式推动CPO各环节成熟，同时布局了IP。">
            <a:extLst>
              <a:ext uri="{FF2B5EF4-FFF2-40B4-BE49-F238E27FC236}">
                <a16:creationId xmlns:a16="http://schemas.microsoft.com/office/drawing/2014/main" id="{19677C26-51D1-9BC3-A5B0-97830F28702A}"/>
              </a:ext>
            </a:extLst>
          </p:cNvPr>
          <p:cNvSpPr txBox="1"/>
          <p:nvPr/>
        </p:nvSpPr>
        <p:spPr>
          <a:xfrm>
            <a:off x="2018373" y="4072949"/>
            <a:ext cx="4012713" cy="5232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以</a:t>
            </a:r>
            <a:r>
              <a:rPr sz="1400" dirty="0" err="1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博通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为例，</a:t>
            </a:r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巨头</a:t>
            </a:r>
            <a:r>
              <a:rPr sz="1400" b="0" dirty="0" err="1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全面参与CPO生态各个环节，以定制的合作模式推动CPO各环节成熟，同时布局IP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211" name="图片 210">
            <a:extLst>
              <a:ext uri="{FF2B5EF4-FFF2-40B4-BE49-F238E27FC236}">
                <a16:creationId xmlns:a16="http://schemas.microsoft.com/office/drawing/2014/main" id="{C39A2795-83F0-65C8-22DD-B5433D6D75A6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8563140" y="3514095"/>
            <a:ext cx="1108830" cy="23063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463DDCF-39D0-471E-0C67-C0EC41499BFB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190889" y="3521629"/>
            <a:ext cx="347588" cy="223103"/>
          </a:xfrm>
          <a:prstGeom prst="rect">
            <a:avLst/>
          </a:prstGeom>
        </p:spPr>
      </p:pic>
      <p:sp>
        <p:nvSpPr>
          <p:cNvPr id="8" name="博通全面参与CPO生态各个环节，以定制的合作模式推动CPO各环节成熟，同时布局了IP。">
            <a:extLst>
              <a:ext uri="{FF2B5EF4-FFF2-40B4-BE49-F238E27FC236}">
                <a16:creationId xmlns:a16="http://schemas.microsoft.com/office/drawing/2014/main" id="{06CD9759-F9B2-30D3-99FC-8F35107434ED}"/>
              </a:ext>
            </a:extLst>
          </p:cNvPr>
          <p:cNvSpPr txBox="1"/>
          <p:nvPr/>
        </p:nvSpPr>
        <p:spPr>
          <a:xfrm>
            <a:off x="6912087" y="4079002"/>
            <a:ext cx="4735635" cy="307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 defTabSz="457200">
              <a:defRPr b="1">
                <a:solidFill>
                  <a:srgbClr val="2151CF"/>
                </a:solidFill>
                <a:latin typeface="Times Roman"/>
                <a:ea typeface="Times Roman"/>
                <a:cs typeface="Times Roman"/>
                <a:sym typeface="Times Roman"/>
              </a:defRPr>
            </a:lvl1pPr>
          </a:lstStyle>
          <a:p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以</a:t>
            </a:r>
            <a:r>
              <a:rPr lang="en-US" altLang="zh-CN" sz="1400" b="0" dirty="0" err="1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AyarLabs</a:t>
            </a:r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为例，局限在</a:t>
            </a:r>
            <a:r>
              <a:rPr lang="en-US" altLang="zh-CN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OIO</a:t>
            </a:r>
            <a:r>
              <a:rPr lang="zh-CN" altLang="en-US" sz="1400" b="0" dirty="0">
                <a:solidFill>
                  <a:schemeClr val="accent6">
                    <a:lumMod val="10000"/>
                  </a:schemeClr>
                </a:solidFill>
                <a:latin typeface="+mn-ea"/>
                <a:ea typeface="+mn-ea"/>
              </a:rPr>
              <a:t>光模块的验证和早期商用之间</a:t>
            </a:r>
            <a:endParaRPr sz="1400" b="0" dirty="0">
              <a:solidFill>
                <a:schemeClr val="accent6">
                  <a:lumMod val="10000"/>
                </a:schemeClr>
              </a:solidFill>
              <a:latin typeface="+mn-ea"/>
              <a:ea typeface="+mn-ea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8966AD4-8D1D-1122-D9F7-C37F30BBCF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238" y="4409727"/>
            <a:ext cx="2739072" cy="17928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BD935C54-E4AF-A54E-A218-D82EB011F65F}"/>
              </a:ext>
            </a:extLst>
          </p:cNvPr>
          <p:cNvSpPr txBox="1"/>
          <p:nvPr/>
        </p:nvSpPr>
        <p:spPr>
          <a:xfrm>
            <a:off x="7811995" y="6225522"/>
            <a:ext cx="26215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00" dirty="0" err="1"/>
              <a:t>TeraPHY</a:t>
            </a:r>
            <a:r>
              <a:rPr lang="en-US" altLang="zh-CN" sz="1000" dirty="0"/>
              <a:t> </a:t>
            </a:r>
            <a:r>
              <a:rPr lang="zh-CN" altLang="en-US" sz="1000" dirty="0"/>
              <a:t>芯粒与</a:t>
            </a:r>
            <a:r>
              <a:rPr lang="en-US" altLang="zh-CN" sz="1000" dirty="0" err="1"/>
              <a:t>SuperNova</a:t>
            </a:r>
            <a:r>
              <a:rPr lang="en-US" altLang="zh-CN" sz="1000" dirty="0"/>
              <a:t> </a:t>
            </a:r>
            <a:r>
              <a:rPr lang="zh-CN" altLang="en-US" sz="1000" dirty="0"/>
              <a:t>激光箱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DC95DE2-3311-E9ED-688C-8DD5EA4430CE}"/>
              </a:ext>
            </a:extLst>
          </p:cNvPr>
          <p:cNvSpPr/>
          <p:nvPr/>
        </p:nvSpPr>
        <p:spPr>
          <a:xfrm>
            <a:off x="12428209" y="-50053"/>
            <a:ext cx="4735635" cy="200151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OIO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的市占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玩家动作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79AB08-4893-B6F5-8C84-441C48C7B4DE}"/>
              </a:ext>
            </a:extLst>
          </p:cNvPr>
          <p:cNvSpPr txBox="1"/>
          <p:nvPr/>
        </p:nvSpPr>
        <p:spPr>
          <a:xfrm>
            <a:off x="706053" y="5461355"/>
            <a:ext cx="936104" cy="12244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市占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67FCE8F0-C0FA-ED7F-35BA-13284730F1B9}"/>
              </a:ext>
            </a:extLst>
          </p:cNvPr>
          <p:cNvSpPr txBox="1"/>
          <p:nvPr/>
        </p:nvSpPr>
        <p:spPr>
          <a:xfrm>
            <a:off x="-71545" y="2152170"/>
            <a:ext cx="936104" cy="122443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tx1">
                    <a:lumMod val="50000"/>
                  </a:schemeClr>
                </a:solidFill>
              </a:rPr>
              <a:t>速率</a:t>
            </a:r>
          </a:p>
        </p:txBody>
      </p:sp>
    </p:spTree>
    <p:extLst>
      <p:ext uri="{BB962C8B-B14F-4D97-AF65-F5344CB8AC3E}">
        <p14:creationId xmlns:p14="http://schemas.microsoft.com/office/powerpoint/2010/main" val="14947461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FEB7AE4-B65B-C4C4-1B81-0F6F5726F2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76218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4" imgH="405" progId="TCLayout.ActiveDocument.1">
                  <p:embed/>
                </p:oleObj>
              </mc:Choice>
              <mc:Fallback>
                <p:oleObj name="think-cell 幻灯片" r:id="rId4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3" name="图片 22">
            <a:extLst>
              <a:ext uri="{FF2B5EF4-FFF2-40B4-BE49-F238E27FC236}">
                <a16:creationId xmlns:a16="http://schemas.microsoft.com/office/drawing/2014/main" id="{A80F1336-BC28-842F-2EC1-95B265983E9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7832" y="2866301"/>
            <a:ext cx="1219289" cy="1372427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087C10F0-E484-4901-D545-C8F24F47C68C}"/>
              </a:ext>
            </a:extLst>
          </p:cNvPr>
          <p:cNvSpPr/>
          <p:nvPr/>
        </p:nvSpPr>
        <p:spPr>
          <a:xfrm>
            <a:off x="12285234" y="382992"/>
            <a:ext cx="4112355" cy="41367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回溯过往两次技术范式变化带来的市场格局变化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）纯铜互联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-》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可插拔光模块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）可插拔光模块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-&gt; CPO 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分别解释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的科普项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目的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结构（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fpp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 vs </a:t>
            </a:r>
            <a:r>
              <a:rPr lang="en-US" altLang="zh-CN" dirty="0" err="1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pos. cons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，降低能耗、成本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不好维护）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调一下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UI</a:t>
            </a:r>
            <a:endParaRPr lang="zh-CN" alt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1FE5C4-028C-8CAB-BDE6-49D6F0D2A48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8577" y="6923990"/>
            <a:ext cx="10809524" cy="4571429"/>
          </a:xfrm>
          <a:prstGeom prst="rect">
            <a:avLst/>
          </a:prstGeom>
        </p:spPr>
      </p:pic>
      <p:sp>
        <p:nvSpPr>
          <p:cNvPr id="17" name="标题 1">
            <a:extLst>
              <a:ext uri="{FF2B5EF4-FFF2-40B4-BE49-F238E27FC236}">
                <a16:creationId xmlns:a16="http://schemas.microsoft.com/office/drawing/2014/main" id="{989D3CE2-210E-CC7D-621E-E3C9275A6A3A}"/>
              </a:ext>
            </a:extLst>
          </p:cNvPr>
          <p:cNvSpPr txBox="1">
            <a:spLocks/>
          </p:cNvSpPr>
          <p:nvPr/>
        </p:nvSpPr>
        <p:spPr>
          <a:xfrm>
            <a:off x="311150" y="324612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解决了什么问题？</a:t>
            </a:r>
            <a:r>
              <a:rPr lang="en-US" altLang="zh-CN" dirty="0"/>
              <a:t>FPP</a:t>
            </a:r>
            <a:r>
              <a:rPr lang="zh-CN" altLang="en-US" dirty="0"/>
              <a:t>到</a:t>
            </a:r>
            <a:r>
              <a:rPr lang="en-US" altLang="zh-CN" dirty="0"/>
              <a:t>CPO</a:t>
            </a:r>
            <a:endParaRPr lang="zh-CN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9C262AB9-64BB-C3EC-AD4B-2C26A7402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25037" y="6923990"/>
            <a:ext cx="7490042" cy="36409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5" name="箭头: 下 1034">
            <a:extLst>
              <a:ext uri="{FF2B5EF4-FFF2-40B4-BE49-F238E27FC236}">
                <a16:creationId xmlns:a16="http://schemas.microsoft.com/office/drawing/2014/main" id="{E3C9F55A-614C-4F6E-870B-24CD974682AE}"/>
              </a:ext>
            </a:extLst>
          </p:cNvPr>
          <p:cNvSpPr/>
          <p:nvPr/>
        </p:nvSpPr>
        <p:spPr>
          <a:xfrm>
            <a:off x="760787" y="2884042"/>
            <a:ext cx="526452" cy="3271329"/>
          </a:xfrm>
          <a:prstGeom prst="downArrow">
            <a:avLst/>
          </a:prstGeom>
          <a:gradFill>
            <a:gsLst>
              <a:gs pos="0">
                <a:schemeClr val="accent5"/>
              </a:gs>
              <a:gs pos="74000">
                <a:schemeClr val="accent2">
                  <a:lumMod val="40000"/>
                  <a:lumOff val="60000"/>
                </a:schemeClr>
              </a:gs>
              <a:gs pos="100000">
                <a:schemeClr val="accent2">
                  <a:lumMod val="7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1037" name="直线连接符 30">
            <a:extLst>
              <a:ext uri="{FF2B5EF4-FFF2-40B4-BE49-F238E27FC236}">
                <a16:creationId xmlns:a16="http://schemas.microsoft.com/office/drawing/2014/main" id="{ED02B6E0-8381-DC9D-621A-D6B315636CD9}"/>
              </a:ext>
            </a:extLst>
          </p:cNvPr>
          <p:cNvCxnSpPr>
            <a:cxnSpLocks/>
          </p:cNvCxnSpPr>
          <p:nvPr/>
        </p:nvCxnSpPr>
        <p:spPr>
          <a:xfrm>
            <a:off x="2239971" y="2623982"/>
            <a:ext cx="808512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>
            <a:extLst>
              <a:ext uri="{FF2B5EF4-FFF2-40B4-BE49-F238E27FC236}">
                <a16:creationId xmlns:a16="http://schemas.microsoft.com/office/drawing/2014/main" id="{3B5CCAD9-355F-4D8A-0A69-AAC6B07908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59951" y="-228656"/>
            <a:ext cx="59563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92" name="文本框 2191">
            <a:extLst>
              <a:ext uri="{FF2B5EF4-FFF2-40B4-BE49-F238E27FC236}">
                <a16:creationId xmlns:a16="http://schemas.microsoft.com/office/drawing/2014/main" id="{11C415A0-6402-D7B4-E114-4E16E77FFEE9}"/>
              </a:ext>
            </a:extLst>
          </p:cNvPr>
          <p:cNvSpPr txBox="1"/>
          <p:nvPr/>
        </p:nvSpPr>
        <p:spPr>
          <a:xfrm>
            <a:off x="1419603" y="3253555"/>
            <a:ext cx="785926" cy="92333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FPP</a:t>
            </a: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传统方案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194" name="文本框 2193">
            <a:extLst>
              <a:ext uri="{FF2B5EF4-FFF2-40B4-BE49-F238E27FC236}">
                <a16:creationId xmlns:a16="http://schemas.microsoft.com/office/drawing/2014/main" id="{CA121FB0-0CE5-73AC-E986-07E323FE78ED}"/>
              </a:ext>
            </a:extLst>
          </p:cNvPr>
          <p:cNvSpPr txBox="1"/>
          <p:nvPr/>
        </p:nvSpPr>
        <p:spPr>
          <a:xfrm>
            <a:off x="1413016" y="5088404"/>
            <a:ext cx="785926" cy="923330"/>
          </a:xfrm>
          <a:prstGeom prst="rect">
            <a:avLst/>
          </a:prstGeom>
          <a:noFill/>
          <a:ln>
            <a:noFill/>
            <a:prstDash val="dash"/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b="1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进阶方案</a:t>
            </a:r>
            <a:endParaRPr lang="zh-CN" altLang="en-US" sz="16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306" name="文本框 2305">
            <a:extLst>
              <a:ext uri="{FF2B5EF4-FFF2-40B4-BE49-F238E27FC236}">
                <a16:creationId xmlns:a16="http://schemas.microsoft.com/office/drawing/2014/main" id="{8702DED7-1C3A-C8DD-13BE-F188EA97DC8D}"/>
              </a:ext>
            </a:extLst>
          </p:cNvPr>
          <p:cNvSpPr txBox="1"/>
          <p:nvPr/>
        </p:nvSpPr>
        <p:spPr>
          <a:xfrm>
            <a:off x="775010" y="1123200"/>
            <a:ext cx="10132483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去除：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去除占地大的外部接口模块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机械壳体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笼子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+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散热片成本消失，电表面积出清</a:t>
            </a:r>
            <a:endParaRPr lang="en-US" altLang="zh-CN" sz="1400" u="sng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合并：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OE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共封装同一基板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热源远离（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OE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远离光适配器），良率提升 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+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物料节省</a:t>
            </a:r>
            <a:endParaRPr lang="en-US" altLang="zh-CN" sz="1400" u="sng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缩距：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大幅缩短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OE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与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距离（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cm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mm</a:t>
            </a:r>
            <a:r>
              <a:rPr lang="zh-CN" altLang="en-US" sz="1400" dirty="0">
                <a:solidFill>
                  <a:schemeClr val="accent6">
                    <a:lumMod val="10000"/>
                  </a:schemeClr>
                </a:solidFill>
              </a:rPr>
              <a:t>级） </a:t>
            </a:r>
            <a:r>
              <a:rPr lang="en-US" altLang="zh-CN" sz="1400" dirty="0">
                <a:solidFill>
                  <a:schemeClr val="accent6">
                    <a:lumMod val="10000"/>
                  </a:schemeClr>
                </a:solidFill>
              </a:rPr>
              <a:t>=&gt; 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降低传输代价、复用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ASIC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能力，利润链前移至先进封装</a:t>
            </a:r>
            <a:r>
              <a:rPr lang="en-US" altLang="zh-CN" sz="1400" u="sng" dirty="0">
                <a:solidFill>
                  <a:schemeClr val="accent6">
                    <a:lumMod val="10000"/>
                  </a:schemeClr>
                </a:solidFill>
              </a:rPr>
              <a:t>/ASIC</a:t>
            </a:r>
            <a:r>
              <a:rPr lang="zh-CN" altLang="en-US" sz="1400" u="sng" dirty="0">
                <a:solidFill>
                  <a:schemeClr val="accent6">
                    <a:lumMod val="10000"/>
                  </a:schemeClr>
                </a:solidFill>
              </a:rPr>
              <a:t>巨头</a:t>
            </a:r>
          </a:p>
          <a:p>
            <a:pPr marL="285750" indent="-285750">
              <a:spcBef>
                <a:spcPts val="400"/>
              </a:spcBef>
              <a:spcAft>
                <a:spcPts val="400"/>
              </a:spcAft>
              <a:buFont typeface="Arial" panose="020B0604020202020204" pitchFamily="34" charset="0"/>
              <a:buChar char="•"/>
            </a:pPr>
            <a:endParaRPr lang="zh-CN" altLang="en-US" sz="1400" dirty="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B068064-0AA2-79B9-DA7D-738738D0ACAF}"/>
              </a:ext>
            </a:extLst>
          </p:cNvPr>
          <p:cNvGrpSpPr/>
          <p:nvPr/>
        </p:nvGrpSpPr>
        <p:grpSpPr>
          <a:xfrm>
            <a:off x="2568076" y="2080016"/>
            <a:ext cx="5337600" cy="4067261"/>
            <a:chOff x="2568076" y="2080016"/>
            <a:chExt cx="5337600" cy="4067261"/>
          </a:xfrm>
        </p:grpSpPr>
        <p:sp>
          <p:nvSpPr>
            <p:cNvPr id="1036" name="文本框 1035">
              <a:extLst>
                <a:ext uri="{FF2B5EF4-FFF2-40B4-BE49-F238E27FC236}">
                  <a16:creationId xmlns:a16="http://schemas.microsoft.com/office/drawing/2014/main" id="{ECCC2ED5-0A88-21E2-49DF-C32546F8E5BC}"/>
                </a:ext>
              </a:extLst>
            </p:cNvPr>
            <p:cNvSpPr txBox="1"/>
            <p:nvPr/>
          </p:nvSpPr>
          <p:spPr>
            <a:xfrm>
              <a:off x="3432101" y="2080016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</a:rPr>
                <a:t>正面</a:t>
              </a:r>
              <a:endParaRPr kumimoji="1" lang="en-US" altLang="zh-CN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1042" name="矩形: 圆角 1041">
              <a:extLst>
                <a:ext uri="{FF2B5EF4-FFF2-40B4-BE49-F238E27FC236}">
                  <a16:creationId xmlns:a16="http://schemas.microsoft.com/office/drawing/2014/main" id="{2C14DC3B-5354-59BE-E4AB-329C65D1E68E}"/>
                </a:ext>
              </a:extLst>
            </p:cNvPr>
            <p:cNvSpPr/>
            <p:nvPr/>
          </p:nvSpPr>
          <p:spPr>
            <a:xfrm>
              <a:off x="2583401" y="295890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3" name="矩形: 圆角 1042">
              <a:extLst>
                <a:ext uri="{FF2B5EF4-FFF2-40B4-BE49-F238E27FC236}">
                  <a16:creationId xmlns:a16="http://schemas.microsoft.com/office/drawing/2014/main" id="{6F68F9E7-9DBF-BD3C-CB2E-323EF915AE65}"/>
                </a:ext>
              </a:extLst>
            </p:cNvPr>
            <p:cNvSpPr/>
            <p:nvPr/>
          </p:nvSpPr>
          <p:spPr>
            <a:xfrm>
              <a:off x="2685930" y="303090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046" name="组合 1045">
              <a:extLst>
                <a:ext uri="{FF2B5EF4-FFF2-40B4-BE49-F238E27FC236}">
                  <a16:creationId xmlns:a16="http://schemas.microsoft.com/office/drawing/2014/main" id="{BA8377B1-B952-9DA8-8F57-4FE110181346}"/>
                </a:ext>
              </a:extLst>
            </p:cNvPr>
            <p:cNvGrpSpPr/>
            <p:nvPr/>
          </p:nvGrpSpPr>
          <p:grpSpPr>
            <a:xfrm>
              <a:off x="3259680" y="3290152"/>
              <a:ext cx="750168" cy="577216"/>
              <a:chOff x="3336517" y="2797616"/>
              <a:chExt cx="750168" cy="577216"/>
            </a:xfr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grpSpPr>
          <p:sp>
            <p:nvSpPr>
              <p:cNvPr id="1044" name="矩形: 圆角 1043">
                <a:extLst>
                  <a:ext uri="{FF2B5EF4-FFF2-40B4-BE49-F238E27FC236}">
                    <a16:creationId xmlns:a16="http://schemas.microsoft.com/office/drawing/2014/main" id="{CA163804-597D-8956-E42D-B8ABC1F0534D}"/>
                  </a:ext>
                </a:extLst>
              </p:cNvPr>
              <p:cNvSpPr/>
              <p:nvPr/>
            </p:nvSpPr>
            <p:spPr>
              <a:xfrm>
                <a:off x="3336517" y="2797616"/>
                <a:ext cx="750168" cy="577216"/>
              </a:xfrm>
              <a:prstGeom prst="roundRect">
                <a:avLst>
                  <a:gd name="adj" fmla="val 0"/>
                </a:avLst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1045" name="矩形: 圆角 1044">
                <a:extLst>
                  <a:ext uri="{FF2B5EF4-FFF2-40B4-BE49-F238E27FC236}">
                    <a16:creationId xmlns:a16="http://schemas.microsoft.com/office/drawing/2014/main" id="{DB5B6A9C-A7B5-79A8-3782-BDA030CC9E7E}"/>
                  </a:ext>
                </a:extLst>
              </p:cNvPr>
              <p:cNvSpPr/>
              <p:nvPr/>
            </p:nvSpPr>
            <p:spPr>
              <a:xfrm>
                <a:off x="3454981" y="2935009"/>
                <a:ext cx="529937" cy="298758"/>
              </a:xfrm>
              <a:prstGeom prst="roundRect">
                <a:avLst>
                  <a:gd name="adj" fmla="val 2414"/>
                </a:avLst>
              </a:prstGeom>
              <a:solidFill>
                <a:schemeClr val="accent6">
                  <a:lumMod val="1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000" dirty="0"/>
                  <a:t>ASIC</a:t>
                </a:r>
                <a:endParaRPr lang="zh-CN" altLang="en-US" sz="1000" dirty="0"/>
              </a:p>
            </p:txBody>
          </p:sp>
        </p:grpSp>
        <p:sp>
          <p:nvSpPr>
            <p:cNvPr id="1047" name="矩形 1046">
              <a:extLst>
                <a:ext uri="{FF2B5EF4-FFF2-40B4-BE49-F238E27FC236}">
                  <a16:creationId xmlns:a16="http://schemas.microsoft.com/office/drawing/2014/main" id="{8350E1FE-666C-7AA9-474A-32B62A0E475B}"/>
                </a:ext>
              </a:extLst>
            </p:cNvPr>
            <p:cNvSpPr/>
            <p:nvPr/>
          </p:nvSpPr>
          <p:spPr>
            <a:xfrm>
              <a:off x="4511448" y="3138295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8" name="矩形 1047">
              <a:extLst>
                <a:ext uri="{FF2B5EF4-FFF2-40B4-BE49-F238E27FC236}">
                  <a16:creationId xmlns:a16="http://schemas.microsoft.com/office/drawing/2014/main" id="{B96B9758-7027-1FEC-AB6D-E2CF1A100AFC}"/>
                </a:ext>
              </a:extLst>
            </p:cNvPr>
            <p:cNvSpPr/>
            <p:nvPr/>
          </p:nvSpPr>
          <p:spPr>
            <a:xfrm>
              <a:off x="4547034" y="3138295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3" name="矩形 1052">
              <a:extLst>
                <a:ext uri="{FF2B5EF4-FFF2-40B4-BE49-F238E27FC236}">
                  <a16:creationId xmlns:a16="http://schemas.microsoft.com/office/drawing/2014/main" id="{A7B0E92B-B756-0B17-674C-AAEF90FE5694}"/>
                </a:ext>
              </a:extLst>
            </p:cNvPr>
            <p:cNvSpPr/>
            <p:nvPr/>
          </p:nvSpPr>
          <p:spPr>
            <a:xfrm>
              <a:off x="4513888" y="3325917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4" name="矩形 1053">
              <a:extLst>
                <a:ext uri="{FF2B5EF4-FFF2-40B4-BE49-F238E27FC236}">
                  <a16:creationId xmlns:a16="http://schemas.microsoft.com/office/drawing/2014/main" id="{3472999C-4C34-C793-DACE-2C5A7551C5EE}"/>
                </a:ext>
              </a:extLst>
            </p:cNvPr>
            <p:cNvSpPr/>
            <p:nvPr/>
          </p:nvSpPr>
          <p:spPr>
            <a:xfrm>
              <a:off x="4549474" y="3325917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7" name="矩形 1056">
              <a:extLst>
                <a:ext uri="{FF2B5EF4-FFF2-40B4-BE49-F238E27FC236}">
                  <a16:creationId xmlns:a16="http://schemas.microsoft.com/office/drawing/2014/main" id="{B2BD3E79-0917-9D6C-77B0-E12318CF5A59}"/>
                </a:ext>
              </a:extLst>
            </p:cNvPr>
            <p:cNvSpPr/>
            <p:nvPr/>
          </p:nvSpPr>
          <p:spPr>
            <a:xfrm>
              <a:off x="4511448" y="3909702"/>
              <a:ext cx="330200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8" name="矩形 1057">
              <a:extLst>
                <a:ext uri="{FF2B5EF4-FFF2-40B4-BE49-F238E27FC236}">
                  <a16:creationId xmlns:a16="http://schemas.microsoft.com/office/drawing/2014/main" id="{10A355C0-9305-6632-BE91-51B70F7C1521}"/>
                </a:ext>
              </a:extLst>
            </p:cNvPr>
            <p:cNvSpPr/>
            <p:nvPr/>
          </p:nvSpPr>
          <p:spPr>
            <a:xfrm>
              <a:off x="4547034" y="3909702"/>
              <a:ext cx="107711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59" name="直接连接符 1058">
              <a:extLst>
                <a:ext uri="{FF2B5EF4-FFF2-40B4-BE49-F238E27FC236}">
                  <a16:creationId xmlns:a16="http://schemas.microsoft.com/office/drawing/2014/main" id="{7BB8A278-EB91-9529-D699-7C254893C7F3}"/>
                </a:ext>
              </a:extLst>
            </p:cNvPr>
            <p:cNvCxnSpPr>
              <a:cxnSpLocks/>
              <a:stCxn id="1057" idx="3"/>
            </p:cNvCxnSpPr>
            <p:nvPr/>
          </p:nvCxnSpPr>
          <p:spPr>
            <a:xfrm>
              <a:off x="4841648" y="3959315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1" name="矩形 1060">
              <a:extLst>
                <a:ext uri="{FF2B5EF4-FFF2-40B4-BE49-F238E27FC236}">
                  <a16:creationId xmlns:a16="http://schemas.microsoft.com/office/drawing/2014/main" id="{8496BCF2-07F8-800B-1908-539DBA8804F7}"/>
                </a:ext>
              </a:extLst>
            </p:cNvPr>
            <p:cNvSpPr/>
            <p:nvPr/>
          </p:nvSpPr>
          <p:spPr>
            <a:xfrm>
              <a:off x="4515178" y="3728301"/>
              <a:ext cx="32933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2" name="矩形 1061">
              <a:extLst>
                <a:ext uri="{FF2B5EF4-FFF2-40B4-BE49-F238E27FC236}">
                  <a16:creationId xmlns:a16="http://schemas.microsoft.com/office/drawing/2014/main" id="{E6A177FF-A6A2-57DE-30F2-40CDA08FFFF2}"/>
                </a:ext>
              </a:extLst>
            </p:cNvPr>
            <p:cNvSpPr/>
            <p:nvPr/>
          </p:nvSpPr>
          <p:spPr>
            <a:xfrm>
              <a:off x="4550671" y="3728301"/>
              <a:ext cx="107429" cy="99225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4" name="椭圆 1063">
              <a:extLst>
                <a:ext uri="{FF2B5EF4-FFF2-40B4-BE49-F238E27FC236}">
                  <a16:creationId xmlns:a16="http://schemas.microsoft.com/office/drawing/2014/main" id="{6FDCDF67-8C85-5478-BCE2-56B514101DAF}"/>
                </a:ext>
              </a:extLst>
            </p:cNvPr>
            <p:cNvSpPr/>
            <p:nvPr/>
          </p:nvSpPr>
          <p:spPr>
            <a:xfrm>
              <a:off x="4666026" y="3481724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5" name="椭圆 1064">
              <a:extLst>
                <a:ext uri="{FF2B5EF4-FFF2-40B4-BE49-F238E27FC236}">
                  <a16:creationId xmlns:a16="http://schemas.microsoft.com/office/drawing/2014/main" id="{69377BAB-9FFF-BC50-93E3-45E5EE3018A9}"/>
                </a:ext>
              </a:extLst>
            </p:cNvPr>
            <p:cNvSpPr/>
            <p:nvPr/>
          </p:nvSpPr>
          <p:spPr>
            <a:xfrm>
              <a:off x="4666026" y="3626000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6" name="椭圆 1065">
              <a:extLst>
                <a:ext uri="{FF2B5EF4-FFF2-40B4-BE49-F238E27FC236}">
                  <a16:creationId xmlns:a16="http://schemas.microsoft.com/office/drawing/2014/main" id="{473112B6-B768-759A-09A6-26C00BE72A9C}"/>
                </a:ext>
              </a:extLst>
            </p:cNvPr>
            <p:cNvSpPr/>
            <p:nvPr/>
          </p:nvSpPr>
          <p:spPr>
            <a:xfrm>
              <a:off x="4666026" y="3553862"/>
              <a:ext cx="45719" cy="45719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70" name="连接符: 肘形 1069">
              <a:extLst>
                <a:ext uri="{FF2B5EF4-FFF2-40B4-BE49-F238E27FC236}">
                  <a16:creationId xmlns:a16="http://schemas.microsoft.com/office/drawing/2014/main" id="{53068155-CCB4-44E1-5336-E64C0592D565}"/>
                </a:ext>
              </a:extLst>
            </p:cNvPr>
            <p:cNvCxnSpPr>
              <a:cxnSpLocks/>
              <a:stCxn id="1087" idx="6"/>
              <a:endCxn id="1047" idx="1"/>
            </p:cNvCxnSpPr>
            <p:nvPr/>
          </p:nvCxnSpPr>
          <p:spPr>
            <a:xfrm flipV="1">
              <a:off x="4027386" y="3187908"/>
              <a:ext cx="484062" cy="209714"/>
            </a:xfrm>
            <a:prstGeom prst="bentConnector3">
              <a:avLst>
                <a:gd name="adj1" fmla="val 27371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6" name="连接符: 肘形 1075">
              <a:extLst>
                <a:ext uri="{FF2B5EF4-FFF2-40B4-BE49-F238E27FC236}">
                  <a16:creationId xmlns:a16="http://schemas.microsoft.com/office/drawing/2014/main" id="{C46DB562-BF27-363E-1DD8-A9D038061614}"/>
                </a:ext>
              </a:extLst>
            </p:cNvPr>
            <p:cNvCxnSpPr>
              <a:cxnSpLocks/>
              <a:stCxn id="2051" idx="6"/>
              <a:endCxn id="1053" idx="1"/>
            </p:cNvCxnSpPr>
            <p:nvPr/>
          </p:nvCxnSpPr>
          <p:spPr>
            <a:xfrm flipV="1">
              <a:off x="4028672" y="3375530"/>
              <a:ext cx="485216" cy="93482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连接符: 肘形 1079">
              <a:extLst>
                <a:ext uri="{FF2B5EF4-FFF2-40B4-BE49-F238E27FC236}">
                  <a16:creationId xmlns:a16="http://schemas.microsoft.com/office/drawing/2014/main" id="{608FC537-CD16-8B76-495B-5605AB70A9E4}"/>
                </a:ext>
              </a:extLst>
            </p:cNvPr>
            <p:cNvCxnSpPr>
              <a:cxnSpLocks/>
              <a:stCxn id="2049" idx="6"/>
              <a:endCxn id="1061" idx="1"/>
            </p:cNvCxnSpPr>
            <p:nvPr/>
          </p:nvCxnSpPr>
          <p:spPr>
            <a:xfrm>
              <a:off x="4029704" y="3676691"/>
              <a:ext cx="485470" cy="101223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连接符: 肘形 1083">
              <a:extLst>
                <a:ext uri="{FF2B5EF4-FFF2-40B4-BE49-F238E27FC236}">
                  <a16:creationId xmlns:a16="http://schemas.microsoft.com/office/drawing/2014/main" id="{C14FAB72-7E07-C761-7F8F-9BD0C8303699}"/>
                </a:ext>
              </a:extLst>
            </p:cNvPr>
            <p:cNvCxnSpPr>
              <a:cxnSpLocks/>
              <a:stCxn id="2048" idx="6"/>
              <a:endCxn id="1057" idx="1"/>
            </p:cNvCxnSpPr>
            <p:nvPr/>
          </p:nvCxnSpPr>
          <p:spPr>
            <a:xfrm>
              <a:off x="4028672" y="3749163"/>
              <a:ext cx="482776" cy="210152"/>
            </a:xfrm>
            <a:prstGeom prst="bentConnector3">
              <a:avLst>
                <a:gd name="adj1" fmla="val 2764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7" name="椭圆 1086">
              <a:extLst>
                <a:ext uri="{FF2B5EF4-FFF2-40B4-BE49-F238E27FC236}">
                  <a16:creationId xmlns:a16="http://schemas.microsoft.com/office/drawing/2014/main" id="{CE795343-1F1E-E7E6-A80D-32209C3B087F}"/>
                </a:ext>
              </a:extLst>
            </p:cNvPr>
            <p:cNvSpPr/>
            <p:nvPr/>
          </p:nvSpPr>
          <p:spPr>
            <a:xfrm>
              <a:off x="3981667" y="337476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8" name="椭圆 2047">
              <a:extLst>
                <a:ext uri="{FF2B5EF4-FFF2-40B4-BE49-F238E27FC236}">
                  <a16:creationId xmlns:a16="http://schemas.microsoft.com/office/drawing/2014/main" id="{92AFFC3B-B98C-45A4-56BD-BD5530284314}"/>
                </a:ext>
              </a:extLst>
            </p:cNvPr>
            <p:cNvSpPr/>
            <p:nvPr/>
          </p:nvSpPr>
          <p:spPr>
            <a:xfrm>
              <a:off x="3982953" y="3726303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9" name="椭圆 2048">
              <a:extLst>
                <a:ext uri="{FF2B5EF4-FFF2-40B4-BE49-F238E27FC236}">
                  <a16:creationId xmlns:a16="http://schemas.microsoft.com/office/drawing/2014/main" id="{B131E1CC-A42F-DC54-C680-7D00376308C0}"/>
                </a:ext>
              </a:extLst>
            </p:cNvPr>
            <p:cNvSpPr/>
            <p:nvPr/>
          </p:nvSpPr>
          <p:spPr>
            <a:xfrm>
              <a:off x="3983985" y="365383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51" name="椭圆 2050">
              <a:extLst>
                <a:ext uri="{FF2B5EF4-FFF2-40B4-BE49-F238E27FC236}">
                  <a16:creationId xmlns:a16="http://schemas.microsoft.com/office/drawing/2014/main" id="{5855C64E-E952-B368-D965-12F97492F792}"/>
                </a:ext>
              </a:extLst>
            </p:cNvPr>
            <p:cNvSpPr/>
            <p:nvPr/>
          </p:nvSpPr>
          <p:spPr>
            <a:xfrm>
              <a:off x="3982953" y="3446152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4" name="矩形: 圆角 2063">
              <a:extLst>
                <a:ext uri="{FF2B5EF4-FFF2-40B4-BE49-F238E27FC236}">
                  <a16:creationId xmlns:a16="http://schemas.microsoft.com/office/drawing/2014/main" id="{2D3474E0-D9D6-0E59-925B-B54755F1F35A}"/>
                </a:ext>
              </a:extLst>
            </p:cNvPr>
            <p:cNvSpPr/>
            <p:nvPr/>
          </p:nvSpPr>
          <p:spPr>
            <a:xfrm>
              <a:off x="2568076" y="4877527"/>
              <a:ext cx="2085629" cy="1269750"/>
            </a:xfrm>
            <a:prstGeom prst="roundRect">
              <a:avLst>
                <a:gd name="adj" fmla="val 2414"/>
              </a:avLst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5" name="矩形: 圆角 2064">
              <a:extLst>
                <a:ext uri="{FF2B5EF4-FFF2-40B4-BE49-F238E27FC236}">
                  <a16:creationId xmlns:a16="http://schemas.microsoft.com/office/drawing/2014/main" id="{D3F80D84-B442-8B61-A21B-02D2BA10F9E3}"/>
                </a:ext>
              </a:extLst>
            </p:cNvPr>
            <p:cNvSpPr/>
            <p:nvPr/>
          </p:nvSpPr>
          <p:spPr>
            <a:xfrm>
              <a:off x="2670605" y="4949520"/>
              <a:ext cx="1897669" cy="1103778"/>
            </a:xfrm>
            <a:prstGeom prst="roundRect">
              <a:avLst>
                <a:gd name="adj" fmla="val 2414"/>
              </a:avLst>
            </a:prstGeom>
            <a:solidFill>
              <a:schemeClr val="accent2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67" name="矩形: 圆角 2066">
              <a:extLst>
                <a:ext uri="{FF2B5EF4-FFF2-40B4-BE49-F238E27FC236}">
                  <a16:creationId xmlns:a16="http://schemas.microsoft.com/office/drawing/2014/main" id="{58F33ACB-8ABF-8166-4EB9-3E807939C910}"/>
                </a:ext>
              </a:extLst>
            </p:cNvPr>
            <p:cNvSpPr/>
            <p:nvPr/>
          </p:nvSpPr>
          <p:spPr>
            <a:xfrm>
              <a:off x="3268663" y="5208772"/>
              <a:ext cx="725860" cy="577216"/>
            </a:xfrm>
            <a:prstGeom prst="roundRect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68" name="矩形: 圆角 2067">
              <a:extLst>
                <a:ext uri="{FF2B5EF4-FFF2-40B4-BE49-F238E27FC236}">
                  <a16:creationId xmlns:a16="http://schemas.microsoft.com/office/drawing/2014/main" id="{FB3213F1-9F17-855C-F534-A8249EE484E1}"/>
                </a:ext>
              </a:extLst>
            </p:cNvPr>
            <p:cNvSpPr/>
            <p:nvPr/>
          </p:nvSpPr>
          <p:spPr>
            <a:xfrm>
              <a:off x="3427029" y="5383738"/>
              <a:ext cx="415836" cy="234432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/>
                <a:t>ASIC</a:t>
              </a:r>
              <a:endParaRPr lang="zh-CN" altLang="en-US" sz="700" dirty="0"/>
            </a:p>
          </p:txBody>
        </p:sp>
        <p:sp>
          <p:nvSpPr>
            <p:cNvPr id="2070" name="矩形 2069">
              <a:extLst>
                <a:ext uri="{FF2B5EF4-FFF2-40B4-BE49-F238E27FC236}">
                  <a16:creationId xmlns:a16="http://schemas.microsoft.com/office/drawing/2014/main" id="{B1030952-1810-5436-4395-5719ABFE9E15}"/>
                </a:ext>
              </a:extLst>
            </p:cNvPr>
            <p:cNvSpPr/>
            <p:nvPr/>
          </p:nvSpPr>
          <p:spPr>
            <a:xfrm>
              <a:off x="4568274" y="5056915"/>
              <a:ext cx="74872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4" name="矩形 2073">
              <a:extLst>
                <a:ext uri="{FF2B5EF4-FFF2-40B4-BE49-F238E27FC236}">
                  <a16:creationId xmlns:a16="http://schemas.microsoft.com/office/drawing/2014/main" id="{32F1A191-6100-D28E-6EF9-78BCAD1FAD0A}"/>
                </a:ext>
              </a:extLst>
            </p:cNvPr>
            <p:cNvSpPr/>
            <p:nvPr/>
          </p:nvSpPr>
          <p:spPr>
            <a:xfrm>
              <a:off x="4568273" y="5244537"/>
              <a:ext cx="74873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8" name="矩形 2077">
              <a:extLst>
                <a:ext uri="{FF2B5EF4-FFF2-40B4-BE49-F238E27FC236}">
                  <a16:creationId xmlns:a16="http://schemas.microsoft.com/office/drawing/2014/main" id="{5B676141-72DB-E0C4-DFE0-B876D7A11DA5}"/>
                </a:ext>
              </a:extLst>
            </p:cNvPr>
            <p:cNvSpPr/>
            <p:nvPr/>
          </p:nvSpPr>
          <p:spPr>
            <a:xfrm>
              <a:off x="4568273" y="5828322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80" name="直接连接符 2079">
              <a:extLst>
                <a:ext uri="{FF2B5EF4-FFF2-40B4-BE49-F238E27FC236}">
                  <a16:creationId xmlns:a16="http://schemas.microsoft.com/office/drawing/2014/main" id="{87D3F4F7-D37A-0E2C-6145-F7F063C6B46F}"/>
                </a:ext>
              </a:extLst>
            </p:cNvPr>
            <p:cNvCxnSpPr>
              <a:cxnSpLocks/>
              <a:stCxn id="2078" idx="3"/>
            </p:cNvCxnSpPr>
            <p:nvPr/>
          </p:nvCxnSpPr>
          <p:spPr>
            <a:xfrm>
              <a:off x="4651459" y="5877935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2" name="矩形 2081">
              <a:extLst>
                <a:ext uri="{FF2B5EF4-FFF2-40B4-BE49-F238E27FC236}">
                  <a16:creationId xmlns:a16="http://schemas.microsoft.com/office/drawing/2014/main" id="{BB9BFD7D-0AAC-8124-8BC9-653A68EBB444}"/>
                </a:ext>
              </a:extLst>
            </p:cNvPr>
            <p:cNvSpPr/>
            <p:nvPr/>
          </p:nvSpPr>
          <p:spPr>
            <a:xfrm>
              <a:off x="4568273" y="5646921"/>
              <a:ext cx="83186" cy="992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89" name="连接符: 肘形 2088">
              <a:extLst>
                <a:ext uri="{FF2B5EF4-FFF2-40B4-BE49-F238E27FC236}">
                  <a16:creationId xmlns:a16="http://schemas.microsoft.com/office/drawing/2014/main" id="{8DD1F950-97EB-F4A2-AD4E-A1B01E72EC33}"/>
                </a:ext>
              </a:extLst>
            </p:cNvPr>
            <p:cNvCxnSpPr>
              <a:cxnSpLocks/>
              <a:stCxn id="2093" idx="6"/>
              <a:endCxn id="2070" idx="1"/>
            </p:cNvCxnSpPr>
            <p:nvPr/>
          </p:nvCxnSpPr>
          <p:spPr>
            <a:xfrm flipV="1">
              <a:off x="3976273" y="5106528"/>
              <a:ext cx="592001" cy="299591"/>
            </a:xfrm>
            <a:prstGeom prst="bentConnector3">
              <a:avLst>
                <a:gd name="adj1" fmla="val 3042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0" name="连接符: 肘形 2089">
              <a:extLst>
                <a:ext uri="{FF2B5EF4-FFF2-40B4-BE49-F238E27FC236}">
                  <a16:creationId xmlns:a16="http://schemas.microsoft.com/office/drawing/2014/main" id="{8DF35806-A9FC-2A22-7101-F4E8ED531D97}"/>
                </a:ext>
              </a:extLst>
            </p:cNvPr>
            <p:cNvCxnSpPr>
              <a:cxnSpLocks/>
              <a:stCxn id="2096" idx="6"/>
              <a:endCxn id="2074" idx="1"/>
            </p:cNvCxnSpPr>
            <p:nvPr/>
          </p:nvCxnSpPr>
          <p:spPr>
            <a:xfrm flipV="1">
              <a:off x="3976938" y="5294150"/>
              <a:ext cx="591335" cy="163731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1" name="连接符: 肘形 2090">
              <a:extLst>
                <a:ext uri="{FF2B5EF4-FFF2-40B4-BE49-F238E27FC236}">
                  <a16:creationId xmlns:a16="http://schemas.microsoft.com/office/drawing/2014/main" id="{8C346686-067C-63BF-E445-631A708B7640}"/>
                </a:ext>
              </a:extLst>
            </p:cNvPr>
            <p:cNvCxnSpPr>
              <a:cxnSpLocks/>
              <a:stCxn id="2095" idx="6"/>
              <a:endCxn id="2082" idx="1"/>
            </p:cNvCxnSpPr>
            <p:nvPr/>
          </p:nvCxnSpPr>
          <p:spPr>
            <a:xfrm>
              <a:off x="3976272" y="5537266"/>
              <a:ext cx="592001" cy="159268"/>
            </a:xfrm>
            <a:prstGeom prst="bentConnector3">
              <a:avLst>
                <a:gd name="adj1" fmla="val 50000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2" name="连接符: 肘形 2091">
              <a:extLst>
                <a:ext uri="{FF2B5EF4-FFF2-40B4-BE49-F238E27FC236}">
                  <a16:creationId xmlns:a16="http://schemas.microsoft.com/office/drawing/2014/main" id="{82590B93-6530-1C73-159A-88359E6EBE58}"/>
                </a:ext>
              </a:extLst>
            </p:cNvPr>
            <p:cNvCxnSpPr>
              <a:cxnSpLocks/>
              <a:stCxn id="2094" idx="6"/>
              <a:endCxn id="2078" idx="1"/>
            </p:cNvCxnSpPr>
            <p:nvPr/>
          </p:nvCxnSpPr>
          <p:spPr>
            <a:xfrm>
              <a:off x="3976539" y="5591536"/>
              <a:ext cx="591734" cy="286399"/>
            </a:xfrm>
            <a:prstGeom prst="bentConnector3">
              <a:avLst>
                <a:gd name="adj1" fmla="val 30684"/>
              </a:avLst>
            </a:prstGeom>
            <a:ln w="3175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3" name="椭圆 2092">
              <a:extLst>
                <a:ext uri="{FF2B5EF4-FFF2-40B4-BE49-F238E27FC236}">
                  <a16:creationId xmlns:a16="http://schemas.microsoft.com/office/drawing/2014/main" id="{A0E07606-750D-7A9B-454E-36E2CA7773A9}"/>
                </a:ext>
              </a:extLst>
            </p:cNvPr>
            <p:cNvSpPr/>
            <p:nvPr/>
          </p:nvSpPr>
          <p:spPr>
            <a:xfrm>
              <a:off x="3930554" y="5383259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4" name="椭圆 2093">
              <a:extLst>
                <a:ext uri="{FF2B5EF4-FFF2-40B4-BE49-F238E27FC236}">
                  <a16:creationId xmlns:a16="http://schemas.microsoft.com/office/drawing/2014/main" id="{ED2C1C18-69A0-D6F6-7C9A-E424AA2983A8}"/>
                </a:ext>
              </a:extLst>
            </p:cNvPr>
            <p:cNvSpPr/>
            <p:nvPr/>
          </p:nvSpPr>
          <p:spPr>
            <a:xfrm>
              <a:off x="3930820" y="556867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5" name="椭圆 2094">
              <a:extLst>
                <a:ext uri="{FF2B5EF4-FFF2-40B4-BE49-F238E27FC236}">
                  <a16:creationId xmlns:a16="http://schemas.microsoft.com/office/drawing/2014/main" id="{80993937-D567-1CBC-53AF-525CCE51C4A3}"/>
                </a:ext>
              </a:extLst>
            </p:cNvPr>
            <p:cNvSpPr/>
            <p:nvPr/>
          </p:nvSpPr>
          <p:spPr>
            <a:xfrm>
              <a:off x="3930553" y="5514406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6" name="椭圆 2095">
              <a:extLst>
                <a:ext uri="{FF2B5EF4-FFF2-40B4-BE49-F238E27FC236}">
                  <a16:creationId xmlns:a16="http://schemas.microsoft.com/office/drawing/2014/main" id="{A47E9B9D-9642-DBC7-A831-7CC92DDF5FF6}"/>
                </a:ext>
              </a:extLst>
            </p:cNvPr>
            <p:cNvSpPr/>
            <p:nvPr/>
          </p:nvSpPr>
          <p:spPr>
            <a:xfrm>
              <a:off x="3931219" y="5435021"/>
              <a:ext cx="45719" cy="45719"/>
            </a:xfrm>
            <a:prstGeom prst="ellips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19" name="直接连接符 2118">
              <a:extLst>
                <a:ext uri="{FF2B5EF4-FFF2-40B4-BE49-F238E27FC236}">
                  <a16:creationId xmlns:a16="http://schemas.microsoft.com/office/drawing/2014/main" id="{3B3537D0-C835-9C80-9C28-35DC1224C28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783102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直接连接符 2119">
              <a:extLst>
                <a:ext uri="{FF2B5EF4-FFF2-40B4-BE49-F238E27FC236}">
                  <a16:creationId xmlns:a16="http://schemas.microsoft.com/office/drawing/2014/main" id="{678B84E6-DAC7-A2EF-5EA7-43681B73B3EE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375294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1" name="直接连接符 2120">
              <a:extLst>
                <a:ext uri="{FF2B5EF4-FFF2-40B4-BE49-F238E27FC236}">
                  <a16:creationId xmlns:a16="http://schemas.microsoft.com/office/drawing/2014/main" id="{BB4CF096-CB66-22F0-2DB3-10A21FAD3B50}"/>
                </a:ext>
              </a:extLst>
            </p:cNvPr>
            <p:cNvCxnSpPr>
              <a:cxnSpLocks/>
            </p:cNvCxnSpPr>
            <p:nvPr/>
          </p:nvCxnSpPr>
          <p:spPr>
            <a:xfrm>
              <a:off x="4841648" y="3187908"/>
              <a:ext cx="159765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直接连接符 2121">
              <a:extLst>
                <a:ext uri="{FF2B5EF4-FFF2-40B4-BE49-F238E27FC236}">
                  <a16:creationId xmlns:a16="http://schemas.microsoft.com/office/drawing/2014/main" id="{3E65DC7F-2F8A-8030-73C6-B10B0359D458}"/>
                </a:ext>
              </a:extLst>
            </p:cNvPr>
            <p:cNvCxnSpPr>
              <a:cxnSpLocks/>
            </p:cNvCxnSpPr>
            <p:nvPr/>
          </p:nvCxnSpPr>
          <p:spPr>
            <a:xfrm>
              <a:off x="4651459" y="5697064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直接连接符 2122">
              <a:extLst>
                <a:ext uri="{FF2B5EF4-FFF2-40B4-BE49-F238E27FC236}">
                  <a16:creationId xmlns:a16="http://schemas.microsoft.com/office/drawing/2014/main" id="{A0FD160C-58A3-913D-D882-533546A7B042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293382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直接连接符 2123">
              <a:extLst>
                <a:ext uri="{FF2B5EF4-FFF2-40B4-BE49-F238E27FC236}">
                  <a16:creationId xmlns:a16="http://schemas.microsoft.com/office/drawing/2014/main" id="{F725813E-84C7-EA56-D518-55861B1EA78F}"/>
                </a:ext>
              </a:extLst>
            </p:cNvPr>
            <p:cNvCxnSpPr>
              <a:cxnSpLocks/>
            </p:cNvCxnSpPr>
            <p:nvPr/>
          </p:nvCxnSpPr>
          <p:spPr>
            <a:xfrm>
              <a:off x="4643146" y="5106528"/>
              <a:ext cx="152738" cy="0"/>
            </a:xfrm>
            <a:prstGeom prst="line">
              <a:avLst/>
            </a:prstGeom>
            <a:ln w="19050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25" name="矩形 2124">
              <a:extLst>
                <a:ext uri="{FF2B5EF4-FFF2-40B4-BE49-F238E27FC236}">
                  <a16:creationId xmlns:a16="http://schemas.microsoft.com/office/drawing/2014/main" id="{DD30B286-427C-9FF9-0FBC-B9990AE98510}"/>
                </a:ext>
              </a:extLst>
            </p:cNvPr>
            <p:cNvSpPr/>
            <p:nvPr/>
          </p:nvSpPr>
          <p:spPr>
            <a:xfrm>
              <a:off x="3868827" y="5383747"/>
              <a:ext cx="107711" cy="234432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142" name="直接连接符 2141">
              <a:extLst>
                <a:ext uri="{FF2B5EF4-FFF2-40B4-BE49-F238E27FC236}">
                  <a16:creationId xmlns:a16="http://schemas.microsoft.com/office/drawing/2014/main" id="{018AB5C2-76BE-4C7E-C14D-BC46F3175833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06118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4" name="直接连接符 2143">
              <a:extLst>
                <a:ext uri="{FF2B5EF4-FFF2-40B4-BE49-F238E27FC236}">
                  <a16:creationId xmlns:a16="http://schemas.microsoft.com/office/drawing/2014/main" id="{FBCEB2F9-ABD4-72D4-FDBC-4BCC218447DA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457880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直接连接符 2144">
              <a:extLst>
                <a:ext uri="{FF2B5EF4-FFF2-40B4-BE49-F238E27FC236}">
                  <a16:creationId xmlns:a16="http://schemas.microsoft.com/office/drawing/2014/main" id="{BA546A0B-4FD7-D411-1455-CB36E4BA3ABD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37962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直接连接符 2145">
              <a:extLst>
                <a:ext uri="{FF2B5EF4-FFF2-40B4-BE49-F238E27FC236}">
                  <a16:creationId xmlns:a16="http://schemas.microsoft.com/office/drawing/2014/main" id="{E137EBE4-A222-E161-C69E-5CC6C17918E1}"/>
                </a:ext>
              </a:extLst>
            </p:cNvPr>
            <p:cNvCxnSpPr>
              <a:cxnSpLocks/>
            </p:cNvCxnSpPr>
            <p:nvPr/>
          </p:nvCxnSpPr>
          <p:spPr>
            <a:xfrm>
              <a:off x="3842865" y="5593466"/>
              <a:ext cx="26190" cy="0"/>
            </a:xfrm>
            <a:prstGeom prst="line">
              <a:avLst/>
            </a:prstGeom>
            <a:ln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154" name="组合 2153">
              <a:extLst>
                <a:ext uri="{FF2B5EF4-FFF2-40B4-BE49-F238E27FC236}">
                  <a16:creationId xmlns:a16="http://schemas.microsoft.com/office/drawing/2014/main" id="{E78C4C66-170F-A06C-6F8D-4D38E1D9321C}"/>
                </a:ext>
              </a:extLst>
            </p:cNvPr>
            <p:cNvGrpSpPr/>
            <p:nvPr/>
          </p:nvGrpSpPr>
          <p:grpSpPr>
            <a:xfrm rot="16200000">
              <a:off x="3564677" y="5199694"/>
              <a:ext cx="133673" cy="234432"/>
              <a:chOff x="4069877" y="6177592"/>
              <a:chExt cx="133673" cy="234432"/>
            </a:xfrm>
          </p:grpSpPr>
          <p:sp>
            <p:nvSpPr>
              <p:cNvPr id="2149" name="矩形 2148">
                <a:extLst>
                  <a:ext uri="{FF2B5EF4-FFF2-40B4-BE49-F238E27FC236}">
                    <a16:creationId xmlns:a16="http://schemas.microsoft.com/office/drawing/2014/main" id="{F16E47A6-6573-F98E-F75C-7329AFFFBB60}"/>
                  </a:ext>
                </a:extLst>
              </p:cNvPr>
              <p:cNvSpPr/>
              <p:nvPr/>
            </p:nvSpPr>
            <p:spPr>
              <a:xfrm>
                <a:off x="4095839" y="6177592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50" name="直接连接符 2149">
                <a:extLst>
                  <a:ext uri="{FF2B5EF4-FFF2-40B4-BE49-F238E27FC236}">
                    <a16:creationId xmlns:a16="http://schemas.microsoft.com/office/drawing/2014/main" id="{2DEFB9AB-6125-A95E-528C-3AD457AED4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19996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1" name="直接连接符 2150">
                <a:extLst>
                  <a:ext uri="{FF2B5EF4-FFF2-40B4-BE49-F238E27FC236}">
                    <a16:creationId xmlns:a16="http://schemas.microsoft.com/office/drawing/2014/main" id="{24226B46-97DD-EEDD-93D8-0D5A414B18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251725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2" name="直接连接符 2151">
                <a:extLst>
                  <a:ext uri="{FF2B5EF4-FFF2-40B4-BE49-F238E27FC236}">
                    <a16:creationId xmlns:a16="http://schemas.microsoft.com/office/drawing/2014/main" id="{285C4076-1E2A-59C4-5EE3-586500774C2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3180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3" name="直接连接符 2152">
                <a:extLst>
                  <a:ext uri="{FF2B5EF4-FFF2-40B4-BE49-F238E27FC236}">
                    <a16:creationId xmlns:a16="http://schemas.microsoft.com/office/drawing/2014/main" id="{472D814C-E1BB-4710-3482-807D4F653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69877" y="63873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4" name="组合 2183">
              <a:extLst>
                <a:ext uri="{FF2B5EF4-FFF2-40B4-BE49-F238E27FC236}">
                  <a16:creationId xmlns:a16="http://schemas.microsoft.com/office/drawing/2014/main" id="{700D2923-9348-78EA-3D49-838ABCAE2F1A}"/>
                </a:ext>
              </a:extLst>
            </p:cNvPr>
            <p:cNvGrpSpPr/>
            <p:nvPr/>
          </p:nvGrpSpPr>
          <p:grpSpPr>
            <a:xfrm rot="5400000">
              <a:off x="3560034" y="5567772"/>
              <a:ext cx="133673" cy="234432"/>
              <a:chOff x="3963440" y="6379578"/>
              <a:chExt cx="133673" cy="234432"/>
            </a:xfrm>
          </p:grpSpPr>
          <p:sp>
            <p:nvSpPr>
              <p:cNvPr id="2155" name="矩形 2154">
                <a:extLst>
                  <a:ext uri="{FF2B5EF4-FFF2-40B4-BE49-F238E27FC236}">
                    <a16:creationId xmlns:a16="http://schemas.microsoft.com/office/drawing/2014/main" id="{5BD91CE2-ECD5-6CB6-09E7-ADFD123DD55E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56" name="直接连接符 2155">
                <a:extLst>
                  <a:ext uri="{FF2B5EF4-FFF2-40B4-BE49-F238E27FC236}">
                    <a16:creationId xmlns:a16="http://schemas.microsoft.com/office/drawing/2014/main" id="{8B2F601F-E22D-1A3A-BCBC-392A540622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7" name="直接连接符 2156">
                <a:extLst>
                  <a:ext uri="{FF2B5EF4-FFF2-40B4-BE49-F238E27FC236}">
                    <a16:creationId xmlns:a16="http://schemas.microsoft.com/office/drawing/2014/main" id="{B2C8C993-3430-FFF0-5294-DCE79E104B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8" name="直接连接符 2157">
                <a:extLst>
                  <a:ext uri="{FF2B5EF4-FFF2-40B4-BE49-F238E27FC236}">
                    <a16:creationId xmlns:a16="http://schemas.microsoft.com/office/drawing/2014/main" id="{AE0A485D-143F-1983-19EF-E99A49B167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59" name="直接连接符 2158">
                <a:extLst>
                  <a:ext uri="{FF2B5EF4-FFF2-40B4-BE49-F238E27FC236}">
                    <a16:creationId xmlns:a16="http://schemas.microsoft.com/office/drawing/2014/main" id="{90414AED-0C67-2E2F-5763-31C5D10AE4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185" name="组合 2184">
              <a:extLst>
                <a:ext uri="{FF2B5EF4-FFF2-40B4-BE49-F238E27FC236}">
                  <a16:creationId xmlns:a16="http://schemas.microsoft.com/office/drawing/2014/main" id="{6948E263-CC9A-2ADD-ECB9-5838F9627EF3}"/>
                </a:ext>
              </a:extLst>
            </p:cNvPr>
            <p:cNvGrpSpPr/>
            <p:nvPr/>
          </p:nvGrpSpPr>
          <p:grpSpPr>
            <a:xfrm rot="10800000">
              <a:off x="3294369" y="5379963"/>
              <a:ext cx="133673" cy="234432"/>
              <a:chOff x="3963440" y="6379578"/>
              <a:chExt cx="133673" cy="234432"/>
            </a:xfrm>
          </p:grpSpPr>
          <p:sp>
            <p:nvSpPr>
              <p:cNvPr id="2186" name="矩形 2185">
                <a:extLst>
                  <a:ext uri="{FF2B5EF4-FFF2-40B4-BE49-F238E27FC236}">
                    <a16:creationId xmlns:a16="http://schemas.microsoft.com/office/drawing/2014/main" id="{7316E993-FDF0-7C38-09F8-594FBA6BA955}"/>
                  </a:ext>
                </a:extLst>
              </p:cNvPr>
              <p:cNvSpPr/>
              <p:nvPr/>
            </p:nvSpPr>
            <p:spPr>
              <a:xfrm>
                <a:off x="3989402" y="6379578"/>
                <a:ext cx="107711" cy="234432"/>
              </a:xfrm>
              <a:prstGeom prst="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87" name="直接连接符 2186">
                <a:extLst>
                  <a:ext uri="{FF2B5EF4-FFF2-40B4-BE49-F238E27FC236}">
                    <a16:creationId xmlns:a16="http://schemas.microsoft.com/office/drawing/2014/main" id="{D2D71FE3-5E45-54DA-3C4C-F1EB12E7E2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01949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8" name="直接连接符 2187">
                <a:extLst>
                  <a:ext uri="{FF2B5EF4-FFF2-40B4-BE49-F238E27FC236}">
                    <a16:creationId xmlns:a16="http://schemas.microsoft.com/office/drawing/2014/main" id="{B33DF06A-5242-F6C1-F717-188BBFB1E4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453711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89" name="直接连接符 2188">
                <a:extLst>
                  <a:ext uri="{FF2B5EF4-FFF2-40B4-BE49-F238E27FC236}">
                    <a16:creationId xmlns:a16="http://schemas.microsoft.com/office/drawing/2014/main" id="{C0D0A1A6-E1CF-6B8F-0D43-75A4128C4CA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33793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90" name="直接连接符 2189">
                <a:extLst>
                  <a:ext uri="{FF2B5EF4-FFF2-40B4-BE49-F238E27FC236}">
                    <a16:creationId xmlns:a16="http://schemas.microsoft.com/office/drawing/2014/main" id="{0470F646-6534-B7E9-60B4-FB42C5C9C0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63440" y="6589297"/>
                <a:ext cx="26190" cy="0"/>
              </a:xfrm>
              <a:prstGeom prst="line">
                <a:avLst/>
              </a:prstGeom>
              <a:ln>
                <a:solidFill>
                  <a:srgbClr val="FF720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307" name="三角形 53">
              <a:extLst>
                <a:ext uri="{FF2B5EF4-FFF2-40B4-BE49-F238E27FC236}">
                  <a16:creationId xmlns:a16="http://schemas.microsoft.com/office/drawing/2014/main" id="{48AA5F8E-D232-A3C4-8C23-751CDD503C2C}"/>
                </a:ext>
              </a:extLst>
            </p:cNvPr>
            <p:cNvSpPr/>
            <p:nvPr/>
          </p:nvSpPr>
          <p:spPr>
            <a:xfrm rot="10800000">
              <a:off x="3156950" y="4470843"/>
              <a:ext cx="949286" cy="19538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kumimoji="1" lang="zh-CN" alt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128DC7B3-9ED3-4B47-3CAE-633A0B661A2A}"/>
              </a:ext>
            </a:extLst>
          </p:cNvPr>
          <p:cNvSpPr txBox="1"/>
          <p:nvPr/>
        </p:nvSpPr>
        <p:spPr>
          <a:xfrm>
            <a:off x="9552229" y="2060057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b="1" dirty="0">
                <a:solidFill>
                  <a:schemeClr val="accent6">
                    <a:lumMod val="10000"/>
                  </a:schemeClr>
                </a:solidFill>
              </a:rPr>
              <a:t>实物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BC49537-4E56-3225-97B2-9FE0117F6CEA}"/>
              </a:ext>
            </a:extLst>
          </p:cNvPr>
          <p:cNvSpPr/>
          <p:nvPr/>
        </p:nvSpPr>
        <p:spPr>
          <a:xfrm>
            <a:off x="9338053" y="3527443"/>
            <a:ext cx="700027" cy="669576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B2C09A64-B21C-35B9-EE03-6E516E2A996E}"/>
              </a:ext>
            </a:extLst>
          </p:cNvPr>
          <p:cNvSpPr txBox="1"/>
          <p:nvPr/>
        </p:nvSpPr>
        <p:spPr>
          <a:xfrm>
            <a:off x="8769379" y="2773228"/>
            <a:ext cx="595544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b="1" dirty="0">
                <a:solidFill>
                  <a:schemeClr val="accent6">
                    <a:lumMod val="10000"/>
                  </a:schemeClr>
                </a:solidFill>
              </a:rPr>
              <a:t>交换机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3" name="图片 42">
            <a:extLst>
              <a:ext uri="{FF2B5EF4-FFF2-40B4-BE49-F238E27FC236}">
                <a16:creationId xmlns:a16="http://schemas.microsoft.com/office/drawing/2014/main" id="{95A158FD-A0ED-AA15-5025-6EAA0B9B4A4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8053" y="4854794"/>
            <a:ext cx="1182525" cy="1267752"/>
          </a:xfrm>
          <a:prstGeom prst="rect">
            <a:avLst/>
          </a:prstGeom>
        </p:spPr>
      </p:pic>
      <p:sp>
        <p:nvSpPr>
          <p:cNvPr id="44" name="文本框 43">
            <a:extLst>
              <a:ext uri="{FF2B5EF4-FFF2-40B4-BE49-F238E27FC236}">
                <a16:creationId xmlns:a16="http://schemas.microsoft.com/office/drawing/2014/main" id="{14030CBD-D1BA-A4B3-7A9D-D1E82ED5D06C}"/>
              </a:ext>
            </a:extLst>
          </p:cNvPr>
          <p:cNvSpPr txBox="1"/>
          <p:nvPr/>
        </p:nvSpPr>
        <p:spPr>
          <a:xfrm>
            <a:off x="10014916" y="3683217"/>
            <a:ext cx="53931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b="1" dirty="0">
                <a:solidFill>
                  <a:schemeClr val="accent6">
                    <a:lumMod val="10000"/>
                  </a:schemeClr>
                </a:solidFill>
              </a:rPr>
              <a:t>可插拔光模块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9AC7162C-331B-64C2-58BC-C11B907A7AD8}"/>
              </a:ext>
            </a:extLst>
          </p:cNvPr>
          <p:cNvGrpSpPr/>
          <p:nvPr/>
        </p:nvGrpSpPr>
        <p:grpSpPr>
          <a:xfrm>
            <a:off x="5300191" y="2054110"/>
            <a:ext cx="5455392" cy="4112852"/>
            <a:chOff x="6649635" y="2024572"/>
            <a:chExt cx="5455392" cy="4112852"/>
          </a:xfrm>
        </p:grpSpPr>
        <p:grpSp>
          <p:nvGrpSpPr>
            <p:cNvPr id="2283" name="组合 2282">
              <a:extLst>
                <a:ext uri="{FF2B5EF4-FFF2-40B4-BE49-F238E27FC236}">
                  <a16:creationId xmlns:a16="http://schemas.microsoft.com/office/drawing/2014/main" id="{293D0147-C09F-6F8D-A3D3-8B10C8E129D5}"/>
                </a:ext>
              </a:extLst>
            </p:cNvPr>
            <p:cNvGrpSpPr/>
            <p:nvPr/>
          </p:nvGrpSpPr>
          <p:grpSpPr>
            <a:xfrm>
              <a:off x="8103528" y="5502465"/>
              <a:ext cx="180133" cy="51782"/>
              <a:chOff x="7867918" y="2835520"/>
              <a:chExt cx="180133" cy="51782"/>
            </a:xfrm>
          </p:grpSpPr>
          <p:sp>
            <p:nvSpPr>
              <p:cNvPr id="2284" name="椭圆 2283">
                <a:extLst>
                  <a:ext uri="{FF2B5EF4-FFF2-40B4-BE49-F238E27FC236}">
                    <a16:creationId xmlns:a16="http://schemas.microsoft.com/office/drawing/2014/main" id="{AE6FD3A3-80B0-1E9E-F69C-44524BD73C07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5" name="椭圆 2284">
                <a:extLst>
                  <a:ext uri="{FF2B5EF4-FFF2-40B4-BE49-F238E27FC236}">
                    <a16:creationId xmlns:a16="http://schemas.microsoft.com/office/drawing/2014/main" id="{E24357DA-78BF-37D7-9509-F80E141FF0FB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07" name="矩形 2206">
              <a:extLst>
                <a:ext uri="{FF2B5EF4-FFF2-40B4-BE49-F238E27FC236}">
                  <a16:creationId xmlns:a16="http://schemas.microsoft.com/office/drawing/2014/main" id="{9D01AEB0-2411-BFDB-2528-00333FFD822E}"/>
                </a:ext>
              </a:extLst>
            </p:cNvPr>
            <p:cNvSpPr/>
            <p:nvPr/>
          </p:nvSpPr>
          <p:spPr>
            <a:xfrm>
              <a:off x="9441349" y="3610619"/>
              <a:ext cx="518039" cy="246220"/>
            </a:xfrm>
            <a:prstGeom prst="rect">
              <a:avLst/>
            </a:prstGeom>
            <a:solidFill>
              <a:srgbClr val="A6A6A6">
                <a:alpha val="2500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217" name="组合 2216">
              <a:extLst>
                <a:ext uri="{FF2B5EF4-FFF2-40B4-BE49-F238E27FC236}">
                  <a16:creationId xmlns:a16="http://schemas.microsoft.com/office/drawing/2014/main" id="{48080AC9-D97C-506D-38BB-04B462535459}"/>
                </a:ext>
              </a:extLst>
            </p:cNvPr>
            <p:cNvGrpSpPr/>
            <p:nvPr/>
          </p:nvGrpSpPr>
          <p:grpSpPr>
            <a:xfrm>
              <a:off x="9505867" y="3819503"/>
              <a:ext cx="180133" cy="51782"/>
              <a:chOff x="7867918" y="2835520"/>
              <a:chExt cx="180133" cy="51782"/>
            </a:xfrm>
          </p:grpSpPr>
          <p:sp>
            <p:nvSpPr>
              <p:cNvPr id="2218" name="椭圆 2217">
                <a:extLst>
                  <a:ext uri="{FF2B5EF4-FFF2-40B4-BE49-F238E27FC236}">
                    <a16:creationId xmlns:a16="http://schemas.microsoft.com/office/drawing/2014/main" id="{4F68F8D8-5A4F-9AB0-A2B1-4AA8521AE26C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9" name="椭圆 2218">
                <a:extLst>
                  <a:ext uri="{FF2B5EF4-FFF2-40B4-BE49-F238E27FC236}">
                    <a16:creationId xmlns:a16="http://schemas.microsoft.com/office/drawing/2014/main" id="{697FD642-E1C7-984C-84FD-F9BA32AE213D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16" name="组合 2215">
              <a:extLst>
                <a:ext uri="{FF2B5EF4-FFF2-40B4-BE49-F238E27FC236}">
                  <a16:creationId xmlns:a16="http://schemas.microsoft.com/office/drawing/2014/main" id="{88447058-E641-6033-8952-D70647929279}"/>
                </a:ext>
              </a:extLst>
            </p:cNvPr>
            <p:cNvGrpSpPr/>
            <p:nvPr/>
          </p:nvGrpSpPr>
          <p:grpSpPr>
            <a:xfrm>
              <a:off x="7197779" y="3570054"/>
              <a:ext cx="565185" cy="51782"/>
              <a:chOff x="7867918" y="2835520"/>
              <a:chExt cx="565185" cy="51782"/>
            </a:xfrm>
          </p:grpSpPr>
          <p:sp>
            <p:nvSpPr>
              <p:cNvPr id="2210" name="椭圆 2209">
                <a:extLst>
                  <a:ext uri="{FF2B5EF4-FFF2-40B4-BE49-F238E27FC236}">
                    <a16:creationId xmlns:a16="http://schemas.microsoft.com/office/drawing/2014/main" id="{CA5BA9F9-7CBE-A8DC-E632-02874C6EE9DD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2" name="椭圆 2211">
                <a:extLst>
                  <a:ext uri="{FF2B5EF4-FFF2-40B4-BE49-F238E27FC236}">
                    <a16:creationId xmlns:a16="http://schemas.microsoft.com/office/drawing/2014/main" id="{38157B7A-7332-FF4E-39CB-CE4F567035F6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3" name="椭圆 2212">
                <a:extLst>
                  <a:ext uri="{FF2B5EF4-FFF2-40B4-BE49-F238E27FC236}">
                    <a16:creationId xmlns:a16="http://schemas.microsoft.com/office/drawing/2014/main" id="{30AF12B0-CB8E-BA97-2FE1-598E1F01918C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4" name="椭圆 2213">
                <a:extLst>
                  <a:ext uri="{FF2B5EF4-FFF2-40B4-BE49-F238E27FC236}">
                    <a16:creationId xmlns:a16="http://schemas.microsoft.com/office/drawing/2014/main" id="{F8570447-E39D-1361-7A43-AA47875F2729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5" name="椭圆 2214">
                <a:extLst>
                  <a:ext uri="{FF2B5EF4-FFF2-40B4-BE49-F238E27FC236}">
                    <a16:creationId xmlns:a16="http://schemas.microsoft.com/office/drawing/2014/main" id="{48899A2D-3DEA-B68D-20ED-9FB5F2AEA527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03" name="组合 2202">
              <a:extLst>
                <a:ext uri="{FF2B5EF4-FFF2-40B4-BE49-F238E27FC236}">
                  <a16:creationId xmlns:a16="http://schemas.microsoft.com/office/drawing/2014/main" id="{D173D587-F239-6090-3BB5-3FD3512DB4C5}"/>
                </a:ext>
              </a:extLst>
            </p:cNvPr>
            <p:cNvGrpSpPr/>
            <p:nvPr/>
          </p:nvGrpSpPr>
          <p:grpSpPr>
            <a:xfrm>
              <a:off x="7161943" y="3810412"/>
              <a:ext cx="1049169" cy="51782"/>
              <a:chOff x="7142854" y="3452768"/>
              <a:chExt cx="1049169" cy="51782"/>
            </a:xfrm>
          </p:grpSpPr>
          <p:sp>
            <p:nvSpPr>
              <p:cNvPr id="2197" name="椭圆 2196">
                <a:extLst>
                  <a:ext uri="{FF2B5EF4-FFF2-40B4-BE49-F238E27FC236}">
                    <a16:creationId xmlns:a16="http://schemas.microsoft.com/office/drawing/2014/main" id="{8ABCF628-3AF5-004E-C79D-36DC0313349F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8" name="椭圆 2197">
                <a:extLst>
                  <a:ext uri="{FF2B5EF4-FFF2-40B4-BE49-F238E27FC236}">
                    <a16:creationId xmlns:a16="http://schemas.microsoft.com/office/drawing/2014/main" id="{4602E9E2-13BE-B2DE-BE32-81AD1B8D9C35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9" name="椭圆 2198">
                <a:extLst>
                  <a:ext uri="{FF2B5EF4-FFF2-40B4-BE49-F238E27FC236}">
                    <a16:creationId xmlns:a16="http://schemas.microsoft.com/office/drawing/2014/main" id="{C35EC5BA-E3D0-A6BF-8B4D-32CD24E466FE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0" name="椭圆 2199">
                <a:extLst>
                  <a:ext uri="{FF2B5EF4-FFF2-40B4-BE49-F238E27FC236}">
                    <a16:creationId xmlns:a16="http://schemas.microsoft.com/office/drawing/2014/main" id="{86899C8A-820B-5595-CF80-7635EFF3B8FB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1" name="椭圆 2200">
                <a:extLst>
                  <a:ext uri="{FF2B5EF4-FFF2-40B4-BE49-F238E27FC236}">
                    <a16:creationId xmlns:a16="http://schemas.microsoft.com/office/drawing/2014/main" id="{FB518041-1704-7B53-FAC9-036F2F9391CB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2" name="椭圆 2201">
                <a:extLst>
                  <a:ext uri="{FF2B5EF4-FFF2-40B4-BE49-F238E27FC236}">
                    <a16:creationId xmlns:a16="http://schemas.microsoft.com/office/drawing/2014/main" id="{910145BF-E1E5-1AA7-6FD0-D639FBFCFC9F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2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73D05B80-0CB0-534F-3D2A-AD2B0E106071}"/>
                </a:ext>
              </a:extLst>
            </p:cNvPr>
            <p:cNvSpPr txBox="1"/>
            <p:nvPr/>
          </p:nvSpPr>
          <p:spPr>
            <a:xfrm>
              <a:off x="6662025" y="2862862"/>
              <a:ext cx="3178233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2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Front-Panel Pluggable Optics(FPP)</a:t>
              </a:r>
              <a:endParaRPr sz="12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  <p:sp>
          <p:nvSpPr>
            <p:cNvPr id="1038" name="文本框 1037">
              <a:extLst>
                <a:ext uri="{FF2B5EF4-FFF2-40B4-BE49-F238E27FC236}">
                  <a16:creationId xmlns:a16="http://schemas.microsoft.com/office/drawing/2014/main" id="{1938A181-D8E7-F0C8-3BBF-FF91B86C52D1}"/>
                </a:ext>
              </a:extLst>
            </p:cNvPr>
            <p:cNvSpPr txBox="1"/>
            <p:nvPr/>
          </p:nvSpPr>
          <p:spPr>
            <a:xfrm>
              <a:off x="7631452" y="2024572"/>
              <a:ext cx="447357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l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b="1" dirty="0">
                  <a:solidFill>
                    <a:schemeClr val="accent6">
                      <a:lumMod val="10000"/>
                    </a:schemeClr>
                  </a:solidFill>
                </a:rPr>
                <a:t>侧面</a:t>
              </a:r>
              <a:endParaRPr kumimoji="1" lang="en-US" altLang="zh-CN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2195" name="矩形: 圆角 2194">
              <a:extLst>
                <a:ext uri="{FF2B5EF4-FFF2-40B4-BE49-F238E27FC236}">
                  <a16:creationId xmlns:a16="http://schemas.microsoft.com/office/drawing/2014/main" id="{1E008CC3-49DA-2C0C-1789-CD0CE484D03C}"/>
                </a:ext>
              </a:extLst>
            </p:cNvPr>
            <p:cNvSpPr/>
            <p:nvPr/>
          </p:nvSpPr>
          <p:spPr>
            <a:xfrm>
              <a:off x="6736522" y="3862194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5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B3DB5D86-7298-E069-2C2F-CEA180A43E86}"/>
                </a:ext>
              </a:extLst>
            </p:cNvPr>
            <p:cNvSpPr txBox="1"/>
            <p:nvPr/>
          </p:nvSpPr>
          <p:spPr>
            <a:xfrm>
              <a:off x="6766520" y="3880836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PCB</a:t>
              </a:r>
              <a:endParaRPr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196" name="矩形: 圆角 2195">
              <a:extLst>
                <a:ext uri="{FF2B5EF4-FFF2-40B4-BE49-F238E27FC236}">
                  <a16:creationId xmlns:a16="http://schemas.microsoft.com/office/drawing/2014/main" id="{A9689017-7DD6-76F0-78D5-C96A6E551E36}"/>
                </a:ext>
              </a:extLst>
            </p:cNvPr>
            <p:cNvSpPr/>
            <p:nvPr/>
          </p:nvSpPr>
          <p:spPr>
            <a:xfrm>
              <a:off x="6965968" y="3614821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chemeClr val="accent2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4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A3BFFFB6-29D2-A4FF-FB48-E365C59291FE}"/>
                </a:ext>
              </a:extLst>
            </p:cNvPr>
            <p:cNvSpPr txBox="1"/>
            <p:nvPr/>
          </p:nvSpPr>
          <p:spPr>
            <a:xfrm>
              <a:off x="6963206" y="3593782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05" name="矩形: 圆角 2204">
              <a:extLst>
                <a:ext uri="{FF2B5EF4-FFF2-40B4-BE49-F238E27FC236}">
                  <a16:creationId xmlns:a16="http://schemas.microsoft.com/office/drawing/2014/main" id="{FC3D11DF-B48F-22F8-3A54-3F120F0497FF}"/>
                </a:ext>
              </a:extLst>
            </p:cNvPr>
            <p:cNvSpPr/>
            <p:nvPr/>
          </p:nvSpPr>
          <p:spPr>
            <a:xfrm>
              <a:off x="7168499" y="3420480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6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0172ECF7-A8D8-FF33-A5CD-62523203A418}"/>
                </a:ext>
              </a:extLst>
            </p:cNvPr>
            <p:cNvSpPr txBox="1"/>
            <p:nvPr/>
          </p:nvSpPr>
          <p:spPr>
            <a:xfrm>
              <a:off x="7279681" y="3375855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ASIC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08" name="矩形 2207">
              <a:extLst>
                <a:ext uri="{FF2B5EF4-FFF2-40B4-BE49-F238E27FC236}">
                  <a16:creationId xmlns:a16="http://schemas.microsoft.com/office/drawing/2014/main" id="{5729BD6E-BD70-026D-D0A9-18CBAA9331F4}"/>
                </a:ext>
              </a:extLst>
            </p:cNvPr>
            <p:cNvSpPr/>
            <p:nvPr/>
          </p:nvSpPr>
          <p:spPr>
            <a:xfrm>
              <a:off x="9497076" y="3699551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24" name="直接连接符 2223">
              <a:extLst>
                <a:ext uri="{FF2B5EF4-FFF2-40B4-BE49-F238E27FC236}">
                  <a16:creationId xmlns:a16="http://schemas.microsoft.com/office/drawing/2014/main" id="{62AA3A83-4266-4CAE-BBFD-2A54070AF530}"/>
                </a:ext>
              </a:extLst>
            </p:cNvPr>
            <p:cNvCxnSpPr>
              <a:stCxn id="2208" idx="3"/>
            </p:cNvCxnSpPr>
            <p:nvPr/>
          </p:nvCxnSpPr>
          <p:spPr>
            <a:xfrm>
              <a:off x="9693989" y="3759330"/>
              <a:ext cx="687160" cy="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25" name="椭圆 2224">
              <a:extLst>
                <a:ext uri="{FF2B5EF4-FFF2-40B4-BE49-F238E27FC236}">
                  <a16:creationId xmlns:a16="http://schemas.microsoft.com/office/drawing/2014/main" id="{C7061CA2-8A37-562B-4D0B-B6D8EB4B0A9B}"/>
                </a:ext>
              </a:extLst>
            </p:cNvPr>
            <p:cNvSpPr/>
            <p:nvPr/>
          </p:nvSpPr>
          <p:spPr>
            <a:xfrm>
              <a:off x="9999895" y="3666485"/>
              <a:ext cx="149225" cy="88931"/>
            </a:xfrm>
            <a:prstGeom prst="ellipse">
              <a:avLst/>
            </a:prstGeom>
            <a:noFill/>
            <a:ln w="12700">
              <a:solidFill>
                <a:srgbClr val="FF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6" name="文本框 2225">
              <a:extLst>
                <a:ext uri="{FF2B5EF4-FFF2-40B4-BE49-F238E27FC236}">
                  <a16:creationId xmlns:a16="http://schemas.microsoft.com/office/drawing/2014/main" id="{455C7CC0-F6B0-B45C-7FA1-54946414C3CC}"/>
                </a:ext>
              </a:extLst>
            </p:cNvPr>
            <p:cNvSpPr txBox="1"/>
            <p:nvPr/>
          </p:nvSpPr>
          <p:spPr>
            <a:xfrm>
              <a:off x="7040161" y="3069614"/>
              <a:ext cx="922865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交换机芯片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2227" name="文本框 2226">
              <a:extLst>
                <a:ext uri="{FF2B5EF4-FFF2-40B4-BE49-F238E27FC236}">
                  <a16:creationId xmlns:a16="http://schemas.microsoft.com/office/drawing/2014/main" id="{65F1A0DD-FDE9-FF90-E031-F979EAB49F85}"/>
                </a:ext>
              </a:extLst>
            </p:cNvPr>
            <p:cNvSpPr txBox="1"/>
            <p:nvPr/>
          </p:nvSpPr>
          <p:spPr>
            <a:xfrm>
              <a:off x="9296901" y="3284986"/>
              <a:ext cx="74066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光模块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cxnSp>
          <p:nvCxnSpPr>
            <p:cNvPr id="2229" name="直接连接符 2228">
              <a:extLst>
                <a:ext uri="{FF2B5EF4-FFF2-40B4-BE49-F238E27FC236}">
                  <a16:creationId xmlns:a16="http://schemas.microsoft.com/office/drawing/2014/main" id="{9557C8EE-3643-9A2D-2E7A-141A75053537}"/>
                </a:ext>
              </a:extLst>
            </p:cNvPr>
            <p:cNvCxnSpPr>
              <a:cxnSpLocks/>
            </p:cNvCxnSpPr>
            <p:nvPr/>
          </p:nvCxnSpPr>
          <p:spPr>
            <a:xfrm>
              <a:off x="7739019" y="3585815"/>
              <a:ext cx="0" cy="72522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直接连接符 2235">
              <a:extLst>
                <a:ext uri="{FF2B5EF4-FFF2-40B4-BE49-F238E27FC236}">
                  <a16:creationId xmlns:a16="http://schemas.microsoft.com/office/drawing/2014/main" id="{0EB20CDE-E882-220D-0F19-FED55ADB4629}"/>
                </a:ext>
              </a:extLst>
            </p:cNvPr>
            <p:cNvCxnSpPr>
              <a:cxnSpLocks/>
            </p:cNvCxnSpPr>
            <p:nvPr/>
          </p:nvCxnSpPr>
          <p:spPr>
            <a:xfrm>
              <a:off x="7737085" y="3655397"/>
              <a:ext cx="246441" cy="0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直接连接符 2238">
              <a:extLst>
                <a:ext uri="{FF2B5EF4-FFF2-40B4-BE49-F238E27FC236}">
                  <a16:creationId xmlns:a16="http://schemas.microsoft.com/office/drawing/2014/main" id="{3BB8C5A6-EF61-9080-E5D5-A159AE033667}"/>
                </a:ext>
              </a:extLst>
            </p:cNvPr>
            <p:cNvCxnSpPr>
              <a:cxnSpLocks/>
            </p:cNvCxnSpPr>
            <p:nvPr/>
          </p:nvCxnSpPr>
          <p:spPr>
            <a:xfrm>
              <a:off x="7981938" y="3652193"/>
              <a:ext cx="0" cy="246105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直接连接符 2240">
              <a:extLst>
                <a:ext uri="{FF2B5EF4-FFF2-40B4-BE49-F238E27FC236}">
                  <a16:creationId xmlns:a16="http://schemas.microsoft.com/office/drawing/2014/main" id="{8DA9BE6F-0C56-E310-3B45-5ECC625C7DBF}"/>
                </a:ext>
              </a:extLst>
            </p:cNvPr>
            <p:cNvCxnSpPr>
              <a:cxnSpLocks/>
            </p:cNvCxnSpPr>
            <p:nvPr/>
          </p:nvCxnSpPr>
          <p:spPr>
            <a:xfrm>
              <a:off x="7980350" y="3896710"/>
              <a:ext cx="1547330" cy="0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4" name="直接连接符 2243">
              <a:extLst>
                <a:ext uri="{FF2B5EF4-FFF2-40B4-BE49-F238E27FC236}">
                  <a16:creationId xmlns:a16="http://schemas.microsoft.com/office/drawing/2014/main" id="{58C058FE-4759-2C16-CE42-2F324A539B69}"/>
                </a:ext>
              </a:extLst>
            </p:cNvPr>
            <p:cNvCxnSpPr>
              <a:cxnSpLocks/>
            </p:cNvCxnSpPr>
            <p:nvPr/>
          </p:nvCxnSpPr>
          <p:spPr>
            <a:xfrm>
              <a:off x="9529751" y="3827349"/>
              <a:ext cx="0" cy="72537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50" name="组合 2249">
              <a:extLst>
                <a:ext uri="{FF2B5EF4-FFF2-40B4-BE49-F238E27FC236}">
                  <a16:creationId xmlns:a16="http://schemas.microsoft.com/office/drawing/2014/main" id="{FA361268-33C5-5237-7382-702CAA895B30}"/>
                </a:ext>
              </a:extLst>
            </p:cNvPr>
            <p:cNvGrpSpPr/>
            <p:nvPr/>
          </p:nvGrpSpPr>
          <p:grpSpPr>
            <a:xfrm>
              <a:off x="7118629" y="5506730"/>
              <a:ext cx="565185" cy="51782"/>
              <a:chOff x="7867918" y="2835520"/>
              <a:chExt cx="565185" cy="51782"/>
            </a:xfrm>
          </p:grpSpPr>
          <p:sp>
            <p:nvSpPr>
              <p:cNvPr id="2251" name="椭圆 2250">
                <a:extLst>
                  <a:ext uri="{FF2B5EF4-FFF2-40B4-BE49-F238E27FC236}">
                    <a16:creationId xmlns:a16="http://schemas.microsoft.com/office/drawing/2014/main" id="{CE867EE8-784B-7EA0-2AE4-38FB744C7858}"/>
                  </a:ext>
                </a:extLst>
              </p:cNvPr>
              <p:cNvSpPr/>
              <p:nvPr/>
            </p:nvSpPr>
            <p:spPr>
              <a:xfrm>
                <a:off x="7867918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2" name="椭圆 2251">
                <a:extLst>
                  <a:ext uri="{FF2B5EF4-FFF2-40B4-BE49-F238E27FC236}">
                    <a16:creationId xmlns:a16="http://schemas.microsoft.com/office/drawing/2014/main" id="{512F357D-5791-B114-77F8-EDDD352ACB31}"/>
                  </a:ext>
                </a:extLst>
              </p:cNvPr>
              <p:cNvSpPr/>
              <p:nvPr/>
            </p:nvSpPr>
            <p:spPr>
              <a:xfrm>
                <a:off x="7996269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3" name="椭圆 2252">
                <a:extLst>
                  <a:ext uri="{FF2B5EF4-FFF2-40B4-BE49-F238E27FC236}">
                    <a16:creationId xmlns:a16="http://schemas.microsoft.com/office/drawing/2014/main" id="{B1450D27-52E0-8897-595C-4491F2883DC7}"/>
                  </a:ext>
                </a:extLst>
              </p:cNvPr>
              <p:cNvSpPr/>
              <p:nvPr/>
            </p:nvSpPr>
            <p:spPr>
              <a:xfrm>
                <a:off x="838132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4" name="椭圆 2253">
                <a:extLst>
                  <a:ext uri="{FF2B5EF4-FFF2-40B4-BE49-F238E27FC236}">
                    <a16:creationId xmlns:a16="http://schemas.microsoft.com/office/drawing/2014/main" id="{4AB83A58-3FB7-570C-5F2F-2E10CEE141AA}"/>
                  </a:ext>
                </a:extLst>
              </p:cNvPr>
              <p:cNvSpPr/>
              <p:nvPr/>
            </p:nvSpPr>
            <p:spPr>
              <a:xfrm>
                <a:off x="8124620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5" name="椭圆 2254">
                <a:extLst>
                  <a:ext uri="{FF2B5EF4-FFF2-40B4-BE49-F238E27FC236}">
                    <a16:creationId xmlns:a16="http://schemas.microsoft.com/office/drawing/2014/main" id="{237EA7FA-0F9D-03AD-06B3-F3C688B2BE6E}"/>
                  </a:ext>
                </a:extLst>
              </p:cNvPr>
              <p:cNvSpPr/>
              <p:nvPr/>
            </p:nvSpPr>
            <p:spPr>
              <a:xfrm>
                <a:off x="8252971" y="2835520"/>
                <a:ext cx="51782" cy="51782"/>
              </a:xfrm>
              <a:prstGeom prst="ellipse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256" name="组合 2255">
              <a:extLst>
                <a:ext uri="{FF2B5EF4-FFF2-40B4-BE49-F238E27FC236}">
                  <a16:creationId xmlns:a16="http://schemas.microsoft.com/office/drawing/2014/main" id="{104F4237-0ECE-FAC8-C76A-5C74B430FDEE}"/>
                </a:ext>
              </a:extLst>
            </p:cNvPr>
            <p:cNvGrpSpPr/>
            <p:nvPr/>
          </p:nvGrpSpPr>
          <p:grpSpPr>
            <a:xfrm>
              <a:off x="7082793" y="5747088"/>
              <a:ext cx="1049169" cy="51782"/>
              <a:chOff x="7142854" y="3452768"/>
              <a:chExt cx="1049169" cy="51782"/>
            </a:xfrm>
          </p:grpSpPr>
          <p:sp>
            <p:nvSpPr>
              <p:cNvPr id="2257" name="椭圆 2256">
                <a:extLst>
                  <a:ext uri="{FF2B5EF4-FFF2-40B4-BE49-F238E27FC236}">
                    <a16:creationId xmlns:a16="http://schemas.microsoft.com/office/drawing/2014/main" id="{71E17CA2-D1CB-90B1-1378-AAFEF7CAB994}"/>
                  </a:ext>
                </a:extLst>
              </p:cNvPr>
              <p:cNvSpPr/>
              <p:nvPr/>
            </p:nvSpPr>
            <p:spPr>
              <a:xfrm>
                <a:off x="7142854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8" name="椭圆 2257">
                <a:extLst>
                  <a:ext uri="{FF2B5EF4-FFF2-40B4-BE49-F238E27FC236}">
                    <a16:creationId xmlns:a16="http://schemas.microsoft.com/office/drawing/2014/main" id="{AD8B3459-9F75-972C-5BD1-0FA76EEE997C}"/>
                  </a:ext>
                </a:extLst>
              </p:cNvPr>
              <p:cNvSpPr/>
              <p:nvPr/>
            </p:nvSpPr>
            <p:spPr>
              <a:xfrm>
                <a:off x="814024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9" name="椭圆 2258">
                <a:extLst>
                  <a:ext uri="{FF2B5EF4-FFF2-40B4-BE49-F238E27FC236}">
                    <a16:creationId xmlns:a16="http://schemas.microsoft.com/office/drawing/2014/main" id="{19AB80E7-AAE6-1430-0645-C6228172DB21}"/>
                  </a:ext>
                </a:extLst>
              </p:cNvPr>
              <p:cNvSpPr/>
              <p:nvPr/>
            </p:nvSpPr>
            <p:spPr>
              <a:xfrm>
                <a:off x="7342331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0" name="椭圆 2259">
                <a:extLst>
                  <a:ext uri="{FF2B5EF4-FFF2-40B4-BE49-F238E27FC236}">
                    <a16:creationId xmlns:a16="http://schemas.microsoft.com/office/drawing/2014/main" id="{B1574E16-4F59-CDE9-8941-ADCF0B47ED1D}"/>
                  </a:ext>
                </a:extLst>
              </p:cNvPr>
              <p:cNvSpPr/>
              <p:nvPr/>
            </p:nvSpPr>
            <p:spPr>
              <a:xfrm>
                <a:off x="7741285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1" name="椭圆 2260">
                <a:extLst>
                  <a:ext uri="{FF2B5EF4-FFF2-40B4-BE49-F238E27FC236}">
                    <a16:creationId xmlns:a16="http://schemas.microsoft.com/office/drawing/2014/main" id="{51082EBD-8CE3-8786-8F1B-69B0D0FF5F46}"/>
                  </a:ext>
                </a:extLst>
              </p:cNvPr>
              <p:cNvSpPr/>
              <p:nvPr/>
            </p:nvSpPr>
            <p:spPr>
              <a:xfrm>
                <a:off x="7541808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2" name="椭圆 2261">
                <a:extLst>
                  <a:ext uri="{FF2B5EF4-FFF2-40B4-BE49-F238E27FC236}">
                    <a16:creationId xmlns:a16="http://schemas.microsoft.com/office/drawing/2014/main" id="{8DB8E0BF-6BD1-1DCE-7734-AB525E2B7614}"/>
                  </a:ext>
                </a:extLst>
              </p:cNvPr>
              <p:cNvSpPr/>
              <p:nvPr/>
            </p:nvSpPr>
            <p:spPr>
              <a:xfrm>
                <a:off x="7940762" y="3452768"/>
                <a:ext cx="51782" cy="51782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2263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0807F3D-97BA-CD66-4F10-807E6DF5E66F}"/>
                </a:ext>
              </a:extLst>
            </p:cNvPr>
            <p:cNvSpPr txBox="1"/>
            <p:nvPr/>
          </p:nvSpPr>
          <p:spPr>
            <a:xfrm>
              <a:off x="6649635" y="4744241"/>
              <a:ext cx="3797961" cy="27699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200" dirty="0">
                  <a:solidFill>
                    <a:schemeClr val="accent6">
                      <a:lumMod val="10000"/>
                    </a:schemeClr>
                  </a:solidFill>
                  <a:latin typeface="+mj-lt"/>
                </a:rPr>
                <a:t>Co-Packaged Optics(CPO)</a:t>
              </a:r>
              <a:endParaRPr sz="1200" dirty="0">
                <a:solidFill>
                  <a:schemeClr val="accent6">
                    <a:lumMod val="10000"/>
                  </a:schemeClr>
                </a:solidFill>
                <a:latin typeface="+mj-lt"/>
              </a:endParaRPr>
            </a:p>
          </p:txBody>
        </p:sp>
        <p:sp>
          <p:nvSpPr>
            <p:cNvPr id="2264" name="矩形: 圆角 2263">
              <a:extLst>
                <a:ext uri="{FF2B5EF4-FFF2-40B4-BE49-F238E27FC236}">
                  <a16:creationId xmlns:a16="http://schemas.microsoft.com/office/drawing/2014/main" id="{FA1199EA-B4C2-CF1A-6C6B-5DFDEBA7396A}"/>
                </a:ext>
              </a:extLst>
            </p:cNvPr>
            <p:cNvSpPr/>
            <p:nvPr/>
          </p:nvSpPr>
          <p:spPr>
            <a:xfrm>
              <a:off x="6657372" y="5798870"/>
              <a:ext cx="3048997" cy="338554"/>
            </a:xfrm>
            <a:prstGeom prst="roundRect">
              <a:avLst>
                <a:gd name="adj" fmla="val 2414"/>
              </a:avLst>
            </a:prstGeom>
            <a:solidFill>
              <a:schemeClr val="accent5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5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9FD425D7-822D-9513-9EAD-EBC21FB6314B}"/>
                </a:ext>
              </a:extLst>
            </p:cNvPr>
            <p:cNvSpPr txBox="1"/>
            <p:nvPr/>
          </p:nvSpPr>
          <p:spPr>
            <a:xfrm>
              <a:off x="6687370" y="5817512"/>
              <a:ext cx="901373" cy="30777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sz="1400" dirty="0">
                  <a:solidFill>
                    <a:schemeClr val="bg1"/>
                  </a:solidFill>
                  <a:latin typeface="+mj-lt"/>
                </a:rPr>
                <a:t>PCB</a:t>
              </a:r>
              <a:endParaRPr sz="14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66" name="矩形: 圆角 2265">
              <a:extLst>
                <a:ext uri="{FF2B5EF4-FFF2-40B4-BE49-F238E27FC236}">
                  <a16:creationId xmlns:a16="http://schemas.microsoft.com/office/drawing/2014/main" id="{FE22F93E-1D6A-3B68-0211-EC2A88AE0634}"/>
                </a:ext>
              </a:extLst>
            </p:cNvPr>
            <p:cNvSpPr/>
            <p:nvPr/>
          </p:nvSpPr>
          <p:spPr>
            <a:xfrm>
              <a:off x="6886818" y="5551497"/>
              <a:ext cx="1441121" cy="196072"/>
            </a:xfrm>
            <a:prstGeom prst="roundRect">
              <a:avLst>
                <a:gd name="adj" fmla="val 2414"/>
              </a:avLst>
            </a:prstGeom>
            <a:solidFill>
              <a:schemeClr val="accent2"/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7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C02EEDB5-3528-FAE8-0B9A-EF98C6094930}"/>
                </a:ext>
              </a:extLst>
            </p:cNvPr>
            <p:cNvSpPr txBox="1"/>
            <p:nvPr/>
          </p:nvSpPr>
          <p:spPr>
            <a:xfrm>
              <a:off x="6884056" y="5530458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Substrate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68" name="矩形: 圆角 2267">
              <a:extLst>
                <a:ext uri="{FF2B5EF4-FFF2-40B4-BE49-F238E27FC236}">
                  <a16:creationId xmlns:a16="http://schemas.microsoft.com/office/drawing/2014/main" id="{C85569D9-DA69-AA91-EE22-A97E96711DB2}"/>
                </a:ext>
              </a:extLst>
            </p:cNvPr>
            <p:cNvSpPr/>
            <p:nvPr/>
          </p:nvSpPr>
          <p:spPr>
            <a:xfrm>
              <a:off x="7089349" y="5357156"/>
              <a:ext cx="626083" cy="156973"/>
            </a:xfrm>
            <a:prstGeom prst="roundRect">
              <a:avLst>
                <a:gd name="adj" fmla="val 2414"/>
              </a:avLst>
            </a:prstGeom>
            <a:solidFill>
              <a:schemeClr val="accent6">
                <a:lumMod val="10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9" name="CPO技术：通过将OE放置在距离主芯片（ASIC）足够近的地方，大幅度降低传输代价、复用ASIC能力，实现降成本、降功耗、降延迟！">
              <a:extLst>
                <a:ext uri="{FF2B5EF4-FFF2-40B4-BE49-F238E27FC236}">
                  <a16:creationId xmlns:a16="http://schemas.microsoft.com/office/drawing/2014/main" id="{8EBBBC45-249E-1216-FBF3-27F624E7F983}"/>
                </a:ext>
              </a:extLst>
            </p:cNvPr>
            <p:cNvSpPr txBox="1"/>
            <p:nvPr/>
          </p:nvSpPr>
          <p:spPr>
            <a:xfrm>
              <a:off x="7200531" y="5312531"/>
              <a:ext cx="1080498" cy="24622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square" lIns="45719" rIns="45719">
              <a:spAutoFit/>
            </a:bodyPr>
            <a:lstStyle>
              <a:lvl1pPr defTabSz="457200">
                <a:defRPr b="1">
                  <a:solidFill>
                    <a:srgbClr val="2151CF"/>
                  </a:solidFill>
                  <a:latin typeface="Times Roman"/>
                  <a:ea typeface="Times Roman"/>
                  <a:cs typeface="Times Roman"/>
                  <a:sym typeface="Times Roman"/>
                </a:defRPr>
              </a:lvl1pPr>
            </a:lstStyle>
            <a:p>
              <a:r>
                <a:rPr lang="en-US" altLang="zh-CN" sz="1000" dirty="0">
                  <a:solidFill>
                    <a:schemeClr val="bg1"/>
                  </a:solidFill>
                  <a:latin typeface="+mj-lt"/>
                </a:rPr>
                <a:t>ASIC</a:t>
              </a:r>
              <a:endParaRPr sz="1000" dirty="0">
                <a:solidFill>
                  <a:schemeClr val="bg1"/>
                </a:solidFill>
                <a:latin typeface="+mj-lt"/>
              </a:endParaRPr>
            </a:p>
          </p:txBody>
        </p:sp>
        <p:sp>
          <p:nvSpPr>
            <p:cNvPr id="2270" name="矩形 2269">
              <a:extLst>
                <a:ext uri="{FF2B5EF4-FFF2-40B4-BE49-F238E27FC236}">
                  <a16:creationId xmlns:a16="http://schemas.microsoft.com/office/drawing/2014/main" id="{F8D7BD25-F9C1-3DA6-3512-B4DB765C4A05}"/>
                </a:ext>
              </a:extLst>
            </p:cNvPr>
            <p:cNvSpPr/>
            <p:nvPr/>
          </p:nvSpPr>
          <p:spPr>
            <a:xfrm>
              <a:off x="9529244" y="5615215"/>
              <a:ext cx="160995" cy="178299"/>
            </a:xfrm>
            <a:prstGeom prst="rect">
              <a:avLst/>
            </a:prstGeom>
            <a:solidFill>
              <a:srgbClr val="D9D9D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72" name="直接连接符 2271">
              <a:extLst>
                <a:ext uri="{FF2B5EF4-FFF2-40B4-BE49-F238E27FC236}">
                  <a16:creationId xmlns:a16="http://schemas.microsoft.com/office/drawing/2014/main" id="{E100FBD0-82FA-926D-1539-9BF437657691}"/>
                </a:ext>
              </a:extLst>
            </p:cNvPr>
            <p:cNvCxnSpPr>
              <a:cxnSpLocks/>
            </p:cNvCxnSpPr>
            <p:nvPr/>
          </p:nvCxnSpPr>
          <p:spPr>
            <a:xfrm>
              <a:off x="8643849" y="5696006"/>
              <a:ext cx="1658150" cy="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3" name="椭圆 2272">
              <a:extLst>
                <a:ext uri="{FF2B5EF4-FFF2-40B4-BE49-F238E27FC236}">
                  <a16:creationId xmlns:a16="http://schemas.microsoft.com/office/drawing/2014/main" id="{D0FB83C0-5D0D-82B6-CBCD-A5DE0610F40A}"/>
                </a:ext>
              </a:extLst>
            </p:cNvPr>
            <p:cNvSpPr/>
            <p:nvPr/>
          </p:nvSpPr>
          <p:spPr>
            <a:xfrm>
              <a:off x="9920745" y="5603161"/>
              <a:ext cx="149225" cy="88931"/>
            </a:xfrm>
            <a:prstGeom prst="ellipse">
              <a:avLst/>
            </a:prstGeom>
            <a:noFill/>
            <a:ln w="12700">
              <a:solidFill>
                <a:srgbClr val="FF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4" name="文本框 2273">
              <a:extLst>
                <a:ext uri="{FF2B5EF4-FFF2-40B4-BE49-F238E27FC236}">
                  <a16:creationId xmlns:a16="http://schemas.microsoft.com/office/drawing/2014/main" id="{4CEBBF05-9ED7-45E3-F1CD-E8E480E1E2C2}"/>
                </a:ext>
              </a:extLst>
            </p:cNvPr>
            <p:cNvSpPr txBox="1"/>
            <p:nvPr/>
          </p:nvSpPr>
          <p:spPr>
            <a:xfrm>
              <a:off x="7002743" y="5016032"/>
              <a:ext cx="812643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交换机芯片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sp>
          <p:nvSpPr>
            <p:cNvPr id="2275" name="文本框 2274">
              <a:extLst>
                <a:ext uri="{FF2B5EF4-FFF2-40B4-BE49-F238E27FC236}">
                  <a16:creationId xmlns:a16="http://schemas.microsoft.com/office/drawing/2014/main" id="{6391F045-3E0C-4C11-BE09-1E81CE2F8190}"/>
                </a:ext>
              </a:extLst>
            </p:cNvPr>
            <p:cNvSpPr txBox="1"/>
            <p:nvPr/>
          </p:nvSpPr>
          <p:spPr>
            <a:xfrm>
              <a:off x="9217751" y="5221662"/>
              <a:ext cx="74066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外置光源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cxnSp>
          <p:nvCxnSpPr>
            <p:cNvPr id="2276" name="直接连接符 2275">
              <a:extLst>
                <a:ext uri="{FF2B5EF4-FFF2-40B4-BE49-F238E27FC236}">
                  <a16:creationId xmlns:a16="http://schemas.microsoft.com/office/drawing/2014/main" id="{285E3344-6D39-AA0B-6F38-F5AC3941F282}"/>
                </a:ext>
              </a:extLst>
            </p:cNvPr>
            <p:cNvCxnSpPr>
              <a:cxnSpLocks/>
            </p:cNvCxnSpPr>
            <p:nvPr/>
          </p:nvCxnSpPr>
          <p:spPr>
            <a:xfrm>
              <a:off x="7659869" y="5522491"/>
              <a:ext cx="0" cy="72522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直接连接符 2276">
              <a:extLst>
                <a:ext uri="{FF2B5EF4-FFF2-40B4-BE49-F238E27FC236}">
                  <a16:creationId xmlns:a16="http://schemas.microsoft.com/office/drawing/2014/main" id="{1F0623B0-B366-3726-28B5-EC3405D1B9BF}"/>
                </a:ext>
              </a:extLst>
            </p:cNvPr>
            <p:cNvCxnSpPr>
              <a:cxnSpLocks/>
            </p:cNvCxnSpPr>
            <p:nvPr/>
          </p:nvCxnSpPr>
          <p:spPr>
            <a:xfrm>
              <a:off x="7657935" y="5592073"/>
              <a:ext cx="476327" cy="0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直接连接符 2279">
              <a:extLst>
                <a:ext uri="{FF2B5EF4-FFF2-40B4-BE49-F238E27FC236}">
                  <a16:creationId xmlns:a16="http://schemas.microsoft.com/office/drawing/2014/main" id="{3CA154A8-D81D-3F84-BD29-5F4C81D1B490}"/>
                </a:ext>
              </a:extLst>
            </p:cNvPr>
            <p:cNvCxnSpPr>
              <a:cxnSpLocks/>
            </p:cNvCxnSpPr>
            <p:nvPr/>
          </p:nvCxnSpPr>
          <p:spPr>
            <a:xfrm>
              <a:off x="8131389" y="5503675"/>
              <a:ext cx="0" cy="89316"/>
            </a:xfrm>
            <a:prstGeom prst="line">
              <a:avLst/>
            </a:prstGeom>
            <a:ln w="635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82" name="矩形 2281">
              <a:extLst>
                <a:ext uri="{FF2B5EF4-FFF2-40B4-BE49-F238E27FC236}">
                  <a16:creationId xmlns:a16="http://schemas.microsoft.com/office/drawing/2014/main" id="{C4CB0141-DC23-7B97-F507-DDBF687B0693}"/>
                </a:ext>
              </a:extLst>
            </p:cNvPr>
            <p:cNvSpPr/>
            <p:nvPr/>
          </p:nvSpPr>
          <p:spPr>
            <a:xfrm>
              <a:off x="8095844" y="5384547"/>
              <a:ext cx="196913" cy="11955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6" name="文本框 2285">
              <a:extLst>
                <a:ext uri="{FF2B5EF4-FFF2-40B4-BE49-F238E27FC236}">
                  <a16:creationId xmlns:a16="http://schemas.microsoft.com/office/drawing/2014/main" id="{C4F3FA20-ED2F-D8A3-57F6-9D5CAF9BE563}"/>
                </a:ext>
              </a:extLst>
            </p:cNvPr>
            <p:cNvSpPr txBox="1"/>
            <p:nvPr/>
          </p:nvSpPr>
          <p:spPr>
            <a:xfrm>
              <a:off x="7816180" y="5056279"/>
              <a:ext cx="740668" cy="431368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r>
                <a:rPr kumimoji="1" lang="zh-CN" altLang="en-US" sz="1200" b="1" dirty="0">
                  <a:solidFill>
                    <a:schemeClr val="accent6">
                      <a:lumMod val="10000"/>
                    </a:schemeClr>
                  </a:solidFill>
                </a:rPr>
                <a:t>光引擎</a:t>
              </a:r>
              <a:endParaRPr kumimoji="1" lang="en-US" altLang="zh-CN" sz="12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  <p:cxnSp>
          <p:nvCxnSpPr>
            <p:cNvPr id="2293" name="直接连接符 2292">
              <a:extLst>
                <a:ext uri="{FF2B5EF4-FFF2-40B4-BE49-F238E27FC236}">
                  <a16:creationId xmlns:a16="http://schemas.microsoft.com/office/drawing/2014/main" id="{9A251054-255C-BF2D-077F-658927E18F9F}"/>
                </a:ext>
              </a:extLst>
            </p:cNvPr>
            <p:cNvCxnSpPr>
              <a:cxnSpLocks/>
            </p:cNvCxnSpPr>
            <p:nvPr/>
          </p:nvCxnSpPr>
          <p:spPr>
            <a:xfrm>
              <a:off x="8291424" y="5451531"/>
              <a:ext cx="358775" cy="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直接连接符 2294">
              <a:extLst>
                <a:ext uri="{FF2B5EF4-FFF2-40B4-BE49-F238E27FC236}">
                  <a16:creationId xmlns:a16="http://schemas.microsoft.com/office/drawing/2014/main" id="{AEA847F6-D574-A430-6A5E-507518DBE31D}"/>
                </a:ext>
              </a:extLst>
            </p:cNvPr>
            <p:cNvCxnSpPr>
              <a:cxnSpLocks/>
            </p:cNvCxnSpPr>
            <p:nvPr/>
          </p:nvCxnSpPr>
          <p:spPr>
            <a:xfrm>
              <a:off x="8647024" y="5444405"/>
              <a:ext cx="0" cy="252240"/>
            </a:xfrm>
            <a:prstGeom prst="line">
              <a:avLst/>
            </a:prstGeom>
            <a:ln w="12700">
              <a:solidFill>
                <a:srgbClr val="FF720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97" name="矩形 2296">
              <a:extLst>
                <a:ext uri="{FF2B5EF4-FFF2-40B4-BE49-F238E27FC236}">
                  <a16:creationId xmlns:a16="http://schemas.microsoft.com/office/drawing/2014/main" id="{BDDD23E1-A576-068D-5EFB-FB8F2DF60D2E}"/>
                </a:ext>
              </a:extLst>
            </p:cNvPr>
            <p:cNvSpPr/>
            <p:nvPr/>
          </p:nvSpPr>
          <p:spPr>
            <a:xfrm>
              <a:off x="9493326" y="5668331"/>
              <a:ext cx="238490" cy="49612"/>
            </a:xfrm>
            <a:prstGeom prst="rect">
              <a:avLst/>
            </a:prstGeom>
            <a:solidFill>
              <a:srgbClr val="FF7201"/>
            </a:solidFill>
            <a:ln>
              <a:solidFill>
                <a:srgbClr val="FF72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8" name="三角形 53">
              <a:extLst>
                <a:ext uri="{FF2B5EF4-FFF2-40B4-BE49-F238E27FC236}">
                  <a16:creationId xmlns:a16="http://schemas.microsoft.com/office/drawing/2014/main" id="{85251A74-B829-2917-AF7C-D8A9528D1BA6}"/>
                </a:ext>
              </a:extLst>
            </p:cNvPr>
            <p:cNvSpPr/>
            <p:nvPr/>
          </p:nvSpPr>
          <p:spPr>
            <a:xfrm rot="10800000">
              <a:off x="7920847" y="4454451"/>
              <a:ext cx="949286" cy="195383"/>
            </a:xfrm>
            <a:prstGeom prst="triangle">
              <a:avLst/>
            </a:prstGeom>
            <a:solidFill>
              <a:schemeClr val="accent4">
                <a:lumMod val="60000"/>
                <a:lumOff val="40000"/>
              </a:schemeClr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</a:pPr>
              <a:endParaRPr kumimoji="1" lang="zh-CN" altLang="en-US" sz="1600" dirty="0" err="1">
                <a:solidFill>
                  <a:schemeClr val="bg1"/>
                </a:solidFill>
              </a:endParaRPr>
            </a:p>
          </p:txBody>
        </p:sp>
      </p:grpSp>
      <p:sp>
        <p:nvSpPr>
          <p:cNvPr id="2299" name="文本框 2298">
            <a:extLst>
              <a:ext uri="{FF2B5EF4-FFF2-40B4-BE49-F238E27FC236}">
                <a16:creationId xmlns:a16="http://schemas.microsoft.com/office/drawing/2014/main" id="{C86EDA3F-A26D-6D57-4D34-AC56A675EC72}"/>
              </a:ext>
            </a:extLst>
          </p:cNvPr>
          <p:cNvSpPr txBox="1"/>
          <p:nvPr/>
        </p:nvSpPr>
        <p:spPr>
          <a:xfrm>
            <a:off x="6282009" y="5484680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050" b="1" dirty="0">
                <a:solidFill>
                  <a:srgbClr val="FFFF00"/>
                </a:solidFill>
              </a:rPr>
              <a:t> &lt;1mm</a:t>
            </a:r>
            <a:endParaRPr kumimoji="1" lang="en-US" altLang="zh-CN" sz="1050" dirty="0">
              <a:solidFill>
                <a:srgbClr val="FFFF00"/>
              </a:solidFill>
            </a:endParaRPr>
          </a:p>
        </p:txBody>
      </p:sp>
      <p:sp>
        <p:nvSpPr>
          <p:cNvPr id="2298" name="文本框 2297">
            <a:extLst>
              <a:ext uri="{FF2B5EF4-FFF2-40B4-BE49-F238E27FC236}">
                <a16:creationId xmlns:a16="http://schemas.microsoft.com/office/drawing/2014/main" id="{8B14412C-8E71-205E-8FA7-B63D453D35BB}"/>
              </a:ext>
            </a:extLst>
          </p:cNvPr>
          <p:cNvSpPr txBox="1"/>
          <p:nvPr/>
        </p:nvSpPr>
        <p:spPr>
          <a:xfrm>
            <a:off x="7157056" y="3815308"/>
            <a:ext cx="4473575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FFFF00"/>
                </a:solidFill>
              </a:rPr>
              <a:t>6-8cm</a:t>
            </a:r>
            <a:endParaRPr kumimoji="1" lang="en-US" altLang="zh-CN" sz="1400" dirty="0">
              <a:solidFill>
                <a:srgbClr val="FFFF00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0221F891-59AE-9B5E-2CE6-285E743A2B31}"/>
              </a:ext>
            </a:extLst>
          </p:cNvPr>
          <p:cNvSpPr/>
          <p:nvPr/>
        </p:nvSpPr>
        <p:spPr>
          <a:xfrm>
            <a:off x="8031480" y="3373221"/>
            <a:ext cx="621749" cy="669576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D4055023-563C-BCC7-12EB-51CBBD59517A}"/>
              </a:ext>
            </a:extLst>
          </p:cNvPr>
          <p:cNvSpPr/>
          <p:nvPr/>
        </p:nvSpPr>
        <p:spPr>
          <a:xfrm>
            <a:off x="5302744" y="3165064"/>
            <a:ext cx="1979167" cy="115292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FCC38ABF-33C0-4E5E-25D3-76D7B2CC3949}"/>
              </a:ext>
            </a:extLst>
          </p:cNvPr>
          <p:cNvSpPr/>
          <p:nvPr/>
        </p:nvSpPr>
        <p:spPr>
          <a:xfrm>
            <a:off x="5254986" y="5123899"/>
            <a:ext cx="1223066" cy="1152929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1194867-0F2A-9DA3-7EB7-2B9F5A562BC6}"/>
              </a:ext>
            </a:extLst>
          </p:cNvPr>
          <p:cNvSpPr/>
          <p:nvPr/>
        </p:nvSpPr>
        <p:spPr>
          <a:xfrm>
            <a:off x="6584727" y="5119437"/>
            <a:ext cx="517113" cy="57524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893295D2-2513-1A3C-5530-223B2968E3AB}"/>
              </a:ext>
            </a:extLst>
          </p:cNvPr>
          <p:cNvSpPr/>
          <p:nvPr/>
        </p:nvSpPr>
        <p:spPr>
          <a:xfrm>
            <a:off x="9383922" y="5104629"/>
            <a:ext cx="318877" cy="57524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B4C0935-754E-594F-8FBD-4EFAE5B19D16}"/>
              </a:ext>
            </a:extLst>
          </p:cNvPr>
          <p:cNvSpPr txBox="1"/>
          <p:nvPr/>
        </p:nvSpPr>
        <p:spPr>
          <a:xfrm>
            <a:off x="8833391" y="5140455"/>
            <a:ext cx="53931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b="1" dirty="0">
                <a:solidFill>
                  <a:schemeClr val="accent6">
                    <a:lumMod val="10000"/>
                  </a:schemeClr>
                </a:solidFill>
              </a:rPr>
              <a:t>光引擎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E7263E6-867C-8676-8C49-651F12081799}"/>
              </a:ext>
            </a:extLst>
          </p:cNvPr>
          <p:cNvSpPr txBox="1"/>
          <p:nvPr/>
        </p:nvSpPr>
        <p:spPr>
          <a:xfrm>
            <a:off x="9702993" y="5189731"/>
            <a:ext cx="539312" cy="43136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b="1" dirty="0">
                <a:solidFill>
                  <a:schemeClr val="bg1"/>
                </a:solidFill>
              </a:rPr>
              <a:t>ASIC</a:t>
            </a:r>
            <a:endParaRPr kumimoji="1" lang="en-US" altLang="zh-CN" sz="1200" dirty="0">
              <a:solidFill>
                <a:schemeClr val="bg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9DA584F8-46EC-D5E6-6ED8-B743D921F7CD}"/>
              </a:ext>
            </a:extLst>
          </p:cNvPr>
          <p:cNvSpPr/>
          <p:nvPr/>
        </p:nvSpPr>
        <p:spPr>
          <a:xfrm>
            <a:off x="9737834" y="5104629"/>
            <a:ext cx="441960" cy="575243"/>
          </a:xfrm>
          <a:prstGeom prst="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3" name="直接连接符 62">
            <a:extLst>
              <a:ext uri="{FF2B5EF4-FFF2-40B4-BE49-F238E27FC236}">
                <a16:creationId xmlns:a16="http://schemas.microsoft.com/office/drawing/2014/main" id="{2522FE83-7E45-A359-610B-14A2436E09EB}"/>
              </a:ext>
            </a:extLst>
          </p:cNvPr>
          <p:cNvCxnSpPr/>
          <p:nvPr/>
        </p:nvCxnSpPr>
        <p:spPr>
          <a:xfrm>
            <a:off x="8653229" y="3527443"/>
            <a:ext cx="394251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0" name="直接连接符 2239">
            <a:extLst>
              <a:ext uri="{FF2B5EF4-FFF2-40B4-BE49-F238E27FC236}">
                <a16:creationId xmlns:a16="http://schemas.microsoft.com/office/drawing/2014/main" id="{1B353A28-207F-2B6A-DCDF-8F7FB348FB64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9047480" y="3527443"/>
            <a:ext cx="290573" cy="334788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8" name="直接连接符 2247">
            <a:extLst>
              <a:ext uri="{FF2B5EF4-FFF2-40B4-BE49-F238E27FC236}">
                <a16:creationId xmlns:a16="http://schemas.microsoft.com/office/drawing/2014/main" id="{84EE4F15-6380-DC04-84C1-B35BD8E9843E}"/>
              </a:ext>
            </a:extLst>
          </p:cNvPr>
          <p:cNvCxnSpPr>
            <a:cxnSpLocks/>
          </p:cNvCxnSpPr>
          <p:nvPr/>
        </p:nvCxnSpPr>
        <p:spPr>
          <a:xfrm>
            <a:off x="7297856" y="3236086"/>
            <a:ext cx="987624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9" name="直接连接符 2248">
            <a:extLst>
              <a:ext uri="{FF2B5EF4-FFF2-40B4-BE49-F238E27FC236}">
                <a16:creationId xmlns:a16="http://schemas.microsoft.com/office/drawing/2014/main" id="{80F2F449-EF95-E497-4134-B2C62D3712E6}"/>
              </a:ext>
            </a:extLst>
          </p:cNvPr>
          <p:cNvCxnSpPr>
            <a:cxnSpLocks/>
            <a:endCxn id="36" idx="1"/>
          </p:cNvCxnSpPr>
          <p:nvPr/>
        </p:nvCxnSpPr>
        <p:spPr>
          <a:xfrm flipV="1">
            <a:off x="8299183" y="2988912"/>
            <a:ext cx="470196" cy="234976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8" name="直接连接符 2287">
            <a:extLst>
              <a:ext uri="{FF2B5EF4-FFF2-40B4-BE49-F238E27FC236}">
                <a16:creationId xmlns:a16="http://schemas.microsoft.com/office/drawing/2014/main" id="{EE4B836B-36B7-194E-79CE-CA75161BC534}"/>
              </a:ext>
            </a:extLst>
          </p:cNvPr>
          <p:cNvCxnSpPr>
            <a:cxnSpLocks/>
          </p:cNvCxnSpPr>
          <p:nvPr/>
        </p:nvCxnSpPr>
        <p:spPr>
          <a:xfrm>
            <a:off x="7118702" y="5254618"/>
            <a:ext cx="2265220" cy="0"/>
          </a:xfrm>
          <a:prstGeom prst="line">
            <a:avLst/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4" name="连接符: 肘形 2293">
            <a:extLst>
              <a:ext uri="{FF2B5EF4-FFF2-40B4-BE49-F238E27FC236}">
                <a16:creationId xmlns:a16="http://schemas.microsoft.com/office/drawing/2014/main" id="{13D46268-FA99-4D9D-FF2C-CCA4FCE26AD2}"/>
              </a:ext>
            </a:extLst>
          </p:cNvPr>
          <p:cNvCxnSpPr>
            <a:stCxn id="56" idx="0"/>
            <a:endCxn id="61" idx="0"/>
          </p:cNvCxnSpPr>
          <p:nvPr/>
        </p:nvCxnSpPr>
        <p:spPr>
          <a:xfrm rot="5400000" flipH="1" flipV="1">
            <a:off x="7903031" y="3068117"/>
            <a:ext cx="19270" cy="4092295"/>
          </a:xfrm>
          <a:prstGeom prst="bentConnector3">
            <a:avLst>
              <a:gd name="adj1" fmla="val 442698"/>
            </a:avLst>
          </a:prstGeom>
          <a:ln>
            <a:solidFill>
              <a:srgbClr val="FF000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7205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7616-CD83-2E38-6A19-512CC15BA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BC957F2-C96F-B8BD-0407-49505FC2A9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358318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8" imgW="404" imgH="405" progId="TCLayout.ActiveDocument.1">
                  <p:embed/>
                </p:oleObj>
              </mc:Choice>
              <mc:Fallback>
                <p:oleObj name="think-cell 幻灯片" r:id="rId28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97B2007-B7FD-C68E-DD7F-3E2CE41FC7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B5C8006-DEFF-FA32-B8C8-ED621CABF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IDC</a:t>
            </a:r>
            <a:r>
              <a:rPr lang="zh-CN" altLang="en-US" dirty="0"/>
              <a:t>中</a:t>
            </a:r>
            <a:r>
              <a:rPr lang="en-US" altLang="zh-CN" dirty="0"/>
              <a:t>Scale Up </a:t>
            </a:r>
            <a:r>
              <a:rPr lang="zh-CN" altLang="en-US" dirty="0"/>
              <a:t>与 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BC2B33C-AE4D-DBEF-8F6F-F9145BB88B02}"/>
              </a:ext>
            </a:extLst>
          </p:cNvPr>
          <p:cNvSpPr/>
          <p:nvPr/>
        </p:nvSpPr>
        <p:spPr>
          <a:xfrm>
            <a:off x="12346623" y="1343025"/>
            <a:ext cx="2018686" cy="12946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解释光模块在数据中心的环节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有效距离一两个数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DE9BF1D2-7A4D-F107-E95F-FC6B2EA20BF3}"/>
              </a:ext>
            </a:extLst>
          </p:cNvPr>
          <p:cNvSpPr txBox="1"/>
          <p:nvPr/>
        </p:nvSpPr>
        <p:spPr>
          <a:xfrm>
            <a:off x="524504" y="847033"/>
            <a:ext cx="4843315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纵向叠加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GPU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，卡间距离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cm-m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E7B6C2FB-D58B-D825-9124-913765A83F92}"/>
              </a:ext>
            </a:extLst>
          </p:cNvPr>
          <p:cNvGrpSpPr/>
          <p:nvPr/>
        </p:nvGrpSpPr>
        <p:grpSpPr>
          <a:xfrm>
            <a:off x="3569693" y="1595514"/>
            <a:ext cx="1110580" cy="1550051"/>
            <a:chOff x="2629270" y="2277426"/>
            <a:chExt cx="1041691" cy="1542748"/>
          </a:xfrm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1F52C2FA-0E19-C033-847A-9762C5D4D79C}"/>
                </a:ext>
              </a:extLst>
            </p:cNvPr>
            <p:cNvSpPr/>
            <p:nvPr/>
          </p:nvSpPr>
          <p:spPr>
            <a:xfrm>
              <a:off x="2629270" y="2277426"/>
              <a:ext cx="1041691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527B37F0-943D-2EB4-237D-384F0C546208}"/>
                </a:ext>
              </a:extLst>
            </p:cNvPr>
            <p:cNvSpPr/>
            <p:nvPr/>
          </p:nvSpPr>
          <p:spPr>
            <a:xfrm>
              <a:off x="2761134" y="3441879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4" name="矩形: 圆角 43">
              <a:extLst>
                <a:ext uri="{FF2B5EF4-FFF2-40B4-BE49-F238E27FC236}">
                  <a16:creationId xmlns:a16="http://schemas.microsoft.com/office/drawing/2014/main" id="{5B236DA1-D99A-EAB8-C1B8-63928AEC9698}"/>
                </a:ext>
              </a:extLst>
            </p:cNvPr>
            <p:cNvSpPr/>
            <p:nvPr/>
          </p:nvSpPr>
          <p:spPr>
            <a:xfrm>
              <a:off x="2761134" y="3109440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45" name="矩形: 圆角 44">
              <a:extLst>
                <a:ext uri="{FF2B5EF4-FFF2-40B4-BE49-F238E27FC236}">
                  <a16:creationId xmlns:a16="http://schemas.microsoft.com/office/drawing/2014/main" id="{AAEDA846-6884-FA78-F31F-6C37E5106413}"/>
                </a:ext>
              </a:extLst>
            </p:cNvPr>
            <p:cNvSpPr/>
            <p:nvPr/>
          </p:nvSpPr>
          <p:spPr>
            <a:xfrm>
              <a:off x="2761134" y="2444564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EA7EBFC5-1A90-2BC9-3979-0F7A2FD3E817}"/>
                </a:ext>
              </a:extLst>
            </p:cNvPr>
            <p:cNvSpPr/>
            <p:nvPr/>
          </p:nvSpPr>
          <p:spPr>
            <a:xfrm>
              <a:off x="2761133" y="2777002"/>
              <a:ext cx="765981" cy="216536"/>
            </a:xfrm>
            <a:prstGeom prst="roundRect">
              <a:avLst>
                <a:gd name="adj" fmla="val 12268"/>
              </a:avLst>
            </a:prstGeom>
            <a:noFill/>
            <a:ln>
              <a:solidFill>
                <a:srgbClr val="0052D9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accent1"/>
                  </a:solidFill>
                </a:rPr>
                <a:t>GPU</a:t>
              </a:r>
              <a:endParaRPr lang="zh-CN" altLang="en-US" sz="1200" dirty="0">
                <a:solidFill>
                  <a:schemeClr val="accent1"/>
                </a:solidFill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id="{11215F4A-BD4C-ACF2-BC1F-C1F1FDD9849C}"/>
              </a:ext>
            </a:extLst>
          </p:cNvPr>
          <p:cNvGrpSpPr/>
          <p:nvPr/>
        </p:nvGrpSpPr>
        <p:grpSpPr>
          <a:xfrm>
            <a:off x="1469666" y="1595513"/>
            <a:ext cx="1075291" cy="1550052"/>
            <a:chOff x="2573607" y="2277426"/>
            <a:chExt cx="1070224" cy="1542748"/>
          </a:xfrm>
        </p:grpSpPr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C86253CB-C632-1F70-55AC-677BF4F2BD7B}"/>
                </a:ext>
              </a:extLst>
            </p:cNvPr>
            <p:cNvSpPr/>
            <p:nvPr/>
          </p:nvSpPr>
          <p:spPr>
            <a:xfrm>
              <a:off x="2573607" y="2277426"/>
              <a:ext cx="1070224" cy="1542748"/>
            </a:xfrm>
            <a:prstGeom prst="roundRect">
              <a:avLst>
                <a:gd name="adj" fmla="val 10158"/>
              </a:avLst>
            </a:prstGeom>
            <a:noFill/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B31316FA-7C98-4079-DD4F-418C016618C4}"/>
                </a:ext>
              </a:extLst>
            </p:cNvPr>
            <p:cNvSpPr/>
            <p:nvPr/>
          </p:nvSpPr>
          <p:spPr>
            <a:xfrm>
              <a:off x="2722868" y="343922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id="{39E322D6-470A-5F6D-1AAF-CC5DD1F245A9}"/>
                </a:ext>
              </a:extLst>
            </p:cNvPr>
            <p:cNvSpPr/>
            <p:nvPr/>
          </p:nvSpPr>
          <p:spPr>
            <a:xfrm>
              <a:off x="2722868" y="3106781"/>
              <a:ext cx="765981" cy="216536"/>
            </a:xfrm>
            <a:prstGeom prst="roundRect">
              <a:avLst>
                <a:gd name="adj" fmla="val 12268"/>
              </a:avLst>
            </a:prstGeom>
            <a:solidFill>
              <a:srgbClr val="0052D9"/>
            </a:solidFill>
            <a:ln>
              <a:solidFill>
                <a:srgbClr val="0052D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bg1"/>
                  </a:solidFill>
                </a:rPr>
                <a:t>GPU</a:t>
              </a:r>
              <a:endParaRPr lang="zh-CN" altLang="en-US" sz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三角形 53">
            <a:extLst>
              <a:ext uri="{FF2B5EF4-FFF2-40B4-BE49-F238E27FC236}">
                <a16:creationId xmlns:a16="http://schemas.microsoft.com/office/drawing/2014/main" id="{64FA8E08-AE26-11BB-4814-B67BC2EC1772}"/>
              </a:ext>
            </a:extLst>
          </p:cNvPr>
          <p:cNvSpPr/>
          <p:nvPr/>
        </p:nvSpPr>
        <p:spPr>
          <a:xfrm rot="5400000">
            <a:off x="3032860" y="2241272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096" name="三角形 53">
            <a:extLst>
              <a:ext uri="{FF2B5EF4-FFF2-40B4-BE49-F238E27FC236}">
                <a16:creationId xmlns:a16="http://schemas.microsoft.com/office/drawing/2014/main" id="{D42CB91E-1934-FB96-4A55-FDE99F60B220}"/>
              </a:ext>
            </a:extLst>
          </p:cNvPr>
          <p:cNvSpPr/>
          <p:nvPr/>
        </p:nvSpPr>
        <p:spPr>
          <a:xfrm rot="5400000">
            <a:off x="2240582" y="5125035"/>
            <a:ext cx="396001" cy="144021"/>
          </a:xfrm>
          <a:prstGeom prst="triangle">
            <a:avLst/>
          </a:prstGeom>
          <a:solidFill>
            <a:srgbClr val="0052D9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grpSp>
        <p:nvGrpSpPr>
          <p:cNvPr id="3117" name="组合 3116">
            <a:extLst>
              <a:ext uri="{FF2B5EF4-FFF2-40B4-BE49-F238E27FC236}">
                <a16:creationId xmlns:a16="http://schemas.microsoft.com/office/drawing/2014/main" id="{2413CF08-CFDA-B60A-C7ED-99A4F8B5A43C}"/>
              </a:ext>
            </a:extLst>
          </p:cNvPr>
          <p:cNvGrpSpPr/>
          <p:nvPr/>
        </p:nvGrpSpPr>
        <p:grpSpPr>
          <a:xfrm>
            <a:off x="2524710" y="1688003"/>
            <a:ext cx="431456" cy="1040793"/>
            <a:chOff x="2333693" y="3112217"/>
            <a:chExt cx="554199" cy="1336884"/>
          </a:xfrm>
        </p:grpSpPr>
        <p:sp>
          <p:nvSpPr>
            <p:cNvPr id="3115" name="矩形: 圆角 3114">
              <a:extLst>
                <a:ext uri="{FF2B5EF4-FFF2-40B4-BE49-F238E27FC236}">
                  <a16:creationId xmlns:a16="http://schemas.microsoft.com/office/drawing/2014/main" id="{BBB096A3-145D-6A7F-D809-3C1C2A865EF5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16" name="文本框 3115">
              <a:extLst>
                <a:ext uri="{FF2B5EF4-FFF2-40B4-BE49-F238E27FC236}">
                  <a16:creationId xmlns:a16="http://schemas.microsoft.com/office/drawing/2014/main" id="{A97E6CDA-5C5E-87E9-15DA-F58C49CB19DB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grpSp>
        <p:nvGrpSpPr>
          <p:cNvPr id="3118" name="组合 3117">
            <a:extLst>
              <a:ext uri="{FF2B5EF4-FFF2-40B4-BE49-F238E27FC236}">
                <a16:creationId xmlns:a16="http://schemas.microsoft.com/office/drawing/2014/main" id="{7E6F88E7-9BEE-5938-48B8-30CA439B96D0}"/>
              </a:ext>
            </a:extLst>
          </p:cNvPr>
          <p:cNvGrpSpPr/>
          <p:nvPr/>
        </p:nvGrpSpPr>
        <p:grpSpPr>
          <a:xfrm>
            <a:off x="4651608" y="1670176"/>
            <a:ext cx="431456" cy="1040793"/>
            <a:chOff x="2333693" y="3112217"/>
            <a:chExt cx="554199" cy="1336884"/>
          </a:xfrm>
        </p:grpSpPr>
        <p:sp>
          <p:nvSpPr>
            <p:cNvPr id="3119" name="矩形: 圆角 3118">
              <a:extLst>
                <a:ext uri="{FF2B5EF4-FFF2-40B4-BE49-F238E27FC236}">
                  <a16:creationId xmlns:a16="http://schemas.microsoft.com/office/drawing/2014/main" id="{EFBE3210-BEEE-A084-44C5-E01581E486E5}"/>
                </a:ext>
              </a:extLst>
            </p:cNvPr>
            <p:cNvSpPr/>
            <p:nvPr/>
          </p:nvSpPr>
          <p:spPr>
            <a:xfrm>
              <a:off x="2573101" y="3378437"/>
              <a:ext cx="86614" cy="1070664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sp>
          <p:nvSpPr>
            <p:cNvPr id="3120" name="文本框 3119">
              <a:extLst>
                <a:ext uri="{FF2B5EF4-FFF2-40B4-BE49-F238E27FC236}">
                  <a16:creationId xmlns:a16="http://schemas.microsoft.com/office/drawing/2014/main" id="{09D0351F-4EF8-9421-9EF8-D96CB4B8EB60}"/>
                </a:ext>
              </a:extLst>
            </p:cNvPr>
            <p:cNvSpPr txBox="1"/>
            <p:nvPr/>
          </p:nvSpPr>
          <p:spPr>
            <a:xfrm>
              <a:off x="2333693" y="3112217"/>
              <a:ext cx="554199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kumimoji="1" lang="en-US" altLang="zh-CN" sz="800" dirty="0">
                  <a:solidFill>
                    <a:schemeClr val="tx1">
                      <a:lumMod val="50000"/>
                    </a:schemeClr>
                  </a:solidFill>
                </a:rPr>
                <a:t>Switch</a:t>
              </a:r>
              <a:endParaRPr kumimoji="1" lang="en-US" altLang="zh-CN" sz="800" dirty="0">
                <a:solidFill>
                  <a:srgbClr val="0052D9"/>
                </a:solidFill>
              </a:endParaRPr>
            </a:p>
          </p:txBody>
        </p:sp>
      </p:grpSp>
      <p:cxnSp>
        <p:nvCxnSpPr>
          <p:cNvPr id="3122" name="连接符: 肘形 3121">
            <a:extLst>
              <a:ext uri="{FF2B5EF4-FFF2-40B4-BE49-F238E27FC236}">
                <a16:creationId xmlns:a16="http://schemas.microsoft.com/office/drawing/2014/main" id="{F1FFC1D3-0B6E-CBA6-0D70-4F94EAEEE477}"/>
              </a:ext>
            </a:extLst>
          </p:cNvPr>
          <p:cNvCxnSpPr>
            <a:stCxn id="53" idx="3"/>
            <a:endCxn id="3115" idx="1"/>
          </p:cNvCxnSpPr>
          <p:nvPr/>
        </p:nvCxnSpPr>
        <p:spPr>
          <a:xfrm flipV="1">
            <a:off x="2389242" y="2312029"/>
            <a:ext cx="321852" cy="225547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3" name="连接符: 肘形 3122">
            <a:extLst>
              <a:ext uri="{FF2B5EF4-FFF2-40B4-BE49-F238E27FC236}">
                <a16:creationId xmlns:a16="http://schemas.microsoft.com/office/drawing/2014/main" id="{A098DE8A-50FF-E0C5-495C-6C93E346A7D3}"/>
              </a:ext>
            </a:extLst>
          </p:cNvPr>
          <p:cNvCxnSpPr>
            <a:cxnSpLocks/>
            <a:stCxn id="52" idx="3"/>
            <a:endCxn id="3115" idx="1"/>
          </p:cNvCxnSpPr>
          <p:nvPr/>
        </p:nvCxnSpPr>
        <p:spPr>
          <a:xfrm flipV="1">
            <a:off x="2389242" y="2312029"/>
            <a:ext cx="321852" cy="559560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6" name="连接符: 肘形 3125">
            <a:extLst>
              <a:ext uri="{FF2B5EF4-FFF2-40B4-BE49-F238E27FC236}">
                <a16:creationId xmlns:a16="http://schemas.microsoft.com/office/drawing/2014/main" id="{AD184443-7D88-41B9-ADAB-23BCA02D152A}"/>
              </a:ext>
            </a:extLst>
          </p:cNvPr>
          <p:cNvCxnSpPr>
            <a:cxnSpLocks/>
            <a:stCxn id="3119" idx="1"/>
            <a:endCxn id="45" idx="3"/>
          </p:cNvCxnSpPr>
          <p:nvPr/>
        </p:nvCxnSpPr>
        <p:spPr>
          <a:xfrm rot="10800000">
            <a:off x="4526914" y="1872224"/>
            <a:ext cx="311078" cy="42197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0" name="连接符: 肘形 3129">
            <a:extLst>
              <a:ext uri="{FF2B5EF4-FFF2-40B4-BE49-F238E27FC236}">
                <a16:creationId xmlns:a16="http://schemas.microsoft.com/office/drawing/2014/main" id="{8D9F271E-A347-7A52-5BFB-85ED70121FF6}"/>
              </a:ext>
            </a:extLst>
          </p:cNvPr>
          <p:cNvCxnSpPr>
            <a:cxnSpLocks/>
            <a:stCxn id="3119" idx="1"/>
            <a:endCxn id="46" idx="3"/>
          </p:cNvCxnSpPr>
          <p:nvPr/>
        </p:nvCxnSpPr>
        <p:spPr>
          <a:xfrm rot="10800000">
            <a:off x="4526914" y="2206236"/>
            <a:ext cx="311079" cy="8796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4" name="连接符: 肘形 3133">
            <a:extLst>
              <a:ext uri="{FF2B5EF4-FFF2-40B4-BE49-F238E27FC236}">
                <a16:creationId xmlns:a16="http://schemas.microsoft.com/office/drawing/2014/main" id="{3AD56A50-B9EB-E228-20E1-7748F7126790}"/>
              </a:ext>
            </a:extLst>
          </p:cNvPr>
          <p:cNvCxnSpPr>
            <a:cxnSpLocks/>
            <a:stCxn id="3119" idx="1"/>
            <a:endCxn id="44" idx="3"/>
          </p:cNvCxnSpPr>
          <p:nvPr/>
        </p:nvCxnSpPr>
        <p:spPr>
          <a:xfrm rot="10800000" flipV="1">
            <a:off x="4526914" y="2294202"/>
            <a:ext cx="311078" cy="246046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8" name="连接符: 肘形 3137">
            <a:extLst>
              <a:ext uri="{FF2B5EF4-FFF2-40B4-BE49-F238E27FC236}">
                <a16:creationId xmlns:a16="http://schemas.microsoft.com/office/drawing/2014/main" id="{EB294A51-D7B3-DB8B-B78B-D3C13ACE9382}"/>
              </a:ext>
            </a:extLst>
          </p:cNvPr>
          <p:cNvCxnSpPr>
            <a:cxnSpLocks/>
            <a:stCxn id="3119" idx="1"/>
            <a:endCxn id="43" idx="3"/>
          </p:cNvCxnSpPr>
          <p:nvPr/>
        </p:nvCxnSpPr>
        <p:spPr>
          <a:xfrm rot="10800000" flipV="1">
            <a:off x="4526914" y="2294202"/>
            <a:ext cx="311078" cy="58005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82" name="组合 3181">
            <a:extLst>
              <a:ext uri="{FF2B5EF4-FFF2-40B4-BE49-F238E27FC236}">
                <a16:creationId xmlns:a16="http://schemas.microsoft.com/office/drawing/2014/main" id="{002E0E87-15E2-0A11-5590-1F5C310A321C}"/>
              </a:ext>
            </a:extLst>
          </p:cNvPr>
          <p:cNvGrpSpPr/>
          <p:nvPr/>
        </p:nvGrpSpPr>
        <p:grpSpPr>
          <a:xfrm>
            <a:off x="870255" y="4611893"/>
            <a:ext cx="1177325" cy="1142112"/>
            <a:chOff x="6260068" y="3335726"/>
            <a:chExt cx="1177325" cy="1142112"/>
          </a:xfrm>
        </p:grpSpPr>
        <p:grpSp>
          <p:nvGrpSpPr>
            <p:cNvPr id="63" name="组合 62">
              <a:extLst>
                <a:ext uri="{FF2B5EF4-FFF2-40B4-BE49-F238E27FC236}">
                  <a16:creationId xmlns:a16="http://schemas.microsoft.com/office/drawing/2014/main" id="{C2FFA755-BE04-E980-B8C1-03EF3B2356A5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59" name="矩形: 圆角 58">
                <a:extLst>
                  <a:ext uri="{FF2B5EF4-FFF2-40B4-BE49-F238E27FC236}">
                    <a16:creationId xmlns:a16="http://schemas.microsoft.com/office/drawing/2014/main" id="{33C9CA0B-92FA-AF3D-9A34-CB8362FA3937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: 圆角 60">
                <a:extLst>
                  <a:ext uri="{FF2B5EF4-FFF2-40B4-BE49-F238E27FC236}">
                    <a16:creationId xmlns:a16="http://schemas.microsoft.com/office/drawing/2014/main" id="{D7A9470E-D53D-2A04-D22A-161A69BF2807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2" name="矩形: 圆角 61">
                <a:extLst>
                  <a:ext uri="{FF2B5EF4-FFF2-40B4-BE49-F238E27FC236}">
                    <a16:creationId xmlns:a16="http://schemas.microsoft.com/office/drawing/2014/main" id="{1FDA27EB-EED9-90C4-FEE2-34DB7785C394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43" name="矩形: 圆角 3142">
              <a:extLst>
                <a:ext uri="{FF2B5EF4-FFF2-40B4-BE49-F238E27FC236}">
                  <a16:creationId xmlns:a16="http://schemas.microsoft.com/office/drawing/2014/main" id="{9F0FBEBA-4ABE-4D93-CE38-776232738FA7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  <p:cxnSp>
          <p:nvCxnSpPr>
            <p:cNvPr id="3161" name="连接符: 肘形 3160">
              <a:extLst>
                <a:ext uri="{FF2B5EF4-FFF2-40B4-BE49-F238E27FC236}">
                  <a16:creationId xmlns:a16="http://schemas.microsoft.com/office/drawing/2014/main" id="{0E180B26-8C5C-520B-B17F-9486E3EB0C7F}"/>
                </a:ext>
              </a:extLst>
            </p:cNvPr>
            <p:cNvCxnSpPr>
              <a:cxnSpLocks/>
              <a:stCxn id="61" idx="3"/>
              <a:endCxn id="3143" idx="1"/>
            </p:cNvCxnSpPr>
            <p:nvPr/>
          </p:nvCxnSpPr>
          <p:spPr>
            <a:xfrm>
              <a:off x="7061201" y="3667559"/>
              <a:ext cx="321234" cy="249365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4" name="连接符: 肘形 3163">
              <a:extLst>
                <a:ext uri="{FF2B5EF4-FFF2-40B4-BE49-F238E27FC236}">
                  <a16:creationId xmlns:a16="http://schemas.microsoft.com/office/drawing/2014/main" id="{09E29855-6B0E-2CD8-5CC2-7202B785EB44}"/>
                </a:ext>
              </a:extLst>
            </p:cNvPr>
            <p:cNvCxnSpPr>
              <a:cxnSpLocks/>
              <a:stCxn id="62" idx="3"/>
              <a:endCxn id="3143" idx="1"/>
            </p:cNvCxnSpPr>
            <p:nvPr/>
          </p:nvCxnSpPr>
          <p:spPr>
            <a:xfrm flipV="1">
              <a:off x="7061199" y="3916924"/>
              <a:ext cx="321236" cy="239397"/>
            </a:xfrm>
            <a:prstGeom prst="bentConnector3">
              <a:avLst/>
            </a:prstGeom>
            <a:ln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83" name="组合 3182">
            <a:extLst>
              <a:ext uri="{FF2B5EF4-FFF2-40B4-BE49-F238E27FC236}">
                <a16:creationId xmlns:a16="http://schemas.microsoft.com/office/drawing/2014/main" id="{BC7BC8B0-0568-CB02-11E6-404A7EF03994}"/>
              </a:ext>
            </a:extLst>
          </p:cNvPr>
          <p:cNvGrpSpPr/>
          <p:nvPr/>
        </p:nvGrpSpPr>
        <p:grpSpPr>
          <a:xfrm>
            <a:off x="2847855" y="3913613"/>
            <a:ext cx="1177325" cy="1142112"/>
            <a:chOff x="6260068" y="3335726"/>
            <a:chExt cx="1177325" cy="1142112"/>
          </a:xfrm>
        </p:grpSpPr>
        <p:grpSp>
          <p:nvGrpSpPr>
            <p:cNvPr id="3184" name="组合 3183">
              <a:extLst>
                <a:ext uri="{FF2B5EF4-FFF2-40B4-BE49-F238E27FC236}">
                  <a16:creationId xmlns:a16="http://schemas.microsoft.com/office/drawing/2014/main" id="{76E3A105-AA17-3CE8-0F62-10EB486A7F68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88" name="矩形: 圆角 3187">
                <a:extLst>
                  <a:ext uri="{FF2B5EF4-FFF2-40B4-BE49-F238E27FC236}">
                    <a16:creationId xmlns:a16="http://schemas.microsoft.com/office/drawing/2014/main" id="{99105415-D9D1-ACE9-47FA-12177BD7B388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89" name="矩形: 圆角 3188">
                <a:extLst>
                  <a:ext uri="{FF2B5EF4-FFF2-40B4-BE49-F238E27FC236}">
                    <a16:creationId xmlns:a16="http://schemas.microsoft.com/office/drawing/2014/main" id="{07B9B9A2-C071-9E0B-010A-1852C3D032E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3190" name="矩形: 圆角 3189">
                <a:extLst>
                  <a:ext uri="{FF2B5EF4-FFF2-40B4-BE49-F238E27FC236}">
                    <a16:creationId xmlns:a16="http://schemas.microsoft.com/office/drawing/2014/main" id="{06A1A2E3-6E34-5B6E-96D4-D9F8D990474C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rgbClr val="0052D9"/>
              </a:solidFill>
              <a:ln>
                <a:solidFill>
                  <a:srgbClr val="0052D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chemeClr val="bg1"/>
                    </a:solidFill>
                  </a:rPr>
                  <a:t>GPU</a:t>
                </a:r>
                <a:endParaRPr lang="zh-CN" altLang="en-US" sz="800" dirty="0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3185" name="矩形: 圆角 3184">
              <a:extLst>
                <a:ext uri="{FF2B5EF4-FFF2-40B4-BE49-F238E27FC236}">
                  <a16:creationId xmlns:a16="http://schemas.microsoft.com/office/drawing/2014/main" id="{514AAB0D-784D-0AA1-3155-06F9170164E4}"/>
                </a:ext>
              </a:extLst>
            </p:cNvPr>
            <p:cNvSpPr/>
            <p:nvPr/>
          </p:nvSpPr>
          <p:spPr>
            <a:xfrm>
              <a:off x="7382435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9" name="组合 3198">
            <a:extLst>
              <a:ext uri="{FF2B5EF4-FFF2-40B4-BE49-F238E27FC236}">
                <a16:creationId xmlns:a16="http://schemas.microsoft.com/office/drawing/2014/main" id="{F5833B61-334A-89AC-19B2-AC9DE1E971AA}"/>
              </a:ext>
            </a:extLst>
          </p:cNvPr>
          <p:cNvGrpSpPr/>
          <p:nvPr/>
        </p:nvGrpSpPr>
        <p:grpSpPr>
          <a:xfrm>
            <a:off x="2871943" y="5344303"/>
            <a:ext cx="1170973" cy="1142112"/>
            <a:chOff x="6260068" y="3335726"/>
            <a:chExt cx="1170973" cy="1142112"/>
          </a:xfrm>
        </p:grpSpPr>
        <p:grpSp>
          <p:nvGrpSpPr>
            <p:cNvPr id="3200" name="组合 3199">
              <a:extLst>
                <a:ext uri="{FF2B5EF4-FFF2-40B4-BE49-F238E27FC236}">
                  <a16:creationId xmlns:a16="http://schemas.microsoft.com/office/drawing/2014/main" id="{A1C952F8-F5C9-E444-AB05-D23DB522CDDF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04" name="矩形: 圆角 3203">
                <a:extLst>
                  <a:ext uri="{FF2B5EF4-FFF2-40B4-BE49-F238E27FC236}">
                    <a16:creationId xmlns:a16="http://schemas.microsoft.com/office/drawing/2014/main" id="{FEB07FF3-5D3A-A2D5-5F78-E736372DA461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05" name="矩形: 圆角 3204">
                <a:extLst>
                  <a:ext uri="{FF2B5EF4-FFF2-40B4-BE49-F238E27FC236}">
                    <a16:creationId xmlns:a16="http://schemas.microsoft.com/office/drawing/2014/main" id="{3618D493-0B4D-1ADC-63B6-AD1EF0B8C023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06" name="矩形: 圆角 3205">
                <a:extLst>
                  <a:ext uri="{FF2B5EF4-FFF2-40B4-BE49-F238E27FC236}">
                    <a16:creationId xmlns:a16="http://schemas.microsoft.com/office/drawing/2014/main" id="{F6231AA1-9FEA-7C6A-4221-3F1022E5E24E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01" name="矩形: 圆角 3200">
              <a:extLst>
                <a:ext uri="{FF2B5EF4-FFF2-40B4-BE49-F238E27FC236}">
                  <a16:creationId xmlns:a16="http://schemas.microsoft.com/office/drawing/2014/main" id="{875EC9FE-D699-D4C2-300B-15779F1D61F3}"/>
                </a:ext>
              </a:extLst>
            </p:cNvPr>
            <p:cNvSpPr/>
            <p:nvPr/>
          </p:nvSpPr>
          <p:spPr>
            <a:xfrm>
              <a:off x="7376083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191" name="组合 3190">
            <a:extLst>
              <a:ext uri="{FF2B5EF4-FFF2-40B4-BE49-F238E27FC236}">
                <a16:creationId xmlns:a16="http://schemas.microsoft.com/office/drawing/2014/main" id="{5875C1E4-4268-A146-928D-D6092DA88AA1}"/>
              </a:ext>
            </a:extLst>
          </p:cNvPr>
          <p:cNvGrpSpPr/>
          <p:nvPr/>
        </p:nvGrpSpPr>
        <p:grpSpPr>
          <a:xfrm>
            <a:off x="4187156" y="3913613"/>
            <a:ext cx="1168206" cy="1142112"/>
            <a:chOff x="5999896" y="3335726"/>
            <a:chExt cx="1168206" cy="1142112"/>
          </a:xfrm>
        </p:grpSpPr>
        <p:grpSp>
          <p:nvGrpSpPr>
            <p:cNvPr id="3192" name="组合 3191">
              <a:extLst>
                <a:ext uri="{FF2B5EF4-FFF2-40B4-BE49-F238E27FC236}">
                  <a16:creationId xmlns:a16="http://schemas.microsoft.com/office/drawing/2014/main" id="{291C1F32-EB2A-D83A-B677-DFE8BEE58442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196" name="矩形: 圆角 3195">
                <a:extLst>
                  <a:ext uri="{FF2B5EF4-FFF2-40B4-BE49-F238E27FC236}">
                    <a16:creationId xmlns:a16="http://schemas.microsoft.com/office/drawing/2014/main" id="{5DB31E67-307E-841A-9BA7-2AB4D2E81D4C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197" name="矩形: 圆角 3196">
                <a:extLst>
                  <a:ext uri="{FF2B5EF4-FFF2-40B4-BE49-F238E27FC236}">
                    <a16:creationId xmlns:a16="http://schemas.microsoft.com/office/drawing/2014/main" id="{8FC70924-A56B-9DF1-283A-D5C6CB03296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198" name="矩形: 圆角 3197">
                <a:extLst>
                  <a:ext uri="{FF2B5EF4-FFF2-40B4-BE49-F238E27FC236}">
                    <a16:creationId xmlns:a16="http://schemas.microsoft.com/office/drawing/2014/main" id="{C5188816-4F3C-D2E5-E0BD-E1DD0F28F423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193" name="矩形: 圆角 3192">
              <a:extLst>
                <a:ext uri="{FF2B5EF4-FFF2-40B4-BE49-F238E27FC236}">
                  <a16:creationId xmlns:a16="http://schemas.microsoft.com/office/drawing/2014/main" id="{ACB5BAC3-0560-6BE5-FC53-7B614EA4D91F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grpSp>
        <p:nvGrpSpPr>
          <p:cNvPr id="3230" name="组合 3229">
            <a:extLst>
              <a:ext uri="{FF2B5EF4-FFF2-40B4-BE49-F238E27FC236}">
                <a16:creationId xmlns:a16="http://schemas.microsoft.com/office/drawing/2014/main" id="{0E59DE1C-B453-6D5C-C159-2B3C7D36F0EF}"/>
              </a:ext>
            </a:extLst>
          </p:cNvPr>
          <p:cNvGrpSpPr/>
          <p:nvPr/>
        </p:nvGrpSpPr>
        <p:grpSpPr>
          <a:xfrm>
            <a:off x="4181899" y="5344303"/>
            <a:ext cx="1168206" cy="1142112"/>
            <a:chOff x="5999896" y="3335726"/>
            <a:chExt cx="1168206" cy="1142112"/>
          </a:xfrm>
        </p:grpSpPr>
        <p:grpSp>
          <p:nvGrpSpPr>
            <p:cNvPr id="3232" name="组合 3231">
              <a:extLst>
                <a:ext uri="{FF2B5EF4-FFF2-40B4-BE49-F238E27FC236}">
                  <a16:creationId xmlns:a16="http://schemas.microsoft.com/office/drawing/2014/main" id="{5779E57B-33E2-3C44-7199-DDF7DC7BD564}"/>
                </a:ext>
              </a:extLst>
            </p:cNvPr>
            <p:cNvGrpSpPr/>
            <p:nvPr/>
          </p:nvGrpSpPr>
          <p:grpSpPr>
            <a:xfrm>
              <a:off x="6260068" y="3335726"/>
              <a:ext cx="908034" cy="1142112"/>
              <a:chOff x="4190300" y="3111821"/>
              <a:chExt cx="452605" cy="569280"/>
            </a:xfrm>
          </p:grpSpPr>
          <p:sp>
            <p:nvSpPr>
              <p:cNvPr id="3235" name="矩形: 圆角 3234">
                <a:extLst>
                  <a:ext uri="{FF2B5EF4-FFF2-40B4-BE49-F238E27FC236}">
                    <a16:creationId xmlns:a16="http://schemas.microsoft.com/office/drawing/2014/main" id="{6EBDA663-1C23-8B38-8B6C-DE2033CB18B5}"/>
                  </a:ext>
                </a:extLst>
              </p:cNvPr>
              <p:cNvSpPr/>
              <p:nvPr/>
            </p:nvSpPr>
            <p:spPr>
              <a:xfrm>
                <a:off x="4190300" y="3111821"/>
                <a:ext cx="452605" cy="569280"/>
              </a:xfrm>
              <a:prstGeom prst="roundRect">
                <a:avLst>
                  <a:gd name="adj" fmla="val 10158"/>
                </a:avLst>
              </a:prstGeom>
              <a:noFill/>
              <a:ln>
                <a:solidFill>
                  <a:srgbClr val="0052D9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236" name="矩形: 圆角 3235">
                <a:extLst>
                  <a:ext uri="{FF2B5EF4-FFF2-40B4-BE49-F238E27FC236}">
                    <a16:creationId xmlns:a16="http://schemas.microsoft.com/office/drawing/2014/main" id="{20B9AF5D-1C53-3900-F125-40E291BF8EA1}"/>
                  </a:ext>
                </a:extLst>
              </p:cNvPr>
              <p:cNvSpPr/>
              <p:nvPr/>
            </p:nvSpPr>
            <p:spPr>
              <a:xfrm>
                <a:off x="4241456" y="3218246"/>
                <a:ext cx="348165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  <p:sp>
            <p:nvSpPr>
              <p:cNvPr id="3237" name="矩形: 圆角 3236">
                <a:extLst>
                  <a:ext uri="{FF2B5EF4-FFF2-40B4-BE49-F238E27FC236}">
                    <a16:creationId xmlns:a16="http://schemas.microsoft.com/office/drawing/2014/main" id="{952ADDE8-EB41-55B3-10CB-E97C1C89C3D1}"/>
                  </a:ext>
                </a:extLst>
              </p:cNvPr>
              <p:cNvSpPr/>
              <p:nvPr/>
            </p:nvSpPr>
            <p:spPr>
              <a:xfrm>
                <a:off x="4241456" y="3461867"/>
                <a:ext cx="348164" cy="117950"/>
              </a:xfrm>
              <a:prstGeom prst="roundRect">
                <a:avLst>
                  <a:gd name="adj" fmla="val 12268"/>
                </a:avLst>
              </a:prstGeom>
              <a:solidFill>
                <a:schemeClr val="bg1"/>
              </a:solidFill>
              <a:ln>
                <a:solidFill>
                  <a:srgbClr val="0052D9"/>
                </a:solidFill>
                <a:prstDash val="lg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800" dirty="0">
                    <a:solidFill>
                      <a:srgbClr val="0052D9"/>
                    </a:solidFill>
                  </a:rPr>
                  <a:t>GPU</a:t>
                </a:r>
                <a:endParaRPr lang="zh-CN" altLang="en-US" sz="800" dirty="0">
                  <a:solidFill>
                    <a:srgbClr val="0052D9"/>
                  </a:solidFill>
                </a:endParaRPr>
              </a:p>
            </p:txBody>
          </p:sp>
        </p:grpSp>
        <p:sp>
          <p:nvSpPr>
            <p:cNvPr id="3233" name="矩形: 圆角 3232">
              <a:extLst>
                <a:ext uri="{FF2B5EF4-FFF2-40B4-BE49-F238E27FC236}">
                  <a16:creationId xmlns:a16="http://schemas.microsoft.com/office/drawing/2014/main" id="{ABD59FE5-B0DC-6BE9-A4D0-A75A1E2F6D09}"/>
                </a:ext>
              </a:extLst>
            </p:cNvPr>
            <p:cNvSpPr/>
            <p:nvPr/>
          </p:nvSpPr>
          <p:spPr>
            <a:xfrm>
              <a:off x="5999896" y="3549238"/>
              <a:ext cx="54958" cy="735371"/>
            </a:xfrm>
            <a:prstGeom prst="round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00" dirty="0"/>
            </a:p>
          </p:txBody>
        </p:sp>
      </p:grpSp>
      <p:cxnSp>
        <p:nvCxnSpPr>
          <p:cNvPr id="3247" name="直接连接符 3246">
            <a:extLst>
              <a:ext uri="{FF2B5EF4-FFF2-40B4-BE49-F238E27FC236}">
                <a16:creationId xmlns:a16="http://schemas.microsoft.com/office/drawing/2014/main" id="{1513F467-284A-2242-4286-F28799C5C3D7}"/>
              </a:ext>
            </a:extLst>
          </p:cNvPr>
          <p:cNvCxnSpPr>
            <a:stCxn id="3185" idx="2"/>
            <a:endCxn id="3233" idx="0"/>
          </p:cNvCxnSpPr>
          <p:nvPr/>
        </p:nvCxnSpPr>
        <p:spPr>
          <a:xfrm>
            <a:off x="3997701" y="4862496"/>
            <a:ext cx="21167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8" name="直接连接符 3247">
            <a:extLst>
              <a:ext uri="{FF2B5EF4-FFF2-40B4-BE49-F238E27FC236}">
                <a16:creationId xmlns:a16="http://schemas.microsoft.com/office/drawing/2014/main" id="{AE4A15C1-D470-2E30-507B-8029E6B54C8A}"/>
              </a:ext>
            </a:extLst>
          </p:cNvPr>
          <p:cNvCxnSpPr>
            <a:cxnSpLocks/>
            <a:stCxn id="3193" idx="2"/>
            <a:endCxn id="3201" idx="0"/>
          </p:cNvCxnSpPr>
          <p:nvPr/>
        </p:nvCxnSpPr>
        <p:spPr>
          <a:xfrm flipH="1">
            <a:off x="4015437" y="4862496"/>
            <a:ext cx="199198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1" name="直接连接符 3250">
            <a:extLst>
              <a:ext uri="{FF2B5EF4-FFF2-40B4-BE49-F238E27FC236}">
                <a16:creationId xmlns:a16="http://schemas.microsoft.com/office/drawing/2014/main" id="{8E81A409-E002-BAD0-AA6E-D9307B06A52A}"/>
              </a:ext>
            </a:extLst>
          </p:cNvPr>
          <p:cNvCxnSpPr>
            <a:cxnSpLocks/>
            <a:stCxn id="3185" idx="2"/>
            <a:endCxn id="3201" idx="0"/>
          </p:cNvCxnSpPr>
          <p:nvPr/>
        </p:nvCxnSpPr>
        <p:spPr>
          <a:xfrm>
            <a:off x="3997701" y="4862496"/>
            <a:ext cx="17736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4" name="直接连接符 3253">
            <a:extLst>
              <a:ext uri="{FF2B5EF4-FFF2-40B4-BE49-F238E27FC236}">
                <a16:creationId xmlns:a16="http://schemas.microsoft.com/office/drawing/2014/main" id="{50F89273-6158-4705-DDF5-9D740EC911FF}"/>
              </a:ext>
            </a:extLst>
          </p:cNvPr>
          <p:cNvCxnSpPr>
            <a:cxnSpLocks/>
            <a:stCxn id="3193" idx="2"/>
            <a:endCxn id="3233" idx="0"/>
          </p:cNvCxnSpPr>
          <p:nvPr/>
        </p:nvCxnSpPr>
        <p:spPr>
          <a:xfrm flipH="1">
            <a:off x="4209378" y="4862496"/>
            <a:ext cx="5257" cy="695319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7" name="直接连接符 3256">
            <a:extLst>
              <a:ext uri="{FF2B5EF4-FFF2-40B4-BE49-F238E27FC236}">
                <a16:creationId xmlns:a16="http://schemas.microsoft.com/office/drawing/2014/main" id="{658F9470-FD3C-B8A7-772F-DEC93184C62D}"/>
              </a:ext>
            </a:extLst>
          </p:cNvPr>
          <p:cNvCxnSpPr>
            <a:cxnSpLocks/>
            <a:stCxn id="3185" idx="2"/>
            <a:endCxn id="3193" idx="2"/>
          </p:cNvCxnSpPr>
          <p:nvPr/>
        </p:nvCxnSpPr>
        <p:spPr>
          <a:xfrm>
            <a:off x="3997701" y="4862496"/>
            <a:ext cx="216934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60" name="直接连接符 3259">
            <a:extLst>
              <a:ext uri="{FF2B5EF4-FFF2-40B4-BE49-F238E27FC236}">
                <a16:creationId xmlns:a16="http://schemas.microsoft.com/office/drawing/2014/main" id="{286349B1-29E8-C8D0-BBC8-15F245A3CE9B}"/>
              </a:ext>
            </a:extLst>
          </p:cNvPr>
          <p:cNvCxnSpPr>
            <a:cxnSpLocks/>
            <a:stCxn id="3201" idx="0"/>
            <a:endCxn id="3233" idx="0"/>
          </p:cNvCxnSpPr>
          <p:nvPr/>
        </p:nvCxnSpPr>
        <p:spPr>
          <a:xfrm>
            <a:off x="4015437" y="5557815"/>
            <a:ext cx="193941" cy="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71" name="组合 3270">
            <a:extLst>
              <a:ext uri="{FF2B5EF4-FFF2-40B4-BE49-F238E27FC236}">
                <a16:creationId xmlns:a16="http://schemas.microsoft.com/office/drawing/2014/main" id="{22348472-9892-C3DF-000D-BC387E3B1A19}"/>
              </a:ext>
            </a:extLst>
          </p:cNvPr>
          <p:cNvGrpSpPr/>
          <p:nvPr/>
        </p:nvGrpSpPr>
        <p:grpSpPr>
          <a:xfrm>
            <a:off x="517971" y="1216313"/>
            <a:ext cx="2420284" cy="328255"/>
            <a:chOff x="1177467" y="2702667"/>
            <a:chExt cx="2420284" cy="328255"/>
          </a:xfrm>
        </p:grpSpPr>
        <p:sp>
          <p:nvSpPr>
            <p:cNvPr id="3267" name="文本框 3266">
              <a:extLst>
                <a:ext uri="{FF2B5EF4-FFF2-40B4-BE49-F238E27FC236}">
                  <a16:creationId xmlns:a16="http://schemas.microsoft.com/office/drawing/2014/main" id="{0CA6769B-7DAE-DCF5-4A83-72FFA31733B5}"/>
                </a:ext>
              </a:extLst>
            </p:cNvPr>
            <p:cNvSpPr txBox="1"/>
            <p:nvPr/>
          </p:nvSpPr>
          <p:spPr>
            <a:xfrm>
              <a:off x="1613598" y="2702667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Copper interconnection 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  <p:cxnSp>
          <p:nvCxnSpPr>
            <p:cNvPr id="3269" name="直接连接符 3268">
              <a:extLst>
                <a:ext uri="{FF2B5EF4-FFF2-40B4-BE49-F238E27FC236}">
                  <a16:creationId xmlns:a16="http://schemas.microsoft.com/office/drawing/2014/main" id="{9FE7541C-A33D-F222-D297-59E869D0BF2E}"/>
                </a:ext>
              </a:extLst>
            </p:cNvPr>
            <p:cNvCxnSpPr/>
            <p:nvPr/>
          </p:nvCxnSpPr>
          <p:spPr>
            <a:xfrm>
              <a:off x="1177467" y="2886260"/>
              <a:ext cx="553272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79" name="文本框 3278">
            <a:extLst>
              <a:ext uri="{FF2B5EF4-FFF2-40B4-BE49-F238E27FC236}">
                <a16:creationId xmlns:a16="http://schemas.microsoft.com/office/drawing/2014/main" id="{B4DC88B5-7ABC-E50B-B302-D475C763EE5D}"/>
              </a:ext>
            </a:extLst>
          </p:cNvPr>
          <p:cNvSpPr txBox="1"/>
          <p:nvPr/>
        </p:nvSpPr>
        <p:spPr>
          <a:xfrm>
            <a:off x="524504" y="3407345"/>
            <a:ext cx="531337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算力节点横向互连，节点距离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m-km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级</a:t>
            </a:r>
            <a:endParaRPr kumimoji="1" lang="en-US" altLang="zh-CN" sz="1600" b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280" name="文本框 3279">
            <a:extLst>
              <a:ext uri="{FF2B5EF4-FFF2-40B4-BE49-F238E27FC236}">
                <a16:creationId xmlns:a16="http://schemas.microsoft.com/office/drawing/2014/main" id="{C148A7FD-D712-51F3-5081-166F73B6EB61}"/>
              </a:ext>
            </a:extLst>
          </p:cNvPr>
          <p:cNvSpPr txBox="1"/>
          <p:nvPr/>
        </p:nvSpPr>
        <p:spPr>
          <a:xfrm>
            <a:off x="1740008" y="4546921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1" name="文本框 3280">
            <a:extLst>
              <a:ext uri="{FF2B5EF4-FFF2-40B4-BE49-F238E27FC236}">
                <a16:creationId xmlns:a16="http://schemas.microsoft.com/office/drawing/2014/main" id="{4361F562-DFDE-6B7E-F514-626FA1E56756}"/>
              </a:ext>
            </a:extLst>
          </p:cNvPr>
          <p:cNvSpPr txBox="1"/>
          <p:nvPr/>
        </p:nvSpPr>
        <p:spPr>
          <a:xfrm>
            <a:off x="3650832" y="3875473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3282" name="椭圆 3281">
            <a:extLst>
              <a:ext uri="{FF2B5EF4-FFF2-40B4-BE49-F238E27FC236}">
                <a16:creationId xmlns:a16="http://schemas.microsoft.com/office/drawing/2014/main" id="{F3DEAD3A-3B4E-7235-FD38-55144F01FA78}"/>
              </a:ext>
            </a:extLst>
          </p:cNvPr>
          <p:cNvSpPr/>
          <p:nvPr/>
        </p:nvSpPr>
        <p:spPr>
          <a:xfrm>
            <a:off x="3976523" y="4833823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3" name="椭圆 3282">
            <a:extLst>
              <a:ext uri="{FF2B5EF4-FFF2-40B4-BE49-F238E27FC236}">
                <a16:creationId xmlns:a16="http://schemas.microsoft.com/office/drawing/2014/main" id="{60EEC760-1965-A09D-5547-B6E06E6F1BFF}"/>
              </a:ext>
            </a:extLst>
          </p:cNvPr>
          <p:cNvSpPr/>
          <p:nvPr/>
        </p:nvSpPr>
        <p:spPr>
          <a:xfrm>
            <a:off x="4193602" y="483139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4" name="椭圆 3283">
            <a:extLst>
              <a:ext uri="{FF2B5EF4-FFF2-40B4-BE49-F238E27FC236}">
                <a16:creationId xmlns:a16="http://schemas.microsoft.com/office/drawing/2014/main" id="{338C041F-2329-9770-58C2-010826019696}"/>
              </a:ext>
            </a:extLst>
          </p:cNvPr>
          <p:cNvSpPr/>
          <p:nvPr/>
        </p:nvSpPr>
        <p:spPr>
          <a:xfrm>
            <a:off x="3996784" y="5532695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5" name="椭圆 3284">
            <a:extLst>
              <a:ext uri="{FF2B5EF4-FFF2-40B4-BE49-F238E27FC236}">
                <a16:creationId xmlns:a16="http://schemas.microsoft.com/office/drawing/2014/main" id="{9D64F408-8622-DFC1-569E-C3F30849D5FA}"/>
              </a:ext>
            </a:extLst>
          </p:cNvPr>
          <p:cNvSpPr/>
          <p:nvPr/>
        </p:nvSpPr>
        <p:spPr>
          <a:xfrm>
            <a:off x="4187014" y="5536426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87" name="连接符: 肘形 3286">
            <a:extLst>
              <a:ext uri="{FF2B5EF4-FFF2-40B4-BE49-F238E27FC236}">
                <a16:creationId xmlns:a16="http://schemas.microsoft.com/office/drawing/2014/main" id="{179ED056-C4F7-BE77-73B2-34D1C98B902B}"/>
              </a:ext>
            </a:extLst>
          </p:cNvPr>
          <p:cNvCxnSpPr>
            <a:stCxn id="3189" idx="3"/>
            <a:endCxn id="3188" idx="3"/>
          </p:cNvCxnSpPr>
          <p:nvPr/>
        </p:nvCxnSpPr>
        <p:spPr>
          <a:xfrm>
            <a:off x="3648988" y="4245445"/>
            <a:ext cx="106901" cy="239224"/>
          </a:xfrm>
          <a:prstGeom prst="bentConnector3">
            <a:avLst>
              <a:gd name="adj1" fmla="val 52479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89" name="连接符: 肘形 3288">
            <a:extLst>
              <a:ext uri="{FF2B5EF4-FFF2-40B4-BE49-F238E27FC236}">
                <a16:creationId xmlns:a16="http://schemas.microsoft.com/office/drawing/2014/main" id="{E7E888B3-805C-5E34-B8B9-C1325B75C051}"/>
              </a:ext>
            </a:extLst>
          </p:cNvPr>
          <p:cNvCxnSpPr>
            <a:cxnSpLocks/>
            <a:stCxn id="3190" idx="3"/>
            <a:endCxn id="3188" idx="3"/>
          </p:cNvCxnSpPr>
          <p:nvPr/>
        </p:nvCxnSpPr>
        <p:spPr>
          <a:xfrm flipV="1">
            <a:off x="3648986" y="4484669"/>
            <a:ext cx="106903" cy="249538"/>
          </a:xfrm>
          <a:prstGeom prst="bentConnector3">
            <a:avLst>
              <a:gd name="adj1" fmla="val 5248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5" name="椭圆 3294">
            <a:extLst>
              <a:ext uri="{FF2B5EF4-FFF2-40B4-BE49-F238E27FC236}">
                <a16:creationId xmlns:a16="http://schemas.microsoft.com/office/drawing/2014/main" id="{E5DF0D73-C9E2-F4E0-D984-B375E6F18122}"/>
              </a:ext>
            </a:extLst>
          </p:cNvPr>
          <p:cNvSpPr/>
          <p:nvPr/>
        </p:nvSpPr>
        <p:spPr>
          <a:xfrm>
            <a:off x="376252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6" name="椭圆 3295">
            <a:extLst>
              <a:ext uri="{FF2B5EF4-FFF2-40B4-BE49-F238E27FC236}">
                <a16:creationId xmlns:a16="http://schemas.microsoft.com/office/drawing/2014/main" id="{8653CA79-4735-DDC8-50B6-9D2AA3C8D3E3}"/>
              </a:ext>
            </a:extLst>
          </p:cNvPr>
          <p:cNvSpPr/>
          <p:nvPr/>
        </p:nvSpPr>
        <p:spPr>
          <a:xfrm>
            <a:off x="4397965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7" name="椭圆 3296">
            <a:extLst>
              <a:ext uri="{FF2B5EF4-FFF2-40B4-BE49-F238E27FC236}">
                <a16:creationId xmlns:a16="http://schemas.microsoft.com/office/drawing/2014/main" id="{428FF105-C955-4B02-E9DB-2DCDEF0A2475}"/>
              </a:ext>
            </a:extLst>
          </p:cNvPr>
          <p:cNvSpPr/>
          <p:nvPr/>
        </p:nvSpPr>
        <p:spPr>
          <a:xfrm>
            <a:off x="3772919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8" name="椭圆 3297">
            <a:extLst>
              <a:ext uri="{FF2B5EF4-FFF2-40B4-BE49-F238E27FC236}">
                <a16:creationId xmlns:a16="http://schemas.microsoft.com/office/drawing/2014/main" id="{B57F8209-DA60-206E-A92E-4BEA193F4A6D}"/>
              </a:ext>
            </a:extLst>
          </p:cNvPr>
          <p:cNvSpPr/>
          <p:nvPr/>
        </p:nvSpPr>
        <p:spPr>
          <a:xfrm>
            <a:off x="4397965" y="5902638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03" name="连接符: 肘形 3302">
            <a:extLst>
              <a:ext uri="{FF2B5EF4-FFF2-40B4-BE49-F238E27FC236}">
                <a16:creationId xmlns:a16="http://schemas.microsoft.com/office/drawing/2014/main" id="{D90F8067-3661-6D07-4115-4EF10A05363E}"/>
              </a:ext>
            </a:extLst>
          </p:cNvPr>
          <p:cNvCxnSpPr>
            <a:cxnSpLocks/>
            <a:stCxn id="3206" idx="3"/>
            <a:endCxn id="3297" idx="2"/>
          </p:cNvCxnSpPr>
          <p:nvPr/>
        </p:nvCxnSpPr>
        <p:spPr>
          <a:xfrm flipV="1">
            <a:off x="3673074" y="5925498"/>
            <a:ext cx="99845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7" name="连接符: 肘形 3306">
            <a:extLst>
              <a:ext uri="{FF2B5EF4-FFF2-40B4-BE49-F238E27FC236}">
                <a16:creationId xmlns:a16="http://schemas.microsoft.com/office/drawing/2014/main" id="{64D43C6D-FDBF-E180-0573-843E3A227E6A}"/>
              </a:ext>
            </a:extLst>
          </p:cNvPr>
          <p:cNvCxnSpPr>
            <a:cxnSpLocks/>
            <a:stCxn id="3205" idx="3"/>
            <a:endCxn id="3297" idx="2"/>
          </p:cNvCxnSpPr>
          <p:nvPr/>
        </p:nvCxnSpPr>
        <p:spPr>
          <a:xfrm>
            <a:off x="3673076" y="5676135"/>
            <a:ext cx="99843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0" name="连接符: 肘形 3309">
            <a:extLst>
              <a:ext uri="{FF2B5EF4-FFF2-40B4-BE49-F238E27FC236}">
                <a16:creationId xmlns:a16="http://schemas.microsoft.com/office/drawing/2014/main" id="{C2B88ABB-85BD-BA7B-A299-D2B6C2EA061A}"/>
              </a:ext>
            </a:extLst>
          </p:cNvPr>
          <p:cNvCxnSpPr>
            <a:cxnSpLocks/>
            <a:stCxn id="3296" idx="6"/>
            <a:endCxn id="3197" idx="1"/>
          </p:cNvCxnSpPr>
          <p:nvPr/>
        </p:nvCxnSpPr>
        <p:spPr>
          <a:xfrm flipV="1">
            <a:off x="4443684" y="4245445"/>
            <a:ext cx="106275" cy="241424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13" name="连接符: 肘形 3312">
            <a:extLst>
              <a:ext uri="{FF2B5EF4-FFF2-40B4-BE49-F238E27FC236}">
                <a16:creationId xmlns:a16="http://schemas.microsoft.com/office/drawing/2014/main" id="{3CDD6494-4D9F-FA19-90BE-575750010F28}"/>
              </a:ext>
            </a:extLst>
          </p:cNvPr>
          <p:cNvCxnSpPr>
            <a:cxnSpLocks/>
            <a:stCxn id="3198" idx="1"/>
            <a:endCxn id="3296" idx="6"/>
          </p:cNvCxnSpPr>
          <p:nvPr/>
        </p:nvCxnSpPr>
        <p:spPr>
          <a:xfrm rot="10800000">
            <a:off x="4443685" y="4486869"/>
            <a:ext cx="106275" cy="247338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0" name="连接符: 肘形 3319">
            <a:extLst>
              <a:ext uri="{FF2B5EF4-FFF2-40B4-BE49-F238E27FC236}">
                <a16:creationId xmlns:a16="http://schemas.microsoft.com/office/drawing/2014/main" id="{E76F4571-2F06-814E-677F-AFBE3603CF65}"/>
              </a:ext>
            </a:extLst>
          </p:cNvPr>
          <p:cNvCxnSpPr>
            <a:cxnSpLocks/>
            <a:stCxn id="3236" idx="1"/>
            <a:endCxn id="3298" idx="6"/>
          </p:cNvCxnSpPr>
          <p:nvPr/>
        </p:nvCxnSpPr>
        <p:spPr>
          <a:xfrm rot="10800000" flipV="1">
            <a:off x="4443684" y="5676134"/>
            <a:ext cx="101018" cy="249363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23" name="连接符: 肘形 3322">
            <a:extLst>
              <a:ext uri="{FF2B5EF4-FFF2-40B4-BE49-F238E27FC236}">
                <a16:creationId xmlns:a16="http://schemas.microsoft.com/office/drawing/2014/main" id="{9FA99C92-C83D-F097-0EFC-E259C9BCA4AE}"/>
              </a:ext>
            </a:extLst>
          </p:cNvPr>
          <p:cNvCxnSpPr>
            <a:cxnSpLocks/>
            <a:stCxn id="3237" idx="1"/>
            <a:endCxn id="3298" idx="6"/>
          </p:cNvCxnSpPr>
          <p:nvPr/>
        </p:nvCxnSpPr>
        <p:spPr>
          <a:xfrm rot="10800000">
            <a:off x="4443684" y="5925499"/>
            <a:ext cx="101018" cy="239399"/>
          </a:xfrm>
          <a:prstGeom prst="bentConnector3">
            <a:avLst>
              <a:gd name="adj1" fmla="val 50000"/>
            </a:avLst>
          </a:prstGeom>
          <a:ln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26" name="椭圆 3325">
            <a:extLst>
              <a:ext uri="{FF2B5EF4-FFF2-40B4-BE49-F238E27FC236}">
                <a16:creationId xmlns:a16="http://schemas.microsoft.com/office/drawing/2014/main" id="{3FCC2BA2-D450-E61D-79BE-35C9F2B84FF2}"/>
              </a:ext>
            </a:extLst>
          </p:cNvPr>
          <p:cNvSpPr/>
          <p:nvPr/>
        </p:nvSpPr>
        <p:spPr>
          <a:xfrm>
            <a:off x="3924503" y="44640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7" name="椭圆 3326">
            <a:extLst>
              <a:ext uri="{FF2B5EF4-FFF2-40B4-BE49-F238E27FC236}">
                <a16:creationId xmlns:a16="http://schemas.microsoft.com/office/drawing/2014/main" id="{8DAC3C25-5202-9E1F-1F6C-C65005E11E5E}"/>
              </a:ext>
            </a:extLst>
          </p:cNvPr>
          <p:cNvSpPr/>
          <p:nvPr/>
        </p:nvSpPr>
        <p:spPr>
          <a:xfrm>
            <a:off x="4236857" y="446180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8" name="椭圆 3327">
            <a:extLst>
              <a:ext uri="{FF2B5EF4-FFF2-40B4-BE49-F238E27FC236}">
                <a16:creationId xmlns:a16="http://schemas.microsoft.com/office/drawing/2014/main" id="{E658DC7D-FF2B-F798-4CF3-FEDDA3AA84DD}"/>
              </a:ext>
            </a:extLst>
          </p:cNvPr>
          <p:cNvSpPr/>
          <p:nvPr/>
        </p:nvSpPr>
        <p:spPr>
          <a:xfrm>
            <a:off x="3941539" y="5904991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29" name="椭圆 3328">
            <a:extLst>
              <a:ext uri="{FF2B5EF4-FFF2-40B4-BE49-F238E27FC236}">
                <a16:creationId xmlns:a16="http://schemas.microsoft.com/office/drawing/2014/main" id="{60538A72-931E-810C-D7DE-12A882C184AC}"/>
              </a:ext>
            </a:extLst>
          </p:cNvPr>
          <p:cNvSpPr/>
          <p:nvPr/>
        </p:nvSpPr>
        <p:spPr>
          <a:xfrm>
            <a:off x="4235095" y="5903539"/>
            <a:ext cx="45719" cy="45719"/>
          </a:xfrm>
          <a:prstGeom prst="ellipse">
            <a:avLst/>
          </a:prstGeom>
          <a:solidFill>
            <a:srgbClr val="FF7201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30" name="直接连接符 3329">
            <a:extLst>
              <a:ext uri="{FF2B5EF4-FFF2-40B4-BE49-F238E27FC236}">
                <a16:creationId xmlns:a16="http://schemas.microsoft.com/office/drawing/2014/main" id="{D4A53385-8C4F-0E25-BBEB-8F59CD06E132}"/>
              </a:ext>
            </a:extLst>
          </p:cNvPr>
          <p:cNvCxnSpPr>
            <a:cxnSpLocks/>
            <a:stCxn id="3295" idx="6"/>
            <a:endCxn id="3326" idx="2"/>
          </p:cNvCxnSpPr>
          <p:nvPr/>
        </p:nvCxnSpPr>
        <p:spPr>
          <a:xfrm>
            <a:off x="3808246" y="4484669"/>
            <a:ext cx="116257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3" name="直接连接符 3332">
            <a:extLst>
              <a:ext uri="{FF2B5EF4-FFF2-40B4-BE49-F238E27FC236}">
                <a16:creationId xmlns:a16="http://schemas.microsoft.com/office/drawing/2014/main" id="{C3106EA1-D384-87ED-9259-454583658A89}"/>
              </a:ext>
            </a:extLst>
          </p:cNvPr>
          <p:cNvCxnSpPr>
            <a:cxnSpLocks/>
            <a:stCxn id="3327" idx="6"/>
            <a:endCxn id="3296" idx="2"/>
          </p:cNvCxnSpPr>
          <p:nvPr/>
        </p:nvCxnSpPr>
        <p:spPr>
          <a:xfrm>
            <a:off x="4282576" y="4484669"/>
            <a:ext cx="115389" cy="2200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6" name="直接连接符 3335">
            <a:extLst>
              <a:ext uri="{FF2B5EF4-FFF2-40B4-BE49-F238E27FC236}">
                <a16:creationId xmlns:a16="http://schemas.microsoft.com/office/drawing/2014/main" id="{00C9FB13-33F8-76A2-02F6-82395DD3D3F8}"/>
              </a:ext>
            </a:extLst>
          </p:cNvPr>
          <p:cNvCxnSpPr>
            <a:cxnSpLocks/>
            <a:stCxn id="3297" idx="6"/>
            <a:endCxn id="3328" idx="2"/>
          </p:cNvCxnSpPr>
          <p:nvPr/>
        </p:nvCxnSpPr>
        <p:spPr>
          <a:xfrm>
            <a:off x="3818638" y="5925498"/>
            <a:ext cx="122901" cy="2353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9" name="直接连接符 3338">
            <a:extLst>
              <a:ext uri="{FF2B5EF4-FFF2-40B4-BE49-F238E27FC236}">
                <a16:creationId xmlns:a16="http://schemas.microsoft.com/office/drawing/2014/main" id="{CB4854F6-E81A-966A-4307-FCE85C932C5B}"/>
              </a:ext>
            </a:extLst>
          </p:cNvPr>
          <p:cNvCxnSpPr>
            <a:cxnSpLocks/>
            <a:stCxn id="3329" idx="6"/>
            <a:endCxn id="3298" idx="2"/>
          </p:cNvCxnSpPr>
          <p:nvPr/>
        </p:nvCxnSpPr>
        <p:spPr>
          <a:xfrm flipV="1">
            <a:off x="4280814" y="5925498"/>
            <a:ext cx="117151" cy="901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44" name="组合 3343">
            <a:extLst>
              <a:ext uri="{FF2B5EF4-FFF2-40B4-BE49-F238E27FC236}">
                <a16:creationId xmlns:a16="http://schemas.microsoft.com/office/drawing/2014/main" id="{35A9D7F8-5A32-8325-E0D2-7CAA8D0C5ED4}"/>
              </a:ext>
            </a:extLst>
          </p:cNvPr>
          <p:cNvGrpSpPr/>
          <p:nvPr/>
        </p:nvGrpSpPr>
        <p:grpSpPr>
          <a:xfrm>
            <a:off x="540317" y="3852677"/>
            <a:ext cx="2420284" cy="645926"/>
            <a:chOff x="944683" y="5440100"/>
            <a:chExt cx="2420284" cy="645926"/>
          </a:xfrm>
        </p:grpSpPr>
        <p:grpSp>
          <p:nvGrpSpPr>
            <p:cNvPr id="3272" name="组合 3271">
              <a:extLst>
                <a:ext uri="{FF2B5EF4-FFF2-40B4-BE49-F238E27FC236}">
                  <a16:creationId xmlns:a16="http://schemas.microsoft.com/office/drawing/2014/main" id="{9A856CE2-4D8E-A5B0-0895-B0A3FE49D9B4}"/>
                </a:ext>
              </a:extLst>
            </p:cNvPr>
            <p:cNvGrpSpPr/>
            <p:nvPr/>
          </p:nvGrpSpPr>
          <p:grpSpPr>
            <a:xfrm>
              <a:off x="944683" y="5440100"/>
              <a:ext cx="2420284" cy="328255"/>
              <a:chOff x="1177467" y="2702667"/>
              <a:chExt cx="2420284" cy="328255"/>
            </a:xfrm>
          </p:grpSpPr>
          <p:sp>
            <p:nvSpPr>
              <p:cNvPr id="3273" name="文本框 3272">
                <a:extLst>
                  <a:ext uri="{FF2B5EF4-FFF2-40B4-BE49-F238E27FC236}">
                    <a16:creationId xmlns:a16="http://schemas.microsoft.com/office/drawing/2014/main" id="{DE2E4076-164F-87A8-1121-C97911561E98}"/>
                  </a:ext>
                </a:extLst>
              </p:cNvPr>
              <p:cNvSpPr txBox="1"/>
              <p:nvPr/>
            </p:nvSpPr>
            <p:spPr>
              <a:xfrm>
                <a:off x="1613598" y="2702667"/>
                <a:ext cx="1984153" cy="32825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 anchor="ctr">
                <a:noAutofit/>
              </a:bodyPr>
              <a:lstStyle/>
              <a:p>
                <a:pPr algn="ctr"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altLang="zh-CN" sz="1000" b="1" dirty="0"/>
                  <a:t>Optical interconnection  </a:t>
                </a:r>
                <a:endParaRPr kumimoji="1" lang="en-US" altLang="zh-CN" sz="1000" dirty="0">
                  <a:solidFill>
                    <a:srgbClr val="0052D9"/>
                  </a:solidFill>
                </a:endParaRPr>
              </a:p>
            </p:txBody>
          </p:sp>
          <p:cxnSp>
            <p:nvCxnSpPr>
              <p:cNvPr id="3274" name="直接连接符 3273">
                <a:extLst>
                  <a:ext uri="{FF2B5EF4-FFF2-40B4-BE49-F238E27FC236}">
                    <a16:creationId xmlns:a16="http://schemas.microsoft.com/office/drawing/2014/main" id="{8AAC3C28-8C07-26B3-FDB4-1E609F13A3F2}"/>
                  </a:ext>
                </a:extLst>
              </p:cNvPr>
              <p:cNvCxnSpPr/>
              <p:nvPr/>
            </p:nvCxnSpPr>
            <p:spPr>
              <a:xfrm>
                <a:off x="1177467" y="2886260"/>
                <a:ext cx="553272" cy="0"/>
              </a:xfrm>
              <a:prstGeom prst="line">
                <a:avLst/>
              </a:prstGeom>
              <a:ln w="19050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342" name="椭圆 3341">
              <a:extLst>
                <a:ext uri="{FF2B5EF4-FFF2-40B4-BE49-F238E27FC236}">
                  <a16:creationId xmlns:a16="http://schemas.microsoft.com/office/drawing/2014/main" id="{24369D3A-9BF2-5FF3-A8CD-A3EDA71406D6}"/>
                </a:ext>
              </a:extLst>
            </p:cNvPr>
            <p:cNvSpPr/>
            <p:nvPr/>
          </p:nvSpPr>
          <p:spPr>
            <a:xfrm>
              <a:off x="1179356" y="5877079"/>
              <a:ext cx="92491" cy="92491"/>
            </a:xfrm>
            <a:prstGeom prst="ellipse">
              <a:avLst/>
            </a:prstGeom>
            <a:solidFill>
              <a:srgbClr val="FF7201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3" name="文本框 3342">
              <a:extLst>
                <a:ext uri="{FF2B5EF4-FFF2-40B4-BE49-F238E27FC236}">
                  <a16:creationId xmlns:a16="http://schemas.microsoft.com/office/drawing/2014/main" id="{041519C8-2767-A6EB-435B-BCA6F0866A05}"/>
                </a:ext>
              </a:extLst>
            </p:cNvPr>
            <p:cNvSpPr txBox="1"/>
            <p:nvPr/>
          </p:nvSpPr>
          <p:spPr>
            <a:xfrm>
              <a:off x="1380814" y="5757771"/>
              <a:ext cx="1984153" cy="328255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600"/>
                </a:spcBef>
                <a:spcAft>
                  <a:spcPts val="600"/>
                </a:spcAft>
              </a:pPr>
              <a:r>
                <a:rPr lang="en-US" altLang="zh-CN" sz="1000" b="1" dirty="0"/>
                <a:t>Optical module </a:t>
              </a:r>
              <a:endParaRPr kumimoji="1" lang="en-US" altLang="zh-CN" sz="1000" dirty="0">
                <a:solidFill>
                  <a:srgbClr val="0052D9"/>
                </a:solidFill>
              </a:endParaRPr>
            </a:p>
          </p:txBody>
        </p:sp>
      </p:grpSp>
      <p:sp>
        <p:nvSpPr>
          <p:cNvPr id="3351" name="矩形 3350">
            <a:extLst>
              <a:ext uri="{FF2B5EF4-FFF2-40B4-BE49-F238E27FC236}">
                <a16:creationId xmlns:a16="http://schemas.microsoft.com/office/drawing/2014/main" id="{5BE43975-8665-111F-5AC9-5F046225065B}"/>
              </a:ext>
            </a:extLst>
          </p:cNvPr>
          <p:cNvSpPr/>
          <p:nvPr/>
        </p:nvSpPr>
        <p:spPr>
          <a:xfrm>
            <a:off x="12346623" y="2997731"/>
            <a:ext cx="3664561" cy="267840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简单的制约三角形（可以放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），距离、信息损耗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(BER 40%)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每机架增加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增长率，对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NVL72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意味着什么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现状是什么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AutoNum type="arabicPeriod"/>
            </a:pP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，省功耗到底意味着什么，功耗整体会降低多少？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4D12E94-372A-6304-56F5-8582FDD68E94}"/>
              </a:ext>
            </a:extLst>
          </p:cNvPr>
          <p:cNvSpPr txBox="1"/>
          <p:nvPr/>
        </p:nvSpPr>
        <p:spPr>
          <a:xfrm>
            <a:off x="5970588" y="827088"/>
            <a:ext cx="5222875" cy="3270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功耗、速率、距离取舍：光模块在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优先适配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17F45F6-F4FA-1297-D368-B356815BA024}"/>
              </a:ext>
            </a:extLst>
          </p:cNvPr>
          <p:cNvSpPr txBox="1"/>
          <p:nvPr/>
        </p:nvSpPr>
        <p:spPr>
          <a:xfrm>
            <a:off x="6073775" y="1343025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暂不适配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：光互联功耗随速度增长显著上升，如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NVL72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因光学链路功耗过高（每机架增加</a:t>
            </a:r>
            <a:r>
              <a:rPr lang="en-US" altLang="zh-CN" sz="1600" dirty="0">
                <a:solidFill>
                  <a:schemeClr val="accent6">
                    <a:lumMod val="10000"/>
                  </a:schemeClr>
                </a:solidFill>
              </a:rPr>
              <a:t>20kW</a:t>
            </a:r>
            <a:r>
              <a:rPr lang="zh-CN" altLang="en-US" sz="1600" dirty="0">
                <a:solidFill>
                  <a:schemeClr val="accent6">
                    <a:lumMod val="10000"/>
                  </a:schemeClr>
                </a:solidFill>
              </a:rPr>
              <a:t>）只能采用铜互连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5DF8B30-922E-9F3B-9372-41F7C7F3EBAB}"/>
              </a:ext>
            </a:extLst>
          </p:cNvPr>
          <p:cNvSpPr txBox="1"/>
          <p:nvPr/>
        </p:nvSpPr>
        <p:spPr>
          <a:xfrm>
            <a:off x="3992284" y="3875472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B189EAF-EE58-88C4-6121-2AED1E173B80}"/>
              </a:ext>
            </a:extLst>
          </p:cNvPr>
          <p:cNvSpPr txBox="1"/>
          <p:nvPr/>
        </p:nvSpPr>
        <p:spPr>
          <a:xfrm>
            <a:off x="3669264" y="6197720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E19F3A3-6352-A349-D37E-3FE8F1567F57}"/>
              </a:ext>
            </a:extLst>
          </p:cNvPr>
          <p:cNvSpPr txBox="1"/>
          <p:nvPr/>
        </p:nvSpPr>
        <p:spPr>
          <a:xfrm>
            <a:off x="4010716" y="6197719"/>
            <a:ext cx="554199" cy="32825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kumimoji="1" lang="en-US" altLang="zh-CN" sz="800" dirty="0">
                <a:solidFill>
                  <a:schemeClr val="tx1">
                    <a:lumMod val="50000"/>
                  </a:schemeClr>
                </a:solidFill>
              </a:rPr>
              <a:t>Switch</a:t>
            </a:r>
            <a:endParaRPr kumimoji="1" lang="en-US" altLang="zh-CN" sz="800" dirty="0">
              <a:solidFill>
                <a:srgbClr val="0052D9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271CA81-E195-4738-53AF-31B3C38B5CB7}"/>
              </a:ext>
            </a:extLst>
          </p:cNvPr>
          <p:cNvSpPr txBox="1"/>
          <p:nvPr/>
        </p:nvSpPr>
        <p:spPr>
          <a:xfrm>
            <a:off x="6067426" y="3759200"/>
            <a:ext cx="52689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适配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：传输速率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2x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&lt;=&gt; 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传输距离减少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30-50%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，导致超过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米的连接需采用光互连取代铜互连。（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vs FPP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）</a:t>
            </a:r>
            <a:endParaRPr kumimoji="1" lang="en-US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3508" name="Chart 3">
            <a:extLst>
              <a:ext uri="{FF2B5EF4-FFF2-40B4-BE49-F238E27FC236}">
                <a16:creationId xmlns:a16="http://schemas.microsoft.com/office/drawing/2014/main" id="{26788F83-CD79-4ACE-A391-C8C309FB56E3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5967947"/>
              </p:ext>
            </p:extLst>
          </p:nvPr>
        </p:nvGraphicFramePr>
        <p:xfrm>
          <a:off x="6361113" y="2249488"/>
          <a:ext cx="4359275" cy="140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3420" name="直接连接符 3419">
            <a:extLst>
              <a:ext uri="{FF2B5EF4-FFF2-40B4-BE49-F238E27FC236}">
                <a16:creationId xmlns:a16="http://schemas.microsoft.com/office/drawing/2014/main" id="{9BED46AA-73B5-23D3-2125-D3F5F4AFC3C4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9826625" y="2133600"/>
            <a:ext cx="0" cy="566738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1" name="直接连接符 3420">
            <a:extLst>
              <a:ext uri="{FF2B5EF4-FFF2-40B4-BE49-F238E27FC236}">
                <a16:creationId xmlns:a16="http://schemas.microsoft.com/office/drawing/2014/main" id="{8F2C8DD2-D67B-5980-73D8-918B694701B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9826625" y="2133600"/>
            <a:ext cx="53975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22" name="直接连接符 3421">
            <a:extLst>
              <a:ext uri="{FF2B5EF4-FFF2-40B4-BE49-F238E27FC236}">
                <a16:creationId xmlns:a16="http://schemas.microsoft.com/office/drawing/2014/main" id="{67377BA1-1E50-1866-5A4E-B6E096EE5D9B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>
            <a:off x="10366375" y="2133600"/>
            <a:ext cx="0" cy="3032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294" name="Text Placeholder 4">
            <a:extLst>
              <a:ext uri="{FF2B5EF4-FFF2-40B4-BE49-F238E27FC236}">
                <a16:creationId xmlns:a16="http://schemas.microsoft.com/office/drawing/2014/main" id="{7F2740C2-AA09-A4F0-6A85-1D102556672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7070725" y="3405188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C475EC3-683F-4F67-8116-B29F93B345CD}" type="datetime'''''''''''''''''''''''''''''''1''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299" name="Text Placeholder 4">
            <a:extLst>
              <a:ext uri="{FF2B5EF4-FFF2-40B4-BE49-F238E27FC236}">
                <a16:creationId xmlns:a16="http://schemas.microsoft.com/office/drawing/2014/main" id="{6461AB6D-05AC-F3BB-B944-CA0D42E37B83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auto">
          <a:xfrm>
            <a:off x="756126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042603C-FF20-45F3-91FB-FD2CAC855BA2}" type="datetime'''''''''''''''''''''''''''''''''''''''''''1''''''''''''0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0" name="Text Placeholder 4">
            <a:extLst>
              <a:ext uri="{FF2B5EF4-FFF2-40B4-BE49-F238E27FC236}">
                <a16:creationId xmlns:a16="http://schemas.microsoft.com/office/drawing/2014/main" id="{7AF25117-69B7-F6EF-B5CE-0CC3CE8C5650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auto">
          <a:xfrm>
            <a:off x="8101013" y="3405188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28959A9-BB07-4F93-9DCE-40E63A7CAF1A}" type="datetime'4''''''''''''''''''''''''''''''''''''''''''0'''''">
              <a:rPr lang="zh-CN" altLang="en-US" sz="1400" smtClean="0">
                <a:cs typeface="+mn-cs"/>
              </a:rPr>
              <a:pPr/>
              <a:t>40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6" name="Text Placeholder 4">
            <a:extLst>
              <a:ext uri="{FF2B5EF4-FFF2-40B4-BE49-F238E27FC236}">
                <a16:creationId xmlns:a16="http://schemas.microsoft.com/office/drawing/2014/main" id="{0A0F2972-5969-7C14-2265-B5FB0D67089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85931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07D7B08-8A28-4D1D-8757-D8078690525A}" type="datetime'''''''''''''''''''''10''''''''''''''''''''0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8" name="Text Placeholder 4">
            <a:extLst>
              <a:ext uri="{FF2B5EF4-FFF2-40B4-BE49-F238E27FC236}">
                <a16:creationId xmlns:a16="http://schemas.microsoft.com/office/drawing/2014/main" id="{E3B9608E-53A5-59DC-81E1-8E2CE975CD34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auto">
          <a:xfrm>
            <a:off x="91328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53AD261-03C4-4BCF-B050-8E555F298E3C}" type="datetime'2''''''''''''''''''''''''''0''''''''''''0''''''''''''''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09" name="Text Placeholder 4">
            <a:extLst>
              <a:ext uri="{FF2B5EF4-FFF2-40B4-BE49-F238E27FC236}">
                <a16:creationId xmlns:a16="http://schemas.microsoft.com/office/drawing/2014/main" id="{C959A55A-73AF-7C73-6D5A-FF7A4FDDF355}"/>
              </a:ext>
            </a:extLst>
          </p:cNvPr>
          <p:cNvSpPr>
            <a:spLocks/>
          </p:cNvSpPr>
          <p:nvPr>
            <p:custDataLst>
              <p:tags r:id="rId11"/>
            </p:custDataLst>
          </p:nvPr>
        </p:nvSpPr>
        <p:spPr bwMode="auto">
          <a:xfrm>
            <a:off x="967263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61BDB9E-66BC-4B87-BBF4-A6287BDED399}" type="datetime'''4''''''''''''''''''''''''''''0''''''0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311" name="Text Placeholder 4">
            <a:extLst>
              <a:ext uri="{FF2B5EF4-FFF2-40B4-BE49-F238E27FC236}">
                <a16:creationId xmlns:a16="http://schemas.microsoft.com/office/drawing/2014/main" id="{C7734629-A51C-B7AB-8AC3-2184CFD71794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auto">
          <a:xfrm>
            <a:off x="10212388" y="3405188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0B71B0D-2E04-4E15-8B39-833BDE05E7D6}" type="datetime'''''''''''''''''8''0''0''''''''''''''''''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19" name="Text Placeholder 4">
            <a:extLst>
              <a:ext uri="{FF2B5EF4-FFF2-40B4-BE49-F238E27FC236}">
                <a16:creationId xmlns:a16="http://schemas.microsoft.com/office/drawing/2014/main" id="{3138382D-83D8-3E47-8156-554201C01C1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9772650" y="1982788"/>
            <a:ext cx="649288" cy="301625"/>
          </a:xfrm>
          <a:prstGeom prst="ellipse">
            <a:avLst/>
          </a:prstGeom>
          <a:solidFill>
            <a:schemeClr val="bg1"/>
          </a:solidFill>
          <a:ln w="9525" cmpd="sng" algn="ctr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54794A5-5734-4ECA-8C79-69548A450634}" type="datetime'''''+''''''''''''''''''''''''''7''''''''''''''1''%'''''''''">
              <a:rPr lang="en-US" altLang="en-US" sz="1400" b="1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+71%</a:t>
            </a:fld>
            <a:endParaRPr lang="zh-CN" altLang="en-US" sz="1400" b="1" dirty="0">
              <a:cs typeface="+mn-cs"/>
            </a:endParaRPr>
          </a:p>
        </p:txBody>
      </p:sp>
      <p:sp>
        <p:nvSpPr>
          <p:cNvPr id="3410" name="Text Placeholder 4">
            <a:extLst>
              <a:ext uri="{FF2B5EF4-FFF2-40B4-BE49-F238E27FC236}">
                <a16:creationId xmlns:a16="http://schemas.microsoft.com/office/drawing/2014/main" id="{007AB20E-ED6B-AB1E-C24A-25ABB6B215F8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5705475" y="2149475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Power(w)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17" name="Text Placeholder 4">
            <a:extLst>
              <a:ext uri="{FF2B5EF4-FFF2-40B4-BE49-F238E27FC236}">
                <a16:creationId xmlns:a16="http://schemas.microsoft.com/office/drawing/2014/main" id="{2C559342-640F-7DE5-32C2-90C2A08D54E6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10261600" y="321786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Optical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graphicFrame>
        <p:nvGraphicFramePr>
          <p:cNvPr id="3509" name="Chart 3">
            <a:extLst>
              <a:ext uri="{FF2B5EF4-FFF2-40B4-BE49-F238E27FC236}">
                <a16:creationId xmlns:a16="http://schemas.microsoft.com/office/drawing/2014/main" id="{52E0FBC3-254A-29A0-1D0C-213D5AF0FD6A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682468365"/>
              </p:ext>
            </p:extLst>
          </p:nvPr>
        </p:nvGraphicFramePr>
        <p:xfrm>
          <a:off x="6257925" y="4610100"/>
          <a:ext cx="4359275" cy="1744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3444" name="Text Placeholder 4">
            <a:extLst>
              <a:ext uri="{FF2B5EF4-FFF2-40B4-BE49-F238E27FC236}">
                <a16:creationId xmlns:a16="http://schemas.microsoft.com/office/drawing/2014/main" id="{72797912-6E63-436B-3583-04CE24E2CA21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auto">
          <a:xfrm>
            <a:off x="6935788" y="6107113"/>
            <a:ext cx="1111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994EDF5-41AB-44C9-8643-CCA0385B3F12}" type="datetime'''''''''''''''''''''''''''''''''1'''''''''''''''''''">
              <a:rPr lang="zh-CN" altLang="en-US" sz="1400" smtClean="0">
                <a:cs typeface="+mn-cs"/>
              </a:rPr>
              <a:pPr/>
              <a:t>1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5" name="Text Placeholder 4">
            <a:extLst>
              <a:ext uri="{FF2B5EF4-FFF2-40B4-BE49-F238E27FC236}">
                <a16:creationId xmlns:a16="http://schemas.microsoft.com/office/drawing/2014/main" id="{80B96D4A-FB41-A054-CDC8-CDB86D75FC46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7358063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E87BC156-6677-4CB3-9399-E9004E5B2912}" type="datetime'''''1''''''''0'''''''''''''''''''''''''''''''''''''''''''''''">
              <a:rPr lang="zh-CN" altLang="en-US" sz="1400" smtClean="0">
                <a:cs typeface="+mn-cs"/>
              </a:rPr>
              <a:pPr/>
              <a:t>10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6" name="Text Placeholder 4">
            <a:extLst>
              <a:ext uri="{FF2B5EF4-FFF2-40B4-BE49-F238E27FC236}">
                <a16:creationId xmlns:a16="http://schemas.microsoft.com/office/drawing/2014/main" id="{4C1B1431-2782-F9D1-12C2-180A0035D77A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auto">
          <a:xfrm>
            <a:off x="7831138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AA3DA8E2-C6B5-45A5-BEA6-5B5B3D1B543C}" type="datetime'''''2''5'''''''''''''''''''''''''''''''''''''''''">
              <a:rPr lang="zh-CN" altLang="en-US" sz="1400" smtClean="0">
                <a:cs typeface="+mn-cs"/>
              </a:rPr>
              <a:pPr/>
              <a:t>25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7" name="Text Placeholder 4">
            <a:extLst>
              <a:ext uri="{FF2B5EF4-FFF2-40B4-BE49-F238E27FC236}">
                <a16:creationId xmlns:a16="http://schemas.microsoft.com/office/drawing/2014/main" id="{86A5CBFB-9E2E-027F-A5D6-159915B44938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8304213" y="6107113"/>
            <a:ext cx="2095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3A007A98-CBC8-4E33-9DEE-1626D01E11A1}" type="datetime'''''''''''''''''''''''''''''50'''''''''''''''''''''''''''''''">
              <a:rPr lang="zh-CN" altLang="en-US" sz="1400" smtClean="0">
                <a:cs typeface="+mn-cs"/>
              </a:rPr>
              <a:pPr/>
              <a:t>50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8" name="Text Placeholder 4">
            <a:extLst>
              <a:ext uri="{FF2B5EF4-FFF2-40B4-BE49-F238E27FC236}">
                <a16:creationId xmlns:a16="http://schemas.microsoft.com/office/drawing/2014/main" id="{2C85E045-1066-0239-CBA1-8280E91C3B51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8726488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E642F2F-4453-40F9-9AED-F23E8C4F1CD3}" type="datetime'''''''''''''''''''''1''''''''''''''''''0''''''0'''''''''''''''">
              <a:rPr lang="zh-CN" altLang="en-US" sz="1400" smtClean="0">
                <a:cs typeface="+mn-cs"/>
              </a:rPr>
              <a:pPr/>
              <a:t>100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49" name="Text Placeholder 4">
            <a:extLst>
              <a:ext uri="{FF2B5EF4-FFF2-40B4-BE49-F238E27FC236}">
                <a16:creationId xmlns:a16="http://schemas.microsoft.com/office/drawing/2014/main" id="{1685C138-6FA6-B16D-F90A-152B67C65AEF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9199563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F58903A-B35F-4D96-A381-62AC7A4C2E3E}" type="datetime'''''''2''''''''''''''''''''''''''''''''''0''''''''''''''0'''''">
              <a:rPr lang="zh-CN" altLang="en-US" sz="1400" smtClean="0">
                <a:cs typeface="+mn-cs"/>
              </a:rPr>
              <a:pPr/>
              <a:t>200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0" name="Text Placeholder 4">
            <a:extLst>
              <a:ext uri="{FF2B5EF4-FFF2-40B4-BE49-F238E27FC236}">
                <a16:creationId xmlns:a16="http://schemas.microsoft.com/office/drawing/2014/main" id="{82DADAD9-6E5E-938D-63D5-1E30E459FE8C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9671050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B72D465-9580-42E3-BF8B-1CFE1481F805}" type="datetime'''''''''''''4''''''''''0''''''''''''''''''0'''''''">
              <a:rPr lang="zh-CN" altLang="en-US" sz="1400" smtClean="0">
                <a:cs typeface="+mn-cs"/>
              </a:rPr>
              <a:pPr/>
              <a:t>400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66" name="Text Placeholder 4">
            <a:extLst>
              <a:ext uri="{FF2B5EF4-FFF2-40B4-BE49-F238E27FC236}">
                <a16:creationId xmlns:a16="http://schemas.microsoft.com/office/drawing/2014/main" id="{A4A8FC49-328B-C548-1B80-AD77FAFD4B9D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10144125" y="6107113"/>
            <a:ext cx="3079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EDD58C0-EF92-49F3-B103-5C87F3B42B6C}" type="datetime'''''''''''''''''8''''0''''''''''''''''''''''''''''''''0'">
              <a:rPr lang="zh-CN" altLang="en-US" sz="1400" smtClean="0">
                <a:cs typeface="+mn-cs"/>
              </a:rPr>
              <a:pPr/>
              <a:t>800</a:t>
            </a:fld>
            <a:endParaRPr lang="zh-CN" altLang="en-US" sz="1400" dirty="0">
              <a:cs typeface="+mn-cs"/>
            </a:endParaRPr>
          </a:p>
        </p:txBody>
      </p:sp>
      <p:sp>
        <p:nvSpPr>
          <p:cNvPr id="3452" name="Text Placeholder 4">
            <a:extLst>
              <a:ext uri="{FF2B5EF4-FFF2-40B4-BE49-F238E27FC236}">
                <a16:creationId xmlns:a16="http://schemas.microsoft.com/office/drawing/2014/main" id="{1BE121C2-4A87-460E-2F78-3438CE499B7A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6059488" y="444341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Maximum Reach(m)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53" name="Text Placeholder 4">
            <a:extLst>
              <a:ext uri="{FF2B5EF4-FFF2-40B4-BE49-F238E27FC236}">
                <a16:creationId xmlns:a16="http://schemas.microsoft.com/office/drawing/2014/main" id="{CF45473B-42F9-8DA6-227B-4BEF3DFCB5A3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0225088" y="5916613"/>
            <a:ext cx="1679575" cy="274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800" b="0" kern="1200" dirty="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Copper Link Speed(Gbps)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497" name="文本框 3496">
            <a:extLst>
              <a:ext uri="{FF2B5EF4-FFF2-40B4-BE49-F238E27FC236}">
                <a16:creationId xmlns:a16="http://schemas.microsoft.com/office/drawing/2014/main" id="{933520FC-8344-BA84-72A1-58A40D111CDE}"/>
              </a:ext>
            </a:extLst>
          </p:cNvPr>
          <p:cNvSpPr txBox="1"/>
          <p:nvPr/>
        </p:nvSpPr>
        <p:spPr>
          <a:xfrm>
            <a:off x="550345" y="6547480"/>
            <a:ext cx="6536586" cy="28124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Microsoft Research</a:t>
            </a:r>
            <a:endParaRPr kumimoji="1" lang="en-US" altLang="zh-CN" sz="12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04" name="圆角矩形 1636">
            <a:extLst>
              <a:ext uri="{FF2B5EF4-FFF2-40B4-BE49-F238E27FC236}">
                <a16:creationId xmlns:a16="http://schemas.microsoft.com/office/drawing/2014/main" id="{DFA49951-B435-2A87-61EA-557436B70C87}"/>
              </a:ext>
            </a:extLst>
          </p:cNvPr>
          <p:cNvSpPr/>
          <p:nvPr/>
        </p:nvSpPr>
        <p:spPr>
          <a:xfrm>
            <a:off x="447166" y="1207041"/>
            <a:ext cx="5096385" cy="2060430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5" name="圆角矩形 1636">
            <a:extLst>
              <a:ext uri="{FF2B5EF4-FFF2-40B4-BE49-F238E27FC236}">
                <a16:creationId xmlns:a16="http://schemas.microsoft.com/office/drawing/2014/main" id="{7B4B2382-0288-D711-C157-0DC013B7E556}"/>
              </a:ext>
            </a:extLst>
          </p:cNvPr>
          <p:cNvSpPr/>
          <p:nvPr/>
        </p:nvSpPr>
        <p:spPr>
          <a:xfrm>
            <a:off x="448597" y="3791594"/>
            <a:ext cx="5096385" cy="2767204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06" name="圆角矩形 1636">
            <a:extLst>
              <a:ext uri="{FF2B5EF4-FFF2-40B4-BE49-F238E27FC236}">
                <a16:creationId xmlns:a16="http://schemas.microsoft.com/office/drawing/2014/main" id="{0305D1A5-CBDD-690B-42EC-00E749CBAE5A}"/>
              </a:ext>
            </a:extLst>
          </p:cNvPr>
          <p:cNvSpPr/>
          <p:nvPr/>
        </p:nvSpPr>
        <p:spPr>
          <a:xfrm>
            <a:off x="5907128" y="1171575"/>
            <a:ext cx="5813425" cy="5387975"/>
          </a:xfrm>
          <a:prstGeom prst="roundRect">
            <a:avLst>
              <a:gd name="adj" fmla="val 3523"/>
            </a:avLst>
          </a:prstGeom>
          <a:noFill/>
          <a:ln w="6350" cap="sq">
            <a:solidFill>
              <a:schemeClr val="tx1">
                <a:lumMod val="50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0711D0B-E8F3-C1FA-23C3-A53924AC36DE}"/>
              </a:ext>
            </a:extLst>
          </p:cNvPr>
          <p:cNvSpPr/>
          <p:nvPr/>
        </p:nvSpPr>
        <p:spPr>
          <a:xfrm>
            <a:off x="12346623" y="256415"/>
            <a:ext cx="3546661" cy="129463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提前，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重要，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大矛盾：带宽、功耗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互连跟进</a:t>
            </a:r>
          </a:p>
        </p:txBody>
      </p:sp>
    </p:spTree>
    <p:extLst>
      <p:ext uri="{BB962C8B-B14F-4D97-AF65-F5344CB8AC3E}">
        <p14:creationId xmlns:p14="http://schemas.microsoft.com/office/powerpoint/2010/main" val="20450389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FF6C40-2E68-1E93-CF1C-750C7D846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4FC8A3E0-0CA0-C767-446E-C6D3AE926F5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142566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BC957F2-C96F-B8BD-0407-49505FC2A9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0" name="矩形 109">
            <a:extLst>
              <a:ext uri="{FF2B5EF4-FFF2-40B4-BE49-F238E27FC236}">
                <a16:creationId xmlns:a16="http://schemas.microsoft.com/office/drawing/2014/main" id="{3208FF9C-68D9-51D7-D13F-47B026856424}"/>
              </a:ext>
            </a:extLst>
          </p:cNvPr>
          <p:cNvSpPr/>
          <p:nvPr/>
        </p:nvSpPr>
        <p:spPr>
          <a:xfrm>
            <a:off x="1653998" y="4897753"/>
            <a:ext cx="9719937" cy="1022203"/>
          </a:xfrm>
          <a:prstGeom prst="rect">
            <a:avLst/>
          </a:prstGeom>
          <a:noFill/>
          <a:ln>
            <a:solidFill>
              <a:srgbClr val="0052D9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7C7B16E-048E-6EFA-F314-B428F2289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巨头并行布局，</a:t>
            </a:r>
            <a:r>
              <a:rPr lang="en-US" altLang="zh-CN" dirty="0"/>
              <a:t>CPO</a:t>
            </a:r>
            <a:r>
              <a:rPr lang="zh-CN" altLang="en-US" dirty="0"/>
              <a:t>落地</a:t>
            </a:r>
            <a:r>
              <a:rPr lang="en-US" altLang="zh-CN" dirty="0"/>
              <a:t>1-2</a:t>
            </a:r>
            <a:r>
              <a:rPr lang="zh-CN" altLang="en-US" dirty="0"/>
              <a:t>年内看</a:t>
            </a:r>
            <a:r>
              <a:rPr lang="en-US" altLang="zh-CN" dirty="0"/>
              <a:t>Scale Out</a:t>
            </a:r>
            <a:endParaRPr lang="zh-CN" altLang="en-US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066ECEC-3ADE-3292-D801-54C86A95723B}"/>
              </a:ext>
            </a:extLst>
          </p:cNvPr>
          <p:cNvSpPr/>
          <p:nvPr/>
        </p:nvSpPr>
        <p:spPr>
          <a:xfrm>
            <a:off x="12423165" y="2570534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时间上的判断？短期 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vs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长期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考虑分成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页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补充大厂当前所处的阶段，比如博通、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 +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内部证据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NV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先用铜堆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，发布的两个机型都是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。分成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两条线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6CBD7E81-A494-6AAD-5CAB-C52B7178334D}"/>
              </a:ext>
            </a:extLst>
          </p:cNvPr>
          <p:cNvSpPr txBox="1"/>
          <p:nvPr/>
        </p:nvSpPr>
        <p:spPr>
          <a:xfrm>
            <a:off x="425161" y="1413385"/>
            <a:ext cx="936104" cy="187921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战略定位</a:t>
            </a: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D928BE40-AAC7-2266-E2D1-DBE481179513}"/>
              </a:ext>
            </a:extLst>
          </p:cNvPr>
          <p:cNvSpPr txBox="1"/>
          <p:nvPr/>
        </p:nvSpPr>
        <p:spPr>
          <a:xfrm>
            <a:off x="417686" y="3953258"/>
            <a:ext cx="936104" cy="821294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cxnSp>
        <p:nvCxnSpPr>
          <p:cNvPr id="45" name="直线连接符 8">
            <a:extLst>
              <a:ext uri="{FF2B5EF4-FFF2-40B4-BE49-F238E27FC236}">
                <a16:creationId xmlns:a16="http://schemas.microsoft.com/office/drawing/2014/main" id="{322F88D2-71EE-E0EC-7ABF-1C47DF926C22}"/>
              </a:ext>
            </a:extLst>
          </p:cNvPr>
          <p:cNvCxnSpPr>
            <a:cxnSpLocks/>
          </p:cNvCxnSpPr>
          <p:nvPr/>
        </p:nvCxnSpPr>
        <p:spPr>
          <a:xfrm>
            <a:off x="1722234" y="3454405"/>
            <a:ext cx="9651701" cy="0"/>
          </a:xfrm>
          <a:prstGeom prst="line">
            <a:avLst/>
          </a:prstGeom>
          <a:ln w="6350" cap="flat">
            <a:solidFill>
              <a:schemeClr val="tx1"/>
            </a:solidFill>
            <a:prstDash val="lgDash"/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线连接符 30">
            <a:extLst>
              <a:ext uri="{FF2B5EF4-FFF2-40B4-BE49-F238E27FC236}">
                <a16:creationId xmlns:a16="http://schemas.microsoft.com/office/drawing/2014/main" id="{C932ED26-1282-C5B1-BD34-D6C92E8AA917}"/>
              </a:ext>
            </a:extLst>
          </p:cNvPr>
          <p:cNvCxnSpPr>
            <a:cxnSpLocks/>
          </p:cNvCxnSpPr>
          <p:nvPr/>
        </p:nvCxnSpPr>
        <p:spPr>
          <a:xfrm>
            <a:off x="6550109" y="1267864"/>
            <a:ext cx="4735207" cy="16945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文本框 46">
            <a:extLst>
              <a:ext uri="{FF2B5EF4-FFF2-40B4-BE49-F238E27FC236}">
                <a16:creationId xmlns:a16="http://schemas.microsoft.com/office/drawing/2014/main" id="{D91B4777-F700-A999-A441-5B04853892C8}"/>
              </a:ext>
            </a:extLst>
          </p:cNvPr>
          <p:cNvSpPr txBox="1"/>
          <p:nvPr/>
        </p:nvSpPr>
        <p:spPr>
          <a:xfrm>
            <a:off x="6550277" y="1363730"/>
            <a:ext cx="2433271" cy="2518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cxnSp>
        <p:nvCxnSpPr>
          <p:cNvPr id="52" name="直线连接符 34">
            <a:extLst>
              <a:ext uri="{FF2B5EF4-FFF2-40B4-BE49-F238E27FC236}">
                <a16:creationId xmlns:a16="http://schemas.microsoft.com/office/drawing/2014/main" id="{6DD553CC-7B98-C852-D6FA-8EC2FB7529E2}"/>
              </a:ext>
            </a:extLst>
          </p:cNvPr>
          <p:cNvCxnSpPr>
            <a:cxnSpLocks/>
          </p:cNvCxnSpPr>
          <p:nvPr/>
        </p:nvCxnSpPr>
        <p:spPr>
          <a:xfrm>
            <a:off x="1845240" y="1284809"/>
            <a:ext cx="3981449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本框 54">
            <a:extLst>
              <a:ext uri="{FF2B5EF4-FFF2-40B4-BE49-F238E27FC236}">
                <a16:creationId xmlns:a16="http://schemas.microsoft.com/office/drawing/2014/main" id="{8495683D-ACD8-6EC3-BE9F-61E2A87DD8FB}"/>
              </a:ext>
            </a:extLst>
          </p:cNvPr>
          <p:cNvSpPr txBox="1"/>
          <p:nvPr/>
        </p:nvSpPr>
        <p:spPr>
          <a:xfrm>
            <a:off x="1802912" y="2798608"/>
            <a:ext cx="4154305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GTC 2025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着重介绍了其与台积电等合作伙伴开发的首款基于1.6T硅光引擎的CPO交换机系列</a:t>
            </a:r>
          </a:p>
          <a:p>
            <a:pPr marL="182563" indent="-182563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zh-CN" altLang="zh-CN" sz="1400" dirty="0">
              <a:solidFill>
                <a:schemeClr val="tx1">
                  <a:lumMod val="50000"/>
                </a:schemeClr>
              </a:solidFill>
            </a:endParaRPr>
          </a:p>
          <a:p>
            <a:pPr marL="182563" indent="-182563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75791427-A387-F439-75A5-EE91C05AF97C}"/>
              </a:ext>
            </a:extLst>
          </p:cNvPr>
          <p:cNvSpPr txBox="1"/>
          <p:nvPr/>
        </p:nvSpPr>
        <p:spPr>
          <a:xfrm>
            <a:off x="1237543" y="4580647"/>
            <a:ext cx="3189810" cy="572571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en-US" altLang="zh-CN" sz="1400" i="1" dirty="0">
              <a:solidFill>
                <a:srgbClr val="0052D9"/>
              </a:solidFill>
            </a:endParaRPr>
          </a:p>
        </p:txBody>
      </p:sp>
      <p:pic>
        <p:nvPicPr>
          <p:cNvPr id="63" name="图片 62">
            <a:extLst>
              <a:ext uri="{FF2B5EF4-FFF2-40B4-BE49-F238E27FC236}">
                <a16:creationId xmlns:a16="http://schemas.microsoft.com/office/drawing/2014/main" id="{E10AEF8E-3571-0E3B-85EC-71C1CB66EF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4487" y="938044"/>
            <a:ext cx="443699" cy="319247"/>
          </a:xfrm>
          <a:prstGeom prst="rect">
            <a:avLst/>
          </a:prstGeom>
        </p:spPr>
      </p:pic>
      <p:pic>
        <p:nvPicPr>
          <p:cNvPr id="65" name="图片 64">
            <a:extLst>
              <a:ext uri="{FF2B5EF4-FFF2-40B4-BE49-F238E27FC236}">
                <a16:creationId xmlns:a16="http://schemas.microsoft.com/office/drawing/2014/main" id="{748A04B3-2207-3AFC-831B-3AE97C714D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88186" y="991534"/>
            <a:ext cx="740492" cy="199933"/>
          </a:xfrm>
          <a:prstGeom prst="rect">
            <a:avLst/>
          </a:prstGeom>
        </p:spPr>
      </p:pic>
      <p:pic>
        <p:nvPicPr>
          <p:cNvPr id="67" name="图片 66">
            <a:extLst>
              <a:ext uri="{FF2B5EF4-FFF2-40B4-BE49-F238E27FC236}">
                <a16:creationId xmlns:a16="http://schemas.microsoft.com/office/drawing/2014/main" id="{22A9EC61-E86A-883B-A8E2-27388097512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0109" y="930790"/>
            <a:ext cx="339635" cy="326050"/>
          </a:xfrm>
          <a:prstGeom prst="rect">
            <a:avLst/>
          </a:prstGeom>
        </p:spPr>
      </p:pic>
      <p:pic>
        <p:nvPicPr>
          <p:cNvPr id="69" name="图片 68">
            <a:extLst>
              <a:ext uri="{FF2B5EF4-FFF2-40B4-BE49-F238E27FC236}">
                <a16:creationId xmlns:a16="http://schemas.microsoft.com/office/drawing/2014/main" id="{763E55EF-68B0-BF58-5961-DC83355B5A6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39806" y="1015680"/>
            <a:ext cx="1072772" cy="156270"/>
          </a:xfrm>
          <a:prstGeom prst="rect">
            <a:avLst/>
          </a:prstGeom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B96B9A1B-1518-781A-49DE-12799E2079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637" t="13248" r="15583" b="17177"/>
          <a:stretch/>
        </p:blipFill>
        <p:spPr bwMode="auto">
          <a:xfrm>
            <a:off x="1780516" y="5169271"/>
            <a:ext cx="460324" cy="282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文本框 91">
            <a:extLst>
              <a:ext uri="{FF2B5EF4-FFF2-40B4-BE49-F238E27FC236}">
                <a16:creationId xmlns:a16="http://schemas.microsoft.com/office/drawing/2014/main" id="{0F67BECB-F069-2C4B-A71D-0831D86D9C32}"/>
              </a:ext>
            </a:extLst>
          </p:cNvPr>
          <p:cNvSpPr txBox="1"/>
          <p:nvPr/>
        </p:nvSpPr>
        <p:spPr>
          <a:xfrm>
            <a:off x="2288186" y="5054603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Spectrum-X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InfiniBand CPO 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BC75DB03-7494-0929-C943-8E6E786633E3}"/>
              </a:ext>
            </a:extLst>
          </p:cNvPr>
          <p:cNvGrpSpPr/>
          <p:nvPr/>
        </p:nvGrpSpPr>
        <p:grpSpPr>
          <a:xfrm>
            <a:off x="1653999" y="1813261"/>
            <a:ext cx="4319790" cy="886261"/>
            <a:chOff x="6380443" y="5056839"/>
            <a:chExt cx="4146591" cy="927865"/>
          </a:xfrm>
        </p:grpSpPr>
        <p:pic>
          <p:nvPicPr>
            <p:cNvPr id="102" name="Picture 41" descr="Ausriss-gross">
              <a:extLst>
                <a:ext uri="{FF2B5EF4-FFF2-40B4-BE49-F238E27FC236}">
                  <a16:creationId xmlns:a16="http://schemas.microsoft.com/office/drawing/2014/main" id="{752C2E75-D563-E684-6588-E32A451277E0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3" name="文本框 177">
              <a:extLst>
                <a:ext uri="{FF2B5EF4-FFF2-40B4-BE49-F238E27FC236}">
                  <a16:creationId xmlns:a16="http://schemas.microsoft.com/office/drawing/2014/main" id="{6C0517C0-9C03-4EF7-6FD7-7FDEF25635A6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6863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“</a:t>
              </a:r>
              <a:r>
                <a:rPr kumimoji="1" lang="zh-CN" altLang="zh-CN" sz="1400" dirty="0">
                  <a:solidFill>
                    <a:schemeClr val="tx1">
                      <a:lumMod val="50000"/>
                    </a:schemeClr>
                  </a:solidFill>
                </a:rPr>
                <a:t>NVL72使用铜缆互连较光模块大幅节省了成本，铜缆高速连接的成本仅为光模块的20%</a:t>
              </a:r>
              <a:r>
                <a:rPr lang="zh-CN" altLang="en-US" sz="1400" dirty="0">
                  <a:solidFill>
                    <a:schemeClr val="tx1">
                      <a:lumMod val="50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”</a:t>
              </a:r>
              <a:endParaRPr lang="en-US" altLang="zh-CN" sz="1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黄仁勋，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GTC 2024</a:t>
              </a:r>
            </a:p>
          </p:txBody>
        </p:sp>
      </p:grpSp>
      <p:sp>
        <p:nvSpPr>
          <p:cNvPr id="118" name="文本框 117">
            <a:extLst>
              <a:ext uri="{FF2B5EF4-FFF2-40B4-BE49-F238E27FC236}">
                <a16:creationId xmlns:a16="http://schemas.microsoft.com/office/drawing/2014/main" id="{72F4FE6E-086B-8A12-8254-545B59AA8384}"/>
              </a:ext>
            </a:extLst>
          </p:cNvPr>
          <p:cNvSpPr txBox="1"/>
          <p:nvPr/>
        </p:nvSpPr>
        <p:spPr>
          <a:xfrm>
            <a:off x="4718447" y="5053921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52D9"/>
                </a:highlight>
              </a:rPr>
              <a:t>Quantum-X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1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20" name="矩形 119">
            <a:extLst>
              <a:ext uri="{FF2B5EF4-FFF2-40B4-BE49-F238E27FC236}">
                <a16:creationId xmlns:a16="http://schemas.microsoft.com/office/drawing/2014/main" id="{68358134-2C9F-AF4B-E784-259A345314DA}"/>
              </a:ext>
            </a:extLst>
          </p:cNvPr>
          <p:cNvSpPr/>
          <p:nvPr/>
        </p:nvSpPr>
        <p:spPr>
          <a:xfrm>
            <a:off x="12423166" y="-370706"/>
            <a:ext cx="3682865" cy="2410691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短期看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，长期看</a:t>
            </a:r>
            <a:r>
              <a:rPr lang="en-US" altLang="zh-CN" dirty="0">
                <a:solidFill>
                  <a:schemeClr val="accent6">
                    <a:lumMod val="1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，需要找证据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21" name="文本框 120">
            <a:extLst>
              <a:ext uri="{FF2B5EF4-FFF2-40B4-BE49-F238E27FC236}">
                <a16:creationId xmlns:a16="http://schemas.microsoft.com/office/drawing/2014/main" id="{A3568096-9799-95DE-48DD-CED2F091BF03}"/>
              </a:ext>
            </a:extLst>
          </p:cNvPr>
          <p:cNvSpPr txBox="1"/>
          <p:nvPr/>
        </p:nvSpPr>
        <p:spPr>
          <a:xfrm>
            <a:off x="402684" y="5059629"/>
            <a:ext cx="936104" cy="720978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Scale Out</a:t>
            </a: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产品布局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EA42EC-757B-6882-31DD-52DEBF9DC4E6}"/>
              </a:ext>
            </a:extLst>
          </p:cNvPr>
          <p:cNvSpPr txBox="1"/>
          <p:nvPr/>
        </p:nvSpPr>
        <p:spPr>
          <a:xfrm>
            <a:off x="1722234" y="1461225"/>
            <a:ext cx="3821866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统治地位，强推铜到强推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CD805C44-CD00-8C32-92FD-175EA9AA71D2}"/>
              </a:ext>
            </a:extLst>
          </p:cNvPr>
          <p:cNvSpPr txBox="1"/>
          <p:nvPr/>
        </p:nvSpPr>
        <p:spPr>
          <a:xfrm>
            <a:off x="1957829" y="5571116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6D42F1F0-94F0-7A4C-A5EE-5B1D888F4B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979"/>
          <a:stretch/>
        </p:blipFill>
        <p:spPr bwMode="auto">
          <a:xfrm>
            <a:off x="1802912" y="4008939"/>
            <a:ext cx="415531" cy="511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D036EFDF-1ADD-801A-C48B-0E4BD7D73D22}"/>
              </a:ext>
            </a:extLst>
          </p:cNvPr>
          <p:cNvSpPr txBox="1"/>
          <p:nvPr/>
        </p:nvSpPr>
        <p:spPr>
          <a:xfrm>
            <a:off x="2292916" y="4041562"/>
            <a:ext cx="191166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NVL 72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4C1CCC6-343B-484D-317A-2DFE494B1636}"/>
              </a:ext>
            </a:extLst>
          </p:cNvPr>
          <p:cNvSpPr txBox="1"/>
          <p:nvPr/>
        </p:nvSpPr>
        <p:spPr>
          <a:xfrm>
            <a:off x="1957829" y="459739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25.07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FD9C8D31-DE2C-38D5-325C-E5E0875B0FCC}"/>
              </a:ext>
            </a:extLst>
          </p:cNvPr>
          <p:cNvSpPr txBox="1"/>
          <p:nvPr/>
        </p:nvSpPr>
        <p:spPr>
          <a:xfrm>
            <a:off x="4728013" y="4017639"/>
            <a:ext cx="1584495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100" dirty="0">
                <a:solidFill>
                  <a:schemeClr val="bg2"/>
                </a:solidFill>
                <a:highlight>
                  <a:srgbClr val="008000"/>
                </a:highlight>
              </a:rPr>
              <a:t>Rubin 288 GB300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100" dirty="0">
                <a:solidFill>
                  <a:schemeClr val="tx1">
                    <a:lumMod val="50000"/>
                  </a:schemeClr>
                </a:solidFill>
              </a:rPr>
              <a:t>整机柜服务器</a:t>
            </a:r>
            <a:endParaRPr kumimoji="1" lang="en-US" altLang="zh-CN" sz="11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47C8A2E-DBCC-6B31-BF8D-8BB0DCB054EA}"/>
              </a:ext>
            </a:extLst>
          </p:cNvPr>
          <p:cNvSpPr txBox="1"/>
          <p:nvPr/>
        </p:nvSpPr>
        <p:spPr>
          <a:xfrm>
            <a:off x="4321656" y="4565820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8C53818-2416-3643-E53B-F9132A2B7732}"/>
              </a:ext>
            </a:extLst>
          </p:cNvPr>
          <p:cNvSpPr txBox="1"/>
          <p:nvPr/>
        </p:nvSpPr>
        <p:spPr>
          <a:xfrm>
            <a:off x="4321656" y="5571115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accent6">
                    <a:lumMod val="10000"/>
                  </a:schemeClr>
                </a:solidFill>
              </a:rPr>
              <a:t>26Q2</a:t>
            </a:r>
            <a:r>
              <a:rPr kumimoji="1" lang="zh-CN" altLang="en-US" sz="12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2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49BF8719-9148-8540-80FE-BC193E92F4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39" t="-2" r="13487" b="68005"/>
          <a:stretch/>
        </p:blipFill>
        <p:spPr bwMode="auto">
          <a:xfrm>
            <a:off x="4115801" y="4084673"/>
            <a:ext cx="623104" cy="405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图片 47" descr="电脑屏幕截图&#10;&#10;AI 生成的内容可能不正确。">
            <a:extLst>
              <a:ext uri="{FF2B5EF4-FFF2-40B4-BE49-F238E27FC236}">
                <a16:creationId xmlns:a16="http://schemas.microsoft.com/office/drawing/2014/main" id="{661BD6DC-F80B-A7A2-91FF-7C5EBDC5BA4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3" t="50628" r="12722" b="20213"/>
          <a:stretch/>
        </p:blipFill>
        <p:spPr>
          <a:xfrm>
            <a:off x="4115801" y="5118208"/>
            <a:ext cx="637526" cy="412191"/>
          </a:xfrm>
          <a:prstGeom prst="rect">
            <a:avLst/>
          </a:prstGeom>
        </p:spPr>
      </p:pic>
      <p:sp>
        <p:nvSpPr>
          <p:cNvPr id="51" name="矩形 50">
            <a:extLst>
              <a:ext uri="{FF2B5EF4-FFF2-40B4-BE49-F238E27FC236}">
                <a16:creationId xmlns:a16="http://schemas.microsoft.com/office/drawing/2014/main" id="{BAB9E579-637A-802B-F8A2-94C6E0CEEFBC}"/>
              </a:ext>
            </a:extLst>
          </p:cNvPr>
          <p:cNvSpPr/>
          <p:nvPr/>
        </p:nvSpPr>
        <p:spPr>
          <a:xfrm>
            <a:off x="411970" y="6096017"/>
            <a:ext cx="587842" cy="21920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72EE96E3-1D2C-8BFF-8AC1-22DBC33714F2}"/>
              </a:ext>
            </a:extLst>
          </p:cNvPr>
          <p:cNvSpPr/>
          <p:nvPr/>
        </p:nvSpPr>
        <p:spPr>
          <a:xfrm>
            <a:off x="2525250" y="6096017"/>
            <a:ext cx="587842" cy="219206"/>
          </a:xfrm>
          <a:prstGeom prst="rect">
            <a:avLst/>
          </a:prstGeom>
          <a:solidFill>
            <a:srgbClr val="0052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/>
              <a:t>xx</a:t>
            </a:r>
            <a:endParaRPr lang="zh-CN" altLang="en-US" sz="10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4E63B84-481E-70AD-816D-7D069233E2A1}"/>
              </a:ext>
            </a:extLst>
          </p:cNvPr>
          <p:cNvSpPr txBox="1"/>
          <p:nvPr/>
        </p:nvSpPr>
        <p:spPr>
          <a:xfrm>
            <a:off x="807778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基于铜互连</a:t>
            </a:r>
            <a:endParaRPr kumimoji="1" lang="en-US" altLang="zh-CN" sz="12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E03D25C1-BFC1-CB0B-5B92-76A8D5AB2E4C}"/>
              </a:ext>
            </a:extLst>
          </p:cNvPr>
          <p:cNvSpPr txBox="1"/>
          <p:nvPr/>
        </p:nvSpPr>
        <p:spPr>
          <a:xfrm>
            <a:off x="2915624" y="6067121"/>
            <a:ext cx="141066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200" dirty="0">
                <a:solidFill>
                  <a:schemeClr val="accent6">
                    <a:lumMod val="10000"/>
                  </a:schemeClr>
                </a:solidFill>
              </a:rPr>
              <a:t>基于</a:t>
            </a:r>
            <a:r>
              <a:rPr kumimoji="1" lang="en-US" altLang="zh-CN" sz="1200" dirty="0">
                <a:solidFill>
                  <a:schemeClr val="accent6">
                    <a:lumMod val="10000"/>
                  </a:schemeClr>
                </a:solidFill>
              </a:rPr>
              <a:t>CPO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2FB27E28-9F4A-8FA7-BCFE-9AE1CE01AF6A}"/>
              </a:ext>
            </a:extLst>
          </p:cNvPr>
          <p:cNvSpPr txBox="1"/>
          <p:nvPr/>
        </p:nvSpPr>
        <p:spPr>
          <a:xfrm>
            <a:off x="6550108" y="1413384"/>
            <a:ext cx="5013241" cy="25733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Scale 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统治地位，</a:t>
            </a:r>
            <a:r>
              <a:rPr kumimoji="1" lang="zh-CN" altLang="zh-CN" sz="1400" i="1" dirty="0">
                <a:solidFill>
                  <a:schemeClr val="tx1">
                    <a:lumMod val="50000"/>
                  </a:schemeClr>
                </a:solidFill>
              </a:rPr>
              <a:t>未来5年押注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实现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Out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到</a:t>
            </a:r>
            <a:r>
              <a:rPr kumimoji="1" lang="en-US" altLang="zh-CN" sz="1400" i="1" dirty="0">
                <a:solidFill>
                  <a:schemeClr val="tx1">
                    <a:lumMod val="50000"/>
                  </a:schemeClr>
                </a:solidFill>
              </a:rPr>
              <a:t>Up</a:t>
            </a:r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的渗透</a:t>
            </a:r>
            <a:endParaRPr kumimoji="1" lang="zh-CN" altLang="zh-CN" sz="1400" i="1" dirty="0">
              <a:solidFill>
                <a:schemeClr val="tx1">
                  <a:lumMod val="50000"/>
                </a:schemeClr>
              </a:solidFill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</a:pPr>
            <a:endParaRPr kumimoji="1" lang="zh-CN" altLang="en-US" sz="1400" i="1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1" name="组合 80">
            <a:extLst>
              <a:ext uri="{FF2B5EF4-FFF2-40B4-BE49-F238E27FC236}">
                <a16:creationId xmlns:a16="http://schemas.microsoft.com/office/drawing/2014/main" id="{F251152D-8156-E033-5400-805507FAE389}"/>
              </a:ext>
            </a:extLst>
          </p:cNvPr>
          <p:cNvGrpSpPr/>
          <p:nvPr/>
        </p:nvGrpSpPr>
        <p:grpSpPr>
          <a:xfrm>
            <a:off x="6447847" y="1820204"/>
            <a:ext cx="4926088" cy="886261"/>
            <a:chOff x="6380443" y="5056839"/>
            <a:chExt cx="4146591" cy="927865"/>
          </a:xfrm>
        </p:grpSpPr>
        <p:pic>
          <p:nvPicPr>
            <p:cNvPr id="82" name="Picture 41" descr="Ausriss-gross">
              <a:extLst>
                <a:ext uri="{FF2B5EF4-FFF2-40B4-BE49-F238E27FC236}">
                  <a16:creationId xmlns:a16="http://schemas.microsoft.com/office/drawing/2014/main" id="{86A8C24A-F751-B001-13C5-63B17D26ECB1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6380443" y="5056839"/>
              <a:ext cx="4146591" cy="9278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" name="文本框 177">
              <a:extLst>
                <a:ext uri="{FF2B5EF4-FFF2-40B4-BE49-F238E27FC236}">
                  <a16:creationId xmlns:a16="http://schemas.microsoft.com/office/drawing/2014/main" id="{EBE25E6A-AA85-E69A-5E99-5189EB13BF28}"/>
                </a:ext>
              </a:extLst>
            </p:cNvPr>
            <p:cNvSpPr txBox="1"/>
            <p:nvPr/>
          </p:nvSpPr>
          <p:spPr>
            <a:xfrm>
              <a:off x="6498713" y="5126103"/>
              <a:ext cx="3900389" cy="7733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“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CPO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是应对 </a:t>
              </a:r>
              <a:r>
                <a:rPr kumimoji="1" lang="en-US" altLang="zh-CN" sz="1400" dirty="0">
                  <a:solidFill>
                    <a:schemeClr val="tx1">
                      <a:lumMod val="50000"/>
                    </a:schemeClr>
                  </a:solidFill>
                </a:rPr>
                <a:t>AI </a:t>
              </a:r>
              <a:r>
                <a:rPr kumimoji="1" lang="zh-CN" altLang="en-US" sz="1400" dirty="0">
                  <a:solidFill>
                    <a:schemeClr val="tx1">
                      <a:lumMod val="50000"/>
                    </a:schemeClr>
                  </a:solidFill>
                </a:rPr>
                <a:t>集群带宽需求的关键技术，其集成化设计可显著提升系统能效”</a:t>
              </a:r>
              <a:endParaRPr kumimoji="1" lang="en-US" altLang="zh-CN" sz="1400" dirty="0">
                <a:solidFill>
                  <a:schemeClr val="tx1">
                    <a:lumMod val="50000"/>
                  </a:schemeClr>
                </a:solidFill>
              </a:endParaRPr>
            </a:p>
            <a:p>
              <a:pPr algn="r"/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 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—</a:t>
              </a:r>
              <a:r>
                <a:rPr lang="en-US" altLang="zh-CN" sz="1400" dirty="0"/>
                <a:t>Hock Tan</a:t>
              </a:r>
              <a:r>
                <a:rPr lang="zh-CN" altLang="en-US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，</a:t>
              </a:r>
              <a:r>
                <a:rPr lang="en-US" altLang="zh-CN" sz="1400" b="0" i="0" dirty="0">
                  <a:solidFill>
                    <a:schemeClr val="tx1">
                      <a:lumMod val="50000"/>
                    </a:schemeClr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rPr>
                <a:t>25Q2 Conference Call</a:t>
              </a:r>
            </a:p>
          </p:txBody>
        </p:sp>
      </p:grpSp>
      <p:sp>
        <p:nvSpPr>
          <p:cNvPr id="85" name="文本框 84">
            <a:extLst>
              <a:ext uri="{FF2B5EF4-FFF2-40B4-BE49-F238E27FC236}">
                <a16:creationId xmlns:a16="http://schemas.microsoft.com/office/drawing/2014/main" id="{936DE709-FEFC-64A4-3B75-B2BB3A7693D6}"/>
              </a:ext>
            </a:extLst>
          </p:cNvPr>
          <p:cNvSpPr txBox="1"/>
          <p:nvPr/>
        </p:nvSpPr>
        <p:spPr>
          <a:xfrm>
            <a:off x="6550109" y="2769653"/>
            <a:ext cx="4926088" cy="79240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于23年开始联合产业伙伴推动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方案，目前已在各环节实现单环节测试可靠性，但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未</a:t>
            </a:r>
            <a:r>
              <a:rPr kumimoji="1" lang="zh-CN" altLang="zh-CN" sz="1400" dirty="0">
                <a:solidFill>
                  <a:schemeClr val="tx1">
                    <a:lumMod val="50000"/>
                  </a:schemeClr>
                </a:solidFill>
              </a:rPr>
              <a:t>完整部署并获得运营数据</a:t>
            </a: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6FF20BF8-457E-1902-C171-AE4383E4637B}"/>
              </a:ext>
            </a:extLst>
          </p:cNvPr>
          <p:cNvSpPr txBox="1"/>
          <p:nvPr/>
        </p:nvSpPr>
        <p:spPr>
          <a:xfrm>
            <a:off x="8323716" y="5118208"/>
            <a:ext cx="1732629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5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以太网 </a:t>
            </a: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交换机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88" name="文本框 87">
            <a:extLst>
              <a:ext uri="{FF2B5EF4-FFF2-40B4-BE49-F238E27FC236}">
                <a16:creationId xmlns:a16="http://schemas.microsoft.com/office/drawing/2014/main" id="{F9E1C816-0DC4-FDCB-9F3E-63A7285C0C61}"/>
              </a:ext>
            </a:extLst>
          </p:cNvPr>
          <p:cNvSpPr txBox="1"/>
          <p:nvPr/>
        </p:nvSpPr>
        <p:spPr>
          <a:xfrm>
            <a:off x="9696641" y="5223797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26Q1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91" name="图片 90" descr="图形用户界面&#10;&#10;AI 生成的内容可能不正确。">
            <a:extLst>
              <a:ext uri="{FF2B5EF4-FFF2-40B4-BE49-F238E27FC236}">
                <a16:creationId xmlns:a16="http://schemas.microsoft.com/office/drawing/2014/main" id="{12C6F346-BF32-1098-7FA8-404964AD1B8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064" t="48548" r="8679" b="13268"/>
          <a:stretch/>
        </p:blipFill>
        <p:spPr>
          <a:xfrm>
            <a:off x="7019086" y="5218125"/>
            <a:ext cx="1136898" cy="425290"/>
          </a:xfrm>
          <a:prstGeom prst="rect">
            <a:avLst/>
          </a:prstGeom>
        </p:spPr>
      </p:pic>
      <p:sp>
        <p:nvSpPr>
          <p:cNvPr id="94" name="文本框 93">
            <a:extLst>
              <a:ext uri="{FF2B5EF4-FFF2-40B4-BE49-F238E27FC236}">
                <a16:creationId xmlns:a16="http://schemas.microsoft.com/office/drawing/2014/main" id="{C40832D3-6819-A1FD-019B-87031ADA38BB}"/>
              </a:ext>
            </a:extLst>
          </p:cNvPr>
          <p:cNvSpPr txBox="1"/>
          <p:nvPr/>
        </p:nvSpPr>
        <p:spPr>
          <a:xfrm>
            <a:off x="1697097" y="3565386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整机交付为主</a:t>
            </a:r>
            <a:endParaRPr lang="zh-CN" altLang="en-US" sz="1400" dirty="0"/>
          </a:p>
        </p:txBody>
      </p:sp>
      <p:sp>
        <p:nvSpPr>
          <p:cNvPr id="95" name="文本框 94">
            <a:extLst>
              <a:ext uri="{FF2B5EF4-FFF2-40B4-BE49-F238E27FC236}">
                <a16:creationId xmlns:a16="http://schemas.microsoft.com/office/drawing/2014/main" id="{2EA31D44-0FF8-EB58-409E-4D1BB627BFF2}"/>
              </a:ext>
            </a:extLst>
          </p:cNvPr>
          <p:cNvSpPr txBox="1"/>
          <p:nvPr/>
        </p:nvSpPr>
        <p:spPr>
          <a:xfrm>
            <a:off x="6366750" y="3577403"/>
            <a:ext cx="807044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400" i="1" dirty="0">
                <a:solidFill>
                  <a:schemeClr val="tx1">
                    <a:lumMod val="50000"/>
                  </a:schemeClr>
                </a:solidFill>
              </a:rPr>
              <a:t>交换机核心组件为主，积极布局整机</a:t>
            </a:r>
          </a:p>
        </p:txBody>
      </p:sp>
      <p:pic>
        <p:nvPicPr>
          <p:cNvPr id="98" name="图片 97" descr="图示&#10;&#10;AI 生成的内容可能不正确。">
            <a:extLst>
              <a:ext uri="{FF2B5EF4-FFF2-40B4-BE49-F238E27FC236}">
                <a16:creationId xmlns:a16="http://schemas.microsoft.com/office/drawing/2014/main" id="{6B483AC3-A4C4-F3FB-36BF-CA0763D30E4E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383" t="7282" r="5341" b="63652"/>
          <a:stretch/>
        </p:blipFill>
        <p:spPr>
          <a:xfrm>
            <a:off x="7185906" y="4103035"/>
            <a:ext cx="801515" cy="636436"/>
          </a:xfrm>
          <a:prstGeom prst="rect">
            <a:avLst/>
          </a:prstGeom>
        </p:spPr>
      </p:pic>
      <p:sp>
        <p:nvSpPr>
          <p:cNvPr id="99" name="文本框 98">
            <a:extLst>
              <a:ext uri="{FF2B5EF4-FFF2-40B4-BE49-F238E27FC236}">
                <a16:creationId xmlns:a16="http://schemas.microsoft.com/office/drawing/2014/main" id="{48751070-806F-BD3A-9A65-E465675B12CD}"/>
              </a:ext>
            </a:extLst>
          </p:cNvPr>
          <p:cNvSpPr txBox="1"/>
          <p:nvPr/>
        </p:nvSpPr>
        <p:spPr>
          <a:xfrm>
            <a:off x="8329100" y="4133120"/>
            <a:ext cx="158449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bg2"/>
                </a:solidFill>
                <a:highlight>
                  <a:srgbClr val="0052D9"/>
                </a:highlight>
              </a:rPr>
              <a:t>Tomahawk 6 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400" dirty="0">
                <a:solidFill>
                  <a:schemeClr val="tx1">
                    <a:lumMod val="50000"/>
                  </a:schemeClr>
                </a:solidFill>
              </a:rPr>
              <a:t>芯片</a:t>
            </a:r>
            <a:endParaRPr kumimoji="1" lang="en-US" altLang="zh-CN" sz="1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id="{108EC22A-7453-8CCE-88B3-8D46BB600215}"/>
              </a:ext>
            </a:extLst>
          </p:cNvPr>
          <p:cNvSpPr txBox="1"/>
          <p:nvPr/>
        </p:nvSpPr>
        <p:spPr>
          <a:xfrm>
            <a:off x="9683755" y="4257281"/>
            <a:ext cx="141066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i="1" dirty="0">
                <a:solidFill>
                  <a:schemeClr val="accent6">
                    <a:lumMod val="10000"/>
                  </a:schemeClr>
                </a:solidFill>
              </a:rPr>
              <a:t>25.06</a:t>
            </a:r>
            <a:r>
              <a:rPr kumimoji="1" lang="zh-CN" altLang="en-US" sz="1400" i="1" dirty="0">
                <a:solidFill>
                  <a:schemeClr val="accent6">
                    <a:lumMod val="10000"/>
                  </a:schemeClr>
                </a:solidFill>
              </a:rPr>
              <a:t>交付</a:t>
            </a:r>
            <a:endParaRPr kumimoji="1" lang="en-US" altLang="zh-CN" sz="1400" i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109" name="文本框 108">
            <a:extLst>
              <a:ext uri="{FF2B5EF4-FFF2-40B4-BE49-F238E27FC236}">
                <a16:creationId xmlns:a16="http://schemas.microsoft.com/office/drawing/2014/main" id="{3F5B50A7-8BDA-4E90-DAE8-3BB88D0D34B0}"/>
              </a:ext>
            </a:extLst>
          </p:cNvPr>
          <p:cNvSpPr txBox="1"/>
          <p:nvPr/>
        </p:nvSpPr>
        <p:spPr>
          <a:xfrm>
            <a:off x="403220" y="6444539"/>
            <a:ext cx="6536586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 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Nvidia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dirty="0">
                <a:solidFill>
                  <a:schemeClr val="tx1">
                    <a:lumMod val="50000"/>
                  </a:schemeClr>
                </a:solidFill>
              </a:rPr>
              <a:t>Broadcom</a:t>
            </a:r>
          </a:p>
        </p:txBody>
      </p:sp>
      <p:cxnSp>
        <p:nvCxnSpPr>
          <p:cNvPr id="112" name="直接连接符 111">
            <a:extLst>
              <a:ext uri="{FF2B5EF4-FFF2-40B4-BE49-F238E27FC236}">
                <a16:creationId xmlns:a16="http://schemas.microsoft.com/office/drawing/2014/main" id="{626543AD-3823-A230-D15F-C420F3F10183}"/>
              </a:ext>
            </a:extLst>
          </p:cNvPr>
          <p:cNvCxnSpPr>
            <a:cxnSpLocks/>
            <a:stCxn id="110" idx="2"/>
          </p:cNvCxnSpPr>
          <p:nvPr/>
        </p:nvCxnSpPr>
        <p:spPr>
          <a:xfrm flipH="1">
            <a:off x="5840513" y="5919956"/>
            <a:ext cx="673454" cy="15259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文本框 113">
            <a:extLst>
              <a:ext uri="{FF2B5EF4-FFF2-40B4-BE49-F238E27FC236}">
                <a16:creationId xmlns:a16="http://schemas.microsoft.com/office/drawing/2014/main" id="{577DA440-306B-0311-62FF-B124E91D6FF4}"/>
              </a:ext>
            </a:extLst>
          </p:cNvPr>
          <p:cNvSpPr txBox="1"/>
          <p:nvPr/>
        </p:nvSpPr>
        <p:spPr>
          <a:xfrm>
            <a:off x="4635011" y="6051732"/>
            <a:ext cx="295165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400" b="1" dirty="0">
                <a:solidFill>
                  <a:srgbClr val="0052D9"/>
                </a:solidFill>
              </a:rPr>
              <a:t>1-2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年内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CPO</a:t>
            </a:r>
            <a:r>
              <a:rPr kumimoji="1" lang="zh-CN" altLang="en-US" sz="1400" b="1" dirty="0">
                <a:solidFill>
                  <a:srgbClr val="0052D9"/>
                </a:solidFill>
              </a:rPr>
              <a:t>密集落地于</a:t>
            </a:r>
            <a:r>
              <a:rPr kumimoji="1" lang="en-US" altLang="zh-CN" sz="1400" b="1" dirty="0">
                <a:solidFill>
                  <a:srgbClr val="0052D9"/>
                </a:solidFill>
              </a:rPr>
              <a:t>Scale Out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9449724-CABE-3FCB-80B7-50993FAFC5F6}"/>
              </a:ext>
            </a:extLst>
          </p:cNvPr>
          <p:cNvSpPr/>
          <p:nvPr/>
        </p:nvSpPr>
        <p:spPr>
          <a:xfrm>
            <a:off x="12423164" y="5034560"/>
            <a:ext cx="3682865" cy="149209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博通的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代芯片用在谁那里，为什么博通的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6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代限制在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Scale Up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source</a:t>
            </a:r>
          </a:p>
          <a:p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量的原文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9451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97B2007-B7FD-C68E-DD7F-3E2CE41FC71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5567545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7" imgW="404" imgH="405" progId="TCLayout.ActiveDocument.1">
                  <p:embed/>
                </p:oleObj>
              </mc:Choice>
              <mc:Fallback>
                <p:oleObj name="think-cell 幻灯片" r:id="rId27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>
            <a:extLst>
              <a:ext uri="{FF2B5EF4-FFF2-40B4-BE49-F238E27FC236}">
                <a16:creationId xmlns:a16="http://schemas.microsoft.com/office/drawing/2014/main" id="{A0E43DE8-D421-056F-F08D-7554821323A7}"/>
              </a:ext>
            </a:extLst>
          </p:cNvPr>
          <p:cNvSpPr/>
          <p:nvPr/>
        </p:nvSpPr>
        <p:spPr>
          <a:xfrm>
            <a:off x="12622306" y="4692670"/>
            <a:ext cx="1887478" cy="151781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+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量级问题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33" name="文本框 232">
            <a:extLst>
              <a:ext uri="{FF2B5EF4-FFF2-40B4-BE49-F238E27FC236}">
                <a16:creationId xmlns:a16="http://schemas.microsoft.com/office/drawing/2014/main" id="{605C4544-84E9-82E5-A95E-0DF727A07A98}"/>
              </a:ext>
            </a:extLst>
          </p:cNvPr>
          <p:cNvSpPr txBox="1"/>
          <p:nvPr/>
        </p:nvSpPr>
        <p:spPr>
          <a:xfrm>
            <a:off x="476056" y="6488020"/>
            <a:ext cx="10733851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Morgan Stanley Research,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Lightcounting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,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SemiAnalysis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1071" name="矩形 1070">
            <a:extLst>
              <a:ext uri="{FF2B5EF4-FFF2-40B4-BE49-F238E27FC236}">
                <a16:creationId xmlns:a16="http://schemas.microsoft.com/office/drawing/2014/main" id="{26604190-F062-9B07-4569-90802D45EF43}"/>
              </a:ext>
            </a:extLst>
          </p:cNvPr>
          <p:cNvSpPr/>
          <p:nvPr/>
        </p:nvSpPr>
        <p:spPr>
          <a:xfrm>
            <a:off x="12598125" y="906950"/>
            <a:ext cx="6122397" cy="353591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左右结构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什么情况下替换？替换的急迫度、门槛，先发生在哪里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新的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否则需要重置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性能越高的用</a:t>
            </a:r>
          </a:p>
        </p:txBody>
      </p:sp>
      <p:sp>
        <p:nvSpPr>
          <p:cNvPr id="14" name="标题 1">
            <a:extLst>
              <a:ext uri="{FF2B5EF4-FFF2-40B4-BE49-F238E27FC236}">
                <a16:creationId xmlns:a16="http://schemas.microsoft.com/office/drawing/2014/main" id="{6CB530C4-67EE-5F36-A764-580DBAB3BDCD}"/>
              </a:ext>
            </a:extLst>
          </p:cNvPr>
          <p:cNvSpPr txBox="1">
            <a:spLocks/>
          </p:cNvSpPr>
          <p:nvPr/>
        </p:nvSpPr>
        <p:spPr>
          <a:xfrm>
            <a:off x="189040" y="80875"/>
            <a:ext cx="9677146" cy="73152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1"/>
              </a:spcBef>
              <a:buNone/>
              <a:defRPr lang="en-US" sz="2500" b="0" kern="1200" spc="0" baseline="0" dirty="0">
                <a:ln w="6350" cap="flat">
                  <a:noFill/>
                  <a:miter lim="800000"/>
                </a:ln>
                <a:solidFill>
                  <a:schemeClr val="tx1"/>
                </a:solidFill>
                <a:latin typeface="+mj-lt"/>
                <a:ea typeface="+mj-ea"/>
                <a:cs typeface="+mj-cs"/>
                <a:sym typeface="微软雅黑" panose="020B0503020204020204" pitchFamily="34" charset="-122"/>
              </a:defRPr>
            </a:lvl1pPr>
          </a:lstStyle>
          <a:p>
            <a:r>
              <a:rPr lang="en-US" altLang="zh-CN" dirty="0"/>
              <a:t>CPO</a:t>
            </a:r>
            <a:r>
              <a:rPr lang="zh-CN" altLang="en-US" dirty="0"/>
              <a:t>优先替换新建、高性能</a:t>
            </a:r>
            <a:r>
              <a:rPr lang="en-US" altLang="zh-CN" dirty="0"/>
              <a:t>IDC</a:t>
            </a:r>
            <a:r>
              <a:rPr lang="zh-CN" altLang="en-US" dirty="0"/>
              <a:t>端口</a:t>
            </a:r>
            <a:endParaRPr lang="en-US" altLang="zh-CN" dirty="0"/>
          </a:p>
        </p:txBody>
      </p:sp>
      <p:grpSp>
        <p:nvGrpSpPr>
          <p:cNvPr id="1463" name="组合 1462">
            <a:extLst>
              <a:ext uri="{FF2B5EF4-FFF2-40B4-BE49-F238E27FC236}">
                <a16:creationId xmlns:a16="http://schemas.microsoft.com/office/drawing/2014/main" id="{1119B0E3-6C87-C2F3-B496-E09B199A6ED0}"/>
              </a:ext>
            </a:extLst>
          </p:cNvPr>
          <p:cNvGrpSpPr/>
          <p:nvPr/>
        </p:nvGrpSpPr>
        <p:grpSpPr>
          <a:xfrm>
            <a:off x="6229850" y="906950"/>
            <a:ext cx="5430359" cy="1436985"/>
            <a:chOff x="6288045" y="906950"/>
            <a:chExt cx="5430359" cy="1436985"/>
          </a:xfrm>
        </p:grpSpPr>
        <p:sp>
          <p:nvSpPr>
            <p:cNvPr id="232" name="straight_152520">
              <a:extLst>
                <a:ext uri="{FF2B5EF4-FFF2-40B4-BE49-F238E27FC236}">
                  <a16:creationId xmlns:a16="http://schemas.microsoft.com/office/drawing/2014/main" id="{2BA9EE65-39D9-DC2A-B670-0553D7AAC8D8}"/>
                </a:ext>
              </a:extLst>
            </p:cNvPr>
            <p:cNvSpPr/>
            <p:nvPr/>
          </p:nvSpPr>
          <p:spPr>
            <a:xfrm>
              <a:off x="6288045" y="906950"/>
              <a:ext cx="324237" cy="323781"/>
            </a:xfrm>
            <a:custGeom>
              <a:avLst/>
              <a:gdLst>
                <a:gd name="T0" fmla="*/ 228 w 457"/>
                <a:gd name="T1" fmla="*/ 0 h 457"/>
                <a:gd name="T2" fmla="*/ 0 w 457"/>
                <a:gd name="T3" fmla="*/ 228 h 457"/>
                <a:gd name="T4" fmla="*/ 228 w 457"/>
                <a:gd name="T5" fmla="*/ 457 h 457"/>
                <a:gd name="T6" fmla="*/ 457 w 457"/>
                <a:gd name="T7" fmla="*/ 228 h 457"/>
                <a:gd name="T8" fmla="*/ 228 w 457"/>
                <a:gd name="T9" fmla="*/ 0 h 457"/>
                <a:gd name="T10" fmla="*/ 144 w 457"/>
                <a:gd name="T11" fmla="*/ 152 h 457"/>
                <a:gd name="T12" fmla="*/ 177 w 457"/>
                <a:gd name="T13" fmla="*/ 185 h 457"/>
                <a:gd name="T14" fmla="*/ 144 w 457"/>
                <a:gd name="T15" fmla="*/ 218 h 457"/>
                <a:gd name="T16" fmla="*/ 111 w 457"/>
                <a:gd name="T17" fmla="*/ 185 h 457"/>
                <a:gd name="T18" fmla="*/ 144 w 457"/>
                <a:gd name="T19" fmla="*/ 152 h 457"/>
                <a:gd name="T20" fmla="*/ 324 w 457"/>
                <a:gd name="T21" fmla="*/ 359 h 457"/>
                <a:gd name="T22" fmla="*/ 133 w 457"/>
                <a:gd name="T23" fmla="*/ 359 h 457"/>
                <a:gd name="T24" fmla="*/ 113 w 457"/>
                <a:gd name="T25" fmla="*/ 339 h 457"/>
                <a:gd name="T26" fmla="*/ 133 w 457"/>
                <a:gd name="T27" fmla="*/ 319 h 457"/>
                <a:gd name="T28" fmla="*/ 324 w 457"/>
                <a:gd name="T29" fmla="*/ 319 h 457"/>
                <a:gd name="T30" fmla="*/ 344 w 457"/>
                <a:gd name="T31" fmla="*/ 339 h 457"/>
                <a:gd name="T32" fmla="*/ 324 w 457"/>
                <a:gd name="T33" fmla="*/ 359 h 457"/>
                <a:gd name="T34" fmla="*/ 313 w 457"/>
                <a:gd name="T35" fmla="*/ 218 h 457"/>
                <a:gd name="T36" fmla="*/ 280 w 457"/>
                <a:gd name="T37" fmla="*/ 185 h 457"/>
                <a:gd name="T38" fmla="*/ 313 w 457"/>
                <a:gd name="T39" fmla="*/ 152 h 457"/>
                <a:gd name="T40" fmla="*/ 345 w 457"/>
                <a:gd name="T41" fmla="*/ 185 h 457"/>
                <a:gd name="T42" fmla="*/ 313 w 457"/>
                <a:gd name="T43" fmla="*/ 218 h 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457" h="457">
                  <a:moveTo>
                    <a:pt x="228" y="0"/>
                  </a:moveTo>
                  <a:cubicBezTo>
                    <a:pt x="102" y="0"/>
                    <a:pt x="0" y="102"/>
                    <a:pt x="0" y="228"/>
                  </a:cubicBezTo>
                  <a:cubicBezTo>
                    <a:pt x="0" y="354"/>
                    <a:pt x="102" y="457"/>
                    <a:pt x="228" y="457"/>
                  </a:cubicBezTo>
                  <a:cubicBezTo>
                    <a:pt x="354" y="457"/>
                    <a:pt x="457" y="354"/>
                    <a:pt x="457" y="228"/>
                  </a:cubicBezTo>
                  <a:cubicBezTo>
                    <a:pt x="457" y="102"/>
                    <a:pt x="354" y="0"/>
                    <a:pt x="228" y="0"/>
                  </a:cubicBezTo>
                  <a:close/>
                  <a:moveTo>
                    <a:pt x="144" y="152"/>
                  </a:moveTo>
                  <a:cubicBezTo>
                    <a:pt x="162" y="152"/>
                    <a:pt x="177" y="167"/>
                    <a:pt x="177" y="185"/>
                  </a:cubicBezTo>
                  <a:cubicBezTo>
                    <a:pt x="177" y="203"/>
                    <a:pt x="162" y="218"/>
                    <a:pt x="144" y="218"/>
                  </a:cubicBezTo>
                  <a:cubicBezTo>
                    <a:pt x="126" y="218"/>
                    <a:pt x="111" y="203"/>
                    <a:pt x="111" y="185"/>
                  </a:cubicBezTo>
                  <a:cubicBezTo>
                    <a:pt x="111" y="167"/>
                    <a:pt x="126" y="152"/>
                    <a:pt x="144" y="152"/>
                  </a:cubicBezTo>
                  <a:close/>
                  <a:moveTo>
                    <a:pt x="324" y="359"/>
                  </a:moveTo>
                  <a:lnTo>
                    <a:pt x="133" y="359"/>
                  </a:lnTo>
                  <a:cubicBezTo>
                    <a:pt x="122" y="359"/>
                    <a:pt x="113" y="350"/>
                    <a:pt x="113" y="339"/>
                  </a:cubicBezTo>
                  <a:cubicBezTo>
                    <a:pt x="113" y="328"/>
                    <a:pt x="122" y="319"/>
                    <a:pt x="133" y="319"/>
                  </a:cubicBezTo>
                  <a:lnTo>
                    <a:pt x="324" y="319"/>
                  </a:lnTo>
                  <a:cubicBezTo>
                    <a:pt x="335" y="319"/>
                    <a:pt x="344" y="328"/>
                    <a:pt x="344" y="339"/>
                  </a:cubicBezTo>
                  <a:cubicBezTo>
                    <a:pt x="344" y="350"/>
                    <a:pt x="335" y="359"/>
                    <a:pt x="324" y="359"/>
                  </a:cubicBezTo>
                  <a:close/>
                  <a:moveTo>
                    <a:pt x="313" y="218"/>
                  </a:moveTo>
                  <a:cubicBezTo>
                    <a:pt x="295" y="218"/>
                    <a:pt x="280" y="203"/>
                    <a:pt x="280" y="185"/>
                  </a:cubicBezTo>
                  <a:cubicBezTo>
                    <a:pt x="280" y="167"/>
                    <a:pt x="295" y="152"/>
                    <a:pt x="313" y="152"/>
                  </a:cubicBezTo>
                  <a:cubicBezTo>
                    <a:pt x="331" y="152"/>
                    <a:pt x="345" y="167"/>
                    <a:pt x="345" y="185"/>
                  </a:cubicBezTo>
                  <a:cubicBezTo>
                    <a:pt x="345" y="203"/>
                    <a:pt x="331" y="218"/>
                    <a:pt x="313" y="218"/>
                  </a:cubicBezTo>
                  <a:close/>
                </a:path>
              </a:pathLst>
            </a:cu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FD551816-CB9E-FE4B-9923-232237321159}"/>
                </a:ext>
              </a:extLst>
            </p:cNvPr>
            <p:cNvSpPr txBox="1"/>
            <p:nvPr/>
          </p:nvSpPr>
          <p:spPr>
            <a:xfrm>
              <a:off x="6742766" y="99125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0052D9"/>
                  </a:solidFill>
                </a:rPr>
                <a:t>Base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C8700E79-336F-457D-B468-C9D59E46DC82}"/>
                </a:ext>
              </a:extLst>
            </p:cNvPr>
            <p:cNvGrpSpPr/>
            <p:nvPr/>
          </p:nvGrpSpPr>
          <p:grpSpPr>
            <a:xfrm>
              <a:off x="6306483" y="1322982"/>
              <a:ext cx="5411921" cy="1020953"/>
              <a:chOff x="341635" y="2107778"/>
              <a:chExt cx="5934382" cy="1020953"/>
            </a:xfrm>
          </p:grpSpPr>
          <p:sp>
            <p:nvSpPr>
              <p:cNvPr id="19" name="圆角矩形 130">
                <a:extLst>
                  <a:ext uri="{FF2B5EF4-FFF2-40B4-BE49-F238E27FC236}">
                    <a16:creationId xmlns:a16="http://schemas.microsoft.com/office/drawing/2014/main" id="{62DF4FF9-8427-C473-880D-9B4B4268F820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3E8B579A-7D5F-B81A-8B7A-A9495A39441C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172 %，2030e 收入约 </a:t>
                </a:r>
                <a:r>
                  <a:rPr kumimoji="1" lang="zh-CN" altLang="zh-CN" sz="1600" b="1" dirty="0">
                    <a:solidFill>
                      <a:srgbClr val="0052D9"/>
                    </a:solidFill>
                  </a:rPr>
                  <a:t>93 </a:t>
                </a:r>
                <a:r>
                  <a:rPr kumimoji="1" lang="zh-CN" altLang="zh-CN" sz="1600" dirty="0">
                    <a:solidFill>
                      <a:schemeClr val="accent6">
                        <a:lumMod val="10000"/>
                      </a:schemeClr>
                    </a:solidFill>
                  </a:rPr>
                  <a:t>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NVIDIA Rubin＋Broadcom TH7 开始全面替换高端可插拔模块，渗透率上升到 ~45 %</a:t>
                </a:r>
              </a:p>
            </p:txBody>
          </p:sp>
        </p:grpSp>
      </p:grpSp>
      <p:grpSp>
        <p:nvGrpSpPr>
          <p:cNvPr id="1462" name="组合 1461">
            <a:extLst>
              <a:ext uri="{FF2B5EF4-FFF2-40B4-BE49-F238E27FC236}">
                <a16:creationId xmlns:a16="http://schemas.microsoft.com/office/drawing/2014/main" id="{5B16F916-6606-2C5F-F989-1167F32C7BE5}"/>
              </a:ext>
            </a:extLst>
          </p:cNvPr>
          <p:cNvGrpSpPr/>
          <p:nvPr/>
        </p:nvGrpSpPr>
        <p:grpSpPr>
          <a:xfrm>
            <a:off x="6229850" y="2758836"/>
            <a:ext cx="5475869" cy="1475032"/>
            <a:chOff x="6288045" y="2695433"/>
            <a:chExt cx="5475869" cy="1475032"/>
          </a:xfrm>
        </p:grpSpPr>
        <p:pic>
          <p:nvPicPr>
            <p:cNvPr id="212" name="图形 211" descr="实心填充的笑嘻嘻表情 纯色填充">
              <a:extLst>
                <a:ext uri="{FF2B5EF4-FFF2-40B4-BE49-F238E27FC236}">
                  <a16:creationId xmlns:a16="http://schemas.microsoft.com/office/drawing/2014/main" id="{AED32677-2246-9991-6357-BC5CB6589A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6288045" y="2695433"/>
              <a:ext cx="396000" cy="396000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B26C1BE3-5CB0-12C0-DDA9-24E13907921F}"/>
                </a:ext>
              </a:extLst>
            </p:cNvPr>
            <p:cNvSpPr txBox="1"/>
            <p:nvPr/>
          </p:nvSpPr>
          <p:spPr>
            <a:xfrm>
              <a:off x="6788276" y="281778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rgbClr val="A6A6A6"/>
                  </a:solidFill>
                </a:rPr>
                <a:t>Bull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C70F10C9-99E6-CE03-F2DF-EC8DBECE0140}"/>
                </a:ext>
              </a:extLst>
            </p:cNvPr>
            <p:cNvGrpSpPr/>
            <p:nvPr/>
          </p:nvGrpSpPr>
          <p:grpSpPr>
            <a:xfrm>
              <a:off x="6351993" y="3149512"/>
              <a:ext cx="5411921" cy="1020953"/>
              <a:chOff x="341635" y="2107778"/>
              <a:chExt cx="5934382" cy="1020953"/>
            </a:xfrm>
          </p:grpSpPr>
          <p:sp>
            <p:nvSpPr>
              <p:cNvPr id="25" name="圆角矩形 130">
                <a:extLst>
                  <a:ext uri="{FF2B5EF4-FFF2-40B4-BE49-F238E27FC236}">
                    <a16:creationId xmlns:a16="http://schemas.microsoft.com/office/drawing/2014/main" id="{553E7BD9-CD76-BBAF-856D-034AB9935C45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D6E73D90-BAFB-4FD4-1E91-68E18BB1AEF8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210 %，2030e 收入约 </a:t>
                </a:r>
                <a:r>
                  <a:rPr kumimoji="1" lang="zh-CN" altLang="zh-CN" sz="1600" b="1" dirty="0">
                    <a:solidFill>
                      <a:srgbClr val="A6A6A6"/>
                    </a:solidFill>
                  </a:rPr>
                  <a:t>270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 亿美元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假设 CPO 方案在 1.6 T-800 G 所有节点都成为主流，渗透率&gt;60 %，并向 400 G 量级下沉</a:t>
                </a:r>
                <a:endParaRPr kumimoji="1" lang="en-US" altLang="zh-CN" sz="16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p:grpSp>
      </p:grpSp>
      <p:grpSp>
        <p:nvGrpSpPr>
          <p:cNvPr id="1464" name="组合 1463">
            <a:extLst>
              <a:ext uri="{FF2B5EF4-FFF2-40B4-BE49-F238E27FC236}">
                <a16:creationId xmlns:a16="http://schemas.microsoft.com/office/drawing/2014/main" id="{0B5357ED-5A4E-2ECA-BADF-9C8B2A83B0AA}"/>
              </a:ext>
            </a:extLst>
          </p:cNvPr>
          <p:cNvGrpSpPr/>
          <p:nvPr/>
        </p:nvGrpSpPr>
        <p:grpSpPr>
          <a:xfrm>
            <a:off x="6229850" y="4648768"/>
            <a:ext cx="5470116" cy="1470577"/>
            <a:chOff x="6229850" y="4648768"/>
            <a:chExt cx="5470116" cy="1470577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5785EF29-3E3B-1056-EDFA-9A957B95F60D}"/>
                </a:ext>
              </a:extLst>
            </p:cNvPr>
            <p:cNvSpPr txBox="1"/>
            <p:nvPr/>
          </p:nvSpPr>
          <p:spPr>
            <a:xfrm>
              <a:off x="6724328" y="4766662"/>
              <a:ext cx="3492221" cy="244216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>
              <a:noAutofit/>
            </a:bodyPr>
            <a:lstStyle/>
            <a:p>
              <a:pPr>
                <a:spcBef>
                  <a:spcPts val="300"/>
                </a:spcBef>
                <a:spcAft>
                  <a:spcPts val="300"/>
                </a:spcAft>
              </a:pPr>
              <a:r>
                <a:rPr kumimoji="1" lang="en-US" altLang="zh-CN" sz="1600" b="1" dirty="0">
                  <a:solidFill>
                    <a:schemeClr val="accent5"/>
                  </a:solidFill>
                </a:rPr>
                <a:t>Bear case</a:t>
              </a:r>
              <a:endParaRPr kumimoji="1" lang="zh-CN" altLang="en-US" sz="1600" b="1" dirty="0">
                <a:solidFill>
                  <a:schemeClr val="accent2"/>
                </a:solidFill>
              </a:endParaRPr>
            </a:p>
          </p:txBody>
        </p: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76B887FB-C16F-F745-166B-FBC2FD6C77A8}"/>
                </a:ext>
              </a:extLst>
            </p:cNvPr>
            <p:cNvGrpSpPr/>
            <p:nvPr/>
          </p:nvGrpSpPr>
          <p:grpSpPr>
            <a:xfrm>
              <a:off x="6288045" y="5098392"/>
              <a:ext cx="5411921" cy="1020953"/>
              <a:chOff x="341635" y="2107778"/>
              <a:chExt cx="5934382" cy="1020953"/>
            </a:xfrm>
          </p:grpSpPr>
          <p:sp>
            <p:nvSpPr>
              <p:cNvPr id="30" name="圆角矩形 130">
                <a:extLst>
                  <a:ext uri="{FF2B5EF4-FFF2-40B4-BE49-F238E27FC236}">
                    <a16:creationId xmlns:a16="http://schemas.microsoft.com/office/drawing/2014/main" id="{39FBF59B-ED41-C0EB-9B27-64B470BE56E1}"/>
                  </a:ext>
                </a:extLst>
              </p:cNvPr>
              <p:cNvSpPr/>
              <p:nvPr/>
            </p:nvSpPr>
            <p:spPr>
              <a:xfrm>
                <a:off x="341635" y="2107778"/>
                <a:ext cx="5934382" cy="1020953"/>
              </a:xfrm>
              <a:prstGeom prst="roundRect">
                <a:avLst>
                  <a:gd name="adj" fmla="val 5634"/>
                </a:avLst>
              </a:prstGeom>
              <a:noFill/>
              <a:ln w="6350" cap="sq">
                <a:solidFill>
                  <a:schemeClr val="tx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>
                  <a:spcBef>
                    <a:spcPts val="300"/>
                  </a:spcBef>
                  <a:spcAft>
                    <a:spcPts val="300"/>
                  </a:spcAft>
                </a:pPr>
                <a:endParaRPr kumimoji="1" lang="zh-CN" altLang="en-US" sz="1600" dirty="0" err="1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5CECCE4C-671F-75C0-ADA8-19D6C9B92977}"/>
                  </a:ext>
                </a:extLst>
              </p:cNvPr>
              <p:cNvSpPr txBox="1"/>
              <p:nvPr/>
            </p:nvSpPr>
            <p:spPr>
              <a:xfrm>
                <a:off x="488628" y="2203240"/>
                <a:ext cx="5607371" cy="251805"/>
              </a:xfrm>
              <a:prstGeom prst="rect">
                <a:avLst/>
              </a:prstGeom>
              <a:ln w="6350">
                <a:noFill/>
                <a:miter lim="800000"/>
              </a:ln>
            </p:spPr>
            <p:txBody>
              <a:bodyPr vert="horz" wrap="square" lIns="0" tIns="0" rIns="0" bIns="0" rtlCol="0">
                <a:noAutofit/>
              </a:bodyPr>
              <a:lstStyle/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CAGR 107 %，2030e 收入约 </a:t>
                </a:r>
                <a:r>
                  <a:rPr kumimoji="1" lang="zh-CN" altLang="zh-CN" sz="1600" b="1" dirty="0">
                    <a:solidFill>
                      <a:schemeClr val="accent5"/>
                    </a:solidFill>
                  </a:rPr>
                  <a:t>10</a:t>
                </a:r>
                <a:r>
                  <a:rPr kumimoji="1" lang="zh-CN" altLang="zh-CN" sz="1600" dirty="0">
                    <a:solidFill>
                      <a:schemeClr val="tx1">
                        <a:lumMod val="50000"/>
                      </a:schemeClr>
                    </a:solidFill>
                  </a:rPr>
                  <a:t>亿美元</a:t>
                </a:r>
                <a:endParaRPr kumimoji="1" lang="zh-CN" altLang="en-US" sz="1600" dirty="0">
                  <a:solidFill>
                    <a:schemeClr val="accent5"/>
                  </a:solidFill>
                </a:endParaRPr>
              </a:p>
              <a:p>
                <a:pPr marL="185738" indent="-185738">
                  <a:spcBef>
                    <a:spcPts val="300"/>
                  </a:spcBef>
                  <a:spcAft>
                    <a:spcPts val="300"/>
                  </a:spcAft>
                  <a:buFont typeface="Arial" panose="020B0604020202020204" pitchFamily="34" charset="0"/>
                  <a:buChar char="•"/>
                </a:pPr>
                <a:r>
                  <a:rPr kumimoji="1" lang="zh-CN" altLang="zh-CN" dirty="0"/>
                  <a:t>只在极高端 AI 集群试点，渗透率≤15 % （渗透难点）</a:t>
                </a:r>
                <a:endParaRPr lang="zh-CN" altLang="zh-CN" dirty="0"/>
              </a:p>
            </p:txBody>
          </p:sp>
        </p:grpSp>
        <p:pic>
          <p:nvPicPr>
            <p:cNvPr id="32" name="图形 31" descr="实心填充的悲伤表情 纯色填充">
              <a:extLst>
                <a:ext uri="{FF2B5EF4-FFF2-40B4-BE49-F238E27FC236}">
                  <a16:creationId xmlns:a16="http://schemas.microsoft.com/office/drawing/2014/main" id="{2280765D-1A3A-785E-BBE1-EE0D12CB71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/>
            </a:stretch>
          </p:blipFill>
          <p:spPr>
            <a:xfrm>
              <a:off x="6229850" y="4648768"/>
              <a:ext cx="396000" cy="396000"/>
            </a:xfrm>
            <a:prstGeom prst="rect">
              <a:avLst/>
            </a:prstGeom>
          </p:spPr>
        </p:pic>
      </p:grpSp>
      <p:sp>
        <p:nvSpPr>
          <p:cNvPr id="1027" name="文本框 1026">
            <a:extLst>
              <a:ext uri="{FF2B5EF4-FFF2-40B4-BE49-F238E27FC236}">
                <a16:creationId xmlns:a16="http://schemas.microsoft.com/office/drawing/2014/main" id="{81FC385A-96DE-0202-866B-78188FD97433}"/>
              </a:ext>
            </a:extLst>
          </p:cNvPr>
          <p:cNvSpPr txBox="1"/>
          <p:nvPr/>
        </p:nvSpPr>
        <p:spPr>
          <a:xfrm>
            <a:off x="1628246" y="6080125"/>
            <a:ext cx="789517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低性能</a:t>
            </a:r>
          </a:p>
        </p:txBody>
      </p:sp>
      <p:sp>
        <p:nvSpPr>
          <p:cNvPr id="1029" name="文本框 1028">
            <a:extLst>
              <a:ext uri="{FF2B5EF4-FFF2-40B4-BE49-F238E27FC236}">
                <a16:creationId xmlns:a16="http://schemas.microsoft.com/office/drawing/2014/main" id="{ED959D1F-A75E-9F50-46DB-704B1229DAEC}"/>
              </a:ext>
            </a:extLst>
          </p:cNvPr>
          <p:cNvSpPr txBox="1"/>
          <p:nvPr/>
        </p:nvSpPr>
        <p:spPr>
          <a:xfrm>
            <a:off x="3857665" y="6080125"/>
            <a:ext cx="789517" cy="2524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rPr>
              <a:t>高性能</a:t>
            </a:r>
          </a:p>
        </p:txBody>
      </p:sp>
      <p:graphicFrame>
        <p:nvGraphicFramePr>
          <p:cNvPr id="6" name="Chart 3">
            <a:extLst>
              <a:ext uri="{FF2B5EF4-FFF2-40B4-BE49-F238E27FC236}">
                <a16:creationId xmlns:a16="http://schemas.microsoft.com/office/drawing/2014/main" id="{5F760E12-EFA7-4315-1F3C-A558AAF0EA04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310084602"/>
              </p:ext>
            </p:extLst>
          </p:nvPr>
        </p:nvGraphicFramePr>
        <p:xfrm>
          <a:off x="419100" y="4556125"/>
          <a:ext cx="5097463" cy="1509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sp>
        <p:nvSpPr>
          <p:cNvPr id="236" name="Text Placeholder 4">
            <a:extLst>
              <a:ext uri="{FF2B5EF4-FFF2-40B4-BE49-F238E27FC236}">
                <a16:creationId xmlns:a16="http://schemas.microsoft.com/office/drawing/2014/main" id="{2F55FFD5-3371-28E9-B48D-206B77F2CF91}"/>
              </a:ext>
            </a:extLst>
          </p:cNvPr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1258888" y="5818188"/>
            <a:ext cx="446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C66AAAE8-1A3A-4F33-9609-5AEC40C34C2B}" type="datetime'''''''''''''''''''''4''''''0''''0''''''G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400G</a:t>
            </a:fld>
            <a:endParaRPr lang="zh-CN" altLang="en-US" sz="1400" dirty="0">
              <a:cs typeface="+mn-cs"/>
            </a:endParaRPr>
          </a:p>
        </p:txBody>
      </p:sp>
      <p:sp>
        <p:nvSpPr>
          <p:cNvPr id="238" name="Text Placeholder 4">
            <a:extLst>
              <a:ext uri="{FF2B5EF4-FFF2-40B4-BE49-F238E27FC236}">
                <a16:creationId xmlns:a16="http://schemas.microsoft.com/office/drawing/2014/main" id="{D777AEAC-7177-08D5-549E-46C5064922C7}"/>
              </a:ext>
            </a:extLst>
          </p:cNvPr>
          <p:cNvSpPr>
            <a:spLocks/>
          </p:cNvSpPr>
          <p:nvPr>
            <p:custDataLst>
              <p:tags r:id="rId4"/>
            </p:custDataLst>
          </p:nvPr>
        </p:nvSpPr>
        <p:spPr bwMode="auto">
          <a:xfrm>
            <a:off x="2387600" y="5818188"/>
            <a:ext cx="446088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11C6DA63-6EB6-4C28-A0FF-80B09DB517C9}" type="datetime'''''''''''8''''''''''''''0''0''''''''''''''G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800G</a:t>
            </a:fld>
            <a:endParaRPr lang="zh-CN" altLang="en-US" sz="1400" dirty="0">
              <a:cs typeface="+mn-cs"/>
            </a:endParaRPr>
          </a:p>
        </p:txBody>
      </p:sp>
      <p:sp>
        <p:nvSpPr>
          <p:cNvPr id="239" name="Text Placeholder 4">
            <a:extLst>
              <a:ext uri="{FF2B5EF4-FFF2-40B4-BE49-F238E27FC236}">
                <a16:creationId xmlns:a16="http://schemas.microsoft.com/office/drawing/2014/main" id="{FA3A03A8-DC3A-BB56-4FF5-2BB2D5C9D82D}"/>
              </a:ext>
            </a:extLst>
          </p:cNvPr>
          <p:cNvSpPr>
            <a:spLocks/>
          </p:cNvSpPr>
          <p:nvPr>
            <p:custDataLst>
              <p:tags r:id="rId5"/>
            </p:custDataLst>
          </p:nvPr>
        </p:nvSpPr>
        <p:spPr bwMode="auto">
          <a:xfrm>
            <a:off x="3557588" y="5818188"/>
            <a:ext cx="3667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97C8119-DB76-4A5A-BF20-C132DC9B103E}" type="datetime'''''''''''''''''''''''''''1''''''.6T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1.6T</a:t>
            </a:fld>
            <a:endParaRPr lang="zh-CN" altLang="en-US" sz="1400" dirty="0">
              <a:cs typeface="+mn-cs"/>
            </a:endParaRPr>
          </a:p>
        </p:txBody>
      </p:sp>
      <p:sp>
        <p:nvSpPr>
          <p:cNvPr id="240" name="Text Placeholder 4">
            <a:extLst>
              <a:ext uri="{FF2B5EF4-FFF2-40B4-BE49-F238E27FC236}">
                <a16:creationId xmlns:a16="http://schemas.microsoft.com/office/drawing/2014/main" id="{679612F0-F092-193C-7C27-A7092848FD97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auto">
          <a:xfrm>
            <a:off x="4686300" y="5818188"/>
            <a:ext cx="3667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90909529-56E5-442F-8337-93B8C5A7D10C}" type="datetime'''''''''''''''''3.''''''''''''2''''T'''''''''''''''''''">
              <a:rPr lang="en-US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3.2T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84" name="Text Placeholder 4">
            <a:extLst>
              <a:ext uri="{FF2B5EF4-FFF2-40B4-BE49-F238E27FC236}">
                <a16:creationId xmlns:a16="http://schemas.microsoft.com/office/drawing/2014/main" id="{A305FEF0-D139-9647-3592-D9D759679089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1406525" y="5521325"/>
            <a:ext cx="1492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D97A3AE8-2F8A-41F3-8D25-D482D15F8936}" type="datetime'''''''''''''''''''''''''''''''''''''''0''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zh-CN" altLang="en-US" sz="1400" dirty="0">
              <a:cs typeface="+mn-cs"/>
            </a:endParaRPr>
          </a:p>
        </p:txBody>
      </p:sp>
      <p:sp>
        <p:nvSpPr>
          <p:cNvPr id="1067" name="矩形 1066">
            <a:extLst>
              <a:ext uri="{FF2B5EF4-FFF2-40B4-BE49-F238E27FC236}">
                <a16:creationId xmlns:a16="http://schemas.microsoft.com/office/drawing/2014/main" id="{0FBAC1F0-5EC6-BD90-2DD4-83A90501936A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825625" y="4508500"/>
            <a:ext cx="250825" cy="187325"/>
          </a:xfrm>
          <a:prstGeom prst="rect">
            <a:avLst/>
          </a:prstGeom>
          <a:solidFill>
            <a:srgbClr val="0052D9"/>
          </a:solidFill>
          <a:ln w="1079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0" name="Text Placeholder 4">
            <a:extLst>
              <a:ext uri="{FF2B5EF4-FFF2-40B4-BE49-F238E27FC236}">
                <a16:creationId xmlns:a16="http://schemas.microsoft.com/office/drawing/2014/main" id="{02B2451A-775A-9872-0189-F5F2B0CE175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auto">
          <a:xfrm>
            <a:off x="2127250" y="4503738"/>
            <a:ext cx="21240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94A03CFA-7493-4AA5-BAC2-75BF3C4EF0AD}" type="datetime'''''CPO''渗透''''''''率（%''，''2''''''''''''0''''2''9''E''''）'">
              <a:rPr lang="en-US" altLang="en-US" sz="1400" smtClean="0">
                <a:cs typeface="+mn-cs"/>
              </a:rPr>
              <a:pPr/>
              <a:t>CPO渗透率（%，2029E）</a:t>
            </a:fld>
            <a:endParaRPr lang="zh-CN" altLang="en-US" sz="1400" dirty="0">
              <a:cs typeface="+mn-cs"/>
            </a:endParaRPr>
          </a:p>
        </p:txBody>
      </p:sp>
      <p:sp>
        <p:nvSpPr>
          <p:cNvPr id="246" name="文本框 245">
            <a:extLst>
              <a:ext uri="{FF2B5EF4-FFF2-40B4-BE49-F238E27FC236}">
                <a16:creationId xmlns:a16="http://schemas.microsoft.com/office/drawing/2014/main" id="{007138D0-E65D-096F-D2A3-D906A9C3C210}"/>
              </a:ext>
            </a:extLst>
          </p:cNvPr>
          <p:cNvSpPr txBox="1"/>
          <p:nvPr/>
        </p:nvSpPr>
        <p:spPr>
          <a:xfrm>
            <a:off x="476056" y="812800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新建</a:t>
            </a:r>
            <a:r>
              <a:rPr kumimoji="1" lang="en-US" altLang="zh-CN" sz="1600" b="1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优先渗透：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① 避免重置成本；②服务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AI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训练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/HPC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（高速、高能耗）占新建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IDC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比重大，强需求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247" name="文本框 246">
            <a:extLst>
              <a:ext uri="{FF2B5EF4-FFF2-40B4-BE49-F238E27FC236}">
                <a16:creationId xmlns:a16="http://schemas.microsoft.com/office/drawing/2014/main" id="{F03F1CBD-BC13-DC64-E19E-E7901E7EF69D}"/>
              </a:ext>
            </a:extLst>
          </p:cNvPr>
          <p:cNvSpPr txBox="1"/>
          <p:nvPr/>
        </p:nvSpPr>
        <p:spPr>
          <a:xfrm>
            <a:off x="517926" y="3897313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高性能优先渗透：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2029E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CPO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在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3.2T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光引擎的渗透率可达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51%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，保守估计</a:t>
            </a:r>
            <a:r>
              <a:rPr kumimoji="1" lang="en-US" altLang="zh-CN" sz="1600" dirty="0">
                <a:solidFill>
                  <a:schemeClr val="tx1">
                    <a:lumMod val="50000"/>
                  </a:schemeClr>
                </a:solidFill>
              </a:rPr>
              <a:t>400G</a:t>
            </a:r>
            <a:r>
              <a:rPr kumimoji="1" lang="zh-CN" altLang="en-US" sz="1600" dirty="0">
                <a:solidFill>
                  <a:schemeClr val="tx1">
                    <a:lumMod val="50000"/>
                  </a:schemeClr>
                </a:solidFill>
              </a:rPr>
              <a:t>下难以渗透</a:t>
            </a:r>
            <a:endParaRPr kumimoji="1" lang="zh-CN" altLang="zh-CN" sz="1600" dirty="0">
              <a:solidFill>
                <a:schemeClr val="tx1">
                  <a:lumMod val="50000"/>
                </a:schemeClr>
              </a:solidFill>
            </a:endParaRPr>
          </a:p>
        </p:txBody>
      </p:sp>
      <p:graphicFrame>
        <p:nvGraphicFramePr>
          <p:cNvPr id="1466" name="Chart 3">
            <a:extLst>
              <a:ext uri="{FF2B5EF4-FFF2-40B4-BE49-F238E27FC236}">
                <a16:creationId xmlns:a16="http://schemas.microsoft.com/office/drawing/2014/main" id="{12F95E79-FCE7-6567-71B9-6C3ADA4CD4EA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2245325640"/>
              </p:ext>
            </p:extLst>
          </p:nvPr>
        </p:nvGraphicFramePr>
        <p:xfrm>
          <a:off x="419100" y="1331913"/>
          <a:ext cx="5338763" cy="19796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1385" name="直接连接符 1384">
            <a:extLst>
              <a:ext uri="{FF2B5EF4-FFF2-40B4-BE49-F238E27FC236}">
                <a16:creationId xmlns:a16="http://schemas.microsoft.com/office/drawing/2014/main" id="{BDB0A669-F030-8B3F-E102-CDAE4E06A2A5}"/>
              </a:ext>
            </a:extLst>
          </p:cNvPr>
          <p:cNvCxnSpPr/>
          <p:nvPr>
            <p:custDataLst>
              <p:tags r:id="rId11"/>
            </p:custDataLst>
          </p:nvPr>
        </p:nvCxnSpPr>
        <p:spPr bwMode="auto">
          <a:xfrm>
            <a:off x="1260475" y="2022475"/>
            <a:ext cx="9525" cy="28575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9" name="Text Placeholder 4">
            <a:extLst>
              <a:ext uri="{FF2B5EF4-FFF2-40B4-BE49-F238E27FC236}">
                <a16:creationId xmlns:a16="http://schemas.microsoft.com/office/drawing/2014/main" id="{09868BCC-B81E-11B1-CD94-903191479A3C}"/>
              </a:ext>
            </a:extLst>
          </p:cNvPr>
          <p:cNvSpPr>
            <a:spLocks/>
          </p:cNvSpPr>
          <p:nvPr>
            <p:custDataLst>
              <p:tags r:id="rId12"/>
            </p:custDataLst>
          </p:nvPr>
        </p:nvSpPr>
        <p:spPr bwMode="gray">
          <a:xfrm>
            <a:off x="1054100" y="18097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1EC7BE9A-D415-4A44-AE24-68FFBB99E5AB}" type="datetime'''''''''''''''50''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50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409" name="Text Placeholder 4">
            <a:extLst>
              <a:ext uri="{FF2B5EF4-FFF2-40B4-BE49-F238E27FC236}">
                <a16:creationId xmlns:a16="http://schemas.microsoft.com/office/drawing/2014/main" id="{0C14AB77-1B12-ED28-AF9D-F95F5DF47E67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gray">
          <a:xfrm>
            <a:off x="1195388" y="2819400"/>
            <a:ext cx="149225" cy="212725"/>
          </a:xfrm>
          <a:prstGeom prst="rect">
            <a:avLst/>
          </a:prstGeom>
          <a:solidFill>
            <a:srgbClr val="0052D9"/>
          </a:solidFill>
          <a:ln>
            <a:noFill/>
          </a:ln>
          <a:effectLst/>
        </p:spPr>
        <p:txBody>
          <a:bodyPr vert="horz" wrap="none" lIns="25400" tIns="0" rIns="2540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2678601-379B-4DDB-8EDB-86F6E0DF5FD6}" type="datetime'''''''''''''4'''''''''''''''''''">
              <a:rPr lang="zh-CN" altLang="en-US" sz="1400" smtClean="0">
                <a:solidFill>
                  <a:schemeClr val="tx2"/>
                </a:solidFill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400" dirty="0">
              <a:solidFill>
                <a:schemeClr val="tx2"/>
              </a:solidFill>
              <a:cs typeface="+mn-cs"/>
            </a:endParaRPr>
          </a:p>
        </p:txBody>
      </p:sp>
      <p:sp>
        <p:nvSpPr>
          <p:cNvPr id="1238" name="Text Placeholder 4">
            <a:extLst>
              <a:ext uri="{FF2B5EF4-FFF2-40B4-BE49-F238E27FC236}">
                <a16:creationId xmlns:a16="http://schemas.microsoft.com/office/drawing/2014/main" id="{B995715A-2304-BDF0-8B6F-8D22AFDE9032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1066800" y="30908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0111558-26D7-44ED-8EAE-AB0E70291193}" type="datetime'''2''''''''0''''''''''''''2''''''''''''3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2023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34" name="Text Placeholder 4">
            <a:extLst>
              <a:ext uri="{FF2B5EF4-FFF2-40B4-BE49-F238E27FC236}">
                <a16:creationId xmlns:a16="http://schemas.microsoft.com/office/drawing/2014/main" id="{292DFD30-7041-4B51-F1E9-C39D21897DD0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gray">
          <a:xfrm>
            <a:off x="1711325" y="17192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D3B24726-043A-4D4B-8F8E-A2143975EBC7}" type="datetime'''''6''''''''''''''''''''''''''6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66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39" name="Text Placeholder 4">
            <a:extLst>
              <a:ext uri="{FF2B5EF4-FFF2-40B4-BE49-F238E27FC236}">
                <a16:creationId xmlns:a16="http://schemas.microsoft.com/office/drawing/2014/main" id="{BA3B5D9C-B861-8D22-0ED2-CF274EBAA19E}"/>
              </a:ext>
            </a:extLst>
          </p:cNvPr>
          <p:cNvSpPr>
            <a:spLocks/>
          </p:cNvSpPr>
          <p:nvPr>
            <p:custDataLst>
              <p:tags r:id="rId16"/>
            </p:custDataLst>
          </p:nvPr>
        </p:nvSpPr>
        <p:spPr bwMode="auto">
          <a:xfrm>
            <a:off x="1716088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4C36C636-56B0-4951-91FC-5A4FF6EEAB4D}" type="datetime'2''''0''''''''''2''4''''''''''''''''''''E'''''''">
              <a:rPr lang="en-US" altLang="en-US" sz="1400" smtClean="0">
                <a:cs typeface="+mn-cs"/>
              </a:rPr>
              <a:pPr/>
              <a:t>2024E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39" name="Text Placeholder 4">
            <a:extLst>
              <a:ext uri="{FF2B5EF4-FFF2-40B4-BE49-F238E27FC236}">
                <a16:creationId xmlns:a16="http://schemas.microsoft.com/office/drawing/2014/main" id="{6FCBF2E4-060B-EB4E-87F9-1AA3D5C1EF09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 bwMode="gray">
          <a:xfrm>
            <a:off x="2482850" y="1654175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6E3ACB73-1C7F-4DF8-B9E2-17E4055E778A}" type="datetime'''7''''''''''''''''''''''''''''''''9'''''''''''''''''''''">
              <a:rPr lang="zh-CN" altLang="en-US" sz="1400" smtClean="0">
                <a:effectLst/>
                <a:cs typeface="+mn-cs"/>
              </a:rPr>
              <a:pPr lvl="0" algn="ctr">
                <a:spcBef>
                  <a:spcPct val="0"/>
                </a:spcBef>
                <a:spcAft>
                  <a:spcPct val="0"/>
                </a:spcAft>
              </a:pPr>
              <a:t>79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0" name="Text Placeholder 4">
            <a:extLst>
              <a:ext uri="{FF2B5EF4-FFF2-40B4-BE49-F238E27FC236}">
                <a16:creationId xmlns:a16="http://schemas.microsoft.com/office/drawing/2014/main" id="{FC9D6364-BA85-7972-0C89-D88AD2AB536A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 bwMode="auto">
          <a:xfrm>
            <a:off x="2424113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9A25E42-892F-4C49-8B6A-154CD55C2BF3}" type="datetime'''''''2''''''''''''''0''''''2''''''''''''''5E'''''''''">
              <a:rPr lang="en-US" altLang="en-US" sz="1400" smtClean="0">
                <a:cs typeface="+mn-cs"/>
              </a:rPr>
              <a:pPr/>
              <a:t>2025E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18" name="Text Placeholder 4">
            <a:extLst>
              <a:ext uri="{FF2B5EF4-FFF2-40B4-BE49-F238E27FC236}">
                <a16:creationId xmlns:a16="http://schemas.microsoft.com/office/drawing/2014/main" id="{4D40D1D2-4A72-8A44-5941-739704DF3DF8}"/>
              </a:ext>
            </a:extLst>
          </p:cNvPr>
          <p:cNvSpPr>
            <a:spLocks/>
          </p:cNvSpPr>
          <p:nvPr>
            <p:custDataLst>
              <p:tags r:id="rId19"/>
            </p:custDataLst>
          </p:nvPr>
        </p:nvSpPr>
        <p:spPr bwMode="gray">
          <a:xfrm>
            <a:off x="3208338" y="1466850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0AF90DE-ACC4-4F36-BB02-9959B1F4FE66}" type="datetime'8''''1''''''''''''''''''''''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81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8" name="Text Placeholder 4">
            <a:extLst>
              <a:ext uri="{FF2B5EF4-FFF2-40B4-BE49-F238E27FC236}">
                <a16:creationId xmlns:a16="http://schemas.microsoft.com/office/drawing/2014/main" id="{2BB81DE5-6BF1-15C4-CF22-A4F38749D190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3130550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002FA593-929E-4872-8B9E-D946B88E82CB}" type="datetime'''''''''2''0''''''''26''''''E'''''''''''''''''''''''''''''''">
              <a:rPr lang="en-US" altLang="en-US" sz="1400" smtClean="0">
                <a:cs typeface="+mn-cs"/>
              </a:rPr>
              <a:pPr/>
              <a:t>2026E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48" name="Text Placeholder 4">
            <a:extLst>
              <a:ext uri="{FF2B5EF4-FFF2-40B4-BE49-F238E27FC236}">
                <a16:creationId xmlns:a16="http://schemas.microsoft.com/office/drawing/2014/main" id="{71E06ED0-9591-6505-235A-2D46BA417588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gray">
          <a:xfrm>
            <a:off x="3957638" y="141446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6B8E89EE-AABC-4733-AE91-BFA3E23C257B}" type="datetime'''''''''''''''''''''8''''''''''''''''''6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86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49" name="Text Placeholder 4">
            <a:extLst>
              <a:ext uri="{FF2B5EF4-FFF2-40B4-BE49-F238E27FC236}">
                <a16:creationId xmlns:a16="http://schemas.microsoft.com/office/drawing/2014/main" id="{6E74F4C2-72C8-B331-1A05-C0486FB2BE01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3838575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F7D7190E-51D9-491A-A2EC-A92C0602E767}" type="datetime'''2''0''''''''''''''2''''''''''''''7''''E'''''''''''''''">
              <a:rPr lang="en-US" altLang="en-US" sz="1400" smtClean="0">
                <a:cs typeface="+mn-cs"/>
              </a:rPr>
              <a:pPr/>
              <a:t>2027E</a:t>
            </a:fld>
            <a:endParaRPr lang="zh-CN" altLang="en-US" sz="1400" dirty="0">
              <a:cs typeface="+mn-cs"/>
            </a:endParaRPr>
          </a:p>
        </p:txBody>
      </p:sp>
      <p:sp>
        <p:nvSpPr>
          <p:cNvPr id="1353" name="Text Placeholder 4">
            <a:extLst>
              <a:ext uri="{FF2B5EF4-FFF2-40B4-BE49-F238E27FC236}">
                <a16:creationId xmlns:a16="http://schemas.microsoft.com/office/drawing/2014/main" id="{C469AD32-DB2A-10DF-F6D1-B0EACA6E57ED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gray">
          <a:xfrm>
            <a:off x="4621213" y="1395413"/>
            <a:ext cx="4064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>
              <a:spcBef>
                <a:spcPct val="0"/>
              </a:spcBef>
              <a:spcAft>
                <a:spcPct val="0"/>
              </a:spcAft>
            </a:pPr>
            <a:fld id="{A3923C1E-1CC6-4D41-8F04-B6BDFC065FAE}" type="datetime'''''''''''''9''''''''''''''''''''''''''''''''''''0'''''">
              <a:rPr lang="zh-CN" altLang="en-US" sz="1400" smtClean="0">
                <a:effectLst/>
                <a:cs typeface="+mn-cs"/>
              </a:rPr>
              <a:pPr lvl="0">
                <a:spcBef>
                  <a:spcPct val="0"/>
                </a:spcBef>
                <a:spcAft>
                  <a:spcPct val="0"/>
                </a:spcAft>
              </a:pPr>
              <a:t>90</a:t>
            </a:fld>
            <a:r>
              <a:rPr lang="en-US" altLang="zh-CN" sz="1400" dirty="0">
                <a:effectLst/>
                <a:cs typeface="+mn-cs"/>
              </a:rPr>
              <a:t>%</a:t>
            </a:r>
            <a:endParaRPr lang="zh-CN" altLang="en-US" sz="1400" dirty="0">
              <a:cs typeface="+mn-cs"/>
            </a:endParaRPr>
          </a:p>
        </p:txBody>
      </p:sp>
      <p:sp>
        <p:nvSpPr>
          <p:cNvPr id="1250" name="Text Placeholder 4">
            <a:extLst>
              <a:ext uri="{FF2B5EF4-FFF2-40B4-BE49-F238E27FC236}">
                <a16:creationId xmlns:a16="http://schemas.microsoft.com/office/drawing/2014/main" id="{EA8FD88D-17D7-B9D5-4E44-9A13BBD375C6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546600" y="3090863"/>
            <a:ext cx="52546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Segoe UI" panose="020B0502040204020203" pitchFamily="34" charset="0"/>
              <a:buChar char="​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  <a:sym typeface="微软雅黑" panose="020B0503020204020204" pitchFamily="34" charset="-122"/>
              </a:defRPr>
            </a:lvl1pPr>
            <a:lvl2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Wingdings" panose="05000000000000000000" pitchFamily="2" charset="2"/>
              <a:buChar char="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2pPr>
            <a:lvl3pPr marL="438785" indent="-21018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‒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3pPr>
            <a:lvl4pPr marL="594360" indent="-155575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4pPr>
            <a:lvl5pPr marL="814070" indent="-1460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̶"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  <a:sym typeface="微软雅黑" panose="020B0503020204020204" pitchFamily="34" charset="-122"/>
              </a:defRPr>
            </a:lvl5pPr>
            <a:lvl6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1085850" indent="-17145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</a:pPr>
            <a:fld id="{8F7B34D3-CE6C-4D50-9500-65F76524AB47}" type="datetime'''''''''''''2''''''''''''''''''''''''''0''''''''2''8''''''E'">
              <a:rPr lang="en-US" altLang="en-US" sz="1400" smtClean="0">
                <a:cs typeface="+mn-cs"/>
              </a:rPr>
              <a:pPr/>
              <a:t>2028E</a:t>
            </a:fld>
            <a:endParaRPr lang="zh-CN" altLang="en-US" sz="1400" dirty="0">
              <a:cs typeface="+mn-cs"/>
            </a:endParaRPr>
          </a:p>
        </p:txBody>
      </p:sp>
      <p:grpSp>
        <p:nvGrpSpPr>
          <p:cNvPr id="1430" name="组合 1429">
            <a:extLst>
              <a:ext uri="{FF2B5EF4-FFF2-40B4-BE49-F238E27FC236}">
                <a16:creationId xmlns:a16="http://schemas.microsoft.com/office/drawing/2014/main" id="{1BB4EE94-7B0A-BBDF-270F-6624ED2829D7}"/>
              </a:ext>
            </a:extLst>
          </p:cNvPr>
          <p:cNvGrpSpPr/>
          <p:nvPr/>
        </p:nvGrpSpPr>
        <p:grpSpPr>
          <a:xfrm>
            <a:off x="776183" y="3348038"/>
            <a:ext cx="1035259" cy="252413"/>
            <a:chOff x="7119936" y="8112711"/>
            <a:chExt cx="1035259" cy="252413"/>
          </a:xfrm>
        </p:grpSpPr>
        <p:cxnSp>
          <p:nvCxnSpPr>
            <p:cNvPr id="1425" name="直接连接符 1424">
              <a:extLst>
                <a:ext uri="{FF2B5EF4-FFF2-40B4-BE49-F238E27FC236}">
                  <a16:creationId xmlns:a16="http://schemas.microsoft.com/office/drawing/2014/main" id="{E5C09E32-C4CE-377C-D2E9-07AD9BBD3022}"/>
                </a:ext>
              </a:extLst>
            </p:cNvPr>
            <p:cNvCxnSpPr/>
            <p:nvPr/>
          </p:nvCxnSpPr>
          <p:spPr>
            <a:xfrm>
              <a:off x="7119936" y="8239760"/>
              <a:ext cx="249238" cy="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6" name="文本框 1425">
              <a:extLst>
                <a:ext uri="{FF2B5EF4-FFF2-40B4-BE49-F238E27FC236}">
                  <a16:creationId xmlns:a16="http://schemas.microsoft.com/office/drawing/2014/main" id="{25FD7562-D650-7AF7-05DE-063A083C390C}"/>
                </a:ext>
              </a:extLst>
            </p:cNvPr>
            <p:cNvSpPr txBox="1"/>
            <p:nvPr/>
          </p:nvSpPr>
          <p:spPr>
            <a:xfrm>
              <a:off x="7399069" y="8112711"/>
              <a:ext cx="7561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84C36E56-4B04-41B5-94C2-7063264D624A}" type="datetime'''''A''''I''数''''''''据中心占''''''比''''''（右''''''轴）'">
                <a:rPr lang="en-US" altLang="en-US" sz="1000"/>
                <a:pPr/>
                <a:t>AI数据中心占比（右轴）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</p:grpSp>
      <p:grpSp>
        <p:nvGrpSpPr>
          <p:cNvPr id="1429" name="组合 1428">
            <a:extLst>
              <a:ext uri="{FF2B5EF4-FFF2-40B4-BE49-F238E27FC236}">
                <a16:creationId xmlns:a16="http://schemas.microsoft.com/office/drawing/2014/main" id="{4C8BBDBF-5D55-2A2A-4D12-57F626432DAF}"/>
              </a:ext>
            </a:extLst>
          </p:cNvPr>
          <p:cNvGrpSpPr/>
          <p:nvPr/>
        </p:nvGrpSpPr>
        <p:grpSpPr>
          <a:xfrm>
            <a:off x="2242002" y="3348038"/>
            <a:ext cx="1372736" cy="252413"/>
            <a:chOff x="7119936" y="8382496"/>
            <a:chExt cx="1372736" cy="252413"/>
          </a:xfrm>
        </p:grpSpPr>
        <p:sp>
          <p:nvSpPr>
            <p:cNvPr id="1427" name="文本框 1426">
              <a:extLst>
                <a:ext uri="{FF2B5EF4-FFF2-40B4-BE49-F238E27FC236}">
                  <a16:creationId xmlns:a16="http://schemas.microsoft.com/office/drawing/2014/main" id="{20E8C214-E8E8-CDFD-6402-E07CAFF77CE2}"/>
                </a:ext>
              </a:extLst>
            </p:cNvPr>
            <p:cNvSpPr txBox="1"/>
            <p:nvPr/>
          </p:nvSpPr>
          <p:spPr>
            <a:xfrm>
              <a:off x="7415146" y="8382496"/>
              <a:ext cx="1077526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35BA35A4-7BCF-47DF-AAF8-CBE55ED44397}" type="datetime'''''''''传统''''''数''''''据''''''中心''新''增装机（''GW，''左''''''轴）'''''">
                <a:rPr lang="zh-CN" altLang="en-US" sz="1000" smtClean="0"/>
                <a:pPr/>
                <a:t>传统数据中心新增装机（GW，左轴）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428" name="矩形 1427">
              <a:extLst>
                <a:ext uri="{FF2B5EF4-FFF2-40B4-BE49-F238E27FC236}">
                  <a16:creationId xmlns:a16="http://schemas.microsoft.com/office/drawing/2014/main" id="{1B6CE9B7-65BF-DF07-7C66-0EFB0E4C2CD8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31" name="组合 1430">
            <a:extLst>
              <a:ext uri="{FF2B5EF4-FFF2-40B4-BE49-F238E27FC236}">
                <a16:creationId xmlns:a16="http://schemas.microsoft.com/office/drawing/2014/main" id="{81FEBE0A-465E-14D8-1E99-88B591589587}"/>
              </a:ext>
            </a:extLst>
          </p:cNvPr>
          <p:cNvGrpSpPr/>
          <p:nvPr/>
        </p:nvGrpSpPr>
        <p:grpSpPr>
          <a:xfrm>
            <a:off x="4021910" y="3348038"/>
            <a:ext cx="1412291" cy="252413"/>
            <a:chOff x="7119936" y="8381439"/>
            <a:chExt cx="1412291" cy="252413"/>
          </a:xfrm>
        </p:grpSpPr>
        <p:sp>
          <p:nvSpPr>
            <p:cNvPr id="1432" name="文本框 1431">
              <a:extLst>
                <a:ext uri="{FF2B5EF4-FFF2-40B4-BE49-F238E27FC236}">
                  <a16:creationId xmlns:a16="http://schemas.microsoft.com/office/drawing/2014/main" id="{65ADDC06-4C8D-08FD-4217-ABC7F136C6B6}"/>
                </a:ext>
              </a:extLst>
            </p:cNvPr>
            <p:cNvSpPr txBox="1"/>
            <p:nvPr/>
          </p:nvSpPr>
          <p:spPr>
            <a:xfrm>
              <a:off x="7388184" y="8381439"/>
              <a:ext cx="1144043" cy="252413"/>
            </a:xfrm>
            <a:prstGeom prst="rect">
              <a:avLst/>
            </a:prstGeom>
            <a:ln w="6350">
              <a:noFill/>
              <a:miter lim="800000"/>
            </a:ln>
          </p:spPr>
          <p:txBody>
            <a:bodyPr vert="horz" wrap="square" lIns="0" tIns="0" rIns="0" bIns="0" rtlCol="0" anchor="ctr">
              <a:noAutofit/>
            </a:bodyPr>
            <a:lstStyle/>
            <a:p>
              <a:pPr algn="ctr">
                <a:spcBef>
                  <a:spcPts val="300"/>
                </a:spcBef>
                <a:spcAft>
                  <a:spcPts val="300"/>
                </a:spcAft>
                <a:buNone/>
              </a:pPr>
              <a:fld id="{CFD88005-6A91-46C3-936A-55EEC99DB3EA}" type="datetime'''A''IDC''''''新''''增''数''据''''中心''装机''''（''''GW''，''''''左轴''）'">
                <a:rPr lang="en-US" altLang="en-US" sz="1000"/>
                <a:pPr/>
                <a:t>AIDC新增数据中心装机（GW，左轴）</a:t>
              </a:fld>
              <a:endParaRPr lang="zh-CN" altLang="en-US" sz="1000" dirty="0">
                <a:solidFill>
                  <a:schemeClr val="bg1">
                    <a:lumMod val="50000"/>
                  </a:schemeClr>
                </a:solidFill>
                <a:sym typeface="微软雅黑" panose="020B0503020204020204" pitchFamily="34" charset="-122"/>
              </a:endParaRPr>
            </a:p>
          </p:txBody>
        </p:sp>
        <p:sp>
          <p:nvSpPr>
            <p:cNvPr id="1433" name="矩形 1432">
              <a:extLst>
                <a:ext uri="{FF2B5EF4-FFF2-40B4-BE49-F238E27FC236}">
                  <a16:creationId xmlns:a16="http://schemas.microsoft.com/office/drawing/2014/main" id="{09AE64F6-445F-5300-E298-63B66F8DF713}"/>
                </a:ext>
              </a:extLst>
            </p:cNvPr>
            <p:cNvSpPr/>
            <p:nvPr/>
          </p:nvSpPr>
          <p:spPr>
            <a:xfrm>
              <a:off x="7119936" y="8424904"/>
              <a:ext cx="249238" cy="165481"/>
            </a:xfrm>
            <a:prstGeom prst="rect">
              <a:avLst/>
            </a:prstGeom>
            <a:solidFill>
              <a:srgbClr val="0052D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8" name="Picture 4">
            <a:extLst>
              <a:ext uri="{FF2B5EF4-FFF2-40B4-BE49-F238E27FC236}">
                <a16:creationId xmlns:a16="http://schemas.microsoft.com/office/drawing/2014/main" id="{5ABBE95E-F07E-531D-4FED-DF2EB25C16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4" r="7467" b="8282"/>
          <a:stretch/>
        </p:blipFill>
        <p:spPr bwMode="auto">
          <a:xfrm>
            <a:off x="12622306" y="6797358"/>
            <a:ext cx="5960871" cy="41428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7276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" name="think-cell data - do not delete" hidden="1">
            <a:extLst>
              <a:ext uri="{FF2B5EF4-FFF2-40B4-BE49-F238E27FC236}">
                <a16:creationId xmlns:a16="http://schemas.microsoft.com/office/drawing/2014/main" id="{A240BEA0-2D22-D3F4-C233-750F4E7C1F8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459359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C6A88AF-41C7-0086-A0D1-4D82993D26E0}"/>
              </a:ext>
            </a:extLst>
          </p:cNvPr>
          <p:cNvCxnSpPr>
            <a:cxnSpLocks/>
          </p:cNvCxnSpPr>
          <p:nvPr/>
        </p:nvCxnSpPr>
        <p:spPr>
          <a:xfrm flipV="1">
            <a:off x="2378757" y="3486652"/>
            <a:ext cx="3392020" cy="908185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>
            <a:extLst>
              <a:ext uri="{FF2B5EF4-FFF2-40B4-BE49-F238E27FC236}">
                <a16:creationId xmlns:a16="http://schemas.microsoft.com/office/drawing/2014/main" id="{A7654DA5-9714-8E13-FB89-74134EB4A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互连技术范式变革带来新的市场机会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CD9A0C4-5A04-2B6C-20E9-2AF202CE7DA5}"/>
              </a:ext>
            </a:extLst>
          </p:cNvPr>
          <p:cNvSpPr/>
          <p:nvPr/>
        </p:nvSpPr>
        <p:spPr>
          <a:xfrm>
            <a:off x="12252681" y="748821"/>
            <a:ext cx="5044017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有变化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有机会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机会：光芯片、电芯片、交换机集成、四个环节核心且重要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E9490F9-F2E3-50D9-1D6F-9774C6317FF6}"/>
              </a:ext>
            </a:extLst>
          </p:cNvPr>
          <p:cNvSpPr/>
          <p:nvPr/>
        </p:nvSpPr>
        <p:spPr>
          <a:xfrm>
            <a:off x="6720564" y="7001574"/>
            <a:ext cx="8290893" cy="12860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判断标准：稀缺性、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margin 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、国产替代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053F648-E863-2A1E-C396-50877B8B21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70812" y="2318240"/>
            <a:ext cx="4019349" cy="4878832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D56B88B-1B7B-C85C-B472-C96A540E23B8}"/>
              </a:ext>
            </a:extLst>
          </p:cNvPr>
          <p:cNvCxnSpPr/>
          <p:nvPr/>
        </p:nvCxnSpPr>
        <p:spPr>
          <a:xfrm>
            <a:off x="1213948" y="5949959"/>
            <a:ext cx="954782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EB91A721-59EE-0F7F-72EF-AA131338CDEF}"/>
              </a:ext>
            </a:extLst>
          </p:cNvPr>
          <p:cNvSpPr txBox="1"/>
          <p:nvPr/>
        </p:nvSpPr>
        <p:spPr>
          <a:xfrm>
            <a:off x="3621446" y="6211825"/>
            <a:ext cx="71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2010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5110DB-C467-E67B-2F1A-F88AD2CF3214}"/>
              </a:ext>
            </a:extLst>
          </p:cNvPr>
          <p:cNvSpPr txBox="1"/>
          <p:nvPr/>
        </p:nvSpPr>
        <p:spPr>
          <a:xfrm>
            <a:off x="6638865" y="6222096"/>
            <a:ext cx="71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2020</a:t>
            </a:r>
            <a:endParaRPr lang="zh-CN" altLang="en-US" dirty="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71AA1483-A0F7-0220-22F2-95257FB5A2BB}"/>
              </a:ext>
            </a:extLst>
          </p:cNvPr>
          <p:cNvSpPr txBox="1"/>
          <p:nvPr/>
        </p:nvSpPr>
        <p:spPr>
          <a:xfrm>
            <a:off x="9237289" y="6222096"/>
            <a:ext cx="71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2030</a:t>
            </a:r>
            <a:endParaRPr lang="zh-CN" altLang="en-US" dirty="0"/>
          </a:p>
        </p:txBody>
      </p:sp>
      <p:graphicFrame>
        <p:nvGraphicFramePr>
          <p:cNvPr id="13" name="图表 12">
            <a:extLst>
              <a:ext uri="{FF2B5EF4-FFF2-40B4-BE49-F238E27FC236}">
                <a16:creationId xmlns:a16="http://schemas.microsoft.com/office/drawing/2014/main" id="{A1478251-59F3-6BDF-036B-668DEB8728F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2137708"/>
              </p:ext>
            </p:extLst>
          </p:nvPr>
        </p:nvGraphicFramePr>
        <p:xfrm>
          <a:off x="402562" y="4256272"/>
          <a:ext cx="2818130" cy="18297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7" name="文本框 16">
            <a:extLst>
              <a:ext uri="{FF2B5EF4-FFF2-40B4-BE49-F238E27FC236}">
                <a16:creationId xmlns:a16="http://schemas.microsoft.com/office/drawing/2014/main" id="{E8349084-9209-C4CF-E629-920D99414BB2}"/>
              </a:ext>
            </a:extLst>
          </p:cNvPr>
          <p:cNvSpPr txBox="1"/>
          <p:nvPr/>
        </p:nvSpPr>
        <p:spPr>
          <a:xfrm>
            <a:off x="1834411" y="2131926"/>
            <a:ext cx="148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铜互连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3A99E78-5D86-11C8-1CA9-A520B79DA008}"/>
              </a:ext>
            </a:extLst>
          </p:cNvPr>
          <p:cNvSpPr txBox="1"/>
          <p:nvPr/>
        </p:nvSpPr>
        <p:spPr>
          <a:xfrm>
            <a:off x="4838379" y="1812284"/>
            <a:ext cx="14807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光互连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0D4389-F8AB-DE28-5190-BF049929A64B}"/>
              </a:ext>
            </a:extLst>
          </p:cNvPr>
          <p:cNvSpPr txBox="1"/>
          <p:nvPr/>
        </p:nvSpPr>
        <p:spPr>
          <a:xfrm>
            <a:off x="4838379" y="2253395"/>
            <a:ext cx="207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可插拔光模块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3BCB48D-2D05-959C-3B43-357BB7812DC6}"/>
              </a:ext>
            </a:extLst>
          </p:cNvPr>
          <p:cNvSpPr txBox="1"/>
          <p:nvPr/>
        </p:nvSpPr>
        <p:spPr>
          <a:xfrm>
            <a:off x="8198067" y="2280495"/>
            <a:ext cx="2078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CPO</a:t>
            </a:r>
            <a:endParaRPr lang="zh-CN" altLang="en-US" dirty="0"/>
          </a:p>
        </p:txBody>
      </p:sp>
      <p:graphicFrame>
        <p:nvGraphicFramePr>
          <p:cNvPr id="21" name="图表 20">
            <a:extLst>
              <a:ext uri="{FF2B5EF4-FFF2-40B4-BE49-F238E27FC236}">
                <a16:creationId xmlns:a16="http://schemas.microsoft.com/office/drawing/2014/main" id="{44FC5A5D-A006-9915-6EB3-0329B85FE0F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85005521"/>
              </p:ext>
            </p:extLst>
          </p:nvPr>
        </p:nvGraphicFramePr>
        <p:xfrm>
          <a:off x="4362946" y="3335207"/>
          <a:ext cx="1996914" cy="27508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38" name="图表 37">
            <a:extLst>
              <a:ext uri="{FF2B5EF4-FFF2-40B4-BE49-F238E27FC236}">
                <a16:creationId xmlns:a16="http://schemas.microsoft.com/office/drawing/2014/main" id="{1069B0A9-EF68-7E60-578B-A089273C6F9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92721476"/>
              </p:ext>
            </p:extLst>
          </p:nvPr>
        </p:nvGraphicFramePr>
        <p:xfrm>
          <a:off x="7620189" y="2045202"/>
          <a:ext cx="2004121" cy="4040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46" name="椭圆 45">
            <a:extLst>
              <a:ext uri="{FF2B5EF4-FFF2-40B4-BE49-F238E27FC236}">
                <a16:creationId xmlns:a16="http://schemas.microsoft.com/office/drawing/2014/main" id="{4C60BB1E-0604-A60D-1C66-9D44777B2DB1}"/>
              </a:ext>
            </a:extLst>
          </p:cNvPr>
          <p:cNvSpPr/>
          <p:nvPr/>
        </p:nvSpPr>
        <p:spPr>
          <a:xfrm>
            <a:off x="2912133" y="4747518"/>
            <a:ext cx="617118" cy="61711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/>
              <a:t>市值</a:t>
            </a:r>
          </a:p>
        </p:txBody>
      </p:sp>
      <p:sp>
        <p:nvSpPr>
          <p:cNvPr id="80" name="Rectangle 1">
            <a:extLst>
              <a:ext uri="{FF2B5EF4-FFF2-40B4-BE49-F238E27FC236}">
                <a16:creationId xmlns:a16="http://schemas.microsoft.com/office/drawing/2014/main" id="{C97620FB-9D52-E3D4-0E76-44D9A5C5D8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02619" y="4004789"/>
            <a:ext cx="113212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TAM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81" name="Rectangle 1">
            <a:extLst>
              <a:ext uri="{FF2B5EF4-FFF2-40B4-BE49-F238E27FC236}">
                <a16:creationId xmlns:a16="http://schemas.microsoft.com/office/drawing/2014/main" id="{5080203A-4CD3-A882-4C9E-EABACF9EC2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8076" y="3153225"/>
            <a:ext cx="113212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00000"/>
                </a:solidFill>
                <a:latin typeface="+mn-ea"/>
              </a:rPr>
              <a:t>TAM</a:t>
            </a:r>
            <a:endParaRPr lang="zh-CN" altLang="zh-CN" dirty="0">
              <a:latin typeface="+mn-ea"/>
            </a:endParaRPr>
          </a:p>
        </p:txBody>
      </p:sp>
      <p:sp>
        <p:nvSpPr>
          <p:cNvPr id="82" name="Rectangle 1">
            <a:extLst>
              <a:ext uri="{FF2B5EF4-FFF2-40B4-BE49-F238E27FC236}">
                <a16:creationId xmlns:a16="http://schemas.microsoft.com/office/drawing/2014/main" id="{B1E99C72-CCDF-5A86-9F8C-5CCEF2003B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8321" y="2397960"/>
            <a:ext cx="1132127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zh-CN" sz="900" dirty="0">
                <a:solidFill>
                  <a:srgbClr val="000000"/>
                </a:solidFill>
                <a:latin typeface="+mn-ea"/>
              </a:rPr>
              <a:t>TAM</a:t>
            </a:r>
            <a:endParaRPr lang="zh-CN" altLang="zh-CN" dirty="0">
              <a:latin typeface="+mn-ea"/>
            </a:endParaRPr>
          </a:p>
        </p:txBody>
      </p:sp>
      <p:sp>
        <p:nvSpPr>
          <p:cNvPr id="83" name="Rectangle 2">
            <a:extLst>
              <a:ext uri="{FF2B5EF4-FFF2-40B4-BE49-F238E27FC236}">
                <a16:creationId xmlns:a16="http://schemas.microsoft.com/office/drawing/2014/main" id="{3029C76A-EA90-09B6-831A-384F71463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7668" y="3253252"/>
            <a:ext cx="2492990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批量光模块上市公司在此周期出现</a:t>
            </a:r>
          </a:p>
        </p:txBody>
      </p:sp>
      <p:sp>
        <p:nvSpPr>
          <p:cNvPr id="84" name="Rectangle 3">
            <a:extLst>
              <a:ext uri="{FF2B5EF4-FFF2-40B4-BE49-F238E27FC236}">
                <a16:creationId xmlns:a16="http://schemas.microsoft.com/office/drawing/2014/main" id="{25D048A3-5780-3DEC-99DD-C6D6A917AC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4234" y="2691160"/>
            <a:ext cx="2954655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利润分配和行业话语权进一步往上游迁移</a:t>
            </a:r>
          </a:p>
        </p:txBody>
      </p: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E80D3BD4-ABD5-6763-5D46-36F17D7F606C}"/>
              </a:ext>
            </a:extLst>
          </p:cNvPr>
          <p:cNvCxnSpPr>
            <a:cxnSpLocks/>
          </p:cNvCxnSpPr>
          <p:nvPr/>
        </p:nvCxnSpPr>
        <p:spPr>
          <a:xfrm flipH="1">
            <a:off x="5923177" y="2925061"/>
            <a:ext cx="2887523" cy="713991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C36071FB-B5A2-38DB-062A-30AAC9395D5B}"/>
              </a:ext>
            </a:extLst>
          </p:cNvPr>
          <p:cNvSpPr txBox="1"/>
          <p:nvPr/>
        </p:nvSpPr>
        <p:spPr>
          <a:xfrm>
            <a:off x="2470352" y="5434603"/>
            <a:ext cx="1480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中际旭创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0359304F-9AEF-FE93-55B2-E664C7EDCC57}"/>
              </a:ext>
            </a:extLst>
          </p:cNvPr>
          <p:cNvSpPr txBox="1"/>
          <p:nvPr/>
        </p:nvSpPr>
        <p:spPr>
          <a:xfrm>
            <a:off x="2464240" y="6003651"/>
            <a:ext cx="1480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solidFill>
                  <a:srgbClr val="0052D9"/>
                </a:solidFill>
              </a:rPr>
              <a:t>08</a:t>
            </a:r>
            <a:endParaRPr lang="zh-CN" altLang="en-US" sz="1200" dirty="0">
              <a:solidFill>
                <a:srgbClr val="0052D9"/>
              </a:solidFill>
            </a:endParaRPr>
          </a:p>
        </p:txBody>
      </p:sp>
      <p:sp>
        <p:nvSpPr>
          <p:cNvPr id="91" name="Rectangle 4">
            <a:extLst>
              <a:ext uri="{FF2B5EF4-FFF2-40B4-BE49-F238E27FC236}">
                <a16:creationId xmlns:a16="http://schemas.microsoft.com/office/drawing/2014/main" id="{5EB0E344-1EC7-B8F2-7A07-19A0D13103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1198" y="1461098"/>
            <a:ext cx="264687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云计算、数据中心、移动互联网爆发</a:t>
            </a:r>
            <a:endParaRPr kumimoji="0" lang="en-US" altLang="zh-CN" sz="12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带宽需求持续放大</a:t>
            </a:r>
            <a:endParaRPr kumimoji="0" lang="zh-CN" altLang="zh-CN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92" name="箭头: 右 91">
            <a:extLst>
              <a:ext uri="{FF2B5EF4-FFF2-40B4-BE49-F238E27FC236}">
                <a16:creationId xmlns:a16="http://schemas.microsoft.com/office/drawing/2014/main" id="{40D80B57-CFBC-262A-3D75-86E0B9E7ABF0}"/>
              </a:ext>
            </a:extLst>
          </p:cNvPr>
          <p:cNvSpPr/>
          <p:nvPr/>
        </p:nvSpPr>
        <p:spPr>
          <a:xfrm>
            <a:off x="3393614" y="2151739"/>
            <a:ext cx="918822" cy="2462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箭头: 右 92">
            <a:extLst>
              <a:ext uri="{FF2B5EF4-FFF2-40B4-BE49-F238E27FC236}">
                <a16:creationId xmlns:a16="http://schemas.microsoft.com/office/drawing/2014/main" id="{A4216F9D-F6AE-54E4-A94C-578EACF1BA81}"/>
              </a:ext>
            </a:extLst>
          </p:cNvPr>
          <p:cNvSpPr/>
          <p:nvPr/>
        </p:nvSpPr>
        <p:spPr>
          <a:xfrm>
            <a:off x="6880095" y="2134443"/>
            <a:ext cx="918822" cy="24622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Rectangle 5">
            <a:extLst>
              <a:ext uri="{FF2B5EF4-FFF2-40B4-BE49-F238E27FC236}">
                <a16:creationId xmlns:a16="http://schemas.microsoft.com/office/drawing/2014/main" id="{5EBA0A4F-F10C-CD71-C5F9-2A92D99D9C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19096" y="1417129"/>
            <a:ext cx="34163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400G光模块与AI需求爆发</a:t>
            </a:r>
            <a:endParaRPr lang="en-US" altLang="zh-CN" sz="1200" dirty="0">
              <a:solidFill>
                <a:srgbClr val="000000"/>
              </a:solidFill>
              <a:latin typeface="+mn-ea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sz="1200" dirty="0">
                <a:solidFill>
                  <a:srgbClr val="000000"/>
                </a:solidFill>
                <a:latin typeface="+mn-ea"/>
              </a:rPr>
              <a:t>技术升级期，板卡互连能力的提升只剩光学路径</a:t>
            </a:r>
          </a:p>
        </p:txBody>
      </p:sp>
      <p:pic>
        <p:nvPicPr>
          <p:cNvPr id="96" name="图片 95">
            <a:extLst>
              <a:ext uri="{FF2B5EF4-FFF2-40B4-BE49-F238E27FC236}">
                <a16:creationId xmlns:a16="http://schemas.microsoft.com/office/drawing/2014/main" id="{9A50E1C3-2C5C-E70C-4B72-21FFBFABF0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4393083" y="6971291"/>
            <a:ext cx="12192000" cy="2750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073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E3E33-58C7-09A1-04D7-3029A624B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E5AE1A48-D8F9-D337-3C9A-0CE7F89E9D3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4" imgH="405" progId="TCLayout.ActiveDocument.1">
                  <p:embed/>
                </p:oleObj>
              </mc:Choice>
              <mc:Fallback>
                <p:oleObj name="think-cell 幻灯片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9A1FEA3-C30C-92F6-5C30-9DC3EE72F61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B3C5221-71B9-57B2-CA12-5D544CA09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关键环节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28BB8F-3D30-315E-31EE-E4BE8BD76B23}"/>
              </a:ext>
            </a:extLst>
          </p:cNvPr>
          <p:cNvSpPr/>
          <p:nvPr/>
        </p:nvSpPr>
        <p:spPr>
          <a:xfrm>
            <a:off x="12447027" y="309247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顺序反过来（按照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P9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的顺序）重新画一下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2F7BF53-9954-74E7-70AE-ADCA994A8E19}"/>
              </a:ext>
            </a:extLst>
          </p:cNvPr>
          <p:cNvSpPr/>
          <p:nvPr/>
        </p:nvSpPr>
        <p:spPr>
          <a:xfrm>
            <a:off x="12447027" y="1798470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转换发生在硅光芯片中？</a:t>
            </a:r>
          </a:p>
        </p:txBody>
      </p:sp>
      <p:pic>
        <p:nvPicPr>
          <p:cNvPr id="2054" name="Picture 6" descr="硅光模块结构示意图">
            <a:extLst>
              <a:ext uri="{FF2B5EF4-FFF2-40B4-BE49-F238E27FC236}">
                <a16:creationId xmlns:a16="http://schemas.microsoft.com/office/drawing/2014/main" id="{ED1DE482-0CD6-13FD-21D3-034742292B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076" y="1396101"/>
            <a:ext cx="10195607" cy="49731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327B342B-213B-AC11-1E44-2868C61190BA}"/>
              </a:ext>
            </a:extLst>
          </p:cNvPr>
          <p:cNvGrpSpPr/>
          <p:nvPr/>
        </p:nvGrpSpPr>
        <p:grpSpPr>
          <a:xfrm>
            <a:off x="8711601" y="988255"/>
            <a:ext cx="1655146" cy="387904"/>
            <a:chOff x="828975" y="1207858"/>
            <a:chExt cx="1655146" cy="387904"/>
          </a:xfrm>
        </p:grpSpPr>
        <p:sp>
          <p:nvSpPr>
            <p:cNvPr id="9" name="箭头: 五边形 8">
              <a:extLst>
                <a:ext uri="{FF2B5EF4-FFF2-40B4-BE49-F238E27FC236}">
                  <a16:creationId xmlns:a16="http://schemas.microsoft.com/office/drawing/2014/main" id="{D588EBAF-B900-2232-2B3F-8FB3ACC5D8A5}"/>
                </a:ext>
              </a:extLst>
            </p:cNvPr>
            <p:cNvSpPr/>
            <p:nvPr/>
          </p:nvSpPr>
          <p:spPr>
            <a:xfrm rot="10800000">
              <a:off x="828975" y="1207858"/>
              <a:ext cx="1655146" cy="387904"/>
            </a:xfrm>
            <a:prstGeom prst="homePlat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B6CB388D-768B-B613-78FA-524C88C31609}"/>
                </a:ext>
              </a:extLst>
            </p:cNvPr>
            <p:cNvSpPr txBox="1"/>
            <p:nvPr/>
          </p:nvSpPr>
          <p:spPr>
            <a:xfrm>
              <a:off x="1118068" y="1211436"/>
              <a:ext cx="10769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出入口</a:t>
              </a:r>
            </a:p>
          </p:txBody>
        </p:sp>
      </p:grp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4145954F-9D50-4843-9232-8D8792C3BCCC}"/>
              </a:ext>
            </a:extLst>
          </p:cNvPr>
          <p:cNvGrpSpPr/>
          <p:nvPr/>
        </p:nvGrpSpPr>
        <p:grpSpPr>
          <a:xfrm>
            <a:off x="6002836" y="988256"/>
            <a:ext cx="2740878" cy="375258"/>
            <a:chOff x="2759121" y="1225745"/>
            <a:chExt cx="2783196" cy="375258"/>
          </a:xfrm>
        </p:grpSpPr>
        <p:sp>
          <p:nvSpPr>
            <p:cNvPr id="10" name="箭头: V 形 9">
              <a:extLst>
                <a:ext uri="{FF2B5EF4-FFF2-40B4-BE49-F238E27FC236}">
                  <a16:creationId xmlns:a16="http://schemas.microsoft.com/office/drawing/2014/main" id="{FDB6D48C-3316-9C25-6DAB-D18717961132}"/>
                </a:ext>
              </a:extLst>
            </p:cNvPr>
            <p:cNvSpPr/>
            <p:nvPr/>
          </p:nvSpPr>
          <p:spPr>
            <a:xfrm rot="10800000">
              <a:off x="2796051" y="1225745"/>
              <a:ext cx="2647705" cy="370017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83707656-10F5-0B70-3745-886DE14BFFB6}"/>
                </a:ext>
              </a:extLst>
            </p:cNvPr>
            <p:cNvSpPr txBox="1"/>
            <p:nvPr/>
          </p:nvSpPr>
          <p:spPr>
            <a:xfrm>
              <a:off x="2759121" y="1231671"/>
              <a:ext cx="27831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行走通道</a:t>
              </a:r>
              <a:r>
                <a:rPr lang="en-US" altLang="zh-CN" dirty="0">
                  <a:solidFill>
                    <a:schemeClr val="bg1"/>
                  </a:solidFill>
                </a:rPr>
                <a:t>+</a:t>
              </a:r>
              <a:r>
                <a:rPr lang="zh-CN" altLang="en-US" dirty="0">
                  <a:solidFill>
                    <a:schemeClr val="bg1"/>
                  </a:solidFill>
                </a:rPr>
                <a:t>转换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4E13915-4689-1007-ABF3-4051B9959A10}"/>
              </a:ext>
            </a:extLst>
          </p:cNvPr>
          <p:cNvGrpSpPr/>
          <p:nvPr/>
        </p:nvGrpSpPr>
        <p:grpSpPr>
          <a:xfrm>
            <a:off x="3210617" y="981537"/>
            <a:ext cx="2824903" cy="375258"/>
            <a:chOff x="2759121" y="1225745"/>
            <a:chExt cx="2783196" cy="375258"/>
          </a:xfrm>
        </p:grpSpPr>
        <p:sp>
          <p:nvSpPr>
            <p:cNvPr id="25" name="箭头: V 形 24">
              <a:extLst>
                <a:ext uri="{FF2B5EF4-FFF2-40B4-BE49-F238E27FC236}">
                  <a16:creationId xmlns:a16="http://schemas.microsoft.com/office/drawing/2014/main" id="{9B452EC7-B89E-F328-6009-FC6904B5E7B8}"/>
                </a:ext>
              </a:extLst>
            </p:cNvPr>
            <p:cNvSpPr/>
            <p:nvPr/>
          </p:nvSpPr>
          <p:spPr>
            <a:xfrm rot="10800000">
              <a:off x="2796051" y="1225745"/>
              <a:ext cx="2647705" cy="370017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DD4922A-8AB1-BEA8-87A4-4D42FC60E8D4}"/>
                </a:ext>
              </a:extLst>
            </p:cNvPr>
            <p:cNvSpPr txBox="1"/>
            <p:nvPr/>
          </p:nvSpPr>
          <p:spPr>
            <a:xfrm>
              <a:off x="2759121" y="1231671"/>
              <a:ext cx="27831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放大</a:t>
              </a:r>
              <a:r>
                <a:rPr lang="en-US" altLang="zh-CN" dirty="0">
                  <a:solidFill>
                    <a:schemeClr val="bg1"/>
                  </a:solidFill>
                </a:rPr>
                <a:t>+</a:t>
              </a:r>
              <a:r>
                <a:rPr lang="zh-CN" altLang="en-US" dirty="0">
                  <a:solidFill>
                    <a:schemeClr val="bg1"/>
                  </a:solidFill>
                </a:rPr>
                <a:t>优化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1712C5D2-13DE-5AE9-D5FC-40802D83DE4D}"/>
              </a:ext>
            </a:extLst>
          </p:cNvPr>
          <p:cNvGrpSpPr/>
          <p:nvPr/>
        </p:nvGrpSpPr>
        <p:grpSpPr>
          <a:xfrm>
            <a:off x="3569311" y="335649"/>
            <a:ext cx="2009297" cy="375258"/>
            <a:chOff x="2759121" y="1225745"/>
            <a:chExt cx="2783196" cy="375258"/>
          </a:xfrm>
        </p:grpSpPr>
        <p:sp>
          <p:nvSpPr>
            <p:cNvPr id="30" name="箭头: V 形 29">
              <a:extLst>
                <a:ext uri="{FF2B5EF4-FFF2-40B4-BE49-F238E27FC236}">
                  <a16:creationId xmlns:a16="http://schemas.microsoft.com/office/drawing/2014/main" id="{9E1AF347-040B-0D6C-0719-A5BB37085CE8}"/>
                </a:ext>
              </a:extLst>
            </p:cNvPr>
            <p:cNvSpPr/>
            <p:nvPr/>
          </p:nvSpPr>
          <p:spPr>
            <a:xfrm rot="10800000">
              <a:off x="2796051" y="1225745"/>
              <a:ext cx="2647705" cy="370017"/>
            </a:xfrm>
            <a:prstGeom prst="chevron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DC24A946-AA9A-BE9E-8636-57449F48D869}"/>
                </a:ext>
              </a:extLst>
            </p:cNvPr>
            <p:cNvSpPr txBox="1"/>
            <p:nvPr/>
          </p:nvSpPr>
          <p:spPr>
            <a:xfrm>
              <a:off x="2759121" y="1231671"/>
              <a:ext cx="27831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dirty="0">
                  <a:solidFill>
                    <a:schemeClr val="bg1"/>
                  </a:solidFill>
                </a:rPr>
                <a:t>交换机集成</a:t>
              </a:r>
            </a:p>
          </p:txBody>
        </p:sp>
      </p:grpSp>
      <p:sp>
        <p:nvSpPr>
          <p:cNvPr id="15" name="文本框 15">
            <a:extLst>
              <a:ext uri="{FF2B5EF4-FFF2-40B4-BE49-F238E27FC236}">
                <a16:creationId xmlns:a16="http://schemas.microsoft.com/office/drawing/2014/main" id="{94F0FB09-F514-6EA1-BC09-08785BA47F85}"/>
              </a:ext>
            </a:extLst>
          </p:cNvPr>
          <p:cNvSpPr txBox="1"/>
          <p:nvPr/>
        </p:nvSpPr>
        <p:spPr>
          <a:xfrm>
            <a:off x="8711601" y="1429138"/>
            <a:ext cx="23000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光的产生与接收</a:t>
            </a:r>
          </a:p>
        </p:txBody>
      </p:sp>
      <p:sp>
        <p:nvSpPr>
          <p:cNvPr id="16" name="文本框 16">
            <a:extLst>
              <a:ext uri="{FF2B5EF4-FFF2-40B4-BE49-F238E27FC236}">
                <a16:creationId xmlns:a16="http://schemas.microsoft.com/office/drawing/2014/main" id="{D4B15865-BD1B-8297-A007-A923B52173DE}"/>
              </a:ext>
            </a:extLst>
          </p:cNvPr>
          <p:cNvSpPr txBox="1"/>
          <p:nvPr/>
        </p:nvSpPr>
        <p:spPr>
          <a:xfrm>
            <a:off x="6048651" y="1390860"/>
            <a:ext cx="2424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光信号中枢，光</a:t>
            </a:r>
            <a:r>
              <a:rPr lang="en-US" altLang="zh-CN" i="1" dirty="0">
                <a:sym typeface="Wingdings" panose="05000000000000000000" pitchFamily="2" charset="2"/>
              </a:rPr>
              <a:t></a:t>
            </a:r>
            <a:r>
              <a:rPr lang="zh-CN" altLang="en-US" i="1" dirty="0">
                <a:sym typeface="Wingdings" panose="05000000000000000000" pitchFamily="2" charset="2"/>
              </a:rPr>
              <a:t>电</a:t>
            </a:r>
            <a:endParaRPr lang="zh-CN" altLang="en-US" i="1" dirty="0"/>
          </a:p>
        </p:txBody>
      </p:sp>
      <p:sp>
        <p:nvSpPr>
          <p:cNvPr id="17" name="文本框 19">
            <a:extLst>
              <a:ext uri="{FF2B5EF4-FFF2-40B4-BE49-F238E27FC236}">
                <a16:creationId xmlns:a16="http://schemas.microsoft.com/office/drawing/2014/main" id="{9B069FB9-5C1E-2DB3-5143-941D14642AAE}"/>
              </a:ext>
            </a:extLst>
          </p:cNvPr>
          <p:cNvSpPr txBox="1"/>
          <p:nvPr/>
        </p:nvSpPr>
        <p:spPr>
          <a:xfrm>
            <a:off x="3361836" y="1383740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电</a:t>
            </a:r>
            <a:r>
              <a:rPr lang="zh-CN" altLang="en-US" i="1" dirty="0">
                <a:sym typeface="Wingdings" panose="05000000000000000000" pitchFamily="2" charset="2"/>
              </a:rPr>
              <a:t>信号控制中枢</a:t>
            </a:r>
            <a:endParaRPr lang="zh-CN" altLang="en-US" i="1" dirty="0"/>
          </a:p>
        </p:txBody>
      </p:sp>
      <p:sp>
        <p:nvSpPr>
          <p:cNvPr id="20" name="文本框 20">
            <a:extLst>
              <a:ext uri="{FF2B5EF4-FFF2-40B4-BE49-F238E27FC236}">
                <a16:creationId xmlns:a16="http://schemas.microsoft.com/office/drawing/2014/main" id="{1F11F9CC-F753-EFA8-6015-E313041BD336}"/>
              </a:ext>
            </a:extLst>
          </p:cNvPr>
          <p:cNvSpPr txBox="1"/>
          <p:nvPr/>
        </p:nvSpPr>
        <p:spPr>
          <a:xfrm>
            <a:off x="3634845" y="736374"/>
            <a:ext cx="20092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i="1" dirty="0"/>
              <a:t>拼装与集成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056547-8A4B-93FE-B030-71E4549D05F9}"/>
              </a:ext>
            </a:extLst>
          </p:cNvPr>
          <p:cNvSpPr/>
          <p:nvPr/>
        </p:nvSpPr>
        <p:spPr>
          <a:xfrm>
            <a:off x="12447027" y="3184301"/>
            <a:ext cx="3481566" cy="937615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原来既有光又有电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=&gt;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硅光一体化</a:t>
            </a:r>
            <a:endParaRPr lang="en-US" altLang="zh-CN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FPP=&gt;CPO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lang="en-US" altLang="zh-CN" dirty="0">
                <a:solidFill>
                  <a:schemeClr val="tx1">
                    <a:lumMod val="50000"/>
                  </a:schemeClr>
                </a:solidFill>
              </a:rPr>
              <a:t>EIC</a:t>
            </a:r>
            <a:r>
              <a:rPr lang="zh-CN" altLang="en-US" dirty="0">
                <a:solidFill>
                  <a:schemeClr val="tx1">
                    <a:lumMod val="50000"/>
                  </a:schemeClr>
                </a:solidFill>
              </a:rPr>
              <a:t>的变化，更大的带宽</a:t>
            </a:r>
          </a:p>
        </p:txBody>
      </p:sp>
    </p:spTree>
    <p:extLst>
      <p:ext uri="{BB962C8B-B14F-4D97-AF65-F5344CB8AC3E}">
        <p14:creationId xmlns:p14="http://schemas.microsoft.com/office/powerpoint/2010/main" val="15279190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89A1FEA3-C30C-92F6-5C30-9DC3EE72F61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449365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404" imgH="405" progId="TCLayout.ActiveDocument.1">
                  <p:embed/>
                </p:oleObj>
              </mc:Choice>
              <mc:Fallback>
                <p:oleObj name="think-cell 幻灯片" r:id="rId10" imgW="404" imgH="405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A39AD824-CE80-33BC-3477-49D09593F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CPO</a:t>
            </a:r>
            <a:r>
              <a:rPr lang="zh-CN" altLang="en-US" dirty="0"/>
              <a:t>各关键环节的公司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sp>
        <p:nvSpPr>
          <p:cNvPr id="9" name="箭头: 五边形 8">
            <a:extLst>
              <a:ext uri="{FF2B5EF4-FFF2-40B4-BE49-F238E27FC236}">
                <a16:creationId xmlns:a16="http://schemas.microsoft.com/office/drawing/2014/main" id="{0EB94D79-6AC1-FD22-C9E1-4BCB3FAD7C4C}"/>
              </a:ext>
            </a:extLst>
          </p:cNvPr>
          <p:cNvSpPr/>
          <p:nvPr/>
        </p:nvSpPr>
        <p:spPr>
          <a:xfrm>
            <a:off x="1189696" y="1029464"/>
            <a:ext cx="3310855" cy="387904"/>
          </a:xfrm>
          <a:prstGeom prst="homePlate">
            <a:avLst/>
          </a:prstGeom>
          <a:solidFill>
            <a:srgbClr val="C1E1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光信号中枢</a:t>
            </a:r>
          </a:p>
        </p:txBody>
      </p:sp>
      <p:sp>
        <p:nvSpPr>
          <p:cNvPr id="11" name="箭头: V 形 10">
            <a:extLst>
              <a:ext uri="{FF2B5EF4-FFF2-40B4-BE49-F238E27FC236}">
                <a16:creationId xmlns:a16="http://schemas.microsoft.com/office/drawing/2014/main" id="{2095B2AB-A5E4-A263-EA60-C4F7DA4AE67C}"/>
              </a:ext>
            </a:extLst>
          </p:cNvPr>
          <p:cNvSpPr/>
          <p:nvPr/>
        </p:nvSpPr>
        <p:spPr>
          <a:xfrm>
            <a:off x="4564544" y="1040490"/>
            <a:ext cx="2647705" cy="370017"/>
          </a:xfrm>
          <a:prstGeom prst="chevron">
            <a:avLst/>
          </a:prstGeom>
          <a:solidFill>
            <a:srgbClr val="C1E1FE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电信号中枢</a:t>
            </a:r>
          </a:p>
        </p:txBody>
      </p:sp>
      <p:sp>
        <p:nvSpPr>
          <p:cNvPr id="12" name="箭头: V 形 11">
            <a:extLst>
              <a:ext uri="{FF2B5EF4-FFF2-40B4-BE49-F238E27FC236}">
                <a16:creationId xmlns:a16="http://schemas.microsoft.com/office/drawing/2014/main" id="{10CDCBAC-5CB5-077F-719C-6EFB53F66B92}"/>
              </a:ext>
            </a:extLst>
          </p:cNvPr>
          <p:cNvSpPr/>
          <p:nvPr/>
        </p:nvSpPr>
        <p:spPr>
          <a:xfrm>
            <a:off x="7303515" y="1047351"/>
            <a:ext cx="2647705" cy="370017"/>
          </a:xfrm>
          <a:prstGeom prst="chevr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bg1"/>
                </a:solidFill>
              </a:rPr>
              <a:t>集成交付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2FF8C7F5-E1FA-F8B4-3AFF-AF4DB968D28C}"/>
              </a:ext>
            </a:extLst>
          </p:cNvPr>
          <p:cNvSpPr txBox="1"/>
          <p:nvPr/>
        </p:nvSpPr>
        <p:spPr>
          <a:xfrm>
            <a:off x="240584" y="3652733"/>
            <a:ext cx="445216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大厂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C27FDB3-6C32-9552-2CB8-9F66D8956BB0}"/>
              </a:ext>
            </a:extLst>
          </p:cNvPr>
          <p:cNvSpPr txBox="1"/>
          <p:nvPr/>
        </p:nvSpPr>
        <p:spPr>
          <a:xfrm>
            <a:off x="240584" y="4892050"/>
            <a:ext cx="936104" cy="1041187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核心初创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3BE8A2F9-6A41-EFC9-6A32-2A586A0D8C4C}"/>
              </a:ext>
            </a:extLst>
          </p:cNvPr>
          <p:cNvGrpSpPr/>
          <p:nvPr/>
        </p:nvGrpSpPr>
        <p:grpSpPr>
          <a:xfrm>
            <a:off x="1119726" y="1490343"/>
            <a:ext cx="1141776" cy="916619"/>
            <a:chOff x="331424" y="2282556"/>
            <a:chExt cx="1141776" cy="916619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834F6EE5-3C5F-CB90-31B5-E7EAE274DB4C}"/>
                </a:ext>
              </a:extLst>
            </p:cNvPr>
            <p:cNvSpPr txBox="1"/>
            <p:nvPr/>
          </p:nvSpPr>
          <p:spPr>
            <a:xfrm>
              <a:off x="331424" y="2891398"/>
              <a:ext cx="114177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400" dirty="0"/>
                <a:t>外置激光器</a:t>
              </a:r>
            </a:p>
          </p:txBody>
        </p:sp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063E6CD-A762-B27C-BDC3-5AD185D0DD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4260" y="2282556"/>
              <a:ext cx="936105" cy="65791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id="{0A09CA3B-900C-D3D8-4EE8-C50040D79793}"/>
              </a:ext>
            </a:extLst>
          </p:cNvPr>
          <p:cNvSpPr txBox="1"/>
          <p:nvPr/>
        </p:nvSpPr>
        <p:spPr>
          <a:xfrm>
            <a:off x="2237643" y="1604072"/>
            <a:ext cx="7810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/>
              <a:t>光纤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2E2EC28C-4DEF-A840-A33B-B608E4A221E9}"/>
              </a:ext>
            </a:extLst>
          </p:cNvPr>
          <p:cNvSpPr txBox="1"/>
          <p:nvPr/>
        </p:nvSpPr>
        <p:spPr>
          <a:xfrm>
            <a:off x="3292384" y="2145751"/>
            <a:ext cx="114177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rgbClr val="0055E0"/>
                </a:solidFill>
              </a:rPr>
              <a:t>硅光芯片</a:t>
            </a: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6A2A7036-7763-DE9F-28E2-76D310EBEF8D}"/>
              </a:ext>
            </a:extLst>
          </p:cNvPr>
          <p:cNvCxnSpPr>
            <a:cxnSpLocks/>
            <a:stCxn id="2050" idx="3"/>
          </p:cNvCxnSpPr>
          <p:nvPr/>
        </p:nvCxnSpPr>
        <p:spPr>
          <a:xfrm flipV="1">
            <a:off x="2158667" y="1804098"/>
            <a:ext cx="1431268" cy="152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" name="图片 36">
            <a:extLst>
              <a:ext uri="{FF2B5EF4-FFF2-40B4-BE49-F238E27FC236}">
                <a16:creationId xmlns:a16="http://schemas.microsoft.com/office/drawing/2014/main" id="{18082D1E-4314-9FA9-2794-1F08741FFD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474342" y="1598464"/>
            <a:ext cx="777859" cy="438723"/>
          </a:xfrm>
          <a:prstGeom prst="rect">
            <a:avLst/>
          </a:prstGeom>
        </p:spPr>
      </p:pic>
      <p:sp>
        <p:nvSpPr>
          <p:cNvPr id="38" name="文本框 37">
            <a:extLst>
              <a:ext uri="{FF2B5EF4-FFF2-40B4-BE49-F238E27FC236}">
                <a16:creationId xmlns:a16="http://schemas.microsoft.com/office/drawing/2014/main" id="{2FBB7D99-A1DB-A738-678B-AB64E3E6FAD5}"/>
              </a:ext>
            </a:extLst>
          </p:cNvPr>
          <p:cNvSpPr txBox="1"/>
          <p:nvPr/>
        </p:nvSpPr>
        <p:spPr>
          <a:xfrm>
            <a:off x="5147556" y="2152909"/>
            <a:ext cx="15492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 dirty="0"/>
              <a:t>EIC</a:t>
            </a:r>
            <a:r>
              <a:rPr lang="zh-CN" altLang="en-US" sz="1400" dirty="0"/>
              <a:t>（电光芯片）</a:t>
            </a:r>
          </a:p>
        </p:txBody>
      </p:sp>
      <p:pic>
        <p:nvPicPr>
          <p:cNvPr id="2056" name="Picture 8" descr="什么是交换机的光口与电口？光纤常用8种接口与5种连接器_山东科普">
            <a:extLst>
              <a:ext uri="{FF2B5EF4-FFF2-40B4-BE49-F238E27FC236}">
                <a16:creationId xmlns:a16="http://schemas.microsoft.com/office/drawing/2014/main" id="{482D47ED-F7B2-3B41-BA41-8ED0BEEFA3E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78"/>
          <a:stretch/>
        </p:blipFill>
        <p:spPr bwMode="auto">
          <a:xfrm>
            <a:off x="2367949" y="1918537"/>
            <a:ext cx="673384" cy="32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图像" descr="图像">
            <a:extLst>
              <a:ext uri="{FF2B5EF4-FFF2-40B4-BE49-F238E27FC236}">
                <a16:creationId xmlns:a16="http://schemas.microsoft.com/office/drawing/2014/main" id="{6FB2887F-EFDC-3542-64A6-258BB75BBB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00162" y="3665662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" name="图像" descr="图像">
            <a:extLst>
              <a:ext uri="{FF2B5EF4-FFF2-40B4-BE49-F238E27FC236}">
                <a16:creationId xmlns:a16="http://schemas.microsoft.com/office/drawing/2014/main" id="{A20DB015-8079-36A1-6ED6-D369A1546B44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145877" y="3748852"/>
            <a:ext cx="576840" cy="278120"/>
          </a:xfrm>
          <a:prstGeom prst="rect">
            <a:avLst/>
          </a:prstGeom>
          <a:ln w="12700">
            <a:miter lim="400000"/>
          </a:ln>
        </p:spPr>
      </p:pic>
      <p:sp>
        <p:nvSpPr>
          <p:cNvPr id="7" name="箭头: V 形 6">
            <a:extLst>
              <a:ext uri="{FF2B5EF4-FFF2-40B4-BE49-F238E27FC236}">
                <a16:creationId xmlns:a16="http://schemas.microsoft.com/office/drawing/2014/main" id="{2944F56B-B007-2FEF-C46F-9CF60ECC962C}"/>
              </a:ext>
            </a:extLst>
          </p:cNvPr>
          <p:cNvSpPr/>
          <p:nvPr/>
        </p:nvSpPr>
        <p:spPr>
          <a:xfrm>
            <a:off x="10106478" y="1038407"/>
            <a:ext cx="1609803" cy="370017"/>
          </a:xfrm>
          <a:prstGeom prst="chevron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周边硬件</a:t>
            </a:r>
            <a:r>
              <a:rPr lang="en-US" altLang="zh-CN" baseline="30000" dirty="0">
                <a:solidFill>
                  <a:schemeClr val="accent6">
                    <a:lumMod val="10000"/>
                  </a:schemeClr>
                </a:solidFill>
              </a:rPr>
              <a:t>2</a:t>
            </a:r>
            <a:endParaRPr lang="zh-CN" altLang="en-US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71EABA44-55F7-2866-FFF8-533EAFE642E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51299" y="4978156"/>
            <a:ext cx="908907" cy="23765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BD4B1F81-7D33-D40F-2752-DB51E1BEB901}"/>
              </a:ext>
            </a:extLst>
          </p:cNvPr>
          <p:cNvSpPr txBox="1"/>
          <p:nvPr/>
        </p:nvSpPr>
        <p:spPr>
          <a:xfrm>
            <a:off x="10140869" y="5226409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/>
              <a:t>光电子封测隐形冠军</a:t>
            </a:r>
            <a:endParaRPr lang="zh-CN" altLang="en-US" sz="1200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BFDC959-369A-FFC3-D4C3-D98DA786A392}"/>
              </a:ext>
            </a:extLst>
          </p:cNvPr>
          <p:cNvSpPr txBox="1"/>
          <p:nvPr/>
        </p:nvSpPr>
        <p:spPr>
          <a:xfrm>
            <a:off x="244608" y="1714347"/>
            <a:ext cx="931725" cy="877125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环节</a:t>
            </a:r>
            <a:endParaRPr kumimoji="1" lang="en-US" altLang="zh-CN" sz="1400" b="1" dirty="0">
              <a:solidFill>
                <a:schemeClr val="accent6">
                  <a:lumMod val="10000"/>
                </a:schemeClr>
              </a:solidFill>
            </a:endParaRPr>
          </a:p>
          <a:p>
            <a:pPr algn="ctr">
              <a:buNone/>
            </a:pPr>
            <a:r>
              <a:rPr kumimoji="1" lang="en-US" altLang="zh-CN" sz="1400" b="1" dirty="0">
                <a:solidFill>
                  <a:schemeClr val="accent6">
                    <a:lumMod val="10000"/>
                  </a:schemeClr>
                </a:solidFill>
              </a:rPr>
              <a:t>BOM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0766B2A0-F3D5-BC90-474C-40D5825F919C}"/>
              </a:ext>
            </a:extLst>
          </p:cNvPr>
          <p:cNvSpPr txBox="1"/>
          <p:nvPr/>
        </p:nvSpPr>
        <p:spPr>
          <a:xfrm>
            <a:off x="240584" y="2772715"/>
            <a:ext cx="936104" cy="751411"/>
          </a:xfrm>
          <a:prstGeom prst="rect">
            <a:avLst/>
          </a:prstGeom>
          <a:solidFill>
            <a:srgbClr val="DDE3F1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价值</a:t>
            </a:r>
            <a:r>
              <a:rPr kumimoji="1" lang="en-US" altLang="zh-CN" sz="1400" b="1" baseline="30000" dirty="0">
                <a:solidFill>
                  <a:schemeClr val="accent6">
                    <a:lumMod val="10000"/>
                  </a:schemeClr>
                </a:solidFill>
              </a:rPr>
              <a:t>3</a:t>
            </a:r>
            <a:endParaRPr kumimoji="1" lang="zh-CN" altLang="en-US" sz="1400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BBA270F4-3CB0-4B5C-1C9B-E8570DB4FE6C}"/>
              </a:ext>
            </a:extLst>
          </p:cNvPr>
          <p:cNvSpPr txBox="1"/>
          <p:nvPr/>
        </p:nvSpPr>
        <p:spPr>
          <a:xfrm>
            <a:off x="2223600" y="2397578"/>
            <a:ext cx="1010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>
                <a:solidFill>
                  <a:srgbClr val="0052D9"/>
                </a:solidFill>
              </a:rPr>
              <a:t>14%</a:t>
            </a:r>
            <a:endParaRPr lang="zh-CN" altLang="en-US" dirty="0">
              <a:solidFill>
                <a:srgbClr val="0052D9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3222E30-5B06-C520-7AAA-1FABCBE91457}"/>
              </a:ext>
            </a:extLst>
          </p:cNvPr>
          <p:cNvSpPr txBox="1"/>
          <p:nvPr/>
        </p:nvSpPr>
        <p:spPr>
          <a:xfrm>
            <a:off x="5068541" y="2391023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14%</a:t>
            </a:r>
            <a:endParaRPr lang="zh-CN" altLang="en-US" sz="18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614F6207-297E-DD41-92C8-FE805C76B3A7}"/>
              </a:ext>
            </a:extLst>
          </p:cNvPr>
          <p:cNvSpPr txBox="1"/>
          <p:nvPr/>
        </p:nvSpPr>
        <p:spPr>
          <a:xfrm>
            <a:off x="7677833" y="2397577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15%</a:t>
            </a:r>
            <a:endParaRPr lang="zh-CN" altLang="en-US" sz="1800" dirty="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BDB14EAD-FFB5-DC67-1805-790EFA47386E}"/>
              </a:ext>
            </a:extLst>
          </p:cNvPr>
          <p:cNvSpPr txBox="1"/>
          <p:nvPr/>
        </p:nvSpPr>
        <p:spPr>
          <a:xfrm>
            <a:off x="10171158" y="2397576"/>
            <a:ext cx="15492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400">
                <a:solidFill>
                  <a:srgbClr val="0052D9"/>
                </a:solidFill>
              </a:defRPr>
            </a:lvl1pPr>
          </a:lstStyle>
          <a:p>
            <a:r>
              <a:rPr lang="en-US" altLang="zh-CN" sz="1800" dirty="0"/>
              <a:t>7%</a:t>
            </a:r>
            <a:endParaRPr lang="zh-CN" altLang="en-US" sz="1800" dirty="0"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72A42301-2F9B-5290-06B7-4F1F77DE5D6F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1363663" y="306387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5" name="弧 155">
            <a:extLst>
              <a:ext uri="{FF2B5EF4-FFF2-40B4-BE49-F238E27FC236}">
                <a16:creationId xmlns:a16="http://schemas.microsoft.com/office/drawing/2014/main" id="{5AC23980-DD06-7632-BE6A-72E1FE17C0F4}"/>
              </a:ext>
            </a:extLst>
          </p:cNvPr>
          <p:cNvSpPr/>
          <p:nvPr>
            <p:custDataLst>
              <p:tags r:id="rId3"/>
            </p:custDataLst>
          </p:nvPr>
        </p:nvSpPr>
        <p:spPr bwMode="gray">
          <a:xfrm>
            <a:off x="1363663" y="306387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9DD0B4C5-6F8E-EFF5-F02D-599D589610BF}"/>
              </a:ext>
            </a:extLst>
          </p:cNvPr>
          <p:cNvSpPr/>
          <p:nvPr>
            <p:custDataLst>
              <p:tags r:id="rId4"/>
            </p:custDataLst>
          </p:nvPr>
        </p:nvSpPr>
        <p:spPr bwMode="auto">
          <a:xfrm>
            <a:off x="4573588" y="3070225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39" name="弧 155">
            <a:extLst>
              <a:ext uri="{FF2B5EF4-FFF2-40B4-BE49-F238E27FC236}">
                <a16:creationId xmlns:a16="http://schemas.microsoft.com/office/drawing/2014/main" id="{2D5766E9-E04E-47DF-B260-4EF35D9B4347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4573588" y="3070225"/>
            <a:ext cx="215900" cy="215900"/>
          </a:xfrm>
          <a:prstGeom prst="arc">
            <a:avLst>
              <a:gd name="adj1" fmla="val 16200000"/>
              <a:gd name="adj2" fmla="val 108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BBD61F91-E6A5-C742-DB7A-09CD67F77350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9985375" y="3074988"/>
            <a:ext cx="215900" cy="215900"/>
          </a:xfrm>
          <a:prstGeom prst="ellipse">
            <a:avLst/>
          </a:prstGeom>
          <a:solidFill>
            <a:schemeClr val="bg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1" name="弧 28">
            <a:extLst>
              <a:ext uri="{FF2B5EF4-FFF2-40B4-BE49-F238E27FC236}">
                <a16:creationId xmlns:a16="http://schemas.microsoft.com/office/drawing/2014/main" id="{6E41E0B2-1086-F700-5EC8-8411141379C6}"/>
              </a:ext>
            </a:extLst>
          </p:cNvPr>
          <p:cNvSpPr/>
          <p:nvPr>
            <p:custDataLst>
              <p:tags r:id="rId7"/>
            </p:custDataLst>
          </p:nvPr>
        </p:nvSpPr>
        <p:spPr bwMode="gray">
          <a:xfrm>
            <a:off x="9985375" y="3074988"/>
            <a:ext cx="215900" cy="215900"/>
          </a:xfrm>
          <a:prstGeom prst="arc">
            <a:avLst>
              <a:gd name="adj1" fmla="val 16200000"/>
              <a:gd name="adj2" fmla="val 5400000"/>
            </a:avLst>
          </a:prstGeom>
          <a:solidFill>
            <a:schemeClr val="accent1"/>
          </a:solidFill>
          <a:ln w="9525" cap="flat" cmpd="sng" algn="ctr">
            <a:solidFill>
              <a:srgbClr val="4D4D4D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EB2A6734-33FF-4688-76C3-4E381BCEDDEF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7354888" y="3074988"/>
            <a:ext cx="215900" cy="215900"/>
          </a:xfrm>
          <a:prstGeom prst="ellipse">
            <a:avLst/>
          </a:prstGeom>
          <a:solidFill>
            <a:schemeClr val="accent1"/>
          </a:solidFill>
          <a:ln w="9525" cap="sq" cmpd="sng">
            <a:solidFill>
              <a:srgbClr val="4D4D4D"/>
            </a:solidFill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91E6B595-983E-90F2-D771-0EED19F03680}"/>
              </a:ext>
            </a:extLst>
          </p:cNvPr>
          <p:cNvSpPr txBox="1"/>
          <p:nvPr/>
        </p:nvSpPr>
        <p:spPr>
          <a:xfrm>
            <a:off x="1636712" y="2946400"/>
            <a:ext cx="2787650" cy="430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b="1" dirty="0">
                <a:solidFill>
                  <a:srgbClr val="0055E0"/>
                </a:solidFill>
                <a:latin typeface="+mn-ea"/>
              </a:rPr>
              <a:t>中：</a:t>
            </a:r>
            <a:r>
              <a:rPr lang="zh-CN" altLang="zh-CN" sz="1100" dirty="0">
                <a:solidFill>
                  <a:srgbClr val="000000"/>
                </a:solidFill>
                <a:latin typeface="+mn-ea"/>
              </a:rPr>
              <a:t>≥40 GHz SiGe / 28 nm CMOS，门槛高；绑定硅光设计服务，毛利可 55 %+</a:t>
            </a:r>
            <a:endParaRPr lang="zh-CN" altLang="zh-CN" sz="1100" dirty="0">
              <a:latin typeface="+mn-ea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7F916413-5861-A019-C796-D31CE1E70419}"/>
              </a:ext>
            </a:extLst>
          </p:cNvPr>
          <p:cNvSpPr txBox="1"/>
          <p:nvPr/>
        </p:nvSpPr>
        <p:spPr>
          <a:xfrm>
            <a:off x="4789488" y="2944813"/>
            <a:ext cx="2265363" cy="431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dirty="0"/>
              <a:t>中：</a:t>
            </a: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CR3≈60 %，国内无成熟 300 mm SOI 产线，政策补贴力度大；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B7D164DD-89CD-C436-39A1-F490AE28BA33}"/>
              </a:ext>
            </a:extLst>
          </p:cNvPr>
          <p:cNvSpPr txBox="1"/>
          <p:nvPr/>
        </p:nvSpPr>
        <p:spPr>
          <a:xfrm>
            <a:off x="7570788" y="2851042"/>
            <a:ext cx="2265363" cy="939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dirty="0"/>
              <a:t>高：</a:t>
            </a: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每代速率翻倍即换代，渗透率快速提升；光电异构封装国内基本空白，有政策红利；一旦突破可锁核心环节</a:t>
            </a:r>
          </a:p>
          <a:p>
            <a:endParaRPr lang="zh-CN" altLang="zh-CN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9BA6FBA8-DA9B-131C-0536-D1055FCA0537}"/>
              </a:ext>
            </a:extLst>
          </p:cNvPr>
          <p:cNvSpPr txBox="1"/>
          <p:nvPr/>
        </p:nvSpPr>
        <p:spPr>
          <a:xfrm>
            <a:off x="10201276" y="2871743"/>
            <a:ext cx="156527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100" b="1">
                <a:solidFill>
                  <a:srgbClr val="0055E0"/>
                </a:solidFill>
                <a:latin typeface="+mn-ea"/>
              </a:defRPr>
            </a:lvl1pPr>
          </a:lstStyle>
          <a:p>
            <a:r>
              <a:rPr lang="zh-CN" altLang="en-US" dirty="0"/>
              <a:t>低：</a:t>
            </a: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资本密集+代工属性，工艺成熟度 &gt; 技术壁垒，低margin，但目前国内产能稀缺；</a:t>
            </a: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21E2431F-FB8D-4D8A-2957-A8DFE80AA1B1}"/>
              </a:ext>
            </a:extLst>
          </p:cNvPr>
          <p:cNvSpPr txBox="1"/>
          <p:nvPr/>
        </p:nvSpPr>
        <p:spPr>
          <a:xfrm>
            <a:off x="322592" y="6156830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1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BOM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bill of 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meterial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，便于从环节价格角度来拆分评估收益空间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2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传统模块/不存在新技术和变量的部分，如集成框、高级面板等未单独列出</a:t>
            </a:r>
            <a:endParaRPr kumimoji="1" lang="en-US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注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3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：</a:t>
            </a:r>
            <a:r>
              <a:rPr kumimoji="1" lang="zh-CN" altLang="zh-CN" sz="1200" i="1" dirty="0">
                <a:solidFill>
                  <a:schemeClr val="tx1">
                    <a:lumMod val="50000"/>
                  </a:schemeClr>
                </a:solidFill>
              </a:rPr>
              <a:t>价值评分逻辑：0.4*margin+0.3*稀缺度+0.3*国产替代（国内缺口、政策/市场拉动强度、本土供应链成熟度）</a:t>
            </a:r>
          </a:p>
          <a:p>
            <a:pPr>
              <a:spcBef>
                <a:spcPts val="100"/>
              </a:spcBef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100"/>
              </a:spcBef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696966E-FD59-D5B4-A168-51C92A99A090}"/>
              </a:ext>
            </a:extLst>
          </p:cNvPr>
          <p:cNvSpPr txBox="1"/>
          <p:nvPr/>
        </p:nvSpPr>
        <p:spPr>
          <a:xfrm>
            <a:off x="726350" y="3652733"/>
            <a:ext cx="445216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全球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8FD57385-92FC-7695-D49E-CF7FC0E3DDA6}"/>
              </a:ext>
            </a:extLst>
          </p:cNvPr>
          <p:cNvSpPr txBox="1"/>
          <p:nvPr/>
        </p:nvSpPr>
        <p:spPr>
          <a:xfrm>
            <a:off x="718416" y="4218314"/>
            <a:ext cx="453149" cy="475606"/>
          </a:xfrm>
          <a:prstGeom prst="rect">
            <a:avLst/>
          </a:prstGeom>
          <a:solidFill>
            <a:srgbClr val="C1E1FE"/>
          </a:solidFill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algn="ctr">
              <a:buNone/>
            </a:pPr>
            <a:r>
              <a:rPr kumimoji="1" lang="zh-CN" altLang="en-US" sz="1400" b="1" dirty="0">
                <a:solidFill>
                  <a:schemeClr val="accent6">
                    <a:lumMod val="10000"/>
                  </a:schemeClr>
                </a:solidFill>
              </a:rPr>
              <a:t>国产替代</a:t>
            </a: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908025EE-42A7-2008-1E6E-660274DE75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67075" y="4197552"/>
            <a:ext cx="3317875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熹联：100G/lane出货～10K 200G/lane出货～100K；赛丽：100G/lane出货超百万 200G/lane小批量出货；(前两家为tx现有jdm合作方）羲禾 ：100G/lane出货超百万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08B321CB-7C00-D2A4-ECCD-3B8467EFE3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5500" y="4331498"/>
            <a:ext cx="2190750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傲科、中晟：出样，需场景批量落地；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1" name="Rectangle 9">
            <a:extLst>
              <a:ext uri="{FF2B5EF4-FFF2-40B4-BE49-F238E27FC236}">
                <a16:creationId xmlns:a16="http://schemas.microsoft.com/office/drawing/2014/main" id="{43429E07-26F4-B895-DDEF-C3ADA94FB3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4179208"/>
            <a:ext cx="2619544" cy="5078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中际旭创：对外宣布800 G 光学引擎年产&gt;100 K，CPO试线运行；Accelink/海信：对外宣布400 G批量，CPO工程团队组建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2" name="Rectangle 10">
            <a:extLst>
              <a:ext uri="{FF2B5EF4-FFF2-40B4-BE49-F238E27FC236}">
                <a16:creationId xmlns:a16="http://schemas.microsoft.com/office/drawing/2014/main" id="{8CC03B0D-6A2C-7E70-EBD8-04EBCF783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8513" y="3739540"/>
            <a:ext cx="2088269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Macom/Marvell / Semtech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3" name="Rectangle 11">
            <a:extLst>
              <a:ext uri="{FF2B5EF4-FFF2-40B4-BE49-F238E27FC236}">
                <a16:creationId xmlns:a16="http://schemas.microsoft.com/office/drawing/2014/main" id="{5906A869-E2CD-23DB-35FA-0BC5F45F2D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6352" y="3736141"/>
            <a:ext cx="2265363" cy="230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Broadcom/Intel/Ranovus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48" name="图片 2047">
            <a:extLst>
              <a:ext uri="{FF2B5EF4-FFF2-40B4-BE49-F238E27FC236}">
                <a16:creationId xmlns:a16="http://schemas.microsoft.com/office/drawing/2014/main" id="{E53E366E-5E59-7FA1-9018-2ACCC3C64E4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759560" y="5031114"/>
            <a:ext cx="775992" cy="216870"/>
          </a:xfrm>
          <a:prstGeom prst="rect">
            <a:avLst/>
          </a:prstGeom>
        </p:spPr>
      </p:pic>
      <p:sp>
        <p:nvSpPr>
          <p:cNvPr id="2051" name="文本框 2050">
            <a:extLst>
              <a:ext uri="{FF2B5EF4-FFF2-40B4-BE49-F238E27FC236}">
                <a16:creationId xmlns:a16="http://schemas.microsoft.com/office/drawing/2014/main" id="{62857581-4F3E-269A-1776-12E93A939F47}"/>
              </a:ext>
            </a:extLst>
          </p:cNvPr>
          <p:cNvSpPr txBox="1"/>
          <p:nvPr/>
        </p:nvSpPr>
        <p:spPr>
          <a:xfrm>
            <a:off x="4831785" y="5278330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光互连 </a:t>
            </a:r>
            <a:r>
              <a:rPr lang="en-US" altLang="zh-CN" dirty="0" err="1"/>
              <a:t>Chiplet</a:t>
            </a:r>
            <a:r>
              <a:rPr lang="en-US" altLang="zh-CN" dirty="0"/>
              <a:t> </a:t>
            </a:r>
            <a:r>
              <a:rPr lang="zh-CN" altLang="en-US" dirty="0"/>
              <a:t>头部企业</a:t>
            </a:r>
          </a:p>
        </p:txBody>
      </p:sp>
      <p:sp>
        <p:nvSpPr>
          <p:cNvPr id="2052" name="Rectangle 13">
            <a:extLst>
              <a:ext uri="{FF2B5EF4-FFF2-40B4-BE49-F238E27FC236}">
                <a16:creationId xmlns:a16="http://schemas.microsoft.com/office/drawing/2014/main" id="{6A29D2DC-BD93-312D-1ADB-7DDAFD88B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50783" y="496755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DE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053" name="Rectangle 13">
            <a:extLst>
              <a:ext uri="{FF2B5EF4-FFF2-40B4-BE49-F238E27FC236}">
                <a16:creationId xmlns:a16="http://schemas.microsoft.com/office/drawing/2014/main" id="{DD6E1916-A421-AA04-B6BF-B4E0FB6643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6398" y="500897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15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57" name="图片 2056">
            <a:extLst>
              <a:ext uri="{FF2B5EF4-FFF2-40B4-BE49-F238E27FC236}">
                <a16:creationId xmlns:a16="http://schemas.microsoft.com/office/drawing/2014/main" id="{00AE2D27-05FC-B693-7607-50E3CA97EFC1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62838" y="4946475"/>
            <a:ext cx="1229948" cy="279934"/>
          </a:xfrm>
          <a:prstGeom prst="rect">
            <a:avLst/>
          </a:prstGeom>
        </p:spPr>
      </p:pic>
      <p:sp>
        <p:nvSpPr>
          <p:cNvPr id="2058" name="Rectangle 13">
            <a:extLst>
              <a:ext uri="{FF2B5EF4-FFF2-40B4-BE49-F238E27FC236}">
                <a16:creationId xmlns:a16="http://schemas.microsoft.com/office/drawing/2014/main" id="{C15BC35C-A3F6-051A-DC1A-4FF8BCC8F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38534" y="4974803"/>
            <a:ext cx="750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dirty="0">
                <a:solidFill>
                  <a:schemeClr val="accent6">
                    <a:lumMod val="10000"/>
                  </a:schemeClr>
                </a:solidFill>
              </a:rPr>
              <a:t>20</a:t>
            </a:r>
            <a:r>
              <a:rPr lang="en-US" altLang="zh-CN" sz="1200" baseline="-25000" dirty="0">
                <a:solidFill>
                  <a:schemeClr val="accent6">
                    <a:lumMod val="10000"/>
                  </a:schemeClr>
                </a:solidFill>
              </a:rPr>
              <a:t>US</a:t>
            </a:r>
            <a:endParaRPr lang="zh-CN" altLang="zh-CN" sz="1200" baseline="-25000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1" name="图片 2060">
            <a:extLst>
              <a:ext uri="{FF2B5EF4-FFF2-40B4-BE49-F238E27FC236}">
                <a16:creationId xmlns:a16="http://schemas.microsoft.com/office/drawing/2014/main" id="{433C58BF-324A-3769-18C1-4559A3DC9D62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1028" y="4425304"/>
            <a:ext cx="908907" cy="237650"/>
          </a:xfrm>
          <a:prstGeom prst="rect">
            <a:avLst/>
          </a:prstGeom>
        </p:spPr>
      </p:pic>
      <p:sp>
        <p:nvSpPr>
          <p:cNvPr id="2062" name="文本框 2061">
            <a:extLst>
              <a:ext uri="{FF2B5EF4-FFF2-40B4-BE49-F238E27FC236}">
                <a16:creationId xmlns:a16="http://schemas.microsoft.com/office/drawing/2014/main" id="{0691C520-9669-2602-58CB-95C999DE7A9E}"/>
              </a:ext>
            </a:extLst>
          </p:cNvPr>
          <p:cNvSpPr txBox="1"/>
          <p:nvPr/>
        </p:nvSpPr>
        <p:spPr>
          <a:xfrm>
            <a:off x="7433086" y="5251802"/>
            <a:ext cx="18141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zh-CN" dirty="0"/>
              <a:t>scale-up场景下光学全栈</a:t>
            </a:r>
            <a:r>
              <a:rPr lang="zh-CN" altLang="en-US" dirty="0"/>
              <a:t>供应商</a:t>
            </a:r>
            <a:endParaRPr lang="zh-CN" altLang="zh-CN" dirty="0"/>
          </a:p>
          <a:p>
            <a:endParaRPr lang="zh-CN" altLang="en-US" dirty="0"/>
          </a:p>
        </p:txBody>
      </p:sp>
      <p:sp>
        <p:nvSpPr>
          <p:cNvPr id="2065" name="文本框 2064">
            <a:extLst>
              <a:ext uri="{FF2B5EF4-FFF2-40B4-BE49-F238E27FC236}">
                <a16:creationId xmlns:a16="http://schemas.microsoft.com/office/drawing/2014/main" id="{303B213F-E597-656A-0A2C-E01CC33BBCCA}"/>
              </a:ext>
            </a:extLst>
          </p:cNvPr>
          <p:cNvSpPr txBox="1"/>
          <p:nvPr/>
        </p:nvSpPr>
        <p:spPr>
          <a:xfrm>
            <a:off x="1834344" y="5285972"/>
            <a:ext cx="15492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algn="ctr">
              <a:defRPr sz="1600"/>
            </a:lvl1pPr>
          </a:lstStyle>
          <a:p>
            <a:r>
              <a:rPr lang="zh-CN" altLang="en-US" dirty="0"/>
              <a:t>硅光子 </a:t>
            </a:r>
            <a:r>
              <a:rPr lang="en-US" altLang="zh-CN" dirty="0"/>
              <a:t>AI </a:t>
            </a:r>
            <a:r>
              <a:rPr lang="zh-CN" altLang="en-US" dirty="0"/>
              <a:t>处理器前沿企业</a:t>
            </a:r>
          </a:p>
        </p:txBody>
      </p:sp>
      <p:grpSp>
        <p:nvGrpSpPr>
          <p:cNvPr id="2067" name="组合 2066">
            <a:extLst>
              <a:ext uri="{FF2B5EF4-FFF2-40B4-BE49-F238E27FC236}">
                <a16:creationId xmlns:a16="http://schemas.microsoft.com/office/drawing/2014/main" id="{6E74ECFD-F589-D155-3E51-8A7D7FD0B8CE}"/>
              </a:ext>
            </a:extLst>
          </p:cNvPr>
          <p:cNvGrpSpPr/>
          <p:nvPr/>
        </p:nvGrpSpPr>
        <p:grpSpPr>
          <a:xfrm>
            <a:off x="1765776" y="5001847"/>
            <a:ext cx="1887360" cy="276999"/>
            <a:chOff x="1471613" y="4870565"/>
            <a:chExt cx="1887360" cy="276999"/>
          </a:xfrm>
        </p:grpSpPr>
        <p:pic>
          <p:nvPicPr>
            <p:cNvPr id="2064" name="图片 2063">
              <a:extLst>
                <a:ext uri="{FF2B5EF4-FFF2-40B4-BE49-F238E27FC236}">
                  <a16:creationId xmlns:a16="http://schemas.microsoft.com/office/drawing/2014/main" id="{DA0172D4-6CDB-0579-FF63-7CB53AE0C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471613" y="4886103"/>
              <a:ext cx="1108830" cy="230637"/>
            </a:xfrm>
            <a:prstGeom prst="rect">
              <a:avLst/>
            </a:prstGeom>
          </p:spPr>
        </p:pic>
        <p:sp>
          <p:nvSpPr>
            <p:cNvPr id="2066" name="Rectangle 13">
              <a:extLst>
                <a:ext uri="{FF2B5EF4-FFF2-40B4-BE49-F238E27FC236}">
                  <a16:creationId xmlns:a16="http://schemas.microsoft.com/office/drawing/2014/main" id="{A581996D-7E5A-648F-FC48-B050726D65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8957" y="4870565"/>
              <a:ext cx="75001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200" dirty="0">
                  <a:solidFill>
                    <a:schemeClr val="accent6">
                      <a:lumMod val="10000"/>
                    </a:schemeClr>
                  </a:solidFill>
                </a:rPr>
                <a:t>20</a:t>
              </a:r>
              <a:r>
                <a:rPr lang="en-US" altLang="zh-CN" sz="1200" dirty="0">
                  <a:solidFill>
                    <a:schemeClr val="accent6">
                      <a:lumMod val="10000"/>
                    </a:schemeClr>
                  </a:solidFill>
                </a:rPr>
                <a:t>17</a:t>
              </a:r>
              <a:r>
                <a:rPr lang="en-US" altLang="zh-CN" sz="1200" baseline="-25000" dirty="0">
                  <a:solidFill>
                    <a:schemeClr val="accent6">
                      <a:lumMod val="10000"/>
                    </a:schemeClr>
                  </a:solidFill>
                </a:rPr>
                <a:t>US</a:t>
              </a:r>
              <a:endParaRPr lang="zh-CN" altLang="zh-CN" sz="1200" baseline="-25000" dirty="0">
                <a:solidFill>
                  <a:schemeClr val="accent6">
                    <a:lumMod val="10000"/>
                  </a:schemeClr>
                </a:solidFill>
              </a:endParaRPr>
            </a:p>
          </p:txBody>
        </p:sp>
      </p:grpSp>
      <p:sp>
        <p:nvSpPr>
          <p:cNvPr id="2068" name="矩形 2067">
            <a:extLst>
              <a:ext uri="{FF2B5EF4-FFF2-40B4-BE49-F238E27FC236}">
                <a16:creationId xmlns:a16="http://schemas.microsoft.com/office/drawing/2014/main" id="{E4C60512-68F3-7283-3BF6-268DDAD1AAF8}"/>
              </a:ext>
            </a:extLst>
          </p:cNvPr>
          <p:cNvSpPr/>
          <p:nvPr/>
        </p:nvSpPr>
        <p:spPr>
          <a:xfrm>
            <a:off x="12335442" y="3320942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b="1" dirty="0">
                <a:solidFill>
                  <a:schemeClr val="accent6">
                    <a:lumMod val="10000"/>
                  </a:schemeClr>
                </a:solidFill>
              </a:rPr>
              <a:t>为什么看那四家？（怎么写一句话？）</a:t>
            </a:r>
            <a:endParaRPr lang="en-US" altLang="zh-CN" b="1" dirty="0">
              <a:solidFill>
                <a:schemeClr val="accent6">
                  <a:lumMod val="10000"/>
                </a:schemeClr>
              </a:solidFill>
            </a:endParaRPr>
          </a:p>
        </p:txBody>
      </p:sp>
      <p:pic>
        <p:nvPicPr>
          <p:cNvPr id="2069" name="图片 2068">
            <a:extLst>
              <a:ext uri="{FF2B5EF4-FFF2-40B4-BE49-F238E27FC236}">
                <a16:creationId xmlns:a16="http://schemas.microsoft.com/office/drawing/2014/main" id="{5D34643A-5962-8E37-F692-BC82446C64C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68972" y="3731820"/>
            <a:ext cx="908907" cy="23765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E3D6372B-3266-5710-EA96-F6F92D128304}"/>
              </a:ext>
            </a:extLst>
          </p:cNvPr>
          <p:cNvSpPr/>
          <p:nvPr/>
        </p:nvSpPr>
        <p:spPr>
          <a:xfrm>
            <a:off x="12335442" y="4733468"/>
            <a:ext cx="2081026" cy="1867664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多选一些标的，可以模糊一点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38116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85219-A3EA-102C-35FE-28B42AC6A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5E722B01-5C71-28E6-B385-632746D98F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48EFA6E-A2A4-CA1D-1B52-3BFFCCA39DC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E79D7DC7-C968-E660-FBE4-767DAA806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 err="1"/>
              <a:t>ficonTEC</a:t>
            </a:r>
            <a:r>
              <a:rPr lang="zh-CN" altLang="en-US" dirty="0"/>
              <a:t>：德国老牌光子装配测试龙头，中企收购卡位国产替代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E996DFD-DB9D-0F5C-9F6A-1AABD8A0CA33}"/>
              </a:ext>
            </a:extLst>
          </p:cNvPr>
          <p:cNvSpPr txBox="1"/>
          <p:nvPr/>
        </p:nvSpPr>
        <p:spPr>
          <a:xfrm>
            <a:off x="419231" y="637019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公司官网、深交所最新文件</a:t>
            </a: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EA2A341-26F7-8EF0-F172-671D3A43D1DA}"/>
              </a:ext>
            </a:extLst>
          </p:cNvPr>
          <p:cNvSpPr txBox="1"/>
          <p:nvPr/>
        </p:nvSpPr>
        <p:spPr>
          <a:xfrm>
            <a:off x="402128" y="146610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58774F40-591C-C05F-B889-65AA38FAD57E}"/>
              </a:ext>
            </a:extLst>
          </p:cNvPr>
          <p:cNvCxnSpPr>
            <a:cxnSpLocks/>
          </p:cNvCxnSpPr>
          <p:nvPr/>
        </p:nvCxnSpPr>
        <p:spPr>
          <a:xfrm>
            <a:off x="407777" y="178201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83749CC5-729C-E135-E975-739F63945B88}"/>
              </a:ext>
            </a:extLst>
          </p:cNvPr>
          <p:cNvSpPr txBox="1"/>
          <p:nvPr/>
        </p:nvSpPr>
        <p:spPr>
          <a:xfrm>
            <a:off x="6181644" y="144569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经营情况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210B42CB-5F2F-D3D0-C68D-71A1EF3C2FE3}"/>
              </a:ext>
            </a:extLst>
          </p:cNvPr>
          <p:cNvCxnSpPr>
            <a:cxnSpLocks/>
          </p:cNvCxnSpPr>
          <p:nvPr/>
        </p:nvCxnSpPr>
        <p:spPr>
          <a:xfrm>
            <a:off x="6187293" y="176160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C8CE1454-DBA8-EC8D-F1F1-678A281C0300}"/>
              </a:ext>
            </a:extLst>
          </p:cNvPr>
          <p:cNvSpPr txBox="1"/>
          <p:nvPr/>
        </p:nvSpPr>
        <p:spPr>
          <a:xfrm>
            <a:off x="6197582" y="1911169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财务：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867AEC89-B28C-2EE4-FA8D-FD8C415978CD}"/>
              </a:ext>
            </a:extLst>
          </p:cNvPr>
          <p:cNvSpPr/>
          <p:nvPr/>
        </p:nvSpPr>
        <p:spPr>
          <a:xfrm>
            <a:off x="6331902" y="2199830"/>
            <a:ext cx="2590527" cy="13171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营收、毛利、利润折线图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F2958CC4-F0CD-E083-729D-4E9C314D4863}"/>
              </a:ext>
            </a:extLst>
          </p:cNvPr>
          <p:cNvSpPr txBox="1"/>
          <p:nvPr/>
        </p:nvSpPr>
        <p:spPr>
          <a:xfrm>
            <a:off x="9114130" y="1912272"/>
            <a:ext cx="1737378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低量高价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97600D4-8EFC-4BEB-F372-2AC496A90423}"/>
              </a:ext>
            </a:extLst>
          </p:cNvPr>
          <p:cNvSpPr txBox="1"/>
          <p:nvPr/>
        </p:nvSpPr>
        <p:spPr>
          <a:xfrm>
            <a:off x="385575" y="1867174"/>
            <a:ext cx="551493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专注于光电器件的微组装和自动化测试方向，交付方式为高度定制化+复杂工序导入；</a:t>
            </a:r>
            <a:r>
              <a:rPr lang="zh-CN" altLang="en-US" sz="1600" b="1" dirty="0">
                <a:solidFill>
                  <a:srgbClr val="000000"/>
                </a:solidFill>
                <a:latin typeface="+mn-ea"/>
              </a:rPr>
              <a:t>全球交付阶段</a:t>
            </a:r>
            <a:endParaRPr lang="en-US" altLang="zh-CN" sz="16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304F6D83-A903-9515-9210-211702607A9F}"/>
              </a:ext>
            </a:extLst>
          </p:cNvPr>
          <p:cNvSpPr/>
          <p:nvPr/>
        </p:nvSpPr>
        <p:spPr>
          <a:xfrm>
            <a:off x="844257" y="4371289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38" name="Rectangle 3">
            <a:extLst>
              <a:ext uri="{FF2B5EF4-FFF2-40B4-BE49-F238E27FC236}">
                <a16:creationId xmlns:a16="http://schemas.microsoft.com/office/drawing/2014/main" id="{E919E7B5-3D25-95E6-B96A-BDEBAB631E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5263" y="5318398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495F44A2-C061-5D7D-8391-320D4C0B5020}"/>
              </a:ext>
            </a:extLst>
          </p:cNvPr>
          <p:cNvGrpSpPr/>
          <p:nvPr/>
        </p:nvGrpSpPr>
        <p:grpSpPr>
          <a:xfrm>
            <a:off x="102400" y="2460374"/>
            <a:ext cx="5873979" cy="1249892"/>
            <a:chOff x="52932" y="2930313"/>
            <a:chExt cx="5873979" cy="1249892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7F9DEF2-78DB-2D1C-CB28-2368D031DABD}"/>
                </a:ext>
              </a:extLst>
            </p:cNvPr>
            <p:cNvSpPr txBox="1"/>
            <p:nvPr/>
          </p:nvSpPr>
          <p:spPr>
            <a:xfrm>
              <a:off x="725321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2001</a:t>
              </a:r>
              <a:endParaRPr lang="zh-CN" altLang="en-US" sz="1400" dirty="0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A6E13F6A-5C99-C2BA-3010-A10B69F495BF}"/>
                </a:ext>
              </a:extLst>
            </p:cNvPr>
            <p:cNvSpPr txBox="1"/>
            <p:nvPr/>
          </p:nvSpPr>
          <p:spPr>
            <a:xfrm>
              <a:off x="1877713" y="3836611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2002</a:t>
              </a:r>
              <a:endParaRPr lang="zh-CN" altLang="en-US" sz="1400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F6BB480-7E3B-D449-A554-264075514DE5}"/>
                </a:ext>
              </a:extLst>
            </p:cNvPr>
            <p:cNvSpPr txBox="1"/>
            <p:nvPr/>
          </p:nvSpPr>
          <p:spPr>
            <a:xfrm>
              <a:off x="4710386" y="3872428"/>
              <a:ext cx="7194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400" dirty="0"/>
                <a:t>2025</a:t>
              </a:r>
              <a:endParaRPr lang="zh-CN" altLang="en-US" sz="1400" dirty="0"/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20678657-096D-B78D-191E-F3A961E120A8}"/>
                </a:ext>
              </a:extLst>
            </p:cNvPr>
            <p:cNvSpPr txBox="1"/>
            <p:nvPr/>
          </p:nvSpPr>
          <p:spPr>
            <a:xfrm>
              <a:off x="3701915" y="2930313"/>
              <a:ext cx="2224996" cy="6001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被中国上市公司RoboTechnik以10.11亿人民币价格收购全部股权；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0B5CBD8-B142-509A-526A-B947849110E3}"/>
                </a:ext>
              </a:extLst>
            </p:cNvPr>
            <p:cNvSpPr txBox="1"/>
            <p:nvPr/>
          </p:nvSpPr>
          <p:spPr>
            <a:xfrm>
              <a:off x="1640659" y="2942838"/>
              <a:ext cx="1396254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获德国mic</a:t>
              </a:r>
              <a:r>
                <a:rPr kumimoji="0" lang="en-US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 </a:t>
              </a: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seed轮投资</a:t>
              </a:r>
              <a:endParaRPr lang="zh-CN" altLang="en-US" sz="1100" dirty="0">
                <a:latin typeface="+mn-ea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86D9C25-13C6-F2D7-5457-4E1AB9466572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2733F027-A8A6-A925-8AD6-9E76BA7DC9A4}"/>
                </a:ext>
              </a:extLst>
            </p:cNvPr>
            <p:cNvCxnSpPr/>
            <p:nvPr/>
          </p:nvCxnSpPr>
          <p:spPr>
            <a:xfrm>
              <a:off x="688894" y="3753376"/>
              <a:ext cx="498280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5B2CC9EA-D5C4-2F53-C89A-F72FBD83042F}"/>
              </a:ext>
            </a:extLst>
          </p:cNvPr>
          <p:cNvSpPr txBox="1"/>
          <p:nvPr/>
        </p:nvSpPr>
        <p:spPr>
          <a:xfrm>
            <a:off x="404731" y="3952149"/>
            <a:ext cx="525246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核心产品：</a:t>
            </a:r>
            <a:endParaRPr lang="zh-CN" altLang="en-US" sz="1600" dirty="0"/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DA16EADF-E9DD-99F1-5404-4C1109ED7A7F}"/>
              </a:ext>
            </a:extLst>
          </p:cNvPr>
          <p:cNvSpPr txBox="1"/>
          <p:nvPr/>
        </p:nvSpPr>
        <p:spPr>
          <a:xfrm>
            <a:off x="1796021" y="4599331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C887D4D-600A-C1E0-97F5-8B5D412E4DFF}"/>
              </a:ext>
            </a:extLst>
          </p:cNvPr>
          <p:cNvSpPr/>
          <p:nvPr/>
        </p:nvSpPr>
        <p:spPr>
          <a:xfrm>
            <a:off x="3335125" y="4360321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核心产品图</a:t>
            </a:r>
          </a:p>
        </p:txBody>
      </p:sp>
      <p:sp>
        <p:nvSpPr>
          <p:cNvPr id="46" name="Rectangle 3">
            <a:extLst>
              <a:ext uri="{FF2B5EF4-FFF2-40B4-BE49-F238E27FC236}">
                <a16:creationId xmlns:a16="http://schemas.microsoft.com/office/drawing/2014/main" id="{79101D38-5EAB-782C-2FD1-755947119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6131" y="5307430"/>
            <a:ext cx="121058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市占（市场地位）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0206B548-D3F7-F5B0-24B2-E58C56F958A0}"/>
              </a:ext>
            </a:extLst>
          </p:cNvPr>
          <p:cNvSpPr txBox="1"/>
          <p:nvPr/>
        </p:nvSpPr>
        <p:spPr>
          <a:xfrm>
            <a:off x="4286889" y="4588363"/>
            <a:ext cx="1025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功能点</a:t>
            </a:r>
            <a:endParaRPr lang="zh-CN" altLang="en-US" dirty="0">
              <a:latin typeface="+mn-ea"/>
            </a:endParaRPr>
          </a:p>
        </p:txBody>
      </p:sp>
      <p:grpSp>
        <p:nvGrpSpPr>
          <p:cNvPr id="83" name="组合 82">
            <a:extLst>
              <a:ext uri="{FF2B5EF4-FFF2-40B4-BE49-F238E27FC236}">
                <a16:creationId xmlns:a16="http://schemas.microsoft.com/office/drawing/2014/main" id="{6EB19848-9D68-08F5-C2C7-2A996090D4E4}"/>
              </a:ext>
            </a:extLst>
          </p:cNvPr>
          <p:cNvGrpSpPr/>
          <p:nvPr/>
        </p:nvGrpSpPr>
        <p:grpSpPr>
          <a:xfrm>
            <a:off x="8763635" y="2389347"/>
            <a:ext cx="1876725" cy="760291"/>
            <a:chOff x="6959734" y="4205367"/>
            <a:chExt cx="1876725" cy="760291"/>
          </a:xfrm>
        </p:grpSpPr>
        <p:pic>
          <p:nvPicPr>
            <p:cNvPr id="49" name="图形 48" descr="USB 纯色填充">
              <a:extLst>
                <a:ext uri="{FF2B5EF4-FFF2-40B4-BE49-F238E27FC236}">
                  <a16:creationId xmlns:a16="http://schemas.microsoft.com/office/drawing/2014/main" id="{5CBB0C1F-1419-39CB-99F8-FD1C008D06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7491538" y="4205367"/>
              <a:ext cx="472681" cy="472681"/>
            </a:xfrm>
            <a:prstGeom prst="rect">
              <a:avLst/>
            </a:prstGeom>
          </p:spPr>
        </p:pic>
        <p:sp>
          <p:nvSpPr>
            <p:cNvPr id="51" name="文本框 50">
              <a:extLst>
                <a:ext uri="{FF2B5EF4-FFF2-40B4-BE49-F238E27FC236}">
                  <a16:creationId xmlns:a16="http://schemas.microsoft.com/office/drawing/2014/main" id="{9A33FA5D-AF12-AEDE-BF2A-14A3F1F71718}"/>
                </a:ext>
              </a:extLst>
            </p:cNvPr>
            <p:cNvSpPr txBox="1"/>
            <p:nvPr/>
          </p:nvSpPr>
          <p:spPr>
            <a:xfrm>
              <a:off x="6959734" y="4657881"/>
              <a:ext cx="15362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全球交付</a:t>
              </a:r>
              <a:endParaRPr lang="zh-CN" altLang="en-US" sz="1400" dirty="0">
                <a:latin typeface="+mn-ea"/>
              </a:endParaRP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id="{E1CC8B27-833B-CC11-9AAB-EB903FD5F1DA}"/>
                </a:ext>
              </a:extLst>
            </p:cNvPr>
            <p:cNvSpPr txBox="1"/>
            <p:nvPr/>
          </p:nvSpPr>
          <p:spPr>
            <a:xfrm>
              <a:off x="7960159" y="4403052"/>
              <a:ext cx="87630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700+</a:t>
              </a:r>
              <a:r>
                <a:rPr kumimoji="0" lang="zh-CN" altLang="en-US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台</a:t>
              </a:r>
              <a:endParaRPr lang="zh-CN" altLang="en-US" sz="1400" dirty="0"/>
            </a:p>
          </p:txBody>
        </p:sp>
      </p:grpSp>
      <p:grpSp>
        <p:nvGrpSpPr>
          <p:cNvPr id="82" name="组合 81">
            <a:extLst>
              <a:ext uri="{FF2B5EF4-FFF2-40B4-BE49-F238E27FC236}">
                <a16:creationId xmlns:a16="http://schemas.microsoft.com/office/drawing/2014/main" id="{608F035B-C693-C9D2-0CDA-B424A364E561}"/>
              </a:ext>
            </a:extLst>
          </p:cNvPr>
          <p:cNvGrpSpPr/>
          <p:nvPr/>
        </p:nvGrpSpPr>
        <p:grpSpPr>
          <a:xfrm>
            <a:off x="10541104" y="2335470"/>
            <a:ext cx="2139044" cy="818629"/>
            <a:chOff x="9332675" y="4153814"/>
            <a:chExt cx="2139044" cy="818629"/>
          </a:xfrm>
        </p:grpSpPr>
        <p:pic>
          <p:nvPicPr>
            <p:cNvPr id="55" name="图形 54" descr="标签 轮廓">
              <a:extLst>
                <a:ext uri="{FF2B5EF4-FFF2-40B4-BE49-F238E27FC236}">
                  <a16:creationId xmlns:a16="http://schemas.microsoft.com/office/drawing/2014/main" id="{1AEC6F0E-3F2B-217A-F3AA-113E3102C51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9531187" y="4153814"/>
              <a:ext cx="510852" cy="510852"/>
            </a:xfrm>
            <a:prstGeom prst="rect">
              <a:avLst/>
            </a:prstGeom>
          </p:spPr>
        </p:pic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6D79BFB2-DC58-1312-158C-251EE0EE6A26}"/>
                </a:ext>
              </a:extLst>
            </p:cNvPr>
            <p:cNvSpPr txBox="1"/>
            <p:nvPr/>
          </p:nvSpPr>
          <p:spPr>
            <a:xfrm>
              <a:off x="9332675" y="4664666"/>
              <a:ext cx="100644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平均ASP</a:t>
              </a:r>
              <a:endParaRPr lang="zh-CN" altLang="en-US" sz="1400" dirty="0"/>
            </a:p>
          </p:txBody>
        </p:sp>
        <p:sp>
          <p:nvSpPr>
            <p:cNvPr id="59" name="文本框 58">
              <a:extLst>
                <a:ext uri="{FF2B5EF4-FFF2-40B4-BE49-F238E27FC236}">
                  <a16:creationId xmlns:a16="http://schemas.microsoft.com/office/drawing/2014/main" id="{F3F49F91-9576-C1A5-7026-ED1C6C5C66D4}"/>
                </a:ext>
              </a:extLst>
            </p:cNvPr>
            <p:cNvSpPr txBox="1"/>
            <p:nvPr/>
          </p:nvSpPr>
          <p:spPr>
            <a:xfrm>
              <a:off x="10042039" y="4398950"/>
              <a:ext cx="142968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0" lang="zh-CN" altLang="zh-CN" sz="1600" b="1" i="0" u="none" strike="noStrike" cap="none" normalizeH="0" baseline="0" dirty="0">
                  <a:ln>
                    <a:noFill/>
                  </a:ln>
                  <a:solidFill>
                    <a:srgbClr val="0052D9"/>
                  </a:solidFill>
                  <a:effectLst/>
                  <a:latin typeface="+mn-ea"/>
                </a:rPr>
                <a:t>235</a:t>
              </a:r>
              <a:r>
                <a:rPr kumimoji="0" lang="zh-CN" altLang="zh-CN" sz="14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万/台</a:t>
              </a:r>
              <a:endParaRPr lang="zh-CN" altLang="en-US" sz="1400" dirty="0"/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13E82E2F-C8BE-A202-1FFF-3FCF77E0BE54}"/>
              </a:ext>
            </a:extLst>
          </p:cNvPr>
          <p:cNvSpPr/>
          <p:nvPr/>
        </p:nvSpPr>
        <p:spPr>
          <a:xfrm>
            <a:off x="7587046" y="4296505"/>
            <a:ext cx="1108405" cy="6527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800" dirty="0">
                <a:solidFill>
                  <a:schemeClr val="bg1"/>
                </a:solidFill>
              </a:rPr>
              <a:t>客户 </a:t>
            </a:r>
            <a:r>
              <a:rPr lang="en-US" altLang="zh-CN" sz="800" dirty="0">
                <a:solidFill>
                  <a:schemeClr val="bg1"/>
                </a:solidFill>
              </a:rPr>
              <a:t>logo</a:t>
            </a:r>
          </a:p>
          <a:p>
            <a:pPr algn="ctr"/>
            <a:r>
              <a:rPr lang="zh-CN" altLang="zh-CN" sz="800" dirty="0">
                <a:solidFill>
                  <a:schemeClr val="bg1"/>
                </a:solidFill>
                <a:latin typeface="+mn-ea"/>
              </a:rPr>
              <a:t>Ciena、Intel、Cisco、Broadcom、Aeva</a:t>
            </a:r>
            <a:endParaRPr lang="zh-CN" altLang="en-US" sz="800" dirty="0">
              <a:solidFill>
                <a:schemeClr val="bg1"/>
              </a:solidFill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488B0342-ECC8-25C4-A2F6-501BB5940217}"/>
              </a:ext>
            </a:extLst>
          </p:cNvPr>
          <p:cNvSpPr/>
          <p:nvPr/>
        </p:nvSpPr>
        <p:spPr>
          <a:xfrm>
            <a:off x="6261397" y="4209482"/>
            <a:ext cx="876300" cy="7595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/>
              <a:t>饼图</a:t>
            </a:r>
            <a:endParaRPr lang="en-US" altLang="zh-CN" sz="1600" dirty="0"/>
          </a:p>
          <a:p>
            <a:pPr algn="ctr"/>
            <a:r>
              <a:rPr lang="zh-CN" altLang="en-US" sz="1600" dirty="0"/>
              <a:t>前五大</a:t>
            </a:r>
            <a:r>
              <a:rPr lang="en-US" altLang="zh-CN" sz="1600" dirty="0"/>
              <a:t>vs</a:t>
            </a:r>
            <a:r>
              <a:rPr lang="zh-CN" altLang="en-US" sz="1600" dirty="0"/>
              <a:t>其他</a:t>
            </a:r>
          </a:p>
        </p:txBody>
      </p:sp>
      <p:cxnSp>
        <p:nvCxnSpPr>
          <p:cNvPr id="65" name="直接连接符 64">
            <a:extLst>
              <a:ext uri="{FF2B5EF4-FFF2-40B4-BE49-F238E27FC236}">
                <a16:creationId xmlns:a16="http://schemas.microsoft.com/office/drawing/2014/main" id="{2D75F656-B70F-B050-C952-585F5A64DBC3}"/>
              </a:ext>
            </a:extLst>
          </p:cNvPr>
          <p:cNvCxnSpPr>
            <a:stCxn id="63" idx="3"/>
          </p:cNvCxnSpPr>
          <p:nvPr/>
        </p:nvCxnSpPr>
        <p:spPr>
          <a:xfrm flipV="1">
            <a:off x="7137697" y="4389314"/>
            <a:ext cx="597694" cy="1999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>
            <a:extLst>
              <a:ext uri="{FF2B5EF4-FFF2-40B4-BE49-F238E27FC236}">
                <a16:creationId xmlns:a16="http://schemas.microsoft.com/office/drawing/2014/main" id="{90E56704-6383-314D-AD29-9554A7D8D6BD}"/>
              </a:ext>
            </a:extLst>
          </p:cNvPr>
          <p:cNvCxnSpPr>
            <a:cxnSpLocks/>
          </p:cNvCxnSpPr>
          <p:nvPr/>
        </p:nvCxnSpPr>
        <p:spPr>
          <a:xfrm>
            <a:off x="7170252" y="4803045"/>
            <a:ext cx="626099" cy="1235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文本框 72">
            <a:extLst>
              <a:ext uri="{FF2B5EF4-FFF2-40B4-BE49-F238E27FC236}">
                <a16:creationId xmlns:a16="http://schemas.microsoft.com/office/drawing/2014/main" id="{0A6DE4BE-4A02-3262-73FE-4214CFF33DA4}"/>
              </a:ext>
            </a:extLst>
          </p:cNvPr>
          <p:cNvSpPr txBox="1"/>
          <p:nvPr/>
        </p:nvSpPr>
        <p:spPr>
          <a:xfrm>
            <a:off x="7125019" y="4473167"/>
            <a:ext cx="107717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zh-CN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42%</a:t>
            </a:r>
            <a:endParaRPr lang="zh-CN" altLang="en-US" sz="1600" dirty="0"/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D919944B-853D-E731-257B-222A179CF891}"/>
              </a:ext>
            </a:extLst>
          </p:cNvPr>
          <p:cNvSpPr txBox="1"/>
          <p:nvPr/>
        </p:nvSpPr>
        <p:spPr>
          <a:xfrm>
            <a:off x="10345628" y="4335379"/>
            <a:ext cx="162000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集中，标准机硬件长期委外给 Tech Group AS，其采购占比38%～41%；</a:t>
            </a:r>
            <a:endParaRPr kumimoji="0" lang="zh-CN" altLang="zh-CN" sz="1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E1FCB49C-BE05-04CC-C65F-FB113715C03F}"/>
              </a:ext>
            </a:extLst>
          </p:cNvPr>
          <p:cNvSpPr txBox="1"/>
          <p:nvPr/>
        </p:nvSpPr>
        <p:spPr>
          <a:xfrm>
            <a:off x="249937" y="799727"/>
            <a:ext cx="1169212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一家高度项目驱动、已进入一线客户采购体系的小而专的德国老牌光子装配&amp;测试设备公司，通过中国企业收购后卡位于国产替代高精度光学设备供应环节。盈利和增长拐点取决于标准化程度上升、cpo红利的布局契合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sz="1600" dirty="0">
              <a:latin typeface="+mn-ea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A1D3CA9-8FB3-28AE-F39C-1054E30E355F}"/>
              </a:ext>
            </a:extLst>
          </p:cNvPr>
          <p:cNvSpPr txBox="1"/>
          <p:nvPr/>
        </p:nvSpPr>
        <p:spPr>
          <a:xfrm>
            <a:off x="6199743" y="3730140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客户集中度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C2438614-D5ED-57FC-5749-AC21BE9A36C2}"/>
              </a:ext>
            </a:extLst>
          </p:cNvPr>
          <p:cNvSpPr txBox="1"/>
          <p:nvPr/>
        </p:nvSpPr>
        <p:spPr>
          <a:xfrm>
            <a:off x="9114130" y="3751873"/>
            <a:ext cx="5027613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供应商集中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C3DA17BF-D6BA-66A2-06AF-C9AE7DFE0159}"/>
              </a:ext>
            </a:extLst>
          </p:cNvPr>
          <p:cNvSpPr txBox="1"/>
          <p:nvPr/>
        </p:nvSpPr>
        <p:spPr>
          <a:xfrm>
            <a:off x="6197582" y="5455112"/>
            <a:ext cx="5269570" cy="32861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285750" indent="-28575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b="1" dirty="0">
                <a:solidFill>
                  <a:schemeClr val="accent6">
                    <a:lumMod val="10000"/>
                  </a:schemeClr>
                </a:solidFill>
              </a:rPr>
              <a:t>产能：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供应链产能94台、产量80台、销量96台 → 产能利用率85%（销量&gt;产能，靠去库存发货，产能利用率大概率是交付节奏束缚）</a:t>
            </a:r>
            <a:endParaRPr kumimoji="1" lang="en-US" altLang="zh-CN" sz="160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8A4865-DBC5-73C5-4E21-53E7DD1844B3}"/>
              </a:ext>
            </a:extLst>
          </p:cNvPr>
          <p:cNvSpPr/>
          <p:nvPr/>
        </p:nvSpPr>
        <p:spPr>
          <a:xfrm>
            <a:off x="9293754" y="4209745"/>
            <a:ext cx="835361" cy="7240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>
                <a:solidFill>
                  <a:schemeClr val="bg1"/>
                </a:solidFill>
              </a:rPr>
              <a:t>饼图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zh-CN" altLang="zh-CN" sz="1000" dirty="0">
                <a:solidFill>
                  <a:schemeClr val="bg1"/>
                </a:solidFill>
                <a:latin typeface="+mn-ea"/>
              </a:rPr>
              <a:t>Tech Group AS</a:t>
            </a:r>
            <a:endParaRPr lang="en-US" altLang="zh-CN" sz="1000" dirty="0">
              <a:solidFill>
                <a:schemeClr val="bg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bg1"/>
                </a:solidFill>
              </a:rPr>
              <a:t>vs</a:t>
            </a:r>
            <a:r>
              <a:rPr lang="zh-CN" altLang="en-US" sz="1000" dirty="0">
                <a:solidFill>
                  <a:schemeClr val="bg1"/>
                </a:solidFill>
              </a:rPr>
              <a:t>其他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E0BEF19-E92A-D485-01C9-3E337A20E0BA}"/>
              </a:ext>
            </a:extLst>
          </p:cNvPr>
          <p:cNvSpPr/>
          <p:nvPr/>
        </p:nvSpPr>
        <p:spPr>
          <a:xfrm>
            <a:off x="12311686" y="2199830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2021年～2023年营业收入分别为2.79亿、2.87亿、2.57亿；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毛利分别为34.4%、41.6%、40.2%；</a:t>
            </a:r>
            <a:endParaRPr lang="zh-CN" altLang="zh-CN" sz="800" dirty="0">
              <a:solidFill>
                <a:schemeClr val="tx1"/>
              </a:solidFill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利润分别为：-5800万、-2200万、-1400万；</a:t>
            </a:r>
            <a:endParaRPr lang="zh-CN" altLang="zh-CN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E36E5FC-C536-8122-4DA8-49002FF94ECE}"/>
              </a:ext>
            </a:extLst>
          </p:cNvPr>
          <p:cNvSpPr/>
          <p:nvPr/>
        </p:nvSpPr>
        <p:spPr>
          <a:xfrm>
            <a:off x="12327945" y="4502613"/>
            <a:ext cx="2590527" cy="2355387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Facts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和主观判断对应上</a:t>
            </a:r>
            <a:endParaRPr lang="zh-CN" altLang="zh-CN" sz="28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034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文本框 77">
            <a:extLst>
              <a:ext uri="{FF2B5EF4-FFF2-40B4-BE49-F238E27FC236}">
                <a16:creationId xmlns:a16="http://schemas.microsoft.com/office/drawing/2014/main" id="{66BB9BDC-AA4F-FDA8-9111-1A2EDB980978}"/>
              </a:ext>
            </a:extLst>
          </p:cNvPr>
          <p:cNvSpPr txBox="1"/>
          <p:nvPr/>
        </p:nvSpPr>
        <p:spPr>
          <a:xfrm>
            <a:off x="249937" y="727488"/>
            <a:ext cx="116921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一句话：</a:t>
            </a:r>
            <a:endParaRPr lang="zh-CN" altLang="en-US" sz="1600" dirty="0">
              <a:latin typeface="+mn-ea"/>
            </a:endParaRPr>
          </a:p>
        </p:txBody>
      </p:sp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B48EFA6E-A2A4-CA1D-1B52-3BFFCCA39DC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40664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401" imgH="401" progId="TCLayout.ActiveDocument.1">
                  <p:embed/>
                </p:oleObj>
              </mc:Choice>
              <mc:Fallback>
                <p:oleObj name="think-cell 幻灯片" r:id="rId4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904B4214-F4FE-6D40-EA5E-397660DE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AyarLabs</a:t>
            </a:r>
            <a:r>
              <a:rPr lang="en-US" altLang="zh-CN" baseline="30000" dirty="0"/>
              <a:t>1</a:t>
            </a:r>
            <a:r>
              <a:rPr lang="zh-CN" altLang="en-US" dirty="0"/>
              <a:t>：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A33F1C4-34DF-771E-D6FE-0C9C6EBA96D0}"/>
              </a:ext>
            </a:extLst>
          </p:cNvPr>
          <p:cNvSpPr txBox="1"/>
          <p:nvPr/>
        </p:nvSpPr>
        <p:spPr>
          <a:xfrm>
            <a:off x="419231" y="6263513"/>
            <a:ext cx="7859218" cy="42227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Source: 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官网、</a:t>
            </a:r>
            <a:r>
              <a:rPr kumimoji="1" lang="en-US" altLang="zh-CN" sz="1200" i="1" dirty="0" err="1">
                <a:solidFill>
                  <a:schemeClr val="tx1">
                    <a:lumMod val="50000"/>
                  </a:schemeClr>
                </a:solidFill>
              </a:rPr>
              <a:t>crunchbase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、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</a:t>
            </a:r>
            <a:r>
              <a:rPr kumimoji="1" lang="zh-CN" altLang="en-US" sz="1200" i="1" dirty="0">
                <a:solidFill>
                  <a:schemeClr val="tx1">
                    <a:lumMod val="50000"/>
                  </a:schemeClr>
                </a:solidFill>
              </a:rPr>
              <a:t>轮</a:t>
            </a:r>
            <a:r>
              <a:rPr kumimoji="1" lang="en-US" altLang="zh-CN" sz="1200" i="1" dirty="0">
                <a:solidFill>
                  <a:schemeClr val="tx1">
                    <a:lumMod val="50000"/>
                  </a:schemeClr>
                </a:solidFill>
              </a:rPr>
              <a:t>BP</a:t>
            </a: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zh-CN" sz="1200" i="1" dirty="0">
              <a:solidFill>
                <a:schemeClr val="tx1">
                  <a:lumMod val="50000"/>
                </a:schemeClr>
              </a:solidFill>
            </a:endParaRPr>
          </a:p>
          <a:p>
            <a:pPr>
              <a:spcBef>
                <a:spcPts val="300"/>
              </a:spcBef>
              <a:spcAft>
                <a:spcPts val="300"/>
              </a:spcAft>
            </a:pPr>
            <a:endParaRPr kumimoji="1" lang="zh-CN" altLang="en-US" sz="1200" i="1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E6B831-47A7-FFC5-58AB-2247F02F3AA7}"/>
              </a:ext>
            </a:extLst>
          </p:cNvPr>
          <p:cNvSpPr txBox="1"/>
          <p:nvPr/>
        </p:nvSpPr>
        <p:spPr>
          <a:xfrm>
            <a:off x="402128" y="1359426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公司概要</a:t>
            </a:r>
          </a:p>
        </p:txBody>
      </p:sp>
      <p:cxnSp>
        <p:nvCxnSpPr>
          <p:cNvPr id="10" name="直线连接符 38">
            <a:extLst>
              <a:ext uri="{FF2B5EF4-FFF2-40B4-BE49-F238E27FC236}">
                <a16:creationId xmlns:a16="http://schemas.microsoft.com/office/drawing/2014/main" id="{64286863-EAEA-76DD-C1D8-FD9BDA606664}"/>
              </a:ext>
            </a:extLst>
          </p:cNvPr>
          <p:cNvCxnSpPr>
            <a:cxnSpLocks/>
          </p:cNvCxnSpPr>
          <p:nvPr/>
        </p:nvCxnSpPr>
        <p:spPr>
          <a:xfrm>
            <a:off x="407777" y="1675339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本框 26">
            <a:extLst>
              <a:ext uri="{FF2B5EF4-FFF2-40B4-BE49-F238E27FC236}">
                <a16:creationId xmlns:a16="http://schemas.microsoft.com/office/drawing/2014/main" id="{A530A5B5-E239-7CC5-1FC5-95FB411798B0}"/>
              </a:ext>
            </a:extLst>
          </p:cNvPr>
          <p:cNvSpPr txBox="1"/>
          <p:nvPr/>
        </p:nvSpPr>
        <p:spPr>
          <a:xfrm>
            <a:off x="6181644" y="1339010"/>
            <a:ext cx="5269570" cy="30162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b="1" dirty="0">
                <a:solidFill>
                  <a:schemeClr val="tx1">
                    <a:lumMod val="50000"/>
                  </a:schemeClr>
                </a:solidFill>
              </a:rPr>
              <a:t>运营进展</a:t>
            </a:r>
          </a:p>
        </p:txBody>
      </p:sp>
      <p:cxnSp>
        <p:nvCxnSpPr>
          <p:cNvPr id="28" name="直线连接符 38">
            <a:extLst>
              <a:ext uri="{FF2B5EF4-FFF2-40B4-BE49-F238E27FC236}">
                <a16:creationId xmlns:a16="http://schemas.microsoft.com/office/drawing/2014/main" id="{F39D5D99-1FCC-5C92-F731-AB8625C5BFD2}"/>
              </a:ext>
            </a:extLst>
          </p:cNvPr>
          <p:cNvCxnSpPr>
            <a:cxnSpLocks/>
          </p:cNvCxnSpPr>
          <p:nvPr/>
        </p:nvCxnSpPr>
        <p:spPr>
          <a:xfrm>
            <a:off x="6187293" y="1654923"/>
            <a:ext cx="5269570" cy="0"/>
          </a:xfrm>
          <a:prstGeom prst="line">
            <a:avLst/>
          </a:prstGeom>
          <a:ln w="12700" cap="flat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本框 33">
            <a:extLst>
              <a:ext uri="{FF2B5EF4-FFF2-40B4-BE49-F238E27FC236}">
                <a16:creationId xmlns:a16="http://schemas.microsoft.com/office/drawing/2014/main" id="{7DBE51CF-5C44-D851-29F5-656C54A0037E}"/>
              </a:ext>
            </a:extLst>
          </p:cNvPr>
          <p:cNvSpPr txBox="1"/>
          <p:nvPr/>
        </p:nvSpPr>
        <p:spPr>
          <a:xfrm>
            <a:off x="385575" y="1760494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主营业务：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基于光I/O技术的光学芯粒制造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；产品验证</a:t>
            </a:r>
            <a:r>
              <a:rPr lang="en-US" altLang="zh-CN" sz="1600" dirty="0">
                <a:solidFill>
                  <a:srgbClr val="000000"/>
                </a:solidFill>
                <a:latin typeface="+mn-ea"/>
              </a:rPr>
              <a:t>=&gt;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设计导入阶段</a:t>
            </a:r>
            <a:endParaRPr lang="zh-CN" altLang="zh-CN" sz="1600" dirty="0">
              <a:solidFill>
                <a:srgbClr val="000000"/>
              </a:solidFill>
              <a:latin typeface="+mn-ea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AD042843-2F38-6401-8966-20826A1A4B49}"/>
              </a:ext>
            </a:extLst>
          </p:cNvPr>
          <p:cNvGrpSpPr/>
          <p:nvPr/>
        </p:nvGrpSpPr>
        <p:grpSpPr>
          <a:xfrm>
            <a:off x="125207" y="2202796"/>
            <a:ext cx="5873979" cy="1249892"/>
            <a:chOff x="52932" y="2930313"/>
            <a:chExt cx="5873979" cy="1249892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A06C4B61-96E6-D6DA-C299-7B4BAF216FB4}"/>
                </a:ext>
              </a:extLst>
            </p:cNvPr>
            <p:cNvSpPr txBox="1"/>
            <p:nvPr/>
          </p:nvSpPr>
          <p:spPr>
            <a:xfrm>
              <a:off x="52932" y="3145681"/>
              <a:ext cx="220219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于德国成立</a:t>
              </a:r>
              <a:endParaRPr kumimoji="0" lang="en-US" altLang="zh-CN" sz="11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endParaRPr>
            </a:p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kumimoji="0" lang="zh-CN" altLang="zh-CN" sz="1100" b="0" i="0" u="none" strike="noStrike" cap="none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latin typeface="+mn-ea"/>
                </a:rPr>
                <a:t>专用设备供应商</a:t>
              </a:r>
              <a:endParaRPr kumimoji="0" lang="zh-CN" altLang="zh-CN" sz="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ea"/>
              </a:endParaRPr>
            </a:p>
          </p:txBody>
        </p:sp>
        <p:grpSp>
          <p:nvGrpSpPr>
            <p:cNvPr id="8" name="组合 7">
              <a:extLst>
                <a:ext uri="{FF2B5EF4-FFF2-40B4-BE49-F238E27FC236}">
                  <a16:creationId xmlns:a16="http://schemas.microsoft.com/office/drawing/2014/main" id="{0294268A-FD43-C6F6-3A58-6D43DD55E7C6}"/>
                </a:ext>
              </a:extLst>
            </p:cNvPr>
            <p:cNvGrpSpPr/>
            <p:nvPr/>
          </p:nvGrpSpPr>
          <p:grpSpPr>
            <a:xfrm>
              <a:off x="688894" y="2930313"/>
              <a:ext cx="5238017" cy="1249892"/>
              <a:chOff x="688894" y="2930313"/>
              <a:chExt cx="5238017" cy="1249892"/>
            </a:xfrm>
          </p:grpSpPr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3C05CFCE-4AEA-6800-7D9F-055A5D076A13}"/>
                  </a:ext>
                </a:extLst>
              </p:cNvPr>
              <p:cNvSpPr txBox="1"/>
              <p:nvPr/>
            </p:nvSpPr>
            <p:spPr>
              <a:xfrm>
                <a:off x="725321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2001</a:t>
                </a:r>
                <a:endParaRPr lang="zh-CN" altLang="en-US" sz="1400" dirty="0"/>
              </a:p>
            </p:txBody>
          </p:sp>
          <p:sp>
            <p:nvSpPr>
              <p:cNvPr id="15" name="文本框 14">
                <a:extLst>
                  <a:ext uri="{FF2B5EF4-FFF2-40B4-BE49-F238E27FC236}">
                    <a16:creationId xmlns:a16="http://schemas.microsoft.com/office/drawing/2014/main" id="{C8AF7615-F8FB-05E0-CB9A-B56840C474EF}"/>
                  </a:ext>
                </a:extLst>
              </p:cNvPr>
              <p:cNvSpPr txBox="1"/>
              <p:nvPr/>
            </p:nvSpPr>
            <p:spPr>
              <a:xfrm>
                <a:off x="1877713" y="3836611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2002</a:t>
                </a:r>
                <a:endParaRPr lang="zh-CN" altLang="en-US" sz="1400" dirty="0"/>
              </a:p>
            </p:txBody>
          </p:sp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209A8FB-0713-5CDC-3FAF-56C4260B3414}"/>
                  </a:ext>
                </a:extLst>
              </p:cNvPr>
              <p:cNvSpPr txBox="1"/>
              <p:nvPr/>
            </p:nvSpPr>
            <p:spPr>
              <a:xfrm>
                <a:off x="4710386" y="3872428"/>
                <a:ext cx="71945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400" dirty="0"/>
                  <a:t>2025</a:t>
                </a:r>
                <a:endParaRPr lang="zh-CN" altLang="en-US" sz="1400" dirty="0"/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936C9DC3-E939-1472-AB9C-3FFEFB7D1C6C}"/>
                  </a:ext>
                </a:extLst>
              </p:cNvPr>
              <p:cNvSpPr txBox="1"/>
              <p:nvPr/>
            </p:nvSpPr>
            <p:spPr>
              <a:xfrm>
                <a:off x="3701915" y="2930313"/>
                <a:ext cx="2224996" cy="6001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tabLst/>
                </a:pP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被中国上市公司RoboTechnik以10.11亿人民币价格收购全部股权；</a:t>
                </a:r>
                <a:endParaRPr kumimoji="0" lang="zh-CN" altLang="zh-CN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+mn-ea"/>
                </a:endParaRP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A5B7418-4184-95B7-AB6A-6BBE57BCBBDC}"/>
                  </a:ext>
                </a:extLst>
              </p:cNvPr>
              <p:cNvSpPr txBox="1"/>
              <p:nvPr/>
            </p:nvSpPr>
            <p:spPr>
              <a:xfrm>
                <a:off x="1622757" y="3089133"/>
                <a:ext cx="1396254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获德国mic</a:t>
                </a:r>
                <a:r>
                  <a:rPr kumimoji="0" lang="en-US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 </a:t>
                </a:r>
                <a:r>
                  <a:rPr kumimoji="0" lang="zh-CN" altLang="zh-CN" sz="1100" b="0" i="0" u="none" strike="noStrike" cap="none" normalizeH="0" baseline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+mn-ea"/>
                  </a:rPr>
                  <a:t>seed轮投资</a:t>
                </a:r>
                <a:endParaRPr lang="zh-CN" altLang="en-US" sz="1100" dirty="0">
                  <a:latin typeface="+mn-ea"/>
                </a:endParaRPr>
              </a:p>
            </p:txBody>
          </p:sp>
          <p:cxnSp>
            <p:nvCxnSpPr>
              <p:cNvPr id="41" name="直接箭头连接符 40">
                <a:extLst>
                  <a:ext uri="{FF2B5EF4-FFF2-40B4-BE49-F238E27FC236}">
                    <a16:creationId xmlns:a16="http://schemas.microsoft.com/office/drawing/2014/main" id="{2EB7F318-A39F-3423-F602-71474378ACAF}"/>
                  </a:ext>
                </a:extLst>
              </p:cNvPr>
              <p:cNvCxnSpPr/>
              <p:nvPr/>
            </p:nvCxnSpPr>
            <p:spPr>
              <a:xfrm>
                <a:off x="688894" y="3753376"/>
                <a:ext cx="498280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BD2B5D84-37EE-4FB1-B4BD-182990D64651}"/>
              </a:ext>
            </a:extLst>
          </p:cNvPr>
          <p:cNvSpPr txBox="1"/>
          <p:nvPr/>
        </p:nvSpPr>
        <p:spPr>
          <a:xfrm>
            <a:off x="374376" y="3539810"/>
            <a:ext cx="52524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核心产品</a:t>
            </a:r>
            <a:r>
              <a:rPr lang="zh-CN" altLang="en-US" sz="1600" dirty="0">
                <a:solidFill>
                  <a:srgbClr val="000000"/>
                </a:solidFill>
                <a:latin typeface="+mn-ea"/>
              </a:rPr>
              <a:t>：</a:t>
            </a:r>
            <a:r>
              <a:rPr lang="zh-CN" altLang="zh-CN" sz="1600" dirty="0">
                <a:solidFill>
                  <a:srgbClr val="000000"/>
                </a:solidFill>
                <a:latin typeface="+mn-ea"/>
              </a:rPr>
              <a:t>TeraPHY 芯粒与SuperNova 激光箱</a:t>
            </a:r>
          </a:p>
          <a:p>
            <a:endParaRPr lang="zh-CN" altLang="en-US" sz="160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E110C85-F069-101B-BA1E-A19B16B97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27" y="4050577"/>
            <a:ext cx="2643762" cy="1730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Rectangle 6">
            <a:extLst>
              <a:ext uri="{FF2B5EF4-FFF2-40B4-BE49-F238E27FC236}">
                <a16:creationId xmlns:a16="http://schemas.microsoft.com/office/drawing/2014/main" id="{FCB9F7AA-CB5C-D1A6-F2C4-164162736A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016" y="4050577"/>
            <a:ext cx="2879984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产品路线可以理解为CPO2.0：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CPO1.0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把光模块盒子 + 铜缆换成贴在主板边缘的光引擎 + 短光纤，主板→主板不再经过机框外面；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CPO2.0</a:t>
            </a:r>
            <a:r>
              <a:rPr kumimoji="0" lang="zh-CN" altLang="en-US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：</a:t>
            </a:r>
            <a:r>
              <a:rPr kumimoji="0" lang="zh-CN" altLang="zh-CN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ea"/>
              </a:rPr>
              <a:t>直接把光收发器做成小芯粒(Chiplet)，贴在 GPU/CPU 封装里，电信号不出封装就变成光——等于把 SerDes 整块功能连同功耗一起拿掉，实现了芯片间的光互连；</a:t>
            </a:r>
            <a:endParaRPr kumimoji="0" lang="zh-CN" altLang="zh-CN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ea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FF37CDAF-157A-535F-4220-E3ACA86BD3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1644" y="3494480"/>
            <a:ext cx="5849613" cy="74676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 anchor="ctr">
            <a:no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工程落地进度：公司当前整体在</a:t>
            </a:r>
            <a:r>
              <a:rPr kumimoji="1" lang="en-US" altLang="zh-CN" sz="1600" dirty="0" err="1">
                <a:solidFill>
                  <a:schemeClr val="accent6">
                    <a:lumMod val="10000"/>
                  </a:schemeClr>
                </a:solidFill>
              </a:rPr>
              <a:t>poc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——&gt;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量产之间，目前均以</a:t>
            </a:r>
            <a:r>
              <a:rPr kumimoji="1" lang="en-US" altLang="zh-CN" sz="1600" dirty="0">
                <a:solidFill>
                  <a:schemeClr val="accent6">
                    <a:lumMod val="10000"/>
                  </a:schemeClr>
                </a:solidFill>
              </a:rPr>
              <a:t>demo</a:t>
            </a:r>
            <a:r>
              <a:rPr kumimoji="1" lang="zh-CN" altLang="en-US" sz="1600" dirty="0">
                <a:solidFill>
                  <a:schemeClr val="accent6">
                    <a:lumMod val="10000"/>
                  </a:schemeClr>
                </a:solidFill>
              </a:rPr>
              <a:t>和样品形式呈现；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03185FB8-D30C-2CE5-F5A5-4CE4190C847F}"/>
              </a:ext>
            </a:extLst>
          </p:cNvPr>
          <p:cNvSpPr txBox="1"/>
          <p:nvPr/>
        </p:nvSpPr>
        <p:spPr>
          <a:xfrm>
            <a:off x="6151275" y="1749556"/>
            <a:ext cx="5934045" cy="179025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>
            <a:defPPr>
              <a:defRPr lang="zh-CN"/>
            </a:defPPr>
            <a:lvl1pPr>
              <a:spcBef>
                <a:spcPts val="300"/>
              </a:spcBef>
              <a:spcAft>
                <a:spcPts val="300"/>
              </a:spcAft>
              <a:defRPr kumimoji="1" sz="1600" b="1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zh-CN" b="0" dirty="0">
                <a:solidFill>
                  <a:schemeClr val="accent6">
                    <a:lumMod val="10000"/>
                  </a:schemeClr>
                </a:solidFill>
              </a:rPr>
              <a:t>技术路线押注：方向坚定但节奏不符合预期</a:t>
            </a:r>
            <a:endParaRPr lang="en-US" altLang="zh-CN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从2020年公司b轮融资的bp来看，公司押注的是25～29年所有短距离互连会光主导，而目前看来，这个预期在2～3年内实现的可能性都不大，一方面因为cpo的工程化稳定性也还在路上，一方面以Nvidia为代表的头部芯片厂商在短距离互连上还在进一步压榨铜的极限；</a:t>
            </a:r>
            <a:endParaRPr lang="en-US" altLang="zh-CN" sz="1600" b="0" dirty="0">
              <a:solidFill>
                <a:schemeClr val="accent6">
                  <a:lumMod val="10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zh-CN" sz="1600" b="0" dirty="0">
                <a:solidFill>
                  <a:schemeClr val="accent6">
                    <a:lumMod val="10000"/>
                  </a:schemeClr>
                </a:solidFill>
              </a:rPr>
              <a:t>但公司20年可见bp的技术路线与现在一致；</a:t>
            </a:r>
          </a:p>
          <a:p>
            <a:endParaRPr lang="zh-CN" altLang="zh-CN" b="0" dirty="0">
              <a:solidFill>
                <a:schemeClr val="accent6">
                  <a:lumMod val="10000"/>
                </a:schemeClr>
              </a:solidFill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8A30E51-9CB0-28D4-D6B5-3278E06613F5}"/>
              </a:ext>
            </a:extLst>
          </p:cNvPr>
          <p:cNvSpPr/>
          <p:nvPr/>
        </p:nvSpPr>
        <p:spPr>
          <a:xfrm>
            <a:off x="6654170" y="4378627"/>
            <a:ext cx="4511670" cy="201425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纵向时间轴图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3545D1E0-B128-465D-7CED-F557609544FF}"/>
              </a:ext>
            </a:extLst>
          </p:cNvPr>
          <p:cNvSpPr/>
          <p:nvPr/>
        </p:nvSpPr>
        <p:spPr>
          <a:xfrm>
            <a:off x="12394570" y="3758007"/>
            <a:ext cx="4511670" cy="485942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2024-12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的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1.55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亿美金注资足以支撑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18-24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个月产线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CapEx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；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CEO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在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2024-10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公开表示 过去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18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个月已小批量出货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15 k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颗芯粒；</a:t>
            </a:r>
            <a:endParaRPr kumimoji="1"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月，公司发布了全球首款符合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标准的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TeraPHY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光互连小芯片，搭载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16 λ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SuperNova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光源，单芯片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8 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Tbps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、</a:t>
            </a:r>
            <a:r>
              <a:rPr kumimoji="1" lang="en-US" altLang="zh-CN" dirty="0" err="1">
                <a:solidFill>
                  <a:schemeClr val="accent6">
                    <a:lumMod val="10000"/>
                  </a:schemeClr>
                </a:solidFill>
              </a:rPr>
              <a:t>pJ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/bit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级能耗，可直接嵌入客户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SoC / GPU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封装，通过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UCIe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电接口实现即插即用；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公司预计于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26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年首批高量产客户（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AI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加速卡 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/ 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交换机）上机，但这极大程度取决于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25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年</a:t>
            </a:r>
            <a:r>
              <a:rPr kumimoji="1" lang="en-US" altLang="zh-CN" dirty="0">
                <a:solidFill>
                  <a:schemeClr val="accent6">
                    <a:lumMod val="10000"/>
                  </a:schemeClr>
                </a:solidFill>
              </a:rPr>
              <a:t>4</a:t>
            </a:r>
            <a:r>
              <a:rPr kumimoji="1" lang="zh-CN" altLang="en-US" dirty="0">
                <a:solidFill>
                  <a:schemeClr val="accent6">
                    <a:lumMod val="10000"/>
                  </a:schemeClr>
                </a:solidFill>
              </a:rPr>
              <a:t>月发布的产品的稳定性和实际需求；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BA10068-256A-B8FE-29AD-0FD76AAE18EC}"/>
              </a:ext>
            </a:extLst>
          </p:cNvPr>
          <p:cNvSpPr/>
          <p:nvPr/>
        </p:nvSpPr>
        <p:spPr>
          <a:xfrm>
            <a:off x="352449" y="2360430"/>
            <a:ext cx="1115341" cy="100112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横向时间轴图</a:t>
            </a:r>
            <a:endParaRPr lang="en-US" altLang="zh-CN" sz="1200" dirty="0"/>
          </a:p>
          <a:p>
            <a:pPr algn="ctr"/>
            <a:r>
              <a:rPr lang="zh-CN" altLang="en-US" sz="1200" dirty="0"/>
              <a:t>成立与融资节点</a:t>
            </a:r>
          </a:p>
        </p:txBody>
      </p:sp>
    </p:spTree>
    <p:extLst>
      <p:ext uri="{BB962C8B-B14F-4D97-AF65-F5344CB8AC3E}">
        <p14:creationId xmlns:p14="http://schemas.microsoft.com/office/powerpoint/2010/main" val="34630049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2F6568-DD35-43D8-EC6D-47F9FD789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LightMatter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DB0110E-F2B4-3878-5893-F6407ACC43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FAFF2EA-83CA-1A2C-1DAF-8B8509CAD3D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78044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74643-937D-ED64-DE14-63E1BB13D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BE87FD-754D-73A2-30D8-A64ADAAD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Celestial AI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37D0E27-86A0-12C1-061D-7D468275F5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495C4A-78D8-A7E6-D1C5-D91C4D46B9C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7280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59D2D0-2FC5-0520-DDDC-CCA38D02E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OIO</a:t>
            </a:r>
            <a:r>
              <a:rPr lang="zh-CN" altLang="en-US" dirty="0"/>
              <a:t>打开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10E2E08-ADF5-5CB2-7FD0-24971A3801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D17DA1-0165-DF5B-3425-D31F19A32750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158750" y="2170800"/>
            <a:ext cx="2880641" cy="892552"/>
          </a:xfrm>
          <a:solidFill>
            <a:srgbClr val="FFFF00"/>
          </a:solidFill>
        </p:spPr>
        <p:txBody>
          <a:bodyPr/>
          <a:lstStyle/>
          <a:p>
            <a:r>
              <a:rPr lang="zh-CN" altLang="en-US" dirty="0"/>
              <a:t>中短期 </a:t>
            </a:r>
            <a:r>
              <a:rPr lang="en-US" altLang="zh-CN" dirty="0"/>
              <a:t>vs </a:t>
            </a:r>
            <a:r>
              <a:rPr lang="zh-CN" altLang="en-US" dirty="0"/>
              <a:t>长期</a:t>
            </a:r>
            <a:endParaRPr lang="en-US" altLang="zh-CN" dirty="0"/>
          </a:p>
          <a:p>
            <a:r>
              <a:rPr lang="zh-CN" altLang="en-US" dirty="0"/>
              <a:t>卡点多，落地难，</a:t>
            </a:r>
            <a:r>
              <a:rPr lang="en-US" altLang="zh-CN" dirty="0"/>
              <a:t>R&amp;D</a:t>
            </a:r>
            <a:r>
              <a:rPr lang="zh-CN" altLang="en-US" dirty="0"/>
              <a:t>阶段</a:t>
            </a:r>
            <a:endParaRPr lang="en-US" altLang="zh-CN" dirty="0"/>
          </a:p>
          <a:p>
            <a:r>
              <a:rPr lang="zh-CN" altLang="en-US" dirty="0"/>
              <a:t>哪些卡点</a:t>
            </a:r>
          </a:p>
        </p:txBody>
      </p:sp>
    </p:spTree>
    <p:extLst>
      <p:ext uri="{BB962C8B-B14F-4D97-AF65-F5344CB8AC3E}">
        <p14:creationId xmlns:p14="http://schemas.microsoft.com/office/powerpoint/2010/main" val="60011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3F24D1-4A69-6A72-CF36-92B5FEA3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总结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DDCB0A-C8C1-5B01-5B8E-CFE169B0212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C608386-93FF-A04C-41EB-AEBE44E0205F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3126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EC372D8E-1BE1-3AD0-3720-AA66F803D8A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4069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401" imgH="401" progId="TCLayout.ActiveDocument.1">
                  <p:embed/>
                </p:oleObj>
              </mc:Choice>
              <mc:Fallback>
                <p:oleObj name="think-cell 幻灯片" r:id="rId3" imgW="401" imgH="401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0DDED3A3-2FF3-D80A-0229-EDC87C2FA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zh-CN" altLang="en-US" dirty="0"/>
              <a:t>附录：产业和公司</a:t>
            </a:r>
            <a:r>
              <a:rPr lang="en-US" altLang="zh-CN" dirty="0"/>
              <a:t>Map</a:t>
            </a:r>
            <a:endParaRPr lang="zh-CN" altLang="en-US" dirty="0"/>
          </a:p>
        </p:txBody>
      </p:sp>
      <p:pic>
        <p:nvPicPr>
          <p:cNvPr id="5" name="图像" descr="图像">
            <a:extLst>
              <a:ext uri="{FF2B5EF4-FFF2-40B4-BE49-F238E27FC236}">
                <a16:creationId xmlns:a16="http://schemas.microsoft.com/office/drawing/2014/main" id="{10B9C398-0D29-FDF9-253D-E94BA659B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6105" y="929335"/>
            <a:ext cx="10610274" cy="453108"/>
          </a:xfrm>
          <a:prstGeom prst="rect">
            <a:avLst/>
          </a:prstGeom>
          <a:ln w="12700">
            <a:miter lim="400000"/>
          </a:ln>
        </p:spPr>
      </p:pic>
      <p:sp>
        <p:nvSpPr>
          <p:cNvPr id="6" name="Design House">
            <a:extLst>
              <a:ext uri="{FF2B5EF4-FFF2-40B4-BE49-F238E27FC236}">
                <a16:creationId xmlns:a16="http://schemas.microsoft.com/office/drawing/2014/main" id="{CADBE276-520A-8792-3762-C6BD2CFA051B}"/>
              </a:ext>
            </a:extLst>
          </p:cNvPr>
          <p:cNvSpPr txBox="1"/>
          <p:nvPr/>
        </p:nvSpPr>
        <p:spPr>
          <a:xfrm>
            <a:off x="1622857" y="929335"/>
            <a:ext cx="1540034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Design House</a:t>
            </a:r>
          </a:p>
        </p:txBody>
      </p:sp>
      <p:sp>
        <p:nvSpPr>
          <p:cNvPr id="7" name="Foundry">
            <a:extLst>
              <a:ext uri="{FF2B5EF4-FFF2-40B4-BE49-F238E27FC236}">
                <a16:creationId xmlns:a16="http://schemas.microsoft.com/office/drawing/2014/main" id="{A32CBAB7-DE28-0577-BDE6-B416B89B4D95}"/>
              </a:ext>
            </a:extLst>
          </p:cNvPr>
          <p:cNvSpPr txBox="1"/>
          <p:nvPr/>
        </p:nvSpPr>
        <p:spPr>
          <a:xfrm>
            <a:off x="3561005" y="929335"/>
            <a:ext cx="942750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Foundry</a:t>
            </a:r>
          </a:p>
        </p:txBody>
      </p:sp>
      <p:sp>
        <p:nvSpPr>
          <p:cNvPr id="8" name="OSAT">
            <a:extLst>
              <a:ext uri="{FF2B5EF4-FFF2-40B4-BE49-F238E27FC236}">
                <a16:creationId xmlns:a16="http://schemas.microsoft.com/office/drawing/2014/main" id="{231FDB93-E5F9-2B3D-9B40-6D5BF724A1E4}"/>
              </a:ext>
            </a:extLst>
          </p:cNvPr>
          <p:cNvSpPr txBox="1"/>
          <p:nvPr/>
        </p:nvSpPr>
        <p:spPr>
          <a:xfrm>
            <a:off x="5507117" y="970468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OSAT</a:t>
            </a:r>
          </a:p>
        </p:txBody>
      </p:sp>
      <p:sp>
        <p:nvSpPr>
          <p:cNvPr id="9" name="Transceiver">
            <a:extLst>
              <a:ext uri="{FF2B5EF4-FFF2-40B4-BE49-F238E27FC236}">
                <a16:creationId xmlns:a16="http://schemas.microsoft.com/office/drawing/2014/main" id="{18662E40-DEFF-3E1E-6434-F49932D26949}"/>
              </a:ext>
            </a:extLst>
          </p:cNvPr>
          <p:cNvSpPr txBox="1"/>
          <p:nvPr/>
        </p:nvSpPr>
        <p:spPr>
          <a:xfrm>
            <a:off x="6868839" y="929335"/>
            <a:ext cx="128989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Transceiver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2453646A-DC3B-986B-6CC0-4526166DF97F}"/>
              </a:ext>
            </a:extLst>
          </p:cNvPr>
          <p:cNvSpPr txBox="1"/>
          <p:nvPr/>
        </p:nvSpPr>
        <p:spPr>
          <a:xfrm>
            <a:off x="8561029" y="929335"/>
            <a:ext cx="1197023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Equipment</a:t>
            </a:r>
          </a:p>
        </p:txBody>
      </p:sp>
      <p:sp>
        <p:nvSpPr>
          <p:cNvPr id="11" name="Operator">
            <a:extLst>
              <a:ext uri="{FF2B5EF4-FFF2-40B4-BE49-F238E27FC236}">
                <a16:creationId xmlns:a16="http://schemas.microsoft.com/office/drawing/2014/main" id="{95622BB5-E3D0-DA7B-7977-81AC14B0C04A}"/>
              </a:ext>
            </a:extLst>
          </p:cNvPr>
          <p:cNvSpPr txBox="1"/>
          <p:nvPr/>
        </p:nvSpPr>
        <p:spPr>
          <a:xfrm>
            <a:off x="10523815" y="929335"/>
            <a:ext cx="1006262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Operator</a:t>
            </a:r>
          </a:p>
        </p:txBody>
      </p:sp>
      <p:sp>
        <p:nvSpPr>
          <p:cNvPr id="12" name="圆角矩形">
            <a:extLst>
              <a:ext uri="{FF2B5EF4-FFF2-40B4-BE49-F238E27FC236}">
                <a16:creationId xmlns:a16="http://schemas.microsoft.com/office/drawing/2014/main" id="{B0888714-9FB4-4F09-6591-601238B11943}"/>
              </a:ext>
            </a:extLst>
          </p:cNvPr>
          <p:cNvSpPr/>
          <p:nvPr/>
        </p:nvSpPr>
        <p:spPr>
          <a:xfrm>
            <a:off x="58155" y="312148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5E5E5E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圆角矩形">
            <a:extLst>
              <a:ext uri="{FF2B5EF4-FFF2-40B4-BE49-F238E27FC236}">
                <a16:creationId xmlns:a16="http://schemas.microsoft.com/office/drawing/2014/main" id="{406A2D47-4B94-E322-EBFC-D8E2813F0303}"/>
              </a:ext>
            </a:extLst>
          </p:cNvPr>
          <p:cNvSpPr/>
          <p:nvPr/>
        </p:nvSpPr>
        <p:spPr>
          <a:xfrm>
            <a:off x="58155" y="1787773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4F8F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圆角矩形">
            <a:extLst>
              <a:ext uri="{FF2B5EF4-FFF2-40B4-BE49-F238E27FC236}">
                <a16:creationId xmlns:a16="http://schemas.microsoft.com/office/drawing/2014/main" id="{35CE7CDB-3169-93B9-8760-313546CE4F02}"/>
              </a:ext>
            </a:extLst>
          </p:cNvPr>
          <p:cNvSpPr/>
          <p:nvPr/>
        </p:nvSpPr>
        <p:spPr>
          <a:xfrm>
            <a:off x="58155" y="4407945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FF9300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eIC">
            <a:extLst>
              <a:ext uri="{FF2B5EF4-FFF2-40B4-BE49-F238E27FC236}">
                <a16:creationId xmlns:a16="http://schemas.microsoft.com/office/drawing/2014/main" id="{A8E3AA0E-A5AF-DA4C-C1D9-D8DE57E716DB}"/>
              </a:ext>
            </a:extLst>
          </p:cNvPr>
          <p:cNvSpPr txBox="1"/>
          <p:nvPr/>
        </p:nvSpPr>
        <p:spPr>
          <a:xfrm>
            <a:off x="351861" y="3243109"/>
            <a:ext cx="609611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eIC</a:t>
            </a:r>
            <a:endParaRPr dirty="0"/>
          </a:p>
        </p:txBody>
      </p:sp>
      <p:sp>
        <p:nvSpPr>
          <p:cNvPr id="16" name="Switch…">
            <a:extLst>
              <a:ext uri="{FF2B5EF4-FFF2-40B4-BE49-F238E27FC236}">
                <a16:creationId xmlns:a16="http://schemas.microsoft.com/office/drawing/2014/main" id="{5DEC8A1A-CFE9-4024-89E8-C8749EB994FC}"/>
              </a:ext>
            </a:extLst>
          </p:cNvPr>
          <p:cNvSpPr txBox="1"/>
          <p:nvPr/>
        </p:nvSpPr>
        <p:spPr>
          <a:xfrm>
            <a:off x="185291" y="1759185"/>
            <a:ext cx="942751" cy="6140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pPr algn="ctr">
              <a:defRPr>
                <a:solidFill>
                  <a:srgbClr val="FFFFFF"/>
                </a:solidFill>
              </a:defRPr>
            </a:pPr>
            <a:r>
              <a:t>Switch</a:t>
            </a:r>
          </a:p>
          <a:p>
            <a:pPr algn="ctr">
              <a:defRPr>
                <a:solidFill>
                  <a:srgbClr val="FFFFFF"/>
                </a:solidFill>
              </a:defRPr>
            </a:pPr>
            <a:r>
              <a:t>ASIC</a:t>
            </a:r>
          </a:p>
        </p:txBody>
      </p:sp>
      <p:sp>
        <p:nvSpPr>
          <p:cNvPr id="17" name="SiPho">
            <a:extLst>
              <a:ext uri="{FF2B5EF4-FFF2-40B4-BE49-F238E27FC236}">
                <a16:creationId xmlns:a16="http://schemas.microsoft.com/office/drawing/2014/main" id="{E9CED6CE-5F2F-1D17-3779-E4AFC3245030}"/>
              </a:ext>
            </a:extLst>
          </p:cNvPr>
          <p:cNvSpPr txBox="1"/>
          <p:nvPr/>
        </p:nvSpPr>
        <p:spPr>
          <a:xfrm>
            <a:off x="301824" y="4529565"/>
            <a:ext cx="709685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dirty="0" err="1"/>
              <a:t>SiPho</a:t>
            </a:r>
            <a:endParaRPr dirty="0"/>
          </a:p>
        </p:txBody>
      </p:sp>
      <p:sp>
        <p:nvSpPr>
          <p:cNvPr id="18" name="圆角矩形">
            <a:extLst>
              <a:ext uri="{FF2B5EF4-FFF2-40B4-BE49-F238E27FC236}">
                <a16:creationId xmlns:a16="http://schemas.microsoft.com/office/drawing/2014/main" id="{E15A83F6-BE55-5DD4-A56C-6900621D013A}"/>
              </a:ext>
            </a:extLst>
          </p:cNvPr>
          <p:cNvSpPr/>
          <p:nvPr/>
        </p:nvSpPr>
        <p:spPr>
          <a:xfrm>
            <a:off x="1382155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9" name="圆角矩形">
            <a:extLst>
              <a:ext uri="{FF2B5EF4-FFF2-40B4-BE49-F238E27FC236}">
                <a16:creationId xmlns:a16="http://schemas.microsoft.com/office/drawing/2014/main" id="{42205C62-5834-9B9C-B493-6D45E83BE2AD}"/>
              </a:ext>
            </a:extLst>
          </p:cNvPr>
          <p:cNvSpPr/>
          <p:nvPr/>
        </p:nvSpPr>
        <p:spPr>
          <a:xfrm>
            <a:off x="1382155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0" name="圆角矩形">
            <a:extLst>
              <a:ext uri="{FF2B5EF4-FFF2-40B4-BE49-F238E27FC236}">
                <a16:creationId xmlns:a16="http://schemas.microsoft.com/office/drawing/2014/main" id="{BBD7338F-A5F5-0EEE-DD0A-4ED422B2C9A4}"/>
              </a:ext>
            </a:extLst>
          </p:cNvPr>
          <p:cNvSpPr/>
          <p:nvPr/>
        </p:nvSpPr>
        <p:spPr>
          <a:xfrm>
            <a:off x="1382155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1" name="圆角矩形">
            <a:extLst>
              <a:ext uri="{FF2B5EF4-FFF2-40B4-BE49-F238E27FC236}">
                <a16:creationId xmlns:a16="http://schemas.microsoft.com/office/drawing/2014/main" id="{00038B72-55D3-4F1C-2A10-F6DBD85EFA97}"/>
              </a:ext>
            </a:extLst>
          </p:cNvPr>
          <p:cNvSpPr/>
          <p:nvPr/>
        </p:nvSpPr>
        <p:spPr>
          <a:xfrm>
            <a:off x="3163831" y="1456549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2" name="圆角矩形">
            <a:extLst>
              <a:ext uri="{FF2B5EF4-FFF2-40B4-BE49-F238E27FC236}">
                <a16:creationId xmlns:a16="http://schemas.microsoft.com/office/drawing/2014/main" id="{24DDE7D5-BF1D-8427-669E-28ED14D24EB5}"/>
              </a:ext>
            </a:extLst>
          </p:cNvPr>
          <p:cNvSpPr/>
          <p:nvPr/>
        </p:nvSpPr>
        <p:spPr>
          <a:xfrm>
            <a:off x="3163831" y="2784946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3" name="圆角矩形">
            <a:extLst>
              <a:ext uri="{FF2B5EF4-FFF2-40B4-BE49-F238E27FC236}">
                <a16:creationId xmlns:a16="http://schemas.microsoft.com/office/drawing/2014/main" id="{191C9FAD-1280-BAEC-07C9-7BE41E259572}"/>
              </a:ext>
            </a:extLst>
          </p:cNvPr>
          <p:cNvSpPr/>
          <p:nvPr/>
        </p:nvSpPr>
        <p:spPr>
          <a:xfrm>
            <a:off x="3163831" y="4113343"/>
            <a:ext cx="1726992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4" name="圆角矩形">
            <a:extLst>
              <a:ext uri="{FF2B5EF4-FFF2-40B4-BE49-F238E27FC236}">
                <a16:creationId xmlns:a16="http://schemas.microsoft.com/office/drawing/2014/main" id="{37CC8CAC-E6BA-9E59-27CD-E91E7DCD7D73}"/>
              </a:ext>
            </a:extLst>
          </p:cNvPr>
          <p:cNvSpPr/>
          <p:nvPr/>
        </p:nvSpPr>
        <p:spPr>
          <a:xfrm>
            <a:off x="4933666" y="1456549"/>
            <a:ext cx="1726992" cy="1247941"/>
          </a:xfrm>
          <a:prstGeom prst="roundRect">
            <a:avLst>
              <a:gd name="adj" fmla="val 4676"/>
            </a:avLst>
          </a:prstGeom>
          <a:solidFill>
            <a:srgbClr val="929292">
              <a:alpha val="21970"/>
            </a:srgbClr>
          </a:solidFill>
          <a:ln w="25400">
            <a:solidFill>
              <a:srgbClr val="FF2600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5" name="圆角矩形">
            <a:extLst>
              <a:ext uri="{FF2B5EF4-FFF2-40B4-BE49-F238E27FC236}">
                <a16:creationId xmlns:a16="http://schemas.microsoft.com/office/drawing/2014/main" id="{B93E1D7F-8B33-AACD-5536-FFF149E31A65}"/>
              </a:ext>
            </a:extLst>
          </p:cNvPr>
          <p:cNvSpPr/>
          <p:nvPr/>
        </p:nvSpPr>
        <p:spPr>
          <a:xfrm>
            <a:off x="6689942" y="2784946"/>
            <a:ext cx="1726992" cy="3917255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6" name="圆角矩形">
            <a:extLst>
              <a:ext uri="{FF2B5EF4-FFF2-40B4-BE49-F238E27FC236}">
                <a16:creationId xmlns:a16="http://schemas.microsoft.com/office/drawing/2014/main" id="{FDEC3622-2BD8-6A63-B4C3-0EE84BC83CDB}"/>
              </a:ext>
            </a:extLst>
          </p:cNvPr>
          <p:cNvSpPr/>
          <p:nvPr/>
        </p:nvSpPr>
        <p:spPr>
          <a:xfrm>
            <a:off x="8471618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27" name="圆角矩形">
            <a:extLst>
              <a:ext uri="{FF2B5EF4-FFF2-40B4-BE49-F238E27FC236}">
                <a16:creationId xmlns:a16="http://schemas.microsoft.com/office/drawing/2014/main" id="{1783FF78-FD17-91C1-9239-9A5B26763E99}"/>
              </a:ext>
            </a:extLst>
          </p:cNvPr>
          <p:cNvSpPr/>
          <p:nvPr/>
        </p:nvSpPr>
        <p:spPr>
          <a:xfrm>
            <a:off x="10294695" y="1456549"/>
            <a:ext cx="1726992" cy="5242711"/>
          </a:xfrm>
          <a:prstGeom prst="roundRect">
            <a:avLst>
              <a:gd name="adj" fmla="val 3379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28" name="图像" descr="图像">
            <a:extLst>
              <a:ext uri="{FF2B5EF4-FFF2-40B4-BE49-F238E27FC236}">
                <a16:creationId xmlns:a16="http://schemas.microsoft.com/office/drawing/2014/main" id="{3AF9760E-1F13-0D7F-EEC4-13E6DC2ECD3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9523" y="4683197"/>
            <a:ext cx="698501" cy="393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图像" descr="图像">
            <a:extLst>
              <a:ext uri="{FF2B5EF4-FFF2-40B4-BE49-F238E27FC236}">
                <a16:creationId xmlns:a16="http://schemas.microsoft.com/office/drawing/2014/main" id="{828E73D4-4482-0B53-EA2A-05E1F637A50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3519" y="1634934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图像" descr="图像">
            <a:extLst>
              <a:ext uri="{FF2B5EF4-FFF2-40B4-BE49-F238E27FC236}">
                <a16:creationId xmlns:a16="http://schemas.microsoft.com/office/drawing/2014/main" id="{8286DFCC-2E46-CB35-91D5-3765271303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07880" y="4177291"/>
            <a:ext cx="576840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图像" descr="图像">
            <a:extLst>
              <a:ext uri="{FF2B5EF4-FFF2-40B4-BE49-F238E27FC236}">
                <a16:creationId xmlns:a16="http://schemas.microsoft.com/office/drawing/2014/main" id="{960DA03A-CA0F-772B-00A8-5A3046876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09031" y="2971082"/>
            <a:ext cx="419101" cy="241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图像" descr="图像">
            <a:extLst>
              <a:ext uri="{FF2B5EF4-FFF2-40B4-BE49-F238E27FC236}">
                <a16:creationId xmlns:a16="http://schemas.microsoft.com/office/drawing/2014/main" id="{A080EEA6-138A-1DA2-36E2-EBFBC56B1F0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11619" y="2154616"/>
            <a:ext cx="540927" cy="292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图像" descr="图像">
            <a:extLst>
              <a:ext uri="{FF2B5EF4-FFF2-40B4-BE49-F238E27FC236}">
                <a16:creationId xmlns:a16="http://schemas.microsoft.com/office/drawing/2014/main" id="{4D942B19-8258-9A54-2C80-F777C1E320E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6882" y="1545539"/>
            <a:ext cx="685801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图像" descr="图像">
            <a:extLst>
              <a:ext uri="{FF2B5EF4-FFF2-40B4-BE49-F238E27FC236}">
                <a16:creationId xmlns:a16="http://schemas.microsoft.com/office/drawing/2014/main" id="{7AE3493F-CE17-705F-443A-439C885B8EC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34787" y="2195899"/>
            <a:ext cx="3556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图像" descr="图像">
            <a:extLst>
              <a:ext uri="{FF2B5EF4-FFF2-40B4-BE49-F238E27FC236}">
                <a16:creationId xmlns:a16="http://schemas.microsoft.com/office/drawing/2014/main" id="{315948E3-E925-3CA3-0E3E-06D37DDC4AC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37005" y="4356962"/>
            <a:ext cx="622301" cy="1397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图像" descr="图像">
            <a:extLst>
              <a:ext uri="{FF2B5EF4-FFF2-40B4-BE49-F238E27FC236}">
                <a16:creationId xmlns:a16="http://schemas.microsoft.com/office/drawing/2014/main" id="{8E558F5C-EA22-68EC-1915-B8C6432018D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4942625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图像" descr="图像">
            <a:extLst>
              <a:ext uri="{FF2B5EF4-FFF2-40B4-BE49-F238E27FC236}">
                <a16:creationId xmlns:a16="http://schemas.microsoft.com/office/drawing/2014/main" id="{AA7C27BF-7E9D-5A7E-B696-0A551174D40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900327" y="2892313"/>
            <a:ext cx="254001" cy="2794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图像" descr="图像">
            <a:extLst>
              <a:ext uri="{FF2B5EF4-FFF2-40B4-BE49-F238E27FC236}">
                <a16:creationId xmlns:a16="http://schemas.microsoft.com/office/drawing/2014/main" id="{992063A8-4ACB-B95C-8574-78150C2ADD2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334341" y="3174357"/>
            <a:ext cx="419101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图像" descr="图像">
            <a:extLst>
              <a:ext uri="{FF2B5EF4-FFF2-40B4-BE49-F238E27FC236}">
                <a16:creationId xmlns:a16="http://schemas.microsoft.com/office/drawing/2014/main" id="{A50B5F5A-0862-D0D3-C686-A18024E96B5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146" y="3629223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图像" descr="图像">
            <a:extLst>
              <a:ext uri="{FF2B5EF4-FFF2-40B4-BE49-F238E27FC236}">
                <a16:creationId xmlns:a16="http://schemas.microsoft.com/office/drawing/2014/main" id="{7D044CB4-A90E-0579-DEDF-AB701C44126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34350" y="2932258"/>
            <a:ext cx="723901" cy="1143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图像" descr="图像">
            <a:extLst>
              <a:ext uri="{FF2B5EF4-FFF2-40B4-BE49-F238E27FC236}">
                <a16:creationId xmlns:a16="http://schemas.microsoft.com/office/drawing/2014/main" id="{90B72798-09D8-414F-CC71-D9126A784ED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407541" y="4515063"/>
            <a:ext cx="434653" cy="345747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图像" descr="图像">
            <a:extLst>
              <a:ext uri="{FF2B5EF4-FFF2-40B4-BE49-F238E27FC236}">
                <a16:creationId xmlns:a16="http://schemas.microsoft.com/office/drawing/2014/main" id="{2C0062D5-D60A-3538-4F14-014269D6BB6F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64136" y="3667059"/>
            <a:ext cx="431075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图像" descr="图像">
            <a:extLst>
              <a:ext uri="{FF2B5EF4-FFF2-40B4-BE49-F238E27FC236}">
                <a16:creationId xmlns:a16="http://schemas.microsoft.com/office/drawing/2014/main" id="{3493FA37-6997-F83C-D68B-351C97E43DEE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2519746" y="2262214"/>
            <a:ext cx="558801" cy="444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图像" descr="图像">
            <a:extLst>
              <a:ext uri="{FF2B5EF4-FFF2-40B4-BE49-F238E27FC236}">
                <a16:creationId xmlns:a16="http://schemas.microsoft.com/office/drawing/2014/main" id="{8C657CA5-844E-D1D5-92E1-FD718DC6BF7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10113" y="1825121"/>
            <a:ext cx="418403" cy="418402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图像" descr="图像">
            <a:extLst>
              <a:ext uri="{FF2B5EF4-FFF2-40B4-BE49-F238E27FC236}">
                <a16:creationId xmlns:a16="http://schemas.microsoft.com/office/drawing/2014/main" id="{4C609C41-B3FC-0AAD-EA5E-C9C2458F47A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14570" y="2686201"/>
            <a:ext cx="604702" cy="481013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图像" descr="图像">
            <a:extLst>
              <a:ext uri="{FF2B5EF4-FFF2-40B4-BE49-F238E27FC236}">
                <a16:creationId xmlns:a16="http://schemas.microsoft.com/office/drawing/2014/main" id="{588C1EBB-807B-6ECC-542E-9E036726EAF0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9074021" y="3603475"/>
            <a:ext cx="6858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图像" descr="图像">
            <a:extLst>
              <a:ext uri="{FF2B5EF4-FFF2-40B4-BE49-F238E27FC236}">
                <a16:creationId xmlns:a16="http://schemas.microsoft.com/office/drawing/2014/main" id="{87328D1E-0AFE-1E31-1E50-63CF3AA796B3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026688" y="4360582"/>
            <a:ext cx="765879" cy="236383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图像" descr="图像">
            <a:extLst>
              <a:ext uri="{FF2B5EF4-FFF2-40B4-BE49-F238E27FC236}">
                <a16:creationId xmlns:a16="http://schemas.microsoft.com/office/drawing/2014/main" id="{D9F90C1C-BC4F-B5A9-47B7-C4EA68953BE0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759523" y="5517657"/>
            <a:ext cx="1016001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图片 11" descr="图片 11">
            <a:extLst>
              <a:ext uri="{FF2B5EF4-FFF2-40B4-BE49-F238E27FC236}">
                <a16:creationId xmlns:a16="http://schemas.microsoft.com/office/drawing/2014/main" id="{7E128E1A-2EF7-3405-D471-3E5F7996F0C7}"/>
              </a:ext>
            </a:extLst>
          </p:cNvPr>
          <p:cNvPicPr>
            <a:picLocks noChangeAspect="1"/>
          </p:cNvPicPr>
          <p:nvPr/>
        </p:nvPicPr>
        <p:blipFill>
          <a:blip r:embed="rId20"/>
          <a:srcRect t="32043" r="50500"/>
          <a:stretch>
            <a:fillRect/>
          </a:stretch>
        </p:blipFill>
        <p:spPr>
          <a:xfrm>
            <a:off x="10624943" y="2463170"/>
            <a:ext cx="1009056" cy="241264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图像" descr="图像">
            <a:extLst>
              <a:ext uri="{FF2B5EF4-FFF2-40B4-BE49-F238E27FC236}">
                <a16:creationId xmlns:a16="http://schemas.microsoft.com/office/drawing/2014/main" id="{53389874-574F-76D3-14C6-67A216C7D18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24586" t="23091" r="24586" b="23090"/>
          <a:stretch>
            <a:fillRect/>
          </a:stretch>
        </p:blipFill>
        <p:spPr>
          <a:xfrm>
            <a:off x="10902557" y="3136717"/>
            <a:ext cx="454179" cy="480915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图像" descr="图像">
            <a:extLst>
              <a:ext uri="{FF2B5EF4-FFF2-40B4-BE49-F238E27FC236}">
                <a16:creationId xmlns:a16="http://schemas.microsoft.com/office/drawing/2014/main" id="{58EC1F7D-306C-A242-958F-88875368C3DF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 t="29736" r="12" b="29739"/>
          <a:stretch>
            <a:fillRect/>
          </a:stretch>
        </p:blipFill>
        <p:spPr>
          <a:xfrm>
            <a:off x="8868904" y="5063009"/>
            <a:ext cx="1050132" cy="190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720"/>
                </a:lnTo>
                <a:lnTo>
                  <a:pt x="4833" y="675"/>
                </a:lnTo>
                <a:cubicBezTo>
                  <a:pt x="9972" y="641"/>
                  <a:pt x="10201" y="641"/>
                  <a:pt x="9273" y="1170"/>
                </a:cubicBezTo>
                <a:cubicBezTo>
                  <a:pt x="8796" y="1442"/>
                  <a:pt x="8070" y="2136"/>
                  <a:pt x="7649" y="2700"/>
                </a:cubicBezTo>
                <a:lnTo>
                  <a:pt x="7322" y="3150"/>
                </a:lnTo>
                <a:lnTo>
                  <a:pt x="7273" y="4545"/>
                </a:lnTo>
                <a:cubicBezTo>
                  <a:pt x="7246" y="5330"/>
                  <a:pt x="7228" y="6003"/>
                  <a:pt x="7233" y="6030"/>
                </a:cubicBezTo>
                <a:cubicBezTo>
                  <a:pt x="7238" y="6057"/>
                  <a:pt x="7337" y="5912"/>
                  <a:pt x="7453" y="5715"/>
                </a:cubicBezTo>
                <a:cubicBezTo>
                  <a:pt x="7705" y="5288"/>
                  <a:pt x="8349" y="4372"/>
                  <a:pt x="8710" y="3915"/>
                </a:cubicBezTo>
                <a:cubicBezTo>
                  <a:pt x="9240" y="3245"/>
                  <a:pt x="10440" y="2136"/>
                  <a:pt x="10857" y="1935"/>
                </a:cubicBezTo>
                <a:cubicBezTo>
                  <a:pt x="10944" y="1893"/>
                  <a:pt x="11171" y="1765"/>
                  <a:pt x="11363" y="1665"/>
                </a:cubicBezTo>
                <a:cubicBezTo>
                  <a:pt x="11555" y="1565"/>
                  <a:pt x="11877" y="1486"/>
                  <a:pt x="12082" y="1440"/>
                </a:cubicBezTo>
                <a:cubicBezTo>
                  <a:pt x="12465" y="1354"/>
                  <a:pt x="12478" y="1247"/>
                  <a:pt x="12131" y="1035"/>
                </a:cubicBezTo>
                <a:cubicBezTo>
                  <a:pt x="12050" y="986"/>
                  <a:pt x="11984" y="878"/>
                  <a:pt x="11984" y="810"/>
                </a:cubicBezTo>
                <a:cubicBezTo>
                  <a:pt x="11984" y="687"/>
                  <a:pt x="13463" y="557"/>
                  <a:pt x="13518" y="675"/>
                </a:cubicBezTo>
                <a:cubicBezTo>
                  <a:pt x="13537" y="714"/>
                  <a:pt x="13531" y="980"/>
                  <a:pt x="13494" y="1485"/>
                </a:cubicBezTo>
                <a:cubicBezTo>
                  <a:pt x="13465" y="1882"/>
                  <a:pt x="13399" y="2709"/>
                  <a:pt x="13355" y="3375"/>
                </a:cubicBezTo>
                <a:lnTo>
                  <a:pt x="13282" y="4590"/>
                </a:lnTo>
                <a:lnTo>
                  <a:pt x="13992" y="4590"/>
                </a:lnTo>
                <a:lnTo>
                  <a:pt x="14702" y="4545"/>
                </a:lnTo>
                <a:lnTo>
                  <a:pt x="14727" y="3780"/>
                </a:lnTo>
                <a:cubicBezTo>
                  <a:pt x="14776" y="2490"/>
                  <a:pt x="14823" y="2648"/>
                  <a:pt x="14318" y="2610"/>
                </a:cubicBezTo>
                <a:cubicBezTo>
                  <a:pt x="13809" y="2571"/>
                  <a:pt x="13839" y="2644"/>
                  <a:pt x="13943" y="1350"/>
                </a:cubicBezTo>
                <a:lnTo>
                  <a:pt x="14000" y="630"/>
                </a:lnTo>
                <a:lnTo>
                  <a:pt x="14694" y="630"/>
                </a:lnTo>
                <a:cubicBezTo>
                  <a:pt x="15076" y="630"/>
                  <a:pt x="15390" y="642"/>
                  <a:pt x="15396" y="675"/>
                </a:cubicBezTo>
                <a:cubicBezTo>
                  <a:pt x="15405" y="727"/>
                  <a:pt x="15389" y="1519"/>
                  <a:pt x="15339" y="3105"/>
                </a:cubicBezTo>
                <a:lnTo>
                  <a:pt x="15322" y="3510"/>
                </a:lnTo>
                <a:lnTo>
                  <a:pt x="15543" y="3510"/>
                </a:lnTo>
                <a:lnTo>
                  <a:pt x="15771" y="3510"/>
                </a:lnTo>
                <a:lnTo>
                  <a:pt x="15837" y="2115"/>
                </a:lnTo>
                <a:lnTo>
                  <a:pt x="15902" y="720"/>
                </a:lnTo>
                <a:lnTo>
                  <a:pt x="16082" y="675"/>
                </a:lnTo>
                <a:cubicBezTo>
                  <a:pt x="16179" y="655"/>
                  <a:pt x="16266" y="656"/>
                  <a:pt x="16278" y="720"/>
                </a:cubicBezTo>
                <a:cubicBezTo>
                  <a:pt x="16291" y="792"/>
                  <a:pt x="16273" y="1340"/>
                  <a:pt x="16237" y="2115"/>
                </a:cubicBezTo>
                <a:cubicBezTo>
                  <a:pt x="16205" y="2800"/>
                  <a:pt x="16180" y="3381"/>
                  <a:pt x="16180" y="3420"/>
                </a:cubicBezTo>
                <a:cubicBezTo>
                  <a:pt x="16180" y="3459"/>
                  <a:pt x="16291" y="3466"/>
                  <a:pt x="16424" y="3465"/>
                </a:cubicBezTo>
                <a:lnTo>
                  <a:pt x="16661" y="3465"/>
                </a:lnTo>
                <a:lnTo>
                  <a:pt x="16751" y="2070"/>
                </a:lnTo>
                <a:lnTo>
                  <a:pt x="16841" y="720"/>
                </a:lnTo>
                <a:lnTo>
                  <a:pt x="17551" y="720"/>
                </a:lnTo>
                <a:lnTo>
                  <a:pt x="18261" y="720"/>
                </a:lnTo>
                <a:lnTo>
                  <a:pt x="18253" y="990"/>
                </a:lnTo>
                <a:cubicBezTo>
                  <a:pt x="18249" y="1159"/>
                  <a:pt x="18235" y="1518"/>
                  <a:pt x="18220" y="1755"/>
                </a:cubicBezTo>
                <a:cubicBezTo>
                  <a:pt x="18191" y="2242"/>
                  <a:pt x="18222" y="2147"/>
                  <a:pt x="17722" y="2745"/>
                </a:cubicBezTo>
                <a:cubicBezTo>
                  <a:pt x="17540" y="2963"/>
                  <a:pt x="17380" y="3210"/>
                  <a:pt x="17363" y="3285"/>
                </a:cubicBezTo>
                <a:cubicBezTo>
                  <a:pt x="17337" y="3403"/>
                  <a:pt x="17241" y="5177"/>
                  <a:pt x="17241" y="5535"/>
                </a:cubicBezTo>
                <a:cubicBezTo>
                  <a:pt x="17241" y="5606"/>
                  <a:pt x="17395" y="5430"/>
                  <a:pt x="17584" y="5130"/>
                </a:cubicBezTo>
                <a:cubicBezTo>
                  <a:pt x="17964" y="4526"/>
                  <a:pt x="18086" y="4428"/>
                  <a:pt x="18073" y="4725"/>
                </a:cubicBezTo>
                <a:cubicBezTo>
                  <a:pt x="18069" y="4827"/>
                  <a:pt x="18048" y="5418"/>
                  <a:pt x="18024" y="6030"/>
                </a:cubicBezTo>
                <a:cubicBezTo>
                  <a:pt x="18001" y="6642"/>
                  <a:pt x="17966" y="7213"/>
                  <a:pt x="17951" y="7290"/>
                </a:cubicBezTo>
                <a:cubicBezTo>
                  <a:pt x="17936" y="7367"/>
                  <a:pt x="17796" y="7614"/>
                  <a:pt x="17641" y="7875"/>
                </a:cubicBezTo>
                <a:cubicBezTo>
                  <a:pt x="17486" y="8136"/>
                  <a:pt x="17353" y="8432"/>
                  <a:pt x="17339" y="8505"/>
                </a:cubicBezTo>
                <a:cubicBezTo>
                  <a:pt x="17311" y="8649"/>
                  <a:pt x="17207" y="10930"/>
                  <a:pt x="17224" y="11025"/>
                </a:cubicBezTo>
                <a:cubicBezTo>
                  <a:pt x="17230" y="11057"/>
                  <a:pt x="17362" y="10846"/>
                  <a:pt x="17518" y="10575"/>
                </a:cubicBezTo>
                <a:cubicBezTo>
                  <a:pt x="17674" y="10304"/>
                  <a:pt x="17807" y="10121"/>
                  <a:pt x="17812" y="10170"/>
                </a:cubicBezTo>
                <a:cubicBezTo>
                  <a:pt x="17818" y="10219"/>
                  <a:pt x="17785" y="11143"/>
                  <a:pt x="17739" y="12195"/>
                </a:cubicBezTo>
                <a:lnTo>
                  <a:pt x="17649" y="14085"/>
                </a:lnTo>
                <a:lnTo>
                  <a:pt x="17314" y="14130"/>
                </a:lnTo>
                <a:lnTo>
                  <a:pt x="16980" y="14220"/>
                </a:lnTo>
                <a:lnTo>
                  <a:pt x="16931" y="15300"/>
                </a:lnTo>
                <a:lnTo>
                  <a:pt x="16882" y="16380"/>
                </a:lnTo>
                <a:lnTo>
                  <a:pt x="17388" y="16380"/>
                </a:lnTo>
                <a:cubicBezTo>
                  <a:pt x="17937" y="16380"/>
                  <a:pt x="18010" y="16307"/>
                  <a:pt x="18082" y="15705"/>
                </a:cubicBezTo>
                <a:cubicBezTo>
                  <a:pt x="18103" y="15527"/>
                  <a:pt x="18234" y="12848"/>
                  <a:pt x="18376" y="9765"/>
                </a:cubicBezTo>
                <a:cubicBezTo>
                  <a:pt x="18517" y="6682"/>
                  <a:pt x="18653" y="4059"/>
                  <a:pt x="18669" y="3915"/>
                </a:cubicBezTo>
                <a:cubicBezTo>
                  <a:pt x="18693" y="3711"/>
                  <a:pt x="18737" y="3625"/>
                  <a:pt x="18873" y="3510"/>
                </a:cubicBezTo>
                <a:cubicBezTo>
                  <a:pt x="19498" y="2984"/>
                  <a:pt x="19798" y="2743"/>
                  <a:pt x="19820" y="2790"/>
                </a:cubicBezTo>
                <a:cubicBezTo>
                  <a:pt x="19849" y="2848"/>
                  <a:pt x="19823" y="3674"/>
                  <a:pt x="19788" y="3870"/>
                </a:cubicBezTo>
                <a:cubicBezTo>
                  <a:pt x="19777" y="3928"/>
                  <a:pt x="19585" y="3986"/>
                  <a:pt x="19363" y="4005"/>
                </a:cubicBezTo>
                <a:lnTo>
                  <a:pt x="18963" y="4050"/>
                </a:lnTo>
                <a:lnTo>
                  <a:pt x="18947" y="4365"/>
                </a:lnTo>
                <a:cubicBezTo>
                  <a:pt x="18939" y="4535"/>
                  <a:pt x="18923" y="4874"/>
                  <a:pt x="18914" y="5130"/>
                </a:cubicBezTo>
                <a:lnTo>
                  <a:pt x="18898" y="5580"/>
                </a:lnTo>
                <a:lnTo>
                  <a:pt x="19306" y="5580"/>
                </a:lnTo>
                <a:cubicBezTo>
                  <a:pt x="19529" y="5580"/>
                  <a:pt x="19717" y="5618"/>
                  <a:pt x="19722" y="5670"/>
                </a:cubicBezTo>
                <a:cubicBezTo>
                  <a:pt x="19728" y="5722"/>
                  <a:pt x="19715" y="5946"/>
                  <a:pt x="19698" y="6165"/>
                </a:cubicBezTo>
                <a:lnTo>
                  <a:pt x="19673" y="6570"/>
                </a:lnTo>
                <a:lnTo>
                  <a:pt x="19257" y="6615"/>
                </a:lnTo>
                <a:lnTo>
                  <a:pt x="18849" y="6660"/>
                </a:lnTo>
                <a:lnTo>
                  <a:pt x="18824" y="7155"/>
                </a:lnTo>
                <a:cubicBezTo>
                  <a:pt x="18810" y="7428"/>
                  <a:pt x="18792" y="7778"/>
                  <a:pt x="18784" y="7965"/>
                </a:cubicBezTo>
                <a:lnTo>
                  <a:pt x="18767" y="8325"/>
                </a:lnTo>
                <a:lnTo>
                  <a:pt x="19176" y="8325"/>
                </a:lnTo>
                <a:cubicBezTo>
                  <a:pt x="19517" y="8325"/>
                  <a:pt x="19581" y="8347"/>
                  <a:pt x="19592" y="8505"/>
                </a:cubicBezTo>
                <a:cubicBezTo>
                  <a:pt x="19599" y="8608"/>
                  <a:pt x="19591" y="8764"/>
                  <a:pt x="19576" y="8865"/>
                </a:cubicBezTo>
                <a:cubicBezTo>
                  <a:pt x="19553" y="9016"/>
                  <a:pt x="19471" y="9045"/>
                  <a:pt x="19135" y="9045"/>
                </a:cubicBezTo>
                <a:lnTo>
                  <a:pt x="18727" y="9045"/>
                </a:lnTo>
                <a:lnTo>
                  <a:pt x="18694" y="9855"/>
                </a:lnTo>
                <a:cubicBezTo>
                  <a:pt x="18674" y="10295"/>
                  <a:pt x="18653" y="10674"/>
                  <a:pt x="18653" y="10710"/>
                </a:cubicBezTo>
                <a:cubicBezTo>
                  <a:pt x="18653" y="10746"/>
                  <a:pt x="18844" y="10826"/>
                  <a:pt x="19069" y="10845"/>
                </a:cubicBezTo>
                <a:lnTo>
                  <a:pt x="19478" y="10845"/>
                </a:lnTo>
                <a:lnTo>
                  <a:pt x="19478" y="11160"/>
                </a:lnTo>
                <a:cubicBezTo>
                  <a:pt x="19478" y="11319"/>
                  <a:pt x="19453" y="12052"/>
                  <a:pt x="19420" y="12780"/>
                </a:cubicBezTo>
                <a:cubicBezTo>
                  <a:pt x="19365" y="14029"/>
                  <a:pt x="19357" y="14070"/>
                  <a:pt x="19306" y="14040"/>
                </a:cubicBezTo>
                <a:cubicBezTo>
                  <a:pt x="19276" y="14023"/>
                  <a:pt x="19215" y="13777"/>
                  <a:pt x="19167" y="13500"/>
                </a:cubicBezTo>
                <a:cubicBezTo>
                  <a:pt x="19078" y="12982"/>
                  <a:pt x="19069" y="12798"/>
                  <a:pt x="19118" y="11880"/>
                </a:cubicBezTo>
                <a:cubicBezTo>
                  <a:pt x="19129" y="11682"/>
                  <a:pt x="19108" y="11655"/>
                  <a:pt x="18873" y="11655"/>
                </a:cubicBezTo>
                <a:lnTo>
                  <a:pt x="18620" y="11655"/>
                </a:lnTo>
                <a:lnTo>
                  <a:pt x="18514" y="13860"/>
                </a:lnTo>
                <a:cubicBezTo>
                  <a:pt x="18457" y="15077"/>
                  <a:pt x="18408" y="16167"/>
                  <a:pt x="18408" y="16245"/>
                </a:cubicBezTo>
                <a:cubicBezTo>
                  <a:pt x="18408" y="16344"/>
                  <a:pt x="18481" y="16380"/>
                  <a:pt x="18653" y="16380"/>
                </a:cubicBezTo>
                <a:cubicBezTo>
                  <a:pt x="18898" y="16380"/>
                  <a:pt x="18901" y="16377"/>
                  <a:pt x="18922" y="16065"/>
                </a:cubicBezTo>
                <a:lnTo>
                  <a:pt x="18947" y="15750"/>
                </a:lnTo>
                <a:lnTo>
                  <a:pt x="19045" y="16065"/>
                </a:lnTo>
                <a:lnTo>
                  <a:pt x="19143" y="16380"/>
                </a:lnTo>
                <a:lnTo>
                  <a:pt x="19959" y="16335"/>
                </a:lnTo>
                <a:lnTo>
                  <a:pt x="20776" y="16335"/>
                </a:lnTo>
                <a:lnTo>
                  <a:pt x="20816" y="15525"/>
                </a:lnTo>
                <a:cubicBezTo>
                  <a:pt x="20837" y="15082"/>
                  <a:pt x="20867" y="14598"/>
                  <a:pt x="20882" y="14445"/>
                </a:cubicBezTo>
                <a:lnTo>
                  <a:pt x="20906" y="14130"/>
                </a:lnTo>
                <a:lnTo>
                  <a:pt x="20400" y="14130"/>
                </a:lnTo>
                <a:cubicBezTo>
                  <a:pt x="20118" y="14130"/>
                  <a:pt x="19893" y="14103"/>
                  <a:pt x="19886" y="14040"/>
                </a:cubicBezTo>
                <a:cubicBezTo>
                  <a:pt x="19879" y="13978"/>
                  <a:pt x="19882" y="13764"/>
                  <a:pt x="19894" y="13590"/>
                </a:cubicBezTo>
                <a:lnTo>
                  <a:pt x="19910" y="13275"/>
                </a:lnTo>
                <a:lnTo>
                  <a:pt x="20269" y="13275"/>
                </a:lnTo>
                <a:lnTo>
                  <a:pt x="20620" y="13230"/>
                </a:lnTo>
                <a:lnTo>
                  <a:pt x="20661" y="12465"/>
                </a:lnTo>
                <a:lnTo>
                  <a:pt x="20694" y="11745"/>
                </a:lnTo>
                <a:lnTo>
                  <a:pt x="20343" y="11655"/>
                </a:lnTo>
                <a:cubicBezTo>
                  <a:pt x="20012" y="11596"/>
                  <a:pt x="19993" y="11574"/>
                  <a:pt x="19992" y="11340"/>
                </a:cubicBezTo>
                <a:cubicBezTo>
                  <a:pt x="19988" y="10689"/>
                  <a:pt x="20004" y="10665"/>
                  <a:pt x="20359" y="10665"/>
                </a:cubicBezTo>
                <a:cubicBezTo>
                  <a:pt x="20781" y="10664"/>
                  <a:pt x="20810" y="10585"/>
                  <a:pt x="20890" y="9270"/>
                </a:cubicBezTo>
                <a:cubicBezTo>
                  <a:pt x="20944" y="8374"/>
                  <a:pt x="20943" y="8386"/>
                  <a:pt x="21029" y="8325"/>
                </a:cubicBezTo>
                <a:cubicBezTo>
                  <a:pt x="21111" y="8266"/>
                  <a:pt x="21115" y="8241"/>
                  <a:pt x="21143" y="7650"/>
                </a:cubicBezTo>
                <a:cubicBezTo>
                  <a:pt x="21188" y="6690"/>
                  <a:pt x="21185" y="6480"/>
                  <a:pt x="21118" y="6480"/>
                </a:cubicBezTo>
                <a:cubicBezTo>
                  <a:pt x="21087" y="6480"/>
                  <a:pt x="21059" y="6389"/>
                  <a:pt x="21053" y="6300"/>
                </a:cubicBezTo>
                <a:cubicBezTo>
                  <a:pt x="21047" y="6211"/>
                  <a:pt x="21061" y="5661"/>
                  <a:pt x="21086" y="5085"/>
                </a:cubicBezTo>
                <a:cubicBezTo>
                  <a:pt x="21111" y="4509"/>
                  <a:pt x="21126" y="4011"/>
                  <a:pt x="21127" y="3960"/>
                </a:cubicBezTo>
                <a:cubicBezTo>
                  <a:pt x="21127" y="3909"/>
                  <a:pt x="20951" y="3870"/>
                  <a:pt x="20735" y="3870"/>
                </a:cubicBezTo>
                <a:cubicBezTo>
                  <a:pt x="20504" y="3870"/>
                  <a:pt x="20343" y="3806"/>
                  <a:pt x="20335" y="3735"/>
                </a:cubicBezTo>
                <a:cubicBezTo>
                  <a:pt x="20311" y="3522"/>
                  <a:pt x="20362" y="2611"/>
                  <a:pt x="20408" y="2475"/>
                </a:cubicBezTo>
                <a:cubicBezTo>
                  <a:pt x="20435" y="2395"/>
                  <a:pt x="20677" y="2356"/>
                  <a:pt x="21029" y="2340"/>
                </a:cubicBezTo>
                <a:lnTo>
                  <a:pt x="21600" y="2295"/>
                </a:lnTo>
                <a:lnTo>
                  <a:pt x="21600" y="0"/>
                </a:lnTo>
                <a:lnTo>
                  <a:pt x="0" y="0"/>
                </a:lnTo>
                <a:close/>
                <a:moveTo>
                  <a:pt x="2049" y="1260"/>
                </a:moveTo>
                <a:lnTo>
                  <a:pt x="784" y="1305"/>
                </a:lnTo>
                <a:lnTo>
                  <a:pt x="694" y="2385"/>
                </a:lnTo>
                <a:lnTo>
                  <a:pt x="612" y="3420"/>
                </a:lnTo>
                <a:lnTo>
                  <a:pt x="1853" y="3510"/>
                </a:lnTo>
                <a:cubicBezTo>
                  <a:pt x="3228" y="3579"/>
                  <a:pt x="3187" y="3511"/>
                  <a:pt x="3347" y="4365"/>
                </a:cubicBezTo>
                <a:cubicBezTo>
                  <a:pt x="3405" y="4673"/>
                  <a:pt x="3420" y="4887"/>
                  <a:pt x="3420" y="5265"/>
                </a:cubicBezTo>
                <a:cubicBezTo>
                  <a:pt x="3420" y="5669"/>
                  <a:pt x="3399" y="5848"/>
                  <a:pt x="3306" y="6390"/>
                </a:cubicBezTo>
                <a:cubicBezTo>
                  <a:pt x="3117" y="7489"/>
                  <a:pt x="2815" y="8347"/>
                  <a:pt x="2212" y="9450"/>
                </a:cubicBezTo>
                <a:lnTo>
                  <a:pt x="1886" y="10035"/>
                </a:lnTo>
                <a:lnTo>
                  <a:pt x="2376" y="12645"/>
                </a:lnTo>
                <a:lnTo>
                  <a:pt x="2865" y="15255"/>
                </a:lnTo>
                <a:lnTo>
                  <a:pt x="3404" y="15255"/>
                </a:lnTo>
                <a:cubicBezTo>
                  <a:pt x="3754" y="15258"/>
                  <a:pt x="3935" y="15203"/>
                  <a:pt x="3935" y="15120"/>
                </a:cubicBezTo>
                <a:cubicBezTo>
                  <a:pt x="3935" y="14895"/>
                  <a:pt x="3463" y="12407"/>
                  <a:pt x="3200" y="11250"/>
                </a:cubicBezTo>
                <a:cubicBezTo>
                  <a:pt x="3060" y="10632"/>
                  <a:pt x="2953" y="10092"/>
                  <a:pt x="2963" y="10035"/>
                </a:cubicBezTo>
                <a:cubicBezTo>
                  <a:pt x="2974" y="9978"/>
                  <a:pt x="3061" y="9879"/>
                  <a:pt x="3159" y="9810"/>
                </a:cubicBezTo>
                <a:cubicBezTo>
                  <a:pt x="3646" y="9471"/>
                  <a:pt x="4033" y="8321"/>
                  <a:pt x="4196" y="6705"/>
                </a:cubicBezTo>
                <a:cubicBezTo>
                  <a:pt x="4255" y="6116"/>
                  <a:pt x="4261" y="5931"/>
                  <a:pt x="4261" y="4995"/>
                </a:cubicBezTo>
                <a:cubicBezTo>
                  <a:pt x="4261" y="4065"/>
                  <a:pt x="4253" y="3855"/>
                  <a:pt x="4196" y="3285"/>
                </a:cubicBezTo>
                <a:cubicBezTo>
                  <a:pt x="4086" y="2189"/>
                  <a:pt x="3883" y="1619"/>
                  <a:pt x="3527" y="1395"/>
                </a:cubicBezTo>
                <a:cubicBezTo>
                  <a:pt x="3429" y="1334"/>
                  <a:pt x="3092" y="1264"/>
                  <a:pt x="2596" y="1260"/>
                </a:cubicBezTo>
                <a:cubicBezTo>
                  <a:pt x="2430" y="1259"/>
                  <a:pt x="2247" y="1254"/>
                  <a:pt x="2049" y="1260"/>
                </a:cubicBezTo>
                <a:close/>
                <a:moveTo>
                  <a:pt x="14996" y="4095"/>
                </a:moveTo>
                <a:lnTo>
                  <a:pt x="14922" y="5895"/>
                </a:lnTo>
                <a:cubicBezTo>
                  <a:pt x="14835" y="7965"/>
                  <a:pt x="14743" y="10416"/>
                  <a:pt x="14743" y="10575"/>
                </a:cubicBezTo>
                <a:cubicBezTo>
                  <a:pt x="14743" y="10637"/>
                  <a:pt x="14955" y="10665"/>
                  <a:pt x="15224" y="10665"/>
                </a:cubicBezTo>
                <a:cubicBezTo>
                  <a:pt x="15490" y="10665"/>
                  <a:pt x="15708" y="10700"/>
                  <a:pt x="15714" y="10755"/>
                </a:cubicBezTo>
                <a:cubicBezTo>
                  <a:pt x="15720" y="10810"/>
                  <a:pt x="15717" y="11116"/>
                  <a:pt x="15706" y="11385"/>
                </a:cubicBezTo>
                <a:cubicBezTo>
                  <a:pt x="15695" y="11654"/>
                  <a:pt x="15680" y="12020"/>
                  <a:pt x="15673" y="12240"/>
                </a:cubicBezTo>
                <a:cubicBezTo>
                  <a:pt x="15666" y="12460"/>
                  <a:pt x="15639" y="13250"/>
                  <a:pt x="15608" y="13950"/>
                </a:cubicBezTo>
                <a:cubicBezTo>
                  <a:pt x="15541" y="15478"/>
                  <a:pt x="15537" y="16069"/>
                  <a:pt x="15592" y="16245"/>
                </a:cubicBezTo>
                <a:cubicBezTo>
                  <a:pt x="15615" y="16321"/>
                  <a:pt x="15844" y="16378"/>
                  <a:pt x="16163" y="16380"/>
                </a:cubicBezTo>
                <a:lnTo>
                  <a:pt x="16694" y="16380"/>
                </a:lnTo>
                <a:lnTo>
                  <a:pt x="16735" y="15480"/>
                </a:lnTo>
                <a:cubicBezTo>
                  <a:pt x="16756" y="14986"/>
                  <a:pt x="16789" y="14474"/>
                  <a:pt x="16808" y="14355"/>
                </a:cubicBezTo>
                <a:cubicBezTo>
                  <a:pt x="16841" y="14150"/>
                  <a:pt x="16820" y="14130"/>
                  <a:pt x="16498" y="14130"/>
                </a:cubicBezTo>
                <a:cubicBezTo>
                  <a:pt x="16311" y="14130"/>
                  <a:pt x="16152" y="14091"/>
                  <a:pt x="16147" y="14040"/>
                </a:cubicBezTo>
                <a:cubicBezTo>
                  <a:pt x="16132" y="13902"/>
                  <a:pt x="16251" y="11026"/>
                  <a:pt x="16278" y="10845"/>
                </a:cubicBezTo>
                <a:cubicBezTo>
                  <a:pt x="16291" y="10752"/>
                  <a:pt x="16350" y="10665"/>
                  <a:pt x="16433" y="10665"/>
                </a:cubicBezTo>
                <a:cubicBezTo>
                  <a:pt x="16615" y="10664"/>
                  <a:pt x="16718" y="10502"/>
                  <a:pt x="16792" y="10080"/>
                </a:cubicBezTo>
                <a:cubicBezTo>
                  <a:pt x="16842" y="9790"/>
                  <a:pt x="16869" y="9432"/>
                  <a:pt x="16922" y="7965"/>
                </a:cubicBezTo>
                <a:cubicBezTo>
                  <a:pt x="16965" y="6801"/>
                  <a:pt x="16972" y="6211"/>
                  <a:pt x="16955" y="6210"/>
                </a:cubicBezTo>
                <a:cubicBezTo>
                  <a:pt x="16926" y="6209"/>
                  <a:pt x="16512" y="6864"/>
                  <a:pt x="16498" y="6930"/>
                </a:cubicBezTo>
                <a:cubicBezTo>
                  <a:pt x="16493" y="6954"/>
                  <a:pt x="16469" y="7392"/>
                  <a:pt x="16449" y="7920"/>
                </a:cubicBezTo>
                <a:lnTo>
                  <a:pt x="16416" y="8865"/>
                </a:lnTo>
                <a:lnTo>
                  <a:pt x="15829" y="8955"/>
                </a:lnTo>
                <a:cubicBezTo>
                  <a:pt x="15427" y="8999"/>
                  <a:pt x="15229" y="9071"/>
                  <a:pt x="15184" y="9180"/>
                </a:cubicBezTo>
                <a:cubicBezTo>
                  <a:pt x="15141" y="9282"/>
                  <a:pt x="15108" y="9302"/>
                  <a:pt x="15094" y="9225"/>
                </a:cubicBezTo>
                <a:cubicBezTo>
                  <a:pt x="15080" y="9148"/>
                  <a:pt x="15113" y="8918"/>
                  <a:pt x="15192" y="8640"/>
                </a:cubicBezTo>
                <a:lnTo>
                  <a:pt x="15314" y="8235"/>
                </a:lnTo>
                <a:lnTo>
                  <a:pt x="15355" y="7200"/>
                </a:lnTo>
                <a:cubicBezTo>
                  <a:pt x="15378" y="6632"/>
                  <a:pt x="15409" y="6066"/>
                  <a:pt x="15420" y="5985"/>
                </a:cubicBezTo>
                <a:cubicBezTo>
                  <a:pt x="15434" y="5884"/>
                  <a:pt x="15564" y="5832"/>
                  <a:pt x="15837" y="5805"/>
                </a:cubicBezTo>
                <a:cubicBezTo>
                  <a:pt x="16213" y="5768"/>
                  <a:pt x="16242" y="5754"/>
                  <a:pt x="16359" y="5445"/>
                </a:cubicBezTo>
                <a:cubicBezTo>
                  <a:pt x="16461" y="5176"/>
                  <a:pt x="16627" y="4823"/>
                  <a:pt x="16947" y="4185"/>
                </a:cubicBezTo>
                <a:cubicBezTo>
                  <a:pt x="16966" y="4148"/>
                  <a:pt x="16529" y="4100"/>
                  <a:pt x="15984" y="4095"/>
                </a:cubicBezTo>
                <a:lnTo>
                  <a:pt x="14996" y="4095"/>
                </a:lnTo>
                <a:close/>
                <a:moveTo>
                  <a:pt x="11837" y="4410"/>
                </a:moveTo>
                <a:cubicBezTo>
                  <a:pt x="11531" y="4420"/>
                  <a:pt x="11318" y="4631"/>
                  <a:pt x="11094" y="5130"/>
                </a:cubicBezTo>
                <a:cubicBezTo>
                  <a:pt x="10627" y="6168"/>
                  <a:pt x="10305" y="8167"/>
                  <a:pt x="10237" y="10350"/>
                </a:cubicBezTo>
                <a:cubicBezTo>
                  <a:pt x="10160" y="12813"/>
                  <a:pt x="10474" y="14725"/>
                  <a:pt x="11020" y="15120"/>
                </a:cubicBezTo>
                <a:cubicBezTo>
                  <a:pt x="11312" y="15331"/>
                  <a:pt x="11860" y="14940"/>
                  <a:pt x="12188" y="14265"/>
                </a:cubicBezTo>
                <a:lnTo>
                  <a:pt x="12310" y="13995"/>
                </a:lnTo>
                <a:lnTo>
                  <a:pt x="12359" y="12735"/>
                </a:lnTo>
                <a:cubicBezTo>
                  <a:pt x="12389" y="12039"/>
                  <a:pt x="12411" y="11452"/>
                  <a:pt x="12408" y="11430"/>
                </a:cubicBezTo>
                <a:cubicBezTo>
                  <a:pt x="12405" y="11408"/>
                  <a:pt x="12338" y="11577"/>
                  <a:pt x="12261" y="11790"/>
                </a:cubicBezTo>
                <a:cubicBezTo>
                  <a:pt x="12073" y="12313"/>
                  <a:pt x="11690" y="13010"/>
                  <a:pt x="11518" y="13140"/>
                </a:cubicBezTo>
                <a:cubicBezTo>
                  <a:pt x="11354" y="13264"/>
                  <a:pt x="11203" y="13115"/>
                  <a:pt x="11118" y="12780"/>
                </a:cubicBezTo>
                <a:cubicBezTo>
                  <a:pt x="11044" y="12487"/>
                  <a:pt x="10967" y="11717"/>
                  <a:pt x="10996" y="11565"/>
                </a:cubicBezTo>
                <a:cubicBezTo>
                  <a:pt x="11007" y="11505"/>
                  <a:pt x="11273" y="11201"/>
                  <a:pt x="11584" y="10890"/>
                </a:cubicBezTo>
                <a:cubicBezTo>
                  <a:pt x="12182" y="10292"/>
                  <a:pt x="12342" y="10041"/>
                  <a:pt x="12490" y="9450"/>
                </a:cubicBezTo>
                <a:cubicBezTo>
                  <a:pt x="12589" y="9053"/>
                  <a:pt x="12630" y="8682"/>
                  <a:pt x="12669" y="7875"/>
                </a:cubicBezTo>
                <a:cubicBezTo>
                  <a:pt x="12732" y="6594"/>
                  <a:pt x="12569" y="5280"/>
                  <a:pt x="12278" y="4725"/>
                </a:cubicBezTo>
                <a:cubicBezTo>
                  <a:pt x="12144" y="4470"/>
                  <a:pt x="12078" y="4402"/>
                  <a:pt x="11837" y="4410"/>
                </a:cubicBezTo>
                <a:close/>
                <a:moveTo>
                  <a:pt x="4596" y="4500"/>
                </a:moveTo>
                <a:lnTo>
                  <a:pt x="4571" y="4950"/>
                </a:lnTo>
                <a:cubicBezTo>
                  <a:pt x="4437" y="7980"/>
                  <a:pt x="4246" y="12545"/>
                  <a:pt x="4237" y="13005"/>
                </a:cubicBezTo>
                <a:cubicBezTo>
                  <a:pt x="4215" y="14109"/>
                  <a:pt x="4356" y="14889"/>
                  <a:pt x="4629" y="15165"/>
                </a:cubicBezTo>
                <a:cubicBezTo>
                  <a:pt x="4786" y="15324"/>
                  <a:pt x="5690" y="15159"/>
                  <a:pt x="5918" y="14940"/>
                </a:cubicBezTo>
                <a:cubicBezTo>
                  <a:pt x="6024" y="14838"/>
                  <a:pt x="6146" y="14657"/>
                  <a:pt x="6196" y="14535"/>
                </a:cubicBezTo>
                <a:cubicBezTo>
                  <a:pt x="6301" y="14278"/>
                  <a:pt x="6425" y="13605"/>
                  <a:pt x="6473" y="12960"/>
                </a:cubicBezTo>
                <a:cubicBezTo>
                  <a:pt x="6520" y="12345"/>
                  <a:pt x="6698" y="8277"/>
                  <a:pt x="6833" y="4770"/>
                </a:cubicBezTo>
                <a:lnTo>
                  <a:pt x="6841" y="4500"/>
                </a:lnTo>
                <a:lnTo>
                  <a:pt x="6490" y="4500"/>
                </a:lnTo>
                <a:lnTo>
                  <a:pt x="6131" y="4500"/>
                </a:lnTo>
                <a:lnTo>
                  <a:pt x="6065" y="6300"/>
                </a:lnTo>
                <a:cubicBezTo>
                  <a:pt x="5897" y="11087"/>
                  <a:pt x="5816" y="12280"/>
                  <a:pt x="5624" y="12825"/>
                </a:cubicBezTo>
                <a:cubicBezTo>
                  <a:pt x="5523" y="13114"/>
                  <a:pt x="5292" y="13284"/>
                  <a:pt x="5176" y="13140"/>
                </a:cubicBezTo>
                <a:cubicBezTo>
                  <a:pt x="5040" y="12972"/>
                  <a:pt x="4996" y="12748"/>
                  <a:pt x="4996" y="12195"/>
                </a:cubicBezTo>
                <a:cubicBezTo>
                  <a:pt x="4996" y="11950"/>
                  <a:pt x="5065" y="10169"/>
                  <a:pt x="5151" y="8235"/>
                </a:cubicBezTo>
                <a:cubicBezTo>
                  <a:pt x="5238" y="6301"/>
                  <a:pt x="5314" y="4650"/>
                  <a:pt x="5314" y="4590"/>
                </a:cubicBezTo>
                <a:cubicBezTo>
                  <a:pt x="5314" y="4530"/>
                  <a:pt x="5153" y="4500"/>
                  <a:pt x="4955" y="4500"/>
                </a:cubicBezTo>
                <a:lnTo>
                  <a:pt x="4596" y="4500"/>
                </a:lnTo>
                <a:close/>
                <a:moveTo>
                  <a:pt x="10237" y="4815"/>
                </a:moveTo>
                <a:lnTo>
                  <a:pt x="10073" y="4905"/>
                </a:lnTo>
                <a:cubicBezTo>
                  <a:pt x="9985" y="4950"/>
                  <a:pt x="9829" y="5056"/>
                  <a:pt x="9722" y="5130"/>
                </a:cubicBezTo>
                <a:lnTo>
                  <a:pt x="9527" y="5265"/>
                </a:lnTo>
                <a:lnTo>
                  <a:pt x="9486" y="6120"/>
                </a:lnTo>
                <a:cubicBezTo>
                  <a:pt x="9466" y="6607"/>
                  <a:pt x="9414" y="7920"/>
                  <a:pt x="9363" y="9045"/>
                </a:cubicBezTo>
                <a:cubicBezTo>
                  <a:pt x="9313" y="10170"/>
                  <a:pt x="9248" y="11626"/>
                  <a:pt x="9224" y="12240"/>
                </a:cubicBezTo>
                <a:cubicBezTo>
                  <a:pt x="9201" y="12854"/>
                  <a:pt x="9166" y="13782"/>
                  <a:pt x="9143" y="14310"/>
                </a:cubicBezTo>
                <a:lnTo>
                  <a:pt x="9094" y="15255"/>
                </a:lnTo>
                <a:lnTo>
                  <a:pt x="9437" y="15255"/>
                </a:lnTo>
                <a:lnTo>
                  <a:pt x="9780" y="15255"/>
                </a:lnTo>
                <a:lnTo>
                  <a:pt x="9910" y="12240"/>
                </a:lnTo>
                <a:cubicBezTo>
                  <a:pt x="9981" y="10587"/>
                  <a:pt x="10085" y="8239"/>
                  <a:pt x="10139" y="7020"/>
                </a:cubicBezTo>
                <a:lnTo>
                  <a:pt x="10237" y="4815"/>
                </a:lnTo>
                <a:close/>
                <a:moveTo>
                  <a:pt x="1045" y="4995"/>
                </a:moveTo>
                <a:lnTo>
                  <a:pt x="971" y="6075"/>
                </a:lnTo>
                <a:cubicBezTo>
                  <a:pt x="932" y="6671"/>
                  <a:pt x="830" y="8333"/>
                  <a:pt x="735" y="9765"/>
                </a:cubicBezTo>
                <a:cubicBezTo>
                  <a:pt x="640" y="11197"/>
                  <a:pt x="523" y="12897"/>
                  <a:pt x="482" y="13545"/>
                </a:cubicBezTo>
                <a:cubicBezTo>
                  <a:pt x="441" y="14193"/>
                  <a:pt x="401" y="14819"/>
                  <a:pt x="392" y="14940"/>
                </a:cubicBezTo>
                <a:cubicBezTo>
                  <a:pt x="377" y="15146"/>
                  <a:pt x="405" y="15152"/>
                  <a:pt x="824" y="15120"/>
                </a:cubicBezTo>
                <a:lnTo>
                  <a:pt x="1273" y="15075"/>
                </a:lnTo>
                <a:lnTo>
                  <a:pt x="1388" y="13320"/>
                </a:lnTo>
                <a:cubicBezTo>
                  <a:pt x="1508" y="11527"/>
                  <a:pt x="1755" y="7778"/>
                  <a:pt x="1853" y="6255"/>
                </a:cubicBezTo>
                <a:cubicBezTo>
                  <a:pt x="1884" y="5778"/>
                  <a:pt x="1918" y="5294"/>
                  <a:pt x="1927" y="5175"/>
                </a:cubicBezTo>
                <a:cubicBezTo>
                  <a:pt x="1941" y="4973"/>
                  <a:pt x="1910" y="4994"/>
                  <a:pt x="1494" y="4995"/>
                </a:cubicBezTo>
                <a:lnTo>
                  <a:pt x="1045" y="4995"/>
                </a:lnTo>
                <a:close/>
                <a:moveTo>
                  <a:pt x="9053" y="5625"/>
                </a:moveTo>
                <a:cubicBezTo>
                  <a:pt x="9049" y="5597"/>
                  <a:pt x="8891" y="5686"/>
                  <a:pt x="8702" y="5850"/>
                </a:cubicBezTo>
                <a:lnTo>
                  <a:pt x="8359" y="6165"/>
                </a:lnTo>
                <a:lnTo>
                  <a:pt x="8180" y="10170"/>
                </a:lnTo>
                <a:cubicBezTo>
                  <a:pt x="7933" y="15574"/>
                  <a:pt x="7864" y="16641"/>
                  <a:pt x="7722" y="17505"/>
                </a:cubicBezTo>
                <a:cubicBezTo>
                  <a:pt x="7637" y="18025"/>
                  <a:pt x="7429" y="18674"/>
                  <a:pt x="7298" y="18810"/>
                </a:cubicBezTo>
                <a:cubicBezTo>
                  <a:pt x="7231" y="18879"/>
                  <a:pt x="7223" y="18925"/>
                  <a:pt x="7200" y="19575"/>
                </a:cubicBezTo>
                <a:cubicBezTo>
                  <a:pt x="7186" y="19960"/>
                  <a:pt x="7169" y="20440"/>
                  <a:pt x="7159" y="20610"/>
                </a:cubicBezTo>
                <a:lnTo>
                  <a:pt x="7143" y="20925"/>
                </a:lnTo>
                <a:lnTo>
                  <a:pt x="6694" y="20925"/>
                </a:lnTo>
                <a:cubicBezTo>
                  <a:pt x="6448" y="20944"/>
                  <a:pt x="6239" y="20940"/>
                  <a:pt x="6229" y="20880"/>
                </a:cubicBezTo>
                <a:cubicBezTo>
                  <a:pt x="6217" y="20818"/>
                  <a:pt x="6237" y="20683"/>
                  <a:pt x="6269" y="20565"/>
                </a:cubicBezTo>
                <a:cubicBezTo>
                  <a:pt x="6361" y="20235"/>
                  <a:pt x="6348" y="19709"/>
                  <a:pt x="6237" y="19305"/>
                </a:cubicBezTo>
                <a:cubicBezTo>
                  <a:pt x="6097" y="18794"/>
                  <a:pt x="6116" y="18557"/>
                  <a:pt x="6310" y="18585"/>
                </a:cubicBezTo>
                <a:cubicBezTo>
                  <a:pt x="6409" y="18599"/>
                  <a:pt x="6431" y="18566"/>
                  <a:pt x="6441" y="18360"/>
                </a:cubicBezTo>
                <a:cubicBezTo>
                  <a:pt x="6452" y="18132"/>
                  <a:pt x="6441" y="18133"/>
                  <a:pt x="6269" y="18135"/>
                </a:cubicBezTo>
                <a:cubicBezTo>
                  <a:pt x="6046" y="18137"/>
                  <a:pt x="5977" y="18268"/>
                  <a:pt x="5967" y="18810"/>
                </a:cubicBezTo>
                <a:cubicBezTo>
                  <a:pt x="5961" y="19151"/>
                  <a:pt x="5970" y="19242"/>
                  <a:pt x="6049" y="19530"/>
                </a:cubicBezTo>
                <a:cubicBezTo>
                  <a:pt x="6150" y="19897"/>
                  <a:pt x="6156" y="19977"/>
                  <a:pt x="6106" y="20205"/>
                </a:cubicBezTo>
                <a:cubicBezTo>
                  <a:pt x="6082" y="20313"/>
                  <a:pt x="6036" y="20353"/>
                  <a:pt x="5943" y="20295"/>
                </a:cubicBezTo>
                <a:cubicBezTo>
                  <a:pt x="5810" y="20212"/>
                  <a:pt x="5811" y="20220"/>
                  <a:pt x="5804" y="20565"/>
                </a:cubicBezTo>
                <a:cubicBezTo>
                  <a:pt x="5791" y="21171"/>
                  <a:pt x="5728" y="21023"/>
                  <a:pt x="5616" y="20160"/>
                </a:cubicBezTo>
                <a:cubicBezTo>
                  <a:pt x="5559" y="19718"/>
                  <a:pt x="5510" y="19336"/>
                  <a:pt x="5510" y="19305"/>
                </a:cubicBezTo>
                <a:cubicBezTo>
                  <a:pt x="5510" y="19274"/>
                  <a:pt x="5582" y="19018"/>
                  <a:pt x="5665" y="18720"/>
                </a:cubicBezTo>
                <a:lnTo>
                  <a:pt x="5812" y="18180"/>
                </a:lnTo>
                <a:lnTo>
                  <a:pt x="5714" y="18135"/>
                </a:lnTo>
                <a:cubicBezTo>
                  <a:pt x="5624" y="18103"/>
                  <a:pt x="5594" y="18145"/>
                  <a:pt x="5494" y="18540"/>
                </a:cubicBezTo>
                <a:cubicBezTo>
                  <a:pt x="5318" y="19236"/>
                  <a:pt x="5308" y="19019"/>
                  <a:pt x="5437" y="17325"/>
                </a:cubicBezTo>
                <a:cubicBezTo>
                  <a:pt x="5451" y="17137"/>
                  <a:pt x="5434" y="17145"/>
                  <a:pt x="5347" y="17145"/>
                </a:cubicBezTo>
                <a:lnTo>
                  <a:pt x="5249" y="17145"/>
                </a:lnTo>
                <a:lnTo>
                  <a:pt x="5192" y="18090"/>
                </a:lnTo>
                <a:cubicBezTo>
                  <a:pt x="5108" y="19414"/>
                  <a:pt x="5014" y="20644"/>
                  <a:pt x="4988" y="20835"/>
                </a:cubicBezTo>
                <a:cubicBezTo>
                  <a:pt x="4972" y="20946"/>
                  <a:pt x="4919" y="20950"/>
                  <a:pt x="4808" y="20925"/>
                </a:cubicBezTo>
                <a:lnTo>
                  <a:pt x="4645" y="20925"/>
                </a:lnTo>
                <a:lnTo>
                  <a:pt x="4653" y="20565"/>
                </a:lnTo>
                <a:cubicBezTo>
                  <a:pt x="4673" y="19538"/>
                  <a:pt x="4827" y="18536"/>
                  <a:pt x="4955" y="18630"/>
                </a:cubicBezTo>
                <a:cubicBezTo>
                  <a:pt x="5012" y="18672"/>
                  <a:pt x="5037" y="18539"/>
                  <a:pt x="5037" y="18225"/>
                </a:cubicBezTo>
                <a:cubicBezTo>
                  <a:pt x="5037" y="18165"/>
                  <a:pt x="4945" y="18121"/>
                  <a:pt x="4824" y="18135"/>
                </a:cubicBezTo>
                <a:lnTo>
                  <a:pt x="4604" y="18180"/>
                </a:lnTo>
                <a:lnTo>
                  <a:pt x="4563" y="18855"/>
                </a:lnTo>
                <a:cubicBezTo>
                  <a:pt x="4542" y="19230"/>
                  <a:pt x="4505" y="19858"/>
                  <a:pt x="4473" y="20250"/>
                </a:cubicBezTo>
                <a:lnTo>
                  <a:pt x="4416" y="20970"/>
                </a:lnTo>
                <a:lnTo>
                  <a:pt x="4302" y="20970"/>
                </a:lnTo>
                <a:cubicBezTo>
                  <a:pt x="4159" y="20970"/>
                  <a:pt x="4137" y="20826"/>
                  <a:pt x="4245" y="20520"/>
                </a:cubicBezTo>
                <a:cubicBezTo>
                  <a:pt x="4411" y="20048"/>
                  <a:pt x="4485" y="18910"/>
                  <a:pt x="4384" y="18405"/>
                </a:cubicBezTo>
                <a:cubicBezTo>
                  <a:pt x="4347" y="18222"/>
                  <a:pt x="4294" y="18169"/>
                  <a:pt x="4147" y="18135"/>
                </a:cubicBezTo>
                <a:cubicBezTo>
                  <a:pt x="3979" y="18096"/>
                  <a:pt x="3944" y="18116"/>
                  <a:pt x="3837" y="18405"/>
                </a:cubicBezTo>
                <a:cubicBezTo>
                  <a:pt x="3651" y="18906"/>
                  <a:pt x="3583" y="19933"/>
                  <a:pt x="3698" y="20520"/>
                </a:cubicBezTo>
                <a:cubicBezTo>
                  <a:pt x="3729" y="20677"/>
                  <a:pt x="3747" y="20836"/>
                  <a:pt x="3739" y="20880"/>
                </a:cubicBezTo>
                <a:cubicBezTo>
                  <a:pt x="3718" y="20993"/>
                  <a:pt x="3270" y="20994"/>
                  <a:pt x="3257" y="20880"/>
                </a:cubicBezTo>
                <a:cubicBezTo>
                  <a:pt x="3252" y="20829"/>
                  <a:pt x="3348" y="20201"/>
                  <a:pt x="3469" y="19485"/>
                </a:cubicBezTo>
                <a:lnTo>
                  <a:pt x="3690" y="18180"/>
                </a:lnTo>
                <a:lnTo>
                  <a:pt x="3592" y="18135"/>
                </a:lnTo>
                <a:cubicBezTo>
                  <a:pt x="3502" y="18097"/>
                  <a:pt x="3498" y="18117"/>
                  <a:pt x="3371" y="18900"/>
                </a:cubicBezTo>
                <a:cubicBezTo>
                  <a:pt x="3299" y="19348"/>
                  <a:pt x="3226" y="19698"/>
                  <a:pt x="3216" y="19665"/>
                </a:cubicBezTo>
                <a:cubicBezTo>
                  <a:pt x="3207" y="19632"/>
                  <a:pt x="3192" y="19266"/>
                  <a:pt x="3184" y="18855"/>
                </a:cubicBezTo>
                <a:lnTo>
                  <a:pt x="3167" y="18135"/>
                </a:lnTo>
                <a:lnTo>
                  <a:pt x="3069" y="18135"/>
                </a:lnTo>
                <a:cubicBezTo>
                  <a:pt x="2976" y="18135"/>
                  <a:pt x="2972" y="18154"/>
                  <a:pt x="2849" y="18990"/>
                </a:cubicBezTo>
                <a:cubicBezTo>
                  <a:pt x="2718" y="19880"/>
                  <a:pt x="2678" y="19983"/>
                  <a:pt x="2678" y="19395"/>
                </a:cubicBezTo>
                <a:cubicBezTo>
                  <a:pt x="2677" y="19212"/>
                  <a:pt x="2669" y="18841"/>
                  <a:pt x="2661" y="18585"/>
                </a:cubicBezTo>
                <a:cubicBezTo>
                  <a:pt x="2648" y="18141"/>
                  <a:pt x="2646" y="18135"/>
                  <a:pt x="2563" y="18135"/>
                </a:cubicBezTo>
                <a:cubicBezTo>
                  <a:pt x="2461" y="18135"/>
                  <a:pt x="2457" y="18071"/>
                  <a:pt x="2506" y="19620"/>
                </a:cubicBezTo>
                <a:cubicBezTo>
                  <a:pt x="2525" y="20219"/>
                  <a:pt x="2538" y="20769"/>
                  <a:pt x="2531" y="20835"/>
                </a:cubicBezTo>
                <a:cubicBezTo>
                  <a:pt x="2512" y="21000"/>
                  <a:pt x="2255" y="21002"/>
                  <a:pt x="2237" y="20835"/>
                </a:cubicBezTo>
                <a:cubicBezTo>
                  <a:pt x="2228" y="20761"/>
                  <a:pt x="2231" y="20641"/>
                  <a:pt x="2245" y="20565"/>
                </a:cubicBezTo>
                <a:cubicBezTo>
                  <a:pt x="2287" y="20331"/>
                  <a:pt x="2278" y="20222"/>
                  <a:pt x="2212" y="20295"/>
                </a:cubicBezTo>
                <a:cubicBezTo>
                  <a:pt x="2109" y="20409"/>
                  <a:pt x="2089" y="20143"/>
                  <a:pt x="2147" y="19350"/>
                </a:cubicBezTo>
                <a:cubicBezTo>
                  <a:pt x="2195" y="18693"/>
                  <a:pt x="2197" y="18666"/>
                  <a:pt x="2286" y="18630"/>
                </a:cubicBezTo>
                <a:cubicBezTo>
                  <a:pt x="2355" y="18602"/>
                  <a:pt x="2383" y="18541"/>
                  <a:pt x="2392" y="18360"/>
                </a:cubicBezTo>
                <a:cubicBezTo>
                  <a:pt x="2401" y="18157"/>
                  <a:pt x="2396" y="18135"/>
                  <a:pt x="2335" y="18135"/>
                </a:cubicBezTo>
                <a:cubicBezTo>
                  <a:pt x="2245" y="18135"/>
                  <a:pt x="2224" y="18029"/>
                  <a:pt x="2253" y="17730"/>
                </a:cubicBezTo>
                <a:cubicBezTo>
                  <a:pt x="2272" y="17535"/>
                  <a:pt x="2264" y="17504"/>
                  <a:pt x="2220" y="17505"/>
                </a:cubicBezTo>
                <a:cubicBezTo>
                  <a:pt x="2129" y="17508"/>
                  <a:pt x="2077" y="17623"/>
                  <a:pt x="2065" y="17865"/>
                </a:cubicBezTo>
                <a:cubicBezTo>
                  <a:pt x="2058" y="18021"/>
                  <a:pt x="2030" y="18135"/>
                  <a:pt x="1992" y="18135"/>
                </a:cubicBezTo>
                <a:cubicBezTo>
                  <a:pt x="1960" y="18135"/>
                  <a:pt x="1935" y="18151"/>
                  <a:pt x="1935" y="18180"/>
                </a:cubicBezTo>
                <a:cubicBezTo>
                  <a:pt x="1935" y="18209"/>
                  <a:pt x="1933" y="18306"/>
                  <a:pt x="1927" y="18405"/>
                </a:cubicBezTo>
                <a:cubicBezTo>
                  <a:pt x="1919" y="18517"/>
                  <a:pt x="1931" y="18589"/>
                  <a:pt x="1959" y="18630"/>
                </a:cubicBezTo>
                <a:cubicBezTo>
                  <a:pt x="2004" y="18695"/>
                  <a:pt x="1999" y="18724"/>
                  <a:pt x="1943" y="19485"/>
                </a:cubicBezTo>
                <a:cubicBezTo>
                  <a:pt x="1912" y="19909"/>
                  <a:pt x="1890" y="20386"/>
                  <a:pt x="1894" y="20565"/>
                </a:cubicBezTo>
                <a:cubicBezTo>
                  <a:pt x="1900" y="20862"/>
                  <a:pt x="1891" y="20889"/>
                  <a:pt x="1812" y="20925"/>
                </a:cubicBezTo>
                <a:cubicBezTo>
                  <a:pt x="1679" y="20985"/>
                  <a:pt x="1654" y="20934"/>
                  <a:pt x="1698" y="20565"/>
                </a:cubicBezTo>
                <a:lnTo>
                  <a:pt x="1739" y="20250"/>
                </a:lnTo>
                <a:lnTo>
                  <a:pt x="1567" y="20295"/>
                </a:lnTo>
                <a:cubicBezTo>
                  <a:pt x="1416" y="20358"/>
                  <a:pt x="1400" y="20362"/>
                  <a:pt x="1355" y="20115"/>
                </a:cubicBezTo>
                <a:cubicBezTo>
                  <a:pt x="1270" y="19645"/>
                  <a:pt x="1318" y="19480"/>
                  <a:pt x="1592" y="19440"/>
                </a:cubicBezTo>
                <a:lnTo>
                  <a:pt x="1837" y="19395"/>
                </a:lnTo>
                <a:lnTo>
                  <a:pt x="1845" y="18945"/>
                </a:lnTo>
                <a:cubicBezTo>
                  <a:pt x="1850" y="18586"/>
                  <a:pt x="1841" y="18387"/>
                  <a:pt x="1812" y="18270"/>
                </a:cubicBezTo>
                <a:cubicBezTo>
                  <a:pt x="1759" y="18054"/>
                  <a:pt x="1440" y="18050"/>
                  <a:pt x="1347" y="18270"/>
                </a:cubicBezTo>
                <a:cubicBezTo>
                  <a:pt x="1229" y="18547"/>
                  <a:pt x="1148" y="19124"/>
                  <a:pt x="1135" y="19755"/>
                </a:cubicBezTo>
                <a:cubicBezTo>
                  <a:pt x="1125" y="20250"/>
                  <a:pt x="1123" y="20331"/>
                  <a:pt x="1176" y="20520"/>
                </a:cubicBezTo>
                <a:cubicBezTo>
                  <a:pt x="1208" y="20637"/>
                  <a:pt x="1231" y="20774"/>
                  <a:pt x="1224" y="20835"/>
                </a:cubicBezTo>
                <a:cubicBezTo>
                  <a:pt x="1211" y="20956"/>
                  <a:pt x="936" y="20997"/>
                  <a:pt x="914" y="20880"/>
                </a:cubicBezTo>
                <a:cubicBezTo>
                  <a:pt x="899" y="20798"/>
                  <a:pt x="918" y="20524"/>
                  <a:pt x="1061" y="18540"/>
                </a:cubicBezTo>
                <a:lnTo>
                  <a:pt x="1167" y="17145"/>
                </a:lnTo>
                <a:lnTo>
                  <a:pt x="1069" y="17145"/>
                </a:lnTo>
                <a:cubicBezTo>
                  <a:pt x="985" y="17145"/>
                  <a:pt x="968" y="17162"/>
                  <a:pt x="947" y="17460"/>
                </a:cubicBezTo>
                <a:cubicBezTo>
                  <a:pt x="934" y="17647"/>
                  <a:pt x="899" y="18198"/>
                  <a:pt x="865" y="18675"/>
                </a:cubicBezTo>
                <a:cubicBezTo>
                  <a:pt x="832" y="19152"/>
                  <a:pt x="793" y="19607"/>
                  <a:pt x="784" y="19665"/>
                </a:cubicBezTo>
                <a:cubicBezTo>
                  <a:pt x="774" y="19723"/>
                  <a:pt x="715" y="19172"/>
                  <a:pt x="645" y="18450"/>
                </a:cubicBezTo>
                <a:lnTo>
                  <a:pt x="514" y="17145"/>
                </a:lnTo>
                <a:lnTo>
                  <a:pt x="384" y="17145"/>
                </a:lnTo>
                <a:lnTo>
                  <a:pt x="261" y="17145"/>
                </a:lnTo>
                <a:lnTo>
                  <a:pt x="180" y="18315"/>
                </a:lnTo>
                <a:cubicBezTo>
                  <a:pt x="73" y="20024"/>
                  <a:pt x="51" y="20384"/>
                  <a:pt x="24" y="20295"/>
                </a:cubicBezTo>
                <a:cubicBezTo>
                  <a:pt x="22" y="20287"/>
                  <a:pt x="26" y="21476"/>
                  <a:pt x="24" y="21600"/>
                </a:cubicBezTo>
                <a:lnTo>
                  <a:pt x="21600" y="21600"/>
                </a:lnTo>
                <a:lnTo>
                  <a:pt x="21600" y="20925"/>
                </a:lnTo>
                <a:lnTo>
                  <a:pt x="14555" y="20925"/>
                </a:lnTo>
                <a:cubicBezTo>
                  <a:pt x="9875" y="20925"/>
                  <a:pt x="7506" y="20872"/>
                  <a:pt x="7502" y="20790"/>
                </a:cubicBezTo>
                <a:cubicBezTo>
                  <a:pt x="7499" y="20722"/>
                  <a:pt x="7543" y="20565"/>
                  <a:pt x="7608" y="20475"/>
                </a:cubicBezTo>
                <a:cubicBezTo>
                  <a:pt x="7800" y="20210"/>
                  <a:pt x="8126" y="19310"/>
                  <a:pt x="8253" y="18675"/>
                </a:cubicBezTo>
                <a:cubicBezTo>
                  <a:pt x="8381" y="18038"/>
                  <a:pt x="8494" y="17089"/>
                  <a:pt x="8571" y="16020"/>
                </a:cubicBezTo>
                <a:cubicBezTo>
                  <a:pt x="8623" y="15313"/>
                  <a:pt x="9068" y="5714"/>
                  <a:pt x="9053" y="5625"/>
                </a:cubicBezTo>
                <a:close/>
                <a:moveTo>
                  <a:pt x="13241" y="5715"/>
                </a:moveTo>
                <a:lnTo>
                  <a:pt x="13200" y="6615"/>
                </a:lnTo>
                <a:cubicBezTo>
                  <a:pt x="13179" y="7109"/>
                  <a:pt x="13167" y="7554"/>
                  <a:pt x="13167" y="7605"/>
                </a:cubicBezTo>
                <a:cubicBezTo>
                  <a:pt x="13168" y="7656"/>
                  <a:pt x="13253" y="7695"/>
                  <a:pt x="13363" y="7695"/>
                </a:cubicBezTo>
                <a:cubicBezTo>
                  <a:pt x="13474" y="7695"/>
                  <a:pt x="13569" y="7768"/>
                  <a:pt x="13576" y="7830"/>
                </a:cubicBezTo>
                <a:cubicBezTo>
                  <a:pt x="13591" y="7969"/>
                  <a:pt x="13548" y="9193"/>
                  <a:pt x="13518" y="9405"/>
                </a:cubicBezTo>
                <a:cubicBezTo>
                  <a:pt x="13504" y="9510"/>
                  <a:pt x="13432" y="9540"/>
                  <a:pt x="13290" y="9540"/>
                </a:cubicBezTo>
                <a:lnTo>
                  <a:pt x="13078" y="9540"/>
                </a:lnTo>
                <a:lnTo>
                  <a:pt x="13053" y="10035"/>
                </a:lnTo>
                <a:cubicBezTo>
                  <a:pt x="13041" y="10291"/>
                  <a:pt x="13027" y="10679"/>
                  <a:pt x="13020" y="10935"/>
                </a:cubicBezTo>
                <a:lnTo>
                  <a:pt x="13012" y="11430"/>
                </a:lnTo>
                <a:lnTo>
                  <a:pt x="13208" y="11430"/>
                </a:lnTo>
                <a:cubicBezTo>
                  <a:pt x="13361" y="11430"/>
                  <a:pt x="13419" y="11477"/>
                  <a:pt x="13429" y="11610"/>
                </a:cubicBezTo>
                <a:cubicBezTo>
                  <a:pt x="13435" y="11706"/>
                  <a:pt x="13413" y="12308"/>
                  <a:pt x="13388" y="12960"/>
                </a:cubicBezTo>
                <a:cubicBezTo>
                  <a:pt x="13362" y="13612"/>
                  <a:pt x="13347" y="14506"/>
                  <a:pt x="13347" y="14940"/>
                </a:cubicBezTo>
                <a:cubicBezTo>
                  <a:pt x="13347" y="15607"/>
                  <a:pt x="13349" y="15788"/>
                  <a:pt x="13396" y="16065"/>
                </a:cubicBezTo>
                <a:lnTo>
                  <a:pt x="13453" y="16380"/>
                </a:lnTo>
                <a:lnTo>
                  <a:pt x="13878" y="16380"/>
                </a:lnTo>
                <a:lnTo>
                  <a:pt x="14310" y="16380"/>
                </a:lnTo>
                <a:lnTo>
                  <a:pt x="14343" y="15480"/>
                </a:lnTo>
                <a:cubicBezTo>
                  <a:pt x="14363" y="14986"/>
                  <a:pt x="14385" y="14474"/>
                  <a:pt x="14392" y="14355"/>
                </a:cubicBezTo>
                <a:cubicBezTo>
                  <a:pt x="14403" y="14157"/>
                  <a:pt x="14377" y="14130"/>
                  <a:pt x="14131" y="14130"/>
                </a:cubicBezTo>
                <a:cubicBezTo>
                  <a:pt x="13982" y="14130"/>
                  <a:pt x="13860" y="14100"/>
                  <a:pt x="13853" y="14040"/>
                </a:cubicBezTo>
                <a:cubicBezTo>
                  <a:pt x="13841" y="13934"/>
                  <a:pt x="13920" y="11726"/>
                  <a:pt x="13943" y="11520"/>
                </a:cubicBezTo>
                <a:cubicBezTo>
                  <a:pt x="13949" y="11463"/>
                  <a:pt x="14061" y="11430"/>
                  <a:pt x="14188" y="11430"/>
                </a:cubicBezTo>
                <a:lnTo>
                  <a:pt x="14416" y="11430"/>
                </a:lnTo>
                <a:lnTo>
                  <a:pt x="14441" y="10665"/>
                </a:lnTo>
                <a:cubicBezTo>
                  <a:pt x="14456" y="10253"/>
                  <a:pt x="14475" y="9819"/>
                  <a:pt x="14482" y="9720"/>
                </a:cubicBezTo>
                <a:cubicBezTo>
                  <a:pt x="14492" y="9569"/>
                  <a:pt x="14460" y="9540"/>
                  <a:pt x="14269" y="9540"/>
                </a:cubicBezTo>
                <a:cubicBezTo>
                  <a:pt x="14107" y="9540"/>
                  <a:pt x="14039" y="9515"/>
                  <a:pt x="14033" y="9405"/>
                </a:cubicBezTo>
                <a:cubicBezTo>
                  <a:pt x="14027" y="9320"/>
                  <a:pt x="14034" y="8914"/>
                  <a:pt x="14049" y="8505"/>
                </a:cubicBezTo>
                <a:lnTo>
                  <a:pt x="14073" y="7785"/>
                </a:lnTo>
                <a:lnTo>
                  <a:pt x="14327" y="7695"/>
                </a:lnTo>
                <a:lnTo>
                  <a:pt x="14571" y="7650"/>
                </a:lnTo>
                <a:lnTo>
                  <a:pt x="14604" y="6750"/>
                </a:lnTo>
                <a:cubicBezTo>
                  <a:pt x="14626" y="6273"/>
                  <a:pt x="14645" y="5856"/>
                  <a:pt x="14645" y="5805"/>
                </a:cubicBezTo>
                <a:cubicBezTo>
                  <a:pt x="14645" y="5754"/>
                  <a:pt x="14330" y="5715"/>
                  <a:pt x="13943" y="5715"/>
                </a:cubicBezTo>
                <a:lnTo>
                  <a:pt x="13241" y="5715"/>
                </a:lnTo>
                <a:close/>
                <a:moveTo>
                  <a:pt x="11837" y="6615"/>
                </a:moveTo>
                <a:cubicBezTo>
                  <a:pt x="11888" y="6619"/>
                  <a:pt x="11929" y="6685"/>
                  <a:pt x="11959" y="6840"/>
                </a:cubicBezTo>
                <a:cubicBezTo>
                  <a:pt x="12039" y="7252"/>
                  <a:pt x="12047" y="7652"/>
                  <a:pt x="11992" y="8280"/>
                </a:cubicBezTo>
                <a:cubicBezTo>
                  <a:pt x="11942" y="8851"/>
                  <a:pt x="11824" y="9441"/>
                  <a:pt x="11714" y="9675"/>
                </a:cubicBezTo>
                <a:cubicBezTo>
                  <a:pt x="11678" y="9751"/>
                  <a:pt x="11517" y="9961"/>
                  <a:pt x="11363" y="10125"/>
                </a:cubicBezTo>
                <a:cubicBezTo>
                  <a:pt x="11209" y="10289"/>
                  <a:pt x="11069" y="10440"/>
                  <a:pt x="11053" y="10440"/>
                </a:cubicBezTo>
                <a:cubicBezTo>
                  <a:pt x="10992" y="10440"/>
                  <a:pt x="11004" y="10034"/>
                  <a:pt x="11078" y="9360"/>
                </a:cubicBezTo>
                <a:cubicBezTo>
                  <a:pt x="11242" y="7850"/>
                  <a:pt x="11616" y="6596"/>
                  <a:pt x="11837" y="6615"/>
                </a:cubicBezTo>
                <a:close/>
                <a:moveTo>
                  <a:pt x="7869" y="6705"/>
                </a:moveTo>
                <a:cubicBezTo>
                  <a:pt x="7797" y="6689"/>
                  <a:pt x="7214" y="7219"/>
                  <a:pt x="7192" y="7335"/>
                </a:cubicBezTo>
                <a:cubicBezTo>
                  <a:pt x="7164" y="7477"/>
                  <a:pt x="6841" y="14695"/>
                  <a:pt x="6841" y="15165"/>
                </a:cubicBezTo>
                <a:cubicBezTo>
                  <a:pt x="6841" y="15221"/>
                  <a:pt x="6991" y="15255"/>
                  <a:pt x="7176" y="15255"/>
                </a:cubicBezTo>
                <a:lnTo>
                  <a:pt x="7510" y="15255"/>
                </a:lnTo>
                <a:lnTo>
                  <a:pt x="7600" y="13185"/>
                </a:lnTo>
                <a:cubicBezTo>
                  <a:pt x="7723" y="10379"/>
                  <a:pt x="7878" y="6795"/>
                  <a:pt x="7878" y="6705"/>
                </a:cubicBezTo>
                <a:cubicBezTo>
                  <a:pt x="7878" y="6699"/>
                  <a:pt x="7874" y="6706"/>
                  <a:pt x="7869" y="6705"/>
                </a:cubicBezTo>
                <a:close/>
                <a:moveTo>
                  <a:pt x="15061" y="11295"/>
                </a:moveTo>
                <a:lnTo>
                  <a:pt x="14988" y="12240"/>
                </a:lnTo>
                <a:cubicBezTo>
                  <a:pt x="14948" y="12768"/>
                  <a:pt x="14905" y="13396"/>
                  <a:pt x="14890" y="13635"/>
                </a:cubicBezTo>
                <a:lnTo>
                  <a:pt x="14857" y="14085"/>
                </a:lnTo>
                <a:lnTo>
                  <a:pt x="14702" y="14130"/>
                </a:lnTo>
                <a:lnTo>
                  <a:pt x="14539" y="14175"/>
                </a:lnTo>
                <a:lnTo>
                  <a:pt x="14514" y="14805"/>
                </a:lnTo>
                <a:cubicBezTo>
                  <a:pt x="14502" y="15160"/>
                  <a:pt x="14490" y="15674"/>
                  <a:pt x="14482" y="15930"/>
                </a:cubicBezTo>
                <a:lnTo>
                  <a:pt x="14465" y="16380"/>
                </a:lnTo>
                <a:lnTo>
                  <a:pt x="14743" y="16380"/>
                </a:lnTo>
                <a:cubicBezTo>
                  <a:pt x="14897" y="16380"/>
                  <a:pt x="15056" y="16318"/>
                  <a:pt x="15094" y="16245"/>
                </a:cubicBezTo>
                <a:cubicBezTo>
                  <a:pt x="15154" y="16129"/>
                  <a:pt x="15282" y="15305"/>
                  <a:pt x="15282" y="15030"/>
                </a:cubicBezTo>
                <a:cubicBezTo>
                  <a:pt x="15282" y="14849"/>
                  <a:pt x="15511" y="11633"/>
                  <a:pt x="15535" y="11475"/>
                </a:cubicBezTo>
                <a:cubicBezTo>
                  <a:pt x="15553" y="11350"/>
                  <a:pt x="15504" y="11295"/>
                  <a:pt x="15306" y="11295"/>
                </a:cubicBezTo>
                <a:lnTo>
                  <a:pt x="15061" y="1129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52" name="图像" descr="图像">
            <a:extLst>
              <a:ext uri="{FF2B5EF4-FFF2-40B4-BE49-F238E27FC236}">
                <a16:creationId xmlns:a16="http://schemas.microsoft.com/office/drawing/2014/main" id="{267017E2-6C15-9C59-72F1-F873B319E8F0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 l="10181" t="33840" r="8725" b="35390"/>
          <a:stretch>
            <a:fillRect/>
          </a:stretch>
        </p:blipFill>
        <p:spPr>
          <a:xfrm>
            <a:off x="9119095" y="5721864"/>
            <a:ext cx="677466" cy="1710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3" extrusionOk="0">
                <a:moveTo>
                  <a:pt x="5049" y="0"/>
                </a:moveTo>
                <a:lnTo>
                  <a:pt x="5011" y="4287"/>
                </a:lnTo>
                <a:lnTo>
                  <a:pt x="4986" y="8623"/>
                </a:lnTo>
                <a:lnTo>
                  <a:pt x="3442" y="8623"/>
                </a:lnTo>
                <a:lnTo>
                  <a:pt x="1885" y="8623"/>
                </a:lnTo>
                <a:lnTo>
                  <a:pt x="1860" y="4337"/>
                </a:lnTo>
                <a:lnTo>
                  <a:pt x="1835" y="50"/>
                </a:lnTo>
                <a:lnTo>
                  <a:pt x="911" y="50"/>
                </a:lnTo>
                <a:lnTo>
                  <a:pt x="0" y="50"/>
                </a:lnTo>
                <a:lnTo>
                  <a:pt x="0" y="10767"/>
                </a:lnTo>
                <a:lnTo>
                  <a:pt x="0" y="21483"/>
                </a:lnTo>
                <a:lnTo>
                  <a:pt x="215" y="21234"/>
                </a:lnTo>
                <a:cubicBezTo>
                  <a:pt x="335" y="21107"/>
                  <a:pt x="754" y="21037"/>
                  <a:pt x="1139" y="21034"/>
                </a:cubicBezTo>
                <a:lnTo>
                  <a:pt x="1835" y="21034"/>
                </a:lnTo>
                <a:lnTo>
                  <a:pt x="1860" y="16349"/>
                </a:lnTo>
                <a:lnTo>
                  <a:pt x="1885" y="11664"/>
                </a:lnTo>
                <a:lnTo>
                  <a:pt x="3442" y="11664"/>
                </a:lnTo>
                <a:lnTo>
                  <a:pt x="4986" y="11664"/>
                </a:lnTo>
                <a:lnTo>
                  <a:pt x="5036" y="16399"/>
                </a:lnTo>
                <a:lnTo>
                  <a:pt x="5087" y="21134"/>
                </a:lnTo>
                <a:lnTo>
                  <a:pt x="5935" y="21084"/>
                </a:lnTo>
                <a:cubicBezTo>
                  <a:pt x="6401" y="21069"/>
                  <a:pt x="6817" y="21049"/>
                  <a:pt x="6858" y="21034"/>
                </a:cubicBezTo>
                <a:cubicBezTo>
                  <a:pt x="6900" y="21020"/>
                  <a:pt x="6936" y="16335"/>
                  <a:pt x="6934" y="10617"/>
                </a:cubicBezTo>
                <a:lnTo>
                  <a:pt x="6922" y="200"/>
                </a:lnTo>
                <a:lnTo>
                  <a:pt x="5985" y="100"/>
                </a:lnTo>
                <a:lnTo>
                  <a:pt x="5049" y="0"/>
                </a:lnTo>
                <a:close/>
                <a:moveTo>
                  <a:pt x="19133" y="150"/>
                </a:moveTo>
                <a:cubicBezTo>
                  <a:pt x="16416" y="502"/>
                  <a:pt x="15369" y="1877"/>
                  <a:pt x="14818" y="5782"/>
                </a:cubicBezTo>
                <a:cubicBezTo>
                  <a:pt x="14482" y="8159"/>
                  <a:pt x="14469" y="12782"/>
                  <a:pt x="14792" y="15302"/>
                </a:cubicBezTo>
                <a:cubicBezTo>
                  <a:pt x="15222" y="18658"/>
                  <a:pt x="16204" y="20412"/>
                  <a:pt x="17968" y="20985"/>
                </a:cubicBezTo>
                <a:cubicBezTo>
                  <a:pt x="19329" y="21426"/>
                  <a:pt x="19414" y="21411"/>
                  <a:pt x="20562" y="21134"/>
                </a:cubicBezTo>
                <a:lnTo>
                  <a:pt x="21600" y="20885"/>
                </a:lnTo>
                <a:lnTo>
                  <a:pt x="21600" y="19190"/>
                </a:lnTo>
                <a:cubicBezTo>
                  <a:pt x="21600" y="17723"/>
                  <a:pt x="21582" y="17511"/>
                  <a:pt x="21435" y="17745"/>
                </a:cubicBezTo>
                <a:cubicBezTo>
                  <a:pt x="21342" y="17894"/>
                  <a:pt x="20692" y="18131"/>
                  <a:pt x="19993" y="18243"/>
                </a:cubicBezTo>
                <a:cubicBezTo>
                  <a:pt x="18965" y="18408"/>
                  <a:pt x="18626" y="18303"/>
                  <a:pt x="18247" y="17795"/>
                </a:cubicBezTo>
                <a:cubicBezTo>
                  <a:pt x="17244" y="16449"/>
                  <a:pt x="16754" y="14186"/>
                  <a:pt x="16754" y="10816"/>
                </a:cubicBezTo>
                <a:cubicBezTo>
                  <a:pt x="16754" y="7277"/>
                  <a:pt x="17220" y="4684"/>
                  <a:pt x="18057" y="3589"/>
                </a:cubicBezTo>
                <a:cubicBezTo>
                  <a:pt x="18600" y="2878"/>
                  <a:pt x="19881" y="2708"/>
                  <a:pt x="20942" y="3190"/>
                </a:cubicBezTo>
                <a:lnTo>
                  <a:pt x="21600" y="3489"/>
                </a:lnTo>
                <a:lnTo>
                  <a:pt x="21600" y="1944"/>
                </a:lnTo>
                <a:cubicBezTo>
                  <a:pt x="21600" y="496"/>
                  <a:pt x="21585" y="450"/>
                  <a:pt x="21246" y="200"/>
                </a:cubicBezTo>
                <a:cubicBezTo>
                  <a:pt x="21050" y="55"/>
                  <a:pt x="20096" y="25"/>
                  <a:pt x="19133" y="150"/>
                </a:cubicBezTo>
                <a:close/>
                <a:moveTo>
                  <a:pt x="8693" y="200"/>
                </a:moveTo>
                <a:lnTo>
                  <a:pt x="7656" y="499"/>
                </a:lnTo>
                <a:lnTo>
                  <a:pt x="7656" y="1894"/>
                </a:lnTo>
                <a:lnTo>
                  <a:pt x="7656" y="3340"/>
                </a:lnTo>
                <a:lnTo>
                  <a:pt x="8162" y="3041"/>
                </a:lnTo>
                <a:cubicBezTo>
                  <a:pt x="8826" y="2626"/>
                  <a:pt x="10814" y="2523"/>
                  <a:pt x="11186" y="2891"/>
                </a:cubicBezTo>
                <a:cubicBezTo>
                  <a:pt x="11577" y="3278"/>
                  <a:pt x="11819" y="4137"/>
                  <a:pt x="11819" y="5184"/>
                </a:cubicBezTo>
                <a:cubicBezTo>
                  <a:pt x="11819" y="6644"/>
                  <a:pt x="11712" y="7298"/>
                  <a:pt x="11325" y="8075"/>
                </a:cubicBezTo>
                <a:cubicBezTo>
                  <a:pt x="11008" y="8711"/>
                  <a:pt x="10750" y="8823"/>
                  <a:pt x="9592" y="8823"/>
                </a:cubicBezTo>
                <a:lnTo>
                  <a:pt x="8238" y="8823"/>
                </a:lnTo>
                <a:lnTo>
                  <a:pt x="8238" y="10119"/>
                </a:lnTo>
                <a:lnTo>
                  <a:pt x="8238" y="11464"/>
                </a:lnTo>
                <a:lnTo>
                  <a:pt x="9667" y="11464"/>
                </a:lnTo>
                <a:cubicBezTo>
                  <a:pt x="11234" y="11465"/>
                  <a:pt x="11574" y="11811"/>
                  <a:pt x="11945" y="13807"/>
                </a:cubicBezTo>
                <a:cubicBezTo>
                  <a:pt x="12193" y="15139"/>
                  <a:pt x="12101" y="16496"/>
                  <a:pt x="11692" y="17645"/>
                </a:cubicBezTo>
                <a:cubicBezTo>
                  <a:pt x="11401" y="18464"/>
                  <a:pt x="11284" y="18542"/>
                  <a:pt x="10072" y="18542"/>
                </a:cubicBezTo>
                <a:cubicBezTo>
                  <a:pt x="9353" y="18542"/>
                  <a:pt x="8495" y="18397"/>
                  <a:pt x="8162" y="18243"/>
                </a:cubicBezTo>
                <a:lnTo>
                  <a:pt x="7554" y="17994"/>
                </a:lnTo>
                <a:lnTo>
                  <a:pt x="7554" y="19489"/>
                </a:lnTo>
                <a:lnTo>
                  <a:pt x="7554" y="20985"/>
                </a:lnTo>
                <a:lnTo>
                  <a:pt x="9123" y="21084"/>
                </a:lnTo>
                <a:cubicBezTo>
                  <a:pt x="12470" y="21307"/>
                  <a:pt x="13624" y="20424"/>
                  <a:pt x="13995" y="17346"/>
                </a:cubicBezTo>
                <a:cubicBezTo>
                  <a:pt x="14297" y="14837"/>
                  <a:pt x="14131" y="12601"/>
                  <a:pt x="13565" y="11464"/>
                </a:cubicBezTo>
                <a:cubicBezTo>
                  <a:pt x="13352" y="11036"/>
                  <a:pt x="13118" y="10717"/>
                  <a:pt x="13046" y="10717"/>
                </a:cubicBezTo>
                <a:cubicBezTo>
                  <a:pt x="12974" y="10717"/>
                  <a:pt x="12839" y="10495"/>
                  <a:pt x="12742" y="10218"/>
                </a:cubicBezTo>
                <a:cubicBezTo>
                  <a:pt x="12584" y="9761"/>
                  <a:pt x="12619" y="9589"/>
                  <a:pt x="13135" y="8573"/>
                </a:cubicBezTo>
                <a:cubicBezTo>
                  <a:pt x="13833" y="7199"/>
                  <a:pt x="14019" y="5978"/>
                  <a:pt x="13856" y="3838"/>
                </a:cubicBezTo>
                <a:cubicBezTo>
                  <a:pt x="13736" y="2268"/>
                  <a:pt x="13446" y="1501"/>
                  <a:pt x="12679" y="798"/>
                </a:cubicBezTo>
                <a:cubicBezTo>
                  <a:pt x="12027" y="200"/>
                  <a:pt x="9867" y="-117"/>
                  <a:pt x="8693" y="20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53" name="图像" descr="图像">
            <a:extLst>
              <a:ext uri="{FF2B5EF4-FFF2-40B4-BE49-F238E27FC236}">
                <a16:creationId xmlns:a16="http://schemas.microsoft.com/office/drawing/2014/main" id="{5F18D3AA-2BFF-A68C-7961-E5A1C105EF0A}"/>
              </a:ext>
            </a:extLst>
          </p:cNvPr>
          <p:cNvPicPr>
            <a:picLocks noChangeAspect="1"/>
          </p:cNvPicPr>
          <p:nvPr/>
        </p:nvPicPr>
        <p:blipFill>
          <a:blip r:embed="rId24"/>
          <a:srcRect l="24416" t="35734" r="24416" b="35734"/>
          <a:stretch>
            <a:fillRect/>
          </a:stretch>
        </p:blipFill>
        <p:spPr>
          <a:xfrm>
            <a:off x="7029320" y="3775009"/>
            <a:ext cx="652764" cy="363990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图像" descr="图像">
            <a:extLst>
              <a:ext uri="{FF2B5EF4-FFF2-40B4-BE49-F238E27FC236}">
                <a16:creationId xmlns:a16="http://schemas.microsoft.com/office/drawing/2014/main" id="{E2078D4C-909B-2AA8-4B38-D1AD957120DA}"/>
              </a:ext>
            </a:extLst>
          </p:cNvPr>
          <p:cNvPicPr>
            <a:picLocks noChangeAspect="1"/>
          </p:cNvPicPr>
          <p:nvPr/>
        </p:nvPicPr>
        <p:blipFill>
          <a:blip r:embed="rId25"/>
          <a:srcRect t="36420" b="42055"/>
          <a:stretch>
            <a:fillRect/>
          </a:stretch>
        </p:blipFill>
        <p:spPr>
          <a:xfrm>
            <a:off x="7364541" y="4394239"/>
            <a:ext cx="709865" cy="152794"/>
          </a:xfrm>
          <a:prstGeom prst="rect">
            <a:avLst/>
          </a:prstGeom>
          <a:ln w="12700">
            <a:miter lim="400000"/>
          </a:ln>
        </p:spPr>
      </p:pic>
      <p:pic>
        <p:nvPicPr>
          <p:cNvPr id="55" name="图像" descr="图像">
            <a:extLst>
              <a:ext uri="{FF2B5EF4-FFF2-40B4-BE49-F238E27FC236}">
                <a16:creationId xmlns:a16="http://schemas.microsoft.com/office/drawing/2014/main" id="{102642E8-D59B-9B67-1EFA-D140627314E0}"/>
              </a:ext>
            </a:extLst>
          </p:cNvPr>
          <p:cNvPicPr>
            <a:picLocks noChangeAspect="1"/>
          </p:cNvPicPr>
          <p:nvPr/>
        </p:nvPicPr>
        <p:blipFill>
          <a:blip r:embed="rId26"/>
          <a:srcRect l="17789" t="36468" r="16267" b="41526"/>
          <a:stretch>
            <a:fillRect/>
          </a:stretch>
        </p:blipFill>
        <p:spPr>
          <a:xfrm>
            <a:off x="7020893" y="4898937"/>
            <a:ext cx="685877" cy="128444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图像" descr="图像">
            <a:extLst>
              <a:ext uri="{FF2B5EF4-FFF2-40B4-BE49-F238E27FC236}">
                <a16:creationId xmlns:a16="http://schemas.microsoft.com/office/drawing/2014/main" id="{D4E35147-0780-AFFC-DA00-D65BDCC9CA30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7552541" y="3321050"/>
            <a:ext cx="410211" cy="2159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7" name="图像" descr="图像">
            <a:extLst>
              <a:ext uri="{FF2B5EF4-FFF2-40B4-BE49-F238E27FC236}">
                <a16:creationId xmlns:a16="http://schemas.microsoft.com/office/drawing/2014/main" id="{2B22D3A9-0247-60CF-CAB5-20323DB4C34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3643" y="5629590"/>
            <a:ext cx="355601" cy="355601"/>
          </a:xfrm>
          <a:prstGeom prst="rect">
            <a:avLst/>
          </a:prstGeom>
          <a:ln w="12700">
            <a:miter lim="400000"/>
          </a:ln>
        </p:spPr>
      </p:pic>
      <p:sp>
        <p:nvSpPr>
          <p:cNvPr id="58" name="圆角矩形">
            <a:extLst>
              <a:ext uri="{FF2B5EF4-FFF2-40B4-BE49-F238E27FC236}">
                <a16:creationId xmlns:a16="http://schemas.microsoft.com/office/drawing/2014/main" id="{ABC4D325-9735-6CA0-FEC6-D45D60FDDCDC}"/>
              </a:ext>
            </a:extLst>
          </p:cNvPr>
          <p:cNvSpPr/>
          <p:nvPr/>
        </p:nvSpPr>
        <p:spPr>
          <a:xfrm>
            <a:off x="50923" y="5776529"/>
            <a:ext cx="1197023" cy="614081"/>
          </a:xfrm>
          <a:prstGeom prst="roundRect">
            <a:avLst>
              <a:gd name="adj" fmla="val 27974"/>
            </a:avLst>
          </a:prstGeom>
          <a:solidFill>
            <a:srgbClr val="009193"/>
          </a:solidFill>
          <a:ln w="12700"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59" name="Laser">
            <a:extLst>
              <a:ext uri="{FF2B5EF4-FFF2-40B4-BE49-F238E27FC236}">
                <a16:creationId xmlns:a16="http://schemas.microsoft.com/office/drawing/2014/main" id="{C8A8A99A-DD48-41DB-FC66-B4BFD0010791}"/>
              </a:ext>
            </a:extLst>
          </p:cNvPr>
          <p:cNvSpPr txBox="1"/>
          <p:nvPr/>
        </p:nvSpPr>
        <p:spPr>
          <a:xfrm>
            <a:off x="294591" y="5898149"/>
            <a:ext cx="709686" cy="370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t>Laser</a:t>
            </a:r>
          </a:p>
        </p:txBody>
      </p:sp>
      <p:sp>
        <p:nvSpPr>
          <p:cNvPr id="60" name="圆角矩形">
            <a:extLst>
              <a:ext uri="{FF2B5EF4-FFF2-40B4-BE49-F238E27FC236}">
                <a16:creationId xmlns:a16="http://schemas.microsoft.com/office/drawing/2014/main" id="{A5669F88-CD34-FCF2-ACBF-928D4936E24A}"/>
              </a:ext>
            </a:extLst>
          </p:cNvPr>
          <p:cNvSpPr/>
          <p:nvPr/>
        </p:nvSpPr>
        <p:spPr>
          <a:xfrm>
            <a:off x="1378177" y="5439516"/>
            <a:ext cx="5147865" cy="1247941"/>
          </a:xfrm>
          <a:prstGeom prst="roundRect">
            <a:avLst>
              <a:gd name="adj" fmla="val 4676"/>
            </a:avLst>
          </a:prstGeom>
          <a:ln w="12700">
            <a:solidFill>
              <a:srgbClr val="247BA3"/>
            </a:solidFill>
            <a:miter lim="400000"/>
          </a:ln>
        </p:spPr>
        <p:txBody>
          <a:bodyPr lIns="45719" rIns="45719" anchor="ctr"/>
          <a:lstStyle/>
          <a:p>
            <a:pPr>
              <a:defRPr>
                <a:solidFill>
                  <a:srgbClr val="FFFFFF"/>
                </a:solidFill>
              </a:defRPr>
            </a:pPr>
            <a:endParaRPr/>
          </a:p>
        </p:txBody>
      </p:sp>
      <p:pic>
        <p:nvPicPr>
          <p:cNvPr id="61" name="图像" descr="图像">
            <a:extLst>
              <a:ext uri="{FF2B5EF4-FFF2-40B4-BE49-F238E27FC236}">
                <a16:creationId xmlns:a16="http://schemas.microsoft.com/office/drawing/2014/main" id="{ADC5F1F2-A931-843E-BBF2-BFBC14F84EC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9541" y="5562151"/>
            <a:ext cx="711201" cy="342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2" name="图像" descr="图像">
            <a:extLst>
              <a:ext uri="{FF2B5EF4-FFF2-40B4-BE49-F238E27FC236}">
                <a16:creationId xmlns:a16="http://schemas.microsoft.com/office/drawing/2014/main" id="{9172F245-E15E-D74E-4F64-85231162D7DE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688281" y="5941135"/>
            <a:ext cx="919749" cy="203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" name="图像" descr="图像">
            <a:extLst>
              <a:ext uri="{FF2B5EF4-FFF2-40B4-BE49-F238E27FC236}">
                <a16:creationId xmlns:a16="http://schemas.microsoft.com/office/drawing/2014/main" id="{5693C12B-2C09-BCC6-CCE0-394BAB4E54F4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2793013" y="5781255"/>
            <a:ext cx="325002" cy="171054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图像" descr="图像">
            <a:extLst>
              <a:ext uri="{FF2B5EF4-FFF2-40B4-BE49-F238E27FC236}">
                <a16:creationId xmlns:a16="http://schemas.microsoft.com/office/drawing/2014/main" id="{8EA9B264-3618-11D1-3530-136939F755A1}"/>
              </a:ext>
            </a:extLst>
          </p:cNvPr>
          <p:cNvPicPr>
            <a:picLocks noChangeAspect="1"/>
          </p:cNvPicPr>
          <p:nvPr/>
        </p:nvPicPr>
        <p:blipFill>
          <a:blip r:embed="rId29"/>
          <a:srcRect l="11294" t="40160" r="11294" b="39725"/>
          <a:stretch>
            <a:fillRect/>
          </a:stretch>
        </p:blipFill>
        <p:spPr>
          <a:xfrm>
            <a:off x="2305037" y="6242645"/>
            <a:ext cx="988230" cy="171183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图像" descr="图像">
            <a:extLst>
              <a:ext uri="{FF2B5EF4-FFF2-40B4-BE49-F238E27FC236}">
                <a16:creationId xmlns:a16="http://schemas.microsoft.com/office/drawing/2014/main" id="{89203286-A9D8-80B1-DB1F-BE3528DE7195}"/>
              </a:ext>
            </a:extLst>
          </p:cNvPr>
          <p:cNvPicPr>
            <a:picLocks noChangeAspect="1"/>
          </p:cNvPicPr>
          <p:nvPr/>
        </p:nvPicPr>
        <p:blipFill>
          <a:blip r:embed="rId30"/>
          <a:srcRect l="4131" t="32380" b="31480"/>
          <a:stretch>
            <a:fillRect/>
          </a:stretch>
        </p:blipFill>
        <p:spPr>
          <a:xfrm>
            <a:off x="5243122" y="5684359"/>
            <a:ext cx="652908" cy="246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图像" descr="图像">
            <a:extLst>
              <a:ext uri="{FF2B5EF4-FFF2-40B4-BE49-F238E27FC236}">
                <a16:creationId xmlns:a16="http://schemas.microsoft.com/office/drawing/2014/main" id="{69E2B6E5-9D6A-0D32-5417-5A8A6B055F9A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37939" y="1573884"/>
            <a:ext cx="368301" cy="400220"/>
          </a:xfrm>
          <a:prstGeom prst="rect">
            <a:avLst/>
          </a:prstGeom>
          <a:ln w="12700">
            <a:miter lim="400000"/>
          </a:ln>
        </p:spPr>
      </p:pic>
      <p:pic>
        <p:nvPicPr>
          <p:cNvPr id="67" name="图像" descr="图像">
            <a:extLst>
              <a:ext uri="{FF2B5EF4-FFF2-40B4-BE49-F238E27FC236}">
                <a16:creationId xmlns:a16="http://schemas.microsoft.com/office/drawing/2014/main" id="{CDDB41AD-EFB9-1F0D-5FE4-FAE852BC28DD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5095489" y="2064539"/>
            <a:ext cx="585272" cy="215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8" name="图像" descr="图像">
            <a:extLst>
              <a:ext uri="{FF2B5EF4-FFF2-40B4-BE49-F238E27FC236}">
                <a16:creationId xmlns:a16="http://schemas.microsoft.com/office/drawing/2014/main" id="{1D5F9ACE-96AB-C396-ED27-B4F143A008A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824" t="16949" r="2856" b="16971"/>
          <a:stretch>
            <a:fillRect/>
          </a:stretch>
        </p:blipFill>
        <p:spPr>
          <a:xfrm>
            <a:off x="6038890" y="1686048"/>
            <a:ext cx="527051" cy="1230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0863" extrusionOk="0">
                <a:moveTo>
                  <a:pt x="3887" y="0"/>
                </a:moveTo>
                <a:lnTo>
                  <a:pt x="3855" y="8409"/>
                </a:lnTo>
                <a:lnTo>
                  <a:pt x="3822" y="16885"/>
                </a:lnTo>
                <a:lnTo>
                  <a:pt x="2521" y="16885"/>
                </a:lnTo>
                <a:lnTo>
                  <a:pt x="1236" y="16885"/>
                </a:lnTo>
                <a:lnTo>
                  <a:pt x="1187" y="14867"/>
                </a:lnTo>
                <a:cubicBezTo>
                  <a:pt x="1147" y="12874"/>
                  <a:pt x="1140" y="12849"/>
                  <a:pt x="569" y="12849"/>
                </a:cubicBezTo>
                <a:lnTo>
                  <a:pt x="0" y="12849"/>
                </a:lnTo>
                <a:lnTo>
                  <a:pt x="0" y="16011"/>
                </a:lnTo>
                <a:cubicBezTo>
                  <a:pt x="0" y="18691"/>
                  <a:pt x="50" y="19345"/>
                  <a:pt x="293" y="20047"/>
                </a:cubicBezTo>
                <a:cubicBezTo>
                  <a:pt x="523" y="20713"/>
                  <a:pt x="974" y="20854"/>
                  <a:pt x="2554" y="20854"/>
                </a:cubicBezTo>
                <a:cubicBezTo>
                  <a:pt x="5209" y="20854"/>
                  <a:pt x="5042" y="21600"/>
                  <a:pt x="5042" y="9351"/>
                </a:cubicBezTo>
                <a:lnTo>
                  <a:pt x="5042" y="0"/>
                </a:lnTo>
                <a:lnTo>
                  <a:pt x="4473" y="0"/>
                </a:lnTo>
                <a:lnTo>
                  <a:pt x="3887" y="0"/>
                </a:lnTo>
                <a:close/>
                <a:moveTo>
                  <a:pt x="8799" y="0"/>
                </a:moveTo>
                <a:cubicBezTo>
                  <a:pt x="6085" y="0"/>
                  <a:pt x="5946" y="449"/>
                  <a:pt x="5953" y="10562"/>
                </a:cubicBezTo>
                <a:cubicBezTo>
                  <a:pt x="5958" y="17276"/>
                  <a:pt x="6076" y="18868"/>
                  <a:pt x="6620" y="20114"/>
                </a:cubicBezTo>
                <a:cubicBezTo>
                  <a:pt x="6841" y="20621"/>
                  <a:pt x="7533" y="20841"/>
                  <a:pt x="9076" y="20854"/>
                </a:cubicBezTo>
                <a:lnTo>
                  <a:pt x="11239" y="20854"/>
                </a:lnTo>
                <a:lnTo>
                  <a:pt x="11288" y="18836"/>
                </a:lnTo>
                <a:lnTo>
                  <a:pt x="11320" y="16885"/>
                </a:lnTo>
                <a:lnTo>
                  <a:pt x="9271" y="16885"/>
                </a:lnTo>
                <a:lnTo>
                  <a:pt x="7205" y="16885"/>
                </a:lnTo>
                <a:lnTo>
                  <a:pt x="7222" y="10831"/>
                </a:lnTo>
                <a:cubicBezTo>
                  <a:pt x="7227" y="7519"/>
                  <a:pt x="7259" y="4599"/>
                  <a:pt x="7303" y="4305"/>
                </a:cubicBezTo>
                <a:cubicBezTo>
                  <a:pt x="7349" y="3997"/>
                  <a:pt x="8064" y="3767"/>
                  <a:pt x="8995" y="3767"/>
                </a:cubicBezTo>
                <a:lnTo>
                  <a:pt x="10605" y="3767"/>
                </a:lnTo>
                <a:lnTo>
                  <a:pt x="10605" y="1884"/>
                </a:lnTo>
                <a:lnTo>
                  <a:pt x="10605" y="0"/>
                </a:lnTo>
                <a:lnTo>
                  <a:pt x="8799" y="0"/>
                </a:lnTo>
                <a:close/>
                <a:moveTo>
                  <a:pt x="11320" y="16885"/>
                </a:moveTo>
                <a:lnTo>
                  <a:pt x="11971" y="16885"/>
                </a:lnTo>
                <a:lnTo>
                  <a:pt x="12622" y="16885"/>
                </a:lnTo>
                <a:lnTo>
                  <a:pt x="12654" y="18836"/>
                </a:lnTo>
                <a:lnTo>
                  <a:pt x="12703" y="20854"/>
                </a:lnTo>
                <a:lnTo>
                  <a:pt x="16428" y="20854"/>
                </a:lnTo>
                <a:lnTo>
                  <a:pt x="16428" y="19038"/>
                </a:lnTo>
                <a:lnTo>
                  <a:pt x="16428" y="17154"/>
                </a:lnTo>
                <a:lnTo>
                  <a:pt x="14590" y="17020"/>
                </a:lnTo>
                <a:lnTo>
                  <a:pt x="12752" y="16885"/>
                </a:lnTo>
                <a:lnTo>
                  <a:pt x="12670" y="14867"/>
                </a:lnTo>
                <a:cubicBezTo>
                  <a:pt x="12627" y="13766"/>
                  <a:pt x="12618" y="12729"/>
                  <a:pt x="12654" y="12580"/>
                </a:cubicBezTo>
                <a:cubicBezTo>
                  <a:pt x="12690" y="12430"/>
                  <a:pt x="13554" y="12311"/>
                  <a:pt x="14573" y="12311"/>
                </a:cubicBezTo>
                <a:lnTo>
                  <a:pt x="16428" y="12311"/>
                </a:lnTo>
                <a:lnTo>
                  <a:pt x="16428" y="10427"/>
                </a:lnTo>
                <a:lnTo>
                  <a:pt x="16428" y="8611"/>
                </a:lnTo>
                <a:lnTo>
                  <a:pt x="14525" y="8476"/>
                </a:lnTo>
                <a:lnTo>
                  <a:pt x="12622" y="8274"/>
                </a:lnTo>
                <a:lnTo>
                  <a:pt x="12654" y="6391"/>
                </a:lnTo>
                <a:cubicBezTo>
                  <a:pt x="12678" y="5361"/>
                  <a:pt x="12748" y="4396"/>
                  <a:pt x="12801" y="4171"/>
                </a:cubicBezTo>
                <a:cubicBezTo>
                  <a:pt x="12853" y="3945"/>
                  <a:pt x="14138" y="3823"/>
                  <a:pt x="15663" y="3902"/>
                </a:cubicBezTo>
                <a:lnTo>
                  <a:pt x="18445" y="4036"/>
                </a:lnTo>
                <a:lnTo>
                  <a:pt x="18477" y="12445"/>
                </a:lnTo>
                <a:lnTo>
                  <a:pt x="18510" y="20854"/>
                </a:lnTo>
                <a:lnTo>
                  <a:pt x="19664" y="20854"/>
                </a:lnTo>
                <a:lnTo>
                  <a:pt x="19697" y="12445"/>
                </a:lnTo>
                <a:lnTo>
                  <a:pt x="19730" y="4036"/>
                </a:lnTo>
                <a:lnTo>
                  <a:pt x="20673" y="3834"/>
                </a:lnTo>
                <a:lnTo>
                  <a:pt x="21600" y="3700"/>
                </a:lnTo>
                <a:lnTo>
                  <a:pt x="21600" y="1816"/>
                </a:lnTo>
                <a:lnTo>
                  <a:pt x="21600" y="0"/>
                </a:lnTo>
                <a:lnTo>
                  <a:pt x="16786" y="0"/>
                </a:lnTo>
                <a:lnTo>
                  <a:pt x="11955" y="0"/>
                </a:lnTo>
                <a:lnTo>
                  <a:pt x="11678" y="1211"/>
                </a:lnTo>
                <a:cubicBezTo>
                  <a:pt x="11428" y="2315"/>
                  <a:pt x="11386" y="3103"/>
                  <a:pt x="11353" y="9620"/>
                </a:cubicBezTo>
                <a:lnTo>
                  <a:pt x="11320" y="16885"/>
                </a:lnTo>
                <a:close/>
              </a:path>
            </a:pathLst>
          </a:custGeom>
          <a:ln w="12700">
            <a:miter lim="400000"/>
          </a:ln>
        </p:spPr>
      </p:pic>
      <p:pic>
        <p:nvPicPr>
          <p:cNvPr id="69" name="图像" descr="图像">
            <a:extLst>
              <a:ext uri="{FF2B5EF4-FFF2-40B4-BE49-F238E27FC236}">
                <a16:creationId xmlns:a16="http://schemas.microsoft.com/office/drawing/2014/main" id="{9DC8309B-22DC-592A-3D95-15FBDC13D48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5884" t="22886" r="3998" b="18237"/>
          <a:stretch>
            <a:fillRect/>
          </a:stretch>
        </p:blipFill>
        <p:spPr>
          <a:xfrm>
            <a:off x="5859963" y="2112737"/>
            <a:ext cx="672204" cy="1284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0" h="21468" extrusionOk="0">
                <a:moveTo>
                  <a:pt x="531" y="115"/>
                </a:moveTo>
                <a:cubicBezTo>
                  <a:pt x="415" y="261"/>
                  <a:pt x="60" y="3352"/>
                  <a:pt x="60" y="4226"/>
                </a:cubicBezTo>
                <a:cubicBezTo>
                  <a:pt x="60" y="4413"/>
                  <a:pt x="292" y="4558"/>
                  <a:pt x="620" y="4558"/>
                </a:cubicBezTo>
                <a:cubicBezTo>
                  <a:pt x="1208" y="4558"/>
                  <a:pt x="1312" y="4802"/>
                  <a:pt x="1206" y="5818"/>
                </a:cubicBezTo>
                <a:cubicBezTo>
                  <a:pt x="1172" y="6144"/>
                  <a:pt x="1067" y="7352"/>
                  <a:pt x="964" y="8537"/>
                </a:cubicBezTo>
                <a:cubicBezTo>
                  <a:pt x="552" y="13282"/>
                  <a:pt x="168" y="17657"/>
                  <a:pt x="85" y="18484"/>
                </a:cubicBezTo>
                <a:cubicBezTo>
                  <a:pt x="-24" y="19570"/>
                  <a:pt x="-30" y="20065"/>
                  <a:pt x="73" y="20274"/>
                </a:cubicBezTo>
                <a:cubicBezTo>
                  <a:pt x="116" y="20364"/>
                  <a:pt x="407" y="20371"/>
                  <a:pt x="722" y="20274"/>
                </a:cubicBezTo>
                <a:cubicBezTo>
                  <a:pt x="1205" y="20126"/>
                  <a:pt x="1317" y="19940"/>
                  <a:pt x="1410" y="19346"/>
                </a:cubicBezTo>
                <a:cubicBezTo>
                  <a:pt x="1470" y="18958"/>
                  <a:pt x="1511" y="18545"/>
                  <a:pt x="1512" y="18351"/>
                </a:cubicBezTo>
                <a:cubicBezTo>
                  <a:pt x="1512" y="18158"/>
                  <a:pt x="1573" y="17411"/>
                  <a:pt x="1639" y="16693"/>
                </a:cubicBezTo>
                <a:cubicBezTo>
                  <a:pt x="1783" y="15126"/>
                  <a:pt x="2133" y="11114"/>
                  <a:pt x="2250" y="9730"/>
                </a:cubicBezTo>
                <a:cubicBezTo>
                  <a:pt x="2297" y="9184"/>
                  <a:pt x="2403" y="7989"/>
                  <a:pt x="2480" y="7078"/>
                </a:cubicBezTo>
                <a:cubicBezTo>
                  <a:pt x="2711" y="4315"/>
                  <a:pt x="2737" y="4194"/>
                  <a:pt x="3346" y="4293"/>
                </a:cubicBezTo>
                <a:cubicBezTo>
                  <a:pt x="3638" y="4340"/>
                  <a:pt x="3892" y="4503"/>
                  <a:pt x="3906" y="4624"/>
                </a:cubicBezTo>
                <a:cubicBezTo>
                  <a:pt x="3920" y="4745"/>
                  <a:pt x="3865" y="5612"/>
                  <a:pt x="3779" y="6547"/>
                </a:cubicBezTo>
                <a:cubicBezTo>
                  <a:pt x="3692" y="7483"/>
                  <a:pt x="3626" y="8333"/>
                  <a:pt x="3626" y="8470"/>
                </a:cubicBezTo>
                <a:cubicBezTo>
                  <a:pt x="3625" y="9195"/>
                  <a:pt x="3288" y="10546"/>
                  <a:pt x="2951" y="11189"/>
                </a:cubicBezTo>
                <a:cubicBezTo>
                  <a:pt x="2535" y="11984"/>
                  <a:pt x="2225" y="13290"/>
                  <a:pt x="2225" y="14240"/>
                </a:cubicBezTo>
                <a:cubicBezTo>
                  <a:pt x="2225" y="14960"/>
                  <a:pt x="2217" y="14984"/>
                  <a:pt x="2658" y="14372"/>
                </a:cubicBezTo>
                <a:cubicBezTo>
                  <a:pt x="2850" y="14107"/>
                  <a:pt x="3028" y="13976"/>
                  <a:pt x="3053" y="14107"/>
                </a:cubicBezTo>
                <a:cubicBezTo>
                  <a:pt x="3078" y="14238"/>
                  <a:pt x="3015" y="15281"/>
                  <a:pt x="2913" y="16428"/>
                </a:cubicBezTo>
                <a:cubicBezTo>
                  <a:pt x="2810" y="17575"/>
                  <a:pt x="2718" y="18898"/>
                  <a:pt x="2696" y="19346"/>
                </a:cubicBezTo>
                <a:lnTo>
                  <a:pt x="2645" y="20142"/>
                </a:lnTo>
                <a:lnTo>
                  <a:pt x="3282" y="20142"/>
                </a:lnTo>
                <a:cubicBezTo>
                  <a:pt x="3627" y="20139"/>
                  <a:pt x="3932" y="20010"/>
                  <a:pt x="3970" y="19876"/>
                </a:cubicBezTo>
                <a:cubicBezTo>
                  <a:pt x="4007" y="19743"/>
                  <a:pt x="4106" y="18931"/>
                  <a:pt x="4186" y="18020"/>
                </a:cubicBezTo>
                <a:cubicBezTo>
                  <a:pt x="4267" y="17108"/>
                  <a:pt x="4395" y="15703"/>
                  <a:pt x="4466" y="14903"/>
                </a:cubicBezTo>
                <a:lnTo>
                  <a:pt x="4594" y="13444"/>
                </a:lnTo>
                <a:lnTo>
                  <a:pt x="5192" y="13643"/>
                </a:lnTo>
                <a:cubicBezTo>
                  <a:pt x="6468" y="14039"/>
                  <a:pt x="7619" y="12127"/>
                  <a:pt x="7828" y="9266"/>
                </a:cubicBezTo>
                <a:cubicBezTo>
                  <a:pt x="7886" y="8477"/>
                  <a:pt x="7904" y="8451"/>
                  <a:pt x="7981" y="9001"/>
                </a:cubicBezTo>
                <a:cubicBezTo>
                  <a:pt x="8096" y="9816"/>
                  <a:pt x="8580" y="9435"/>
                  <a:pt x="8580" y="8537"/>
                </a:cubicBezTo>
                <a:cubicBezTo>
                  <a:pt x="8580" y="7810"/>
                  <a:pt x="8291" y="7423"/>
                  <a:pt x="7994" y="7741"/>
                </a:cubicBezTo>
                <a:cubicBezTo>
                  <a:pt x="7880" y="7863"/>
                  <a:pt x="7581" y="8501"/>
                  <a:pt x="7332" y="9134"/>
                </a:cubicBezTo>
                <a:cubicBezTo>
                  <a:pt x="6807" y="10465"/>
                  <a:pt x="6256" y="10955"/>
                  <a:pt x="5663" y="10659"/>
                </a:cubicBezTo>
                <a:cubicBezTo>
                  <a:pt x="5172" y="10413"/>
                  <a:pt x="4963" y="10055"/>
                  <a:pt x="4963" y="9465"/>
                </a:cubicBezTo>
                <a:cubicBezTo>
                  <a:pt x="4963" y="9228"/>
                  <a:pt x="5056" y="7957"/>
                  <a:pt x="5180" y="6614"/>
                </a:cubicBezTo>
                <a:lnTo>
                  <a:pt x="5409" y="4160"/>
                </a:lnTo>
                <a:lnTo>
                  <a:pt x="6479" y="4359"/>
                </a:lnTo>
                <a:lnTo>
                  <a:pt x="7548" y="4624"/>
                </a:lnTo>
                <a:lnTo>
                  <a:pt x="7727" y="2569"/>
                </a:lnTo>
                <a:cubicBezTo>
                  <a:pt x="7823" y="1451"/>
                  <a:pt x="7878" y="437"/>
                  <a:pt x="7854" y="314"/>
                </a:cubicBezTo>
                <a:cubicBezTo>
                  <a:pt x="7805" y="59"/>
                  <a:pt x="728" y="-132"/>
                  <a:pt x="531" y="115"/>
                </a:cubicBezTo>
                <a:close/>
                <a:moveTo>
                  <a:pt x="10108" y="248"/>
                </a:moveTo>
                <a:cubicBezTo>
                  <a:pt x="9939" y="248"/>
                  <a:pt x="9917" y="374"/>
                  <a:pt x="9917" y="1375"/>
                </a:cubicBezTo>
                <a:cubicBezTo>
                  <a:pt x="9917" y="2648"/>
                  <a:pt x="9870" y="3024"/>
                  <a:pt x="9764" y="2569"/>
                </a:cubicBezTo>
                <a:cubicBezTo>
                  <a:pt x="9724" y="2393"/>
                  <a:pt x="9592" y="2221"/>
                  <a:pt x="9471" y="2171"/>
                </a:cubicBezTo>
                <a:cubicBezTo>
                  <a:pt x="9290" y="2094"/>
                  <a:pt x="9255" y="2220"/>
                  <a:pt x="9255" y="2768"/>
                </a:cubicBezTo>
                <a:cubicBezTo>
                  <a:pt x="9255" y="3159"/>
                  <a:pt x="9329" y="3569"/>
                  <a:pt x="9433" y="3829"/>
                </a:cubicBezTo>
                <a:cubicBezTo>
                  <a:pt x="9529" y="4069"/>
                  <a:pt x="9599" y="4571"/>
                  <a:pt x="9599" y="4890"/>
                </a:cubicBezTo>
                <a:cubicBezTo>
                  <a:pt x="9599" y="5208"/>
                  <a:pt x="9634" y="5603"/>
                  <a:pt x="9675" y="5818"/>
                </a:cubicBezTo>
                <a:cubicBezTo>
                  <a:pt x="9779" y="6357"/>
                  <a:pt x="9577" y="7572"/>
                  <a:pt x="9395" y="7476"/>
                </a:cubicBezTo>
                <a:cubicBezTo>
                  <a:pt x="9269" y="7409"/>
                  <a:pt x="9252" y="7607"/>
                  <a:pt x="9191" y="10526"/>
                </a:cubicBezTo>
                <a:cubicBezTo>
                  <a:pt x="9155" y="12258"/>
                  <a:pt x="9104" y="13881"/>
                  <a:pt x="9077" y="14107"/>
                </a:cubicBezTo>
                <a:cubicBezTo>
                  <a:pt x="9010" y="14665"/>
                  <a:pt x="8754" y="13834"/>
                  <a:pt x="8656" y="12715"/>
                </a:cubicBezTo>
                <a:cubicBezTo>
                  <a:pt x="8613" y="12218"/>
                  <a:pt x="8533" y="11852"/>
                  <a:pt x="8453" y="11852"/>
                </a:cubicBezTo>
                <a:cubicBezTo>
                  <a:pt x="8334" y="11852"/>
                  <a:pt x="8322" y="12055"/>
                  <a:pt x="8338" y="13378"/>
                </a:cubicBezTo>
                <a:cubicBezTo>
                  <a:pt x="8348" y="14218"/>
                  <a:pt x="8317" y="15010"/>
                  <a:pt x="8274" y="15234"/>
                </a:cubicBezTo>
                <a:cubicBezTo>
                  <a:pt x="8136" y="15954"/>
                  <a:pt x="8197" y="16498"/>
                  <a:pt x="8440" y="16693"/>
                </a:cubicBezTo>
                <a:cubicBezTo>
                  <a:pt x="8758" y="16950"/>
                  <a:pt x="9560" y="17828"/>
                  <a:pt x="9955" y="18351"/>
                </a:cubicBezTo>
                <a:cubicBezTo>
                  <a:pt x="10130" y="18583"/>
                  <a:pt x="10336" y="18792"/>
                  <a:pt x="10414" y="18815"/>
                </a:cubicBezTo>
                <a:cubicBezTo>
                  <a:pt x="10632" y="18880"/>
                  <a:pt x="11390" y="17486"/>
                  <a:pt x="11611" y="16627"/>
                </a:cubicBezTo>
                <a:cubicBezTo>
                  <a:pt x="11719" y="16206"/>
                  <a:pt x="11859" y="15831"/>
                  <a:pt x="11917" y="15831"/>
                </a:cubicBezTo>
                <a:cubicBezTo>
                  <a:pt x="12051" y="15831"/>
                  <a:pt x="12049" y="15300"/>
                  <a:pt x="11917" y="15036"/>
                </a:cubicBezTo>
                <a:cubicBezTo>
                  <a:pt x="11861" y="14925"/>
                  <a:pt x="11604" y="14837"/>
                  <a:pt x="11331" y="14837"/>
                </a:cubicBezTo>
                <a:cubicBezTo>
                  <a:pt x="10667" y="14837"/>
                  <a:pt x="10662" y="14791"/>
                  <a:pt x="10656" y="9730"/>
                </a:cubicBezTo>
                <a:lnTo>
                  <a:pt x="10643" y="5752"/>
                </a:lnTo>
                <a:lnTo>
                  <a:pt x="10452" y="5420"/>
                </a:lnTo>
                <a:cubicBezTo>
                  <a:pt x="10346" y="5238"/>
                  <a:pt x="10253" y="4939"/>
                  <a:pt x="10248" y="4757"/>
                </a:cubicBezTo>
                <a:cubicBezTo>
                  <a:pt x="10243" y="4575"/>
                  <a:pt x="10354" y="3784"/>
                  <a:pt x="10490" y="3033"/>
                </a:cubicBezTo>
                <a:cubicBezTo>
                  <a:pt x="10626" y="2281"/>
                  <a:pt x="10717" y="1503"/>
                  <a:pt x="10694" y="1309"/>
                </a:cubicBezTo>
                <a:cubicBezTo>
                  <a:pt x="10634" y="804"/>
                  <a:pt x="10327" y="248"/>
                  <a:pt x="10108" y="248"/>
                </a:cubicBezTo>
                <a:close/>
                <a:moveTo>
                  <a:pt x="15623" y="579"/>
                </a:moveTo>
                <a:cubicBezTo>
                  <a:pt x="15490" y="579"/>
                  <a:pt x="15474" y="819"/>
                  <a:pt x="15444" y="2966"/>
                </a:cubicBezTo>
                <a:cubicBezTo>
                  <a:pt x="15424" y="4459"/>
                  <a:pt x="15371" y="5501"/>
                  <a:pt x="15304" y="5884"/>
                </a:cubicBezTo>
                <a:cubicBezTo>
                  <a:pt x="15247" y="6213"/>
                  <a:pt x="15202" y="6545"/>
                  <a:pt x="15202" y="6680"/>
                </a:cubicBezTo>
                <a:cubicBezTo>
                  <a:pt x="15202" y="6815"/>
                  <a:pt x="15137" y="7409"/>
                  <a:pt x="15049" y="8006"/>
                </a:cubicBezTo>
                <a:cubicBezTo>
                  <a:pt x="14962" y="8604"/>
                  <a:pt x="14884" y="9470"/>
                  <a:pt x="14884" y="9863"/>
                </a:cubicBezTo>
                <a:cubicBezTo>
                  <a:pt x="14884" y="10438"/>
                  <a:pt x="14920" y="10526"/>
                  <a:pt x="15075" y="10526"/>
                </a:cubicBezTo>
                <a:cubicBezTo>
                  <a:pt x="15182" y="10526"/>
                  <a:pt x="15285" y="10731"/>
                  <a:pt x="15304" y="10990"/>
                </a:cubicBezTo>
                <a:cubicBezTo>
                  <a:pt x="15347" y="11568"/>
                  <a:pt x="15203" y="13130"/>
                  <a:pt x="15024" y="13975"/>
                </a:cubicBezTo>
                <a:cubicBezTo>
                  <a:pt x="14950" y="14321"/>
                  <a:pt x="14884" y="14943"/>
                  <a:pt x="14884" y="15301"/>
                </a:cubicBezTo>
                <a:cubicBezTo>
                  <a:pt x="14884" y="15841"/>
                  <a:pt x="14917" y="15877"/>
                  <a:pt x="15062" y="15699"/>
                </a:cubicBezTo>
                <a:cubicBezTo>
                  <a:pt x="15435" y="15242"/>
                  <a:pt x="15432" y="15211"/>
                  <a:pt x="15432" y="17158"/>
                </a:cubicBezTo>
                <a:cubicBezTo>
                  <a:pt x="15432" y="18876"/>
                  <a:pt x="15441" y="18986"/>
                  <a:pt x="15597" y="19081"/>
                </a:cubicBezTo>
                <a:cubicBezTo>
                  <a:pt x="15729" y="19160"/>
                  <a:pt x="15773" y="19023"/>
                  <a:pt x="15826" y="18285"/>
                </a:cubicBezTo>
                <a:cubicBezTo>
                  <a:pt x="15863" y="17774"/>
                  <a:pt x="15901" y="16789"/>
                  <a:pt x="15903" y="16097"/>
                </a:cubicBezTo>
                <a:cubicBezTo>
                  <a:pt x="15905" y="15404"/>
                  <a:pt x="15920" y="14681"/>
                  <a:pt x="15941" y="14505"/>
                </a:cubicBezTo>
                <a:cubicBezTo>
                  <a:pt x="15997" y="14033"/>
                  <a:pt x="16094" y="14452"/>
                  <a:pt x="16094" y="15168"/>
                </a:cubicBezTo>
                <a:cubicBezTo>
                  <a:pt x="16094" y="15552"/>
                  <a:pt x="16148" y="15832"/>
                  <a:pt x="16234" y="15898"/>
                </a:cubicBezTo>
                <a:cubicBezTo>
                  <a:pt x="16413" y="16034"/>
                  <a:pt x="16489" y="17447"/>
                  <a:pt x="16438" y="19744"/>
                </a:cubicBezTo>
                <a:cubicBezTo>
                  <a:pt x="16399" y="21444"/>
                  <a:pt x="16406" y="21468"/>
                  <a:pt x="16565" y="21468"/>
                </a:cubicBezTo>
                <a:cubicBezTo>
                  <a:pt x="16692" y="21468"/>
                  <a:pt x="16738" y="21265"/>
                  <a:pt x="16769" y="20540"/>
                </a:cubicBezTo>
                <a:cubicBezTo>
                  <a:pt x="16796" y="19888"/>
                  <a:pt x="16908" y="19251"/>
                  <a:pt x="17151" y="18418"/>
                </a:cubicBezTo>
                <a:lnTo>
                  <a:pt x="17495" y="17224"/>
                </a:lnTo>
                <a:lnTo>
                  <a:pt x="17928" y="18351"/>
                </a:lnTo>
                <a:cubicBezTo>
                  <a:pt x="18406" y="19607"/>
                  <a:pt x="18394" y="19608"/>
                  <a:pt x="18513" y="19213"/>
                </a:cubicBezTo>
                <a:cubicBezTo>
                  <a:pt x="18651" y="18760"/>
                  <a:pt x="18532" y="17636"/>
                  <a:pt x="18272" y="16826"/>
                </a:cubicBezTo>
                <a:cubicBezTo>
                  <a:pt x="17806" y="15377"/>
                  <a:pt x="17773" y="15069"/>
                  <a:pt x="17788" y="12715"/>
                </a:cubicBezTo>
                <a:cubicBezTo>
                  <a:pt x="17797" y="11112"/>
                  <a:pt x="17840" y="10330"/>
                  <a:pt x="17940" y="9664"/>
                </a:cubicBezTo>
                <a:cubicBezTo>
                  <a:pt x="18014" y="9175"/>
                  <a:pt x="18068" y="8437"/>
                  <a:pt x="18068" y="8006"/>
                </a:cubicBezTo>
                <a:cubicBezTo>
                  <a:pt x="18068" y="7360"/>
                  <a:pt x="18044" y="7211"/>
                  <a:pt x="17889" y="7211"/>
                </a:cubicBezTo>
                <a:cubicBezTo>
                  <a:pt x="17786" y="7211"/>
                  <a:pt x="17682" y="7357"/>
                  <a:pt x="17660" y="7542"/>
                </a:cubicBezTo>
                <a:cubicBezTo>
                  <a:pt x="17638" y="7727"/>
                  <a:pt x="17583" y="7795"/>
                  <a:pt x="17546" y="7675"/>
                </a:cubicBezTo>
                <a:cubicBezTo>
                  <a:pt x="17500" y="7528"/>
                  <a:pt x="17493" y="6398"/>
                  <a:pt x="17520" y="4226"/>
                </a:cubicBezTo>
                <a:cubicBezTo>
                  <a:pt x="17546" y="2166"/>
                  <a:pt x="17535" y="909"/>
                  <a:pt x="17495" y="778"/>
                </a:cubicBezTo>
                <a:cubicBezTo>
                  <a:pt x="17384" y="420"/>
                  <a:pt x="17184" y="931"/>
                  <a:pt x="17164" y="1640"/>
                </a:cubicBezTo>
                <a:cubicBezTo>
                  <a:pt x="17150" y="2094"/>
                  <a:pt x="17063" y="2470"/>
                  <a:pt x="16896" y="2768"/>
                </a:cubicBezTo>
                <a:cubicBezTo>
                  <a:pt x="16595" y="3305"/>
                  <a:pt x="16540" y="3177"/>
                  <a:pt x="16540" y="1905"/>
                </a:cubicBezTo>
                <a:cubicBezTo>
                  <a:pt x="16540" y="1100"/>
                  <a:pt x="16512" y="911"/>
                  <a:pt x="16387" y="911"/>
                </a:cubicBezTo>
                <a:cubicBezTo>
                  <a:pt x="16133" y="911"/>
                  <a:pt x="16056" y="1774"/>
                  <a:pt x="16145" y="3497"/>
                </a:cubicBezTo>
                <a:cubicBezTo>
                  <a:pt x="16201" y="4591"/>
                  <a:pt x="16209" y="5113"/>
                  <a:pt x="16157" y="5619"/>
                </a:cubicBezTo>
                <a:cubicBezTo>
                  <a:pt x="16046" y="6699"/>
                  <a:pt x="15909" y="5713"/>
                  <a:pt x="15877" y="3563"/>
                </a:cubicBezTo>
                <a:cubicBezTo>
                  <a:pt x="15842" y="1176"/>
                  <a:pt x="15796" y="579"/>
                  <a:pt x="15623" y="579"/>
                </a:cubicBezTo>
                <a:close/>
                <a:moveTo>
                  <a:pt x="13254" y="712"/>
                </a:moveTo>
                <a:cubicBezTo>
                  <a:pt x="12917" y="383"/>
                  <a:pt x="12559" y="2006"/>
                  <a:pt x="12795" y="2768"/>
                </a:cubicBezTo>
                <a:cubicBezTo>
                  <a:pt x="12832" y="2886"/>
                  <a:pt x="12846" y="3167"/>
                  <a:pt x="12834" y="3364"/>
                </a:cubicBezTo>
                <a:cubicBezTo>
                  <a:pt x="12800" y="3889"/>
                  <a:pt x="12528" y="3883"/>
                  <a:pt x="12490" y="3364"/>
                </a:cubicBezTo>
                <a:cubicBezTo>
                  <a:pt x="12443" y="2726"/>
                  <a:pt x="12067" y="2809"/>
                  <a:pt x="11904" y="3497"/>
                </a:cubicBezTo>
                <a:cubicBezTo>
                  <a:pt x="11736" y="4207"/>
                  <a:pt x="11600" y="8504"/>
                  <a:pt x="11713" y="9598"/>
                </a:cubicBezTo>
                <a:cubicBezTo>
                  <a:pt x="11819" y="10628"/>
                  <a:pt x="12215" y="10326"/>
                  <a:pt x="12324" y="9134"/>
                </a:cubicBezTo>
                <a:cubicBezTo>
                  <a:pt x="12421" y="8072"/>
                  <a:pt x="12512" y="8038"/>
                  <a:pt x="12719" y="8868"/>
                </a:cubicBezTo>
                <a:lnTo>
                  <a:pt x="12872" y="9465"/>
                </a:lnTo>
                <a:lnTo>
                  <a:pt x="12630" y="10990"/>
                </a:lnTo>
                <a:cubicBezTo>
                  <a:pt x="12438" y="12300"/>
                  <a:pt x="12419" y="12685"/>
                  <a:pt x="12477" y="13245"/>
                </a:cubicBezTo>
                <a:cubicBezTo>
                  <a:pt x="12532" y="13785"/>
                  <a:pt x="12520" y="14045"/>
                  <a:pt x="12413" y="14638"/>
                </a:cubicBezTo>
                <a:cubicBezTo>
                  <a:pt x="12340" y="15042"/>
                  <a:pt x="12273" y="15820"/>
                  <a:pt x="12273" y="16296"/>
                </a:cubicBezTo>
                <a:cubicBezTo>
                  <a:pt x="12273" y="17350"/>
                  <a:pt x="12552" y="19085"/>
                  <a:pt x="12744" y="19280"/>
                </a:cubicBezTo>
                <a:cubicBezTo>
                  <a:pt x="12822" y="19358"/>
                  <a:pt x="13025" y="19454"/>
                  <a:pt x="13203" y="19479"/>
                </a:cubicBezTo>
                <a:cubicBezTo>
                  <a:pt x="13524" y="19523"/>
                  <a:pt x="13534" y="19490"/>
                  <a:pt x="13954" y="17224"/>
                </a:cubicBezTo>
                <a:cubicBezTo>
                  <a:pt x="14188" y="15965"/>
                  <a:pt x="14374" y="14803"/>
                  <a:pt x="14374" y="14638"/>
                </a:cubicBezTo>
                <a:cubicBezTo>
                  <a:pt x="14374" y="13880"/>
                  <a:pt x="14191" y="13145"/>
                  <a:pt x="13929" y="12914"/>
                </a:cubicBezTo>
                <a:cubicBezTo>
                  <a:pt x="13690" y="12703"/>
                  <a:pt x="13642" y="12530"/>
                  <a:pt x="13623" y="11852"/>
                </a:cubicBezTo>
                <a:cubicBezTo>
                  <a:pt x="13611" y="11406"/>
                  <a:pt x="13547" y="10893"/>
                  <a:pt x="13483" y="10659"/>
                </a:cubicBezTo>
                <a:cubicBezTo>
                  <a:pt x="13380" y="10284"/>
                  <a:pt x="13383" y="10077"/>
                  <a:pt x="13458" y="9333"/>
                </a:cubicBezTo>
                <a:cubicBezTo>
                  <a:pt x="13556" y="8344"/>
                  <a:pt x="13891" y="7023"/>
                  <a:pt x="14362" y="5752"/>
                </a:cubicBezTo>
                <a:cubicBezTo>
                  <a:pt x="14930" y="4217"/>
                  <a:pt x="14780" y="2900"/>
                  <a:pt x="14031" y="2900"/>
                </a:cubicBezTo>
                <a:cubicBezTo>
                  <a:pt x="13621" y="2900"/>
                  <a:pt x="13611" y="2930"/>
                  <a:pt x="13547" y="1972"/>
                </a:cubicBezTo>
                <a:cubicBezTo>
                  <a:pt x="13496" y="1217"/>
                  <a:pt x="13421" y="875"/>
                  <a:pt x="13254" y="712"/>
                </a:cubicBezTo>
                <a:close/>
                <a:moveTo>
                  <a:pt x="19940" y="1242"/>
                </a:moveTo>
                <a:cubicBezTo>
                  <a:pt x="19804" y="1264"/>
                  <a:pt x="19629" y="1515"/>
                  <a:pt x="19481" y="1972"/>
                </a:cubicBezTo>
                <a:cubicBezTo>
                  <a:pt x="18580" y="4768"/>
                  <a:pt x="18433" y="5479"/>
                  <a:pt x="18361" y="7542"/>
                </a:cubicBezTo>
                <a:cubicBezTo>
                  <a:pt x="18329" y="8443"/>
                  <a:pt x="18348" y="8925"/>
                  <a:pt x="18450" y="9598"/>
                </a:cubicBezTo>
                <a:cubicBezTo>
                  <a:pt x="18522" y="10077"/>
                  <a:pt x="18576" y="10978"/>
                  <a:pt x="18577" y="11587"/>
                </a:cubicBezTo>
                <a:cubicBezTo>
                  <a:pt x="18580" y="12941"/>
                  <a:pt x="18933" y="15131"/>
                  <a:pt x="19201" y="15500"/>
                </a:cubicBezTo>
                <a:cubicBezTo>
                  <a:pt x="19321" y="15664"/>
                  <a:pt x="19411" y="16126"/>
                  <a:pt x="19481" y="16892"/>
                </a:cubicBezTo>
                <a:cubicBezTo>
                  <a:pt x="19628" y="18491"/>
                  <a:pt x="19715" y="18802"/>
                  <a:pt x="20080" y="18948"/>
                </a:cubicBezTo>
                <a:cubicBezTo>
                  <a:pt x="20719" y="19205"/>
                  <a:pt x="20787" y="19151"/>
                  <a:pt x="20908" y="18683"/>
                </a:cubicBezTo>
                <a:cubicBezTo>
                  <a:pt x="21020" y="18248"/>
                  <a:pt x="21025" y="18172"/>
                  <a:pt x="20933" y="17688"/>
                </a:cubicBezTo>
                <a:cubicBezTo>
                  <a:pt x="20875" y="17378"/>
                  <a:pt x="20662" y="17029"/>
                  <a:pt x="20424" y="16892"/>
                </a:cubicBezTo>
                <a:cubicBezTo>
                  <a:pt x="19929" y="16608"/>
                  <a:pt x="19851" y="15944"/>
                  <a:pt x="20195" y="14837"/>
                </a:cubicBezTo>
                <a:cubicBezTo>
                  <a:pt x="20319" y="14436"/>
                  <a:pt x="20424" y="14049"/>
                  <a:pt x="20424" y="13908"/>
                </a:cubicBezTo>
                <a:cubicBezTo>
                  <a:pt x="20424" y="13767"/>
                  <a:pt x="20526" y="12918"/>
                  <a:pt x="20653" y="12051"/>
                </a:cubicBezTo>
                <a:cubicBezTo>
                  <a:pt x="20900" y="10366"/>
                  <a:pt x="20890" y="10070"/>
                  <a:pt x="20551" y="9664"/>
                </a:cubicBezTo>
                <a:cubicBezTo>
                  <a:pt x="20227" y="9276"/>
                  <a:pt x="20236" y="9332"/>
                  <a:pt x="20322" y="7807"/>
                </a:cubicBezTo>
                <a:cubicBezTo>
                  <a:pt x="20397" y="6468"/>
                  <a:pt x="20409" y="6437"/>
                  <a:pt x="20615" y="6481"/>
                </a:cubicBezTo>
                <a:cubicBezTo>
                  <a:pt x="20736" y="6507"/>
                  <a:pt x="20963" y="6612"/>
                  <a:pt x="21112" y="6746"/>
                </a:cubicBezTo>
                <a:cubicBezTo>
                  <a:pt x="21444" y="7048"/>
                  <a:pt x="21570" y="6588"/>
                  <a:pt x="21570" y="5088"/>
                </a:cubicBezTo>
                <a:cubicBezTo>
                  <a:pt x="21570" y="3771"/>
                  <a:pt x="21466" y="3263"/>
                  <a:pt x="21137" y="3033"/>
                </a:cubicBezTo>
                <a:cubicBezTo>
                  <a:pt x="20903" y="2869"/>
                  <a:pt x="20296" y="3561"/>
                  <a:pt x="20029" y="4293"/>
                </a:cubicBezTo>
                <a:cubicBezTo>
                  <a:pt x="19853" y="4775"/>
                  <a:pt x="19846" y="4064"/>
                  <a:pt x="20016" y="3232"/>
                </a:cubicBezTo>
                <a:cubicBezTo>
                  <a:pt x="20103" y="2809"/>
                  <a:pt x="20169" y="2238"/>
                  <a:pt x="20169" y="1905"/>
                </a:cubicBezTo>
                <a:cubicBezTo>
                  <a:pt x="20169" y="1472"/>
                  <a:pt x="20076" y="1221"/>
                  <a:pt x="19940" y="1242"/>
                </a:cubicBezTo>
                <a:close/>
                <a:moveTo>
                  <a:pt x="13903" y="3696"/>
                </a:moveTo>
                <a:cubicBezTo>
                  <a:pt x="13992" y="3872"/>
                  <a:pt x="13957" y="4202"/>
                  <a:pt x="13687" y="5553"/>
                </a:cubicBezTo>
                <a:cubicBezTo>
                  <a:pt x="13371" y="7127"/>
                  <a:pt x="13102" y="7705"/>
                  <a:pt x="13012" y="6945"/>
                </a:cubicBezTo>
                <a:cubicBezTo>
                  <a:pt x="12973" y="6616"/>
                  <a:pt x="13270" y="5221"/>
                  <a:pt x="13381" y="5221"/>
                </a:cubicBezTo>
                <a:cubicBezTo>
                  <a:pt x="13418" y="5221"/>
                  <a:pt x="13527" y="4838"/>
                  <a:pt x="13623" y="4359"/>
                </a:cubicBezTo>
                <a:cubicBezTo>
                  <a:pt x="13736" y="3794"/>
                  <a:pt x="13833" y="3556"/>
                  <a:pt x="13903" y="3696"/>
                </a:cubicBezTo>
                <a:close/>
                <a:moveTo>
                  <a:pt x="16043" y="10128"/>
                </a:moveTo>
                <a:cubicBezTo>
                  <a:pt x="16104" y="10444"/>
                  <a:pt x="16094" y="10653"/>
                  <a:pt x="16030" y="11057"/>
                </a:cubicBezTo>
                <a:cubicBezTo>
                  <a:pt x="15872" y="12048"/>
                  <a:pt x="15730" y="11364"/>
                  <a:pt x="15877" y="10327"/>
                </a:cubicBezTo>
                <a:cubicBezTo>
                  <a:pt x="15947" y="9835"/>
                  <a:pt x="15982" y="9815"/>
                  <a:pt x="16043" y="10128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0" name="图像" descr="图像">
            <a:extLst>
              <a:ext uri="{FF2B5EF4-FFF2-40B4-BE49-F238E27FC236}">
                <a16:creationId xmlns:a16="http://schemas.microsoft.com/office/drawing/2014/main" id="{E2D7CF9D-49E5-B327-04F1-B6A9FDDE7667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5480644" y="2464862"/>
            <a:ext cx="646558" cy="152798"/>
          </a:xfrm>
          <a:prstGeom prst="rect">
            <a:avLst/>
          </a:prstGeom>
          <a:ln w="12700">
            <a:miter lim="400000"/>
          </a:ln>
        </p:spPr>
      </p:pic>
      <p:pic>
        <p:nvPicPr>
          <p:cNvPr id="71" name="图像" descr="图像">
            <a:extLst>
              <a:ext uri="{FF2B5EF4-FFF2-40B4-BE49-F238E27FC236}">
                <a16:creationId xmlns:a16="http://schemas.microsoft.com/office/drawing/2014/main" id="{482A1305-D556-711F-8923-8111C9BF0F0B}"/>
              </a:ext>
            </a:extLst>
          </p:cNvPr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4036673" y="1817131"/>
            <a:ext cx="585272" cy="194897"/>
          </a:xfrm>
          <a:prstGeom prst="rect">
            <a:avLst/>
          </a:prstGeom>
          <a:ln w="12700">
            <a:miter lim="400000"/>
          </a:ln>
        </p:spPr>
      </p:pic>
      <p:pic>
        <p:nvPicPr>
          <p:cNvPr id="72" name="图像" descr="图像">
            <a:extLst>
              <a:ext uri="{FF2B5EF4-FFF2-40B4-BE49-F238E27FC236}">
                <a16:creationId xmlns:a16="http://schemas.microsoft.com/office/drawing/2014/main" id="{750733ED-69C8-1880-8B1F-1BB9B0D89C17}"/>
              </a:ext>
            </a:extLst>
          </p:cNvPr>
          <p:cNvPicPr>
            <a:picLocks noChangeAspect="1"/>
          </p:cNvPicPr>
          <p:nvPr/>
        </p:nvPicPr>
        <p:blipFill>
          <a:blip r:embed="rId37"/>
          <a:srcRect l="27684" t="34270" r="28142" b="34717"/>
          <a:stretch>
            <a:fillRect/>
          </a:stretch>
        </p:blipFill>
        <p:spPr>
          <a:xfrm>
            <a:off x="3700686" y="2262566"/>
            <a:ext cx="537397" cy="2667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1" h="21365" extrusionOk="0">
                <a:moveTo>
                  <a:pt x="18425" y="9"/>
                </a:moveTo>
                <a:cubicBezTo>
                  <a:pt x="17995" y="54"/>
                  <a:pt x="17822" y="158"/>
                  <a:pt x="17421" y="549"/>
                </a:cubicBezTo>
                <a:cubicBezTo>
                  <a:pt x="17157" y="807"/>
                  <a:pt x="16878" y="1124"/>
                  <a:pt x="16800" y="1249"/>
                </a:cubicBezTo>
                <a:cubicBezTo>
                  <a:pt x="16660" y="1469"/>
                  <a:pt x="16671" y="1471"/>
                  <a:pt x="17278" y="1471"/>
                </a:cubicBezTo>
                <a:cubicBezTo>
                  <a:pt x="17840" y="1471"/>
                  <a:pt x="17934" y="1507"/>
                  <a:pt x="18202" y="1821"/>
                </a:cubicBezTo>
                <a:cubicBezTo>
                  <a:pt x="18619" y="2310"/>
                  <a:pt x="19062" y="3317"/>
                  <a:pt x="19222" y="4173"/>
                </a:cubicBezTo>
                <a:cubicBezTo>
                  <a:pt x="19388" y="5056"/>
                  <a:pt x="19495" y="6126"/>
                  <a:pt x="19429" y="6239"/>
                </a:cubicBezTo>
                <a:cubicBezTo>
                  <a:pt x="19403" y="6285"/>
                  <a:pt x="19137" y="6407"/>
                  <a:pt x="18840" y="6493"/>
                </a:cubicBezTo>
                <a:cubicBezTo>
                  <a:pt x="17294" y="6945"/>
                  <a:pt x="16274" y="8650"/>
                  <a:pt x="16274" y="10785"/>
                </a:cubicBezTo>
                <a:cubicBezTo>
                  <a:pt x="16274" y="12418"/>
                  <a:pt x="16837" y="13491"/>
                  <a:pt x="17899" y="13900"/>
                </a:cubicBezTo>
                <a:cubicBezTo>
                  <a:pt x="18110" y="13980"/>
                  <a:pt x="18304" y="14108"/>
                  <a:pt x="18330" y="14154"/>
                </a:cubicBezTo>
                <a:cubicBezTo>
                  <a:pt x="18413" y="14300"/>
                  <a:pt x="17586" y="16262"/>
                  <a:pt x="17134" y="16983"/>
                </a:cubicBezTo>
                <a:cubicBezTo>
                  <a:pt x="16348" y="18237"/>
                  <a:pt x="15721" y="18784"/>
                  <a:pt x="15030" y="18795"/>
                </a:cubicBezTo>
                <a:cubicBezTo>
                  <a:pt x="14346" y="18805"/>
                  <a:pt x="13751" y="18183"/>
                  <a:pt x="13373" y="17110"/>
                </a:cubicBezTo>
                <a:cubicBezTo>
                  <a:pt x="13133" y="16430"/>
                  <a:pt x="13084" y="16624"/>
                  <a:pt x="13198" y="17777"/>
                </a:cubicBezTo>
                <a:cubicBezTo>
                  <a:pt x="13395" y="19781"/>
                  <a:pt x="13911" y="20982"/>
                  <a:pt x="14680" y="21306"/>
                </a:cubicBezTo>
                <a:cubicBezTo>
                  <a:pt x="15192" y="21521"/>
                  <a:pt x="15929" y="21143"/>
                  <a:pt x="16608" y="20320"/>
                </a:cubicBezTo>
                <a:cubicBezTo>
                  <a:pt x="17399" y="19363"/>
                  <a:pt x="18502" y="16944"/>
                  <a:pt x="19063" y="14948"/>
                </a:cubicBezTo>
                <a:cubicBezTo>
                  <a:pt x="19261" y="14244"/>
                  <a:pt x="19316" y="14155"/>
                  <a:pt x="19525" y="14090"/>
                </a:cubicBezTo>
                <a:cubicBezTo>
                  <a:pt x="19962" y="13956"/>
                  <a:pt x="20457" y="13773"/>
                  <a:pt x="20465" y="13741"/>
                </a:cubicBezTo>
                <a:cubicBezTo>
                  <a:pt x="20528" y="13493"/>
                  <a:pt x="20795" y="12049"/>
                  <a:pt x="20784" y="12024"/>
                </a:cubicBezTo>
                <a:cubicBezTo>
                  <a:pt x="20776" y="12006"/>
                  <a:pt x="20636" y="12074"/>
                  <a:pt x="20481" y="12183"/>
                </a:cubicBezTo>
                <a:cubicBezTo>
                  <a:pt x="20326" y="12292"/>
                  <a:pt x="19997" y="12428"/>
                  <a:pt x="19732" y="12469"/>
                </a:cubicBezTo>
                <a:cubicBezTo>
                  <a:pt x="18236" y="12701"/>
                  <a:pt x="17618" y="10691"/>
                  <a:pt x="18632" y="8909"/>
                </a:cubicBezTo>
                <a:cubicBezTo>
                  <a:pt x="18800" y="8616"/>
                  <a:pt x="19052" y="8320"/>
                  <a:pt x="19238" y="8210"/>
                </a:cubicBezTo>
                <a:cubicBezTo>
                  <a:pt x="19650" y="7966"/>
                  <a:pt x="20453" y="7990"/>
                  <a:pt x="20784" y="8242"/>
                </a:cubicBezTo>
                <a:cubicBezTo>
                  <a:pt x="21178" y="8541"/>
                  <a:pt x="21186" y="8522"/>
                  <a:pt x="21390" y="7670"/>
                </a:cubicBezTo>
                <a:lnTo>
                  <a:pt x="21581" y="6875"/>
                </a:lnTo>
                <a:lnTo>
                  <a:pt x="21438" y="6748"/>
                </a:lnTo>
                <a:cubicBezTo>
                  <a:pt x="21356" y="6686"/>
                  <a:pt x="21148" y="6607"/>
                  <a:pt x="20975" y="6557"/>
                </a:cubicBezTo>
                <a:cubicBezTo>
                  <a:pt x="20803" y="6507"/>
                  <a:pt x="20621" y="6404"/>
                  <a:pt x="20577" y="6334"/>
                </a:cubicBezTo>
                <a:cubicBezTo>
                  <a:pt x="20528" y="6257"/>
                  <a:pt x="20497" y="5883"/>
                  <a:pt x="20497" y="5381"/>
                </a:cubicBezTo>
                <a:cubicBezTo>
                  <a:pt x="20497" y="4308"/>
                  <a:pt x="20324" y="2774"/>
                  <a:pt x="20131" y="2012"/>
                </a:cubicBezTo>
                <a:cubicBezTo>
                  <a:pt x="19747" y="503"/>
                  <a:pt x="19265" y="-79"/>
                  <a:pt x="18425" y="9"/>
                </a:cubicBezTo>
                <a:close/>
                <a:moveTo>
                  <a:pt x="6360" y="6493"/>
                </a:moveTo>
                <a:lnTo>
                  <a:pt x="6265" y="6907"/>
                </a:lnTo>
                <a:cubicBezTo>
                  <a:pt x="6213" y="7135"/>
                  <a:pt x="5909" y="8520"/>
                  <a:pt x="5595" y="9958"/>
                </a:cubicBezTo>
                <a:cubicBezTo>
                  <a:pt x="5282" y="11396"/>
                  <a:pt x="4955" y="12913"/>
                  <a:pt x="4862" y="13327"/>
                </a:cubicBezTo>
                <a:lnTo>
                  <a:pt x="4687" y="14058"/>
                </a:lnTo>
                <a:lnTo>
                  <a:pt x="5133" y="13995"/>
                </a:lnTo>
                <a:cubicBezTo>
                  <a:pt x="5372" y="13950"/>
                  <a:pt x="5704" y="13900"/>
                  <a:pt x="5882" y="13900"/>
                </a:cubicBezTo>
                <a:lnTo>
                  <a:pt x="6217" y="13900"/>
                </a:lnTo>
                <a:lnTo>
                  <a:pt x="6743" y="11198"/>
                </a:lnTo>
                <a:cubicBezTo>
                  <a:pt x="7037" y="9720"/>
                  <a:pt x="7304" y="8499"/>
                  <a:pt x="7332" y="8464"/>
                </a:cubicBezTo>
                <a:cubicBezTo>
                  <a:pt x="7417" y="8360"/>
                  <a:pt x="7441" y="8611"/>
                  <a:pt x="7540" y="11325"/>
                </a:cubicBezTo>
                <a:cubicBezTo>
                  <a:pt x="7592" y="12752"/>
                  <a:pt x="7649" y="13960"/>
                  <a:pt x="7667" y="13995"/>
                </a:cubicBezTo>
                <a:cubicBezTo>
                  <a:pt x="7685" y="14030"/>
                  <a:pt x="8009" y="14014"/>
                  <a:pt x="8400" y="13963"/>
                </a:cubicBezTo>
                <a:lnTo>
                  <a:pt x="9118" y="13868"/>
                </a:lnTo>
                <a:lnTo>
                  <a:pt x="9516" y="12819"/>
                </a:lnTo>
                <a:cubicBezTo>
                  <a:pt x="10535" y="10137"/>
                  <a:pt x="11114" y="8790"/>
                  <a:pt x="11174" y="8909"/>
                </a:cubicBezTo>
                <a:cubicBezTo>
                  <a:pt x="11214" y="8990"/>
                  <a:pt x="11091" y="9850"/>
                  <a:pt x="10839" y="11420"/>
                </a:cubicBezTo>
                <a:cubicBezTo>
                  <a:pt x="10625" y="12749"/>
                  <a:pt x="10456" y="13905"/>
                  <a:pt x="10456" y="13963"/>
                </a:cubicBezTo>
                <a:cubicBezTo>
                  <a:pt x="10456" y="14060"/>
                  <a:pt x="12111" y="13936"/>
                  <a:pt x="12162" y="13836"/>
                </a:cubicBezTo>
                <a:cubicBezTo>
                  <a:pt x="12174" y="13812"/>
                  <a:pt x="12340" y="12598"/>
                  <a:pt x="12528" y="11134"/>
                </a:cubicBezTo>
                <a:cubicBezTo>
                  <a:pt x="12717" y="9670"/>
                  <a:pt x="12933" y="8035"/>
                  <a:pt x="13006" y="7511"/>
                </a:cubicBezTo>
                <a:cubicBezTo>
                  <a:pt x="13080" y="6986"/>
                  <a:pt x="13134" y="6544"/>
                  <a:pt x="13134" y="6525"/>
                </a:cubicBezTo>
                <a:cubicBezTo>
                  <a:pt x="13134" y="6506"/>
                  <a:pt x="12603" y="6493"/>
                  <a:pt x="11939" y="6493"/>
                </a:cubicBezTo>
                <a:lnTo>
                  <a:pt x="10727" y="6493"/>
                </a:lnTo>
                <a:lnTo>
                  <a:pt x="9883" y="8718"/>
                </a:lnTo>
                <a:cubicBezTo>
                  <a:pt x="9417" y="9945"/>
                  <a:pt x="9005" y="10917"/>
                  <a:pt x="8974" y="10880"/>
                </a:cubicBezTo>
                <a:cubicBezTo>
                  <a:pt x="8944" y="10842"/>
                  <a:pt x="8926" y="10655"/>
                  <a:pt x="8926" y="10435"/>
                </a:cubicBezTo>
                <a:cubicBezTo>
                  <a:pt x="8926" y="10215"/>
                  <a:pt x="8887" y="9242"/>
                  <a:pt x="8847" y="8273"/>
                </a:cubicBezTo>
                <a:lnTo>
                  <a:pt x="8767" y="6493"/>
                </a:lnTo>
                <a:lnTo>
                  <a:pt x="7572" y="6493"/>
                </a:lnTo>
                <a:lnTo>
                  <a:pt x="6360" y="6493"/>
                </a:lnTo>
                <a:close/>
                <a:moveTo>
                  <a:pt x="14377" y="6493"/>
                </a:moveTo>
                <a:lnTo>
                  <a:pt x="14265" y="7225"/>
                </a:lnTo>
                <a:cubicBezTo>
                  <a:pt x="14202" y="7628"/>
                  <a:pt x="13893" y="9287"/>
                  <a:pt x="13580" y="10912"/>
                </a:cubicBezTo>
                <a:cubicBezTo>
                  <a:pt x="13268" y="12536"/>
                  <a:pt x="13006" y="13921"/>
                  <a:pt x="13006" y="13963"/>
                </a:cubicBezTo>
                <a:cubicBezTo>
                  <a:pt x="13006" y="14063"/>
                  <a:pt x="13619" y="14034"/>
                  <a:pt x="14345" y="13931"/>
                </a:cubicBezTo>
                <a:lnTo>
                  <a:pt x="14919" y="13868"/>
                </a:lnTo>
                <a:lnTo>
                  <a:pt x="15254" y="11929"/>
                </a:lnTo>
                <a:cubicBezTo>
                  <a:pt x="15438" y="10869"/>
                  <a:pt x="15751" y="9244"/>
                  <a:pt x="15939" y="8305"/>
                </a:cubicBezTo>
                <a:cubicBezTo>
                  <a:pt x="16127" y="7367"/>
                  <a:pt x="16274" y="6583"/>
                  <a:pt x="16274" y="6557"/>
                </a:cubicBezTo>
                <a:cubicBezTo>
                  <a:pt x="16274" y="6531"/>
                  <a:pt x="15854" y="6493"/>
                  <a:pt x="15333" y="6493"/>
                </a:cubicBezTo>
                <a:lnTo>
                  <a:pt x="14377" y="6493"/>
                </a:lnTo>
                <a:close/>
                <a:moveTo>
                  <a:pt x="1754" y="6652"/>
                </a:moveTo>
                <a:cubicBezTo>
                  <a:pt x="886" y="7189"/>
                  <a:pt x="471" y="8408"/>
                  <a:pt x="766" y="9545"/>
                </a:cubicBezTo>
                <a:cubicBezTo>
                  <a:pt x="870" y="9945"/>
                  <a:pt x="1257" y="10382"/>
                  <a:pt x="2057" y="10975"/>
                </a:cubicBezTo>
                <a:cubicBezTo>
                  <a:pt x="2635" y="11404"/>
                  <a:pt x="2781" y="11627"/>
                  <a:pt x="2679" y="11961"/>
                </a:cubicBezTo>
                <a:cubicBezTo>
                  <a:pt x="2433" y="12764"/>
                  <a:pt x="1329" y="12833"/>
                  <a:pt x="591" y="12088"/>
                </a:cubicBezTo>
                <a:cubicBezTo>
                  <a:pt x="455" y="11951"/>
                  <a:pt x="327" y="11843"/>
                  <a:pt x="320" y="11865"/>
                </a:cubicBezTo>
                <a:cubicBezTo>
                  <a:pt x="240" y="12107"/>
                  <a:pt x="-19" y="13454"/>
                  <a:pt x="1" y="13518"/>
                </a:cubicBezTo>
                <a:cubicBezTo>
                  <a:pt x="30" y="13612"/>
                  <a:pt x="952" y="13991"/>
                  <a:pt x="1308" y="14058"/>
                </a:cubicBezTo>
                <a:cubicBezTo>
                  <a:pt x="2406" y="14266"/>
                  <a:pt x="3539" y="13913"/>
                  <a:pt x="4113" y="13168"/>
                </a:cubicBezTo>
                <a:cubicBezTo>
                  <a:pt x="4395" y="12802"/>
                  <a:pt x="4639" y="12023"/>
                  <a:pt x="4639" y="11484"/>
                </a:cubicBezTo>
                <a:cubicBezTo>
                  <a:pt x="4639" y="10709"/>
                  <a:pt x="4178" y="10042"/>
                  <a:pt x="3268" y="9450"/>
                </a:cubicBezTo>
                <a:cubicBezTo>
                  <a:pt x="2498" y="8947"/>
                  <a:pt x="2325" y="8370"/>
                  <a:pt x="2822" y="7956"/>
                </a:cubicBezTo>
                <a:cubicBezTo>
                  <a:pt x="3134" y="7695"/>
                  <a:pt x="3681" y="7785"/>
                  <a:pt x="4209" y="8210"/>
                </a:cubicBezTo>
                <a:cubicBezTo>
                  <a:pt x="4424" y="8383"/>
                  <a:pt x="4600" y="8511"/>
                  <a:pt x="4607" y="8496"/>
                </a:cubicBezTo>
                <a:cubicBezTo>
                  <a:pt x="4649" y="8409"/>
                  <a:pt x="4959" y="6972"/>
                  <a:pt x="4942" y="6938"/>
                </a:cubicBezTo>
                <a:cubicBezTo>
                  <a:pt x="4931" y="6916"/>
                  <a:pt x="4738" y="6776"/>
                  <a:pt x="4511" y="6652"/>
                </a:cubicBezTo>
                <a:cubicBezTo>
                  <a:pt x="3931" y="6335"/>
                  <a:pt x="2262" y="6339"/>
                  <a:pt x="1754" y="665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3" name="图像" descr="图像">
            <a:extLst>
              <a:ext uri="{FF2B5EF4-FFF2-40B4-BE49-F238E27FC236}">
                <a16:creationId xmlns:a16="http://schemas.microsoft.com/office/drawing/2014/main" id="{88536659-6C7D-2307-7E1D-C371E589F64A}"/>
              </a:ext>
            </a:extLst>
          </p:cNvPr>
          <p:cNvPicPr>
            <a:picLocks noChangeAspect="1"/>
          </p:cNvPicPr>
          <p:nvPr/>
        </p:nvPicPr>
        <p:blipFill>
          <a:blip r:embed="rId38"/>
          <a:srcRect t="35171" b="35171"/>
          <a:stretch>
            <a:fillRect/>
          </a:stretch>
        </p:blipFill>
        <p:spPr>
          <a:xfrm>
            <a:off x="7513080" y="5264080"/>
            <a:ext cx="685332" cy="203244"/>
          </a:xfrm>
          <a:prstGeom prst="rect">
            <a:avLst/>
          </a:prstGeom>
          <a:ln w="12700">
            <a:miter lim="400000"/>
          </a:ln>
        </p:spPr>
      </p:pic>
      <p:pic>
        <p:nvPicPr>
          <p:cNvPr id="74" name="图像" descr="图像">
            <a:extLst>
              <a:ext uri="{FF2B5EF4-FFF2-40B4-BE49-F238E27FC236}">
                <a16:creationId xmlns:a16="http://schemas.microsoft.com/office/drawing/2014/main" id="{6C079557-3240-A972-4257-37A1213BF888}"/>
              </a:ext>
            </a:extLst>
          </p:cNvPr>
          <p:cNvPicPr>
            <a:picLocks noChangeAspect="1"/>
          </p:cNvPicPr>
          <p:nvPr/>
        </p:nvPicPr>
        <p:blipFill>
          <a:blip r:embed="rId39"/>
          <a:srcRect t="18222" b="31569"/>
          <a:stretch>
            <a:fillRect/>
          </a:stretch>
        </p:blipFill>
        <p:spPr>
          <a:xfrm>
            <a:off x="2338212" y="4183000"/>
            <a:ext cx="531476" cy="266845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图像" descr="图像">
            <a:extLst>
              <a:ext uri="{FF2B5EF4-FFF2-40B4-BE49-F238E27FC236}">
                <a16:creationId xmlns:a16="http://schemas.microsoft.com/office/drawing/2014/main" id="{D9E40DF9-E615-4FAC-B810-62471940D7E2}"/>
              </a:ext>
            </a:extLst>
          </p:cNvPr>
          <p:cNvPicPr>
            <a:picLocks noChangeAspect="1"/>
          </p:cNvPicPr>
          <p:nvPr/>
        </p:nvPicPr>
        <p:blipFill>
          <a:blip r:embed="rId40"/>
          <a:srcRect t="38585" b="38585"/>
          <a:stretch>
            <a:fillRect/>
          </a:stretch>
        </p:blipFill>
        <p:spPr>
          <a:xfrm>
            <a:off x="1974825" y="4538428"/>
            <a:ext cx="750305" cy="171281"/>
          </a:xfrm>
          <a:prstGeom prst="rect">
            <a:avLst/>
          </a:prstGeom>
          <a:ln w="12700">
            <a:miter lim="400000"/>
          </a:ln>
        </p:spPr>
      </p:pic>
      <p:pic>
        <p:nvPicPr>
          <p:cNvPr id="76" name="图像" descr="图像">
            <a:extLst>
              <a:ext uri="{FF2B5EF4-FFF2-40B4-BE49-F238E27FC236}">
                <a16:creationId xmlns:a16="http://schemas.microsoft.com/office/drawing/2014/main" id="{D531A314-272E-13CE-18EC-E0C4011E6F7B}"/>
              </a:ext>
            </a:extLst>
          </p:cNvPr>
          <p:cNvPicPr>
            <a:picLocks noChangeAspect="1"/>
          </p:cNvPicPr>
          <p:nvPr/>
        </p:nvPicPr>
        <p:blipFill>
          <a:blip r:embed="rId41"/>
          <a:srcRect l="3322" t="22445" r="3246" b="22496"/>
          <a:stretch>
            <a:fillRect/>
          </a:stretch>
        </p:blipFill>
        <p:spPr>
          <a:xfrm>
            <a:off x="1485999" y="4944369"/>
            <a:ext cx="493316" cy="152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1" extrusionOk="0">
                <a:moveTo>
                  <a:pt x="4692" y="0"/>
                </a:moveTo>
                <a:cubicBezTo>
                  <a:pt x="4450" y="40"/>
                  <a:pt x="4262" y="381"/>
                  <a:pt x="4153" y="1065"/>
                </a:cubicBezTo>
                <a:cubicBezTo>
                  <a:pt x="4097" y="1418"/>
                  <a:pt x="4084" y="1632"/>
                  <a:pt x="4084" y="2074"/>
                </a:cubicBezTo>
                <a:cubicBezTo>
                  <a:pt x="4084" y="2713"/>
                  <a:pt x="4133" y="3032"/>
                  <a:pt x="4257" y="3475"/>
                </a:cubicBezTo>
                <a:cubicBezTo>
                  <a:pt x="4347" y="3796"/>
                  <a:pt x="4436" y="3976"/>
                  <a:pt x="4553" y="4091"/>
                </a:cubicBezTo>
                <a:cubicBezTo>
                  <a:pt x="4656" y="4192"/>
                  <a:pt x="4854" y="4163"/>
                  <a:pt x="4970" y="4035"/>
                </a:cubicBezTo>
                <a:cubicBezTo>
                  <a:pt x="5125" y="3864"/>
                  <a:pt x="5287" y="3403"/>
                  <a:pt x="5352" y="2914"/>
                </a:cubicBezTo>
                <a:cubicBezTo>
                  <a:pt x="5417" y="2426"/>
                  <a:pt x="5404" y="1581"/>
                  <a:pt x="5335" y="1121"/>
                </a:cubicBezTo>
                <a:cubicBezTo>
                  <a:pt x="5232" y="436"/>
                  <a:pt x="5045" y="49"/>
                  <a:pt x="4796" y="0"/>
                </a:cubicBezTo>
                <a:lnTo>
                  <a:pt x="4692" y="0"/>
                </a:lnTo>
                <a:close/>
                <a:moveTo>
                  <a:pt x="11938" y="4876"/>
                </a:moveTo>
                <a:cubicBezTo>
                  <a:pt x="11699" y="4853"/>
                  <a:pt x="11418" y="4940"/>
                  <a:pt x="11243" y="5100"/>
                </a:cubicBezTo>
                <a:cubicBezTo>
                  <a:pt x="10541" y="5741"/>
                  <a:pt x="10096" y="7484"/>
                  <a:pt x="9975" y="9919"/>
                </a:cubicBezTo>
                <a:cubicBezTo>
                  <a:pt x="9936" y="10686"/>
                  <a:pt x="9962" y="12014"/>
                  <a:pt x="10027" y="12833"/>
                </a:cubicBezTo>
                <a:cubicBezTo>
                  <a:pt x="10201" y="15042"/>
                  <a:pt x="10658" y="16449"/>
                  <a:pt x="11417" y="16980"/>
                </a:cubicBezTo>
                <a:cubicBezTo>
                  <a:pt x="11640" y="17136"/>
                  <a:pt x="12012" y="17095"/>
                  <a:pt x="12268" y="16924"/>
                </a:cubicBezTo>
                <a:cubicBezTo>
                  <a:pt x="12966" y="16459"/>
                  <a:pt x="13503" y="14769"/>
                  <a:pt x="13659" y="12497"/>
                </a:cubicBezTo>
                <a:cubicBezTo>
                  <a:pt x="13699" y="11900"/>
                  <a:pt x="13702" y="11569"/>
                  <a:pt x="13693" y="10704"/>
                </a:cubicBezTo>
                <a:cubicBezTo>
                  <a:pt x="13680" y="9475"/>
                  <a:pt x="13652" y="9000"/>
                  <a:pt x="13502" y="8014"/>
                </a:cubicBezTo>
                <a:cubicBezTo>
                  <a:pt x="13251" y="6359"/>
                  <a:pt x="12758" y="5211"/>
                  <a:pt x="12164" y="4932"/>
                </a:cubicBezTo>
                <a:cubicBezTo>
                  <a:pt x="12098" y="4900"/>
                  <a:pt x="12018" y="4883"/>
                  <a:pt x="11938" y="4876"/>
                </a:cubicBezTo>
                <a:close/>
                <a:moveTo>
                  <a:pt x="19706" y="4876"/>
                </a:moveTo>
                <a:cubicBezTo>
                  <a:pt x="19608" y="4883"/>
                  <a:pt x="19511" y="4903"/>
                  <a:pt x="19445" y="4932"/>
                </a:cubicBezTo>
                <a:cubicBezTo>
                  <a:pt x="18896" y="5168"/>
                  <a:pt x="18595" y="5822"/>
                  <a:pt x="18385" y="7229"/>
                </a:cubicBezTo>
                <a:cubicBezTo>
                  <a:pt x="18269" y="8008"/>
                  <a:pt x="18265" y="8127"/>
                  <a:pt x="18333" y="8182"/>
                </a:cubicBezTo>
                <a:cubicBezTo>
                  <a:pt x="18409" y="8244"/>
                  <a:pt x="19082" y="8630"/>
                  <a:pt x="19115" y="8630"/>
                </a:cubicBezTo>
                <a:cubicBezTo>
                  <a:pt x="19129" y="8630"/>
                  <a:pt x="19163" y="8498"/>
                  <a:pt x="19185" y="8350"/>
                </a:cubicBezTo>
                <a:cubicBezTo>
                  <a:pt x="19248" y="7923"/>
                  <a:pt x="19382" y="7483"/>
                  <a:pt x="19497" y="7341"/>
                </a:cubicBezTo>
                <a:cubicBezTo>
                  <a:pt x="19582" y="7237"/>
                  <a:pt x="19664" y="7202"/>
                  <a:pt x="19880" y="7229"/>
                </a:cubicBezTo>
                <a:cubicBezTo>
                  <a:pt x="20155" y="7264"/>
                  <a:pt x="20227" y="7315"/>
                  <a:pt x="20331" y="7622"/>
                </a:cubicBezTo>
                <a:cubicBezTo>
                  <a:pt x="20462" y="8005"/>
                  <a:pt x="20506" y="9034"/>
                  <a:pt x="20401" y="9247"/>
                </a:cubicBezTo>
                <a:cubicBezTo>
                  <a:pt x="20333" y="9385"/>
                  <a:pt x="19947" y="9714"/>
                  <a:pt x="19532" y="9975"/>
                </a:cubicBezTo>
                <a:cubicBezTo>
                  <a:pt x="18920" y="10360"/>
                  <a:pt x="18619" y="10730"/>
                  <a:pt x="18420" y="11432"/>
                </a:cubicBezTo>
                <a:cubicBezTo>
                  <a:pt x="18261" y="11993"/>
                  <a:pt x="18208" y="12568"/>
                  <a:pt x="18194" y="13506"/>
                </a:cubicBezTo>
                <a:cubicBezTo>
                  <a:pt x="18185" y="14119"/>
                  <a:pt x="18185" y="14324"/>
                  <a:pt x="18229" y="14739"/>
                </a:cubicBezTo>
                <a:cubicBezTo>
                  <a:pt x="18361" y="16003"/>
                  <a:pt x="18637" y="16716"/>
                  <a:pt x="19115" y="17036"/>
                </a:cubicBezTo>
                <a:cubicBezTo>
                  <a:pt x="19142" y="17054"/>
                  <a:pt x="19256" y="17088"/>
                  <a:pt x="19376" y="17092"/>
                </a:cubicBezTo>
                <a:cubicBezTo>
                  <a:pt x="19742" y="17105"/>
                  <a:pt x="20054" y="16758"/>
                  <a:pt x="20349" y="16028"/>
                </a:cubicBezTo>
                <a:cubicBezTo>
                  <a:pt x="20441" y="15800"/>
                  <a:pt x="20531" y="15647"/>
                  <a:pt x="20540" y="15691"/>
                </a:cubicBezTo>
                <a:cubicBezTo>
                  <a:pt x="20548" y="15735"/>
                  <a:pt x="20579" y="16020"/>
                  <a:pt x="20609" y="16308"/>
                </a:cubicBezTo>
                <a:lnTo>
                  <a:pt x="20662" y="16812"/>
                </a:lnTo>
                <a:lnTo>
                  <a:pt x="21131" y="16812"/>
                </a:lnTo>
                <a:lnTo>
                  <a:pt x="21600" y="16868"/>
                </a:lnTo>
                <a:lnTo>
                  <a:pt x="21548" y="16420"/>
                </a:lnTo>
                <a:cubicBezTo>
                  <a:pt x="21413" y="15438"/>
                  <a:pt x="21410" y="15377"/>
                  <a:pt x="21391" y="11376"/>
                </a:cubicBezTo>
                <a:cubicBezTo>
                  <a:pt x="21373" y="7416"/>
                  <a:pt x="21366" y="7095"/>
                  <a:pt x="21252" y="6501"/>
                </a:cubicBezTo>
                <a:cubicBezTo>
                  <a:pt x="21129" y="5858"/>
                  <a:pt x="20836" y="5256"/>
                  <a:pt x="20540" y="5044"/>
                </a:cubicBezTo>
                <a:cubicBezTo>
                  <a:pt x="20369" y="4921"/>
                  <a:pt x="19998" y="4853"/>
                  <a:pt x="19706" y="4876"/>
                </a:cubicBezTo>
                <a:close/>
                <a:moveTo>
                  <a:pt x="1651" y="4932"/>
                </a:moveTo>
                <a:cubicBezTo>
                  <a:pt x="1391" y="4938"/>
                  <a:pt x="1136" y="4985"/>
                  <a:pt x="1008" y="5100"/>
                </a:cubicBezTo>
                <a:cubicBezTo>
                  <a:pt x="616" y="5449"/>
                  <a:pt x="352" y="6075"/>
                  <a:pt x="209" y="7061"/>
                </a:cubicBezTo>
                <a:cubicBezTo>
                  <a:pt x="132" y="7588"/>
                  <a:pt x="139" y="7697"/>
                  <a:pt x="139" y="8462"/>
                </a:cubicBezTo>
                <a:cubicBezTo>
                  <a:pt x="139" y="9220"/>
                  <a:pt x="138" y="9282"/>
                  <a:pt x="209" y="9751"/>
                </a:cubicBezTo>
                <a:cubicBezTo>
                  <a:pt x="306" y="10398"/>
                  <a:pt x="411" y="10808"/>
                  <a:pt x="591" y="11152"/>
                </a:cubicBezTo>
                <a:cubicBezTo>
                  <a:pt x="761" y="11477"/>
                  <a:pt x="1180" y="11928"/>
                  <a:pt x="1633" y="12273"/>
                </a:cubicBezTo>
                <a:cubicBezTo>
                  <a:pt x="2350" y="12819"/>
                  <a:pt x="2433" y="12935"/>
                  <a:pt x="2433" y="13618"/>
                </a:cubicBezTo>
                <a:cubicBezTo>
                  <a:pt x="2433" y="13945"/>
                  <a:pt x="2420" y="14051"/>
                  <a:pt x="2329" y="14346"/>
                </a:cubicBezTo>
                <a:cubicBezTo>
                  <a:pt x="2204" y="14749"/>
                  <a:pt x="2109" y="14856"/>
                  <a:pt x="1807" y="14907"/>
                </a:cubicBezTo>
                <a:cubicBezTo>
                  <a:pt x="1391" y="14977"/>
                  <a:pt x="1160" y="14593"/>
                  <a:pt x="1008" y="13618"/>
                </a:cubicBezTo>
                <a:lnTo>
                  <a:pt x="921" y="13057"/>
                </a:lnTo>
                <a:lnTo>
                  <a:pt x="678" y="13226"/>
                </a:lnTo>
                <a:cubicBezTo>
                  <a:pt x="539" y="13295"/>
                  <a:pt x="325" y="13396"/>
                  <a:pt x="209" y="13450"/>
                </a:cubicBezTo>
                <a:lnTo>
                  <a:pt x="0" y="13506"/>
                </a:lnTo>
                <a:lnTo>
                  <a:pt x="17" y="13786"/>
                </a:lnTo>
                <a:cubicBezTo>
                  <a:pt x="46" y="14207"/>
                  <a:pt x="180" y="14997"/>
                  <a:pt x="295" y="15411"/>
                </a:cubicBezTo>
                <a:cubicBezTo>
                  <a:pt x="505" y="16165"/>
                  <a:pt x="835" y="16748"/>
                  <a:pt x="1216" y="16980"/>
                </a:cubicBezTo>
                <a:cubicBezTo>
                  <a:pt x="1496" y="17150"/>
                  <a:pt x="2144" y="17087"/>
                  <a:pt x="2398" y="16868"/>
                </a:cubicBezTo>
                <a:cubicBezTo>
                  <a:pt x="2676" y="16629"/>
                  <a:pt x="2872" y="16230"/>
                  <a:pt x="3041" y="15691"/>
                </a:cubicBezTo>
                <a:cubicBezTo>
                  <a:pt x="3294" y="14885"/>
                  <a:pt x="3419" y="13946"/>
                  <a:pt x="3389" y="12889"/>
                </a:cubicBezTo>
                <a:cubicBezTo>
                  <a:pt x="3336" y="11075"/>
                  <a:pt x="3024" y="10286"/>
                  <a:pt x="1981" y="9471"/>
                </a:cubicBezTo>
                <a:cubicBezTo>
                  <a:pt x="1157" y="8827"/>
                  <a:pt x="1008" y="8659"/>
                  <a:pt x="1008" y="8070"/>
                </a:cubicBezTo>
                <a:cubicBezTo>
                  <a:pt x="1008" y="7397"/>
                  <a:pt x="1198" y="7117"/>
                  <a:pt x="1651" y="7117"/>
                </a:cubicBezTo>
                <a:cubicBezTo>
                  <a:pt x="1926" y="7117"/>
                  <a:pt x="1982" y="7136"/>
                  <a:pt x="2068" y="7285"/>
                </a:cubicBezTo>
                <a:cubicBezTo>
                  <a:pt x="2186" y="7489"/>
                  <a:pt x="2324" y="7960"/>
                  <a:pt x="2346" y="8238"/>
                </a:cubicBezTo>
                <a:cubicBezTo>
                  <a:pt x="2358" y="8396"/>
                  <a:pt x="2376" y="8438"/>
                  <a:pt x="2415" y="8406"/>
                </a:cubicBezTo>
                <a:cubicBezTo>
                  <a:pt x="2444" y="8384"/>
                  <a:pt x="2623" y="8293"/>
                  <a:pt x="2815" y="8182"/>
                </a:cubicBezTo>
                <a:cubicBezTo>
                  <a:pt x="3239" y="7938"/>
                  <a:pt x="3250" y="7938"/>
                  <a:pt x="3250" y="7790"/>
                </a:cubicBezTo>
                <a:cubicBezTo>
                  <a:pt x="3250" y="7535"/>
                  <a:pt x="3093" y="6591"/>
                  <a:pt x="2972" y="6164"/>
                </a:cubicBezTo>
                <a:cubicBezTo>
                  <a:pt x="2819" y="5629"/>
                  <a:pt x="2602" y="5250"/>
                  <a:pt x="2329" y="5044"/>
                </a:cubicBezTo>
                <a:cubicBezTo>
                  <a:pt x="2186" y="4936"/>
                  <a:pt x="1911" y="4925"/>
                  <a:pt x="1651" y="4932"/>
                </a:cubicBezTo>
                <a:close/>
                <a:moveTo>
                  <a:pt x="7785" y="4932"/>
                </a:moveTo>
                <a:cubicBezTo>
                  <a:pt x="7569" y="4932"/>
                  <a:pt x="7356" y="4946"/>
                  <a:pt x="7246" y="5044"/>
                </a:cubicBezTo>
                <a:cubicBezTo>
                  <a:pt x="6646" y="5576"/>
                  <a:pt x="6278" y="6850"/>
                  <a:pt x="6099" y="8910"/>
                </a:cubicBezTo>
                <a:cubicBezTo>
                  <a:pt x="6049" y="9494"/>
                  <a:pt x="6030" y="9749"/>
                  <a:pt x="6030" y="10984"/>
                </a:cubicBezTo>
                <a:cubicBezTo>
                  <a:pt x="6030" y="12219"/>
                  <a:pt x="6049" y="12474"/>
                  <a:pt x="6099" y="13057"/>
                </a:cubicBezTo>
                <a:cubicBezTo>
                  <a:pt x="6288" y="15227"/>
                  <a:pt x="6689" y="16478"/>
                  <a:pt x="7333" y="16924"/>
                </a:cubicBezTo>
                <a:cubicBezTo>
                  <a:pt x="7572" y="17090"/>
                  <a:pt x="7987" y="17102"/>
                  <a:pt x="8254" y="16924"/>
                </a:cubicBezTo>
                <a:cubicBezTo>
                  <a:pt x="8828" y="16543"/>
                  <a:pt x="9192" y="15462"/>
                  <a:pt x="9384" y="13618"/>
                </a:cubicBezTo>
                <a:cubicBezTo>
                  <a:pt x="9424" y="13235"/>
                  <a:pt x="9456" y="12898"/>
                  <a:pt x="9453" y="12889"/>
                </a:cubicBezTo>
                <a:cubicBezTo>
                  <a:pt x="9447" y="12869"/>
                  <a:pt x="8581" y="12441"/>
                  <a:pt x="8550" y="12441"/>
                </a:cubicBezTo>
                <a:cubicBezTo>
                  <a:pt x="8536" y="12441"/>
                  <a:pt x="8519" y="12596"/>
                  <a:pt x="8498" y="12833"/>
                </a:cubicBezTo>
                <a:cubicBezTo>
                  <a:pt x="8423" y="13655"/>
                  <a:pt x="8265" y="14271"/>
                  <a:pt x="8063" y="14515"/>
                </a:cubicBezTo>
                <a:cubicBezTo>
                  <a:pt x="7974" y="14623"/>
                  <a:pt x="7674" y="14625"/>
                  <a:pt x="7559" y="14515"/>
                </a:cubicBezTo>
                <a:cubicBezTo>
                  <a:pt x="7422" y="14382"/>
                  <a:pt x="7245" y="13909"/>
                  <a:pt x="7159" y="13450"/>
                </a:cubicBezTo>
                <a:cubicBezTo>
                  <a:pt x="7052" y="12870"/>
                  <a:pt x="7003" y="12045"/>
                  <a:pt x="7003" y="10872"/>
                </a:cubicBezTo>
                <a:cubicBezTo>
                  <a:pt x="7003" y="9312"/>
                  <a:pt x="7075" y="8553"/>
                  <a:pt x="7281" y="7902"/>
                </a:cubicBezTo>
                <a:cubicBezTo>
                  <a:pt x="7425" y="7448"/>
                  <a:pt x="7584" y="7277"/>
                  <a:pt x="7820" y="7285"/>
                </a:cubicBezTo>
                <a:cubicBezTo>
                  <a:pt x="8021" y="7293"/>
                  <a:pt x="8168" y="7457"/>
                  <a:pt x="8289" y="7846"/>
                </a:cubicBezTo>
                <a:cubicBezTo>
                  <a:pt x="8372" y="8114"/>
                  <a:pt x="8462" y="8618"/>
                  <a:pt x="8463" y="8854"/>
                </a:cubicBezTo>
                <a:cubicBezTo>
                  <a:pt x="8463" y="8927"/>
                  <a:pt x="8469" y="8999"/>
                  <a:pt x="8480" y="9023"/>
                </a:cubicBezTo>
                <a:cubicBezTo>
                  <a:pt x="8503" y="9068"/>
                  <a:pt x="9315" y="8669"/>
                  <a:pt x="9384" y="8574"/>
                </a:cubicBezTo>
                <a:cubicBezTo>
                  <a:pt x="9422" y="8522"/>
                  <a:pt x="9407" y="8460"/>
                  <a:pt x="9332" y="7902"/>
                </a:cubicBezTo>
                <a:cubicBezTo>
                  <a:pt x="9118" y="6321"/>
                  <a:pt x="8816" y="5427"/>
                  <a:pt x="8341" y="5044"/>
                </a:cubicBezTo>
                <a:cubicBezTo>
                  <a:pt x="8221" y="4947"/>
                  <a:pt x="8002" y="4931"/>
                  <a:pt x="7785" y="4932"/>
                </a:cubicBezTo>
                <a:close/>
                <a:moveTo>
                  <a:pt x="14545" y="5100"/>
                </a:moveTo>
                <a:cubicBezTo>
                  <a:pt x="14073" y="5100"/>
                  <a:pt x="14043" y="5141"/>
                  <a:pt x="14058" y="5268"/>
                </a:cubicBezTo>
                <a:cubicBezTo>
                  <a:pt x="14067" y="5343"/>
                  <a:pt x="14161" y="6108"/>
                  <a:pt x="14267" y="7005"/>
                </a:cubicBezTo>
                <a:cubicBezTo>
                  <a:pt x="14372" y="7902"/>
                  <a:pt x="14479" y="8878"/>
                  <a:pt x="14510" y="9135"/>
                </a:cubicBezTo>
                <a:cubicBezTo>
                  <a:pt x="14588" y="9774"/>
                  <a:pt x="15141" y="14462"/>
                  <a:pt x="15344" y="16196"/>
                </a:cubicBezTo>
                <a:lnTo>
                  <a:pt x="15431" y="16924"/>
                </a:lnTo>
                <a:lnTo>
                  <a:pt x="15379" y="17373"/>
                </a:lnTo>
                <a:cubicBezTo>
                  <a:pt x="15350" y="17627"/>
                  <a:pt x="15304" y="17945"/>
                  <a:pt x="15275" y="18101"/>
                </a:cubicBezTo>
                <a:cubicBezTo>
                  <a:pt x="15192" y="18534"/>
                  <a:pt x="15013" y="19012"/>
                  <a:pt x="14892" y="19110"/>
                </a:cubicBezTo>
                <a:cubicBezTo>
                  <a:pt x="14769" y="19210"/>
                  <a:pt x="14536" y="19202"/>
                  <a:pt x="14388" y="19110"/>
                </a:cubicBezTo>
                <a:cubicBezTo>
                  <a:pt x="14289" y="19048"/>
                  <a:pt x="14284" y="19025"/>
                  <a:pt x="14284" y="19222"/>
                </a:cubicBezTo>
                <a:cubicBezTo>
                  <a:pt x="14284" y="19334"/>
                  <a:pt x="14299" y="19888"/>
                  <a:pt x="14319" y="20399"/>
                </a:cubicBezTo>
                <a:cubicBezTo>
                  <a:pt x="14339" y="20910"/>
                  <a:pt x="14354" y="21321"/>
                  <a:pt x="14354" y="21351"/>
                </a:cubicBezTo>
                <a:cubicBezTo>
                  <a:pt x="14354" y="21382"/>
                  <a:pt x="14406" y="21423"/>
                  <a:pt x="14475" y="21464"/>
                </a:cubicBezTo>
                <a:cubicBezTo>
                  <a:pt x="14707" y="21600"/>
                  <a:pt x="15144" y="21573"/>
                  <a:pt x="15344" y="21407"/>
                </a:cubicBezTo>
                <a:cubicBezTo>
                  <a:pt x="15673" y="21136"/>
                  <a:pt x="15866" y="20806"/>
                  <a:pt x="16022" y="20063"/>
                </a:cubicBezTo>
                <a:cubicBezTo>
                  <a:pt x="16144" y="19480"/>
                  <a:pt x="16210" y="18920"/>
                  <a:pt x="16508" y="16308"/>
                </a:cubicBezTo>
                <a:cubicBezTo>
                  <a:pt x="16647" y="15090"/>
                  <a:pt x="16852" y="13325"/>
                  <a:pt x="16960" y="12385"/>
                </a:cubicBezTo>
                <a:cubicBezTo>
                  <a:pt x="17069" y="11445"/>
                  <a:pt x="17214" y="10098"/>
                  <a:pt x="17290" y="9415"/>
                </a:cubicBezTo>
                <a:cubicBezTo>
                  <a:pt x="17367" y="8731"/>
                  <a:pt x="17509" y="7532"/>
                  <a:pt x="17603" y="6725"/>
                </a:cubicBezTo>
                <a:cubicBezTo>
                  <a:pt x="17697" y="5918"/>
                  <a:pt x="17777" y="5192"/>
                  <a:pt x="17777" y="5156"/>
                </a:cubicBezTo>
                <a:cubicBezTo>
                  <a:pt x="17777" y="5119"/>
                  <a:pt x="17559" y="5099"/>
                  <a:pt x="17290" y="5100"/>
                </a:cubicBezTo>
                <a:lnTo>
                  <a:pt x="16804" y="5100"/>
                </a:lnTo>
                <a:lnTo>
                  <a:pt x="16387" y="9191"/>
                </a:lnTo>
                <a:cubicBezTo>
                  <a:pt x="16155" y="11443"/>
                  <a:pt x="15947" y="13282"/>
                  <a:pt x="15935" y="13282"/>
                </a:cubicBezTo>
                <a:cubicBezTo>
                  <a:pt x="15913" y="13282"/>
                  <a:pt x="15853" y="12784"/>
                  <a:pt x="15327" y="7790"/>
                </a:cubicBezTo>
                <a:lnTo>
                  <a:pt x="15049" y="5100"/>
                </a:lnTo>
                <a:lnTo>
                  <a:pt x="14545" y="5100"/>
                </a:lnTo>
                <a:close/>
                <a:moveTo>
                  <a:pt x="4310" y="5212"/>
                </a:moveTo>
                <a:cubicBezTo>
                  <a:pt x="4270" y="5162"/>
                  <a:pt x="4257" y="5460"/>
                  <a:pt x="4257" y="10984"/>
                </a:cubicBezTo>
                <a:lnTo>
                  <a:pt x="4257" y="16868"/>
                </a:lnTo>
                <a:lnTo>
                  <a:pt x="4744" y="16868"/>
                </a:lnTo>
                <a:lnTo>
                  <a:pt x="5231" y="16868"/>
                </a:lnTo>
                <a:lnTo>
                  <a:pt x="5231" y="10984"/>
                </a:lnTo>
                <a:cubicBezTo>
                  <a:pt x="5231" y="5464"/>
                  <a:pt x="5218" y="5171"/>
                  <a:pt x="5178" y="5212"/>
                </a:cubicBezTo>
                <a:cubicBezTo>
                  <a:pt x="4816" y="5578"/>
                  <a:pt x="4596" y="5570"/>
                  <a:pt x="4310" y="5212"/>
                </a:cubicBezTo>
                <a:close/>
                <a:moveTo>
                  <a:pt x="11782" y="7397"/>
                </a:moveTo>
                <a:cubicBezTo>
                  <a:pt x="11898" y="7378"/>
                  <a:pt x="12028" y="7387"/>
                  <a:pt x="12129" y="7509"/>
                </a:cubicBezTo>
                <a:cubicBezTo>
                  <a:pt x="12390" y="7825"/>
                  <a:pt x="12590" y="8602"/>
                  <a:pt x="12685" y="9639"/>
                </a:cubicBezTo>
                <a:cubicBezTo>
                  <a:pt x="12741" y="10249"/>
                  <a:pt x="12741" y="11587"/>
                  <a:pt x="12685" y="12273"/>
                </a:cubicBezTo>
                <a:cubicBezTo>
                  <a:pt x="12602" y="13303"/>
                  <a:pt x="12391" y="14087"/>
                  <a:pt x="12129" y="14402"/>
                </a:cubicBezTo>
                <a:cubicBezTo>
                  <a:pt x="11950" y="14619"/>
                  <a:pt x="11701" y="14628"/>
                  <a:pt x="11521" y="14402"/>
                </a:cubicBezTo>
                <a:cubicBezTo>
                  <a:pt x="11261" y="14075"/>
                  <a:pt x="11024" y="13108"/>
                  <a:pt x="10965" y="12105"/>
                </a:cubicBezTo>
                <a:cubicBezTo>
                  <a:pt x="10934" y="11574"/>
                  <a:pt x="10934" y="10393"/>
                  <a:pt x="10965" y="9863"/>
                </a:cubicBezTo>
                <a:cubicBezTo>
                  <a:pt x="11022" y="8902"/>
                  <a:pt x="11199" y="8035"/>
                  <a:pt x="11452" y="7622"/>
                </a:cubicBezTo>
                <a:cubicBezTo>
                  <a:pt x="11547" y="7466"/>
                  <a:pt x="11665" y="7417"/>
                  <a:pt x="11782" y="7397"/>
                </a:cubicBezTo>
                <a:close/>
                <a:moveTo>
                  <a:pt x="20401" y="11320"/>
                </a:moveTo>
                <a:cubicBezTo>
                  <a:pt x="20413" y="11323"/>
                  <a:pt x="20432" y="11308"/>
                  <a:pt x="20436" y="11320"/>
                </a:cubicBezTo>
                <a:cubicBezTo>
                  <a:pt x="20449" y="11364"/>
                  <a:pt x="20441" y="11776"/>
                  <a:pt x="20436" y="12329"/>
                </a:cubicBezTo>
                <a:cubicBezTo>
                  <a:pt x="20428" y="13205"/>
                  <a:pt x="20426" y="13346"/>
                  <a:pt x="20366" y="13674"/>
                </a:cubicBezTo>
                <a:cubicBezTo>
                  <a:pt x="20284" y="14126"/>
                  <a:pt x="20157" y="14513"/>
                  <a:pt x="20001" y="14739"/>
                </a:cubicBezTo>
                <a:cubicBezTo>
                  <a:pt x="19840" y="14971"/>
                  <a:pt x="19621" y="14997"/>
                  <a:pt x="19497" y="14851"/>
                </a:cubicBezTo>
                <a:cubicBezTo>
                  <a:pt x="19370" y="14700"/>
                  <a:pt x="19286" y="14504"/>
                  <a:pt x="19202" y="14122"/>
                </a:cubicBezTo>
                <a:cubicBezTo>
                  <a:pt x="19144" y="13860"/>
                  <a:pt x="19134" y="13718"/>
                  <a:pt x="19132" y="13338"/>
                </a:cubicBezTo>
                <a:cubicBezTo>
                  <a:pt x="19131" y="12931"/>
                  <a:pt x="19137" y="12870"/>
                  <a:pt x="19202" y="12609"/>
                </a:cubicBezTo>
                <a:cubicBezTo>
                  <a:pt x="19307" y="12187"/>
                  <a:pt x="19438" y="11999"/>
                  <a:pt x="19741" y="11769"/>
                </a:cubicBezTo>
                <a:cubicBezTo>
                  <a:pt x="19886" y="11657"/>
                  <a:pt x="20099" y="11461"/>
                  <a:pt x="20210" y="11376"/>
                </a:cubicBezTo>
                <a:cubicBezTo>
                  <a:pt x="20307" y="11302"/>
                  <a:pt x="20366" y="11312"/>
                  <a:pt x="20401" y="11320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77" name="图像" descr="图像">
            <a:extLst>
              <a:ext uri="{FF2B5EF4-FFF2-40B4-BE49-F238E27FC236}">
                <a16:creationId xmlns:a16="http://schemas.microsoft.com/office/drawing/2014/main" id="{F0FD71B9-D017-91DF-A2AD-F0C723F3B2B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412212" y="4754989"/>
            <a:ext cx="609611" cy="18062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图像" descr="图像">
            <a:extLst>
              <a:ext uri="{FF2B5EF4-FFF2-40B4-BE49-F238E27FC236}">
                <a16:creationId xmlns:a16="http://schemas.microsoft.com/office/drawing/2014/main" id="{650513F6-ED76-707A-3E6B-74D2B587B4A8}"/>
              </a:ext>
            </a:extLst>
          </p:cNvPr>
          <p:cNvPicPr>
            <a:picLocks noChangeAspect="1"/>
          </p:cNvPicPr>
          <p:nvPr/>
        </p:nvPicPr>
        <p:blipFill>
          <a:blip r:embed="rId42"/>
          <a:srcRect l="10845" t="20224" r="9454" b="19637"/>
          <a:stretch>
            <a:fillRect/>
          </a:stretch>
        </p:blipFill>
        <p:spPr>
          <a:xfrm>
            <a:off x="8833387" y="6232862"/>
            <a:ext cx="877758" cy="224860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图像" descr="图像">
            <a:extLst>
              <a:ext uri="{FF2B5EF4-FFF2-40B4-BE49-F238E27FC236}">
                <a16:creationId xmlns:a16="http://schemas.microsoft.com/office/drawing/2014/main" id="{AB8B13A4-0E06-4AD9-16C0-20814152DC31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041038" y="1634866"/>
            <a:ext cx="353168" cy="278119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图像" descr="图像">
            <a:extLst>
              <a:ext uri="{FF2B5EF4-FFF2-40B4-BE49-F238E27FC236}">
                <a16:creationId xmlns:a16="http://schemas.microsoft.com/office/drawing/2014/main" id="{613130EA-4EF5-7BA1-965B-192F7463CAC3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00274" y="1664071"/>
            <a:ext cx="419101" cy="330042"/>
          </a:xfrm>
          <a:prstGeom prst="rect">
            <a:avLst/>
          </a:prstGeom>
          <a:ln w="12700">
            <a:miter lim="400000"/>
          </a:ln>
        </p:spPr>
      </p:pic>
      <p:pic>
        <p:nvPicPr>
          <p:cNvPr id="81" name="图像" descr="图像">
            <a:extLst>
              <a:ext uri="{FF2B5EF4-FFF2-40B4-BE49-F238E27FC236}">
                <a16:creationId xmlns:a16="http://schemas.microsoft.com/office/drawing/2014/main" id="{57459ECC-52C3-C9C9-28EA-49188BC62ED2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248443" y="4333674"/>
            <a:ext cx="353168" cy="278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82" name="图像" descr="图像">
            <a:extLst>
              <a:ext uri="{FF2B5EF4-FFF2-40B4-BE49-F238E27FC236}">
                <a16:creationId xmlns:a16="http://schemas.microsoft.com/office/drawing/2014/main" id="{00F19A80-AF57-C17D-74C0-2D8F451374C7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4111982" y="3276129"/>
            <a:ext cx="434654" cy="3048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图像" descr="图像">
            <a:extLst>
              <a:ext uri="{FF2B5EF4-FFF2-40B4-BE49-F238E27FC236}">
                <a16:creationId xmlns:a16="http://schemas.microsoft.com/office/drawing/2014/main" id="{307D2B9A-23AA-50BE-0450-190E74FFB8A5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7660754" y="5941135"/>
            <a:ext cx="406401" cy="3556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4" name="图像" descr="图像">
            <a:extLst>
              <a:ext uri="{FF2B5EF4-FFF2-40B4-BE49-F238E27FC236}">
                <a16:creationId xmlns:a16="http://schemas.microsoft.com/office/drawing/2014/main" id="{602A6950-B4AA-B227-6551-AC39E50EC4CC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1631768" y="5128538"/>
            <a:ext cx="60325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5" name="图像" descr="图像">
            <a:extLst>
              <a:ext uri="{FF2B5EF4-FFF2-40B4-BE49-F238E27FC236}">
                <a16:creationId xmlns:a16="http://schemas.microsoft.com/office/drawing/2014/main" id="{A338611A-FA0C-5ABC-3704-9150E8698432}"/>
              </a:ext>
            </a:extLst>
          </p:cNvPr>
          <p:cNvPicPr>
            <a:picLocks noChangeAspect="1"/>
          </p:cNvPicPr>
          <p:nvPr/>
        </p:nvPicPr>
        <p:blipFill>
          <a:blip r:embed="rId47"/>
          <a:stretch>
            <a:fillRect/>
          </a:stretch>
        </p:blipFill>
        <p:spPr>
          <a:xfrm>
            <a:off x="2206329" y="4968025"/>
            <a:ext cx="774701" cy="190501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图像" descr="图像">
            <a:extLst>
              <a:ext uri="{FF2B5EF4-FFF2-40B4-BE49-F238E27FC236}">
                <a16:creationId xmlns:a16="http://schemas.microsoft.com/office/drawing/2014/main" id="{83281EAF-8233-0811-69BD-6D0F23BE915C}"/>
              </a:ext>
            </a:extLst>
          </p:cNvPr>
          <p:cNvPicPr>
            <a:picLocks noChangeAspect="1"/>
          </p:cNvPicPr>
          <p:nvPr/>
        </p:nvPicPr>
        <p:blipFill>
          <a:blip r:embed="rId48"/>
          <a:stretch>
            <a:fillRect/>
          </a:stretch>
        </p:blipFill>
        <p:spPr>
          <a:xfrm>
            <a:off x="1529277" y="3122272"/>
            <a:ext cx="677053" cy="128588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图像" descr="图像">
            <a:extLst>
              <a:ext uri="{FF2B5EF4-FFF2-40B4-BE49-F238E27FC236}">
                <a16:creationId xmlns:a16="http://schemas.microsoft.com/office/drawing/2014/main" id="{C96D0178-3D6A-E196-AEFD-3B944FA0A3ED}"/>
              </a:ext>
            </a:extLst>
          </p:cNvPr>
          <p:cNvPicPr>
            <a:picLocks noChangeAspect="1"/>
          </p:cNvPicPr>
          <p:nvPr/>
        </p:nvPicPr>
        <p:blipFill>
          <a:blip r:embed="rId49"/>
          <a:srcRect l="6527" t="39090" r="6527" b="39090"/>
          <a:stretch>
            <a:fillRect/>
          </a:stretch>
        </p:blipFill>
        <p:spPr>
          <a:xfrm>
            <a:off x="1504371" y="3385639"/>
            <a:ext cx="759251" cy="190531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图像" descr="图像">
            <a:extLst>
              <a:ext uri="{FF2B5EF4-FFF2-40B4-BE49-F238E27FC236}">
                <a16:creationId xmlns:a16="http://schemas.microsoft.com/office/drawing/2014/main" id="{021675B9-6F55-149F-6E54-EBDD917E7253}"/>
              </a:ext>
            </a:extLst>
          </p:cNvPr>
          <p:cNvPicPr>
            <a:picLocks noChangeAspect="1"/>
          </p:cNvPicPr>
          <p:nvPr/>
        </p:nvPicPr>
        <p:blipFill>
          <a:blip r:embed="rId50"/>
          <a:stretch>
            <a:fillRect/>
          </a:stretch>
        </p:blipFill>
        <p:spPr>
          <a:xfrm>
            <a:off x="2316657" y="2968367"/>
            <a:ext cx="673108" cy="208781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图像" descr="图像">
            <a:extLst>
              <a:ext uri="{FF2B5EF4-FFF2-40B4-BE49-F238E27FC236}">
                <a16:creationId xmlns:a16="http://schemas.microsoft.com/office/drawing/2014/main" id="{65772F15-3F83-D21A-7F08-57A59A5BDD67}"/>
              </a:ext>
            </a:extLst>
          </p:cNvPr>
          <p:cNvPicPr>
            <a:picLocks noChangeAspect="1"/>
          </p:cNvPicPr>
          <p:nvPr/>
        </p:nvPicPr>
        <p:blipFill>
          <a:blip r:embed="rId51"/>
          <a:srcRect l="22811" t="36117" r="22811" b="36117"/>
          <a:stretch>
            <a:fillRect/>
          </a:stretch>
        </p:blipFill>
        <p:spPr>
          <a:xfrm>
            <a:off x="2286146" y="3188332"/>
            <a:ext cx="651122" cy="222755"/>
          </a:xfrm>
          <a:prstGeom prst="rect">
            <a:avLst/>
          </a:prstGeom>
          <a:ln w="12700">
            <a:miter lim="400000"/>
          </a:ln>
        </p:spPr>
      </p:pic>
      <p:pic>
        <p:nvPicPr>
          <p:cNvPr id="90" name="线条 线条" descr="线条 线条">
            <a:extLst>
              <a:ext uri="{FF2B5EF4-FFF2-40B4-BE49-F238E27FC236}">
                <a16:creationId xmlns:a16="http://schemas.microsoft.com/office/drawing/2014/main" id="{38600CAB-5DDC-E40E-302F-61065B9F986D}"/>
              </a:ext>
            </a:extLst>
          </p:cNvPr>
          <p:cNvPicPr>
            <a:picLocks/>
          </p:cNvPicPr>
          <p:nvPr/>
        </p:nvPicPr>
        <p:blipFill>
          <a:blip r:embed="rId52"/>
          <a:stretch>
            <a:fillRect/>
          </a:stretch>
        </p:blipFill>
        <p:spPr>
          <a:xfrm>
            <a:off x="6391283" y="6010872"/>
            <a:ext cx="460263" cy="216127"/>
          </a:xfrm>
          <a:prstGeom prst="rect">
            <a:avLst/>
          </a:prstGeom>
        </p:spPr>
      </p:pic>
      <p:pic>
        <p:nvPicPr>
          <p:cNvPr id="91" name="线条 线条" descr="线条 线条">
            <a:extLst>
              <a:ext uri="{FF2B5EF4-FFF2-40B4-BE49-F238E27FC236}">
                <a16:creationId xmlns:a16="http://schemas.microsoft.com/office/drawing/2014/main" id="{ACE46E4B-FD78-5D1A-FB7B-A8947985B084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3020903" y="1983451"/>
            <a:ext cx="308861" cy="216127"/>
          </a:xfrm>
          <a:prstGeom prst="rect">
            <a:avLst/>
          </a:prstGeom>
        </p:spPr>
      </p:pic>
      <p:pic>
        <p:nvPicPr>
          <p:cNvPr id="92" name="线条 线条" descr="线条 线条">
            <a:extLst>
              <a:ext uri="{FF2B5EF4-FFF2-40B4-BE49-F238E27FC236}">
                <a16:creationId xmlns:a16="http://schemas.microsoft.com/office/drawing/2014/main" id="{46374897-9985-F9C2-B0A6-ABD2BE1397DC}"/>
              </a:ext>
            </a:extLst>
          </p:cNvPr>
          <p:cNvPicPr>
            <a:picLocks/>
          </p:cNvPicPr>
          <p:nvPr/>
        </p:nvPicPr>
        <p:blipFill>
          <a:blip r:embed="rId53"/>
          <a:stretch>
            <a:fillRect/>
          </a:stretch>
        </p:blipFill>
        <p:spPr>
          <a:xfrm>
            <a:off x="4815069" y="1963839"/>
            <a:ext cx="308861" cy="216127"/>
          </a:xfrm>
          <a:prstGeom prst="rect">
            <a:avLst/>
          </a:prstGeom>
        </p:spPr>
      </p:pic>
      <p:pic>
        <p:nvPicPr>
          <p:cNvPr id="93" name="线条 线条" descr="线条 线条">
            <a:extLst>
              <a:ext uri="{FF2B5EF4-FFF2-40B4-BE49-F238E27FC236}">
                <a16:creationId xmlns:a16="http://schemas.microsoft.com/office/drawing/2014/main" id="{4016990F-4344-CDB3-C2FB-DD8308A40819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2999103" y="3331932"/>
            <a:ext cx="308861" cy="216126"/>
          </a:xfrm>
          <a:prstGeom prst="rect">
            <a:avLst/>
          </a:prstGeom>
        </p:spPr>
      </p:pic>
      <p:pic>
        <p:nvPicPr>
          <p:cNvPr id="94" name="线条 线条" descr="线条 线条">
            <a:extLst>
              <a:ext uri="{FF2B5EF4-FFF2-40B4-BE49-F238E27FC236}">
                <a16:creationId xmlns:a16="http://schemas.microsoft.com/office/drawing/2014/main" id="{5759A6A6-8438-94C6-D1BA-8609EA104F06}"/>
              </a:ext>
            </a:extLst>
          </p:cNvPr>
          <p:cNvPicPr>
            <a:picLocks/>
          </p:cNvPicPr>
          <p:nvPr/>
        </p:nvPicPr>
        <p:blipFill>
          <a:blip r:embed="rId54"/>
          <a:stretch>
            <a:fillRect/>
          </a:stretch>
        </p:blipFill>
        <p:spPr>
          <a:xfrm>
            <a:off x="3020903" y="4674689"/>
            <a:ext cx="308861" cy="216126"/>
          </a:xfrm>
          <a:prstGeom prst="rect">
            <a:avLst/>
          </a:prstGeom>
        </p:spPr>
      </p:pic>
      <p:pic>
        <p:nvPicPr>
          <p:cNvPr id="95" name="线条 形状" descr="线条 形状">
            <a:extLst>
              <a:ext uri="{FF2B5EF4-FFF2-40B4-BE49-F238E27FC236}">
                <a16:creationId xmlns:a16="http://schemas.microsoft.com/office/drawing/2014/main" id="{22790694-FC8A-FC8C-811B-4C5565FC9336}"/>
              </a:ext>
            </a:extLst>
          </p:cNvPr>
          <p:cNvPicPr>
            <a:picLocks/>
          </p:cNvPicPr>
          <p:nvPr/>
        </p:nvPicPr>
        <p:blipFill>
          <a:blip r:embed="rId55"/>
          <a:stretch>
            <a:fillRect/>
          </a:stretch>
        </p:blipFill>
        <p:spPr>
          <a:xfrm>
            <a:off x="4865043" y="2698499"/>
            <a:ext cx="1044563" cy="2018517"/>
          </a:xfrm>
          <a:prstGeom prst="rect">
            <a:avLst/>
          </a:prstGeom>
        </p:spPr>
      </p:pic>
      <p:pic>
        <p:nvPicPr>
          <p:cNvPr id="96" name="线条 形状" descr="线条 形状">
            <a:extLst>
              <a:ext uri="{FF2B5EF4-FFF2-40B4-BE49-F238E27FC236}">
                <a16:creationId xmlns:a16="http://schemas.microsoft.com/office/drawing/2014/main" id="{6D5937AE-CAA6-E2DD-2D94-E988E052784E}"/>
              </a:ext>
            </a:extLst>
          </p:cNvPr>
          <p:cNvPicPr>
            <a:picLocks/>
          </p:cNvPicPr>
          <p:nvPr/>
        </p:nvPicPr>
        <p:blipFill>
          <a:blip r:embed="rId56"/>
          <a:stretch>
            <a:fillRect/>
          </a:stretch>
        </p:blipFill>
        <p:spPr>
          <a:xfrm>
            <a:off x="4858855" y="2695084"/>
            <a:ext cx="1046104" cy="789064"/>
          </a:xfrm>
          <a:prstGeom prst="rect">
            <a:avLst/>
          </a:prstGeom>
        </p:spPr>
      </p:pic>
      <p:pic>
        <p:nvPicPr>
          <p:cNvPr id="97" name="线条 形状" descr="线条 形状">
            <a:extLst>
              <a:ext uri="{FF2B5EF4-FFF2-40B4-BE49-F238E27FC236}">
                <a16:creationId xmlns:a16="http://schemas.microsoft.com/office/drawing/2014/main" id="{F6899338-49B6-DD98-8D59-958FB63B51AD}"/>
              </a:ext>
            </a:extLst>
          </p:cNvPr>
          <p:cNvPicPr>
            <a:picLocks/>
          </p:cNvPicPr>
          <p:nvPr/>
        </p:nvPicPr>
        <p:blipFill>
          <a:blip r:embed="rId57"/>
          <a:stretch>
            <a:fillRect/>
          </a:stretch>
        </p:blipFill>
        <p:spPr>
          <a:xfrm rot="358425">
            <a:off x="7575405" y="6331394"/>
            <a:ext cx="3679479" cy="669601"/>
          </a:xfrm>
          <a:prstGeom prst="rect">
            <a:avLst/>
          </a:prstGeom>
        </p:spPr>
      </p:pic>
      <p:pic>
        <p:nvPicPr>
          <p:cNvPr id="98" name="线条 线条" descr="线条 线条">
            <a:extLst>
              <a:ext uri="{FF2B5EF4-FFF2-40B4-BE49-F238E27FC236}">
                <a16:creationId xmlns:a16="http://schemas.microsoft.com/office/drawing/2014/main" id="{AF829367-591E-3ABF-1BE6-28DDE715A902}"/>
              </a:ext>
            </a:extLst>
          </p:cNvPr>
          <p:cNvPicPr>
            <a:picLocks/>
          </p:cNvPicPr>
          <p:nvPr/>
        </p:nvPicPr>
        <p:blipFill>
          <a:blip r:embed="rId58"/>
          <a:stretch>
            <a:fillRect/>
          </a:stretch>
        </p:blipFill>
        <p:spPr>
          <a:xfrm>
            <a:off x="6648920" y="1927557"/>
            <a:ext cx="1887678" cy="308752"/>
          </a:xfrm>
          <a:prstGeom prst="rect">
            <a:avLst/>
          </a:prstGeom>
        </p:spPr>
      </p:pic>
      <p:pic>
        <p:nvPicPr>
          <p:cNvPr id="99" name="线条 线条" descr="线条 线条">
            <a:extLst>
              <a:ext uri="{FF2B5EF4-FFF2-40B4-BE49-F238E27FC236}">
                <a16:creationId xmlns:a16="http://schemas.microsoft.com/office/drawing/2014/main" id="{352D06B2-4427-CAEE-529E-43F3587A32B1}"/>
              </a:ext>
            </a:extLst>
          </p:cNvPr>
          <p:cNvPicPr>
            <a:picLocks/>
          </p:cNvPicPr>
          <p:nvPr/>
        </p:nvPicPr>
        <p:blipFill>
          <a:blip r:embed="rId59"/>
          <a:stretch>
            <a:fillRect/>
          </a:stretch>
        </p:blipFill>
        <p:spPr>
          <a:xfrm>
            <a:off x="10089589" y="3939236"/>
            <a:ext cx="444501" cy="308752"/>
          </a:xfrm>
          <a:prstGeom prst="rect">
            <a:avLst/>
          </a:prstGeom>
        </p:spPr>
      </p:pic>
      <p:pic>
        <p:nvPicPr>
          <p:cNvPr id="100" name="图像" descr="图像">
            <a:extLst>
              <a:ext uri="{FF2B5EF4-FFF2-40B4-BE49-F238E27FC236}">
                <a16:creationId xmlns:a16="http://schemas.microsoft.com/office/drawing/2014/main" id="{003E041E-5810-6FDC-9EC0-E344609F4A1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58787" y="3590741"/>
            <a:ext cx="609612" cy="180627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图像" descr="图像">
            <a:extLst>
              <a:ext uri="{FF2B5EF4-FFF2-40B4-BE49-F238E27FC236}">
                <a16:creationId xmlns:a16="http://schemas.microsoft.com/office/drawing/2014/main" id="{F6909B18-AA8B-FB31-AEBF-09F9A562783D}"/>
              </a:ext>
            </a:extLst>
          </p:cNvPr>
          <p:cNvPicPr>
            <a:picLocks noChangeAspect="1"/>
          </p:cNvPicPr>
          <p:nvPr/>
        </p:nvPicPr>
        <p:blipFill>
          <a:blip r:embed="rId60"/>
          <a:stretch>
            <a:fillRect/>
          </a:stretch>
        </p:blipFill>
        <p:spPr>
          <a:xfrm>
            <a:off x="6976540" y="6394017"/>
            <a:ext cx="711201" cy="18301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图像" descr="图像">
            <a:extLst>
              <a:ext uri="{FF2B5EF4-FFF2-40B4-BE49-F238E27FC236}">
                <a16:creationId xmlns:a16="http://schemas.microsoft.com/office/drawing/2014/main" id="{5224AC44-DCC9-278C-A61D-F2A9F31453B6}"/>
              </a:ext>
            </a:extLst>
          </p:cNvPr>
          <p:cNvPicPr>
            <a:picLocks noChangeAspect="1"/>
          </p:cNvPicPr>
          <p:nvPr/>
        </p:nvPicPr>
        <p:blipFill>
          <a:blip r:embed="rId61"/>
          <a:stretch>
            <a:fillRect/>
          </a:stretch>
        </p:blipFill>
        <p:spPr>
          <a:xfrm>
            <a:off x="2548684" y="1783150"/>
            <a:ext cx="448663" cy="51247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" name="图像" descr="图像">
            <a:extLst>
              <a:ext uri="{FF2B5EF4-FFF2-40B4-BE49-F238E27FC236}">
                <a16:creationId xmlns:a16="http://schemas.microsoft.com/office/drawing/2014/main" id="{1B5FF2FC-0E41-65CC-416B-A8A48EED1B29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3524881" y="3587696"/>
            <a:ext cx="377464" cy="358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04" name="图像" descr="图像">
            <a:extLst>
              <a:ext uri="{FF2B5EF4-FFF2-40B4-BE49-F238E27FC236}">
                <a16:creationId xmlns:a16="http://schemas.microsoft.com/office/drawing/2014/main" id="{1F23C48F-9CA4-E5D6-7C6D-03EC04A6B817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67445" t="5856" r="4755" b="48912"/>
          <a:stretch>
            <a:fillRect/>
          </a:stretch>
        </p:blipFill>
        <p:spPr>
          <a:xfrm>
            <a:off x="4074179" y="4624152"/>
            <a:ext cx="377463" cy="35898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" name="图像" descr="图像">
            <a:extLst>
              <a:ext uri="{FF2B5EF4-FFF2-40B4-BE49-F238E27FC236}">
                <a16:creationId xmlns:a16="http://schemas.microsoft.com/office/drawing/2014/main" id="{B68A75FF-AE0D-15D2-905E-A4CA9D21AB6D}"/>
              </a:ext>
            </a:extLst>
          </p:cNvPr>
          <p:cNvPicPr>
            <a:picLocks noChangeAspect="1"/>
          </p:cNvPicPr>
          <p:nvPr/>
        </p:nvPicPr>
        <p:blipFill>
          <a:blip r:embed="rId63"/>
          <a:srcRect t="30546" b="40315"/>
          <a:stretch>
            <a:fillRect/>
          </a:stretch>
        </p:blipFill>
        <p:spPr>
          <a:xfrm>
            <a:off x="4105493" y="3706223"/>
            <a:ext cx="555557" cy="15966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6" name="图像" descr="图像">
            <a:extLst>
              <a:ext uri="{FF2B5EF4-FFF2-40B4-BE49-F238E27FC236}">
                <a16:creationId xmlns:a16="http://schemas.microsoft.com/office/drawing/2014/main" id="{4D7FA93A-D498-0DD8-6D18-E0C7E500DB21}"/>
              </a:ext>
            </a:extLst>
          </p:cNvPr>
          <p:cNvPicPr>
            <a:picLocks noChangeAspect="1"/>
          </p:cNvPicPr>
          <p:nvPr/>
        </p:nvPicPr>
        <p:blipFill>
          <a:blip r:embed="rId62"/>
          <a:srcRect l="41978" t="5748" r="32632" b="49892"/>
          <a:stretch>
            <a:fillRect/>
          </a:stretch>
        </p:blipFill>
        <p:spPr>
          <a:xfrm>
            <a:off x="4443985" y="2822705"/>
            <a:ext cx="377614" cy="38563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7" name="图像" descr="图像">
            <a:extLst>
              <a:ext uri="{FF2B5EF4-FFF2-40B4-BE49-F238E27FC236}">
                <a16:creationId xmlns:a16="http://schemas.microsoft.com/office/drawing/2014/main" id="{0D6BF4C3-D708-C1EA-DB86-7BB35017155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962397" y="6288226"/>
            <a:ext cx="723901" cy="114301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矩形 107">
            <a:extLst>
              <a:ext uri="{FF2B5EF4-FFF2-40B4-BE49-F238E27FC236}">
                <a16:creationId xmlns:a16="http://schemas.microsoft.com/office/drawing/2014/main" id="{144F7BF4-72B1-7488-8630-4693F68E0990}"/>
              </a:ext>
            </a:extLst>
          </p:cNvPr>
          <p:cNvSpPr/>
          <p:nvPr/>
        </p:nvSpPr>
        <p:spPr>
          <a:xfrm>
            <a:off x="-2397904" y="1010331"/>
            <a:ext cx="2081026" cy="71963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为什么选特定链条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过渡到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  <a:p>
            <a:pPr algn="ctr"/>
            <a:r>
              <a:rPr lang="zh-CN" altLang="en-US" dirty="0">
                <a:solidFill>
                  <a:schemeClr val="accent6">
                    <a:lumMod val="10000"/>
                  </a:schemeClr>
                </a:solidFill>
              </a:rPr>
              <a:t>为什么看那四家</a:t>
            </a:r>
            <a:endParaRPr lang="en-US" altLang="zh-CN" dirty="0">
              <a:solidFill>
                <a:schemeClr val="accent6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42498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图片 326"/>
          <p:cNvPicPr/>
          <p:nvPr/>
        </p:nvPicPr>
        <p:blipFill>
          <a:blip r:embed="rId2"/>
          <a:stretch>
            <a:fillRect/>
          </a:stretch>
        </p:blipFill>
        <p:spPr>
          <a:xfrm>
            <a:off x="1588" y="1588"/>
            <a:ext cx="1227" cy="1588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76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Y/%#m/%#d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1&quot;&gt;&lt;elem m_fUsage=&quot;5.21703100000000041803E+00&quot;&gt;&lt;m_msothmcolidx val=&quot;0&quot;/&gt;&lt;m_rgb r=&quot;00&quot; g=&quot;52&quot; b=&quot;D9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6A1UQrzHH.PmpzJVignQ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9gYV3NyQAFFL1WnKDeh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Wm.nY4ncrB984rdVkd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7HOMZfAB0m7c8Lzbf4M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pz7wGOfVDUpH6PaeoH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o0NCDDzIr7.2K.K.lbR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0Uk0Jx7bOol5dO_ROiM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1zHWkcG.xjQ6I2SxE5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.gaL8FTlA..x0Lz.tOAA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GVbb2mgmpRf_xckY6DM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R4YEu0AuZpy2DgFXyQk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kRKf8es5YSVJOb3Cl2D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TG6lSRozLVXh6trehBYw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TrArHPvQdchSyBZMraHiQ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HACXvsc9hcjFzwksJr3Q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M6p17.ynE.V5V9eWI8R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3C4LU176qkiIo0QBYXlo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UFNdrh1axuGKDkBSA_Aw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6PMrgTtkCFtKmM4OiHu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rbYEdCIl0Dz9uG8IgnZy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RKIS1_.1H82WoUPx2pj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HkHEpRoUJsp2eyoC_sRUw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WsU_sZPYkTvpq9aYgjRA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HaV60AWnvqsc1t2cKGuQ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BVAhs1fVg96HMPgNoAV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oHzTCQzKil0LE75AQeq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.SfOyCv0nw70zyzp69Iw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qJeucMBsUjwUsZnWwv3v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VIS7ErzpOJx83fChD5.MQ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aApzTnzbitt_I1YR0pnF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yeq5NkA4exYvPiptqTw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FbIzA774DUydItlCnvpxg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sY.y7jpg.WzYRzLKQCV6Q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k_PjbItYHeX_A2bLX9Tw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nbNGgSTxv0oId7mjIhqAQ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Xq7aEz7UCVsxWGuJokqe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F91vvfWEuXHI8p2ss1XX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8zMdU9kvYUCATFna9sn2w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a6A1UQrzHH.PmpzJVignQ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P9gYV3NyQAFFL1WnKDehA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aGWm.nY4ncrB984rdVkd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C7HOMZfAB0m7c8Lzbf4M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.lpz7wGOfVDUpH6PaeoHg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Co0NCDDzIr7.2K.K.lbR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S0Uk0Jx7bOol5dO_ROiM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6n1zHWkcG.xjQ6I2SxE5A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_.gaL8FTlA..x0Lz.tOA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GVbb2mgmpRf_xckY6DMA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XR4YEu0AuZpy2DgFXyQkw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bkRKf8es5YSVJOb3Cl2D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NTG6lSRozLVXh6trehBYw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TrArHPvQdchSyBZMraHiQ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BHACXvsc9hcjFzwksJr3Q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wM6p17.ynE.V5V9eWI8Rg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3C4LU176qkiIo0QBYXlow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UFNdrh1axuGKDkBSA_A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M6PMrgTtkCFtKmM4OiHu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rbYEdCIl0Dz9uG8IgnZy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dRKIS1_.1H82WoUPx2pj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Gr.l7XzLg8HhMNnjTxxl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GB3mD69K2.MHNzBz8JTA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PMduL.Bd7noSBhr2Mig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1PV_oY2iSRbx8JRSXekwQ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En2Rvp8_GRAWACajpAVa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cwz6nMZAIOlGG2PHWr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bjIhkeQbhxZfq30fWuDvQ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waCU4T59kMxZ2jTvVYKP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IOcV3Ke35F02orusI5v3w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5rM50gw9rqN6LWO5eZq6Q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kxS8klVA1eT2LvhEpDKv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O.vzi2AtWk_FW6ht.5JN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k4xvyLzKvgRGYyue3AY7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s.fVYp0lbl5h19T8GZhA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1RhRLkuDinrr7hxyp2GPg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IWpTt3mBgoILUsjLUMjA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mlCuXU80l0atI4E15f.y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7JVkPLPEEpMbNqLjaKttg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0Z1ObTxS76Ex.j7RvwL3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qrREK.f3W3iR6GWfol18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LVe4TObdowQxuf2sSzu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bwV0cc7LFHkrov7y0ynN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mOo0ABusujgXH4fOpuJQ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epIe0jhPfgrp25bgG2z8A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UR4u7OtvHDoAHTWd6mrT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V79biq0PN128j_OTunEAQ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5ty79CieRekgxjVnIRLAA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9DOt8naUP48FH0Qikme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ba0BPHJx82cX3rpLknbk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xm8ZyDIweUFRe83hrKuA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buQZ54bw6ea1sSoJPRuA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White">
  <a:themeElements>
    <a:clrScheme name="Scheme1">
      <a:dk1>
        <a:srgbClr val="53585F"/>
      </a:dk1>
      <a:lt1>
        <a:srgbClr val="FFFFFF"/>
      </a:lt1>
      <a:dk2>
        <a:srgbClr val="FFFFFF"/>
      </a:dk2>
      <a:lt2>
        <a:srgbClr val="FFFFFF"/>
      </a:lt2>
      <a:accent1>
        <a:srgbClr val="0256FF"/>
      </a:accent1>
      <a:accent2>
        <a:srgbClr val="0365C0"/>
      </a:accent2>
      <a:accent3>
        <a:srgbClr val="0030B5"/>
      </a:accent3>
      <a:accent4>
        <a:srgbClr val="AAB8DC"/>
      </a:accent4>
      <a:accent5>
        <a:srgbClr val="00882B"/>
      </a:accent5>
      <a:accent6>
        <a:srgbClr val="DCDEE0"/>
      </a:accent6>
      <a:hlink>
        <a:srgbClr val="0000FF"/>
      </a:hlink>
      <a:folHlink>
        <a:srgbClr val="800080"/>
      </a:folHlink>
    </a:clrScheme>
    <a:fontScheme name="Custom 29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8224</TotalTime>
  <Words>3525</Words>
  <Application>Microsoft Office PowerPoint</Application>
  <PresentationFormat>宽屏</PresentationFormat>
  <Paragraphs>566</Paragraphs>
  <Slides>19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等线</vt:lpstr>
      <vt:lpstr>微软雅黑</vt:lpstr>
      <vt:lpstr>Arial</vt:lpstr>
      <vt:lpstr>Georgia</vt:lpstr>
      <vt:lpstr>Segoe UI</vt:lpstr>
      <vt:lpstr>Wingdings</vt:lpstr>
      <vt:lpstr>1_White</vt:lpstr>
      <vt:lpstr>think-cell 幻灯片</vt:lpstr>
      <vt:lpstr>CPO</vt:lpstr>
      <vt:lpstr>IDC中Scale Up 与 Scale Out</vt:lpstr>
      <vt:lpstr>光进铜退，光互连打破算力释放瓶颈并大幅降低Opex</vt:lpstr>
      <vt:lpstr>光模块技术路径选择：巨头布局CPO，初创布局OIO（加上FPP）</vt:lpstr>
      <vt:lpstr>PowerPoint 演示文稿</vt:lpstr>
      <vt:lpstr>IDC中Scale Up 与 Scale Out</vt:lpstr>
      <vt:lpstr>巨头并行布局，CPO落地1-2年内看Scale Out</vt:lpstr>
      <vt:lpstr>PowerPoint 演示文稿</vt:lpstr>
      <vt:lpstr>互连技术范式变革带来新的市场机会</vt:lpstr>
      <vt:lpstr>CPO关键环节</vt:lpstr>
      <vt:lpstr>CPO各关键环节的公司Map</vt:lpstr>
      <vt:lpstr>ficonTEC：德国老牌光子装配测试龙头，中企收购卡位国产替代</vt:lpstr>
      <vt:lpstr>AyarLabs1：</vt:lpstr>
      <vt:lpstr>LightMatter</vt:lpstr>
      <vt:lpstr>Celestial AI</vt:lpstr>
      <vt:lpstr>OIO打开</vt:lpstr>
      <vt:lpstr>总结</vt:lpstr>
      <vt:lpstr>附录：产业和公司Map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Tencent_GO</dc:creator>
  <cp:lastModifiedBy>Deng Kunyu</cp:lastModifiedBy>
  <cp:revision>981</cp:revision>
  <dcterms:created xsi:type="dcterms:W3CDTF">2025-06-16T21:28:33Z</dcterms:created>
  <dcterms:modified xsi:type="dcterms:W3CDTF">2025-08-20T08:18:09Z</dcterms:modified>
</cp:coreProperties>
</file>