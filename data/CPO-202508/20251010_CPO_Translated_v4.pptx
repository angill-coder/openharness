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8.xml" ContentType="application/vnd.openxmlformats-officedocument.presentationml.notesSlide+xml"/>
  <Override PartName="/ppt/tags/tag65.xml" ContentType="application/vnd.openxmlformats-officedocument.presentationml.tags+xml"/>
  <Override PartName="/ppt/notesSlides/notesSlide9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0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11.xml" ContentType="application/vnd.openxmlformats-officedocument.presentationml.notesSlide+xml"/>
  <Override PartName="/ppt/tags/tag80.xml" ContentType="application/vnd.openxmlformats-officedocument.presentationml.tags+xml"/>
  <Override PartName="/ppt/notesSlides/notesSlide12.xml" ContentType="application/vnd.openxmlformats-officedocument.presentationml.notesSlide+xml"/>
  <Override PartName="/ppt/tags/tag81.xml" ContentType="application/vnd.openxmlformats-officedocument.presentationml.tags+xml"/>
  <Override PartName="/ppt/notesSlides/notesSlide13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14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notesSlides/notesSlide15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notesSlides/notesSlide16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tags/tag149.xml" ContentType="application/vnd.openxmlformats-officedocument.presentationml.tags+xml"/>
  <Override PartName="/ppt/notesSlides/notesSlide17.xml" ContentType="application/vnd.openxmlformats-officedocument.presentationml.notesSlide+xml"/>
  <Override PartName="/ppt/tags/tag150.xml" ContentType="application/vnd.openxmlformats-officedocument.presentationml.tags+xml"/>
  <Override PartName="/ppt/notesSlides/notesSlide18.xml" ContentType="application/vnd.openxmlformats-officedocument.presentationml.notesSlide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notesSlides/notesSlide19.xml" ContentType="application/vnd.openxmlformats-officedocument.presentationml.notesSlide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notesSlides/notesSlide20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notesSlides/notesSlide21.xml" ContentType="application/vnd.openxmlformats-officedocument.presentationml.notesSlide+xml"/>
  <Override PartName="/ppt/charts/chart13.xml" ContentType="application/vnd.openxmlformats-officedocument.drawingml.chart+xml"/>
  <Override PartName="/ppt/tags/tag214.xml" ContentType="application/vnd.openxmlformats-officedocument.presentationml.tags+xml"/>
  <Override PartName="/ppt/notesSlides/notesSlide22.xml" ContentType="application/vnd.openxmlformats-officedocument.presentationml.notesSlide+xml"/>
  <Override PartName="/ppt/charts/chart1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215.xml" ContentType="application/vnd.openxmlformats-officedocument.presentationml.tags+xml"/>
  <Override PartName="/ppt/notesSlides/notesSlide23.xml" ContentType="application/vnd.openxmlformats-officedocument.presentationml.notesSlide+xml"/>
  <Override PartName="/ppt/charts/chart1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notesSlides/notesSlide24.xml" ContentType="application/vnd.openxmlformats-officedocument.presentationml.notesSlide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notesSlides/notesSlide25.xml" ContentType="application/vnd.openxmlformats-officedocument.presentationml.notesSlide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notesSlides/notesSlide26.xml" ContentType="application/vnd.openxmlformats-officedocument.presentationml.notes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tags/tag246.xml" ContentType="application/vnd.openxmlformats-officedocument.presentationml.tags+xml"/>
  <Override PartName="/ppt/notesSlides/notesSlide27.xml" ContentType="application/vnd.openxmlformats-officedocument.presentationml.notesSlide+xml"/>
  <Override PartName="/ppt/tags/tag247.xml" ContentType="application/vnd.openxmlformats-officedocument.presentationml.tags+xml"/>
  <Override PartName="/ppt/notesSlides/notesSlide28.xml" ContentType="application/vnd.openxmlformats-officedocument.presentationml.notesSlide+xml"/>
  <Override PartName="/ppt/tags/tag24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336" r:id="rId3"/>
    <p:sldId id="386" r:id="rId4"/>
    <p:sldId id="362" r:id="rId5"/>
    <p:sldId id="338" r:id="rId6"/>
    <p:sldId id="332" r:id="rId7"/>
    <p:sldId id="319" r:id="rId8"/>
    <p:sldId id="2147473081" r:id="rId9"/>
    <p:sldId id="317" r:id="rId10"/>
    <p:sldId id="321" r:id="rId11"/>
    <p:sldId id="2147473082" r:id="rId12"/>
    <p:sldId id="2147473078" r:id="rId13"/>
    <p:sldId id="334" r:id="rId14"/>
    <p:sldId id="2147473074" r:id="rId15"/>
    <p:sldId id="320" r:id="rId16"/>
    <p:sldId id="364" r:id="rId17"/>
    <p:sldId id="2147473083" r:id="rId18"/>
    <p:sldId id="326" r:id="rId19"/>
    <p:sldId id="315" r:id="rId20"/>
    <p:sldId id="344" r:id="rId21"/>
    <p:sldId id="342" r:id="rId22"/>
    <p:sldId id="367" r:id="rId23"/>
    <p:sldId id="370" r:id="rId24"/>
    <p:sldId id="372" r:id="rId25"/>
    <p:sldId id="327" r:id="rId26"/>
    <p:sldId id="2147473076" r:id="rId27"/>
    <p:sldId id="328" r:id="rId28"/>
    <p:sldId id="331" r:id="rId29"/>
    <p:sldId id="339" r:id="rId30"/>
    <p:sldId id="363" r:id="rId31"/>
    <p:sldId id="2147473077" r:id="rId32"/>
    <p:sldId id="341" r:id="rId33"/>
    <p:sldId id="322" r:id="rId34"/>
    <p:sldId id="283" r:id="rId35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336"/>
          </p14:sldIdLst>
        </p14:section>
        <p14:section name="1. Why CPO?" id="{200816D2-54B9-45F9-8CDC-D4443BE7A066}">
          <p14:sldIdLst>
            <p14:sldId id="386"/>
            <p14:sldId id="362"/>
          </p14:sldIdLst>
        </p14:section>
        <p14:section name="2. Why optical? Why co-packaged?" id="{9A5BC1CD-E46C-43F3-91AB-DCB40303C4FD}">
          <p14:sldIdLst>
            <p14:sldId id="338"/>
            <p14:sldId id="332"/>
            <p14:sldId id="319"/>
          </p14:sldIdLst>
        </p14:section>
        <p14:section name="2.1. From PO to CPO" id="{AC662842-13A9-4DD4-839E-4873B26B8162}">
          <p14:sldIdLst>
            <p14:sldId id="2147473081"/>
            <p14:sldId id="317"/>
            <p14:sldId id="321"/>
          </p14:sldIdLst>
        </p14:section>
        <p14:section name="2.2. CPO has constrains; NPO is Needed" id="{1DFC2E5C-5892-407B-8318-9A8FF74D27C9}">
          <p14:sldIdLst>
            <p14:sldId id="2147473082"/>
            <p14:sldId id="2147473078"/>
          </p14:sldIdLst>
        </p14:section>
        <p14:section name="3. Where CPO fits first: scale up or scale out?" id="{1A99B8B5-BE1D-46F2-B67F-83B8C3D9DB4A}">
          <p14:sldIdLst>
            <p14:sldId id="334"/>
            <p14:sldId id="2147473074"/>
            <p14:sldId id="320"/>
            <p14:sldId id="364"/>
          </p14:sldIdLst>
        </p14:section>
        <p14:section name="4. How big?" id="{5A34DE6B-36BE-4840-9C61-5B0269E52512}">
          <p14:sldIdLst>
            <p14:sldId id="2147473083"/>
          </p14:sldIdLst>
        </p14:section>
        <p14:section name="5. Which segment matters most?" id="{8B027970-4C5E-4A21-ABEE-C3F2C08A42F2}">
          <p14:sldIdLst>
            <p14:sldId id="326"/>
            <p14:sldId id="315"/>
            <p14:sldId id="344"/>
          </p14:sldIdLst>
        </p14:section>
        <p14:section name="6. Key players to watch: Broadcom and ficonTEC" id="{2FC5CD99-587C-4ED3-8213-2F2A4313F971}">
          <p14:sldIdLst>
            <p14:sldId id="342"/>
            <p14:sldId id="367"/>
            <p14:sldId id="370"/>
            <p14:sldId id="372"/>
            <p14:sldId id="327"/>
            <p14:sldId id="2147473076"/>
            <p14:sldId id="328"/>
            <p14:sldId id="331"/>
          </p14:sldIdLst>
        </p14:section>
        <p14:section name="Appendix" id="{8B5E7F54-8D61-4CE1-89AB-837BCD335EC0}">
          <p14:sldIdLst>
            <p14:sldId id="339"/>
            <p14:sldId id="363"/>
            <p14:sldId id="2147473077"/>
            <p14:sldId id="341"/>
            <p14:sldId id="32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D9"/>
    <a:srgbClr val="E94D12"/>
    <a:srgbClr val="F2F2F2"/>
    <a:srgbClr val="ECF6FF"/>
    <a:srgbClr val="DDE3F1"/>
    <a:srgbClr val="C1E1FE"/>
    <a:srgbClr val="9ABBFF"/>
    <a:srgbClr val="A6A6A6"/>
    <a:srgbClr val="9A9D9F"/>
    <a:srgbClr val="EBF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02" autoAdjust="0"/>
    <p:restoredTop sz="91262" autoAdjust="0"/>
  </p:normalViewPr>
  <p:slideViewPr>
    <p:cSldViewPr snapToGrid="0">
      <p:cViewPr varScale="1">
        <p:scale>
          <a:sx n="147" d="100"/>
          <a:sy n="147" d="100"/>
        </p:scale>
        <p:origin x="3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3" d="100"/>
        <a:sy n="8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0.xlsb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1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'P5 铜到光'!$M$35</c:f>
              <c:strCache>
                <c:ptCount val="1"/>
                <c:pt idx="0">
                  <c:v>铜（Gbps/line）</c:v>
                </c:pt>
              </c:strCache>
            </c:strRef>
          </c:tx>
          <c:spPr>
            <a:ln w="28575" cap="rnd">
              <a:solidFill>
                <a:schemeClr val="accent5">
                  <a:alpha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铜到光'!$M$36:$M$39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F1-4AF4-A519-3C4C4E1281EC}"/>
            </c:ext>
          </c:extLst>
        </c:ser>
        <c:ser>
          <c:idx val="0"/>
          <c:order val="1"/>
          <c:tx>
            <c:strRef>
              <c:f>'P5 铜到光'!$N$35</c:f>
              <c:strCache>
                <c:ptCount val="1"/>
                <c:pt idx="0">
                  <c:v>光模块（Gbps/line）</c:v>
                </c:pt>
              </c:strCache>
            </c:strRef>
          </c:tx>
          <c:spPr>
            <a:ln w="28575" cap="rnd">
              <a:solidFill>
                <a:srgbClr val="0052D9">
                  <a:alpha val="75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铜到光'!$N$36:$N$39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F1-4AF4-A519-3C4C4E1281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8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为什么要看互连!$J$2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CF-42DE-BB37-8C72B62C3948}"/>
            </c:ext>
          </c:extLst>
        </c:ser>
        <c:ser>
          <c:idx val="1"/>
          <c:order val="1"/>
          <c:tx>
            <c:strRef>
              <c:f>为什么要看互连!$J$3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rgbClr val="C1E1FE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CF-42DE-BB37-8C72B62C3948}"/>
            </c:ext>
          </c:extLst>
        </c:ser>
        <c:ser>
          <c:idx val="2"/>
          <c:order val="2"/>
          <c:tx>
            <c:strRef>
              <c:f>为什么要看互连!$J$4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为什么要看互连!$K$4:$O$4</c:f>
              <c:numCache>
                <c:formatCode>General</c:formatCode>
                <c:ptCount val="5"/>
                <c:pt idx="2">
                  <c:v>620</c:v>
                </c:pt>
                <c:pt idx="3">
                  <c:v>1240</c:v>
                </c:pt>
                <c:pt idx="4">
                  <c:v>2480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CF-42DE-BB37-8C72B62C3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056853854203"/>
          <c:y val="7.6243607624360762E-2"/>
          <c:w val="0.87129403557725849"/>
          <c:h val="0.8470478847047884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303-432B-AD1E-C42EBAE3B62A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4</c:v>
                </c:pt>
                <c:pt idx="1">
                  <c:v>6.5</c:v>
                </c:pt>
                <c:pt idx="2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03-432B-AD1E-C42EBAE3B6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12247759"/>
        <c:axId val="1"/>
      </c:barChart>
      <c:catAx>
        <c:axId val="171224775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12247759"/>
        <c:crosses val="min"/>
        <c:crossBetween val="between"/>
        <c:majorUnit val="1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870967741935483"/>
          <c:y val="0.14775160599571735"/>
          <c:w val="0.72258064516129028"/>
          <c:h val="0.7489293361884368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191648822269807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752-4ECB-904A-5DBA6E9A2E6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52-4ECB-904A-5DBA6E9A2E6A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11349036402569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9752-4ECB-904A-5DBA6E9A2E6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752-4ECB-904A-5DBA6E9A2E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406786015"/>
        <c:axId val="1"/>
      </c:barChart>
      <c:catAx>
        <c:axId val="140678601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40678601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591160220994475E-2"/>
          <c:y val="0.14775160599571735"/>
          <c:w val="0.92817679558011046"/>
          <c:h val="0.7489293361884368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687366167023554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BE4-4DFF-955C-D9401872E6C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E4-4DFF-955C-D9401872E6C6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191648822269807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4BE4-4DFF-955C-D9401872E6C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BE4-4DFF-955C-D9401872E6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81938383"/>
        <c:axId val="1"/>
      </c:barChart>
      <c:catAx>
        <c:axId val="28193838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8193838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010752688172043"/>
          <c:y val="0.30530973451327431"/>
          <c:w val="0.53978494623655915"/>
          <c:h val="0.4811946902654867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46FF-4627-AD04-29F063A7CAC9}"/>
              </c:ext>
            </c:extLst>
          </c:dPt>
          <c:dLbls>
            <c:dLbl>
              <c:idx val="0"/>
              <c:layout>
                <c:manualLayout>
                  <c:x val="0"/>
                  <c:y val="-0.16039823008849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6FF-4627-AD04-29F063A7CAC9}"/>
                </c:ext>
              </c:extLst>
            </c:dLbl>
            <c:dLbl>
              <c:idx val="1"/>
              <c:layout>
                <c:manualLayout>
                  <c:x val="0"/>
                  <c:y val="-0.3329646017699114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6FF-4627-AD04-29F063A7CA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1536</c:v>
                </c:pt>
                <c:pt idx="1">
                  <c:v>5376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FF-4627-AD04-29F063A7C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6137791"/>
        <c:axId val="1"/>
      </c:barChart>
      <c:catAx>
        <c:axId val="7261377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3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61377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049382716049384E-2"/>
          <c:y val="0.28163265306122448"/>
          <c:w val="0.96790123456790123"/>
          <c:h val="0.5214285714285714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43C-4E79-A180-5C826E8DDDA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43C-4E79-A180-5C826E8DDDA1}"/>
              </c:ext>
            </c:extLst>
          </c:dPt>
          <c:dLbls>
            <c:dLbl>
              <c:idx val="0"/>
              <c:layout>
                <c:manualLayout>
                  <c:x val="0"/>
                  <c:y val="-0.34591836734693876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43C-4E79-A180-5C826E8DDDA1}"/>
                </c:ext>
              </c:extLst>
            </c:dLbl>
            <c:dLbl>
              <c:idx val="4"/>
              <c:layout>
                <c:manualLayout>
                  <c:x val="0"/>
                  <c:y val="-0.19897959183673469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1.8599999999999999</c:v>
                </c:pt>
                <c:pt idx="1">
                  <c:v>1.63</c:v>
                </c:pt>
                <c:pt idx="2">
                  <c:v>1</c:v>
                </c:pt>
                <c:pt idx="3">
                  <c:v>0.81</c:v>
                </c:pt>
                <c:pt idx="4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3C-4E79-A180-5C826E8DDDA1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0.11632653061224489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43C-4E79-A180-5C826E8DDDA1}"/>
                </c:ext>
              </c:extLst>
            </c:dLbl>
            <c:dLbl>
              <c:idx val="2"/>
              <c:layout>
                <c:manualLayout>
                  <c:x val="0"/>
                  <c:y val="0.17244897959183675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43C-4E79-A180-5C826E8DDDA1}"/>
                </c:ext>
              </c:extLst>
            </c:dLbl>
            <c:dLbl>
              <c:idx val="3"/>
              <c:layout>
                <c:manualLayout>
                  <c:x val="0"/>
                  <c:y val="0.11122448979591837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1">
                  <c:v>0.22999999999999998</c:v>
                </c:pt>
                <c:pt idx="2">
                  <c:v>0.62999999999999989</c:v>
                </c:pt>
                <c:pt idx="3">
                  <c:v>0.18999999999999995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3C-4E79-A180-5C826E8DD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2341119"/>
        <c:axId val="1"/>
      </c:barChart>
      <c:catAx>
        <c:axId val="722341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8599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23411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69724770642202E-2"/>
          <c:y val="8.8888888888888892E-2"/>
          <c:w val="0.92660550458715596"/>
          <c:h val="0.82222222222222219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1</c:v>
                </c:pt>
                <c:pt idx="1">
                  <c:v>12</c:v>
                </c:pt>
                <c:pt idx="2">
                  <c:v>7.0000000000000009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B18-4D3E-8673-056BDBFAAA68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5</c:v>
                </c:pt>
                <c:pt idx="1">
                  <c:v>15</c:v>
                </c:pt>
                <c:pt idx="2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B18-4D3E-8673-056BDBFAAA68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val>
            <c:numRef>
              <c:f>Sheet1!$A$3:$C$3</c:f>
              <c:numCache>
                <c:formatCode>General</c:formatCode>
                <c:ptCount val="3"/>
                <c:pt idx="0">
                  <c:v>0</c:v>
                </c:pt>
                <c:pt idx="1">
                  <c:v>9</c:v>
                </c:pt>
                <c:pt idx="2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B18-4D3E-8673-056BDBFAAA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54197536"/>
        <c:axId val="1"/>
      </c:lineChart>
      <c:catAx>
        <c:axId val="55419753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554197536"/>
        <c:crosses val="min"/>
        <c:crossBetween val="midCat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4123711340206186"/>
          <c:y val="0.23565323565323565"/>
          <c:w val="0.67680412371134024"/>
          <c:h val="0.5286935286935287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500</c:v>
                </c:pt>
                <c:pt idx="1">
                  <c:v>400</c:v>
                </c:pt>
                <c:pt idx="2">
                  <c:v>320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151-4FB7-AF34-B4EB3352DD12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1000</c:v>
                </c:pt>
                <c:pt idx="1">
                  <c:v>800</c:v>
                </c:pt>
                <c:pt idx="2">
                  <c:v>640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51-4FB7-AF34-B4EB3352DD12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0"/>
                  <c:y val="-0.1892551892551892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b="1" kern="1200">
                      <a:solidFill>
                        <a:srgbClr val="0052D9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6151-4FB7-AF34-B4EB3352DD1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Sheet1!$A$3:$C$3</c:f>
              <c:numCache>
                <c:formatCode>General</c:formatCode>
                <c:ptCount val="3"/>
                <c:pt idx="0">
                  <c:v>2000</c:v>
                </c:pt>
                <c:pt idx="1">
                  <c:v>1600</c:v>
                </c:pt>
                <c:pt idx="2">
                  <c:v>1280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151-4FB7-AF34-B4EB3352DD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14703952"/>
        <c:axId val="1"/>
      </c:lineChart>
      <c:catAx>
        <c:axId val="141470395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14703952"/>
        <c:crosses val="min"/>
        <c:crossBetween val="midCat"/>
        <c:majorUnit val="10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4470616226504874E-2"/>
          <c:y val="7.9325935059597202E-2"/>
          <c:w val="0.86581013561741615"/>
          <c:h val="0.78914919852034526"/>
        </c:manualLayout>
      </c:layout>
      <c:scatterChart>
        <c:scatterStyle val="lineMarker"/>
        <c:varyColors val="0"/>
        <c:ser>
          <c:idx val="0"/>
          <c:order val="0"/>
          <c:spPr>
            <a:ln w="19050" cmpd="sng" algn="ctr">
              <a:solidFill>
                <a:schemeClr val="accent5"/>
              </a:solidFill>
              <a:prstDash val="solid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0"/>
                  <c:y val="-4.274558158651869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7348-4575-B5CF-1CB658B9D01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20</c:v>
                </c:pt>
                <c:pt idx="1">
                  <c:v>33</c:v>
                </c:pt>
                <c:pt idx="2">
                  <c:v>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348-4575-B5CF-1CB658B9D019}"/>
            </c:ext>
          </c:extLst>
        </c:ser>
        <c:ser>
          <c:idx val="1"/>
          <c:order val="1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dLbls>
            <c:dLbl>
              <c:idx val="1"/>
              <c:layout>
                <c:manualLayout>
                  <c:x val="0"/>
                  <c:y val="-4.274558158651869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7348-4575-B5CF-1CB658B9D019}"/>
                </c:ext>
              </c:extLst>
            </c:dLbl>
            <c:dLbl>
              <c:idx val="2"/>
              <c:layout>
                <c:manualLayout>
                  <c:x val="0"/>
                  <c:y val="-4.274558158651869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7348-4575-B5CF-1CB658B9D01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Sheet1!$A$3:$C$3</c:f>
              <c:numCache>
                <c:formatCode>General</c:formatCode>
                <c:ptCount val="3"/>
                <c:pt idx="0">
                  <c:v>80</c:v>
                </c:pt>
                <c:pt idx="1">
                  <c:v>67</c:v>
                </c:pt>
                <c:pt idx="2">
                  <c:v>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7348-4575-B5CF-1CB658B9D019}"/>
            </c:ext>
          </c:extLst>
        </c:ser>
        <c:ser>
          <c:idx val="2"/>
          <c:order val="2"/>
          <c:spPr>
            <a:ln w="19050" cmpd="sng" algn="ctr">
              <a:solidFill>
                <a:schemeClr val="accent1"/>
              </a:solidFill>
              <a:prstDash val="dash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2.4268379728765169E-2"/>
                  <c:y val="4.315659679408138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7348-4575-B5CF-1CB658B9D019}"/>
                </c:ext>
              </c:extLst>
            </c:dLbl>
            <c:dLbl>
              <c:idx val="1"/>
              <c:layout>
                <c:manualLayout>
                  <c:x val="0"/>
                  <c:y val="4.315659679408138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7348-4575-B5CF-1CB658B9D019}"/>
                </c:ext>
              </c:extLst>
            </c:dLbl>
            <c:dLbl>
              <c:idx val="2"/>
              <c:layout>
                <c:manualLayout>
                  <c:x val="0"/>
                  <c:y val="4.315659679408138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7348-4575-B5CF-1CB658B9D01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Sheet1!$A$4:$C$4</c:f>
              <c:numCache>
                <c:formatCode>General</c:formatCode>
                <c:ptCount val="3"/>
                <c:pt idx="0">
                  <c:v>11.000000000000002</c:v>
                </c:pt>
                <c:pt idx="1">
                  <c:v>18.150000000000002</c:v>
                </c:pt>
                <c:pt idx="2">
                  <c:v>27.500000000000004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7348-4575-B5CF-1CB658B9D0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6"/>
          <c:min val="2024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8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"/>
        <c:crosses val="min"/>
        <c:crossBetween val="midCat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4730609828300769E-2"/>
          <c:y val="0.1318622174381055"/>
          <c:w val="0.8099467140319716"/>
          <c:h val="0.736275565123789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4903-4094-9C0F-2B244E6705AE}"/>
              </c:ext>
            </c:extLst>
          </c:dPt>
          <c:dPt>
            <c:idx val="1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903-4094-9C0F-2B244E6705AE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4903-4094-9C0F-2B244E6705AE}"/>
              </c:ext>
            </c:extLst>
          </c:dPt>
          <c:dLbls>
            <c:dLbl>
              <c:idx val="0"/>
              <c:layout>
                <c:manualLayout>
                  <c:x val="1.9538188277087035E-2"/>
                  <c:y val="-5.920344456404736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903-4094-9C0F-2B244E6705AE}"/>
                </c:ext>
              </c:extLst>
            </c:dLbl>
            <c:dLbl>
              <c:idx val="1"/>
              <c:layout>
                <c:manualLayout>
                  <c:x val="-1.6577856719952634E-2"/>
                  <c:y val="9.149623250807320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903-4094-9C0F-2B244E6705AE}"/>
                </c:ext>
              </c:extLst>
            </c:dLbl>
            <c:dLbl>
              <c:idx val="2"/>
              <c:layout>
                <c:manualLayout>
                  <c:x val="-1.0657193605683837E-2"/>
                  <c:y val="-3.9289558665231435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4903-4094-9C0F-2B244E6705A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Sheet1!$A$1:$A$3</c:f>
              <c:numCache>
                <c:formatCode>General</c:formatCode>
                <c:ptCount val="3"/>
                <c:pt idx="0">
                  <c:v>39.473684210526315</c:v>
                </c:pt>
                <c:pt idx="1">
                  <c:v>52.631578947368418</c:v>
                </c:pt>
                <c:pt idx="2">
                  <c:v>7.8947368421052628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903-4094-9C0F-2B244E6705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423282083464075E-2"/>
          <c:y val="6.4548162859980135E-2"/>
          <c:w val="0.91841857546281769"/>
          <c:h val="0.87090367428003967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5"/>
              </a:solidFill>
              <a:ln w="9525" cmpd="sng" algn="ctr">
                <a:solidFill>
                  <a:schemeClr val="accent5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0">
                  <c:v>20089</c:v>
                </c:pt>
                <c:pt idx="1">
                  <c:v>19723</c:v>
                </c:pt>
                <c:pt idx="2">
                  <c:v>19358</c:v>
                </c:pt>
                <c:pt idx="3">
                  <c:v>18993</c:v>
                </c:pt>
                <c:pt idx="4">
                  <c:v>18993</c:v>
                </c:pt>
              </c:numCache>
            </c:numRef>
          </c:xVal>
          <c:yVal>
            <c:numRef>
              <c:f>Sheet1!$B$1:$B$19</c:f>
              <c:numCache>
                <c:formatCode>General</c:formatCode>
                <c:ptCount val="19"/>
                <c:pt idx="0">
                  <c:v>5000</c:v>
                </c:pt>
                <c:pt idx="1">
                  <c:v>2200</c:v>
                </c:pt>
                <c:pt idx="2">
                  <c:v>1979</c:v>
                </c:pt>
                <c:pt idx="3">
                  <c:v>1979</c:v>
                </c:pt>
                <c:pt idx="4">
                  <c:v>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C7C-4E5E-A622-D699D6F25D33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circle"/>
            <c:size val="7"/>
            <c:spPr>
              <a:solidFill>
                <a:srgbClr val="0052D9"/>
              </a:solidFill>
              <a:ln w="9525" cmpd="sng" algn="ctr">
                <a:solidFill>
                  <a:srgbClr val="0052D9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5">
                  <c:v>20089</c:v>
                </c:pt>
                <c:pt idx="6">
                  <c:v>19723</c:v>
                </c:pt>
                <c:pt idx="7">
                  <c:v>19358</c:v>
                </c:pt>
                <c:pt idx="8">
                  <c:v>20454</c:v>
                </c:pt>
                <c:pt idx="9">
                  <c:v>19358</c:v>
                </c:pt>
                <c:pt idx="10">
                  <c:v>19723</c:v>
                </c:pt>
                <c:pt idx="11">
                  <c:v>19358</c:v>
                </c:pt>
              </c:numCache>
            </c:numRef>
          </c:xVal>
          <c:yVal>
            <c:numRef>
              <c:f>Sheet1!$C$1:$C$19</c:f>
              <c:numCache>
                <c:formatCode>General</c:formatCode>
                <c:ptCount val="19"/>
                <c:pt idx="5">
                  <c:v>2307</c:v>
                </c:pt>
                <c:pt idx="6">
                  <c:v>918</c:v>
                </c:pt>
                <c:pt idx="7">
                  <c:v>196.5</c:v>
                </c:pt>
                <c:pt idx="8">
                  <c:v>1310</c:v>
                </c:pt>
                <c:pt idx="9">
                  <c:v>667</c:v>
                </c:pt>
                <c:pt idx="10">
                  <c:v>177</c:v>
                </c:pt>
                <c:pt idx="11">
                  <c:v>51.2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C7C-4E5E-A622-D699D6F25D33}"/>
            </c:ext>
          </c:extLst>
        </c:ser>
        <c:ser>
          <c:idx val="2"/>
          <c:order val="2"/>
          <c:spPr>
            <a:ln>
              <a:noFill/>
            </a:ln>
          </c:spPr>
          <c:marker>
            <c:symbol val="circle"/>
            <c:size val="7"/>
            <c:spPr>
              <a:solidFill>
                <a:srgbClr val="C0C0C0"/>
              </a:solidFill>
              <a:ln w="9525" cmpd="sng" algn="ctr">
                <a:solidFill>
                  <a:srgbClr val="C0C0C0"/>
                </a:solidFill>
                <a:prstDash val="solid"/>
              </a:ln>
            </c:spPr>
          </c:marker>
          <c:dPt>
            <c:idx val="13"/>
            <c:marker>
              <c:spPr>
                <a:solidFill>
                  <a:schemeClr val="accent5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3C7C-4E5E-A622-D699D6F25D33}"/>
              </c:ext>
            </c:extLst>
          </c:dPt>
          <c:xVal>
            <c:numRef>
              <c:f>Sheet1!$A$1:$A$19</c:f>
              <c:numCache>
                <c:formatCode>General</c:formatCode>
                <c:ptCount val="19"/>
                <c:pt idx="12">
                  <c:v>19723</c:v>
                </c:pt>
                <c:pt idx="13">
                  <c:v>20089</c:v>
                </c:pt>
                <c:pt idx="14">
                  <c:v>20089</c:v>
                </c:pt>
                <c:pt idx="15">
                  <c:v>19723</c:v>
                </c:pt>
                <c:pt idx="16">
                  <c:v>18993</c:v>
                </c:pt>
              </c:numCache>
            </c:numRef>
          </c:xVal>
          <c:yVal>
            <c:numRef>
              <c:f>Sheet1!$D$1:$D$19</c:f>
              <c:numCache>
                <c:formatCode>General</c:formatCode>
                <c:ptCount val="19"/>
                <c:pt idx="12">
                  <c:v>2615</c:v>
                </c:pt>
                <c:pt idx="13">
                  <c:v>5000</c:v>
                </c:pt>
                <c:pt idx="14">
                  <c:v>4600</c:v>
                </c:pt>
                <c:pt idx="15">
                  <c:v>1835</c:v>
                </c:pt>
                <c:pt idx="16">
                  <c:v>432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C7C-4E5E-A622-D699D6F25D33}"/>
            </c:ext>
          </c:extLst>
        </c:ser>
        <c:ser>
          <c:idx val="3"/>
          <c:order val="3"/>
          <c:spPr>
            <a:ln>
              <a:noFill/>
            </a:ln>
          </c:spPr>
          <c:marker>
            <c:symbol val="circle"/>
            <c:size val="7"/>
            <c:spPr>
              <a:solidFill>
                <a:srgbClr val="C30C3E"/>
              </a:solidFill>
              <a:ln w="9525" cmpd="sng" algn="ctr">
                <a:solidFill>
                  <a:srgbClr val="C30C3E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17">
                  <c:v>20089</c:v>
                </c:pt>
                <c:pt idx="18">
                  <c:v>19358</c:v>
                </c:pt>
              </c:numCache>
            </c:numRef>
          </c:xVal>
          <c:yVal>
            <c:numRef>
              <c:f>Sheet1!$E$1:$E$19</c:f>
              <c:numCache>
                <c:formatCode>General</c:formatCode>
                <c:ptCount val="19"/>
                <c:pt idx="17">
                  <c:v>800</c:v>
                </c:pt>
                <c:pt idx="18">
                  <c:v>320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C7C-4E5E-A622-D699D6F25D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5991087"/>
        <c:axId val="1"/>
      </c:scatterChart>
      <c:valAx>
        <c:axId val="1035991087"/>
        <c:scaling>
          <c:orientation val="minMax"/>
          <c:max val="20454"/>
          <c:min val="18993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crossBetween val="midCat"/>
      </c:valAx>
      <c:valAx>
        <c:axId val="1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35991087"/>
        <c:crosses val="min"/>
        <c:crossBetween val="midCat"/>
        <c:majorUnit val="100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45181605359569404"/>
                  <c:y val="-9.28574360879713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17024892085929"/>
                      <c:h val="0.181687598510008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0.19933061188045326"/>
                  <c:y val="0.24749611972679891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en-US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668182257971086E-2"/>
          <c:y val="0.11551276055928993"/>
          <c:w val="0.80432110171008009"/>
          <c:h val="0.817695107185039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Revenue (left)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Ficontec!$F$8:$H$8</c:f>
              <c:numCache>
                <c:formatCode>General</c:formatCode>
                <c:ptCount val="3"/>
                <c:pt idx="0">
                  <c:v>2.79</c:v>
                </c:pt>
                <c:pt idx="1">
                  <c:v>2.87</c:v>
                </c:pt>
                <c:pt idx="2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17-4999-A788-42C823432753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Net Profit Margin (left)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7044761443574113E-2"/>
                  <c:y val="0.238397560489825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317-4999-A788-42C823432753}"/>
                </c:ext>
              </c:extLst>
            </c:dLbl>
            <c:dLbl>
              <c:idx val="1"/>
              <c:layout>
                <c:manualLayout>
                  <c:x val="2.4068193831947745E-2"/>
                  <c:y val="0.2209549253792847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317-4999-A788-42C823432753}"/>
                </c:ext>
              </c:extLst>
            </c:dLbl>
            <c:dLbl>
              <c:idx val="2"/>
              <c:layout>
                <c:manualLayout>
                  <c:x val="3.0680387931092332E-2"/>
                  <c:y val="0.1671661812685744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317-4999-A788-42C8234327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Ficontec!$F$10:$H$10</c:f>
              <c:numCache>
                <c:formatCode>General</c:formatCode>
                <c:ptCount val="3"/>
                <c:pt idx="0">
                  <c:v>-0.57999999999999996</c:v>
                </c:pt>
                <c:pt idx="1">
                  <c:v>-0.22</c:v>
                </c:pt>
                <c:pt idx="2">
                  <c:v>-0.14000000000000001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Gross Margin (right)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Ficontec!$F$9:$H$9</c:f>
              <c:numCache>
                <c:formatCode>0%</c:formatCode>
                <c:ptCount val="3"/>
                <c:pt idx="0">
                  <c:v>0.34399999999999997</c:v>
                </c:pt>
                <c:pt idx="1">
                  <c:v>0.41599999999999998</c:v>
                </c:pt>
                <c:pt idx="2">
                  <c:v>0.40200000000000002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098411808"/>
        <c:crosses val="max"/>
        <c:crossBetween val="between"/>
        <c:minorUnit val="0.1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8.1327906500388486E-2"/>
          <c:y val="0.8780523639706429"/>
          <c:w val="0.80693091620705704"/>
          <c:h val="0.121947742470450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chemeClr val="accent6"/>
            </a:solidFill>
          </c:spPr>
          <c:dPt>
            <c:idx val="0"/>
            <c:bubble3D val="0"/>
            <c:explosion val="9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199-495D-97DB-D08FE0B5DAB2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199-495D-97DB-D08FE0B5DAB2}"/>
              </c:ext>
            </c:extLst>
          </c:dPt>
          <c:dLbls>
            <c:dLbl>
              <c:idx val="0"/>
              <c:layout>
                <c:manualLayout>
                  <c:x val="-0.18208374909235203"/>
                  <c:y val="6.41152109772137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99-495D-97DB-D08FE0B5DAB2}"/>
                </c:ext>
              </c:extLst>
            </c:dLbl>
            <c:dLbl>
              <c:idx val="1"/>
              <c:layout>
                <c:manualLayout>
                  <c:x val="0.21953623863801"/>
                  <c:y val="-2.75801479811291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99-495D-97DB-D08FE0B5DA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Ficontec!$K$2:$K$3</c:f>
              <c:strCache>
                <c:ptCount val="2"/>
                <c:pt idx="0">
                  <c:v>前五大客户</c:v>
                </c:pt>
                <c:pt idx="1">
                  <c:v>其他</c:v>
                </c:pt>
              </c:strCache>
            </c:strRef>
          </c:cat>
          <c:val>
            <c:numRef>
              <c:f>Ficontec!$L$2:$L$3</c:f>
              <c:numCache>
                <c:formatCode>0%</c:formatCode>
                <c:ptCount val="2"/>
                <c:pt idx="0">
                  <c:v>0.42</c:v>
                </c:pt>
                <c:pt idx="1">
                  <c:v>0.58000000000000007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99-495D-97DB-D08FE0B5DAB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0052D9"/>
            </a:solidFill>
          </c:spPr>
          <c:dPt>
            <c:idx val="0"/>
            <c:bubble3D val="0"/>
            <c:explosion val="8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504-412D-B844-C5F261DCD04A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504-412D-B844-C5F261DCD04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504-412D-B844-C5F261DCD0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Ficontec!$O$2:$O$3</c:f>
              <c:strCache>
                <c:ptCount val="2"/>
                <c:pt idx="0">
                  <c:v>Tech Group AS</c:v>
                </c:pt>
                <c:pt idx="1">
                  <c:v>其他</c:v>
                </c:pt>
              </c:strCache>
            </c:strRef>
          </c:cat>
          <c:val>
            <c:numRef>
              <c:f>Ficontec!$P$2:$P$3</c:f>
              <c:numCache>
                <c:formatCode>0%</c:formatCode>
                <c:ptCount val="2"/>
                <c:pt idx="0">
                  <c:v>0.38</c:v>
                </c:pt>
                <c:pt idx="1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04-412D-B844-C5F261DCD04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971209213051823"/>
          <c:y val="0.11302211302211303"/>
          <c:w val="0.8336532309660909"/>
          <c:h val="0.807944307944307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64C-4591-9999-9110C7E949C8}"/>
                </c:ext>
              </c:extLst>
            </c:dLbl>
            <c:dLbl>
              <c:idx val="1"/>
              <c:layout>
                <c:manualLayout>
                  <c:x val="0"/>
                  <c:y val="-0.235872235872235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4C-4591-9999-9110C7E949C8}"/>
                </c:ext>
              </c:extLst>
            </c:dLbl>
            <c:dLbl>
              <c:idx val="2"/>
              <c:layout>
                <c:manualLayout>
                  <c:x val="0"/>
                  <c:y val="-0.123669123669123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4C-4591-9999-9110C7E949C8}"/>
                </c:ext>
              </c:extLst>
            </c:dLbl>
            <c:dLbl>
              <c:idx val="3"/>
              <c:layout>
                <c:manualLayout>
                  <c:x val="0"/>
                  <c:y val="-7.862407862407862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4C-4591-9999-9110C7E949C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1800</c:v>
                </c:pt>
                <c:pt idx="1">
                  <c:v>900</c:v>
                </c:pt>
                <c:pt idx="2">
                  <c:v>400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4C-4591-9999-9110C7E94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0885872"/>
        <c:axId val="1"/>
      </c:barChart>
      <c:catAx>
        <c:axId val="1870885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70885872"/>
        <c:crosses val="min"/>
        <c:crossBetween val="between"/>
        <c:majorUnit val="2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2761788120025"/>
          <c:y val="0.11302211302211303"/>
          <c:w val="0.75137783221065524"/>
          <c:h val="0.8079443079443079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8714168714168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3370188370188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AE-4498-9717-8C10EF9410E0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7AE-4498-9717-8C10EF9410E0}"/>
              </c:ext>
            </c:extLst>
          </c:dPt>
          <c:dLbls>
            <c:dLbl>
              <c:idx val="0"/>
              <c:layout>
                <c:manualLayout>
                  <c:x val="0"/>
                  <c:y val="-3.603603603603603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27492687"/>
        <c:axId val="1"/>
      </c:barChart>
      <c:barChart>
        <c:barDir val="col"/>
        <c:grouping val="clustered"/>
        <c:varyColors val="0"/>
        <c:ser>
          <c:idx val="2"/>
          <c:order val="2"/>
          <c:invertIfNegative val="0"/>
          <c:extLst>
            <c:ext xmlns:c16="http://schemas.microsoft.com/office/drawing/2014/chart" uri="{C3380CC4-5D6E-409C-BE32-E72D297353CC}">
              <c16:uniqueId val="{00000006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4274926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7492687"/>
        <c:crosses val="max"/>
        <c:crossBetween val="between"/>
        <c:majorUnit val="1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in"/>
        <c:crossBetween val="between"/>
        <c:majorUnit val="0.1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1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99B3-90E7-FF4C-574D-089003B5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C539C-9EDA-E148-F986-7E1CE776B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62231E-0679-BDC8-9907-BF11B38A2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984E2-B6D6-D682-15A0-CEDD35E0D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22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7B5A-0292-B6C8-E55A-E2C44E09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5B817D-B5F8-8268-2DE8-A38067FB9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BA674-C5B3-EE10-E7FE-B19F74ED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74F66A-8627-74AD-79C6-30EE1A0B1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173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03899-E58D-4544-83CD-A08957EFA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9D700C-F719-AAD4-3EB4-44C2DEA53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AFFDF1-2B37-95BA-C7CF-B4F54C1BA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D15356-A1D5-F2E8-1B1E-506F6CD911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1571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01F68-11FD-1292-EC7D-18A6CDC79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8CD9AD-DE28-1BFD-E2F7-7F627DBB5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8FC3CB-D7FE-3D98-3487-48DE61C97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7E4A2A-D3F8-78B6-DE17-4661656A8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1640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390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3439-0CAB-DF59-0D53-4796D119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0C9782-A38A-2D89-7824-06352F62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8117D8-5928-297D-6005-3BABCA3B6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CC873-A930-310E-FDCF-BF95748EC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7135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36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7447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283AB-BA7C-DD8C-C418-E95DBC348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570EFF-4685-F733-FC4D-715EFE659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7D006D-3A81-EE25-94C2-12CC7BC30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761D6F-24C1-86CE-7D65-53B8CB893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6900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5E8D-9D4C-B576-89E1-6C6D0F8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557838-0F90-27A6-BD9D-61F9591D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06591-1F35-34AE-45DB-6C520A36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E2D8B9-0FEE-414F-4D40-AA9E2F14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88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C1FC-4102-E753-14C2-54FFD6BC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342C2F-790F-9301-79D4-9BA499B1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D8636-4C9C-BD65-3F2F-F726DCD9D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AAAC-AEF8-A4D5-4D00-2D3DF7B0F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8906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CF003-E03B-537C-77FD-36F84EE25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9CE9ED-012E-2F0E-85E1-3EDADC460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A3CA08-D59B-F645-3F9D-C77975767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6F8B8D-2853-E2A5-D1B5-DA7BA3BF7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3514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6449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D08B-C1F5-1A4F-FC1B-9B287A1D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6261A-3948-235F-00D8-3D6FADA67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A90EAB-BB90-686A-8731-24D274DA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7A6D1-4A5B-D883-24EC-16BA776F8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450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2E9C-EB3D-46F5-1E8F-84F3AF22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E245A3-6068-8533-3147-FDE2D7F83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1565C7-19E4-E696-D3F8-CF685A299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3BAA03-C1F3-BD93-A902-D82D9E90A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2807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9487-48C0-49BF-9A76-4EC48A3BB7C8}" type="datetime1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06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49" imgH="350" progId="TCLayout.ActiveDocument.1">
                  <p:embed/>
                </p:oleObj>
              </mc:Choice>
              <mc:Fallback>
                <p:oleObj name="think-cell 幻灯片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0763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9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7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9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7.emf"/><Relationship Id="rId15" Type="http://schemas.openxmlformats.org/officeDocument/2006/relationships/image" Target="../media/image17.jpg"/><Relationship Id="rId10" Type="http://schemas.microsoft.com/office/2007/relationships/hdphoto" Target="../media/hdphoto1.wdp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slideLayout" Target="../slideLayouts/slideLayout2.xml"/><Relationship Id="rId18" Type="http://schemas.openxmlformats.org/officeDocument/2006/relationships/chart" Target="../charts/chart2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chart" Target="../charts/chart1.xml"/><Relationship Id="rId2" Type="http://schemas.openxmlformats.org/officeDocument/2006/relationships/tags" Target="../tags/tag12.xml"/><Relationship Id="rId16" Type="http://schemas.openxmlformats.org/officeDocument/2006/relationships/image" Target="../media/image8.emf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oleObject" Target="../embeddings/oleObject6.bin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tags" Target="../tags/tag25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7.xml"/><Relationship Id="rId10" Type="http://schemas.openxmlformats.org/officeDocument/2006/relationships/chart" Target="../charts/chart3.xml"/><Relationship Id="rId4" Type="http://schemas.openxmlformats.org/officeDocument/2006/relationships/tags" Target="../tags/tag26.xml"/><Relationship Id="rId9" Type="http://schemas.openxmlformats.org/officeDocument/2006/relationships/image" Target="../media/image18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tags" Target="../tags/tag40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30.xml"/><Relationship Id="rId21" Type="http://schemas.openxmlformats.org/officeDocument/2006/relationships/image" Target="../media/image8.emf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17" Type="http://schemas.openxmlformats.org/officeDocument/2006/relationships/tags" Target="../tags/tag44.xml"/><Relationship Id="rId2" Type="http://schemas.openxmlformats.org/officeDocument/2006/relationships/tags" Target="../tags/tag29.xml"/><Relationship Id="rId16" Type="http://schemas.openxmlformats.org/officeDocument/2006/relationships/tags" Target="../tags/tag43.xml"/><Relationship Id="rId20" Type="http://schemas.openxmlformats.org/officeDocument/2006/relationships/oleObject" Target="../embeddings/oleObject8.bin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5" Type="http://schemas.openxmlformats.org/officeDocument/2006/relationships/tags" Target="../tags/tag42.xml"/><Relationship Id="rId10" Type="http://schemas.openxmlformats.org/officeDocument/2006/relationships/tags" Target="../tags/tag37.xml"/><Relationship Id="rId19" Type="http://schemas.openxmlformats.org/officeDocument/2006/relationships/notesSlide" Target="../notesSlides/notesSlide7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tags" Target="../tags/tag41.xml"/><Relationship Id="rId22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13" Type="http://schemas.openxmlformats.org/officeDocument/2006/relationships/tags" Target="../tags/tag57.xml"/><Relationship Id="rId18" Type="http://schemas.openxmlformats.org/officeDocument/2006/relationships/tags" Target="../tags/tag62.xml"/><Relationship Id="rId26" Type="http://schemas.openxmlformats.org/officeDocument/2006/relationships/image" Target="../media/image20.png"/><Relationship Id="rId3" Type="http://schemas.openxmlformats.org/officeDocument/2006/relationships/tags" Target="../tags/tag47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51.xml"/><Relationship Id="rId12" Type="http://schemas.openxmlformats.org/officeDocument/2006/relationships/tags" Target="../tags/tag56.xml"/><Relationship Id="rId17" Type="http://schemas.openxmlformats.org/officeDocument/2006/relationships/tags" Target="../tags/tag61.xml"/><Relationship Id="rId25" Type="http://schemas.openxmlformats.org/officeDocument/2006/relationships/image" Target="../media/image19.png"/><Relationship Id="rId2" Type="http://schemas.openxmlformats.org/officeDocument/2006/relationships/tags" Target="../tags/tag46.xml"/><Relationship Id="rId16" Type="http://schemas.openxmlformats.org/officeDocument/2006/relationships/tags" Target="../tags/tag60.xml"/><Relationship Id="rId20" Type="http://schemas.openxmlformats.org/officeDocument/2006/relationships/tags" Target="../tags/tag64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tags" Target="../tags/tag55.xml"/><Relationship Id="rId24" Type="http://schemas.openxmlformats.org/officeDocument/2006/relationships/image" Target="../media/image18.emf"/><Relationship Id="rId5" Type="http://schemas.openxmlformats.org/officeDocument/2006/relationships/tags" Target="../tags/tag49.xml"/><Relationship Id="rId15" Type="http://schemas.openxmlformats.org/officeDocument/2006/relationships/tags" Target="../tags/tag59.xml"/><Relationship Id="rId23" Type="http://schemas.openxmlformats.org/officeDocument/2006/relationships/oleObject" Target="../embeddings/oleObject9.bin"/><Relationship Id="rId28" Type="http://schemas.openxmlformats.org/officeDocument/2006/relationships/image" Target="../media/image22.png"/><Relationship Id="rId10" Type="http://schemas.openxmlformats.org/officeDocument/2006/relationships/tags" Target="../tags/tag54.xml"/><Relationship Id="rId19" Type="http://schemas.openxmlformats.org/officeDocument/2006/relationships/tags" Target="../tags/tag63.xml"/><Relationship Id="rId4" Type="http://schemas.openxmlformats.org/officeDocument/2006/relationships/tags" Target="../tags/tag48.xml"/><Relationship Id="rId9" Type="http://schemas.openxmlformats.org/officeDocument/2006/relationships/tags" Target="../tags/tag53.xml"/><Relationship Id="rId14" Type="http://schemas.openxmlformats.org/officeDocument/2006/relationships/tags" Target="../tags/tag58.xml"/><Relationship Id="rId22" Type="http://schemas.openxmlformats.org/officeDocument/2006/relationships/notesSlide" Target="../notesSlides/notesSlide8.xml"/><Relationship Id="rId27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9.png"/><Relationship Id="rId3" Type="http://schemas.openxmlformats.org/officeDocument/2006/relationships/tags" Target="../tags/tag68.xml"/><Relationship Id="rId7" Type="http://schemas.openxmlformats.org/officeDocument/2006/relationships/notesSlide" Target="../notesSlides/notesSlide10.xml"/><Relationship Id="rId12" Type="http://schemas.openxmlformats.org/officeDocument/2006/relationships/image" Target="../media/image25.png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24.png"/><Relationship Id="rId5" Type="http://schemas.openxmlformats.org/officeDocument/2006/relationships/tags" Target="../tags/tag70.xml"/><Relationship Id="rId1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tags" Target="../tags/tag69.xml"/><Relationship Id="rId9" Type="http://schemas.openxmlformats.org/officeDocument/2006/relationships/image" Target="../media/image18.emf"/><Relationship Id="rId1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13" Type="http://schemas.openxmlformats.org/officeDocument/2006/relationships/image" Target="../media/image18.emf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12" Type="http://schemas.openxmlformats.org/officeDocument/2006/relationships/oleObject" Target="../embeddings/oleObject12.bin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notesSlide" Target="../notesSlides/notesSlide11.xml"/><Relationship Id="rId5" Type="http://schemas.openxmlformats.org/officeDocument/2006/relationships/tags" Target="../tags/tag7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9" Type="http://schemas.openxmlformats.org/officeDocument/2006/relationships/tags" Target="../tags/tag7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3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notesSlide" Target="../notesSlides/notesSlide13.xml"/><Relationship Id="rId7" Type="http://schemas.microsoft.com/office/2007/relationships/hdphoto" Target="../media/hdphoto2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Relationship Id="rId6" Type="http://schemas.openxmlformats.org/officeDocument/2006/relationships/image" Target="../media/image26.png"/><Relationship Id="rId11" Type="http://schemas.microsoft.com/office/2007/relationships/hdphoto" Target="../media/hdphoto4.wdp"/><Relationship Id="rId5" Type="http://schemas.openxmlformats.org/officeDocument/2006/relationships/image" Target="../media/image8.emf"/><Relationship Id="rId10" Type="http://schemas.openxmlformats.org/officeDocument/2006/relationships/image" Target="../media/image28.png"/><Relationship Id="rId4" Type="http://schemas.openxmlformats.org/officeDocument/2006/relationships/oleObject" Target="../embeddings/oleObject14.bin"/><Relationship Id="rId9" Type="http://schemas.microsoft.com/office/2007/relationships/hdphoto" Target="../media/hdphoto3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oleObject" Target="../embeddings/oleObject15.bin"/><Relationship Id="rId7" Type="http://schemas.microsoft.com/office/2007/relationships/hdphoto" Target="../media/hdphoto5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Relationship Id="rId6" Type="http://schemas.openxmlformats.org/officeDocument/2006/relationships/image" Target="../media/image29.png"/><Relationship Id="rId11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31.png"/><Relationship Id="rId4" Type="http://schemas.openxmlformats.org/officeDocument/2006/relationships/image" Target="../media/image8.emf"/><Relationship Id="rId9" Type="http://schemas.microsoft.com/office/2007/relationships/hdphoto" Target="../media/hdphoto6.wdp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5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0.png"/><Relationship Id="rId12" Type="http://schemas.openxmlformats.org/officeDocument/2006/relationships/image" Target="../media/image3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Relationship Id="rId6" Type="http://schemas.openxmlformats.org/officeDocument/2006/relationships/image" Target="../media/image9.png"/><Relationship Id="rId11" Type="http://schemas.openxmlformats.org/officeDocument/2006/relationships/image" Target="../media/image33.png"/><Relationship Id="rId5" Type="http://schemas.openxmlformats.org/officeDocument/2006/relationships/image" Target="../media/image8.emf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6.png"/><Relationship Id="rId14" Type="http://schemas.openxmlformats.org/officeDocument/2006/relationships/image" Target="../media/image36.jpe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tags" Target="../tags/tag96.xml"/><Relationship Id="rId18" Type="http://schemas.openxmlformats.org/officeDocument/2006/relationships/tags" Target="../tags/tag101.xml"/><Relationship Id="rId26" Type="http://schemas.openxmlformats.org/officeDocument/2006/relationships/tags" Target="../tags/tag109.xml"/><Relationship Id="rId39" Type="http://schemas.openxmlformats.org/officeDocument/2006/relationships/notesSlide" Target="../notesSlides/notesSlide15.xml"/><Relationship Id="rId21" Type="http://schemas.openxmlformats.org/officeDocument/2006/relationships/tags" Target="../tags/tag104.xml"/><Relationship Id="rId34" Type="http://schemas.openxmlformats.org/officeDocument/2006/relationships/tags" Target="../tags/tag117.xml"/><Relationship Id="rId42" Type="http://schemas.openxmlformats.org/officeDocument/2006/relationships/chart" Target="../charts/chart5.xml"/><Relationship Id="rId47" Type="http://schemas.openxmlformats.org/officeDocument/2006/relationships/chart" Target="../charts/chart8.xml"/><Relationship Id="rId7" Type="http://schemas.openxmlformats.org/officeDocument/2006/relationships/tags" Target="../tags/tag90.xml"/><Relationship Id="rId2" Type="http://schemas.openxmlformats.org/officeDocument/2006/relationships/tags" Target="../tags/tag85.xml"/><Relationship Id="rId16" Type="http://schemas.openxmlformats.org/officeDocument/2006/relationships/tags" Target="../tags/tag99.xml"/><Relationship Id="rId29" Type="http://schemas.openxmlformats.org/officeDocument/2006/relationships/tags" Target="../tags/tag112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tags" Target="../tags/tag94.xml"/><Relationship Id="rId24" Type="http://schemas.openxmlformats.org/officeDocument/2006/relationships/tags" Target="../tags/tag107.xml"/><Relationship Id="rId32" Type="http://schemas.openxmlformats.org/officeDocument/2006/relationships/tags" Target="../tags/tag115.xml"/><Relationship Id="rId37" Type="http://schemas.openxmlformats.org/officeDocument/2006/relationships/tags" Target="../tags/tag120.xml"/><Relationship Id="rId40" Type="http://schemas.openxmlformats.org/officeDocument/2006/relationships/oleObject" Target="../embeddings/oleObject17.bin"/><Relationship Id="rId45" Type="http://schemas.openxmlformats.org/officeDocument/2006/relationships/image" Target="../media/image38.png"/><Relationship Id="rId5" Type="http://schemas.openxmlformats.org/officeDocument/2006/relationships/tags" Target="../tags/tag88.xml"/><Relationship Id="rId15" Type="http://schemas.openxmlformats.org/officeDocument/2006/relationships/tags" Target="../tags/tag98.xml"/><Relationship Id="rId23" Type="http://schemas.openxmlformats.org/officeDocument/2006/relationships/tags" Target="../tags/tag106.xml"/><Relationship Id="rId28" Type="http://schemas.openxmlformats.org/officeDocument/2006/relationships/tags" Target="../tags/tag111.xml"/><Relationship Id="rId36" Type="http://schemas.openxmlformats.org/officeDocument/2006/relationships/tags" Target="../tags/tag119.xml"/><Relationship Id="rId10" Type="http://schemas.openxmlformats.org/officeDocument/2006/relationships/tags" Target="../tags/tag93.xml"/><Relationship Id="rId19" Type="http://schemas.openxmlformats.org/officeDocument/2006/relationships/tags" Target="../tags/tag102.xml"/><Relationship Id="rId31" Type="http://schemas.openxmlformats.org/officeDocument/2006/relationships/tags" Target="../tags/tag114.xml"/><Relationship Id="rId44" Type="http://schemas.openxmlformats.org/officeDocument/2006/relationships/chart" Target="../charts/chart7.xml"/><Relationship Id="rId4" Type="http://schemas.openxmlformats.org/officeDocument/2006/relationships/tags" Target="../tags/tag87.xml"/><Relationship Id="rId9" Type="http://schemas.openxmlformats.org/officeDocument/2006/relationships/tags" Target="../tags/tag92.xml"/><Relationship Id="rId14" Type="http://schemas.openxmlformats.org/officeDocument/2006/relationships/tags" Target="../tags/tag97.xml"/><Relationship Id="rId22" Type="http://schemas.openxmlformats.org/officeDocument/2006/relationships/tags" Target="../tags/tag105.xml"/><Relationship Id="rId27" Type="http://schemas.openxmlformats.org/officeDocument/2006/relationships/tags" Target="../tags/tag110.xml"/><Relationship Id="rId30" Type="http://schemas.openxmlformats.org/officeDocument/2006/relationships/tags" Target="../tags/tag113.xml"/><Relationship Id="rId35" Type="http://schemas.openxmlformats.org/officeDocument/2006/relationships/tags" Target="../tags/tag118.xml"/><Relationship Id="rId43" Type="http://schemas.openxmlformats.org/officeDocument/2006/relationships/chart" Target="../charts/chart6.xml"/><Relationship Id="rId8" Type="http://schemas.openxmlformats.org/officeDocument/2006/relationships/tags" Target="../tags/tag91.xml"/><Relationship Id="rId3" Type="http://schemas.openxmlformats.org/officeDocument/2006/relationships/tags" Target="../tags/tag86.xml"/><Relationship Id="rId12" Type="http://schemas.openxmlformats.org/officeDocument/2006/relationships/tags" Target="../tags/tag95.xml"/><Relationship Id="rId17" Type="http://schemas.openxmlformats.org/officeDocument/2006/relationships/tags" Target="../tags/tag100.xml"/><Relationship Id="rId25" Type="http://schemas.openxmlformats.org/officeDocument/2006/relationships/tags" Target="../tags/tag108.xml"/><Relationship Id="rId33" Type="http://schemas.openxmlformats.org/officeDocument/2006/relationships/tags" Target="../tags/tag116.xml"/><Relationship Id="rId38" Type="http://schemas.openxmlformats.org/officeDocument/2006/relationships/slideLayout" Target="../slideLayouts/slideLayout2.xml"/><Relationship Id="rId46" Type="http://schemas.microsoft.com/office/2007/relationships/hdphoto" Target="../media/hdphoto7.wdp"/><Relationship Id="rId20" Type="http://schemas.openxmlformats.org/officeDocument/2006/relationships/tags" Target="../tags/tag103.xml"/><Relationship Id="rId41" Type="http://schemas.openxmlformats.org/officeDocument/2006/relationships/image" Target="../media/image8.emf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133.xml"/><Relationship Id="rId18" Type="http://schemas.openxmlformats.org/officeDocument/2006/relationships/tags" Target="../tags/tag138.xml"/><Relationship Id="rId26" Type="http://schemas.openxmlformats.org/officeDocument/2006/relationships/tags" Target="../tags/tag146.xml"/><Relationship Id="rId39" Type="http://schemas.openxmlformats.org/officeDocument/2006/relationships/chart" Target="../charts/chart10.xml"/><Relationship Id="rId21" Type="http://schemas.openxmlformats.org/officeDocument/2006/relationships/tags" Target="../tags/tag141.xml"/><Relationship Id="rId34" Type="http://schemas.openxmlformats.org/officeDocument/2006/relationships/image" Target="../media/image10.png"/><Relationship Id="rId7" Type="http://schemas.openxmlformats.org/officeDocument/2006/relationships/tags" Target="../tags/tag127.xml"/><Relationship Id="rId12" Type="http://schemas.openxmlformats.org/officeDocument/2006/relationships/tags" Target="../tags/tag132.xml"/><Relationship Id="rId17" Type="http://schemas.openxmlformats.org/officeDocument/2006/relationships/tags" Target="../tags/tag137.xml"/><Relationship Id="rId25" Type="http://schemas.openxmlformats.org/officeDocument/2006/relationships/tags" Target="../tags/tag145.xml"/><Relationship Id="rId33" Type="http://schemas.openxmlformats.org/officeDocument/2006/relationships/image" Target="../media/image9.png"/><Relationship Id="rId38" Type="http://schemas.openxmlformats.org/officeDocument/2006/relationships/chart" Target="../charts/chart9.xml"/><Relationship Id="rId2" Type="http://schemas.openxmlformats.org/officeDocument/2006/relationships/tags" Target="../tags/tag122.xml"/><Relationship Id="rId16" Type="http://schemas.openxmlformats.org/officeDocument/2006/relationships/tags" Target="../tags/tag136.xml"/><Relationship Id="rId20" Type="http://schemas.openxmlformats.org/officeDocument/2006/relationships/tags" Target="../tags/tag140.xml"/><Relationship Id="rId29" Type="http://schemas.openxmlformats.org/officeDocument/2006/relationships/slideLayout" Target="../slideLayouts/slideLayout13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tags" Target="../tags/tag131.xml"/><Relationship Id="rId24" Type="http://schemas.openxmlformats.org/officeDocument/2006/relationships/tags" Target="../tags/tag144.xml"/><Relationship Id="rId32" Type="http://schemas.openxmlformats.org/officeDocument/2006/relationships/image" Target="../media/image7.emf"/><Relationship Id="rId37" Type="http://schemas.openxmlformats.org/officeDocument/2006/relationships/image" Target="../media/image40.jpeg"/><Relationship Id="rId5" Type="http://schemas.openxmlformats.org/officeDocument/2006/relationships/tags" Target="../tags/tag125.xml"/><Relationship Id="rId15" Type="http://schemas.openxmlformats.org/officeDocument/2006/relationships/tags" Target="../tags/tag135.xml"/><Relationship Id="rId23" Type="http://schemas.openxmlformats.org/officeDocument/2006/relationships/tags" Target="../tags/tag143.xml"/><Relationship Id="rId28" Type="http://schemas.openxmlformats.org/officeDocument/2006/relationships/tags" Target="../tags/tag148.xml"/><Relationship Id="rId36" Type="http://schemas.openxmlformats.org/officeDocument/2006/relationships/image" Target="../media/image39.png"/><Relationship Id="rId10" Type="http://schemas.openxmlformats.org/officeDocument/2006/relationships/tags" Target="../tags/tag130.xml"/><Relationship Id="rId19" Type="http://schemas.openxmlformats.org/officeDocument/2006/relationships/tags" Target="../tags/tag139.xml"/><Relationship Id="rId31" Type="http://schemas.openxmlformats.org/officeDocument/2006/relationships/oleObject" Target="../embeddings/oleObject18.bin"/><Relationship Id="rId4" Type="http://schemas.openxmlformats.org/officeDocument/2006/relationships/tags" Target="../tags/tag124.xml"/><Relationship Id="rId9" Type="http://schemas.openxmlformats.org/officeDocument/2006/relationships/tags" Target="../tags/tag129.xml"/><Relationship Id="rId14" Type="http://schemas.openxmlformats.org/officeDocument/2006/relationships/tags" Target="../tags/tag134.xml"/><Relationship Id="rId22" Type="http://schemas.openxmlformats.org/officeDocument/2006/relationships/tags" Target="../tags/tag142.xml"/><Relationship Id="rId27" Type="http://schemas.openxmlformats.org/officeDocument/2006/relationships/tags" Target="../tags/tag147.xml"/><Relationship Id="rId30" Type="http://schemas.openxmlformats.org/officeDocument/2006/relationships/notesSlide" Target="../notesSlides/notesSlide16.xml"/><Relationship Id="rId35" Type="http://schemas.openxmlformats.org/officeDocument/2006/relationships/image" Target="../media/image21.png"/><Relationship Id="rId8" Type="http://schemas.openxmlformats.org/officeDocument/2006/relationships/tags" Target="../tags/tag128.xml"/><Relationship Id="rId3" Type="http://schemas.openxmlformats.org/officeDocument/2006/relationships/tags" Target="../tags/tag12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notesSlide" Target="../notesSlides/notesSlide17.xml"/><Relationship Id="rId7" Type="http://schemas.microsoft.com/office/2007/relationships/hdphoto" Target="../media/hdphoto8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9.xml"/><Relationship Id="rId6" Type="http://schemas.openxmlformats.org/officeDocument/2006/relationships/image" Target="../media/image41.png"/><Relationship Id="rId11" Type="http://schemas.microsoft.com/office/2007/relationships/hdphoto" Target="../media/hdphoto9.wdp"/><Relationship Id="rId5" Type="http://schemas.openxmlformats.org/officeDocument/2006/relationships/image" Target="../media/image8.emf"/><Relationship Id="rId10" Type="http://schemas.openxmlformats.org/officeDocument/2006/relationships/image" Target="../media/image44.png"/><Relationship Id="rId4" Type="http://schemas.openxmlformats.org/officeDocument/2006/relationships/oleObject" Target="../embeddings/oleObject19.bin"/><Relationship Id="rId9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0.png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45.png"/><Relationship Id="rId12" Type="http://schemas.openxmlformats.org/officeDocument/2006/relationships/image" Target="../media/image4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0.xml"/><Relationship Id="rId6" Type="http://schemas.openxmlformats.org/officeDocument/2006/relationships/image" Target="../media/image19.png"/><Relationship Id="rId11" Type="http://schemas.openxmlformats.org/officeDocument/2006/relationships/image" Target="../media/image48.png"/><Relationship Id="rId5" Type="http://schemas.openxmlformats.org/officeDocument/2006/relationships/image" Target="../media/image8.emf"/><Relationship Id="rId10" Type="http://schemas.openxmlformats.org/officeDocument/2006/relationships/image" Target="../media/image47.png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3.png"/><Relationship Id="rId21" Type="http://schemas.openxmlformats.org/officeDocument/2006/relationships/image" Target="../media/image60.png"/><Relationship Id="rId42" Type="http://schemas.openxmlformats.org/officeDocument/2006/relationships/image" Target="../media/image31.png"/><Relationship Id="rId47" Type="http://schemas.openxmlformats.org/officeDocument/2006/relationships/image" Target="../media/image75.png"/><Relationship Id="rId63" Type="http://schemas.microsoft.com/office/2007/relationships/hdphoto" Target="../media/hdphoto29.wdp"/><Relationship Id="rId68" Type="http://schemas.openxmlformats.org/officeDocument/2006/relationships/image" Target="../media/image84.png"/><Relationship Id="rId16" Type="http://schemas.openxmlformats.org/officeDocument/2006/relationships/image" Target="../media/image57.png"/><Relationship Id="rId11" Type="http://schemas.microsoft.com/office/2007/relationships/hdphoto" Target="../media/hdphoto12.wdp"/><Relationship Id="rId32" Type="http://schemas.openxmlformats.org/officeDocument/2006/relationships/image" Target="../media/image67.png"/><Relationship Id="rId37" Type="http://schemas.openxmlformats.org/officeDocument/2006/relationships/image" Target="../media/image70.png"/><Relationship Id="rId53" Type="http://schemas.openxmlformats.org/officeDocument/2006/relationships/image" Target="../media/image30.png"/><Relationship Id="rId58" Type="http://schemas.openxmlformats.org/officeDocument/2006/relationships/image" Target="../media/image79.png"/><Relationship Id="rId74" Type="http://schemas.microsoft.com/office/2007/relationships/hdphoto" Target="../media/hdphoto33.wdp"/><Relationship Id="rId79" Type="http://schemas.openxmlformats.org/officeDocument/2006/relationships/image" Target="../media/image90.png"/><Relationship Id="rId5" Type="http://schemas.openxmlformats.org/officeDocument/2006/relationships/image" Target="../media/image51.png"/><Relationship Id="rId61" Type="http://schemas.microsoft.com/office/2007/relationships/hdphoto" Target="../media/hdphoto28.wdp"/><Relationship Id="rId82" Type="http://schemas.microsoft.com/office/2007/relationships/hdphoto" Target="../media/hdphoto37.wdp"/><Relationship Id="rId19" Type="http://schemas.openxmlformats.org/officeDocument/2006/relationships/image" Target="../media/image20.png"/><Relationship Id="rId14" Type="http://schemas.openxmlformats.org/officeDocument/2006/relationships/image" Target="../media/image56.png"/><Relationship Id="rId22" Type="http://schemas.openxmlformats.org/officeDocument/2006/relationships/image" Target="../media/image61.png"/><Relationship Id="rId27" Type="http://schemas.openxmlformats.org/officeDocument/2006/relationships/image" Target="../media/image64.png"/><Relationship Id="rId30" Type="http://schemas.openxmlformats.org/officeDocument/2006/relationships/image" Target="../media/image66.png"/><Relationship Id="rId35" Type="http://schemas.microsoft.com/office/2007/relationships/hdphoto" Target="../media/hdphoto20.wdp"/><Relationship Id="rId43" Type="http://schemas.openxmlformats.org/officeDocument/2006/relationships/image" Target="../media/image73.png"/><Relationship Id="rId48" Type="http://schemas.microsoft.com/office/2007/relationships/hdphoto" Target="../media/hdphoto24.wdp"/><Relationship Id="rId56" Type="http://schemas.microsoft.com/office/2007/relationships/hdphoto" Target="../media/hdphoto26.wdp"/><Relationship Id="rId64" Type="http://schemas.openxmlformats.org/officeDocument/2006/relationships/image" Target="../media/image82.png"/><Relationship Id="rId69" Type="http://schemas.microsoft.com/office/2007/relationships/hdphoto" Target="../media/hdphoto32.wdp"/><Relationship Id="rId77" Type="http://schemas.openxmlformats.org/officeDocument/2006/relationships/image" Target="../media/image89.png"/><Relationship Id="rId8" Type="http://schemas.openxmlformats.org/officeDocument/2006/relationships/image" Target="../media/image53.png"/><Relationship Id="rId51" Type="http://schemas.openxmlformats.org/officeDocument/2006/relationships/image" Target="../media/image29.png"/><Relationship Id="rId72" Type="http://schemas.openxmlformats.org/officeDocument/2006/relationships/image" Target="../media/image86.png"/><Relationship Id="rId80" Type="http://schemas.microsoft.com/office/2007/relationships/hdphoto" Target="../media/hdphoto36.wdp"/><Relationship Id="rId3" Type="http://schemas.openxmlformats.org/officeDocument/2006/relationships/oleObject" Target="../embeddings/oleObject21.bin"/><Relationship Id="rId12" Type="http://schemas.openxmlformats.org/officeDocument/2006/relationships/image" Target="../media/image55.png"/><Relationship Id="rId17" Type="http://schemas.microsoft.com/office/2007/relationships/hdphoto" Target="../media/hdphoto14.wdp"/><Relationship Id="rId25" Type="http://schemas.microsoft.com/office/2007/relationships/hdphoto" Target="../media/hdphoto16.wdp"/><Relationship Id="rId33" Type="http://schemas.microsoft.com/office/2007/relationships/hdphoto" Target="../media/hdphoto19.wdp"/><Relationship Id="rId38" Type="http://schemas.openxmlformats.org/officeDocument/2006/relationships/image" Target="../media/image71.png"/><Relationship Id="rId46" Type="http://schemas.microsoft.com/office/2007/relationships/hdphoto" Target="../media/hdphoto23.wdp"/><Relationship Id="rId59" Type="http://schemas.microsoft.com/office/2007/relationships/hdphoto" Target="../media/hdphoto27.wdp"/><Relationship Id="rId67" Type="http://schemas.microsoft.com/office/2007/relationships/hdphoto" Target="../media/hdphoto31.wdp"/><Relationship Id="rId20" Type="http://schemas.openxmlformats.org/officeDocument/2006/relationships/image" Target="../media/image59.png"/><Relationship Id="rId41" Type="http://schemas.microsoft.com/office/2007/relationships/hdphoto" Target="../media/hdphoto21.wdp"/><Relationship Id="rId54" Type="http://schemas.microsoft.com/office/2007/relationships/hdphoto" Target="../media/hdphoto6.wdp"/><Relationship Id="rId62" Type="http://schemas.openxmlformats.org/officeDocument/2006/relationships/image" Target="../media/image81.png"/><Relationship Id="rId70" Type="http://schemas.openxmlformats.org/officeDocument/2006/relationships/image" Target="../media/image45.png"/><Relationship Id="rId75" Type="http://schemas.openxmlformats.org/officeDocument/2006/relationships/image" Target="../media/image88.png"/><Relationship Id="rId83" Type="http://schemas.openxmlformats.org/officeDocument/2006/relationships/image" Target="../media/image92.png"/><Relationship Id="rId1" Type="http://schemas.openxmlformats.org/officeDocument/2006/relationships/tags" Target="../tags/tag151.xml"/><Relationship Id="rId6" Type="http://schemas.microsoft.com/office/2007/relationships/hdphoto" Target="../media/hdphoto10.wdp"/><Relationship Id="rId15" Type="http://schemas.microsoft.com/office/2007/relationships/hdphoto" Target="../media/hdphoto13.wdp"/><Relationship Id="rId23" Type="http://schemas.microsoft.com/office/2007/relationships/hdphoto" Target="../media/hdphoto15.wdp"/><Relationship Id="rId28" Type="http://schemas.microsoft.com/office/2007/relationships/hdphoto" Target="../media/hdphoto17.wdp"/><Relationship Id="rId36" Type="http://schemas.openxmlformats.org/officeDocument/2006/relationships/image" Target="../media/image69.png"/><Relationship Id="rId49" Type="http://schemas.openxmlformats.org/officeDocument/2006/relationships/image" Target="../media/image76.png"/><Relationship Id="rId57" Type="http://schemas.openxmlformats.org/officeDocument/2006/relationships/image" Target="../media/image78.png"/><Relationship Id="rId10" Type="http://schemas.openxmlformats.org/officeDocument/2006/relationships/image" Target="../media/image54.png"/><Relationship Id="rId31" Type="http://schemas.microsoft.com/office/2007/relationships/hdphoto" Target="../media/hdphoto18.wdp"/><Relationship Id="rId44" Type="http://schemas.microsoft.com/office/2007/relationships/hdphoto" Target="../media/hdphoto22.wdp"/><Relationship Id="rId52" Type="http://schemas.microsoft.com/office/2007/relationships/hdphoto" Target="../media/hdphoto5.wdp"/><Relationship Id="rId60" Type="http://schemas.openxmlformats.org/officeDocument/2006/relationships/image" Target="../media/image80.png"/><Relationship Id="rId65" Type="http://schemas.microsoft.com/office/2007/relationships/hdphoto" Target="../media/hdphoto30.wdp"/><Relationship Id="rId73" Type="http://schemas.openxmlformats.org/officeDocument/2006/relationships/image" Target="../media/image87.png"/><Relationship Id="rId78" Type="http://schemas.microsoft.com/office/2007/relationships/hdphoto" Target="../media/hdphoto35.wdp"/><Relationship Id="rId81" Type="http://schemas.openxmlformats.org/officeDocument/2006/relationships/image" Target="../media/image91.png"/><Relationship Id="rId4" Type="http://schemas.openxmlformats.org/officeDocument/2006/relationships/image" Target="../media/image8.emf"/><Relationship Id="rId9" Type="http://schemas.microsoft.com/office/2007/relationships/hdphoto" Target="../media/hdphoto11.wdp"/><Relationship Id="rId13" Type="http://schemas.openxmlformats.org/officeDocument/2006/relationships/image" Target="../media/image19.png"/><Relationship Id="rId18" Type="http://schemas.openxmlformats.org/officeDocument/2006/relationships/image" Target="../media/image58.png"/><Relationship Id="rId39" Type="http://schemas.openxmlformats.org/officeDocument/2006/relationships/image" Target="../media/image47.png"/><Relationship Id="rId34" Type="http://schemas.openxmlformats.org/officeDocument/2006/relationships/image" Target="../media/image68.png"/><Relationship Id="rId50" Type="http://schemas.microsoft.com/office/2007/relationships/hdphoto" Target="../media/hdphoto25.wdp"/><Relationship Id="rId55" Type="http://schemas.openxmlformats.org/officeDocument/2006/relationships/image" Target="../media/image77.png"/><Relationship Id="rId76" Type="http://schemas.microsoft.com/office/2007/relationships/hdphoto" Target="../media/hdphoto34.wdp"/><Relationship Id="rId7" Type="http://schemas.openxmlformats.org/officeDocument/2006/relationships/image" Target="../media/image52.png"/><Relationship Id="rId71" Type="http://schemas.openxmlformats.org/officeDocument/2006/relationships/image" Target="../media/image85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65.png"/><Relationship Id="rId24" Type="http://schemas.openxmlformats.org/officeDocument/2006/relationships/image" Target="../media/image62.png"/><Relationship Id="rId40" Type="http://schemas.openxmlformats.org/officeDocument/2006/relationships/image" Target="../media/image72.png"/><Relationship Id="rId45" Type="http://schemas.openxmlformats.org/officeDocument/2006/relationships/image" Target="../media/image74.png"/><Relationship Id="rId66" Type="http://schemas.openxmlformats.org/officeDocument/2006/relationships/image" Target="../media/image8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9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2.xml"/><Relationship Id="rId6" Type="http://schemas.openxmlformats.org/officeDocument/2006/relationships/image" Target="../media/image19.png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3.png"/><Relationship Id="rId18" Type="http://schemas.openxmlformats.org/officeDocument/2006/relationships/image" Target="../media/image95.png"/><Relationship Id="rId26" Type="http://schemas.openxmlformats.org/officeDocument/2006/relationships/image" Target="../media/image76.png"/><Relationship Id="rId3" Type="http://schemas.openxmlformats.org/officeDocument/2006/relationships/tags" Target="../tags/tag155.xml"/><Relationship Id="rId21" Type="http://schemas.microsoft.com/office/2007/relationships/hdphoto" Target="../media/hdphoto39.wdp"/><Relationship Id="rId7" Type="http://schemas.openxmlformats.org/officeDocument/2006/relationships/image" Target="../media/image47.png"/><Relationship Id="rId12" Type="http://schemas.openxmlformats.org/officeDocument/2006/relationships/image" Target="../media/image55.png"/><Relationship Id="rId17" Type="http://schemas.openxmlformats.org/officeDocument/2006/relationships/image" Target="../media/image31.png"/><Relationship Id="rId25" Type="http://schemas.openxmlformats.org/officeDocument/2006/relationships/image" Target="../media/image97.png"/><Relationship Id="rId2" Type="http://schemas.openxmlformats.org/officeDocument/2006/relationships/tags" Target="../tags/tag154.xml"/><Relationship Id="rId16" Type="http://schemas.microsoft.com/office/2007/relationships/hdphoto" Target="../media/hdphoto23.wdp"/><Relationship Id="rId20" Type="http://schemas.openxmlformats.org/officeDocument/2006/relationships/image" Target="../media/image96.png"/><Relationship Id="rId1" Type="http://schemas.openxmlformats.org/officeDocument/2006/relationships/tags" Target="../tags/tag153.xml"/><Relationship Id="rId6" Type="http://schemas.openxmlformats.org/officeDocument/2006/relationships/image" Target="../media/image18.emf"/><Relationship Id="rId11" Type="http://schemas.openxmlformats.org/officeDocument/2006/relationships/image" Target="../media/image19.png"/><Relationship Id="rId24" Type="http://schemas.openxmlformats.org/officeDocument/2006/relationships/image" Target="../media/image69.png"/><Relationship Id="rId5" Type="http://schemas.openxmlformats.org/officeDocument/2006/relationships/oleObject" Target="../embeddings/oleObject23.bin"/><Relationship Id="rId15" Type="http://schemas.openxmlformats.org/officeDocument/2006/relationships/image" Target="../media/image74.png"/><Relationship Id="rId23" Type="http://schemas.microsoft.com/office/2007/relationships/hdphoto" Target="../media/hdphoto34.wdp"/><Relationship Id="rId10" Type="http://schemas.openxmlformats.org/officeDocument/2006/relationships/image" Target="../media/image85.png"/><Relationship Id="rId19" Type="http://schemas.microsoft.com/office/2007/relationships/hdphoto" Target="../media/hdphoto38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94.png"/><Relationship Id="rId14" Type="http://schemas.microsoft.com/office/2007/relationships/hdphoto" Target="../media/hdphoto22.wdp"/><Relationship Id="rId22" Type="http://schemas.openxmlformats.org/officeDocument/2006/relationships/image" Target="../media/image88.png"/><Relationship Id="rId27" Type="http://schemas.microsoft.com/office/2007/relationships/hdphoto" Target="../media/hdphoto25.wdp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163.xml"/><Relationship Id="rId13" Type="http://schemas.openxmlformats.org/officeDocument/2006/relationships/tags" Target="../tags/tag168.xml"/><Relationship Id="rId18" Type="http://schemas.openxmlformats.org/officeDocument/2006/relationships/chart" Target="../charts/chart11.xml"/><Relationship Id="rId3" Type="http://schemas.openxmlformats.org/officeDocument/2006/relationships/tags" Target="../tags/tag158.xml"/><Relationship Id="rId7" Type="http://schemas.openxmlformats.org/officeDocument/2006/relationships/tags" Target="../tags/tag162.xml"/><Relationship Id="rId12" Type="http://schemas.openxmlformats.org/officeDocument/2006/relationships/tags" Target="../tags/tag167.xml"/><Relationship Id="rId17" Type="http://schemas.openxmlformats.org/officeDocument/2006/relationships/image" Target="../media/image18.emf"/><Relationship Id="rId2" Type="http://schemas.openxmlformats.org/officeDocument/2006/relationships/tags" Target="../tags/tag157.xml"/><Relationship Id="rId16" Type="http://schemas.openxmlformats.org/officeDocument/2006/relationships/oleObject" Target="../embeddings/oleObject24.bin"/><Relationship Id="rId1" Type="http://schemas.openxmlformats.org/officeDocument/2006/relationships/tags" Target="../tags/tag156.xml"/><Relationship Id="rId6" Type="http://schemas.openxmlformats.org/officeDocument/2006/relationships/tags" Target="../tags/tag161.xml"/><Relationship Id="rId11" Type="http://schemas.openxmlformats.org/officeDocument/2006/relationships/tags" Target="../tags/tag166.xml"/><Relationship Id="rId5" Type="http://schemas.openxmlformats.org/officeDocument/2006/relationships/tags" Target="../tags/tag160.xml"/><Relationship Id="rId15" Type="http://schemas.openxmlformats.org/officeDocument/2006/relationships/notesSlide" Target="../notesSlides/notesSlide20.xml"/><Relationship Id="rId10" Type="http://schemas.openxmlformats.org/officeDocument/2006/relationships/tags" Target="../tags/tag165.xml"/><Relationship Id="rId19" Type="http://schemas.openxmlformats.org/officeDocument/2006/relationships/chart" Target="../charts/chart12.xml"/><Relationship Id="rId4" Type="http://schemas.openxmlformats.org/officeDocument/2006/relationships/tags" Target="../tags/tag159.xml"/><Relationship Id="rId9" Type="http://schemas.openxmlformats.org/officeDocument/2006/relationships/tags" Target="../tags/tag164.xml"/><Relationship Id="rId1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tags" Target="../tags/tag181.xml"/><Relationship Id="rId18" Type="http://schemas.openxmlformats.org/officeDocument/2006/relationships/tags" Target="../tags/tag186.xml"/><Relationship Id="rId26" Type="http://schemas.openxmlformats.org/officeDocument/2006/relationships/tags" Target="../tags/tag194.xml"/><Relationship Id="rId39" Type="http://schemas.openxmlformats.org/officeDocument/2006/relationships/tags" Target="../tags/tag207.xml"/><Relationship Id="rId21" Type="http://schemas.openxmlformats.org/officeDocument/2006/relationships/tags" Target="../tags/tag189.xml"/><Relationship Id="rId34" Type="http://schemas.openxmlformats.org/officeDocument/2006/relationships/tags" Target="../tags/tag202.xml"/><Relationship Id="rId42" Type="http://schemas.openxmlformats.org/officeDocument/2006/relationships/tags" Target="../tags/tag210.xml"/><Relationship Id="rId47" Type="http://schemas.openxmlformats.org/officeDocument/2006/relationships/notesSlide" Target="../notesSlides/notesSlide21.xml"/><Relationship Id="rId50" Type="http://schemas.openxmlformats.org/officeDocument/2006/relationships/chart" Target="../charts/chart13.xml"/><Relationship Id="rId7" Type="http://schemas.openxmlformats.org/officeDocument/2006/relationships/tags" Target="../tags/tag175.xml"/><Relationship Id="rId2" Type="http://schemas.openxmlformats.org/officeDocument/2006/relationships/tags" Target="../tags/tag170.xml"/><Relationship Id="rId16" Type="http://schemas.openxmlformats.org/officeDocument/2006/relationships/tags" Target="../tags/tag184.xml"/><Relationship Id="rId29" Type="http://schemas.openxmlformats.org/officeDocument/2006/relationships/tags" Target="../tags/tag197.xml"/><Relationship Id="rId11" Type="http://schemas.openxmlformats.org/officeDocument/2006/relationships/tags" Target="../tags/tag179.xml"/><Relationship Id="rId24" Type="http://schemas.openxmlformats.org/officeDocument/2006/relationships/tags" Target="../tags/tag192.xml"/><Relationship Id="rId32" Type="http://schemas.openxmlformats.org/officeDocument/2006/relationships/tags" Target="../tags/tag200.xml"/><Relationship Id="rId37" Type="http://schemas.openxmlformats.org/officeDocument/2006/relationships/tags" Target="../tags/tag205.xml"/><Relationship Id="rId40" Type="http://schemas.openxmlformats.org/officeDocument/2006/relationships/tags" Target="../tags/tag208.xml"/><Relationship Id="rId45" Type="http://schemas.openxmlformats.org/officeDocument/2006/relationships/tags" Target="../tags/tag213.xml"/><Relationship Id="rId5" Type="http://schemas.openxmlformats.org/officeDocument/2006/relationships/tags" Target="../tags/tag173.xml"/><Relationship Id="rId15" Type="http://schemas.openxmlformats.org/officeDocument/2006/relationships/tags" Target="../tags/tag183.xml"/><Relationship Id="rId23" Type="http://schemas.openxmlformats.org/officeDocument/2006/relationships/tags" Target="../tags/tag191.xml"/><Relationship Id="rId28" Type="http://schemas.openxmlformats.org/officeDocument/2006/relationships/tags" Target="../tags/tag196.xml"/><Relationship Id="rId36" Type="http://schemas.openxmlformats.org/officeDocument/2006/relationships/tags" Target="../tags/tag204.xml"/><Relationship Id="rId49" Type="http://schemas.openxmlformats.org/officeDocument/2006/relationships/image" Target="../media/image18.emf"/><Relationship Id="rId10" Type="http://schemas.openxmlformats.org/officeDocument/2006/relationships/tags" Target="../tags/tag178.xml"/><Relationship Id="rId19" Type="http://schemas.openxmlformats.org/officeDocument/2006/relationships/tags" Target="../tags/tag187.xml"/><Relationship Id="rId31" Type="http://schemas.openxmlformats.org/officeDocument/2006/relationships/tags" Target="../tags/tag199.xml"/><Relationship Id="rId44" Type="http://schemas.openxmlformats.org/officeDocument/2006/relationships/tags" Target="../tags/tag212.xml"/><Relationship Id="rId4" Type="http://schemas.openxmlformats.org/officeDocument/2006/relationships/tags" Target="../tags/tag172.xml"/><Relationship Id="rId9" Type="http://schemas.openxmlformats.org/officeDocument/2006/relationships/tags" Target="../tags/tag177.xml"/><Relationship Id="rId14" Type="http://schemas.openxmlformats.org/officeDocument/2006/relationships/tags" Target="../tags/tag182.xml"/><Relationship Id="rId22" Type="http://schemas.openxmlformats.org/officeDocument/2006/relationships/tags" Target="../tags/tag190.xml"/><Relationship Id="rId27" Type="http://schemas.openxmlformats.org/officeDocument/2006/relationships/tags" Target="../tags/tag195.xml"/><Relationship Id="rId30" Type="http://schemas.openxmlformats.org/officeDocument/2006/relationships/tags" Target="../tags/tag198.xml"/><Relationship Id="rId35" Type="http://schemas.openxmlformats.org/officeDocument/2006/relationships/tags" Target="../tags/tag203.xml"/><Relationship Id="rId43" Type="http://schemas.openxmlformats.org/officeDocument/2006/relationships/tags" Target="../tags/tag211.xml"/><Relationship Id="rId48" Type="http://schemas.openxmlformats.org/officeDocument/2006/relationships/oleObject" Target="../embeddings/oleObject25.bin"/><Relationship Id="rId8" Type="http://schemas.openxmlformats.org/officeDocument/2006/relationships/tags" Target="../tags/tag176.xml"/><Relationship Id="rId3" Type="http://schemas.openxmlformats.org/officeDocument/2006/relationships/tags" Target="../tags/tag171.xml"/><Relationship Id="rId12" Type="http://schemas.openxmlformats.org/officeDocument/2006/relationships/tags" Target="../tags/tag180.xml"/><Relationship Id="rId17" Type="http://schemas.openxmlformats.org/officeDocument/2006/relationships/tags" Target="../tags/tag185.xml"/><Relationship Id="rId25" Type="http://schemas.openxmlformats.org/officeDocument/2006/relationships/tags" Target="../tags/tag193.xml"/><Relationship Id="rId33" Type="http://schemas.openxmlformats.org/officeDocument/2006/relationships/tags" Target="../tags/tag201.xml"/><Relationship Id="rId38" Type="http://schemas.openxmlformats.org/officeDocument/2006/relationships/tags" Target="../tags/tag206.xml"/><Relationship Id="rId46" Type="http://schemas.openxmlformats.org/officeDocument/2006/relationships/slideLayout" Target="../slideLayouts/slideLayout2.xml"/><Relationship Id="rId20" Type="http://schemas.openxmlformats.org/officeDocument/2006/relationships/tags" Target="../tags/tag188.xml"/><Relationship Id="rId41" Type="http://schemas.openxmlformats.org/officeDocument/2006/relationships/tags" Target="../tags/tag209.xml"/><Relationship Id="rId1" Type="http://schemas.openxmlformats.org/officeDocument/2006/relationships/tags" Target="../tags/tag169.xml"/><Relationship Id="rId6" Type="http://schemas.openxmlformats.org/officeDocument/2006/relationships/tags" Target="../tags/tag17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9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4.xml"/><Relationship Id="rId6" Type="http://schemas.openxmlformats.org/officeDocument/2006/relationships/chart" Target="../charts/chart14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6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4.png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101.svg"/><Relationship Id="rId12" Type="http://schemas.openxmlformats.org/officeDocument/2006/relationships/image" Target="../media/image19.png"/><Relationship Id="rId17" Type="http://schemas.openxmlformats.org/officeDocument/2006/relationships/chart" Target="../charts/chart17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6.png"/><Relationship Id="rId1" Type="http://schemas.openxmlformats.org/officeDocument/2006/relationships/tags" Target="../tags/tag215.xml"/><Relationship Id="rId6" Type="http://schemas.openxmlformats.org/officeDocument/2006/relationships/image" Target="../media/image100.png"/><Relationship Id="rId11" Type="http://schemas.openxmlformats.org/officeDocument/2006/relationships/chart" Target="../charts/chart16.xml"/><Relationship Id="rId5" Type="http://schemas.openxmlformats.org/officeDocument/2006/relationships/image" Target="../media/image18.emf"/><Relationship Id="rId15" Type="http://schemas.openxmlformats.org/officeDocument/2006/relationships/image" Target="../media/image93.png"/><Relationship Id="rId10" Type="http://schemas.openxmlformats.org/officeDocument/2006/relationships/chart" Target="../charts/chart15.xml"/><Relationship Id="rId4" Type="http://schemas.openxmlformats.org/officeDocument/2006/relationships/oleObject" Target="../embeddings/oleObject27.bin"/><Relationship Id="rId9" Type="http://schemas.openxmlformats.org/officeDocument/2006/relationships/image" Target="../media/image103.svg"/><Relationship Id="rId14" Type="http://schemas.openxmlformats.org/officeDocument/2006/relationships/image" Target="../media/image10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07.png"/><Relationship Id="rId18" Type="http://schemas.openxmlformats.org/officeDocument/2006/relationships/image" Target="../media/image112.png"/><Relationship Id="rId3" Type="http://schemas.openxmlformats.org/officeDocument/2006/relationships/tags" Target="../tags/tag218.xml"/><Relationship Id="rId21" Type="http://schemas.openxmlformats.org/officeDocument/2006/relationships/image" Target="../media/image114.png"/><Relationship Id="rId7" Type="http://schemas.openxmlformats.org/officeDocument/2006/relationships/tags" Target="../tags/tag222.xml"/><Relationship Id="rId12" Type="http://schemas.openxmlformats.org/officeDocument/2006/relationships/image" Target="../media/image52.png"/><Relationship Id="rId17" Type="http://schemas.openxmlformats.org/officeDocument/2006/relationships/image" Target="../media/image111.png"/><Relationship Id="rId25" Type="http://schemas.openxmlformats.org/officeDocument/2006/relationships/image" Target="../media/image116.png"/><Relationship Id="rId2" Type="http://schemas.openxmlformats.org/officeDocument/2006/relationships/tags" Target="../tags/tag217.xml"/><Relationship Id="rId16" Type="http://schemas.openxmlformats.org/officeDocument/2006/relationships/image" Target="../media/image110.jpeg"/><Relationship Id="rId20" Type="http://schemas.openxmlformats.org/officeDocument/2006/relationships/image" Target="../media/image55.png"/><Relationship Id="rId1" Type="http://schemas.openxmlformats.org/officeDocument/2006/relationships/tags" Target="../tags/tag216.xml"/><Relationship Id="rId6" Type="http://schemas.openxmlformats.org/officeDocument/2006/relationships/tags" Target="../tags/tag221.xml"/><Relationship Id="rId11" Type="http://schemas.openxmlformats.org/officeDocument/2006/relationships/image" Target="../media/image18.emf"/><Relationship Id="rId24" Type="http://schemas.openxmlformats.org/officeDocument/2006/relationships/image" Target="../media/image115.png"/><Relationship Id="rId5" Type="http://schemas.openxmlformats.org/officeDocument/2006/relationships/tags" Target="../tags/tag220.xml"/><Relationship Id="rId15" Type="http://schemas.openxmlformats.org/officeDocument/2006/relationships/image" Target="../media/image109.png"/><Relationship Id="rId23" Type="http://schemas.microsoft.com/office/2007/relationships/hdphoto" Target="../media/hdphoto38.wdp"/><Relationship Id="rId10" Type="http://schemas.openxmlformats.org/officeDocument/2006/relationships/oleObject" Target="../embeddings/oleObject28.bin"/><Relationship Id="rId19" Type="http://schemas.openxmlformats.org/officeDocument/2006/relationships/image" Target="../media/image113.png"/><Relationship Id="rId4" Type="http://schemas.openxmlformats.org/officeDocument/2006/relationships/tags" Target="../tags/tag219.xml"/><Relationship Id="rId9" Type="http://schemas.openxmlformats.org/officeDocument/2006/relationships/notesSlide" Target="../notesSlides/notesSlide24.xml"/><Relationship Id="rId14" Type="http://schemas.openxmlformats.org/officeDocument/2006/relationships/image" Target="../media/image108.png"/><Relationship Id="rId22" Type="http://schemas.openxmlformats.org/officeDocument/2006/relationships/image" Target="../media/image9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3.xml"/><Relationship Id="rId4" Type="http://schemas.openxmlformats.org/officeDocument/2006/relationships/image" Target="../media/image18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118.png"/><Relationship Id="rId12" Type="http://schemas.openxmlformats.org/officeDocument/2006/relationships/image" Target="../media/image1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4.xml"/><Relationship Id="rId6" Type="http://schemas.openxmlformats.org/officeDocument/2006/relationships/image" Target="../media/image117.png"/><Relationship Id="rId11" Type="http://schemas.openxmlformats.org/officeDocument/2006/relationships/image" Target="../media/image120.png"/><Relationship Id="rId5" Type="http://schemas.openxmlformats.org/officeDocument/2006/relationships/image" Target="../media/image8.emf"/><Relationship Id="rId10" Type="http://schemas.openxmlformats.org/officeDocument/2006/relationships/image" Target="../media/image119.png"/><Relationship Id="rId4" Type="http://schemas.openxmlformats.org/officeDocument/2006/relationships/oleObject" Target="../embeddings/oleObject30.bin"/><Relationship Id="rId9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232.xml"/><Relationship Id="rId13" Type="http://schemas.openxmlformats.org/officeDocument/2006/relationships/tags" Target="../tags/tag237.xml"/><Relationship Id="rId18" Type="http://schemas.openxmlformats.org/officeDocument/2006/relationships/tags" Target="../tags/tag242.xml"/><Relationship Id="rId26" Type="http://schemas.openxmlformats.org/officeDocument/2006/relationships/chart" Target="../charts/chart18.xml"/><Relationship Id="rId3" Type="http://schemas.openxmlformats.org/officeDocument/2006/relationships/tags" Target="../tags/tag227.xml"/><Relationship Id="rId21" Type="http://schemas.openxmlformats.org/officeDocument/2006/relationships/tags" Target="../tags/tag245.xml"/><Relationship Id="rId7" Type="http://schemas.openxmlformats.org/officeDocument/2006/relationships/tags" Target="../tags/tag231.xml"/><Relationship Id="rId12" Type="http://schemas.openxmlformats.org/officeDocument/2006/relationships/tags" Target="../tags/tag236.xml"/><Relationship Id="rId17" Type="http://schemas.openxmlformats.org/officeDocument/2006/relationships/tags" Target="../tags/tag241.xml"/><Relationship Id="rId25" Type="http://schemas.openxmlformats.org/officeDocument/2006/relationships/image" Target="../media/image8.emf"/><Relationship Id="rId2" Type="http://schemas.openxmlformats.org/officeDocument/2006/relationships/tags" Target="../tags/tag226.xml"/><Relationship Id="rId16" Type="http://schemas.openxmlformats.org/officeDocument/2006/relationships/tags" Target="../tags/tag240.xml"/><Relationship Id="rId20" Type="http://schemas.openxmlformats.org/officeDocument/2006/relationships/tags" Target="../tags/tag244.xml"/><Relationship Id="rId1" Type="http://schemas.openxmlformats.org/officeDocument/2006/relationships/tags" Target="../tags/tag225.xml"/><Relationship Id="rId6" Type="http://schemas.openxmlformats.org/officeDocument/2006/relationships/tags" Target="../tags/tag230.xml"/><Relationship Id="rId11" Type="http://schemas.openxmlformats.org/officeDocument/2006/relationships/tags" Target="../tags/tag235.xml"/><Relationship Id="rId24" Type="http://schemas.openxmlformats.org/officeDocument/2006/relationships/oleObject" Target="../embeddings/oleObject31.bin"/><Relationship Id="rId5" Type="http://schemas.openxmlformats.org/officeDocument/2006/relationships/tags" Target="../tags/tag229.xml"/><Relationship Id="rId15" Type="http://schemas.openxmlformats.org/officeDocument/2006/relationships/tags" Target="../tags/tag239.xml"/><Relationship Id="rId23" Type="http://schemas.openxmlformats.org/officeDocument/2006/relationships/notesSlide" Target="../notesSlides/notesSlide26.xml"/><Relationship Id="rId10" Type="http://schemas.openxmlformats.org/officeDocument/2006/relationships/tags" Target="../tags/tag234.xml"/><Relationship Id="rId19" Type="http://schemas.openxmlformats.org/officeDocument/2006/relationships/tags" Target="../tags/tag243.xml"/><Relationship Id="rId4" Type="http://schemas.openxmlformats.org/officeDocument/2006/relationships/tags" Target="../tags/tag228.xml"/><Relationship Id="rId9" Type="http://schemas.openxmlformats.org/officeDocument/2006/relationships/tags" Target="../tags/tag233.xml"/><Relationship Id="rId14" Type="http://schemas.openxmlformats.org/officeDocument/2006/relationships/tags" Target="../tags/tag238.xml"/><Relationship Id="rId22" Type="http://schemas.openxmlformats.org/officeDocument/2006/relationships/slideLayout" Target="../slideLayouts/slideLayout2.xml"/><Relationship Id="rId27" Type="http://schemas.openxmlformats.org/officeDocument/2006/relationships/chart" Target="../charts/chart1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6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32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124.png"/><Relationship Id="rId18" Type="http://schemas.openxmlformats.org/officeDocument/2006/relationships/image" Target="../media/image129.png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19.png"/><Relationship Id="rId12" Type="http://schemas.openxmlformats.org/officeDocument/2006/relationships/image" Target="../media/image94.png"/><Relationship Id="rId17" Type="http://schemas.openxmlformats.org/officeDocument/2006/relationships/image" Target="../media/image128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7.png"/><Relationship Id="rId1" Type="http://schemas.openxmlformats.org/officeDocument/2006/relationships/tags" Target="../tags/tag247.xml"/><Relationship Id="rId6" Type="http://schemas.openxmlformats.org/officeDocument/2006/relationships/image" Target="../media/image122.png"/><Relationship Id="rId11" Type="http://schemas.openxmlformats.org/officeDocument/2006/relationships/image" Target="../media/image123.png"/><Relationship Id="rId5" Type="http://schemas.openxmlformats.org/officeDocument/2006/relationships/image" Target="../media/image18.emf"/><Relationship Id="rId15" Type="http://schemas.openxmlformats.org/officeDocument/2006/relationships/image" Target="../media/image126.png"/><Relationship Id="rId10" Type="http://schemas.openxmlformats.org/officeDocument/2006/relationships/image" Target="../media/image47.png"/><Relationship Id="rId19" Type="http://schemas.openxmlformats.org/officeDocument/2006/relationships/image" Target="../media/image130.png"/><Relationship Id="rId4" Type="http://schemas.openxmlformats.org/officeDocument/2006/relationships/oleObject" Target="../embeddings/oleObject33.bin"/><Relationship Id="rId9" Type="http://schemas.openxmlformats.org/officeDocument/2006/relationships/image" Target="../media/image70.png"/><Relationship Id="rId14" Type="http://schemas.openxmlformats.org/officeDocument/2006/relationships/image" Target="../media/image125.jpeg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4.png"/><Relationship Id="rId18" Type="http://schemas.openxmlformats.org/officeDocument/2006/relationships/image" Target="../media/image137.png"/><Relationship Id="rId26" Type="http://schemas.openxmlformats.org/officeDocument/2006/relationships/image" Target="../media/image143.png"/><Relationship Id="rId39" Type="http://schemas.openxmlformats.org/officeDocument/2006/relationships/image" Target="../media/image153.png"/><Relationship Id="rId21" Type="http://schemas.openxmlformats.org/officeDocument/2006/relationships/image" Target="../media/image140.png"/><Relationship Id="rId34" Type="http://schemas.openxmlformats.org/officeDocument/2006/relationships/image" Target="../media/image71.png"/><Relationship Id="rId42" Type="http://schemas.openxmlformats.org/officeDocument/2006/relationships/image" Target="../media/image155.png"/><Relationship Id="rId47" Type="http://schemas.openxmlformats.org/officeDocument/2006/relationships/image" Target="../media/image159.png"/><Relationship Id="rId50" Type="http://schemas.openxmlformats.org/officeDocument/2006/relationships/image" Target="../media/image59.png"/><Relationship Id="rId55" Type="http://schemas.openxmlformats.org/officeDocument/2006/relationships/image" Target="../media/image165.png"/><Relationship Id="rId63" Type="http://schemas.openxmlformats.org/officeDocument/2006/relationships/image" Target="../media/image172.png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5.png"/><Relationship Id="rId29" Type="http://schemas.openxmlformats.org/officeDocument/2006/relationships/image" Target="../media/image146.png"/><Relationship Id="rId11" Type="http://schemas.openxmlformats.org/officeDocument/2006/relationships/image" Target="../media/image20.png"/><Relationship Id="rId24" Type="http://schemas.openxmlformats.org/officeDocument/2006/relationships/image" Target="../media/image141.png"/><Relationship Id="rId32" Type="http://schemas.openxmlformats.org/officeDocument/2006/relationships/image" Target="../media/image70.png"/><Relationship Id="rId37" Type="http://schemas.openxmlformats.org/officeDocument/2006/relationships/image" Target="../media/image151.png"/><Relationship Id="rId40" Type="http://schemas.openxmlformats.org/officeDocument/2006/relationships/image" Target="../media/image154.png"/><Relationship Id="rId45" Type="http://schemas.openxmlformats.org/officeDocument/2006/relationships/image" Target="../media/image157.png"/><Relationship Id="rId53" Type="http://schemas.openxmlformats.org/officeDocument/2006/relationships/image" Target="../media/image163.png"/><Relationship Id="rId58" Type="http://schemas.openxmlformats.org/officeDocument/2006/relationships/image" Target="../media/image168.png"/><Relationship Id="rId5" Type="http://schemas.openxmlformats.org/officeDocument/2006/relationships/image" Target="../media/image131.png"/><Relationship Id="rId61" Type="http://schemas.openxmlformats.org/officeDocument/2006/relationships/image" Target="../media/image58.png"/><Relationship Id="rId19" Type="http://schemas.openxmlformats.org/officeDocument/2006/relationships/image" Target="../media/image138.png"/><Relationship Id="rId14" Type="http://schemas.openxmlformats.org/officeDocument/2006/relationships/image" Target="../media/image135.png"/><Relationship Id="rId22" Type="http://schemas.openxmlformats.org/officeDocument/2006/relationships/image" Target="../media/image85.png"/><Relationship Id="rId27" Type="http://schemas.openxmlformats.org/officeDocument/2006/relationships/image" Target="../media/image144.png"/><Relationship Id="rId30" Type="http://schemas.openxmlformats.org/officeDocument/2006/relationships/image" Target="../media/image147.png"/><Relationship Id="rId35" Type="http://schemas.openxmlformats.org/officeDocument/2006/relationships/image" Target="../media/image149.png"/><Relationship Id="rId43" Type="http://schemas.openxmlformats.org/officeDocument/2006/relationships/image" Target="../media/image47.png"/><Relationship Id="rId48" Type="http://schemas.openxmlformats.org/officeDocument/2006/relationships/image" Target="../media/image160.png"/><Relationship Id="rId56" Type="http://schemas.openxmlformats.org/officeDocument/2006/relationships/image" Target="../media/image166.png"/><Relationship Id="rId8" Type="http://schemas.openxmlformats.org/officeDocument/2006/relationships/image" Target="../media/image133.png"/><Relationship Id="rId51" Type="http://schemas.openxmlformats.org/officeDocument/2006/relationships/image" Target="../media/image161.png"/><Relationship Id="rId3" Type="http://schemas.openxmlformats.org/officeDocument/2006/relationships/oleObject" Target="../embeddings/oleObject34.bin"/><Relationship Id="rId12" Type="http://schemas.openxmlformats.org/officeDocument/2006/relationships/image" Target="../media/image122.png"/><Relationship Id="rId17" Type="http://schemas.openxmlformats.org/officeDocument/2006/relationships/image" Target="../media/image136.png"/><Relationship Id="rId25" Type="http://schemas.openxmlformats.org/officeDocument/2006/relationships/image" Target="../media/image142.png"/><Relationship Id="rId33" Type="http://schemas.openxmlformats.org/officeDocument/2006/relationships/image" Target="../media/image148.png"/><Relationship Id="rId38" Type="http://schemas.openxmlformats.org/officeDocument/2006/relationships/image" Target="../media/image152.png"/><Relationship Id="rId46" Type="http://schemas.openxmlformats.org/officeDocument/2006/relationships/image" Target="../media/image158.png"/><Relationship Id="rId59" Type="http://schemas.openxmlformats.org/officeDocument/2006/relationships/image" Target="../media/image169.png"/><Relationship Id="rId20" Type="http://schemas.openxmlformats.org/officeDocument/2006/relationships/image" Target="../media/image139.png"/><Relationship Id="rId41" Type="http://schemas.openxmlformats.org/officeDocument/2006/relationships/image" Target="../media/image65.png"/><Relationship Id="rId54" Type="http://schemas.openxmlformats.org/officeDocument/2006/relationships/image" Target="../media/image164.png"/><Relationship Id="rId62" Type="http://schemas.openxmlformats.org/officeDocument/2006/relationships/image" Target="../media/image171.png"/><Relationship Id="rId1" Type="http://schemas.openxmlformats.org/officeDocument/2006/relationships/tags" Target="../tags/tag248.xml"/><Relationship Id="rId6" Type="http://schemas.openxmlformats.org/officeDocument/2006/relationships/image" Target="../media/image132.png"/><Relationship Id="rId15" Type="http://schemas.openxmlformats.org/officeDocument/2006/relationships/image" Target="../media/image60.png"/><Relationship Id="rId23" Type="http://schemas.openxmlformats.org/officeDocument/2006/relationships/image" Target="../media/image86.png"/><Relationship Id="rId28" Type="http://schemas.openxmlformats.org/officeDocument/2006/relationships/image" Target="../media/image145.png"/><Relationship Id="rId36" Type="http://schemas.openxmlformats.org/officeDocument/2006/relationships/image" Target="../media/image150.png"/><Relationship Id="rId49" Type="http://schemas.openxmlformats.org/officeDocument/2006/relationships/image" Target="../media/image63.png"/><Relationship Id="rId57" Type="http://schemas.openxmlformats.org/officeDocument/2006/relationships/image" Target="../media/image167.png"/><Relationship Id="rId10" Type="http://schemas.openxmlformats.org/officeDocument/2006/relationships/image" Target="../media/image31.png"/><Relationship Id="rId31" Type="http://schemas.openxmlformats.org/officeDocument/2006/relationships/image" Target="../media/image69.png"/><Relationship Id="rId44" Type="http://schemas.openxmlformats.org/officeDocument/2006/relationships/image" Target="../media/image156.png"/><Relationship Id="rId52" Type="http://schemas.openxmlformats.org/officeDocument/2006/relationships/image" Target="../media/image162.png"/><Relationship Id="rId60" Type="http://schemas.openxmlformats.org/officeDocument/2006/relationships/image" Target="../media/image170.png"/><Relationship Id="rId4" Type="http://schemas.openxmlformats.org/officeDocument/2006/relationships/image" Target="../media/image18.emf"/><Relationship Id="rId9" Type="http://schemas.openxmlformats.org/officeDocument/2006/relationships/image" Target="../media/image10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95973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O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ct </a:t>
            </a: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Co-Packaged Optics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3090446"/>
            <a:ext cx="7740650" cy="679450"/>
          </a:xfrm>
        </p:spPr>
        <p:txBody>
          <a:bodyPr vert="horz"/>
          <a:lstStyle/>
          <a:p>
            <a:pPr>
              <a:buNone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58661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349" imgH="350" progId="TCLayout.ActiveDocument.1">
                  <p:embed/>
                </p:oleObj>
              </mc:Choice>
              <mc:Fallback>
                <p:oleObj name="think-cell 幻灯片" r:id="rId8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Table of contents</a:t>
            </a:r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0E5FD172-F0A8-5034-8CBA-1F583F5E0DB8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171575" y="4249034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92CF7951-BA26-0815-17A7-B665AFD6B5BD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171575" y="5205533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cxnSp>
        <p:nvCxnSpPr>
          <p:cNvPr id="49" name="Gerader Verbinder 46">
            <a:extLst>
              <a:ext uri="{FF2B5EF4-FFF2-40B4-BE49-F238E27FC236}">
                <a16:creationId xmlns:a16="http://schemas.microsoft.com/office/drawing/2014/main" id="{490F8E88-088A-F3F6-BF71-8E7F7E2140DD}"/>
              </a:ext>
            </a:extLst>
          </p:cNvPr>
          <p:cNvCxnSpPr>
            <a:cxnSpLocks/>
          </p:cNvCxnSpPr>
          <p:nvPr/>
        </p:nvCxnSpPr>
        <p:spPr>
          <a:xfrm flipH="1">
            <a:off x="4479009" y="2013083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7">
            <a:extLst>
              <a:ext uri="{FF2B5EF4-FFF2-40B4-BE49-F238E27FC236}">
                <a16:creationId xmlns:a16="http://schemas.microsoft.com/office/drawing/2014/main" id="{28CA3F0A-5846-6D01-0C46-F56EC8C1A164}"/>
              </a:ext>
            </a:extLst>
          </p:cNvPr>
          <p:cNvCxnSpPr>
            <a:cxnSpLocks/>
          </p:cNvCxnSpPr>
          <p:nvPr/>
        </p:nvCxnSpPr>
        <p:spPr>
          <a:xfrm flipH="1">
            <a:off x="4479009" y="2880174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48">
            <a:extLst>
              <a:ext uri="{FF2B5EF4-FFF2-40B4-BE49-F238E27FC236}">
                <a16:creationId xmlns:a16="http://schemas.microsoft.com/office/drawing/2014/main" id="{66BE0612-789C-4634-F549-9190A13AF82A}"/>
              </a:ext>
            </a:extLst>
          </p:cNvPr>
          <p:cNvCxnSpPr>
            <a:cxnSpLocks/>
          </p:cNvCxnSpPr>
          <p:nvPr/>
        </p:nvCxnSpPr>
        <p:spPr>
          <a:xfrm flipH="1">
            <a:off x="4479009" y="3747265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49">
            <a:extLst>
              <a:ext uri="{FF2B5EF4-FFF2-40B4-BE49-F238E27FC236}">
                <a16:creationId xmlns:a16="http://schemas.microsoft.com/office/drawing/2014/main" id="{397646D5-9BC1-D3AC-58F9-971E5BFCD571}"/>
              </a:ext>
            </a:extLst>
          </p:cNvPr>
          <p:cNvCxnSpPr>
            <a:cxnSpLocks/>
          </p:cNvCxnSpPr>
          <p:nvPr/>
        </p:nvCxnSpPr>
        <p:spPr>
          <a:xfrm flipH="1">
            <a:off x="4479009" y="4614356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">
            <a:extLst>
              <a:ext uri="{FF2B5EF4-FFF2-40B4-BE49-F238E27FC236}">
                <a16:creationId xmlns:a16="http://schemas.microsoft.com/office/drawing/2014/main" id="{C268E9D9-A3ED-440A-2D19-BF526D3C05F5}"/>
              </a:ext>
            </a:extLst>
          </p:cNvPr>
          <p:cNvSpPr>
            <a:spLocks/>
          </p:cNvSpPr>
          <p:nvPr/>
        </p:nvSpPr>
        <p:spPr bwMode="gray">
          <a:xfrm>
            <a:off x="4479008" y="1456427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01. Why the focus on </a:t>
            </a:r>
            <a:r>
              <a:rPr lang="en-US" sz="1600" dirty="0">
                <a:solidFill>
                  <a:prstClr val="black"/>
                </a:solidFill>
              </a:rPr>
              <a:t>CPO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? 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1711F00B-9E27-94D5-6998-00906995CBB1}"/>
              </a:ext>
            </a:extLst>
          </p:cNvPr>
          <p:cNvSpPr>
            <a:spLocks/>
          </p:cNvSpPr>
          <p:nvPr/>
        </p:nvSpPr>
        <p:spPr bwMode="gray">
          <a:xfrm>
            <a:off x="4479008" y="2323518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02. Why </a:t>
            </a:r>
            <a:r>
              <a:rPr lang="en-US" altLang="zh-CN" sz="1600" dirty="0">
                <a:solidFill>
                  <a:prstClr val="black"/>
                </a:solidFill>
              </a:rPr>
              <a:t>move</a:t>
            </a:r>
            <a:r>
              <a:rPr lang="en-US" sz="1600" dirty="0">
                <a:solidFill>
                  <a:prstClr val="black"/>
                </a:solidFill>
              </a:rPr>
              <a:t> from copper to optical, and from pluggable to c</a:t>
            </a:r>
            <a:r>
              <a:rPr lang="en-US" altLang="zh-CN" sz="1600" dirty="0">
                <a:solidFill>
                  <a:prstClr val="black"/>
                </a:solidFill>
              </a:rPr>
              <a:t>o-packaged? 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CFCF0417-DC67-7FFC-30C3-E2148368344D}"/>
              </a:ext>
            </a:extLst>
          </p:cNvPr>
          <p:cNvSpPr>
            <a:spLocks/>
          </p:cNvSpPr>
          <p:nvPr/>
        </p:nvSpPr>
        <p:spPr bwMode="gray">
          <a:xfrm>
            <a:off x="4479008" y="3190609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03. Where CPO fits first: scale-</a:t>
            </a:r>
            <a:r>
              <a:rPr lang="en-US" altLang="zh-CN" sz="1600" dirty="0">
                <a:solidFill>
                  <a:prstClr val="black"/>
                </a:solidFill>
              </a:rPr>
              <a:t>u</a:t>
            </a:r>
            <a:r>
              <a:rPr lang="en-US" sz="1600" dirty="0">
                <a:solidFill>
                  <a:prstClr val="black"/>
                </a:solidFill>
              </a:rPr>
              <a:t>p or scale-out?</a:t>
            </a: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4E6924D9-36EE-8C24-72F0-88A20491AB31}"/>
              </a:ext>
            </a:extLst>
          </p:cNvPr>
          <p:cNvSpPr>
            <a:spLocks/>
          </p:cNvSpPr>
          <p:nvPr/>
        </p:nvSpPr>
        <p:spPr bwMode="gray">
          <a:xfrm>
            <a:off x="4479008" y="4057700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04. How big is the CPO market? </a:t>
            </a: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19CE5E72-40CA-01FA-1C10-14066CBD5584}"/>
              </a:ext>
            </a:extLst>
          </p:cNvPr>
          <p:cNvSpPr>
            <a:spLocks/>
          </p:cNvSpPr>
          <p:nvPr/>
        </p:nvSpPr>
        <p:spPr bwMode="gray">
          <a:xfrm>
            <a:off x="4479008" y="4924791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</a:rPr>
              <a:t>05. Which segment matters most?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05AB95B3-0DEB-3315-E8A5-3356A692A211}"/>
              </a:ext>
            </a:extLst>
          </p:cNvPr>
          <p:cNvSpPr>
            <a:spLocks/>
          </p:cNvSpPr>
          <p:nvPr/>
        </p:nvSpPr>
        <p:spPr bwMode="gray">
          <a:xfrm rot="16200000">
            <a:off x="-256358" y="2056570"/>
            <a:ext cx="1631062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cxnSp>
        <p:nvCxnSpPr>
          <p:cNvPr id="64" name="Gerader Verbinder 4">
            <a:extLst>
              <a:ext uri="{FF2B5EF4-FFF2-40B4-BE49-F238E27FC236}">
                <a16:creationId xmlns:a16="http://schemas.microsoft.com/office/drawing/2014/main" id="{8923743B-4175-AD1F-4D60-5A5278929663}"/>
              </a:ext>
            </a:extLst>
          </p:cNvPr>
          <p:cNvCxnSpPr>
            <a:cxnSpLocks/>
          </p:cNvCxnSpPr>
          <p:nvPr/>
        </p:nvCxnSpPr>
        <p:spPr>
          <a:xfrm>
            <a:off x="862187" y="1456427"/>
            <a:ext cx="0" cy="2126404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29">
            <a:extLst>
              <a:ext uri="{FF2B5EF4-FFF2-40B4-BE49-F238E27FC236}">
                <a16:creationId xmlns:a16="http://schemas.microsoft.com/office/drawing/2014/main" id="{1C56A34A-54BD-E335-63F2-ECEB171821AC}"/>
              </a:ext>
            </a:extLst>
          </p:cNvPr>
          <p:cNvCxnSpPr>
            <a:cxnSpLocks/>
          </p:cNvCxnSpPr>
          <p:nvPr/>
        </p:nvCxnSpPr>
        <p:spPr>
          <a:xfrm>
            <a:off x="862187" y="3935560"/>
            <a:ext cx="0" cy="2102546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>
            <a:extLst>
              <a:ext uri="{FF2B5EF4-FFF2-40B4-BE49-F238E27FC236}">
                <a16:creationId xmlns:a16="http://schemas.microsoft.com/office/drawing/2014/main" id="{224219E5-899D-1660-2E29-E7281290499E}"/>
              </a:ext>
            </a:extLst>
          </p:cNvPr>
          <p:cNvSpPr>
            <a:spLocks/>
          </p:cNvSpPr>
          <p:nvPr/>
        </p:nvSpPr>
        <p:spPr bwMode="gray">
          <a:xfrm rot="16200000">
            <a:off x="-734609" y="4447818"/>
            <a:ext cx="25875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EE93B-3E60-D020-4FC8-CB950A8AC788}"/>
              </a:ext>
            </a:extLst>
          </p:cNvPr>
          <p:cNvSpPr>
            <a:spLocks/>
          </p:cNvSpPr>
          <p:nvPr/>
        </p:nvSpPr>
        <p:spPr bwMode="gray">
          <a:xfrm>
            <a:off x="4479008" y="5791885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06. Key players to watch: Broadcom and </a:t>
            </a:r>
            <a:r>
              <a:rPr lang="en-US" sz="1600" dirty="0" err="1">
                <a:solidFill>
                  <a:prstClr val="black"/>
                </a:solidFill>
              </a:rPr>
              <a:t>ficonTEC</a:t>
            </a:r>
            <a:endParaRPr lang="en-US" sz="1600" dirty="0">
              <a:solidFill>
                <a:prstClr val="black"/>
              </a:solidFill>
            </a:endParaRPr>
          </a:p>
        </p:txBody>
      </p:sp>
      <p:cxnSp>
        <p:nvCxnSpPr>
          <p:cNvPr id="7" name="Gerader Verbinder 49">
            <a:extLst>
              <a:ext uri="{FF2B5EF4-FFF2-40B4-BE49-F238E27FC236}">
                <a16:creationId xmlns:a16="http://schemas.microsoft.com/office/drawing/2014/main" id="{4BE098FC-799F-1029-374A-1475EF5821A2}"/>
              </a:ext>
            </a:extLst>
          </p:cNvPr>
          <p:cNvCxnSpPr>
            <a:cxnSpLocks/>
          </p:cNvCxnSpPr>
          <p:nvPr/>
        </p:nvCxnSpPr>
        <p:spPr>
          <a:xfrm flipH="1">
            <a:off x="4479008" y="5481447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C38A9D3-E26D-76B9-5256-41C855B27326}"/>
              </a:ext>
            </a:extLst>
          </p:cNvPr>
          <p:cNvGrpSpPr/>
          <p:nvPr/>
        </p:nvGrpSpPr>
        <p:grpSpPr>
          <a:xfrm>
            <a:off x="1244740" y="1773311"/>
            <a:ext cx="1833093" cy="1492635"/>
            <a:chOff x="1244742" y="2055191"/>
            <a:chExt cx="1833093" cy="1492635"/>
          </a:xfrm>
        </p:grpSpPr>
        <p:sp>
          <p:nvSpPr>
            <p:cNvPr id="59" name="Rectangle 3">
              <a:extLst>
                <a:ext uri="{FF2B5EF4-FFF2-40B4-BE49-F238E27FC236}">
                  <a16:creationId xmlns:a16="http://schemas.microsoft.com/office/drawing/2014/main" id="{66DC64BD-ECC4-3DAC-C3DB-2B0ED0EC975F}"/>
                </a:ext>
              </a:extLst>
            </p:cNvPr>
            <p:cNvSpPr>
              <a:spLocks/>
            </p:cNvSpPr>
            <p:nvPr>
              <p:custDataLst>
                <p:tags r:id="rId5"/>
              </p:custDataLst>
            </p:nvPr>
          </p:nvSpPr>
          <p:spPr bwMode="gray">
            <a:xfrm>
              <a:off x="1300336" y="2055191"/>
              <a:ext cx="1352711" cy="52079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78998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200" b="1" dirty="0">
                  <a:solidFill>
                    <a:srgbClr val="0052D9"/>
                  </a:solidFill>
                </a:rPr>
                <a:t>Tech</a:t>
              </a:r>
              <a:endParaRPr kumimoji="0" lang="en-US" sz="3200" b="1" i="0" u="none" strike="noStrike" kern="1200" cap="none" spc="0" normalizeH="0" baseline="0" noProof="0" dirty="0">
                <a:solidFill>
                  <a:srgbClr val="0052D9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E558451-A235-2B74-CC6E-E9F4D0F630AF}"/>
                </a:ext>
              </a:extLst>
            </p:cNvPr>
            <p:cNvSpPr txBox="1"/>
            <p:nvPr/>
          </p:nvSpPr>
          <p:spPr>
            <a:xfrm>
              <a:off x="1244742" y="2645015"/>
              <a:ext cx="1833093" cy="902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Interconnect</a:t>
              </a:r>
            </a:p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Optical</a:t>
              </a:r>
            </a:p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CPO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9E50D06-AF41-43E8-63B7-1E98F01C22C2}"/>
              </a:ext>
            </a:extLst>
          </p:cNvPr>
          <p:cNvGrpSpPr/>
          <p:nvPr/>
        </p:nvGrpSpPr>
        <p:grpSpPr>
          <a:xfrm>
            <a:off x="1244741" y="4180810"/>
            <a:ext cx="1833093" cy="1581607"/>
            <a:chOff x="1244742" y="4113360"/>
            <a:chExt cx="1833093" cy="1581607"/>
          </a:xfrm>
        </p:grpSpPr>
        <p:sp>
          <p:nvSpPr>
            <p:cNvPr id="62" name="Rectangle 3">
              <a:extLst>
                <a:ext uri="{FF2B5EF4-FFF2-40B4-BE49-F238E27FC236}">
                  <a16:creationId xmlns:a16="http://schemas.microsoft.com/office/drawing/2014/main" id="{AE265D59-EBB0-FF67-33E9-BD13DB5E1BD0}"/>
                </a:ext>
              </a:extLst>
            </p:cNvPr>
            <p:cNvSpPr>
              <a:spLocks/>
            </p:cNvSpPr>
            <p:nvPr>
              <p:custDataLst>
                <p:tags r:id="rId4"/>
              </p:custDataLst>
            </p:nvPr>
          </p:nvSpPr>
          <p:spPr bwMode="gray">
            <a:xfrm>
              <a:off x="1328241" y="4113360"/>
              <a:ext cx="1721906" cy="52079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78998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solidFill>
                    <a:srgbClr val="0052D9"/>
                  </a:solidFill>
                  <a:effectLst/>
                  <a:uLnTx/>
                  <a:uFillTx/>
                </a:rPr>
                <a:t>Markets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7E11F60-EAF1-1828-DD1D-836B1FC571EE}"/>
                </a:ext>
              </a:extLst>
            </p:cNvPr>
            <p:cNvSpPr txBox="1"/>
            <p:nvPr/>
          </p:nvSpPr>
          <p:spPr>
            <a:xfrm>
              <a:off x="1244742" y="4792156"/>
              <a:ext cx="1833093" cy="902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Sizing</a:t>
              </a:r>
            </a:p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Segments</a:t>
              </a:r>
            </a:p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Players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0321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58120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349" imgH="350" progId="TCLayout.ActiveDocument.1">
                  <p:embed/>
                </p:oleObj>
              </mc:Choice>
              <mc:Fallback>
                <p:oleObj name="think-cell 幻灯片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4721"/>
          </a:xfrm>
        </p:spPr>
        <p:txBody>
          <a:bodyPr vert="horz"/>
          <a:lstStyle/>
          <a:p>
            <a:r>
              <a:rPr lang="en-US" altLang="zh-CN" dirty="0"/>
              <a:t>Why the focus on CPO? Nvidia, Broadcom, and DeepSeek</a:t>
            </a:r>
            <a:endParaRPr 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61BAA2-87BF-3F6E-EF71-5C4FAAE53FE0}"/>
              </a:ext>
            </a:extLst>
          </p:cNvPr>
          <p:cNvGrpSpPr/>
          <p:nvPr/>
        </p:nvGrpSpPr>
        <p:grpSpPr>
          <a:xfrm>
            <a:off x="306197" y="1337390"/>
            <a:ext cx="3788426" cy="4059592"/>
            <a:chOff x="363631" y="1337390"/>
            <a:chExt cx="3788426" cy="4059592"/>
          </a:xfrm>
        </p:grpSpPr>
        <p:sp>
          <p:nvSpPr>
            <p:cNvPr id="2" name="Rechteck 52">
              <a:extLst>
                <a:ext uri="{FF2B5EF4-FFF2-40B4-BE49-F238E27FC236}">
                  <a16:creationId xmlns:a16="http://schemas.microsoft.com/office/drawing/2014/main" id="{FE2110A6-EDBD-8697-B5F7-4B336BB31161}"/>
                </a:ext>
              </a:extLst>
            </p:cNvPr>
            <p:cNvSpPr>
              <a:spLocks/>
            </p:cNvSpPr>
            <p:nvPr/>
          </p:nvSpPr>
          <p:spPr>
            <a:xfrm>
              <a:off x="407987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8" name="Inhaltsplatzhalter 2">
              <a:extLst>
                <a:ext uri="{FF2B5EF4-FFF2-40B4-BE49-F238E27FC236}">
                  <a16:creationId xmlns:a16="http://schemas.microsoft.com/office/drawing/2014/main" id="{6634A095-ABD0-527D-E2B1-46D80EE1E49A}"/>
                </a:ext>
              </a:extLst>
            </p:cNvPr>
            <p:cNvSpPr txBox="1">
              <a:spLocks/>
            </p:cNvSpPr>
            <p:nvPr/>
          </p:nvSpPr>
          <p:spPr>
            <a:xfrm>
              <a:off x="474582" y="4889151"/>
              <a:ext cx="3563744" cy="507831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altLang="zh-CN" sz="1400" dirty="0"/>
                <a:t>Pivots from Copper to Optics;</a:t>
              </a:r>
            </a:p>
            <a:p>
              <a:pPr>
                <a:spcBef>
                  <a:spcPts val="600"/>
                </a:spcBef>
              </a:pPr>
              <a:r>
                <a:rPr lang="en-US" altLang="zh-CN" sz="1400" dirty="0"/>
                <a:t>Launches 2 CPO Switches.</a:t>
              </a:r>
              <a:endParaRPr lang="en-US" sz="1400" dirty="0"/>
            </a:p>
          </p:txBody>
        </p:sp>
        <p:sp>
          <p:nvSpPr>
            <p:cNvPr id="15" name="Textplatzhalter 9">
              <a:extLst>
                <a:ext uri="{FF2B5EF4-FFF2-40B4-BE49-F238E27FC236}">
                  <a16:creationId xmlns:a16="http://schemas.microsoft.com/office/drawing/2014/main" id="{F3F9DCEA-95C5-231D-DDE1-741629D3FFE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37170" y="1929720"/>
              <a:ext cx="3563744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Premieres advanced CPO switches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sp>
          <p:nvSpPr>
            <p:cNvPr id="6" name="Rechteck 22">
              <a:extLst>
                <a:ext uri="{FF2B5EF4-FFF2-40B4-BE49-F238E27FC236}">
                  <a16:creationId xmlns:a16="http://schemas.microsoft.com/office/drawing/2014/main" id="{2E50D80A-1704-3509-9D6E-FF86D2EDA342}"/>
                </a:ext>
              </a:extLst>
            </p:cNvPr>
            <p:cNvSpPr>
              <a:spLocks/>
            </p:cNvSpPr>
            <p:nvPr/>
          </p:nvSpPr>
          <p:spPr>
            <a:xfrm>
              <a:off x="1524259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chemeClr val="accent1"/>
                  </a:solidFill>
                  <a:sym typeface="Futura"/>
                </a:rPr>
                <a:t>GTC 2025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B0F00AE-79C7-64B9-F55F-63167A365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3631" y="1513532"/>
              <a:ext cx="443699" cy="319247"/>
            </a:xfrm>
            <a:prstGeom prst="rect">
              <a:avLst/>
            </a:prstGeom>
            <a:noFill/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E42ACC8-7E17-BB78-EF6C-B7F464443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7330" y="1573189"/>
              <a:ext cx="740492" cy="199933"/>
            </a:xfrm>
            <a:prstGeom prst="rect">
              <a:avLst/>
            </a:prstGeom>
            <a:noFill/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73BC45A2-D98F-47EB-BEC6-315762D7D2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348" y="2506344"/>
              <a:ext cx="3142640" cy="19012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88A680D-C507-6147-38A4-8538D21017AA}"/>
              </a:ext>
            </a:extLst>
          </p:cNvPr>
          <p:cNvGrpSpPr/>
          <p:nvPr/>
        </p:nvGrpSpPr>
        <p:grpSpPr>
          <a:xfrm>
            <a:off x="7829534" y="1319474"/>
            <a:ext cx="4031564" cy="4490480"/>
            <a:chOff x="8206661" y="1337390"/>
            <a:chExt cx="4031564" cy="4490480"/>
          </a:xfrm>
        </p:grpSpPr>
        <p:sp>
          <p:nvSpPr>
            <p:cNvPr id="3" name="Rechteck 53">
              <a:extLst>
                <a:ext uri="{FF2B5EF4-FFF2-40B4-BE49-F238E27FC236}">
                  <a16:creationId xmlns:a16="http://schemas.microsoft.com/office/drawing/2014/main" id="{A3D89242-83E7-0754-DC42-B6C7A9C3DB38}"/>
                </a:ext>
              </a:extLst>
            </p:cNvPr>
            <p:cNvSpPr>
              <a:spLocks/>
            </p:cNvSpPr>
            <p:nvPr/>
          </p:nvSpPr>
          <p:spPr>
            <a:xfrm>
              <a:off x="8242203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9" name="Inhaltsplatzhalter 2">
              <a:extLst>
                <a:ext uri="{FF2B5EF4-FFF2-40B4-BE49-F238E27FC236}">
                  <a16:creationId xmlns:a16="http://schemas.microsoft.com/office/drawing/2014/main" id="{AD8FE314-262A-C078-EDB0-5CA09AA3D723}"/>
                </a:ext>
              </a:extLst>
            </p:cNvPr>
            <p:cNvSpPr txBox="1">
              <a:spLocks/>
            </p:cNvSpPr>
            <p:nvPr/>
          </p:nvSpPr>
          <p:spPr>
            <a:xfrm>
              <a:off x="8256794" y="4889151"/>
              <a:ext cx="3660375" cy="93871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sz="1400" dirty="0"/>
                <a:t>Bandwidth limitation restricts training, inference, and network strategies;</a:t>
              </a:r>
            </a:p>
            <a:p>
              <a:pPr>
                <a:spcBef>
                  <a:spcPts val="600"/>
                </a:spcBef>
              </a:pPr>
              <a:r>
                <a:rPr lang="en-US" sz="1400" dirty="0"/>
                <a:t>CPO offers higher bandwidth at better energy efficiency.</a:t>
              </a:r>
            </a:p>
          </p:txBody>
        </p:sp>
        <p:sp>
          <p:nvSpPr>
            <p:cNvPr id="11" name="Rechteck 22">
              <a:extLst>
                <a:ext uri="{FF2B5EF4-FFF2-40B4-BE49-F238E27FC236}">
                  <a16:creationId xmlns:a16="http://schemas.microsoft.com/office/drawing/2014/main" id="{D122097B-3085-F1BA-955F-93F0AF30E4E8}"/>
                </a:ext>
              </a:extLst>
            </p:cNvPr>
            <p:cNvSpPr>
              <a:spLocks/>
            </p:cNvSpPr>
            <p:nvPr/>
          </p:nvSpPr>
          <p:spPr>
            <a:xfrm>
              <a:off x="9538802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chemeClr val="accent1"/>
                  </a:solidFill>
                  <a:sym typeface="Futura"/>
                </a:rPr>
                <a:t>《Insights into DS-V3》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3D30D61-CEC3-4A04-6835-9D269EB0D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9962" b="88889" l="3125" r="94697">
                          <a14:foregroundMark x1="6155" y1="31418" x2="6155" y2="31418"/>
                          <a14:foregroundMark x1="11364" y1="83525" x2="11364" y2="83525"/>
                          <a14:foregroundMark x1="3125" y1="59387" x2="3125" y2="59387"/>
                          <a14:foregroundMark x1="32576" y1="59387" x2="32576" y2="59387"/>
                          <a14:foregroundMark x1="41098" y1="55556" x2="41098" y2="55556"/>
                          <a14:foregroundMark x1="49242" y1="54789" x2="49242" y2="54789"/>
                          <a14:foregroundMark x1="57765" y1="56705" x2="57765" y2="56705"/>
                          <a14:foregroundMark x1="68845" y1="55939" x2="68845" y2="55939"/>
                          <a14:foregroundMark x1="78030" y1="57088" x2="78030" y2="57088"/>
                          <a14:foregroundMark x1="82765" y1="54023" x2="82765" y2="54023"/>
                          <a14:foregroundMark x1="91288" y1="54406" x2="91288" y2="54406"/>
                          <a14:foregroundMark x1="94697" y1="55556" x2="94697" y2="5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260787" y="1510354"/>
              <a:ext cx="1317379" cy="325602"/>
            </a:xfrm>
            <a:prstGeom prst="rect">
              <a:avLst/>
            </a:prstGeom>
          </p:spPr>
        </p:pic>
        <p:sp>
          <p:nvSpPr>
            <p:cNvPr id="13" name="Textplatzhalter 9">
              <a:extLst>
                <a:ext uri="{FF2B5EF4-FFF2-40B4-BE49-F238E27FC236}">
                  <a16:creationId xmlns:a16="http://schemas.microsoft.com/office/drawing/2014/main" id="{AF68D50D-414D-635E-2792-0BEAB0496A5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256794" y="1929720"/>
              <a:ext cx="3981431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Highlights CPO’s importance under limited</a:t>
              </a:r>
              <a:r>
                <a:rPr lang="zh-CN" altLang="en-US" b="1" dirty="0"/>
                <a:t> </a:t>
              </a:r>
              <a:r>
                <a:rPr lang="en-US" altLang="zh-CN" b="1" dirty="0"/>
                <a:t>bandwidth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D943F7C-E7EF-9207-A884-3A534698B846}"/>
                </a:ext>
              </a:extLst>
            </p:cNvPr>
            <p:cNvGrpSpPr/>
            <p:nvPr/>
          </p:nvGrpSpPr>
          <p:grpSpPr>
            <a:xfrm>
              <a:off x="8206661" y="2501169"/>
              <a:ext cx="3509584" cy="1911646"/>
              <a:chOff x="7440021" y="1361951"/>
              <a:chExt cx="3509584" cy="1911646"/>
            </a:xfrm>
          </p:grpSpPr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0234BB60-FB48-622D-A498-75516FE24A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40022" y="1361951"/>
                <a:ext cx="3509583" cy="553199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2594A99E-9B03-0559-EB83-31733FA28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b="68697"/>
              <a:stretch/>
            </p:blipFill>
            <p:spPr>
              <a:xfrm>
                <a:off x="7440021" y="1877371"/>
                <a:ext cx="3444240" cy="1396226"/>
              </a:xfrm>
              <a:prstGeom prst="rect">
                <a:avLst/>
              </a:prstGeom>
            </p:spPr>
          </p:pic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09EA39E-0613-8F9A-4489-6AACB923E3C7}"/>
                  </a:ext>
                </a:extLst>
              </p:cNvPr>
              <p:cNvSpPr/>
              <p:nvPr/>
            </p:nvSpPr>
            <p:spPr>
              <a:xfrm>
                <a:off x="7440021" y="1877370"/>
                <a:ext cx="3444240" cy="515310"/>
              </a:xfrm>
              <a:prstGeom prst="rect">
                <a:avLst/>
              </a:prstGeom>
              <a:noFill/>
              <a:ln w="12700"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1FE6AA-B936-2C70-469E-7E327AF3E7CE}"/>
              </a:ext>
            </a:extLst>
          </p:cNvPr>
          <p:cNvGrpSpPr/>
          <p:nvPr/>
        </p:nvGrpSpPr>
        <p:grpSpPr>
          <a:xfrm>
            <a:off x="3937489" y="1381593"/>
            <a:ext cx="4049178" cy="4230833"/>
            <a:chOff x="4154770" y="1381593"/>
            <a:chExt cx="4049178" cy="4230833"/>
          </a:xfrm>
        </p:grpSpPr>
        <p:sp>
          <p:nvSpPr>
            <p:cNvPr id="23" name="Rechteck 23">
              <a:extLst>
                <a:ext uri="{FF2B5EF4-FFF2-40B4-BE49-F238E27FC236}">
                  <a16:creationId xmlns:a16="http://schemas.microsoft.com/office/drawing/2014/main" id="{D46FDC1B-0589-0C6F-14BE-04FAC0134390}"/>
                </a:ext>
              </a:extLst>
            </p:cNvPr>
            <p:cNvSpPr>
              <a:spLocks/>
            </p:cNvSpPr>
            <p:nvPr/>
          </p:nvSpPr>
          <p:spPr>
            <a:xfrm>
              <a:off x="5576150" y="1381593"/>
              <a:ext cx="2627798" cy="583124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chemeClr val="accent1"/>
                  </a:solidFill>
                </a:rPr>
                <a:t>Tomahawk Switches</a:t>
              </a:r>
              <a:endParaRPr lang="en-US" sz="1400" b="1" dirty="0">
                <a:solidFill>
                  <a:schemeClr val="accent1"/>
                </a:solidFill>
                <a:sym typeface="Futura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3AEDBC2-E141-C8D2-352D-0441C029259C}"/>
                </a:ext>
              </a:extLst>
            </p:cNvPr>
            <p:cNvGrpSpPr/>
            <p:nvPr/>
          </p:nvGrpSpPr>
          <p:grpSpPr>
            <a:xfrm>
              <a:off x="4154770" y="1523092"/>
              <a:ext cx="3657269" cy="4089334"/>
              <a:chOff x="4154770" y="1523092"/>
              <a:chExt cx="3657269" cy="4089334"/>
            </a:xfrm>
          </p:grpSpPr>
          <p:sp>
            <p:nvSpPr>
              <p:cNvPr id="14" name="Rechteck 54">
                <a:extLst>
                  <a:ext uri="{FF2B5EF4-FFF2-40B4-BE49-F238E27FC236}">
                    <a16:creationId xmlns:a16="http://schemas.microsoft.com/office/drawing/2014/main" id="{3D6A41AE-49DF-B3A5-B25A-942FE82A13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54770" y="2496855"/>
                <a:ext cx="3563744" cy="158027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cap="all" spc="100">
                    <a:solidFill>
                      <a:schemeClr val="accent5"/>
                    </a:solidFill>
                  </a:rPr>
                  <a:t>IMAGE</a:t>
                </a:r>
              </a:p>
            </p:txBody>
          </p:sp>
          <p:sp>
            <p:nvSpPr>
              <p:cNvPr id="20" name="Inhaltsplatzhalter 2">
                <a:extLst>
                  <a:ext uri="{FF2B5EF4-FFF2-40B4-BE49-F238E27FC236}">
                    <a16:creationId xmlns:a16="http://schemas.microsoft.com/office/drawing/2014/main" id="{44AEC338-DA13-8B7F-9021-2039CE822D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9362" y="4889151"/>
                <a:ext cx="3563744" cy="723275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66725" indent="-22225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0725" indent="-21748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900113" indent="-193675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4pPr>
                <a:lvl5pPr marL="1136650" indent="-18573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600"/>
                  </a:spcBef>
                </a:pPr>
                <a:r>
                  <a:rPr lang="en-US" sz="1400" dirty="0"/>
                  <a:t>Tomahawk 4: 1</a:t>
                </a:r>
                <a:r>
                  <a:rPr lang="en-US" sz="1400" baseline="30000" dirty="0"/>
                  <a:t>st</a:t>
                </a:r>
                <a:r>
                  <a:rPr lang="en-US" sz="1400" dirty="0"/>
                  <a:t> CPO switch chip;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/>
                  <a:t>Tomahawk 6: fastest CPO switch chip, announced in April.</a:t>
                </a:r>
                <a:endParaRPr lang="en-US" sz="1400" dirty="0"/>
              </a:p>
            </p:txBody>
          </p:sp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CBBA7B24-CECB-4D5E-2109-668B333CB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48296" y="1523092"/>
                <a:ext cx="312632" cy="300127"/>
              </a:xfrm>
              <a:prstGeom prst="rect">
                <a:avLst/>
              </a:prstGeom>
            </p:spPr>
          </p:pic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16E62E3A-EFCC-484A-7059-19CC0144F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37992" y="1610438"/>
                <a:ext cx="861094" cy="125435"/>
              </a:xfrm>
              <a:prstGeom prst="rect">
                <a:avLst/>
              </a:prstGeom>
            </p:spPr>
          </p:pic>
          <p:sp>
            <p:nvSpPr>
              <p:cNvPr id="31" name="Textplatzhalter 9">
                <a:extLst>
                  <a:ext uri="{FF2B5EF4-FFF2-40B4-BE49-F238E27FC236}">
                    <a16:creationId xmlns:a16="http://schemas.microsoft.com/office/drawing/2014/main" id="{C5A4A542-2958-433B-B7FD-8AE91883B95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248295" y="1929720"/>
                <a:ext cx="3563744" cy="18466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CN" b="1" dirty="0"/>
                  <a:t>Accelerates CPO ecosystem adoption</a:t>
                </a:r>
                <a:endParaRPr lang="en-US" sz="1400" dirty="0">
                  <a:solidFill>
                    <a:srgbClr val="0052D9"/>
                  </a:solidFill>
                </a:endParaRPr>
              </a:p>
            </p:txBody>
          </p:sp>
          <p:pic>
            <p:nvPicPr>
              <p:cNvPr id="33" name="图片 32" descr="男人戴着眼镜&#10;&#10;AI 生成的内容可能不正确。">
                <a:extLst>
                  <a:ext uri="{FF2B5EF4-FFF2-40B4-BE49-F238E27FC236}">
                    <a16:creationId xmlns:a16="http://schemas.microsoft.com/office/drawing/2014/main" id="{519DC953-2C84-BF8C-246B-B569654A2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497" t="4454" r="24533" b="12287"/>
              <a:stretch/>
            </p:blipFill>
            <p:spPr>
              <a:xfrm>
                <a:off x="4248295" y="2510615"/>
                <a:ext cx="3141178" cy="189275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178307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6C85-D235-2003-B9C0-052A98AD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IsoscelesTriangle 22">
            <a:extLst>
              <a:ext uri="{FF2B5EF4-FFF2-40B4-BE49-F238E27FC236}">
                <a16:creationId xmlns:a16="http://schemas.microsoft.com/office/drawing/2014/main" id="{16C88260-A0BD-A503-4565-BB80C6C113B5}"/>
              </a:ext>
            </a:extLst>
          </p:cNvPr>
          <p:cNvSpPr/>
          <p:nvPr/>
        </p:nvSpPr>
        <p:spPr>
          <a:xfrm>
            <a:off x="4122597" y="2337424"/>
            <a:ext cx="3946806" cy="3402419"/>
          </a:xfrm>
          <a:prstGeom prst="triangle">
            <a:avLst/>
          </a:prstGeom>
          <a:solidFill>
            <a:srgbClr val="F2F2F2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C0F53BD-CF13-09D7-CD70-30CD58C3C89C}"/>
              </a:ext>
            </a:extLst>
          </p:cNvPr>
          <p:cNvGrpSpPr/>
          <p:nvPr/>
        </p:nvGrpSpPr>
        <p:grpSpPr>
          <a:xfrm>
            <a:off x="1525684" y="1686290"/>
            <a:ext cx="4001871" cy="1366256"/>
            <a:chOff x="248972" y="4321548"/>
            <a:chExt cx="4001871" cy="1366256"/>
          </a:xfrm>
        </p:grpSpPr>
        <p:sp>
          <p:nvSpPr>
            <p:cNvPr id="42" name="Bullet2">
              <a:extLst>
                <a:ext uri="{FF2B5EF4-FFF2-40B4-BE49-F238E27FC236}">
                  <a16:creationId xmlns:a16="http://schemas.microsoft.com/office/drawing/2014/main" id="{AD7E5E9D-5BB8-E5F7-B5D6-8BDBDE8FCCB6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pPr algn="r"/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Speed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43" name="Text2">
              <a:extLst>
                <a:ext uri="{FF2B5EF4-FFF2-40B4-BE49-F238E27FC236}">
                  <a16:creationId xmlns:a16="http://schemas.microsoft.com/office/drawing/2014/main" id="{0B1BFAA2-8A23-4D8A-51B5-EAC207FF8428}"/>
                </a:ext>
              </a:extLst>
            </p:cNvPr>
            <p:cNvSpPr>
              <a:spLocks/>
            </p:cNvSpPr>
            <p:nvPr/>
          </p:nvSpPr>
          <p:spPr>
            <a:xfrm flipH="1">
              <a:off x="248972" y="4879942"/>
              <a:ext cx="3378225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r"/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Low power + extended distance requires reduced data rates or bandwidth.</a:t>
              </a:r>
            </a:p>
          </p:txBody>
        </p:sp>
        <p:sp>
          <p:nvSpPr>
            <p:cNvPr id="41" name="Number2">
              <a:extLst>
                <a:ext uri="{FF2B5EF4-FFF2-40B4-BE49-F238E27FC236}">
                  <a16:creationId xmlns:a16="http://schemas.microsoft.com/office/drawing/2014/main" id="{88D41197-0323-1967-31F4-7F86FD4170ED}"/>
                </a:ext>
              </a:extLst>
            </p:cNvPr>
            <p:cNvSpPr txBox="1">
              <a:spLocks noChangeAspect="1"/>
            </p:cNvSpPr>
            <p:nvPr/>
          </p:nvSpPr>
          <p:spPr>
            <a:xfrm flipH="1">
              <a:off x="3710843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1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9B9F577-638B-7FAE-9CD2-4143C9451290}"/>
              </a:ext>
            </a:extLst>
          </p:cNvPr>
          <p:cNvGrpSpPr/>
          <p:nvPr/>
        </p:nvGrpSpPr>
        <p:grpSpPr>
          <a:xfrm>
            <a:off x="8202929" y="4727558"/>
            <a:ext cx="3558090" cy="1366256"/>
            <a:chOff x="7960810" y="4321548"/>
            <a:chExt cx="3558090" cy="1366256"/>
          </a:xfrm>
        </p:grpSpPr>
        <p:sp>
          <p:nvSpPr>
            <p:cNvPr id="37" name="Bullet3">
              <a:extLst>
                <a:ext uri="{FF2B5EF4-FFF2-40B4-BE49-F238E27FC236}">
                  <a16:creationId xmlns:a16="http://schemas.microsoft.com/office/drawing/2014/main" id="{5EB07114-1B64-7AB3-881D-2F910A3D00A4}"/>
                </a:ext>
              </a:extLst>
            </p:cNvPr>
            <p:cNvSpPr>
              <a:spLocks/>
            </p:cNvSpPr>
            <p:nvPr/>
          </p:nvSpPr>
          <p:spPr>
            <a:xfrm>
              <a:off x="8584456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Power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38" name="Text3">
              <a:extLst>
                <a:ext uri="{FF2B5EF4-FFF2-40B4-BE49-F238E27FC236}">
                  <a16:creationId xmlns:a16="http://schemas.microsoft.com/office/drawing/2014/main" id="{B0D4B49A-57E2-9478-02C9-086D3221DF1E}"/>
                </a:ext>
              </a:extLst>
            </p:cNvPr>
            <p:cNvSpPr>
              <a:spLocks/>
            </p:cNvSpPr>
            <p:nvPr/>
          </p:nvSpPr>
          <p:spPr>
            <a:xfrm>
              <a:off x="8584456" y="4879942"/>
              <a:ext cx="2934444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 lnSpcReduction="100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Long-distance suffers signal attenuation, requiring power compensation.</a:t>
              </a:r>
            </a:p>
            <a:p>
              <a:pPr>
                <a:lnSpc>
                  <a:spcPct val="120000"/>
                </a:lnSpc>
              </a:pP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36" name="Number3">
              <a:extLst>
                <a:ext uri="{FF2B5EF4-FFF2-40B4-BE49-F238E27FC236}">
                  <a16:creationId xmlns:a16="http://schemas.microsoft.com/office/drawing/2014/main" id="{92787A42-58EB-D724-89E3-05CC3AC7C96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960810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3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F26B064E-A8D5-ADA9-9FFF-52D5812066E7}"/>
              </a:ext>
            </a:extLst>
          </p:cNvPr>
          <p:cNvSpPr txBox="1">
            <a:spLocks/>
          </p:cNvSpPr>
          <p:nvPr/>
        </p:nvSpPr>
        <p:spPr>
          <a:xfrm>
            <a:off x="182120" y="262654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Communication trade-off triangle in IDCs: speed, reach, and power</a:t>
            </a:r>
          </a:p>
        </p:txBody>
      </p:sp>
      <p:sp>
        <p:nvSpPr>
          <p:cNvPr id="5" name="time-passing_150431">
            <a:extLst>
              <a:ext uri="{FF2B5EF4-FFF2-40B4-BE49-F238E27FC236}">
                <a16:creationId xmlns:a16="http://schemas.microsoft.com/office/drawing/2014/main" id="{AD10E905-E0B2-C284-C15C-14DD0D807A47}"/>
              </a:ext>
            </a:extLst>
          </p:cNvPr>
          <p:cNvSpPr/>
          <p:nvPr/>
        </p:nvSpPr>
        <p:spPr>
          <a:xfrm>
            <a:off x="5916067" y="2939059"/>
            <a:ext cx="359863" cy="359321"/>
          </a:xfrm>
          <a:custGeom>
            <a:avLst/>
            <a:gdLst>
              <a:gd name="connsiteX0" fmla="*/ 304595 w 609191"/>
              <a:gd name="connsiteY0" fmla="*/ 113046 h 608274"/>
              <a:gd name="connsiteX1" fmla="*/ 304595 w 609191"/>
              <a:gd name="connsiteY1" fmla="*/ 304137 h 608274"/>
              <a:gd name="connsiteX2" fmla="*/ 495933 w 609191"/>
              <a:gd name="connsiteY2" fmla="*/ 304137 h 608274"/>
              <a:gd name="connsiteX3" fmla="*/ 304595 w 609191"/>
              <a:gd name="connsiteY3" fmla="*/ 495228 h 608274"/>
              <a:gd name="connsiteX4" fmla="*/ 113257 w 609191"/>
              <a:gd name="connsiteY4" fmla="*/ 304137 h 608274"/>
              <a:gd name="connsiteX5" fmla="*/ 304595 w 609191"/>
              <a:gd name="connsiteY5" fmla="*/ 113046 h 608274"/>
              <a:gd name="connsiteX6" fmla="*/ 304596 w 609191"/>
              <a:gd name="connsiteY6" fmla="*/ 0 h 608274"/>
              <a:gd name="connsiteX7" fmla="*/ 496064 w 609191"/>
              <a:gd name="connsiteY7" fmla="*/ 67552 h 608274"/>
              <a:gd name="connsiteX8" fmla="*/ 530950 w 609191"/>
              <a:gd name="connsiteY8" fmla="*/ 32820 h 608274"/>
              <a:gd name="connsiteX9" fmla="*/ 548998 w 609191"/>
              <a:gd name="connsiteY9" fmla="*/ 29196 h 608274"/>
              <a:gd name="connsiteX10" fmla="*/ 559282 w 609191"/>
              <a:gd name="connsiteY10" fmla="*/ 44498 h 608274"/>
              <a:gd name="connsiteX11" fmla="*/ 559282 w 609191"/>
              <a:gd name="connsiteY11" fmla="*/ 165106 h 608274"/>
              <a:gd name="connsiteX12" fmla="*/ 542646 w 609191"/>
              <a:gd name="connsiteY12" fmla="*/ 181616 h 608274"/>
              <a:gd name="connsiteX13" fmla="*/ 421957 w 609191"/>
              <a:gd name="connsiteY13" fmla="*/ 181616 h 608274"/>
              <a:gd name="connsiteX14" fmla="*/ 406632 w 609191"/>
              <a:gd name="connsiteY14" fmla="*/ 171448 h 608274"/>
              <a:gd name="connsiteX15" fmla="*/ 410261 w 609191"/>
              <a:gd name="connsiteY15" fmla="*/ 153327 h 608274"/>
              <a:gd name="connsiteX16" fmla="*/ 450491 w 609191"/>
              <a:gd name="connsiteY16" fmla="*/ 113158 h 608274"/>
              <a:gd name="connsiteX17" fmla="*/ 423268 w 609191"/>
              <a:gd name="connsiteY17" fmla="*/ 95137 h 608274"/>
              <a:gd name="connsiteX18" fmla="*/ 423167 w 609191"/>
              <a:gd name="connsiteY18" fmla="*/ 95238 h 608274"/>
              <a:gd name="connsiteX19" fmla="*/ 304596 w 609191"/>
              <a:gd name="connsiteY19" fmla="*/ 63928 h 608274"/>
              <a:gd name="connsiteX20" fmla="*/ 64024 w 609191"/>
              <a:gd name="connsiteY20" fmla="*/ 304137 h 608274"/>
              <a:gd name="connsiteX21" fmla="*/ 304596 w 609191"/>
              <a:gd name="connsiteY21" fmla="*/ 544346 h 608274"/>
              <a:gd name="connsiteX22" fmla="*/ 545167 w 609191"/>
              <a:gd name="connsiteY22" fmla="*/ 304137 h 608274"/>
              <a:gd name="connsiteX23" fmla="*/ 527421 w 609191"/>
              <a:gd name="connsiteY23" fmla="*/ 213631 h 608274"/>
              <a:gd name="connsiteX24" fmla="*/ 542646 w 609191"/>
              <a:gd name="connsiteY24" fmla="*/ 213631 h 608274"/>
              <a:gd name="connsiteX25" fmla="*/ 585799 w 609191"/>
              <a:gd name="connsiteY25" fmla="*/ 187355 h 608274"/>
              <a:gd name="connsiteX26" fmla="*/ 609191 w 609191"/>
              <a:gd name="connsiteY26" fmla="*/ 304137 h 608274"/>
              <a:gd name="connsiteX27" fmla="*/ 304596 w 609191"/>
              <a:gd name="connsiteY27" fmla="*/ 608274 h 608274"/>
              <a:gd name="connsiteX28" fmla="*/ 0 w 609191"/>
              <a:gd name="connsiteY28" fmla="*/ 304137 h 608274"/>
              <a:gd name="connsiteX29" fmla="*/ 304596 w 609191"/>
              <a:gd name="connsiteY29" fmla="*/ 0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9191" h="608274">
                <a:moveTo>
                  <a:pt x="304595" y="113046"/>
                </a:moveTo>
                <a:lnTo>
                  <a:pt x="304595" y="304137"/>
                </a:lnTo>
                <a:lnTo>
                  <a:pt x="495933" y="304137"/>
                </a:lnTo>
                <a:cubicBezTo>
                  <a:pt x="495933" y="409650"/>
                  <a:pt x="410244" y="495228"/>
                  <a:pt x="304595" y="495228"/>
                </a:cubicBezTo>
                <a:cubicBezTo>
                  <a:pt x="198946" y="495228"/>
                  <a:pt x="113257" y="409650"/>
                  <a:pt x="113257" y="304137"/>
                </a:cubicBezTo>
                <a:cubicBezTo>
                  <a:pt x="113257" y="198624"/>
                  <a:pt x="198946" y="113046"/>
                  <a:pt x="304595" y="113046"/>
                </a:cubicBezTo>
                <a:close/>
                <a:moveTo>
                  <a:pt x="304596" y="0"/>
                </a:moveTo>
                <a:cubicBezTo>
                  <a:pt x="372754" y="0"/>
                  <a:pt x="440610" y="22752"/>
                  <a:pt x="496064" y="67552"/>
                </a:cubicBezTo>
                <a:lnTo>
                  <a:pt x="530950" y="32820"/>
                </a:lnTo>
                <a:cubicBezTo>
                  <a:pt x="535689" y="28088"/>
                  <a:pt x="542848" y="26679"/>
                  <a:pt x="548998" y="29196"/>
                </a:cubicBezTo>
                <a:cubicBezTo>
                  <a:pt x="555249" y="31712"/>
                  <a:pt x="559282" y="37753"/>
                  <a:pt x="559282" y="44498"/>
                </a:cubicBezTo>
                <a:lnTo>
                  <a:pt x="559282" y="165106"/>
                </a:lnTo>
                <a:cubicBezTo>
                  <a:pt x="559282" y="174167"/>
                  <a:pt x="551821" y="181616"/>
                  <a:pt x="542646" y="181616"/>
                </a:cubicBezTo>
                <a:lnTo>
                  <a:pt x="421957" y="181616"/>
                </a:lnTo>
                <a:cubicBezTo>
                  <a:pt x="415202" y="181616"/>
                  <a:pt x="409152" y="177589"/>
                  <a:pt x="406632" y="171448"/>
                </a:cubicBezTo>
                <a:cubicBezTo>
                  <a:pt x="404010" y="165207"/>
                  <a:pt x="405522" y="158059"/>
                  <a:pt x="410261" y="153327"/>
                </a:cubicBezTo>
                <a:lnTo>
                  <a:pt x="450491" y="113158"/>
                </a:lnTo>
                <a:cubicBezTo>
                  <a:pt x="441820" y="106513"/>
                  <a:pt x="432745" y="100473"/>
                  <a:pt x="423268" y="95137"/>
                </a:cubicBezTo>
                <a:lnTo>
                  <a:pt x="423167" y="95238"/>
                </a:lnTo>
                <a:cubicBezTo>
                  <a:pt x="387475" y="74902"/>
                  <a:pt x="346943" y="63928"/>
                  <a:pt x="304596" y="63928"/>
                </a:cubicBezTo>
                <a:cubicBezTo>
                  <a:pt x="172009" y="63928"/>
                  <a:pt x="64024" y="171750"/>
                  <a:pt x="64024" y="304137"/>
                </a:cubicBezTo>
                <a:cubicBezTo>
                  <a:pt x="64024" y="436624"/>
                  <a:pt x="172009" y="544346"/>
                  <a:pt x="304596" y="544346"/>
                </a:cubicBezTo>
                <a:cubicBezTo>
                  <a:pt x="437283" y="544346"/>
                  <a:pt x="545167" y="436624"/>
                  <a:pt x="545167" y="304137"/>
                </a:cubicBezTo>
                <a:cubicBezTo>
                  <a:pt x="545167" y="272123"/>
                  <a:pt x="538815" y="241518"/>
                  <a:pt x="527421" y="213631"/>
                </a:cubicBezTo>
                <a:lnTo>
                  <a:pt x="542646" y="213631"/>
                </a:lnTo>
                <a:cubicBezTo>
                  <a:pt x="561400" y="213631"/>
                  <a:pt x="577733" y="202959"/>
                  <a:pt x="585799" y="187355"/>
                </a:cubicBezTo>
                <a:cubicBezTo>
                  <a:pt x="600923" y="223296"/>
                  <a:pt x="609191" y="262760"/>
                  <a:pt x="609191" y="304137"/>
                </a:cubicBezTo>
                <a:cubicBezTo>
                  <a:pt x="609191" y="471860"/>
                  <a:pt x="472572" y="608274"/>
                  <a:pt x="304596" y="608274"/>
                </a:cubicBezTo>
                <a:cubicBezTo>
                  <a:pt x="136619" y="608274"/>
                  <a:pt x="0" y="471860"/>
                  <a:pt x="0" y="304137"/>
                </a:cubicBezTo>
                <a:cubicBezTo>
                  <a:pt x="0" y="136414"/>
                  <a:pt x="136619" y="0"/>
                  <a:pt x="304596" y="0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-diagonal-arrow_57071">
            <a:extLst>
              <a:ext uri="{FF2B5EF4-FFF2-40B4-BE49-F238E27FC236}">
                <a16:creationId xmlns:a16="http://schemas.microsoft.com/office/drawing/2014/main" id="{8A9D0D0C-9ED6-6361-321F-BA8D01085337}"/>
              </a:ext>
            </a:extLst>
          </p:cNvPr>
          <p:cNvSpPr/>
          <p:nvPr/>
        </p:nvSpPr>
        <p:spPr>
          <a:xfrm>
            <a:off x="7204542" y="5241064"/>
            <a:ext cx="274160" cy="273778"/>
          </a:xfrm>
          <a:custGeom>
            <a:avLst/>
            <a:gdLst>
              <a:gd name="T0" fmla="*/ 1333 w 12856"/>
              <a:gd name="T1" fmla="*/ 7083 h 12856"/>
              <a:gd name="T2" fmla="*/ 2667 w 12856"/>
              <a:gd name="T3" fmla="*/ 5749 h 12856"/>
              <a:gd name="T4" fmla="*/ 2667 w 12856"/>
              <a:gd name="T5" fmla="*/ 4552 h 12856"/>
              <a:gd name="T6" fmla="*/ 8304 w 12856"/>
              <a:gd name="T7" fmla="*/ 10189 h 12856"/>
              <a:gd name="T8" fmla="*/ 7107 w 12856"/>
              <a:gd name="T9" fmla="*/ 10189 h 12856"/>
              <a:gd name="T10" fmla="*/ 5773 w 12856"/>
              <a:gd name="T11" fmla="*/ 11523 h 12856"/>
              <a:gd name="T12" fmla="*/ 7107 w 12856"/>
              <a:gd name="T13" fmla="*/ 12856 h 12856"/>
              <a:gd name="T14" fmla="*/ 11523 w 12856"/>
              <a:gd name="T15" fmla="*/ 12856 h 12856"/>
              <a:gd name="T16" fmla="*/ 12415 w 12856"/>
              <a:gd name="T17" fmla="*/ 12513 h 12856"/>
              <a:gd name="T18" fmla="*/ 12591 w 12856"/>
              <a:gd name="T19" fmla="*/ 12321 h 12856"/>
              <a:gd name="T20" fmla="*/ 12591 w 12856"/>
              <a:gd name="T21" fmla="*/ 12321 h 12856"/>
              <a:gd name="T22" fmla="*/ 12856 w 12856"/>
              <a:gd name="T23" fmla="*/ 11528 h 12856"/>
              <a:gd name="T24" fmla="*/ 12856 w 12856"/>
              <a:gd name="T25" fmla="*/ 11524 h 12856"/>
              <a:gd name="T26" fmla="*/ 12856 w 12856"/>
              <a:gd name="T27" fmla="*/ 7199 h 12856"/>
              <a:gd name="T28" fmla="*/ 11523 w 12856"/>
              <a:gd name="T29" fmla="*/ 5865 h 12856"/>
              <a:gd name="T30" fmla="*/ 10189 w 12856"/>
              <a:gd name="T31" fmla="*/ 7199 h 12856"/>
              <a:gd name="T32" fmla="*/ 10189 w 12856"/>
              <a:gd name="T33" fmla="*/ 8304 h 12856"/>
              <a:gd name="T34" fmla="*/ 4552 w 12856"/>
              <a:gd name="T35" fmla="*/ 2667 h 12856"/>
              <a:gd name="T36" fmla="*/ 5656 w 12856"/>
              <a:gd name="T37" fmla="*/ 2667 h 12856"/>
              <a:gd name="T38" fmla="*/ 6989 w 12856"/>
              <a:gd name="T39" fmla="*/ 1333 h 12856"/>
              <a:gd name="T40" fmla="*/ 5656 w 12856"/>
              <a:gd name="T41" fmla="*/ 0 h 12856"/>
              <a:gd name="T42" fmla="*/ 1333 w 12856"/>
              <a:gd name="T43" fmla="*/ 0 h 12856"/>
              <a:gd name="T44" fmla="*/ 1331 w 12856"/>
              <a:gd name="T45" fmla="*/ 0 h 12856"/>
              <a:gd name="T46" fmla="*/ 803 w 12856"/>
              <a:gd name="T47" fmla="*/ 109 h 12856"/>
              <a:gd name="T48" fmla="*/ 353 w 12856"/>
              <a:gd name="T49" fmla="*/ 428 h 12856"/>
              <a:gd name="T50" fmla="*/ 255 w 12856"/>
              <a:gd name="T51" fmla="*/ 548 h 12856"/>
              <a:gd name="T52" fmla="*/ 160 w 12856"/>
              <a:gd name="T53" fmla="*/ 697 h 12856"/>
              <a:gd name="T54" fmla="*/ 160 w 12856"/>
              <a:gd name="T55" fmla="*/ 699 h 12856"/>
              <a:gd name="T56" fmla="*/ 12 w 12856"/>
              <a:gd name="T57" fmla="*/ 1155 h 12856"/>
              <a:gd name="T58" fmla="*/ 0 w 12856"/>
              <a:gd name="T59" fmla="*/ 1329 h 12856"/>
              <a:gd name="T60" fmla="*/ 0 w 12856"/>
              <a:gd name="T61" fmla="*/ 1333 h 12856"/>
              <a:gd name="T62" fmla="*/ 0 w 12856"/>
              <a:gd name="T63" fmla="*/ 5749 h 12856"/>
              <a:gd name="T64" fmla="*/ 1333 w 12856"/>
              <a:gd name="T65" fmla="*/ 7083 h 1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56" h="12856">
                <a:moveTo>
                  <a:pt x="1333" y="7083"/>
                </a:moveTo>
                <a:cubicBezTo>
                  <a:pt x="2069" y="7083"/>
                  <a:pt x="2667" y="6485"/>
                  <a:pt x="2667" y="5749"/>
                </a:cubicBezTo>
                <a:lnTo>
                  <a:pt x="2667" y="4552"/>
                </a:lnTo>
                <a:lnTo>
                  <a:pt x="8304" y="10189"/>
                </a:lnTo>
                <a:lnTo>
                  <a:pt x="7107" y="10189"/>
                </a:lnTo>
                <a:cubicBezTo>
                  <a:pt x="6371" y="10189"/>
                  <a:pt x="5773" y="10787"/>
                  <a:pt x="5773" y="11523"/>
                </a:cubicBezTo>
                <a:cubicBezTo>
                  <a:pt x="5773" y="12259"/>
                  <a:pt x="6371" y="12856"/>
                  <a:pt x="7107" y="12856"/>
                </a:cubicBezTo>
                <a:lnTo>
                  <a:pt x="11523" y="12856"/>
                </a:lnTo>
                <a:cubicBezTo>
                  <a:pt x="11852" y="12856"/>
                  <a:pt x="12169" y="12731"/>
                  <a:pt x="12415" y="12513"/>
                </a:cubicBezTo>
                <a:cubicBezTo>
                  <a:pt x="12480" y="12456"/>
                  <a:pt x="12539" y="12391"/>
                  <a:pt x="12591" y="12321"/>
                </a:cubicBezTo>
                <a:lnTo>
                  <a:pt x="12591" y="12321"/>
                </a:lnTo>
                <a:cubicBezTo>
                  <a:pt x="12761" y="12093"/>
                  <a:pt x="12855" y="11813"/>
                  <a:pt x="12856" y="11528"/>
                </a:cubicBezTo>
                <a:lnTo>
                  <a:pt x="12856" y="11524"/>
                </a:lnTo>
                <a:lnTo>
                  <a:pt x="12856" y="7199"/>
                </a:lnTo>
                <a:cubicBezTo>
                  <a:pt x="12856" y="6463"/>
                  <a:pt x="12259" y="5865"/>
                  <a:pt x="11523" y="5865"/>
                </a:cubicBezTo>
                <a:cubicBezTo>
                  <a:pt x="10787" y="5865"/>
                  <a:pt x="10189" y="6463"/>
                  <a:pt x="10189" y="7199"/>
                </a:cubicBezTo>
                <a:lnTo>
                  <a:pt x="10189" y="8304"/>
                </a:lnTo>
                <a:lnTo>
                  <a:pt x="4552" y="2667"/>
                </a:lnTo>
                <a:lnTo>
                  <a:pt x="5656" y="2667"/>
                </a:lnTo>
                <a:cubicBezTo>
                  <a:pt x="6392" y="2667"/>
                  <a:pt x="6989" y="2069"/>
                  <a:pt x="6989" y="1333"/>
                </a:cubicBezTo>
                <a:cubicBezTo>
                  <a:pt x="6989" y="597"/>
                  <a:pt x="6392" y="0"/>
                  <a:pt x="5656" y="0"/>
                </a:cubicBezTo>
                <a:lnTo>
                  <a:pt x="1333" y="0"/>
                </a:lnTo>
                <a:lnTo>
                  <a:pt x="1331" y="0"/>
                </a:lnTo>
                <a:cubicBezTo>
                  <a:pt x="1151" y="1"/>
                  <a:pt x="969" y="37"/>
                  <a:pt x="803" y="109"/>
                </a:cubicBezTo>
                <a:cubicBezTo>
                  <a:pt x="633" y="184"/>
                  <a:pt x="480" y="292"/>
                  <a:pt x="353" y="428"/>
                </a:cubicBezTo>
                <a:cubicBezTo>
                  <a:pt x="317" y="467"/>
                  <a:pt x="285" y="507"/>
                  <a:pt x="255" y="548"/>
                </a:cubicBezTo>
                <a:cubicBezTo>
                  <a:pt x="220" y="596"/>
                  <a:pt x="188" y="645"/>
                  <a:pt x="160" y="697"/>
                </a:cubicBezTo>
                <a:lnTo>
                  <a:pt x="160" y="699"/>
                </a:lnTo>
                <a:cubicBezTo>
                  <a:pt x="83" y="839"/>
                  <a:pt x="32" y="995"/>
                  <a:pt x="12" y="1155"/>
                </a:cubicBezTo>
                <a:cubicBezTo>
                  <a:pt x="4" y="1213"/>
                  <a:pt x="0" y="1271"/>
                  <a:pt x="0" y="1329"/>
                </a:cubicBezTo>
                <a:lnTo>
                  <a:pt x="0" y="1333"/>
                </a:lnTo>
                <a:lnTo>
                  <a:pt x="0" y="5749"/>
                </a:lnTo>
                <a:cubicBezTo>
                  <a:pt x="0" y="6485"/>
                  <a:pt x="597" y="7083"/>
                  <a:pt x="1333" y="7083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hapeIsoscelesTriangle 22">
            <a:extLst>
              <a:ext uri="{FF2B5EF4-FFF2-40B4-BE49-F238E27FC236}">
                <a16:creationId xmlns:a16="http://schemas.microsoft.com/office/drawing/2014/main" id="{85FBB884-59C1-5697-118B-1DFE52F5234C}"/>
              </a:ext>
            </a:extLst>
          </p:cNvPr>
          <p:cNvSpPr/>
          <p:nvPr/>
        </p:nvSpPr>
        <p:spPr>
          <a:xfrm rot="10800000">
            <a:off x="5257555" y="4167517"/>
            <a:ext cx="1647346" cy="1420126"/>
          </a:xfrm>
          <a:prstGeom prst="triangle">
            <a:avLst/>
          </a:prstGeom>
          <a:solidFill>
            <a:srgbClr val="0052D9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1261C36-B73F-FD1B-4AB6-0A3AF886EE6D}"/>
              </a:ext>
            </a:extLst>
          </p:cNvPr>
          <p:cNvGrpSpPr/>
          <p:nvPr/>
        </p:nvGrpSpPr>
        <p:grpSpPr>
          <a:xfrm>
            <a:off x="459341" y="4721387"/>
            <a:ext cx="3558090" cy="1366256"/>
            <a:chOff x="692753" y="4321548"/>
            <a:chExt cx="3558090" cy="1366256"/>
          </a:xfrm>
        </p:grpSpPr>
        <p:sp>
          <p:nvSpPr>
            <p:cNvPr id="15" name="Bullet2">
              <a:extLst>
                <a:ext uri="{FF2B5EF4-FFF2-40B4-BE49-F238E27FC236}">
                  <a16:creationId xmlns:a16="http://schemas.microsoft.com/office/drawing/2014/main" id="{020D2B8C-297B-1DE8-7205-1FCC7FF548A2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pPr algn="r"/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Distance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16" name="Text2">
              <a:extLst>
                <a:ext uri="{FF2B5EF4-FFF2-40B4-BE49-F238E27FC236}">
                  <a16:creationId xmlns:a16="http://schemas.microsoft.com/office/drawing/2014/main" id="{5009F1E3-5AC0-17B2-CC3B-ED261A33494A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879942"/>
              <a:ext cx="2934444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High-speed transmission consumes significant power. 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7" name="Number2">
              <a:extLst>
                <a:ext uri="{FF2B5EF4-FFF2-40B4-BE49-F238E27FC236}">
                  <a16:creationId xmlns:a16="http://schemas.microsoft.com/office/drawing/2014/main" id="{15E7B3D2-FCDE-F42D-CD2F-EDACC50481DB}"/>
                </a:ext>
              </a:extLst>
            </p:cNvPr>
            <p:cNvSpPr txBox="1">
              <a:spLocks noChangeAspect="1"/>
            </p:cNvSpPr>
            <p:nvPr/>
          </p:nvSpPr>
          <p:spPr>
            <a:xfrm flipH="1">
              <a:off x="3710843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2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9" name="light-bolt_192749">
            <a:extLst>
              <a:ext uri="{FF2B5EF4-FFF2-40B4-BE49-F238E27FC236}">
                <a16:creationId xmlns:a16="http://schemas.microsoft.com/office/drawing/2014/main" id="{DE47084A-DC66-D937-D49F-3DF49F28D92F}"/>
              </a:ext>
            </a:extLst>
          </p:cNvPr>
          <p:cNvSpPr/>
          <p:nvPr/>
        </p:nvSpPr>
        <p:spPr>
          <a:xfrm>
            <a:off x="4789786" y="5114571"/>
            <a:ext cx="267266" cy="400271"/>
          </a:xfrm>
          <a:custGeom>
            <a:avLst/>
            <a:gdLst>
              <a:gd name="T0" fmla="*/ 4551 w 4551"/>
              <a:gd name="T1" fmla="*/ 2844 h 6827"/>
              <a:gd name="T2" fmla="*/ 2655 w 4551"/>
              <a:gd name="T3" fmla="*/ 2844 h 6827"/>
              <a:gd name="T4" fmla="*/ 2655 w 4551"/>
              <a:gd name="T5" fmla="*/ 0 h 6827"/>
              <a:gd name="T6" fmla="*/ 0 w 4551"/>
              <a:gd name="T7" fmla="*/ 3982 h 6827"/>
              <a:gd name="T8" fmla="*/ 1896 w 4551"/>
              <a:gd name="T9" fmla="*/ 3982 h 6827"/>
              <a:gd name="T10" fmla="*/ 1896 w 4551"/>
              <a:gd name="T11" fmla="*/ 6827 h 6827"/>
              <a:gd name="T12" fmla="*/ 4551 w 4551"/>
              <a:gd name="T13" fmla="*/ 2844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51" h="6827">
                <a:moveTo>
                  <a:pt x="4551" y="2844"/>
                </a:moveTo>
                <a:lnTo>
                  <a:pt x="2655" y="2844"/>
                </a:lnTo>
                <a:lnTo>
                  <a:pt x="2655" y="0"/>
                </a:lnTo>
                <a:lnTo>
                  <a:pt x="0" y="3982"/>
                </a:lnTo>
                <a:lnTo>
                  <a:pt x="1896" y="3982"/>
                </a:lnTo>
                <a:lnTo>
                  <a:pt x="1896" y="6827"/>
                </a:lnTo>
                <a:lnTo>
                  <a:pt x="4551" y="2844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460CAD9-B853-308F-68B2-80168C22CC05}"/>
              </a:ext>
            </a:extLst>
          </p:cNvPr>
          <p:cNvSpPr txBox="1"/>
          <p:nvPr/>
        </p:nvSpPr>
        <p:spPr>
          <a:xfrm>
            <a:off x="511331" y="954770"/>
            <a:ext cx="10837646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</a:rPr>
              <a:t>Bit Error Rate (BER)¹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: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the core metric for IDC data communications, measuring transmission reliability;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As transmission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speed</a:t>
            </a:r>
            <a:r>
              <a:rPr lang="en-US" altLang="zh-CN" dirty="0"/>
              <a:t>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</a:rPr>
              <a:t>or</a:t>
            </a:r>
            <a:r>
              <a:rPr lang="en-US" altLang="zh-CN" dirty="0"/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distance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</a:rPr>
              <a:t>increases,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and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power consumption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</a:rPr>
              <a:t>tighten,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BER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</a:rPr>
              <a:t>increases.</a:t>
            </a: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D250EE-29A5-4FC0-9797-B9301924E016}"/>
              </a:ext>
            </a:extLst>
          </p:cNvPr>
          <p:cNvSpPr txBox="1"/>
          <p:nvPr/>
        </p:nvSpPr>
        <p:spPr>
          <a:xfrm>
            <a:off x="5374457" y="4538074"/>
            <a:ext cx="1413540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cs typeface="+mn-ea"/>
                <a:sym typeface="+mn-lt"/>
              </a:rPr>
              <a:t>BER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F8177C-D92C-0C3D-0709-1D72C476F289}"/>
              </a:ext>
            </a:extLst>
          </p:cNvPr>
          <p:cNvSpPr txBox="1"/>
          <p:nvPr/>
        </p:nvSpPr>
        <p:spPr>
          <a:xfrm>
            <a:off x="285044" y="6373197"/>
            <a:ext cx="8357129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BER standard for IDC scenarios is &lt;1e-12, representing 1 bit error per trillion bits transmitted.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0705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46095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404" imgH="405" progId="TCLayout.ActiveDocument.1">
                  <p:embed/>
                </p:oleObj>
              </mc:Choice>
              <mc:Fallback>
                <p:oleObj name="think-cell 幻灯片" r:id="rId15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图表 36">
            <a:extLst>
              <a:ext uri="{FF2B5EF4-FFF2-40B4-BE49-F238E27FC236}">
                <a16:creationId xmlns:a16="http://schemas.microsoft.com/office/drawing/2014/main" id="{2A116E20-9DED-4019-B355-B0089C1C2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9352177"/>
              </p:ext>
            </p:extLst>
          </p:nvPr>
        </p:nvGraphicFramePr>
        <p:xfrm>
          <a:off x="6545782" y="2494300"/>
          <a:ext cx="4976982" cy="3426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1108735" y="307258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Optical</a:t>
            </a:r>
            <a:endParaRPr lang="zh-CN" altLang="en-US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1108735" y="364371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1518263-54BA-16B5-9CE4-5D013E91E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10174152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The copper speed wall in data center; Breaking through with optical interconnects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29273" y="6055273"/>
            <a:ext cx="1004189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bandwidth.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transmission rate growth aligns with InfiniBand.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At 224 Gbps, copper interconnects hit a wall, and unavoidable loss leads to unsustainable power and thermal costs.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181999" y="1261308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B8C5B985-123B-5E5B-694E-C5248B1DAF9C}"/>
              </a:ext>
            </a:extLst>
          </p:cNvPr>
          <p:cNvSpPr txBox="1"/>
          <p:nvPr/>
        </p:nvSpPr>
        <p:spPr>
          <a:xfrm>
            <a:off x="6435999" y="1529170"/>
            <a:ext cx="5269570" cy="328613"/>
          </a:xfrm>
          <a:prstGeom prst="rect">
            <a:avLst/>
          </a:prstGeom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dirty="0"/>
              <a:t>​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 (theoretical limit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):​​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224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Gbps/line; 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Optical (3.2T transceiver/CPO):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448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8110035" y="453585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cs typeface="+mn-ea"/>
                <a:sym typeface="+mn-lt"/>
              </a:rPr>
              <a:t>H100 (</a:t>
            </a:r>
            <a:r>
              <a:rPr lang="en-US" altLang="zh-CN" sz="1200" b="1" dirty="0" err="1">
                <a:cs typeface="+mn-ea"/>
                <a:sym typeface="+mn-lt"/>
              </a:rPr>
              <a:t>NVLink</a:t>
            </a:r>
            <a:r>
              <a:rPr lang="en-US" altLang="zh-CN" sz="1200" b="1" dirty="0">
                <a:cs typeface="+mn-ea"/>
                <a:sym typeface="+mn-lt"/>
              </a:rPr>
              <a:t> 4.0)</a:t>
            </a:r>
            <a:endParaRPr lang="zh-CN" altLang="en-US" sz="1200" b="1" dirty="0"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7026583" y="4992033"/>
            <a:ext cx="1497705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A100 (</a:t>
            </a:r>
            <a:r>
              <a:rPr lang="en-US" altLang="zh-CN" sz="1200" b="1" dirty="0" err="1">
                <a:cs typeface="+mn-ea"/>
                <a:sym typeface="+mn-lt"/>
              </a:rPr>
              <a:t>NVLink</a:t>
            </a:r>
            <a:r>
              <a:rPr lang="en-US" altLang="zh-CN" sz="1200" b="1" dirty="0">
                <a:cs typeface="+mn-ea"/>
                <a:sym typeface="+mn-lt"/>
              </a:rPr>
              <a:t> 3.0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9149122" y="4067368"/>
            <a:ext cx="155834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cs typeface="+mn-ea"/>
                <a:sym typeface="+mn-lt"/>
              </a:rPr>
              <a:t>B100 (</a:t>
            </a:r>
            <a:r>
              <a:rPr lang="en-US" altLang="zh-CN" sz="1200" b="1" dirty="0" err="1">
                <a:cs typeface="+mn-ea"/>
                <a:sym typeface="+mn-lt"/>
              </a:rPr>
              <a:t>NVLink</a:t>
            </a:r>
            <a:r>
              <a:rPr lang="en-US" altLang="zh-CN" sz="1200" b="1" dirty="0">
                <a:cs typeface="+mn-ea"/>
                <a:sym typeface="+mn-lt"/>
              </a:rPr>
              <a:t> 5.0)</a:t>
            </a:r>
            <a:endParaRPr lang="zh-CN" altLang="en-US" sz="1200" b="1" dirty="0">
              <a:cs typeface="+mn-ea"/>
              <a:sym typeface="+mn-lt"/>
            </a:endParaRP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0C3D0EE-0AAE-5FDA-C19D-D60482CFEB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2470238"/>
              </p:ext>
            </p:extLst>
          </p:nvPr>
        </p:nvGraphicFramePr>
        <p:xfrm>
          <a:off x="406016" y="2244421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D830B87E-BE31-2C31-7690-D1F862E02D80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CE16986-4D40-A41A-E6B6-A05C05606FD1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Copper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optics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：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224 Gbps =&gt; 400 Gbps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7932CE7E-7053-F560-8F79-599E34A7B976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9" name="直线连接符 38">
              <a:extLst>
                <a:ext uri="{FF2B5EF4-FFF2-40B4-BE49-F238E27FC236}">
                  <a16:creationId xmlns:a16="http://schemas.microsoft.com/office/drawing/2014/main" id="{A2459047-D2F5-6A93-6043-F65FE093ABAC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5303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2C7B039-FE12-C778-F388-F1495DFAED31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Transmission rate growth lags behind compute</a:t>
              </a:r>
              <a:endPara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" name="直线连接符 38">
              <a:extLst>
                <a:ext uri="{FF2B5EF4-FFF2-40B4-BE49-F238E27FC236}">
                  <a16:creationId xmlns:a16="http://schemas.microsoft.com/office/drawing/2014/main" id="{9BCB1723-D312-8F2C-8985-206A2EAC758A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30A2CCF-4792-4187-740B-53EDD1BC7B7C}"/>
              </a:ext>
            </a:extLst>
          </p:cNvPr>
          <p:cNvSpPr txBox="1"/>
          <p:nvPr/>
        </p:nvSpPr>
        <p:spPr>
          <a:xfrm>
            <a:off x="59814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Copper-based transmission rate: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GPU computing power: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5.6-11x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939730" y="2578708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Inference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11x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4981915" y="3663216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5"/>
                </a:solidFill>
                <a:cs typeface="+mn-ea"/>
                <a:sym typeface="+mn-lt"/>
              </a:rPr>
              <a:t>Training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5"/>
                </a:solidFill>
                <a:cs typeface="+mn-ea"/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5036530" y="4718894"/>
            <a:ext cx="1201494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Bandwidth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4x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699339" y="2510275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2832054" y="351394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207309" y="4383955"/>
            <a:ext cx="922810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284903" y="4767146"/>
            <a:ext cx="984628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285657" y="482566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476305" y="4188311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1k TFLOPS</a:t>
            </a:r>
          </a:p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4062049" y="3760495"/>
            <a:ext cx="1074463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1.75k TFLOPS</a:t>
            </a:r>
          </a:p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169246" y="4783574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800Gbps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387547" y="509555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400Gbps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474499" y="531464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200Gbps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0279810" y="3932016"/>
            <a:ext cx="1506174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Rubin</a:t>
            </a:r>
            <a:r>
              <a:rPr lang="en-US" altLang="zh-CN" sz="1200" b="1" dirty="0">
                <a:cs typeface="+mn-ea"/>
                <a:sym typeface="+mn-lt"/>
              </a:rPr>
              <a:t> (</a:t>
            </a:r>
            <a:r>
              <a:rPr lang="en-US" altLang="zh-CN" sz="1200" b="1" dirty="0" err="1">
                <a:cs typeface="+mn-ea"/>
                <a:sym typeface="+mn-lt"/>
              </a:rPr>
              <a:t>NVLink</a:t>
            </a:r>
            <a:r>
              <a:rPr lang="en-US" altLang="zh-CN" sz="1200" b="1" dirty="0">
                <a:cs typeface="+mn-ea"/>
                <a:sym typeface="+mn-lt"/>
              </a:rPr>
              <a:t> 6.0)</a:t>
            </a:r>
            <a:endParaRPr lang="zh-CN" altLang="en-US" sz="1200" b="1" dirty="0">
              <a:cs typeface="+mn-ea"/>
              <a:sym typeface="+mn-lt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57E78AFA-C188-4273-0EC2-34FFB1A4DE2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7205302" y="438150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400G </a:t>
            </a:r>
            <a:r>
              <a:rPr lang="en-US" altLang="zh-CN" sz="1200" b="1" dirty="0"/>
              <a:t>Transceiver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BF2B7EA4-D4D1-B55F-74C2-B910BDD03E1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284205" y="3823959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800G </a:t>
            </a:r>
            <a:r>
              <a:rPr lang="en-US" altLang="zh-CN" sz="1200" b="1" dirty="0"/>
              <a:t>Transceiver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86C2C98A-A7B7-E8AF-68AC-E2CE01BAED95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269448" y="327127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1.6T </a:t>
            </a:r>
            <a:r>
              <a:rPr lang="en-US" altLang="zh-CN" sz="1200" b="1" dirty="0"/>
              <a:t>Transceiver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3B384EB-5775-2F73-920D-F9484017982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0286090" y="2754885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3.2T </a:t>
            </a:r>
            <a:r>
              <a:rPr lang="en-US" altLang="zh-CN" sz="1200" b="1" dirty="0"/>
              <a:t>Transceiver/CPO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0F0C29A1-FCCD-D7C0-713D-521C51D5E55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619034" y="222249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400" b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/>
            </a:lvl2pPr>
            <a:lvl3pPr marL="438785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594360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/>
            </a:lvl4pPr>
            <a:lvl5pPr marL="814070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sym typeface="+mn-lt"/>
              </a:rPr>
              <a:t>Gbps/line</a:t>
            </a:r>
            <a:endParaRPr lang="zh-CN" altLang="en-US" dirty="0"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15812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4806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 expert call,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Microsoft Research.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C599B7C-C8ED-3D74-CE07-179B7D8D05C8}"/>
              </a:ext>
            </a:extLst>
          </p:cNvPr>
          <p:cNvSpPr txBox="1"/>
          <p:nvPr/>
        </p:nvSpPr>
        <p:spPr>
          <a:xfrm>
            <a:off x="610165" y="1475620"/>
            <a:ext cx="5268912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Inter-rack GPU interconnect: &gt; 5 m;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10k-GPU clusters interconnect: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km-scale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40" name="矩形: 圆角 3839">
            <a:extLst>
              <a:ext uri="{FF2B5EF4-FFF2-40B4-BE49-F238E27FC236}">
                <a16:creationId xmlns:a16="http://schemas.microsoft.com/office/drawing/2014/main" id="{790B1870-88FB-BD6B-86C4-CCFB70E7AD0A}"/>
              </a:ext>
            </a:extLst>
          </p:cNvPr>
          <p:cNvSpPr/>
          <p:nvPr/>
        </p:nvSpPr>
        <p:spPr>
          <a:xfrm>
            <a:off x="6642100" y="5379624"/>
            <a:ext cx="5054508" cy="932742"/>
          </a:xfrm>
          <a:prstGeom prst="roundRect">
            <a:avLst>
              <a:gd name="adj" fmla="val 3533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“The practical limit for copper interconnect is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2.5 m - 3 m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defining a cluster size ceiling of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~10,000 GPUs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.”</a:t>
            </a: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 Broadcom expert</a:t>
            </a: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2"/>
            <a:endCxn id="60" idx="2"/>
          </p:cNvCxnSpPr>
          <p:nvPr/>
        </p:nvCxnSpPr>
        <p:spPr>
          <a:xfrm rot="5400000" flipH="1" flipV="1">
            <a:off x="3229779" y="3335044"/>
            <a:ext cx="4876" cy="2766695"/>
          </a:xfrm>
          <a:prstGeom prst="bentConnector3">
            <a:avLst>
              <a:gd name="adj1" fmla="val -7813823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01" name="组合 3700">
            <a:extLst>
              <a:ext uri="{FF2B5EF4-FFF2-40B4-BE49-F238E27FC236}">
                <a16:creationId xmlns:a16="http://schemas.microsoft.com/office/drawing/2014/main" id="{AB83E71C-3E91-228C-61D0-151F9FC1C746}"/>
              </a:ext>
            </a:extLst>
          </p:cNvPr>
          <p:cNvGrpSpPr/>
          <p:nvPr/>
        </p:nvGrpSpPr>
        <p:grpSpPr>
          <a:xfrm>
            <a:off x="601424" y="2723554"/>
            <a:ext cx="2494891" cy="1997276"/>
            <a:chOff x="1226694" y="2091768"/>
            <a:chExt cx="2376970" cy="1902874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EA2216E7-D054-6911-62F1-6485D495319D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70323601-200F-D610-B725-2585A75D42C9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C59263FE-BD23-D3B9-1040-E7FADE1E688F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F4CBB76F-D749-0385-8424-4155C0662DEC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7AB78D5B-48DF-973F-5192-397F55E79838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1EA575A3-1765-6B76-30F7-2A70C9DDF344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DE4AD6F4-43A3-1B09-9A95-C30B6409F240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矩形: 圆角 27">
                <a:extLst>
                  <a:ext uri="{FF2B5EF4-FFF2-40B4-BE49-F238E27FC236}">
                    <a16:creationId xmlns:a16="http://schemas.microsoft.com/office/drawing/2014/main" id="{64496906-EA71-71DB-2065-706EBA29BAF6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C015E140-7A1D-7F16-C4EE-332851B5DB38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40" name="连接符: 肘形 39">
              <a:extLst>
                <a:ext uri="{FF2B5EF4-FFF2-40B4-BE49-F238E27FC236}">
                  <a16:creationId xmlns:a16="http://schemas.microsoft.com/office/drawing/2014/main" id="{7CC20260-5585-8F7B-0939-3015A660DE6B}"/>
                </a:ext>
              </a:extLst>
            </p:cNvPr>
            <p:cNvCxnSpPr>
              <a:cxnSpLocks/>
              <a:stCxn id="18" idx="0"/>
              <a:endCxn id="26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B84B9174-6976-1A7E-F9FF-3976F29D8BEC}"/>
                </a:ext>
              </a:extLst>
            </p:cNvPr>
            <p:cNvSpPr txBox="1"/>
            <p:nvPr/>
          </p:nvSpPr>
          <p:spPr>
            <a:xfrm>
              <a:off x="1504814" y="2143165"/>
              <a:ext cx="1816564" cy="61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Rack &amp; Rack</a:t>
              </a:r>
            </a:p>
            <a:p>
              <a:pPr algn="ctr"/>
              <a:r>
                <a:rPr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 5 m</a:t>
              </a:r>
              <a:endParaRPr lang="zh-CN" altLang="en-US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3680" name="矩形: 圆角 3679">
              <a:extLst>
                <a:ext uri="{FF2B5EF4-FFF2-40B4-BE49-F238E27FC236}">
                  <a16:creationId xmlns:a16="http://schemas.microsoft.com/office/drawing/2014/main" id="{08C830D4-FADA-DEE1-76AB-5CF7450C0330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1652735" y="5203964"/>
            <a:ext cx="3183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m/km-scale</a:t>
            </a:r>
            <a:endParaRPr lang="zh-CN" altLang="en-US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173995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06" name="文本框 3705">
            <a:extLst>
              <a:ext uri="{FF2B5EF4-FFF2-40B4-BE49-F238E27FC236}">
                <a16:creationId xmlns:a16="http://schemas.microsoft.com/office/drawing/2014/main" id="{073D2CD5-53C8-625B-57DA-625CF473DDC6}"/>
              </a:ext>
            </a:extLst>
          </p:cNvPr>
          <p:cNvSpPr txBox="1"/>
          <p:nvPr/>
        </p:nvSpPr>
        <p:spPr>
          <a:xfrm>
            <a:off x="6427695" y="1478376"/>
            <a:ext cx="52689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Copper's effective reach: ~ 2.5 m at 112Gbps;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Optics’ effective reach : </a:t>
            </a:r>
            <a:r>
              <a:rPr lang="en-US" altLang="zh-CN" b="1" dirty="0">
                <a:solidFill>
                  <a:srgbClr val="0052D9"/>
                </a:solidFill>
              </a:rPr>
              <a:t>&gt; 100 m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112Gbps</a:t>
            </a:r>
            <a:r>
              <a:rPr lang="en-US" altLang="zh-CN" dirty="0"/>
              <a:t>.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3144728"/>
              </p:ext>
            </p:extLst>
          </p:nvPr>
        </p:nvGraphicFramePr>
        <p:xfrm>
          <a:off x="6841656" y="2792616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364824" y="2278998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Effective Reach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536185" y="4240819"/>
            <a:ext cx="636413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2.5 m</a:t>
            </a: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515839" y="3822289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8593360" y="2396116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1521477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100 m – 2 km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Optics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264578" y="2609427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299325" y="2646309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417465" y="4601408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034" name="直接箭头连接符 1033">
            <a:extLst>
              <a:ext uri="{FF2B5EF4-FFF2-40B4-BE49-F238E27FC236}">
                <a16:creationId xmlns:a16="http://schemas.microsoft.com/office/drawing/2014/main" id="{1E7B5A71-1378-25BA-844E-D629AD194426}"/>
              </a:ext>
            </a:extLst>
          </p:cNvPr>
          <p:cNvCxnSpPr>
            <a:cxnSpLocks/>
          </p:cNvCxnSpPr>
          <p:nvPr/>
        </p:nvCxnSpPr>
        <p:spPr>
          <a:xfrm flipH="1">
            <a:off x="7299325" y="4643741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Copper interconnect reach: a bottleneck for IDC scaling; Optical interconnect breaks the limit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372462" y="6495055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stable distance ensuring BER remains below a usable threshold.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856515" y="4247169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Transmission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Rate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(Gbps/line)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5" y="971862"/>
            <a:ext cx="11708218" cy="503758"/>
            <a:chOff x="504185" y="971862"/>
            <a:chExt cx="11708218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Copper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optics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：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2.5m =&gt; 100m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5" y="971862"/>
              <a:ext cx="6632595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​​Expanding IDCs requires longer interconnects​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1AF7A96-31F9-5A49-1F5A-3A43F6D6237F}"/>
              </a:ext>
            </a:extLst>
          </p:cNvPr>
          <p:cNvGrpSpPr/>
          <p:nvPr/>
        </p:nvGrpSpPr>
        <p:grpSpPr>
          <a:xfrm>
            <a:off x="3370603" y="2722655"/>
            <a:ext cx="2489923" cy="1993299"/>
            <a:chOff x="1226694" y="2091768"/>
            <a:chExt cx="2376970" cy="190287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900B3C9-AFC0-964E-CE06-3946EFEC1E7F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3648" name="矩形: 圆角 3647">
                <a:extLst>
                  <a:ext uri="{FF2B5EF4-FFF2-40B4-BE49-F238E27FC236}">
                    <a16:creationId xmlns:a16="http://schemas.microsoft.com/office/drawing/2014/main" id="{BD1A75CE-605E-2EE9-7377-DE7430A68E1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49" name="矩形: 圆角 3648">
                <a:extLst>
                  <a:ext uri="{FF2B5EF4-FFF2-40B4-BE49-F238E27FC236}">
                    <a16:creationId xmlns:a16="http://schemas.microsoft.com/office/drawing/2014/main" id="{370CD0EA-00EC-1283-7BF5-E79DDC6DF821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50" name="矩形: 圆角 3649">
                <a:extLst>
                  <a:ext uri="{FF2B5EF4-FFF2-40B4-BE49-F238E27FC236}">
                    <a16:creationId xmlns:a16="http://schemas.microsoft.com/office/drawing/2014/main" id="{F12A9352-E771-F25B-30F3-3A0805CACB7A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3EF336C-AB3D-0D4A-74DD-F513AFFA21D0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B1E4D708-A2CE-1FCA-B291-B6251B42BA8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48E69241-8187-0F6F-7630-6F20FE7F2E13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6C55BEF8-D487-0BB4-BCEF-142ABC0C7DF4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8DDF76C-DDEE-BF79-DCED-7EBD8E52BE5E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0B63913F-B668-D78C-7EE0-BEF4F6677B9C}"/>
                </a:ext>
              </a:extLst>
            </p:cNvPr>
            <p:cNvCxnSpPr>
              <a:cxnSpLocks/>
              <a:stCxn id="3648" idx="0"/>
              <a:endCxn id="61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B590EA8-C7A1-B431-98EF-A0F687DF4ACD}"/>
                </a:ext>
              </a:extLst>
            </p:cNvPr>
            <p:cNvSpPr txBox="1"/>
            <p:nvPr/>
          </p:nvSpPr>
          <p:spPr>
            <a:xfrm>
              <a:off x="1504814" y="2143165"/>
              <a:ext cx="1816564" cy="6170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Rack &amp; Rack</a:t>
              </a:r>
            </a:p>
            <a:p>
              <a:pPr algn="ctr"/>
              <a:r>
                <a:rPr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 5 m</a:t>
              </a:r>
              <a:endParaRPr lang="zh-CN" altLang="en-US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90866F0B-9C46-5F09-E239-BCD5E5C7E314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393329" y="2613147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24423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0" imgW="404" imgH="405" progId="TCLayout.ActiveDocument.1">
                  <p:embed/>
                </p:oleObj>
              </mc:Choice>
              <mc:Fallback>
                <p:oleObj name="think-cell 幻灯片" r:id="rId2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7B2007-B7FD-C68E-DD7F-3E2CE41FC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68503" y="6261465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6122872" y="1285874"/>
            <a:ext cx="5273016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Pluggable Optics (PO):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Entered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mass production in 2014; account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~5% of HPC capex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currently.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​</a:t>
            </a: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 to pluggable: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+60%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(~30W), account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7.3%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GB200 NVL72 card power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​Pluggable to CPO: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-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module power;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million-scale RMB/y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saved for 10k-card cluster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43" name="Chart 3">
            <a:extLst>
              <a:ext uri="{FF2B5EF4-FFF2-40B4-BE49-F238E27FC236}">
                <a16:creationId xmlns:a16="http://schemas.microsoft.com/office/drawing/2014/main" id="{F842513F-2F58-496A-C459-D1BC09FFE7E9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67870178"/>
              </p:ext>
            </p:extLst>
          </p:nvPr>
        </p:nvGraphicFramePr>
        <p:xfrm>
          <a:off x="855663" y="2255838"/>
          <a:ext cx="4551362" cy="3414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5101B2D-DB47-B323-F276-D42332233431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019300" y="2451100"/>
            <a:ext cx="0" cy="12668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33640F1-B1C7-693D-B63F-79B79801C75F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019300" y="2451100"/>
            <a:ext cx="12827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DFE6433-2919-1E8F-C8DB-9E96D7C473F7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302000" y="2451100"/>
            <a:ext cx="0" cy="2333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EEFE292B-D0A0-20CC-BC60-BAE3A928AACE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 bwMode="auto">
          <a:xfrm flipV="1">
            <a:off x="3378200" y="2451100"/>
            <a:ext cx="0" cy="2333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3818ECE0-82B7-DC06-95A8-1C90DA9721B2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3378200" y="2451100"/>
            <a:ext cx="12842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F3D5B60-BF92-80CF-B129-E4261AE538EC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4662488" y="2451100"/>
            <a:ext cx="0" cy="19272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Text Placeholder 4">
            <a:extLst>
              <a:ext uri="{FF2B5EF4-FFF2-40B4-BE49-F238E27FC236}">
                <a16:creationId xmlns:a16="http://schemas.microsoft.com/office/drawing/2014/main" id="{EE605E94-4724-DEF2-7912-9130B91ED26E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1820863" y="4445000"/>
            <a:ext cx="396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3-5</a:t>
            </a:r>
            <a:endParaRPr lang="zh-CN" altLang="en-US" sz="18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5" name="Text Placeholder 4">
            <a:extLst>
              <a:ext uri="{FF2B5EF4-FFF2-40B4-BE49-F238E27FC236}">
                <a16:creationId xmlns:a16="http://schemas.microsoft.com/office/drawing/2014/main" id="{12CCB4E7-78E5-38E8-125C-7614CBCAF0AB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1722438" y="5467350"/>
            <a:ext cx="5937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cs typeface="+mn-cs"/>
                <a:sym typeface="+mn-lt"/>
              </a:rPr>
              <a:t>Copper</a:t>
            </a:r>
            <a:endParaRPr lang="zh-CN" altLang="en-US" sz="1400" dirty="0">
              <a:solidFill>
                <a:srgbClr val="000000"/>
              </a:solidFill>
              <a:cs typeface="+mn-cs"/>
              <a:sym typeface="+mn-lt"/>
            </a:endParaRPr>
          </a:p>
        </p:txBody>
      </p:sp>
      <p:sp>
        <p:nvSpPr>
          <p:cNvPr id="336" name="Text Placeholder 4">
            <a:extLst>
              <a:ext uri="{FF2B5EF4-FFF2-40B4-BE49-F238E27FC236}">
                <a16:creationId xmlns:a16="http://schemas.microsoft.com/office/drawing/2014/main" id="{2D714D05-B240-7E6B-C34D-A9C32BCD887C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3141663" y="3929063"/>
            <a:ext cx="396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chemeClr val="bg1"/>
                </a:solidFill>
                <a:cs typeface="+mn-ea"/>
                <a:sym typeface="+mn-lt"/>
              </a:rPr>
              <a:t>5-8</a:t>
            </a:r>
            <a:endParaRPr lang="zh-CN" altLang="en-U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1" name="Text Placeholder 4">
            <a:extLst>
              <a:ext uri="{FF2B5EF4-FFF2-40B4-BE49-F238E27FC236}">
                <a16:creationId xmlns:a16="http://schemas.microsoft.com/office/drawing/2014/main" id="{C4877991-8815-3B0C-239A-FA241A1A2A3D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205163" y="5467350"/>
            <a:ext cx="269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cs typeface="+mn-cs"/>
                <a:sym typeface="+mn-lt"/>
              </a:rPr>
              <a:t>PO</a:t>
            </a:r>
            <a:endParaRPr lang="zh-CN" altLang="en-US" sz="1400" dirty="0">
              <a:solidFill>
                <a:srgbClr val="000000"/>
              </a:solidFill>
              <a:cs typeface="+mn-cs"/>
              <a:sym typeface="+mn-lt"/>
            </a:endParaRPr>
          </a:p>
        </p:txBody>
      </p:sp>
      <p:sp>
        <p:nvSpPr>
          <p:cNvPr id="343" name="Text Placeholder 4">
            <a:extLst>
              <a:ext uri="{FF2B5EF4-FFF2-40B4-BE49-F238E27FC236}">
                <a16:creationId xmlns:a16="http://schemas.microsoft.com/office/drawing/2014/main" id="{BB709C0C-4FD8-2E1A-C5FC-902A7B56B955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4470400" y="4775200"/>
            <a:ext cx="3841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3390113-E74C-4AFE-97FC-A33B57D3516D}" type="datetime'''''''''''''''''2'''''''''''''''''''''''">
              <a:rPr lang="zh-CN" altLang="en-US" sz="1800" b="1" smtClean="0">
                <a:solidFill>
                  <a:schemeClr val="tx2"/>
                </a:solidFill>
                <a:effectLst/>
                <a:cs typeface="+mn-ea"/>
                <a:sym typeface="+mn-lt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</a:t>
            </a:fld>
            <a:r>
              <a:rPr lang="en-US" altLang="zh-CN" sz="1800" b="1" dirty="0">
                <a:solidFill>
                  <a:schemeClr val="tx2"/>
                </a:solidFill>
                <a:effectLst/>
                <a:cs typeface="+mn-ea"/>
                <a:sym typeface="+mn-lt"/>
              </a:rPr>
              <a:t>.4</a:t>
            </a:r>
            <a:endParaRPr lang="zh-CN" altLang="en-US" sz="1800" b="1" dirty="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182" name="Text Placeholder 4">
            <a:extLst>
              <a:ext uri="{FF2B5EF4-FFF2-40B4-BE49-F238E27FC236}">
                <a16:creationId xmlns:a16="http://schemas.microsoft.com/office/drawing/2014/main" id="{62BEE835-D25C-5772-E70E-E3B50279754D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4464050" y="5467350"/>
            <a:ext cx="398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76B2D5-5628-4116-8002-3DBBCA4C15B9}" type="datetime'''''''''''''''C''''''''P''O''''''''''''''''''''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  <a:sym typeface="+mn-lt"/>
              </a:rPr>
              <a:pPr/>
              <a:t>CPO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C80778E-D083-5825-5919-86855107A5C6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2243138" y="2257425"/>
            <a:ext cx="836613" cy="388938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effectLst/>
                <a:cs typeface="+mn-cs"/>
              </a:rPr>
              <a:t>60%+</a:t>
            </a:r>
            <a:endParaRPr lang="zh-CN" altLang="en-US" sz="1800" b="1" dirty="0">
              <a:cs typeface="+mn-cs"/>
            </a:endParaRPr>
          </a:p>
        </p:txBody>
      </p:sp>
      <p:sp>
        <p:nvSpPr>
          <p:cNvPr id="267" name="Text Placeholder 4">
            <a:extLst>
              <a:ext uri="{FF2B5EF4-FFF2-40B4-BE49-F238E27FC236}">
                <a16:creationId xmlns:a16="http://schemas.microsoft.com/office/drawing/2014/main" id="{9660483F-E692-1656-25FE-7D1AA851843D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3641725" y="2257425"/>
            <a:ext cx="755650" cy="388938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D21FFE5-290F-478E-813B-C3667B3F5B7E}" type="datetime'''''''-''''''''''''''''''''6''''''''''3%'''''''">
              <a:rPr lang="en-US" altLang="en-US" sz="1800" b="1" smtClean="0">
                <a:effectLst/>
                <a:cs typeface="+mn-ea"/>
                <a:sym typeface="+mn-lt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-63%</a:t>
            </a:fld>
            <a:endParaRPr lang="zh-CN" altLang="en-US" sz="1800" b="1" dirty="0">
              <a:cs typeface="+mn-ea"/>
              <a:sym typeface="+mn-lt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00530C14-FEC1-EEF4-F50D-D7B9DAE15A48}"/>
              </a:ext>
            </a:extLst>
          </p:cNvPr>
          <p:cNvSpPr/>
          <p:nvPr/>
        </p:nvSpPr>
        <p:spPr>
          <a:xfrm>
            <a:off x="6199187" y="3963194"/>
            <a:ext cx="5196700" cy="1937708"/>
          </a:xfrm>
          <a:prstGeom prst="roundRect">
            <a:avLst>
              <a:gd name="adj" fmla="val 368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“CPO primarily replaces traditional POs and does not replace copper interconnects in the short term.​​</a:t>
            </a:r>
          </a:p>
          <a:p>
            <a:pPr>
              <a:lnSpc>
                <a:spcPct val="125000"/>
              </a:lnSpc>
            </a:pP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​CPO solution reduces power consumption by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70% (33W → 9W) 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and lowers overall (switch) costs by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30%, 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offering clear competitive advantages.​​”</a:t>
            </a:r>
          </a:p>
          <a:p>
            <a:pPr algn="r">
              <a:lnSpc>
                <a:spcPct val="125000"/>
              </a:lnSpc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—Nvidia expert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601663" y="1852613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latin typeface="+mn-lt"/>
                <a:ea typeface="+mn-ea"/>
                <a:cs typeface="+mn-ea"/>
                <a:sym typeface="+mn-lt"/>
              </a:rPr>
              <a:t>Power (W per line)</a:t>
            </a:r>
            <a:endParaRPr lang="zh-CN" altLang="en-US" sz="14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Power issues in copper-to-optical transition; CPO cuts power consumption significantly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4" y="6531893"/>
            <a:ext cx="1074969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Based on the GB200 NVL72 expansion solution, totaling 9,216 B200 GPUs. The average power consumption per card in GB200 is 900W.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A7FE42-FDAF-558C-6DB7-B86E149A5515}"/>
              </a:ext>
            </a:extLst>
          </p:cNvPr>
          <p:cNvSpPr txBox="1"/>
          <p:nvPr/>
        </p:nvSpPr>
        <p:spPr>
          <a:xfrm>
            <a:off x="319873" y="1369037"/>
            <a:ext cx="551975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Consumption: Copper, Pluggable, and CPO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972A-0E90-C854-EF9D-2AD4B7EF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F55CB356-32B4-AB08-9889-83549FF967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776139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3" imgW="401" imgH="401" progId="TCLayout.ActiveDocument.1">
                  <p:embed/>
                </p:oleObj>
              </mc:Choice>
              <mc:Fallback>
                <p:oleObj name="think-cell 幻灯片" r:id="rId23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F9BDCD-BD28-6FC8-A4C4-6FAFD7E8EF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63D56B0-4EE6-27F5-93FD-1B38E75F2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45" y="89860"/>
            <a:ext cx="1007110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Optical interconnect solutions: PO, NPO, and 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69B5B87-116B-7A4B-7089-32C359738A8F}"/>
              </a:ext>
            </a:extLst>
          </p:cNvPr>
          <p:cNvSpPr txBox="1"/>
          <p:nvPr/>
        </p:nvSpPr>
        <p:spPr>
          <a:xfrm>
            <a:off x="340305" y="6571248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Meta, Huawei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Freihandform: Form 9">
            <a:extLst>
              <a:ext uri="{FF2B5EF4-FFF2-40B4-BE49-F238E27FC236}">
                <a16:creationId xmlns:a16="http://schemas.microsoft.com/office/drawing/2014/main" id="{C7B5C611-0561-C632-2070-3131873C3975}"/>
              </a:ext>
            </a:extLst>
          </p:cNvPr>
          <p:cNvSpPr>
            <a:spLocks/>
          </p:cNvSpPr>
          <p:nvPr/>
        </p:nvSpPr>
        <p:spPr>
          <a:xfrm flipV="1">
            <a:off x="1494288" y="1276308"/>
            <a:ext cx="8183112" cy="4343337"/>
          </a:xfrm>
          <a:custGeom>
            <a:avLst/>
            <a:gdLst>
              <a:gd name="connsiteX0" fmla="*/ 0 w 5905500"/>
              <a:gd name="connsiteY0" fmla="*/ 0 h 3952875"/>
              <a:gd name="connsiteX1" fmla="*/ 0 w 5905500"/>
              <a:gd name="connsiteY1" fmla="*/ 3952875 h 3952875"/>
              <a:gd name="connsiteX2" fmla="*/ 5905500 w 5905500"/>
              <a:gd name="connsiteY2" fmla="*/ 3952875 h 395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0" h="3952875">
                <a:moveTo>
                  <a:pt x="0" y="0"/>
                </a:moveTo>
                <a:lnTo>
                  <a:pt x="0" y="3952875"/>
                </a:lnTo>
                <a:lnTo>
                  <a:pt x="5905500" y="3952875"/>
                </a:lnTo>
              </a:path>
            </a:pathLst>
          </a:custGeom>
          <a:noFill/>
          <a:ln w="6350">
            <a:solidFill>
              <a:srgbClr val="0052D9"/>
            </a:solidFill>
            <a:headEnd type="triangle"/>
            <a:tailEnd type="triangle"/>
          </a:ln>
        </p:spPr>
        <p:txBody>
          <a:bodyPr wrap="none" lIns="0" tIns="0" rIns="0" bIns="0" rtlCol="0" anchor="b" anchorCtr="0">
            <a:noAutofit/>
          </a:bodyPr>
          <a:lstStyle/>
          <a:p>
            <a:endParaRPr lang="en-US" sz="1600">
              <a:solidFill>
                <a:schemeClr val="accent6"/>
              </a:solidFill>
              <a:cs typeface="Poppins" pitchFamily="2" charset="77"/>
            </a:endParaRPr>
          </a:p>
        </p:txBody>
      </p:sp>
      <p:sp>
        <p:nvSpPr>
          <p:cNvPr id="50" name="TextBox 39">
            <a:extLst>
              <a:ext uri="{FF2B5EF4-FFF2-40B4-BE49-F238E27FC236}">
                <a16:creationId xmlns:a16="http://schemas.microsoft.com/office/drawing/2014/main" id="{DB48386A-262B-24DE-2A98-DD887979B6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9466418" y="974601"/>
            <a:ext cx="2033819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600" b="1" dirty="0">
                <a:ea typeface="Verdana" pitchFamily="34" charset="0"/>
              </a:rPr>
              <a:t>Barriers to Adoption</a:t>
            </a:r>
          </a:p>
        </p:txBody>
      </p:sp>
      <p:sp>
        <p:nvSpPr>
          <p:cNvPr id="51" name="TextBox 40">
            <a:extLst>
              <a:ext uri="{FF2B5EF4-FFF2-40B4-BE49-F238E27FC236}">
                <a16:creationId xmlns:a16="http://schemas.microsoft.com/office/drawing/2014/main" id="{7CBCC282-C7BD-8150-1B85-544380507796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392795" y="5808499"/>
            <a:ext cx="31376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P</a:t>
            </a:r>
            <a:r>
              <a:rPr lang="en-US" altLang="zh-CN" sz="1600" b="1" dirty="0">
                <a:ea typeface="Verdana" pitchFamily="34" charset="0"/>
              </a:rPr>
              <a:t>ower (W) per 800G Port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36" name="TextBox 41">
            <a:extLst>
              <a:ext uri="{FF2B5EF4-FFF2-40B4-BE49-F238E27FC236}">
                <a16:creationId xmlns:a16="http://schemas.microsoft.com/office/drawing/2014/main" id="{EC707E69-DE76-3A21-2BF3-325883C8BDD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810420" y="1587401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1600" dirty="0">
                <a:ea typeface="Verdana" pitchFamily="34" charset="0"/>
              </a:rPr>
              <a:t>Low</a:t>
            </a:r>
          </a:p>
        </p:txBody>
      </p:sp>
      <p:sp>
        <p:nvSpPr>
          <p:cNvPr id="58" name="Freeform 431">
            <a:extLst>
              <a:ext uri="{FF2B5EF4-FFF2-40B4-BE49-F238E27FC236}">
                <a16:creationId xmlns:a16="http://schemas.microsoft.com/office/drawing/2014/main" id="{A54F0BEF-5A46-F156-7EA6-1F1568A0F17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8492997" y="1814359"/>
            <a:ext cx="728586" cy="728586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7" name="TextBox 40">
            <a:extLst>
              <a:ext uri="{FF2B5EF4-FFF2-40B4-BE49-F238E27FC236}">
                <a16:creationId xmlns:a16="http://schemas.microsoft.com/office/drawing/2014/main" id="{0B33B3F5-F303-8C26-795F-B128DBE985D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1361980" y="9746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Low</a:t>
            </a:r>
          </a:p>
        </p:txBody>
      </p:sp>
      <p:sp>
        <p:nvSpPr>
          <p:cNvPr id="39" name="TextBox 40">
            <a:extLst>
              <a:ext uri="{FF2B5EF4-FFF2-40B4-BE49-F238E27FC236}">
                <a16:creationId xmlns:a16="http://schemas.microsoft.com/office/drawing/2014/main" id="{A692F1EA-F65B-71F9-F34E-3AE61D4EF08D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7698833" y="9746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High</a:t>
            </a:r>
          </a:p>
        </p:txBody>
      </p:sp>
      <p:sp>
        <p:nvSpPr>
          <p:cNvPr id="40" name="TextBox 41">
            <a:extLst>
              <a:ext uri="{FF2B5EF4-FFF2-40B4-BE49-F238E27FC236}">
                <a16:creationId xmlns:a16="http://schemas.microsoft.com/office/drawing/2014/main" id="{81ED152B-8D72-5D07-8804-986BE00A7B75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805042" y="3622796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dirty="0">
                <a:ea typeface="Verdana" pitchFamily="34" charset="0"/>
              </a:rPr>
              <a:t>High</a:t>
            </a:r>
            <a:endParaRPr lang="en-US" sz="1600" dirty="0">
              <a:ea typeface="Verdana" pitchFamily="34" charset="0"/>
            </a:endParaRPr>
          </a:p>
        </p:txBody>
      </p:sp>
      <p:sp>
        <p:nvSpPr>
          <p:cNvPr id="41" name="Freeform 431">
            <a:extLst>
              <a:ext uri="{FF2B5EF4-FFF2-40B4-BE49-F238E27FC236}">
                <a16:creationId xmlns:a16="http://schemas.microsoft.com/office/drawing/2014/main" id="{C49A7819-BF59-4556-BE3B-527E9F950E1B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086133" y="3260391"/>
            <a:ext cx="360000" cy="360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8" name="Freeform 431">
            <a:extLst>
              <a:ext uri="{FF2B5EF4-FFF2-40B4-BE49-F238E27FC236}">
                <a16:creationId xmlns:a16="http://schemas.microsoft.com/office/drawing/2014/main" id="{39DB42EE-4DFC-EC59-E2D8-27CCD7BE3D75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032566" y="5092261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F2F2F2"/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2DD3F92-5E03-5915-AA18-EF7750ABA55B}"/>
              </a:ext>
            </a:extLst>
          </p:cNvPr>
          <p:cNvGrpSpPr/>
          <p:nvPr/>
        </p:nvGrpSpPr>
        <p:grpSpPr>
          <a:xfrm>
            <a:off x="2289216" y="4954257"/>
            <a:ext cx="1975668" cy="536996"/>
            <a:chOff x="2166754" y="4777695"/>
            <a:chExt cx="1975668" cy="536996"/>
          </a:xfrm>
        </p:grpSpPr>
        <p:sp>
          <p:nvSpPr>
            <p:cNvPr id="16" name="TextBox 40">
              <a:extLst>
                <a:ext uri="{FF2B5EF4-FFF2-40B4-BE49-F238E27FC236}">
                  <a16:creationId xmlns:a16="http://schemas.microsoft.com/office/drawing/2014/main" id="{CF8E4F51-3053-5CC2-E7FB-0BA695096D1E}"/>
                </a:ext>
              </a:extLst>
            </p:cNvPr>
            <p:cNvSpPr txBox="1">
              <a:spLocks/>
            </p:cNvSpPr>
            <p:nvPr>
              <p:custDataLst>
                <p:tags r:id="rId20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PO (Pluggable)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D6E9A37-DEA2-6580-AB37-03DE55B99111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22-30W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818E26A-BE7E-2FC0-240F-8C91020CDDE4}"/>
              </a:ext>
            </a:extLst>
          </p:cNvPr>
          <p:cNvGrpSpPr/>
          <p:nvPr/>
        </p:nvGrpSpPr>
        <p:grpSpPr>
          <a:xfrm>
            <a:off x="6541806" y="3219992"/>
            <a:ext cx="2330252" cy="536996"/>
            <a:chOff x="2166754" y="4777695"/>
            <a:chExt cx="2330252" cy="536996"/>
          </a:xfrm>
        </p:grpSpPr>
        <p:sp>
          <p:nvSpPr>
            <p:cNvPr id="19" name="TextBox 40">
              <a:extLst>
                <a:ext uri="{FF2B5EF4-FFF2-40B4-BE49-F238E27FC236}">
                  <a16:creationId xmlns:a16="http://schemas.microsoft.com/office/drawing/2014/main" id="{A5A539FB-2B26-3F43-4BCA-A6A32C13C532}"/>
                </a:ext>
              </a:extLst>
            </p:cNvPr>
            <p:cNvSpPr txBox="1">
              <a:spLocks/>
            </p:cNvSpPr>
            <p:nvPr>
              <p:custDataLst>
                <p:tags r:id="rId19"/>
              </p:custDataLst>
            </p:nvPr>
          </p:nvSpPr>
          <p:spPr>
            <a:xfrm>
              <a:off x="2271889" y="4777695"/>
              <a:ext cx="2225117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NPO (Near-Packaged)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4C5C1CA-0584-8A61-E50A-FCA627FDC785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12-18W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FE4AC34-BC0D-0EF4-9359-A42F61FB2BBA}"/>
              </a:ext>
            </a:extLst>
          </p:cNvPr>
          <p:cNvGrpSpPr/>
          <p:nvPr/>
        </p:nvGrpSpPr>
        <p:grpSpPr>
          <a:xfrm>
            <a:off x="9221583" y="2019111"/>
            <a:ext cx="1975668" cy="536996"/>
            <a:chOff x="2166754" y="4777695"/>
            <a:chExt cx="1975668" cy="536996"/>
          </a:xfrm>
        </p:grpSpPr>
        <p:sp>
          <p:nvSpPr>
            <p:cNvPr id="22" name="TextBox 40">
              <a:extLst>
                <a:ext uri="{FF2B5EF4-FFF2-40B4-BE49-F238E27FC236}">
                  <a16:creationId xmlns:a16="http://schemas.microsoft.com/office/drawing/2014/main" id="{51CC2210-FC04-E323-3C85-139BE9415D50}"/>
                </a:ext>
              </a:extLst>
            </p:cNvPr>
            <p:cNvSpPr txBox="1">
              <a:spLocks/>
            </p:cNvSpPr>
            <p:nvPr>
              <p:custDataLst>
                <p:tags r:id="rId18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CPO </a:t>
              </a:r>
              <a:r>
                <a:rPr lang="en-US" altLang="zh-CN" sz="1600" b="1" dirty="0">
                  <a:ea typeface="Verdana" pitchFamily="34" charset="0"/>
                </a:rPr>
                <a:t>(Co-Packaged)</a:t>
              </a:r>
              <a:endParaRPr lang="en-US" sz="1600" b="1" dirty="0">
                <a:ea typeface="Verdana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E52E2AE-CB2C-7CC1-7DF8-FE4F880C4BF7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5.5-9W</a:t>
              </a:r>
            </a:p>
          </p:txBody>
        </p:sp>
      </p:grpSp>
      <p:sp>
        <p:nvSpPr>
          <p:cNvPr id="25" name="TextBox 40">
            <a:extLst>
              <a:ext uri="{FF2B5EF4-FFF2-40B4-BE49-F238E27FC236}">
                <a16:creationId xmlns:a16="http://schemas.microsoft.com/office/drawing/2014/main" id="{598656D7-FA6B-FD5D-D56B-C8703720077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6086133" y="3739199"/>
            <a:ext cx="201783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solidFill>
                  <a:srgbClr val="0052D9"/>
                </a:solidFill>
                <a:ea typeface="Verdana" pitchFamily="34" charset="0"/>
              </a:rPr>
              <a:t>Short-term</a:t>
            </a: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28999528-8E3E-D224-C523-DAD8B5BF683E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8510458" y="2598431"/>
            <a:ext cx="201783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solidFill>
                  <a:srgbClr val="0052D9"/>
                </a:solidFill>
                <a:ea typeface="Verdana" pitchFamily="34" charset="0"/>
              </a:rPr>
              <a:t>Long-term</a:t>
            </a:r>
          </a:p>
        </p:txBody>
      </p:sp>
      <p:sp>
        <p:nvSpPr>
          <p:cNvPr id="27" name="Freeform 431">
            <a:extLst>
              <a:ext uri="{FF2B5EF4-FFF2-40B4-BE49-F238E27FC236}">
                <a16:creationId xmlns:a16="http://schemas.microsoft.com/office/drawing/2014/main" id="{2FC4DA62-C3DC-82D1-4FF1-6F6500E18719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340305" y="6271648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D9321B-8160-997A-84F6-BC9B418DD5C2}"/>
              </a:ext>
            </a:extLst>
          </p:cNvPr>
          <p:cNvSpPr txBox="1"/>
          <p:nvPr/>
        </p:nvSpPr>
        <p:spPr>
          <a:xfrm>
            <a:off x="614625" y="6289504"/>
            <a:ext cx="7396141" cy="21600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Circle size denotes the latest data rate range.​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" name="TextBox 40">
            <a:extLst>
              <a:ext uri="{FF2B5EF4-FFF2-40B4-BE49-F238E27FC236}">
                <a16:creationId xmlns:a16="http://schemas.microsoft.com/office/drawing/2014/main" id="{192DB1D0-E9EF-7F5F-4DBD-5D1458C34DB8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13684583" y="3547389"/>
            <a:ext cx="2723335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ea typeface="Verdana" pitchFamily="34" charset="0"/>
            </a:endParaRPr>
          </a:p>
        </p:txBody>
      </p:sp>
      <p:sp>
        <p:nvSpPr>
          <p:cNvPr id="61" name="TextBox 40">
            <a:extLst>
              <a:ext uri="{FF2B5EF4-FFF2-40B4-BE49-F238E27FC236}">
                <a16:creationId xmlns:a16="http://schemas.microsoft.com/office/drawing/2014/main" id="{88FF1BB7-D136-FCD2-72A4-FBB3A2A7833A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>
          <a:xfrm>
            <a:off x="4530406" y="9746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Medium</a:t>
            </a:r>
          </a:p>
        </p:txBody>
      </p:sp>
      <p:sp>
        <p:nvSpPr>
          <p:cNvPr id="67" name="弧形 66">
            <a:extLst>
              <a:ext uri="{FF2B5EF4-FFF2-40B4-BE49-F238E27FC236}">
                <a16:creationId xmlns:a16="http://schemas.microsoft.com/office/drawing/2014/main" id="{A05EA015-D9BD-C8FA-F7FA-EFB31872856C}"/>
              </a:ext>
            </a:extLst>
          </p:cNvPr>
          <p:cNvSpPr/>
          <p:nvPr/>
        </p:nvSpPr>
        <p:spPr>
          <a:xfrm rot="16200000">
            <a:off x="5534398" y="-1120402"/>
            <a:ext cx="5473700" cy="11880104"/>
          </a:xfrm>
          <a:prstGeom prst="arc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upper-right-arrow-black-symbol_39545">
            <a:extLst>
              <a:ext uri="{FF2B5EF4-FFF2-40B4-BE49-F238E27FC236}">
                <a16:creationId xmlns:a16="http://schemas.microsoft.com/office/drawing/2014/main" id="{C0CBC6B4-503F-314C-6210-0D042E307005}"/>
              </a:ext>
            </a:extLst>
          </p:cNvPr>
          <p:cNvSpPr/>
          <p:nvPr/>
        </p:nvSpPr>
        <p:spPr>
          <a:xfrm rot="2693152">
            <a:off x="8239429" y="2042507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39">
            <a:extLst>
              <a:ext uri="{FF2B5EF4-FFF2-40B4-BE49-F238E27FC236}">
                <a16:creationId xmlns:a16="http://schemas.microsoft.com/office/drawing/2014/main" id="{77630FA8-0630-5A23-2CB8-7E03C8EF64B9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>
          <a:xfrm>
            <a:off x="3146638" y="2016941"/>
            <a:ext cx="253932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zh-CN" altLang="en-US" sz="1600" b="1" dirty="0">
                <a:ea typeface="Verdana" pitchFamily="34" charset="0"/>
              </a:rPr>
              <a:t>①</a:t>
            </a:r>
            <a:r>
              <a:rPr lang="en-US" altLang="zh-CN" sz="1600" b="1" dirty="0">
                <a:ea typeface="Verdana" pitchFamily="34" charset="0"/>
              </a:rPr>
              <a:t>​ 2019: the direct path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B09A0D46-510B-9310-B1DC-F13C465B6DA4}"/>
              </a:ext>
            </a:extLst>
          </p:cNvPr>
          <p:cNvSpPr/>
          <p:nvPr/>
        </p:nvSpPr>
        <p:spPr>
          <a:xfrm>
            <a:off x="3965137" y="3620391"/>
            <a:ext cx="1934013" cy="1481247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183547A8-E3ED-EDF4-0139-184381D7E1DA}"/>
              </a:ext>
            </a:extLst>
          </p:cNvPr>
          <p:cNvSpPr/>
          <p:nvPr/>
        </p:nvSpPr>
        <p:spPr>
          <a:xfrm>
            <a:off x="7229046" y="2328051"/>
            <a:ext cx="1107757" cy="792969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upper-right-arrow-black-symbol_39545">
            <a:extLst>
              <a:ext uri="{FF2B5EF4-FFF2-40B4-BE49-F238E27FC236}">
                <a16:creationId xmlns:a16="http://schemas.microsoft.com/office/drawing/2014/main" id="{BED40FC2-D6EE-BE71-3AE0-17ADED4F20FA}"/>
              </a:ext>
            </a:extLst>
          </p:cNvPr>
          <p:cNvSpPr/>
          <p:nvPr/>
        </p:nvSpPr>
        <p:spPr>
          <a:xfrm rot="1660204">
            <a:off x="5864020" y="3580099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upper-right-arrow-black-symbol_39545">
            <a:extLst>
              <a:ext uri="{FF2B5EF4-FFF2-40B4-BE49-F238E27FC236}">
                <a16:creationId xmlns:a16="http://schemas.microsoft.com/office/drawing/2014/main" id="{EA4F20BB-12A0-AFC9-6A8B-5D6493D04BFA}"/>
              </a:ext>
            </a:extLst>
          </p:cNvPr>
          <p:cNvSpPr/>
          <p:nvPr/>
        </p:nvSpPr>
        <p:spPr>
          <a:xfrm rot="1660204">
            <a:off x="8316416" y="2294109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39">
            <a:extLst>
              <a:ext uri="{FF2B5EF4-FFF2-40B4-BE49-F238E27FC236}">
                <a16:creationId xmlns:a16="http://schemas.microsoft.com/office/drawing/2014/main" id="{C4187841-34F1-41CF-5BA1-19DA2FCAD91B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>
          <a:xfrm>
            <a:off x="5070298" y="4689074"/>
            <a:ext cx="2487695" cy="26737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zh-CN" altLang="en-US" sz="1600" b="1" dirty="0">
                <a:ea typeface="Verdana" pitchFamily="34" charset="0"/>
              </a:rPr>
              <a:t>②</a:t>
            </a:r>
            <a:r>
              <a:rPr lang="en-US" altLang="zh-CN" sz="1600" b="1" dirty="0">
                <a:ea typeface="Verdana" pitchFamily="34" charset="0"/>
              </a:rPr>
              <a:t> 2022: the gradual path</a:t>
            </a:r>
            <a:endParaRPr lang="en-US" sz="1600" b="1" dirty="0">
              <a:ea typeface="Verdana" pitchFamily="34" charset="0"/>
            </a:endParaRPr>
          </a:p>
        </p:txBody>
      </p:sp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55A7985E-2C93-6B95-2E5A-251CAE96335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556685" y="5073663"/>
            <a:ext cx="485807" cy="234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403F6874-7EC1-5AE2-7DF3-0FD07B6F9CA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101019" y="5045885"/>
            <a:ext cx="289784" cy="2897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C5C6316-1634-3E02-924F-E81E2CDC5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752" y="2387850"/>
            <a:ext cx="279988" cy="26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82278BE6-352E-0635-4996-FFEAE4B5E35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758395" y="2406053"/>
            <a:ext cx="878083" cy="212767"/>
          </a:xfrm>
          <a:prstGeom prst="rect">
            <a:avLst/>
          </a:prstGeom>
        </p:spPr>
      </p:pic>
      <p:sp>
        <p:nvSpPr>
          <p:cNvPr id="90" name="文本框 89">
            <a:extLst>
              <a:ext uri="{FF2B5EF4-FFF2-40B4-BE49-F238E27FC236}">
                <a16:creationId xmlns:a16="http://schemas.microsoft.com/office/drawing/2014/main" id="{2C81FC5F-89AC-138F-CB1E-1F8D9E92ACB3}"/>
              </a:ext>
            </a:extLst>
          </p:cNvPr>
          <p:cNvSpPr txBox="1"/>
          <p:nvPr/>
        </p:nvSpPr>
        <p:spPr>
          <a:xfrm>
            <a:off x="1891084" y="5098413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ea typeface="Verdana" pitchFamily="34" charset="0"/>
              </a:rPr>
              <a:t>1.6T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B2F7E03-7B5A-C942-060D-430CA10D8CB4}"/>
              </a:ext>
            </a:extLst>
          </p:cNvPr>
          <p:cNvSpPr txBox="1"/>
          <p:nvPr/>
        </p:nvSpPr>
        <p:spPr>
          <a:xfrm>
            <a:off x="6019030" y="3341071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3.2T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3FB81F0-4AB1-2519-5EE5-6DA69CEB1410}"/>
              </a:ext>
            </a:extLst>
          </p:cNvPr>
          <p:cNvSpPr txBox="1"/>
          <p:nvPr/>
        </p:nvSpPr>
        <p:spPr>
          <a:xfrm>
            <a:off x="8302320" y="2009242"/>
            <a:ext cx="1107757" cy="35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Switch: 102.4T</a:t>
            </a:r>
          </a:p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800G-1.6T/port</a:t>
            </a:r>
          </a:p>
        </p:txBody>
      </p:sp>
    </p:spTree>
    <p:extLst>
      <p:ext uri="{BB962C8B-B14F-4D97-AF65-F5344CB8AC3E}">
        <p14:creationId xmlns:p14="http://schemas.microsoft.com/office/powerpoint/2010/main" val="383412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86181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69FE1A6-9A83-C9EE-0A19-B32C608D75C8}"/>
              </a:ext>
            </a:extLst>
          </p:cNvPr>
          <p:cNvSpPr txBox="1"/>
          <p:nvPr/>
        </p:nvSpPr>
        <p:spPr>
          <a:xfrm>
            <a:off x="2087581" y="359243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D45E0C-5835-16E7-8E9C-4B9E7B8184C7}"/>
              </a:ext>
            </a:extLst>
          </p:cNvPr>
          <p:cNvSpPr txBox="1"/>
          <p:nvPr/>
        </p:nvSpPr>
        <p:spPr>
          <a:xfrm>
            <a:off x="1859549" y="2303966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Signal loss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13A0C2-8BD5-F282-EBFF-1DC4047516D9}"/>
              </a:ext>
            </a:extLst>
          </p:cNvPr>
          <p:cNvSpPr txBox="1"/>
          <p:nvPr/>
        </p:nvSpPr>
        <p:spPr>
          <a:xfrm>
            <a:off x="2174362" y="549870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 overcomes PO’s constraints: signal loss, power consumption, and speed limitations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524995" y="2865436"/>
            <a:ext cx="1083305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311150" y="3602624"/>
            <a:ext cx="1361697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536146" y="5522069"/>
            <a:ext cx="911703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24995" y="1150331"/>
            <a:ext cx="10132483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Hard constraint: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​​ PCB-induced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loss/distortion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becomes uncorrectable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beyond 200Gbps/line;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​Soft constraint:​​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Long-reach transmission requires power compensation (20W,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2/3 of total module power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);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Bypasses PCB traces, reducing loss from ​22 dB to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4 dB</a:t>
            </a: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cutting power by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​70%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298577" y="633467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 Broadcom</a:t>
            </a:r>
          </a:p>
        </p:txBody>
      </p:sp>
      <p:sp>
        <p:nvSpPr>
          <p:cNvPr id="2195" name="矩形: 圆角 2194">
            <a:extLst>
              <a:ext uri="{FF2B5EF4-FFF2-40B4-BE49-F238E27FC236}">
                <a16:creationId xmlns:a16="http://schemas.microsoft.com/office/drawing/2014/main" id="{1E008CC3-49DA-2C0C-1789-CD0CE484D03C}"/>
              </a:ext>
            </a:extLst>
          </p:cNvPr>
          <p:cNvSpPr/>
          <p:nvPr/>
        </p:nvSpPr>
        <p:spPr>
          <a:xfrm>
            <a:off x="7235989" y="392416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ECCC2ED5-0A88-21E2-49DF-C32546F8E5BC}"/>
              </a:ext>
            </a:extLst>
          </p:cNvPr>
          <p:cNvSpPr txBox="1"/>
          <p:nvPr/>
        </p:nvSpPr>
        <p:spPr>
          <a:xfrm>
            <a:off x="5147665" y="2303966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Front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D2B5537-6B87-CCED-FA09-C749B968E3E1}"/>
              </a:ext>
            </a:extLst>
          </p:cNvPr>
          <p:cNvGrpSpPr/>
          <p:nvPr/>
        </p:nvGrpSpPr>
        <p:grpSpPr>
          <a:xfrm>
            <a:off x="4488534" y="3163298"/>
            <a:ext cx="2418012" cy="1269750"/>
            <a:chOff x="4488534" y="3118694"/>
            <a:chExt cx="2418012" cy="1269750"/>
          </a:xfrm>
        </p:grpSpPr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4488534" y="311869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4591063" y="319068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5164813" y="3449939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ASIC</a:t>
                </a:r>
                <a:endParaRPr lang="zh-CN" altLang="en-US" sz="10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6416581" y="329808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6452167" y="329808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6419021" y="3485704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6454607" y="3485704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6416581" y="4069489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6452167" y="4069489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6746781" y="4119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6420311" y="3888088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6455804" y="3888088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6571159" y="3641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6571159" y="378578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6571159" y="371364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5932519" y="3347695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5933805" y="3535317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5934837" y="3836478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5933805" y="3908950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5886800" y="353454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5888086" y="388609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5889118" y="381361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5888086" y="360593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942889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535081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34769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47E945-4B9C-DA6B-03E3-B82AFB666BB5}"/>
              </a:ext>
            </a:extLst>
          </p:cNvPr>
          <p:cNvGrpSpPr/>
          <p:nvPr/>
        </p:nvGrpSpPr>
        <p:grpSpPr>
          <a:xfrm>
            <a:off x="4473209" y="5081918"/>
            <a:ext cx="2236121" cy="1269750"/>
            <a:chOff x="4473209" y="5037314"/>
            <a:chExt cx="2236121" cy="1269750"/>
          </a:xfrm>
        </p:grpSpPr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4473209" y="503731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4575738" y="510930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5173796" y="5368559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5332162" y="5543525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6473407" y="5216702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6473406" y="5404324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6473406" y="5988109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6556592" y="603772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6473406" y="5806708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5881406" y="5266315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5882071" y="5453937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5881405" y="5697053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5881672" y="5751323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5835687" y="554304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5835953" y="572846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5835686" y="567419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5836352" y="559480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6556592" y="5856851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453169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26631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5773960" y="5543534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565905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1766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977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75325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5469810" y="5359481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5465167" y="5727559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5199502" y="5539750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83" name="组合 2282">
            <a:extLst>
              <a:ext uri="{FF2B5EF4-FFF2-40B4-BE49-F238E27FC236}">
                <a16:creationId xmlns:a16="http://schemas.microsoft.com/office/drawing/2014/main" id="{293D0147-C09F-6F8D-A3D3-8B10C8E129D5}"/>
              </a:ext>
            </a:extLst>
          </p:cNvPr>
          <p:cNvGrpSpPr/>
          <p:nvPr/>
        </p:nvGrpSpPr>
        <p:grpSpPr>
          <a:xfrm>
            <a:off x="8682145" y="5559981"/>
            <a:ext cx="180133" cy="51782"/>
            <a:chOff x="7867918" y="2835520"/>
            <a:chExt cx="180133" cy="51782"/>
          </a:xfrm>
        </p:grpSpPr>
        <p:sp>
          <p:nvSpPr>
            <p:cNvPr id="2284" name="椭圆 2283">
              <a:extLst>
                <a:ext uri="{FF2B5EF4-FFF2-40B4-BE49-F238E27FC236}">
                  <a16:creationId xmlns:a16="http://schemas.microsoft.com/office/drawing/2014/main" id="{AE6FD3A3-80B0-1E9E-F69C-44524BD73C07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85" name="椭圆 2284">
              <a:extLst>
                <a:ext uri="{FF2B5EF4-FFF2-40B4-BE49-F238E27FC236}">
                  <a16:creationId xmlns:a16="http://schemas.microsoft.com/office/drawing/2014/main" id="{E24357DA-78BF-37D7-9509-F80E141FF0FB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07" name="矩形 2206">
            <a:extLst>
              <a:ext uri="{FF2B5EF4-FFF2-40B4-BE49-F238E27FC236}">
                <a16:creationId xmlns:a16="http://schemas.microsoft.com/office/drawing/2014/main" id="{9D01AEB0-2411-BFDB-2528-00333FFD822E}"/>
              </a:ext>
            </a:extLst>
          </p:cNvPr>
          <p:cNvSpPr/>
          <p:nvPr/>
        </p:nvSpPr>
        <p:spPr>
          <a:xfrm>
            <a:off x="9875616" y="3672591"/>
            <a:ext cx="583239" cy="246220"/>
          </a:xfrm>
          <a:custGeom>
            <a:avLst/>
            <a:gdLst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0 w 518039"/>
              <a:gd name="connsiteY3" fmla="*/ 246220 h 246220"/>
              <a:gd name="connsiteX4" fmla="*/ 0 w 518039"/>
              <a:gd name="connsiteY4" fmla="*/ 0 h 246220"/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422160 w 518039"/>
              <a:gd name="connsiteY3" fmla="*/ 246030 h 246220"/>
              <a:gd name="connsiteX4" fmla="*/ 0 w 518039"/>
              <a:gd name="connsiteY4" fmla="*/ 246220 h 246220"/>
              <a:gd name="connsiteX5" fmla="*/ 0 w 518039"/>
              <a:gd name="connsiteY5" fmla="*/ 0 h 2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039" h="246220">
                <a:moveTo>
                  <a:pt x="0" y="0"/>
                </a:moveTo>
                <a:lnTo>
                  <a:pt x="518039" y="0"/>
                </a:lnTo>
                <a:lnTo>
                  <a:pt x="518039" y="246220"/>
                </a:lnTo>
                <a:lnTo>
                  <a:pt x="422160" y="246030"/>
                </a:lnTo>
                <a:lnTo>
                  <a:pt x="0" y="246220"/>
                </a:lnTo>
                <a:lnTo>
                  <a:pt x="0" y="0"/>
                </a:lnTo>
                <a:close/>
              </a:path>
            </a:pathLst>
          </a:custGeom>
          <a:solidFill>
            <a:srgbClr val="A6A6A6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8" name="椭圆 2217">
            <a:extLst>
              <a:ext uri="{FF2B5EF4-FFF2-40B4-BE49-F238E27FC236}">
                <a16:creationId xmlns:a16="http://schemas.microsoft.com/office/drawing/2014/main" id="{4F68F8D8-5A4F-9AB0-A2B1-4AA8521AE26C}"/>
              </a:ext>
            </a:extLst>
          </p:cNvPr>
          <p:cNvSpPr/>
          <p:nvPr/>
        </p:nvSpPr>
        <p:spPr>
          <a:xfrm>
            <a:off x="10005334" y="3881475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9" name="椭圆 2218">
            <a:extLst>
              <a:ext uri="{FF2B5EF4-FFF2-40B4-BE49-F238E27FC236}">
                <a16:creationId xmlns:a16="http://schemas.microsoft.com/office/drawing/2014/main" id="{697FD642-E1C7-984C-84FD-F9BA32AE213D}"/>
              </a:ext>
            </a:extLst>
          </p:cNvPr>
          <p:cNvSpPr/>
          <p:nvPr/>
        </p:nvSpPr>
        <p:spPr>
          <a:xfrm>
            <a:off x="9923605" y="3882299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216" name="组合 2215">
            <a:extLst>
              <a:ext uri="{FF2B5EF4-FFF2-40B4-BE49-F238E27FC236}">
                <a16:creationId xmlns:a16="http://schemas.microsoft.com/office/drawing/2014/main" id="{88447058-E641-6033-8952-D70647929279}"/>
              </a:ext>
            </a:extLst>
          </p:cNvPr>
          <p:cNvGrpSpPr/>
          <p:nvPr/>
        </p:nvGrpSpPr>
        <p:grpSpPr>
          <a:xfrm>
            <a:off x="7697246" y="3632026"/>
            <a:ext cx="565185" cy="51782"/>
            <a:chOff x="7867918" y="2835520"/>
            <a:chExt cx="565185" cy="51782"/>
          </a:xfrm>
        </p:grpSpPr>
        <p:sp>
          <p:nvSpPr>
            <p:cNvPr id="2210" name="椭圆 2209">
              <a:extLst>
                <a:ext uri="{FF2B5EF4-FFF2-40B4-BE49-F238E27FC236}">
                  <a16:creationId xmlns:a16="http://schemas.microsoft.com/office/drawing/2014/main" id="{CA5BA9F9-7CBE-A8DC-E632-02874C6EE9DD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2" name="椭圆 2211">
              <a:extLst>
                <a:ext uri="{FF2B5EF4-FFF2-40B4-BE49-F238E27FC236}">
                  <a16:creationId xmlns:a16="http://schemas.microsoft.com/office/drawing/2014/main" id="{38157B7A-7332-FF4E-39CB-CE4F567035F6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3" name="椭圆 2212">
              <a:extLst>
                <a:ext uri="{FF2B5EF4-FFF2-40B4-BE49-F238E27FC236}">
                  <a16:creationId xmlns:a16="http://schemas.microsoft.com/office/drawing/2014/main" id="{30AF12B0-CB8E-BA97-2FE1-598E1F01918C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4" name="椭圆 2213">
              <a:extLst>
                <a:ext uri="{FF2B5EF4-FFF2-40B4-BE49-F238E27FC236}">
                  <a16:creationId xmlns:a16="http://schemas.microsoft.com/office/drawing/2014/main" id="{F8570447-E39D-1361-7A43-AA47875F2729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5" name="椭圆 2214">
              <a:extLst>
                <a:ext uri="{FF2B5EF4-FFF2-40B4-BE49-F238E27FC236}">
                  <a16:creationId xmlns:a16="http://schemas.microsoft.com/office/drawing/2014/main" id="{48899A2D-3DEA-B68D-20ED-9FB5F2AEA527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03" name="组合 2202">
            <a:extLst>
              <a:ext uri="{FF2B5EF4-FFF2-40B4-BE49-F238E27FC236}">
                <a16:creationId xmlns:a16="http://schemas.microsoft.com/office/drawing/2014/main" id="{D173D587-F239-6090-3BB5-3FD3512DB4C5}"/>
              </a:ext>
            </a:extLst>
          </p:cNvPr>
          <p:cNvGrpSpPr/>
          <p:nvPr/>
        </p:nvGrpSpPr>
        <p:grpSpPr>
          <a:xfrm>
            <a:off x="7661410" y="3872384"/>
            <a:ext cx="1049169" cy="51782"/>
            <a:chOff x="7142854" y="3452768"/>
            <a:chExt cx="1049169" cy="51782"/>
          </a:xfrm>
        </p:grpSpPr>
        <p:sp>
          <p:nvSpPr>
            <p:cNvPr id="2197" name="椭圆 2196">
              <a:extLst>
                <a:ext uri="{FF2B5EF4-FFF2-40B4-BE49-F238E27FC236}">
                  <a16:creationId xmlns:a16="http://schemas.microsoft.com/office/drawing/2014/main" id="{8ABCF628-3AF5-004E-C79D-36DC0313349F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8" name="椭圆 2197">
              <a:extLst>
                <a:ext uri="{FF2B5EF4-FFF2-40B4-BE49-F238E27FC236}">
                  <a16:creationId xmlns:a16="http://schemas.microsoft.com/office/drawing/2014/main" id="{4602E9E2-13BE-B2DE-BE32-81AD1B8D9C35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9" name="椭圆 2198">
              <a:extLst>
                <a:ext uri="{FF2B5EF4-FFF2-40B4-BE49-F238E27FC236}">
                  <a16:creationId xmlns:a16="http://schemas.microsoft.com/office/drawing/2014/main" id="{C35EC5BA-E3D0-A6BF-8B4D-32CD24E466FE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0" name="椭圆 2199">
              <a:extLst>
                <a:ext uri="{FF2B5EF4-FFF2-40B4-BE49-F238E27FC236}">
                  <a16:creationId xmlns:a16="http://schemas.microsoft.com/office/drawing/2014/main" id="{86899C8A-820B-5595-CF80-7635EFF3B8FB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1" name="椭圆 2200">
              <a:extLst>
                <a:ext uri="{FF2B5EF4-FFF2-40B4-BE49-F238E27FC236}">
                  <a16:creationId xmlns:a16="http://schemas.microsoft.com/office/drawing/2014/main" id="{FB518041-1704-7B53-FAC9-036F2F9391CB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2" name="椭圆 2201">
              <a:extLst>
                <a:ext uri="{FF2B5EF4-FFF2-40B4-BE49-F238E27FC236}">
                  <a16:creationId xmlns:a16="http://schemas.microsoft.com/office/drawing/2014/main" id="{910145BF-E1E5-1AA7-6FD0-D639FBFCFC9F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1938A181-D8E7-F0C8-3BBF-FF91B86C52D1}"/>
              </a:ext>
            </a:extLst>
          </p:cNvPr>
          <p:cNvSpPr txBox="1"/>
          <p:nvPr/>
        </p:nvSpPr>
        <p:spPr>
          <a:xfrm>
            <a:off x="8187141" y="2303966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Side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B3DB5D86-7298-E069-2C2F-CEA180A43E86}"/>
              </a:ext>
            </a:extLst>
          </p:cNvPr>
          <p:cNvSpPr txBox="1"/>
          <p:nvPr/>
        </p:nvSpPr>
        <p:spPr>
          <a:xfrm>
            <a:off x="7265987" y="394280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96" name="矩形: 圆角 2195">
            <a:extLst>
              <a:ext uri="{FF2B5EF4-FFF2-40B4-BE49-F238E27FC236}">
                <a16:creationId xmlns:a16="http://schemas.microsoft.com/office/drawing/2014/main" id="{A9689017-7DD6-76F0-78D5-C96A6E551E36}"/>
              </a:ext>
            </a:extLst>
          </p:cNvPr>
          <p:cNvSpPr/>
          <p:nvPr/>
        </p:nvSpPr>
        <p:spPr>
          <a:xfrm>
            <a:off x="7465435" y="367679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4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A3BFFFB6-29D2-A4FF-FB48-E365C59291FE}"/>
              </a:ext>
            </a:extLst>
          </p:cNvPr>
          <p:cNvSpPr txBox="1"/>
          <p:nvPr/>
        </p:nvSpPr>
        <p:spPr>
          <a:xfrm>
            <a:off x="7462673" y="365575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5" name="矩形: 圆角 2204">
            <a:extLst>
              <a:ext uri="{FF2B5EF4-FFF2-40B4-BE49-F238E27FC236}">
                <a16:creationId xmlns:a16="http://schemas.microsoft.com/office/drawing/2014/main" id="{FC3D11DF-B48F-22F8-3A54-3F120F0497FF}"/>
              </a:ext>
            </a:extLst>
          </p:cNvPr>
          <p:cNvSpPr/>
          <p:nvPr/>
        </p:nvSpPr>
        <p:spPr>
          <a:xfrm>
            <a:off x="7667966" y="348245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6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0172ECF7-A8D8-FF33-A5CD-62523203A418}"/>
              </a:ext>
            </a:extLst>
          </p:cNvPr>
          <p:cNvSpPr txBox="1"/>
          <p:nvPr/>
        </p:nvSpPr>
        <p:spPr>
          <a:xfrm>
            <a:off x="7779148" y="343782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8" name="矩形 2207">
            <a:extLst>
              <a:ext uri="{FF2B5EF4-FFF2-40B4-BE49-F238E27FC236}">
                <a16:creationId xmlns:a16="http://schemas.microsoft.com/office/drawing/2014/main" id="{5729BD6E-BD70-026D-D0A9-18CBAA9331F4}"/>
              </a:ext>
            </a:extLst>
          </p:cNvPr>
          <p:cNvSpPr/>
          <p:nvPr/>
        </p:nvSpPr>
        <p:spPr>
          <a:xfrm>
            <a:off x="10085588" y="3756862"/>
            <a:ext cx="196913" cy="124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24" name="直接连接符 2223">
            <a:extLst>
              <a:ext uri="{FF2B5EF4-FFF2-40B4-BE49-F238E27FC236}">
                <a16:creationId xmlns:a16="http://schemas.microsoft.com/office/drawing/2014/main" id="{62AA3A83-4266-4CAE-BBFD-2A54070AF530}"/>
              </a:ext>
            </a:extLst>
          </p:cNvPr>
          <p:cNvCxnSpPr>
            <a:cxnSpLocks/>
            <a:stCxn id="2208" idx="3"/>
          </p:cNvCxnSpPr>
          <p:nvPr/>
        </p:nvCxnSpPr>
        <p:spPr>
          <a:xfrm>
            <a:off x="10282501" y="3818972"/>
            <a:ext cx="687160" cy="2331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5" name="椭圆 2224">
            <a:extLst>
              <a:ext uri="{FF2B5EF4-FFF2-40B4-BE49-F238E27FC236}">
                <a16:creationId xmlns:a16="http://schemas.microsoft.com/office/drawing/2014/main" id="{C7061CA2-8A37-562B-4D0B-B6D8EB4B0A9B}"/>
              </a:ext>
            </a:extLst>
          </p:cNvPr>
          <p:cNvSpPr/>
          <p:nvPr/>
        </p:nvSpPr>
        <p:spPr>
          <a:xfrm>
            <a:off x="10499362" y="372845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26" name="文本框 2225">
            <a:extLst>
              <a:ext uri="{FF2B5EF4-FFF2-40B4-BE49-F238E27FC236}">
                <a16:creationId xmlns:a16="http://schemas.microsoft.com/office/drawing/2014/main" id="{455C7CC0-F6B0-B45C-7FA1-54946414C3CC}"/>
              </a:ext>
            </a:extLst>
          </p:cNvPr>
          <p:cNvSpPr txBox="1"/>
          <p:nvPr/>
        </p:nvSpPr>
        <p:spPr>
          <a:xfrm>
            <a:off x="7444378" y="3089226"/>
            <a:ext cx="112812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27" name="文本框 2226">
            <a:extLst>
              <a:ext uri="{FF2B5EF4-FFF2-40B4-BE49-F238E27FC236}">
                <a16:creationId xmlns:a16="http://schemas.microsoft.com/office/drawing/2014/main" id="{65F1A0DD-FDE9-FF90-E031-F979EAB49F85}"/>
              </a:ext>
            </a:extLst>
          </p:cNvPr>
          <p:cNvSpPr txBox="1"/>
          <p:nvPr/>
        </p:nvSpPr>
        <p:spPr>
          <a:xfrm>
            <a:off x="8575054" y="3177293"/>
            <a:ext cx="322787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Transceiver: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30W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 (DSP) + 10W(Optical Engine)</a:t>
            </a:r>
          </a:p>
        </p:txBody>
      </p:sp>
      <p:cxnSp>
        <p:nvCxnSpPr>
          <p:cNvPr id="2229" name="直接连接符 2228">
            <a:extLst>
              <a:ext uri="{FF2B5EF4-FFF2-40B4-BE49-F238E27FC236}">
                <a16:creationId xmlns:a16="http://schemas.microsoft.com/office/drawing/2014/main" id="{9557C8EE-3643-9A2D-2E7A-141A75053537}"/>
              </a:ext>
            </a:extLst>
          </p:cNvPr>
          <p:cNvCxnSpPr>
            <a:cxnSpLocks/>
          </p:cNvCxnSpPr>
          <p:nvPr/>
        </p:nvCxnSpPr>
        <p:spPr>
          <a:xfrm>
            <a:off x="8238486" y="364778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直接连接符 2235">
            <a:extLst>
              <a:ext uri="{FF2B5EF4-FFF2-40B4-BE49-F238E27FC236}">
                <a16:creationId xmlns:a16="http://schemas.microsoft.com/office/drawing/2014/main" id="{0EB20CDE-E882-220D-0F19-FED55ADB4629}"/>
              </a:ext>
            </a:extLst>
          </p:cNvPr>
          <p:cNvCxnSpPr>
            <a:cxnSpLocks/>
          </p:cNvCxnSpPr>
          <p:nvPr/>
        </p:nvCxnSpPr>
        <p:spPr>
          <a:xfrm>
            <a:off x="8236552" y="3717369"/>
            <a:ext cx="246441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直接连接符 2238">
            <a:extLst>
              <a:ext uri="{FF2B5EF4-FFF2-40B4-BE49-F238E27FC236}">
                <a16:creationId xmlns:a16="http://schemas.microsoft.com/office/drawing/2014/main" id="{3BB8C5A6-EF61-9080-E5D5-A159AE033667}"/>
              </a:ext>
            </a:extLst>
          </p:cNvPr>
          <p:cNvCxnSpPr>
            <a:cxnSpLocks/>
          </p:cNvCxnSpPr>
          <p:nvPr/>
        </p:nvCxnSpPr>
        <p:spPr>
          <a:xfrm>
            <a:off x="8481405" y="3714165"/>
            <a:ext cx="0" cy="246105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直接连接符 2240">
            <a:extLst>
              <a:ext uri="{FF2B5EF4-FFF2-40B4-BE49-F238E27FC236}">
                <a16:creationId xmlns:a16="http://schemas.microsoft.com/office/drawing/2014/main" id="{8DA9BE6F-0C56-E310-3B45-5ECC625C7DBF}"/>
              </a:ext>
            </a:extLst>
          </p:cNvPr>
          <p:cNvCxnSpPr>
            <a:cxnSpLocks/>
          </p:cNvCxnSpPr>
          <p:nvPr/>
        </p:nvCxnSpPr>
        <p:spPr>
          <a:xfrm>
            <a:off x="8479817" y="3958682"/>
            <a:ext cx="1469679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直接连接符 2243">
            <a:extLst>
              <a:ext uri="{FF2B5EF4-FFF2-40B4-BE49-F238E27FC236}">
                <a16:creationId xmlns:a16="http://schemas.microsoft.com/office/drawing/2014/main" id="{58C058FE-4759-2C16-CE42-2F324A539B69}"/>
              </a:ext>
            </a:extLst>
          </p:cNvPr>
          <p:cNvCxnSpPr>
            <a:cxnSpLocks/>
          </p:cNvCxnSpPr>
          <p:nvPr/>
        </p:nvCxnSpPr>
        <p:spPr>
          <a:xfrm>
            <a:off x="9949496" y="3887063"/>
            <a:ext cx="0" cy="71254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0" name="组合 2249">
            <a:extLst>
              <a:ext uri="{FF2B5EF4-FFF2-40B4-BE49-F238E27FC236}">
                <a16:creationId xmlns:a16="http://schemas.microsoft.com/office/drawing/2014/main" id="{FA361268-33C5-5237-7382-702CAA895B30}"/>
              </a:ext>
            </a:extLst>
          </p:cNvPr>
          <p:cNvGrpSpPr/>
          <p:nvPr/>
        </p:nvGrpSpPr>
        <p:grpSpPr>
          <a:xfrm>
            <a:off x="7697246" y="5564246"/>
            <a:ext cx="565185" cy="51782"/>
            <a:chOff x="7867918" y="2835520"/>
            <a:chExt cx="565185" cy="51782"/>
          </a:xfrm>
        </p:grpSpPr>
        <p:sp>
          <p:nvSpPr>
            <p:cNvPr id="2251" name="椭圆 2250">
              <a:extLst>
                <a:ext uri="{FF2B5EF4-FFF2-40B4-BE49-F238E27FC236}">
                  <a16:creationId xmlns:a16="http://schemas.microsoft.com/office/drawing/2014/main" id="{CE867EE8-784B-7EA0-2AE4-38FB744C7858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2" name="椭圆 2251">
              <a:extLst>
                <a:ext uri="{FF2B5EF4-FFF2-40B4-BE49-F238E27FC236}">
                  <a16:creationId xmlns:a16="http://schemas.microsoft.com/office/drawing/2014/main" id="{512F357D-5791-B114-77F8-EDDD352ACB31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3" name="椭圆 2252">
              <a:extLst>
                <a:ext uri="{FF2B5EF4-FFF2-40B4-BE49-F238E27FC236}">
                  <a16:creationId xmlns:a16="http://schemas.microsoft.com/office/drawing/2014/main" id="{B1450D27-52E0-8897-595C-4491F2883DC7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4" name="椭圆 2253">
              <a:extLst>
                <a:ext uri="{FF2B5EF4-FFF2-40B4-BE49-F238E27FC236}">
                  <a16:creationId xmlns:a16="http://schemas.microsoft.com/office/drawing/2014/main" id="{4AB83A58-3FB7-570C-5F2F-2E10CEE141AA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5" name="椭圆 2254">
              <a:extLst>
                <a:ext uri="{FF2B5EF4-FFF2-40B4-BE49-F238E27FC236}">
                  <a16:creationId xmlns:a16="http://schemas.microsoft.com/office/drawing/2014/main" id="{237EA7FA-0F9D-03AD-06B3-F3C688B2BE6E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56" name="组合 2255">
            <a:extLst>
              <a:ext uri="{FF2B5EF4-FFF2-40B4-BE49-F238E27FC236}">
                <a16:creationId xmlns:a16="http://schemas.microsoft.com/office/drawing/2014/main" id="{104F4237-0ECE-FAC8-C76A-5C74B430FDEE}"/>
              </a:ext>
            </a:extLst>
          </p:cNvPr>
          <p:cNvGrpSpPr/>
          <p:nvPr/>
        </p:nvGrpSpPr>
        <p:grpSpPr>
          <a:xfrm>
            <a:off x="7661410" y="5804604"/>
            <a:ext cx="1049169" cy="51782"/>
            <a:chOff x="7142854" y="3452768"/>
            <a:chExt cx="1049169" cy="51782"/>
          </a:xfrm>
        </p:grpSpPr>
        <p:sp>
          <p:nvSpPr>
            <p:cNvPr id="2257" name="椭圆 2256">
              <a:extLst>
                <a:ext uri="{FF2B5EF4-FFF2-40B4-BE49-F238E27FC236}">
                  <a16:creationId xmlns:a16="http://schemas.microsoft.com/office/drawing/2014/main" id="{71E17CA2-D1CB-90B1-1378-AAFEF7CAB994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8" name="椭圆 2257">
              <a:extLst>
                <a:ext uri="{FF2B5EF4-FFF2-40B4-BE49-F238E27FC236}">
                  <a16:creationId xmlns:a16="http://schemas.microsoft.com/office/drawing/2014/main" id="{AD8B3459-9F75-972C-5BD1-0FA76EEE997C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9" name="椭圆 2258">
              <a:extLst>
                <a:ext uri="{FF2B5EF4-FFF2-40B4-BE49-F238E27FC236}">
                  <a16:creationId xmlns:a16="http://schemas.microsoft.com/office/drawing/2014/main" id="{19AB80E7-AAE6-1430-0645-C6228172DB21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0" name="椭圆 2259">
              <a:extLst>
                <a:ext uri="{FF2B5EF4-FFF2-40B4-BE49-F238E27FC236}">
                  <a16:creationId xmlns:a16="http://schemas.microsoft.com/office/drawing/2014/main" id="{B1574E16-4F59-CDE9-8941-ADCF0B47ED1D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1" name="椭圆 2260">
              <a:extLst>
                <a:ext uri="{FF2B5EF4-FFF2-40B4-BE49-F238E27FC236}">
                  <a16:creationId xmlns:a16="http://schemas.microsoft.com/office/drawing/2014/main" id="{51082EBD-8CE3-8786-8F1B-69B0D0FF5F46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2" name="椭圆 2261">
              <a:extLst>
                <a:ext uri="{FF2B5EF4-FFF2-40B4-BE49-F238E27FC236}">
                  <a16:creationId xmlns:a16="http://schemas.microsoft.com/office/drawing/2014/main" id="{8DB8E0BF-6BD1-1DCE-7734-AB525E2B7614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64" name="矩形: 圆角 2263">
            <a:extLst>
              <a:ext uri="{FF2B5EF4-FFF2-40B4-BE49-F238E27FC236}">
                <a16:creationId xmlns:a16="http://schemas.microsoft.com/office/drawing/2014/main" id="{FA1199EA-B4C2-CF1A-6C6B-5DFDEBA7396A}"/>
              </a:ext>
            </a:extLst>
          </p:cNvPr>
          <p:cNvSpPr/>
          <p:nvPr/>
        </p:nvSpPr>
        <p:spPr>
          <a:xfrm>
            <a:off x="7235989" y="585638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5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9FD425D7-822D-9513-9EAD-EBC21FB6314B}"/>
              </a:ext>
            </a:extLst>
          </p:cNvPr>
          <p:cNvSpPr txBox="1"/>
          <p:nvPr/>
        </p:nvSpPr>
        <p:spPr>
          <a:xfrm>
            <a:off x="7265987" y="587502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6" name="矩形: 圆角 2265">
            <a:extLst>
              <a:ext uri="{FF2B5EF4-FFF2-40B4-BE49-F238E27FC236}">
                <a16:creationId xmlns:a16="http://schemas.microsoft.com/office/drawing/2014/main" id="{FE22F93E-1D6A-3B68-0211-EC2A88AE0634}"/>
              </a:ext>
            </a:extLst>
          </p:cNvPr>
          <p:cNvSpPr/>
          <p:nvPr/>
        </p:nvSpPr>
        <p:spPr>
          <a:xfrm>
            <a:off x="7465435" y="560901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7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C02EEDB5-3528-FAE8-0B9A-EF98C6094930}"/>
              </a:ext>
            </a:extLst>
          </p:cNvPr>
          <p:cNvSpPr txBox="1"/>
          <p:nvPr/>
        </p:nvSpPr>
        <p:spPr>
          <a:xfrm>
            <a:off x="7462673" y="558797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8" name="矩形: 圆角 2267">
            <a:extLst>
              <a:ext uri="{FF2B5EF4-FFF2-40B4-BE49-F238E27FC236}">
                <a16:creationId xmlns:a16="http://schemas.microsoft.com/office/drawing/2014/main" id="{C85569D9-DA69-AA91-EE22-A97E96711DB2}"/>
              </a:ext>
            </a:extLst>
          </p:cNvPr>
          <p:cNvSpPr/>
          <p:nvPr/>
        </p:nvSpPr>
        <p:spPr>
          <a:xfrm>
            <a:off x="7667966" y="541467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9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8EBBBC45-249E-1216-FBF3-27F624E7F983}"/>
              </a:ext>
            </a:extLst>
          </p:cNvPr>
          <p:cNvSpPr txBox="1"/>
          <p:nvPr/>
        </p:nvSpPr>
        <p:spPr>
          <a:xfrm>
            <a:off x="7779148" y="537004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F8D7BD25-F9C1-3DA6-3512-B4DB765C4A05}"/>
              </a:ext>
            </a:extLst>
          </p:cNvPr>
          <p:cNvSpPr/>
          <p:nvPr/>
        </p:nvSpPr>
        <p:spPr>
          <a:xfrm>
            <a:off x="10104686" y="5672731"/>
            <a:ext cx="160995" cy="17829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72" name="直接连接符 2271">
            <a:extLst>
              <a:ext uri="{FF2B5EF4-FFF2-40B4-BE49-F238E27FC236}">
                <a16:creationId xmlns:a16="http://schemas.microsoft.com/office/drawing/2014/main" id="{E100FBD0-82FA-926D-1539-9BF437657691}"/>
              </a:ext>
            </a:extLst>
          </p:cNvPr>
          <p:cNvCxnSpPr>
            <a:cxnSpLocks/>
          </p:cNvCxnSpPr>
          <p:nvPr/>
        </p:nvCxnSpPr>
        <p:spPr>
          <a:xfrm>
            <a:off x="9222466" y="5753522"/>
            <a:ext cx="165815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3" name="椭圆 2272">
            <a:extLst>
              <a:ext uri="{FF2B5EF4-FFF2-40B4-BE49-F238E27FC236}">
                <a16:creationId xmlns:a16="http://schemas.microsoft.com/office/drawing/2014/main" id="{D0FB83C0-5D0D-82B6-CBCD-A5DE0610F40A}"/>
              </a:ext>
            </a:extLst>
          </p:cNvPr>
          <p:cNvSpPr/>
          <p:nvPr/>
        </p:nvSpPr>
        <p:spPr>
          <a:xfrm>
            <a:off x="10499362" y="566067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74" name="文本框 2273">
            <a:extLst>
              <a:ext uri="{FF2B5EF4-FFF2-40B4-BE49-F238E27FC236}">
                <a16:creationId xmlns:a16="http://schemas.microsoft.com/office/drawing/2014/main" id="{4CEBBF05-9ED7-45E3-F1CD-E8E480E1E2C2}"/>
              </a:ext>
            </a:extLst>
          </p:cNvPr>
          <p:cNvSpPr txBox="1"/>
          <p:nvPr/>
        </p:nvSpPr>
        <p:spPr>
          <a:xfrm>
            <a:off x="7492727" y="5072668"/>
            <a:ext cx="95414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75" name="文本框 2274">
            <a:extLst>
              <a:ext uri="{FF2B5EF4-FFF2-40B4-BE49-F238E27FC236}">
                <a16:creationId xmlns:a16="http://schemas.microsoft.com/office/drawing/2014/main" id="{6391F045-3E0C-4C11-BE09-1E81CE2F8190}"/>
              </a:ext>
            </a:extLst>
          </p:cNvPr>
          <p:cNvSpPr txBox="1"/>
          <p:nvPr/>
        </p:nvSpPr>
        <p:spPr>
          <a:xfrm>
            <a:off x="9348796" y="5217160"/>
            <a:ext cx="2106336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External Light Source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2W</a:t>
            </a:r>
          </a:p>
        </p:txBody>
      </p:sp>
      <p:cxnSp>
        <p:nvCxnSpPr>
          <p:cNvPr id="2276" name="直接连接符 2275">
            <a:extLst>
              <a:ext uri="{FF2B5EF4-FFF2-40B4-BE49-F238E27FC236}">
                <a16:creationId xmlns:a16="http://schemas.microsoft.com/office/drawing/2014/main" id="{285E3344-6D39-AA0B-6F38-F5AC3941F282}"/>
              </a:ext>
            </a:extLst>
          </p:cNvPr>
          <p:cNvCxnSpPr>
            <a:cxnSpLocks/>
          </p:cNvCxnSpPr>
          <p:nvPr/>
        </p:nvCxnSpPr>
        <p:spPr>
          <a:xfrm>
            <a:off x="8238486" y="558000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直接连接符 2276">
            <a:extLst>
              <a:ext uri="{FF2B5EF4-FFF2-40B4-BE49-F238E27FC236}">
                <a16:creationId xmlns:a16="http://schemas.microsoft.com/office/drawing/2014/main" id="{1F0623B0-B366-3726-28B5-EC3405D1B9BF}"/>
              </a:ext>
            </a:extLst>
          </p:cNvPr>
          <p:cNvCxnSpPr>
            <a:cxnSpLocks/>
          </p:cNvCxnSpPr>
          <p:nvPr/>
        </p:nvCxnSpPr>
        <p:spPr>
          <a:xfrm>
            <a:off x="8236552" y="5649589"/>
            <a:ext cx="47632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直接连接符 2279">
            <a:extLst>
              <a:ext uri="{FF2B5EF4-FFF2-40B4-BE49-F238E27FC236}">
                <a16:creationId xmlns:a16="http://schemas.microsoft.com/office/drawing/2014/main" id="{3CA154A8-D81D-3F84-BD29-5F4C81D1B490}"/>
              </a:ext>
            </a:extLst>
          </p:cNvPr>
          <p:cNvCxnSpPr>
            <a:cxnSpLocks/>
          </p:cNvCxnSpPr>
          <p:nvPr/>
        </p:nvCxnSpPr>
        <p:spPr>
          <a:xfrm>
            <a:off x="8710006" y="5561191"/>
            <a:ext cx="0" cy="89316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" name="矩形 2281">
            <a:extLst>
              <a:ext uri="{FF2B5EF4-FFF2-40B4-BE49-F238E27FC236}">
                <a16:creationId xmlns:a16="http://schemas.microsoft.com/office/drawing/2014/main" id="{C4CB0141-DC23-7B97-F507-DDBF687B0693}"/>
              </a:ext>
            </a:extLst>
          </p:cNvPr>
          <p:cNvSpPr/>
          <p:nvPr/>
        </p:nvSpPr>
        <p:spPr>
          <a:xfrm>
            <a:off x="8674461" y="5442063"/>
            <a:ext cx="196913" cy="11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86" name="文本框 2285">
            <a:extLst>
              <a:ext uri="{FF2B5EF4-FFF2-40B4-BE49-F238E27FC236}">
                <a16:creationId xmlns:a16="http://schemas.microsoft.com/office/drawing/2014/main" id="{C4F3FA20-ED2F-D8A3-57F6-9D5CAF9BE563}"/>
              </a:ext>
            </a:extLst>
          </p:cNvPr>
          <p:cNvSpPr txBox="1"/>
          <p:nvPr/>
        </p:nvSpPr>
        <p:spPr>
          <a:xfrm>
            <a:off x="8362497" y="4965381"/>
            <a:ext cx="129446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Engine 7W</a:t>
            </a:r>
          </a:p>
        </p:txBody>
      </p:sp>
      <p:cxnSp>
        <p:nvCxnSpPr>
          <p:cNvPr id="2293" name="直接连接符 2292">
            <a:extLst>
              <a:ext uri="{FF2B5EF4-FFF2-40B4-BE49-F238E27FC236}">
                <a16:creationId xmlns:a16="http://schemas.microsoft.com/office/drawing/2014/main" id="{9A251054-255C-BF2D-077F-658927E18F9F}"/>
              </a:ext>
            </a:extLst>
          </p:cNvPr>
          <p:cNvCxnSpPr>
            <a:cxnSpLocks/>
          </p:cNvCxnSpPr>
          <p:nvPr/>
        </p:nvCxnSpPr>
        <p:spPr>
          <a:xfrm>
            <a:off x="8870041" y="5509047"/>
            <a:ext cx="358775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直接连接符 2294">
            <a:extLst>
              <a:ext uri="{FF2B5EF4-FFF2-40B4-BE49-F238E27FC236}">
                <a16:creationId xmlns:a16="http://schemas.microsoft.com/office/drawing/2014/main" id="{AEA847F6-D574-A430-6A5E-507518DBE31D}"/>
              </a:ext>
            </a:extLst>
          </p:cNvPr>
          <p:cNvCxnSpPr>
            <a:cxnSpLocks/>
          </p:cNvCxnSpPr>
          <p:nvPr/>
        </p:nvCxnSpPr>
        <p:spPr>
          <a:xfrm>
            <a:off x="9225641" y="5501921"/>
            <a:ext cx="0" cy="25224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矩形 2296">
            <a:extLst>
              <a:ext uri="{FF2B5EF4-FFF2-40B4-BE49-F238E27FC236}">
                <a16:creationId xmlns:a16="http://schemas.microsoft.com/office/drawing/2014/main" id="{BDDD23E1-A576-068D-5EFB-FB8F2DF60D2E}"/>
              </a:ext>
            </a:extLst>
          </p:cNvPr>
          <p:cNvSpPr/>
          <p:nvPr/>
        </p:nvSpPr>
        <p:spPr>
          <a:xfrm>
            <a:off x="10071943" y="5725847"/>
            <a:ext cx="238490" cy="49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9F46A2D-EB35-B179-00C5-9AC49FE23C20}"/>
              </a:ext>
            </a:extLst>
          </p:cNvPr>
          <p:cNvCxnSpPr>
            <a:cxnSpLocks/>
            <a:stCxn id="2208" idx="2"/>
            <a:endCxn id="2282" idx="0"/>
          </p:cNvCxnSpPr>
          <p:nvPr/>
        </p:nvCxnSpPr>
        <p:spPr>
          <a:xfrm rot="5400000">
            <a:off x="8697992" y="3956009"/>
            <a:ext cx="1560981" cy="1411127"/>
          </a:xfrm>
          <a:prstGeom prst="bentConnector3">
            <a:avLst>
              <a:gd name="adj1" fmla="val 50000"/>
            </a:avLst>
          </a:prstGeom>
          <a:ln w="9525">
            <a:solidFill>
              <a:srgbClr val="0052D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EE17CA1-B873-58C8-C886-BEDAF753562F}"/>
              </a:ext>
            </a:extLst>
          </p:cNvPr>
          <p:cNvSpPr/>
          <p:nvPr/>
        </p:nvSpPr>
        <p:spPr>
          <a:xfrm>
            <a:off x="9909235" y="3758253"/>
            <a:ext cx="163588" cy="12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5" name="椭圆 2244">
            <a:extLst>
              <a:ext uri="{FF2B5EF4-FFF2-40B4-BE49-F238E27FC236}">
                <a16:creationId xmlns:a16="http://schemas.microsoft.com/office/drawing/2014/main" id="{493B989A-0BAA-46CC-573B-65C09D39CF00}"/>
              </a:ext>
            </a:extLst>
          </p:cNvPr>
          <p:cNvSpPr/>
          <p:nvPr/>
        </p:nvSpPr>
        <p:spPr>
          <a:xfrm>
            <a:off x="10191230" y="3880258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6" name="椭圆 2245">
            <a:extLst>
              <a:ext uri="{FF2B5EF4-FFF2-40B4-BE49-F238E27FC236}">
                <a16:creationId xmlns:a16="http://schemas.microsoft.com/office/drawing/2014/main" id="{8E212FC6-BB78-F14B-0660-4327A0CDE51F}"/>
              </a:ext>
            </a:extLst>
          </p:cNvPr>
          <p:cNvSpPr/>
          <p:nvPr/>
        </p:nvSpPr>
        <p:spPr>
          <a:xfrm>
            <a:off x="10109501" y="3881082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47" name="直接连接符 2246">
            <a:extLst>
              <a:ext uri="{FF2B5EF4-FFF2-40B4-BE49-F238E27FC236}">
                <a16:creationId xmlns:a16="http://schemas.microsoft.com/office/drawing/2014/main" id="{4BEC45EB-6ECD-9D67-10A7-2909C80F2BCA}"/>
              </a:ext>
            </a:extLst>
          </p:cNvPr>
          <p:cNvCxnSpPr>
            <a:cxnSpLocks/>
          </p:cNvCxnSpPr>
          <p:nvPr/>
        </p:nvCxnSpPr>
        <p:spPr>
          <a:xfrm>
            <a:off x="10028371" y="3956730"/>
            <a:ext cx="11003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直接连接符 2270">
            <a:extLst>
              <a:ext uri="{FF2B5EF4-FFF2-40B4-BE49-F238E27FC236}">
                <a16:creationId xmlns:a16="http://schemas.microsoft.com/office/drawing/2014/main" id="{7F730EB3-8D5A-9C97-39B7-82D20ADC53BE}"/>
              </a:ext>
            </a:extLst>
          </p:cNvPr>
          <p:cNvCxnSpPr>
            <a:cxnSpLocks/>
          </p:cNvCxnSpPr>
          <p:nvPr/>
        </p:nvCxnSpPr>
        <p:spPr>
          <a:xfrm>
            <a:off x="10138408" y="3885111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直接连接符 2286">
            <a:extLst>
              <a:ext uri="{FF2B5EF4-FFF2-40B4-BE49-F238E27FC236}">
                <a16:creationId xmlns:a16="http://schemas.microsoft.com/office/drawing/2014/main" id="{69F62410-1C97-AD9E-0107-EDC00361AFA5}"/>
              </a:ext>
            </a:extLst>
          </p:cNvPr>
          <p:cNvCxnSpPr>
            <a:cxnSpLocks/>
          </p:cNvCxnSpPr>
          <p:nvPr/>
        </p:nvCxnSpPr>
        <p:spPr>
          <a:xfrm>
            <a:off x="10032046" y="3886360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直接箭头连接符 2302">
            <a:extLst>
              <a:ext uri="{FF2B5EF4-FFF2-40B4-BE49-F238E27FC236}">
                <a16:creationId xmlns:a16="http://schemas.microsoft.com/office/drawing/2014/main" id="{BC55CDD2-E772-C35E-78E6-6D89D2399390}"/>
              </a:ext>
            </a:extLst>
          </p:cNvPr>
          <p:cNvCxnSpPr>
            <a:cxnSpLocks/>
          </p:cNvCxnSpPr>
          <p:nvPr/>
        </p:nvCxnSpPr>
        <p:spPr>
          <a:xfrm>
            <a:off x="10180635" y="4657795"/>
            <a:ext cx="0" cy="1014936"/>
          </a:xfrm>
          <a:prstGeom prst="straightConnector1">
            <a:avLst/>
          </a:prstGeom>
          <a:ln w="95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9" name="文本框 2308">
            <a:extLst>
              <a:ext uri="{FF2B5EF4-FFF2-40B4-BE49-F238E27FC236}">
                <a16:creationId xmlns:a16="http://schemas.microsoft.com/office/drawing/2014/main" id="{9BFF16ED-879E-1FC6-ED92-D21BE2559398}"/>
              </a:ext>
            </a:extLst>
          </p:cNvPr>
          <p:cNvSpPr txBox="1"/>
          <p:nvPr/>
        </p:nvSpPr>
        <p:spPr>
          <a:xfrm>
            <a:off x="3238626" y="3602624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1.6Tbps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1" name="文本框 2310">
            <a:extLst>
              <a:ext uri="{FF2B5EF4-FFF2-40B4-BE49-F238E27FC236}">
                <a16:creationId xmlns:a16="http://schemas.microsoft.com/office/drawing/2014/main" id="{2EEC16A6-73A6-E0A5-1CE1-A674984BCEDC}"/>
              </a:ext>
            </a:extLst>
          </p:cNvPr>
          <p:cNvSpPr txBox="1"/>
          <p:nvPr/>
        </p:nvSpPr>
        <p:spPr>
          <a:xfrm>
            <a:off x="3227475" y="2303966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Rate limit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2" name="文本框 2311">
            <a:extLst>
              <a:ext uri="{FF2B5EF4-FFF2-40B4-BE49-F238E27FC236}">
                <a16:creationId xmlns:a16="http://schemas.microsoft.com/office/drawing/2014/main" id="{B0B135FA-6390-57F1-3CDF-853F2745AFFE}"/>
              </a:ext>
            </a:extLst>
          </p:cNvPr>
          <p:cNvSpPr txBox="1"/>
          <p:nvPr/>
        </p:nvSpPr>
        <p:spPr>
          <a:xfrm>
            <a:off x="3238626" y="548666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12.8Tbps+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55725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253802" y="551282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669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6530975" y="3080458"/>
            <a:ext cx="462470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Global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giants bet on CPO: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most commercially viable path​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among next-gen interconnect technologies.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72F8DDA-EA12-3D19-91E3-EB0B2B9B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45" y="89860"/>
            <a:ext cx="1007110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PO is mainstream; CPO is the focus of tech giants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57225" y="3098880"/>
            <a:ext cx="1166813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652463" y="2925525"/>
            <a:ext cx="10591800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6616700" y="962025"/>
            <a:ext cx="4627563" cy="442913"/>
            <a:chOff x="3873011" y="995866"/>
            <a:chExt cx="2534139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53413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CPO (Co-Packaged Optics)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57225" y="1682750"/>
            <a:ext cx="1163638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Total rate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985963" y="963613"/>
            <a:ext cx="4294188" cy="444500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PO</a:t>
              </a: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2379663" y="1738313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Medium: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r>
              <a:rPr lang="zh-CN" altLang="en-US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(2025)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B12BFE29-888F-9E49-4EC1-44B14D6925BA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101850" y="177800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4" name="弧 155">
            <a:extLst>
              <a:ext uri="{FF2B5EF4-FFF2-40B4-BE49-F238E27FC236}">
                <a16:creationId xmlns:a16="http://schemas.microsoft.com/office/drawing/2014/main" id="{2951776E-1A62-A9CD-5D1E-9DF41ED6A0AA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2101850" y="1778000"/>
            <a:ext cx="187325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6894513" y="1719263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 (2026)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4F0B813F-32EE-EB79-187C-85AF6F62ABF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616700" y="179070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8" name="弧 155">
            <a:extLst>
              <a:ext uri="{FF2B5EF4-FFF2-40B4-BE49-F238E27FC236}">
                <a16:creationId xmlns:a16="http://schemas.microsoft.com/office/drawing/2014/main" id="{8979A53B-A0DE-2250-D385-2828F07FC3CF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6616701" y="179070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57225" y="2260600"/>
            <a:ext cx="1163638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2025E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D9609890-EC78-519E-A870-70859BE2F8E7}"/>
              </a:ext>
            </a:extLst>
          </p:cNvPr>
          <p:cNvSpPr/>
          <p:nvPr/>
        </p:nvSpPr>
        <p:spPr>
          <a:xfrm>
            <a:off x="2046288" y="2230438"/>
            <a:ext cx="488950" cy="488950"/>
          </a:xfrm>
          <a:prstGeom prst="ellipse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2582863" y="2339975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~$10bn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DCF9ED99-140F-0C08-740C-0D6F2007712D}"/>
              </a:ext>
            </a:extLst>
          </p:cNvPr>
          <p:cNvGrpSpPr/>
          <p:nvPr/>
        </p:nvGrpSpPr>
        <p:grpSpPr>
          <a:xfrm>
            <a:off x="6681788" y="2314575"/>
            <a:ext cx="2971800" cy="307975"/>
            <a:chOff x="5410439" y="2582719"/>
            <a:chExt cx="2970624" cy="307777"/>
          </a:xfrm>
        </p:grpSpPr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176DC493-6BA9-C9D8-1CDB-AB108B52E3F6}"/>
                </a:ext>
              </a:extLst>
            </p:cNvPr>
            <p:cNvSpPr/>
            <p:nvPr/>
          </p:nvSpPr>
          <p:spPr>
            <a:xfrm>
              <a:off x="5410439" y="2702157"/>
              <a:ext cx="100683" cy="100683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9B844F1B-C95E-1A69-4E59-4E369A0B197F}"/>
                </a:ext>
              </a:extLst>
            </p:cNvPr>
            <p:cNvSpPr txBox="1"/>
            <p:nvPr/>
          </p:nvSpPr>
          <p:spPr>
            <a:xfrm>
              <a:off x="5593413" y="2582719"/>
              <a:ext cx="278765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$10mn-scale</a:t>
              </a:r>
              <a:endPara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341334" y="603667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Stanley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 market size from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CPO data from Insight Partners.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Showing only companies with the largest market share in each segment.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997075" y="3091746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Domestic players dominate: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Account for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70%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​​ of the top 10 global vendors.</a:t>
            </a: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52463" y="4830174"/>
            <a:ext cx="1168400" cy="86375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players’ dynamics</a:t>
            </a: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7013" y="3644867"/>
            <a:ext cx="758825" cy="273176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4375" y="3576761"/>
            <a:ext cx="939800" cy="358341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32994" y="3686692"/>
            <a:ext cx="965200" cy="234097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3667125" y="4247684"/>
            <a:ext cx="99536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CR3: 50%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9366250" y="3627064"/>
            <a:ext cx="712788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42444" y="3618224"/>
            <a:ext cx="415694" cy="274682"/>
          </a:xfrm>
          <a:prstGeom prst="rect">
            <a:avLst/>
          </a:prstGeom>
          <a:ln w="12700">
            <a:miter lim="400000"/>
          </a:ln>
        </p:spPr>
      </p:pic>
      <p:sp>
        <p:nvSpPr>
          <p:cNvPr id="1045" name="文本框 1044">
            <a:extLst>
              <a:ext uri="{FF2B5EF4-FFF2-40B4-BE49-F238E27FC236}">
                <a16:creationId xmlns:a16="http://schemas.microsoft.com/office/drawing/2014/main" id="{837901F7-98DA-4D36-37A5-D43D99AB0EF4}"/>
              </a:ext>
            </a:extLst>
          </p:cNvPr>
          <p:cNvSpPr txBox="1"/>
          <p:nvPr/>
        </p:nvSpPr>
        <p:spPr>
          <a:xfrm>
            <a:off x="8294688" y="4247684"/>
            <a:ext cx="99536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44688" y="5161020"/>
            <a:ext cx="774700" cy="295389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763838" y="5202891"/>
            <a:ext cx="351631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2024: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shipments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 2mn units.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Q4'24: 1.6T first to certify &amp; ship.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7335838" y="5202891"/>
            <a:ext cx="370046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Q2’25: Spectrum-X CPO switch delivery.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Q2’26E: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switch delivery.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62713" y="5155929"/>
            <a:ext cx="309563" cy="305258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5925" y="5213101"/>
            <a:ext cx="515938" cy="190914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652463" y="4674667"/>
            <a:ext cx="10626725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990725" y="4836256"/>
            <a:ext cx="4313238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Mass commercial adoption in AIDC.</a:t>
            </a:r>
            <a:endParaRPr kumimoji="1"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6530975" y="4830173"/>
            <a:ext cx="5318125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​Targeting commercialization in the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25-26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timeframe.​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3324225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229821F5-C4E2-6784-9CD6-0979EBDD566A}"/>
              </a:ext>
            </a:extLst>
          </p:cNvPr>
          <p:cNvSpPr/>
          <p:nvPr/>
        </p:nvSpPr>
        <p:spPr>
          <a:xfrm rot="10800000">
            <a:off x="7958138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84E21-B7D7-BE38-FADE-CB8B7B41F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853B9516-AA57-80CD-E1AF-A9E80A03B0E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76425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2" imgW="401" imgH="401" progId="TCLayout.ActiveDocument.1">
                  <p:embed/>
                </p:oleObj>
              </mc:Choice>
              <mc:Fallback>
                <p:oleObj name="think-cell 幻灯片" r:id="rId12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6425B-D7C9-EE32-8B7E-F896A973C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F4C983E-BCB7-E682-7462-113607DEA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45" y="89860"/>
            <a:ext cx="10071100" cy="731520"/>
          </a:xfrm>
        </p:spPr>
        <p:txBody>
          <a:bodyPr vert="horz"/>
          <a:lstStyle/>
          <a:p>
            <a:r>
              <a:rPr lang="en-US" altLang="zh-CN" dirty="0">
                <a:cs typeface="+mn-ea"/>
              </a:rPr>
              <a:t>CPO faces 3 hurdles; NPO proposed as the bridge to 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59D84E-2AC0-8A03-8B00-ED0283593370}"/>
              </a:ext>
            </a:extLst>
          </p:cNvPr>
          <p:cNvSpPr txBox="1"/>
          <p:nvPr/>
        </p:nvSpPr>
        <p:spPr>
          <a:xfrm>
            <a:off x="469289" y="3141112"/>
            <a:ext cx="1294622" cy="462021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Cost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964C937-BEBE-7A7A-9C6C-196C90BCA623}"/>
              </a:ext>
            </a:extLst>
          </p:cNvPr>
          <p:cNvGrpSpPr/>
          <p:nvPr/>
        </p:nvGrpSpPr>
        <p:grpSpPr>
          <a:xfrm>
            <a:off x="6637338" y="961744"/>
            <a:ext cx="4106863" cy="442913"/>
            <a:chOff x="3873011" y="995866"/>
            <a:chExt cx="2534139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B53B72C8-173F-BC06-A179-722C1927F153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53413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C18844DE-5732-79CD-634E-75A87DFD423E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NPO (Near-Packaged Optics)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7541B82E-988A-D7A9-D01E-654F16018BAC}"/>
              </a:ext>
            </a:extLst>
          </p:cNvPr>
          <p:cNvSpPr txBox="1"/>
          <p:nvPr/>
        </p:nvSpPr>
        <p:spPr>
          <a:xfrm>
            <a:off x="472812" y="1668872"/>
            <a:ext cx="1291099" cy="77876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Architecture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74DD5A5-24F6-5C3F-E372-31E422131C23}"/>
              </a:ext>
            </a:extLst>
          </p:cNvPr>
          <p:cNvGrpSpPr/>
          <p:nvPr/>
        </p:nvGrpSpPr>
        <p:grpSpPr>
          <a:xfrm>
            <a:off x="1985963" y="963613"/>
            <a:ext cx="4110037" cy="444500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E0DFE11C-81A3-ACA9-BAB9-A2D252999D69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08956BAB-C473-737A-C0A3-8D27C823972B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CPO (Co-Packaged Optics)</a:t>
              </a:r>
              <a:endPara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65728FD-8312-0292-DD06-4FF13CA901F5}"/>
              </a:ext>
            </a:extLst>
          </p:cNvPr>
          <p:cNvSpPr txBox="1"/>
          <p:nvPr/>
        </p:nvSpPr>
        <p:spPr>
          <a:xfrm>
            <a:off x="341335" y="6225296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Yole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BAD623B-1210-3D8C-38B6-B419E327380C}"/>
              </a:ext>
            </a:extLst>
          </p:cNvPr>
          <p:cNvSpPr/>
          <p:nvPr/>
        </p:nvSpPr>
        <p:spPr>
          <a:xfrm>
            <a:off x="2044692" y="2115661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/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8F099A-08EF-8EDB-FB75-D88E92F33995}"/>
              </a:ext>
            </a:extLst>
          </p:cNvPr>
          <p:cNvSpPr/>
          <p:nvPr/>
        </p:nvSpPr>
        <p:spPr>
          <a:xfrm>
            <a:off x="2706865" y="2121882"/>
            <a:ext cx="196913" cy="119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B9B730F-620F-665B-D75C-E40D51AFC78A}"/>
              </a:ext>
            </a:extLst>
          </p:cNvPr>
          <p:cNvSpPr/>
          <p:nvPr/>
        </p:nvSpPr>
        <p:spPr>
          <a:xfrm>
            <a:off x="1990725" y="2280939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E2F2E6C-52A6-5861-9D72-3EE910A47C8B}"/>
              </a:ext>
            </a:extLst>
          </p:cNvPr>
          <p:cNvSpPr/>
          <p:nvPr/>
        </p:nvSpPr>
        <p:spPr>
          <a:xfrm>
            <a:off x="2008980" y="2238302"/>
            <a:ext cx="1441121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55233783-4416-9C0A-C507-C37C114FF33F}"/>
              </a:ext>
            </a:extLst>
          </p:cNvPr>
          <p:cNvCxnSpPr>
            <a:cxnSpLocks/>
            <a:stCxn id="7" idx="2"/>
            <a:endCxn id="9" idx="2"/>
          </p:cNvCxnSpPr>
          <p:nvPr/>
        </p:nvCxnSpPr>
        <p:spPr>
          <a:xfrm rot="16200000" flipH="1">
            <a:off x="2578418" y="2014535"/>
            <a:ext cx="6221" cy="447588"/>
          </a:xfrm>
          <a:prstGeom prst="bentConnector3">
            <a:avLst>
              <a:gd name="adj1" fmla="val 474249"/>
            </a:avLst>
          </a:prstGeom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861F55CE-4332-354C-99B7-3E29E7949730}"/>
              </a:ext>
            </a:extLst>
          </p:cNvPr>
          <p:cNvSpPr txBox="1"/>
          <p:nvPr/>
        </p:nvSpPr>
        <p:spPr>
          <a:xfrm>
            <a:off x="1938288" y="1893619"/>
            <a:ext cx="138593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ASIC Chip</a:t>
            </a:r>
            <a:endParaRPr lang="zh-CN" altLang="zh-CN" sz="10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F913675-5B79-37B4-134D-83D95363B237}"/>
              </a:ext>
            </a:extLst>
          </p:cNvPr>
          <p:cNvSpPr txBox="1"/>
          <p:nvPr/>
        </p:nvSpPr>
        <p:spPr>
          <a:xfrm>
            <a:off x="3593206" y="2025051"/>
            <a:ext cx="138593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 Substrate</a:t>
            </a:r>
            <a:endParaRPr lang="zh-CN" altLang="zh-CN" sz="10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C33624C-FDB9-9386-1049-5351760C9525}"/>
              </a:ext>
            </a:extLst>
          </p:cNvPr>
          <p:cNvCxnSpPr>
            <a:stCxn id="11" idx="3"/>
            <a:endCxn id="17" idx="1"/>
          </p:cNvCxnSpPr>
          <p:nvPr/>
        </p:nvCxnSpPr>
        <p:spPr>
          <a:xfrm flipV="1">
            <a:off x="3450101" y="2148162"/>
            <a:ext cx="143105" cy="113000"/>
          </a:xfrm>
          <a:prstGeom prst="line">
            <a:avLst/>
          </a:prstGeom>
          <a:ln w="6350">
            <a:solidFill>
              <a:schemeClr val="accent6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FCFFA8CA-0B95-C717-BC96-3D54B8FB52DF}"/>
              </a:ext>
            </a:extLst>
          </p:cNvPr>
          <p:cNvSpPr/>
          <p:nvPr/>
        </p:nvSpPr>
        <p:spPr>
          <a:xfrm>
            <a:off x="6718043" y="2048999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/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3B442AE-5D9E-0D1C-4E44-8436723A72AD}"/>
              </a:ext>
            </a:extLst>
          </p:cNvPr>
          <p:cNvSpPr/>
          <p:nvPr/>
        </p:nvSpPr>
        <p:spPr>
          <a:xfrm>
            <a:off x="8051790" y="2100139"/>
            <a:ext cx="196913" cy="119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8469237-21B5-B182-2550-1F55472DBFB7}"/>
              </a:ext>
            </a:extLst>
          </p:cNvPr>
          <p:cNvSpPr/>
          <p:nvPr/>
        </p:nvSpPr>
        <p:spPr>
          <a:xfrm>
            <a:off x="6664076" y="2277777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CD314A75-177E-3E55-A2F2-78CA9A77A1F0}"/>
              </a:ext>
            </a:extLst>
          </p:cNvPr>
          <p:cNvSpPr/>
          <p:nvPr/>
        </p:nvSpPr>
        <p:spPr>
          <a:xfrm>
            <a:off x="6682332" y="2171640"/>
            <a:ext cx="1055144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34D66D3D-28C6-C75C-43F7-EA36A1DDE890}"/>
              </a:ext>
            </a:extLst>
          </p:cNvPr>
          <p:cNvSpPr/>
          <p:nvPr/>
        </p:nvSpPr>
        <p:spPr>
          <a:xfrm>
            <a:off x="6670427" y="2222553"/>
            <a:ext cx="1609975" cy="53622"/>
          </a:xfrm>
          <a:prstGeom prst="roundRect">
            <a:avLst>
              <a:gd name="adj" fmla="val 2414"/>
            </a:avLst>
          </a:prstGeom>
          <a:solidFill>
            <a:srgbClr val="FFC000"/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E8471808-4AAB-37A2-930E-3CA9ECB7D892}"/>
              </a:ext>
            </a:extLst>
          </p:cNvPr>
          <p:cNvCxnSpPr>
            <a:cxnSpLocks/>
            <a:stCxn id="36" idx="2"/>
            <a:endCxn id="37" idx="2"/>
          </p:cNvCxnSpPr>
          <p:nvPr/>
        </p:nvCxnSpPr>
        <p:spPr>
          <a:xfrm rot="16200000" flipH="1">
            <a:off x="7565096" y="1634546"/>
            <a:ext cx="51140" cy="1119162"/>
          </a:xfrm>
          <a:prstGeom prst="bentConnector3">
            <a:avLst>
              <a:gd name="adj1" fmla="val 165188"/>
            </a:avLst>
          </a:prstGeom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55CC630B-93ED-3D5F-E219-9D85C4F42996}"/>
              </a:ext>
            </a:extLst>
          </p:cNvPr>
          <p:cNvSpPr txBox="1"/>
          <p:nvPr/>
        </p:nvSpPr>
        <p:spPr>
          <a:xfrm>
            <a:off x="4958950" y="2161355"/>
            <a:ext cx="138593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PCB</a:t>
            </a:r>
            <a:endParaRPr lang="zh-CN" altLang="zh-CN" sz="10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0EED7490-3AD7-0F4B-7842-CFB4E386D6C0}"/>
              </a:ext>
            </a:extLst>
          </p:cNvPr>
          <p:cNvCxnSpPr>
            <a:cxnSpLocks/>
            <a:stCxn id="10" idx="3"/>
            <a:endCxn id="55" idx="1"/>
          </p:cNvCxnSpPr>
          <p:nvPr/>
        </p:nvCxnSpPr>
        <p:spPr>
          <a:xfrm flipV="1">
            <a:off x="4578849" y="2284466"/>
            <a:ext cx="380101" cy="29578"/>
          </a:xfrm>
          <a:prstGeom prst="line">
            <a:avLst/>
          </a:prstGeom>
          <a:ln w="6350">
            <a:solidFill>
              <a:schemeClr val="accent6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16BFC944-90B2-B57F-C86F-552C91F7FCFB}"/>
              </a:ext>
            </a:extLst>
          </p:cNvPr>
          <p:cNvSpPr txBox="1"/>
          <p:nvPr/>
        </p:nvSpPr>
        <p:spPr>
          <a:xfrm>
            <a:off x="8964509" y="2015059"/>
            <a:ext cx="221547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High-performance Substrate</a:t>
            </a:r>
            <a:endParaRPr lang="zh-CN" altLang="zh-CN" sz="1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320F622F-4D2C-4178-601A-F25D5660D2A0}"/>
              </a:ext>
            </a:extLst>
          </p:cNvPr>
          <p:cNvCxnSpPr>
            <a:cxnSpLocks/>
            <a:stCxn id="49" idx="3"/>
            <a:endCxn id="67" idx="1"/>
          </p:cNvCxnSpPr>
          <p:nvPr/>
        </p:nvCxnSpPr>
        <p:spPr>
          <a:xfrm flipV="1">
            <a:off x="8280402" y="2138170"/>
            <a:ext cx="684107" cy="111194"/>
          </a:xfrm>
          <a:prstGeom prst="line">
            <a:avLst/>
          </a:prstGeom>
          <a:ln w="6350">
            <a:solidFill>
              <a:schemeClr val="accent6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A2988693-B2A6-22CB-5849-D28EE8EA49F0}"/>
              </a:ext>
            </a:extLst>
          </p:cNvPr>
          <p:cNvSpPr txBox="1"/>
          <p:nvPr/>
        </p:nvSpPr>
        <p:spPr>
          <a:xfrm>
            <a:off x="6618503" y="1831385"/>
            <a:ext cx="138593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ASIC Chip</a:t>
            </a:r>
            <a:endParaRPr lang="zh-CN" altLang="zh-CN" sz="10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5733B496-A9C7-95F0-6643-3630A672D087}"/>
              </a:ext>
            </a:extLst>
          </p:cNvPr>
          <p:cNvSpPr txBox="1"/>
          <p:nvPr/>
        </p:nvSpPr>
        <p:spPr>
          <a:xfrm>
            <a:off x="7971053" y="2040609"/>
            <a:ext cx="43950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000" dirty="0">
                <a:solidFill>
                  <a:schemeClr val="bg1"/>
                </a:solidFill>
                <a:cs typeface="+mn-ea"/>
                <a:sym typeface="+mn-lt"/>
              </a:rPr>
              <a:t>OE</a:t>
            </a:r>
            <a:endParaRPr lang="zh-CN" altLang="zh-CN" sz="1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3B05F774-B99C-2625-EE25-2275A7754C58}"/>
              </a:ext>
            </a:extLst>
          </p:cNvPr>
          <p:cNvSpPr txBox="1"/>
          <p:nvPr/>
        </p:nvSpPr>
        <p:spPr>
          <a:xfrm>
            <a:off x="1908439" y="149422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OE co-packaged on package substrate.</a:t>
            </a:r>
            <a:endParaRPr lang="zh-CN" altLang="en-US" sz="1600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D63A4226-28FE-D851-4F72-883BCF21B426}"/>
              </a:ext>
            </a:extLst>
          </p:cNvPr>
          <p:cNvSpPr txBox="1"/>
          <p:nvPr/>
        </p:nvSpPr>
        <p:spPr>
          <a:xfrm>
            <a:off x="6616700" y="149232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OE near-packaged on high-performance substrate.</a:t>
            </a:r>
            <a:endParaRPr lang="zh-CN" altLang="en-US" sz="1600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57740914-CF70-663E-015B-98494C7B7081}"/>
              </a:ext>
            </a:extLst>
          </p:cNvPr>
          <p:cNvSpPr txBox="1"/>
          <p:nvPr/>
        </p:nvSpPr>
        <p:spPr>
          <a:xfrm>
            <a:off x="2625649" y="2064419"/>
            <a:ext cx="43950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000" dirty="0">
                <a:solidFill>
                  <a:schemeClr val="bg1"/>
                </a:solidFill>
                <a:cs typeface="+mn-ea"/>
                <a:sym typeface="+mn-lt"/>
              </a:rPr>
              <a:t>OE</a:t>
            </a:r>
            <a:endParaRPr lang="zh-CN" altLang="zh-CN" sz="1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等腰三角形 94">
            <a:extLst>
              <a:ext uri="{FF2B5EF4-FFF2-40B4-BE49-F238E27FC236}">
                <a16:creationId xmlns:a16="http://schemas.microsoft.com/office/drawing/2014/main" id="{208C3962-53AD-CC75-944E-1736D0E0DC80}"/>
              </a:ext>
            </a:extLst>
          </p:cNvPr>
          <p:cNvSpPr/>
          <p:nvPr/>
        </p:nvSpPr>
        <p:spPr>
          <a:xfrm rot="10800000">
            <a:off x="3131342" y="2701147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A9AF85D4-C979-6384-189D-71EF0284C461}"/>
              </a:ext>
            </a:extLst>
          </p:cNvPr>
          <p:cNvSpPr txBox="1"/>
          <p:nvPr/>
        </p:nvSpPr>
        <p:spPr>
          <a:xfrm>
            <a:off x="469289" y="4131783"/>
            <a:ext cx="1294622" cy="631772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Supply Chain Maturity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66DD385C-0E01-AA55-6ED4-672236BF9662}"/>
              </a:ext>
            </a:extLst>
          </p:cNvPr>
          <p:cNvSpPr txBox="1"/>
          <p:nvPr/>
        </p:nvSpPr>
        <p:spPr>
          <a:xfrm>
            <a:off x="476728" y="5292205"/>
            <a:ext cx="1294419" cy="631772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Maintainability</a:t>
            </a:r>
          </a:p>
        </p:txBody>
      </p:sp>
      <p:sp>
        <p:nvSpPr>
          <p:cNvPr id="109" name="等腰三角形 108">
            <a:extLst>
              <a:ext uri="{FF2B5EF4-FFF2-40B4-BE49-F238E27FC236}">
                <a16:creationId xmlns:a16="http://schemas.microsoft.com/office/drawing/2014/main" id="{437E2DC5-E7B4-80BB-9597-350F9CED3CF8}"/>
              </a:ext>
            </a:extLst>
          </p:cNvPr>
          <p:cNvSpPr/>
          <p:nvPr/>
        </p:nvSpPr>
        <p:spPr>
          <a:xfrm rot="10800000">
            <a:off x="8119165" y="2701147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0C47E4A4-9607-602E-3C1C-541B7E596E05}"/>
              </a:ext>
            </a:extLst>
          </p:cNvPr>
          <p:cNvSpPr txBox="1"/>
          <p:nvPr/>
        </p:nvSpPr>
        <p:spPr>
          <a:xfrm>
            <a:off x="2035857" y="3102414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8-10x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of PO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2.5D/3D 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packaging brings low yield.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51D1C203-1125-2AA5-1AC7-D73676314360}"/>
              </a:ext>
            </a:extLst>
          </p:cNvPr>
          <p:cNvSpPr txBox="1"/>
          <p:nvPr/>
        </p:nvSpPr>
        <p:spPr>
          <a:xfrm>
            <a:off x="6627543" y="3102414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4-5x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of PO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Based on 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PCB &amp; IC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packaging.</a:t>
            </a: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85A41CB6-4DFB-BA90-BF54-FBC76492E79F}"/>
              </a:ext>
            </a:extLst>
          </p:cNvPr>
          <p:cNvSpPr txBox="1"/>
          <p:nvPr/>
        </p:nvSpPr>
        <p:spPr>
          <a:xfrm>
            <a:off x="2357733" y="4183570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Low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9E632BB8-8143-3362-A091-86B3553CFF65}"/>
              </a:ext>
            </a:extLst>
          </p:cNvPr>
          <p:cNvSpPr txBox="1"/>
          <p:nvPr/>
        </p:nvSpPr>
        <p:spPr>
          <a:xfrm>
            <a:off x="2024583" y="4538717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Supply Chain Realignment: 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Deep collaboration 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required.​</a:t>
            </a:r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70234AB7-CD92-0D13-78C2-4CDA7C495509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014538" y="4213225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33" name="弧形 1032">
            <a:extLst>
              <a:ext uri="{FF2B5EF4-FFF2-40B4-BE49-F238E27FC236}">
                <a16:creationId xmlns:a16="http://schemas.microsoft.com/office/drawing/2014/main" id="{4E8F1CB0-63B1-9080-B662-650B37EEA9AA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2014538" y="4213225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5" name="文本框 1024">
            <a:extLst>
              <a:ext uri="{FF2B5EF4-FFF2-40B4-BE49-F238E27FC236}">
                <a16:creationId xmlns:a16="http://schemas.microsoft.com/office/drawing/2014/main" id="{E47D282C-CECD-4D00-1973-3C1458AFE097}"/>
              </a:ext>
            </a:extLst>
          </p:cNvPr>
          <p:cNvSpPr txBox="1"/>
          <p:nvPr/>
        </p:nvSpPr>
        <p:spPr>
          <a:xfrm>
            <a:off x="6949850" y="4177960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High</a:t>
            </a:r>
          </a:p>
        </p:txBody>
      </p:sp>
      <p:sp>
        <p:nvSpPr>
          <p:cNvPr id="1026" name="文本框 1025">
            <a:extLst>
              <a:ext uri="{FF2B5EF4-FFF2-40B4-BE49-F238E27FC236}">
                <a16:creationId xmlns:a16="http://schemas.microsoft.com/office/drawing/2014/main" id="{B0352FA0-469B-6339-190D-4E43731B0951}"/>
              </a:ext>
            </a:extLst>
          </p:cNvPr>
          <p:cNvSpPr txBox="1"/>
          <p:nvPr/>
        </p:nvSpPr>
        <p:spPr>
          <a:xfrm>
            <a:off x="6616700" y="4533107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Co-design &amp; maintains the 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current industry structure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1027" name="椭圆 1026">
            <a:extLst>
              <a:ext uri="{FF2B5EF4-FFF2-40B4-BE49-F238E27FC236}">
                <a16:creationId xmlns:a16="http://schemas.microsoft.com/office/drawing/2014/main" id="{401F36A6-B1A0-D739-3D8A-0CE48528D4AC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637338" y="420370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28" name="弧形 1027">
            <a:extLst>
              <a:ext uri="{FF2B5EF4-FFF2-40B4-BE49-F238E27FC236}">
                <a16:creationId xmlns:a16="http://schemas.microsoft.com/office/drawing/2014/main" id="{D16FB5A9-0D41-4848-E607-F63ACF61E518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6637338" y="4203700"/>
            <a:ext cx="187324" cy="187324"/>
          </a:xfrm>
          <a:prstGeom prst="arc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0" name="文本框 1029">
            <a:extLst>
              <a:ext uri="{FF2B5EF4-FFF2-40B4-BE49-F238E27FC236}">
                <a16:creationId xmlns:a16="http://schemas.microsoft.com/office/drawing/2014/main" id="{6856E800-E43B-D706-1314-D4368207C57C}"/>
              </a:ext>
            </a:extLst>
          </p:cNvPr>
          <p:cNvSpPr txBox="1"/>
          <p:nvPr/>
        </p:nvSpPr>
        <p:spPr>
          <a:xfrm>
            <a:off x="2369007" y="5335051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Low</a:t>
            </a:r>
          </a:p>
        </p:txBody>
      </p:sp>
      <p:sp>
        <p:nvSpPr>
          <p:cNvPr id="1031" name="文本框 1030">
            <a:extLst>
              <a:ext uri="{FF2B5EF4-FFF2-40B4-BE49-F238E27FC236}">
                <a16:creationId xmlns:a16="http://schemas.microsoft.com/office/drawing/2014/main" id="{DA613A83-A4A7-BBB6-5C4D-DCE2F4A438C9}"/>
              </a:ext>
            </a:extLst>
          </p:cNvPr>
          <p:cNvSpPr txBox="1"/>
          <p:nvPr/>
        </p:nvSpPr>
        <p:spPr>
          <a:xfrm>
            <a:off x="2035857" y="5690198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Full board 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(including ASIC) replacement.</a:t>
            </a:r>
          </a:p>
        </p:txBody>
      </p:sp>
      <p:sp>
        <p:nvSpPr>
          <p:cNvPr id="1035" name="椭圆 1034">
            <a:extLst>
              <a:ext uri="{FF2B5EF4-FFF2-40B4-BE49-F238E27FC236}">
                <a16:creationId xmlns:a16="http://schemas.microsoft.com/office/drawing/2014/main" id="{C1877431-EB48-C57A-D6EE-2212F183CCB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2012950" y="53673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37" name="弧形 1036">
            <a:extLst>
              <a:ext uri="{FF2B5EF4-FFF2-40B4-BE49-F238E27FC236}">
                <a16:creationId xmlns:a16="http://schemas.microsoft.com/office/drawing/2014/main" id="{57383745-DE2E-9F8E-FD26-A2D36D26AE15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2012950" y="5367338"/>
            <a:ext cx="187325" cy="187325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9" name="文本框 1038">
            <a:extLst>
              <a:ext uri="{FF2B5EF4-FFF2-40B4-BE49-F238E27FC236}">
                <a16:creationId xmlns:a16="http://schemas.microsoft.com/office/drawing/2014/main" id="{799882CD-BB06-FD0A-9DE6-FF9C959FD5FC}"/>
              </a:ext>
            </a:extLst>
          </p:cNvPr>
          <p:cNvSpPr txBox="1"/>
          <p:nvPr/>
        </p:nvSpPr>
        <p:spPr>
          <a:xfrm>
            <a:off x="6949850" y="5335051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Medium</a:t>
            </a:r>
          </a:p>
        </p:txBody>
      </p:sp>
      <p:sp>
        <p:nvSpPr>
          <p:cNvPr id="1041" name="文本框 1040">
            <a:extLst>
              <a:ext uri="{FF2B5EF4-FFF2-40B4-BE49-F238E27FC236}">
                <a16:creationId xmlns:a16="http://schemas.microsoft.com/office/drawing/2014/main" id="{48365BCE-6D88-161C-10F5-150145E5E595}"/>
              </a:ext>
            </a:extLst>
          </p:cNvPr>
          <p:cNvSpPr txBox="1"/>
          <p:nvPr/>
        </p:nvSpPr>
        <p:spPr>
          <a:xfrm>
            <a:off x="6616700" y="5690198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OE and ASIC 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separate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replacement.</a:t>
            </a:r>
          </a:p>
        </p:txBody>
      </p:sp>
      <p:sp>
        <p:nvSpPr>
          <p:cNvPr id="1043" name="椭圆 1042">
            <a:extLst>
              <a:ext uri="{FF2B5EF4-FFF2-40B4-BE49-F238E27FC236}">
                <a16:creationId xmlns:a16="http://schemas.microsoft.com/office/drawing/2014/main" id="{F1448868-B858-BC2D-F156-2028A5BFBA75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6637338" y="53673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44" name="弧形 1043">
            <a:extLst>
              <a:ext uri="{FF2B5EF4-FFF2-40B4-BE49-F238E27FC236}">
                <a16:creationId xmlns:a16="http://schemas.microsoft.com/office/drawing/2014/main" id="{AF300494-2EDD-B692-489A-AB9D228A6F8D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6637338" y="5367338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346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640E1-E544-342B-A526-CB3088141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036F0F49-9FAB-C5EE-E100-8B057D58669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23144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6425B-D7C9-EE32-8B7E-F896A973C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7B622327-C610-ACB2-C11D-8032C1D43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378" y="160493"/>
            <a:ext cx="10030697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NPO deployed first in IDCs; CPO as the endgame for aggressive giants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34429349-E311-207A-02F7-77C94D8F5E70}"/>
              </a:ext>
            </a:extLst>
          </p:cNvPr>
          <p:cNvSpPr txBox="1"/>
          <p:nvPr/>
        </p:nvSpPr>
        <p:spPr>
          <a:xfrm>
            <a:off x="364253" y="6455554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 Alibaba Cloud,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Guangfa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Security,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ServeTheHome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Yole.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FCC64C4E-A0E6-DD86-9F2F-D8DFC42E585C}"/>
              </a:ext>
            </a:extLst>
          </p:cNvPr>
          <p:cNvSpPr/>
          <p:nvPr/>
        </p:nvSpPr>
        <p:spPr>
          <a:xfrm>
            <a:off x="3879892" y="1473271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400G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E5AD29B7-8E70-B14A-EBC4-F6A474B72819}"/>
              </a:ext>
            </a:extLst>
          </p:cNvPr>
          <p:cNvSpPr/>
          <p:nvPr/>
        </p:nvSpPr>
        <p:spPr>
          <a:xfrm>
            <a:off x="8822782" y="1473271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3.2T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E0257DA0-AAA5-E007-CA8D-169D416F566B}"/>
              </a:ext>
            </a:extLst>
          </p:cNvPr>
          <p:cNvSpPr/>
          <p:nvPr/>
        </p:nvSpPr>
        <p:spPr>
          <a:xfrm>
            <a:off x="636354" y="1742810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</a:rPr>
              <a:t>PO</a:t>
            </a:r>
            <a:endParaRPr lang="zh-CN" altLang="en-US" sz="16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AE7A86A6-0FFA-F6A0-C779-468A14E0A42F}"/>
              </a:ext>
            </a:extLst>
          </p:cNvPr>
          <p:cNvSpPr/>
          <p:nvPr/>
        </p:nvSpPr>
        <p:spPr>
          <a:xfrm>
            <a:off x="600243" y="3701457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</a:rPr>
              <a:t>NPO</a:t>
            </a:r>
            <a:endParaRPr lang="zh-CN" altLang="en-US" sz="16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24" name="矩形 1023">
            <a:extLst>
              <a:ext uri="{FF2B5EF4-FFF2-40B4-BE49-F238E27FC236}">
                <a16:creationId xmlns:a16="http://schemas.microsoft.com/office/drawing/2014/main" id="{FCE4767A-1B33-73F9-DE88-463C175E9E37}"/>
              </a:ext>
            </a:extLst>
          </p:cNvPr>
          <p:cNvSpPr/>
          <p:nvPr/>
        </p:nvSpPr>
        <p:spPr>
          <a:xfrm>
            <a:off x="628403" y="5404247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</a:rPr>
              <a:t>CPO</a:t>
            </a:r>
            <a:endParaRPr lang="zh-CN" altLang="en-US" sz="16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25" name="矩形 1024">
            <a:extLst>
              <a:ext uri="{FF2B5EF4-FFF2-40B4-BE49-F238E27FC236}">
                <a16:creationId xmlns:a16="http://schemas.microsoft.com/office/drawing/2014/main" id="{F8E96B75-D0C9-F98D-D496-BBBCB7AB362D}"/>
              </a:ext>
            </a:extLst>
          </p:cNvPr>
          <p:cNvSpPr/>
          <p:nvPr/>
        </p:nvSpPr>
        <p:spPr>
          <a:xfrm>
            <a:off x="6346346" y="1473271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800G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27" name="矩形 1026">
            <a:extLst>
              <a:ext uri="{FF2B5EF4-FFF2-40B4-BE49-F238E27FC236}">
                <a16:creationId xmlns:a16="http://schemas.microsoft.com/office/drawing/2014/main" id="{F04E27EF-80A6-31F2-9AF2-A0D6E48206AD}"/>
              </a:ext>
            </a:extLst>
          </p:cNvPr>
          <p:cNvSpPr/>
          <p:nvPr/>
        </p:nvSpPr>
        <p:spPr>
          <a:xfrm>
            <a:off x="7564811" y="1473271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1.6T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FC08ED15-8090-62F0-D83D-9A566157EC48}"/>
              </a:ext>
            </a:extLst>
          </p:cNvPr>
          <p:cNvSpPr txBox="1"/>
          <p:nvPr/>
        </p:nvSpPr>
        <p:spPr>
          <a:xfrm>
            <a:off x="1424250" y="89674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2021</a:t>
            </a:r>
            <a:endParaRPr lang="zh-CN" altLang="en-US" dirty="0"/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E7CECB11-EAB4-D4F1-A4D7-ADAC90579D30}"/>
              </a:ext>
            </a:extLst>
          </p:cNvPr>
          <p:cNvSpPr txBox="1"/>
          <p:nvPr/>
        </p:nvSpPr>
        <p:spPr>
          <a:xfrm>
            <a:off x="3888518" y="89674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2023</a:t>
            </a:r>
            <a:endParaRPr lang="zh-CN" altLang="en-US" dirty="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171BAABB-AE66-6A4D-FF9B-9AAF146BE438}"/>
              </a:ext>
            </a:extLst>
          </p:cNvPr>
          <p:cNvSpPr txBox="1"/>
          <p:nvPr/>
        </p:nvSpPr>
        <p:spPr>
          <a:xfrm>
            <a:off x="6362447" y="89674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2025</a:t>
            </a:r>
            <a:endParaRPr lang="zh-CN" altLang="en-US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CB931E8E-A3AF-2B7D-D792-FD1BF58BE630}"/>
              </a:ext>
            </a:extLst>
          </p:cNvPr>
          <p:cNvSpPr txBox="1"/>
          <p:nvPr/>
        </p:nvSpPr>
        <p:spPr>
          <a:xfrm>
            <a:off x="8817056" y="89674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2027</a:t>
            </a:r>
            <a:endParaRPr lang="zh-CN" altLang="en-US" dirty="0"/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DC225C8A-D510-9B71-93EB-C36E49BB0E1C}"/>
              </a:ext>
            </a:extLst>
          </p:cNvPr>
          <p:cNvSpPr/>
          <p:nvPr/>
        </p:nvSpPr>
        <p:spPr>
          <a:xfrm>
            <a:off x="7061302" y="3279044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3.2T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496DBE60-D9BE-C995-3B44-BE500107B923}"/>
              </a:ext>
            </a:extLst>
          </p:cNvPr>
          <p:cNvSpPr/>
          <p:nvPr/>
        </p:nvSpPr>
        <p:spPr>
          <a:xfrm>
            <a:off x="8272818" y="3279044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6.4T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4316EB98-C0CE-A313-3EE2-E286C5E57C1A}"/>
              </a:ext>
            </a:extLst>
          </p:cNvPr>
          <p:cNvSpPr/>
          <p:nvPr/>
        </p:nvSpPr>
        <p:spPr>
          <a:xfrm>
            <a:off x="3845558" y="5058143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51.2T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DA8976A9-1108-33B0-38B8-B87CABD5CF77}"/>
              </a:ext>
            </a:extLst>
          </p:cNvPr>
          <p:cNvSpPr/>
          <p:nvPr/>
        </p:nvSpPr>
        <p:spPr>
          <a:xfrm>
            <a:off x="6266652" y="5058143"/>
            <a:ext cx="919720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102.4T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94C09CA8-D743-F664-35A2-B2F113C3D22B}"/>
              </a:ext>
            </a:extLst>
          </p:cNvPr>
          <p:cNvSpPr/>
          <p:nvPr/>
        </p:nvSpPr>
        <p:spPr>
          <a:xfrm>
            <a:off x="1406422" y="1473271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200G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CC5D96FD-89B2-3794-D876-A3DD01577B04}"/>
              </a:ext>
            </a:extLst>
          </p:cNvPr>
          <p:cNvSpPr/>
          <p:nvPr/>
        </p:nvSpPr>
        <p:spPr>
          <a:xfrm>
            <a:off x="2647547" y="5058143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25.6T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3ED8E2B2-0CE5-69CE-66AF-D7957D0A54BD}"/>
              </a:ext>
            </a:extLst>
          </p:cNvPr>
          <p:cNvSpPr txBox="1"/>
          <p:nvPr/>
        </p:nvSpPr>
        <p:spPr>
          <a:xfrm>
            <a:off x="9964844" y="896001"/>
            <a:ext cx="889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Future</a:t>
            </a:r>
            <a:endParaRPr lang="zh-CN" altLang="en-US" dirty="0"/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DD3B8617-0B13-EDF9-A9C1-823B0FF4F4A8}"/>
              </a:ext>
            </a:extLst>
          </p:cNvPr>
          <p:cNvSpPr txBox="1"/>
          <p:nvPr/>
        </p:nvSpPr>
        <p:spPr>
          <a:xfrm>
            <a:off x="7584920" y="89674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2026</a:t>
            </a:r>
            <a:endParaRPr lang="zh-CN" altLang="en-US" dirty="0"/>
          </a:p>
        </p:txBody>
      </p:sp>
      <p:sp>
        <p:nvSpPr>
          <p:cNvPr id="207" name="文本框 206">
            <a:extLst>
              <a:ext uri="{FF2B5EF4-FFF2-40B4-BE49-F238E27FC236}">
                <a16:creationId xmlns:a16="http://schemas.microsoft.com/office/drawing/2014/main" id="{E28C7B98-145C-983D-E900-8E6E3D640357}"/>
              </a:ext>
            </a:extLst>
          </p:cNvPr>
          <p:cNvSpPr txBox="1"/>
          <p:nvPr/>
        </p:nvSpPr>
        <p:spPr>
          <a:xfrm>
            <a:off x="5120652" y="89674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2024</a:t>
            </a:r>
            <a:endParaRPr lang="zh-CN" altLang="en-US" dirty="0"/>
          </a:p>
        </p:txBody>
      </p:sp>
      <p:sp>
        <p:nvSpPr>
          <p:cNvPr id="210" name="文本框 209">
            <a:extLst>
              <a:ext uri="{FF2B5EF4-FFF2-40B4-BE49-F238E27FC236}">
                <a16:creationId xmlns:a16="http://schemas.microsoft.com/office/drawing/2014/main" id="{4C816922-BC40-E591-E08B-EBA7F3B601A2}"/>
              </a:ext>
            </a:extLst>
          </p:cNvPr>
          <p:cNvSpPr txBox="1"/>
          <p:nvPr/>
        </p:nvSpPr>
        <p:spPr>
          <a:xfrm>
            <a:off x="2656384" y="89674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2022</a:t>
            </a:r>
            <a:endParaRPr lang="zh-CN" altLang="en-US" dirty="0"/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25BE418D-AD87-6363-D6B1-2FD4AA1F37A8}"/>
              </a:ext>
            </a:extLst>
          </p:cNvPr>
          <p:cNvSpPr/>
          <p:nvPr/>
        </p:nvSpPr>
        <p:spPr>
          <a:xfrm>
            <a:off x="2156995" y="3875857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400G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F04F6F12-1612-41E7-D167-9382971BFC7B}"/>
              </a:ext>
            </a:extLst>
          </p:cNvPr>
          <p:cNvSpPr/>
          <p:nvPr/>
        </p:nvSpPr>
        <p:spPr>
          <a:xfrm>
            <a:off x="8170775" y="5058143"/>
            <a:ext cx="919720" cy="364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204.8T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BA0B21B7-4179-6B3E-4D26-819D61DF9E25}"/>
              </a:ext>
            </a:extLst>
          </p:cNvPr>
          <p:cNvSpPr/>
          <p:nvPr/>
        </p:nvSpPr>
        <p:spPr>
          <a:xfrm>
            <a:off x="10022918" y="3279044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12.8T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B9140CE1-44BC-90E1-28F9-C8039348F128}"/>
              </a:ext>
            </a:extLst>
          </p:cNvPr>
          <p:cNvCxnSpPr>
            <a:cxnSpLocks/>
            <a:endCxn id="234" idx="12"/>
          </p:cNvCxnSpPr>
          <p:nvPr/>
        </p:nvCxnSpPr>
        <p:spPr>
          <a:xfrm flipV="1">
            <a:off x="1115153" y="1923374"/>
            <a:ext cx="7989263" cy="6547"/>
          </a:xfrm>
          <a:prstGeom prst="line">
            <a:avLst/>
          </a:prstGeom>
          <a:ln>
            <a:solidFill>
              <a:srgbClr val="E94D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iconfont-1018-792472">
            <a:extLst>
              <a:ext uri="{FF2B5EF4-FFF2-40B4-BE49-F238E27FC236}">
                <a16:creationId xmlns:a16="http://schemas.microsoft.com/office/drawing/2014/main" id="{CD4B04F7-8ACA-F360-705F-EE66A0E60DE0}"/>
              </a:ext>
            </a:extLst>
          </p:cNvPr>
          <p:cNvSpPr/>
          <p:nvPr/>
        </p:nvSpPr>
        <p:spPr>
          <a:xfrm>
            <a:off x="1679633" y="1820482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E94D12"/>
          </a:solidFill>
          <a:ln>
            <a:solidFill>
              <a:srgbClr val="E94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iconfont-1018-792472">
            <a:extLst>
              <a:ext uri="{FF2B5EF4-FFF2-40B4-BE49-F238E27FC236}">
                <a16:creationId xmlns:a16="http://schemas.microsoft.com/office/drawing/2014/main" id="{55A38308-015A-C91E-2929-BF8DBB02BE02}"/>
              </a:ext>
            </a:extLst>
          </p:cNvPr>
          <p:cNvSpPr/>
          <p:nvPr/>
        </p:nvSpPr>
        <p:spPr>
          <a:xfrm>
            <a:off x="4153102" y="1820482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E94D12"/>
          </a:solidFill>
          <a:ln>
            <a:solidFill>
              <a:srgbClr val="E94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iconfont-1018-792472">
            <a:extLst>
              <a:ext uri="{FF2B5EF4-FFF2-40B4-BE49-F238E27FC236}">
                <a16:creationId xmlns:a16="http://schemas.microsoft.com/office/drawing/2014/main" id="{352D3C95-1D4E-D1DA-67D0-03FA5B669FD4}"/>
              </a:ext>
            </a:extLst>
          </p:cNvPr>
          <p:cNvSpPr/>
          <p:nvPr/>
        </p:nvSpPr>
        <p:spPr>
          <a:xfrm>
            <a:off x="6619556" y="1820482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E94D12"/>
          </a:solidFill>
          <a:ln>
            <a:solidFill>
              <a:srgbClr val="E94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iconfont-1018-792472">
            <a:extLst>
              <a:ext uri="{FF2B5EF4-FFF2-40B4-BE49-F238E27FC236}">
                <a16:creationId xmlns:a16="http://schemas.microsoft.com/office/drawing/2014/main" id="{D7509375-AD24-AB96-0480-71EA5817F9E3}"/>
              </a:ext>
            </a:extLst>
          </p:cNvPr>
          <p:cNvSpPr/>
          <p:nvPr/>
        </p:nvSpPr>
        <p:spPr>
          <a:xfrm>
            <a:off x="9095992" y="1820482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E94D12"/>
          </a:solidFill>
          <a:ln>
            <a:solidFill>
              <a:srgbClr val="E94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iconfont-1018-792472">
            <a:extLst>
              <a:ext uri="{FF2B5EF4-FFF2-40B4-BE49-F238E27FC236}">
                <a16:creationId xmlns:a16="http://schemas.microsoft.com/office/drawing/2014/main" id="{31BC23AF-1B33-5C96-C220-F38D9D4CA72A}"/>
              </a:ext>
            </a:extLst>
          </p:cNvPr>
          <p:cNvSpPr/>
          <p:nvPr/>
        </p:nvSpPr>
        <p:spPr>
          <a:xfrm>
            <a:off x="7841743" y="1820482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E94D12"/>
          </a:solidFill>
          <a:ln>
            <a:solidFill>
              <a:srgbClr val="E94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iconfont-1018-792472">
            <a:extLst>
              <a:ext uri="{FF2B5EF4-FFF2-40B4-BE49-F238E27FC236}">
                <a16:creationId xmlns:a16="http://schemas.microsoft.com/office/drawing/2014/main" id="{AC205E22-63DC-C616-87AB-2DEA8BBF55EC}"/>
              </a:ext>
            </a:extLst>
          </p:cNvPr>
          <p:cNvSpPr/>
          <p:nvPr/>
        </p:nvSpPr>
        <p:spPr>
          <a:xfrm>
            <a:off x="7324631" y="367814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E94D12"/>
          </a:solidFill>
          <a:ln>
            <a:solidFill>
              <a:srgbClr val="E94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iconfont-1018-792472">
            <a:extLst>
              <a:ext uri="{FF2B5EF4-FFF2-40B4-BE49-F238E27FC236}">
                <a16:creationId xmlns:a16="http://schemas.microsoft.com/office/drawing/2014/main" id="{82C5B57D-F038-BECE-1165-773DA379D8F3}"/>
              </a:ext>
            </a:extLst>
          </p:cNvPr>
          <p:cNvSpPr/>
          <p:nvPr/>
        </p:nvSpPr>
        <p:spPr>
          <a:xfrm>
            <a:off x="8546028" y="367814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E94D12"/>
          </a:solidFill>
          <a:ln>
            <a:solidFill>
              <a:srgbClr val="E94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iconfont-1018-792472">
            <a:extLst>
              <a:ext uri="{FF2B5EF4-FFF2-40B4-BE49-F238E27FC236}">
                <a16:creationId xmlns:a16="http://schemas.microsoft.com/office/drawing/2014/main" id="{6ED6CA94-5527-E74F-6945-FC1B1826C905}"/>
              </a:ext>
            </a:extLst>
          </p:cNvPr>
          <p:cNvSpPr/>
          <p:nvPr/>
        </p:nvSpPr>
        <p:spPr>
          <a:xfrm>
            <a:off x="2931693" y="3944115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iconfont-1018-792472">
            <a:extLst>
              <a:ext uri="{FF2B5EF4-FFF2-40B4-BE49-F238E27FC236}">
                <a16:creationId xmlns:a16="http://schemas.microsoft.com/office/drawing/2014/main" id="{2C8633A8-C81E-E797-D4A8-F2EAD1F702E6}"/>
              </a:ext>
            </a:extLst>
          </p:cNvPr>
          <p:cNvSpPr/>
          <p:nvPr/>
        </p:nvSpPr>
        <p:spPr>
          <a:xfrm>
            <a:off x="10286247" y="367814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E94D12"/>
          </a:solidFill>
          <a:ln>
            <a:solidFill>
              <a:srgbClr val="E94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6" name="直接箭头连接符 245">
            <a:extLst>
              <a:ext uri="{FF2B5EF4-FFF2-40B4-BE49-F238E27FC236}">
                <a16:creationId xmlns:a16="http://schemas.microsoft.com/office/drawing/2014/main" id="{67902325-E9AA-9A78-D929-3BA20FBC29E8}"/>
              </a:ext>
            </a:extLst>
          </p:cNvPr>
          <p:cNvCxnSpPr>
            <a:cxnSpLocks/>
            <a:stCxn id="238" idx="3"/>
          </p:cNvCxnSpPr>
          <p:nvPr/>
        </p:nvCxnSpPr>
        <p:spPr>
          <a:xfrm>
            <a:off x="7530414" y="3781040"/>
            <a:ext cx="3569386" cy="0"/>
          </a:xfrm>
          <a:prstGeom prst="straightConnector1">
            <a:avLst/>
          </a:prstGeom>
          <a:ln w="9525">
            <a:solidFill>
              <a:srgbClr val="E94D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iconfont-1018-792472">
            <a:extLst>
              <a:ext uri="{FF2B5EF4-FFF2-40B4-BE49-F238E27FC236}">
                <a16:creationId xmlns:a16="http://schemas.microsoft.com/office/drawing/2014/main" id="{464CD2D3-956E-134F-E4F3-21697837F126}"/>
              </a:ext>
            </a:extLst>
          </p:cNvPr>
          <p:cNvSpPr/>
          <p:nvPr/>
        </p:nvSpPr>
        <p:spPr>
          <a:xfrm>
            <a:off x="6618511" y="5483830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iconfont-1018-792472">
            <a:extLst>
              <a:ext uri="{FF2B5EF4-FFF2-40B4-BE49-F238E27FC236}">
                <a16:creationId xmlns:a16="http://schemas.microsoft.com/office/drawing/2014/main" id="{DF76FC0A-39D0-4777-7942-1B8588B80BF2}"/>
              </a:ext>
            </a:extLst>
          </p:cNvPr>
          <p:cNvSpPr/>
          <p:nvPr/>
        </p:nvSpPr>
        <p:spPr>
          <a:xfrm>
            <a:off x="8546028" y="5483830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iconfont-1018-792472">
            <a:extLst>
              <a:ext uri="{FF2B5EF4-FFF2-40B4-BE49-F238E27FC236}">
                <a16:creationId xmlns:a16="http://schemas.microsoft.com/office/drawing/2014/main" id="{750E1ABC-EEEF-7A71-118B-8423DE6118AA}"/>
              </a:ext>
            </a:extLst>
          </p:cNvPr>
          <p:cNvSpPr/>
          <p:nvPr/>
        </p:nvSpPr>
        <p:spPr>
          <a:xfrm>
            <a:off x="10286247" y="5483830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iconfont-1018-792472">
            <a:extLst>
              <a:ext uri="{FF2B5EF4-FFF2-40B4-BE49-F238E27FC236}">
                <a16:creationId xmlns:a16="http://schemas.microsoft.com/office/drawing/2014/main" id="{C72306BB-6BA9-9570-E6DB-677E3502E2D2}"/>
              </a:ext>
            </a:extLst>
          </p:cNvPr>
          <p:cNvSpPr/>
          <p:nvPr/>
        </p:nvSpPr>
        <p:spPr>
          <a:xfrm>
            <a:off x="4128901" y="5483830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iconfont-1018-792472">
            <a:extLst>
              <a:ext uri="{FF2B5EF4-FFF2-40B4-BE49-F238E27FC236}">
                <a16:creationId xmlns:a16="http://schemas.microsoft.com/office/drawing/2014/main" id="{31AC85FB-AEA5-3072-65C5-9E1EB24CD3A8}"/>
              </a:ext>
            </a:extLst>
          </p:cNvPr>
          <p:cNvSpPr/>
          <p:nvPr/>
        </p:nvSpPr>
        <p:spPr>
          <a:xfrm>
            <a:off x="2896557" y="5483830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95" name="直接连接符 1094">
            <a:extLst>
              <a:ext uri="{FF2B5EF4-FFF2-40B4-BE49-F238E27FC236}">
                <a16:creationId xmlns:a16="http://schemas.microsoft.com/office/drawing/2014/main" id="{E7DD9156-855A-D353-002E-34F52E93F72B}"/>
              </a:ext>
            </a:extLst>
          </p:cNvPr>
          <p:cNvCxnSpPr>
            <a:cxnSpLocks/>
          </p:cNvCxnSpPr>
          <p:nvPr/>
        </p:nvCxnSpPr>
        <p:spPr>
          <a:xfrm>
            <a:off x="1115153" y="1336805"/>
            <a:ext cx="9984647" cy="0"/>
          </a:xfrm>
          <a:prstGeom prst="line">
            <a:avLst/>
          </a:prstGeom>
          <a:ln>
            <a:solidFill>
              <a:schemeClr val="accent6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7" name="任意多边形: 形状 1096">
            <a:extLst>
              <a:ext uri="{FF2B5EF4-FFF2-40B4-BE49-F238E27FC236}">
                <a16:creationId xmlns:a16="http://schemas.microsoft.com/office/drawing/2014/main" id="{9720371E-C2AF-C325-B1FD-0FA143C5A7A0}"/>
              </a:ext>
            </a:extLst>
          </p:cNvPr>
          <p:cNvSpPr/>
          <p:nvPr/>
        </p:nvSpPr>
        <p:spPr>
          <a:xfrm flipV="1">
            <a:off x="5810715" y="1925502"/>
            <a:ext cx="1522166" cy="1802780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E94D1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1" name="矩形 1100">
            <a:extLst>
              <a:ext uri="{FF2B5EF4-FFF2-40B4-BE49-F238E27FC236}">
                <a16:creationId xmlns:a16="http://schemas.microsoft.com/office/drawing/2014/main" id="{84CF0086-2CF3-4661-BDAE-97F8471B9A47}"/>
              </a:ext>
            </a:extLst>
          </p:cNvPr>
          <p:cNvSpPr/>
          <p:nvPr/>
        </p:nvSpPr>
        <p:spPr>
          <a:xfrm>
            <a:off x="9929278" y="5041809"/>
            <a:ext cx="919720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409.6T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cxnSp>
        <p:nvCxnSpPr>
          <p:cNvPr id="1102" name="直接箭头连接符 1101">
            <a:extLst>
              <a:ext uri="{FF2B5EF4-FFF2-40B4-BE49-F238E27FC236}">
                <a16:creationId xmlns:a16="http://schemas.microsoft.com/office/drawing/2014/main" id="{7863259A-AC8E-3E4F-363B-14D88E98164B}"/>
              </a:ext>
            </a:extLst>
          </p:cNvPr>
          <p:cNvCxnSpPr>
            <a:cxnSpLocks/>
          </p:cNvCxnSpPr>
          <p:nvPr/>
        </p:nvCxnSpPr>
        <p:spPr>
          <a:xfrm>
            <a:off x="1238631" y="5583619"/>
            <a:ext cx="9861169" cy="0"/>
          </a:xfrm>
          <a:prstGeom prst="straightConnector1">
            <a:avLst/>
          </a:prstGeom>
          <a:ln w="9525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4" name="任意多边形: 形状 1103">
            <a:extLst>
              <a:ext uri="{FF2B5EF4-FFF2-40B4-BE49-F238E27FC236}">
                <a16:creationId xmlns:a16="http://schemas.microsoft.com/office/drawing/2014/main" id="{19B0AB06-0A84-EC50-6BE5-869095120002}"/>
              </a:ext>
            </a:extLst>
          </p:cNvPr>
          <p:cNvSpPr/>
          <p:nvPr/>
        </p:nvSpPr>
        <p:spPr>
          <a:xfrm>
            <a:off x="1878647" y="4112460"/>
            <a:ext cx="1074407" cy="1471158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0052D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6" name="任意多边形: 形状 1105">
            <a:extLst>
              <a:ext uri="{FF2B5EF4-FFF2-40B4-BE49-F238E27FC236}">
                <a16:creationId xmlns:a16="http://schemas.microsoft.com/office/drawing/2014/main" id="{79B62841-7785-6EC7-709E-6A9845F695FA}"/>
              </a:ext>
            </a:extLst>
          </p:cNvPr>
          <p:cNvSpPr/>
          <p:nvPr/>
        </p:nvSpPr>
        <p:spPr>
          <a:xfrm>
            <a:off x="6826315" y="4090835"/>
            <a:ext cx="525392" cy="1492783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0052D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7" name="iconfont-1018-792472">
            <a:extLst>
              <a:ext uri="{FF2B5EF4-FFF2-40B4-BE49-F238E27FC236}">
                <a16:creationId xmlns:a16="http://schemas.microsoft.com/office/drawing/2014/main" id="{74D4BFC6-7AE8-8B8C-7D91-E95DFE1332BC}"/>
              </a:ext>
            </a:extLst>
          </p:cNvPr>
          <p:cNvSpPr/>
          <p:nvPr/>
        </p:nvSpPr>
        <p:spPr>
          <a:xfrm>
            <a:off x="7323948" y="3939603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9" name="矩形 1108">
            <a:extLst>
              <a:ext uri="{FF2B5EF4-FFF2-40B4-BE49-F238E27FC236}">
                <a16:creationId xmlns:a16="http://schemas.microsoft.com/office/drawing/2014/main" id="{33C28C0F-1BEE-3684-C0B4-C981797FB09A}"/>
              </a:ext>
            </a:extLst>
          </p:cNvPr>
          <p:cNvSpPr/>
          <p:nvPr/>
        </p:nvSpPr>
        <p:spPr>
          <a:xfrm>
            <a:off x="6125769" y="3869548"/>
            <a:ext cx="1153872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800G/1.6T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cxnSp>
        <p:nvCxnSpPr>
          <p:cNvPr id="1110" name="直接连接符 1109">
            <a:extLst>
              <a:ext uri="{FF2B5EF4-FFF2-40B4-BE49-F238E27FC236}">
                <a16:creationId xmlns:a16="http://schemas.microsoft.com/office/drawing/2014/main" id="{AC442583-E0DD-9135-D2C9-7BDBC5C10B5A}"/>
              </a:ext>
            </a:extLst>
          </p:cNvPr>
          <p:cNvCxnSpPr>
            <a:cxnSpLocks/>
            <a:endCxn id="1114" idx="0"/>
          </p:cNvCxnSpPr>
          <p:nvPr/>
        </p:nvCxnSpPr>
        <p:spPr>
          <a:xfrm flipV="1">
            <a:off x="7529731" y="4049037"/>
            <a:ext cx="1730576" cy="4"/>
          </a:xfrm>
          <a:prstGeom prst="lin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4" name="任意多边形: 形状 1113">
            <a:extLst>
              <a:ext uri="{FF2B5EF4-FFF2-40B4-BE49-F238E27FC236}">
                <a16:creationId xmlns:a16="http://schemas.microsoft.com/office/drawing/2014/main" id="{F7C79248-532D-8889-375A-E3315E3D222D}"/>
              </a:ext>
            </a:extLst>
          </p:cNvPr>
          <p:cNvSpPr/>
          <p:nvPr/>
        </p:nvSpPr>
        <p:spPr>
          <a:xfrm flipV="1">
            <a:off x="9260307" y="4049037"/>
            <a:ext cx="1024508" cy="1534577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0052D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7" name="upper-right-arrow-black-symbol_39545">
            <a:extLst>
              <a:ext uri="{FF2B5EF4-FFF2-40B4-BE49-F238E27FC236}">
                <a16:creationId xmlns:a16="http://schemas.microsoft.com/office/drawing/2014/main" id="{9FD4765A-4DA9-6863-B444-B8759D91BF88}"/>
              </a:ext>
            </a:extLst>
          </p:cNvPr>
          <p:cNvSpPr/>
          <p:nvPr/>
        </p:nvSpPr>
        <p:spPr>
          <a:xfrm rot="2722466">
            <a:off x="2446503" y="5538657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" name="upper-right-arrow-black-symbol_39545">
            <a:extLst>
              <a:ext uri="{FF2B5EF4-FFF2-40B4-BE49-F238E27FC236}">
                <a16:creationId xmlns:a16="http://schemas.microsoft.com/office/drawing/2014/main" id="{6892A344-CC34-C156-8952-31EF47C3F7D2}"/>
              </a:ext>
            </a:extLst>
          </p:cNvPr>
          <p:cNvSpPr/>
          <p:nvPr/>
        </p:nvSpPr>
        <p:spPr>
          <a:xfrm rot="20255652">
            <a:off x="2481169" y="4677263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upper-right-arrow-black-symbol_39545">
            <a:extLst>
              <a:ext uri="{FF2B5EF4-FFF2-40B4-BE49-F238E27FC236}">
                <a16:creationId xmlns:a16="http://schemas.microsoft.com/office/drawing/2014/main" id="{7C0AE32C-13E4-698C-765C-434D7599EA07}"/>
              </a:ext>
            </a:extLst>
          </p:cNvPr>
          <p:cNvSpPr/>
          <p:nvPr/>
        </p:nvSpPr>
        <p:spPr>
          <a:xfrm rot="2722466">
            <a:off x="7088998" y="5546429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upper-right-arrow-black-symbol_39545">
            <a:extLst>
              <a:ext uri="{FF2B5EF4-FFF2-40B4-BE49-F238E27FC236}">
                <a16:creationId xmlns:a16="http://schemas.microsoft.com/office/drawing/2014/main" id="{6C2BB717-D6E7-E9CC-65EF-745A99EBE04C}"/>
              </a:ext>
            </a:extLst>
          </p:cNvPr>
          <p:cNvSpPr/>
          <p:nvPr/>
        </p:nvSpPr>
        <p:spPr>
          <a:xfrm rot="7156952">
            <a:off x="9769655" y="4677263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upper-right-arrow-black-symbol_39545">
            <a:extLst>
              <a:ext uri="{FF2B5EF4-FFF2-40B4-BE49-F238E27FC236}">
                <a16:creationId xmlns:a16="http://schemas.microsoft.com/office/drawing/2014/main" id="{09E7CDA3-908E-9906-5D4B-77C6A44DE405}"/>
              </a:ext>
            </a:extLst>
          </p:cNvPr>
          <p:cNvSpPr/>
          <p:nvPr/>
        </p:nvSpPr>
        <p:spPr>
          <a:xfrm rot="19393142">
            <a:off x="7098527" y="4677263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upper-right-arrow-black-symbol_39545">
            <a:extLst>
              <a:ext uri="{FF2B5EF4-FFF2-40B4-BE49-F238E27FC236}">
                <a16:creationId xmlns:a16="http://schemas.microsoft.com/office/drawing/2014/main" id="{AD4189DB-2BA4-3885-AE4A-8A1DC1C5C0C4}"/>
              </a:ext>
            </a:extLst>
          </p:cNvPr>
          <p:cNvSpPr/>
          <p:nvPr/>
        </p:nvSpPr>
        <p:spPr>
          <a:xfrm rot="2722466">
            <a:off x="6313010" y="1889882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E94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upper-right-arrow-black-symbol_39545">
            <a:extLst>
              <a:ext uri="{FF2B5EF4-FFF2-40B4-BE49-F238E27FC236}">
                <a16:creationId xmlns:a16="http://schemas.microsoft.com/office/drawing/2014/main" id="{EA9B3575-12CD-3C0C-EF1D-B46A90EA0D2A}"/>
              </a:ext>
            </a:extLst>
          </p:cNvPr>
          <p:cNvSpPr/>
          <p:nvPr/>
        </p:nvSpPr>
        <p:spPr>
          <a:xfrm rot="7000073">
            <a:off x="6633743" y="2829956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E94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upper-right-arrow-black-symbol_39545">
            <a:extLst>
              <a:ext uri="{FF2B5EF4-FFF2-40B4-BE49-F238E27FC236}">
                <a16:creationId xmlns:a16="http://schemas.microsoft.com/office/drawing/2014/main" id="{A8851DC4-5DFD-0CD5-54EF-049524FCBE28}"/>
              </a:ext>
            </a:extLst>
          </p:cNvPr>
          <p:cNvSpPr/>
          <p:nvPr/>
        </p:nvSpPr>
        <p:spPr>
          <a:xfrm rot="2789154">
            <a:off x="8016318" y="3741344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E94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任意多边形: 形状 1125">
            <a:extLst>
              <a:ext uri="{FF2B5EF4-FFF2-40B4-BE49-F238E27FC236}">
                <a16:creationId xmlns:a16="http://schemas.microsoft.com/office/drawing/2014/main" id="{8279A413-B057-179D-47A8-574F482AD9AF}"/>
              </a:ext>
            </a:extLst>
          </p:cNvPr>
          <p:cNvSpPr/>
          <p:nvPr/>
        </p:nvSpPr>
        <p:spPr>
          <a:xfrm flipV="1">
            <a:off x="8077840" y="3780834"/>
            <a:ext cx="525392" cy="1706437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E94D1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8" name="文本框 1127">
            <a:extLst>
              <a:ext uri="{FF2B5EF4-FFF2-40B4-BE49-F238E27FC236}">
                <a16:creationId xmlns:a16="http://schemas.microsoft.com/office/drawing/2014/main" id="{4BACA574-5586-ACEC-597F-7386D6A52F2F}"/>
              </a:ext>
            </a:extLst>
          </p:cNvPr>
          <p:cNvSpPr txBox="1"/>
          <p:nvPr/>
        </p:nvSpPr>
        <p:spPr>
          <a:xfrm>
            <a:off x="9440697" y="1792507"/>
            <a:ext cx="1688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Limits of PO reached</a:t>
            </a:r>
            <a:endParaRPr lang="zh-CN" altLang="en-US" sz="1200" dirty="0"/>
          </a:p>
        </p:txBody>
      </p:sp>
      <p:grpSp>
        <p:nvGrpSpPr>
          <p:cNvPr id="1137" name="组合 1136">
            <a:extLst>
              <a:ext uri="{FF2B5EF4-FFF2-40B4-BE49-F238E27FC236}">
                <a16:creationId xmlns:a16="http://schemas.microsoft.com/office/drawing/2014/main" id="{46200647-3C02-B7EC-548E-A0FEBEE83C64}"/>
              </a:ext>
            </a:extLst>
          </p:cNvPr>
          <p:cNvGrpSpPr/>
          <p:nvPr/>
        </p:nvGrpSpPr>
        <p:grpSpPr>
          <a:xfrm>
            <a:off x="364253" y="6113134"/>
            <a:ext cx="8044343" cy="423291"/>
            <a:chOff x="364253" y="5986134"/>
            <a:chExt cx="8044343" cy="423291"/>
          </a:xfrm>
        </p:grpSpPr>
        <p:cxnSp>
          <p:nvCxnSpPr>
            <p:cNvPr id="1129" name="直接连接符 1128">
              <a:extLst>
                <a:ext uri="{FF2B5EF4-FFF2-40B4-BE49-F238E27FC236}">
                  <a16:creationId xmlns:a16="http://schemas.microsoft.com/office/drawing/2014/main" id="{4EF83BB6-5B84-C903-F9FF-4A4928C8D3A9}"/>
                </a:ext>
              </a:extLst>
            </p:cNvPr>
            <p:cNvCxnSpPr>
              <a:cxnSpLocks/>
            </p:cNvCxnSpPr>
            <p:nvPr/>
          </p:nvCxnSpPr>
          <p:spPr>
            <a:xfrm>
              <a:off x="364253" y="6089026"/>
              <a:ext cx="543797" cy="0"/>
            </a:xfrm>
            <a:prstGeom prst="line">
              <a:avLst/>
            </a:prstGeom>
            <a:ln>
              <a:solidFill>
                <a:srgbClr val="E94D1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1" name="iconfont-1018-792472">
              <a:extLst>
                <a:ext uri="{FF2B5EF4-FFF2-40B4-BE49-F238E27FC236}">
                  <a16:creationId xmlns:a16="http://schemas.microsoft.com/office/drawing/2014/main" id="{52836F31-4B44-F778-CF60-A76C80924A4F}"/>
                </a:ext>
              </a:extLst>
            </p:cNvPr>
            <p:cNvSpPr/>
            <p:nvPr/>
          </p:nvSpPr>
          <p:spPr>
            <a:xfrm>
              <a:off x="533259" y="5986134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rgbClr val="E94D12"/>
            </a:solidFill>
            <a:ln>
              <a:solidFill>
                <a:srgbClr val="E94D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2" name="文本框 1131">
              <a:extLst>
                <a:ext uri="{FF2B5EF4-FFF2-40B4-BE49-F238E27FC236}">
                  <a16:creationId xmlns:a16="http://schemas.microsoft.com/office/drawing/2014/main" id="{A859F0F8-7B48-CA1C-C663-3FFE60B3E8D7}"/>
                </a:ext>
              </a:extLst>
            </p:cNvPr>
            <p:cNvSpPr txBox="1"/>
            <p:nvPr/>
          </p:nvSpPr>
          <p:spPr>
            <a:xfrm>
              <a:off x="1012455" y="5987150"/>
              <a:ext cx="7396141" cy="42227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2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Alibaba Cloud Data Center Deployment Roadmap</a:t>
              </a:r>
              <a:endPara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36" name="组合 1135">
            <a:extLst>
              <a:ext uri="{FF2B5EF4-FFF2-40B4-BE49-F238E27FC236}">
                <a16:creationId xmlns:a16="http://schemas.microsoft.com/office/drawing/2014/main" id="{0D36F2EA-9619-06BC-DD6C-93F2051E593F}"/>
              </a:ext>
            </a:extLst>
          </p:cNvPr>
          <p:cNvGrpSpPr/>
          <p:nvPr/>
        </p:nvGrpSpPr>
        <p:grpSpPr>
          <a:xfrm>
            <a:off x="4710525" y="6101004"/>
            <a:ext cx="8044343" cy="423291"/>
            <a:chOff x="364253" y="6278234"/>
            <a:chExt cx="8044343" cy="423291"/>
          </a:xfrm>
        </p:grpSpPr>
        <p:cxnSp>
          <p:nvCxnSpPr>
            <p:cNvPr id="1133" name="直接连接符 1132">
              <a:extLst>
                <a:ext uri="{FF2B5EF4-FFF2-40B4-BE49-F238E27FC236}">
                  <a16:creationId xmlns:a16="http://schemas.microsoft.com/office/drawing/2014/main" id="{8F2CD8FF-3E56-D94F-01F6-BAFBE4EFDCB4}"/>
                </a:ext>
              </a:extLst>
            </p:cNvPr>
            <p:cNvCxnSpPr>
              <a:cxnSpLocks/>
            </p:cNvCxnSpPr>
            <p:nvPr/>
          </p:nvCxnSpPr>
          <p:spPr>
            <a:xfrm>
              <a:off x="364253" y="6381126"/>
              <a:ext cx="543797" cy="0"/>
            </a:xfrm>
            <a:prstGeom prst="line">
              <a:avLst/>
            </a:prstGeom>
            <a:ln>
              <a:solidFill>
                <a:srgbClr val="0052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4" name="iconfont-1018-792472">
              <a:extLst>
                <a:ext uri="{FF2B5EF4-FFF2-40B4-BE49-F238E27FC236}">
                  <a16:creationId xmlns:a16="http://schemas.microsoft.com/office/drawing/2014/main" id="{D12499ED-70DA-701D-648D-05746E0FF638}"/>
                </a:ext>
              </a:extLst>
            </p:cNvPr>
            <p:cNvSpPr/>
            <p:nvPr/>
          </p:nvSpPr>
          <p:spPr>
            <a:xfrm>
              <a:off x="533259" y="6278234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5" name="文本框 1134">
              <a:extLst>
                <a:ext uri="{FF2B5EF4-FFF2-40B4-BE49-F238E27FC236}">
                  <a16:creationId xmlns:a16="http://schemas.microsoft.com/office/drawing/2014/main" id="{F2B68480-BAA6-8DB8-CEB5-620AD74803A9}"/>
                </a:ext>
              </a:extLst>
            </p:cNvPr>
            <p:cNvSpPr txBox="1"/>
            <p:nvPr/>
          </p:nvSpPr>
          <p:spPr>
            <a:xfrm>
              <a:off x="1012455" y="6279250"/>
              <a:ext cx="7396141" cy="42227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2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Broadcom Development Roadmap</a:t>
              </a:r>
              <a:endPara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156" name="文本框 1155">
            <a:extLst>
              <a:ext uri="{FF2B5EF4-FFF2-40B4-BE49-F238E27FC236}">
                <a16:creationId xmlns:a16="http://schemas.microsoft.com/office/drawing/2014/main" id="{FCCDCD9A-C9CE-5AFA-A006-3E4D9619A964}"/>
              </a:ext>
            </a:extLst>
          </p:cNvPr>
          <p:cNvSpPr txBox="1"/>
          <p:nvPr/>
        </p:nvSpPr>
        <p:spPr>
          <a:xfrm>
            <a:off x="429624" y="4434912"/>
            <a:ext cx="1953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200" dirty="0"/>
              <a:t>Proposed NPO to succeed CPO 1.0 </a:t>
            </a:r>
            <a:endParaRPr lang="zh-CN" altLang="en-US" sz="1200" dirty="0"/>
          </a:p>
        </p:txBody>
      </p:sp>
      <p:sp>
        <p:nvSpPr>
          <p:cNvPr id="1157" name="文本框 1156">
            <a:extLst>
              <a:ext uri="{FF2B5EF4-FFF2-40B4-BE49-F238E27FC236}">
                <a16:creationId xmlns:a16="http://schemas.microsoft.com/office/drawing/2014/main" id="{BC23DD94-C98F-2D70-A04A-A6245C056B16}"/>
              </a:ext>
            </a:extLst>
          </p:cNvPr>
          <p:cNvSpPr txBox="1"/>
          <p:nvPr/>
        </p:nvSpPr>
        <p:spPr>
          <a:xfrm>
            <a:off x="5539137" y="4434912"/>
            <a:ext cx="1522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200" dirty="0"/>
              <a:t>NPO advancement resumed</a:t>
            </a:r>
            <a:endParaRPr lang="zh-CN" altLang="en-US" sz="1200" dirty="0"/>
          </a:p>
        </p:txBody>
      </p:sp>
      <p:sp>
        <p:nvSpPr>
          <p:cNvPr id="1159" name="文本框 1158">
            <a:extLst>
              <a:ext uri="{FF2B5EF4-FFF2-40B4-BE49-F238E27FC236}">
                <a16:creationId xmlns:a16="http://schemas.microsoft.com/office/drawing/2014/main" id="{F2CD0610-4C42-282E-B9CF-4FBE7FEF7D59}"/>
              </a:ext>
            </a:extLst>
          </p:cNvPr>
          <p:cNvSpPr txBox="1"/>
          <p:nvPr/>
        </p:nvSpPr>
        <p:spPr>
          <a:xfrm>
            <a:off x="9879906" y="4434912"/>
            <a:ext cx="1616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NPO replaced by CPO around 2028</a:t>
            </a:r>
            <a:endParaRPr lang="zh-CN" altLang="en-US" sz="1200" dirty="0"/>
          </a:p>
        </p:txBody>
      </p:sp>
      <p:sp>
        <p:nvSpPr>
          <p:cNvPr id="1164" name="文本框 1163">
            <a:extLst>
              <a:ext uri="{FF2B5EF4-FFF2-40B4-BE49-F238E27FC236}">
                <a16:creationId xmlns:a16="http://schemas.microsoft.com/office/drawing/2014/main" id="{0577E821-FEBC-40A1-B5B8-C6607809C66B}"/>
              </a:ext>
            </a:extLst>
          </p:cNvPr>
          <p:cNvSpPr txBox="1"/>
          <p:nvPr/>
        </p:nvSpPr>
        <p:spPr>
          <a:xfrm>
            <a:off x="3177152" y="3903994"/>
            <a:ext cx="1522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NPO postponed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87696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861716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11AF1C5-56F9-9940-02AA-B60CF2F35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IDC interconnect by distance: scale-up vs. scale-out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3231015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933356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796816"/>
            <a:ext cx="396001" cy="144021"/>
          </a:xfrm>
          <a:prstGeom prst="triangle">
            <a:avLst/>
          </a:prstGeom>
          <a:solidFill>
            <a:schemeClr val="accent6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29460" y="2387186"/>
            <a:ext cx="3255009" cy="328255"/>
            <a:chOff x="1136493" y="2708586"/>
            <a:chExt cx="3255009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504808" y="2708586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36493" y="2876386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359778"/>
            <a:ext cx="2938500" cy="656510"/>
            <a:chOff x="944683" y="5429516"/>
            <a:chExt cx="2938500" cy="656510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29516"/>
              <a:ext cx="2938500" cy="328255"/>
              <a:chOff x="1177467" y="2692083"/>
              <a:chExt cx="2938500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566527" y="2692083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540807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Single-rack; direct &amp; full interconnect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(&lt; 5 m)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copper interconnect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8" y="1532999"/>
            <a:ext cx="575928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Multi-node horizontal interconnect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(&gt;&gt; 5 m)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optical interconnect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294371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5271571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347374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4289147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4173078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803651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803651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3231884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640490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4301329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4173947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815833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815833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73294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40827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841728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815833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517058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517058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49293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90182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47718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92786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34737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390669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704864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651667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4010471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80098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CPO Switch</a:t>
            </a: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557482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3279613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4125150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4951044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432600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892321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9952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E8A3-F513-E80A-2CF3-89F157D3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DC55812-9CB6-EA95-7068-A340A4C2A3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564398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C8A3E0-0CA0-C767-446E-C6D3AE926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235A3A5E-53B1-BB1F-17FD-2FB400D90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10287402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cs typeface="+mn-ea"/>
              </a:rPr>
              <a:t>​Overseas: CPO for scale-out first; Domestic: CPO for scale-up first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3732B22-A2E7-7704-E64B-75C5CB506E4D}"/>
              </a:ext>
            </a:extLst>
          </p:cNvPr>
          <p:cNvSpPr txBox="1"/>
          <p:nvPr/>
        </p:nvSpPr>
        <p:spPr>
          <a:xfrm>
            <a:off x="652531" y="5142643"/>
            <a:ext cx="1340313" cy="755421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algn="ctr">
              <a:buNone/>
              <a:defRPr kumimoji="1" sz="16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/>
              <a:t>​CPO Initial Adoption</a:t>
            </a:r>
            <a:endParaRPr lang="en-US" altLang="zh-CN" dirty="0">
              <a:sym typeface="+mn-lt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D3EC4C4-E0A3-D829-BC85-520DD664B0B9}"/>
              </a:ext>
            </a:extLst>
          </p:cNvPr>
          <p:cNvSpPr txBox="1"/>
          <p:nvPr/>
        </p:nvSpPr>
        <p:spPr>
          <a:xfrm>
            <a:off x="6836027" y="1601515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856C6999-A57E-E9F1-705B-8AC9D023EC18}"/>
              </a:ext>
            </a:extLst>
          </p:cNvPr>
          <p:cNvCxnSpPr>
            <a:cxnSpLocks/>
          </p:cNvCxnSpPr>
          <p:nvPr/>
        </p:nvCxnSpPr>
        <p:spPr>
          <a:xfrm>
            <a:off x="2105234" y="1522594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3A8A535-9407-885E-6F71-00F9C228C4C7}"/>
              </a:ext>
            </a:extLst>
          </p:cNvPr>
          <p:cNvSpPr txBox="1"/>
          <p:nvPr/>
        </p:nvSpPr>
        <p:spPr>
          <a:xfrm>
            <a:off x="1916400" y="11335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Overseas: Scale-out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DD5760-DDC4-F7FD-057C-6D69C8782304}"/>
              </a:ext>
            </a:extLst>
          </p:cNvPr>
          <p:cNvSpPr txBox="1"/>
          <p:nvPr/>
        </p:nvSpPr>
        <p:spPr>
          <a:xfrm>
            <a:off x="6763299" y="11335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Domestic: Scale-up</a:t>
            </a:r>
          </a:p>
        </p:txBody>
      </p:sp>
      <p:sp>
        <p:nvSpPr>
          <p:cNvPr id="13" name="iconfont-1043-169336">
            <a:extLst>
              <a:ext uri="{FF2B5EF4-FFF2-40B4-BE49-F238E27FC236}">
                <a16:creationId xmlns:a16="http://schemas.microsoft.com/office/drawing/2014/main" id="{8757D3CF-95B9-3335-5960-EBA31BB9CE49}"/>
              </a:ext>
            </a:extLst>
          </p:cNvPr>
          <p:cNvSpPr/>
          <p:nvPr/>
        </p:nvSpPr>
        <p:spPr>
          <a:xfrm>
            <a:off x="2350668" y="1932880"/>
            <a:ext cx="341255" cy="340531"/>
          </a:xfrm>
          <a:custGeom>
            <a:avLst/>
            <a:gdLst>
              <a:gd name="T0" fmla="*/ 12436 w 12765"/>
              <a:gd name="T1" fmla="*/ 0 h 12739"/>
              <a:gd name="T2" fmla="*/ 4469 w 12765"/>
              <a:gd name="T3" fmla="*/ 7970 h 12739"/>
              <a:gd name="T4" fmla="*/ 1369 w 12765"/>
              <a:gd name="T5" fmla="*/ 5163 h 12739"/>
              <a:gd name="T6" fmla="*/ 0 w 12765"/>
              <a:gd name="T7" fmla="*/ 6438 h 12739"/>
              <a:gd name="T8" fmla="*/ 5357 w 12765"/>
              <a:gd name="T9" fmla="*/ 12739 h 12739"/>
              <a:gd name="T10" fmla="*/ 12765 w 12765"/>
              <a:gd name="T11" fmla="*/ 877 h 12739"/>
              <a:gd name="T12" fmla="*/ 12436 w 12765"/>
              <a:gd name="T13" fmla="*/ 0 h 12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765" h="12739">
                <a:moveTo>
                  <a:pt x="12436" y="0"/>
                </a:moveTo>
                <a:cubicBezTo>
                  <a:pt x="8552" y="2754"/>
                  <a:pt x="5734" y="6228"/>
                  <a:pt x="4469" y="7970"/>
                </a:cubicBezTo>
                <a:lnTo>
                  <a:pt x="1369" y="5163"/>
                </a:lnTo>
                <a:lnTo>
                  <a:pt x="0" y="6438"/>
                </a:lnTo>
                <a:lnTo>
                  <a:pt x="5357" y="12739"/>
                </a:lnTo>
                <a:cubicBezTo>
                  <a:pt x="6278" y="10010"/>
                  <a:pt x="9199" y="4669"/>
                  <a:pt x="12765" y="877"/>
                </a:cubicBezTo>
                <a:lnTo>
                  <a:pt x="12436" y="0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confont-11592-5504295">
            <a:extLst>
              <a:ext uri="{FF2B5EF4-FFF2-40B4-BE49-F238E27FC236}">
                <a16:creationId xmlns:a16="http://schemas.microsoft.com/office/drawing/2014/main" id="{73FC5A1B-D36A-9924-2AFE-26EB8B1C5DC3}"/>
              </a:ext>
            </a:extLst>
          </p:cNvPr>
          <p:cNvSpPr/>
          <p:nvPr/>
        </p:nvSpPr>
        <p:spPr>
          <a:xfrm>
            <a:off x="7039471" y="1977240"/>
            <a:ext cx="274503" cy="274503"/>
          </a:xfrm>
          <a:custGeom>
            <a:avLst/>
            <a:gdLst>
              <a:gd name="T0" fmla="*/ 5928 w 11841"/>
              <a:gd name="T1" fmla="*/ 5174 h 11841"/>
              <a:gd name="T2" fmla="*/ 972 w 11841"/>
              <a:gd name="T3" fmla="*/ 218 h 11841"/>
              <a:gd name="T4" fmla="*/ 211 w 11841"/>
              <a:gd name="T5" fmla="*/ 211 h 11841"/>
              <a:gd name="T6" fmla="*/ 218 w 11841"/>
              <a:gd name="T7" fmla="*/ 972 h 11841"/>
              <a:gd name="T8" fmla="*/ 5174 w 11841"/>
              <a:gd name="T9" fmla="*/ 5928 h 11841"/>
              <a:gd name="T10" fmla="*/ 218 w 11841"/>
              <a:gd name="T11" fmla="*/ 10884 h 11841"/>
              <a:gd name="T12" fmla="*/ 224 w 11841"/>
              <a:gd name="T13" fmla="*/ 11632 h 11841"/>
              <a:gd name="T14" fmla="*/ 972 w 11841"/>
              <a:gd name="T15" fmla="*/ 11638 h 11841"/>
              <a:gd name="T16" fmla="*/ 5928 w 11841"/>
              <a:gd name="T17" fmla="*/ 6682 h 11841"/>
              <a:gd name="T18" fmla="*/ 10884 w 11841"/>
              <a:gd name="T19" fmla="*/ 11638 h 11841"/>
              <a:gd name="T20" fmla="*/ 11632 w 11841"/>
              <a:gd name="T21" fmla="*/ 11632 h 11841"/>
              <a:gd name="T22" fmla="*/ 11638 w 11841"/>
              <a:gd name="T23" fmla="*/ 10884 h 11841"/>
              <a:gd name="T24" fmla="*/ 6682 w 11841"/>
              <a:gd name="T25" fmla="*/ 5928 h 11841"/>
              <a:gd name="T26" fmla="*/ 11638 w 11841"/>
              <a:gd name="T27" fmla="*/ 972 h 11841"/>
              <a:gd name="T28" fmla="*/ 11632 w 11841"/>
              <a:gd name="T29" fmla="*/ 224 h 11841"/>
              <a:gd name="T30" fmla="*/ 10884 w 11841"/>
              <a:gd name="T31" fmla="*/ 218 h 11841"/>
              <a:gd name="T32" fmla="*/ 5928 w 11841"/>
              <a:gd name="T33" fmla="*/ 5174 h 118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841" h="11841">
                <a:moveTo>
                  <a:pt x="5928" y="5174"/>
                </a:moveTo>
                <a:lnTo>
                  <a:pt x="972" y="218"/>
                </a:lnTo>
                <a:cubicBezTo>
                  <a:pt x="765" y="3"/>
                  <a:pt x="422" y="0"/>
                  <a:pt x="211" y="211"/>
                </a:cubicBezTo>
                <a:cubicBezTo>
                  <a:pt x="0" y="422"/>
                  <a:pt x="3" y="765"/>
                  <a:pt x="218" y="972"/>
                </a:cubicBezTo>
                <a:lnTo>
                  <a:pt x="5174" y="5928"/>
                </a:lnTo>
                <a:lnTo>
                  <a:pt x="218" y="10884"/>
                </a:lnTo>
                <a:cubicBezTo>
                  <a:pt x="15" y="11094"/>
                  <a:pt x="18" y="11426"/>
                  <a:pt x="224" y="11632"/>
                </a:cubicBezTo>
                <a:cubicBezTo>
                  <a:pt x="430" y="11838"/>
                  <a:pt x="762" y="11841"/>
                  <a:pt x="972" y="11638"/>
                </a:cubicBezTo>
                <a:lnTo>
                  <a:pt x="5928" y="6682"/>
                </a:lnTo>
                <a:lnTo>
                  <a:pt x="10884" y="11638"/>
                </a:lnTo>
                <a:cubicBezTo>
                  <a:pt x="11094" y="11841"/>
                  <a:pt x="11426" y="11838"/>
                  <a:pt x="11632" y="11632"/>
                </a:cubicBezTo>
                <a:cubicBezTo>
                  <a:pt x="11838" y="11426"/>
                  <a:pt x="11841" y="11094"/>
                  <a:pt x="11638" y="10884"/>
                </a:cubicBezTo>
                <a:lnTo>
                  <a:pt x="6682" y="5928"/>
                </a:lnTo>
                <a:lnTo>
                  <a:pt x="11638" y="972"/>
                </a:lnTo>
                <a:cubicBezTo>
                  <a:pt x="11841" y="762"/>
                  <a:pt x="11838" y="430"/>
                  <a:pt x="11632" y="224"/>
                </a:cubicBezTo>
                <a:cubicBezTo>
                  <a:pt x="11426" y="18"/>
                  <a:pt x="11094" y="15"/>
                  <a:pt x="10884" y="218"/>
                </a:cubicBezTo>
                <a:lnTo>
                  <a:pt x="5928" y="5174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D9CE70A2-F5EA-493D-7568-20FBF83A8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058" y="1928739"/>
            <a:ext cx="33660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process constraints.​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​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1F9A8B-F1FB-9C7C-E4C2-16DE3C42FDA4}"/>
              </a:ext>
            </a:extLst>
          </p:cNvPr>
          <p:cNvSpPr txBox="1"/>
          <p:nvPr/>
        </p:nvSpPr>
        <p:spPr>
          <a:xfrm>
            <a:off x="2853432" y="3311460"/>
            <a:ext cx="30044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in electronics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DEA6A49-3436-45CE-8A28-49F0C87992A5}"/>
              </a:ext>
            </a:extLst>
          </p:cNvPr>
          <p:cNvSpPr txBox="1"/>
          <p:nvPr/>
        </p:nvSpPr>
        <p:spPr>
          <a:xfrm>
            <a:off x="646528" y="1880365"/>
            <a:ext cx="1352317" cy="595046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Restrictions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730EC1-9D33-CB54-2CFC-74E7E487599E}"/>
              </a:ext>
            </a:extLst>
          </p:cNvPr>
          <p:cNvSpPr txBox="1"/>
          <p:nvPr/>
        </p:nvSpPr>
        <p:spPr>
          <a:xfrm>
            <a:off x="654100" y="3334812"/>
            <a:ext cx="1340313" cy="127703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Industry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13A8519-64BB-8C23-9E38-BC2497BD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8479" y="1914512"/>
            <a:ext cx="41478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14nm &amp; </a:t>
            </a:r>
            <a:r>
              <a:rPr lang="en-US" altLang="zh-CN" b="1" dirty="0"/>
              <a:t>chip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ban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3577D0-AB27-3230-1098-129EC4A3C5DE}"/>
              </a:ext>
            </a:extLst>
          </p:cNvPr>
          <p:cNvSpPr txBox="1"/>
          <p:nvPr/>
        </p:nvSpPr>
        <p:spPr>
          <a:xfrm>
            <a:off x="7987935" y="3311460"/>
            <a:ext cx="236580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in optics</a:t>
            </a:r>
          </a:p>
        </p:txBody>
      </p:sp>
      <p:sp>
        <p:nvSpPr>
          <p:cNvPr id="29" name="等腰三角形 28">
            <a:extLst>
              <a:ext uri="{FF2B5EF4-FFF2-40B4-BE49-F238E27FC236}">
                <a16:creationId xmlns:a16="http://schemas.microsoft.com/office/drawing/2014/main" id="{FA09F23E-B6CE-E640-247C-D1170D40F5BD}"/>
              </a:ext>
            </a:extLst>
          </p:cNvPr>
          <p:cNvSpPr/>
          <p:nvPr/>
        </p:nvSpPr>
        <p:spPr>
          <a:xfrm rot="10800000">
            <a:off x="3120436" y="2795819"/>
            <a:ext cx="1691096" cy="147942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0" name="等腰三角形 29">
            <a:extLst>
              <a:ext uri="{FF2B5EF4-FFF2-40B4-BE49-F238E27FC236}">
                <a16:creationId xmlns:a16="http://schemas.microsoft.com/office/drawing/2014/main" id="{1809A83B-AD48-958C-BFB3-EB2646F08B44}"/>
              </a:ext>
            </a:extLst>
          </p:cNvPr>
          <p:cNvSpPr/>
          <p:nvPr/>
        </p:nvSpPr>
        <p:spPr>
          <a:xfrm rot="10800000">
            <a:off x="7941744" y="2795819"/>
            <a:ext cx="1691096" cy="147942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36EF2B-2878-A168-E54D-7FAF9FD498E8}"/>
              </a:ext>
            </a:extLst>
          </p:cNvPr>
          <p:cNvSpPr txBox="1"/>
          <p:nvPr/>
        </p:nvSpPr>
        <p:spPr>
          <a:xfrm>
            <a:off x="2200445" y="5120244"/>
            <a:ext cx="398499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/>
              <a:t>Scale-out: </a:t>
            </a:r>
            <a:r>
              <a:rPr lang="en-US" altLang="zh-CN" b="1" dirty="0">
                <a:solidFill>
                  <a:srgbClr val="0052D9"/>
                </a:solidFill>
              </a:rPr>
              <a:t>2025-2026</a:t>
            </a:r>
            <a:endParaRPr lang="en-US" altLang="zh-CN" dirty="0">
              <a:solidFill>
                <a:srgbClr val="0052D9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Faster path to </a:t>
            </a:r>
            <a:r>
              <a:rPr lang="en-US" altLang="zh-CN" sz="1400" b="1" dirty="0">
                <a:solidFill>
                  <a:srgbClr val="0052D9"/>
                </a:solidFill>
              </a:rPr>
              <a:t>commercialization;</a:t>
            </a:r>
            <a:endParaRPr lang="en-US" altLang="zh-CN" sz="14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Scale Up mass production: 2027-2028.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07A929-2347-2DDF-A5F9-9B50E18519CC}"/>
              </a:ext>
            </a:extLst>
          </p:cNvPr>
          <p:cNvSpPr txBox="1"/>
          <p:nvPr/>
        </p:nvSpPr>
        <p:spPr>
          <a:xfrm>
            <a:off x="4056451" y="394123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52D9"/>
                </a:solidFill>
                <a:effectLst/>
              </a:rPr>
              <a:t>80%+</a:t>
            </a:r>
          </a:p>
          <a:p>
            <a:r>
              <a:rPr lang="en-US" altLang="zh-CN" sz="1400" i="0" dirty="0">
                <a:effectLst/>
              </a:rPr>
              <a:t>Switch</a:t>
            </a:r>
            <a:r>
              <a:rPr lang="en-US" altLang="zh-CN" sz="1400" dirty="0"/>
              <a:t>/DSP chip</a:t>
            </a:r>
            <a:r>
              <a:rPr lang="en-US" altLang="zh-CN" sz="1400" i="0" dirty="0">
                <a:effectLst/>
              </a:rPr>
              <a:t> market</a:t>
            </a:r>
            <a:endParaRPr lang="zh-CN" altLang="en-US" sz="1400" dirty="0"/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32B1AA71-8DBA-436A-A1BD-27AAF8AD6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5196" y="3927328"/>
            <a:ext cx="325584" cy="312561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A48E1699-6FD9-4CC1-CD64-6F077D9E31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84761" y="3933129"/>
            <a:ext cx="642530" cy="244993"/>
          </a:xfrm>
          <a:prstGeom prst="rect">
            <a:avLst/>
          </a:prstGeom>
        </p:spPr>
      </p:pic>
      <p:pic>
        <p:nvPicPr>
          <p:cNvPr id="50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872CFBC6-B8AA-ABA9-2C27-7E708B4465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256" t="17821" b="20152"/>
          <a:stretch/>
        </p:blipFill>
        <p:spPr bwMode="auto">
          <a:xfrm>
            <a:off x="6961660" y="4271640"/>
            <a:ext cx="795476" cy="277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图像" descr="图像">
            <a:extLst>
              <a:ext uri="{FF2B5EF4-FFF2-40B4-BE49-F238E27FC236}">
                <a16:creationId xmlns:a16="http://schemas.microsoft.com/office/drawing/2014/main" id="{DC6A92A6-AC30-3119-2689-5CFB930D7D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6860" y="4284659"/>
            <a:ext cx="965100" cy="285957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94F60CFD-2FE1-9F9B-60A7-F36F84D74E05}"/>
              </a:ext>
            </a:extLst>
          </p:cNvPr>
          <p:cNvSpPr txBox="1"/>
          <p:nvPr/>
        </p:nvSpPr>
        <p:spPr>
          <a:xfrm>
            <a:off x="206948" y="642907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Communications IPO Prospectus 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斜纹 63">
            <a:extLst>
              <a:ext uri="{FF2B5EF4-FFF2-40B4-BE49-F238E27FC236}">
                <a16:creationId xmlns:a16="http://schemas.microsoft.com/office/drawing/2014/main" id="{85360E8A-B9A9-AAE8-7EF8-99A9459067C8}"/>
              </a:ext>
            </a:extLst>
          </p:cNvPr>
          <p:cNvSpPr/>
          <p:nvPr/>
        </p:nvSpPr>
        <p:spPr>
          <a:xfrm rot="8052760">
            <a:off x="3598753" y="4108269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0754605A-E031-7BC5-E6F4-C816BEB88A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42687" y="4022501"/>
            <a:ext cx="845672" cy="123188"/>
          </a:xfrm>
          <a:prstGeom prst="rect">
            <a:avLst/>
          </a:prstGeom>
        </p:spPr>
      </p:pic>
      <p:sp>
        <p:nvSpPr>
          <p:cNvPr id="68" name="文本框 67">
            <a:extLst>
              <a:ext uri="{FF2B5EF4-FFF2-40B4-BE49-F238E27FC236}">
                <a16:creationId xmlns:a16="http://schemas.microsoft.com/office/drawing/2014/main" id="{20CB60E0-6AF3-001D-2A8A-2EA27EF3EF50}"/>
              </a:ext>
            </a:extLst>
          </p:cNvPr>
          <p:cNvSpPr txBox="1"/>
          <p:nvPr/>
        </p:nvSpPr>
        <p:spPr>
          <a:xfrm>
            <a:off x="8281023" y="3922911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52D9"/>
                </a:solidFill>
              </a:rPr>
              <a:t>6</a:t>
            </a:r>
            <a:r>
              <a:rPr lang="en-US" altLang="zh-CN" b="1" i="0" dirty="0">
                <a:solidFill>
                  <a:srgbClr val="0052D9"/>
                </a:solidFill>
                <a:effectLst/>
              </a:rPr>
              <a:t>0%</a:t>
            </a:r>
          </a:p>
          <a:p>
            <a:r>
              <a:rPr lang="en-US" altLang="zh-CN" sz="1400" i="0" dirty="0">
                <a:effectLst/>
              </a:rPr>
              <a:t>800G optical module market</a:t>
            </a:r>
            <a:endParaRPr lang="zh-CN" altLang="en-US" sz="1400" dirty="0"/>
          </a:p>
        </p:txBody>
      </p:sp>
      <p:sp>
        <p:nvSpPr>
          <p:cNvPr id="70" name="斜纹 69">
            <a:extLst>
              <a:ext uri="{FF2B5EF4-FFF2-40B4-BE49-F238E27FC236}">
                <a16:creationId xmlns:a16="http://schemas.microsoft.com/office/drawing/2014/main" id="{5547D551-141D-C5A6-C50E-4CFEF1ED258F}"/>
              </a:ext>
            </a:extLst>
          </p:cNvPr>
          <p:cNvSpPr/>
          <p:nvPr/>
        </p:nvSpPr>
        <p:spPr>
          <a:xfrm rot="8052760">
            <a:off x="7823325" y="4089948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DF85592-3DD9-BFF2-A290-8918CD11A5AD}"/>
              </a:ext>
            </a:extLst>
          </p:cNvPr>
          <p:cNvSpPr txBox="1"/>
          <p:nvPr/>
        </p:nvSpPr>
        <p:spPr>
          <a:xfrm>
            <a:off x="6907846" y="5120244"/>
            <a:ext cx="398499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/>
              <a:t>Scale-up: </a:t>
            </a:r>
            <a:r>
              <a:rPr lang="en-US" altLang="zh-CN" b="1" dirty="0">
                <a:solidFill>
                  <a:srgbClr val="0052D9"/>
                </a:solidFill>
              </a:rPr>
              <a:t>~2027</a:t>
            </a:r>
            <a:endParaRPr lang="en-US" altLang="zh-CN" dirty="0">
              <a:solidFill>
                <a:srgbClr val="0052D9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52D9"/>
                </a:solidFill>
              </a:rPr>
              <a:t>Compensate</a:t>
            </a:r>
            <a:r>
              <a:rPr lang="en-US" altLang="zh-CN" sz="1400" dirty="0"/>
              <a:t> for electrical weaknesses;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Amplify optical strengths.</a:t>
            </a:r>
          </a:p>
        </p:txBody>
      </p:sp>
      <p:cxnSp>
        <p:nvCxnSpPr>
          <p:cNvPr id="76" name="直线连接符 34">
            <a:extLst>
              <a:ext uri="{FF2B5EF4-FFF2-40B4-BE49-F238E27FC236}">
                <a16:creationId xmlns:a16="http://schemas.microsoft.com/office/drawing/2014/main" id="{7BCBF591-831F-1A23-EFCF-1369DEDB04DA}"/>
              </a:ext>
            </a:extLst>
          </p:cNvPr>
          <p:cNvCxnSpPr>
            <a:cxnSpLocks/>
          </p:cNvCxnSpPr>
          <p:nvPr/>
        </p:nvCxnSpPr>
        <p:spPr>
          <a:xfrm>
            <a:off x="6849727" y="1522594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34">
            <a:extLst>
              <a:ext uri="{FF2B5EF4-FFF2-40B4-BE49-F238E27FC236}">
                <a16:creationId xmlns:a16="http://schemas.microsoft.com/office/drawing/2014/main" id="{FBBD434B-CD1E-5F61-CAAB-31E011343DA4}"/>
              </a:ext>
            </a:extLst>
          </p:cNvPr>
          <p:cNvCxnSpPr>
            <a:cxnSpLocks/>
          </p:cNvCxnSpPr>
          <p:nvPr/>
        </p:nvCxnSpPr>
        <p:spPr>
          <a:xfrm>
            <a:off x="654100" y="4907144"/>
            <a:ext cx="10177077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875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63780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C957F2-C96F-B8BD-0407-49505FC2A9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653998" y="4074144"/>
            <a:ext cx="9719937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7C7B16E-048E-6EFA-F314-B428F2289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10287402" cy="731520"/>
          </a:xfrm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altLang="zh-CN" dirty="0">
                <a:latin typeface="+mn-lt"/>
                <a:cs typeface="+mn-ea"/>
              </a:rPr>
              <a:t>Overseas: pursue scale-out &amp; scale-up in parallel; CPO initial focus on scale-out (1-2 Years)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CBD7E81-A494-6AAD-5CAB-C52B7178334D}"/>
              </a:ext>
            </a:extLst>
          </p:cNvPr>
          <p:cNvSpPr txBox="1"/>
          <p:nvPr/>
        </p:nvSpPr>
        <p:spPr>
          <a:xfrm>
            <a:off x="425161" y="1746750"/>
            <a:ext cx="936104" cy="572571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Strategy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417686" y="3129649"/>
            <a:ext cx="936104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Scale-up roadmap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5" name="直线连接符 8">
            <a:extLst>
              <a:ext uri="{FF2B5EF4-FFF2-40B4-BE49-F238E27FC236}">
                <a16:creationId xmlns:a16="http://schemas.microsoft.com/office/drawing/2014/main" id="{322F88D2-71EE-E0EC-7ABF-1C47DF926C22}"/>
              </a:ext>
            </a:extLst>
          </p:cNvPr>
          <p:cNvCxnSpPr>
            <a:cxnSpLocks/>
          </p:cNvCxnSpPr>
          <p:nvPr/>
        </p:nvCxnSpPr>
        <p:spPr>
          <a:xfrm>
            <a:off x="1722234" y="2572431"/>
            <a:ext cx="9651701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550109" y="156880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91B4777-F700-A999-A441-5B04853892C8}"/>
              </a:ext>
            </a:extLst>
          </p:cNvPr>
          <p:cNvSpPr txBox="1"/>
          <p:nvPr/>
        </p:nvSpPr>
        <p:spPr>
          <a:xfrm>
            <a:off x="6550277" y="1697095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1845240" y="1585749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3757038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4487" y="123898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8186" y="129247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0109" y="123173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9806" y="131662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1780516" y="4345662"/>
            <a:ext cx="460324" cy="28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2288186" y="4230994"/>
            <a:ext cx="191166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 switch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4718447" y="4230312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402684" y="4236020"/>
            <a:ext cx="936104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Scale-out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roadmap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4EA42EC-757B-6882-31DD-52DEBF9DC4E6}"/>
              </a:ext>
            </a:extLst>
          </p:cNvPr>
          <p:cNvSpPr txBox="1"/>
          <p:nvPr/>
        </p:nvSpPr>
        <p:spPr>
          <a:xfrm>
            <a:off x="1722234" y="1794590"/>
            <a:ext cx="382186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dominator; 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Transitioning from copper to CPO.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2259422" y="4715591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Q2 25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3185330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3217953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2259423" y="369290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Jul 25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319403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Rubin 288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718447" y="369290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Q2 26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4703212" y="4715591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Q2 26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3261064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4115801" y="4294599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411970" y="5499383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525250" y="5499383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982873" y="5470487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Copper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3123144" y="5470487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FB27E28-9F4A-8FA7-BCFE-9AE1CE01AF6A}"/>
              </a:ext>
            </a:extLst>
          </p:cNvPr>
          <p:cNvSpPr txBox="1"/>
          <p:nvPr/>
        </p:nvSpPr>
        <p:spPr>
          <a:xfrm>
            <a:off x="6550108" y="1746749"/>
            <a:ext cx="5013241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dominator;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Betting on CPO to expand from scale-out to scale-up in 5 years.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4294599"/>
            <a:ext cx="200705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9696641" y="4400188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Q1 26</a:t>
            </a: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4394516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697097" y="2741777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Full systems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366750" y="2753794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 chips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3279426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3309511"/>
            <a:ext cx="200167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chip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9683755" y="3433672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Apr 25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03220" y="6444539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Broadcom.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399243" y="5295410"/>
            <a:ext cx="464136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​Scale-out: 2025-2026​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​Scale-up: ~2028 (per Broadcom)</a:t>
            </a: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CF0E5-D6CE-D071-AAB5-F3DE0CE6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018FFAE-5A4A-E52C-2BCF-98BD75C6F9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02472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0" imgW="404" imgH="405" progId="TCLayout.ActiveDocument.1">
                  <p:embed/>
                </p:oleObj>
              </mc:Choice>
              <mc:Fallback>
                <p:oleObj name="think-cell 幻灯片" r:id="rId4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0" name="文本框 3639">
            <a:extLst>
              <a:ext uri="{FF2B5EF4-FFF2-40B4-BE49-F238E27FC236}">
                <a16:creationId xmlns:a16="http://schemas.microsoft.com/office/drawing/2014/main" id="{EDE98CB0-944C-D5FD-B486-A1C62BB06C30}"/>
              </a:ext>
            </a:extLst>
          </p:cNvPr>
          <p:cNvSpPr txBox="1"/>
          <p:nvPr/>
        </p:nvSpPr>
        <p:spPr>
          <a:xfrm>
            <a:off x="6455166" y="1440908"/>
            <a:ext cx="573683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Long-cabinet CM384 requires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6,912​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 consumes over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53ED52-958D-42EB-5D68-EE7AA6A2B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Domestic Vendors Rely on Scale-Up to Close Performance Gap at High Power Cost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AF81DE-2B96-9A87-C8B3-0A915D1472FE}"/>
              </a:ext>
            </a:extLst>
          </p:cNvPr>
          <p:cNvGrpSpPr/>
          <p:nvPr/>
        </p:nvGrpSpPr>
        <p:grpSpPr>
          <a:xfrm>
            <a:off x="504186" y="971862"/>
            <a:ext cx="11908794" cy="503758"/>
            <a:chOff x="504186" y="971862"/>
            <a:chExt cx="11908794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5FB85F7-D6D5-1AF1-FBE3-D14ECCE5A4A5}"/>
                </a:ext>
              </a:extLst>
            </p:cNvPr>
            <p:cNvSpPr txBox="1"/>
            <p:nvPr/>
          </p:nvSpPr>
          <p:spPr>
            <a:xfrm>
              <a:off x="6326494" y="976464"/>
              <a:ext cx="6086486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Extensive POs bring huge power consumption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4D7CD37-49C1-38E5-5D87-A6388AD869B5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9B1C637C-ADC2-C9D0-990A-9034BD37EB7E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F85EAD6-4428-BE25-DCD7-41CE3B0639F5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Huawei CM384</a:t>
              </a:r>
              <a:r>
                <a:rPr kumimoji="1" lang="en-US" altLang="zh-CN" b="1" baseline="300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1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 vs. NVIDIA GB200 NVL72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7B695BF4-92BF-EB79-6A32-56036DBCE7B2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BA0DF35-5424-7DB0-8CE3-A8701D7CF9B7}"/>
              </a:ext>
            </a:extLst>
          </p:cNvPr>
          <p:cNvSpPr txBox="1"/>
          <p:nvPr/>
        </p:nvSpPr>
        <p:spPr>
          <a:xfrm>
            <a:off x="225794" y="6324600"/>
            <a:ext cx="7702863" cy="24368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fr-FR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= CloudMatrix 384 (384x Ascend 910C NPUs)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 benchmark against the GB200 NVL72.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 Transceiver power consumption is based on 400G POs; Ascend 910C single-card power ≈ 800W.​</a:t>
            </a:r>
          </a:p>
        </p:txBody>
      </p:sp>
      <p:sp>
        <p:nvSpPr>
          <p:cNvPr id="3586" name="左大括号 3585">
            <a:extLst>
              <a:ext uri="{FF2B5EF4-FFF2-40B4-BE49-F238E27FC236}">
                <a16:creationId xmlns:a16="http://schemas.microsoft.com/office/drawing/2014/main" id="{C2780E09-0CA0-FC8F-04D1-0820C1266BAE}"/>
              </a:ext>
            </a:extLst>
          </p:cNvPr>
          <p:cNvSpPr/>
          <p:nvPr/>
        </p:nvSpPr>
        <p:spPr>
          <a:xfrm rot="16200000">
            <a:off x="7729538" y="2220913"/>
            <a:ext cx="130492" cy="2330450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7" name="文本框 3586">
            <a:extLst>
              <a:ext uri="{FF2B5EF4-FFF2-40B4-BE49-F238E27FC236}">
                <a16:creationId xmlns:a16="http://schemas.microsoft.com/office/drawing/2014/main" id="{F4B9F0D9-6BD3-3328-B0C7-C2E2BDBCA8AA}"/>
              </a:ext>
            </a:extLst>
          </p:cNvPr>
          <p:cNvSpPr txBox="1"/>
          <p:nvPr/>
        </p:nvSpPr>
        <p:spPr>
          <a:xfrm>
            <a:off x="6720892" y="3436938"/>
            <a:ext cx="195605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Rack×16   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&gt; 2.5 m</a:t>
            </a:r>
          </a:p>
        </p:txBody>
      </p:sp>
      <p:graphicFrame>
        <p:nvGraphicFramePr>
          <p:cNvPr id="9" name="Chart 3">
            <a:extLst>
              <a:ext uri="{FF2B5EF4-FFF2-40B4-BE49-F238E27FC236}">
                <a16:creationId xmlns:a16="http://schemas.microsoft.com/office/drawing/2014/main" id="{8B021EB7-28CB-335B-0718-DFB63C8F947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40247823"/>
              </p:ext>
            </p:extLst>
          </p:nvPr>
        </p:nvGraphicFramePr>
        <p:xfrm>
          <a:off x="236538" y="2859088"/>
          <a:ext cx="2952750" cy="2965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cxnSp>
        <p:nvCxnSpPr>
          <p:cNvPr id="1048" name="直接连接符 1047">
            <a:extLst>
              <a:ext uri="{FF2B5EF4-FFF2-40B4-BE49-F238E27FC236}">
                <a16:creationId xmlns:a16="http://schemas.microsoft.com/office/drawing/2014/main" id="{CADB065E-B614-B7C2-A21F-DD7A962991E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331913" y="2832100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直接连接符 1048">
            <a:extLst>
              <a:ext uri="{FF2B5EF4-FFF2-40B4-BE49-F238E27FC236}">
                <a16:creationId xmlns:a16="http://schemas.microsoft.com/office/drawing/2014/main" id="{6E468993-5E85-8C63-A570-17A6D2204EA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331913" y="2832100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1" name="直接连接符 1050">
            <a:extLst>
              <a:ext uri="{FF2B5EF4-FFF2-40B4-BE49-F238E27FC236}">
                <a16:creationId xmlns:a16="http://schemas.microsoft.com/office/drawing/2014/main" id="{2AF9B085-644A-D984-8096-BA29E9C0E44F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2093913" y="2832100"/>
            <a:ext cx="0" cy="171767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E2E711D4-63B8-F717-60BA-4460EC8D099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74700" y="5568950"/>
            <a:ext cx="18780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FDA88F-EBAC-49CC-AD27-6D5D158D3C77}" type="datetime'Sing''le-''Card BF16 Compute ''Perf''ormance'' (TF''L''OPS)​'">
              <a:rPr lang="en-US" altLang="en-US" sz="1200" smtClean="0">
                <a:cs typeface="+mn-cs"/>
              </a:rPr>
              <a:pPr/>
              <a:t>Single-Card BF16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1047" name="Text Placeholder 4">
            <a:extLst>
              <a:ext uri="{FF2B5EF4-FFF2-40B4-BE49-F238E27FC236}">
                <a16:creationId xmlns:a16="http://schemas.microsoft.com/office/drawing/2014/main" id="{12497AA3-DFED-0C45-9BA6-93A78D3BAA8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419225" y="2681288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7B85DDC-440C-4E1D-9361-66F5FAC9158C}" type="datetime'-''''''''''''''''''''''''6''9''''''''''%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-69%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20" name="Chart 3">
            <a:extLst>
              <a:ext uri="{FF2B5EF4-FFF2-40B4-BE49-F238E27FC236}">
                <a16:creationId xmlns:a16="http://schemas.microsoft.com/office/drawing/2014/main" id="{2A4C4DF0-9FA4-6081-971C-2B8B09D34679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959717625"/>
              </p:ext>
            </p:extLst>
          </p:nvPr>
        </p:nvGraphicFramePr>
        <p:xfrm>
          <a:off x="3205163" y="2859088"/>
          <a:ext cx="2298700" cy="2965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3217" name="直接连接符 3216">
            <a:extLst>
              <a:ext uri="{FF2B5EF4-FFF2-40B4-BE49-F238E27FC236}">
                <a16:creationId xmlns:a16="http://schemas.microsoft.com/office/drawing/2014/main" id="{2612A90D-65F0-9C20-09BE-7E3A710AB655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 flipV="1">
            <a:off x="3973513" y="2832100"/>
            <a:ext cx="0" cy="1077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8" name="直接连接符 3217">
            <a:extLst>
              <a:ext uri="{FF2B5EF4-FFF2-40B4-BE49-F238E27FC236}">
                <a16:creationId xmlns:a16="http://schemas.microsoft.com/office/drawing/2014/main" id="{06CD80C6-A03F-7FD5-A111-CF17C0950D91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>
            <a:off x="3973513" y="2832100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9" name="直接连接符 3218">
            <a:extLst>
              <a:ext uri="{FF2B5EF4-FFF2-40B4-BE49-F238E27FC236}">
                <a16:creationId xmlns:a16="http://schemas.microsoft.com/office/drawing/2014/main" id="{F0C1D68E-8B3A-6DC5-7947-062C8E3678D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4735513" y="2832100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0" name="Text Placeholder 4">
            <a:extLst>
              <a:ext uri="{FF2B5EF4-FFF2-40B4-BE49-F238E27FC236}">
                <a16:creationId xmlns:a16="http://schemas.microsoft.com/office/drawing/2014/main" id="{8C0F3706-CCC0-71C5-E8EB-926841199566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544888" y="5568950"/>
            <a:ext cx="162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4E85187-9A43-4E51-AFB5-1F9E6A979B2A}" type="datetime'Ov''e''ra''''''''ll Compute ''Perfor''mance'' (TFL''OP''S)​'">
              <a:rPr lang="en-US" altLang="en-US" sz="1200" smtClean="0">
                <a:cs typeface="+mn-cs"/>
              </a:rPr>
              <a:pPr/>
              <a:t>Overall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3221" name="Text Placeholder 4">
            <a:extLst>
              <a:ext uri="{FF2B5EF4-FFF2-40B4-BE49-F238E27FC236}">
                <a16:creationId xmlns:a16="http://schemas.microsoft.com/office/drawing/2014/main" id="{72B91896-9330-31FA-F8B3-D8AFBD57F046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030663" y="2681288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D7B8FFD-E469-4577-B9AD-14C8961FCC4C}" type="datetime'''''''''''''''+''67''''%'">
              <a:rPr lang="en-US" altLang="en-US" sz="1400" b="1" smtClean="0">
                <a:effectLst/>
                <a:cs typeface="+mn-cs"/>
              </a:rPr>
              <a:pPr/>
              <a:t>+67%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55" name="Chart 3">
            <a:extLst>
              <a:ext uri="{FF2B5EF4-FFF2-40B4-BE49-F238E27FC236}">
                <a16:creationId xmlns:a16="http://schemas.microsoft.com/office/drawing/2014/main" id="{F16EA35B-7C0B-66AC-0D88-7AEE63BFFA46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169752568"/>
              </p:ext>
            </p:extLst>
          </p:nvPr>
        </p:nvGraphicFramePr>
        <p:xfrm>
          <a:off x="8926513" y="2244725"/>
          <a:ext cx="2952750" cy="143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3609" name="Text Placeholder 4">
            <a:extLst>
              <a:ext uri="{FF2B5EF4-FFF2-40B4-BE49-F238E27FC236}">
                <a16:creationId xmlns:a16="http://schemas.microsoft.com/office/drawing/2014/main" id="{98ACC9F0-1504-BCE5-600A-73148851ECD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621838" y="3432175"/>
            <a:ext cx="762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E8E9BF3-7FB4-4341-B539-0FC818FB94E6}" type="datetime'''S''''''c''a''''''''''l''''''''''''e''''''''-ou''''''''t'''">
              <a:rPr lang="en-US" altLang="en-US" sz="1400" smtClean="0">
                <a:cs typeface="+mn-cs"/>
              </a:rPr>
              <a:pPr/>
              <a:t>Scale-out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12" name="Text Placeholder 4">
            <a:extLst>
              <a:ext uri="{FF2B5EF4-FFF2-40B4-BE49-F238E27FC236}">
                <a16:creationId xmlns:a16="http://schemas.microsoft.com/office/drawing/2014/main" id="{9708A781-6620-2CED-6CD2-E2E15D24A9D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0444163" y="3432175"/>
            <a:ext cx="712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499ADE-994D-4BCA-AE0E-C83239A99BF2}" type="datetime'''''S''ca''''''''''''''l''''''''''''e-''u''p'''''''''''''''">
              <a:rPr lang="en-US" altLang="en-US" sz="1400" smtClean="0">
                <a:cs typeface="+mn-cs"/>
              </a:rPr>
              <a:pPr/>
              <a:t>Scale-up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35" name="文本框 3634">
            <a:extLst>
              <a:ext uri="{FF2B5EF4-FFF2-40B4-BE49-F238E27FC236}">
                <a16:creationId xmlns:a16="http://schemas.microsoft.com/office/drawing/2014/main" id="{E860E091-4421-C38F-E785-440035FFBF3B}"/>
              </a:ext>
            </a:extLst>
          </p:cNvPr>
          <p:cNvSpPr txBox="1"/>
          <p:nvPr/>
        </p:nvSpPr>
        <p:spPr>
          <a:xfrm>
            <a:off x="9242020" y="2166395"/>
            <a:ext cx="2464610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CM384 Transceiver Quantity 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BE2FCC-515F-30FE-A3A7-B786F586F659}"/>
              </a:ext>
            </a:extLst>
          </p:cNvPr>
          <p:cNvSpPr txBox="1"/>
          <p:nvPr/>
        </p:nvSpPr>
        <p:spPr>
          <a:xfrm>
            <a:off x="554423" y="1440908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Per card: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~⅓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 cluster: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~1.7 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B200.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66CC619-8FA5-F1C1-B5DD-1F1675B6664E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84213" y="2332038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9046A0-61D6-DADF-FAA6-46A4D60D797E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2232025" y="2332038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18F95EF-D9D0-DA01-BD7E-CC4B0EE8DC1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985838" y="2327275"/>
            <a:ext cx="11445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E772D7F-2F10-49D5-9E18-E08E40598AEE}" type="datetime'''G''''B2''''''''''''00'' ''''N''''''''VL''''7''2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6287392-9ECA-B352-F81A-7573F1F96FB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2533650" y="2327275"/>
            <a:ext cx="1212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29C84D3-5E92-4EAB-83B2-CB140EBFDBAC}" type="datetime'H''''''uaw''e''''''''''i'' ''''''''''C''''''''''''M''384'''">
              <a:rPr lang="en-US" altLang="en-US" sz="1400" smtClean="0">
                <a:cs typeface="+mn-cs"/>
              </a:rPr>
              <a:pPr/>
              <a:t>Huawei CM384</a:t>
            </a:fld>
            <a:endParaRPr lang="zh-CN" altLang="en-US" sz="1400" dirty="0">
              <a:cs typeface="+mn-cs"/>
            </a:endParaRPr>
          </a:p>
        </p:txBody>
      </p:sp>
      <p:pic>
        <p:nvPicPr>
          <p:cNvPr id="41" name="图片 40" descr="男子的脸部特写黑白照&#10;&#10;AI 生成的内容可能不正确。">
            <a:extLst>
              <a:ext uri="{FF2B5EF4-FFF2-40B4-BE49-F238E27FC236}">
                <a16:creationId xmlns:a16="http://schemas.microsoft.com/office/drawing/2014/main" id="{AEC0C5E7-357B-C173-5884-8AA371CE658A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914" b="89871" l="4492" r="98503">
                        <a14:foregroundMark x1="77147" y1="32543" x2="77147" y2="32543"/>
                        <a14:foregroundMark x1="76359" y1="18534" x2="76359" y2="18534"/>
                        <a14:foregroundMark x1="76438" y1="20905" x2="82348" y2="65733"/>
                        <a14:foregroundMark x1="94326" y1="24569" x2="93302" y2="49138"/>
                        <a14:foregroundMark x1="93302" y1="49138" x2="94799" y2="74353"/>
                        <a14:foregroundMark x1="94799" y1="74353" x2="98582" y2="46336"/>
                        <a14:foregroundMark x1="98582" y1="46336" x2="93459" y2="27155"/>
                        <a14:foregroundMark x1="93459" y1="27155" x2="9062" y2="13362"/>
                        <a14:foregroundMark x1="9062" y1="13362" x2="3704" y2="58836"/>
                        <a14:foregroundMark x1="3704" y1="58836" x2="4492" y2="79526"/>
                        <a14:foregroundMark x1="4492" y1="79526" x2="10008" y2="87931"/>
                        <a14:foregroundMark x1="10008" y1="87931" x2="70843" y2="79957"/>
                        <a14:foregroundMark x1="89046" y1="21767" x2="94641" y2="21767"/>
                        <a14:foregroundMark x1="94641" y1="21767" x2="97715" y2="32112"/>
                        <a14:foregroundMark x1="97715" y1="32112" x2="97084" y2="77155"/>
                        <a14:foregroundMark x1="97084" y1="77155" x2="92356" y2="82112"/>
                        <a14:foregroundMark x1="92356" y1="82112" x2="88180" y2="82112"/>
                        <a14:foregroundMark x1="93538" y1="26724" x2="96848" y2="62069"/>
                        <a14:foregroundMark x1="96848" y1="62069" x2="94799" y2="84052"/>
                        <a14:foregroundMark x1="94799" y1="84052" x2="90386" y2="70043"/>
                        <a14:foregroundMark x1="90386" y1="70043" x2="94326" y2="25216"/>
                        <a14:foregroundMark x1="95981" y1="21552" x2="98030" y2="42241"/>
                        <a14:foregroundMark x1="98030" y1="42241" x2="97242" y2="73060"/>
                        <a14:foregroundMark x1="98188" y1="32328" x2="98345" y2="71121"/>
                        <a14:foregroundMark x1="98345" y1="71121" x2="95114" y2="78879"/>
                        <a14:foregroundMark x1="95114" y1="78879" x2="65091" y2="76509"/>
                        <a14:foregroundMark x1="96533" y1="82328" x2="98503" y2="797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18" y="2359025"/>
            <a:ext cx="2396605" cy="876300"/>
          </a:xfrm>
          <a:prstGeom prst="rect">
            <a:avLst/>
          </a:prstGeom>
        </p:spPr>
      </p:pic>
      <p:cxnSp>
        <p:nvCxnSpPr>
          <p:cNvPr id="3137" name="直接连接符 3136">
            <a:extLst>
              <a:ext uri="{FF2B5EF4-FFF2-40B4-BE49-F238E27FC236}">
                <a16:creationId xmlns:a16="http://schemas.microsoft.com/office/drawing/2014/main" id="{26356429-8B3A-EBBB-977F-67030E7D088B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7675563" y="52070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8" name="直接连接符 3137">
            <a:extLst>
              <a:ext uri="{FF2B5EF4-FFF2-40B4-BE49-F238E27FC236}">
                <a16:creationId xmlns:a16="http://schemas.microsoft.com/office/drawing/2014/main" id="{AB31ABEF-5E74-3BC5-F5BC-C78D4079FBB7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8670925" y="5307013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0" name="直接连接符 3149">
            <a:extLst>
              <a:ext uri="{FF2B5EF4-FFF2-40B4-BE49-F238E27FC236}">
                <a16:creationId xmlns:a16="http://schemas.microsoft.com/office/drawing/2014/main" id="{CC8BBFA6-F08D-5418-CF35-07046428D73C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9666288" y="5581650"/>
            <a:ext cx="4429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1" name="直接连接符 3150">
            <a:extLst>
              <a:ext uri="{FF2B5EF4-FFF2-40B4-BE49-F238E27FC236}">
                <a16:creationId xmlns:a16="http://schemas.microsoft.com/office/drawing/2014/main" id="{381BDE0C-6F03-BDF0-1FDC-CFDBA3ED30AA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10663238" y="56642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0" name="Chart 3">
            <a:extLst>
              <a:ext uri="{FF2B5EF4-FFF2-40B4-BE49-F238E27FC236}">
                <a16:creationId xmlns:a16="http://schemas.microsoft.com/office/drawing/2014/main" id="{BF85742A-7B7F-9718-3326-6F761C12291C}"/>
              </a:ext>
            </a:extLst>
          </p:cNvPr>
          <p:cNvGraphicFramePr/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2134808249"/>
              </p:ext>
            </p:extLst>
          </p:nvPr>
        </p:nvGraphicFramePr>
        <p:xfrm>
          <a:off x="6818313" y="4768850"/>
          <a:ext cx="5143500" cy="155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689DA5B8-37BB-87F6-D692-11B4F5C54EED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 flipV="1">
            <a:off x="7397750" y="4854575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7F4568BC-3C16-3010-3829-EF106EF0006B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 bwMode="auto">
          <a:xfrm>
            <a:off x="7397750" y="4854575"/>
            <a:ext cx="398303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2" name="直接连接符 3191">
            <a:extLst>
              <a:ext uri="{FF2B5EF4-FFF2-40B4-BE49-F238E27FC236}">
                <a16:creationId xmlns:a16="http://schemas.microsoft.com/office/drawing/2014/main" id="{4F251196-A4AE-8480-04B3-DAE5C639BF2F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11380788" y="4854575"/>
            <a:ext cx="0" cy="533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58" name="直接连接符 3257">
            <a:extLst>
              <a:ext uri="{FF2B5EF4-FFF2-40B4-BE49-F238E27FC236}">
                <a16:creationId xmlns:a16="http://schemas.microsoft.com/office/drawing/2014/main" id="{53DA2746-B94F-B60F-A55E-C858B7A9D62F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 flipV="1">
            <a:off x="8393113" y="5257800"/>
            <a:ext cx="0" cy="746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3" name="直接连接符 3262">
            <a:extLst>
              <a:ext uri="{FF2B5EF4-FFF2-40B4-BE49-F238E27FC236}">
                <a16:creationId xmlns:a16="http://schemas.microsoft.com/office/drawing/2014/main" id="{9ADAF9A6-8466-3FB1-4231-AE786C8C2694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 flipV="1">
            <a:off x="9388475" y="5505450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" name="直接连接符 1024">
            <a:extLst>
              <a:ext uri="{FF2B5EF4-FFF2-40B4-BE49-F238E27FC236}">
                <a16:creationId xmlns:a16="http://schemas.microsoft.com/office/drawing/2014/main" id="{F667CBC5-F237-B1D0-D39A-5AE0D9B01A8C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 flipV="1">
            <a:off x="10385425" y="5622925"/>
            <a:ext cx="0" cy="66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45" name="Text Placeholder 4">
            <a:extLst>
              <a:ext uri="{FF2B5EF4-FFF2-40B4-BE49-F238E27FC236}">
                <a16:creationId xmlns:a16="http://schemas.microsoft.com/office/drawing/2014/main" id="{A7AB9E19-E313-608F-E2C4-9954F8C26BDC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7105650" y="6076950"/>
            <a:ext cx="584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E8DFF4A-62CF-4756-937E-ACF4A67F9112}" type="datetime'''''''''''''''''''''C''''''''''''''''M''3''''''84'''">
              <a:rPr lang="en-US" altLang="en-US" sz="1400" smtClean="0">
                <a:cs typeface="+mn-cs"/>
              </a:rPr>
              <a:pPr/>
              <a:t>CM384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47" name="Text Placeholder 4">
            <a:extLst>
              <a:ext uri="{FF2B5EF4-FFF2-40B4-BE49-F238E27FC236}">
                <a16:creationId xmlns:a16="http://schemas.microsoft.com/office/drawing/2014/main" id="{A97C9B77-8E90-731A-0224-80BB7153A9DF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7927975" y="6076949"/>
            <a:ext cx="93186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193752E-28AD-4986-9289-280036D43E67}" type="datetime'''''T''r''''''a''nscei''ver'' contr''ib''ut''''''ion'">
              <a:rPr lang="en-US" altLang="en-US" sz="1400" smtClean="0">
                <a:cs typeface="+mn-cs"/>
              </a:rPr>
              <a:pPr/>
              <a:t>Transceiver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36" name="Text Placeholder 4">
            <a:extLst>
              <a:ext uri="{FF2B5EF4-FFF2-40B4-BE49-F238E27FC236}">
                <a16:creationId xmlns:a16="http://schemas.microsoft.com/office/drawing/2014/main" id="{1F8BCA6D-31A0-A459-9B67-F11DBE3A4F11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924925" y="6076949"/>
            <a:ext cx="928688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CCEDF59-E96C-4FCD-B3CF-3A51802A490D}" type="datetime'S''i''ng''le-c''ar''''''d'''' cont''''''ributi''o''''''n'">
              <a:rPr lang="en-US" altLang="en-US" sz="1400" smtClean="0">
                <a:cs typeface="+mn-cs"/>
              </a:rPr>
              <a:pPr/>
              <a:t>Single-card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3" name="Text Placeholder 4">
            <a:extLst>
              <a:ext uri="{FF2B5EF4-FFF2-40B4-BE49-F238E27FC236}">
                <a16:creationId xmlns:a16="http://schemas.microsoft.com/office/drawing/2014/main" id="{9438C138-D03B-A34F-19B7-2FFE2A73A841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9955213" y="6076949"/>
            <a:ext cx="86042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C91DE38-7E0A-49F8-A89A-E7123D48E37F}" type="datetime'Re''''''ma''''''''i''''''''''n''''''''''ing'''' ga''''''''p'">
              <a:rPr lang="en-US" altLang="en-US" sz="1400" smtClean="0">
                <a:cs typeface="+mn-cs"/>
              </a:rPr>
              <a:pPr/>
              <a:t>Remaining gap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4" name="Text Placeholder 4">
            <a:extLst>
              <a:ext uri="{FF2B5EF4-FFF2-40B4-BE49-F238E27FC236}">
                <a16:creationId xmlns:a16="http://schemas.microsoft.com/office/drawing/2014/main" id="{2BAF0AC1-4E70-D086-57FC-B2940C9D0BFD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11098213" y="6076950"/>
            <a:ext cx="5651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817503D-A165-4792-BA6D-82E35E225F35}" type="datetime'''''''''G''B''''''''''2''00'' ''''N''''''''''V''''L7''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7" name="Text Placeholder 4">
            <a:extLst>
              <a:ext uri="{FF2B5EF4-FFF2-40B4-BE49-F238E27FC236}">
                <a16:creationId xmlns:a16="http://schemas.microsoft.com/office/drawing/2014/main" id="{2CD000E8-9C1A-5C05-2734-2E71009A5C12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094788" y="47037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57B1B42-F7E2-45F5-BFDB-832BED93DD43}" type="datetime'''''''''''''''''''''-''''''5''''6''''''''''''''''%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43" name="文本框 3242">
            <a:extLst>
              <a:ext uri="{FF2B5EF4-FFF2-40B4-BE49-F238E27FC236}">
                <a16:creationId xmlns:a16="http://schemas.microsoft.com/office/drawing/2014/main" id="{A71C0119-D653-5A9F-81EE-166DF1275879}"/>
              </a:ext>
            </a:extLst>
          </p:cNvPr>
          <p:cNvSpPr txBox="1"/>
          <p:nvPr/>
        </p:nvSpPr>
        <p:spPr>
          <a:xfrm>
            <a:off x="6648814" y="4525169"/>
            <a:ext cx="2214563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 per TFLOPS</a:t>
            </a:r>
          </a:p>
        </p:txBody>
      </p:sp>
      <p:sp>
        <p:nvSpPr>
          <p:cNvPr id="3244" name="文本框 3243">
            <a:extLst>
              <a:ext uri="{FF2B5EF4-FFF2-40B4-BE49-F238E27FC236}">
                <a16:creationId xmlns:a16="http://schemas.microsoft.com/office/drawing/2014/main" id="{AF74CE28-2416-6AAE-26F4-EA6F6AB28A8A}"/>
              </a:ext>
            </a:extLst>
          </p:cNvPr>
          <p:cNvSpPr txBox="1"/>
          <p:nvPr/>
        </p:nvSpPr>
        <p:spPr>
          <a:xfrm>
            <a:off x="6518661" y="3917094"/>
            <a:ext cx="536060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consumes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+200%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per TFLOP than NVL72,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 represent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this gap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08053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27935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1" imgW="349" imgH="350" progId="TCLayout.ActiveDocument.1">
                  <p:embed/>
                </p:oleObj>
              </mc:Choice>
              <mc:Fallback>
                <p:oleObj name="think-cell 幻灯片" r:id="rId31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lvl="0">
              <a:defRPr/>
            </a:pPr>
            <a:r>
              <a:rPr lang="en-US" altLang="zh-CN" dirty="0">
                <a:solidFill>
                  <a:srgbClr val="53585F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CPO: a multi-billion-dollar market paved by data rate scaling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133321FE-471A-9D58-E3A4-347153EAA1B8}"/>
              </a:ext>
            </a:extLst>
          </p:cNvPr>
          <p:cNvSpPr txBox="1">
            <a:spLocks/>
          </p:cNvSpPr>
          <p:nvPr/>
        </p:nvSpPr>
        <p:spPr bwMode="gray">
          <a:xfrm>
            <a:off x="1041329" y="1720374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Potential Ports</a:t>
            </a: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6491FCF5-AD49-434C-5A20-FF06D36E6CB1}"/>
              </a:ext>
            </a:extLst>
          </p:cNvPr>
          <p:cNvSpPr txBox="1">
            <a:spLocks/>
          </p:cNvSpPr>
          <p:nvPr/>
        </p:nvSpPr>
        <p:spPr bwMode="gray">
          <a:xfrm>
            <a:off x="1041328" y="3902149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Penetration Rate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4</a:t>
            </a:r>
            <a:endParaRPr kumimoji="1" lang="zh-CN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8" name="Textplatzhalter 9">
            <a:extLst>
              <a:ext uri="{FF2B5EF4-FFF2-40B4-BE49-F238E27FC236}">
                <a16:creationId xmlns:a16="http://schemas.microsoft.com/office/drawing/2014/main" id="{9B00FACC-372C-5C1D-5048-D7C653DF206B}"/>
              </a:ext>
            </a:extLst>
          </p:cNvPr>
          <p:cNvSpPr txBox="1">
            <a:spLocks/>
          </p:cNvSpPr>
          <p:nvPr/>
        </p:nvSpPr>
        <p:spPr bwMode="gray">
          <a:xfrm>
            <a:off x="1041329" y="5215567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Unit Price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5</a:t>
            </a: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AAAD5A-F8E2-104B-6B50-9D8452BBF226}"/>
              </a:ext>
            </a:extLst>
          </p:cNvPr>
          <p:cNvSpPr txBox="1"/>
          <p:nvPr/>
        </p:nvSpPr>
        <p:spPr>
          <a:xfrm>
            <a:off x="241089" y="908427"/>
            <a:ext cx="1232094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Scale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4CFA27-1578-017B-51D5-05E1E2E9944F}"/>
              </a:ext>
            </a:extLst>
          </p:cNvPr>
          <p:cNvSpPr txBox="1"/>
          <p:nvPr/>
        </p:nvSpPr>
        <p:spPr>
          <a:xfrm>
            <a:off x="1400991" y="908426"/>
            <a:ext cx="164168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: 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~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$10 bn </a:t>
            </a:r>
            <a:r>
              <a:rPr kumimoji="1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 2028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7A51EBDC-CB07-8627-0006-B31EF5BB4551}"/>
              </a:ext>
            </a:extLst>
          </p:cNvPr>
          <p:cNvCxnSpPr>
            <a:cxnSpLocks/>
            <a:stCxn id="3" idx="2"/>
            <a:endCxn id="16" idx="1"/>
          </p:cNvCxnSpPr>
          <p:nvPr/>
        </p:nvCxnSpPr>
        <p:spPr>
          <a:xfrm rot="16200000" flipH="1">
            <a:off x="646010" y="1448165"/>
            <a:ext cx="606445" cy="184193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26AFD03A-67CB-4AE1-FEED-B5A5484B352C}"/>
              </a:ext>
            </a:extLst>
          </p:cNvPr>
          <p:cNvCxnSpPr>
            <a:cxnSpLocks/>
            <a:stCxn id="3" idx="2"/>
            <a:endCxn id="17" idx="1"/>
          </p:cNvCxnSpPr>
          <p:nvPr/>
        </p:nvCxnSpPr>
        <p:spPr>
          <a:xfrm rot="16200000" flipH="1">
            <a:off x="-444878" y="2539054"/>
            <a:ext cx="2788220" cy="184192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6E224059-1B99-F5CF-A4B7-F2683AF536C2}"/>
              </a:ext>
            </a:extLst>
          </p:cNvPr>
          <p:cNvCxnSpPr>
            <a:cxnSpLocks/>
            <a:stCxn id="3" idx="2"/>
            <a:endCxn id="18" idx="1"/>
          </p:cNvCxnSpPr>
          <p:nvPr/>
        </p:nvCxnSpPr>
        <p:spPr>
          <a:xfrm rot="16200000" flipH="1">
            <a:off x="-1101587" y="3195762"/>
            <a:ext cx="4101638" cy="184193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A6FB2F7F-8885-41A9-3656-5B3F067CEC91}"/>
              </a:ext>
            </a:extLst>
          </p:cNvPr>
          <p:cNvSpPr txBox="1"/>
          <p:nvPr/>
        </p:nvSpPr>
        <p:spPr>
          <a:xfrm>
            <a:off x="1177209" y="2010956"/>
            <a:ext cx="1997649" cy="523220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 Shipments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45" name="Textplatzhalter 9">
            <a:extLst>
              <a:ext uri="{FF2B5EF4-FFF2-40B4-BE49-F238E27FC236}">
                <a16:creationId xmlns:a16="http://schemas.microsoft.com/office/drawing/2014/main" id="{DDAB04C4-EB46-7D5D-3566-ADC7163CC7A3}"/>
              </a:ext>
            </a:extLst>
          </p:cNvPr>
          <p:cNvSpPr txBox="1">
            <a:spLocks/>
          </p:cNvSpPr>
          <p:nvPr/>
        </p:nvSpPr>
        <p:spPr bwMode="gray">
          <a:xfrm>
            <a:off x="4173245" y="1662305"/>
            <a:ext cx="1922753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Shipments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46" name="Textplatzhalter 9">
            <a:extLst>
              <a:ext uri="{FF2B5EF4-FFF2-40B4-BE49-F238E27FC236}">
                <a16:creationId xmlns:a16="http://schemas.microsoft.com/office/drawing/2014/main" id="{5EF8663E-051B-B4A4-54DB-38B83B7C0B33}"/>
              </a:ext>
            </a:extLst>
          </p:cNvPr>
          <p:cNvSpPr txBox="1">
            <a:spLocks/>
          </p:cNvSpPr>
          <p:nvPr/>
        </p:nvSpPr>
        <p:spPr bwMode="gray">
          <a:xfrm>
            <a:off x="4173245" y="2985404"/>
            <a:ext cx="3147935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Shipment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53AB518C-C4AA-2D26-2D1E-648D1301FD07}"/>
              </a:ext>
            </a:extLst>
          </p:cNvPr>
          <p:cNvCxnSpPr>
            <a:cxnSpLocks/>
            <a:stCxn id="44" idx="1"/>
            <a:endCxn id="1031" idx="1"/>
          </p:cNvCxnSpPr>
          <p:nvPr/>
        </p:nvCxnSpPr>
        <p:spPr>
          <a:xfrm>
            <a:off x="3168319" y="2010956"/>
            <a:ext cx="801277" cy="641137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17F350D-6B79-18FD-51E5-6B5B0A7A3634}"/>
              </a:ext>
            </a:extLst>
          </p:cNvPr>
          <p:cNvGrpSpPr/>
          <p:nvPr/>
        </p:nvGrpSpPr>
        <p:grpSpPr>
          <a:xfrm>
            <a:off x="4964140" y="1199243"/>
            <a:ext cx="886779" cy="257609"/>
            <a:chOff x="5019885" y="4088857"/>
            <a:chExt cx="969121" cy="350678"/>
          </a:xfrm>
        </p:grpSpPr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6740A79A-8726-4776-9DD3-2CE7E1AFE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A3C19EEB-AA1B-8A22-383D-36E1201DD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sp>
        <p:nvSpPr>
          <p:cNvPr id="1024" name="Textplatzhalter 9">
            <a:extLst>
              <a:ext uri="{FF2B5EF4-FFF2-40B4-BE49-F238E27FC236}">
                <a16:creationId xmlns:a16="http://schemas.microsoft.com/office/drawing/2014/main" id="{1332662F-95E6-6C6C-14F0-42E36CBF7D68}"/>
              </a:ext>
            </a:extLst>
          </p:cNvPr>
          <p:cNvSpPr txBox="1">
            <a:spLocks/>
          </p:cNvSpPr>
          <p:nvPr/>
        </p:nvSpPr>
        <p:spPr bwMode="gray">
          <a:xfrm>
            <a:off x="4173245" y="2103338"/>
            <a:ext cx="330249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grpSp>
        <p:nvGrpSpPr>
          <p:cNvPr id="1032" name="组合 1031">
            <a:extLst>
              <a:ext uri="{FF2B5EF4-FFF2-40B4-BE49-F238E27FC236}">
                <a16:creationId xmlns:a16="http://schemas.microsoft.com/office/drawing/2014/main" id="{1D87FE20-FB05-1D1F-2AFD-520976D32D80}"/>
              </a:ext>
            </a:extLst>
          </p:cNvPr>
          <p:cNvGrpSpPr/>
          <p:nvPr/>
        </p:nvGrpSpPr>
        <p:grpSpPr>
          <a:xfrm>
            <a:off x="4997104" y="2534572"/>
            <a:ext cx="1124028" cy="256470"/>
            <a:chOff x="4391911" y="2529715"/>
            <a:chExt cx="1124028" cy="256470"/>
          </a:xfrm>
        </p:grpSpPr>
        <p:pic>
          <p:nvPicPr>
            <p:cNvPr id="63" name="Picture 2">
              <a:extLst>
                <a:ext uri="{FF2B5EF4-FFF2-40B4-BE49-F238E27FC236}">
                  <a16:creationId xmlns:a16="http://schemas.microsoft.com/office/drawing/2014/main" id="{C3BE9785-5F82-55B9-BDDA-BA31D657AC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8690" y="2543766"/>
              <a:ext cx="237249" cy="228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¿Qué es Amazon Web Services (AWS) y por qué aprenderlo? – Programa en Línea">
              <a:extLst>
                <a:ext uri="{FF2B5EF4-FFF2-40B4-BE49-F238E27FC236}">
                  <a16:creationId xmlns:a16="http://schemas.microsoft.com/office/drawing/2014/main" id="{E2DB309D-C908-878B-CC14-DA377EDBB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362" y="2543766"/>
              <a:ext cx="342448" cy="228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Google Cloud Logo - Significado, História e PNG">
              <a:extLst>
                <a:ext uri="{FF2B5EF4-FFF2-40B4-BE49-F238E27FC236}">
                  <a16:creationId xmlns:a16="http://schemas.microsoft.com/office/drawing/2014/main" id="{6975AF66-40D0-D28E-8A61-2D0CBBEF7F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576" t="3770" r="22049" b="1928"/>
            <a:stretch/>
          </p:blipFill>
          <p:spPr bwMode="auto">
            <a:xfrm>
              <a:off x="4391911" y="2529715"/>
              <a:ext cx="272570" cy="256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27" name="Textplatzhalter 9">
            <a:extLst>
              <a:ext uri="{FF2B5EF4-FFF2-40B4-BE49-F238E27FC236}">
                <a16:creationId xmlns:a16="http://schemas.microsoft.com/office/drawing/2014/main" id="{22552676-7B18-0D9A-89FB-138C0250C458}"/>
              </a:ext>
            </a:extLst>
          </p:cNvPr>
          <p:cNvSpPr txBox="1">
            <a:spLocks/>
          </p:cNvSpPr>
          <p:nvPr/>
        </p:nvSpPr>
        <p:spPr bwMode="gray">
          <a:xfrm>
            <a:off x="4173245" y="3426437"/>
            <a:ext cx="330249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029" name="Textplatzhalter 9">
            <a:extLst>
              <a:ext uri="{FF2B5EF4-FFF2-40B4-BE49-F238E27FC236}">
                <a16:creationId xmlns:a16="http://schemas.microsoft.com/office/drawing/2014/main" id="{E2B009F4-8061-4E51-9FD0-C395BF5B0898}"/>
              </a:ext>
            </a:extLst>
          </p:cNvPr>
          <p:cNvSpPr txBox="1">
            <a:spLocks/>
          </p:cNvSpPr>
          <p:nvPr/>
        </p:nvSpPr>
        <p:spPr bwMode="gray">
          <a:xfrm>
            <a:off x="3967309" y="1221272"/>
            <a:ext cx="953509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Ports</a:t>
            </a:r>
          </a:p>
        </p:txBody>
      </p:sp>
      <p:sp>
        <p:nvSpPr>
          <p:cNvPr id="1031" name="Textplatzhalter 9">
            <a:extLst>
              <a:ext uri="{FF2B5EF4-FFF2-40B4-BE49-F238E27FC236}">
                <a16:creationId xmlns:a16="http://schemas.microsoft.com/office/drawing/2014/main" id="{3031B129-A9F8-A3CA-9A25-09FCA5061D45}"/>
              </a:ext>
            </a:extLst>
          </p:cNvPr>
          <p:cNvSpPr txBox="1">
            <a:spLocks/>
          </p:cNvSpPr>
          <p:nvPr/>
        </p:nvSpPr>
        <p:spPr bwMode="gray">
          <a:xfrm>
            <a:off x="3969596" y="2544371"/>
            <a:ext cx="970791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Ports</a:t>
            </a:r>
          </a:p>
        </p:txBody>
      </p:sp>
      <p:cxnSp>
        <p:nvCxnSpPr>
          <p:cNvPr id="1034" name="连接符: 肘形 1033">
            <a:extLst>
              <a:ext uri="{FF2B5EF4-FFF2-40B4-BE49-F238E27FC236}">
                <a16:creationId xmlns:a16="http://schemas.microsoft.com/office/drawing/2014/main" id="{70840A1C-CF44-1D56-14C2-41FEFB5DCBAC}"/>
              </a:ext>
            </a:extLst>
          </p:cNvPr>
          <p:cNvCxnSpPr>
            <a:cxnSpLocks/>
            <a:stCxn id="44" idx="1"/>
            <a:endCxn id="1029" idx="1"/>
          </p:cNvCxnSpPr>
          <p:nvPr/>
        </p:nvCxnSpPr>
        <p:spPr>
          <a:xfrm flipV="1">
            <a:off x="3168319" y="1328994"/>
            <a:ext cx="798990" cy="681962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35" name="Chart 3">
            <a:extLst>
              <a:ext uri="{FF2B5EF4-FFF2-40B4-BE49-F238E27FC236}">
                <a16:creationId xmlns:a16="http://schemas.microsoft.com/office/drawing/2014/main" id="{BB66B055-19F1-1363-64C4-78015BAD19D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52593079"/>
              </p:ext>
            </p:extLst>
          </p:nvPr>
        </p:nvGraphicFramePr>
        <p:xfrm>
          <a:off x="3949700" y="3941763"/>
          <a:ext cx="2249488" cy="928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8"/>
          </a:graphicData>
        </a:graphic>
      </p:graphicFrame>
      <p:sp>
        <p:nvSpPr>
          <p:cNvPr id="1122" name="Text Placeholder 4">
            <a:extLst>
              <a:ext uri="{FF2B5EF4-FFF2-40B4-BE49-F238E27FC236}">
                <a16:creationId xmlns:a16="http://schemas.microsoft.com/office/drawing/2014/main" id="{B06CF0C9-E443-79E3-28D0-5033F94EE76B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gray">
          <a:xfrm>
            <a:off x="3757613" y="4681538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47867155-0C77-46BF-9F6A-EEC40F0A4E8A}" type="datetime'''''''''''''''''''''''''''''''''''''''''''''''''0''''''''''''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en-US" sz="1400" dirty="0">
              <a:cs typeface="+mn-cs"/>
            </a:endParaRPr>
          </a:p>
        </p:txBody>
      </p:sp>
      <p:sp>
        <p:nvSpPr>
          <p:cNvPr id="1124" name="Text Placeholder 4">
            <a:extLst>
              <a:ext uri="{FF2B5EF4-FFF2-40B4-BE49-F238E27FC236}">
                <a16:creationId xmlns:a16="http://schemas.microsoft.com/office/drawing/2014/main" id="{BCCCB18C-3566-F8EA-669F-42EB6856D799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3500438" y="4300538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FE6B8691-5F22-4F76-A802-44B440702DB6}" type="datetime'''''''''''''''''''20''''''''''''''''''''''''''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20</a:t>
            </a:fld>
            <a:r>
              <a:rPr lang="en-US" altLang="en-US" sz="1400" dirty="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sp>
        <p:nvSpPr>
          <p:cNvPr id="1217" name="Text Placeholder 4">
            <a:extLst>
              <a:ext uri="{FF2B5EF4-FFF2-40B4-BE49-F238E27FC236}">
                <a16:creationId xmlns:a16="http://schemas.microsoft.com/office/drawing/2014/main" id="{709388AA-EE20-F5DD-D175-9FA72E6DD201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3500438" y="391795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242DE458-4F87-444A-A88B-4207F774D989}" type="datetime'''4''''''''''''''''0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40</a:t>
            </a:fld>
            <a:r>
              <a:rPr lang="en-US" altLang="en-US" sz="1400" dirty="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sp>
        <p:nvSpPr>
          <p:cNvPr id="1061" name="Text Placeholder 4">
            <a:extLst>
              <a:ext uri="{FF2B5EF4-FFF2-40B4-BE49-F238E27FC236}">
                <a16:creationId xmlns:a16="http://schemas.microsoft.com/office/drawing/2014/main" id="{330B9421-81E8-3987-E0F4-28829518F75A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3868738" y="484663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5A349D7-288B-4048-8601-5F55D45DFB5A}" type="datetime'''''''''''''''''''''''2''6''E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062" name="Text Placeholder 4">
            <a:extLst>
              <a:ext uri="{FF2B5EF4-FFF2-40B4-BE49-F238E27FC236}">
                <a16:creationId xmlns:a16="http://schemas.microsoft.com/office/drawing/2014/main" id="{988E448E-8B77-1400-E19A-6A3783D7276F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4911725" y="484663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9DCB31A-94AF-4E5F-A6D4-9E5E117C7FEC}" type="datetime'2''7''''''''''''''''''''''''''''''''''''''''''E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27E</a:t>
            </a:fld>
            <a:endParaRPr lang="en-US" sz="1400" dirty="0">
              <a:cs typeface="+mn-cs"/>
            </a:endParaRPr>
          </a:p>
        </p:txBody>
      </p:sp>
      <p:sp>
        <p:nvSpPr>
          <p:cNvPr id="1063" name="Text Placeholder 4">
            <a:extLst>
              <a:ext uri="{FF2B5EF4-FFF2-40B4-BE49-F238E27FC236}">
                <a16:creationId xmlns:a16="http://schemas.microsoft.com/office/drawing/2014/main" id="{966E5B4D-19F3-71AB-7F7C-DB12C3897E48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5953125" y="484663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60D3045-293C-4F33-8FC8-B69552A67803}" type="datetime'''''''2''''''''''''''''''''''8''''''''''E''''''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051" name="Text Placeholder 4">
            <a:extLst>
              <a:ext uri="{FF2B5EF4-FFF2-40B4-BE49-F238E27FC236}">
                <a16:creationId xmlns:a16="http://schemas.microsoft.com/office/drawing/2014/main" id="{5D58E8BE-6E49-2471-B20C-35AA8DB34F72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6462713" y="454977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DD8B0E8F-0D39-4D3C-A85D-A50756EE8777}" type="datetime'''''''''''''''''''''8''''''''''''''''''00G''''''''''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2AFC1402-D656-E6AF-AAAA-23FF900B434E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auto">
          <a:xfrm>
            <a:off x="6462713" y="428625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DD1A7DD-A28F-460A-B07A-F85E1437C2AD}" type="datetime'''''1''''''''''''''''''.''''''6''''''''''''''''''''''T''''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067" name="Text Placeholder 4">
            <a:extLst>
              <a:ext uri="{FF2B5EF4-FFF2-40B4-BE49-F238E27FC236}">
                <a16:creationId xmlns:a16="http://schemas.microsoft.com/office/drawing/2014/main" id="{967F946C-A303-81F3-DF78-6D378FC90C55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6462713" y="402272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BE37AC63-CBE8-4866-830B-4FEDB1586AA4}" type="datetime'''''3''''''''''''''.2''''''''''''''T''''''''''''''''''''''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 useBgFill="1">
        <p:nvSpPr>
          <p:cNvPr id="1349" name="Text Placeholder 4">
            <a:extLst>
              <a:ext uri="{FF2B5EF4-FFF2-40B4-BE49-F238E27FC236}">
                <a16:creationId xmlns:a16="http://schemas.microsoft.com/office/drawing/2014/main" id="{CE4BE880-A68A-7E8F-3169-3FD8D6102223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gray">
          <a:xfrm>
            <a:off x="5913438" y="4203700"/>
            <a:ext cx="406400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16CA07C-FE09-49D1-9088-5D452800708A}" type="datetime'''''''''''''''2''''''''''''''''''''''''''''5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25</a:t>
            </a:fld>
            <a:r>
              <a:rPr lang="en-US" altLang="en-US" sz="1400" b="1" dirty="0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352" name="Text Placeholder 4">
            <a:extLst>
              <a:ext uri="{FF2B5EF4-FFF2-40B4-BE49-F238E27FC236}">
                <a16:creationId xmlns:a16="http://schemas.microsoft.com/office/drawing/2014/main" id="{198A5A74-4BBC-A116-D461-F3AE0322BB2D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gray">
          <a:xfrm>
            <a:off x="5962650" y="45481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987FD7C-2B85-484F-9A3C-80EDC92470D8}" type="datetime'''''''''''''''''''''7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7</a:t>
            </a:fld>
            <a:r>
              <a:rPr lang="en-US" altLang="en-US" sz="1400" b="1" dirty="0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355" name="Text Placeholder 4">
            <a:extLst>
              <a:ext uri="{FF2B5EF4-FFF2-40B4-BE49-F238E27FC236}">
                <a16:creationId xmlns:a16="http://schemas.microsoft.com/office/drawing/2014/main" id="{AD8F9F10-DADD-48BA-F137-CA2D6C182CF4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gray">
          <a:xfrm>
            <a:off x="5913438" y="3943350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4E97A02-E8A8-4C51-841D-0C922340F557}" type="datetime'''''''''''''''''''''''''''''''''''''''''''''3''''''''0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30</a:t>
            </a:fld>
            <a:r>
              <a:rPr lang="en-US" altLang="en-US" sz="1400" b="1" dirty="0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071" name="文本框 1070">
            <a:extLst>
              <a:ext uri="{FF2B5EF4-FFF2-40B4-BE49-F238E27FC236}">
                <a16:creationId xmlns:a16="http://schemas.microsoft.com/office/drawing/2014/main" id="{F3AA76B9-FA8D-6A83-E9D4-BB84583A8DD8}"/>
              </a:ext>
            </a:extLst>
          </p:cNvPr>
          <p:cNvSpPr txBox="1"/>
          <p:nvPr/>
        </p:nvSpPr>
        <p:spPr>
          <a:xfrm>
            <a:off x="1177209" y="4196423"/>
            <a:ext cx="1997649" cy="523220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Transceivers =&gt; CPO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1406" name="Chart 3">
            <a:extLst>
              <a:ext uri="{FF2B5EF4-FFF2-40B4-BE49-F238E27FC236}">
                <a16:creationId xmlns:a16="http://schemas.microsoft.com/office/drawing/2014/main" id="{30918412-84DB-BD2F-FB7A-EF872EF6C79F}"/>
              </a:ext>
            </a:extLst>
          </p:cNvPr>
          <p:cNvGraphicFramePr/>
          <p:nvPr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3293344875"/>
              </p:ext>
            </p:extLst>
          </p:nvPr>
        </p:nvGraphicFramePr>
        <p:xfrm>
          <a:off x="3289300" y="5032375"/>
          <a:ext cx="3079750" cy="130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9"/>
          </a:graphicData>
        </a:graphic>
      </p:graphicFrame>
      <p:cxnSp>
        <p:nvCxnSpPr>
          <p:cNvPr id="1203" name="直接连接符 1202">
            <a:extLst>
              <a:ext uri="{FF2B5EF4-FFF2-40B4-BE49-F238E27FC236}">
                <a16:creationId xmlns:a16="http://schemas.microsoft.com/office/drawing/2014/main" id="{305A74FE-681B-4556-55F0-3CDD02243709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 flipH="1">
            <a:off x="6234113" y="5630863"/>
            <a:ext cx="23177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4" name="直接连接符 1213">
            <a:extLst>
              <a:ext uri="{FF2B5EF4-FFF2-40B4-BE49-F238E27FC236}">
                <a16:creationId xmlns:a16="http://schemas.microsoft.com/office/drawing/2014/main" id="{D20F600F-CFC5-F09F-4B43-E567779F8B64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 flipH="1">
            <a:off x="6234113" y="5367338"/>
            <a:ext cx="23177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0" name="直接连接符 1319">
            <a:extLst>
              <a:ext uri="{FF2B5EF4-FFF2-40B4-BE49-F238E27FC236}">
                <a16:creationId xmlns:a16="http://schemas.microsoft.com/office/drawing/2014/main" id="{37F86315-076B-9C76-9BA7-363FB7553367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>
            <a:off x="6116638" y="5746750"/>
            <a:ext cx="0" cy="444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1" name="直接连接符 1320">
            <a:extLst>
              <a:ext uri="{FF2B5EF4-FFF2-40B4-BE49-F238E27FC236}">
                <a16:creationId xmlns:a16="http://schemas.microsoft.com/office/drawing/2014/main" id="{653717A8-1559-2D64-1884-22E291E2145E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 flipH="1">
            <a:off x="6154738" y="5630863"/>
            <a:ext cx="79375" cy="1746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2" name="直接连接符 1321">
            <a:extLst>
              <a:ext uri="{FF2B5EF4-FFF2-40B4-BE49-F238E27FC236}">
                <a16:creationId xmlns:a16="http://schemas.microsoft.com/office/drawing/2014/main" id="{AB61B7BD-BB90-E80F-CA37-8E1A442F2029}"/>
              </a:ext>
            </a:extLst>
          </p:cNvPr>
          <p:cNvCxnSpPr/>
          <p:nvPr>
            <p:custDataLst>
              <p:tags r:id="rId20"/>
            </p:custDataLst>
          </p:nvPr>
        </p:nvCxnSpPr>
        <p:spPr bwMode="auto">
          <a:xfrm flipH="1">
            <a:off x="6154738" y="5367338"/>
            <a:ext cx="79375" cy="2190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5" name="Text Placeholder 4">
            <a:extLst>
              <a:ext uri="{FF2B5EF4-FFF2-40B4-BE49-F238E27FC236}">
                <a16:creationId xmlns:a16="http://schemas.microsoft.com/office/drawing/2014/main" id="{0DD96D3C-055A-D8BB-CDC8-42582D30AAA3}"/>
              </a:ext>
            </a:extLst>
          </p:cNvPr>
          <p:cNvSpPr>
            <a:spLocks noGrp="1"/>
          </p:cNvSpPr>
          <p:nvPr>
            <p:custDataLst>
              <p:tags r:id="rId21"/>
            </p:custDataLst>
          </p:nvPr>
        </p:nvSpPr>
        <p:spPr bwMode="auto">
          <a:xfrm>
            <a:off x="6491288" y="578802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B4E63B8-C341-49D6-B878-006EB4C21C21}" type="datetime'''''8''0''''''''''''''''''''''''''''''''''0''''''''G''''''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176" name="Text Placeholder 4">
            <a:extLst>
              <a:ext uri="{FF2B5EF4-FFF2-40B4-BE49-F238E27FC236}">
                <a16:creationId xmlns:a16="http://schemas.microsoft.com/office/drawing/2014/main" id="{624C3461-020C-074F-BF26-1EDBA285510B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auto">
          <a:xfrm>
            <a:off x="6491288" y="552450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5FE9A6A-E047-47A1-90A9-6213277DAF8B}" type="datetime'''''''1''.''''''''''''6''''''''''''''T''''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185" name="Text Placeholder 4">
            <a:extLst>
              <a:ext uri="{FF2B5EF4-FFF2-40B4-BE49-F238E27FC236}">
                <a16:creationId xmlns:a16="http://schemas.microsoft.com/office/drawing/2014/main" id="{E79D603B-F125-AF57-B45A-61EA4BB007F1}"/>
              </a:ext>
            </a:extLst>
          </p:cNvPr>
          <p:cNvSpPr>
            <a:spLocks noGrp="1"/>
          </p:cNvSpPr>
          <p:nvPr>
            <p:custDataLst>
              <p:tags r:id="rId23"/>
            </p:custDataLst>
          </p:nvPr>
        </p:nvSpPr>
        <p:spPr bwMode="auto">
          <a:xfrm>
            <a:off x="3868738" y="608488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81D3CCB-59E3-4CA2-ACE2-4A27CB289630}" type="datetime'''''''''2''6E''''''''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186" name="Text Placeholder 4">
            <a:extLst>
              <a:ext uri="{FF2B5EF4-FFF2-40B4-BE49-F238E27FC236}">
                <a16:creationId xmlns:a16="http://schemas.microsoft.com/office/drawing/2014/main" id="{D9C3CA1D-FA94-0604-D2EE-C0A5BD5B6920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auto">
          <a:xfrm>
            <a:off x="4911725" y="608488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CA7C7D3-3D25-4255-AD05-62EC1F47FD6F}" type="datetime'''''''''''''''''''''27''''''''''''''''''E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27E</a:t>
            </a:fld>
            <a:endParaRPr lang="en-US" sz="1400" dirty="0">
              <a:cs typeface="+mn-cs"/>
            </a:endParaRPr>
          </a:p>
        </p:txBody>
      </p:sp>
      <p:sp>
        <p:nvSpPr>
          <p:cNvPr id="1187" name="Text Placeholder 4">
            <a:extLst>
              <a:ext uri="{FF2B5EF4-FFF2-40B4-BE49-F238E27FC236}">
                <a16:creationId xmlns:a16="http://schemas.microsoft.com/office/drawing/2014/main" id="{8C7BEA7D-AD57-5293-5AF4-D76D477D78A1}"/>
              </a:ext>
            </a:extLst>
          </p:cNvPr>
          <p:cNvSpPr>
            <a:spLocks noGrp="1"/>
          </p:cNvSpPr>
          <p:nvPr>
            <p:custDataLst>
              <p:tags r:id="rId25"/>
            </p:custDataLst>
          </p:nvPr>
        </p:nvSpPr>
        <p:spPr bwMode="auto">
          <a:xfrm>
            <a:off x="5953125" y="608488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360A474-07FD-47AB-92FD-68BFAAA78307}" type="datetime'''''''''''2''''''''''''''8''''''E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191" name="Text Placeholder 4">
            <a:extLst>
              <a:ext uri="{FF2B5EF4-FFF2-40B4-BE49-F238E27FC236}">
                <a16:creationId xmlns:a16="http://schemas.microsoft.com/office/drawing/2014/main" id="{8AEE3103-7C8D-C7BB-3B76-C371FD3D6632}"/>
              </a:ext>
            </a:extLst>
          </p:cNvPr>
          <p:cNvSpPr>
            <a:spLocks noGrp="1"/>
          </p:cNvSpPr>
          <p:nvPr>
            <p:custDataLst>
              <p:tags r:id="rId26"/>
            </p:custDataLst>
          </p:nvPr>
        </p:nvSpPr>
        <p:spPr bwMode="auto">
          <a:xfrm>
            <a:off x="6491288" y="526097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2448D4-E7C6-479F-93DB-6E5C22BE3ACD}" type="datetime'''''''''''''3.''''''2''''''''''''T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 useBgFill="1">
        <p:nvSpPr>
          <p:cNvPr id="1313" name="Text Placeholder 4">
            <a:extLst>
              <a:ext uri="{FF2B5EF4-FFF2-40B4-BE49-F238E27FC236}">
                <a16:creationId xmlns:a16="http://schemas.microsoft.com/office/drawing/2014/main" id="{5C7A75C5-9DC0-05D4-CE95-5DF02EB904DC}"/>
              </a:ext>
            </a:extLst>
          </p:cNvPr>
          <p:cNvSpPr>
            <a:spLocks noGrp="1"/>
          </p:cNvSpPr>
          <p:nvPr>
            <p:custDataLst>
              <p:tags r:id="rId27"/>
            </p:custDataLst>
          </p:nvPr>
        </p:nvSpPr>
        <p:spPr bwMode="gray">
          <a:xfrm>
            <a:off x="5943600" y="5810250"/>
            <a:ext cx="3460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372C3F5-A30C-4A48-B41E-9574E8470BA2}" type="datetime'''''''''''''''''''''''''''''3''''''2''0''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320</a:t>
            </a:fld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314" name="Text Placeholder 4">
            <a:extLst>
              <a:ext uri="{FF2B5EF4-FFF2-40B4-BE49-F238E27FC236}">
                <a16:creationId xmlns:a16="http://schemas.microsoft.com/office/drawing/2014/main" id="{58F10D7B-4516-0CBE-94EE-89C90AB2EEA8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gray">
          <a:xfrm>
            <a:off x="5943600" y="5534025"/>
            <a:ext cx="3460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8BD5130-CB36-42DB-BE1A-FBF1320FC889}" type="datetime'''''''''''''''''''''''6''''4''''''''0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640</a:t>
            </a:fld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219" name="文本框 1218">
            <a:extLst>
              <a:ext uri="{FF2B5EF4-FFF2-40B4-BE49-F238E27FC236}">
                <a16:creationId xmlns:a16="http://schemas.microsoft.com/office/drawing/2014/main" id="{430E845B-A1CC-4553-9086-1EB2235674E3}"/>
              </a:ext>
            </a:extLst>
          </p:cNvPr>
          <p:cNvSpPr txBox="1"/>
          <p:nvPr/>
        </p:nvSpPr>
        <p:spPr>
          <a:xfrm>
            <a:off x="1177209" y="5489029"/>
            <a:ext cx="2112091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ASP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242" name="Textplatzhalter 9">
            <a:extLst>
              <a:ext uri="{FF2B5EF4-FFF2-40B4-BE49-F238E27FC236}">
                <a16:creationId xmlns:a16="http://schemas.microsoft.com/office/drawing/2014/main" id="{692C5931-3CCF-D55F-4677-A886D3FC9611}"/>
              </a:ext>
            </a:extLst>
          </p:cNvPr>
          <p:cNvSpPr txBox="1">
            <a:spLocks/>
          </p:cNvSpPr>
          <p:nvPr/>
        </p:nvSpPr>
        <p:spPr bwMode="gray">
          <a:xfrm>
            <a:off x="7153721" y="5238919"/>
            <a:ext cx="3302499" cy="43345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 kumimoji="1" sz="1400">
                <a:solidFill>
                  <a:srgbClr val="53585F">
                    <a:lumMod val="50000"/>
                  </a:srgbClr>
                </a:solidFill>
                <a:cs typeface="+mn-ea"/>
              </a:defRPr>
            </a:lvl1pPr>
            <a:lvl2pPr marL="180975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2pPr>
            <a:lvl3pPr marL="36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3pPr>
            <a:lvl4pPr marL="541338" indent="-179388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/>
            </a:lvl4pPr>
            <a:lvl5pPr marL="72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zh-CN" sz="1200" dirty="0">
                <a:sym typeface="+mn-lt"/>
              </a:rPr>
              <a:t>2x data rate =&gt; 2x ASP;</a:t>
            </a:r>
          </a:p>
          <a:p>
            <a:r>
              <a:rPr lang="en-US" altLang="zh-CN" sz="1200" dirty="0">
                <a:sym typeface="+mn-lt"/>
              </a:rPr>
              <a:t>Descends by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20% annually</a:t>
            </a:r>
            <a:r>
              <a:rPr lang="en-US" altLang="zh-CN" sz="1200" dirty="0">
                <a:sym typeface="+mn-lt"/>
              </a:rPr>
              <a:t>.</a:t>
            </a:r>
          </a:p>
        </p:txBody>
      </p:sp>
      <p:sp>
        <p:nvSpPr>
          <p:cNvPr id="1248" name="文本框 1247">
            <a:extLst>
              <a:ext uri="{FF2B5EF4-FFF2-40B4-BE49-F238E27FC236}">
                <a16:creationId xmlns:a16="http://schemas.microsoft.com/office/drawing/2014/main" id="{B9B1CF88-61FC-54BA-FFE2-EF370A95B54F}"/>
              </a:ext>
            </a:extLst>
          </p:cNvPr>
          <p:cNvSpPr txBox="1"/>
          <p:nvPr/>
        </p:nvSpPr>
        <p:spPr>
          <a:xfrm>
            <a:off x="476056" y="6488020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HSBC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Goldman Sachs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2, 3, 5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b="0" i="1" u="none" strike="noStrike" kern="1200" cap="none" spc="0" normalizeH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Citi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4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.</a:t>
            </a:r>
          </a:p>
        </p:txBody>
      </p:sp>
      <p:sp>
        <p:nvSpPr>
          <p:cNvPr id="1249" name="Textplatzhalter 9">
            <a:extLst>
              <a:ext uri="{FF2B5EF4-FFF2-40B4-BE49-F238E27FC236}">
                <a16:creationId xmlns:a16="http://schemas.microsoft.com/office/drawing/2014/main" id="{19B337B2-D5E5-C2C9-AE76-908F57F2A0D8}"/>
              </a:ext>
            </a:extLst>
          </p:cNvPr>
          <p:cNvSpPr txBox="1">
            <a:spLocks/>
          </p:cNvSpPr>
          <p:nvPr/>
        </p:nvSpPr>
        <p:spPr bwMode="gray">
          <a:xfrm>
            <a:off x="7153721" y="4044485"/>
            <a:ext cx="3853227" cy="618118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3.2T: mass CPO penetration as transceivers hit the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upper limit of data rate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;</a:t>
            </a:r>
          </a:p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1.6T: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primary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and sustained penetration.</a:t>
            </a:r>
          </a:p>
        </p:txBody>
      </p:sp>
      <p:sp>
        <p:nvSpPr>
          <p:cNvPr id="1369" name="Textplatzhalter 9">
            <a:extLst>
              <a:ext uri="{FF2B5EF4-FFF2-40B4-BE49-F238E27FC236}">
                <a16:creationId xmlns:a16="http://schemas.microsoft.com/office/drawing/2014/main" id="{9C61EA30-EC03-DB77-DDE9-7D0334F34DA0}"/>
              </a:ext>
            </a:extLst>
          </p:cNvPr>
          <p:cNvSpPr txBox="1">
            <a:spLocks/>
          </p:cNvSpPr>
          <p:nvPr/>
        </p:nvSpPr>
        <p:spPr bwMode="gray">
          <a:xfrm>
            <a:off x="7153721" y="1660696"/>
            <a:ext cx="4696435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(1.8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and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Ultra (3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replace Hopper and Blackwell.</a:t>
            </a:r>
          </a:p>
        </p:txBody>
      </p:sp>
      <p:sp>
        <p:nvSpPr>
          <p:cNvPr id="1375" name="文本框 1374">
            <a:extLst>
              <a:ext uri="{FF2B5EF4-FFF2-40B4-BE49-F238E27FC236}">
                <a16:creationId xmlns:a16="http://schemas.microsoft.com/office/drawing/2014/main" id="{76F2B39E-2A54-4575-5AFD-56BA2C129BE1}"/>
              </a:ext>
            </a:extLst>
          </p:cNvPr>
          <p:cNvSpPr txBox="1"/>
          <p:nvPr/>
        </p:nvSpPr>
        <p:spPr>
          <a:xfrm>
            <a:off x="2468864" y="1700980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~80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76" name="文本框 1375">
            <a:extLst>
              <a:ext uri="{FF2B5EF4-FFF2-40B4-BE49-F238E27FC236}">
                <a16:creationId xmlns:a16="http://schemas.microsoft.com/office/drawing/2014/main" id="{81CA0002-94CC-CC2D-994D-89171AAE0B80}"/>
              </a:ext>
            </a:extLst>
          </p:cNvPr>
          <p:cNvSpPr txBox="1"/>
          <p:nvPr/>
        </p:nvSpPr>
        <p:spPr>
          <a:xfrm>
            <a:off x="2709224" y="3872774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~20%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377" name="文本框 1376">
            <a:extLst>
              <a:ext uri="{FF2B5EF4-FFF2-40B4-BE49-F238E27FC236}">
                <a16:creationId xmlns:a16="http://schemas.microsoft.com/office/drawing/2014/main" id="{F446EDFB-20D2-6756-38F8-5209CCD8859D}"/>
              </a:ext>
            </a:extLst>
          </p:cNvPr>
          <p:cNvSpPr txBox="1"/>
          <p:nvPr/>
        </p:nvSpPr>
        <p:spPr>
          <a:xfrm>
            <a:off x="2097374" y="5179350"/>
            <a:ext cx="2112091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~$800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393" name="文本框 1392">
            <a:extLst>
              <a:ext uri="{FF2B5EF4-FFF2-40B4-BE49-F238E27FC236}">
                <a16:creationId xmlns:a16="http://schemas.microsoft.com/office/drawing/2014/main" id="{4DC0B05E-6518-8C5B-F97D-2CE5B0E8645C}"/>
              </a:ext>
            </a:extLst>
          </p:cNvPr>
          <p:cNvSpPr txBox="1"/>
          <p:nvPr/>
        </p:nvSpPr>
        <p:spPr>
          <a:xfrm>
            <a:off x="5519154" y="1613973"/>
            <a:ext cx="858356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~4.8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16" name="文本框 1415">
            <a:extLst>
              <a:ext uri="{FF2B5EF4-FFF2-40B4-BE49-F238E27FC236}">
                <a16:creationId xmlns:a16="http://schemas.microsoft.com/office/drawing/2014/main" id="{116CCA58-F5E6-1706-E874-92A77133DBA3}"/>
              </a:ext>
            </a:extLst>
          </p:cNvPr>
          <p:cNvSpPr txBox="1"/>
          <p:nvPr/>
        </p:nvSpPr>
        <p:spPr>
          <a:xfrm>
            <a:off x="5999427" y="2038349"/>
            <a:ext cx="1530050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17" name="文本框 1416">
            <a:extLst>
              <a:ext uri="{FF2B5EF4-FFF2-40B4-BE49-F238E27FC236}">
                <a16:creationId xmlns:a16="http://schemas.microsoft.com/office/drawing/2014/main" id="{61964997-15BE-BF36-AFAD-E7D11AA4FF61}"/>
              </a:ext>
            </a:extLst>
          </p:cNvPr>
          <p:cNvSpPr txBox="1"/>
          <p:nvPr/>
        </p:nvSpPr>
        <p:spPr>
          <a:xfrm>
            <a:off x="5533472" y="2935474"/>
            <a:ext cx="858356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~6.3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18" name="文本框 1417">
            <a:extLst>
              <a:ext uri="{FF2B5EF4-FFF2-40B4-BE49-F238E27FC236}">
                <a16:creationId xmlns:a16="http://schemas.microsoft.com/office/drawing/2014/main" id="{3EDB9800-E355-2737-F766-E1479A7CF65D}"/>
              </a:ext>
            </a:extLst>
          </p:cNvPr>
          <p:cNvSpPr txBox="1"/>
          <p:nvPr/>
        </p:nvSpPr>
        <p:spPr>
          <a:xfrm>
            <a:off x="6051701" y="3376606"/>
            <a:ext cx="1530050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9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19" name="Textplatzhalter 9">
            <a:extLst>
              <a:ext uri="{FF2B5EF4-FFF2-40B4-BE49-F238E27FC236}">
                <a16:creationId xmlns:a16="http://schemas.microsoft.com/office/drawing/2014/main" id="{F33DF096-EC3C-1D64-F689-F1526B680CF4}"/>
              </a:ext>
            </a:extLst>
          </p:cNvPr>
          <p:cNvSpPr txBox="1">
            <a:spLocks/>
          </p:cNvSpPr>
          <p:nvPr/>
        </p:nvSpPr>
        <p:spPr bwMode="gray">
          <a:xfrm>
            <a:off x="7153721" y="2089234"/>
            <a:ext cx="4696436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=&gt; 5 : 1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. Rubin requires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twice the number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of transceivers compared to GB300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~3x 1.6T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transceivers / card).</a:t>
            </a:r>
          </a:p>
        </p:txBody>
      </p:sp>
      <p:sp>
        <p:nvSpPr>
          <p:cNvPr id="1420" name="Textplatzhalter 9">
            <a:extLst>
              <a:ext uri="{FF2B5EF4-FFF2-40B4-BE49-F238E27FC236}">
                <a16:creationId xmlns:a16="http://schemas.microsoft.com/office/drawing/2014/main" id="{1C0E3EB3-CE6D-5FD1-3011-2D0A4894D15D}"/>
              </a:ext>
            </a:extLst>
          </p:cNvPr>
          <p:cNvSpPr txBox="1">
            <a:spLocks/>
          </p:cNvSpPr>
          <p:nvPr/>
        </p:nvSpPr>
        <p:spPr bwMode="gray">
          <a:xfrm>
            <a:off x="7153721" y="3429000"/>
            <a:ext cx="4696436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 : 1 =&gt; 9 : 1, driven by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lower performance per card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increased cluster networking complexity.</a:t>
            </a:r>
          </a:p>
        </p:txBody>
      </p:sp>
      <p:sp>
        <p:nvSpPr>
          <p:cNvPr id="1421" name="Textplatzhalter 9">
            <a:extLst>
              <a:ext uri="{FF2B5EF4-FFF2-40B4-BE49-F238E27FC236}">
                <a16:creationId xmlns:a16="http://schemas.microsoft.com/office/drawing/2014/main" id="{927DC90D-8F68-EF27-1640-F3FB06905974}"/>
              </a:ext>
            </a:extLst>
          </p:cNvPr>
          <p:cNvSpPr txBox="1">
            <a:spLocks/>
          </p:cNvSpPr>
          <p:nvPr/>
        </p:nvSpPr>
        <p:spPr bwMode="gray">
          <a:xfrm>
            <a:off x="7153720" y="2981640"/>
            <a:ext cx="473347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45% of total datacenter AI chip volumes (~13.8 </a:t>
            </a:r>
            <a:r>
              <a:rPr kumimoji="1" lang="en-US" altLang="zh-CN" dirty="0" err="1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); CAGR ~20%</a:t>
            </a:r>
          </a:p>
        </p:txBody>
      </p:sp>
      <p:sp>
        <p:nvSpPr>
          <p:cNvPr id="1423" name="文本框 1422">
            <a:extLst>
              <a:ext uri="{FF2B5EF4-FFF2-40B4-BE49-F238E27FC236}">
                <a16:creationId xmlns:a16="http://schemas.microsoft.com/office/drawing/2014/main" id="{CA575760-A05C-94E3-A9F6-D9BA29A60A55}"/>
              </a:ext>
            </a:extLst>
          </p:cNvPr>
          <p:cNvSpPr txBox="1"/>
          <p:nvPr/>
        </p:nvSpPr>
        <p:spPr>
          <a:xfrm>
            <a:off x="5883883" y="1182197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~25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24" name="文本框 1423">
            <a:extLst>
              <a:ext uri="{FF2B5EF4-FFF2-40B4-BE49-F238E27FC236}">
                <a16:creationId xmlns:a16="http://schemas.microsoft.com/office/drawing/2014/main" id="{37A4122F-AB89-43A6-8617-3D8D1B7A75E0}"/>
              </a:ext>
            </a:extLst>
          </p:cNvPr>
          <p:cNvSpPr txBox="1"/>
          <p:nvPr/>
        </p:nvSpPr>
        <p:spPr>
          <a:xfrm>
            <a:off x="6182743" y="2494948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~60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28" name="文本框 1427">
            <a:extLst>
              <a:ext uri="{FF2B5EF4-FFF2-40B4-BE49-F238E27FC236}">
                <a16:creationId xmlns:a16="http://schemas.microsoft.com/office/drawing/2014/main" id="{CADBA52A-2BD1-B0DF-7E59-294220A41D4F}"/>
              </a:ext>
            </a:extLst>
          </p:cNvPr>
          <p:cNvSpPr txBox="1"/>
          <p:nvPr/>
        </p:nvSpPr>
        <p:spPr>
          <a:xfrm>
            <a:off x="7171687" y="1161993"/>
            <a:ext cx="186493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Key Assumptions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6904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98761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B3C5221-71B9-57B2-CA12-5D544CA0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 key modules: silicon photonics, electrical IC, switch ASIC, and integration &amp; delivery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514350" y="1535563"/>
            <a:ext cx="1508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cs typeface="+mn-ea"/>
                <a:sym typeface="+mn-lt"/>
              </a:rPr>
              <a:t>External Light</a:t>
            </a:r>
            <a:endParaRPr lang="zh-CN" altLang="en-US" sz="1400" i="1" dirty="0">
              <a:cs typeface="+mn-ea"/>
              <a:sym typeface="+mn-lt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2217864" y="1535563"/>
            <a:ext cx="414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Routing + Conversion (Optical ↔ Electrical)</a:t>
            </a:r>
            <a:endParaRPr lang="zh-CN" altLang="en-US" sz="1400" dirty="0">
              <a:sym typeface="+mn-lt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5997272" y="1535563"/>
            <a:ext cx="304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Amplification + Optimization</a:t>
            </a:r>
            <a:endParaRPr lang="zh-CN" altLang="en-US" sz="1400" dirty="0"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67007" y="2591565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239235" y="3226435"/>
            <a:ext cx="3459485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650826" y="5136184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300351" y="5091857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Laser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89447" y="3252702"/>
            <a:ext cx="2175647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5999937" y="1125526"/>
            <a:ext cx="2947422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②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Electrical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9041796" y="1125526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③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Switch Chip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514350" y="1116582"/>
            <a:ext cx="1612358" cy="295991"/>
          </a:xfrm>
          <a:prstGeom prst="homePlat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Input/Output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1125526"/>
            <a:ext cx="3684355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①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Optical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8947359" y="1535563"/>
            <a:ext cx="2573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Control + Signal Processing</a:t>
            </a:r>
            <a:endParaRPr lang="zh-CN" altLang="en-US" sz="1400" dirty="0">
              <a:sym typeface="+mn-lt"/>
            </a:endParaRP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75775" y="3658264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Fiber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305997" y="3368016"/>
            <a:ext cx="1861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Silicon Photonics Chip</a:t>
            </a:r>
          </a:p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25554" y="3368016"/>
            <a:ext cx="1366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​Electrical IC</a:t>
            </a:r>
          </a:p>
          <a:p>
            <a:r>
              <a:rPr lang="en-US" altLang="zh-CN" sz="1800" dirty="0"/>
              <a:t>(EIC)​</a:t>
            </a:r>
            <a:endParaRPr lang="zh-CN" altLang="en-US" sz="1800" dirty="0">
              <a:sym typeface="+mn-lt"/>
            </a:endParaRP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9681740" y="2723323"/>
            <a:ext cx="13255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cs typeface="+mn-ea"/>
                <a:sym typeface="+mn-lt"/>
              </a:rPr>
              <a:t>Interposer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230293" y="3252789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57831" y="3695123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754848" y="3725567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703736" y="3852209"/>
            <a:ext cx="49347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301019" y="2140610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624078" y="3791285"/>
            <a:ext cx="696411" cy="1993389"/>
          </a:xfrm>
          <a:prstGeom prst="bentConnector3">
            <a:avLst>
              <a:gd name="adj1" fmla="val 5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4102846" y="3572314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6551" y="340330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872" y="4903928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14314" y="3867374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161102" y="3440100"/>
            <a:ext cx="146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ASIC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43587" y="-2495764"/>
            <a:ext cx="238588" cy="8924398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2525155" y="2147409"/>
            <a:ext cx="664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cs typeface="+mn-ea"/>
                <a:sym typeface="+mn-lt"/>
              </a:rPr>
              <a:t>④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Integration: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Advanced Packaging + System Integration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03422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39AD824-CE80-33BC-3477-49D09593F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50" y="94209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Supply chain: EICs &amp; switch chips - large Scale, high margin, long R&amp;D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696543" y="1005705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271419" y="1010177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7232627" y="1011475"/>
            <a:ext cx="2186792" cy="5020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536623" y="1662248"/>
            <a:ext cx="938820" cy="78205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2028E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6405CC-72E3-D9E6-DE06-5416FB124E56}"/>
              </a:ext>
            </a:extLst>
          </p:cNvPr>
          <p:cNvSpPr txBox="1"/>
          <p:nvPr/>
        </p:nvSpPr>
        <p:spPr>
          <a:xfrm>
            <a:off x="538396" y="4763702"/>
            <a:ext cx="521691" cy="114304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R&amp;D Cycle</a:t>
            </a:r>
          </a:p>
        </p:txBody>
      </p:sp>
      <p:sp>
        <p:nvSpPr>
          <p:cNvPr id="5141" name="文本框 5140">
            <a:extLst>
              <a:ext uri="{FF2B5EF4-FFF2-40B4-BE49-F238E27FC236}">
                <a16:creationId xmlns:a16="http://schemas.microsoft.com/office/drawing/2014/main" id="{F7E6E847-3356-477B-0451-FD2FA612CFF1}"/>
              </a:ext>
            </a:extLst>
          </p:cNvPr>
          <p:cNvSpPr txBox="1"/>
          <p:nvPr/>
        </p:nvSpPr>
        <p:spPr>
          <a:xfrm>
            <a:off x="214449" y="6280554"/>
            <a:ext cx="1176201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TechNavio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Huaxin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Inphi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Innolight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Scope limited in data-com market.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1612731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143" name="组合 5142">
            <a:extLst>
              <a:ext uri="{FF2B5EF4-FFF2-40B4-BE49-F238E27FC236}">
                <a16:creationId xmlns:a16="http://schemas.microsoft.com/office/drawing/2014/main" id="{DD841929-ADF6-484C-A8EC-6CE52010F1BB}"/>
              </a:ext>
            </a:extLst>
          </p:cNvPr>
          <p:cNvGrpSpPr/>
          <p:nvPr/>
        </p:nvGrpSpPr>
        <p:grpSpPr>
          <a:xfrm>
            <a:off x="1612731" y="1891407"/>
            <a:ext cx="524985" cy="323734"/>
            <a:chOff x="1754171" y="1821345"/>
            <a:chExt cx="524985" cy="323734"/>
          </a:xfrm>
        </p:grpSpPr>
        <p:sp>
          <p:nvSpPr>
            <p:cNvPr id="5139" name="椭圆 5138">
              <a:extLst>
                <a:ext uri="{FF2B5EF4-FFF2-40B4-BE49-F238E27FC236}">
                  <a16:creationId xmlns:a16="http://schemas.microsoft.com/office/drawing/2014/main" id="{33339ED0-034F-C0C7-4431-5A5B8CB922C4}"/>
                </a:ext>
              </a:extLst>
            </p:cNvPr>
            <p:cNvSpPr/>
            <p:nvPr/>
          </p:nvSpPr>
          <p:spPr>
            <a:xfrm>
              <a:off x="1830497" y="1825659"/>
              <a:ext cx="319723" cy="31942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40" name="文本框 5139">
              <a:extLst>
                <a:ext uri="{FF2B5EF4-FFF2-40B4-BE49-F238E27FC236}">
                  <a16:creationId xmlns:a16="http://schemas.microsoft.com/office/drawing/2014/main" id="{2E8076CA-6E11-F40A-4FC9-158485169E27}"/>
                </a:ext>
              </a:extLst>
            </p:cNvPr>
            <p:cNvSpPr txBox="1"/>
            <p:nvPr/>
          </p:nvSpPr>
          <p:spPr>
            <a:xfrm>
              <a:off x="1754171" y="1821345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42" name="文本框 5141">
            <a:extLst>
              <a:ext uri="{FF2B5EF4-FFF2-40B4-BE49-F238E27FC236}">
                <a16:creationId xmlns:a16="http://schemas.microsoft.com/office/drawing/2014/main" id="{47A5F87E-0888-DD24-02FE-DEF6E7890AA7}"/>
              </a:ext>
            </a:extLst>
          </p:cNvPr>
          <p:cNvSpPr txBox="1"/>
          <p:nvPr/>
        </p:nvSpPr>
        <p:spPr>
          <a:xfrm>
            <a:off x="2168396" y="1868608"/>
            <a:ext cx="17319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47" name="文本框 5146">
            <a:extLst>
              <a:ext uri="{FF2B5EF4-FFF2-40B4-BE49-F238E27FC236}">
                <a16:creationId xmlns:a16="http://schemas.microsoft.com/office/drawing/2014/main" id="{C9501E65-C238-4BD7-A284-98361153E127}"/>
              </a:ext>
            </a:extLst>
          </p:cNvPr>
          <p:cNvSpPr txBox="1"/>
          <p:nvPr/>
        </p:nvSpPr>
        <p:spPr>
          <a:xfrm>
            <a:off x="4234660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50" name="文本框 5149">
            <a:extLst>
              <a:ext uri="{FF2B5EF4-FFF2-40B4-BE49-F238E27FC236}">
                <a16:creationId xmlns:a16="http://schemas.microsoft.com/office/drawing/2014/main" id="{B135A926-2B11-18C8-545D-3FDA4D19E725}"/>
              </a:ext>
            </a:extLst>
          </p:cNvPr>
          <p:cNvSpPr txBox="1"/>
          <p:nvPr/>
        </p:nvSpPr>
        <p:spPr>
          <a:xfrm>
            <a:off x="4792224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67" name="文本框 5166">
            <a:extLst>
              <a:ext uri="{FF2B5EF4-FFF2-40B4-BE49-F238E27FC236}">
                <a16:creationId xmlns:a16="http://schemas.microsoft.com/office/drawing/2014/main" id="{0312E74B-0E18-11A3-90C0-CBD0F8F8F721}"/>
              </a:ext>
            </a:extLst>
          </p:cNvPr>
          <p:cNvSpPr txBox="1"/>
          <p:nvPr/>
        </p:nvSpPr>
        <p:spPr>
          <a:xfrm>
            <a:off x="538396" y="3507437"/>
            <a:ext cx="938820" cy="734751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Margin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5" name="文本框 5174">
            <a:extLst>
              <a:ext uri="{FF2B5EF4-FFF2-40B4-BE49-F238E27FC236}">
                <a16:creationId xmlns:a16="http://schemas.microsoft.com/office/drawing/2014/main" id="{D641C62B-0B62-EB64-0065-99C22DBEBF5A}"/>
              </a:ext>
            </a:extLst>
          </p:cNvPr>
          <p:cNvSpPr txBox="1"/>
          <p:nvPr/>
        </p:nvSpPr>
        <p:spPr>
          <a:xfrm>
            <a:off x="1612731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6" name="文本框 5175">
            <a:extLst>
              <a:ext uri="{FF2B5EF4-FFF2-40B4-BE49-F238E27FC236}">
                <a16:creationId xmlns:a16="http://schemas.microsoft.com/office/drawing/2014/main" id="{2D18F208-6F67-C687-BAD4-F1DB573B820C}"/>
              </a:ext>
            </a:extLst>
          </p:cNvPr>
          <p:cNvSpPr txBox="1"/>
          <p:nvPr/>
        </p:nvSpPr>
        <p:spPr>
          <a:xfrm>
            <a:off x="4234660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9" name="文本框 5178">
            <a:extLst>
              <a:ext uri="{FF2B5EF4-FFF2-40B4-BE49-F238E27FC236}">
                <a16:creationId xmlns:a16="http://schemas.microsoft.com/office/drawing/2014/main" id="{E4A184E9-3A80-ADD9-90D0-3BD2A6D536F2}"/>
              </a:ext>
            </a:extLst>
          </p:cNvPr>
          <p:cNvSpPr txBox="1"/>
          <p:nvPr/>
        </p:nvSpPr>
        <p:spPr>
          <a:xfrm>
            <a:off x="1612731" y="4839218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3" name="文本框 5182">
            <a:extLst>
              <a:ext uri="{FF2B5EF4-FFF2-40B4-BE49-F238E27FC236}">
                <a16:creationId xmlns:a16="http://schemas.microsoft.com/office/drawing/2014/main" id="{C394D483-8024-A943-E588-73ECFBF0CC3A}"/>
              </a:ext>
            </a:extLst>
          </p:cNvPr>
          <p:cNvSpPr txBox="1"/>
          <p:nvPr/>
        </p:nvSpPr>
        <p:spPr>
          <a:xfrm>
            <a:off x="4234660" y="4839218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59" name="组合 2058">
            <a:extLst>
              <a:ext uri="{FF2B5EF4-FFF2-40B4-BE49-F238E27FC236}">
                <a16:creationId xmlns:a16="http://schemas.microsoft.com/office/drawing/2014/main" id="{1953496E-86DF-99F3-061D-E28141D81585}"/>
              </a:ext>
            </a:extLst>
          </p:cNvPr>
          <p:cNvGrpSpPr/>
          <p:nvPr/>
        </p:nvGrpSpPr>
        <p:grpSpPr>
          <a:xfrm>
            <a:off x="5069024" y="4869996"/>
            <a:ext cx="2147657" cy="307777"/>
            <a:chOff x="4993028" y="3547148"/>
            <a:chExt cx="2147657" cy="307777"/>
          </a:xfrm>
        </p:grpSpPr>
        <p:sp>
          <p:nvSpPr>
            <p:cNvPr id="2054" name="文本框 2053">
              <a:extLst>
                <a:ext uri="{FF2B5EF4-FFF2-40B4-BE49-F238E27FC236}">
                  <a16:creationId xmlns:a16="http://schemas.microsoft.com/office/drawing/2014/main" id="{4AC1A078-CA47-8C37-8826-C1F307A00B44}"/>
                </a:ext>
              </a:extLst>
            </p:cNvPr>
            <p:cNvSpPr txBox="1"/>
            <p:nvPr/>
          </p:nvSpPr>
          <p:spPr>
            <a:xfrm>
              <a:off x="5378301" y="3547148"/>
              <a:ext cx="176238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DSP 3y/gen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pic>
          <p:nvPicPr>
            <p:cNvPr id="2055" name="图像" descr="图像">
              <a:extLst>
                <a:ext uri="{FF2B5EF4-FFF2-40B4-BE49-F238E27FC236}">
                  <a16:creationId xmlns:a16="http://schemas.microsoft.com/office/drawing/2014/main" id="{05F28215-B2B0-E495-9094-1D941684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3028" y="3615129"/>
              <a:ext cx="354793" cy="17106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0AE37A1E-0F31-DC60-88E1-BB228C6DC267}"/>
              </a:ext>
            </a:extLst>
          </p:cNvPr>
          <p:cNvSpPr txBox="1"/>
          <p:nvPr/>
        </p:nvSpPr>
        <p:spPr>
          <a:xfrm>
            <a:off x="5454297" y="5523742"/>
            <a:ext cx="15655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72" name="图片 2071">
            <a:extLst>
              <a:ext uri="{FF2B5EF4-FFF2-40B4-BE49-F238E27FC236}">
                <a16:creationId xmlns:a16="http://schemas.microsoft.com/office/drawing/2014/main" id="{7A11A869-01D0-BBE6-0206-EE2ACA931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4576" y="5575550"/>
            <a:ext cx="423690" cy="204161"/>
          </a:xfrm>
          <a:prstGeom prst="rect">
            <a:avLst/>
          </a:prstGeom>
        </p:spPr>
      </p:pic>
      <p:pic>
        <p:nvPicPr>
          <p:cNvPr id="2092" name="图片 2091">
            <a:extLst>
              <a:ext uri="{FF2B5EF4-FFF2-40B4-BE49-F238E27FC236}">
                <a16:creationId xmlns:a16="http://schemas.microsoft.com/office/drawing/2014/main" id="{5B17527F-4E79-4C72-E9D2-EBC04614C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1826" y="3669812"/>
            <a:ext cx="712529" cy="228150"/>
          </a:xfrm>
          <a:prstGeom prst="rect">
            <a:avLst/>
          </a:prstGeom>
        </p:spPr>
      </p:pic>
      <p:sp>
        <p:nvSpPr>
          <p:cNvPr id="2094" name="文本框 2093">
            <a:extLst>
              <a:ext uri="{FF2B5EF4-FFF2-40B4-BE49-F238E27FC236}">
                <a16:creationId xmlns:a16="http://schemas.microsoft.com/office/drawing/2014/main" id="{1230602E-C337-6B8F-6578-63BC7E423F3A}"/>
              </a:ext>
            </a:extLst>
          </p:cNvPr>
          <p:cNvSpPr txBox="1"/>
          <p:nvPr/>
        </p:nvSpPr>
        <p:spPr>
          <a:xfrm>
            <a:off x="7232627" y="3684241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5" name="图像" descr="图像">
            <a:extLst>
              <a:ext uri="{FF2B5EF4-FFF2-40B4-BE49-F238E27FC236}">
                <a16:creationId xmlns:a16="http://schemas.microsoft.com/office/drawing/2014/main" id="{61C6A25A-EB48-AE9F-683C-955E98C98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107" y="3780668"/>
            <a:ext cx="390523" cy="188289"/>
          </a:xfrm>
          <a:prstGeom prst="rect">
            <a:avLst/>
          </a:prstGeom>
          <a:ln w="12700">
            <a:miter lim="400000"/>
          </a:ln>
        </p:spPr>
      </p:pic>
      <p:sp>
        <p:nvSpPr>
          <p:cNvPr id="5181" name="文本框 5180">
            <a:extLst>
              <a:ext uri="{FF2B5EF4-FFF2-40B4-BE49-F238E27FC236}">
                <a16:creationId xmlns:a16="http://schemas.microsoft.com/office/drawing/2014/main" id="{BE2B5295-66CE-BD93-A4BE-80E17EDA9F7E}"/>
              </a:ext>
            </a:extLst>
          </p:cNvPr>
          <p:cNvSpPr txBox="1"/>
          <p:nvPr/>
        </p:nvSpPr>
        <p:spPr>
          <a:xfrm>
            <a:off x="2912867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82" name="图像" descr="图像">
            <a:extLst>
              <a:ext uri="{FF2B5EF4-FFF2-40B4-BE49-F238E27FC236}">
                <a16:creationId xmlns:a16="http://schemas.microsoft.com/office/drawing/2014/main" id="{075D8EAF-5948-22CD-3259-0DF432B3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8896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7" name="文本框 2096">
            <a:extLst>
              <a:ext uri="{FF2B5EF4-FFF2-40B4-BE49-F238E27FC236}">
                <a16:creationId xmlns:a16="http://schemas.microsoft.com/office/drawing/2014/main" id="{C69D77A3-6EB3-7D68-2405-97A37202F61C}"/>
              </a:ext>
            </a:extLst>
          </p:cNvPr>
          <p:cNvSpPr txBox="1"/>
          <p:nvPr/>
        </p:nvSpPr>
        <p:spPr>
          <a:xfrm>
            <a:off x="2927546" y="5523742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2017-2024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99" name="图片 2098">
            <a:extLst>
              <a:ext uri="{FF2B5EF4-FFF2-40B4-BE49-F238E27FC236}">
                <a16:creationId xmlns:a16="http://schemas.microsoft.com/office/drawing/2014/main" id="{2257C515-19AC-C681-BBA2-67AB10FB9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1316" y="5563059"/>
            <a:ext cx="600961" cy="229143"/>
          </a:xfrm>
          <a:prstGeom prst="rect">
            <a:avLst/>
          </a:prstGeom>
        </p:spPr>
      </p:pic>
      <p:pic>
        <p:nvPicPr>
          <p:cNvPr id="2100" name="图片 2099">
            <a:extLst>
              <a:ext uri="{FF2B5EF4-FFF2-40B4-BE49-F238E27FC236}">
                <a16:creationId xmlns:a16="http://schemas.microsoft.com/office/drawing/2014/main" id="{F054165F-A64C-0D7A-1F84-09C918904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6631" y="3760241"/>
            <a:ext cx="600961" cy="229143"/>
          </a:xfrm>
          <a:prstGeom prst="rect">
            <a:avLst/>
          </a:prstGeom>
        </p:spPr>
      </p:pic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9515408" y="1010178"/>
            <a:ext cx="2275425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sp>
        <p:nvSpPr>
          <p:cNvPr id="5161" name="文本框 5160">
            <a:extLst>
              <a:ext uri="{FF2B5EF4-FFF2-40B4-BE49-F238E27FC236}">
                <a16:creationId xmlns:a16="http://schemas.microsoft.com/office/drawing/2014/main" id="{A79B612C-73C5-619C-2AAA-028F960EFD60}"/>
              </a:ext>
            </a:extLst>
          </p:cNvPr>
          <p:cNvSpPr txBox="1"/>
          <p:nvPr/>
        </p:nvSpPr>
        <p:spPr>
          <a:xfrm>
            <a:off x="10673511" y="2361405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64" name="文本框 5163">
            <a:extLst>
              <a:ext uri="{FF2B5EF4-FFF2-40B4-BE49-F238E27FC236}">
                <a16:creationId xmlns:a16="http://schemas.microsoft.com/office/drawing/2014/main" id="{958AC1E6-7A23-3AC9-B0A6-E7F01B5F1015}"/>
              </a:ext>
            </a:extLst>
          </p:cNvPr>
          <p:cNvSpPr txBox="1"/>
          <p:nvPr/>
        </p:nvSpPr>
        <p:spPr>
          <a:xfrm>
            <a:off x="9994700" y="1868608"/>
            <a:ext cx="18770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77" name="文本框 5176">
            <a:extLst>
              <a:ext uri="{FF2B5EF4-FFF2-40B4-BE49-F238E27FC236}">
                <a16:creationId xmlns:a16="http://schemas.microsoft.com/office/drawing/2014/main" id="{EE37D92E-39D4-DD7A-61FD-576584143C62}"/>
              </a:ext>
            </a:extLst>
          </p:cNvPr>
          <p:cNvSpPr txBox="1"/>
          <p:nvPr/>
        </p:nvSpPr>
        <p:spPr>
          <a:xfrm>
            <a:off x="9469715" y="3690146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10-50%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01" name="文本框 2100">
            <a:extLst>
              <a:ext uri="{FF2B5EF4-FFF2-40B4-BE49-F238E27FC236}">
                <a16:creationId xmlns:a16="http://schemas.microsoft.com/office/drawing/2014/main" id="{E6FD4056-43C1-8C5D-644C-0CE9689C106D}"/>
              </a:ext>
            </a:extLst>
          </p:cNvPr>
          <p:cNvSpPr txBox="1"/>
          <p:nvPr/>
        </p:nvSpPr>
        <p:spPr>
          <a:xfrm>
            <a:off x="9469715" y="4839218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02" name="文本框 2101">
            <a:extLst>
              <a:ext uri="{FF2B5EF4-FFF2-40B4-BE49-F238E27FC236}">
                <a16:creationId xmlns:a16="http://schemas.microsoft.com/office/drawing/2014/main" id="{DBA9FF02-34D5-43C4-E252-A278D8CB7EC8}"/>
              </a:ext>
            </a:extLst>
          </p:cNvPr>
          <p:cNvSpPr txBox="1"/>
          <p:nvPr/>
        </p:nvSpPr>
        <p:spPr>
          <a:xfrm>
            <a:off x="7232627" y="4833313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7" name="文本框 5186">
            <a:extLst>
              <a:ext uri="{FF2B5EF4-FFF2-40B4-BE49-F238E27FC236}">
                <a16:creationId xmlns:a16="http://schemas.microsoft.com/office/drawing/2014/main" id="{8C9D95CE-B0D3-AB5D-D820-37E5DDCA2663}"/>
              </a:ext>
            </a:extLst>
          </p:cNvPr>
          <p:cNvSpPr txBox="1"/>
          <p:nvPr/>
        </p:nvSpPr>
        <p:spPr>
          <a:xfrm>
            <a:off x="7232627" y="2622467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90" name="文本框 5189">
            <a:extLst>
              <a:ext uri="{FF2B5EF4-FFF2-40B4-BE49-F238E27FC236}">
                <a16:creationId xmlns:a16="http://schemas.microsoft.com/office/drawing/2014/main" id="{C26E098D-8477-A171-5494-4045AB9EC7A6}"/>
              </a:ext>
            </a:extLst>
          </p:cNvPr>
          <p:cNvSpPr txBox="1"/>
          <p:nvPr/>
        </p:nvSpPr>
        <p:spPr>
          <a:xfrm>
            <a:off x="7797675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078" name="文本框 2077">
            <a:extLst>
              <a:ext uri="{FF2B5EF4-FFF2-40B4-BE49-F238E27FC236}">
                <a16:creationId xmlns:a16="http://schemas.microsoft.com/office/drawing/2014/main" id="{F42F1B94-7078-1D0B-C4D0-7D1B755605B9}"/>
              </a:ext>
            </a:extLst>
          </p:cNvPr>
          <p:cNvSpPr txBox="1"/>
          <p:nvPr/>
        </p:nvSpPr>
        <p:spPr>
          <a:xfrm>
            <a:off x="10673511" y="5498342"/>
            <a:ext cx="20239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96" name="图像" descr="图像">
            <a:extLst>
              <a:ext uri="{FF2B5EF4-FFF2-40B4-BE49-F238E27FC236}">
                <a16:creationId xmlns:a16="http://schemas.microsoft.com/office/drawing/2014/main" id="{3D019281-AE39-A9D0-7FFF-10274BFD53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2296" y="4894349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文本框 5196">
            <a:extLst>
              <a:ext uri="{FF2B5EF4-FFF2-40B4-BE49-F238E27FC236}">
                <a16:creationId xmlns:a16="http://schemas.microsoft.com/office/drawing/2014/main" id="{A36C9EFD-24EE-131D-AB97-58E3F3D82A09}"/>
              </a:ext>
            </a:extLst>
          </p:cNvPr>
          <p:cNvSpPr txBox="1"/>
          <p:nvPr/>
        </p:nvSpPr>
        <p:spPr>
          <a:xfrm>
            <a:off x="10674532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103" name="图像" descr="图像">
            <a:extLst>
              <a:ext uri="{FF2B5EF4-FFF2-40B4-BE49-F238E27FC236}">
                <a16:creationId xmlns:a16="http://schemas.microsoft.com/office/drawing/2014/main" id="{8FAEFA22-0830-89D5-1032-EC33C0440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2705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109" name="文本框 2108">
            <a:extLst>
              <a:ext uri="{FF2B5EF4-FFF2-40B4-BE49-F238E27FC236}">
                <a16:creationId xmlns:a16="http://schemas.microsoft.com/office/drawing/2014/main" id="{22A27ADB-27C6-805F-8042-C4E74C287B5C}"/>
              </a:ext>
            </a:extLst>
          </p:cNvPr>
          <p:cNvSpPr txBox="1"/>
          <p:nvPr/>
        </p:nvSpPr>
        <p:spPr>
          <a:xfrm>
            <a:off x="8365848" y="4869996"/>
            <a:ext cx="101877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2-3y/gen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02" name="图片 5201">
            <a:extLst>
              <a:ext uri="{FF2B5EF4-FFF2-40B4-BE49-F238E27FC236}">
                <a16:creationId xmlns:a16="http://schemas.microsoft.com/office/drawing/2014/main" id="{42BFC031-9D3E-2A1B-9F5C-D40FED8C8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0089" y="5602385"/>
            <a:ext cx="504145" cy="150491"/>
          </a:xfrm>
          <a:prstGeom prst="rect">
            <a:avLst/>
          </a:prstGeom>
        </p:spPr>
      </p:pic>
      <p:sp>
        <p:nvSpPr>
          <p:cNvPr id="5203" name="文本框 5202">
            <a:extLst>
              <a:ext uri="{FF2B5EF4-FFF2-40B4-BE49-F238E27FC236}">
                <a16:creationId xmlns:a16="http://schemas.microsoft.com/office/drawing/2014/main" id="{A2EFEF21-2609-6BC1-9DCB-06A15BD9E0D5}"/>
              </a:ext>
            </a:extLst>
          </p:cNvPr>
          <p:cNvSpPr txBox="1"/>
          <p:nvPr/>
        </p:nvSpPr>
        <p:spPr>
          <a:xfrm>
            <a:off x="8346749" y="5523742"/>
            <a:ext cx="105952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2005-2012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14" name="图片 5213">
            <a:extLst>
              <a:ext uri="{FF2B5EF4-FFF2-40B4-BE49-F238E27FC236}">
                <a16:creationId xmlns:a16="http://schemas.microsoft.com/office/drawing/2014/main" id="{3605704C-846B-2D0E-5393-6C6548167C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03396" y="5509131"/>
            <a:ext cx="304385" cy="336998"/>
          </a:xfrm>
          <a:prstGeom prst="rect">
            <a:avLst/>
          </a:prstGeom>
        </p:spPr>
      </p:pic>
      <p:sp>
        <p:nvSpPr>
          <p:cNvPr id="5215" name="文本框 5214">
            <a:extLst>
              <a:ext uri="{FF2B5EF4-FFF2-40B4-BE49-F238E27FC236}">
                <a16:creationId xmlns:a16="http://schemas.microsoft.com/office/drawing/2014/main" id="{7FC90DCE-C4FE-FC3A-240F-DDF51B8D890B}"/>
              </a:ext>
            </a:extLst>
          </p:cNvPr>
          <p:cNvSpPr txBox="1"/>
          <p:nvPr/>
        </p:nvSpPr>
        <p:spPr>
          <a:xfrm>
            <a:off x="1099967" y="4763703"/>
            <a:ext cx="367423" cy="515098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Over-</a:t>
            </a:r>
          </a:p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seas</a:t>
            </a:r>
          </a:p>
        </p:txBody>
      </p:sp>
      <p:sp>
        <p:nvSpPr>
          <p:cNvPr id="5217" name="文本框 5216">
            <a:extLst>
              <a:ext uri="{FF2B5EF4-FFF2-40B4-BE49-F238E27FC236}">
                <a16:creationId xmlns:a16="http://schemas.microsoft.com/office/drawing/2014/main" id="{2854341A-2C5A-968D-657F-F8F71E8F078D}"/>
              </a:ext>
            </a:extLst>
          </p:cNvPr>
          <p:cNvSpPr txBox="1"/>
          <p:nvPr/>
        </p:nvSpPr>
        <p:spPr>
          <a:xfrm>
            <a:off x="1102206" y="5411503"/>
            <a:ext cx="375142" cy="49524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Dom-</a:t>
            </a:r>
            <a:r>
              <a:rPr kumimoji="1" lang="en-US" altLang="zh-CN" sz="1000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estic</a:t>
            </a:r>
            <a:endParaRPr kumimoji="1" lang="en-US" altLang="zh-CN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18" name="文本框 5217">
            <a:extLst>
              <a:ext uri="{FF2B5EF4-FFF2-40B4-BE49-F238E27FC236}">
                <a16:creationId xmlns:a16="http://schemas.microsoft.com/office/drawing/2014/main" id="{4C1EB8A8-F3ED-32C3-1B4C-CAC5276F4410}"/>
              </a:ext>
            </a:extLst>
          </p:cNvPr>
          <p:cNvSpPr txBox="1"/>
          <p:nvPr/>
        </p:nvSpPr>
        <p:spPr>
          <a:xfrm>
            <a:off x="1612731" y="5492964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19" name="文本框 5218">
            <a:extLst>
              <a:ext uri="{FF2B5EF4-FFF2-40B4-BE49-F238E27FC236}">
                <a16:creationId xmlns:a16="http://schemas.microsoft.com/office/drawing/2014/main" id="{4F9A7E07-DD5E-5903-A969-AC77CC548F8C}"/>
              </a:ext>
            </a:extLst>
          </p:cNvPr>
          <p:cNvSpPr txBox="1"/>
          <p:nvPr/>
        </p:nvSpPr>
        <p:spPr>
          <a:xfrm>
            <a:off x="4234660" y="5492964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0" name="文本框 5219">
            <a:extLst>
              <a:ext uri="{FF2B5EF4-FFF2-40B4-BE49-F238E27FC236}">
                <a16:creationId xmlns:a16="http://schemas.microsoft.com/office/drawing/2014/main" id="{B13376BB-EF7B-B812-AE85-BEE99F9CBB28}"/>
              </a:ext>
            </a:extLst>
          </p:cNvPr>
          <p:cNvSpPr txBox="1"/>
          <p:nvPr/>
        </p:nvSpPr>
        <p:spPr>
          <a:xfrm>
            <a:off x="7232627" y="5487059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1" name="文本框 5220">
            <a:extLst>
              <a:ext uri="{FF2B5EF4-FFF2-40B4-BE49-F238E27FC236}">
                <a16:creationId xmlns:a16="http://schemas.microsoft.com/office/drawing/2014/main" id="{5A3B8B9F-F479-B849-C8F0-3690A588B4B8}"/>
              </a:ext>
            </a:extLst>
          </p:cNvPr>
          <p:cNvSpPr txBox="1"/>
          <p:nvPr/>
        </p:nvSpPr>
        <p:spPr>
          <a:xfrm>
            <a:off x="9469715" y="5492964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9y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3" name="文本框 5222">
            <a:extLst>
              <a:ext uri="{FF2B5EF4-FFF2-40B4-BE49-F238E27FC236}">
                <a16:creationId xmlns:a16="http://schemas.microsoft.com/office/drawing/2014/main" id="{048C465D-6FDF-37DD-4506-56346696F0CA}"/>
              </a:ext>
            </a:extLst>
          </p:cNvPr>
          <p:cNvSpPr txBox="1"/>
          <p:nvPr/>
        </p:nvSpPr>
        <p:spPr>
          <a:xfrm>
            <a:off x="9469715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8D467E-5C74-C3AB-815D-8BC8491937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5131" y="3780820"/>
            <a:ext cx="908990" cy="187984"/>
          </a:xfrm>
          <a:prstGeom prst="rect">
            <a:avLst/>
          </a:prstGeom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8B3A05FC-AF82-70BF-5C32-0AAA0CCA50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5356" y="3744841"/>
            <a:ext cx="328979" cy="25907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7F55B7-829F-A994-0457-BE7920C9A015}"/>
              </a:ext>
            </a:extLst>
          </p:cNvPr>
          <p:cNvGrpSpPr/>
          <p:nvPr/>
        </p:nvGrpSpPr>
        <p:grpSpPr>
          <a:xfrm>
            <a:off x="4234660" y="1845801"/>
            <a:ext cx="524985" cy="414947"/>
            <a:chOff x="4153150" y="1768516"/>
            <a:chExt cx="524985" cy="414947"/>
          </a:xfrm>
        </p:grpSpPr>
        <p:sp>
          <p:nvSpPr>
            <p:cNvPr id="5151" name="椭圆 5150">
              <a:extLst>
                <a:ext uri="{FF2B5EF4-FFF2-40B4-BE49-F238E27FC236}">
                  <a16:creationId xmlns:a16="http://schemas.microsoft.com/office/drawing/2014/main" id="{D24F4DC8-424C-C7AB-466A-449BBB478B15}"/>
                </a:ext>
              </a:extLst>
            </p:cNvPr>
            <p:cNvSpPr/>
            <p:nvPr/>
          </p:nvSpPr>
          <p:spPr>
            <a:xfrm>
              <a:off x="4193790" y="1768516"/>
              <a:ext cx="415340" cy="414947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F047EF1-D8D9-A6F9-BD72-1F857DB33227}"/>
                </a:ext>
              </a:extLst>
            </p:cNvPr>
            <p:cNvSpPr txBox="1"/>
            <p:nvPr/>
          </p:nvSpPr>
          <p:spPr>
            <a:xfrm>
              <a:off x="4153150" y="1824039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C6FC3EF-7933-93D6-BB3B-8EF92647F54F}"/>
              </a:ext>
            </a:extLst>
          </p:cNvPr>
          <p:cNvGrpSpPr/>
          <p:nvPr/>
        </p:nvGrpSpPr>
        <p:grpSpPr>
          <a:xfrm>
            <a:off x="7232627" y="1782182"/>
            <a:ext cx="544501" cy="530374"/>
            <a:chOff x="7035629" y="1695290"/>
            <a:chExt cx="544501" cy="530374"/>
          </a:xfrm>
        </p:grpSpPr>
        <p:sp>
          <p:nvSpPr>
            <p:cNvPr id="5191" name="椭圆 5190">
              <a:extLst>
                <a:ext uri="{FF2B5EF4-FFF2-40B4-BE49-F238E27FC236}">
                  <a16:creationId xmlns:a16="http://schemas.microsoft.com/office/drawing/2014/main" id="{F92D9C8C-8F70-FCCB-434D-D374FE498C00}"/>
                </a:ext>
              </a:extLst>
            </p:cNvPr>
            <p:cNvSpPr/>
            <p:nvPr/>
          </p:nvSpPr>
          <p:spPr>
            <a:xfrm>
              <a:off x="7035629" y="1695290"/>
              <a:ext cx="530876" cy="530374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CF3ECBE-EA4E-4D30-84D4-7394DFD0AED5}"/>
                </a:ext>
              </a:extLst>
            </p:cNvPr>
            <p:cNvSpPr txBox="1"/>
            <p:nvPr/>
          </p:nvSpPr>
          <p:spPr>
            <a:xfrm>
              <a:off x="7055145" y="1799172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0CDDF11-C94B-3CF5-B030-06FF903BA331}"/>
              </a:ext>
            </a:extLst>
          </p:cNvPr>
          <p:cNvGrpSpPr/>
          <p:nvPr/>
        </p:nvGrpSpPr>
        <p:grpSpPr>
          <a:xfrm>
            <a:off x="9469715" y="1872440"/>
            <a:ext cx="524985" cy="361668"/>
            <a:chOff x="9235158" y="1825963"/>
            <a:chExt cx="524985" cy="361668"/>
          </a:xfrm>
        </p:grpSpPr>
        <p:sp>
          <p:nvSpPr>
            <p:cNvPr id="5165" name="椭圆 5164">
              <a:extLst>
                <a:ext uri="{FF2B5EF4-FFF2-40B4-BE49-F238E27FC236}">
                  <a16:creationId xmlns:a16="http://schemas.microsoft.com/office/drawing/2014/main" id="{033CF5C3-3CA0-A564-EA32-E84CBBD37EA2}"/>
                </a:ext>
              </a:extLst>
            </p:cNvPr>
            <p:cNvSpPr/>
            <p:nvPr/>
          </p:nvSpPr>
          <p:spPr>
            <a:xfrm>
              <a:off x="9288847" y="1825963"/>
              <a:ext cx="362009" cy="361668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B156EE3-3C3D-60AE-3973-8B24592D8337}"/>
                </a:ext>
              </a:extLst>
            </p:cNvPr>
            <p:cNvSpPr txBox="1"/>
            <p:nvPr/>
          </p:nvSpPr>
          <p:spPr>
            <a:xfrm>
              <a:off x="9235158" y="1845761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6" name="直线连接符 34">
            <a:extLst>
              <a:ext uri="{FF2B5EF4-FFF2-40B4-BE49-F238E27FC236}">
                <a16:creationId xmlns:a16="http://schemas.microsoft.com/office/drawing/2014/main" id="{71C98877-E60A-93EC-4C5B-096C76048230}"/>
              </a:ext>
            </a:extLst>
          </p:cNvPr>
          <p:cNvCxnSpPr>
            <a:cxnSpLocks/>
          </p:cNvCxnSpPr>
          <p:nvPr/>
        </p:nvCxnSpPr>
        <p:spPr>
          <a:xfrm>
            <a:off x="536623" y="4502354"/>
            <a:ext cx="11147150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34">
            <a:extLst>
              <a:ext uri="{FF2B5EF4-FFF2-40B4-BE49-F238E27FC236}">
                <a16:creationId xmlns:a16="http://schemas.microsoft.com/office/drawing/2014/main" id="{FE92C49E-EE4F-675E-26ED-56778596F422}"/>
              </a:ext>
            </a:extLst>
          </p:cNvPr>
          <p:cNvCxnSpPr>
            <a:cxnSpLocks/>
          </p:cNvCxnSpPr>
          <p:nvPr/>
        </p:nvCxnSpPr>
        <p:spPr>
          <a:xfrm>
            <a:off x="536623" y="3278074"/>
            <a:ext cx="11131421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CEA60A3-DF58-4E67-B7E5-7BB69310F5EC}"/>
              </a:ext>
            </a:extLst>
          </p:cNvPr>
          <p:cNvSpPr txBox="1"/>
          <p:nvPr/>
        </p:nvSpPr>
        <p:spPr>
          <a:xfrm>
            <a:off x="538396" y="2555032"/>
            <a:ext cx="938819" cy="51601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BOM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18431F0-8173-EAF9-7690-7A067ED78A39}"/>
              </a:ext>
            </a:extLst>
          </p:cNvPr>
          <p:cNvSpPr txBox="1"/>
          <p:nvPr/>
        </p:nvSpPr>
        <p:spPr>
          <a:xfrm>
            <a:off x="5195227" y="3866472"/>
            <a:ext cx="1666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(Acquired by Marvell</a:t>
            </a:r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40708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6" name="矩形 1055">
            <a:extLst>
              <a:ext uri="{FF2B5EF4-FFF2-40B4-BE49-F238E27FC236}">
                <a16:creationId xmlns:a16="http://schemas.microsoft.com/office/drawing/2014/main" id="{4C8FB550-1C19-3DCB-B4E1-B21A9AC6CDFE}"/>
              </a:ext>
            </a:extLst>
          </p:cNvPr>
          <p:cNvSpPr/>
          <p:nvPr/>
        </p:nvSpPr>
        <p:spPr>
          <a:xfrm>
            <a:off x="10613801" y="1669063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23418B93-81CA-529D-1AD8-064CFFE67AD3}"/>
              </a:ext>
            </a:extLst>
          </p:cNvPr>
          <p:cNvSpPr/>
          <p:nvPr/>
        </p:nvSpPr>
        <p:spPr>
          <a:xfrm>
            <a:off x="4139139" y="1675976"/>
            <a:ext cx="2737971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EEDC9E63-A23D-1CE0-3475-8D2A04A20963}"/>
              </a:ext>
            </a:extLst>
          </p:cNvPr>
          <p:cNvSpPr/>
          <p:nvPr/>
        </p:nvSpPr>
        <p:spPr>
          <a:xfrm>
            <a:off x="9239784" y="1674032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4D4079FF-1999-B620-4F01-0A9914FD2AF3}"/>
              </a:ext>
            </a:extLst>
          </p:cNvPr>
          <p:cNvSpPr/>
          <p:nvPr/>
        </p:nvSpPr>
        <p:spPr>
          <a:xfrm>
            <a:off x="7070061" y="1669063"/>
            <a:ext cx="2047421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71E9DB98-A58D-A30D-7E97-8B801B08211A}"/>
              </a:ext>
            </a:extLst>
          </p:cNvPr>
          <p:cNvSpPr/>
          <p:nvPr/>
        </p:nvSpPr>
        <p:spPr>
          <a:xfrm>
            <a:off x="1544778" y="1675976"/>
            <a:ext cx="1473910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59C60A5F-137A-2F69-C181-5A971163C153}"/>
              </a:ext>
            </a:extLst>
          </p:cNvPr>
          <p:cNvSpPr/>
          <p:nvPr/>
        </p:nvSpPr>
        <p:spPr>
          <a:xfrm>
            <a:off x="3120419" y="1666990"/>
            <a:ext cx="900725" cy="4577599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8" name="矩形 5137">
            <a:extLst>
              <a:ext uri="{FF2B5EF4-FFF2-40B4-BE49-F238E27FC236}">
                <a16:creationId xmlns:a16="http://schemas.microsoft.com/office/drawing/2014/main" id="{B3220F4E-558A-2887-8137-968564B4FC68}"/>
              </a:ext>
            </a:extLst>
          </p:cNvPr>
          <p:cNvSpPr/>
          <p:nvPr/>
        </p:nvSpPr>
        <p:spPr>
          <a:xfrm>
            <a:off x="1557337" y="1890146"/>
            <a:ext cx="8402638" cy="827356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5B6B8E-B98F-0CB7-E285-D8CC98B8C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​Supply chain focus: Broadcom-led integrated giants and strategic domestic startups like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304799" y="1674032"/>
            <a:ext cx="1054651" cy="1755729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Leading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304801" y="3744174"/>
            <a:ext cx="1054648" cy="715940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46799" y="6550046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304799" y="4882387"/>
            <a:ext cx="1054648" cy="1362203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6D4738FA-150A-F754-08BE-C0A195135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349" y="5620836"/>
            <a:ext cx="281393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Prototype Phase</a:t>
            </a: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BF5D8514-88DE-8875-8720-1E35B820C10E}"/>
              </a:ext>
            </a:extLst>
          </p:cNvPr>
          <p:cNvSpPr/>
          <p:nvPr/>
        </p:nvSpPr>
        <p:spPr>
          <a:xfrm>
            <a:off x="1557337" y="1086623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43" name="箭头: V 形 42">
            <a:extLst>
              <a:ext uri="{FF2B5EF4-FFF2-40B4-BE49-F238E27FC236}">
                <a16:creationId xmlns:a16="http://schemas.microsoft.com/office/drawing/2014/main" id="{9A0CB865-4CCB-6AB5-BC0F-3C83F411133F}"/>
              </a:ext>
            </a:extLst>
          </p:cNvPr>
          <p:cNvSpPr/>
          <p:nvPr/>
        </p:nvSpPr>
        <p:spPr>
          <a:xfrm>
            <a:off x="4114816" y="1091095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68CE7CDA-C8D2-91B2-D2B4-D02209CE47E4}"/>
              </a:ext>
            </a:extLst>
          </p:cNvPr>
          <p:cNvSpPr/>
          <p:nvPr/>
        </p:nvSpPr>
        <p:spPr>
          <a:xfrm>
            <a:off x="7058627" y="1105593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箭头: V 形 52">
            <a:extLst>
              <a:ext uri="{FF2B5EF4-FFF2-40B4-BE49-F238E27FC236}">
                <a16:creationId xmlns:a16="http://schemas.microsoft.com/office/drawing/2014/main" id="{12E32DB3-7C19-99D2-0CC8-6BF3E5DEF789}"/>
              </a:ext>
            </a:extLst>
          </p:cNvPr>
          <p:cNvSpPr/>
          <p:nvPr/>
        </p:nvSpPr>
        <p:spPr>
          <a:xfrm>
            <a:off x="9218245" y="1091096"/>
            <a:ext cx="2670890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pic>
        <p:nvPicPr>
          <p:cNvPr id="5130" name="图片 5129">
            <a:extLst>
              <a:ext uri="{FF2B5EF4-FFF2-40B4-BE49-F238E27FC236}">
                <a16:creationId xmlns:a16="http://schemas.microsoft.com/office/drawing/2014/main" id="{75C7E3F4-7C7E-9265-CBD4-C674DC5D4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00" y="3807072"/>
            <a:ext cx="714937" cy="162718"/>
          </a:xfrm>
          <a:prstGeom prst="rect">
            <a:avLst/>
          </a:prstGeom>
        </p:spPr>
      </p:pic>
      <p:pic>
        <p:nvPicPr>
          <p:cNvPr id="5131" name="图片 5130">
            <a:extLst>
              <a:ext uri="{FF2B5EF4-FFF2-40B4-BE49-F238E27FC236}">
                <a16:creationId xmlns:a16="http://schemas.microsoft.com/office/drawing/2014/main" id="{8B3F7392-17C2-B645-92E7-D50B22740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936" y="3803139"/>
            <a:ext cx="610375" cy="17058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317AD0-34AD-270C-7224-D78FEA80D8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375" b="89583" l="8056" r="90000">
                        <a14:foregroundMark x1="8056" y1="50000" x2="8056" y2="50000"/>
                        <a14:foregroundMark x1="33333" y1="55208" x2="33333" y2="55208"/>
                        <a14:foregroundMark x1="46111" y1="59375" x2="46111" y2="59375"/>
                        <a14:foregroundMark x1="62500" y1="53125" x2="62500" y2="53125"/>
                        <a14:foregroundMark x1="72778" y1="53125" x2="72778" y2="53125"/>
                        <a14:foregroundMark x1="87500" y1="52083" x2="87500" y2="52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9133" y="4174099"/>
            <a:ext cx="725316" cy="19341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52C43CD-FDFC-7F2F-585E-C678DD081B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1576936" y="3031721"/>
            <a:ext cx="513440" cy="126400"/>
          </a:xfrm>
          <a:prstGeom prst="rect">
            <a:avLst/>
          </a:prstGeom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7534" y="2354632"/>
            <a:ext cx="411440" cy="32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6915" y="1987605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7" name="图片 5126">
            <a:extLst>
              <a:ext uri="{FF2B5EF4-FFF2-40B4-BE49-F238E27FC236}">
                <a16:creationId xmlns:a16="http://schemas.microsoft.com/office/drawing/2014/main" id="{CD142F11-ED81-BFF4-56CE-25E813B2A2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220" b="89362" l="9023" r="90977">
                        <a14:foregroundMark x1="9023" y1="80851" x2="9023" y2="80851"/>
                        <a14:foregroundMark x1="90977" y1="32624" x2="90977" y2="32624"/>
                      </a14:backgroundRemoval>
                    </a14:imgEffect>
                  </a14:imgLayer>
                </a14:imgProps>
              </a:ext>
            </a:extLst>
          </a:blip>
          <a:srcRect l="4111" t="16775" r="4646"/>
          <a:stretch/>
        </p:blipFill>
        <p:spPr>
          <a:xfrm>
            <a:off x="7111908" y="2763005"/>
            <a:ext cx="746125" cy="240504"/>
          </a:xfrm>
          <a:prstGeom prst="rect">
            <a:avLst/>
          </a:prstGeom>
        </p:spPr>
      </p:pic>
      <p:pic>
        <p:nvPicPr>
          <p:cNvPr id="5128" name="图片 5127">
            <a:extLst>
              <a:ext uri="{FF2B5EF4-FFF2-40B4-BE49-F238E27FC236}">
                <a16:creationId xmlns:a16="http://schemas.microsoft.com/office/drawing/2014/main" id="{8D5F619B-F18C-C1BA-2C96-CD15169DC4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6468" r="92786">
                        <a14:foregroundMark x1="55970" y1="48333" x2="55970" y2="48333"/>
                        <a14:foregroundMark x1="50746" y1="60833" x2="50746" y2="60833"/>
                        <a14:foregroundMark x1="80597" y1="56667" x2="80597" y2="56667"/>
                        <a14:foregroundMark x1="31343" y1="55000" x2="31343" y2="55000"/>
                        <a14:foregroundMark x1="11194" y1="46667" x2="11194" y2="46667"/>
                        <a14:foregroundMark x1="6716" y1="58333" x2="6716" y2="58333"/>
                        <a14:foregroundMark x1="9453" y1="42500" x2="9453" y2="42500"/>
                        <a14:foregroundMark x1="17164" y1="26667" x2="17164" y2="26667"/>
                        <a14:foregroundMark x1="17910" y1="31667" x2="17910" y2="31667"/>
                        <a14:foregroundMark x1="19900" y1="34167" x2="19900" y2="34167"/>
                        <a14:foregroundMark x1="19652" y1="31667" x2="19652" y2="31667"/>
                        <a14:foregroundMark x1="18159" y1="24167" x2="18159" y2="24167"/>
                        <a14:foregroundMark x1="12687" y1="24167" x2="12687" y2="24167"/>
                        <a14:foregroundMark x1="12438" y1="21667" x2="12438" y2="21667"/>
                        <a14:foregroundMark x1="19403" y1="76667" x2="19403" y2="76667"/>
                        <a14:foregroundMark x1="21144" y1="73333" x2="21144" y2="73333"/>
                        <a14:foregroundMark x1="67164" y1="56667" x2="67164" y2="56667"/>
                        <a14:foregroundMark x1="92786" y1="46667" x2="92786" y2="4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0736" y="5021993"/>
            <a:ext cx="503931" cy="150427"/>
          </a:xfrm>
          <a:prstGeom prst="rect">
            <a:avLst/>
          </a:prstGeom>
        </p:spPr>
      </p:pic>
      <p:pic>
        <p:nvPicPr>
          <p:cNvPr id="5140" name="图像" descr="图像">
            <a:extLst>
              <a:ext uri="{FF2B5EF4-FFF2-40B4-BE49-F238E27FC236}">
                <a16:creationId xmlns:a16="http://schemas.microsoft.com/office/drawing/2014/main" id="{6952BBBA-DEBF-A929-5602-66B47D46DE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3047" y="4915749"/>
            <a:ext cx="352069" cy="402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3" name="图像" descr="图像">
            <a:extLst>
              <a:ext uri="{FF2B5EF4-FFF2-40B4-BE49-F238E27FC236}">
                <a16:creationId xmlns:a16="http://schemas.microsoft.com/office/drawing/2014/main" id="{5DD74DB5-4C11-6ED0-7DDF-96B9835297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3301" y="4939020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5" name="图像" descr="图像">
            <a:extLst>
              <a:ext uri="{FF2B5EF4-FFF2-40B4-BE49-F238E27FC236}">
                <a16:creationId xmlns:a16="http://schemas.microsoft.com/office/drawing/2014/main" id="{9FC56EDC-B2DB-DA23-B70F-A6FE45F32E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1279" y="4987704"/>
            <a:ext cx="751842" cy="233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6" name="图像" descr="图像">
            <a:extLst>
              <a:ext uri="{FF2B5EF4-FFF2-40B4-BE49-F238E27FC236}">
                <a16:creationId xmlns:a16="http://schemas.microsoft.com/office/drawing/2014/main" id="{9A10B375-4FC3-745E-42C3-EB68018A49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71279" y="2827659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7" name="图像" descr="图像">
            <a:extLst>
              <a:ext uri="{FF2B5EF4-FFF2-40B4-BE49-F238E27FC236}">
                <a16:creationId xmlns:a16="http://schemas.microsoft.com/office/drawing/2014/main" id="{A4DA2063-58E0-EF6E-C741-C0FD79C3746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184" b="89796" l="2326" r="95930">
                        <a14:foregroundMark x1="6395" y1="35714" x2="6395" y2="35714"/>
                        <a14:foregroundMark x1="2519" y1="58163" x2="2519" y2="58163"/>
                        <a14:foregroundMark x1="31395" y1="50000" x2="31395" y2="50000"/>
                        <a14:foregroundMark x1="35853" y1="59184" x2="35853" y2="59184"/>
                        <a14:foregroundMark x1="37597" y1="60204" x2="37597" y2="60204"/>
                        <a14:foregroundMark x1="41860" y1="50000" x2="41860" y2="50000"/>
                        <a14:foregroundMark x1="55814" y1="52041" x2="55814" y2="52041"/>
                        <a14:foregroundMark x1="64922" y1="41837" x2="64922" y2="41837"/>
                        <a14:foregroundMark x1="71899" y1="41837" x2="71899" y2="41837"/>
                        <a14:foregroundMark x1="84884" y1="40816" x2="84884" y2="40816"/>
                        <a14:foregroundMark x1="90698" y1="53061" x2="90698" y2="53061"/>
                        <a14:foregroundMark x1="95930" y1="56122" x2="95930" y2="561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2789646"/>
            <a:ext cx="827156" cy="157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图像" descr="图像">
            <a:extLst>
              <a:ext uri="{FF2B5EF4-FFF2-40B4-BE49-F238E27FC236}">
                <a16:creationId xmlns:a16="http://schemas.microsoft.com/office/drawing/2014/main" id="{24C4CBF6-4037-E792-0575-58039A5FA6B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38806" b="60821" l="24250" r="73750">
                        <a14:foregroundMark x1="29750" y1="46642" x2="29750" y2="46642"/>
                        <a14:foregroundMark x1="27750" y1="52612" x2="27750" y2="52612"/>
                        <a14:foregroundMark x1="25500" y1="60075" x2="25500" y2="60075"/>
                        <a14:foregroundMark x1="25000" y1="43657" x2="25000" y2="43657"/>
                        <a14:foregroundMark x1="37750" y1="51493" x2="37750" y2="51493"/>
                        <a14:foregroundMark x1="38250" y1="57836" x2="38250" y2="57836"/>
                        <a14:foregroundMark x1="41750" y1="57463" x2="41750" y2="57463"/>
                        <a14:foregroundMark x1="39250" y1="60448" x2="39250" y2="60448"/>
                        <a14:foregroundMark x1="46000" y1="56716" x2="46000" y2="56716"/>
                        <a14:foregroundMark x1="50500" y1="55970" x2="50500" y2="55970"/>
                        <a14:foregroundMark x1="57750" y1="54851" x2="57750" y2="54851"/>
                        <a14:foregroundMark x1="65250" y1="56343" x2="65250" y2="56343"/>
                        <a14:foregroundMark x1="69000" y1="57463" x2="69000" y2="57463"/>
                        <a14:foregroundMark x1="73750" y1="53731" x2="73750" y2="53731"/>
                        <a14:foregroundMark x1="29750" y1="55970" x2="29750" y2="55970"/>
                        <a14:foregroundMark x1="24250" y1="60448" x2="24250" y2="60448"/>
                        <a14:foregroundMark x1="53250" y1="59328" x2="53250" y2="59328"/>
                      </a14:backgroundRemoval>
                    </a14:imgEffect>
                  </a14:imgLayer>
                </a14:imgProps>
              </a:ext>
            </a:extLst>
          </a:blip>
          <a:srcRect l="22811" t="36117" r="22811" b="36117"/>
          <a:stretch>
            <a:fillRect/>
          </a:stretch>
        </p:blipFill>
        <p:spPr>
          <a:xfrm>
            <a:off x="5177534" y="5010418"/>
            <a:ext cx="548874" cy="187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0" name="图像" descr="图像">
            <a:extLst>
              <a:ext uri="{FF2B5EF4-FFF2-40B4-BE49-F238E27FC236}">
                <a16:creationId xmlns:a16="http://schemas.microsoft.com/office/drawing/2014/main" id="{82DE0541-478A-4DC7-B169-AE48CB21D17C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6527" t="39090" r="6527" b="39090"/>
          <a:stretch>
            <a:fillRect/>
          </a:stretch>
        </p:blipFill>
        <p:spPr>
          <a:xfrm>
            <a:off x="4130128" y="3774348"/>
            <a:ext cx="909223" cy="228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图像" descr="图像">
            <a:extLst>
              <a:ext uri="{FF2B5EF4-FFF2-40B4-BE49-F238E27FC236}">
                <a16:creationId xmlns:a16="http://schemas.microsoft.com/office/drawing/2014/main" id="{08900142-0FED-DB48-83F2-F23F93BF696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23000" b="67667" l="2333" r="95667">
                        <a14:foregroundMark x1="68667" y1="61667" x2="68667" y2="61667"/>
                        <a14:foregroundMark x1="95667" y1="40333" x2="95667" y2="40333"/>
                        <a14:foregroundMark x1="76333" y1="36000" x2="76333" y2="36000"/>
                        <a14:foregroundMark x1="66000" y1="41000" x2="66000" y2="41000"/>
                        <a14:foregroundMark x1="66000" y1="38333" x2="66000" y2="38333"/>
                        <a14:foregroundMark x1="59667" y1="33333" x2="63000" y2="39667"/>
                        <a14:foregroundMark x1="58667" y1="40333" x2="66000" y2="47000"/>
                        <a14:foregroundMark x1="47000" y1="41000" x2="47000" y2="41000"/>
                        <a14:foregroundMark x1="32333" y1="42000" x2="32333" y2="42000"/>
                        <a14:foregroundMark x1="12667" y1="41667" x2="12667" y2="41667"/>
                        <a14:foregroundMark x1="6000" y1="49333" x2="6000" y2="49333"/>
                        <a14:foregroundMark x1="5667" y1="35667" x2="5667" y2="35667"/>
                        <a14:foregroundMark x1="5000" y1="60333" x2="45333" y2="60667"/>
                        <a14:foregroundMark x1="4000" y1="65667" x2="31333" y2="65667"/>
                        <a14:foregroundMark x1="14333" y1="62667" x2="14333" y2="62667"/>
                        <a14:foregroundMark x1="5333" y1="59667" x2="5333" y2="59667"/>
                        <a14:foregroundMark x1="5333" y1="59667" x2="5333" y2="59667"/>
                        <a14:foregroundMark x1="10667" y1="58000" x2="10667" y2="58000"/>
                        <a14:foregroundMark x1="15333" y1="57333" x2="17333" y2="57667"/>
                        <a14:foregroundMark x1="18333" y1="58000" x2="20667" y2="58333"/>
                        <a14:foregroundMark x1="24667" y1="58333" x2="24667" y2="58333"/>
                        <a14:foregroundMark x1="32000" y1="58333" x2="32667" y2="58667"/>
                        <a14:foregroundMark x1="37667" y1="67667" x2="37667" y2="67667"/>
                        <a14:foregroundMark x1="40000" y1="66667" x2="40000" y2="66667"/>
                        <a14:foregroundMark x1="41333" y1="64667" x2="41333" y2="64667"/>
                        <a14:foregroundMark x1="43667" y1="64333" x2="43667" y2="64333"/>
                        <a14:foregroundMark x1="44667" y1="64000" x2="44667" y2="64000"/>
                        <a14:foregroundMark x1="35333" y1="65000" x2="35333" y2="65000"/>
                        <a14:foregroundMark x1="34333" y1="65667" x2="33000" y2="67000"/>
                        <a14:foregroundMark x1="39000" y1="59333" x2="41000" y2="59000"/>
                        <a14:foregroundMark x1="44000" y1="58333" x2="44000" y2="58333"/>
                        <a14:foregroundMark x1="44333" y1="60333" x2="9667" y2="55667"/>
                        <a14:foregroundMark x1="60333" y1="35333" x2="61667" y2="36333"/>
                        <a14:foregroundMark x1="62333" y1="43333" x2="52667" y2="48000"/>
                        <a14:foregroundMark x1="34667" y1="64333" x2="34667" y2="64333"/>
                        <a14:foregroundMark x1="36333" y1="65333" x2="36333" y2="65333"/>
                        <a14:foregroundMark x1="11000" y1="64333" x2="11000" y2="64333"/>
                        <a14:foregroundMark x1="2333" y1="56667" x2="2333" y2="56667"/>
                        <a14:foregroundMark x1="4667" y1="55667" x2="4667" y2="55667"/>
                        <a14:foregroundMark x1="36000" y1="61333" x2="36000" y2="61333"/>
                        <a14:foregroundMark x1="62667" y1="35000" x2="62667" y2="35000"/>
                        <a14:foregroundMark x1="64333" y1="33333" x2="64333" y2="33333"/>
                        <a14:foregroundMark x1="64333" y1="33333" x2="65667" y2="35000"/>
                        <a14:foregroundMark x1="65667" y1="43667" x2="65667" y2="46000"/>
                        <a14:foregroundMark x1="65667" y1="47333" x2="65667" y2="47333"/>
                        <a14:foregroundMark x1="52667" y1="48000" x2="52667" y2="48000"/>
                      </a14:backgroundRemoval>
                    </a14:imgEffect>
                  </a14:imgLayer>
                </a14:imgProps>
              </a:ext>
            </a:extLst>
          </a:blip>
          <a:srcRect t="18222" b="31569"/>
          <a:stretch>
            <a:fillRect/>
          </a:stretch>
        </p:blipFill>
        <p:spPr>
          <a:xfrm>
            <a:off x="1576936" y="5644722"/>
            <a:ext cx="416831" cy="209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3" name="图像" descr="图像">
            <a:extLst>
              <a:ext uri="{FF2B5EF4-FFF2-40B4-BE49-F238E27FC236}">
                <a16:creationId xmlns:a16="http://schemas.microsoft.com/office/drawing/2014/main" id="{B4A71C5A-7BEC-5336-AD69-39AC39D56C00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3322" t="22445" r="3246" b="22496"/>
          <a:stretch>
            <a:fillRect/>
          </a:stretch>
        </p:blipFill>
        <p:spPr>
          <a:xfrm>
            <a:off x="2052877" y="5688630"/>
            <a:ext cx="392619" cy="12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55" name="图像" descr="图像">
            <a:extLst>
              <a:ext uri="{FF2B5EF4-FFF2-40B4-BE49-F238E27FC236}">
                <a16:creationId xmlns:a16="http://schemas.microsoft.com/office/drawing/2014/main" id="{D1DF51D0-AD27-C196-DA94-D377612ADCA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40500" b="59000" l="5500" r="95500">
                        <a14:foregroundMark x1="13000" y1="45000" x2="13000" y2="45000"/>
                        <a14:foregroundMark x1="5500" y1="49000" x2="5500" y2="49000"/>
                        <a14:foregroundMark x1="10500" y1="57500" x2="10500" y2="57500"/>
                        <a14:foregroundMark x1="41500" y1="50000" x2="41500" y2="50000"/>
                        <a14:foregroundMark x1="52500" y1="50500" x2="52500" y2="50500"/>
                        <a14:foregroundMark x1="59000" y1="50500" x2="59000" y2="50500"/>
                        <a14:foregroundMark x1="71000" y1="50000" x2="71000" y2="50000"/>
                        <a14:foregroundMark x1="79000" y1="47500" x2="79000" y2="47500"/>
                        <a14:foregroundMark x1="88500" y1="51500" x2="88500" y2="51500"/>
                        <a14:foregroundMark x1="95500" y1="50500" x2="95500" y2="50500"/>
                      </a14:backgroundRemoval>
                    </a14:imgEffect>
                  </a14:imgLayer>
                </a14:imgProps>
              </a:ext>
            </a:extLst>
          </a:blip>
          <a:srcRect t="38585" b="38585"/>
          <a:stretch>
            <a:fillRect/>
          </a:stretch>
        </p:blipFill>
        <p:spPr>
          <a:xfrm>
            <a:off x="2479987" y="5806645"/>
            <a:ext cx="529280" cy="120825"/>
          </a:xfrm>
          <a:prstGeom prst="rect">
            <a:avLst/>
          </a:prstGeom>
          <a:ln w="12700">
            <a:miter lim="400000"/>
          </a:ln>
        </p:spPr>
      </p:pic>
      <p:sp>
        <p:nvSpPr>
          <p:cNvPr id="5158" name="Rectangle 8">
            <a:extLst>
              <a:ext uri="{FF2B5EF4-FFF2-40B4-BE49-F238E27FC236}">
                <a16:creationId xmlns:a16="http://schemas.microsoft.com/office/drawing/2014/main" id="{E0F8A186-E497-6124-BC2A-570D8C234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104" y="5889638"/>
            <a:ext cx="13788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Tencent JDM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5161" name="Rectangle 8">
            <a:extLst>
              <a:ext uri="{FF2B5EF4-FFF2-40B4-BE49-F238E27FC236}">
                <a16:creationId xmlns:a16="http://schemas.microsoft.com/office/drawing/2014/main" id="{60BD655F-3DEC-B0FC-30F4-0F6B0A4DE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2578" y="5629336"/>
            <a:ext cx="21907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Delivery Phase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166" name="图片 5165">
            <a:extLst>
              <a:ext uri="{FF2B5EF4-FFF2-40B4-BE49-F238E27FC236}">
                <a16:creationId xmlns:a16="http://schemas.microsoft.com/office/drawing/2014/main" id="{1A6C5F66-ECA8-3CA1-1B7E-96915B78F57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4217809"/>
            <a:ext cx="662345" cy="137768"/>
          </a:xfrm>
          <a:prstGeom prst="rect">
            <a:avLst/>
          </a:prstGeom>
        </p:spPr>
      </p:pic>
      <p:sp>
        <p:nvSpPr>
          <p:cNvPr id="5136" name="矩形 5135">
            <a:extLst>
              <a:ext uri="{FF2B5EF4-FFF2-40B4-BE49-F238E27FC236}">
                <a16:creationId xmlns:a16="http://schemas.microsoft.com/office/drawing/2014/main" id="{CC6547B4-A482-9EEE-AF17-E8421F1F3FED}"/>
              </a:ext>
            </a:extLst>
          </p:cNvPr>
          <p:cNvSpPr/>
          <p:nvPr/>
        </p:nvSpPr>
        <p:spPr>
          <a:xfrm>
            <a:off x="10625730" y="3023675"/>
            <a:ext cx="574356" cy="2213303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69" name="图片 2068">
            <a:extLst>
              <a:ext uri="{FF2B5EF4-FFF2-40B4-BE49-F238E27FC236}">
                <a16:creationId xmlns:a16="http://schemas.microsoft.com/office/drawing/2014/main" id="{D544ED39-3EF7-50CB-502E-B74080C01BB4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7419" y="3045997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5162" name="图像" descr="图像">
            <a:extLst>
              <a:ext uri="{FF2B5EF4-FFF2-40B4-BE49-F238E27FC236}">
                <a16:creationId xmlns:a16="http://schemas.microsoft.com/office/drawing/2014/main" id="{AE766B19-F1E9-8A57-51D2-D97C143924A1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1311481" y="188199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3" name="图像" descr="图像">
            <a:extLst>
              <a:ext uri="{FF2B5EF4-FFF2-40B4-BE49-F238E27FC236}">
                <a16:creationId xmlns:a16="http://schemas.microsoft.com/office/drawing/2014/main" id="{3784BCC1-35B4-3C8C-2D64-A6132373C7F4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96462" y="2434708"/>
            <a:ext cx="519169" cy="191516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8" name="图像" descr="图像">
            <a:extLst>
              <a:ext uri="{FF2B5EF4-FFF2-40B4-BE49-F238E27FC236}">
                <a16:creationId xmlns:a16="http://schemas.microsoft.com/office/drawing/2014/main" id="{27E111D4-EAA8-DEB2-9C46-70F113E94BE4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l="5884" t="22886" r="3998" b="18237"/>
          <a:stretch>
            <a:fillRect/>
          </a:stretch>
        </p:blipFill>
        <p:spPr>
          <a:xfrm>
            <a:off x="11200086" y="5363148"/>
            <a:ext cx="672205" cy="128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noFill/>
            <a:miter lim="400000"/>
          </a:ln>
        </p:spPr>
      </p:pic>
      <p:pic>
        <p:nvPicPr>
          <p:cNvPr id="5169" name="图像" descr="图像">
            <a:extLst>
              <a:ext uri="{FF2B5EF4-FFF2-40B4-BE49-F238E27FC236}">
                <a16:creationId xmlns:a16="http://schemas.microsoft.com/office/drawing/2014/main" id="{E00FCCC2-04E9-25E7-04F6-1208DAA73F71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687657" y="1949176"/>
            <a:ext cx="353168" cy="2781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70" name="图片 5169">
            <a:extLst>
              <a:ext uri="{FF2B5EF4-FFF2-40B4-BE49-F238E27FC236}">
                <a16:creationId xmlns:a16="http://schemas.microsoft.com/office/drawing/2014/main" id="{164921AF-4C84-1541-01D3-0DEF3326F29A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349774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5174" name="图像" descr="图像">
            <a:extLst>
              <a:ext uri="{FF2B5EF4-FFF2-40B4-BE49-F238E27FC236}">
                <a16:creationId xmlns:a16="http://schemas.microsoft.com/office/drawing/2014/main" id="{E2CCDFCC-F613-BE03-F67B-4B1994BFB8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5295" y="1915878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1" name="图像" descr="图像">
            <a:extLst>
              <a:ext uri="{FF2B5EF4-FFF2-40B4-BE49-F238E27FC236}">
                <a16:creationId xmlns:a16="http://schemas.microsoft.com/office/drawing/2014/main" id="{8DCA4ED4-666E-991B-D119-16B6D1898064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542610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2" name="图片 5181">
            <a:extLst>
              <a:ext uri="{FF2B5EF4-FFF2-40B4-BE49-F238E27FC236}">
                <a16:creationId xmlns:a16="http://schemas.microsoft.com/office/drawing/2014/main" id="{F94D62F6-26D5-880C-AF8E-682DE8566B59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9306" y="1998541"/>
            <a:ext cx="330283" cy="167131"/>
          </a:xfrm>
          <a:prstGeom prst="rect">
            <a:avLst/>
          </a:prstGeom>
        </p:spPr>
      </p:pic>
      <p:pic>
        <p:nvPicPr>
          <p:cNvPr id="5183" name="图片 5182">
            <a:extLst>
              <a:ext uri="{FF2B5EF4-FFF2-40B4-BE49-F238E27FC236}">
                <a16:creationId xmlns:a16="http://schemas.microsoft.com/office/drawing/2014/main" id="{3C8D45DF-7F01-8F77-E649-D0A6ADBE31EC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6529" y="2390946"/>
            <a:ext cx="429418" cy="254655"/>
          </a:xfrm>
          <a:prstGeom prst="rect">
            <a:avLst/>
          </a:prstGeom>
        </p:spPr>
      </p:pic>
      <p:pic>
        <p:nvPicPr>
          <p:cNvPr id="2051" name="图像" descr="图像">
            <a:extLst>
              <a:ext uri="{FF2B5EF4-FFF2-40B4-BE49-F238E27FC236}">
                <a16:creationId xmlns:a16="http://schemas.microsoft.com/office/drawing/2014/main" id="{22DC784D-0AFE-4F9D-8C45-1076FCB60FF1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4000" b="94667" l="4000" r="92000">
                        <a14:foregroundMark x1="21333" y1="26667" x2="21333" y2="26667"/>
                        <a14:foregroundMark x1="20000" y1="25333" x2="20000" y2="25333"/>
                        <a14:foregroundMark x1="16000" y1="40000" x2="16000" y2="40000"/>
                        <a14:foregroundMark x1="24000" y1="58667" x2="25333" y2="60000"/>
                        <a14:foregroundMark x1="33333" y1="66667" x2="33333" y2="66667"/>
                        <a14:foregroundMark x1="29333" y1="68000" x2="25333" y2="69333"/>
                        <a14:foregroundMark x1="18667" y1="69333" x2="18667" y2="69333"/>
                        <a14:foregroundMark x1="6667" y1="88000" x2="6667" y2="88000"/>
                        <a14:foregroundMark x1="16000" y1="89333" x2="16000" y2="89333"/>
                        <a14:foregroundMark x1="25333" y1="94667" x2="25333" y2="94667"/>
                        <a14:foregroundMark x1="42667" y1="88000" x2="42667" y2="88000"/>
                        <a14:foregroundMark x1="54667" y1="89333" x2="54667" y2="89333"/>
                        <a14:foregroundMark x1="61333" y1="86667" x2="61333" y2="86667"/>
                        <a14:foregroundMark x1="78667" y1="88000" x2="78667" y2="88000"/>
                        <a14:foregroundMark x1="88000" y1="90667" x2="88000" y2="90667"/>
                        <a14:foregroundMark x1="86667" y1="88000" x2="86667" y2="88000"/>
                        <a14:foregroundMark x1="93333" y1="88000" x2="93333" y2="88000"/>
                        <a14:foregroundMark x1="40000" y1="8000" x2="40000" y2="8000"/>
                        <a14:foregroundMark x1="44000" y1="5333" x2="44000" y2="5333"/>
                        <a14:foregroundMark x1="93333" y1="45333" x2="93333" y2="45333"/>
                        <a14:foregroundMark x1="77333" y1="69333" x2="77333" y2="69333"/>
                        <a14:foregroundMark x1="73333" y1="74667" x2="73333" y2="74667"/>
                        <a14:foregroundMark x1="78667" y1="72000" x2="78667" y2="72000"/>
                        <a14:foregroundMark x1="4000" y1="46667" x2="4000" y2="46667"/>
                        <a14:foregroundMark x1="12000" y1="45333" x2="12000" y2="45333"/>
                        <a14:foregroundMark x1="8000" y1="41333" x2="8000" y2="41333"/>
                        <a14:foregroundMark x1="17333" y1="25333" x2="17333" y2="25333"/>
                        <a14:foregroundMark x1="33333" y1="13333" x2="33333" y2="13333"/>
                        <a14:foregroundMark x1="85333" y1="82667" x2="85333" y2="82667"/>
                        <a14:foregroundMark x1="69333" y1="90667" x2="69333" y2="90667"/>
                        <a14:foregroundMark x1="21333" y1="86667" x2="21333" y2="86667"/>
                        <a14:foregroundMark x1="22667" y1="81333" x2="22667" y2="81333"/>
                        <a14:foregroundMark x1="12000" y1="88000" x2="12000" y2="88000"/>
                        <a14:backgroundMark x1="50667" y1="5333" x2="50667" y2="5333"/>
                        <a14:backgroundMark x1="50667" y1="77333" x2="50667" y2="77333"/>
                        <a14:backgroundMark x1="54667" y1="68000" x2="54667" y2="68000"/>
                        <a14:backgroundMark x1="46667" y1="62667" x2="46667" y2="62667"/>
                        <a14:backgroundMark x1="50667" y1="61333" x2="50667" y2="61333"/>
                        <a14:backgroundMark x1="54667" y1="62667" x2="54667" y2="62667"/>
                        <a14:backgroundMark x1="54667" y1="64000" x2="54667" y2="64000"/>
                        <a14:backgroundMark x1="54667" y1="64000" x2="54667" y2="64000"/>
                        <a14:backgroundMark x1="18667" y1="96000" x2="18667" y2="96000"/>
                        <a14:backgroundMark x1="89333" y1="85333" x2="89333" y2="85333"/>
                        <a14:backgroundMark x1="89333" y1="90667" x2="89333" y2="90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2763" y="2387895"/>
            <a:ext cx="283103" cy="283103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Rectangle 8">
            <a:extLst>
              <a:ext uri="{FF2B5EF4-FFF2-40B4-BE49-F238E27FC236}">
                <a16:creationId xmlns:a16="http://schemas.microsoft.com/office/drawing/2014/main" id="{AB76D570-7A7E-99D3-2B00-69317ED9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Switch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CB571324-110E-7038-BD3E-35FB3F09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1293" y="1652010"/>
            <a:ext cx="142795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Assembly and Test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56" name="图片 2055">
            <a:extLst>
              <a:ext uri="{FF2B5EF4-FFF2-40B4-BE49-F238E27FC236}">
                <a16:creationId xmlns:a16="http://schemas.microsoft.com/office/drawing/2014/main" id="{58382158-5C75-DD26-FAFC-F73BF653BA33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10022926" y="2037197"/>
            <a:ext cx="475097" cy="89818"/>
          </a:xfrm>
          <a:prstGeom prst="rect">
            <a:avLst/>
          </a:prstGeom>
        </p:spPr>
      </p:pic>
      <p:sp>
        <p:nvSpPr>
          <p:cNvPr id="2058" name="Rectangle 8">
            <a:extLst>
              <a:ext uri="{FF2B5EF4-FFF2-40B4-BE49-F238E27FC236}">
                <a16:creationId xmlns:a16="http://schemas.microsoft.com/office/drawing/2014/main" id="{2137F4A7-010E-E86A-CB33-ED2C7C50C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2745084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000" b="1" dirty="0">
                <a:solidFill>
                  <a:srgbClr val="000000"/>
                </a:solidFill>
                <a:cs typeface="+mn-ea"/>
                <a:sym typeface="+mn-lt"/>
              </a:rPr>
              <a:t>光模块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60" name="图片 2059">
            <a:extLst>
              <a:ext uri="{FF2B5EF4-FFF2-40B4-BE49-F238E27FC236}">
                <a16:creationId xmlns:a16="http://schemas.microsoft.com/office/drawing/2014/main" id="{5BAE109B-32DF-2CFA-ACD4-1A27319F2994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064" y="5021993"/>
            <a:ext cx="431753" cy="164625"/>
          </a:xfrm>
          <a:prstGeom prst="rect">
            <a:avLst/>
          </a:prstGeom>
        </p:spPr>
      </p:pic>
      <p:pic>
        <p:nvPicPr>
          <p:cNvPr id="3074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96190A70-1AB2-1B66-22BC-1684BE086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2638" y="2946742"/>
            <a:ext cx="703555" cy="323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454100-9BA5-4893-EDD3-9B400AAE5A3F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BEBA8EAE-BF5A-486C-A8C5-ECC9F3942E4B}">
                <a14:imgProps xmlns:a14="http://schemas.microsoft.com/office/drawing/2010/main">
                  <a14:imgLayer r:embed="rId56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5387275"/>
            <a:ext cx="488440" cy="106599"/>
          </a:xfrm>
          <a:prstGeom prst="rect">
            <a:avLst/>
          </a:prstGeom>
        </p:spPr>
      </p:pic>
      <p:pic>
        <p:nvPicPr>
          <p:cNvPr id="1026" name="Picture 2" descr="华工科技新logo">
            <a:extLst>
              <a:ext uri="{FF2B5EF4-FFF2-40B4-BE49-F238E27FC236}">
                <a16:creationId xmlns:a16="http://schemas.microsoft.com/office/drawing/2014/main" id="{6FDCB53A-A7CB-0E2B-769C-9ECF7D4D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294" y="5315246"/>
            <a:ext cx="286340" cy="25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9D57D4-FC54-8270-1BC8-77C76A3973B8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211" b="93860" l="9705" r="89873">
                        <a14:foregroundMark x1="31224" y1="49561" x2="31224" y2="49561"/>
                        <a14:foregroundMark x1="45992" y1="53947" x2="45992" y2="53947"/>
                        <a14:foregroundMark x1="35021" y1="26754" x2="35021" y2="26754"/>
                        <a14:foregroundMark x1="29114" y1="39912" x2="33333" y2="57895"/>
                        <a14:foregroundMark x1="51055" y1="41228" x2="30380" y2="65351"/>
                        <a14:foregroundMark x1="30380" y1="65351" x2="11814" y2="57018"/>
                        <a14:foregroundMark x1="16456" y1="63158" x2="40506" y2="65351"/>
                        <a14:foregroundMark x1="41772" y1="66667" x2="20675" y2="70614"/>
                        <a14:foregroundMark x1="20675" y1="70614" x2="18987" y2="67544"/>
                        <a14:foregroundMark x1="32489" y1="35965" x2="35443" y2="44298"/>
                        <a14:foregroundMark x1="73840" y1="35088" x2="56118" y2="63158"/>
                        <a14:foregroundMark x1="56118" y1="63158" x2="43882" y2="70175"/>
                        <a14:foregroundMark x1="81013" y1="35965" x2="56962" y2="82456"/>
                        <a14:foregroundMark x1="35865" y1="91228" x2="58650" y2="90789"/>
                        <a14:foregroundMark x1="58650" y1="90789" x2="60759" y2="89912"/>
                        <a14:foregroundMark x1="59072" y1="92544" x2="43038" y2="94298"/>
                        <a14:foregroundMark x1="86920" y1="47368" x2="86498" y2="58333"/>
                        <a14:foregroundMark x1="89873" y1="46930" x2="88608" y2="570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4652" y="5624797"/>
            <a:ext cx="258970" cy="24913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9779D92-1B6A-1F80-BE54-4D2F2E922BA3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BEBA8EAE-BF5A-486C-A8C5-ECC9F3942E4B}">
                <a14:imgProps xmlns:a14="http://schemas.microsoft.com/office/drawing/2010/main">
                  <a14:imgLayer r:embed="rId56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051006"/>
            <a:ext cx="488440" cy="106599"/>
          </a:xfrm>
          <a:prstGeom prst="rect">
            <a:avLst/>
          </a:prstGeom>
        </p:spPr>
      </p:pic>
      <p:pic>
        <p:nvPicPr>
          <p:cNvPr id="29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0A2AA8AB-F8BF-9D34-A770-E73AD8708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99" y="4971632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23881A7-8311-2493-7548-881113B0829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9846" y="4217809"/>
            <a:ext cx="662345" cy="137768"/>
          </a:xfrm>
          <a:prstGeom prst="rect">
            <a:avLst/>
          </a:prstGeom>
        </p:spPr>
      </p:pic>
      <p:sp>
        <p:nvSpPr>
          <p:cNvPr id="32" name="Rectangle 8">
            <a:extLst>
              <a:ext uri="{FF2B5EF4-FFF2-40B4-BE49-F238E27FC236}">
                <a16:creationId xmlns:a16="http://schemas.microsoft.com/office/drawing/2014/main" id="{DA796DC7-A8A4-F708-856A-D9A34A57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802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 err="1">
                <a:solidFill>
                  <a:srgbClr val="000000"/>
                </a:solidFill>
                <a:cs typeface="+mn-ea"/>
                <a:sym typeface="+mn-lt"/>
              </a:rPr>
              <a:t>SiPh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089977CC-37C7-06F8-7BBE-3902792D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5179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Laser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2E40F41-9D6F-B7FC-2630-6E62942D4FEE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3167649" y="2824228"/>
            <a:ext cx="530032" cy="8793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DA83F15-D64F-6B8A-FC65-0F7198931F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3173695" y="3032853"/>
            <a:ext cx="504244" cy="124136"/>
          </a:xfrm>
          <a:prstGeom prst="rect">
            <a:avLst/>
          </a:prstGeom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F572797A-1DC6-3724-8DF1-DD4A44BED9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3695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74369A97-EE57-FF28-A4F8-B6E88502E7A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69846" y="3289516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B382A34-0DF9-3220-C655-04D42BDCB9C2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2434708"/>
            <a:ext cx="330283" cy="16713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D5DCCCB-DEB7-7C56-8134-A9D789404D5E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1279" y="2434708"/>
            <a:ext cx="330283" cy="16713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3980D05-4DB4-5D96-DFA7-5BC60B88E161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6682" y="2434708"/>
            <a:ext cx="330283" cy="167131"/>
          </a:xfrm>
          <a:prstGeom prst="rect">
            <a:avLst/>
          </a:prstGeom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11A10C50-0C11-EDC4-7C04-B0BC342461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5208" y="1936916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5333E206-B0A2-EFAD-84E6-E32DFD0AAB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4238" y="2373083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F0114751-1A38-1862-8CAF-061D6B30BBA6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1954779"/>
            <a:ext cx="429418" cy="25465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E80704F-1DC1-20A7-80BE-24025F9F20C7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3301" y="2390946"/>
            <a:ext cx="429418" cy="254655"/>
          </a:xfrm>
          <a:prstGeom prst="rect">
            <a:avLst/>
          </a:prstGeom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1E278211-C4D4-2723-53BB-14CEA420E7BB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171279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4" name="图像" descr="图像">
            <a:extLst>
              <a:ext uri="{FF2B5EF4-FFF2-40B4-BE49-F238E27FC236}">
                <a16:creationId xmlns:a16="http://schemas.microsoft.com/office/drawing/2014/main" id="{6DAB50BE-6443-A9EA-8B24-E67CFD4D19A9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946682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5" name="图像" descr="图像">
            <a:extLst>
              <a:ext uri="{FF2B5EF4-FFF2-40B4-BE49-F238E27FC236}">
                <a16:creationId xmlns:a16="http://schemas.microsoft.com/office/drawing/2014/main" id="{021A98DA-57D8-7C9F-D64C-D215BBDCE2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7534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图像" descr="图像">
            <a:extLst>
              <a:ext uri="{FF2B5EF4-FFF2-40B4-BE49-F238E27FC236}">
                <a16:creationId xmlns:a16="http://schemas.microsoft.com/office/drawing/2014/main" id="{7F34F4BE-A951-68A1-78BB-B8954EBAC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3301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图片 1027">
            <a:extLst>
              <a:ext uri="{FF2B5EF4-FFF2-40B4-BE49-F238E27FC236}">
                <a16:creationId xmlns:a16="http://schemas.microsoft.com/office/drawing/2014/main" id="{336E880B-3EBF-6A93-4812-B47B75B8DC13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2053" y="1954779"/>
            <a:ext cx="429418" cy="254655"/>
          </a:xfrm>
          <a:prstGeom prst="rect">
            <a:avLst/>
          </a:prstGeom>
        </p:spPr>
      </p:pic>
      <p:pic>
        <p:nvPicPr>
          <p:cNvPr id="1030" name="图片 1029">
            <a:extLst>
              <a:ext uri="{FF2B5EF4-FFF2-40B4-BE49-F238E27FC236}">
                <a16:creationId xmlns:a16="http://schemas.microsoft.com/office/drawing/2014/main" id="{C3DAB238-4F1A-ADF7-E3FF-6666B02CE43D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3647" y="2390946"/>
            <a:ext cx="429418" cy="254655"/>
          </a:xfrm>
          <a:prstGeom prst="rect">
            <a:avLst/>
          </a:prstGeom>
        </p:spPr>
      </p:pic>
      <p:pic>
        <p:nvPicPr>
          <p:cNvPr id="1032" name="图片 1031">
            <a:extLst>
              <a:ext uri="{FF2B5EF4-FFF2-40B4-BE49-F238E27FC236}">
                <a16:creationId xmlns:a16="http://schemas.microsoft.com/office/drawing/2014/main" id="{D24DC687-A0E4-1E35-F907-5CED967CD246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1576936" y="2824228"/>
            <a:ext cx="530032" cy="87933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0F20C3BE-0E91-6187-37F6-C7FD7FA8C774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5602" b="94606" l="3312" r="97912">
                        <a14:foregroundMark x1="11591" y1="31743" x2="11591" y2="31743"/>
                        <a14:foregroundMark x1="11015" y1="41079" x2="11015" y2="41079"/>
                        <a14:foregroundMark x1="5688" y1="12241" x2="5688" y2="12241"/>
                        <a14:foregroundMark x1="3312" y1="83195" x2="3312" y2="83195"/>
                        <a14:foregroundMark x1="27790" y1="94813" x2="27790" y2="94813"/>
                        <a14:foregroundMark x1="6120" y1="5809" x2="6120" y2="5809"/>
                        <a14:foregroundMark x1="37653" y1="36515" x2="37653" y2="36515"/>
                        <a14:foregroundMark x1="40461" y1="37759" x2="40461" y2="37759"/>
                        <a14:foregroundMark x1="47012" y1="34855" x2="47012" y2="34855"/>
                        <a14:foregroundMark x1="47228" y1="8714" x2="47228" y2="8714"/>
                        <a14:foregroundMark x1="54140" y1="33402" x2="54140" y2="33402"/>
                        <a14:foregroundMark x1="68754" y1="37552" x2="68754" y2="37552"/>
                        <a14:foregroundMark x1="81138" y1="35892" x2="81138" y2="35892"/>
                        <a14:foregroundMark x1="92945" y1="36929" x2="92945" y2="36929"/>
                        <a14:foregroundMark x1="94600" y1="36929" x2="94600" y2="36929"/>
                        <a14:foregroundMark x1="97624" y1="43361" x2="97624" y2="43361"/>
                        <a14:foregroundMark x1="21238" y1="73859" x2="21238" y2="73859"/>
                        <a14:foregroundMark x1="23902" y1="77593" x2="23902" y2="77593"/>
                        <a14:foregroundMark x1="26782" y1="84647" x2="26782" y2="84647"/>
                        <a14:foregroundMark x1="28150" y1="90664" x2="28150" y2="90664"/>
                        <a14:foregroundMark x1="24118" y1="87759" x2="24118" y2="87759"/>
                        <a14:foregroundMark x1="20518" y1="68880" x2="20518" y2="68880"/>
                        <a14:foregroundMark x1="34557" y1="72822" x2="34557" y2="72822"/>
                        <a14:foregroundMark x1="38445" y1="75934" x2="38445" y2="75934"/>
                        <a14:foregroundMark x1="35565" y1="75311" x2="35565" y2="75311"/>
                        <a14:foregroundMark x1="36285" y1="80083" x2="36285" y2="80083"/>
                        <a14:foregroundMark x1="43053" y1="75311" x2="43053" y2="75311"/>
                        <a14:foregroundMark x1="48884" y1="73859" x2="48884" y2="73859"/>
                        <a14:foregroundMark x1="51188" y1="74066" x2="51188" y2="74066"/>
                        <a14:foregroundMark x1="57379" y1="80290" x2="57379" y2="80290"/>
                        <a14:foregroundMark x1="58387" y1="79461" x2="58387" y2="79461"/>
                        <a14:foregroundMark x1="59395" y1="76141" x2="59395" y2="76141"/>
                        <a14:foregroundMark x1="61987" y1="71369" x2="61987" y2="71369"/>
                        <a14:foregroundMark x1="66595" y1="74689" x2="66595" y2="74689"/>
                        <a14:foregroundMark x1="71778" y1="74066" x2="71778" y2="74066"/>
                        <a14:foregroundMark x1="76890" y1="73237" x2="76890" y2="73237"/>
                        <a14:foregroundMark x1="77898" y1="71369" x2="77898" y2="71369"/>
                        <a14:foregroundMark x1="77034" y1="78008" x2="77034" y2="78008"/>
                        <a14:foregroundMark x1="82145" y1="69087" x2="82145" y2="69087"/>
                        <a14:foregroundMark x1="85817" y1="72199" x2="85817" y2="72199"/>
                        <a14:foregroundMark x1="91721" y1="75311" x2="91721" y2="75311"/>
                        <a14:foregroundMark x1="95680" y1="71992" x2="95680" y2="71992"/>
                        <a14:foregroundMark x1="96400" y1="74689" x2="96400" y2="74689"/>
                        <a14:foregroundMark x1="97912" y1="79253" x2="97912" y2="79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82626" y="3794478"/>
            <a:ext cx="541500" cy="18790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34BAEB7F-9CCF-D827-81AA-0528F988D708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ackgroundRemoval t="9804" b="89706" l="6154" r="93590">
                        <a14:foregroundMark x1="17436" y1="28922" x2="17436" y2="28922"/>
                        <a14:foregroundMark x1="6154" y1="28431" x2="6154" y2="28431"/>
                        <a14:foregroundMark x1="24872" y1="39216" x2="24872" y2="39216"/>
                        <a14:foregroundMark x1="17051" y1="57843" x2="17051" y2="57843"/>
                        <a14:foregroundMark x1="53590" y1="43137" x2="53590" y2="43137"/>
                        <a14:foregroundMark x1="57051" y1="25980" x2="57051" y2="25980"/>
                        <a14:foregroundMark x1="59615" y1="39706" x2="59615" y2="39706"/>
                        <a14:foregroundMark x1="56667" y1="48529" x2="56667" y2="48529"/>
                        <a14:foregroundMark x1="63974" y1="48039" x2="63974" y2="48039"/>
                        <a14:foregroundMark x1="68590" y1="40686" x2="68590" y2="40686"/>
                        <a14:foregroundMark x1="71026" y1="36765" x2="71026" y2="36765"/>
                        <a14:foregroundMark x1="72308" y1="45588" x2="72308" y2="45588"/>
                        <a14:foregroundMark x1="75128" y1="36765" x2="75128" y2="36765"/>
                        <a14:foregroundMark x1="85769" y1="29412" x2="85769" y2="29412"/>
                        <a14:foregroundMark x1="93205" y1="33333" x2="93205" y2="33333"/>
                        <a14:foregroundMark x1="78462" y1="50000" x2="78462" y2="50000"/>
                        <a14:foregroundMark x1="38846" y1="84804" x2="38846" y2="84804"/>
                        <a14:foregroundMark x1="35769" y1="84804" x2="35769" y2="84804"/>
                        <a14:foregroundMark x1="37179" y1="84804" x2="37179" y2="84804"/>
                        <a14:foregroundMark x1="38205" y1="82353" x2="38205" y2="82353"/>
                        <a14:foregroundMark x1="38718" y1="84804" x2="38718" y2="84804"/>
                        <a14:foregroundMark x1="39103" y1="79902" x2="39103" y2="79902"/>
                        <a14:foregroundMark x1="35769" y1="79902" x2="35769" y2="79902"/>
                        <a14:foregroundMark x1="44359" y1="79902" x2="44359" y2="79902"/>
                        <a14:foregroundMark x1="47308" y1="79902" x2="47308" y2="79902"/>
                        <a14:foregroundMark x1="52436" y1="80392" x2="52436" y2="80392"/>
                        <a14:foregroundMark x1="54359" y1="86765" x2="54359" y2="86765"/>
                        <a14:foregroundMark x1="59872" y1="80882" x2="59872" y2="80882"/>
                        <a14:foregroundMark x1="62308" y1="89216" x2="62308" y2="89216"/>
                        <a14:foregroundMark x1="67564" y1="84804" x2="67564" y2="84804"/>
                        <a14:foregroundMark x1="73077" y1="78431" x2="73077" y2="78431"/>
                        <a14:foregroundMark x1="72308" y1="82353" x2="72308" y2="82353"/>
                        <a14:foregroundMark x1="74615" y1="75980" x2="74615" y2="75980"/>
                        <a14:foregroundMark x1="80128" y1="85784" x2="80128" y2="85784"/>
                        <a14:foregroundMark x1="88462" y1="82843" x2="88462" y2="82843"/>
                        <a14:foregroundMark x1="93590" y1="84314" x2="93590" y2="843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939714"/>
            <a:ext cx="693730" cy="181437"/>
          </a:xfrm>
          <a:prstGeom prst="rect">
            <a:avLst/>
          </a:prstGeom>
        </p:spPr>
      </p:pic>
      <p:pic>
        <p:nvPicPr>
          <p:cNvPr id="1037" name="Picture 4" descr="Retym | StartupHub.ai">
            <a:extLst>
              <a:ext uri="{FF2B5EF4-FFF2-40B4-BE49-F238E27FC236}">
                <a16:creationId xmlns:a16="http://schemas.microsoft.com/office/drawing/2014/main" id="{B5F51906-0D0E-CBF0-A3A7-E54E44E68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6" cstate="print"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ackgroundRemoval t="10000" b="90000" l="7000" r="94000">
                        <a14:foregroundMark x1="23500" y1="44000" x2="23500" y2="44000"/>
                        <a14:foregroundMark x1="9500" y1="48500" x2="9500" y2="48500"/>
                        <a14:foregroundMark x1="12500" y1="53000" x2="12500" y2="53000"/>
                        <a14:foregroundMark x1="7000" y1="39500" x2="7000" y2="39500"/>
                        <a14:foregroundMark x1="32000" y1="49000" x2="32000" y2="49000"/>
                        <a14:foregroundMark x1="28000" y1="49500" x2="28000" y2="49500"/>
                        <a14:foregroundMark x1="28000" y1="49500" x2="28000" y2="49500"/>
                        <a14:foregroundMark x1="28000" y1="47500" x2="28000" y2="47500"/>
                        <a14:foregroundMark x1="43500" y1="44000" x2="43500" y2="44000"/>
                        <a14:foregroundMark x1="46500" y1="44000" x2="46500" y2="44000"/>
                        <a14:foregroundMark x1="46000" y1="40000" x2="46000" y2="40000"/>
                        <a14:foregroundMark x1="45000" y1="39500" x2="45000" y2="39500"/>
                        <a14:foregroundMark x1="94000" y1="47000" x2="94000" y2="47000"/>
                        <a14:foregroundMark x1="60500" y1="57000" x2="60500" y2="5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274" b="34292"/>
          <a:stretch/>
        </p:blipFill>
        <p:spPr bwMode="auto">
          <a:xfrm>
            <a:off x="5228365" y="3774101"/>
            <a:ext cx="704986" cy="2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图片 1037">
            <a:extLst>
              <a:ext uri="{FF2B5EF4-FFF2-40B4-BE49-F238E27FC236}">
                <a16:creationId xmlns:a16="http://schemas.microsoft.com/office/drawing/2014/main" id="{6877E9FB-C6BE-A359-B45E-CEF71A89623E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40589" y="2987295"/>
            <a:ext cx="590782" cy="225262"/>
          </a:xfrm>
          <a:prstGeom prst="rect">
            <a:avLst/>
          </a:prstGeom>
        </p:spPr>
      </p:pic>
      <p:pic>
        <p:nvPicPr>
          <p:cNvPr id="1039" name="Picture 6" descr="Credo Semiconductor Office Photos | Glassdoor">
            <a:extLst>
              <a:ext uri="{FF2B5EF4-FFF2-40B4-BE49-F238E27FC236}">
                <a16:creationId xmlns:a16="http://schemas.microsoft.com/office/drawing/2014/main" id="{FDE9D61F-2046-CA50-D36C-31459D05D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8" cstate="print">
            <a:extLst>
              <a:ext uri="{BEBA8EAE-BF5A-486C-A8C5-ECC9F3942E4B}">
                <a14:imgProps xmlns:a14="http://schemas.microsoft.com/office/drawing/2010/main">
                  <a14:imgLayer r:embed="rId69">
                    <a14:imgEffect>
                      <a14:backgroundRemoval t="10000" b="90000" l="3333" r="93889">
                        <a14:foregroundMark x1="40000" y1="55556" x2="40000" y2="55556"/>
                        <a14:foregroundMark x1="52222" y1="51667" x2="52222" y2="51667"/>
                        <a14:foregroundMark x1="94444" y1="51111" x2="94444" y2="51111"/>
                        <a14:foregroundMark x1="12778" y1="45000" x2="12778" y2="45000"/>
                        <a14:foregroundMark x1="18333" y1="40556" x2="18333" y2="40556"/>
                        <a14:foregroundMark x1="21667" y1="38889" x2="21667" y2="38889"/>
                        <a14:foregroundMark x1="25556" y1="37778" x2="25556" y2="37778"/>
                        <a14:foregroundMark x1="27222" y1="47222" x2="27222" y2="47222"/>
                        <a14:foregroundMark x1="27222" y1="55000" x2="27222" y2="55000"/>
                        <a14:foregroundMark x1="18333" y1="59444" x2="18333" y2="59444"/>
                        <a14:foregroundMark x1="11667" y1="56667" x2="11667" y2="56667"/>
                        <a14:foregroundMark x1="11111" y1="50000" x2="11111" y2="50000"/>
                        <a14:foregroundMark x1="16111" y1="38333" x2="16111" y2="38333"/>
                        <a14:foregroundMark x1="9444" y1="36667" x2="9444" y2="36667"/>
                        <a14:foregroundMark x1="3333" y1="37222" x2="3333" y2="37222"/>
                        <a14:foregroundMark x1="63889" y1="51111" x2="63889" y2="51111"/>
                        <a14:foregroundMark x1="71667" y1="51111" x2="71667" y2="51111"/>
                        <a14:backgroundMark x1="51667" y1="50000" x2="51667" y2="50000"/>
                        <a14:backgroundMark x1="57778" y1="52778" x2="57778" y2="52778"/>
                        <a14:backgroundMark x1="73889" y1="52222" x2="73889" y2="52222"/>
                        <a14:backgroundMark x1="91667" y1="50000" x2="91667" y2="50000"/>
                        <a14:backgroundMark x1="66667" y1="57778" x2="66667" y2="5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7" b="35872"/>
          <a:stretch/>
        </p:blipFill>
        <p:spPr bwMode="auto">
          <a:xfrm>
            <a:off x="5177534" y="2776251"/>
            <a:ext cx="583575" cy="18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FD3B3DA9-E779-7AE3-AB37-EA254D4B4A71}"/>
              </a:ext>
            </a:extLst>
      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6058873" y="5002225"/>
            <a:ext cx="423690" cy="204161"/>
          </a:xfrm>
          <a:prstGeom prst="rect">
            <a:avLst/>
          </a:prstGeom>
        </p:spPr>
      </p:pic>
      <p:pic>
        <p:nvPicPr>
          <p:cNvPr id="1043" name="图像" descr="图像">
            <a:extLst>
              <a:ext uri="{FF2B5EF4-FFF2-40B4-BE49-F238E27FC236}">
                <a16:creationId xmlns:a16="http://schemas.microsoft.com/office/drawing/2014/main" id="{0EDA9A4B-8034-32E3-048E-A909F83D1B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66315" y="4926505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4" name="图像" descr="图像">
            <a:extLst>
              <a:ext uri="{FF2B5EF4-FFF2-40B4-BE49-F238E27FC236}">
                <a16:creationId xmlns:a16="http://schemas.microsoft.com/office/drawing/2014/main" id="{25FDBCFF-4E6A-5CDA-ACB5-B712D579BA65}"/>
              </a:ext>
            </a:extLst>
          </p:cNvPr>
          <p:cNvPicPr>
            <a:picLocks noChangeAspect="1"/>
          </p:cNvPicPr>
          <p:nvPr/>
        </p:nvPicPr>
        <p:blipFill>
          <a:blip r:embed="rId71"/>
          <a:srcRect t="29736" r="12" b="29739"/>
          <a:stretch>
            <a:fillRect/>
          </a:stretch>
        </p:blipFill>
        <p:spPr>
          <a:xfrm>
            <a:off x="9353452" y="5378288"/>
            <a:ext cx="686705" cy="124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45" name="图像" descr="图像">
            <a:extLst>
              <a:ext uri="{FF2B5EF4-FFF2-40B4-BE49-F238E27FC236}">
                <a16:creationId xmlns:a16="http://schemas.microsoft.com/office/drawing/2014/main" id="{D51E0695-0D99-0345-FB91-5AA17C7D3A5A}"/>
              </a:ext>
            </a:extLst>
          </p:cNvPr>
          <p:cNvPicPr>
            <a:picLocks noChangeAspect="1"/>
          </p:cNvPicPr>
          <p:nvPr/>
        </p:nvPicPr>
        <p:blipFill>
          <a:blip r:embed="rId72"/>
          <a:srcRect l="10181" t="33840" r="8725" b="35390"/>
          <a:stretch>
            <a:fillRect/>
          </a:stretch>
        </p:blipFill>
        <p:spPr>
          <a:xfrm>
            <a:off x="9910587" y="5040981"/>
            <a:ext cx="501600" cy="12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046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26F952F8-BD30-39B8-0710-DB5BDE7A0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3281" y="5616691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图片 1046">
            <a:extLst>
              <a:ext uri="{FF2B5EF4-FFF2-40B4-BE49-F238E27FC236}">
                <a16:creationId xmlns:a16="http://schemas.microsoft.com/office/drawing/2014/main" id="{748D2AFE-B7CC-31D4-6479-FF122053DAEF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42941" y="5667052"/>
            <a:ext cx="431753" cy="164625"/>
          </a:xfrm>
          <a:prstGeom prst="rect">
            <a:avLst/>
          </a:prstGeom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112643E4-F6C3-B276-571E-6DA2B814FCDB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420" b="89855" l="9884" r="93023">
                        <a14:foregroundMark x1="11628" y1="26087" x2="11628" y2="26087"/>
                        <a14:foregroundMark x1="31105" y1="23913" x2="31105" y2="23913"/>
                        <a14:foregroundMark x1="38081" y1="39855" x2="38081" y2="39855"/>
                        <a14:foregroundMark x1="38663" y1="18116" x2="38663" y2="18116"/>
                        <a14:foregroundMark x1="45058" y1="34058" x2="45058" y2="34058"/>
                        <a14:foregroundMark x1="88663" y1="42754" x2="88663" y2="42754"/>
                        <a14:foregroundMark x1="93023" y1="57246" x2="93023" y2="57246"/>
                      </a14:backgroundRemoval>
                    </a14:imgEffect>
                  </a14:imgLayer>
                </a14:imgProps>
              </a:ext>
            </a:extLst>
          </a:blip>
          <a:srcRect l="5064" t="10754" r="2260" b="27888"/>
          <a:stretch/>
        </p:blipFill>
        <p:spPr>
          <a:xfrm>
            <a:off x="9275625" y="3801417"/>
            <a:ext cx="504030" cy="133869"/>
          </a:xfrm>
          <a:prstGeom prst="rect">
            <a:avLst/>
          </a:prstGeom>
        </p:spPr>
      </p:pic>
      <p:sp>
        <p:nvSpPr>
          <p:cNvPr id="1051" name="矩形 1050">
            <a:extLst>
              <a:ext uri="{FF2B5EF4-FFF2-40B4-BE49-F238E27FC236}">
                <a16:creationId xmlns:a16="http://schemas.microsoft.com/office/drawing/2014/main" id="{9CA8FAD8-3AFF-D22F-C790-600157E53E3D}"/>
              </a:ext>
            </a:extLst>
          </p:cNvPr>
          <p:cNvSpPr/>
          <p:nvPr/>
        </p:nvSpPr>
        <p:spPr>
          <a:xfrm>
            <a:off x="1565012" y="5634135"/>
            <a:ext cx="897642" cy="493426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54" name="图片 1053">
            <a:extLst>
              <a:ext uri="{FF2B5EF4-FFF2-40B4-BE49-F238E27FC236}">
                <a16:creationId xmlns:a16="http://schemas.microsoft.com/office/drawing/2014/main" id="{B8D92A6D-6A80-0579-3E53-A24FA5A06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1908" y="3778846"/>
            <a:ext cx="681323" cy="155067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F8A5D412-2253-4713-2E00-4AD8051930E2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2048" y="5261972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43312D38-B2F7-ECBD-D72B-7DBE76499465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5693" y="3804109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28DB7AEF-2FBC-3A07-BD5D-04EEDA02A2EE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6116" y="5046763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E93F9B50-8835-A6A8-53BD-7CC1CA30F07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5631" y="3806668"/>
            <a:ext cx="662345" cy="137768"/>
          </a:xfrm>
          <a:prstGeom prst="rect">
            <a:avLst/>
          </a:prstGeom>
        </p:spPr>
      </p:pic>
      <p:pic>
        <p:nvPicPr>
          <p:cNvPr id="1061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9F309453-8FEE-5499-4B77-3F786F2E2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10658044" y="2780245"/>
            <a:ext cx="575177" cy="12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10" descr="ShunSin Company Profile 2024: Stock Performance &amp; Earnings | PitchBook">
            <a:extLst>
              <a:ext uri="{FF2B5EF4-FFF2-40B4-BE49-F238E27FC236}">
                <a16:creationId xmlns:a16="http://schemas.microsoft.com/office/drawing/2014/main" id="{093C1486-F012-063D-56E8-C2F8A08B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7" cstate="print"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backgroundRemoval t="10000" b="90000" l="4000" r="95000">
                        <a14:foregroundMark x1="15500" y1="56000" x2="15500" y2="56000"/>
                        <a14:foregroundMark x1="17500" y1="56000" x2="17500" y2="56000"/>
                        <a14:foregroundMark x1="17500" y1="40000" x2="17500" y2="40000"/>
                        <a14:foregroundMark x1="95000" y1="50000" x2="95000" y2="50000"/>
                        <a14:foregroundMark x1="7000" y1="43000" x2="7000" y2="43000"/>
                        <a14:foregroundMark x1="4000" y1="59000" x2="4000" y2="59000"/>
                        <a14:foregroundMark x1="74500" y1="41000" x2="74500" y2="41000"/>
                        <a14:foregroundMark x1="66038" y1="52830" x2="66038" y2="52830"/>
                        <a14:foregroundMark x1="82075" y1="38679" x2="82075" y2="38679"/>
                        <a14:backgroundMark x1="41000" y1="40500" x2="41000" y2="40500"/>
                        <a14:backgroundMark x1="90000" y1="41500" x2="90000" y2="41500"/>
                        <a14:backgroundMark x1="52500" y1="38000" x2="52500" y2="38000"/>
                        <a14:backgroundMark x1="62500" y1="53000" x2="62500" y2="53000"/>
                        <a14:backgroundMark x1="78000" y1="50500" x2="78000" y2="50500"/>
                        <a14:backgroundMark x1="77500" y1="37000" x2="77500" y2="37000"/>
                        <a14:backgroundMark x1="88500" y1="41000" x2="88500" y2="41000"/>
                        <a14:backgroundMark x1="78000" y1="62000" x2="780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2" b="34146"/>
          <a:stretch/>
        </p:blipFill>
        <p:spPr bwMode="auto">
          <a:xfrm>
            <a:off x="10684479" y="5686945"/>
            <a:ext cx="441757" cy="14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EF376E02-2217-9D8B-38B3-8974EBEA8258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BEBA8EAE-BF5A-486C-A8C5-ECC9F3942E4B}">
                <a14:imgProps xmlns:a14="http://schemas.microsoft.com/office/drawing/2010/main">
                  <a14:imgLayer r:embed="rId80">
                    <a14:imgEffect>
                      <a14:backgroundRemoval t="9524" b="89524" l="4267" r="92267">
                        <a14:foregroundMark x1="8267" y1="49524" x2="8267" y2="49524"/>
                        <a14:foregroundMark x1="22667" y1="54286" x2="22667" y2="54286"/>
                        <a14:foregroundMark x1="4533" y1="48571" x2="4533" y2="48571"/>
                        <a14:foregroundMark x1="42933" y1="60952" x2="42933" y2="60952"/>
                        <a14:foregroundMark x1="53333" y1="60952" x2="53333" y2="60952"/>
                        <a14:foregroundMark x1="53867" y1="36190" x2="53867" y2="36190"/>
                        <a14:foregroundMark x1="59467" y1="59048" x2="59467" y2="59048"/>
                        <a14:foregroundMark x1="75200" y1="61905" x2="75200" y2="61905"/>
                        <a14:foregroundMark x1="73867" y1="60000" x2="73867" y2="60000"/>
                        <a14:foregroundMark x1="67733" y1="57143" x2="67733" y2="57143"/>
                        <a14:foregroundMark x1="60533" y1="63810" x2="60267" y2="78095"/>
                        <a14:foregroundMark x1="82399" y1="66738" x2="82933" y2="66667"/>
                        <a14:foregroundMark x1="75733" y1="67619" x2="77879" y2="67335"/>
                        <a14:foregroundMark x1="78309" y1="79183" x2="79733" y2="82857"/>
                        <a14:foregroundMark x1="74933" y1="70476" x2="75969" y2="73148"/>
                        <a14:foregroundMark x1="89600" y1="41905" x2="89333" y2="77143"/>
                        <a14:foregroundMark x1="92267" y1="47619" x2="92267" y2="47619"/>
                        <a14:backgroundMark x1="77333" y1="74286" x2="77333" y2="74286"/>
                        <a14:backgroundMark x1="76800" y1="77143" x2="76800" y2="77143"/>
                        <a14:backgroundMark x1="77333" y1="77143" x2="77333" y2="77143"/>
                        <a14:backgroundMark x1="77600" y1="78095" x2="77600" y2="78095"/>
                        <a14:backgroundMark x1="76533" y1="71429" x2="78667" y2="780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745084"/>
            <a:ext cx="497850" cy="139398"/>
          </a:xfrm>
          <a:prstGeom prst="rect">
            <a:avLst/>
          </a:prstGeom>
        </p:spPr>
      </p:pic>
      <p:pic>
        <p:nvPicPr>
          <p:cNvPr id="1065" name="Picture 12" descr="Salience Labs Closed Series A Round Led by Applied Ventures and ICM ...">
            <a:extLst>
              <a:ext uri="{FF2B5EF4-FFF2-40B4-BE49-F238E27FC236}">
                <a16:creationId xmlns:a16="http://schemas.microsoft.com/office/drawing/2014/main" id="{5178F1E7-FE15-852F-4928-B142EFB0B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1" cstate="print">
            <a:extLst>
              <a:ext uri="{BEBA8EAE-BF5A-486C-A8C5-ECC9F3942E4B}">
                <a14:imgProps xmlns:a14="http://schemas.microsoft.com/office/drawing/2010/main">
                  <a14:imgLayer r:embed="rId82">
                    <a14:imgEffect>
                      <a14:backgroundRemoval t="9961" b="89844" l="5273" r="92383">
                        <a14:foregroundMark x1="9570" y1="34180" x2="9570" y2="34180"/>
                        <a14:foregroundMark x1="13086" y1="29688" x2="13086" y2="29688"/>
                        <a14:foregroundMark x1="5371" y1="25977" x2="5371" y2="25977"/>
                        <a14:foregroundMark x1="9375" y1="42773" x2="9375" y2="42773"/>
                        <a14:foregroundMark x1="9473" y1="48242" x2="9473" y2="48242"/>
                        <a14:foregroundMark x1="9277" y1="54102" x2="9277" y2="54102"/>
                        <a14:foregroundMark x1="10352" y1="61328" x2="10352" y2="61328"/>
                        <a14:foregroundMark x1="16895" y1="63281" x2="16895" y2="63281"/>
                        <a14:foregroundMark x1="20117" y1="62695" x2="20117" y2="62695"/>
                        <a14:foregroundMark x1="22754" y1="59961" x2="22754" y2="59961"/>
                        <a14:foregroundMark x1="13867" y1="62695" x2="13867" y2="62695"/>
                        <a14:foregroundMark x1="24219" y1="49023" x2="24219" y2="49023"/>
                        <a14:foregroundMark x1="23730" y1="42383" x2="23730" y2="42383"/>
                        <a14:foregroundMark x1="22266" y1="38281" x2="22266" y2="38281"/>
                        <a14:foregroundMark x1="19434" y1="36914" x2="19434" y2="36914"/>
                        <a14:foregroundMark x1="16797" y1="37500" x2="16797" y2="37500"/>
                        <a14:foregroundMark x1="52246" y1="32031" x2="52246" y2="32031"/>
                        <a14:foregroundMark x1="56055" y1="33594" x2="56055" y2="33594"/>
                        <a14:foregroundMark x1="59570" y1="34375" x2="59570" y2="34375"/>
                        <a14:foregroundMark x1="59375" y1="24219" x2="59375" y2="24219"/>
                        <a14:foregroundMark x1="62305" y1="38086" x2="62305" y2="38086"/>
                        <a14:foregroundMark x1="70996" y1="36328" x2="70996" y2="36328"/>
                        <a14:foregroundMark x1="80078" y1="33789" x2="80078" y2="33789"/>
                        <a14:foregroundMark x1="92383" y1="37891" x2="92383" y2="37891"/>
                        <a14:foregroundMark x1="38477" y1="66797" x2="38477" y2="66797"/>
                        <a14:foregroundMark x1="49902" y1="65625" x2="49902" y2="65625"/>
                        <a14:foregroundMark x1="54980" y1="62500" x2="54980" y2="62500"/>
                        <a14:foregroundMark x1="64746" y1="63086" x2="64746" y2="63086"/>
                        <a14:foregroundMark x1="72559" y1="71094" x2="72559" y2="71094"/>
                        <a14:foregroundMark x1="71094" y1="71094" x2="71094" y2="71094"/>
                        <a14:foregroundMark x1="35948" y1="31169" x2="35948" y2="31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44" r="4253" b="23908"/>
          <a:stretch/>
        </p:blipFill>
        <p:spPr bwMode="auto">
          <a:xfrm>
            <a:off x="7946682" y="3781929"/>
            <a:ext cx="516510" cy="1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42B5BA44-EF3D-67DB-C3E9-1F2749B906F5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8582919" y="3799845"/>
            <a:ext cx="317522" cy="1433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B1957F-41FE-8229-AE1B-39F5F4057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14490" y="3782705"/>
            <a:ext cx="681323" cy="15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FE54A-B213-CE75-427F-8AA3404DD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5558F73-8357-A1DD-7EB5-F81BF51530B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0557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44435-7579-619C-5697-A19EB91F3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9FBBE0B0-01BF-CB4A-40C0-09FFDB8AF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Broadcom: first to commercialize CPO with a sustained lead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E1DD30-7FDB-3F47-7AEF-E5C2244C3CE7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 switch chips prioritized in timeline.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46B5D6ED-707E-C6B1-912C-1C81B662A5CB}"/>
              </a:ext>
            </a:extLst>
          </p:cNvPr>
          <p:cNvGrpSpPr/>
          <p:nvPr/>
        </p:nvGrpSpPr>
        <p:grpSpPr>
          <a:xfrm>
            <a:off x="419231" y="831408"/>
            <a:ext cx="11063882" cy="855636"/>
            <a:chOff x="419231" y="831408"/>
            <a:chExt cx="11063882" cy="855636"/>
          </a:xfrm>
        </p:grpSpPr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ED932BCA-CA28-E081-AD9C-A046286F0419}"/>
                </a:ext>
              </a:extLst>
            </p:cNvPr>
            <p:cNvSpPr/>
            <p:nvPr/>
          </p:nvSpPr>
          <p:spPr>
            <a:xfrm>
              <a:off x="419231" y="831408"/>
              <a:ext cx="11063882" cy="842892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0F81A6C3-9205-443D-8828-1B7234874E73}"/>
                </a:ext>
              </a:extLst>
            </p:cNvPr>
            <p:cNvSpPr txBox="1"/>
            <p:nvPr/>
          </p:nvSpPr>
          <p:spPr>
            <a:xfrm>
              <a:off x="474403" y="856047"/>
              <a:ext cx="10782877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Competitive positioning: </a:t>
              </a:r>
              <a:r>
                <a:rPr lang="en-US" altLang="zh-CN" sz="1600" b="1" dirty="0">
                  <a:solidFill>
                    <a:srgbClr val="0052D9"/>
                  </a:solidFill>
                </a:rPr>
                <a:t>~1-year lead</a:t>
              </a:r>
              <a:r>
                <a:rPr lang="en-US" altLang="zh-CN" sz="1600" dirty="0"/>
                <a:t> over ​Nvidia.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The only vendor with publicly confirmed mass production of CPO switches/chips;​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TH4 &amp; TH5: Industry’s </a:t>
              </a:r>
              <a:r>
                <a:rPr lang="en-US" altLang="zh-CN" sz="1600" b="1" dirty="0">
                  <a:solidFill>
                    <a:srgbClr val="0052D9"/>
                  </a:solidFill>
                </a:rPr>
                <a:t>first CPO switch chips </a:t>
              </a:r>
              <a:r>
                <a:rPr lang="en-US" altLang="zh-CN" sz="1600" dirty="0"/>
                <a:t>to enter volume production.</a:t>
              </a:r>
            </a:p>
          </p:txBody>
        </p:sp>
      </p:grpSp>
      <p:sp>
        <p:nvSpPr>
          <p:cNvPr id="110" name="文本框 13">
            <a:extLst>
              <a:ext uri="{FF2B5EF4-FFF2-40B4-BE49-F238E27FC236}">
                <a16:creationId xmlns:a16="http://schemas.microsoft.com/office/drawing/2014/main" id="{E2C45565-EC1B-5D1D-99A3-5A79B14DD9AA}"/>
              </a:ext>
            </a:extLst>
          </p:cNvPr>
          <p:cNvSpPr txBox="1"/>
          <p:nvPr/>
        </p:nvSpPr>
        <p:spPr>
          <a:xfrm>
            <a:off x="5910123" y="1100639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45D36808-52C5-27C7-514E-CA0FED831006}"/>
              </a:ext>
            </a:extLst>
          </p:cNvPr>
          <p:cNvCxnSpPr>
            <a:cxnSpLocks/>
          </p:cNvCxnSpPr>
          <p:nvPr/>
        </p:nvCxnSpPr>
        <p:spPr>
          <a:xfrm>
            <a:off x="1407961" y="5798954"/>
            <a:ext cx="96267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直接箭头连接符 1039">
            <a:extLst>
              <a:ext uri="{FF2B5EF4-FFF2-40B4-BE49-F238E27FC236}">
                <a16:creationId xmlns:a16="http://schemas.microsoft.com/office/drawing/2014/main" id="{C7DE9DED-194E-1502-E490-1F6920A95A4F}"/>
              </a:ext>
            </a:extLst>
          </p:cNvPr>
          <p:cNvCxnSpPr>
            <a:cxnSpLocks/>
          </p:cNvCxnSpPr>
          <p:nvPr/>
        </p:nvCxnSpPr>
        <p:spPr>
          <a:xfrm flipV="1">
            <a:off x="1407962" y="2367508"/>
            <a:ext cx="0" cy="3426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3" name="文本框 1042">
            <a:extLst>
              <a:ext uri="{FF2B5EF4-FFF2-40B4-BE49-F238E27FC236}">
                <a16:creationId xmlns:a16="http://schemas.microsoft.com/office/drawing/2014/main" id="{600B4EB6-1EE8-4CC7-CF0C-980549956770}"/>
              </a:ext>
            </a:extLst>
          </p:cNvPr>
          <p:cNvSpPr txBox="1"/>
          <p:nvPr/>
        </p:nvSpPr>
        <p:spPr>
          <a:xfrm>
            <a:off x="751310" y="5139056"/>
            <a:ext cx="67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12.8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44" name="文本框 1043">
            <a:extLst>
              <a:ext uri="{FF2B5EF4-FFF2-40B4-BE49-F238E27FC236}">
                <a16:creationId xmlns:a16="http://schemas.microsoft.com/office/drawing/2014/main" id="{2ECF937A-BCE8-7B42-925C-83B3E3B77D06}"/>
              </a:ext>
            </a:extLst>
          </p:cNvPr>
          <p:cNvSpPr txBox="1"/>
          <p:nvPr/>
        </p:nvSpPr>
        <p:spPr>
          <a:xfrm>
            <a:off x="751310" y="4337143"/>
            <a:ext cx="67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25.6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45" name="文本框 1044">
            <a:extLst>
              <a:ext uri="{FF2B5EF4-FFF2-40B4-BE49-F238E27FC236}">
                <a16:creationId xmlns:a16="http://schemas.microsoft.com/office/drawing/2014/main" id="{52F3FB11-5937-AA18-30B9-0AB44CA4074D}"/>
              </a:ext>
            </a:extLst>
          </p:cNvPr>
          <p:cNvSpPr txBox="1"/>
          <p:nvPr/>
        </p:nvSpPr>
        <p:spPr>
          <a:xfrm>
            <a:off x="751310" y="3535229"/>
            <a:ext cx="67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51.2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8FEC53B9-1D54-FBF6-8971-E6DB3E7C220D}"/>
              </a:ext>
            </a:extLst>
          </p:cNvPr>
          <p:cNvSpPr txBox="1"/>
          <p:nvPr/>
        </p:nvSpPr>
        <p:spPr>
          <a:xfrm>
            <a:off x="656291" y="2733315"/>
            <a:ext cx="867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102.4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52" name="文本框 1051">
            <a:extLst>
              <a:ext uri="{FF2B5EF4-FFF2-40B4-BE49-F238E27FC236}">
                <a16:creationId xmlns:a16="http://schemas.microsoft.com/office/drawing/2014/main" id="{9515409C-F418-0A19-0F53-073B69E48FF5}"/>
              </a:ext>
            </a:extLst>
          </p:cNvPr>
          <p:cNvSpPr txBox="1"/>
          <p:nvPr/>
        </p:nvSpPr>
        <p:spPr>
          <a:xfrm>
            <a:off x="328878" y="2036596"/>
            <a:ext cx="2849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ASIC Capacity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(</a:t>
            </a:r>
            <a:r>
              <a:rPr lang="en-US" altLang="zh-CN" sz="1400" dirty="0" err="1">
                <a:cs typeface="+mn-ea"/>
                <a:sym typeface="+mn-lt"/>
              </a:rPr>
              <a:t>Tbps</a:t>
            </a:r>
            <a:r>
              <a:rPr lang="en-US" altLang="zh-CN" sz="1400" dirty="0">
                <a:cs typeface="+mn-ea"/>
                <a:sym typeface="+mn-lt"/>
              </a:rPr>
              <a:t>)</a:t>
            </a:r>
            <a:endParaRPr lang="zh-CN" altLang="en-US" sz="1400" dirty="0">
              <a:cs typeface="+mn-ea"/>
              <a:sym typeface="+mn-lt"/>
            </a:endParaRPr>
          </a:p>
        </p:txBody>
      </p:sp>
      <p:grpSp>
        <p:nvGrpSpPr>
          <p:cNvPr id="1026" name="组合 1025">
            <a:extLst>
              <a:ext uri="{FF2B5EF4-FFF2-40B4-BE49-F238E27FC236}">
                <a16:creationId xmlns:a16="http://schemas.microsoft.com/office/drawing/2014/main" id="{CE6789BA-E003-ED21-8313-C7D3E2FD3A15}"/>
              </a:ext>
            </a:extLst>
          </p:cNvPr>
          <p:cNvGrpSpPr/>
          <p:nvPr/>
        </p:nvGrpSpPr>
        <p:grpSpPr>
          <a:xfrm>
            <a:off x="3013249" y="5691528"/>
            <a:ext cx="754380" cy="549547"/>
            <a:chOff x="2302741" y="5497808"/>
            <a:chExt cx="754380" cy="549547"/>
          </a:xfrm>
        </p:grpSpPr>
        <p:sp>
          <p:nvSpPr>
            <p:cNvPr id="1028" name="iconfont-1018-792472">
              <a:extLst>
                <a:ext uri="{FF2B5EF4-FFF2-40B4-BE49-F238E27FC236}">
                  <a16:creationId xmlns:a16="http://schemas.microsoft.com/office/drawing/2014/main" id="{A28C6252-82D4-448A-5630-CA8489B87C7E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29" name="文本框 1028">
              <a:extLst>
                <a:ext uri="{FF2B5EF4-FFF2-40B4-BE49-F238E27FC236}">
                  <a16:creationId xmlns:a16="http://schemas.microsoft.com/office/drawing/2014/main" id="{75D40222-E86A-AF05-53F7-23934033CE7A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2021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6E9B963C-0085-6B82-A034-F954D71BF01E}"/>
              </a:ext>
            </a:extLst>
          </p:cNvPr>
          <p:cNvGrpSpPr/>
          <p:nvPr/>
        </p:nvGrpSpPr>
        <p:grpSpPr>
          <a:xfrm>
            <a:off x="2921849" y="4354834"/>
            <a:ext cx="885326" cy="430416"/>
            <a:chOff x="1946450" y="4289861"/>
            <a:chExt cx="885326" cy="430416"/>
          </a:xfrm>
        </p:grpSpPr>
        <p:pic>
          <p:nvPicPr>
            <p:cNvPr id="1049" name="图像" descr="图像">
              <a:extLst>
                <a:ext uri="{FF2B5EF4-FFF2-40B4-BE49-F238E27FC236}">
                  <a16:creationId xmlns:a16="http://schemas.microsoft.com/office/drawing/2014/main" id="{7AF4D924-6A75-3F6D-4627-C84130164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58" name="文本框 1057">
              <a:extLst>
                <a:ext uri="{FF2B5EF4-FFF2-40B4-BE49-F238E27FC236}">
                  <a16:creationId xmlns:a16="http://schemas.microsoft.com/office/drawing/2014/main" id="{E3BA46B7-301B-16B7-39BA-CAF291B19DE5}"/>
                </a:ext>
              </a:extLst>
            </p:cNvPr>
            <p:cNvSpPr txBox="1"/>
            <p:nvPr/>
          </p:nvSpPr>
          <p:spPr>
            <a:xfrm>
              <a:off x="1946450" y="4458667"/>
              <a:ext cx="86732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Announced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60" name="文本框 1059">
              <a:extLst>
                <a:ext uri="{FF2B5EF4-FFF2-40B4-BE49-F238E27FC236}">
                  <a16:creationId xmlns:a16="http://schemas.microsoft.com/office/drawing/2014/main" id="{3F4E0275-E15B-E18B-CFFB-6ED4DB288D4E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TH4</a:t>
              </a:r>
            </a:p>
          </p:txBody>
        </p:sp>
      </p:grpSp>
      <p:grpSp>
        <p:nvGrpSpPr>
          <p:cNvPr id="1033" name="组合 1032">
            <a:extLst>
              <a:ext uri="{FF2B5EF4-FFF2-40B4-BE49-F238E27FC236}">
                <a16:creationId xmlns:a16="http://schemas.microsoft.com/office/drawing/2014/main" id="{98BB9851-94C4-A458-B69A-395D12803CD8}"/>
              </a:ext>
            </a:extLst>
          </p:cNvPr>
          <p:cNvGrpSpPr/>
          <p:nvPr/>
        </p:nvGrpSpPr>
        <p:grpSpPr>
          <a:xfrm>
            <a:off x="6223825" y="5691528"/>
            <a:ext cx="754380" cy="549547"/>
            <a:chOff x="2302741" y="5497808"/>
            <a:chExt cx="754380" cy="549547"/>
          </a:xfrm>
        </p:grpSpPr>
        <p:sp>
          <p:nvSpPr>
            <p:cNvPr id="1034" name="iconfont-1018-792472">
              <a:extLst>
                <a:ext uri="{FF2B5EF4-FFF2-40B4-BE49-F238E27FC236}">
                  <a16:creationId xmlns:a16="http://schemas.microsoft.com/office/drawing/2014/main" id="{72BB9B27-9D6A-BFA8-D830-B57600B6C4E1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35" name="文本框 1034">
              <a:extLst>
                <a:ext uri="{FF2B5EF4-FFF2-40B4-BE49-F238E27FC236}">
                  <a16:creationId xmlns:a16="http://schemas.microsoft.com/office/drawing/2014/main" id="{23286744-0EF7-17DC-E3E3-6759EA76B905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2023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66" name="组合 1065">
            <a:extLst>
              <a:ext uri="{FF2B5EF4-FFF2-40B4-BE49-F238E27FC236}">
                <a16:creationId xmlns:a16="http://schemas.microsoft.com/office/drawing/2014/main" id="{73BC98C6-518F-6801-762D-326AC7DDB754}"/>
              </a:ext>
            </a:extLst>
          </p:cNvPr>
          <p:cNvGrpSpPr/>
          <p:nvPr/>
        </p:nvGrpSpPr>
        <p:grpSpPr>
          <a:xfrm>
            <a:off x="6050643" y="3554943"/>
            <a:ext cx="1088697" cy="433036"/>
            <a:chOff x="1854080" y="4289861"/>
            <a:chExt cx="1088697" cy="433036"/>
          </a:xfrm>
        </p:grpSpPr>
        <p:pic>
          <p:nvPicPr>
            <p:cNvPr id="1067" name="图像" descr="图像">
              <a:extLst>
                <a:ext uri="{FF2B5EF4-FFF2-40B4-BE49-F238E27FC236}">
                  <a16:creationId xmlns:a16="http://schemas.microsoft.com/office/drawing/2014/main" id="{C61455A4-C0B8-0935-FFFC-5DD3D66C8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68" name="文本框 1067">
              <a:extLst>
                <a:ext uri="{FF2B5EF4-FFF2-40B4-BE49-F238E27FC236}">
                  <a16:creationId xmlns:a16="http://schemas.microsoft.com/office/drawing/2014/main" id="{72796B5A-F4DF-46A5-C791-2794CB792757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Demo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69" name="文本框 1068">
              <a:extLst>
                <a:ext uri="{FF2B5EF4-FFF2-40B4-BE49-F238E27FC236}">
                  <a16:creationId xmlns:a16="http://schemas.microsoft.com/office/drawing/2014/main" id="{DD5B1B47-7BBA-93F3-A3FD-4A22FA9F9F17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TH5</a:t>
              </a:r>
            </a:p>
          </p:txBody>
        </p: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D3C0140A-BFB7-5CB5-591C-1D43983BCB59}"/>
              </a:ext>
            </a:extLst>
          </p:cNvPr>
          <p:cNvGrpSpPr/>
          <p:nvPr/>
        </p:nvGrpSpPr>
        <p:grpSpPr>
          <a:xfrm>
            <a:off x="1524782" y="5691528"/>
            <a:ext cx="754380" cy="549547"/>
            <a:chOff x="2302741" y="5497808"/>
            <a:chExt cx="754380" cy="549547"/>
          </a:xfrm>
        </p:grpSpPr>
        <p:sp>
          <p:nvSpPr>
            <p:cNvPr id="125" name="iconfont-1018-792472">
              <a:extLst>
                <a:ext uri="{FF2B5EF4-FFF2-40B4-BE49-F238E27FC236}">
                  <a16:creationId xmlns:a16="http://schemas.microsoft.com/office/drawing/2014/main" id="{2713C143-9FCD-8037-8466-015AAA9AF72E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12818448-3ACC-1AA6-1E27-5691A0932808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2020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82" name="组合 1081">
            <a:extLst>
              <a:ext uri="{FF2B5EF4-FFF2-40B4-BE49-F238E27FC236}">
                <a16:creationId xmlns:a16="http://schemas.microsoft.com/office/drawing/2014/main" id="{7398A127-81D9-93B8-23A9-EA5EC5A48436}"/>
              </a:ext>
            </a:extLst>
          </p:cNvPr>
          <p:cNvGrpSpPr/>
          <p:nvPr/>
        </p:nvGrpSpPr>
        <p:grpSpPr>
          <a:xfrm>
            <a:off x="1434852" y="5166795"/>
            <a:ext cx="1028945" cy="439944"/>
            <a:chOff x="1658959" y="4966727"/>
            <a:chExt cx="1028945" cy="439944"/>
          </a:xfrm>
        </p:grpSpPr>
        <p:pic>
          <p:nvPicPr>
            <p:cNvPr id="1050" name="图片 1049">
              <a:extLst>
                <a:ext uri="{FF2B5EF4-FFF2-40B4-BE49-F238E27FC236}">
                  <a16:creationId xmlns:a16="http://schemas.microsoft.com/office/drawing/2014/main" id="{E0DDA59C-5705-417E-70E7-DDB256B43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39899" y="5027245"/>
              <a:ext cx="246630" cy="158302"/>
            </a:xfrm>
            <a:prstGeom prst="rect">
              <a:avLst/>
            </a:prstGeom>
          </p:spPr>
        </p:pic>
        <p:grpSp>
          <p:nvGrpSpPr>
            <p:cNvPr id="1078" name="组合 1077">
              <a:extLst>
                <a:ext uri="{FF2B5EF4-FFF2-40B4-BE49-F238E27FC236}">
                  <a16:creationId xmlns:a16="http://schemas.microsoft.com/office/drawing/2014/main" id="{EA6D8339-D84C-06DE-8624-47C705CC6B00}"/>
                </a:ext>
              </a:extLst>
            </p:cNvPr>
            <p:cNvGrpSpPr/>
            <p:nvPr/>
          </p:nvGrpSpPr>
          <p:grpSpPr>
            <a:xfrm>
              <a:off x="1658959" y="4966727"/>
              <a:ext cx="1028945" cy="439944"/>
              <a:chOff x="1992505" y="4285065"/>
              <a:chExt cx="1028945" cy="439944"/>
            </a:xfrm>
          </p:grpSpPr>
          <p:sp>
            <p:nvSpPr>
              <p:cNvPr id="1080" name="文本框 1079">
                <a:extLst>
                  <a:ext uri="{FF2B5EF4-FFF2-40B4-BE49-F238E27FC236}">
                    <a16:creationId xmlns:a16="http://schemas.microsoft.com/office/drawing/2014/main" id="{5621A35E-478A-7106-EFBB-5152625053B1}"/>
                  </a:ext>
                </a:extLst>
              </p:cNvPr>
              <p:cNvSpPr txBox="1"/>
              <p:nvPr/>
            </p:nvSpPr>
            <p:spPr>
              <a:xfrm>
                <a:off x="1992505" y="4471093"/>
                <a:ext cx="99218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50" dirty="0">
                    <a:cs typeface="+mn-ea"/>
                    <a:sym typeface="+mn-lt"/>
                  </a:rPr>
                  <a:t>Demo</a:t>
                </a:r>
                <a:endParaRPr lang="zh-CN" altLang="en-US" sz="1050" dirty="0">
                  <a:cs typeface="+mn-ea"/>
                  <a:sym typeface="+mn-lt"/>
                </a:endParaRPr>
              </a:p>
            </p:txBody>
          </p:sp>
          <p:sp>
            <p:nvSpPr>
              <p:cNvPr id="1081" name="文本框 1080">
                <a:extLst>
                  <a:ext uri="{FF2B5EF4-FFF2-40B4-BE49-F238E27FC236}">
                    <a16:creationId xmlns:a16="http://schemas.microsoft.com/office/drawing/2014/main" id="{2CF1D84A-9BD8-3B4D-E2CD-B3C399E3E197}"/>
                  </a:ext>
                </a:extLst>
              </p:cNvPr>
              <p:cNvSpPr txBox="1"/>
              <p:nvPr/>
            </p:nvSpPr>
            <p:spPr>
              <a:xfrm>
                <a:off x="2248593" y="4285065"/>
                <a:ext cx="7728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zh-CN" sz="1200" b="1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WEDGE</a:t>
                </a:r>
              </a:p>
            </p:txBody>
          </p:sp>
        </p:grp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A33B33FC-2DA3-942C-DE66-EE387FA2C122}"/>
              </a:ext>
            </a:extLst>
          </p:cNvPr>
          <p:cNvSpPr/>
          <p:nvPr/>
        </p:nvSpPr>
        <p:spPr>
          <a:xfrm>
            <a:off x="9405316" y="2079030"/>
            <a:ext cx="1496514" cy="496914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Broadcom edge</a:t>
            </a:r>
          </a:p>
          <a:p>
            <a:pPr algn="ctr"/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~1 year</a:t>
            </a:r>
          </a:p>
        </p:txBody>
      </p:sp>
      <p:grpSp>
        <p:nvGrpSpPr>
          <p:cNvPr id="1030" name="组合 1029">
            <a:extLst>
              <a:ext uri="{FF2B5EF4-FFF2-40B4-BE49-F238E27FC236}">
                <a16:creationId xmlns:a16="http://schemas.microsoft.com/office/drawing/2014/main" id="{8A6504AE-10E6-54EA-417B-181B252CDDB4}"/>
              </a:ext>
            </a:extLst>
          </p:cNvPr>
          <p:cNvGrpSpPr/>
          <p:nvPr/>
        </p:nvGrpSpPr>
        <p:grpSpPr>
          <a:xfrm>
            <a:off x="4618537" y="5691528"/>
            <a:ext cx="754380" cy="549547"/>
            <a:chOff x="2302741" y="5497808"/>
            <a:chExt cx="754380" cy="549547"/>
          </a:xfrm>
        </p:grpSpPr>
        <p:sp>
          <p:nvSpPr>
            <p:cNvPr id="1031" name="iconfont-1018-792472">
              <a:extLst>
                <a:ext uri="{FF2B5EF4-FFF2-40B4-BE49-F238E27FC236}">
                  <a16:creationId xmlns:a16="http://schemas.microsoft.com/office/drawing/2014/main" id="{E5A154C5-8C07-50CE-AB81-8B604CA7B02A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32" name="文本框 1031">
              <a:extLst>
                <a:ext uri="{FF2B5EF4-FFF2-40B4-BE49-F238E27FC236}">
                  <a16:creationId xmlns:a16="http://schemas.microsoft.com/office/drawing/2014/main" id="{773FF216-651E-6EF6-0EAF-AD2BE6194F95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2022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62" name="组合 1061">
            <a:extLst>
              <a:ext uri="{FF2B5EF4-FFF2-40B4-BE49-F238E27FC236}">
                <a16:creationId xmlns:a16="http://schemas.microsoft.com/office/drawing/2014/main" id="{149A79A5-076E-7FD2-47D9-F4FEB636EADE}"/>
              </a:ext>
            </a:extLst>
          </p:cNvPr>
          <p:cNvGrpSpPr/>
          <p:nvPr/>
        </p:nvGrpSpPr>
        <p:grpSpPr>
          <a:xfrm>
            <a:off x="4322349" y="4337143"/>
            <a:ext cx="1405254" cy="423965"/>
            <a:chOff x="1671560" y="4289861"/>
            <a:chExt cx="1405254" cy="423965"/>
          </a:xfrm>
        </p:grpSpPr>
        <p:pic>
          <p:nvPicPr>
            <p:cNvPr id="1063" name="图像" descr="图像">
              <a:extLst>
                <a:ext uri="{FF2B5EF4-FFF2-40B4-BE49-F238E27FC236}">
                  <a16:creationId xmlns:a16="http://schemas.microsoft.com/office/drawing/2014/main" id="{F8C501A1-7860-CDE5-0E52-C429F059D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64" name="文本框 1063">
              <a:extLst>
                <a:ext uri="{FF2B5EF4-FFF2-40B4-BE49-F238E27FC236}">
                  <a16:creationId xmlns:a16="http://schemas.microsoft.com/office/drawing/2014/main" id="{5784DEBF-5A58-A220-CDC0-07E083A49F5C}"/>
                </a:ext>
              </a:extLst>
            </p:cNvPr>
            <p:cNvSpPr txBox="1"/>
            <p:nvPr/>
          </p:nvSpPr>
          <p:spPr>
            <a:xfrm>
              <a:off x="1671560" y="4459910"/>
              <a:ext cx="140525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Joint Deployment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4C1640B9-5ECC-4EDF-CAFD-BA8B6053D1E7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TH4</a:t>
              </a:r>
            </a:p>
          </p:txBody>
        </p:sp>
      </p:grpSp>
      <p:grpSp>
        <p:nvGrpSpPr>
          <p:cNvPr id="1087" name="组合 1086">
            <a:extLst>
              <a:ext uri="{FF2B5EF4-FFF2-40B4-BE49-F238E27FC236}">
                <a16:creationId xmlns:a16="http://schemas.microsoft.com/office/drawing/2014/main" id="{67C8A49E-89B4-B8F5-F84A-AF029453D0F9}"/>
              </a:ext>
            </a:extLst>
          </p:cNvPr>
          <p:cNvGrpSpPr/>
          <p:nvPr/>
        </p:nvGrpSpPr>
        <p:grpSpPr>
          <a:xfrm>
            <a:off x="4504869" y="3553362"/>
            <a:ext cx="1088697" cy="433036"/>
            <a:chOff x="1854080" y="4289861"/>
            <a:chExt cx="1088697" cy="433036"/>
          </a:xfrm>
        </p:grpSpPr>
        <p:pic>
          <p:nvPicPr>
            <p:cNvPr id="1088" name="图像" descr="图像">
              <a:extLst>
                <a:ext uri="{FF2B5EF4-FFF2-40B4-BE49-F238E27FC236}">
                  <a16:creationId xmlns:a16="http://schemas.microsoft.com/office/drawing/2014/main" id="{B3F769CA-D87D-11C6-2FBC-891CD4D84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89" name="文本框 1088">
              <a:extLst>
                <a:ext uri="{FF2B5EF4-FFF2-40B4-BE49-F238E27FC236}">
                  <a16:creationId xmlns:a16="http://schemas.microsoft.com/office/drawing/2014/main" id="{5EC1C477-C2A5-2410-E6C0-89C029A637B7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Announced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90" name="文本框 1089">
              <a:extLst>
                <a:ext uri="{FF2B5EF4-FFF2-40B4-BE49-F238E27FC236}">
                  <a16:creationId xmlns:a16="http://schemas.microsoft.com/office/drawing/2014/main" id="{FF520904-5D9C-19BD-8AE7-41A4FF563207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TH5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2D955C9-C9A3-CCCE-E717-A5B5A391E55E}"/>
              </a:ext>
            </a:extLst>
          </p:cNvPr>
          <p:cNvGrpSpPr/>
          <p:nvPr/>
        </p:nvGrpSpPr>
        <p:grpSpPr>
          <a:xfrm>
            <a:off x="4562046" y="3910992"/>
            <a:ext cx="1602019" cy="412422"/>
            <a:chOff x="3809830" y="4477461"/>
            <a:chExt cx="1602019" cy="41242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56F8D4-C5B1-AE7C-812D-B21452A66E3C}"/>
                </a:ext>
              </a:extLst>
            </p:cNvPr>
            <p:cNvSpPr txBox="1"/>
            <p:nvPr/>
          </p:nvSpPr>
          <p:spPr>
            <a:xfrm>
              <a:off x="4272760" y="4477461"/>
              <a:ext cx="113908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000" b="1" dirty="0" err="1">
                  <a:solidFill>
                    <a:schemeClr val="accent6">
                      <a:lumMod val="10000"/>
                    </a:schemeClr>
                  </a:solidFill>
                  <a:cs typeface="+mn-ea"/>
                </a:rPr>
                <a:t>Teralynx</a:t>
              </a:r>
              <a:endParaRPr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</a:endParaRPr>
            </a:p>
          </p:txBody>
        </p:sp>
        <p:pic>
          <p:nvPicPr>
            <p:cNvPr id="4" name="图像" descr="图像">
              <a:extLst>
                <a:ext uri="{FF2B5EF4-FFF2-40B4-BE49-F238E27FC236}">
                  <a16:creationId xmlns:a16="http://schemas.microsoft.com/office/drawing/2014/main" id="{E6A22A77-7A62-7A4E-D357-868438744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9008" y="4534458"/>
              <a:ext cx="497769" cy="147488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0C5CD62-2D3F-2D2E-2D15-B48B81AE95C9}"/>
                </a:ext>
              </a:extLst>
            </p:cNvPr>
            <p:cNvSpPr txBox="1"/>
            <p:nvPr/>
          </p:nvSpPr>
          <p:spPr>
            <a:xfrm>
              <a:off x="3809830" y="4628273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Demo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</p:grpSp>
      <p:grpSp>
        <p:nvGrpSpPr>
          <p:cNvPr id="1036" name="组合 1035">
            <a:extLst>
              <a:ext uri="{FF2B5EF4-FFF2-40B4-BE49-F238E27FC236}">
                <a16:creationId xmlns:a16="http://schemas.microsoft.com/office/drawing/2014/main" id="{3AD19CF5-AC7C-5F60-B9DE-3668CE65FF81}"/>
              </a:ext>
            </a:extLst>
          </p:cNvPr>
          <p:cNvGrpSpPr/>
          <p:nvPr/>
        </p:nvGrpSpPr>
        <p:grpSpPr>
          <a:xfrm>
            <a:off x="7829113" y="5691528"/>
            <a:ext cx="754380" cy="549547"/>
            <a:chOff x="2302741" y="5497808"/>
            <a:chExt cx="754380" cy="549547"/>
          </a:xfrm>
        </p:grpSpPr>
        <p:sp>
          <p:nvSpPr>
            <p:cNvPr id="1037" name="iconfont-1018-792472">
              <a:extLst>
                <a:ext uri="{FF2B5EF4-FFF2-40B4-BE49-F238E27FC236}">
                  <a16:creationId xmlns:a16="http://schemas.microsoft.com/office/drawing/2014/main" id="{EBB5E8EE-6325-FAE7-4474-198D7B57724C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38" name="文本框 1037">
              <a:extLst>
                <a:ext uri="{FF2B5EF4-FFF2-40B4-BE49-F238E27FC236}">
                  <a16:creationId xmlns:a16="http://schemas.microsoft.com/office/drawing/2014/main" id="{984C29D9-A50C-80E3-8A44-5F8EC7CF14CD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2024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E602BF3A-9CF1-E5A2-1133-27AABA328861}"/>
              </a:ext>
            </a:extLst>
          </p:cNvPr>
          <p:cNvGrpSpPr/>
          <p:nvPr/>
        </p:nvGrpSpPr>
        <p:grpSpPr>
          <a:xfrm>
            <a:off x="7451507" y="3550871"/>
            <a:ext cx="1273746" cy="414636"/>
            <a:chOff x="1758058" y="4289861"/>
            <a:chExt cx="1273746" cy="414636"/>
          </a:xfrm>
        </p:grpSpPr>
        <p:pic>
          <p:nvPicPr>
            <p:cNvPr id="1071" name="图像" descr="图像">
              <a:extLst>
                <a:ext uri="{FF2B5EF4-FFF2-40B4-BE49-F238E27FC236}">
                  <a16:creationId xmlns:a16="http://schemas.microsoft.com/office/drawing/2014/main" id="{C980E913-4E30-300C-EF62-BDD26B412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EA8F9B55-A1AA-2EE9-DA55-0B9997FF346D}"/>
                </a:ext>
              </a:extLst>
            </p:cNvPr>
            <p:cNvSpPr txBox="1"/>
            <p:nvPr/>
          </p:nvSpPr>
          <p:spPr>
            <a:xfrm>
              <a:off x="1758058" y="4450581"/>
              <a:ext cx="127374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Mass production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73" name="文本框 1072">
              <a:extLst>
                <a:ext uri="{FF2B5EF4-FFF2-40B4-BE49-F238E27FC236}">
                  <a16:creationId xmlns:a16="http://schemas.microsoft.com/office/drawing/2014/main" id="{76E2EE8F-1735-4673-60DD-5E9408493BDB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TH5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C38BBD4-9A9E-3AC1-4501-B00C8778DAE9}"/>
              </a:ext>
            </a:extLst>
          </p:cNvPr>
          <p:cNvGrpSpPr/>
          <p:nvPr/>
        </p:nvGrpSpPr>
        <p:grpSpPr>
          <a:xfrm>
            <a:off x="7540739" y="3910992"/>
            <a:ext cx="1602019" cy="566310"/>
            <a:chOff x="3809830" y="4477461"/>
            <a:chExt cx="1602019" cy="566310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7F8740F-3118-ECA2-6F87-C8EEA43B212D}"/>
                </a:ext>
              </a:extLst>
            </p:cNvPr>
            <p:cNvSpPr txBox="1"/>
            <p:nvPr/>
          </p:nvSpPr>
          <p:spPr>
            <a:xfrm>
              <a:off x="4272760" y="4477461"/>
              <a:ext cx="113908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000" b="1" dirty="0">
                  <a:solidFill>
                    <a:srgbClr val="A6A6A6"/>
                  </a:solidFill>
                  <a:cs typeface="+mn-ea"/>
                </a:rPr>
                <a:t>Teralynx10</a:t>
              </a:r>
            </a:p>
          </p:txBody>
        </p:sp>
        <p:pic>
          <p:nvPicPr>
            <p:cNvPr id="15" name="图像" descr="图像">
              <a:extLst>
                <a:ext uri="{FF2B5EF4-FFF2-40B4-BE49-F238E27FC236}">
                  <a16:creationId xmlns:a16="http://schemas.microsoft.com/office/drawing/2014/main" id="{BCA805E4-99C2-F829-CD9B-3A17621E6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9008" y="4534458"/>
              <a:ext cx="497769" cy="147488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C7EF852-4BE8-7C4C-2624-345DDB40618E}"/>
                </a:ext>
              </a:extLst>
            </p:cNvPr>
            <p:cNvSpPr txBox="1"/>
            <p:nvPr/>
          </p:nvSpPr>
          <p:spPr>
            <a:xfrm>
              <a:off x="3809830" y="4628273"/>
              <a:ext cx="1381195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solidFill>
                    <a:srgbClr val="A6A6A6"/>
                  </a:solidFill>
                  <a:cs typeface="+mn-ea"/>
                  <a:sym typeface="+mn-lt"/>
                </a:rPr>
                <a:t>Mass production</a:t>
              </a:r>
              <a:r>
                <a:rPr lang="zh-CN" altLang="en-US" sz="1050" dirty="0">
                  <a:solidFill>
                    <a:srgbClr val="A6A6A6"/>
                  </a:solidFill>
                  <a:cs typeface="+mn-ea"/>
                  <a:sym typeface="+mn-lt"/>
                </a:rPr>
                <a:t> </a:t>
              </a:r>
              <a:r>
                <a:rPr lang="en-US" altLang="zh-CN" sz="1050" dirty="0">
                  <a:solidFill>
                    <a:srgbClr val="A6A6A6"/>
                  </a:solidFill>
                  <a:cs typeface="+mn-ea"/>
                  <a:sym typeface="+mn-lt"/>
                </a:rPr>
                <a:t>(not CPO)</a:t>
              </a:r>
              <a:endParaRPr lang="zh-CN" altLang="en-US" sz="1050" dirty="0">
                <a:solidFill>
                  <a:srgbClr val="A6A6A6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59594C2-28B8-80C5-B266-B933F316C10A}"/>
              </a:ext>
            </a:extLst>
          </p:cNvPr>
          <p:cNvCxnSpPr>
            <a:cxnSpLocks/>
          </p:cNvCxnSpPr>
          <p:nvPr/>
        </p:nvCxnSpPr>
        <p:spPr>
          <a:xfrm>
            <a:off x="2315177" y="4995164"/>
            <a:ext cx="1855863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815AB933-0C8A-C8A5-1639-FE116E3B205F}"/>
              </a:ext>
            </a:extLst>
          </p:cNvPr>
          <p:cNvCxnSpPr>
            <a:cxnSpLocks/>
          </p:cNvCxnSpPr>
          <p:nvPr/>
        </p:nvCxnSpPr>
        <p:spPr>
          <a:xfrm>
            <a:off x="4137309" y="3961026"/>
            <a:ext cx="0" cy="1037584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6E28EF1-ADEF-25FF-86AF-EDB1F3CC2312}"/>
              </a:ext>
            </a:extLst>
          </p:cNvPr>
          <p:cNvCxnSpPr>
            <a:cxnSpLocks/>
          </p:cNvCxnSpPr>
          <p:nvPr/>
        </p:nvCxnSpPr>
        <p:spPr>
          <a:xfrm>
            <a:off x="4138001" y="3951720"/>
            <a:ext cx="4719342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67C61D60-D220-929E-1FD4-EBB2AE970DF3}"/>
              </a:ext>
            </a:extLst>
          </p:cNvPr>
          <p:cNvCxnSpPr>
            <a:cxnSpLocks/>
          </p:cNvCxnSpPr>
          <p:nvPr/>
        </p:nvCxnSpPr>
        <p:spPr>
          <a:xfrm>
            <a:off x="8850140" y="3319356"/>
            <a:ext cx="0" cy="64167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73CB896F-F638-3A63-C316-677D350ACB29}"/>
              </a:ext>
            </a:extLst>
          </p:cNvPr>
          <p:cNvCxnSpPr>
            <a:cxnSpLocks/>
          </p:cNvCxnSpPr>
          <p:nvPr/>
        </p:nvCxnSpPr>
        <p:spPr>
          <a:xfrm>
            <a:off x="8850140" y="3303510"/>
            <a:ext cx="1338643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1D43493-F922-E438-2BFE-3037D8D810A2}"/>
              </a:ext>
            </a:extLst>
          </p:cNvPr>
          <p:cNvGrpSpPr/>
          <p:nvPr/>
        </p:nvGrpSpPr>
        <p:grpSpPr>
          <a:xfrm>
            <a:off x="9434403" y="5691528"/>
            <a:ext cx="754380" cy="549547"/>
            <a:chOff x="2302741" y="5497808"/>
            <a:chExt cx="754380" cy="549547"/>
          </a:xfrm>
        </p:grpSpPr>
        <p:sp>
          <p:nvSpPr>
            <p:cNvPr id="1024" name="iconfont-1018-792472">
              <a:extLst>
                <a:ext uri="{FF2B5EF4-FFF2-40B4-BE49-F238E27FC236}">
                  <a16:creationId xmlns:a16="http://schemas.microsoft.com/office/drawing/2014/main" id="{7AF0C5E6-FB4F-D850-064D-0E2342108A0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25" name="文本框 1024">
              <a:extLst>
                <a:ext uri="{FF2B5EF4-FFF2-40B4-BE49-F238E27FC236}">
                  <a16:creationId xmlns:a16="http://schemas.microsoft.com/office/drawing/2014/main" id="{23D0C599-611C-273C-24CF-A34740DECC5A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2025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74" name="组合 1073">
            <a:extLst>
              <a:ext uri="{FF2B5EF4-FFF2-40B4-BE49-F238E27FC236}">
                <a16:creationId xmlns:a16="http://schemas.microsoft.com/office/drawing/2014/main" id="{C1C15FF8-B38E-2347-E6BF-0AA597530D07}"/>
              </a:ext>
            </a:extLst>
          </p:cNvPr>
          <p:cNvGrpSpPr/>
          <p:nvPr/>
        </p:nvGrpSpPr>
        <p:grpSpPr>
          <a:xfrm>
            <a:off x="8963373" y="2692573"/>
            <a:ext cx="1385065" cy="739456"/>
            <a:chOff x="1699272" y="4289861"/>
            <a:chExt cx="1385065" cy="739456"/>
          </a:xfrm>
        </p:grpSpPr>
        <p:pic>
          <p:nvPicPr>
            <p:cNvPr id="1075" name="图像" descr="图像">
              <a:extLst>
                <a:ext uri="{FF2B5EF4-FFF2-40B4-BE49-F238E27FC236}">
                  <a16:creationId xmlns:a16="http://schemas.microsoft.com/office/drawing/2014/main" id="{A6744F7E-615C-3075-A124-F1955C3CF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76" name="文本框 1075">
              <a:extLst>
                <a:ext uri="{FF2B5EF4-FFF2-40B4-BE49-F238E27FC236}">
                  <a16:creationId xmlns:a16="http://schemas.microsoft.com/office/drawing/2014/main" id="{7F1B6AD4-6C8B-B494-A452-8E980E9C3488}"/>
                </a:ext>
              </a:extLst>
            </p:cNvPr>
            <p:cNvSpPr txBox="1"/>
            <p:nvPr/>
          </p:nvSpPr>
          <p:spPr>
            <a:xfrm>
              <a:off x="1699272" y="4452236"/>
              <a:ext cx="1385065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25.06</a:t>
              </a:r>
            </a:p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Mass production</a:t>
              </a:r>
              <a:endParaRPr lang="zh-CN" altLang="en-US" sz="1050" dirty="0">
                <a:cs typeface="+mn-ea"/>
                <a:sym typeface="+mn-lt"/>
              </a:endParaRPr>
            </a:p>
            <a:p>
              <a:pPr algn="ctr"/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77" name="文本框 1076">
              <a:extLst>
                <a:ext uri="{FF2B5EF4-FFF2-40B4-BE49-F238E27FC236}">
                  <a16:creationId xmlns:a16="http://schemas.microsoft.com/office/drawing/2014/main" id="{1924BB38-0D65-1DD3-A576-58761C9BB514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TH6</a:t>
              </a: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7C48F1A3-D786-E4DF-401A-917C46558707}"/>
              </a:ext>
            </a:extLst>
          </p:cNvPr>
          <p:cNvGrpSpPr/>
          <p:nvPr/>
        </p:nvGrpSpPr>
        <p:grpSpPr>
          <a:xfrm>
            <a:off x="10217127" y="2706121"/>
            <a:ext cx="1372061" cy="743067"/>
            <a:chOff x="4812563" y="3071024"/>
            <a:chExt cx="1372061" cy="743067"/>
          </a:xfrm>
        </p:grpSpPr>
        <p:pic>
          <p:nvPicPr>
            <p:cNvPr id="1048" name="图像" descr="图像">
              <a:extLst>
                <a:ext uri="{FF2B5EF4-FFF2-40B4-BE49-F238E27FC236}">
                  <a16:creationId xmlns:a16="http://schemas.microsoft.com/office/drawing/2014/main" id="{0683585B-22F3-9DA0-E9C8-2DF87DF7C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76516" y="3094070"/>
              <a:ext cx="258700" cy="205784"/>
            </a:xfrm>
            <a:prstGeom prst="rect">
              <a:avLst/>
            </a:prstGeom>
            <a:ln w="12700">
              <a:miter lim="400000"/>
            </a:ln>
          </p:spPr>
        </p:pic>
        <p:grpSp>
          <p:nvGrpSpPr>
            <p:cNvPr id="1083" name="组合 1082">
              <a:extLst>
                <a:ext uri="{FF2B5EF4-FFF2-40B4-BE49-F238E27FC236}">
                  <a16:creationId xmlns:a16="http://schemas.microsoft.com/office/drawing/2014/main" id="{C4025FA0-2555-83B8-81C1-C52CC2E937DD}"/>
                </a:ext>
              </a:extLst>
            </p:cNvPr>
            <p:cNvGrpSpPr/>
            <p:nvPr/>
          </p:nvGrpSpPr>
          <p:grpSpPr>
            <a:xfrm>
              <a:off x="4812563" y="3071024"/>
              <a:ext cx="1372061" cy="743067"/>
              <a:chOff x="1680977" y="4286017"/>
              <a:chExt cx="1372061" cy="743067"/>
            </a:xfrm>
          </p:grpSpPr>
          <p:sp>
            <p:nvSpPr>
              <p:cNvPr id="1085" name="文本框 1084">
                <a:extLst>
                  <a:ext uri="{FF2B5EF4-FFF2-40B4-BE49-F238E27FC236}">
                    <a16:creationId xmlns:a16="http://schemas.microsoft.com/office/drawing/2014/main" id="{47EDAC5D-A457-72C6-852E-2E505182A312}"/>
                  </a:ext>
                </a:extLst>
              </p:cNvPr>
              <p:cNvSpPr txBox="1"/>
              <p:nvPr/>
            </p:nvSpPr>
            <p:spPr>
              <a:xfrm>
                <a:off x="1680977" y="4452003"/>
                <a:ext cx="1332686" cy="577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50" dirty="0">
                    <a:cs typeface="+mn-ea"/>
                    <a:sym typeface="+mn-lt"/>
                  </a:rPr>
                  <a:t>26</a:t>
                </a:r>
              </a:p>
              <a:p>
                <a:pPr algn="ctr"/>
                <a:r>
                  <a:rPr lang="en-US" altLang="zh-CN" sz="1050" dirty="0">
                    <a:cs typeface="+mn-ea"/>
                    <a:sym typeface="+mn-lt"/>
                  </a:rPr>
                  <a:t>Mass production</a:t>
                </a:r>
                <a:endParaRPr lang="zh-CN" altLang="en-US" sz="1050" dirty="0">
                  <a:cs typeface="+mn-ea"/>
                  <a:sym typeface="+mn-lt"/>
                </a:endParaRPr>
              </a:p>
              <a:p>
                <a:pPr algn="ctr"/>
                <a:endParaRPr lang="zh-CN" altLang="en-US" sz="1050" dirty="0">
                  <a:cs typeface="+mn-ea"/>
                  <a:sym typeface="+mn-lt"/>
                </a:endParaRPr>
              </a:p>
            </p:txBody>
          </p:sp>
          <p:sp>
            <p:nvSpPr>
              <p:cNvPr id="1086" name="文本框 1085">
                <a:extLst>
                  <a:ext uri="{FF2B5EF4-FFF2-40B4-BE49-F238E27FC236}">
                    <a16:creationId xmlns:a16="http://schemas.microsoft.com/office/drawing/2014/main" id="{8F3793D4-D5A8-BCF6-548D-919A35D9B7D2}"/>
                  </a:ext>
                </a:extLst>
              </p:cNvPr>
              <p:cNvSpPr txBox="1"/>
              <p:nvPr/>
            </p:nvSpPr>
            <p:spPr>
              <a:xfrm>
                <a:off x="1944111" y="4286017"/>
                <a:ext cx="1108927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b="1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Spectrum 6</a:t>
                </a: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E3579D6F-B950-0FFD-EC91-DAE986419410}"/>
              </a:ext>
            </a:extLst>
          </p:cNvPr>
          <p:cNvGrpSpPr/>
          <p:nvPr/>
        </p:nvGrpSpPr>
        <p:grpSpPr>
          <a:xfrm>
            <a:off x="9119384" y="3542631"/>
            <a:ext cx="1433592" cy="620092"/>
            <a:chOff x="4751032" y="3071024"/>
            <a:chExt cx="1433592" cy="620092"/>
          </a:xfrm>
        </p:grpSpPr>
        <p:pic>
          <p:nvPicPr>
            <p:cNvPr id="63" name="图像" descr="图像">
              <a:extLst>
                <a:ext uri="{FF2B5EF4-FFF2-40B4-BE49-F238E27FC236}">
                  <a16:creationId xmlns:a16="http://schemas.microsoft.com/office/drawing/2014/main" id="{7CE4FE3A-99AE-78A5-1B03-679226B27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76516" y="3094070"/>
              <a:ext cx="258700" cy="205784"/>
            </a:xfrm>
            <a:prstGeom prst="rect">
              <a:avLst/>
            </a:prstGeom>
            <a:ln w="12700">
              <a:miter lim="400000"/>
            </a:ln>
          </p:spPr>
        </p:pic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034F3584-850E-22C1-4065-516B8D2304BD}"/>
                </a:ext>
              </a:extLst>
            </p:cNvPr>
            <p:cNvGrpSpPr/>
            <p:nvPr/>
          </p:nvGrpSpPr>
          <p:grpSpPr>
            <a:xfrm>
              <a:off x="4751032" y="3071024"/>
              <a:ext cx="1433592" cy="620092"/>
              <a:chOff x="1619446" y="4286017"/>
              <a:chExt cx="1433592" cy="620092"/>
            </a:xfrm>
          </p:grpSpPr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0D7EB8BB-BF22-FAE5-806B-A6E29FC24C57}"/>
                  </a:ext>
                </a:extLst>
              </p:cNvPr>
              <p:cNvSpPr txBox="1"/>
              <p:nvPr/>
            </p:nvSpPr>
            <p:spPr>
              <a:xfrm>
                <a:off x="1619446" y="4490611"/>
                <a:ext cx="1338643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50" dirty="0">
                    <a:cs typeface="+mn-ea"/>
                    <a:sym typeface="+mn-lt"/>
                  </a:rPr>
                  <a:t>Announced</a:t>
                </a:r>
              </a:p>
              <a:p>
                <a:pPr algn="ctr"/>
                <a:r>
                  <a:rPr lang="en-US" altLang="zh-CN" sz="1050" dirty="0">
                    <a:cs typeface="+mn-ea"/>
                    <a:sym typeface="+mn-lt"/>
                  </a:rPr>
                  <a:t>Mass production</a:t>
                </a:r>
                <a:endParaRPr lang="zh-CN" altLang="en-US" sz="1050" dirty="0">
                  <a:cs typeface="+mn-ea"/>
                  <a:sym typeface="+mn-lt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AB011860-7AA9-694B-D98D-56EB50211C52}"/>
                  </a:ext>
                </a:extLst>
              </p:cNvPr>
              <p:cNvSpPr txBox="1"/>
              <p:nvPr/>
            </p:nvSpPr>
            <p:spPr>
              <a:xfrm>
                <a:off x="1944111" y="4286017"/>
                <a:ext cx="1108927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b="1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Spectrum 5</a:t>
                </a:r>
              </a:p>
            </p:txBody>
          </p:sp>
        </p:grpSp>
      </p:grp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5592A4CA-65CA-0A51-BE23-797E10DFF4A3}"/>
              </a:ext>
            </a:extLst>
          </p:cNvPr>
          <p:cNvCxnSpPr>
            <a:cxnSpLocks/>
          </p:cNvCxnSpPr>
          <p:nvPr/>
        </p:nvCxnSpPr>
        <p:spPr>
          <a:xfrm>
            <a:off x="10193436" y="2575944"/>
            <a:ext cx="0" cy="729455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>
            <a:extLst>
              <a:ext uri="{FF2B5EF4-FFF2-40B4-BE49-F238E27FC236}">
                <a16:creationId xmlns:a16="http://schemas.microsoft.com/office/drawing/2014/main" id="{7F6C77D9-FFDD-A14B-B57A-D85A6E9445E2}"/>
              </a:ext>
            </a:extLst>
          </p:cNvPr>
          <p:cNvSpPr/>
          <p:nvPr/>
        </p:nvSpPr>
        <p:spPr>
          <a:xfrm>
            <a:off x="3482440" y="1674147"/>
            <a:ext cx="5199456" cy="496914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Timeline of CPO Switch Chip Milestones</a:t>
            </a:r>
            <a:r>
              <a:rPr lang="en-US" altLang="zh-CN" sz="16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(2020–2025)​</a:t>
            </a:r>
          </a:p>
        </p:txBody>
      </p:sp>
    </p:spTree>
    <p:extLst>
      <p:ext uri="{BB962C8B-B14F-4D97-AF65-F5344CB8AC3E}">
        <p14:creationId xmlns:p14="http://schemas.microsoft.com/office/powerpoint/2010/main" val="13267439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hink-cell data - do not delete" hidden="1">
            <a:extLst>
              <a:ext uri="{FF2B5EF4-FFF2-40B4-BE49-F238E27FC236}">
                <a16:creationId xmlns:a16="http://schemas.microsoft.com/office/drawing/2014/main" id="{A990E2C8-8DD7-2A1E-C004-C710B2EDFC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29849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401" imgH="401" progId="TCLayout.ActiveDocument.1">
                  <p:embed/>
                </p:oleObj>
              </mc:Choice>
              <mc:Fallback>
                <p:oleObj name="think-cell 幻灯片" r:id="rId5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173622-EB81-C299-1596-6EC34F7AD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4571"/>
              </p:ext>
            </p:extLst>
          </p:nvPr>
        </p:nvGraphicFramePr>
        <p:xfrm>
          <a:off x="1626469" y="2015286"/>
          <a:ext cx="9491980" cy="3633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Broadcom</a:t>
                      </a:r>
                      <a:endParaRPr lang="en-US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Nvidia</a:t>
                      </a:r>
                      <a:endParaRPr lang="en-GB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400" b="1" i="0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I</a:t>
                      </a:r>
                      <a:r>
                        <a:rPr lang="en-US" altLang="zh-CN" sz="1400" b="1" i="0" u="none" strike="noStrike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ntel</a:t>
                      </a:r>
                      <a:endParaRPr lang="en-GB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</a:t>
                      </a:r>
                      <a:endParaRPr lang="zh-CN" altLang="en-US" sz="1400" b="1" i="0" u="none" strike="noStrike" kern="120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Marvell</a:t>
                      </a:r>
                      <a:endParaRPr lang="zh-CN" altLang="en-US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94657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低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91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DBB163A9-DF3F-B61D-503E-72DD9D191BBF}"/>
              </a:ext>
            </a:extLst>
          </p:cNvPr>
          <p:cNvSpPr txBox="1"/>
          <p:nvPr/>
        </p:nvSpPr>
        <p:spPr>
          <a:xfrm>
            <a:off x="1628566" y="1661378"/>
            <a:ext cx="6679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+mj-lt"/>
              </a:rPr>
              <a:t>Capability Profile of Integrated Giants Across the CPO Value Chain</a:t>
            </a:r>
            <a:r>
              <a:rPr lang="en-US" altLang="zh-CN" sz="1400" b="1" baseline="30000" dirty="0">
                <a:latin typeface="+mj-lt"/>
              </a:rPr>
              <a:t>1</a:t>
            </a:r>
            <a:endParaRPr lang="zh-CN" altLang="en-US" sz="1400" b="1" dirty="0">
              <a:latin typeface="+mj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FA2A3E-D1BC-3BB9-FA62-6DB3A29D788B}"/>
              </a:ext>
            </a:extLst>
          </p:cNvPr>
          <p:cNvGrpSpPr/>
          <p:nvPr/>
        </p:nvGrpSpPr>
        <p:grpSpPr>
          <a:xfrm>
            <a:off x="8759071" y="1722536"/>
            <a:ext cx="1454442" cy="184666"/>
            <a:chOff x="8718258" y="1722536"/>
            <a:chExt cx="1454442" cy="184666"/>
          </a:xfrm>
        </p:grpSpPr>
        <p:sp>
          <p:nvSpPr>
            <p:cNvPr id="63" name="RectangleLegend1">
              <a:extLst>
                <a:ext uri="{FF2B5EF4-FFF2-40B4-BE49-F238E27FC236}">
                  <a16:creationId xmlns:a16="http://schemas.microsoft.com/office/drawing/2014/main" id="{95C95311-6E60-C62C-527C-1807C835EFD2}"/>
                </a:ext>
              </a:extLst>
            </p:cNvPr>
            <p:cNvSpPr/>
            <p:nvPr/>
          </p:nvSpPr>
          <p:spPr>
            <a:xfrm>
              <a:off x="8718258" y="1744794"/>
              <a:ext cx="139877" cy="140150"/>
            </a:xfrm>
            <a:prstGeom prst="rect">
              <a:avLst/>
            </a:prstGeom>
            <a:solidFill>
              <a:srgbClr val="ECF6FF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4" name="Legend1">
              <a:extLst>
                <a:ext uri="{FF2B5EF4-FFF2-40B4-BE49-F238E27FC236}">
                  <a16:creationId xmlns:a16="http://schemas.microsoft.com/office/drawing/2014/main" id="{A21CBC61-73B8-D329-A7BB-E2B20DE4B284}"/>
                </a:ext>
              </a:extLst>
            </p:cNvPr>
            <p:cNvSpPr txBox="1"/>
            <p:nvPr/>
          </p:nvSpPr>
          <p:spPr>
            <a:xfrm>
              <a:off x="9013986" y="1722536"/>
              <a:ext cx="1158714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Medium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3A0833-8A11-F0BA-DC16-0949F790E541}"/>
              </a:ext>
            </a:extLst>
          </p:cNvPr>
          <p:cNvGrpSpPr/>
          <p:nvPr/>
        </p:nvGrpSpPr>
        <p:grpSpPr>
          <a:xfrm>
            <a:off x="7775622" y="1722536"/>
            <a:ext cx="609919" cy="184666"/>
            <a:chOff x="7883651" y="1722536"/>
            <a:chExt cx="609919" cy="184666"/>
          </a:xfrm>
        </p:grpSpPr>
        <p:sp>
          <p:nvSpPr>
            <p:cNvPr id="65" name="RectangleLegend2">
              <a:extLst>
                <a:ext uri="{FF2B5EF4-FFF2-40B4-BE49-F238E27FC236}">
                  <a16:creationId xmlns:a16="http://schemas.microsoft.com/office/drawing/2014/main" id="{D4F99125-5182-2C50-A3B0-8BD3C7F93604}"/>
                </a:ext>
              </a:extLst>
            </p:cNvPr>
            <p:cNvSpPr/>
            <p:nvPr/>
          </p:nvSpPr>
          <p:spPr>
            <a:xfrm>
              <a:off x="7883651" y="1744794"/>
              <a:ext cx="139877" cy="140150"/>
            </a:xfrm>
            <a:prstGeom prst="rect">
              <a:avLst/>
            </a:prstGeom>
            <a:solidFill>
              <a:srgbClr val="C1E1FE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6" name="Legend2">
              <a:extLst>
                <a:ext uri="{FF2B5EF4-FFF2-40B4-BE49-F238E27FC236}">
                  <a16:creationId xmlns:a16="http://schemas.microsoft.com/office/drawing/2014/main" id="{BC5DAD0F-83BC-BE63-7109-61A387C64C40}"/>
                </a:ext>
              </a:extLst>
            </p:cNvPr>
            <p:cNvSpPr txBox="1"/>
            <p:nvPr/>
          </p:nvSpPr>
          <p:spPr>
            <a:xfrm>
              <a:off x="8179381" y="1722536"/>
              <a:ext cx="314189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High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cxnSp>
        <p:nvCxnSpPr>
          <p:cNvPr id="7" name="Straight Connector 69">
            <a:extLst>
              <a:ext uri="{FF2B5EF4-FFF2-40B4-BE49-F238E27FC236}">
                <a16:creationId xmlns:a16="http://schemas.microsoft.com/office/drawing/2014/main" id="{B22629C1-D01D-4118-5C83-25C086E1D4B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1593006" y="5981431"/>
            <a:ext cx="9505232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9">
            <a:extLst>
              <a:ext uri="{FF2B5EF4-FFF2-40B4-BE49-F238E27FC236}">
                <a16:creationId xmlns:a16="http://schemas.microsoft.com/office/drawing/2014/main" id="{36595FC3-2728-FB15-D1F3-E4B7D922A45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1593006" y="1990529"/>
            <a:ext cx="945599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9C70C78-933B-E7F8-5D2C-155D416F41C8}"/>
              </a:ext>
            </a:extLst>
          </p:cNvPr>
          <p:cNvSpPr txBox="1"/>
          <p:nvPr/>
        </p:nvSpPr>
        <p:spPr>
          <a:xfrm>
            <a:off x="590645" y="2715125"/>
            <a:ext cx="839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Design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116D8C2-58BE-C58B-E0C1-003391212D98}"/>
              </a:ext>
            </a:extLst>
          </p:cNvPr>
          <p:cNvSpPr txBox="1"/>
          <p:nvPr/>
        </p:nvSpPr>
        <p:spPr>
          <a:xfrm>
            <a:off x="436152" y="4315555"/>
            <a:ext cx="114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Assembly &amp; Test</a:t>
            </a:r>
            <a:endParaRPr lang="en-GB" altLang="zh-CN" sz="1400" b="1" dirty="0">
              <a:latin typeface="+mj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D567C8-D098-00D9-7AD6-4A81675E5851}"/>
              </a:ext>
            </a:extLst>
          </p:cNvPr>
          <p:cNvGrpSpPr/>
          <p:nvPr/>
        </p:nvGrpSpPr>
        <p:grpSpPr>
          <a:xfrm>
            <a:off x="10040424" y="1722536"/>
            <a:ext cx="576254" cy="184666"/>
            <a:chOff x="9533543" y="1722536"/>
            <a:chExt cx="576254" cy="184666"/>
          </a:xfrm>
        </p:grpSpPr>
        <p:sp>
          <p:nvSpPr>
            <p:cNvPr id="69" name="RectangleLegend2">
              <a:extLst>
                <a:ext uri="{FF2B5EF4-FFF2-40B4-BE49-F238E27FC236}">
                  <a16:creationId xmlns:a16="http://schemas.microsoft.com/office/drawing/2014/main" id="{03E3235E-0DA4-6B90-E57E-161F34DFC622}"/>
                </a:ext>
              </a:extLst>
            </p:cNvPr>
            <p:cNvSpPr/>
            <p:nvPr/>
          </p:nvSpPr>
          <p:spPr>
            <a:xfrm>
              <a:off x="9533543" y="1744794"/>
              <a:ext cx="139877" cy="140150"/>
            </a:xfrm>
            <a:prstGeom prst="rect">
              <a:avLst/>
            </a:prstGeom>
            <a:solidFill>
              <a:srgbClr val="F2F2F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70" name="Legend2">
              <a:extLst>
                <a:ext uri="{FF2B5EF4-FFF2-40B4-BE49-F238E27FC236}">
                  <a16:creationId xmlns:a16="http://schemas.microsoft.com/office/drawing/2014/main" id="{E043DD54-362F-B593-E8D3-0B6ACD8346F0}"/>
                </a:ext>
              </a:extLst>
            </p:cNvPr>
            <p:cNvSpPr txBox="1"/>
            <p:nvPr/>
          </p:nvSpPr>
          <p:spPr>
            <a:xfrm>
              <a:off x="9829271" y="1722536"/>
              <a:ext cx="280526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Low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sp>
        <p:nvSpPr>
          <p:cNvPr id="72" name="标题 1">
            <a:extLst>
              <a:ext uri="{FF2B5EF4-FFF2-40B4-BE49-F238E27FC236}">
                <a16:creationId xmlns:a16="http://schemas.microsoft.com/office/drawing/2014/main" id="{A1810013-68A2-F16E-DBA1-099AC5779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/>
          <a:lstStyle/>
          <a:p>
            <a:r>
              <a:rPr lang="en-US" altLang="zh-CN" dirty="0">
                <a:ea typeface="+mn-ea"/>
                <a:cs typeface="+mn-ea"/>
                <a:sym typeface="+mn-lt"/>
              </a:rPr>
              <a:t>Broadcom: the most comprehensive CPO capability profile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515AF03-53C3-EB53-6BA3-011C85BABD36}"/>
              </a:ext>
            </a:extLst>
          </p:cNvPr>
          <p:cNvGrpSpPr/>
          <p:nvPr/>
        </p:nvGrpSpPr>
        <p:grpSpPr>
          <a:xfrm>
            <a:off x="419231" y="1004660"/>
            <a:ext cx="11119054" cy="435911"/>
            <a:chOff x="419231" y="831408"/>
            <a:chExt cx="11119054" cy="435911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1A9969D-03D2-BBCD-B750-44F0B10992D8}"/>
                </a:ext>
              </a:extLst>
            </p:cNvPr>
            <p:cNvSpPr/>
            <p:nvPr/>
          </p:nvSpPr>
          <p:spPr>
            <a:xfrm>
              <a:off x="419231" y="831408"/>
              <a:ext cx="11063882" cy="435911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CA1152D-9C6E-7E16-B7C6-21327EA77BB6}"/>
                </a:ext>
              </a:extLst>
            </p:cNvPr>
            <p:cNvSpPr txBox="1"/>
            <p:nvPr/>
          </p:nvSpPr>
          <p:spPr>
            <a:xfrm>
              <a:off x="474403" y="856047"/>
              <a:ext cx="110638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+mj-lt"/>
                </a:rPr>
                <a:t>Broadcom leads the CPO ecosystem with </a:t>
              </a:r>
              <a:r>
                <a:rPr lang="en-US" altLang="zh-CN" b="1" dirty="0">
                  <a:solidFill>
                    <a:srgbClr val="0052D9"/>
                  </a:solidFill>
                  <a:latin typeface="+mj-lt"/>
                </a:rPr>
                <a:t>strongest capabilities</a:t>
              </a:r>
              <a:r>
                <a:rPr lang="en-US" altLang="zh-CN" dirty="0">
                  <a:latin typeface="+mj-lt"/>
                </a:rPr>
                <a:t>.</a:t>
              </a:r>
              <a:endParaRPr lang="zh-CN" altLang="en-US" dirty="0">
                <a:latin typeface="+mj-lt"/>
                <a:cs typeface="+mn-ea"/>
                <a:sym typeface="+mn-lt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DAE12DA0-A6F2-C020-B035-DBEA6BC96B54}"/>
              </a:ext>
            </a:extLst>
          </p:cNvPr>
          <p:cNvSpPr txBox="1"/>
          <p:nvPr/>
        </p:nvSpPr>
        <p:spPr>
          <a:xfrm>
            <a:off x="420327" y="5160867"/>
            <a:ext cx="1078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Final</a:t>
            </a:r>
          </a:p>
          <a:p>
            <a:pPr algn="ctr"/>
            <a:r>
              <a:rPr lang="en-US" altLang="zh-CN" sz="1400" b="1" dirty="0">
                <a:latin typeface="+mj-lt"/>
              </a:rPr>
              <a:t>Packaging 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9" name="Rectangle 157">
            <a:extLst>
              <a:ext uri="{FF2B5EF4-FFF2-40B4-BE49-F238E27FC236}">
                <a16:creationId xmlns:a16="http://schemas.microsoft.com/office/drawing/2014/main" id="{722DE60B-A408-B685-6C76-A4FECC6F47DB}"/>
              </a:ext>
            </a:extLst>
          </p:cNvPr>
          <p:cNvSpPr/>
          <p:nvPr/>
        </p:nvSpPr>
        <p:spPr>
          <a:xfrm>
            <a:off x="1612695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5" name="Rectangle 157">
            <a:extLst>
              <a:ext uri="{FF2B5EF4-FFF2-40B4-BE49-F238E27FC236}">
                <a16:creationId xmlns:a16="http://schemas.microsoft.com/office/drawing/2014/main" id="{7B10358E-163B-AA9C-3488-80E7E0861041}"/>
              </a:ext>
            </a:extLst>
          </p:cNvPr>
          <p:cNvSpPr/>
          <p:nvPr/>
        </p:nvSpPr>
        <p:spPr>
          <a:xfrm>
            <a:off x="5470537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6" name="Rectangle 157">
            <a:extLst>
              <a:ext uri="{FF2B5EF4-FFF2-40B4-BE49-F238E27FC236}">
                <a16:creationId xmlns:a16="http://schemas.microsoft.com/office/drawing/2014/main" id="{058E678D-B378-ADFB-F3C3-6895E0C40558}"/>
              </a:ext>
            </a:extLst>
          </p:cNvPr>
          <p:cNvSpPr/>
          <p:nvPr/>
        </p:nvSpPr>
        <p:spPr>
          <a:xfrm>
            <a:off x="3535496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9" name="Rectangle 157">
            <a:extLst>
              <a:ext uri="{FF2B5EF4-FFF2-40B4-BE49-F238E27FC236}">
                <a16:creationId xmlns:a16="http://schemas.microsoft.com/office/drawing/2014/main" id="{ACBDC772-893A-7DEF-631F-E9120988A640}"/>
              </a:ext>
            </a:extLst>
          </p:cNvPr>
          <p:cNvSpPr/>
          <p:nvPr/>
        </p:nvSpPr>
        <p:spPr>
          <a:xfrm>
            <a:off x="7389876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7" name="Rectangle 157">
            <a:extLst>
              <a:ext uri="{FF2B5EF4-FFF2-40B4-BE49-F238E27FC236}">
                <a16:creationId xmlns:a16="http://schemas.microsoft.com/office/drawing/2014/main" id="{51168AAE-528C-A4B0-B04C-7D41607F5C2B}"/>
              </a:ext>
            </a:extLst>
          </p:cNvPr>
          <p:cNvSpPr/>
          <p:nvPr/>
        </p:nvSpPr>
        <p:spPr>
          <a:xfrm>
            <a:off x="9299113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7" name="Rectangle 157">
            <a:extLst>
              <a:ext uri="{FF2B5EF4-FFF2-40B4-BE49-F238E27FC236}">
                <a16:creationId xmlns:a16="http://schemas.microsoft.com/office/drawing/2014/main" id="{DACED0D7-3AC0-BC69-B156-E557BFABCA48}"/>
              </a:ext>
            </a:extLst>
          </p:cNvPr>
          <p:cNvSpPr/>
          <p:nvPr/>
        </p:nvSpPr>
        <p:spPr>
          <a:xfrm>
            <a:off x="1612695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8" name="Rectangle 157">
            <a:extLst>
              <a:ext uri="{FF2B5EF4-FFF2-40B4-BE49-F238E27FC236}">
                <a16:creationId xmlns:a16="http://schemas.microsoft.com/office/drawing/2014/main" id="{92A70AA1-0D35-0321-D330-6A4961041B20}"/>
              </a:ext>
            </a:extLst>
          </p:cNvPr>
          <p:cNvSpPr/>
          <p:nvPr/>
        </p:nvSpPr>
        <p:spPr>
          <a:xfrm>
            <a:off x="5470537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9" name="Rectangle 157">
            <a:extLst>
              <a:ext uri="{FF2B5EF4-FFF2-40B4-BE49-F238E27FC236}">
                <a16:creationId xmlns:a16="http://schemas.microsoft.com/office/drawing/2014/main" id="{BAFEEEE6-164B-11D0-AD73-64F6210E8F45}"/>
              </a:ext>
            </a:extLst>
          </p:cNvPr>
          <p:cNvSpPr/>
          <p:nvPr/>
        </p:nvSpPr>
        <p:spPr>
          <a:xfrm>
            <a:off x="3535496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0" name="Rectangle 157">
            <a:extLst>
              <a:ext uri="{FF2B5EF4-FFF2-40B4-BE49-F238E27FC236}">
                <a16:creationId xmlns:a16="http://schemas.microsoft.com/office/drawing/2014/main" id="{1F748F27-96A7-738B-39FF-13687A7FE421}"/>
              </a:ext>
            </a:extLst>
          </p:cNvPr>
          <p:cNvSpPr/>
          <p:nvPr/>
        </p:nvSpPr>
        <p:spPr>
          <a:xfrm>
            <a:off x="7389876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8" name="Rectangle 157">
            <a:extLst>
              <a:ext uri="{FF2B5EF4-FFF2-40B4-BE49-F238E27FC236}">
                <a16:creationId xmlns:a16="http://schemas.microsoft.com/office/drawing/2014/main" id="{915DAF4E-B585-966F-1183-462B20CAC648}"/>
              </a:ext>
            </a:extLst>
          </p:cNvPr>
          <p:cNvSpPr/>
          <p:nvPr/>
        </p:nvSpPr>
        <p:spPr>
          <a:xfrm>
            <a:off x="9299113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0" name="Rectangle 157">
            <a:extLst>
              <a:ext uri="{FF2B5EF4-FFF2-40B4-BE49-F238E27FC236}">
                <a16:creationId xmlns:a16="http://schemas.microsoft.com/office/drawing/2014/main" id="{0893AA71-D03A-7F15-F448-A77C8596140E}"/>
              </a:ext>
            </a:extLst>
          </p:cNvPr>
          <p:cNvSpPr/>
          <p:nvPr/>
        </p:nvSpPr>
        <p:spPr>
          <a:xfrm>
            <a:off x="1612695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1" name="Rectangle 157">
            <a:extLst>
              <a:ext uri="{FF2B5EF4-FFF2-40B4-BE49-F238E27FC236}">
                <a16:creationId xmlns:a16="http://schemas.microsoft.com/office/drawing/2014/main" id="{A49F99C4-C300-B4C0-1B8C-32DAE4741017}"/>
              </a:ext>
            </a:extLst>
          </p:cNvPr>
          <p:cNvSpPr/>
          <p:nvPr/>
        </p:nvSpPr>
        <p:spPr>
          <a:xfrm>
            <a:off x="5470537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2" name="Rectangle 157">
            <a:extLst>
              <a:ext uri="{FF2B5EF4-FFF2-40B4-BE49-F238E27FC236}">
                <a16:creationId xmlns:a16="http://schemas.microsoft.com/office/drawing/2014/main" id="{6D8C40EE-1B50-521B-2922-97719F8F7A18}"/>
              </a:ext>
            </a:extLst>
          </p:cNvPr>
          <p:cNvSpPr/>
          <p:nvPr/>
        </p:nvSpPr>
        <p:spPr>
          <a:xfrm>
            <a:off x="3535496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1" name="Rectangle 157">
            <a:extLst>
              <a:ext uri="{FF2B5EF4-FFF2-40B4-BE49-F238E27FC236}">
                <a16:creationId xmlns:a16="http://schemas.microsoft.com/office/drawing/2014/main" id="{F8EF5562-347F-26A4-A506-1D11A9CBF54C}"/>
              </a:ext>
            </a:extLst>
          </p:cNvPr>
          <p:cNvSpPr/>
          <p:nvPr/>
        </p:nvSpPr>
        <p:spPr>
          <a:xfrm>
            <a:off x="7389876" y="4154128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5" name="Rectangle 157">
            <a:extLst>
              <a:ext uri="{FF2B5EF4-FFF2-40B4-BE49-F238E27FC236}">
                <a16:creationId xmlns:a16="http://schemas.microsoft.com/office/drawing/2014/main" id="{2A5BC123-6C3B-A573-7961-B9860FDDBBDF}"/>
              </a:ext>
            </a:extLst>
          </p:cNvPr>
          <p:cNvSpPr/>
          <p:nvPr/>
        </p:nvSpPr>
        <p:spPr>
          <a:xfrm>
            <a:off x="9299113" y="4154128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6" name="Rectangle 157">
            <a:extLst>
              <a:ext uri="{FF2B5EF4-FFF2-40B4-BE49-F238E27FC236}">
                <a16:creationId xmlns:a16="http://schemas.microsoft.com/office/drawing/2014/main" id="{9A8ADA32-84FB-5C22-EF5F-15BF8F4C3242}"/>
              </a:ext>
            </a:extLst>
          </p:cNvPr>
          <p:cNvSpPr/>
          <p:nvPr/>
        </p:nvSpPr>
        <p:spPr>
          <a:xfrm>
            <a:off x="1612695" y="5027627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4" name="Rectangle 157">
            <a:extLst>
              <a:ext uri="{FF2B5EF4-FFF2-40B4-BE49-F238E27FC236}">
                <a16:creationId xmlns:a16="http://schemas.microsoft.com/office/drawing/2014/main" id="{E640EAB5-380C-380B-92C4-9446786C53CC}"/>
              </a:ext>
            </a:extLst>
          </p:cNvPr>
          <p:cNvSpPr/>
          <p:nvPr/>
        </p:nvSpPr>
        <p:spPr>
          <a:xfrm>
            <a:off x="3535496" y="5027627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6" name="Rectangle 157">
            <a:extLst>
              <a:ext uri="{FF2B5EF4-FFF2-40B4-BE49-F238E27FC236}">
                <a16:creationId xmlns:a16="http://schemas.microsoft.com/office/drawing/2014/main" id="{3D2420D1-44BF-F7D9-A07B-612423152074}"/>
              </a:ext>
            </a:extLst>
          </p:cNvPr>
          <p:cNvSpPr/>
          <p:nvPr/>
        </p:nvSpPr>
        <p:spPr>
          <a:xfrm>
            <a:off x="7389876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7" name="Rectangle 157">
            <a:extLst>
              <a:ext uri="{FF2B5EF4-FFF2-40B4-BE49-F238E27FC236}">
                <a16:creationId xmlns:a16="http://schemas.microsoft.com/office/drawing/2014/main" id="{A7EC6F51-E5F0-BDC6-6ADF-E9EFDCB80FF0}"/>
              </a:ext>
            </a:extLst>
          </p:cNvPr>
          <p:cNvSpPr/>
          <p:nvPr/>
        </p:nvSpPr>
        <p:spPr>
          <a:xfrm>
            <a:off x="9299113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8" name="Rectangle 157">
            <a:extLst>
              <a:ext uri="{FF2B5EF4-FFF2-40B4-BE49-F238E27FC236}">
                <a16:creationId xmlns:a16="http://schemas.microsoft.com/office/drawing/2014/main" id="{16F7E529-CE78-2AEB-1636-28491FB53596}"/>
              </a:ext>
            </a:extLst>
          </p:cNvPr>
          <p:cNvSpPr/>
          <p:nvPr/>
        </p:nvSpPr>
        <p:spPr>
          <a:xfrm>
            <a:off x="5470537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213" name="图像" descr="图像">
            <a:extLst>
              <a:ext uri="{FF2B5EF4-FFF2-40B4-BE49-F238E27FC236}">
                <a16:creationId xmlns:a16="http://schemas.microsoft.com/office/drawing/2014/main" id="{BCA99E9E-A445-EF79-44C8-DD8EDCE94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5399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图像" descr="图像">
            <a:extLst>
              <a:ext uri="{FF2B5EF4-FFF2-40B4-BE49-F238E27FC236}">
                <a16:creationId xmlns:a16="http://schemas.microsoft.com/office/drawing/2014/main" id="{02092A1C-35F9-0292-A1CD-503886F36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746" y="4468982"/>
            <a:ext cx="473606" cy="1747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图像" descr="图像">
            <a:extLst>
              <a:ext uri="{FF2B5EF4-FFF2-40B4-BE49-F238E27FC236}">
                <a16:creationId xmlns:a16="http://schemas.microsoft.com/office/drawing/2014/main" id="{67846C9F-B23B-9854-81C5-E7A80C8233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1407" y="4447890"/>
            <a:ext cx="542228" cy="216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图像" descr="图像">
            <a:extLst>
              <a:ext uri="{FF2B5EF4-FFF2-40B4-BE49-F238E27FC236}">
                <a16:creationId xmlns:a16="http://schemas.microsoft.com/office/drawing/2014/main" id="{B375E56F-449B-1D15-3709-62FCE22989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9736" b="29786"/>
          <a:stretch>
            <a:fillRect/>
          </a:stretch>
        </p:blipFill>
        <p:spPr>
          <a:xfrm>
            <a:off x="1741765" y="5389532"/>
            <a:ext cx="576500" cy="10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21" name="图像" descr="图像">
            <a:extLst>
              <a:ext uri="{FF2B5EF4-FFF2-40B4-BE49-F238E27FC236}">
                <a16:creationId xmlns:a16="http://schemas.microsoft.com/office/drawing/2014/main" id="{3D16F5A9-18AC-2365-A8E1-8A69C6815C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6807" y="268060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图像" descr="图像">
            <a:extLst>
              <a:ext uri="{FF2B5EF4-FFF2-40B4-BE49-F238E27FC236}">
                <a16:creationId xmlns:a16="http://schemas.microsoft.com/office/drawing/2014/main" id="{1191C93F-1EE6-F969-4C25-F2D93874F3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3871" y="2630522"/>
            <a:ext cx="514179" cy="409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图片 225">
            <a:extLst>
              <a:ext uri="{FF2B5EF4-FFF2-40B4-BE49-F238E27FC236}">
                <a16:creationId xmlns:a16="http://schemas.microsoft.com/office/drawing/2014/main" id="{45F2CDEC-4019-B367-F66D-78C94978C10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2690069"/>
            <a:ext cx="572924" cy="289913"/>
          </a:xfrm>
          <a:prstGeom prst="rect">
            <a:avLst/>
          </a:prstGeom>
        </p:spPr>
      </p:pic>
      <p:pic>
        <p:nvPicPr>
          <p:cNvPr id="227" name="图片 226">
            <a:extLst>
              <a:ext uri="{FF2B5EF4-FFF2-40B4-BE49-F238E27FC236}">
                <a16:creationId xmlns:a16="http://schemas.microsoft.com/office/drawing/2014/main" id="{39393F0A-A321-4F54-F72C-6E44A7B520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2773" y="2638436"/>
            <a:ext cx="663006" cy="393178"/>
          </a:xfrm>
          <a:prstGeom prst="rect">
            <a:avLst/>
          </a:prstGeom>
        </p:spPr>
      </p:pic>
      <p:pic>
        <p:nvPicPr>
          <p:cNvPr id="228" name="图像" descr="图像">
            <a:extLst>
              <a:ext uri="{FF2B5EF4-FFF2-40B4-BE49-F238E27FC236}">
                <a16:creationId xmlns:a16="http://schemas.microsoft.com/office/drawing/2014/main" id="{0B050CDB-919C-6F85-E77A-D1156431418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65057" y="2715586"/>
            <a:ext cx="806212" cy="238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图片 230">
            <a:extLst>
              <a:ext uri="{FF2B5EF4-FFF2-40B4-BE49-F238E27FC236}">
                <a16:creationId xmlns:a16="http://schemas.microsoft.com/office/drawing/2014/main" id="{91B31E62-C36B-3D32-5FE4-2FD40743C4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7557" y="3561811"/>
            <a:ext cx="572924" cy="289913"/>
          </a:xfrm>
          <a:prstGeom prst="rect">
            <a:avLst/>
          </a:prstGeom>
        </p:spPr>
      </p:pic>
      <p:pic>
        <p:nvPicPr>
          <p:cNvPr id="232" name="图像" descr="图像">
            <a:extLst>
              <a:ext uri="{FF2B5EF4-FFF2-40B4-BE49-F238E27FC236}">
                <a16:creationId xmlns:a16="http://schemas.microsoft.com/office/drawing/2014/main" id="{9FCE13FF-0D2A-8C19-1775-2371F5AD3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56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C8606D50-18FF-FEEB-00A1-AFA0B5AF8C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1324" y="3568401"/>
            <a:ext cx="968567" cy="276733"/>
          </a:xfrm>
          <a:prstGeom prst="rect">
            <a:avLst/>
          </a:prstGeom>
        </p:spPr>
      </p:pic>
      <p:pic>
        <p:nvPicPr>
          <p:cNvPr id="235" name="图像" descr="图像">
            <a:extLst>
              <a:ext uri="{FF2B5EF4-FFF2-40B4-BE49-F238E27FC236}">
                <a16:creationId xmlns:a16="http://schemas.microsoft.com/office/drawing/2014/main" id="{CD62F807-F7C1-2221-70A8-C3A8A5CBC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323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图片 235">
            <a:extLst>
              <a:ext uri="{FF2B5EF4-FFF2-40B4-BE49-F238E27FC236}">
                <a16:creationId xmlns:a16="http://schemas.microsoft.com/office/drawing/2014/main" id="{EED8FB59-4DF6-6706-A118-0F70C77367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23191" y="3568401"/>
            <a:ext cx="968567" cy="276733"/>
          </a:xfrm>
          <a:prstGeom prst="rect">
            <a:avLst/>
          </a:prstGeom>
        </p:spPr>
      </p:pic>
      <p:pic>
        <p:nvPicPr>
          <p:cNvPr id="238" name="图片 237">
            <a:extLst>
              <a:ext uri="{FF2B5EF4-FFF2-40B4-BE49-F238E27FC236}">
                <a16:creationId xmlns:a16="http://schemas.microsoft.com/office/drawing/2014/main" id="{EB74CC13-F0E8-EA3D-0969-38E000D756A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140" b="89535" l="4267" r="92800">
                        <a14:foregroundMark x1="7733" y1="47674" x2="7733" y2="47674"/>
                        <a14:foregroundMark x1="4267" y1="38372" x2="4267" y2="38372"/>
                        <a14:foregroundMark x1="19467" y1="52326" x2="19467" y2="52326"/>
                        <a14:foregroundMark x1="23467" y1="53488" x2="23467" y2="53488"/>
                        <a14:foregroundMark x1="31733" y1="23256" x2="31733" y2="23256"/>
                        <a14:foregroundMark x1="42400" y1="38372" x2="42400" y2="38372"/>
                        <a14:foregroundMark x1="54400" y1="40698" x2="54400" y2="40698"/>
                        <a14:foregroundMark x1="85600" y1="61628" x2="85600" y2="61628"/>
                        <a14:foregroundMark x1="92800" y1="83721" x2="92800" y2="837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3809" y="3626890"/>
            <a:ext cx="696602" cy="159754"/>
          </a:xfrm>
          <a:prstGeom prst="rect">
            <a:avLst/>
          </a:prstGeom>
        </p:spPr>
      </p:pic>
      <p:pic>
        <p:nvPicPr>
          <p:cNvPr id="239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A7C74340-83DC-6A48-33D8-14B95915C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7914575" y="3619715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图片 239">
            <a:extLst>
              <a:ext uri="{FF2B5EF4-FFF2-40B4-BE49-F238E27FC236}">
                <a16:creationId xmlns:a16="http://schemas.microsoft.com/office/drawing/2014/main" id="{7D21C2A9-5F96-054E-89A8-EA1D0C6E67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4411380"/>
            <a:ext cx="572924" cy="289913"/>
          </a:xfrm>
          <a:prstGeom prst="rect">
            <a:avLst/>
          </a:prstGeom>
        </p:spPr>
      </p:pic>
      <p:pic>
        <p:nvPicPr>
          <p:cNvPr id="241" name="图像" descr="图像">
            <a:extLst>
              <a:ext uri="{FF2B5EF4-FFF2-40B4-BE49-F238E27FC236}">
                <a16:creationId xmlns:a16="http://schemas.microsoft.com/office/drawing/2014/main" id="{54A3A5B6-4B2C-1BAC-6A30-878728AEE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474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图像" descr="图像">
            <a:extLst>
              <a:ext uri="{FF2B5EF4-FFF2-40B4-BE49-F238E27FC236}">
                <a16:creationId xmlns:a16="http://schemas.microsoft.com/office/drawing/2014/main" id="{F2AB3F59-D723-FE82-322E-1DD3F88EE1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87" y="4414096"/>
            <a:ext cx="711201" cy="28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图像" descr="图像">
            <a:extLst>
              <a:ext uri="{FF2B5EF4-FFF2-40B4-BE49-F238E27FC236}">
                <a16:creationId xmlns:a16="http://schemas.microsoft.com/office/drawing/2014/main" id="{DA77F744-8632-B5FE-B288-251801F30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049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图像" descr="图像">
            <a:extLst>
              <a:ext uri="{FF2B5EF4-FFF2-40B4-BE49-F238E27FC236}">
                <a16:creationId xmlns:a16="http://schemas.microsoft.com/office/drawing/2014/main" id="{B379E024-787A-564F-60A8-638A168AAEF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0124" y="435622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245" name="文本框 244">
            <a:extLst>
              <a:ext uri="{FF2B5EF4-FFF2-40B4-BE49-F238E27FC236}">
                <a16:creationId xmlns:a16="http://schemas.microsoft.com/office/drawing/2014/main" id="{54547816-9DDE-1731-511D-4B22B72792B7}"/>
              </a:ext>
            </a:extLst>
          </p:cNvPr>
          <p:cNvSpPr txBox="1"/>
          <p:nvPr/>
        </p:nvSpPr>
        <p:spPr>
          <a:xfrm>
            <a:off x="347204" y="3564917"/>
            <a:ext cx="1325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Foundry</a:t>
            </a:r>
            <a:endParaRPr lang="en-GB" altLang="zh-CN" sz="1400" b="1" dirty="0">
              <a:latin typeface="+mj-lt"/>
            </a:endParaRPr>
          </a:p>
        </p:txBody>
      </p:sp>
      <p:pic>
        <p:nvPicPr>
          <p:cNvPr id="246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09BF9367-0F82-3FD9-EFC0-ED1C30C57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3728011" y="5353943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图片 247" descr="徽标&#10;&#10;AI 生成的内容可能不正确。">
            <a:extLst>
              <a:ext uri="{FF2B5EF4-FFF2-40B4-BE49-F238E27FC236}">
                <a16:creationId xmlns:a16="http://schemas.microsoft.com/office/drawing/2014/main" id="{7EE4B528-A0AB-0822-8627-45AD1883A1B7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82" y="5263989"/>
            <a:ext cx="491822" cy="354012"/>
          </a:xfrm>
          <a:prstGeom prst="rect">
            <a:avLst/>
          </a:prstGeom>
        </p:spPr>
      </p:pic>
      <p:pic>
        <p:nvPicPr>
          <p:cNvPr id="249" name="图片 248" descr="徽标&#10;&#10;AI 生成的内容可能不正确。">
            <a:extLst>
              <a:ext uri="{FF2B5EF4-FFF2-40B4-BE49-F238E27FC236}">
                <a16:creationId xmlns:a16="http://schemas.microsoft.com/office/drawing/2014/main" id="{F2B6BEDE-26C1-760F-28B8-84D81C8937D2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96" y="5303696"/>
            <a:ext cx="366851" cy="264058"/>
          </a:xfrm>
          <a:prstGeom prst="rect">
            <a:avLst/>
          </a:prstGeom>
        </p:spPr>
      </p:pic>
      <p:pic>
        <p:nvPicPr>
          <p:cNvPr id="250" name="图片 249">
            <a:extLst>
              <a:ext uri="{FF2B5EF4-FFF2-40B4-BE49-F238E27FC236}">
                <a16:creationId xmlns:a16="http://schemas.microsoft.com/office/drawing/2014/main" id="{402430A5-2F65-7298-3120-C440DAE8777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2391262" y="5379853"/>
            <a:ext cx="475097" cy="89818"/>
          </a:xfrm>
          <a:prstGeom prst="rect">
            <a:avLst/>
          </a:prstGeom>
        </p:spPr>
      </p:pic>
      <p:sp>
        <p:nvSpPr>
          <p:cNvPr id="252" name="文本框 251">
            <a:extLst>
              <a:ext uri="{FF2B5EF4-FFF2-40B4-BE49-F238E27FC236}">
                <a16:creationId xmlns:a16="http://schemas.microsoft.com/office/drawing/2014/main" id="{1750A5DB-818F-BBD6-3C75-4D99B41FBECD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 an exhaustive list; focusing on key partners.​</a:t>
            </a:r>
          </a:p>
        </p:txBody>
      </p:sp>
    </p:spTree>
    <p:extLst>
      <p:ext uri="{BB962C8B-B14F-4D97-AF65-F5344CB8AC3E}">
        <p14:creationId xmlns:p14="http://schemas.microsoft.com/office/powerpoint/2010/main" val="1091079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5613-90E5-0200-ABA1-969F41B6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53E37C2-7C71-A419-BAAE-6D2D2B4FA5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78152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401" imgH="401" progId="TCLayout.ActiveDocument.1">
                  <p:embed/>
                </p:oleObj>
              </mc:Choice>
              <mc:Fallback>
                <p:oleObj name="think-cell 幻灯片" r:id="rId16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B5B65-05AC-E9CA-651E-FCBC7F2CAA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文本框 75">
            <a:extLst>
              <a:ext uri="{FF2B5EF4-FFF2-40B4-BE49-F238E27FC236}">
                <a16:creationId xmlns:a16="http://schemas.microsoft.com/office/drawing/2014/main" id="{DAD59D82-61AE-8A79-DEFC-018A8CBAF289}"/>
              </a:ext>
            </a:extLst>
          </p:cNvPr>
          <p:cNvSpPr txBox="1"/>
          <p:nvPr/>
        </p:nvSpPr>
        <p:spPr>
          <a:xfrm>
            <a:off x="6105525" y="3858418"/>
            <a:ext cx="1662113" cy="64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Amazon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MSFT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Intel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8DE6BB8-FA89-3E25-EA44-004C929E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" y="172212"/>
            <a:ext cx="10751185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Why Broadcom bets on CPO: aligning with HPC’s in-house ASIC trend + network support for ecosystem positioning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A999DB-AC5C-4912-29F2-A8253B6131FF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Nomura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J.P.Morgan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BNP.</a:t>
            </a:r>
          </a:p>
        </p:txBody>
      </p:sp>
      <p:graphicFrame>
        <p:nvGraphicFramePr>
          <p:cNvPr id="34" name="Chart 3">
            <a:extLst>
              <a:ext uri="{FF2B5EF4-FFF2-40B4-BE49-F238E27FC236}">
                <a16:creationId xmlns:a16="http://schemas.microsoft.com/office/drawing/2014/main" id="{A1FB8181-D34E-060F-1075-6718B82EBCA1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61715307"/>
              </p:ext>
            </p:extLst>
          </p:nvPr>
        </p:nvGraphicFramePr>
        <p:xfrm>
          <a:off x="577850" y="2249488"/>
          <a:ext cx="6672263" cy="3862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3DFEBEA-A1C8-F078-C831-46DA2046D9CE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3789363" y="4075113"/>
            <a:ext cx="3508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&gt;</a:t>
            </a:r>
            <a:fld id="{2757261A-3181-4463-8333-0ED1F2DB49E5}" type="datetime'''''''''3''3''''''''''''''''''''''''''''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 sz="1400" dirty="0">
              <a:cs typeface="+mn-cs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AF0FDD1-AA3B-B255-C9E5-12158FBE4F2E}"/>
              </a:ext>
            </a:extLst>
          </p:cNvPr>
          <p:cNvSpPr txBox="1"/>
          <p:nvPr/>
        </p:nvSpPr>
        <p:spPr>
          <a:xfrm>
            <a:off x="628650" y="2122488"/>
            <a:ext cx="5626100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latin typeface="PingFang SC"/>
              </a:rPr>
              <a:t>Shipment Share</a:t>
            </a:r>
            <a:r>
              <a:rPr lang="zh-CN" altLang="en-US" sz="1400" dirty="0">
                <a:solidFill>
                  <a:srgbClr val="000000"/>
                </a:solidFill>
                <a:latin typeface="PingFang SC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PingFang SC"/>
              </a:rPr>
              <a:t>(%)</a:t>
            </a:r>
            <a:endParaRPr lang="zh-CN" altLang="en-US" sz="1400" dirty="0">
              <a:solidFill>
                <a:srgbClr val="000000"/>
              </a:solidFill>
              <a:latin typeface="PingFang SC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8CDAD01-36A1-CF67-846C-CAABF8345DFC}"/>
              </a:ext>
            </a:extLst>
          </p:cNvPr>
          <p:cNvSpPr txBox="1"/>
          <p:nvPr/>
        </p:nvSpPr>
        <p:spPr>
          <a:xfrm>
            <a:off x="4749509" y="2714877"/>
            <a:ext cx="22455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400" dirty="0">
                <a:solidFill>
                  <a:srgbClr val="0052D9"/>
                </a:solidFill>
                <a:latin typeface="PingFang SC"/>
              </a:rPr>
              <a:t>In 26E,</a:t>
            </a:r>
            <a:r>
              <a:rPr lang="zh-CN" altLang="en-US" sz="1400" dirty="0">
                <a:solidFill>
                  <a:srgbClr val="0052D9"/>
                </a:solidFill>
                <a:latin typeface="PingFang SC"/>
              </a:rPr>
              <a:t> </a:t>
            </a:r>
            <a:r>
              <a:rPr lang="en-US" altLang="zh-CN" sz="1400" dirty="0">
                <a:solidFill>
                  <a:srgbClr val="0052D9"/>
                </a:solidFill>
                <a:latin typeface="PingFang SC"/>
              </a:rPr>
              <a:t>ASIC shipments</a:t>
            </a:r>
            <a:r>
              <a:rPr lang="zh-CN" altLang="en-US" sz="1400" dirty="0">
                <a:solidFill>
                  <a:srgbClr val="0052D9"/>
                </a:solidFill>
                <a:latin typeface="PingFang SC"/>
              </a:rPr>
              <a:t> </a:t>
            </a:r>
            <a:r>
              <a:rPr lang="en-US" altLang="zh-CN" sz="1400" dirty="0">
                <a:solidFill>
                  <a:srgbClr val="0052D9"/>
                </a:solidFill>
                <a:latin typeface="PingFang SC"/>
              </a:rPr>
              <a:t>catch up with</a:t>
            </a:r>
            <a:r>
              <a:rPr lang="zh-CN" altLang="en-US" sz="1400" dirty="0">
                <a:solidFill>
                  <a:srgbClr val="0052D9"/>
                </a:solidFill>
                <a:latin typeface="PingFang SC"/>
              </a:rPr>
              <a:t> </a:t>
            </a:r>
            <a:r>
              <a:rPr lang="en-US" altLang="zh-CN" sz="1400" dirty="0">
                <a:solidFill>
                  <a:srgbClr val="0052D9"/>
                </a:solidFill>
                <a:latin typeface="PingFang SC"/>
              </a:rPr>
              <a:t>GPU.</a:t>
            </a:r>
            <a:endParaRPr lang="zh-CN" altLang="en-US" sz="1400" dirty="0">
              <a:solidFill>
                <a:srgbClr val="0052D9"/>
              </a:solidFill>
              <a:latin typeface="PingFang SC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24AEC0F4-E29C-AD43-22E2-4740D7678743}"/>
              </a:ext>
            </a:extLst>
          </p:cNvPr>
          <p:cNvSpPr txBox="1"/>
          <p:nvPr/>
        </p:nvSpPr>
        <p:spPr>
          <a:xfrm>
            <a:off x="4008438" y="4983289"/>
            <a:ext cx="1660525" cy="64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Google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Meta</a:t>
            </a:r>
          </a:p>
          <a:p>
            <a:r>
              <a:rPr lang="en-US" altLang="zh-CN" sz="1200" dirty="0">
                <a:solidFill>
                  <a:srgbClr val="0052D9"/>
                </a:solidFill>
                <a:latin typeface="PingFang SC"/>
              </a:rPr>
              <a:t>ByteDance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943DA313-5994-5C1E-B018-417A0A4C3D3B}"/>
              </a:ext>
            </a:extLst>
          </p:cNvPr>
          <p:cNvSpPr txBox="1"/>
          <p:nvPr/>
        </p:nvSpPr>
        <p:spPr>
          <a:xfrm>
            <a:off x="6089650" y="4614989"/>
            <a:ext cx="1660525" cy="1014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Google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Meta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ByteDance</a:t>
            </a:r>
          </a:p>
          <a:p>
            <a:r>
              <a:rPr lang="en-US" altLang="zh-CN" sz="1200" dirty="0">
                <a:solidFill>
                  <a:srgbClr val="0052D9"/>
                </a:solidFill>
                <a:latin typeface="PingFang SC"/>
              </a:rPr>
              <a:t>OpenAI</a:t>
            </a:r>
          </a:p>
          <a:p>
            <a:r>
              <a:rPr lang="en-US" altLang="zh-CN" sz="1200" dirty="0" err="1">
                <a:solidFill>
                  <a:srgbClr val="0052D9"/>
                </a:solidFill>
                <a:latin typeface="PingFang SC"/>
              </a:rPr>
              <a:t>xAI</a:t>
            </a:r>
            <a:endParaRPr lang="en-US" altLang="zh-CN" sz="1200" dirty="0">
              <a:solidFill>
                <a:srgbClr val="0052D9"/>
              </a:solidFill>
              <a:latin typeface="PingFang SC"/>
            </a:endParaRPr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BD3D585D-EB84-F7EC-1AC4-AE4F0BB57E76}"/>
              </a:ext>
            </a:extLst>
          </p:cNvPr>
          <p:cNvCxnSpPr/>
          <p:nvPr>
            <p:custDataLst>
              <p:tags r:id="rId4"/>
            </p:custDataLst>
          </p:nvPr>
        </p:nvCxnSpPr>
        <p:spPr bwMode="gray">
          <a:xfrm>
            <a:off x="2433638" y="6126163"/>
            <a:ext cx="231775" cy="0"/>
          </a:xfrm>
          <a:prstGeom prst="line">
            <a:avLst/>
          </a:prstGeom>
          <a:ln w="19050" cap="rnd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48163FD0-FFF7-9ABC-9D0A-768743A88758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3252788" y="6126163"/>
            <a:ext cx="231775" cy="0"/>
          </a:xfrm>
          <a:prstGeom prst="line">
            <a:avLst/>
          </a:prstGeom>
          <a:ln w="19050" cap="rnd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855E862C-E865-CE47-D969-4ED73BF96A88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4062413" y="6126163"/>
            <a:ext cx="190500" cy="0"/>
          </a:xfrm>
          <a:prstGeom prst="line">
            <a:avLst/>
          </a:prstGeom>
          <a:ln w="19050" cap="rnd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Text Placeholder 4">
            <a:extLst>
              <a:ext uri="{FF2B5EF4-FFF2-40B4-BE49-F238E27FC236}">
                <a16:creationId xmlns:a16="http://schemas.microsoft.com/office/drawing/2014/main" id="{4432D324-70FA-F8C1-0A33-97C916F10E38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725738" y="6027738"/>
            <a:ext cx="415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CA14096-24AE-49D8-9F9F-FD7E7C057D2D}" type="datetime'''''''''''''''''''''''''''''''A''''S''IC''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ASIC</a:t>
            </a:fld>
            <a:endParaRPr lang="zh-CN" altLang="en-US" sz="1400" dirty="0">
              <a:cs typeface="+mn-cs"/>
            </a:endParaRPr>
          </a:p>
        </p:txBody>
      </p:sp>
      <p:sp>
        <p:nvSpPr>
          <p:cNvPr id="72" name="Text Placeholder 4">
            <a:extLst>
              <a:ext uri="{FF2B5EF4-FFF2-40B4-BE49-F238E27FC236}">
                <a16:creationId xmlns:a16="http://schemas.microsoft.com/office/drawing/2014/main" id="{8828DF58-8F6B-50C8-8A1F-70A0C4A238BF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544888" y="602773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764266F-E44F-445E-86DA-50010A4C62D3}" type="datetime'''''''''G''''''''''''''P''''''''''''''''U'">
              <a:rPr lang="en-US" altLang="en-US" sz="1400" smtClean="0">
                <a:cs typeface="+mn-cs"/>
              </a:rPr>
              <a:pPr/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125" name="Text Placeholder 4">
            <a:extLst>
              <a:ext uri="{FF2B5EF4-FFF2-40B4-BE49-F238E27FC236}">
                <a16:creationId xmlns:a16="http://schemas.microsoft.com/office/drawing/2014/main" id="{715DE486-F67D-3D0F-E1FB-C973BBA91A41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333875" y="6027738"/>
            <a:ext cx="1263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Broadcom ASIC</a:t>
            </a:r>
            <a:endParaRPr lang="zh-CN" altLang="en-US" sz="1400" dirty="0"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B018FD-CABA-9F0D-4320-90336A0C6383}"/>
              </a:ext>
            </a:extLst>
          </p:cNvPr>
          <p:cNvSpPr txBox="1"/>
          <p:nvPr/>
        </p:nvSpPr>
        <p:spPr>
          <a:xfrm>
            <a:off x="8224679" y="2316150"/>
            <a:ext cx="299190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0052D9"/>
                </a:solidFill>
                <a:latin typeface="PingFang SC"/>
              </a:defRPr>
            </a:lvl1pPr>
          </a:lstStyle>
          <a:p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25E Main</a:t>
            </a:r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ASIC</a:t>
            </a:r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Vendors’</a:t>
            </a:r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Shipments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04E9696-50D4-422E-7328-86E1EFE26E7E}"/>
              </a:ext>
            </a:extLst>
          </p:cNvPr>
          <p:cNvSpPr txBox="1"/>
          <p:nvPr/>
        </p:nvSpPr>
        <p:spPr>
          <a:xfrm>
            <a:off x="4008438" y="4273550"/>
            <a:ext cx="1660525" cy="64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Amazon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MSFT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Intel</a:t>
            </a:r>
          </a:p>
        </p:txBody>
      </p:sp>
      <p:sp>
        <p:nvSpPr>
          <p:cNvPr id="986" name="矩形 985">
            <a:extLst>
              <a:ext uri="{FF2B5EF4-FFF2-40B4-BE49-F238E27FC236}">
                <a16:creationId xmlns:a16="http://schemas.microsoft.com/office/drawing/2014/main" id="{BAE37BE9-FE2A-7B0D-051E-278867DB87D0}"/>
              </a:ext>
            </a:extLst>
          </p:cNvPr>
          <p:cNvSpPr/>
          <p:nvPr/>
        </p:nvSpPr>
        <p:spPr>
          <a:xfrm>
            <a:off x="649816" y="1072007"/>
            <a:ext cx="10989734" cy="1022549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① 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The inevitable trend; Broadcom plays a central role.</a:t>
            </a: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HPCs seek 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computing autonomy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 &amp; cost control​ → More players partner with Broadcom;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​​OpenAI, </a:t>
            </a:r>
            <a:r>
              <a:rPr lang="en-US" altLang="zh-CN" sz="1600" dirty="0" err="1">
                <a:solidFill>
                  <a:schemeClr val="accent6">
                    <a:lumMod val="10000"/>
                  </a:schemeClr>
                </a:solidFill>
                <a:latin typeface="PingFang SC"/>
              </a:rPr>
              <a:t>xAI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: New volume production orders in 2026 will ​bring forward the “ASIC &gt; GPU” inflection point 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from 2027–28 to 2026.</a:t>
            </a:r>
            <a:endParaRPr lang="zh-CN" altLang="en-US" sz="1600" b="1" dirty="0">
              <a:solidFill>
                <a:srgbClr val="0052D9"/>
              </a:solidFill>
              <a:latin typeface="PingFang SC"/>
            </a:endParaRPr>
          </a:p>
        </p:txBody>
      </p:sp>
      <p:graphicFrame>
        <p:nvGraphicFramePr>
          <p:cNvPr id="18" name="Chart 3">
            <a:extLst>
              <a:ext uri="{FF2B5EF4-FFF2-40B4-BE49-F238E27FC236}">
                <a16:creationId xmlns:a16="http://schemas.microsoft.com/office/drawing/2014/main" id="{8647FFFF-6847-F80D-C07D-6688D7E9C9CA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2453738923"/>
              </p:ext>
            </p:extLst>
          </p:nvPr>
        </p:nvGraphicFramePr>
        <p:xfrm>
          <a:off x="8145463" y="3005138"/>
          <a:ext cx="2681287" cy="2949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993" name="Text Placeholder 4">
            <a:extLst>
              <a:ext uri="{FF2B5EF4-FFF2-40B4-BE49-F238E27FC236}">
                <a16:creationId xmlns:a16="http://schemas.microsoft.com/office/drawing/2014/main" id="{72510644-12DD-8B05-2EAA-33747E79196C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10577513" y="3968750"/>
            <a:ext cx="650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64BDAC4-288A-4BD7-9E68-6148510A5DDB}" type="datetime'''A''''''''''''''''''ma''''''''z''o''''''''''''''''''''''n'''">
              <a:rPr lang="en-US" altLang="en-US" sz="1400" smtClean="0">
                <a:cs typeface="+mn-cs"/>
              </a:rPr>
              <a:pPr/>
              <a:t>Amazon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994" name="Text Placeholder 4">
            <a:extLst>
              <a:ext uri="{FF2B5EF4-FFF2-40B4-BE49-F238E27FC236}">
                <a16:creationId xmlns:a16="http://schemas.microsoft.com/office/drawing/2014/main" id="{C9F2E315-66A9-0EC9-1AFD-6C45ACD181FE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7950200" y="5060950"/>
            <a:ext cx="5715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F01C0738-3EE2-4505-B79A-4516277350D1}" type="datetime'G''''''oog''''''''''''''''''''''l''''''''''''''''''''''e'">
              <a:rPr lang="en-US" altLang="en-US" sz="1400" smtClean="0">
                <a:cs typeface="+mn-cs"/>
              </a:rPr>
              <a:pPr/>
              <a:t>Google</a:t>
            </a:fld>
            <a:endParaRPr lang="zh-CN" altLang="en-US" sz="1400" dirty="0">
              <a:cs typeface="+mn-cs"/>
            </a:endParaRPr>
          </a:p>
        </p:txBody>
      </p:sp>
      <p:sp>
        <p:nvSpPr>
          <p:cNvPr id="995" name="Text Placeholder 4">
            <a:extLst>
              <a:ext uri="{FF2B5EF4-FFF2-40B4-BE49-F238E27FC236}">
                <a16:creationId xmlns:a16="http://schemas.microsoft.com/office/drawing/2014/main" id="{E9F40228-5429-4545-FCDD-4FFE85605CF2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8894763" y="3173413"/>
            <a:ext cx="393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3685E308-D38A-491F-9826-5B717361118F}" type="datetime'M''''''''''''''''''''''''''''''e''''''''''''''ta'">
              <a:rPr lang="en-US" altLang="en-US" sz="1400" smtClean="0">
                <a:cs typeface="+mn-cs"/>
              </a:rPr>
              <a:pPr/>
              <a:t>Meta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18" name="文本框 1017">
            <a:extLst>
              <a:ext uri="{FF2B5EF4-FFF2-40B4-BE49-F238E27FC236}">
                <a16:creationId xmlns:a16="http://schemas.microsoft.com/office/drawing/2014/main" id="{8073F76C-E6A4-0018-4D76-8F318BFCE52A}"/>
              </a:ext>
            </a:extLst>
          </p:cNvPr>
          <p:cNvSpPr txBox="1"/>
          <p:nvPr/>
        </p:nvSpPr>
        <p:spPr>
          <a:xfrm>
            <a:off x="8791151" y="2943226"/>
            <a:ext cx="299190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0052D9"/>
                </a:solidFill>
                <a:latin typeface="PingFang SC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100-300k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units</a:t>
            </a:r>
          </a:p>
        </p:txBody>
      </p:sp>
      <p:sp>
        <p:nvSpPr>
          <p:cNvPr id="1022" name="文本框 1021">
            <a:extLst>
              <a:ext uri="{FF2B5EF4-FFF2-40B4-BE49-F238E27FC236}">
                <a16:creationId xmlns:a16="http://schemas.microsoft.com/office/drawing/2014/main" id="{BAF251EB-D043-0852-4E82-8EAEBBF6E444}"/>
              </a:ext>
            </a:extLst>
          </p:cNvPr>
          <p:cNvSpPr txBox="1"/>
          <p:nvPr/>
        </p:nvSpPr>
        <p:spPr>
          <a:xfrm>
            <a:off x="10474431" y="3747156"/>
            <a:ext cx="299190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0052D9"/>
                </a:solidFill>
                <a:latin typeface="PingFang SC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1400-1500k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units</a:t>
            </a:r>
          </a:p>
        </p:txBody>
      </p:sp>
      <p:sp>
        <p:nvSpPr>
          <p:cNvPr id="1023" name="文本框 1022">
            <a:extLst>
              <a:ext uri="{FF2B5EF4-FFF2-40B4-BE49-F238E27FC236}">
                <a16:creationId xmlns:a16="http://schemas.microsoft.com/office/drawing/2014/main" id="{E11EB400-8654-69BA-2A6A-22A13588DD25}"/>
              </a:ext>
            </a:extLst>
          </p:cNvPr>
          <p:cNvSpPr txBox="1"/>
          <p:nvPr/>
        </p:nvSpPr>
        <p:spPr>
          <a:xfrm>
            <a:off x="7531100" y="5216960"/>
            <a:ext cx="299190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0052D9"/>
                </a:solidFill>
                <a:latin typeface="PingFang SC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1500-2000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units</a:t>
            </a:r>
          </a:p>
        </p:txBody>
      </p:sp>
    </p:spTree>
    <p:extLst>
      <p:ext uri="{BB962C8B-B14F-4D97-AF65-F5344CB8AC3E}">
        <p14:creationId xmlns:p14="http://schemas.microsoft.com/office/powerpoint/2010/main" val="1667616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D8D8-7C1A-0348-DAD6-EBCFA7A0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1D8489-94F6-87DD-8224-C8747CE674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63200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8" imgW="401" imgH="401" progId="TCLayout.ActiveDocument.1">
                  <p:embed/>
                </p:oleObj>
              </mc:Choice>
              <mc:Fallback>
                <p:oleObj name="think-cell 幻灯片" r:id="rId48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E37C2-7C71-A419-BAAE-6D2D2B4FA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1F44BCD-E96A-EC37-D488-0C77B9DB4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" y="172212"/>
            <a:ext cx="10751185" cy="731520"/>
          </a:xfrm>
        </p:spPr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Why Broadcom bets on CPO: aligning with HPC’s in-house ASIC trend + network support for ecosystem positioning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A5B5CC-A4A3-CBEA-E2B8-2D34DA9346AD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Semiconductor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cxnSp>
        <p:nvCxnSpPr>
          <p:cNvPr id="814" name="直接连接符 813">
            <a:extLst>
              <a:ext uri="{FF2B5EF4-FFF2-40B4-BE49-F238E27FC236}">
                <a16:creationId xmlns:a16="http://schemas.microsoft.com/office/drawing/2014/main" id="{6BA333D5-F8C5-5BA4-EE96-FE67AB471FD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8002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7" name="直接连接符 906">
            <a:extLst>
              <a:ext uri="{FF2B5EF4-FFF2-40B4-BE49-F238E27FC236}">
                <a16:creationId xmlns:a16="http://schemas.microsoft.com/office/drawing/2014/main" id="{8791C4A9-CA1B-6B05-53E0-9033156CFA8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10934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8" name="直接连接符 817">
            <a:extLst>
              <a:ext uri="{FF2B5EF4-FFF2-40B4-BE49-F238E27FC236}">
                <a16:creationId xmlns:a16="http://schemas.microsoft.com/office/drawing/2014/main" id="{587F34D2-B35A-0BDC-1812-7DB808755EC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1211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6" name="直接连接符 825">
            <a:extLst>
              <a:ext uri="{FF2B5EF4-FFF2-40B4-BE49-F238E27FC236}">
                <a16:creationId xmlns:a16="http://schemas.microsoft.com/office/drawing/2014/main" id="{629AA187-0606-0262-954C-18398BDA529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7725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2" name="直接连接符 821">
            <a:extLst>
              <a:ext uri="{FF2B5EF4-FFF2-40B4-BE49-F238E27FC236}">
                <a16:creationId xmlns:a16="http://schemas.microsoft.com/office/drawing/2014/main" id="{53FB589F-DF18-8761-9D0F-F255734A661D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44366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7" name="Chart 3">
            <a:extLst>
              <a:ext uri="{FF2B5EF4-FFF2-40B4-BE49-F238E27FC236}">
                <a16:creationId xmlns:a16="http://schemas.microsoft.com/office/drawing/2014/main" id="{5B981BC7-9560-7465-B7E9-3FBD863794A5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841240008"/>
              </p:ext>
            </p:extLst>
          </p:nvPr>
        </p:nvGraphicFramePr>
        <p:xfrm>
          <a:off x="1057275" y="2520950"/>
          <a:ext cx="10118725" cy="319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0"/>
          </a:graphicData>
        </a:graphic>
      </p:graphicFrame>
      <p:sp>
        <p:nvSpPr>
          <p:cNvPr id="801" name="Text Placeholder 4">
            <a:extLst>
              <a:ext uri="{FF2B5EF4-FFF2-40B4-BE49-F238E27FC236}">
                <a16:creationId xmlns:a16="http://schemas.microsoft.com/office/drawing/2014/main" id="{D626AE86-D9C6-16DD-707D-7EE55D3A3B6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227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4146F4F-47BE-4702-B85B-421FE5EF85BD}" type="datetime'2''''''''''''''''''''3'''''''''">
              <a:rPr lang="en-US" altLang="en-US" sz="1400" smtClean="0">
                <a:cs typeface="+mn-cs"/>
              </a:rPr>
              <a:pPr/>
              <a:t>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5" name="Text Placeholder 4">
            <a:extLst>
              <a:ext uri="{FF2B5EF4-FFF2-40B4-BE49-F238E27FC236}">
                <a16:creationId xmlns:a16="http://schemas.microsoft.com/office/drawing/2014/main" id="{5DD3198D-87DC-2C94-BCF8-11371B22036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6345238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9CB6826-960E-4612-8416-AEE121A086FC}" type="datetime'''''''''''''''''''''''''''2''''4'''">
              <a:rPr lang="en-US" altLang="en-US" sz="1400" smtClean="0">
                <a:cs typeface="+mn-cs"/>
              </a:rPr>
              <a:pPr/>
              <a:t>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9" name="Text Placeholder 4">
            <a:extLst>
              <a:ext uri="{FF2B5EF4-FFF2-40B4-BE49-F238E27FC236}">
                <a16:creationId xmlns:a16="http://schemas.microsoft.com/office/drawing/2014/main" id="{C435B255-D5AC-9F6F-133A-4D19749F6E0A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86741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04D0655-3735-4378-A611-64403D9586AD}" type="datetime'''''''2''''''''''''''''''''''''''''5'''''''''''''''''">
              <a:rPr lang="en-US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906" name="Text Placeholder 4">
            <a:extLst>
              <a:ext uri="{FF2B5EF4-FFF2-40B4-BE49-F238E27FC236}">
                <a16:creationId xmlns:a16="http://schemas.microsoft.com/office/drawing/2014/main" id="{163F13E7-F076-1D8F-E154-3C211098B54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109950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5F0CF3-16E9-4197-AEE5-CF017D0A7ADA}" type="datetime'''''''''''''''''2''''''''''6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z="1400" dirty="0">
              <a:cs typeface="+mn-cs"/>
            </a:endParaRPr>
          </a:p>
        </p:txBody>
      </p:sp>
      <p:sp>
        <p:nvSpPr>
          <p:cNvPr id="797" name="Text Placeholder 4">
            <a:extLst>
              <a:ext uri="{FF2B5EF4-FFF2-40B4-BE49-F238E27FC236}">
                <a16:creationId xmlns:a16="http://schemas.microsoft.com/office/drawing/2014/main" id="{94687F30-9527-A256-205D-14536713EE21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7018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B89ED49-E183-4C30-8FFF-D92644A6C394}" type="datetime'''''''''''''''''2''''''2'''">
              <a:rPr lang="en-US" altLang="en-US" sz="1400" smtClean="0">
                <a:cs typeface="+mn-cs"/>
              </a:rPr>
              <a:pPr/>
              <a:t>22</a:t>
            </a:fld>
            <a:endParaRPr lang="zh-CN" altLang="en-US" sz="1400" dirty="0">
              <a:cs typeface="+mn-cs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901A1F97-F6C5-E17F-E1FD-A9BC2ED8276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8821738" y="3189288"/>
            <a:ext cx="392113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直接连接符 915">
            <a:extLst>
              <a:ext uri="{FF2B5EF4-FFF2-40B4-BE49-F238E27FC236}">
                <a16:creationId xmlns:a16="http://schemas.microsoft.com/office/drawing/2014/main" id="{A95F7A86-D382-BC07-B263-10F919EEC962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4170363" y="5413375"/>
            <a:ext cx="47625" cy="31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2523A816-CF35-DCF4-A607-3C74BF7DAB4F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3906838" y="5461000"/>
            <a:ext cx="16510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2" name="直接连接符 961">
            <a:extLst>
              <a:ext uri="{FF2B5EF4-FFF2-40B4-BE49-F238E27FC236}">
                <a16:creationId xmlns:a16="http://schemas.microsoft.com/office/drawing/2014/main" id="{9B74301A-A0CA-E78E-1C2A-F9368306858E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 bwMode="auto">
          <a:xfrm flipH="1">
            <a:off x="8821738" y="3106738"/>
            <a:ext cx="417513" cy="762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99C790-AD75-89F6-F4A2-5A8820148D18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266237" y="5984875"/>
            <a:ext cx="19256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Year of Mass Production</a:t>
            </a:r>
            <a:endParaRPr lang="zh-CN" altLang="en-US" sz="1400" dirty="0"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2418442-AFCC-0A99-65D0-6A124D2C1CAA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923925" y="2265363"/>
            <a:ext cx="1754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9822A73-411B-476A-AEEB-C0B1CC742D35}" type="datetime'BF''''16/''''FP1''''''''6'''' ''''''(T''''F''''''LOP''S'')'">
              <a:rPr lang="en-US" altLang="en-US" sz="1400" smtClean="0">
                <a:cs typeface="+mn-cs"/>
              </a:rPr>
              <a:pPr/>
              <a:t>BF16/FP16 (TFLOPS)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49E57FC1-7408-E267-799D-DA97F5ACAE17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9213850" y="3097213"/>
            <a:ext cx="517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7DBA623-2D57-45ED-9761-80715C6B107D}" type="datetime'''''''G''''''''''''''''''B''2''''''''''''''0''''''''''0'">
              <a:rPr lang="en-US" altLang="en-US" sz="1200" smtClean="0">
                <a:cs typeface="+mn-cs"/>
              </a:rPr>
              <a:pPr/>
              <a:t>GB200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790E4437-7606-BA43-E6C9-2178BD74377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6508750" y="4400550"/>
            <a:ext cx="398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89CF6F8-3DFE-41A7-819D-604BB69C1970}" type="datetime'''''''''''''''''''''''''''''''''''''B''''''''''''2''''0''0'">
              <a:rPr lang="en-US" altLang="en-US" sz="1200" smtClean="0">
                <a:cs typeface="+mn-cs"/>
              </a:rPr>
              <a:pPr/>
              <a:t>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476" name="Text Placeholder 4">
            <a:extLst>
              <a:ext uri="{FF2B5EF4-FFF2-40B4-BE49-F238E27FC236}">
                <a16:creationId xmlns:a16="http://schemas.microsoft.com/office/drawing/2014/main" id="{DC9215FF-21FE-361E-2AA1-1A92B564316A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4187825" y="4506913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256EE73-22E1-4F10-9011-73DDDDBB05A6}" type="datetime'H''20''''''''''''''0''-''''''''''''''''''''S''''XM'">
              <a:rPr lang="en-US" altLang="en-US" sz="1200" smtClean="0">
                <a:cs typeface="+mn-cs"/>
              </a:rPr>
              <a:pPr/>
              <a:t>H200-SXM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481" name="Text Placeholder 4">
            <a:extLst>
              <a:ext uri="{FF2B5EF4-FFF2-40B4-BE49-F238E27FC236}">
                <a16:creationId xmlns:a16="http://schemas.microsoft.com/office/drawing/2014/main" id="{7FE1F7C9-EA98-ECC4-A096-C3DA78E511F8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1865313" y="450215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4E2C4B8-52BE-4587-B4DA-F237F6C4335D}" type="datetime'''H''''''1''''''''0''''''''''''''''''''''''0-''''''''SXM'''''">
              <a:rPr lang="en-US" altLang="en-US" sz="1200" smtClean="0">
                <a:cs typeface="+mn-cs"/>
              </a:rPr>
              <a:pPr/>
              <a:t>H100-SXM</a:t>
            </a:fld>
            <a:r>
              <a:rPr lang="en-US" altLang="en-US" sz="1200">
                <a:cs typeface="+mn-cs"/>
              </a:rPr>
              <a:t>1</a:t>
            </a:r>
            <a:endParaRPr lang="zh-CN" altLang="en-US" sz="1200" dirty="0">
              <a:cs typeface="+mn-cs"/>
            </a:endParaRP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3899AD3B-E689-EA49-2D3C-E5E143E066CE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1865313" y="5321300"/>
            <a:ext cx="779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E76C85E-D886-4470-BC5E-E5213013439C}" type="datetime'A8''''''''''''''''0''''''0-S''''''X''M'''''''''">
              <a:rPr lang="en-US" altLang="en-US" sz="1200" smtClean="0">
                <a:cs typeface="+mn-cs"/>
              </a:rPr>
              <a:pPr/>
              <a:t>A800-SXM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719" name="Text Placeholder 4">
            <a:extLst>
              <a:ext uri="{FF2B5EF4-FFF2-40B4-BE49-F238E27FC236}">
                <a16:creationId xmlns:a16="http://schemas.microsoft.com/office/drawing/2014/main" id="{ED456583-EFC9-2941-1E18-4E0778B1656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6508750" y="49958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1995ECD-5DBD-46B8-B0C9-5C5973EDBC8C}" type="datetime'G''''''o''''''''''o''''''''gl''''e-''TPU'''' v6''''''''''e'''">
              <a:rPr lang="en-US" altLang="en-US" sz="1200" smtClean="0">
                <a:cs typeface="+mn-cs"/>
              </a:rPr>
              <a:pPr/>
              <a:t>Google-TPU v6e</a:t>
            </a:fld>
            <a:endParaRPr lang="zh-CN" altLang="en-US" sz="1200" dirty="0">
              <a:cs typeface="+mn-cs"/>
            </a:endParaRPr>
          </a:p>
        </p:txBody>
      </p:sp>
      <p:sp>
        <p:nvSpPr>
          <p:cNvPr id="721" name="Text Placeholder 4">
            <a:extLst>
              <a:ext uri="{FF2B5EF4-FFF2-40B4-BE49-F238E27FC236}">
                <a16:creationId xmlns:a16="http://schemas.microsoft.com/office/drawing/2014/main" id="{0BEF2BF8-A636-222B-2C00-DBE94E8EB1F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4217988" y="5276850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B09CC43-4DEE-4AC8-9A62-42BDFB0C872A}" type="datetime'''G''o''''o''g''''''le-''''''''TP''''''''U'''''' v''''5p'''">
              <a:rPr lang="en-US" altLang="en-US" sz="1200" smtClean="0">
                <a:effectLst/>
                <a:cs typeface="+mn-cs"/>
              </a:rPr>
              <a:pPr/>
              <a:t>Google-TPU v5p</a:t>
            </a:fld>
            <a:endParaRPr lang="zh-CN" altLang="en-US" sz="1200" dirty="0">
              <a:cs typeface="+mn-cs"/>
            </a:endParaRPr>
          </a:p>
        </p:txBody>
      </p:sp>
      <p:sp>
        <p:nvSpPr>
          <p:cNvPr id="903" name="Text Placeholder 4">
            <a:extLst>
              <a:ext uri="{FF2B5EF4-FFF2-40B4-BE49-F238E27FC236}">
                <a16:creationId xmlns:a16="http://schemas.microsoft.com/office/drawing/2014/main" id="{C6C79884-1157-B94F-B143-3E155E753D56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9955213" y="4813300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3C44BA8-37EB-4785-B47D-491B3BF827B7}" type="datetime'''''''''A''WS''''''''-T''r''a''i''n''''''''u''m''3'''''">
              <a:rPr lang="en-US" altLang="en-US" sz="1200" smtClean="0">
                <a:cs typeface="+mn-cs"/>
              </a:rPr>
              <a:pPr/>
              <a:t>AWS-Trainum3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6" name="Text Placeholder 4">
            <a:extLst>
              <a:ext uri="{FF2B5EF4-FFF2-40B4-BE49-F238E27FC236}">
                <a16:creationId xmlns:a16="http://schemas.microsoft.com/office/drawing/2014/main" id="{4CB33C7E-58F2-87C5-A030-B355C3C094FF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4148138" y="5089525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75193A0-1B9C-458B-9725-9E41D0E322EA}" type="datetime'''A''W''''''S''''''''''-T''''''''''''r''''an''''iu''m2'''">
              <a:rPr lang="en-US" altLang="en-US" sz="1200" smtClean="0">
                <a:cs typeface="+mn-cs"/>
              </a:rPr>
              <a:pPr/>
              <a:t>AWS-Tranium2</a:t>
            </a:fld>
            <a:endParaRPr lang="zh-CN" altLang="en-US" sz="1200" dirty="0">
              <a:cs typeface="+mn-cs"/>
            </a:endParaRPr>
          </a:p>
        </p:txBody>
      </p:sp>
      <p:sp useBgFill="1">
        <p:nvSpPr>
          <p:cNvPr id="777" name="Text Placeholder 4">
            <a:extLst>
              <a:ext uri="{FF2B5EF4-FFF2-40B4-BE49-F238E27FC236}">
                <a16:creationId xmlns:a16="http://schemas.microsoft.com/office/drawing/2014/main" id="{E98B94FD-306F-3CF1-4E96-49A821D92747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5753100" y="5287963"/>
            <a:ext cx="1019175" cy="182563"/>
          </a:xfrm>
          <a:prstGeom prst="rect">
            <a:avLst/>
          </a:prstGeom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BD81C13-0B36-4EE4-AD3B-BAC462CE44E9}" type="datetime'''''''''M''''e''''''ta''-''M''''TI''A ''''V''2'''''''''''">
              <a:rPr lang="en-US" altLang="en-US" sz="1200" smtClean="0">
                <a:cs typeface="+mn-cs"/>
              </a:rPr>
              <a:pPr/>
              <a:t>Meta-MTIA V2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8" name="Text Placeholder 4">
            <a:extLst>
              <a:ext uri="{FF2B5EF4-FFF2-40B4-BE49-F238E27FC236}">
                <a16:creationId xmlns:a16="http://schemas.microsoft.com/office/drawing/2014/main" id="{5A109F75-CD81-6FBD-10C4-46D24855A279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2887663" y="5305425"/>
            <a:ext cx="10191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18FAF74-62C6-4C98-80A5-D0BF6C5C2F3D}" type="datetime'Meta-''''''''''''M''T''''''I''A'''''''' ''''V''''1'''">
              <a:rPr lang="en-US" altLang="en-US" sz="1200" smtClean="0">
                <a:cs typeface="+mn-cs"/>
              </a:rPr>
              <a:pPr/>
              <a:t>Meta-MTIA V1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0" name="Text Placeholder 4">
            <a:extLst>
              <a:ext uri="{FF2B5EF4-FFF2-40B4-BE49-F238E27FC236}">
                <a16:creationId xmlns:a16="http://schemas.microsoft.com/office/drawing/2014/main" id="{D886B005-FDCB-2966-54C3-3A32B664BFDB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6508750" y="4208463"/>
            <a:ext cx="931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BD21EBC-5A05-484F-B854-FF6FB66FEE31}" type="datetime'''''A''''MD-M''''''''''''''''I3''25''''x'''''''''''''">
              <a:rPr lang="en-US" altLang="en-US" sz="1200" smtClean="0">
                <a:cs typeface="+mn-cs"/>
              </a:rPr>
              <a:pPr/>
              <a:t>AMD-MI325x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1" name="Text Placeholder 4">
            <a:extLst>
              <a:ext uri="{FF2B5EF4-FFF2-40B4-BE49-F238E27FC236}">
                <a16:creationId xmlns:a16="http://schemas.microsoft.com/office/drawing/2014/main" id="{C414824F-1196-F93E-3563-5DEC24650A92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9239250" y="2928938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07B8667-5208-40F9-AC86-FD59038E6E0D}" type="datetime'''''''AM''''D''-M''''''''I''''''''''''''''3''''''''5''5X'''">
              <a:rPr lang="en-US" altLang="en-US" sz="1200" smtClean="0">
                <a:cs typeface="+mn-cs"/>
              </a:rPr>
              <a:pPr/>
              <a:t>AMD-MI355X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2" name="Text Placeholder 4">
            <a:extLst>
              <a:ext uri="{FF2B5EF4-FFF2-40B4-BE49-F238E27FC236}">
                <a16:creationId xmlns:a16="http://schemas.microsoft.com/office/drawing/2014/main" id="{5F465B63-F343-8F8D-DF94-A4E74C0D81CB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8837613" y="3286125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9A01359-1439-4648-A683-72B279A68492}" type="datetime'AMD-''''''M''I3''''5''''''''''''''''0''X'''''''''''''''''">
              <a:rPr lang="en-US" altLang="en-US" sz="1200" smtClean="0">
                <a:cs typeface="+mn-cs"/>
              </a:rPr>
              <a:pPr/>
              <a:t>AMD-MI350X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3" name="Text Placeholder 4">
            <a:extLst>
              <a:ext uri="{FF2B5EF4-FFF2-40B4-BE49-F238E27FC236}">
                <a16:creationId xmlns:a16="http://schemas.microsoft.com/office/drawing/2014/main" id="{35535685-F5BB-DCBC-EB44-F38C5B472CB6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5507038" y="4579938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DE3590-D6D1-434B-B988-960D47C45346}" type="datetime'''''''''''''I''n''''t''el''''''-''Ga''''u''di3'''">
              <a:rPr lang="en-US" altLang="en-US" sz="1200" smtClean="0">
                <a:cs typeface="+mn-cs"/>
              </a:rPr>
              <a:pPr/>
              <a:t>Intel-Gaudi3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4" name="Text Placeholder 4">
            <a:extLst>
              <a:ext uri="{FF2B5EF4-FFF2-40B4-BE49-F238E27FC236}">
                <a16:creationId xmlns:a16="http://schemas.microsoft.com/office/drawing/2014/main" id="{2123150F-E7D7-2441-974E-669E757F4517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1865313" y="5121275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AC0DD1A-8534-4EBE-AB0F-7228FE072712}" type="datetime'''I''''nt''e''''''l''''-''G''''a''''''''''''''u''''''''d''i2'">
              <a:rPr lang="en-US" altLang="en-US" sz="1200" smtClean="0">
                <a:cs typeface="+mn-cs"/>
              </a:rPr>
              <a:pPr/>
              <a:t>Intel-Gaudi2</a:t>
            </a:fld>
            <a:endParaRPr lang="zh-CN" altLang="en-US" sz="1200" dirty="0">
              <a:cs typeface="+mn-cs"/>
            </a:endParaRPr>
          </a:p>
        </p:txBody>
      </p:sp>
      <p:sp>
        <p:nvSpPr>
          <p:cNvPr id="896" name="Text Placeholder 4">
            <a:extLst>
              <a:ext uri="{FF2B5EF4-FFF2-40B4-BE49-F238E27FC236}">
                <a16:creationId xmlns:a16="http://schemas.microsoft.com/office/drawing/2014/main" id="{780EE3A0-16BB-1165-434C-1AD61F92C97E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8837613" y="5049838"/>
            <a:ext cx="955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200" dirty="0">
                <a:cs typeface="+mn-cs"/>
              </a:rPr>
              <a:t>Ascend 910C</a:t>
            </a:r>
            <a:endParaRPr lang="zh-CN" altLang="en-US" sz="1200" dirty="0">
              <a:cs typeface="+mn-cs"/>
            </a:endParaRPr>
          </a:p>
        </p:txBody>
      </p:sp>
      <p:sp useBgFill="1">
        <p:nvSpPr>
          <p:cNvPr id="897" name="Text Placeholder 4">
            <a:extLst>
              <a:ext uri="{FF2B5EF4-FFF2-40B4-BE49-F238E27FC236}">
                <a16:creationId xmlns:a16="http://schemas.microsoft.com/office/drawing/2014/main" id="{449AC1F5-9358-17AF-2879-668579C26DCE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gray">
          <a:xfrm>
            <a:off x="3187699" y="5135563"/>
            <a:ext cx="947738" cy="182563"/>
          </a:xfrm>
          <a:prstGeom prst="rect">
            <a:avLst/>
          </a:prstGeom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cs typeface="+mn-cs"/>
              </a:rPr>
              <a:t>Ascend 910B</a:t>
            </a:r>
            <a:endParaRPr lang="zh-CN" altLang="en-US" sz="1200" dirty="0">
              <a:cs typeface="+mn-cs"/>
            </a:endParaRP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10421857-0C81-D96D-D2F6-B17991258009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gray">
          <a:xfrm>
            <a:off x="8837613" y="4351338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F0AB4BA-C576-4D40-9D80-775FEA499703}" type="datetime'''Go''o''''''gl''''''''e-''​''''''''''T''P''''''''U v7p​'''''">
              <a:rPr lang="en-US" altLang="en-US" sz="1200" smtClean="0">
                <a:cs typeface="+mn-cs"/>
              </a:rPr>
              <a:pPr/>
              <a:t>Google-​TPU v7p​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868" name="椭圆 867">
            <a:extLst>
              <a:ext uri="{FF2B5EF4-FFF2-40B4-BE49-F238E27FC236}">
                <a16:creationId xmlns:a16="http://schemas.microsoft.com/office/drawing/2014/main" id="{0CD2D7AC-C7C1-0F0A-3C7B-D26B4ADA8C84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2414588" y="6049963"/>
            <a:ext cx="88900" cy="88900"/>
          </a:xfrm>
          <a:prstGeom prst="ellipse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9" name="椭圆 868">
            <a:extLst>
              <a:ext uri="{FF2B5EF4-FFF2-40B4-BE49-F238E27FC236}">
                <a16:creationId xmlns:a16="http://schemas.microsoft.com/office/drawing/2014/main" id="{D89B3136-58F2-FF2B-79F2-5C256BF54228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3203575" y="6049963"/>
            <a:ext cx="88900" cy="88900"/>
          </a:xfrm>
          <a:prstGeom prst="ellipse">
            <a:avLst/>
          </a:prstGeom>
          <a:solidFill>
            <a:srgbClr val="0052D9"/>
          </a:solidFill>
          <a:ln w="9525" cap="flat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0" name="椭圆 869">
            <a:extLst>
              <a:ext uri="{FF2B5EF4-FFF2-40B4-BE49-F238E27FC236}">
                <a16:creationId xmlns:a16="http://schemas.microsoft.com/office/drawing/2014/main" id="{405800EB-BD20-C600-40A5-8FA6BF6750EC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4408488" y="6049963"/>
            <a:ext cx="88900" cy="88900"/>
          </a:xfrm>
          <a:prstGeom prst="ellipse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5" name="椭圆 904">
            <a:extLst>
              <a:ext uri="{FF2B5EF4-FFF2-40B4-BE49-F238E27FC236}">
                <a16:creationId xmlns:a16="http://schemas.microsoft.com/office/drawing/2014/main" id="{55C0D5DC-0681-9DAC-812B-469FE2B6311B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7362825" y="6049963"/>
            <a:ext cx="88900" cy="88900"/>
          </a:xfrm>
          <a:prstGeom prst="ellipse">
            <a:avLst/>
          </a:prstGeom>
          <a:solidFill>
            <a:srgbClr val="C30C3E"/>
          </a:solidFill>
          <a:ln w="9525" cap="flat" cmpd="sng" algn="ctr">
            <a:solidFill>
              <a:srgbClr val="C30C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6" name="Text Placeholder 4">
            <a:extLst>
              <a:ext uri="{FF2B5EF4-FFF2-40B4-BE49-F238E27FC236}">
                <a16:creationId xmlns:a16="http://schemas.microsoft.com/office/drawing/2014/main" id="{C5CC4AEB-6B3A-BF36-82D4-C1C2833D4922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2635250" y="599598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448F5BC-ABAF-4C21-8BE7-72C186D7AD6D}" type="datetime'''''''''''G''''''P''''''''''''''''''''''U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7" name="Text Placeholder 4">
            <a:extLst>
              <a:ext uri="{FF2B5EF4-FFF2-40B4-BE49-F238E27FC236}">
                <a16:creationId xmlns:a16="http://schemas.microsoft.com/office/drawing/2014/main" id="{E1CB842C-FA8D-C574-ECDC-1BA7C694D794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3424238" y="5995988"/>
            <a:ext cx="801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273C0FD-FFEF-43A6-A7F8-49925299CAA2}" type="datetime'''''A''''''SI''''''''''''''C/x''''''PU'''''''''">
              <a:rPr lang="en-US" altLang="en-US" sz="1400" smtClean="0">
                <a:cs typeface="+mn-cs"/>
              </a:rPr>
              <a:pPr/>
              <a:t>ASIC/xPU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4" name="Text Placeholder 4">
            <a:extLst>
              <a:ext uri="{FF2B5EF4-FFF2-40B4-BE49-F238E27FC236}">
                <a16:creationId xmlns:a16="http://schemas.microsoft.com/office/drawing/2014/main" id="{38F9F285-AD6F-772B-DDB8-4022EAA23921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auto">
          <a:xfrm>
            <a:off x="4629150" y="5995988"/>
            <a:ext cx="25511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General-Purpose Compute Card</a:t>
            </a:r>
            <a:endParaRPr lang="zh-CN" altLang="en-US" sz="1400" dirty="0">
              <a:cs typeface="+mn-cs"/>
            </a:endParaRPr>
          </a:p>
        </p:txBody>
      </p:sp>
      <p:sp>
        <p:nvSpPr>
          <p:cNvPr id="902" name="Text Placeholder 4">
            <a:extLst>
              <a:ext uri="{FF2B5EF4-FFF2-40B4-BE49-F238E27FC236}">
                <a16:creationId xmlns:a16="http://schemas.microsoft.com/office/drawing/2014/main" id="{48464A32-A818-AD2C-AB46-A951EF4A860B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 bwMode="auto">
          <a:xfrm>
            <a:off x="7583488" y="5995988"/>
            <a:ext cx="592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Huawei</a:t>
            </a:r>
            <a:endParaRPr lang="zh-CN" altLang="en-US" sz="1400" dirty="0">
              <a:cs typeface="+mn-cs"/>
            </a:endParaRPr>
          </a:p>
        </p:txBody>
      </p:sp>
      <p:sp>
        <p:nvSpPr>
          <p:cNvPr id="912" name="文本框 911">
            <a:extLst>
              <a:ext uri="{FF2B5EF4-FFF2-40B4-BE49-F238E27FC236}">
                <a16:creationId xmlns:a16="http://schemas.microsoft.com/office/drawing/2014/main" id="{9EE6D535-F7E8-4A81-D9BB-4787F239E06B}"/>
              </a:ext>
            </a:extLst>
          </p:cNvPr>
          <p:cNvSpPr txBox="1"/>
          <p:nvPr/>
        </p:nvSpPr>
        <p:spPr>
          <a:xfrm>
            <a:off x="7266006" y="4644501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42%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55" name="文本框 954">
            <a:extLst>
              <a:ext uri="{FF2B5EF4-FFF2-40B4-BE49-F238E27FC236}">
                <a16:creationId xmlns:a16="http://schemas.microsoft.com/office/drawing/2014/main" id="{95BB4DFD-9867-151B-8C07-F9DDFADBF003}"/>
              </a:ext>
            </a:extLst>
          </p:cNvPr>
          <p:cNvSpPr txBox="1"/>
          <p:nvPr/>
        </p:nvSpPr>
        <p:spPr>
          <a:xfrm>
            <a:off x="9802814" y="3677256"/>
            <a:ext cx="788988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46%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85" name="文本框 984">
            <a:extLst>
              <a:ext uri="{FF2B5EF4-FFF2-40B4-BE49-F238E27FC236}">
                <a16:creationId xmlns:a16="http://schemas.microsoft.com/office/drawing/2014/main" id="{1FAAC649-19A7-195E-1B37-570470E4DFF5}"/>
              </a:ext>
            </a:extLst>
          </p:cNvPr>
          <p:cNvSpPr txBox="1"/>
          <p:nvPr/>
        </p:nvSpPr>
        <p:spPr>
          <a:xfrm>
            <a:off x="4942682" y="4732338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34%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C82F18-D95D-4F0C-F567-7C17BD8222E7}"/>
              </a:ext>
            </a:extLst>
          </p:cNvPr>
          <p:cNvSpPr/>
          <p:nvPr/>
        </p:nvSpPr>
        <p:spPr>
          <a:xfrm>
            <a:off x="711199" y="995013"/>
            <a:ext cx="10751185" cy="998887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② 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Weaker per-card performance, requiring optical interconnect &amp; CPO when scaling.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Top‑end ASICs deliver 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~40%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of same‑gen GPU throughput​ (similar to domestic scale-up logic);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Cloud ASICs could drive ​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~80% of transceiver market growth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; leaders (e.g., Google, Amazon) are reserving CPO interfaces..</a:t>
            </a:r>
            <a:endParaRPr lang="en-US" altLang="zh-CN" sz="1600" b="1" dirty="0">
              <a:solidFill>
                <a:srgbClr val="0052D9"/>
              </a:solidFill>
              <a:latin typeface="PingFang SC"/>
            </a:endParaRPr>
          </a:p>
        </p:txBody>
      </p:sp>
      <p:sp>
        <p:nvSpPr>
          <p:cNvPr id="970" name="椭圆 969">
            <a:extLst>
              <a:ext uri="{FF2B5EF4-FFF2-40B4-BE49-F238E27FC236}">
                <a16:creationId xmlns:a16="http://schemas.microsoft.com/office/drawing/2014/main" id="{5289E6A9-D493-F31A-9DE2-B6F2E426B6BC}"/>
              </a:ext>
            </a:extLst>
          </p:cNvPr>
          <p:cNvSpPr/>
          <p:nvPr/>
        </p:nvSpPr>
        <p:spPr>
          <a:xfrm rot="922616">
            <a:off x="8579227" y="4328133"/>
            <a:ext cx="2564839" cy="729053"/>
          </a:xfrm>
          <a:prstGeom prst="ellipse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3" name="文本框 972">
            <a:extLst>
              <a:ext uri="{FF2B5EF4-FFF2-40B4-BE49-F238E27FC236}">
                <a16:creationId xmlns:a16="http://schemas.microsoft.com/office/drawing/2014/main" id="{5149B298-0469-865F-021D-44604F556D39}"/>
              </a:ext>
            </a:extLst>
          </p:cNvPr>
          <p:cNvSpPr txBox="1"/>
          <p:nvPr/>
        </p:nvSpPr>
        <p:spPr>
          <a:xfrm>
            <a:off x="8973876" y="4575822"/>
            <a:ext cx="2938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52D9"/>
                </a:solidFill>
              </a:rPr>
              <a:t>Reserving CPO interfaces</a:t>
            </a:r>
            <a:endParaRPr lang="zh-CN" altLang="en-US" sz="1200" dirty="0">
              <a:solidFill>
                <a:srgbClr val="0052D9"/>
              </a:solidFill>
            </a:endParaRPr>
          </a:p>
        </p:txBody>
      </p:sp>
      <p:cxnSp>
        <p:nvCxnSpPr>
          <p:cNvPr id="459" name="连接符: 肘形 458">
            <a:extLst>
              <a:ext uri="{FF2B5EF4-FFF2-40B4-BE49-F238E27FC236}">
                <a16:creationId xmlns:a16="http://schemas.microsoft.com/office/drawing/2014/main" id="{934BFD28-AB0E-CD1F-0D6B-2294C84FEEB4}"/>
              </a:ext>
            </a:extLst>
          </p:cNvPr>
          <p:cNvCxnSpPr>
            <a:cxnSpLocks/>
            <a:stCxn id="776" idx="3"/>
            <a:endCxn id="476" idx="3"/>
          </p:cNvCxnSpPr>
          <p:nvPr/>
        </p:nvCxnSpPr>
        <p:spPr>
          <a:xfrm flipH="1" flipV="1">
            <a:off x="4975225" y="4598195"/>
            <a:ext cx="246063" cy="582612"/>
          </a:xfrm>
          <a:prstGeom prst="bentConnector3">
            <a:avLst>
              <a:gd name="adj1" fmla="val -9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连接符: 肘形 460">
            <a:extLst>
              <a:ext uri="{FF2B5EF4-FFF2-40B4-BE49-F238E27FC236}">
                <a16:creationId xmlns:a16="http://schemas.microsoft.com/office/drawing/2014/main" id="{3115289E-164B-A029-5A83-1A01A334DB5B}"/>
              </a:ext>
            </a:extLst>
          </p:cNvPr>
          <p:cNvCxnSpPr>
            <a:cxnSpLocks/>
            <a:stCxn id="719" idx="3"/>
            <a:endCxn id="87" idx="3"/>
          </p:cNvCxnSpPr>
          <p:nvPr/>
        </p:nvCxnSpPr>
        <p:spPr>
          <a:xfrm flipH="1" flipV="1">
            <a:off x="6907213" y="4491832"/>
            <a:ext cx="777875" cy="595313"/>
          </a:xfrm>
          <a:prstGeom prst="bentConnector3">
            <a:avLst>
              <a:gd name="adj1" fmla="val -29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连接符: 肘形 463">
            <a:extLst>
              <a:ext uri="{FF2B5EF4-FFF2-40B4-BE49-F238E27FC236}">
                <a16:creationId xmlns:a16="http://schemas.microsoft.com/office/drawing/2014/main" id="{66B1B083-F871-06D6-98FF-413CE7EE12A6}"/>
              </a:ext>
            </a:extLst>
          </p:cNvPr>
          <p:cNvCxnSpPr>
            <a:cxnSpLocks/>
            <a:stCxn id="97" idx="3"/>
            <a:endCxn id="86" idx="3"/>
          </p:cNvCxnSpPr>
          <p:nvPr/>
        </p:nvCxnSpPr>
        <p:spPr>
          <a:xfrm flipH="1" flipV="1">
            <a:off x="9731375" y="3188495"/>
            <a:ext cx="282576" cy="1254125"/>
          </a:xfrm>
          <a:prstGeom prst="bentConnector3">
            <a:avLst>
              <a:gd name="adj1" fmla="val -144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733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56692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8EFA6E-A2A4-CA1D-1B52-3BFFCCA39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79D7DC7-C968-E660-FBE4-767DAA80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: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324880" y="6340302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50554" y="872877"/>
            <a:ext cx="11379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Position: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One of the very few global suppliers for automated </a:t>
            </a:r>
            <a:r>
              <a:rPr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/CPO module assembly &amp; test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Prospects: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Unmatched high-precision packaging capability, crucial for CPO era.</a:t>
            </a:r>
            <a:endParaRPr lang="zh-CN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0678657-096D-B78D-191E-F3A961E120A8}"/>
              </a:ext>
            </a:extLst>
          </p:cNvPr>
          <p:cNvSpPr txBox="1"/>
          <p:nvPr/>
        </p:nvSpPr>
        <p:spPr>
          <a:xfrm>
            <a:off x="1734893" y="266604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Acquired 100% by Chinese listed company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Robotechnik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for RMB 1.01bn.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B5CBD8-B142-509A-526A-B947849110E3}"/>
              </a:ext>
            </a:extLst>
          </p:cNvPr>
          <p:cNvSpPr txBox="1"/>
          <p:nvPr/>
        </p:nvSpPr>
        <p:spPr>
          <a:xfrm>
            <a:off x="1740424" y="4603028"/>
            <a:ext cx="23033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Seed-round investment. 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86D9C25-13C6-F2D7-5457-4E1AB9466572}"/>
              </a:ext>
            </a:extLst>
          </p:cNvPr>
          <p:cNvSpPr txBox="1"/>
          <p:nvPr/>
        </p:nvSpPr>
        <p:spPr>
          <a:xfrm>
            <a:off x="1734893" y="5118495"/>
            <a:ext cx="21732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Founded in Germany.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733F027-A8A6-A925-8AD6-9E76BA7DC9A4}"/>
              </a:ext>
            </a:extLst>
          </p:cNvPr>
          <p:cNvCxnSpPr>
            <a:cxnSpLocks/>
          </p:cNvCxnSpPr>
          <p:nvPr/>
        </p:nvCxnSpPr>
        <p:spPr>
          <a:xfrm flipV="1">
            <a:off x="1300497" y="2415935"/>
            <a:ext cx="0" cy="32741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B5D8CDE-AE66-371A-E90F-DA8720FF0DEE}"/>
              </a:ext>
            </a:extLst>
          </p:cNvPr>
          <p:cNvGrpSpPr/>
          <p:nvPr/>
        </p:nvGrpSpPr>
        <p:grpSpPr>
          <a:xfrm>
            <a:off x="485223" y="5132398"/>
            <a:ext cx="919575" cy="338554"/>
            <a:chOff x="1859669" y="5445325"/>
            <a:chExt cx="919575" cy="338554"/>
          </a:xfrm>
        </p:grpSpPr>
        <p:sp>
          <p:nvSpPr>
            <p:cNvPr id="19" name="iconfont-1018-792472">
              <a:extLst>
                <a:ext uri="{FF2B5EF4-FFF2-40B4-BE49-F238E27FC236}">
                  <a16:creationId xmlns:a16="http://schemas.microsoft.com/office/drawing/2014/main" id="{EA814B08-CD52-C99A-FC8F-44F9D9CF41C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13A64F3-F6F8-C5E7-1730-DC0120AEDA39}"/>
                </a:ext>
              </a:extLst>
            </p:cNvPr>
            <p:cNvSpPr txBox="1"/>
            <p:nvPr/>
          </p:nvSpPr>
          <p:spPr>
            <a:xfrm>
              <a:off x="1859669" y="5445325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2001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F82009A-1C4D-7B9A-C8FC-7ED364E2601A}"/>
              </a:ext>
            </a:extLst>
          </p:cNvPr>
          <p:cNvGrpSpPr/>
          <p:nvPr/>
        </p:nvGrpSpPr>
        <p:grpSpPr>
          <a:xfrm>
            <a:off x="471097" y="4606886"/>
            <a:ext cx="940990" cy="338554"/>
            <a:chOff x="1838254" y="5428614"/>
            <a:chExt cx="940990" cy="338554"/>
          </a:xfrm>
        </p:grpSpPr>
        <p:sp>
          <p:nvSpPr>
            <p:cNvPr id="23" name="iconfont-1018-792472">
              <a:extLst>
                <a:ext uri="{FF2B5EF4-FFF2-40B4-BE49-F238E27FC236}">
                  <a16:creationId xmlns:a16="http://schemas.microsoft.com/office/drawing/2014/main" id="{519F1AE7-5299-0A4E-7D76-85AA281803A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BD83B27-AFD4-55EA-5D0E-5F07B18765DA}"/>
                </a:ext>
              </a:extLst>
            </p:cNvPr>
            <p:cNvSpPr txBox="1"/>
            <p:nvPr/>
          </p:nvSpPr>
          <p:spPr>
            <a:xfrm>
              <a:off x="1838254" y="5428614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2002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1114B66-5026-3686-F582-3B3346627BEE}"/>
              </a:ext>
            </a:extLst>
          </p:cNvPr>
          <p:cNvGrpSpPr/>
          <p:nvPr/>
        </p:nvGrpSpPr>
        <p:grpSpPr>
          <a:xfrm>
            <a:off x="454252" y="2676978"/>
            <a:ext cx="950546" cy="338554"/>
            <a:chOff x="1828698" y="5427390"/>
            <a:chExt cx="950546" cy="338554"/>
          </a:xfrm>
        </p:grpSpPr>
        <p:sp>
          <p:nvSpPr>
            <p:cNvPr id="30" name="iconfont-1018-792472">
              <a:extLst>
                <a:ext uri="{FF2B5EF4-FFF2-40B4-BE49-F238E27FC236}">
                  <a16:creationId xmlns:a16="http://schemas.microsoft.com/office/drawing/2014/main" id="{0BEE1C87-1BCF-4B35-4846-2AF0E32B8080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95C5602-CF13-CA75-F2EB-4D1EF5788514}"/>
                </a:ext>
              </a:extLst>
            </p:cNvPr>
            <p:cNvSpPr txBox="1"/>
            <p:nvPr/>
          </p:nvSpPr>
          <p:spPr>
            <a:xfrm>
              <a:off x="1828698" y="5427390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2025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9483532E-9B8E-1E85-4E93-4768BD7896E5}"/>
              </a:ext>
            </a:extLst>
          </p:cNvPr>
          <p:cNvGrpSpPr/>
          <p:nvPr/>
        </p:nvGrpSpPr>
        <p:grpSpPr>
          <a:xfrm>
            <a:off x="6206123" y="2534831"/>
            <a:ext cx="3611656" cy="2857559"/>
            <a:chOff x="1052162" y="3711406"/>
            <a:chExt cx="3611656" cy="2857559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CB5EBA0D-2B3A-290F-3741-98922B9DB6EE}"/>
                </a:ext>
              </a:extLst>
            </p:cNvPr>
            <p:cNvGrpSpPr/>
            <p:nvPr/>
          </p:nvGrpSpPr>
          <p:grpSpPr>
            <a:xfrm>
              <a:off x="1052162" y="3711406"/>
              <a:ext cx="3154068" cy="2857559"/>
              <a:chOff x="923365" y="3573928"/>
              <a:chExt cx="3154068" cy="2857559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0A3DF5BA-B1FA-6BD0-9C7F-F1438270F2D9}"/>
                  </a:ext>
                </a:extLst>
              </p:cNvPr>
              <p:cNvGrpSpPr/>
              <p:nvPr/>
            </p:nvGrpSpPr>
            <p:grpSpPr>
              <a:xfrm>
                <a:off x="923365" y="4019930"/>
                <a:ext cx="2867096" cy="2411557"/>
                <a:chOff x="-606906" y="3683598"/>
                <a:chExt cx="4077225" cy="2411557"/>
              </a:xfrm>
            </p:grpSpPr>
            <p:graphicFrame>
              <p:nvGraphicFramePr>
                <p:cNvPr id="48" name="图表 47">
                  <a:extLst>
                    <a:ext uri="{FF2B5EF4-FFF2-40B4-BE49-F238E27FC236}">
                      <a16:creationId xmlns:a16="http://schemas.microsoft.com/office/drawing/2014/main" id="{9CA2B7F5-636B-74F6-F003-C7DBB258993A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64896350"/>
                    </p:ext>
                  </p:extLst>
                </p:nvPr>
              </p:nvGraphicFramePr>
              <p:xfrm>
                <a:off x="-606906" y="3683598"/>
                <a:ext cx="4077225" cy="241155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6"/>
                </a:graphicData>
              </a:graphic>
            </p:graphicFrame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A16EADF-E9DD-99F1-5404-4C1109ED7A7F}"/>
                    </a:ext>
                  </a:extLst>
                </p:cNvPr>
                <p:cNvSpPr txBox="1"/>
                <p:nvPr/>
              </p:nvSpPr>
              <p:spPr>
                <a:xfrm>
                  <a:off x="309835" y="5072455"/>
                  <a:ext cx="235693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0" lang="en-US" altLang="zh-CN" sz="1400" b="1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cs typeface="+mn-ea"/>
                      <a:sym typeface="+mn-lt"/>
                    </a:rPr>
                    <a:t>Micro-assembly</a:t>
                  </a:r>
                  <a:endPara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206B548-D3F7-F5B0-24B2-E58C56F958A0}"/>
                  </a:ext>
                </a:extLst>
              </p:cNvPr>
              <p:cNvSpPr txBox="1"/>
              <p:nvPr/>
            </p:nvSpPr>
            <p:spPr>
              <a:xfrm>
                <a:off x="1077438" y="3573928"/>
                <a:ext cx="299999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zh-CN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Revenue Breakdown (2023A)</a:t>
                </a:r>
                <a:endParaRPr lang="zh-CN" altLang="en-US" sz="1600" b="1" dirty="0">
                  <a:cs typeface="+mn-ea"/>
                  <a:sym typeface="+mn-lt"/>
                </a:endParaRPr>
              </a:p>
            </p:txBody>
          </p:sp>
        </p:grpSp>
        <p:sp>
          <p:nvSpPr>
            <p:cNvPr id="54" name="Rectangle 1">
              <a:extLst>
                <a:ext uri="{FF2B5EF4-FFF2-40B4-BE49-F238E27FC236}">
                  <a16:creationId xmlns:a16="http://schemas.microsoft.com/office/drawing/2014/main" id="{238384CD-D569-DECA-49ED-B8DB7C347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726" y="4752126"/>
              <a:ext cx="21910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Test Equipment, etc.</a:t>
              </a:r>
            </a:p>
          </p:txBody>
        </p:sp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6FDB0F42-0C94-1A8D-4A9A-2ED09947B9B1}"/>
              </a:ext>
            </a:extLst>
          </p:cNvPr>
          <p:cNvSpPr txBox="1"/>
          <p:nvPr/>
        </p:nvSpPr>
        <p:spPr>
          <a:xfrm>
            <a:off x="10425530" y="2927153"/>
            <a:ext cx="14825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Test, clean, and repair all-in-one</a:t>
            </a:r>
          </a:p>
        </p:txBody>
      </p:sp>
      <p:sp>
        <p:nvSpPr>
          <p:cNvPr id="76" name="箭头: 右 75">
            <a:extLst>
              <a:ext uri="{FF2B5EF4-FFF2-40B4-BE49-F238E27FC236}">
                <a16:creationId xmlns:a16="http://schemas.microsoft.com/office/drawing/2014/main" id="{04AA4F32-38A1-7B54-5FB8-4F12418B8799}"/>
              </a:ext>
            </a:extLst>
          </p:cNvPr>
          <p:cNvSpPr/>
          <p:nvPr/>
        </p:nvSpPr>
        <p:spPr>
          <a:xfrm>
            <a:off x="8811656" y="4592377"/>
            <a:ext cx="397658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8811656" y="3481940"/>
            <a:ext cx="395821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F5E6549A-406A-1198-A9FE-001AA2FD8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7403" y="4212820"/>
            <a:ext cx="794640" cy="838986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5BCA0442-1230-9A00-EB53-12F4962257B3}"/>
              </a:ext>
            </a:extLst>
          </p:cNvPr>
          <p:cNvSpPr txBox="1"/>
          <p:nvPr/>
        </p:nvSpPr>
        <p:spPr>
          <a:xfrm>
            <a:off x="8962379" y="5100438"/>
            <a:ext cx="2326067" cy="37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75"/>
              </a:lnSpc>
              <a:spcAft>
                <a:spcPts val="1125"/>
              </a:spcAft>
            </a:pPr>
            <a:r>
              <a:rPr lang="en-US" altLang="zh-CN" sz="1400" b="0" i="0" dirty="0">
                <a:solidFill>
                  <a:srgbClr val="333333"/>
                </a:solidFill>
                <a:effectLst/>
                <a:cs typeface="+mn-ea"/>
                <a:sym typeface="+mn-lt"/>
              </a:rPr>
              <a:t>ASSEMBLYLINE </a:t>
            </a: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Series</a:t>
            </a:r>
            <a:endParaRPr lang="zh-CN" altLang="en-US" sz="1400" b="0" i="0" dirty="0">
              <a:solidFill>
                <a:srgbClr val="333333"/>
              </a:solidFill>
              <a:effectLst/>
              <a:cs typeface="+mn-ea"/>
              <a:sym typeface="+mn-lt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449F9DE-04A3-C679-0A3E-51CD7E98111D}"/>
              </a:ext>
            </a:extLst>
          </p:cNvPr>
          <p:cNvSpPr txBox="1"/>
          <p:nvPr/>
        </p:nvSpPr>
        <p:spPr>
          <a:xfrm>
            <a:off x="10425530" y="4357980"/>
            <a:ext cx="16281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World-leading accuracy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1311" y="3128181"/>
            <a:ext cx="937518" cy="517588"/>
          </a:xfrm>
          <a:prstGeom prst="rect">
            <a:avLst/>
          </a:prstGeom>
        </p:spPr>
      </p:pic>
      <p:sp>
        <p:nvSpPr>
          <p:cNvPr id="91" name="文本框 90">
            <a:extLst>
              <a:ext uri="{FF2B5EF4-FFF2-40B4-BE49-F238E27FC236}">
                <a16:creationId xmlns:a16="http://schemas.microsoft.com/office/drawing/2014/main" id="{4B95D73D-B278-12E8-8578-B4E1B797A478}"/>
              </a:ext>
            </a:extLst>
          </p:cNvPr>
          <p:cNvSpPr txBox="1"/>
          <p:nvPr/>
        </p:nvSpPr>
        <p:spPr>
          <a:xfrm>
            <a:off x="9471785" y="2830346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Jun 25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601B3C-D376-430F-E4FD-DC804DBC7316}"/>
              </a:ext>
            </a:extLst>
          </p:cNvPr>
          <p:cNvSpPr txBox="1"/>
          <p:nvPr/>
        </p:nvSpPr>
        <p:spPr>
          <a:xfrm>
            <a:off x="9623093" y="3981179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2021</a:t>
            </a:r>
            <a:endParaRPr lang="zh-CN" altLang="en-US" sz="1400" dirty="0">
              <a:cs typeface="+mn-ea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1DF4F54-ACF5-0EDD-30F4-D437EA0B87CE}"/>
              </a:ext>
            </a:extLst>
          </p:cNvPr>
          <p:cNvGrpSpPr/>
          <p:nvPr/>
        </p:nvGrpSpPr>
        <p:grpSpPr>
          <a:xfrm>
            <a:off x="537888" y="1682936"/>
            <a:ext cx="11708217" cy="503758"/>
            <a:chOff x="504186" y="971862"/>
            <a:chExt cx="11708217" cy="503758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3AB8744-1816-94B2-9C00-3E25E0082394}"/>
                </a:ext>
              </a:extLst>
            </p:cNvPr>
            <p:cNvSpPr txBox="1"/>
            <p:nvPr/>
          </p:nvSpPr>
          <p:spPr>
            <a:xfrm>
              <a:off x="6326494" y="971862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Business: </a:t>
              </a:r>
              <a:r>
                <a:rPr kumimoji="1"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Dominator of micro-assembly &amp; automated testing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endPara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EF28D85-5C03-3A81-8A26-60B62060D3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6" name="直线连接符 38">
              <a:extLst>
                <a:ext uri="{FF2B5EF4-FFF2-40B4-BE49-F238E27FC236}">
                  <a16:creationId xmlns:a16="http://schemas.microsoft.com/office/drawing/2014/main" id="{4D397C5B-EA4A-5BFE-EB62-89221C1A0084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6602519-8481-C94D-D0B4-6052293840F3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600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Roadmap: </a:t>
              </a:r>
              <a:r>
                <a: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Filling a key domestic technology gap</a:t>
              </a:r>
            </a:p>
          </p:txBody>
        </p:sp>
        <p:cxnSp>
          <p:nvCxnSpPr>
            <p:cNvPr id="28" name="直线连接符 38">
              <a:extLst>
                <a:ext uri="{FF2B5EF4-FFF2-40B4-BE49-F238E27FC236}">
                  <a16:creationId xmlns:a16="http://schemas.microsoft.com/office/drawing/2014/main" id="{B951D61A-748E-0E3C-606E-1CA19A2F1843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D82071D-970F-F3A0-535E-4D40EB488751}"/>
              </a:ext>
            </a:extLst>
          </p:cNvPr>
          <p:cNvGrpSpPr/>
          <p:nvPr/>
        </p:nvGrpSpPr>
        <p:grpSpPr>
          <a:xfrm>
            <a:off x="454252" y="3458453"/>
            <a:ext cx="950546" cy="338554"/>
            <a:chOff x="1828698" y="5414143"/>
            <a:chExt cx="950546" cy="338554"/>
          </a:xfrm>
        </p:grpSpPr>
        <p:sp>
          <p:nvSpPr>
            <p:cNvPr id="36" name="iconfont-1018-792472">
              <a:extLst>
                <a:ext uri="{FF2B5EF4-FFF2-40B4-BE49-F238E27FC236}">
                  <a16:creationId xmlns:a16="http://schemas.microsoft.com/office/drawing/2014/main" id="{A29B70AE-BBE0-A010-0467-D6E6F1E94D0A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F6B58DA-1FA7-AA67-9630-823153F52A6F}"/>
                </a:ext>
              </a:extLst>
            </p:cNvPr>
            <p:cNvSpPr txBox="1"/>
            <p:nvPr/>
          </p:nvSpPr>
          <p:spPr>
            <a:xfrm>
              <a:off x="1828698" y="5414143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2023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09DC35FD-6D45-2F67-D36A-7887702F5A9A}"/>
              </a:ext>
            </a:extLst>
          </p:cNvPr>
          <p:cNvSpPr txBox="1"/>
          <p:nvPr/>
        </p:nvSpPr>
        <p:spPr>
          <a:xfrm>
            <a:off x="1734893" y="346987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err="1">
                <a:solidFill>
                  <a:srgbClr val="000000"/>
                </a:solidFill>
                <a:cs typeface="+mn-ea"/>
                <a:sym typeface="+mn-lt"/>
              </a:rPr>
              <a:t>Robotechnik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announced a plan to acquire 100% of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ficonTEC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B1BDC-57D5-6296-4A18-0996B96F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C8D7193-CA48-7240-D427-8FCDD66A11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940802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文本框 94">
            <a:extLst>
              <a:ext uri="{FF2B5EF4-FFF2-40B4-BE49-F238E27FC236}">
                <a16:creationId xmlns:a16="http://schemas.microsoft.com/office/drawing/2014/main" id="{6F37090B-D7E1-AF07-55F2-1DA4E6CD4DCF}"/>
              </a:ext>
            </a:extLst>
          </p:cNvPr>
          <p:cNvSpPr txBox="1"/>
          <p:nvPr/>
        </p:nvSpPr>
        <p:spPr>
          <a:xfrm>
            <a:off x="9285449" y="2145617"/>
            <a:ext cx="14995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Capacity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94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Output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80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Sales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96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811A02-3CE0-3DE8-0365-8A8A4512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FiconTEC:</a:t>
            </a:r>
            <a:r>
              <a:rPr lang="zh-CN" altLang="en-US" dirty="0"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E2C905-5861-8AD9-CEC2-355C7FDD9A34}"/>
              </a:ext>
            </a:extLst>
          </p:cNvPr>
          <p:cNvSpPr txBox="1"/>
          <p:nvPr/>
        </p:nvSpPr>
        <p:spPr>
          <a:xfrm>
            <a:off x="291221" y="6368845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4F127C78-D2E0-A10F-C230-9B118FD0FF04}"/>
              </a:ext>
            </a:extLst>
          </p:cNvPr>
          <p:cNvGrpSpPr/>
          <p:nvPr/>
        </p:nvGrpSpPr>
        <p:grpSpPr>
          <a:xfrm>
            <a:off x="7542699" y="2154534"/>
            <a:ext cx="1583563" cy="720830"/>
            <a:chOff x="7148096" y="4207316"/>
            <a:chExt cx="1583563" cy="720830"/>
          </a:xfrm>
        </p:grpSpPr>
        <p:pic>
          <p:nvPicPr>
            <p:cNvPr id="49" name="图形 48" descr="USB 纯色填充">
              <a:extLst>
                <a:ext uri="{FF2B5EF4-FFF2-40B4-BE49-F238E27FC236}">
                  <a16:creationId xmlns:a16="http://schemas.microsoft.com/office/drawing/2014/main" id="{602BAC1A-9EC2-0265-9B30-BCB751A79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57255" y="4207316"/>
              <a:ext cx="472681" cy="472681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6E6131D-A6D6-E87E-1155-83A8BF50D08F}"/>
                </a:ext>
              </a:extLst>
            </p:cNvPr>
            <p:cNvSpPr txBox="1"/>
            <p:nvPr/>
          </p:nvSpPr>
          <p:spPr>
            <a:xfrm>
              <a:off x="7148096" y="4651147"/>
              <a:ext cx="15362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Global Delivery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1AC81B6-FCF6-669F-7A0C-F4DBF47FA9BE}"/>
                </a:ext>
              </a:extLst>
            </p:cNvPr>
            <p:cNvSpPr txBox="1"/>
            <p:nvPr/>
          </p:nvSpPr>
          <p:spPr>
            <a:xfrm>
              <a:off x="7855359" y="4210827"/>
              <a:ext cx="87630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700+</a:t>
              </a:r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units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EC933776-19D1-AC36-B2BB-DFFC91331E5F}"/>
              </a:ext>
            </a:extLst>
          </p:cNvPr>
          <p:cNvGrpSpPr/>
          <p:nvPr/>
        </p:nvGrpSpPr>
        <p:grpSpPr>
          <a:xfrm>
            <a:off x="6114468" y="2136298"/>
            <a:ext cx="2151113" cy="757302"/>
            <a:chOff x="9187616" y="4153814"/>
            <a:chExt cx="2151113" cy="757302"/>
          </a:xfrm>
        </p:grpSpPr>
        <p:pic>
          <p:nvPicPr>
            <p:cNvPr id="55" name="图形 54" descr="标签 轮廓">
              <a:extLst>
                <a:ext uri="{FF2B5EF4-FFF2-40B4-BE49-F238E27FC236}">
                  <a16:creationId xmlns:a16="http://schemas.microsoft.com/office/drawing/2014/main" id="{9CF8E86B-5543-D8FC-A9C0-7525DEE8E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98197" y="4153814"/>
              <a:ext cx="510852" cy="510852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FBCB6DF-5221-467C-4631-74E4DD0DCFB1}"/>
                </a:ext>
              </a:extLst>
            </p:cNvPr>
            <p:cNvSpPr txBox="1"/>
            <p:nvPr/>
          </p:nvSpPr>
          <p:spPr>
            <a:xfrm>
              <a:off x="9187616" y="4634117"/>
              <a:ext cx="10064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ASP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2BECAF00-E053-D171-4AB9-594A36566AEA}"/>
                </a:ext>
              </a:extLst>
            </p:cNvPr>
            <p:cNvSpPr txBox="1"/>
            <p:nvPr/>
          </p:nvSpPr>
          <p:spPr>
            <a:xfrm>
              <a:off x="9909049" y="4258449"/>
              <a:ext cx="142968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i="0" u="none" strike="noStrike" cap="none" normalizeH="0" baseline="0" dirty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cs typeface="+mn-ea"/>
                  <a:sym typeface="+mn-lt"/>
                </a:rPr>
                <a:t>RMB</a:t>
              </a:r>
            </a:p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2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.</a:t>
              </a:r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35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 </a:t>
              </a:r>
              <a:r>
                <a:rPr kumimoji="0" lang="en-US" altLang="zh-CN" sz="1400" b="1" i="0" u="none" strike="noStrike" cap="none" normalizeH="0" baseline="0" dirty="0" err="1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mn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4D798BC0-1F92-C066-E77E-C936AEE30E67}"/>
              </a:ext>
            </a:extLst>
          </p:cNvPr>
          <p:cNvSpPr txBox="1"/>
          <p:nvPr/>
        </p:nvSpPr>
        <p:spPr>
          <a:xfrm>
            <a:off x="10474526" y="4696258"/>
            <a:ext cx="2015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Tech Group AS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+mn-ea"/>
              <a:sym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Standard hardware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3867685-FC17-6A49-69E6-DAF24016AD84}"/>
              </a:ext>
            </a:extLst>
          </p:cNvPr>
          <p:cNvSpPr txBox="1"/>
          <p:nvPr/>
        </p:nvSpPr>
        <p:spPr>
          <a:xfrm>
            <a:off x="6331208" y="1480930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Delivery: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Low-volume, high-price,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heavy on delivery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. 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92" name="图表 91">
            <a:extLst>
              <a:ext uri="{FF2B5EF4-FFF2-40B4-BE49-F238E27FC236}">
                <a16:creationId xmlns:a16="http://schemas.microsoft.com/office/drawing/2014/main" id="{19260879-9433-0847-8209-2001BC7786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751624"/>
              </p:ext>
            </p:extLst>
          </p:nvPr>
        </p:nvGraphicFramePr>
        <p:xfrm>
          <a:off x="397687" y="2541712"/>
          <a:ext cx="5701757" cy="3498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93" name="文本框 92">
            <a:extLst>
              <a:ext uri="{FF2B5EF4-FFF2-40B4-BE49-F238E27FC236}">
                <a16:creationId xmlns:a16="http://schemas.microsoft.com/office/drawing/2014/main" id="{8310F639-3DED-4B57-A020-7BEC0B37D869}"/>
              </a:ext>
            </a:extLst>
          </p:cNvPr>
          <p:cNvSpPr txBox="1"/>
          <p:nvPr/>
        </p:nvSpPr>
        <p:spPr>
          <a:xfrm>
            <a:off x="585334" y="1480930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 margin: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~40%,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exceeds the industry average for assembly and test (~30%);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Losses: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continue to narrow.</a:t>
            </a: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6D16714-C616-B238-C78A-F7EF6A9E7034}"/>
              </a:ext>
            </a:extLst>
          </p:cNvPr>
          <p:cNvGrpSpPr/>
          <p:nvPr/>
        </p:nvGrpSpPr>
        <p:grpSpPr>
          <a:xfrm>
            <a:off x="10705053" y="2152179"/>
            <a:ext cx="1334236" cy="725541"/>
            <a:chOff x="10926477" y="4990752"/>
            <a:chExt cx="1334236" cy="725541"/>
          </a:xfrm>
        </p:grpSpPr>
        <p:sp>
          <p:nvSpPr>
            <p:cNvPr id="96" name="recycling_95966">
              <a:extLst>
                <a:ext uri="{FF2B5EF4-FFF2-40B4-BE49-F238E27FC236}">
                  <a16:creationId xmlns:a16="http://schemas.microsoft.com/office/drawing/2014/main" id="{73936BFA-5739-FC18-7794-74A63461B452}"/>
                </a:ext>
              </a:extLst>
            </p:cNvPr>
            <p:cNvSpPr/>
            <p:nvPr/>
          </p:nvSpPr>
          <p:spPr>
            <a:xfrm>
              <a:off x="11025775" y="4990752"/>
              <a:ext cx="341259" cy="307177"/>
            </a:xfrm>
            <a:custGeom>
              <a:avLst/>
              <a:gdLst>
                <a:gd name="connsiteX0" fmla="*/ 138150 w 606227"/>
                <a:gd name="connsiteY0" fmla="*/ 242463 h 545683"/>
                <a:gd name="connsiteX1" fmla="*/ 170297 w 606227"/>
                <a:gd name="connsiteY1" fmla="*/ 378135 h 545683"/>
                <a:gd name="connsiteX2" fmla="*/ 132533 w 606227"/>
                <a:gd name="connsiteY2" fmla="*/ 355702 h 545683"/>
                <a:gd name="connsiteX3" fmla="*/ 107556 w 606227"/>
                <a:gd name="connsiteY3" fmla="*/ 399256 h 545683"/>
                <a:gd name="connsiteX4" fmla="*/ 265185 w 606227"/>
                <a:gd name="connsiteY4" fmla="*/ 400568 h 545683"/>
                <a:gd name="connsiteX5" fmla="*/ 264348 w 606227"/>
                <a:gd name="connsiteY5" fmla="*/ 510824 h 545683"/>
                <a:gd name="connsiteX6" fmla="*/ 90705 w 606227"/>
                <a:gd name="connsiteY6" fmla="*/ 509631 h 545683"/>
                <a:gd name="connsiteX7" fmla="*/ 72899 w 606227"/>
                <a:gd name="connsiteY7" fmla="*/ 480396 h 545683"/>
                <a:gd name="connsiteX8" fmla="*/ 5258 w 606227"/>
                <a:gd name="connsiteY8" fmla="*/ 362265 h 545683"/>
                <a:gd name="connsiteX9" fmla="*/ 39676 w 606227"/>
                <a:gd name="connsiteY9" fmla="*/ 299858 h 545683"/>
                <a:gd name="connsiteX10" fmla="*/ 0 w 606227"/>
                <a:gd name="connsiteY10" fmla="*/ 275993 h 545683"/>
                <a:gd name="connsiteX11" fmla="*/ 522226 w 606227"/>
                <a:gd name="connsiteY11" fmla="*/ 201253 h 545683"/>
                <a:gd name="connsiteX12" fmla="*/ 606227 w 606227"/>
                <a:gd name="connsiteY12" fmla="*/ 352105 h 545683"/>
                <a:gd name="connsiteX13" fmla="*/ 587706 w 606227"/>
                <a:gd name="connsiteY13" fmla="*/ 383374 h 545683"/>
                <a:gd name="connsiteX14" fmla="*/ 516849 w 606227"/>
                <a:gd name="connsiteY14" fmla="*/ 499496 h 545683"/>
                <a:gd name="connsiteX15" fmla="*/ 445515 w 606227"/>
                <a:gd name="connsiteY15" fmla="*/ 499496 h 545683"/>
                <a:gd name="connsiteX16" fmla="*/ 443603 w 606227"/>
                <a:gd name="connsiteY16" fmla="*/ 545683 h 545683"/>
                <a:gd name="connsiteX17" fmla="*/ 347534 w 606227"/>
                <a:gd name="connsiteY17" fmla="*/ 441137 h 545683"/>
                <a:gd name="connsiteX18" fmla="*/ 451131 w 606227"/>
                <a:gd name="connsiteY18" fmla="*/ 347451 h 545683"/>
                <a:gd name="connsiteX19" fmla="*/ 449697 w 606227"/>
                <a:gd name="connsiteY19" fmla="*/ 391370 h 545683"/>
                <a:gd name="connsiteX20" fmla="*/ 499882 w 606227"/>
                <a:gd name="connsiteY20" fmla="*/ 392205 h 545683"/>
                <a:gd name="connsiteX21" fmla="*/ 424963 w 606227"/>
                <a:gd name="connsiteY21" fmla="*/ 253646 h 545683"/>
                <a:gd name="connsiteX22" fmla="*/ 224895 w 606227"/>
                <a:gd name="connsiteY22" fmla="*/ 0 h 545683"/>
                <a:gd name="connsiteX23" fmla="*/ 393884 w 606227"/>
                <a:gd name="connsiteY23" fmla="*/ 119 h 545683"/>
                <a:gd name="connsiteX24" fmla="*/ 430933 w 606227"/>
                <a:gd name="connsiteY24" fmla="*/ 60975 h 545683"/>
                <a:gd name="connsiteX25" fmla="*/ 471447 w 606227"/>
                <a:gd name="connsiteY25" fmla="*/ 38422 h 545683"/>
                <a:gd name="connsiteX26" fmla="*/ 432008 w 606227"/>
                <a:gd name="connsiteY26" fmla="*/ 174810 h 545683"/>
                <a:gd name="connsiteX27" fmla="*/ 298036 w 606227"/>
                <a:gd name="connsiteY27" fmla="*/ 135194 h 545683"/>
                <a:gd name="connsiteX28" fmla="*/ 336399 w 606227"/>
                <a:gd name="connsiteY28" fmla="*/ 113597 h 545683"/>
                <a:gd name="connsiteX29" fmla="*/ 310943 w 606227"/>
                <a:gd name="connsiteY29" fmla="*/ 70401 h 545683"/>
                <a:gd name="connsiteX30" fmla="*/ 231468 w 606227"/>
                <a:gd name="connsiteY30" fmla="*/ 206192 h 545683"/>
                <a:gd name="connsiteX31" fmla="*/ 135979 w 606227"/>
                <a:gd name="connsiteY31" fmla="*/ 150587 h 545683"/>
                <a:gd name="connsiteX32" fmla="*/ 211032 w 606227"/>
                <a:gd name="connsiteY32" fmla="*/ 22194 h 545683"/>
                <a:gd name="connsiteX33" fmla="*/ 224178 w 606227"/>
                <a:gd name="connsiteY33" fmla="*/ 1074 h 54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27" h="545683">
                  <a:moveTo>
                    <a:pt x="138150" y="242463"/>
                  </a:moveTo>
                  <a:lnTo>
                    <a:pt x="170297" y="378135"/>
                  </a:lnTo>
                  <a:lnTo>
                    <a:pt x="132533" y="355702"/>
                  </a:lnTo>
                  <a:lnTo>
                    <a:pt x="107556" y="399256"/>
                  </a:lnTo>
                  <a:lnTo>
                    <a:pt x="265185" y="400568"/>
                  </a:lnTo>
                  <a:lnTo>
                    <a:pt x="264348" y="510824"/>
                  </a:lnTo>
                  <a:lnTo>
                    <a:pt x="90705" y="509631"/>
                  </a:lnTo>
                  <a:lnTo>
                    <a:pt x="72899" y="480396"/>
                  </a:lnTo>
                  <a:lnTo>
                    <a:pt x="5258" y="362265"/>
                  </a:lnTo>
                  <a:lnTo>
                    <a:pt x="39676" y="299858"/>
                  </a:lnTo>
                  <a:lnTo>
                    <a:pt x="0" y="275993"/>
                  </a:lnTo>
                  <a:close/>
                  <a:moveTo>
                    <a:pt x="522226" y="201253"/>
                  </a:moveTo>
                  <a:lnTo>
                    <a:pt x="606227" y="352105"/>
                  </a:lnTo>
                  <a:lnTo>
                    <a:pt x="587706" y="383374"/>
                  </a:lnTo>
                  <a:lnTo>
                    <a:pt x="516849" y="499496"/>
                  </a:lnTo>
                  <a:lnTo>
                    <a:pt x="445515" y="499496"/>
                  </a:lnTo>
                  <a:lnTo>
                    <a:pt x="443603" y="545683"/>
                  </a:lnTo>
                  <a:lnTo>
                    <a:pt x="347534" y="441137"/>
                  </a:lnTo>
                  <a:lnTo>
                    <a:pt x="451131" y="347451"/>
                  </a:lnTo>
                  <a:lnTo>
                    <a:pt x="449697" y="391370"/>
                  </a:lnTo>
                  <a:lnTo>
                    <a:pt x="499882" y="392205"/>
                  </a:lnTo>
                  <a:lnTo>
                    <a:pt x="424963" y="253646"/>
                  </a:lnTo>
                  <a:close/>
                  <a:moveTo>
                    <a:pt x="224895" y="0"/>
                  </a:moveTo>
                  <a:lnTo>
                    <a:pt x="393884" y="119"/>
                  </a:lnTo>
                  <a:lnTo>
                    <a:pt x="430933" y="60975"/>
                  </a:lnTo>
                  <a:lnTo>
                    <a:pt x="471447" y="38422"/>
                  </a:lnTo>
                  <a:lnTo>
                    <a:pt x="432008" y="174810"/>
                  </a:lnTo>
                  <a:lnTo>
                    <a:pt x="298036" y="135194"/>
                  </a:lnTo>
                  <a:lnTo>
                    <a:pt x="336399" y="113597"/>
                  </a:lnTo>
                  <a:lnTo>
                    <a:pt x="310943" y="70401"/>
                  </a:lnTo>
                  <a:lnTo>
                    <a:pt x="231468" y="206192"/>
                  </a:lnTo>
                  <a:lnTo>
                    <a:pt x="135979" y="150587"/>
                  </a:lnTo>
                  <a:lnTo>
                    <a:pt x="211032" y="22194"/>
                  </a:lnTo>
                  <a:cubicBezTo>
                    <a:pt x="218322" y="9785"/>
                    <a:pt x="224178" y="1074"/>
                    <a:pt x="224178" y="1074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9E9CC53B-7005-CE44-88F3-B1926D6E0590}"/>
                </a:ext>
              </a:extLst>
            </p:cNvPr>
            <p:cNvSpPr txBox="1"/>
            <p:nvPr/>
          </p:nvSpPr>
          <p:spPr>
            <a:xfrm>
              <a:off x="10926477" y="5254628"/>
              <a:ext cx="12817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Capacity Utilization Rate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C934908C-038A-74F4-2541-255F5FC481F2}"/>
                </a:ext>
              </a:extLst>
            </p:cNvPr>
            <p:cNvSpPr txBox="1"/>
            <p:nvPr/>
          </p:nvSpPr>
          <p:spPr>
            <a:xfrm>
              <a:off x="11384413" y="4990752"/>
              <a:ext cx="876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85%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101" name="流程图: 摘录 100">
            <a:extLst>
              <a:ext uri="{FF2B5EF4-FFF2-40B4-BE49-F238E27FC236}">
                <a16:creationId xmlns:a16="http://schemas.microsoft.com/office/drawing/2014/main" id="{F9435C5D-EA39-E35F-D9C6-FA0B709B2A29}"/>
              </a:ext>
            </a:extLst>
          </p:cNvPr>
          <p:cNvSpPr/>
          <p:nvPr/>
        </p:nvSpPr>
        <p:spPr>
          <a:xfrm rot="16200000">
            <a:off x="8827761" y="2444155"/>
            <a:ext cx="508635" cy="141589"/>
          </a:xfrm>
          <a:prstGeom prst="flowChartExtra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6870F55-1F02-5005-570F-6715AF3C7B87}"/>
              </a:ext>
            </a:extLst>
          </p:cNvPr>
          <p:cNvSpPr txBox="1"/>
          <p:nvPr/>
        </p:nvSpPr>
        <p:spPr>
          <a:xfrm>
            <a:off x="6333459" y="3535345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Customers &amp; Suppliers: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Concentrated.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BDA9797-E868-ABEC-0EB4-EE0ED70DF04C}"/>
              </a:ext>
            </a:extLst>
          </p:cNvPr>
          <p:cNvSpPr txBox="1"/>
          <p:nvPr/>
        </p:nvSpPr>
        <p:spPr>
          <a:xfrm>
            <a:off x="397687" y="2510156"/>
            <a:ext cx="1429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65000"/>
                  </a:schemeClr>
                </a:solidFill>
                <a:effectLst/>
                <a:cs typeface="+mn-ea"/>
                <a:sym typeface="+mn-lt"/>
              </a:rPr>
              <a:t>$</a:t>
            </a:r>
            <a:r>
              <a:rPr lang="en-US" altLang="zh-CN" sz="1600" dirty="0">
                <a:solidFill>
                  <a:schemeClr val="tx2">
                    <a:lumMod val="65000"/>
                  </a:schemeClr>
                </a:solidFill>
                <a:cs typeface="+mn-ea"/>
                <a:sym typeface="+mn-lt"/>
              </a:rPr>
              <a:t>0.1 b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65000"/>
                  </a:schemeClr>
                </a:solidFill>
                <a:effectLst/>
                <a:cs typeface="+mn-ea"/>
                <a:sym typeface="+mn-lt"/>
              </a:rPr>
              <a:t>n</a:t>
            </a:r>
            <a:endParaRPr lang="zh-CN" altLang="en-US" sz="1600" dirty="0">
              <a:solidFill>
                <a:schemeClr val="tx2">
                  <a:lumMod val="6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708A5BC3-0638-EAA0-1424-BC1B68D19B74}"/>
              </a:ext>
            </a:extLst>
          </p:cNvPr>
          <p:cNvGrpSpPr/>
          <p:nvPr/>
        </p:nvGrpSpPr>
        <p:grpSpPr>
          <a:xfrm>
            <a:off x="5866516" y="4177718"/>
            <a:ext cx="2508785" cy="1575336"/>
            <a:chOff x="5814358" y="4940035"/>
            <a:chExt cx="2508785" cy="1575336"/>
          </a:xfrm>
        </p:grpSpPr>
        <p:graphicFrame>
          <p:nvGraphicFramePr>
            <p:cNvPr id="111" name="图表 110">
              <a:extLst>
                <a:ext uri="{FF2B5EF4-FFF2-40B4-BE49-F238E27FC236}">
                  <a16:creationId xmlns:a16="http://schemas.microsoft.com/office/drawing/2014/main" id="{6BF004F2-0E6F-F1E8-65F5-04D15B03587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814358" y="4940035"/>
            <a:ext cx="2326067" cy="15753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29D20555-710A-CF3E-59D4-812649C1AE5B}"/>
                </a:ext>
              </a:extLst>
            </p:cNvPr>
            <p:cNvSpPr txBox="1"/>
            <p:nvPr/>
          </p:nvSpPr>
          <p:spPr>
            <a:xfrm>
              <a:off x="6977391" y="5297086"/>
              <a:ext cx="1345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CR5</a:t>
              </a:r>
              <a:endParaRPr lang="zh-CN" altLang="en-US" sz="1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E0016804-8EE1-ABC8-B867-EC011A597B58}"/>
              </a:ext>
            </a:extLst>
          </p:cNvPr>
          <p:cNvSpPr txBox="1"/>
          <p:nvPr/>
        </p:nvSpPr>
        <p:spPr>
          <a:xfrm>
            <a:off x="6837459" y="4028565"/>
            <a:ext cx="2572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Customer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23" name="左大括号 122">
            <a:extLst>
              <a:ext uri="{FF2B5EF4-FFF2-40B4-BE49-F238E27FC236}">
                <a16:creationId xmlns:a16="http://schemas.microsoft.com/office/drawing/2014/main" id="{4144C124-CE35-BD02-AB92-FC9C9826E8E0}"/>
              </a:ext>
            </a:extLst>
          </p:cNvPr>
          <p:cNvSpPr/>
          <p:nvPr/>
        </p:nvSpPr>
        <p:spPr>
          <a:xfrm>
            <a:off x="7674593" y="4568641"/>
            <a:ext cx="244731" cy="790243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27" name="图像" descr="图像">
            <a:extLst>
              <a:ext uri="{FF2B5EF4-FFF2-40B4-BE49-F238E27FC236}">
                <a16:creationId xmlns:a16="http://schemas.microsoft.com/office/drawing/2014/main" id="{566B7F98-4CED-CABC-C1B9-9F1062B19E1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8391" y="4847900"/>
            <a:ext cx="328497" cy="158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图像" descr="图像">
            <a:extLst>
              <a:ext uri="{FF2B5EF4-FFF2-40B4-BE49-F238E27FC236}">
                <a16:creationId xmlns:a16="http://schemas.microsoft.com/office/drawing/2014/main" id="{EFB0FB51-0DA1-CA79-0ED8-F899D5B5109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98544" y="4824981"/>
            <a:ext cx="349749" cy="188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39B7808E-4484-BAC0-4A60-112C17C59B1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88033" y="4426818"/>
            <a:ext cx="424641" cy="150013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CAFC942D-DC8A-0DD7-D16B-BFB93A02EF1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90404" y="4433868"/>
            <a:ext cx="283204" cy="181777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DECCF4AE-B034-A500-F180-28A4E8F53CA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18615" y="5167183"/>
            <a:ext cx="246629" cy="295634"/>
          </a:xfrm>
          <a:prstGeom prst="rect">
            <a:avLst/>
          </a:prstGeom>
        </p:spPr>
      </p:pic>
      <p:graphicFrame>
        <p:nvGraphicFramePr>
          <p:cNvPr id="142" name="图表 141">
            <a:extLst>
              <a:ext uri="{FF2B5EF4-FFF2-40B4-BE49-F238E27FC236}">
                <a16:creationId xmlns:a16="http://schemas.microsoft.com/office/drawing/2014/main" id="{0084530E-F3E9-6239-321E-68D35470C0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6824754"/>
              </p:ext>
            </p:extLst>
          </p:nvPr>
        </p:nvGraphicFramePr>
        <p:xfrm>
          <a:off x="8546152" y="4167255"/>
          <a:ext cx="2645530" cy="158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43" name="文本框 142">
            <a:extLst>
              <a:ext uri="{FF2B5EF4-FFF2-40B4-BE49-F238E27FC236}">
                <a16:creationId xmlns:a16="http://schemas.microsoft.com/office/drawing/2014/main" id="{20018B50-AA6C-C5C9-C003-D4702FBD28D7}"/>
              </a:ext>
            </a:extLst>
          </p:cNvPr>
          <p:cNvSpPr txBox="1"/>
          <p:nvPr/>
        </p:nvSpPr>
        <p:spPr>
          <a:xfrm>
            <a:off x="9563295" y="4028565"/>
            <a:ext cx="22835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Supplier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A0DCBE-D7FF-90D0-EC0F-3A009988E477}"/>
              </a:ext>
            </a:extLst>
          </p:cNvPr>
          <p:cNvSpPr txBox="1"/>
          <p:nvPr/>
        </p:nvSpPr>
        <p:spPr>
          <a:xfrm>
            <a:off x="6304016" y="906638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Upstream &amp; Downstream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F8A0BE-A2CA-6D42-0FFD-9053CE30A86B}"/>
              </a:ext>
            </a:extLst>
          </p:cNvPr>
          <p:cNvSpPr txBox="1"/>
          <p:nvPr/>
        </p:nvSpPr>
        <p:spPr>
          <a:xfrm>
            <a:off x="6149943" y="1108771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9" name="直线连接符 38">
            <a:extLst>
              <a:ext uri="{FF2B5EF4-FFF2-40B4-BE49-F238E27FC236}">
                <a16:creationId xmlns:a16="http://schemas.microsoft.com/office/drawing/2014/main" id="{AD4B2ECD-EC7F-9344-722A-39484F0E9966}"/>
              </a:ext>
            </a:extLst>
          </p:cNvPr>
          <p:cNvCxnSpPr>
            <a:cxnSpLocks/>
          </p:cNvCxnSpPr>
          <p:nvPr/>
        </p:nvCxnSpPr>
        <p:spPr>
          <a:xfrm>
            <a:off x="6304016" y="1242065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B6577D0-0D94-E457-0325-8CF6EA0DCB14}"/>
              </a:ext>
            </a:extLst>
          </p:cNvPr>
          <p:cNvSpPr txBox="1"/>
          <p:nvPr/>
        </p:nvSpPr>
        <p:spPr>
          <a:xfrm>
            <a:off x="481708" y="906638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Profitability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</a:endParaRPr>
          </a:p>
        </p:txBody>
      </p:sp>
      <p:cxnSp>
        <p:nvCxnSpPr>
          <p:cNvPr id="12" name="直线连接符 38">
            <a:extLst>
              <a:ext uri="{FF2B5EF4-FFF2-40B4-BE49-F238E27FC236}">
                <a16:creationId xmlns:a16="http://schemas.microsoft.com/office/drawing/2014/main" id="{2506657E-C86D-DD1E-1BD0-D88F4099D28D}"/>
              </a:ext>
            </a:extLst>
          </p:cNvPr>
          <p:cNvCxnSpPr>
            <a:cxnSpLocks/>
          </p:cNvCxnSpPr>
          <p:nvPr/>
        </p:nvCxnSpPr>
        <p:spPr>
          <a:xfrm>
            <a:off x="481708" y="1251400"/>
            <a:ext cx="5356341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6477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F48045EE-3F8C-A4F8-0B54-F9AE0FBB3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6743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258FC10A-6E48-BF6C-E338-E510C5B04ADC}"/>
              </a:ext>
            </a:extLst>
          </p:cNvPr>
          <p:cNvSpPr txBox="1"/>
          <p:nvPr/>
        </p:nvSpPr>
        <p:spPr>
          <a:xfrm>
            <a:off x="158751" y="1486366"/>
            <a:ext cx="1239838" cy="11254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Business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Products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44DE523-707B-F6F1-6098-29369A44CF08}"/>
              </a:ext>
            </a:extLst>
          </p:cNvPr>
          <p:cNvSpPr txBox="1"/>
          <p:nvPr/>
        </p:nvSpPr>
        <p:spPr>
          <a:xfrm>
            <a:off x="158751" y="3824770"/>
            <a:ext cx="1239838" cy="9604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1194B2D-9F90-B8AC-9359-DF7456CD05EC}"/>
              </a:ext>
            </a:extLst>
          </p:cNvPr>
          <p:cNvSpPr txBox="1"/>
          <p:nvPr/>
        </p:nvSpPr>
        <p:spPr>
          <a:xfrm>
            <a:off x="158751" y="4875698"/>
            <a:ext cx="1239838" cy="14943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Progress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42B7A158-75DD-349F-D01C-DE1C1004D9D3}"/>
              </a:ext>
            </a:extLst>
          </p:cNvPr>
          <p:cNvCxnSpPr>
            <a:cxnSpLocks/>
          </p:cNvCxnSpPr>
          <p:nvPr/>
        </p:nvCxnSpPr>
        <p:spPr>
          <a:xfrm>
            <a:off x="1636713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3064033-D000-FE10-E7DE-5DC21087055C}"/>
              </a:ext>
            </a:extLst>
          </p:cNvPr>
          <p:cNvSpPr txBox="1"/>
          <p:nvPr/>
        </p:nvSpPr>
        <p:spPr>
          <a:xfrm>
            <a:off x="1644650" y="5362143"/>
            <a:ext cx="3057525" cy="7012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Dec 24: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Shipped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15k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the past 18 months;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First high-volume customers.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A1B8F5-D0BC-3FA4-D0DA-9ABACEB52E9C}"/>
              </a:ext>
            </a:extLst>
          </p:cNvPr>
          <p:cNvSpPr txBox="1"/>
          <p:nvPr/>
        </p:nvSpPr>
        <p:spPr>
          <a:xfrm>
            <a:off x="1636713" y="1486366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I/O (OIO)</a:t>
            </a:r>
            <a:r>
              <a:rPr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i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75A6610-4812-1CF8-1C74-D7202344167B}"/>
              </a:ext>
            </a:extLst>
          </p:cNvPr>
          <p:cNvSpPr txBox="1"/>
          <p:nvPr/>
        </p:nvSpPr>
        <p:spPr>
          <a:xfrm>
            <a:off x="1644649" y="3934764"/>
            <a:ext cx="3154565" cy="106800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Technology integrated into PCIe 6.0 standard;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Ecosystem barrier.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2D226C5-B38E-E0E7-1A77-1F5FA7951C5A}"/>
              </a:ext>
            </a:extLst>
          </p:cNvPr>
          <p:cNvGrpSpPr/>
          <p:nvPr/>
        </p:nvGrpSpPr>
        <p:grpSpPr>
          <a:xfrm>
            <a:off x="1701800" y="915608"/>
            <a:ext cx="1779588" cy="338554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E774ABCF-B9C8-DEB5-E991-EFE99AFF9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5933F121-97EB-551B-9981-34C7F0754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0B2241A-E239-5296-5E0C-6CA6D4B1BE28}"/>
              </a:ext>
            </a:extLst>
          </p:cNvPr>
          <p:cNvGrpSpPr/>
          <p:nvPr/>
        </p:nvGrpSpPr>
        <p:grpSpPr>
          <a:xfrm>
            <a:off x="5105400" y="870274"/>
            <a:ext cx="2054225" cy="366882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6F3C28AB-26FD-E807-11D4-16D3A5BFD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1A493E5D-976D-1969-CD52-F15156262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87C040F-25B6-0304-0507-B8FCC732CC67}"/>
              </a:ext>
            </a:extLst>
          </p:cNvPr>
          <p:cNvGrpSpPr/>
          <p:nvPr/>
        </p:nvGrpSpPr>
        <p:grpSpPr>
          <a:xfrm>
            <a:off x="8672513" y="894588"/>
            <a:ext cx="2016125" cy="338554"/>
            <a:chOff x="1471613" y="4870565"/>
            <a:chExt cx="2015690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7453A26C-8BE4-EA01-9579-8E86CCDCF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A06B55FA-4D2C-EDAE-36C9-3C12F2223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BB41C948-5BE5-98E3-AE9D-EFF7476EC14A}"/>
              </a:ext>
            </a:extLst>
          </p:cNvPr>
          <p:cNvSpPr txBox="1"/>
          <p:nvPr/>
        </p:nvSpPr>
        <p:spPr>
          <a:xfrm>
            <a:off x="165211" y="2708925"/>
            <a:ext cx="1239838" cy="4183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Funding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2740787D-1C41-228C-5546-E6DD974C012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768049"/>
            <a:ext cx="823913" cy="605005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69AF700F-B4A4-6E59-D887-E8164F4034F3}"/>
              </a:ext>
            </a:extLst>
          </p:cNvPr>
          <p:cNvSpPr txBox="1"/>
          <p:nvPr/>
        </p:nvSpPr>
        <p:spPr>
          <a:xfrm>
            <a:off x="2592387" y="1803591"/>
            <a:ext cx="2284413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 Gbps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 bandwidth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Ultra-low power: 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5E24262-AB4B-C86E-19A4-9CC7609326E8}"/>
              </a:ext>
            </a:extLst>
          </p:cNvPr>
          <p:cNvGrpSpPr/>
          <p:nvPr/>
        </p:nvGrpSpPr>
        <p:grpSpPr>
          <a:xfrm>
            <a:off x="1037636" y="2779599"/>
            <a:ext cx="1327150" cy="276999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9D56FF0-0966-1199-4264-B8CC4002FA50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22C58AC-E8A5-5485-3388-FC0E87A44BD1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E18C78DE-9EA7-95F6-75F6-C9402BD3D9AC}"/>
              </a:ext>
            </a:extLst>
          </p:cNvPr>
          <p:cNvSpPr txBox="1"/>
          <p:nvPr/>
        </p:nvSpPr>
        <p:spPr>
          <a:xfrm>
            <a:off x="1858374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Dec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$155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89C4BBC-1B9A-3768-0BDA-3C0DE94B5E01}"/>
              </a:ext>
            </a:extLst>
          </p:cNvPr>
          <p:cNvSpPr txBox="1"/>
          <p:nvPr/>
        </p:nvSpPr>
        <p:spPr>
          <a:xfrm>
            <a:off x="1938338" y="48920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=&gt; Mass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Production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68987912-A982-02D0-2828-5A83FC0EF287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179DB382-7110-2064-3FD5-9E55A0AAECA0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3" y="4960938"/>
            <a:ext cx="187325" cy="187325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64344FB6-DFC6-B58F-3334-A76CC6193946}"/>
              </a:ext>
            </a:extLst>
          </p:cNvPr>
          <p:cNvCxnSpPr>
            <a:cxnSpLocks/>
          </p:cNvCxnSpPr>
          <p:nvPr/>
        </p:nvCxnSpPr>
        <p:spPr>
          <a:xfrm>
            <a:off x="5080000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468BC916-BDF7-630D-6A02-4D900E2E7FCC}"/>
              </a:ext>
            </a:extLst>
          </p:cNvPr>
          <p:cNvCxnSpPr>
            <a:cxnSpLocks/>
          </p:cNvCxnSpPr>
          <p:nvPr/>
        </p:nvCxnSpPr>
        <p:spPr>
          <a:xfrm>
            <a:off x="8645525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69A26B94-4056-BC1F-E0A2-ABB627D795D3}"/>
              </a:ext>
            </a:extLst>
          </p:cNvPr>
          <p:cNvSpPr txBox="1"/>
          <p:nvPr/>
        </p:nvSpPr>
        <p:spPr>
          <a:xfrm>
            <a:off x="5094288" y="53625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H2 25: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Sampling starts;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27E: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Mass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44AF2211-68D9-70E5-9D3A-F7A1FB0D2150}"/>
              </a:ext>
            </a:extLst>
          </p:cNvPr>
          <p:cNvSpPr txBox="1"/>
          <p:nvPr/>
        </p:nvSpPr>
        <p:spPr>
          <a:xfrm>
            <a:off x="5094288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Systematic 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with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 R&amp;D cycle;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Cross-layer solution.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EA941743-B058-8529-42C0-C198AB8446FD}"/>
              </a:ext>
            </a:extLst>
          </p:cNvPr>
          <p:cNvSpPr txBox="1"/>
          <p:nvPr/>
        </p:nvSpPr>
        <p:spPr>
          <a:xfrm>
            <a:off x="55673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C1(Feb 25):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$250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FD676E2D-99E8-7C9A-0B6F-398D345A1656}"/>
              </a:ext>
            </a:extLst>
          </p:cNvPr>
          <p:cNvSpPr txBox="1"/>
          <p:nvPr/>
        </p:nvSpPr>
        <p:spPr>
          <a:xfrm>
            <a:off x="5387975" y="4891981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 =&gt;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Design-in / Early Proto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2D829332-790A-E490-D346-C1A4CC61A474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8643D068-FE9C-2B31-B7A1-70D8909EB09F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56A92FA1-6A3D-3E9A-217E-A6914A65D79D}"/>
              </a:ext>
            </a:extLst>
          </p:cNvPr>
          <p:cNvSpPr txBox="1"/>
          <p:nvPr/>
        </p:nvSpPr>
        <p:spPr>
          <a:xfrm>
            <a:off x="8661400" y="5362575"/>
            <a:ext cx="3169463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25 Summer: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interposer shipment;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26</a:t>
            </a: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E:</a:t>
            </a: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L200 CPO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chiplets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shipment.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B611AC5F-5F3B-E82A-F692-B854476F64C1}"/>
              </a:ext>
            </a:extLst>
          </p:cNvPr>
          <p:cNvSpPr txBox="1"/>
          <p:nvPr/>
        </p:nvSpPr>
        <p:spPr>
          <a:xfrm>
            <a:off x="8661400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en-US" altLang="zh-CN" dirty="0">
                <a:latin typeface="+mn-lt"/>
                <a:cs typeface="+mn-ea"/>
                <a:sym typeface="+mn-lt"/>
              </a:rPr>
              <a:t>Compatible with Broadcom;</a:t>
            </a:r>
          </a:p>
          <a:p>
            <a:r>
              <a:rPr lang="en-US" altLang="zh-CN" dirty="0">
                <a:latin typeface="+mn-lt"/>
                <a:cs typeface="+mn-ea"/>
                <a:sym typeface="+mn-lt"/>
              </a:rPr>
              <a:t>Abstracts packaging layer into hardware (controllable delivery).</a:t>
            </a: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9E7D85C-02C0-7F73-1270-C01EB70788B2}"/>
              </a:ext>
            </a:extLst>
          </p:cNvPr>
          <p:cNvSpPr txBox="1"/>
          <p:nvPr/>
        </p:nvSpPr>
        <p:spPr>
          <a:xfrm>
            <a:off x="91741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(Oct 24)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00mn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32A83826-B3F1-624C-0729-DB811B97141E}"/>
              </a:ext>
            </a:extLst>
          </p:cNvPr>
          <p:cNvSpPr txBox="1"/>
          <p:nvPr/>
        </p:nvSpPr>
        <p:spPr>
          <a:xfrm>
            <a:off x="8955088" y="489198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=&gt;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Design-in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0469C01-E62F-C7FE-4E90-FCF2BFA040E9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11EFAFA0-D9C9-C20C-4647-54BA0999893A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ACDA7873-203F-94DB-9669-2A442C0F4343}"/>
              </a:ext>
            </a:extLst>
          </p:cNvPr>
          <p:cNvSpPr txBox="1"/>
          <p:nvPr/>
        </p:nvSpPr>
        <p:spPr>
          <a:xfrm>
            <a:off x="1566862" y="2368481"/>
            <a:ext cx="1327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C5EA0FD5-41DB-BB51-A835-19A4FB8372E4}"/>
              </a:ext>
            </a:extLst>
          </p:cNvPr>
          <p:cNvSpPr txBox="1"/>
          <p:nvPr/>
        </p:nvSpPr>
        <p:spPr>
          <a:xfrm>
            <a:off x="5083175" y="1476692"/>
            <a:ext cx="2660650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i="1" dirty="0">
                <a:cs typeface="+mn-ea"/>
                <a:sym typeface="+mn-lt"/>
              </a:rPr>
              <a:t>​Optical full-stack solutions.</a:t>
            </a:r>
            <a:endParaRPr lang="zh-CN" altLang="zh-CN" i="1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22046B8-56DB-B1DE-F63D-EB7DDBE0B18D}"/>
              </a:ext>
            </a:extLst>
          </p:cNvPr>
          <p:cNvSpPr txBox="1"/>
          <p:nvPr/>
        </p:nvSpPr>
        <p:spPr>
          <a:xfrm>
            <a:off x="5843588" y="1803591"/>
            <a:ext cx="3019425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Card: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91531831-1D5B-F3AC-F72A-89CB663AF497}"/>
              </a:ext>
            </a:extLst>
          </p:cNvPr>
          <p:cNvSpPr txBox="1"/>
          <p:nvPr/>
        </p:nvSpPr>
        <p:spPr>
          <a:xfrm>
            <a:off x="4979988" y="2378171"/>
            <a:ext cx="1900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4556073A-01C0-DBC5-8B89-C9D4C5946C33}"/>
              </a:ext>
            </a:extLst>
          </p:cNvPr>
          <p:cNvSpPr txBox="1"/>
          <p:nvPr/>
        </p:nvSpPr>
        <p:spPr>
          <a:xfrm>
            <a:off x="8636000" y="1475715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passage interposer.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562BAB08-826A-EB9F-5F5B-D2AA9A949795}"/>
              </a:ext>
            </a:extLst>
          </p:cNvPr>
          <p:cNvSpPr txBox="1"/>
          <p:nvPr/>
        </p:nvSpPr>
        <p:spPr>
          <a:xfrm>
            <a:off x="8564563" y="2405772"/>
            <a:ext cx="1546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Series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7CE49E3B-AA16-B54A-2488-5DA1BC02F005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5" y="1813667"/>
            <a:ext cx="561975" cy="504264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D0317A9C-D233-0ECC-6C89-C86D1FC398AB}"/>
              </a:ext>
            </a:extLst>
          </p:cNvPr>
          <p:cNvGrpSpPr/>
          <p:nvPr/>
        </p:nvGrpSpPr>
        <p:grpSpPr>
          <a:xfrm>
            <a:off x="4649788" y="2738098"/>
            <a:ext cx="1327150" cy="360000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140F0C6F-6001-D662-0F30-93376921F213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EDFA2CFF-A692-CB23-28AD-ED488BB305F4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ECE36DD8-20E0-8AFB-2FF8-5AE5493152DF}"/>
              </a:ext>
            </a:extLst>
          </p:cNvPr>
          <p:cNvGrpSpPr/>
          <p:nvPr/>
        </p:nvGrpSpPr>
        <p:grpSpPr>
          <a:xfrm>
            <a:off x="8215313" y="2680498"/>
            <a:ext cx="1327150" cy="475200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81E82B5-4E56-D670-69BD-78A21C96D3F0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8EB4E003-929A-2EFF-2140-D552D89CE73D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E74D20E-4E5D-CEA7-1F06-A5BC86F90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782164"/>
            <a:ext cx="509588" cy="61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0109CB79-72CC-E638-67C3-318EF815C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851597"/>
            <a:ext cx="593725" cy="50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64885C04-A843-E56C-F1A9-6074FEF32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49" y="1803591"/>
            <a:ext cx="1751013" cy="3400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Proprietary silicon photonics chip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Package-level solution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BC0FB846-1F99-DC19-E265-2614538284BB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 startups comparison: Ayar Labs,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Lightmatter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, and Celestial AI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9711F5F-8D89-9156-64DF-5DF7EFA2CB46}"/>
              </a:ext>
            </a:extLst>
          </p:cNvPr>
          <p:cNvSpPr txBox="1"/>
          <p:nvPr/>
        </p:nvSpPr>
        <p:spPr>
          <a:xfrm>
            <a:off x="158750" y="3211022"/>
            <a:ext cx="1239838" cy="5233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Strategic Investor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A1F92B-1D06-7BF6-A21C-E264A7818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41" y="3312007"/>
            <a:ext cx="576559" cy="321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0D1F202F-80A5-1AB6-736B-5449905FA3E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97292" y="3299205"/>
            <a:ext cx="436151" cy="3469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AMD Logo">
            <a:extLst>
              <a:ext uri="{FF2B5EF4-FFF2-40B4-BE49-F238E27FC236}">
                <a16:creationId xmlns:a16="http://schemas.microsoft.com/office/drawing/2014/main" id="{ECC74C7F-32D0-426A-8DF9-4AB5C55B4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035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1B87E95-14B6-6953-DC10-BF87285DCF2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7465" y="3334308"/>
            <a:ext cx="968567" cy="276733"/>
          </a:xfrm>
          <a:prstGeom prst="rect">
            <a:avLst/>
          </a:prstGeom>
        </p:spPr>
      </p:pic>
      <p:pic>
        <p:nvPicPr>
          <p:cNvPr id="1030" name="Picture 6" descr="Samsung Logo">
            <a:extLst>
              <a:ext uri="{FF2B5EF4-FFF2-40B4-BE49-F238E27FC236}">
                <a16:creationId xmlns:a16="http://schemas.microsoft.com/office/drawing/2014/main" id="{655BCD29-D6E9-6683-4E50-864993F11D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3" b="35569"/>
          <a:stretch/>
        </p:blipFill>
        <p:spPr bwMode="auto">
          <a:xfrm>
            <a:off x="6232575" y="3383571"/>
            <a:ext cx="1055774" cy="17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B4FC1512-01C0-FBFB-7831-5F748031E6D5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3345854"/>
            <a:ext cx="409018" cy="253641"/>
          </a:xfrm>
          <a:prstGeom prst="rect">
            <a:avLst/>
          </a:prstGeom>
        </p:spPr>
      </p:pic>
      <p:pic>
        <p:nvPicPr>
          <p:cNvPr id="11" name="Picture 4" descr="AMD Logo">
            <a:extLst>
              <a:ext uri="{FF2B5EF4-FFF2-40B4-BE49-F238E27FC236}">
                <a16:creationId xmlns:a16="http://schemas.microsoft.com/office/drawing/2014/main" id="{4787BB34-9E57-82F4-CB65-C9DE68DFB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87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11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399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Summary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DDCB0A-C8C1-5B01-5B8E-CFE169B021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608386-93FF-A04C-41EB-AEBE44E0205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246221"/>
          </a:xfrm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348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86" name="图片 3285">
            <a:extLst>
              <a:ext uri="{FF2B5EF4-FFF2-40B4-BE49-F238E27FC236}">
                <a16:creationId xmlns:a16="http://schemas.microsoft.com/office/drawing/2014/main" id="{7893C08F-49E8-C725-5321-098D12818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300" y="1506227"/>
            <a:ext cx="2950412" cy="20304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Domestic LLM restricted by GPU interconnection bandwidth; CPO as priority exploration direction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9DF2FDFD-4D8E-C4C6-BC36-774CD80AFDDE}"/>
              </a:ext>
            </a:extLst>
          </p:cNvPr>
          <p:cNvSpPr txBox="1"/>
          <p:nvPr/>
        </p:nvSpPr>
        <p:spPr>
          <a:xfrm>
            <a:off x="170889" y="64561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18CF5BA8-680D-6B19-92E9-3E98DC3CADDE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71" name="文本框 1070">
              <a:extLst>
                <a:ext uri="{FF2B5EF4-FFF2-40B4-BE49-F238E27FC236}">
                  <a16:creationId xmlns:a16="http://schemas.microsoft.com/office/drawing/2014/main" id="{1A1F4844-21CA-DB50-134F-8505D719770D}"/>
                </a:ext>
              </a:extLst>
            </p:cNvPr>
            <p:cNvSpPr txBox="1"/>
            <p:nvPr/>
          </p:nvSpPr>
          <p:spPr>
            <a:xfrm>
              <a:off x="7452360" y="976464"/>
              <a:ext cx="4760043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CPO: A Crucial Solution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87D7EAC2-3C6A-9983-D9A7-B032DFDA815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73" name="直线连接符 38">
              <a:extLst>
                <a:ext uri="{FF2B5EF4-FFF2-40B4-BE49-F238E27FC236}">
                  <a16:creationId xmlns:a16="http://schemas.microsoft.com/office/drawing/2014/main" id="{1A456015-8E49-B27B-DAF9-3D0441F75B4B}"/>
                </a:ext>
              </a:extLst>
            </p:cNvPr>
            <p:cNvCxnSpPr>
              <a:cxnSpLocks/>
            </p:cNvCxnSpPr>
            <p:nvPr/>
          </p:nvCxnSpPr>
          <p:spPr>
            <a:xfrm>
              <a:off x="7334466" y="1307289"/>
              <a:ext cx="426159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4" name="文本框 1073">
              <a:extLst>
                <a:ext uri="{FF2B5EF4-FFF2-40B4-BE49-F238E27FC236}">
                  <a16:creationId xmlns:a16="http://schemas.microsoft.com/office/drawing/2014/main" id="{3C5AF3D6-4808-2A70-B5F8-79DBF89B1C8E}"/>
                </a:ext>
              </a:extLst>
            </p:cNvPr>
            <p:cNvSpPr txBox="1"/>
            <p:nvPr/>
          </p:nvSpPr>
          <p:spPr>
            <a:xfrm>
              <a:off x="504186" y="971862"/>
              <a:ext cx="559181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H800 Bandwidth Restricts Training and Inference</a:t>
              </a:r>
            </a:p>
          </p:txBody>
        </p:sp>
        <p:cxnSp>
          <p:nvCxnSpPr>
            <p:cNvPr id="1075" name="直线连接符 38">
              <a:extLst>
                <a:ext uri="{FF2B5EF4-FFF2-40B4-BE49-F238E27FC236}">
                  <a16:creationId xmlns:a16="http://schemas.microsoft.com/office/drawing/2014/main" id="{423E25FF-F267-421A-77E9-3E497D2D8775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6267454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80" name="图片 1079">
            <a:extLst>
              <a:ext uri="{FF2B5EF4-FFF2-40B4-BE49-F238E27FC236}">
                <a16:creationId xmlns:a16="http://schemas.microsoft.com/office/drawing/2014/main" id="{605A53A7-4B1D-6609-5E0A-D463C54CC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35" y="3788697"/>
            <a:ext cx="2954826" cy="606942"/>
          </a:xfrm>
          <a:prstGeom prst="rect">
            <a:avLst/>
          </a:prstGeom>
        </p:spPr>
      </p:pic>
      <p:sp>
        <p:nvSpPr>
          <p:cNvPr id="1084" name="矩形 1083">
            <a:extLst>
              <a:ext uri="{FF2B5EF4-FFF2-40B4-BE49-F238E27FC236}">
                <a16:creationId xmlns:a16="http://schemas.microsoft.com/office/drawing/2014/main" id="{9DD49CA2-C521-ED3E-E64E-15194E4CBE7F}"/>
              </a:ext>
            </a:extLst>
          </p:cNvPr>
          <p:cNvSpPr/>
          <p:nvPr/>
        </p:nvSpPr>
        <p:spPr>
          <a:xfrm>
            <a:off x="3684893" y="1459137"/>
            <a:ext cx="3051814" cy="2178911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H800 Bandwidth Halved Compared to H100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① Network architecture: Forced to </a:t>
            </a:r>
            <a:r>
              <a:rPr lang="en-US" altLang="zh-CN" sz="1200" b="1" dirty="0">
                <a:solidFill>
                  <a:srgbClr val="0052D9"/>
                </a:solidFill>
              </a:rPr>
              <a:t>use scale-out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to compensate for scale-up limitations;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② Training strategy: </a:t>
            </a:r>
            <a:r>
              <a:rPr lang="en-US" altLang="zh-CN" sz="1200" b="1" dirty="0">
                <a:solidFill>
                  <a:srgbClr val="0052D9"/>
                </a:solidFill>
              </a:rPr>
              <a:t>Tensor parallelism abandoned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due to bandwidth constraints;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③ Inference speed: MoE inference rate is </a:t>
            </a:r>
            <a:r>
              <a:rPr lang="en-US" altLang="zh-CN" sz="1200" b="1" dirty="0">
                <a:solidFill>
                  <a:srgbClr val="0052D9"/>
                </a:solidFill>
              </a:rPr>
              <a:t>1/20th of H100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.</a:t>
            </a:r>
            <a:endParaRPr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273" name="矩形 3272">
            <a:extLst>
              <a:ext uri="{FF2B5EF4-FFF2-40B4-BE49-F238E27FC236}">
                <a16:creationId xmlns:a16="http://schemas.microsoft.com/office/drawing/2014/main" id="{899AC929-5A30-A3AB-BF52-39EED3210C07}"/>
              </a:ext>
            </a:extLst>
          </p:cNvPr>
          <p:cNvSpPr/>
          <p:nvPr/>
        </p:nvSpPr>
        <p:spPr>
          <a:xfrm>
            <a:off x="2647412" y="1361951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①</a:t>
            </a:r>
          </a:p>
        </p:txBody>
      </p:sp>
      <p:sp>
        <p:nvSpPr>
          <p:cNvPr id="3276" name="矩形 3275">
            <a:extLst>
              <a:ext uri="{FF2B5EF4-FFF2-40B4-BE49-F238E27FC236}">
                <a16:creationId xmlns:a16="http://schemas.microsoft.com/office/drawing/2014/main" id="{9F731F85-68B6-D1A4-A876-DB73F8B0E7DA}"/>
              </a:ext>
            </a:extLst>
          </p:cNvPr>
          <p:cNvSpPr/>
          <p:nvPr/>
        </p:nvSpPr>
        <p:spPr>
          <a:xfrm>
            <a:off x="2647412" y="3638048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②</a:t>
            </a:r>
          </a:p>
        </p:txBody>
      </p:sp>
      <p:grpSp>
        <p:nvGrpSpPr>
          <p:cNvPr id="3298" name="组合 3297">
            <a:extLst>
              <a:ext uri="{FF2B5EF4-FFF2-40B4-BE49-F238E27FC236}">
                <a16:creationId xmlns:a16="http://schemas.microsoft.com/office/drawing/2014/main" id="{8152D523-2D61-850F-90A3-8158B8F50146}"/>
              </a:ext>
            </a:extLst>
          </p:cNvPr>
          <p:cNvGrpSpPr/>
          <p:nvPr/>
        </p:nvGrpSpPr>
        <p:grpSpPr>
          <a:xfrm>
            <a:off x="7667548" y="1361951"/>
            <a:ext cx="3509584" cy="4975726"/>
            <a:chOff x="7440021" y="1361951"/>
            <a:chExt cx="3509584" cy="4975726"/>
          </a:xfrm>
        </p:grpSpPr>
        <p:pic>
          <p:nvPicPr>
            <p:cNvPr id="1060" name="图片 1059">
              <a:extLst>
                <a:ext uri="{FF2B5EF4-FFF2-40B4-BE49-F238E27FC236}">
                  <a16:creationId xmlns:a16="http://schemas.microsoft.com/office/drawing/2014/main" id="{3D68BD0F-5C62-F741-AB7B-A51B87591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3280" name="图片 3279">
              <a:extLst>
                <a:ext uri="{FF2B5EF4-FFF2-40B4-BE49-F238E27FC236}">
                  <a16:creationId xmlns:a16="http://schemas.microsoft.com/office/drawing/2014/main" id="{52F22F95-49AB-CEF6-78DD-17C43009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0021" y="1877370"/>
              <a:ext cx="3444240" cy="4460307"/>
            </a:xfrm>
            <a:prstGeom prst="rect">
              <a:avLst/>
            </a:prstGeom>
          </p:spPr>
        </p:pic>
        <p:sp>
          <p:nvSpPr>
            <p:cNvPr id="3281" name="矩形 3280">
              <a:extLst>
                <a:ext uri="{FF2B5EF4-FFF2-40B4-BE49-F238E27FC236}">
                  <a16:creationId xmlns:a16="http://schemas.microsoft.com/office/drawing/2014/main" id="{561CA96B-9778-1DDA-BC61-51E83F5BE23D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83" name="图片 3282">
            <a:extLst>
              <a:ext uri="{FF2B5EF4-FFF2-40B4-BE49-F238E27FC236}">
                <a16:creationId xmlns:a16="http://schemas.microsoft.com/office/drawing/2014/main" id="{02301866-6223-7185-3C14-E424A77477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308" y="4379459"/>
            <a:ext cx="2905010" cy="2037599"/>
          </a:xfrm>
          <a:prstGeom prst="rect">
            <a:avLst/>
          </a:prstGeom>
        </p:spPr>
      </p:pic>
      <p:sp>
        <p:nvSpPr>
          <p:cNvPr id="3284" name="矩形 3283">
            <a:extLst>
              <a:ext uri="{FF2B5EF4-FFF2-40B4-BE49-F238E27FC236}">
                <a16:creationId xmlns:a16="http://schemas.microsoft.com/office/drawing/2014/main" id="{8DAB26C1-F4C2-5AAA-6A1E-51EA76B55FC4}"/>
              </a:ext>
            </a:extLst>
          </p:cNvPr>
          <p:cNvSpPr/>
          <p:nvPr/>
        </p:nvSpPr>
        <p:spPr>
          <a:xfrm>
            <a:off x="485307" y="4453447"/>
            <a:ext cx="2924453" cy="636305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8" name="矩形 3287">
            <a:extLst>
              <a:ext uri="{FF2B5EF4-FFF2-40B4-BE49-F238E27FC236}">
                <a16:creationId xmlns:a16="http://schemas.microsoft.com/office/drawing/2014/main" id="{C071A4D3-8DAD-CFAE-C121-82EFDD1737AA}"/>
              </a:ext>
            </a:extLst>
          </p:cNvPr>
          <p:cNvSpPr/>
          <p:nvPr/>
        </p:nvSpPr>
        <p:spPr>
          <a:xfrm>
            <a:off x="485306" y="3150106"/>
            <a:ext cx="2924453" cy="41153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9" name="矩形 3288">
            <a:extLst>
              <a:ext uri="{FF2B5EF4-FFF2-40B4-BE49-F238E27FC236}">
                <a16:creationId xmlns:a16="http://schemas.microsoft.com/office/drawing/2014/main" id="{2CD404E3-8467-8F3E-99CE-D1A51AD96424}"/>
              </a:ext>
            </a:extLst>
          </p:cNvPr>
          <p:cNvSpPr/>
          <p:nvPr/>
        </p:nvSpPr>
        <p:spPr>
          <a:xfrm>
            <a:off x="485305" y="2392680"/>
            <a:ext cx="2924453" cy="26557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97" name="组合 3296">
            <a:extLst>
              <a:ext uri="{FF2B5EF4-FFF2-40B4-BE49-F238E27FC236}">
                <a16:creationId xmlns:a16="http://schemas.microsoft.com/office/drawing/2014/main" id="{50B22EB5-B02F-A552-ED13-D4940411CB7C}"/>
              </a:ext>
            </a:extLst>
          </p:cNvPr>
          <p:cNvGrpSpPr/>
          <p:nvPr/>
        </p:nvGrpSpPr>
        <p:grpSpPr>
          <a:xfrm>
            <a:off x="3575507" y="3653403"/>
            <a:ext cx="3196130" cy="2702932"/>
            <a:chOff x="3575510" y="3926676"/>
            <a:chExt cx="3196130" cy="2702932"/>
          </a:xfrm>
        </p:grpSpPr>
        <p:sp>
          <p:nvSpPr>
            <p:cNvPr id="3277" name="矩形 3276">
              <a:extLst>
                <a:ext uri="{FF2B5EF4-FFF2-40B4-BE49-F238E27FC236}">
                  <a16:creationId xmlns:a16="http://schemas.microsoft.com/office/drawing/2014/main" id="{243AD792-2C35-AB15-EB87-AE1AFCACD99A}"/>
                </a:ext>
              </a:extLst>
            </p:cNvPr>
            <p:cNvSpPr/>
            <p:nvPr/>
          </p:nvSpPr>
          <p:spPr>
            <a:xfrm>
              <a:off x="3575510" y="3926676"/>
              <a:ext cx="424367" cy="4541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rgbClr val="0052D9"/>
                  </a:solidFill>
                </a:rPr>
                <a:t>③</a:t>
              </a:r>
            </a:p>
          </p:txBody>
        </p:sp>
        <p:pic>
          <p:nvPicPr>
            <p:cNvPr id="3294" name="图片 3293">
              <a:extLst>
                <a:ext uri="{FF2B5EF4-FFF2-40B4-BE49-F238E27FC236}">
                  <a16:creationId xmlns:a16="http://schemas.microsoft.com/office/drawing/2014/main" id="{260F142E-F2AD-B6D9-F93E-8025E23F3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75777" y="4288289"/>
              <a:ext cx="2960933" cy="636304"/>
            </a:xfrm>
            <a:prstGeom prst="rect">
              <a:avLst/>
            </a:prstGeom>
          </p:spPr>
        </p:pic>
        <p:pic>
          <p:nvPicPr>
            <p:cNvPr id="3296" name="图片 3295">
              <a:extLst>
                <a:ext uri="{FF2B5EF4-FFF2-40B4-BE49-F238E27FC236}">
                  <a16:creationId xmlns:a16="http://schemas.microsoft.com/office/drawing/2014/main" id="{B3C67993-931E-230B-3F70-73EB43CAB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75777" y="4979952"/>
              <a:ext cx="2948335" cy="1566303"/>
            </a:xfrm>
            <a:prstGeom prst="rect">
              <a:avLst/>
            </a:prstGeom>
          </p:spPr>
        </p:pic>
        <p:sp>
          <p:nvSpPr>
            <p:cNvPr id="3292" name="矩形 3291">
              <a:extLst>
                <a:ext uri="{FF2B5EF4-FFF2-40B4-BE49-F238E27FC236}">
                  <a16:creationId xmlns:a16="http://schemas.microsoft.com/office/drawing/2014/main" id="{57E23BAC-E816-D665-6369-C4581282B56D}"/>
                </a:ext>
              </a:extLst>
            </p:cNvPr>
            <p:cNvSpPr/>
            <p:nvPr/>
          </p:nvSpPr>
          <p:spPr>
            <a:xfrm>
              <a:off x="3679595" y="6045745"/>
              <a:ext cx="3092045" cy="583863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48A0-75A4-E1D2-8AA5-22D3123E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F949011-16AD-DFC9-57DA-DB3A2B3403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3877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4" imgH="405" progId="TCLayout.ActiveDocument.1">
                  <p:embed/>
                </p:oleObj>
              </mc:Choice>
              <mc:Fallback>
                <p:oleObj name="think-cell 幻灯片" r:id="rId2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8ABD01E-7DBE-CC87-6FE0-09343737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H800, H100, and B200 bandwidth and inference rate comparison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2" name="Chart 3">
            <a:extLst>
              <a:ext uri="{FF2B5EF4-FFF2-40B4-BE49-F238E27FC236}">
                <a16:creationId xmlns:a16="http://schemas.microsoft.com/office/drawing/2014/main" id="{974A9A41-9E79-715E-70BA-07FE533359B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16085339"/>
              </p:ext>
            </p:extLst>
          </p:nvPr>
        </p:nvGraphicFramePr>
        <p:xfrm>
          <a:off x="601663" y="2251075"/>
          <a:ext cx="496252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3189" name="直接连接符 3188">
            <a:extLst>
              <a:ext uri="{FF2B5EF4-FFF2-40B4-BE49-F238E27FC236}">
                <a16:creationId xmlns:a16="http://schemas.microsoft.com/office/drawing/2014/main" id="{17279689-8A88-13D7-120D-CFCA19F43A7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895600" y="3903663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B85D1317-1610-0EBA-6F9F-B48CAFC4A30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895600" y="3903663"/>
            <a:ext cx="10334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AC44FB4F-20D0-1396-69F2-40A8BF43742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929063" y="3903663"/>
            <a:ext cx="0" cy="946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CF0630B-79B5-064B-4DC6-5342A59AF50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647825" y="5880100"/>
            <a:ext cx="4270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6837FA-80B0-482F-AC8B-DE8A5FBE4D80}" type="datetime'''''''''''''''''''''''''''''B2''''''''0''''0'''''''''''''">
              <a:rPr lang="en-US" altLang="en-US" sz="1400" smtClean="0">
                <a:cs typeface="+mn-cs"/>
              </a:rPr>
              <a:pPr/>
              <a:t>B200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93DC837-389C-9329-6978-FEA6CF44CA8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678113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598D77A-0AD3-4B0F-880A-C4BD4B6BDE3B}" type="datetime'''''''''''H''''''1''''''0''0'''''''''''''''''''''''">
              <a:rPr lang="en-US" altLang="en-US" sz="1400" smtClean="0">
                <a:cs typeface="+mn-cs"/>
              </a:rPr>
              <a:pPr/>
              <a:t>H100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B731612-3406-ADAB-DBB8-A7621CEA4FA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711575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FFE9A8-0B97-4A03-B85A-C5265E7436F5}" type="datetime'H''''''''''''''''''''''8''''''''''0''''0'''''">
              <a:rPr lang="en-US" altLang="en-US" sz="1400" smtClean="0">
                <a:cs typeface="+mn-cs"/>
              </a:rPr>
              <a:pPr/>
              <a:t>H800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D3938061-DF23-39A1-DFE8-9DEFBAB5AAC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795838" y="5880100"/>
            <a:ext cx="338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3FF4F8-9EF9-43F4-BB76-728923F17331}" type="datetime'''''''''''''''H''20'''''">
              <a:rPr lang="en-US" altLang="en-US" sz="1400" smtClean="0">
                <a:cs typeface="+mn-cs"/>
              </a:rPr>
              <a:pPr/>
              <a:t>H20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667DC609-34F7-4B73-6A0E-7E750437B99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117850" y="375285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47CF9C-B563-46D7-A2C9-1A179AD382EC}" type="datetime'''''''''''''''-''''''''''5''6%''''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08" name="文本框 3207">
            <a:extLst>
              <a:ext uri="{FF2B5EF4-FFF2-40B4-BE49-F238E27FC236}">
                <a16:creationId xmlns:a16="http://schemas.microsoft.com/office/drawing/2014/main" id="{9A00F0E1-22F8-AB54-D043-4CF37EF6CE12}"/>
              </a:ext>
            </a:extLst>
          </p:cNvPr>
          <p:cNvSpPr txBox="1"/>
          <p:nvPr/>
        </p:nvSpPr>
        <p:spPr>
          <a:xfrm>
            <a:off x="601663" y="2127473"/>
            <a:ext cx="6149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Inter-card Bandwidth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GB/s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D02F1E9-B5E8-7D9F-1D91-BE833DF93CA5}"/>
              </a:ext>
            </a:extLst>
          </p:cNvPr>
          <p:cNvSpPr txBox="1"/>
          <p:nvPr/>
        </p:nvSpPr>
        <p:spPr>
          <a:xfrm>
            <a:off x="272733" y="625135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</a:t>
            </a:r>
          </a:p>
        </p:txBody>
      </p:sp>
      <p:graphicFrame>
        <p:nvGraphicFramePr>
          <p:cNvPr id="29" name="Chart 3">
            <a:extLst>
              <a:ext uri="{FF2B5EF4-FFF2-40B4-BE49-F238E27FC236}">
                <a16:creationId xmlns:a16="http://schemas.microsoft.com/office/drawing/2014/main" id="{9E1FC29F-1F23-7A0C-F3B5-D1A21EA66D16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76370881"/>
              </p:ext>
            </p:extLst>
          </p:nvPr>
        </p:nvGraphicFramePr>
        <p:xfrm>
          <a:off x="6629400" y="2054225"/>
          <a:ext cx="518477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489C291D-A898-E1B5-31F3-084C4987DCEF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8497888" y="2063750"/>
            <a:ext cx="0" cy="3109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直接连接符 1032">
            <a:extLst>
              <a:ext uri="{FF2B5EF4-FFF2-40B4-BE49-F238E27FC236}">
                <a16:creationId xmlns:a16="http://schemas.microsoft.com/office/drawing/2014/main" id="{FF17850D-59BD-6A99-F7AB-8237D03DFC75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8497888" y="2063750"/>
            <a:ext cx="19478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连接符 1033">
            <a:extLst>
              <a:ext uri="{FF2B5EF4-FFF2-40B4-BE49-F238E27FC236}">
                <a16:creationId xmlns:a16="http://schemas.microsoft.com/office/drawing/2014/main" id="{9D19A7D8-A9B0-6CAF-D4BD-FA68C1951C75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0445750" y="2063750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6" name="Text Placeholder 4">
            <a:extLst>
              <a:ext uri="{FF2B5EF4-FFF2-40B4-BE49-F238E27FC236}">
                <a16:creationId xmlns:a16="http://schemas.microsoft.com/office/drawing/2014/main" id="{CA2AF9A1-EA8F-CDFB-945F-680E836E17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432675" y="5683250"/>
            <a:ext cx="1431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H800 (DeepSeek)</a:t>
            </a:r>
            <a:endParaRPr lang="zh-CN" altLang="en-US" sz="1400" dirty="0">
              <a:cs typeface="+mn-cs"/>
            </a:endParaRPr>
          </a:p>
        </p:txBody>
      </p:sp>
      <p:sp>
        <p:nvSpPr>
          <p:cNvPr id="3274" name="Text Placeholder 4">
            <a:extLst>
              <a:ext uri="{FF2B5EF4-FFF2-40B4-BE49-F238E27FC236}">
                <a16:creationId xmlns:a16="http://schemas.microsoft.com/office/drawing/2014/main" id="{CDE54DB7-B255-4567-B79C-01F8D665CCA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9518650" y="5683250"/>
            <a:ext cx="11572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CE0737-15A9-42C4-9E59-98A7661C3EC3}" type="datetime'''''G''''''B2''''00'' ''N''''''''''''''V''''L''''''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9D612BCF-D359-2703-0FED-9189AD59E61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190038" y="1912938"/>
            <a:ext cx="563563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~18x</a:t>
            </a:r>
            <a:endParaRPr lang="zh-CN" altLang="en-US" sz="1400" b="1" dirty="0">
              <a:cs typeface="+mn-cs"/>
            </a:endParaRPr>
          </a:p>
        </p:txBody>
      </p:sp>
      <p:sp>
        <p:nvSpPr>
          <p:cNvPr id="3232" name="矩形 3231">
            <a:extLst>
              <a:ext uri="{FF2B5EF4-FFF2-40B4-BE49-F238E27FC236}">
                <a16:creationId xmlns:a16="http://schemas.microsoft.com/office/drawing/2014/main" id="{DD6FB50A-0F0E-AD99-4F71-B4A39453C44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6929438" y="6069013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7" name="矩形 3286">
            <a:extLst>
              <a:ext uri="{FF2B5EF4-FFF2-40B4-BE49-F238E27FC236}">
                <a16:creationId xmlns:a16="http://schemas.microsoft.com/office/drawing/2014/main" id="{F3A8091E-0AA2-A3B7-7DF4-E30FCC185CEB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529763" y="6069013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5" name="Text Placeholder 4">
            <a:extLst>
              <a:ext uri="{FF2B5EF4-FFF2-40B4-BE49-F238E27FC236}">
                <a16:creationId xmlns:a16="http://schemas.microsoft.com/office/drawing/2014/main" id="{74138CF3-32D6-1C96-4887-850C2E408B3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231063" y="6064250"/>
            <a:ext cx="21971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Inter-card Bandwidth (GB/s)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227" name="Text Placeholder 4">
            <a:extLst>
              <a:ext uri="{FF2B5EF4-FFF2-40B4-BE49-F238E27FC236}">
                <a16:creationId xmlns:a16="http://schemas.microsoft.com/office/drawing/2014/main" id="{6499B5B7-8740-CD48-7F3D-96227056CEE0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9831388" y="6064250"/>
            <a:ext cx="19002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Inference Rate (token/s)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9C7D45-861D-7445-19C2-5B9A20547E55}"/>
              </a:ext>
            </a:extLst>
          </p:cNvPr>
          <p:cNvSpPr/>
          <p:nvPr/>
        </p:nvSpPr>
        <p:spPr>
          <a:xfrm>
            <a:off x="548955" y="1074935"/>
            <a:ext cx="11265220" cy="761804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① H800 bandwidth halved compared to H100 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② If bandwidth returns to the level of B200, the inference rate will increase to ~18 times the original.</a:t>
            </a:r>
            <a:endParaRPr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87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F854-9A0F-66E2-75C1-90F44B45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AF6C33D-7FC8-FFE5-5C5C-B4C29E7630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4781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43ABF5-1FF2-0AE9-7070-1BB344EC80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" name="矩形 1177">
            <a:extLst>
              <a:ext uri="{FF2B5EF4-FFF2-40B4-BE49-F238E27FC236}">
                <a16:creationId xmlns:a16="http://schemas.microsoft.com/office/drawing/2014/main" id="{FB7739BF-C901-C4AE-8672-031A3A40ED17}"/>
              </a:ext>
            </a:extLst>
          </p:cNvPr>
          <p:cNvSpPr/>
          <p:nvPr/>
        </p:nvSpPr>
        <p:spPr>
          <a:xfrm>
            <a:off x="2821017" y="1427765"/>
            <a:ext cx="3264245" cy="4202202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369F79-BD3F-4704-26AC-C6A2824AAC3E}"/>
              </a:ext>
            </a:extLst>
          </p:cNvPr>
          <p:cNvSpPr txBox="1"/>
          <p:nvPr/>
        </p:nvSpPr>
        <p:spPr>
          <a:xfrm>
            <a:off x="7915649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7nm-3nm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427C9-2944-D773-951A-5EB099A4D114}"/>
              </a:ext>
            </a:extLst>
          </p:cNvPr>
          <p:cNvSpPr txBox="1"/>
          <p:nvPr/>
        </p:nvSpPr>
        <p:spPr>
          <a:xfrm>
            <a:off x="2558004" y="5717419"/>
            <a:ext cx="24412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Packaging/&gt;100nm</a:t>
            </a: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F7501D-6786-D3AE-86FC-C07792B7D3BE}"/>
              </a:ext>
            </a:extLst>
          </p:cNvPr>
          <p:cNvSpPr/>
          <p:nvPr/>
        </p:nvSpPr>
        <p:spPr>
          <a:xfrm rot="5400000">
            <a:off x="9106954" y="4820941"/>
            <a:ext cx="1221622" cy="615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Process Ban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A936B6-360B-5E46-ED00-467B1D281374}"/>
              </a:ext>
            </a:extLst>
          </p:cNvPr>
          <p:cNvSpPr/>
          <p:nvPr/>
        </p:nvSpPr>
        <p:spPr>
          <a:xfrm>
            <a:off x="9213996" y="5568515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25AE05-E4A1-3EDE-D52D-77BF1617852C}"/>
              </a:ext>
            </a:extLst>
          </p:cNvPr>
          <p:cNvSpPr/>
          <p:nvPr/>
        </p:nvSpPr>
        <p:spPr>
          <a:xfrm>
            <a:off x="2822328" y="1433115"/>
            <a:ext cx="6554469" cy="4199884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58EF94-5331-788C-AE0D-C06EB1071C9C}"/>
              </a:ext>
            </a:extLst>
          </p:cNvPr>
          <p:cNvSpPr/>
          <p:nvPr/>
        </p:nvSpPr>
        <p:spPr>
          <a:xfrm>
            <a:off x="2282219" y="1033412"/>
            <a:ext cx="2647416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Market Share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5B23892-9E45-E281-5555-820AF4A6E314}"/>
              </a:ext>
            </a:extLst>
          </p:cNvPr>
          <p:cNvSpPr/>
          <p:nvPr/>
        </p:nvSpPr>
        <p:spPr>
          <a:xfrm>
            <a:off x="2279747" y="5522093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Low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1A73A34-66DF-8917-CAE9-6421EE895CB2}"/>
              </a:ext>
            </a:extLst>
          </p:cNvPr>
          <p:cNvSpPr/>
          <p:nvPr/>
        </p:nvSpPr>
        <p:spPr>
          <a:xfrm>
            <a:off x="2271132" y="1356161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9F59547E-82AB-A3CE-5530-9CD4C0057D2F}"/>
              </a:ext>
            </a:extLst>
          </p:cNvPr>
          <p:cNvSpPr txBox="1"/>
          <p:nvPr/>
        </p:nvSpPr>
        <p:spPr>
          <a:xfrm>
            <a:off x="298576" y="6414112"/>
            <a:ext cx="1144695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Communications IPO Prospectus.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Data Sources:​​ 800G Transceivers (2025E) | OSAT (2024A) | Switch Chips (2020A) | Electrical DSP Chips (Aug-2023, 50G/100G).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D2B5DD-0161-DE27-CE54-16498307DE4D}"/>
              </a:ext>
            </a:extLst>
          </p:cNvPr>
          <p:cNvSpPr txBox="1"/>
          <p:nvPr/>
        </p:nvSpPr>
        <p:spPr>
          <a:xfrm>
            <a:off x="6310492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16nm-5nm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3541BD-DD3B-D270-E5A2-CE61390B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Overseas strong in electronics, weak in optics; Domestic vise versa - industry evidences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AD62E6D-B35F-99B6-4060-DBCE50D9B835}"/>
              </a:ext>
            </a:extLst>
          </p:cNvPr>
          <p:cNvSpPr txBox="1"/>
          <p:nvPr/>
        </p:nvSpPr>
        <p:spPr>
          <a:xfrm>
            <a:off x="4434248" y="5717419"/>
            <a:ext cx="1937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Limited process ban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02" name="组合 1101">
            <a:extLst>
              <a:ext uri="{FF2B5EF4-FFF2-40B4-BE49-F238E27FC236}">
                <a16:creationId xmlns:a16="http://schemas.microsoft.com/office/drawing/2014/main" id="{330335A2-A427-0DE3-02FE-A6B4ABD9F85B}"/>
              </a:ext>
            </a:extLst>
          </p:cNvPr>
          <p:cNvGrpSpPr/>
          <p:nvPr/>
        </p:nvGrpSpPr>
        <p:grpSpPr>
          <a:xfrm>
            <a:off x="2964520" y="3442318"/>
            <a:ext cx="1323784" cy="279777"/>
            <a:chOff x="1199220" y="3427123"/>
            <a:chExt cx="1323784" cy="279777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01C6CDC-2915-7FB5-5E37-59D25A2404DD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5FD27CD-4093-6F0B-2966-AF8C12D21D94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Innolight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088" name="文本框 1087">
              <a:extLst>
                <a:ext uri="{FF2B5EF4-FFF2-40B4-BE49-F238E27FC236}">
                  <a16:creationId xmlns:a16="http://schemas.microsoft.com/office/drawing/2014/main" id="{EEB87815-1FF0-3DAB-E2C4-5AD7E0C9359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36%</a:t>
              </a:r>
            </a:p>
          </p:txBody>
        </p:sp>
      </p:grpSp>
      <p:grpSp>
        <p:nvGrpSpPr>
          <p:cNvPr id="1103" name="组合 1102">
            <a:extLst>
              <a:ext uri="{FF2B5EF4-FFF2-40B4-BE49-F238E27FC236}">
                <a16:creationId xmlns:a16="http://schemas.microsoft.com/office/drawing/2014/main" id="{2C3064F6-23B9-128F-8BE5-CB20C73ADC51}"/>
              </a:ext>
            </a:extLst>
          </p:cNvPr>
          <p:cNvGrpSpPr/>
          <p:nvPr/>
        </p:nvGrpSpPr>
        <p:grpSpPr>
          <a:xfrm>
            <a:off x="2957484" y="4357880"/>
            <a:ext cx="1323784" cy="279777"/>
            <a:chOff x="1199220" y="3427123"/>
            <a:chExt cx="1323784" cy="279777"/>
          </a:xfrm>
        </p:grpSpPr>
        <p:sp>
          <p:nvSpPr>
            <p:cNvPr id="1104" name="椭圆 1103">
              <a:extLst>
                <a:ext uri="{FF2B5EF4-FFF2-40B4-BE49-F238E27FC236}">
                  <a16:creationId xmlns:a16="http://schemas.microsoft.com/office/drawing/2014/main" id="{28714029-B659-BC87-0185-B482C4372E6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5" name="文本框 1104">
              <a:extLst>
                <a:ext uri="{FF2B5EF4-FFF2-40B4-BE49-F238E27FC236}">
                  <a16:creationId xmlns:a16="http://schemas.microsoft.com/office/drawing/2014/main" id="{0604A2E0-C478-78B2-45A1-BDC22C650647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Eoptolink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06" name="文本框 1105">
              <a:extLst>
                <a:ext uri="{FF2B5EF4-FFF2-40B4-BE49-F238E27FC236}">
                  <a16:creationId xmlns:a16="http://schemas.microsoft.com/office/drawing/2014/main" id="{72B8D37D-320C-5B7A-7D73-5FB6478275EA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23%</a:t>
              </a:r>
            </a:p>
          </p:txBody>
        </p:sp>
      </p:grpSp>
      <p:grpSp>
        <p:nvGrpSpPr>
          <p:cNvPr id="1107" name="组合 1106">
            <a:extLst>
              <a:ext uri="{FF2B5EF4-FFF2-40B4-BE49-F238E27FC236}">
                <a16:creationId xmlns:a16="http://schemas.microsoft.com/office/drawing/2014/main" id="{EB3C7B2A-0C99-097E-A28E-F0F21F378108}"/>
              </a:ext>
            </a:extLst>
          </p:cNvPr>
          <p:cNvGrpSpPr/>
          <p:nvPr/>
        </p:nvGrpSpPr>
        <p:grpSpPr>
          <a:xfrm>
            <a:off x="2957079" y="4511007"/>
            <a:ext cx="1323784" cy="279777"/>
            <a:chOff x="1199220" y="3427123"/>
            <a:chExt cx="1323784" cy="279777"/>
          </a:xfrm>
        </p:grpSpPr>
        <p:sp>
          <p:nvSpPr>
            <p:cNvPr id="1108" name="椭圆 1107">
              <a:extLst>
                <a:ext uri="{FF2B5EF4-FFF2-40B4-BE49-F238E27FC236}">
                  <a16:creationId xmlns:a16="http://schemas.microsoft.com/office/drawing/2014/main" id="{2E2375EF-72B7-875C-C6E2-4716400C5990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9" name="文本框 1108">
              <a:extLst>
                <a:ext uri="{FF2B5EF4-FFF2-40B4-BE49-F238E27FC236}">
                  <a16:creationId xmlns:a16="http://schemas.microsoft.com/office/drawing/2014/main" id="{8B9CD731-08DD-8343-6F81-A35B0AC595BE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Coherent</a:t>
              </a:r>
            </a:p>
          </p:txBody>
        </p:sp>
        <p:sp>
          <p:nvSpPr>
            <p:cNvPr id="1110" name="文本框 1109">
              <a:extLst>
                <a:ext uri="{FF2B5EF4-FFF2-40B4-BE49-F238E27FC236}">
                  <a16:creationId xmlns:a16="http://schemas.microsoft.com/office/drawing/2014/main" id="{70FF267D-5C9F-E604-0437-3557B06BE132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21%</a:t>
              </a:r>
            </a:p>
          </p:txBody>
        </p:sp>
      </p:grpSp>
      <p:grpSp>
        <p:nvGrpSpPr>
          <p:cNvPr id="1111" name="组合 1110">
            <a:extLst>
              <a:ext uri="{FF2B5EF4-FFF2-40B4-BE49-F238E27FC236}">
                <a16:creationId xmlns:a16="http://schemas.microsoft.com/office/drawing/2014/main" id="{175AE77E-AC35-3DCB-191B-1FA6B2043181}"/>
              </a:ext>
            </a:extLst>
          </p:cNvPr>
          <p:cNvGrpSpPr/>
          <p:nvPr/>
        </p:nvGrpSpPr>
        <p:grpSpPr>
          <a:xfrm>
            <a:off x="2967286" y="5262520"/>
            <a:ext cx="1323784" cy="279777"/>
            <a:chOff x="1199220" y="3427123"/>
            <a:chExt cx="1323784" cy="279777"/>
          </a:xfrm>
        </p:grpSpPr>
        <p:sp>
          <p:nvSpPr>
            <p:cNvPr id="1112" name="椭圆 1111">
              <a:extLst>
                <a:ext uri="{FF2B5EF4-FFF2-40B4-BE49-F238E27FC236}">
                  <a16:creationId xmlns:a16="http://schemas.microsoft.com/office/drawing/2014/main" id="{D0C5E76D-821E-2AB7-5A5D-58ED86072B85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3" name="文本框 1112">
              <a:extLst>
                <a:ext uri="{FF2B5EF4-FFF2-40B4-BE49-F238E27FC236}">
                  <a16:creationId xmlns:a16="http://schemas.microsoft.com/office/drawing/2014/main" id="{48E95CDE-F200-A577-FAED-8D629F1BC430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Mellanox</a:t>
              </a:r>
            </a:p>
          </p:txBody>
        </p:sp>
        <p:sp>
          <p:nvSpPr>
            <p:cNvPr id="1114" name="文本框 1113">
              <a:extLst>
                <a:ext uri="{FF2B5EF4-FFF2-40B4-BE49-F238E27FC236}">
                  <a16:creationId xmlns:a16="http://schemas.microsoft.com/office/drawing/2014/main" id="{567F9311-FD98-5F6A-616F-B713CF81B46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15" name="组合 1114">
            <a:extLst>
              <a:ext uri="{FF2B5EF4-FFF2-40B4-BE49-F238E27FC236}">
                <a16:creationId xmlns:a16="http://schemas.microsoft.com/office/drawing/2014/main" id="{86719731-D493-8764-9D02-A02DF2D287B8}"/>
              </a:ext>
            </a:extLst>
          </p:cNvPr>
          <p:cNvGrpSpPr/>
          <p:nvPr/>
        </p:nvGrpSpPr>
        <p:grpSpPr>
          <a:xfrm>
            <a:off x="2963224" y="5383509"/>
            <a:ext cx="1835114" cy="282260"/>
            <a:chOff x="1199220" y="3427123"/>
            <a:chExt cx="1835114" cy="282260"/>
          </a:xfrm>
        </p:grpSpPr>
        <p:sp>
          <p:nvSpPr>
            <p:cNvPr id="1116" name="椭圆 1115">
              <a:extLst>
                <a:ext uri="{FF2B5EF4-FFF2-40B4-BE49-F238E27FC236}">
                  <a16:creationId xmlns:a16="http://schemas.microsoft.com/office/drawing/2014/main" id="{DF9FDB97-207A-6A76-4D7C-F03CDAB524A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7" name="文本框 1116">
              <a:extLst>
                <a:ext uri="{FF2B5EF4-FFF2-40B4-BE49-F238E27FC236}">
                  <a16:creationId xmlns:a16="http://schemas.microsoft.com/office/drawing/2014/main" id="{A438B69D-612C-BE97-0C7D-B0A628F73EA6}"/>
                </a:ext>
              </a:extLst>
            </p:cNvPr>
            <p:cNvSpPr txBox="1"/>
            <p:nvPr/>
          </p:nvSpPr>
          <p:spPr>
            <a:xfrm>
              <a:off x="1240391" y="3427123"/>
              <a:ext cx="15022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Accelink&amp;HG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A9638B35-125F-61F8-2DBA-3BDB891FE108}"/>
                </a:ext>
              </a:extLst>
            </p:cNvPr>
            <p:cNvSpPr txBox="1"/>
            <p:nvPr/>
          </p:nvSpPr>
          <p:spPr>
            <a:xfrm>
              <a:off x="2424734" y="3432384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68" name="组合 1167">
            <a:extLst>
              <a:ext uri="{FF2B5EF4-FFF2-40B4-BE49-F238E27FC236}">
                <a16:creationId xmlns:a16="http://schemas.microsoft.com/office/drawing/2014/main" id="{6A871EED-E72C-DB09-F827-160517EF6F37}"/>
              </a:ext>
            </a:extLst>
          </p:cNvPr>
          <p:cNvGrpSpPr/>
          <p:nvPr/>
        </p:nvGrpSpPr>
        <p:grpSpPr>
          <a:xfrm>
            <a:off x="4870857" y="3169838"/>
            <a:ext cx="1327426" cy="2319235"/>
            <a:chOff x="2884521" y="3150278"/>
            <a:chExt cx="1327426" cy="2319235"/>
          </a:xfrm>
        </p:grpSpPr>
        <p:grpSp>
          <p:nvGrpSpPr>
            <p:cNvPr id="1119" name="组合 1118">
              <a:extLst>
                <a:ext uri="{FF2B5EF4-FFF2-40B4-BE49-F238E27FC236}">
                  <a16:creationId xmlns:a16="http://schemas.microsoft.com/office/drawing/2014/main" id="{B32B7C9A-0C67-11C5-BD21-3D85C1328767}"/>
                </a:ext>
              </a:extLst>
            </p:cNvPr>
            <p:cNvGrpSpPr/>
            <p:nvPr/>
          </p:nvGrpSpPr>
          <p:grpSpPr>
            <a:xfrm>
              <a:off x="2884521" y="3150278"/>
              <a:ext cx="1323784" cy="279777"/>
              <a:chOff x="1199220" y="3427123"/>
              <a:chExt cx="1323784" cy="279777"/>
            </a:xfrm>
          </p:grpSpPr>
          <p:sp>
            <p:nvSpPr>
              <p:cNvPr id="1120" name="椭圆 1119">
                <a:extLst>
                  <a:ext uri="{FF2B5EF4-FFF2-40B4-BE49-F238E27FC236}">
                    <a16:creationId xmlns:a16="http://schemas.microsoft.com/office/drawing/2014/main" id="{5E736AB5-8940-41C2-6A00-0513136BD921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1" name="文本框 1120">
                <a:extLst>
                  <a:ext uri="{FF2B5EF4-FFF2-40B4-BE49-F238E27FC236}">
                    <a16:creationId xmlns:a16="http://schemas.microsoft.com/office/drawing/2014/main" id="{99262451-59EE-5CCF-35BB-443B5D8B3342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ASE</a:t>
                </a:r>
              </a:p>
            </p:txBody>
          </p:sp>
          <p:sp>
            <p:nvSpPr>
              <p:cNvPr id="1122" name="文本框 1121">
                <a:extLst>
                  <a:ext uri="{FF2B5EF4-FFF2-40B4-BE49-F238E27FC236}">
                    <a16:creationId xmlns:a16="http://schemas.microsoft.com/office/drawing/2014/main" id="{DC885EC5-3041-C8DF-9A1E-ABCD6B7FBCF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45%</a:t>
                </a:r>
              </a:p>
            </p:txBody>
          </p:sp>
        </p:grpSp>
        <p:grpSp>
          <p:nvGrpSpPr>
            <p:cNvPr id="1123" name="组合 1122">
              <a:extLst>
                <a:ext uri="{FF2B5EF4-FFF2-40B4-BE49-F238E27FC236}">
                  <a16:creationId xmlns:a16="http://schemas.microsoft.com/office/drawing/2014/main" id="{53FE1C08-20C1-A6BA-1792-FE01F9CCBAC9}"/>
                </a:ext>
              </a:extLst>
            </p:cNvPr>
            <p:cNvGrpSpPr/>
            <p:nvPr/>
          </p:nvGrpSpPr>
          <p:grpSpPr>
            <a:xfrm>
              <a:off x="2884521" y="4737617"/>
              <a:ext cx="1323784" cy="279777"/>
              <a:chOff x="1199220" y="3427123"/>
              <a:chExt cx="1323784" cy="279777"/>
            </a:xfrm>
          </p:grpSpPr>
          <p:sp>
            <p:nvSpPr>
              <p:cNvPr id="1124" name="椭圆 1123">
                <a:extLst>
                  <a:ext uri="{FF2B5EF4-FFF2-40B4-BE49-F238E27FC236}">
                    <a16:creationId xmlns:a16="http://schemas.microsoft.com/office/drawing/2014/main" id="{D7038E58-0932-F7E3-BA9B-81DBBC4D942C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5" name="文本框 1124">
                <a:extLst>
                  <a:ext uri="{FF2B5EF4-FFF2-40B4-BE49-F238E27FC236}">
                    <a16:creationId xmlns:a16="http://schemas.microsoft.com/office/drawing/2014/main" id="{DA39D2BD-13AF-9F8F-382E-A137E723ABE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Amkor</a:t>
                </a:r>
              </a:p>
            </p:txBody>
          </p:sp>
          <p:sp>
            <p:nvSpPr>
              <p:cNvPr id="1126" name="文本框 1125">
                <a:extLst>
                  <a:ext uri="{FF2B5EF4-FFF2-40B4-BE49-F238E27FC236}">
                    <a16:creationId xmlns:a16="http://schemas.microsoft.com/office/drawing/2014/main" id="{37B818A7-45E8-1864-4153-32F727E34AB9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29" name="组合 1128">
              <a:extLst>
                <a:ext uri="{FF2B5EF4-FFF2-40B4-BE49-F238E27FC236}">
                  <a16:creationId xmlns:a16="http://schemas.microsoft.com/office/drawing/2014/main" id="{B6BBFC03-929D-353A-6113-2D6E401E513A}"/>
                </a:ext>
              </a:extLst>
            </p:cNvPr>
            <p:cNvGrpSpPr/>
            <p:nvPr/>
          </p:nvGrpSpPr>
          <p:grpSpPr>
            <a:xfrm>
              <a:off x="2887497" y="5063936"/>
              <a:ext cx="1323784" cy="279777"/>
              <a:chOff x="1199220" y="3427123"/>
              <a:chExt cx="1323784" cy="279777"/>
            </a:xfrm>
          </p:grpSpPr>
          <p:sp>
            <p:nvSpPr>
              <p:cNvPr id="1130" name="椭圆 1129">
                <a:extLst>
                  <a:ext uri="{FF2B5EF4-FFF2-40B4-BE49-F238E27FC236}">
                    <a16:creationId xmlns:a16="http://schemas.microsoft.com/office/drawing/2014/main" id="{74173AFD-651B-0FB8-CC7E-5132121F9AB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D708BEBA-76E2-2E47-BF60-0B7AF26E227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JCET</a:t>
                </a:r>
              </a:p>
            </p:txBody>
          </p:sp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ED679D1C-8D33-49CE-2940-9BD93AD266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11%</a:t>
                </a:r>
              </a:p>
            </p:txBody>
          </p:sp>
        </p:grpSp>
        <p:grpSp>
          <p:nvGrpSpPr>
            <p:cNvPr id="1133" name="组合 1132">
              <a:extLst>
                <a:ext uri="{FF2B5EF4-FFF2-40B4-BE49-F238E27FC236}">
                  <a16:creationId xmlns:a16="http://schemas.microsoft.com/office/drawing/2014/main" id="{8D1A0A2A-A2CC-02F7-F56B-D276C0928807}"/>
                </a:ext>
              </a:extLst>
            </p:cNvPr>
            <p:cNvGrpSpPr/>
            <p:nvPr/>
          </p:nvGrpSpPr>
          <p:grpSpPr>
            <a:xfrm>
              <a:off x="2888163" y="5189736"/>
              <a:ext cx="1323784" cy="279777"/>
              <a:chOff x="1199220" y="3427123"/>
              <a:chExt cx="1323784" cy="279777"/>
            </a:xfrm>
          </p:grpSpPr>
          <p:sp>
            <p:nvSpPr>
              <p:cNvPr id="1134" name="椭圆 1133">
                <a:extLst>
                  <a:ext uri="{FF2B5EF4-FFF2-40B4-BE49-F238E27FC236}">
                    <a16:creationId xmlns:a16="http://schemas.microsoft.com/office/drawing/2014/main" id="{52C7CC8B-9A30-96A4-431B-72C5C65E89F3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CDA1E2AD-B365-F0C4-4A72-8919C4C7AB8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TFME</a:t>
                </a:r>
              </a:p>
            </p:txBody>
          </p:sp>
          <p:sp>
            <p:nvSpPr>
              <p:cNvPr id="1136" name="文本框 1135">
                <a:extLst>
                  <a:ext uri="{FF2B5EF4-FFF2-40B4-BE49-F238E27FC236}">
                    <a16:creationId xmlns:a16="http://schemas.microsoft.com/office/drawing/2014/main" id="{F1AE2283-CFA2-033E-ED32-7CB61B9DAB18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8%</a:t>
                </a:r>
              </a:p>
            </p:txBody>
          </p:sp>
        </p:grpSp>
      </p:grpSp>
      <p:grpSp>
        <p:nvGrpSpPr>
          <p:cNvPr id="1167" name="组合 1166">
            <a:extLst>
              <a:ext uri="{FF2B5EF4-FFF2-40B4-BE49-F238E27FC236}">
                <a16:creationId xmlns:a16="http://schemas.microsoft.com/office/drawing/2014/main" id="{C596BAA6-34DC-778F-18CF-D5DE9A4F943D}"/>
              </a:ext>
            </a:extLst>
          </p:cNvPr>
          <p:cNvGrpSpPr/>
          <p:nvPr/>
        </p:nvGrpSpPr>
        <p:grpSpPr>
          <a:xfrm>
            <a:off x="6423600" y="2267943"/>
            <a:ext cx="1859636" cy="3436660"/>
            <a:chOff x="4379834" y="2234081"/>
            <a:chExt cx="1859636" cy="3436660"/>
          </a:xfrm>
        </p:grpSpPr>
        <p:grpSp>
          <p:nvGrpSpPr>
            <p:cNvPr id="1137" name="组合 1136">
              <a:extLst>
                <a:ext uri="{FF2B5EF4-FFF2-40B4-BE49-F238E27FC236}">
                  <a16:creationId xmlns:a16="http://schemas.microsoft.com/office/drawing/2014/main" id="{57C8B67D-7A3C-78CD-E93A-CC8D1044EBC3}"/>
                </a:ext>
              </a:extLst>
            </p:cNvPr>
            <p:cNvGrpSpPr/>
            <p:nvPr/>
          </p:nvGrpSpPr>
          <p:grpSpPr>
            <a:xfrm>
              <a:off x="4379834" y="4399518"/>
              <a:ext cx="1331482" cy="351828"/>
              <a:chOff x="1199220" y="3403434"/>
              <a:chExt cx="1331482" cy="351828"/>
            </a:xfrm>
          </p:grpSpPr>
          <p:sp>
            <p:nvSpPr>
              <p:cNvPr id="1138" name="椭圆 1137">
                <a:extLst>
                  <a:ext uri="{FF2B5EF4-FFF2-40B4-BE49-F238E27FC236}">
                    <a16:creationId xmlns:a16="http://schemas.microsoft.com/office/drawing/2014/main" id="{9F1605C2-67B6-22F8-6E86-608787BE896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C461AF54-BB11-1124-E8C4-F3193FD1D61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40" name="文本框 1139">
                <a:extLst>
                  <a:ext uri="{FF2B5EF4-FFF2-40B4-BE49-F238E27FC236}">
                    <a16:creationId xmlns:a16="http://schemas.microsoft.com/office/drawing/2014/main" id="{ECBEC48D-6C10-D634-EA97-2B8CACB27CAC}"/>
                  </a:ext>
                </a:extLst>
              </p:cNvPr>
              <p:cNvSpPr txBox="1"/>
              <p:nvPr/>
            </p:nvSpPr>
            <p:spPr>
              <a:xfrm>
                <a:off x="1921102" y="3403434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1" name="组合 1140">
              <a:extLst>
                <a:ext uri="{FF2B5EF4-FFF2-40B4-BE49-F238E27FC236}">
                  <a16:creationId xmlns:a16="http://schemas.microsoft.com/office/drawing/2014/main" id="{693DA201-58E2-2E99-2272-2327CFC3C7E9}"/>
                </a:ext>
              </a:extLst>
            </p:cNvPr>
            <p:cNvGrpSpPr/>
            <p:nvPr/>
          </p:nvGrpSpPr>
          <p:grpSpPr>
            <a:xfrm>
              <a:off x="4379834" y="2234081"/>
              <a:ext cx="1417268" cy="351828"/>
              <a:chOff x="1199220" y="3414872"/>
              <a:chExt cx="1417268" cy="351828"/>
            </a:xfrm>
          </p:grpSpPr>
          <p:sp>
            <p:nvSpPr>
              <p:cNvPr id="1142" name="椭圆 1141">
                <a:extLst>
                  <a:ext uri="{FF2B5EF4-FFF2-40B4-BE49-F238E27FC236}">
                    <a16:creationId xmlns:a16="http://schemas.microsoft.com/office/drawing/2014/main" id="{9F8A8333-EC4F-60CA-E704-9270AA6B762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3" name="文本框 1142">
                <a:extLst>
                  <a:ext uri="{FF2B5EF4-FFF2-40B4-BE49-F238E27FC236}">
                    <a16:creationId xmlns:a16="http://schemas.microsoft.com/office/drawing/2014/main" id="{6FD63A19-6B91-FDC6-16CC-6413CFDB7FA3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1588781D-7183-9FB7-8239-4404E345D6D0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62%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5" name="组合 1144">
              <a:extLst>
                <a:ext uri="{FF2B5EF4-FFF2-40B4-BE49-F238E27FC236}">
                  <a16:creationId xmlns:a16="http://schemas.microsoft.com/office/drawing/2014/main" id="{CBE1BDB8-2320-A695-7437-DAFC89B57DD3}"/>
                </a:ext>
              </a:extLst>
            </p:cNvPr>
            <p:cNvGrpSpPr/>
            <p:nvPr/>
          </p:nvGrpSpPr>
          <p:grpSpPr>
            <a:xfrm>
              <a:off x="4379834" y="4697731"/>
              <a:ext cx="1323784" cy="279777"/>
              <a:chOff x="1199220" y="3427123"/>
              <a:chExt cx="1323784" cy="279777"/>
            </a:xfrm>
          </p:grpSpPr>
          <p:sp>
            <p:nvSpPr>
              <p:cNvPr id="1146" name="椭圆 1145">
                <a:extLst>
                  <a:ext uri="{FF2B5EF4-FFF2-40B4-BE49-F238E27FC236}">
                    <a16:creationId xmlns:a16="http://schemas.microsoft.com/office/drawing/2014/main" id="{18281B97-8904-CA92-3939-D14DDA4FDAF8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7" name="文本框 1146">
                <a:extLst>
                  <a:ext uri="{FF2B5EF4-FFF2-40B4-BE49-F238E27FC236}">
                    <a16:creationId xmlns:a16="http://schemas.microsoft.com/office/drawing/2014/main" id="{7CB05723-853A-DC84-9DFF-3425B483521D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Realtek</a:t>
                </a:r>
              </a:p>
            </p:txBody>
          </p:sp>
          <p:sp>
            <p:nvSpPr>
              <p:cNvPr id="1148" name="文本框 1147">
                <a:extLst>
                  <a:ext uri="{FF2B5EF4-FFF2-40B4-BE49-F238E27FC236}">
                    <a16:creationId xmlns:a16="http://schemas.microsoft.com/office/drawing/2014/main" id="{FDA11BD5-2633-32B0-ABB6-3DDD3FD135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49" name="组合 1148">
              <a:extLst>
                <a:ext uri="{FF2B5EF4-FFF2-40B4-BE49-F238E27FC236}">
                  <a16:creationId xmlns:a16="http://schemas.microsoft.com/office/drawing/2014/main" id="{80E7BD3A-5FCE-A6CD-52CF-FBDB8BA89A03}"/>
                </a:ext>
              </a:extLst>
            </p:cNvPr>
            <p:cNvGrpSpPr/>
            <p:nvPr/>
          </p:nvGrpSpPr>
          <p:grpSpPr>
            <a:xfrm>
              <a:off x="4379834" y="5318913"/>
              <a:ext cx="1859636" cy="351828"/>
              <a:chOff x="1210383" y="3436831"/>
              <a:chExt cx="1859636" cy="351828"/>
            </a:xfrm>
          </p:grpSpPr>
          <p:sp>
            <p:nvSpPr>
              <p:cNvPr id="1150" name="椭圆 1149">
                <a:extLst>
                  <a:ext uri="{FF2B5EF4-FFF2-40B4-BE49-F238E27FC236}">
                    <a16:creationId xmlns:a16="http://schemas.microsoft.com/office/drawing/2014/main" id="{D7FF41B1-B8CF-6FEF-7CFA-B7A4146A0A6D}"/>
                  </a:ext>
                </a:extLst>
              </p:cNvPr>
              <p:cNvSpPr/>
              <p:nvPr/>
            </p:nvSpPr>
            <p:spPr>
              <a:xfrm>
                <a:off x="1210383" y="3590279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600A7C75-12F1-52A1-26A6-AE8BD8F7D130}"/>
                  </a:ext>
                </a:extLst>
              </p:cNvPr>
              <p:cNvSpPr txBox="1"/>
              <p:nvPr/>
            </p:nvSpPr>
            <p:spPr>
              <a:xfrm>
                <a:off x="1259695" y="3501092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 err="1">
                    <a:cs typeface="+mn-ea"/>
                    <a:sym typeface="+mn-lt"/>
                  </a:rPr>
                  <a:t>Centec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A4E1AD7A-95EB-57EF-B22E-41E757F369A8}"/>
                  </a:ext>
                </a:extLst>
              </p:cNvPr>
              <p:cNvSpPr txBox="1"/>
              <p:nvPr/>
            </p:nvSpPr>
            <p:spPr>
              <a:xfrm>
                <a:off x="1932265" y="3436831"/>
                <a:ext cx="1137754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1.6%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16nm</a:t>
                </a:r>
              </a:p>
            </p:txBody>
          </p:sp>
        </p:grpSp>
      </p:grpSp>
      <p:grpSp>
        <p:nvGrpSpPr>
          <p:cNvPr id="1166" name="组合 1165">
            <a:extLst>
              <a:ext uri="{FF2B5EF4-FFF2-40B4-BE49-F238E27FC236}">
                <a16:creationId xmlns:a16="http://schemas.microsoft.com/office/drawing/2014/main" id="{BAAB9CDE-1928-FF1B-E376-60FCC6FC6AE1}"/>
              </a:ext>
            </a:extLst>
          </p:cNvPr>
          <p:cNvGrpSpPr/>
          <p:nvPr/>
        </p:nvGrpSpPr>
        <p:grpSpPr>
          <a:xfrm>
            <a:off x="7999936" y="2092029"/>
            <a:ext cx="1432921" cy="3457539"/>
            <a:chOff x="6052583" y="2055025"/>
            <a:chExt cx="1432921" cy="3457539"/>
          </a:xfrm>
        </p:grpSpPr>
        <p:grpSp>
          <p:nvGrpSpPr>
            <p:cNvPr id="1153" name="组合 1152">
              <a:extLst>
                <a:ext uri="{FF2B5EF4-FFF2-40B4-BE49-F238E27FC236}">
                  <a16:creationId xmlns:a16="http://schemas.microsoft.com/office/drawing/2014/main" id="{2B686DEF-C320-552A-4202-DDCF537FFB62}"/>
                </a:ext>
              </a:extLst>
            </p:cNvPr>
            <p:cNvGrpSpPr/>
            <p:nvPr/>
          </p:nvGrpSpPr>
          <p:grpSpPr>
            <a:xfrm>
              <a:off x="6052583" y="2055025"/>
              <a:ext cx="1417268" cy="351828"/>
              <a:chOff x="1199220" y="3414872"/>
              <a:chExt cx="1417268" cy="351828"/>
            </a:xfrm>
          </p:grpSpPr>
          <p:sp>
            <p:nvSpPr>
              <p:cNvPr id="1154" name="椭圆 1153">
                <a:extLst>
                  <a:ext uri="{FF2B5EF4-FFF2-40B4-BE49-F238E27FC236}">
                    <a16:creationId xmlns:a16="http://schemas.microsoft.com/office/drawing/2014/main" id="{54EFD5FF-BEA5-A055-A43B-12DCA5F39827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5" name="文本框 1154">
                <a:extLst>
                  <a:ext uri="{FF2B5EF4-FFF2-40B4-BE49-F238E27FC236}">
                    <a16:creationId xmlns:a16="http://schemas.microsoft.com/office/drawing/2014/main" id="{05F706B8-4AA9-B86C-1BB8-C1AD3DBD8BD4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56" name="文本框 1155">
                <a:extLst>
                  <a:ext uri="{FF2B5EF4-FFF2-40B4-BE49-F238E27FC236}">
                    <a16:creationId xmlns:a16="http://schemas.microsoft.com/office/drawing/2014/main" id="{8ADA7060-3AF7-69B4-77CF-068181E211BB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57" name="组合 1156">
              <a:extLst>
                <a:ext uri="{FF2B5EF4-FFF2-40B4-BE49-F238E27FC236}">
                  <a16:creationId xmlns:a16="http://schemas.microsoft.com/office/drawing/2014/main" id="{5CCF344C-7726-169E-85A7-836DC666D811}"/>
                </a:ext>
              </a:extLst>
            </p:cNvPr>
            <p:cNvGrpSpPr/>
            <p:nvPr/>
          </p:nvGrpSpPr>
          <p:grpSpPr>
            <a:xfrm>
              <a:off x="6052583" y="4423761"/>
              <a:ext cx="1417268" cy="351828"/>
              <a:chOff x="1199220" y="3414872"/>
              <a:chExt cx="1417268" cy="351828"/>
            </a:xfrm>
          </p:grpSpPr>
          <p:sp>
            <p:nvSpPr>
              <p:cNvPr id="1158" name="椭圆 1157">
                <a:extLst>
                  <a:ext uri="{FF2B5EF4-FFF2-40B4-BE49-F238E27FC236}">
                    <a16:creationId xmlns:a16="http://schemas.microsoft.com/office/drawing/2014/main" id="{124C6199-D17C-6C40-0B52-5F6577CE970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4120408B-AFC4-77F7-6A85-C0CD2EB6377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60" name="文本框 1159">
                <a:extLst>
                  <a:ext uri="{FF2B5EF4-FFF2-40B4-BE49-F238E27FC236}">
                    <a16:creationId xmlns:a16="http://schemas.microsoft.com/office/drawing/2014/main" id="{7492B719-61FE-3144-D613-1243085EBE6E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61" name="组合 1160">
              <a:extLst>
                <a:ext uri="{FF2B5EF4-FFF2-40B4-BE49-F238E27FC236}">
                  <a16:creationId xmlns:a16="http://schemas.microsoft.com/office/drawing/2014/main" id="{5EEE5114-6C8A-3945-DA05-C59D51BB9972}"/>
                </a:ext>
              </a:extLst>
            </p:cNvPr>
            <p:cNvGrpSpPr/>
            <p:nvPr/>
          </p:nvGrpSpPr>
          <p:grpSpPr>
            <a:xfrm>
              <a:off x="6052583" y="5172471"/>
              <a:ext cx="1432921" cy="340093"/>
              <a:chOff x="1199220" y="3404600"/>
              <a:chExt cx="1432921" cy="340093"/>
            </a:xfrm>
          </p:grpSpPr>
          <p:sp>
            <p:nvSpPr>
              <p:cNvPr id="1162" name="椭圆 1161">
                <a:extLst>
                  <a:ext uri="{FF2B5EF4-FFF2-40B4-BE49-F238E27FC236}">
                    <a16:creationId xmlns:a16="http://schemas.microsoft.com/office/drawing/2014/main" id="{AA314420-34A9-161E-C997-E14D44B5EA9A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63" name="文本框 1162">
                <a:extLst>
                  <a:ext uri="{FF2B5EF4-FFF2-40B4-BE49-F238E27FC236}">
                    <a16:creationId xmlns:a16="http://schemas.microsoft.com/office/drawing/2014/main" id="{FB7991D8-44FB-7BD7-3525-AAFE5C0210F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Credo</a:t>
                </a:r>
              </a:p>
            </p:txBody>
          </p:sp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9699E8C2-F7C2-1344-944E-0F4798114955}"/>
                  </a:ext>
                </a:extLst>
              </p:cNvPr>
              <p:cNvSpPr txBox="1"/>
              <p:nvPr/>
            </p:nvSpPr>
            <p:spPr>
              <a:xfrm>
                <a:off x="2022541" y="3404600"/>
                <a:ext cx="609600" cy="340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&lt;5%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</p:grpSp>
      <p:sp>
        <p:nvSpPr>
          <p:cNvPr id="1171" name="椭圆 1170">
            <a:extLst>
              <a:ext uri="{FF2B5EF4-FFF2-40B4-BE49-F238E27FC236}">
                <a16:creationId xmlns:a16="http://schemas.microsoft.com/office/drawing/2014/main" id="{6FCB387F-FCE7-5083-5A2F-B5969890412A}"/>
              </a:ext>
            </a:extLst>
          </p:cNvPr>
          <p:cNvSpPr/>
          <p:nvPr/>
        </p:nvSpPr>
        <p:spPr>
          <a:xfrm>
            <a:off x="4999272" y="1196447"/>
            <a:ext cx="98624" cy="98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FDED4D4B-4032-77DC-4320-D9A589CACBF8}"/>
              </a:ext>
            </a:extLst>
          </p:cNvPr>
          <p:cNvSpPr/>
          <p:nvPr/>
        </p:nvSpPr>
        <p:spPr>
          <a:xfrm>
            <a:off x="5099241" y="1043709"/>
            <a:ext cx="106994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5" name="椭圆 1174">
            <a:extLst>
              <a:ext uri="{FF2B5EF4-FFF2-40B4-BE49-F238E27FC236}">
                <a16:creationId xmlns:a16="http://schemas.microsoft.com/office/drawing/2014/main" id="{54C6257E-5B42-FE2C-4FC7-A58AD84368D8}"/>
              </a:ext>
            </a:extLst>
          </p:cNvPr>
          <p:cNvSpPr/>
          <p:nvPr/>
        </p:nvSpPr>
        <p:spPr>
          <a:xfrm>
            <a:off x="6170528" y="1196447"/>
            <a:ext cx="98624" cy="986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6" name="矩形 1175">
            <a:extLst>
              <a:ext uri="{FF2B5EF4-FFF2-40B4-BE49-F238E27FC236}">
                <a16:creationId xmlns:a16="http://schemas.microsoft.com/office/drawing/2014/main" id="{237729D4-1F47-254A-2119-6132C3A4B7AE}"/>
              </a:ext>
            </a:extLst>
          </p:cNvPr>
          <p:cNvSpPr/>
          <p:nvPr/>
        </p:nvSpPr>
        <p:spPr>
          <a:xfrm>
            <a:off x="6270498" y="1043709"/>
            <a:ext cx="115733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0" name="矩形 1179">
            <a:extLst>
              <a:ext uri="{FF2B5EF4-FFF2-40B4-BE49-F238E27FC236}">
                <a16:creationId xmlns:a16="http://schemas.microsoft.com/office/drawing/2014/main" id="{35D5AC3B-876C-173F-492B-7F034B52437E}"/>
              </a:ext>
            </a:extLst>
          </p:cNvPr>
          <p:cNvSpPr/>
          <p:nvPr/>
        </p:nvSpPr>
        <p:spPr>
          <a:xfrm>
            <a:off x="3295534" y="1438591"/>
            <a:ext cx="2337164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1" name="矩形 1180">
            <a:extLst>
              <a:ext uri="{FF2B5EF4-FFF2-40B4-BE49-F238E27FC236}">
                <a16:creationId xmlns:a16="http://schemas.microsoft.com/office/drawing/2014/main" id="{7047E656-C296-97EA-477B-E7DB5A36F749}"/>
              </a:ext>
            </a:extLst>
          </p:cNvPr>
          <p:cNvSpPr/>
          <p:nvPr/>
        </p:nvSpPr>
        <p:spPr>
          <a:xfrm>
            <a:off x="6492792" y="1453223"/>
            <a:ext cx="252458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Electronics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2971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0751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 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industry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chain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 rot="5400000">
            <a:off x="11367326" y="3054297"/>
            <a:ext cx="108459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Customers</a:t>
            </a:r>
            <a:endParaRPr dirty="0"/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5604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Wafer</a:t>
            </a:r>
            <a:endParaRPr sz="1400" dirty="0"/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1281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EIC Wafer</a:t>
            </a:r>
            <a:endParaRPr sz="1400" dirty="0"/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99296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 err="1"/>
              <a:t>SiPh</a:t>
            </a:r>
            <a:r>
              <a:rPr lang="en-US" sz="1400" dirty="0"/>
              <a:t> Wafer</a:t>
            </a:r>
            <a:endParaRPr sz="1400" dirty="0"/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4640576" y="2551263"/>
            <a:ext cx="163281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6827679" y="2551262"/>
            <a:ext cx="22243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  <a:r>
              <a:rPr lang="en-US" sz="1400" dirty="0"/>
              <a:t>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Lens</a:t>
            </a:r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9799477" y="2562619"/>
            <a:ext cx="106054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CPO</a:t>
            </a:r>
            <a:r>
              <a:rPr lang="en-US" sz="1400" dirty="0"/>
              <a:t> Switch</a:t>
            </a:r>
            <a:endParaRPr sz="1400" dirty="0"/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534337" y="5196170"/>
            <a:ext cx="95795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Laser Chip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265177" y="5196170"/>
            <a:ext cx="156549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ELS</a:t>
            </a:r>
            <a:r>
              <a:rPr lang="en-US" sz="1400" dirty="0"/>
              <a:t> Laser Module</a:t>
            </a:r>
            <a:endParaRPr sz="1400" dirty="0"/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9949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Fiber</a:t>
            </a:r>
            <a:endParaRPr sz="1400" dirty="0"/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0594"/>
            <a:ext cx="72872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Design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0594"/>
            <a:ext cx="84414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Foundry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4882984" y="1400594"/>
            <a:ext cx="104772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Packaging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6764648" y="1400594"/>
            <a:ext cx="244233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Optoelectronic Integration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595157" y="1400594"/>
            <a:ext cx="146918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Final Assembly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9464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8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22751095782126640188E+00&quot;&gt;&lt;m_msothmcolidx val=&quot;0&quot;/&gt;&lt;m_rgb r=&quot;00&quot; g=&quot;52&quot; b=&quot;D9&quot;/&gt;&lt;/elem&gt;&lt;elem m_fUsage=&quot;5.42907718892266855093E-01&quot;&gt;&lt;m_msothmcolidx val=&quot;0&quot;/&gt;&lt;m_rgb r=&quot;C1&quot; g=&quot;E1&quot; b=&quot;FE&quot;/&gt;&lt;/elem&gt;&lt;elem m_fUsage=&quot;4.71012869724624916312E-02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9AGnnBaZltFpC79uhRNkEU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NAGnnBaZltFpC79uhRNkEUDRGF0YQAWAAAAAlBlcnNvbmFsSWQAAQAAAAAAAk5hbWUACwAAAFBlcnNvbmFsSWQAEFZlcnNpb24AAAAAAAlMYXN0V3JpdGUAs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8880348"/>
  <p:tag name="EMPOWERCHARTSPROPERTIES_A_LENGTH" val="24576"/>
  <p:tag name="RUNTIME_ID" val="a42a71d3-1212-4f7b-9f92-078c8c21d33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U8HAC9fj9Mk/AVSt920Ag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U8HAC9fj9Mk/AVSt920AgDRGF0YQAWAAAAAlBlcnNvbmFsSWQAAQAAAAAAAk5hbWUACwAAAFBlcnNvbmFsSWQAEFZlcnNpb24AAAAAAAlMYXN0V3JpdGUA2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9369570"/>
  <p:tag name="EMPOWERCHARTSPROPERTIES_A_LENGTH" val="24576"/>
  <p:tag name="RUNTIME_ID" val="84dd2ccd-1789-47d8-a03f-1d56549baec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T4yJ4wnONMsMOlw8nsa6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T4yJ4wnONMsMOlw8nsa6wDRGF0YQAWAAAAAlBlcnNvbmFsSWQAAQAAAAAAAk5hbWUACwAAAFBlcnNvbmFsSWQAEFZlcnNpb24AAAAAAAlMYXN0V3JpdGUAv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1747863"/>
  <p:tag name="EMPOWERCHARTSPROPERTIES_A_LENGTH" val="24576"/>
  <p:tag name="RUNTIME_ID" val="07947cc4-10f1-41e4-9fca-2f7b105030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5KfBUqlVdDmthDxechaE8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5KfBUqlVdDmthDxechaE8DRGF0YQAWAAAAAlBlcnNvbmFsSWQAAQAAAAAAAk5hbWUACwAAAFBlcnNvbmFsSWQAEFZlcnNpb24AAAAAAAlMYXN0V3JpdGUAL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0313416"/>
  <p:tag name="EMPOWERCHARTSPROPERTIES_A_LENGTH" val="24576"/>
  <p:tag name="RUNTIME_ID" val="a9c46273-a22e-4b0e-98fc-78ba4e2ec66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BE7s2sUq.CqF9g8mj._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WrU2aXqYquu2kM3NqwQ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WPEnZm1vuGMZRZdHEPaJ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yeq5NkA4exYvPiptqTw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zcKw3iHuXeXx11ylZa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IfMePetepor.EpMvLIl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bIzA774DUydItlCnvpx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sY.y7jpg.WzYRzLKQCV6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k_PjbItYHeX_A2bLX9T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bNGgSTxv0oId7mjIhqA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q7aEz7UCVsxWGuJokqe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91vvfWEuXHI8p2ss1XX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zBjMrX2tboR_nIej0YV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8zMdU9kvYUCATFna9sn2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6gWc73Dbls8NwEOMv9Mo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6zKy9Ca9e9p40r5qy0hEA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1sXZ7CwQoMy2ztWQLodw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60GeuDc1gEqYzYhfCBh2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pZUwOTYTKIYIGj5TwhmdQ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FRMzAE7Q8ZCMcY0cJK4w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rK7FCJg_ZrpFQz764vGQ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AWlYIAXCcTeXwuibQcoC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wj8LBM5T7QCLWeuZMX1y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Z_OeLo0II57f1ElqidIKA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rGakZUBQecW1ZsS3P78Q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w1_odSW06WOa3VG2BIyY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8wjURUoaL0JQ6mF6.XC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fpnXD4ZWYShr7GAKFbw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PFsDQF19_hozMwS30T5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V.DOFavRVvDCSMWkRYL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tB8OWFg6y72RjGygMhj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ddI.HsIjl0Xffl1.KG9Q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Ko.Z.8UVi9EX4ZLieVeQ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8MuQRPhOUVeIG4Ow823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.Y_dfgHrioNxxs_R.Q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ogSiZIguezNkNze8fhI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CqhAWLYmuKdEcImErIu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5Ikw13sDp1OyGn2etfy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QZLAW8ZG36j._XFkdnb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KNot7qFrLxGcNjatJZt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it7PAhKW8tuiM9n_dnLw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ikgJ5sZGWiv04PzTOXg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7RefiyZa_1uWHNSullV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qdQSoP4tUT_D1kc2iujQ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S9EUkWvmVH7nnExUULhw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9BNTdlG3cIB_JwRRAg1R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7WbbA9bsbzVOSN0enq4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1SwnOZyudJaLrExxZEL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wzh7KhocP044M_aCSZd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fJqqcDkz5G6tNZjzDU7A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FklwYUfvClQZ63Sn90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ZaNRrBJNO8BEeAWKY4q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5S6i4EIRpYFmRoHuGu2w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ZXYIpYhlf7Km3fdzAcH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Td4pJX6Jg6ibxZ0eacR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J37lG2e_ZGXxGC6mxe.A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tS7Jf9KVx3COBQ8EKnYQ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PJpQtdpTaKPDccmXqGKQ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0gIyfF69Guq2HQUlZITQ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Eddl7w4bNLs3vKrcofbw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ewTzsYSybqF9gFzZZemg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sJGo8CHv7CB3qxDdYI0Q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BiCSrXgIsJdEX6fmrgg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1bLTdEvrX2KppyNVxoQ8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IAKd8p_DYIw8zQZRg5nA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Nt_G.51FchU_rKIRDvwmQ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xEb7ELwcbLBrdoVoHO8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YUW9fOpqYVFQAm9zCUaLg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SZsxVFpZ8vAuJi0Ti_f1w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roX8tcph5wAE5BvMSLqZ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9o7WG2rBsqp5EBZmd8Kw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gywV900iGkeLOesWzDCQ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RTI4kDB5fHcKog_oUEog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zK0bw0JBn4OIaXWVOm0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QCHlON60YhDtMBi4Rcd1A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BOjuiIYORNu7YdRC5b9yQ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e1pjKh8i.p9m_8V.Cmy8Q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qdD5dUxzfdwWVaaQgcJ8A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3RWuZDjJegpxfARVJWSJg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8n7KyDDzAUT3oLBTENhHA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J81Juse4_6N4T3CiUJBHA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T.KrK4gNyTT0LPd5ElfEA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nkLN5Cuky_hE8y9yeh4.A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5kj2XLrYRqUrn7uJlk2g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eNLKbHev4jR.Kzm8cFVa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C47CnNqYp3D42FRJ48MQ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170mHRm2fj9hHgzmyXbgA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.eaafkBmv_v9t4iXJpYXA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8xkHbz_JfkDm1DKlNQuWg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98au7.GszXVAxqCFSmsw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eZEtnvDfgsO78Hw94.hQ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yYbfddXThvKF.y1At.SPw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xsU7ACpff8RuV8KvUVuQ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1BE_6.0ivETXkbKpFi_A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5HFsbC0DI4zZvckuNs4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E5e9ozXdlYWnliYhtW0Kw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Kt.hiPU7UPq6EcaYzSg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bkA9M_H2DnFUnZmgT07w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BsNp3x1IMgMsCb.TqhUaw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Q9Ho0eMYLkOwrc_D2S0JQ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QOj_w.aboWve.s06Gb5w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P1VIr_0d38GtUNhH.9X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7rmgYX9ndXwW1an6_U4g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18cprmdNuFBeBvDpCZfg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LJ9uMyF9CmLOXY8jYuHA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hto7E7VESs7oNgc6UeQw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Z2fRLXgibbMyA1zyKHkw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9BJ7O9DxnsB2Fb2c7bQg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WKPRgrPrEhVLa3oOQSB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NmMgxxlSRy4_oX3_mNaA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2clUYM5HAAQ0ZzNmk.ew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2JD0TFChiq0ryMurqW9A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OTtNz1lVgjhcVSfGB.Sg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jy.7aMMW3FyTlo0nf0fw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nYFqo0nbms3jjRchkNtg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Rxm_S1ZBNQMO6SvT0Dcg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sx.YumzwMnlp3T_e.66A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E9o8Yel4XnbYxsrY_S7Q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Us31k8H9i2YCoIwB1QsQ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pmX8ynLwIQd32djB2LQ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R0P6mR53w1cKA0PEKoGw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w_6OOzSXyaCPNL5CFxlw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JzujuWxh2WxPJNS1UPcA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JZ.FYzPnwLYRW7VVQjJw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72WdqltxpSl2aWnvcrEw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t.10na06NQqgkIIdRQhw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BetSECsp7VJyd3QUISz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tmSuhW5xMD1W7aBGJdcA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SPugWYXmHeFlv.QcWgfQ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1YU6DQk6Paxv_cQXYIAg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zO3ynAOPRWx5J3c_L_AA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V4oa0rLXZcYzp7vAY0Jw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J8sy4tQY9s93GbEePUxA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k5q6yPSTyWeSoxfYadPg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_RdgNy_86NarlH4rEjtg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oFPGU5FEYdEdGtwJVH3A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t3DxUXZ58J9v67yO7qjQ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b8qKmf_IFx3gIdKYntug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yUl4x2qmQkVdb53HXCkw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p_BupVdSEUHlrKCCIQKg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xYkXycr3cSJHDGuG.NGQ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GVlcK4y4VRYWQ8VEGcNg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7qfojbT7o08LH47WYYKQ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DAvuuhpMQcL3jfEanNxw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b6VzZj70hvB6dTxd60T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EZEiwjt47EzUSH7rzkw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e8Gwc29oBnmBe2Pkky_g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eGuWf4orBUE0sOPtMxLg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k7QAcRoP2bNBtmu2tUqg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bM2jszMPBTTUJC7saPsA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VUM7dnxIdfBsljdTc6qQ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coXrLPlZvYzMzruUGggA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HzdHR4M5VCyaLtVjW0lw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CIU7Xjg0JNugw9Y88Stw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YbmDHKppaZIlZ6AGTyqg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W3.5CZYQcWqyrwrD9Bg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_1FzBapMlX8bqViYWKA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xfcC6s0YOO4jumwhwZqw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EbCl70fBbAmC9m7S8YBQ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4OnO4UbTbmfM6tJAOPSw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Z8ROc8TO9JMKUjugfA6g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WmVT4bGgJgEVG_FMkKjA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H4cQppHm7q3J_IBXmilQ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TcnlgArQwT0UCeCtZFsA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G3KxkP7Bgxw0y0qre8zA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46019</TotalTime>
  <Words>3650</Words>
  <Application>Microsoft Office PowerPoint</Application>
  <PresentationFormat>宽屏</PresentationFormat>
  <Paragraphs>946</Paragraphs>
  <Slides>34</Slides>
  <Notes>28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8" baseType="lpstr">
      <vt:lpstr>Futura</vt:lpstr>
      <vt:lpstr>Inherit</vt:lpstr>
      <vt:lpstr>PingFang SC</vt:lpstr>
      <vt:lpstr>等线</vt:lpstr>
      <vt:lpstr>楷体</vt:lpstr>
      <vt:lpstr>微软雅黑</vt:lpstr>
      <vt:lpstr>Arial</vt:lpstr>
      <vt:lpstr>Georgia</vt:lpstr>
      <vt:lpstr>Poppins</vt:lpstr>
      <vt:lpstr>Segoe UI</vt:lpstr>
      <vt:lpstr>Verdana</vt:lpstr>
      <vt:lpstr>Wingdings</vt:lpstr>
      <vt:lpstr>1_White</vt:lpstr>
      <vt:lpstr>think-cell 幻灯片</vt:lpstr>
      <vt:lpstr>CPO</vt:lpstr>
      <vt:lpstr>Table of contents</vt:lpstr>
      <vt:lpstr>Why the focus on CPO? Nvidia, Broadcom, and DeepSeek</vt:lpstr>
      <vt:lpstr>PowerPoint 演示文稿</vt:lpstr>
      <vt:lpstr>The copper speed wall in data center; Breaking through with optical interconnects</vt:lpstr>
      <vt:lpstr>PowerPoint 演示文稿</vt:lpstr>
      <vt:lpstr>PowerPoint 演示文稿</vt:lpstr>
      <vt:lpstr>Optical interconnect solutions: PO, NPO, and CPO</vt:lpstr>
      <vt:lpstr>PowerPoint 演示文稿</vt:lpstr>
      <vt:lpstr>PO is mainstream; CPO is the focus of tech giants</vt:lpstr>
      <vt:lpstr>CPO faces 3 hurdles; NPO proposed as the bridge to CPO</vt:lpstr>
      <vt:lpstr>NPO deployed first in IDCs; CPO as the endgame for aggressive giants</vt:lpstr>
      <vt:lpstr>IDC interconnect by distance: scale-up vs. scale-out</vt:lpstr>
      <vt:lpstr>​Overseas: CPO for scale-out first; Domestic: CPO for scale-up first</vt:lpstr>
      <vt:lpstr>Overseas: pursue scale-out &amp; scale-up in parallel; CPO initial focus on scale-out (1-2 Years)</vt:lpstr>
      <vt:lpstr>Domestic Vendors Rely on Scale-Up to Close Performance Gap at High Power Cost</vt:lpstr>
      <vt:lpstr>CPO: a multi-billion-dollar market paved by data rate scaling</vt:lpstr>
      <vt:lpstr>CPO key modules: silicon photonics, electrical IC, switch ASIC, and integration &amp; delivery</vt:lpstr>
      <vt:lpstr>Supply chain: EICs &amp; switch chips - large Scale, high margin, long R&amp;D</vt:lpstr>
      <vt:lpstr>​Supply chain focus: Broadcom-led integrated giants and strategic domestic startups like ficonTEC</vt:lpstr>
      <vt:lpstr>Broadcom: first to commercialize CPO with a sustained lead</vt:lpstr>
      <vt:lpstr>Broadcom: the most comprehensive CPO capability profile</vt:lpstr>
      <vt:lpstr>Why Broadcom bets on CPO: aligning with HPC’s in-house ASIC trend + network support for ecosystem positioning</vt:lpstr>
      <vt:lpstr>Why Broadcom bets on CPO: aligning with HPC’s in-house ASIC trend + network support for ecosystem positioning</vt:lpstr>
      <vt:lpstr>FiconTEC: Key player for domestic substitution in CPO</vt:lpstr>
      <vt:lpstr>FiconTEC: Key player for domestic substitution in CPO</vt:lpstr>
      <vt:lpstr>PowerPoint 演示文稿</vt:lpstr>
      <vt:lpstr>Summary</vt:lpstr>
      <vt:lpstr>DeepSeek: Domestic LLM restricted by GPU interconnection bandwidth; CPO as priority exploration direction</vt:lpstr>
      <vt:lpstr>DeepSeek: H800, H100, and B200 bandwidth and inference rate comparison</vt:lpstr>
      <vt:lpstr>Overseas strong in electronics, weak in optics; Domestic vise versa - industry evidences</vt:lpstr>
      <vt:lpstr>Broadcom CPO industry chain</vt:lpstr>
      <vt:lpstr>CPO Map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5347</cp:revision>
  <dcterms:created xsi:type="dcterms:W3CDTF">2025-06-16T21:28:33Z</dcterms:created>
  <dcterms:modified xsi:type="dcterms:W3CDTF">2025-10-11T02:04:06Z</dcterms:modified>
</cp:coreProperties>
</file>