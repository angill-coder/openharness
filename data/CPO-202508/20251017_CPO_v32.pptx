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7.xml" ContentType="application/vnd.openxmlformats-officedocument.presentationml.notesSlide+xml"/>
  <Override PartName="/ppt/tags/tag131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32.xml" ContentType="application/vnd.openxmlformats-officedocument.presentationml.tags+xml"/>
  <Override PartName="/ppt/notesSlides/notesSlide19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70.xml" ContentType="application/vnd.openxmlformats-officedocument.presentationml.tags+xml"/>
  <Override PartName="/ppt/notesSlides/notesSlide21.xml" ContentType="application/vnd.openxmlformats-officedocument.presentationml.notesSlide+xml"/>
  <Override PartName="/ppt/tags/tag171.xml" ContentType="application/vnd.openxmlformats-officedocument.presentationml.tags+xml"/>
  <Override PartName="/ppt/notesSlides/notesSlide22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3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97.xml" ContentType="application/vnd.openxmlformats-officedocument.presentationml.tags+xml"/>
  <Override PartName="/ppt/notesSlides/notesSlide25.xml" ContentType="application/vnd.openxmlformats-officedocument.presentationml.notesSlide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44" r:id="rId16"/>
    <p:sldId id="370" r:id="rId17"/>
    <p:sldId id="372" r:id="rId18"/>
    <p:sldId id="2147473084" r:id="rId19"/>
    <p:sldId id="327" r:id="rId20"/>
    <p:sldId id="331" r:id="rId21"/>
    <p:sldId id="283" r:id="rId22"/>
    <p:sldId id="364" r:id="rId23"/>
    <p:sldId id="326" r:id="rId24"/>
    <p:sldId id="315" r:id="rId25"/>
    <p:sldId id="367" r:id="rId26"/>
    <p:sldId id="339" r:id="rId27"/>
    <p:sldId id="363" r:id="rId28"/>
    <p:sldId id="2147473077" r:id="rId29"/>
    <p:sldId id="341" r:id="rId30"/>
    <p:sldId id="322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2" autoAdjust="0"/>
    <p:restoredTop sz="88420" autoAdjust="0"/>
  </p:normalViewPr>
  <p:slideViewPr>
    <p:cSldViewPr snapToGrid="0">
      <p:cViewPr varScale="1">
        <p:scale>
          <a:sx n="142" d="100"/>
          <a:sy n="142" d="100"/>
        </p:scale>
        <p:origin x="10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719601903937693E-2"/>
          <c:y val="8.2516955538809347E-2"/>
          <c:w val="0.92102985720467334"/>
          <c:h val="0.83496608892238133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313717005625271E-2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B67-4037-8374-C267E08C88D5}"/>
                </c:ext>
              </c:extLst>
            </c:dLbl>
            <c:dLbl>
              <c:idx val="1"/>
              <c:layout>
                <c:manualLayout>
                  <c:x val="0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B67-4037-8374-C267E08C88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38</c:v>
                </c:pt>
                <c:pt idx="1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B67-4037-8374-C267E08C8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6F-44EE-A627-2529698B4DC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6F-44EE-A627-2529698B4D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6F-44EE-A627-2529698B4D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75%</a:t>
            </a:r>
            <a:r>
              <a:rPr lang="zh-CN" altLang="en-US" dirty="0"/>
              <a:t>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+Buffer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chart" Target="../charts/chart6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18.emf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26" Type="http://schemas.openxmlformats.org/officeDocument/2006/relationships/tags" Target="../tags/tag106.xml"/><Relationship Id="rId39" Type="http://schemas.openxmlformats.org/officeDocument/2006/relationships/tags" Target="../tags/tag119.xml"/><Relationship Id="rId21" Type="http://schemas.openxmlformats.org/officeDocument/2006/relationships/tags" Target="../tags/tag101.xml"/><Relationship Id="rId34" Type="http://schemas.openxmlformats.org/officeDocument/2006/relationships/tags" Target="../tags/tag114.xml"/><Relationship Id="rId42" Type="http://schemas.openxmlformats.org/officeDocument/2006/relationships/tags" Target="../tags/tag122.xml"/><Relationship Id="rId47" Type="http://schemas.openxmlformats.org/officeDocument/2006/relationships/image" Target="../media/image18.emf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9" Type="http://schemas.openxmlformats.org/officeDocument/2006/relationships/tags" Target="../tags/tag109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tags" Target="../tags/tag104.xml"/><Relationship Id="rId32" Type="http://schemas.openxmlformats.org/officeDocument/2006/relationships/tags" Target="../tags/tag112.xml"/><Relationship Id="rId37" Type="http://schemas.openxmlformats.org/officeDocument/2006/relationships/tags" Target="../tags/tag117.xml"/><Relationship Id="rId40" Type="http://schemas.openxmlformats.org/officeDocument/2006/relationships/tags" Target="../tags/tag120.xml"/><Relationship Id="rId45" Type="http://schemas.openxmlformats.org/officeDocument/2006/relationships/notesSlide" Target="../notesSlides/notesSlide16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tags" Target="../tags/tag103.xml"/><Relationship Id="rId28" Type="http://schemas.openxmlformats.org/officeDocument/2006/relationships/tags" Target="../tags/tag108.xml"/><Relationship Id="rId36" Type="http://schemas.openxmlformats.org/officeDocument/2006/relationships/tags" Target="../tags/tag116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31" Type="http://schemas.openxmlformats.org/officeDocument/2006/relationships/tags" Target="../tags/tag111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tags" Target="../tags/tag102.xml"/><Relationship Id="rId27" Type="http://schemas.openxmlformats.org/officeDocument/2006/relationships/tags" Target="../tags/tag107.xml"/><Relationship Id="rId30" Type="http://schemas.openxmlformats.org/officeDocument/2006/relationships/tags" Target="../tags/tag110.xml"/><Relationship Id="rId35" Type="http://schemas.openxmlformats.org/officeDocument/2006/relationships/tags" Target="../tags/tag115.xml"/><Relationship Id="rId43" Type="http://schemas.openxmlformats.org/officeDocument/2006/relationships/tags" Target="../tags/tag123.xml"/><Relationship Id="rId48" Type="http://schemas.openxmlformats.org/officeDocument/2006/relationships/chart" Target="../charts/chart7.xml"/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tags" Target="../tags/tag105.xml"/><Relationship Id="rId33" Type="http://schemas.openxmlformats.org/officeDocument/2006/relationships/tags" Target="../tags/tag113.xml"/><Relationship Id="rId38" Type="http://schemas.openxmlformats.org/officeDocument/2006/relationships/tags" Target="../tags/tag118.xml"/><Relationship Id="rId46" Type="http://schemas.openxmlformats.org/officeDocument/2006/relationships/oleObject" Target="../embeddings/oleObject18.bin"/><Relationship Id="rId20" Type="http://schemas.openxmlformats.org/officeDocument/2006/relationships/tags" Target="../tags/tag100.xml"/><Relationship Id="rId41" Type="http://schemas.openxmlformats.org/officeDocument/2006/relationships/tags" Target="../tags/tag1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26.xml"/><Relationship Id="rId21" Type="http://schemas.openxmlformats.org/officeDocument/2006/relationships/image" Target="../media/image97.png"/><Relationship Id="rId7" Type="http://schemas.openxmlformats.org/officeDocument/2006/relationships/tags" Target="../tags/tag130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25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28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96.png"/><Relationship Id="rId4" Type="http://schemas.openxmlformats.org/officeDocument/2006/relationships/tags" Target="../tags/tag127.xml"/><Relationship Id="rId9" Type="http://schemas.openxmlformats.org/officeDocument/2006/relationships/notesSlide" Target="../notesSlides/notesSlide17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1.png"/><Relationship Id="rId12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Relationship Id="rId6" Type="http://schemas.openxmlformats.org/officeDocument/2006/relationships/chart" Target="../charts/chart8.xml"/><Relationship Id="rId11" Type="http://schemas.openxmlformats.org/officeDocument/2006/relationships/image" Target="../media/image66.png"/><Relationship Id="rId5" Type="http://schemas.openxmlformats.org/officeDocument/2006/relationships/image" Target="../media/image18.emf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20.bin"/><Relationship Id="rId9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45.xml"/><Relationship Id="rId18" Type="http://schemas.openxmlformats.org/officeDocument/2006/relationships/tags" Target="../tags/tag150.xml"/><Relationship Id="rId26" Type="http://schemas.openxmlformats.org/officeDocument/2006/relationships/tags" Target="../tags/tag158.xml"/><Relationship Id="rId39" Type="http://schemas.openxmlformats.org/officeDocument/2006/relationships/notesSlide" Target="../notesSlides/notesSlide20.xml"/><Relationship Id="rId21" Type="http://schemas.openxmlformats.org/officeDocument/2006/relationships/tags" Target="../tags/tag153.xml"/><Relationship Id="rId34" Type="http://schemas.openxmlformats.org/officeDocument/2006/relationships/tags" Target="../tags/tag166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29" Type="http://schemas.openxmlformats.org/officeDocument/2006/relationships/tags" Target="../tags/tag161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24" Type="http://schemas.openxmlformats.org/officeDocument/2006/relationships/tags" Target="../tags/tag156.xml"/><Relationship Id="rId32" Type="http://schemas.openxmlformats.org/officeDocument/2006/relationships/tags" Target="../tags/tag164.xml"/><Relationship Id="rId37" Type="http://schemas.openxmlformats.org/officeDocument/2006/relationships/tags" Target="../tags/tag169.xml"/><Relationship Id="rId40" Type="http://schemas.openxmlformats.org/officeDocument/2006/relationships/oleObject" Target="../embeddings/oleObject22.bin"/><Relationship Id="rId45" Type="http://schemas.openxmlformats.org/officeDocument/2006/relationships/image" Target="../media/image110.png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23" Type="http://schemas.openxmlformats.org/officeDocument/2006/relationships/tags" Target="../tags/tag155.xml"/><Relationship Id="rId28" Type="http://schemas.openxmlformats.org/officeDocument/2006/relationships/tags" Target="../tags/tag160.xml"/><Relationship Id="rId36" Type="http://schemas.openxmlformats.org/officeDocument/2006/relationships/tags" Target="../tags/tag168.xml"/><Relationship Id="rId10" Type="http://schemas.openxmlformats.org/officeDocument/2006/relationships/tags" Target="../tags/tag142.xml"/><Relationship Id="rId19" Type="http://schemas.openxmlformats.org/officeDocument/2006/relationships/tags" Target="../tags/tag151.xml"/><Relationship Id="rId31" Type="http://schemas.openxmlformats.org/officeDocument/2006/relationships/tags" Target="../tags/tag163.xml"/><Relationship Id="rId44" Type="http://schemas.openxmlformats.org/officeDocument/2006/relationships/chart" Target="../charts/chart1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Relationship Id="rId22" Type="http://schemas.openxmlformats.org/officeDocument/2006/relationships/tags" Target="../tags/tag154.xml"/><Relationship Id="rId27" Type="http://schemas.openxmlformats.org/officeDocument/2006/relationships/tags" Target="../tags/tag159.xml"/><Relationship Id="rId30" Type="http://schemas.openxmlformats.org/officeDocument/2006/relationships/tags" Target="../tags/tag162.xml"/><Relationship Id="rId35" Type="http://schemas.openxmlformats.org/officeDocument/2006/relationships/tags" Target="../tags/tag167.xml"/><Relationship Id="rId43" Type="http://schemas.openxmlformats.org/officeDocument/2006/relationships/chart" Target="../charts/chart11.xml"/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5" Type="http://schemas.openxmlformats.org/officeDocument/2006/relationships/tags" Target="../tags/tag157.xml"/><Relationship Id="rId33" Type="http://schemas.openxmlformats.org/officeDocument/2006/relationships/tags" Target="../tags/tag165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52.xml"/><Relationship Id="rId4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1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74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73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72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tags" Target="../tags/tag188.xml"/><Relationship Id="rId18" Type="http://schemas.openxmlformats.org/officeDocument/2006/relationships/tags" Target="../tags/tag193.xml"/><Relationship Id="rId26" Type="http://schemas.openxmlformats.org/officeDocument/2006/relationships/chart" Target="../charts/chart14.xml"/><Relationship Id="rId3" Type="http://schemas.openxmlformats.org/officeDocument/2006/relationships/tags" Target="../tags/tag178.xml"/><Relationship Id="rId21" Type="http://schemas.openxmlformats.org/officeDocument/2006/relationships/tags" Target="../tags/tag196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tags" Target="../tags/tag192.xml"/><Relationship Id="rId25" Type="http://schemas.openxmlformats.org/officeDocument/2006/relationships/image" Target="../media/image8.emf"/><Relationship Id="rId2" Type="http://schemas.openxmlformats.org/officeDocument/2006/relationships/tags" Target="../tags/tag177.xml"/><Relationship Id="rId16" Type="http://schemas.openxmlformats.org/officeDocument/2006/relationships/tags" Target="../tags/tag191.xml"/><Relationship Id="rId20" Type="http://schemas.openxmlformats.org/officeDocument/2006/relationships/tags" Target="../tags/tag195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180.xml"/><Relationship Id="rId15" Type="http://schemas.openxmlformats.org/officeDocument/2006/relationships/tags" Target="../tags/tag190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185.xml"/><Relationship Id="rId19" Type="http://schemas.openxmlformats.org/officeDocument/2006/relationships/tags" Target="../tags/tag194.xml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tags" Target="../tags/tag189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98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99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9410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sz="2300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sz="2300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9800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Consider GB200 NVL72 cluster with 9,216 B200 GPUs with 2-layer interconnect.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 interconnect transmission rate eclipsed by optical interconnect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​Optical hits 448Gbps, leaving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behind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6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958710" y="3420791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730678" y="22608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045491" y="5391972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822345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415596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376583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33996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73713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257554" y="22608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598423" y="2976270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583098" y="4894890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372953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485563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6944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6952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444998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685356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75578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48976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46872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29542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5559" y="325617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569834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631944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54142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990265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46075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530341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527137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771654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700035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377218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617576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66935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68800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42198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40094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22764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68959" y="5187328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485703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566494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47364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5019972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39297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462561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374163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255035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778353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322019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314893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538819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768981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571225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693230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69405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769702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698083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699332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470767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86108" y="3438679"/>
            <a:ext cx="11210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179885" y="2260875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86108" y="5299639"/>
            <a:ext cx="278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102.4Tbps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(16 × 6.4T)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423619" y="6232885"/>
            <a:ext cx="4187134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1726406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17256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349500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349500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6701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697943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9318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923024"/>
            <a:ext cx="415694" cy="27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may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≫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vs.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4830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4830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4034120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273213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677778" y="5273213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736218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856165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4125026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943071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0477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prioritized in scale-out and accelerated in scale-up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943071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50285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335050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47639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80278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044485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660696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089234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429000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2981640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data rate scaling and port growth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early-stage, with most players in initial strategic layout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1234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401" imgH="401" progId="TCLayout.ActiveDocument.1">
                  <p:embed/>
                </p:oleObj>
              </mc:Choice>
              <mc:Fallback>
                <p:oleObj name="think-cell 幻灯片" r:id="rId11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1852434" y="4388334"/>
            <a:ext cx="3317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20" name="Chart 3">
            <a:extLst>
              <a:ext uri="{FF2B5EF4-FFF2-40B4-BE49-F238E27FC236}">
                <a16:creationId xmlns:a16="http://schemas.microsoft.com/office/drawing/2014/main" id="{7D4925FE-3470-A824-65DB-3ECC5292801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01789052"/>
              </p:ext>
            </p:extLst>
          </p:nvPr>
        </p:nvGraphicFramePr>
        <p:xfrm>
          <a:off x="387350" y="2066925"/>
          <a:ext cx="7337425" cy="421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B489EA60-FB9E-B479-EF8F-4B96201852A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687388" y="604996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0707544-5DC2-450D-800F-06F729107162}" type="datetime'''''''''''''''''''''''''2''''''''''''0''2''4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E3919886-5C91-1E70-3A1D-9878438494F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067175" y="604996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6619F04-B9AF-456C-8ACB-D3DC2B3B4819}" type="datetime'''''''''''2''0''''''2''''''''''''''''''''''''''''''''''''''5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0" name="Text Placeholder 4">
            <a:extLst>
              <a:ext uri="{FF2B5EF4-FFF2-40B4-BE49-F238E27FC236}">
                <a16:creationId xmlns:a16="http://schemas.microsoft.com/office/drawing/2014/main" id="{BC7B20BB-C38D-55C6-8377-34AA6329FC2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386638" y="6049963"/>
            <a:ext cx="512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682446-8E78-4001-8410-D7B1B2974D6B}" type="datetime'''''''2''''''''''''''''0''''''''''''''''2''''6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r>
              <a:rPr lang="en-US" altLang="zh-CN" sz="1400" dirty="0">
                <a:effectLst/>
                <a:cs typeface="+mn-cs"/>
              </a:rPr>
              <a:t>E</a:t>
            </a:r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738438" y="1860550"/>
            <a:ext cx="238125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8330961" y="3449726"/>
            <a:ext cx="3528377" cy="1130359"/>
            <a:chOff x="8330962" y="3369711"/>
            <a:chExt cx="3528377" cy="1130359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3528377" cy="76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8330961" y="2049069"/>
            <a:ext cx="6114326" cy="1177637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3770682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2027–28 to 2026.</a:t>
              </a:r>
            </a:p>
          </p:txBody>
        </p:sp>
      </p:grp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443292" y="3469202"/>
            <a:ext cx="692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40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8EA2409A-BAC3-B86A-7829-7DD960D5E89F}"/>
              </a:ext>
            </a:extLst>
          </p:cNvPr>
          <p:cNvSpPr/>
          <p:nvPr/>
        </p:nvSpPr>
        <p:spPr>
          <a:xfrm>
            <a:off x="4271867" y="2401083"/>
            <a:ext cx="3400425" cy="1126939"/>
          </a:xfrm>
          <a:custGeom>
            <a:avLst/>
            <a:gdLst>
              <a:gd name="connsiteX0" fmla="*/ 3353147 w 3355924"/>
              <a:gd name="connsiteY0" fmla="*/ 0 h 1108353"/>
              <a:gd name="connsiteX1" fmla="*/ 3355924 w 3355924"/>
              <a:gd name="connsiteY1" fmla="*/ 31966 h 1108353"/>
              <a:gd name="connsiteX2" fmla="*/ 3355924 w 3355924"/>
              <a:gd name="connsiteY2" fmla="*/ 1063951 h 1108353"/>
              <a:gd name="connsiteX3" fmla="*/ 0 w 3355924"/>
              <a:gd name="connsiteY3" fmla="*/ 1108353 h 1108353"/>
              <a:gd name="connsiteX4" fmla="*/ 3353147 w 3355924"/>
              <a:gd name="connsiteY4" fmla="*/ 0 h 110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5924" h="1108353">
                <a:moveTo>
                  <a:pt x="3353147" y="0"/>
                </a:moveTo>
                <a:lnTo>
                  <a:pt x="3355924" y="31966"/>
                </a:lnTo>
                <a:lnTo>
                  <a:pt x="3355924" y="1063951"/>
                </a:lnTo>
                <a:lnTo>
                  <a:pt x="0" y="1108353"/>
                </a:lnTo>
                <a:lnTo>
                  <a:pt x="3353147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C90B8B1-FB15-F189-57AB-74DD8FAC12F8}"/>
              </a:ext>
            </a:extLst>
          </p:cNvPr>
          <p:cNvSpPr/>
          <p:nvPr/>
        </p:nvSpPr>
        <p:spPr>
          <a:xfrm>
            <a:off x="7662672" y="2334767"/>
            <a:ext cx="521208" cy="1196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A93FB98-297C-B532-4214-27E43624EFFC}"/>
              </a:ext>
            </a:extLst>
          </p:cNvPr>
          <p:cNvSpPr txBox="1"/>
          <p:nvPr/>
        </p:nvSpPr>
        <p:spPr>
          <a:xfrm>
            <a:off x="5072608" y="4296173"/>
            <a:ext cx="3317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E9F351E7-C6DE-5848-D3CB-18F38D3CE9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8643" y="4291085"/>
            <a:ext cx="631014" cy="304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0794" y="4370864"/>
            <a:ext cx="631014" cy="30424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椭圆 104">
            <a:extLst>
              <a:ext uri="{FF2B5EF4-FFF2-40B4-BE49-F238E27FC236}">
                <a16:creationId xmlns:a16="http://schemas.microsoft.com/office/drawing/2014/main" id="{60A4F9E3-CD48-F399-7825-8414EC477106}"/>
              </a:ext>
            </a:extLst>
          </p:cNvPr>
          <p:cNvSpPr/>
          <p:nvPr/>
        </p:nvSpPr>
        <p:spPr>
          <a:xfrm>
            <a:off x="4237369" y="4439600"/>
            <a:ext cx="86582" cy="8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6B77CCB7-D3DE-56FA-E8F3-5B4B0ECBA6F0}"/>
              </a:ext>
            </a:extLst>
          </p:cNvPr>
          <p:cNvSpPr/>
          <p:nvPr/>
        </p:nvSpPr>
        <p:spPr>
          <a:xfrm>
            <a:off x="1033310" y="4547772"/>
            <a:ext cx="86582" cy="86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7422808" y="2073329"/>
            <a:ext cx="692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companies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365152" y="2186625"/>
            <a:ext cx="3192223" cy="3183822"/>
            <a:chOff x="1395906" y="3402250"/>
            <a:chExt cx="3192223" cy="3183822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395906" y="3402250"/>
              <a:ext cx="3192223" cy="3183822"/>
              <a:chOff x="1267109" y="3264772"/>
              <a:chExt cx="3192223" cy="3183822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1267109" y="4454742"/>
                <a:ext cx="2076555" cy="1993852"/>
                <a:chOff x="-118078" y="4118410"/>
                <a:chExt cx="2953015" cy="1993852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571912629"/>
                    </p:ext>
                  </p:extLst>
                </p:nvPr>
              </p:nvGraphicFramePr>
              <p:xfrm>
                <a:off x="-118078" y="4118410"/>
                <a:ext cx="2953015" cy="174662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232266" y="580448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i="0" u="none" strike="noStrike" cap="none" normalizeH="0" baseline="0" dirty="0">
                      <a:ln>
                        <a:noFill/>
                      </a:ln>
                      <a:solidFill>
                        <a:schemeClr val="accent6">
                          <a:lumMod val="10000"/>
                        </a:schemeClr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459337" y="3264772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841" y="4428779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308209" y="3573625"/>
            <a:ext cx="3377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 equipment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428261" y="3302741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2462" y="4706200"/>
            <a:ext cx="794640" cy="838986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8067034C-D718-F43D-DE45-6885B8AEAF3D}"/>
              </a:ext>
            </a:extLst>
          </p:cNvPr>
          <p:cNvGrpSpPr/>
          <p:nvPr/>
        </p:nvGrpSpPr>
        <p:grpSpPr>
          <a:xfrm>
            <a:off x="2308209" y="5593818"/>
            <a:ext cx="3502442" cy="653141"/>
            <a:chOff x="3221374" y="5100438"/>
            <a:chExt cx="3502442" cy="653141"/>
          </a:xfrm>
        </p:grpSpPr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BCA0442-1230-9A00-EB53-12F4962257B3}"/>
                </a:ext>
              </a:extLst>
            </p:cNvPr>
            <p:cNvSpPr txBox="1"/>
            <p:nvPr/>
          </p:nvSpPr>
          <p:spPr>
            <a:xfrm>
              <a:off x="3221374" y="5100438"/>
              <a:ext cx="2710651" cy="373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ASSEMBLYLINE 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Series</a:t>
              </a:r>
              <a:endParaRPr lang="zh-CN" altLang="en-US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449F9DE-04A3-C679-0A3E-51CD7E98111D}"/>
                </a:ext>
              </a:extLst>
            </p:cNvPr>
            <p:cNvSpPr txBox="1"/>
            <p:nvPr/>
          </p:nvSpPr>
          <p:spPr>
            <a:xfrm>
              <a:off x="3253976" y="5445802"/>
              <a:ext cx="3469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6370" y="3048615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2476844" y="2750780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2628152" y="447455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2538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511659" y="2804037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图表 56">
            <a:extLst>
              <a:ext uri="{FF2B5EF4-FFF2-40B4-BE49-F238E27FC236}">
                <a16:creationId xmlns:a16="http://schemas.microsoft.com/office/drawing/2014/main" id="{8BFE400F-6A99-7834-9D82-53F2788DA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6365890"/>
              </p:ext>
            </p:extLst>
          </p:nvPr>
        </p:nvGraphicFramePr>
        <p:xfrm>
          <a:off x="6535494" y="3182055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64" name="组合 63">
            <a:extLst>
              <a:ext uri="{FF2B5EF4-FFF2-40B4-BE49-F238E27FC236}">
                <a16:creationId xmlns:a16="http://schemas.microsoft.com/office/drawing/2014/main" id="{400CB502-63EF-FBC8-D378-1D3CD4CB83AB}"/>
              </a:ext>
            </a:extLst>
          </p:cNvPr>
          <p:cNvGrpSpPr/>
          <p:nvPr/>
        </p:nvGrpSpPr>
        <p:grpSpPr>
          <a:xfrm>
            <a:off x="3661431" y="4689327"/>
            <a:ext cx="2352330" cy="911928"/>
            <a:chOff x="3413830" y="4553687"/>
            <a:chExt cx="2352330" cy="911928"/>
          </a:xfrm>
        </p:grpSpPr>
        <p:pic>
          <p:nvPicPr>
            <p:cNvPr id="35" name="图像" descr="图像">
              <a:extLst>
                <a:ext uri="{FF2B5EF4-FFF2-40B4-BE49-F238E27FC236}">
                  <a16:creationId xmlns:a16="http://schemas.microsoft.com/office/drawing/2014/main" id="{4E2D8880-945C-EBA6-EF8B-5FF6C5004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05530" y="4553687"/>
              <a:ext cx="717208" cy="34579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7412890-DF33-E443-4B29-DF265BEB8374}"/>
                </a:ext>
              </a:extLst>
            </p:cNvPr>
            <p:cNvSpPr txBox="1"/>
            <p:nvPr/>
          </p:nvSpPr>
          <p:spPr>
            <a:xfrm>
              <a:off x="3413830" y="4942395"/>
              <a:ext cx="23523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Sole supplier 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of CPO optical coupling equipment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663534" y="2977743"/>
            <a:ext cx="6157730" cy="721163"/>
            <a:chOff x="3647918" y="2836213"/>
            <a:chExt cx="6157730" cy="721163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6157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428261" y="5160050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data center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CPO is the long-term bet, while near-term solution is not 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43685548825170350540E+00&quot;&gt;&lt;m_msothmcolidx val=&quot;0&quot;/&gt;&lt;m_rgb r=&quot;00&quot; g=&quot;52&quot; b=&quot;D9&quot;/&gt;&lt;/elem&gt;&lt;elem m_fUsage=&quot;3.95779727072462617077E-01&quot;&gt;&lt;m_msothmcolidx val=&quot;0&quot;/&gt;&lt;m_rgb r=&quot;C1&quot; g=&quot;E1&quot; b=&quot;FE&quot;/&gt;&lt;/elem&gt;&lt;elem m_fUsage=&quot;3.4336838202925157315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xTLoqOZY.VknIUBvpLt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mptHrUhQQwiW818cZGo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cZ4ldOFDMyXpbCdiSyc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50655</TotalTime>
  <Words>3896</Words>
  <Application>Microsoft Office PowerPoint</Application>
  <PresentationFormat>宽屏</PresentationFormat>
  <Paragraphs>969</Paragraphs>
  <Slides>30</Slides>
  <Notes>26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5888</cp:revision>
  <dcterms:created xsi:type="dcterms:W3CDTF">2025-06-16T21:28:33Z</dcterms:created>
  <dcterms:modified xsi:type="dcterms:W3CDTF">2025-10-16T02:32:19Z</dcterms:modified>
</cp:coreProperties>
</file>