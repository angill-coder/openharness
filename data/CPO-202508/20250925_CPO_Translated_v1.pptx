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notesSlides/notesSlide1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95.xml" ContentType="application/vnd.openxmlformats-officedocument.presentationml.tags+xml"/>
  <Override PartName="/ppt/notesSlides/notesSlide13.xml" ContentType="application/vnd.openxmlformats-officedocument.presentationml.notesSlide+xml"/>
  <Override PartName="/ppt/tags/tag96.xml" ContentType="application/vnd.openxmlformats-officedocument.presentationml.tags+xml"/>
  <Override PartName="/ppt/notesSlides/notesSlide14.xml" ContentType="application/vnd.openxmlformats-officedocument.presentationml.notesSlide+xml"/>
  <Override PartName="/ppt/tags/tag97.xml" ContentType="application/vnd.openxmlformats-officedocument.presentationml.tags+xml"/>
  <Override PartName="/ppt/notesSlides/notesSlide15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16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tags/tag161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62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21.xml" ContentType="application/vnd.openxmlformats-officedocument.presentationml.notesSlid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22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193.xml" ContentType="application/vnd.openxmlformats-officedocument.presentationml.tags+xml"/>
  <Override PartName="/ppt/notesSlides/notesSlide24.xml" ContentType="application/vnd.openxmlformats-officedocument.presentationml.notesSlide+xml"/>
  <Override PartName="/ppt/tags/tag194.xml" ContentType="application/vnd.openxmlformats-officedocument.presentationml.tags+xml"/>
  <Override PartName="/ppt/notesSlides/notesSlide25.xml" ContentType="application/vnd.openxmlformats-officedocument.presentationml.notesSlide+xml"/>
  <Override PartName="/ppt/tags/tag1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336" r:id="rId3"/>
    <p:sldId id="386" r:id="rId4"/>
    <p:sldId id="362" r:id="rId5"/>
    <p:sldId id="338" r:id="rId6"/>
    <p:sldId id="332" r:id="rId7"/>
    <p:sldId id="319" r:id="rId8"/>
    <p:sldId id="317" r:id="rId9"/>
    <p:sldId id="321" r:id="rId10"/>
    <p:sldId id="334" r:id="rId11"/>
    <p:sldId id="2147473074" r:id="rId12"/>
    <p:sldId id="320" r:id="rId13"/>
    <p:sldId id="364" r:id="rId14"/>
    <p:sldId id="2147473075" r:id="rId15"/>
    <p:sldId id="326" r:id="rId16"/>
    <p:sldId id="315" r:id="rId17"/>
    <p:sldId id="344" r:id="rId18"/>
    <p:sldId id="342" r:id="rId19"/>
    <p:sldId id="367" r:id="rId20"/>
    <p:sldId id="370" r:id="rId21"/>
    <p:sldId id="372" r:id="rId22"/>
    <p:sldId id="327" r:id="rId23"/>
    <p:sldId id="2147473076" r:id="rId24"/>
    <p:sldId id="328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</p14:sldIdLst>
        </p14:section>
        <p14:section name="01. Why CPO?" id="{200816D2-54B9-45F9-8CDC-D4443BE7A066}">
          <p14:sldIdLst>
            <p14:sldId id="386"/>
            <p14:sldId id="362"/>
          </p14:sldIdLst>
        </p14:section>
        <p14:section name="02. Why optical? Why co-packaged?" id="{9A5BC1CD-E46C-43F3-91AB-DCB40303C4FD}">
          <p14:sldIdLst>
            <p14:sldId id="338"/>
            <p14:sldId id="332"/>
            <p14:sldId id="319"/>
          </p14:sldIdLst>
        </p14:section>
        <p14:section name="CPO: A In-Depth Look" id="{AC662842-13A9-4DD4-839E-4873B26B8162}">
          <p14:sldIdLst>
            <p14:sldId id="317"/>
            <p14:sldId id="321"/>
          </p14:sldIdLst>
        </p14:section>
        <p14:section name="03. Where CPO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04. How big?" id="{5A34DE6B-36BE-4840-9C61-5B0269E52512}">
          <p14:sldIdLst>
            <p14:sldId id="2147473075"/>
          </p14:sldIdLst>
        </p14:section>
        <p14:section name="0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06. Key players to watch: Broadcom and ficonTEC" id="{2FC5CD99-587C-4ED3-8213-2F2A4313F971}">
          <p14:sldIdLst>
            <p14:sldId id="342"/>
            <p14:sldId id="367"/>
            <p14:sldId id="370"/>
            <p14:sldId id="372"/>
            <p14:sldId id="327"/>
            <p14:sldId id="2147473076"/>
            <p14:sldId id="328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F2F2F2"/>
    <a:srgbClr val="DDE3F1"/>
    <a:srgbClr val="ECF6FF"/>
    <a:srgbClr val="C1E1FE"/>
    <a:srgbClr val="9ABBFF"/>
    <a:srgbClr val="A6A6A6"/>
    <a:srgbClr val="9A9D9F"/>
    <a:srgbClr val="EBF1FF"/>
    <a:srgbClr val="03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9" autoAdjust="0"/>
    <p:restoredTop sz="91262" autoAdjust="0"/>
  </p:normalViewPr>
  <p:slideViewPr>
    <p:cSldViewPr snapToGrid="0">
      <p:cViewPr>
        <p:scale>
          <a:sx n="100" d="100"/>
          <a:sy n="100" d="100"/>
        </p:scale>
        <p:origin x="265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3" d="100"/>
        <a:sy n="8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56853854203"/>
          <c:y val="7.6243607624360762E-2"/>
          <c:w val="0.87129403557725849"/>
          <c:h val="0.847047884704788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303-432B-AD1E-C42EBAE3B62A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03-432B-AD1E-C42EBAE3B6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2247759"/>
        <c:axId val="1"/>
      </c:barChart>
      <c:catAx>
        <c:axId val="1712247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2247759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4775160599571735"/>
          <c:w val="0.72258064516129028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2-4ECB-904A-5DBA6E9A2E6A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1134903640256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2-4ECB-904A-5DBA6E9A2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06786015"/>
        <c:axId val="1"/>
      </c:barChart>
      <c:catAx>
        <c:axId val="1406786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06786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4775160599571735"/>
          <c:w val="0.92817679558011046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8736616702355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4-4DFF-955C-D9401872E6C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E4-4DFF-955C-D9401872E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81938383"/>
        <c:axId val="1"/>
      </c:barChart>
      <c:catAx>
        <c:axId val="28193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193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FF-4627-AD04-29F063A7CAC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FF-4627-AD04-29F063A7CAC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FF-4627-AD04-29F063A7CA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F-4627-AD04-29F063A7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6137791"/>
        <c:axId val="1"/>
      </c:barChart>
      <c:catAx>
        <c:axId val="7261377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61377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470616226504874E-2"/>
          <c:y val="7.9325935059597202E-2"/>
          <c:w val="0.86581013561741615"/>
          <c:h val="0.78914919852034526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48-4575-B5CF-1CB658B9D019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348-4575-B5CF-1CB658B9D019}"/>
                </c:ext>
              </c:extLst>
            </c:dLbl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80</c:v>
                </c:pt>
                <c:pt idx="1">
                  <c:v>67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348-4575-B5CF-1CB658B9D019}"/>
            </c:ext>
          </c:extLst>
        </c:ser>
        <c:ser>
          <c:idx val="2"/>
          <c:order val="2"/>
          <c:spPr>
            <a:ln w="19050" cmpd="sng" algn="ctr">
              <a:solidFill>
                <a:schemeClr val="accent1"/>
              </a:solidFill>
              <a:prstDash val="dash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4268379728765169E-2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7348-4575-B5CF-1CB658B9D019}"/>
                </c:ext>
              </c:extLst>
            </c:dLbl>
            <c:dLbl>
              <c:idx val="1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348-4575-B5CF-1CB658B9D019}"/>
                </c:ext>
              </c:extLst>
            </c:dLbl>
            <c:dLbl>
              <c:idx val="2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Sheet1!$A$4:$C$4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27.500000000000004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348-4575-B5CF-1CB658B9D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730609828300769E-2"/>
          <c:y val="0.1318622174381055"/>
          <c:w val="0.8099467140319716"/>
          <c:h val="0.73627556512378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36B-4E1A-88B8-6329369F1BAD}"/>
              </c:ext>
            </c:extLst>
          </c:dPt>
          <c:dPt>
            <c:idx val="1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36B-4E1A-88B8-6329369F1BAD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36B-4E1A-88B8-6329369F1BAD}"/>
              </c:ext>
            </c:extLst>
          </c:dPt>
          <c:dLbls>
            <c:dLbl>
              <c:idx val="0"/>
              <c:layout>
                <c:manualLayout>
                  <c:x val="1.9538188277087035E-2"/>
                  <c:y val="-5.920344456404736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36B-4E1A-88B8-6329369F1BAD}"/>
                </c:ext>
              </c:extLst>
            </c:dLbl>
            <c:dLbl>
              <c:idx val="1"/>
              <c:layout>
                <c:manualLayout>
                  <c:x val="-1.6577856719952634E-2"/>
                  <c:y val="9.149623250807320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36B-4E1A-88B8-6329369F1BAD}"/>
                </c:ext>
              </c:extLst>
            </c:dLbl>
            <c:dLbl>
              <c:idx val="2"/>
              <c:layout>
                <c:manualLayout>
                  <c:x val="-1.0657193605683837E-2"/>
                  <c:y val="-3.928955866523143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36B-4E1A-88B8-6329369F1B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39.473684210526315</c:v>
                </c:pt>
                <c:pt idx="1">
                  <c:v>52.631578947368418</c:v>
                </c:pt>
                <c:pt idx="2">
                  <c:v>7.8947368421052628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6B-4E1A-88B8-6329369F1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656E-EAEA-8D4A-1CED-12B29598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475089-A630-7400-0A7F-2EDDD8BE6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7CFBF1-A7DD-97D5-1C46-06E719797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1BC9FA-B046-79AD-EAB1-CE96EA49F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850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AB-BA7C-DD8C-C418-E95DBC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70EFF-4685-F733-FC4D-715EFE65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D006D-3A81-EE25-94C2-12CC7BC30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1D6F-24C1-86CE-7D65-53B8CB8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900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notesSlide" Target="../notesSlides/notesSlide5.xml"/><Relationship Id="rId3" Type="http://schemas.openxmlformats.org/officeDocument/2006/relationships/tags" Target="../tags/tag13.xml"/><Relationship Id="rId21" Type="http://schemas.openxmlformats.org/officeDocument/2006/relationships/chart" Target="../charts/chart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oleObject" Target="../embeddings/oleObject6.bin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29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.xml"/><Relationship Id="rId10" Type="http://schemas.openxmlformats.org/officeDocument/2006/relationships/chart" Target="../charts/chart3.xml"/><Relationship Id="rId4" Type="http://schemas.openxmlformats.org/officeDocument/2006/relationships/tags" Target="../tags/tag30.xml"/><Relationship Id="rId9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1" Type="http://schemas.openxmlformats.org/officeDocument/2006/relationships/image" Target="../media/image8.emf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oleObject" Target="../embeddings/oleObject8.bin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10" Type="http://schemas.openxmlformats.org/officeDocument/2006/relationships/tags" Target="../tags/tag41.xml"/><Relationship Id="rId19" Type="http://schemas.openxmlformats.org/officeDocument/2006/relationships/notesSlide" Target="../notesSlides/notesSlide7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9.png"/><Relationship Id="rId3" Type="http://schemas.openxmlformats.org/officeDocument/2006/relationships/tags" Target="../tags/tag52.xml"/><Relationship Id="rId7" Type="http://schemas.openxmlformats.org/officeDocument/2006/relationships/notesSlide" Target="../notesSlides/notesSlide9.xml"/><Relationship Id="rId12" Type="http://schemas.openxmlformats.org/officeDocument/2006/relationships/image" Target="../media/image21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0.png"/><Relationship Id="rId5" Type="http://schemas.openxmlformats.org/officeDocument/2006/relationships/tags" Target="../tags/tag54.xml"/><Relationship Id="rId15" Type="http://schemas.openxmlformats.org/officeDocument/2006/relationships/image" Target="../media/image22.png"/><Relationship Id="rId10" Type="http://schemas.openxmlformats.org/officeDocument/2006/relationships/image" Target="../media/image19.png"/><Relationship Id="rId4" Type="http://schemas.openxmlformats.org/officeDocument/2006/relationships/tags" Target="../tags/tag53.xml"/><Relationship Id="rId9" Type="http://schemas.openxmlformats.org/officeDocument/2006/relationships/image" Target="../media/image18.emf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10.xml"/><Relationship Id="rId7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23.png"/><Relationship Id="rId11" Type="http://schemas.microsoft.com/office/2007/relationships/hdphoto" Target="../media/hdphoto4.wdp"/><Relationship Id="rId5" Type="http://schemas.openxmlformats.org/officeDocument/2006/relationships/image" Target="../media/image8.emf"/><Relationship Id="rId10" Type="http://schemas.openxmlformats.org/officeDocument/2006/relationships/image" Target="../media/image25.png"/><Relationship Id="rId4" Type="http://schemas.openxmlformats.org/officeDocument/2006/relationships/oleObject" Target="../embeddings/oleObject11.bin"/><Relationship Id="rId9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oleObject" Target="../embeddings/oleObject12.bin"/><Relationship Id="rId7" Type="http://schemas.microsoft.com/office/2007/relationships/hdphoto" Target="../media/hdphoto5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26.png"/><Relationship Id="rId11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8.png"/><Relationship Id="rId4" Type="http://schemas.openxmlformats.org/officeDocument/2006/relationships/image" Target="../media/image8.emf"/><Relationship Id="rId9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2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12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0.png"/><Relationship Id="rId5" Type="http://schemas.openxmlformats.org/officeDocument/2006/relationships/image" Target="../media/image8.emf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png"/><Relationship Id="rId14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26" Type="http://schemas.openxmlformats.org/officeDocument/2006/relationships/tags" Target="../tags/tag83.xml"/><Relationship Id="rId39" Type="http://schemas.openxmlformats.org/officeDocument/2006/relationships/notesSlide" Target="../notesSlides/notesSlide12.xml"/><Relationship Id="rId21" Type="http://schemas.openxmlformats.org/officeDocument/2006/relationships/tags" Target="../tags/tag78.xml"/><Relationship Id="rId34" Type="http://schemas.openxmlformats.org/officeDocument/2006/relationships/tags" Target="../tags/tag91.xml"/><Relationship Id="rId42" Type="http://schemas.openxmlformats.org/officeDocument/2006/relationships/chart" Target="../charts/chart5.xml"/><Relationship Id="rId47" Type="http://schemas.openxmlformats.org/officeDocument/2006/relationships/chart" Target="../charts/chart8.xml"/><Relationship Id="rId7" Type="http://schemas.openxmlformats.org/officeDocument/2006/relationships/tags" Target="../tags/tag64.xml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29" Type="http://schemas.openxmlformats.org/officeDocument/2006/relationships/tags" Target="../tags/tag86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tags" Target="../tags/tag81.xml"/><Relationship Id="rId32" Type="http://schemas.openxmlformats.org/officeDocument/2006/relationships/tags" Target="../tags/tag89.xml"/><Relationship Id="rId37" Type="http://schemas.openxmlformats.org/officeDocument/2006/relationships/tags" Target="../tags/tag94.xml"/><Relationship Id="rId40" Type="http://schemas.openxmlformats.org/officeDocument/2006/relationships/oleObject" Target="../embeddings/oleObject14.bin"/><Relationship Id="rId45" Type="http://schemas.openxmlformats.org/officeDocument/2006/relationships/image" Target="../media/image35.png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23" Type="http://schemas.openxmlformats.org/officeDocument/2006/relationships/tags" Target="../tags/tag80.xml"/><Relationship Id="rId28" Type="http://schemas.openxmlformats.org/officeDocument/2006/relationships/tags" Target="../tags/tag85.xml"/><Relationship Id="rId36" Type="http://schemas.openxmlformats.org/officeDocument/2006/relationships/tags" Target="../tags/tag93.xml"/><Relationship Id="rId10" Type="http://schemas.openxmlformats.org/officeDocument/2006/relationships/tags" Target="../tags/tag67.xml"/><Relationship Id="rId19" Type="http://schemas.openxmlformats.org/officeDocument/2006/relationships/tags" Target="../tags/tag76.xml"/><Relationship Id="rId31" Type="http://schemas.openxmlformats.org/officeDocument/2006/relationships/tags" Target="../tags/tag88.xml"/><Relationship Id="rId44" Type="http://schemas.openxmlformats.org/officeDocument/2006/relationships/chart" Target="../charts/chart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tags" Target="../tags/tag79.xml"/><Relationship Id="rId27" Type="http://schemas.openxmlformats.org/officeDocument/2006/relationships/tags" Target="../tags/tag84.xml"/><Relationship Id="rId30" Type="http://schemas.openxmlformats.org/officeDocument/2006/relationships/tags" Target="../tags/tag87.xml"/><Relationship Id="rId35" Type="http://schemas.openxmlformats.org/officeDocument/2006/relationships/tags" Target="../tags/tag92.xml"/><Relationship Id="rId43" Type="http://schemas.openxmlformats.org/officeDocument/2006/relationships/chart" Target="../charts/chart6.xml"/><Relationship Id="rId8" Type="http://schemas.openxmlformats.org/officeDocument/2006/relationships/tags" Target="../tags/tag65.xml"/><Relationship Id="rId3" Type="http://schemas.openxmlformats.org/officeDocument/2006/relationships/tags" Target="../tags/tag60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5" Type="http://schemas.openxmlformats.org/officeDocument/2006/relationships/tags" Target="../tags/tag82.xml"/><Relationship Id="rId33" Type="http://schemas.openxmlformats.org/officeDocument/2006/relationships/tags" Target="../tags/tag90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77.xml"/><Relationship Id="rId41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7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Relationship Id="rId6" Type="http://schemas.openxmlformats.org/officeDocument/2006/relationships/image" Target="../media/image36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notesSlide" Target="../notesSlides/notesSlide14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Relationship Id="rId6" Type="http://schemas.openxmlformats.org/officeDocument/2006/relationships/image" Target="../media/image40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43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6" Type="http://schemas.openxmlformats.org/officeDocument/2006/relationships/image" Target="../media/image22.png"/><Relationship Id="rId11" Type="http://schemas.openxmlformats.org/officeDocument/2006/relationships/image" Target="../media/image47.png"/><Relationship Id="rId5" Type="http://schemas.openxmlformats.org/officeDocument/2006/relationships/image" Target="../media/image8.emf"/><Relationship Id="rId10" Type="http://schemas.openxmlformats.org/officeDocument/2006/relationships/image" Target="../media/image46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0.png"/><Relationship Id="rId1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21" Type="http://schemas.openxmlformats.org/officeDocument/2006/relationships/image" Target="../media/image60.png"/><Relationship Id="rId42" Type="http://schemas.openxmlformats.org/officeDocument/2006/relationships/image" Target="../media/image28.png"/><Relationship Id="rId47" Type="http://schemas.openxmlformats.org/officeDocument/2006/relationships/image" Target="../media/image75.png"/><Relationship Id="rId63" Type="http://schemas.microsoft.com/office/2007/relationships/hdphoto" Target="../media/hdphoto29.wdp"/><Relationship Id="rId68" Type="http://schemas.openxmlformats.org/officeDocument/2006/relationships/image" Target="../media/image84.png"/><Relationship Id="rId16" Type="http://schemas.openxmlformats.org/officeDocument/2006/relationships/image" Target="../media/image56.png"/><Relationship Id="rId11" Type="http://schemas.microsoft.com/office/2007/relationships/hdphoto" Target="../media/hdphoto12.wdp"/><Relationship Id="rId32" Type="http://schemas.openxmlformats.org/officeDocument/2006/relationships/image" Target="../media/image67.png"/><Relationship Id="rId37" Type="http://schemas.openxmlformats.org/officeDocument/2006/relationships/image" Target="../media/image70.png"/><Relationship Id="rId53" Type="http://schemas.openxmlformats.org/officeDocument/2006/relationships/image" Target="../media/image27.png"/><Relationship Id="rId58" Type="http://schemas.openxmlformats.org/officeDocument/2006/relationships/image" Target="../media/image79.png"/><Relationship Id="rId74" Type="http://schemas.microsoft.com/office/2007/relationships/hdphoto" Target="../media/hdphoto33.wdp"/><Relationship Id="rId79" Type="http://schemas.openxmlformats.org/officeDocument/2006/relationships/image" Target="../media/image90.png"/><Relationship Id="rId5" Type="http://schemas.openxmlformats.org/officeDocument/2006/relationships/image" Target="../media/image50.png"/><Relationship Id="rId61" Type="http://schemas.microsoft.com/office/2007/relationships/hdphoto" Target="../media/hdphoto28.wdp"/><Relationship Id="rId82" Type="http://schemas.microsoft.com/office/2007/relationships/hdphoto" Target="../media/hdphoto37.wdp"/><Relationship Id="rId19" Type="http://schemas.openxmlformats.org/officeDocument/2006/relationships/image" Target="../media/image58.png"/><Relationship Id="rId14" Type="http://schemas.openxmlformats.org/officeDocument/2006/relationships/image" Target="../media/image55.png"/><Relationship Id="rId22" Type="http://schemas.openxmlformats.org/officeDocument/2006/relationships/image" Target="../media/image61.png"/><Relationship Id="rId27" Type="http://schemas.openxmlformats.org/officeDocument/2006/relationships/image" Target="../media/image64.png"/><Relationship Id="rId30" Type="http://schemas.openxmlformats.org/officeDocument/2006/relationships/image" Target="../media/image66.png"/><Relationship Id="rId35" Type="http://schemas.microsoft.com/office/2007/relationships/hdphoto" Target="../media/hdphoto20.wdp"/><Relationship Id="rId43" Type="http://schemas.openxmlformats.org/officeDocument/2006/relationships/image" Target="../media/image73.png"/><Relationship Id="rId48" Type="http://schemas.microsoft.com/office/2007/relationships/hdphoto" Target="../media/hdphoto24.wdp"/><Relationship Id="rId56" Type="http://schemas.microsoft.com/office/2007/relationships/hdphoto" Target="../media/hdphoto26.wdp"/><Relationship Id="rId64" Type="http://schemas.openxmlformats.org/officeDocument/2006/relationships/image" Target="../media/image82.png"/><Relationship Id="rId69" Type="http://schemas.microsoft.com/office/2007/relationships/hdphoto" Target="../media/hdphoto32.wdp"/><Relationship Id="rId77" Type="http://schemas.openxmlformats.org/officeDocument/2006/relationships/image" Target="../media/image89.png"/><Relationship Id="rId8" Type="http://schemas.openxmlformats.org/officeDocument/2006/relationships/image" Target="../media/image52.png"/><Relationship Id="rId51" Type="http://schemas.openxmlformats.org/officeDocument/2006/relationships/image" Target="../media/image26.png"/><Relationship Id="rId72" Type="http://schemas.openxmlformats.org/officeDocument/2006/relationships/image" Target="../media/image86.png"/><Relationship Id="rId80" Type="http://schemas.microsoft.com/office/2007/relationships/hdphoto" Target="../media/hdphoto36.wdp"/><Relationship Id="rId3" Type="http://schemas.openxmlformats.org/officeDocument/2006/relationships/oleObject" Target="../embeddings/oleObject18.bin"/><Relationship Id="rId12" Type="http://schemas.openxmlformats.org/officeDocument/2006/relationships/image" Target="../media/image54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1.png"/><Relationship Id="rId46" Type="http://schemas.microsoft.com/office/2007/relationships/hdphoto" Target="../media/hdphoto23.wdp"/><Relationship Id="rId59" Type="http://schemas.microsoft.com/office/2007/relationships/hdphoto" Target="../media/hdphoto27.wdp"/><Relationship Id="rId67" Type="http://schemas.microsoft.com/office/2007/relationships/hdphoto" Target="../media/hdphoto31.wdp"/><Relationship Id="rId20" Type="http://schemas.openxmlformats.org/officeDocument/2006/relationships/image" Target="../media/image59.png"/><Relationship Id="rId41" Type="http://schemas.microsoft.com/office/2007/relationships/hdphoto" Target="../media/hdphoto21.wdp"/><Relationship Id="rId54" Type="http://schemas.microsoft.com/office/2007/relationships/hdphoto" Target="../media/hdphoto6.wdp"/><Relationship Id="rId62" Type="http://schemas.openxmlformats.org/officeDocument/2006/relationships/image" Target="../media/image81.png"/><Relationship Id="rId70" Type="http://schemas.openxmlformats.org/officeDocument/2006/relationships/image" Target="../media/image44.png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1" Type="http://schemas.openxmlformats.org/officeDocument/2006/relationships/tags" Target="../tags/tag98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69.png"/><Relationship Id="rId49" Type="http://schemas.openxmlformats.org/officeDocument/2006/relationships/image" Target="../media/image76.png"/><Relationship Id="rId57" Type="http://schemas.openxmlformats.org/officeDocument/2006/relationships/image" Target="../media/image78.png"/><Relationship Id="rId10" Type="http://schemas.openxmlformats.org/officeDocument/2006/relationships/image" Target="../media/image53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5.wdp"/><Relationship Id="rId60" Type="http://schemas.openxmlformats.org/officeDocument/2006/relationships/image" Target="../media/image80.png"/><Relationship Id="rId65" Type="http://schemas.microsoft.com/office/2007/relationships/hdphoto" Target="../media/hdphoto30.wdp"/><Relationship Id="rId73" Type="http://schemas.openxmlformats.org/officeDocument/2006/relationships/image" Target="../media/image87.png"/><Relationship Id="rId78" Type="http://schemas.microsoft.com/office/2007/relationships/hdphoto" Target="../media/hdphoto35.wdp"/><Relationship Id="rId81" Type="http://schemas.openxmlformats.org/officeDocument/2006/relationships/image" Target="../media/image91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2.png"/><Relationship Id="rId18" Type="http://schemas.openxmlformats.org/officeDocument/2006/relationships/image" Target="../media/image57.png"/><Relationship Id="rId39" Type="http://schemas.openxmlformats.org/officeDocument/2006/relationships/image" Target="../media/image46.png"/><Relationship Id="rId34" Type="http://schemas.openxmlformats.org/officeDocument/2006/relationships/image" Target="../media/image68.png"/><Relationship Id="rId50" Type="http://schemas.microsoft.com/office/2007/relationships/hdphoto" Target="../media/hdphoto25.wdp"/><Relationship Id="rId55" Type="http://schemas.openxmlformats.org/officeDocument/2006/relationships/image" Target="../media/image77.png"/><Relationship Id="rId76" Type="http://schemas.microsoft.com/office/2007/relationships/hdphoto" Target="../media/hdphoto34.wdp"/><Relationship Id="rId7" Type="http://schemas.openxmlformats.org/officeDocument/2006/relationships/image" Target="../media/image51.png"/><Relationship Id="rId71" Type="http://schemas.openxmlformats.org/officeDocument/2006/relationships/image" Target="../media/image85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5.png"/><Relationship Id="rId24" Type="http://schemas.openxmlformats.org/officeDocument/2006/relationships/image" Target="../media/image62.png"/><Relationship Id="rId40" Type="http://schemas.openxmlformats.org/officeDocument/2006/relationships/image" Target="../media/image72.png"/><Relationship Id="rId45" Type="http://schemas.openxmlformats.org/officeDocument/2006/relationships/image" Target="../media/image74.png"/><Relationship Id="rId66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9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6" Type="http://schemas.openxmlformats.org/officeDocument/2006/relationships/image" Target="../media/image22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3.png"/><Relationship Id="rId18" Type="http://schemas.openxmlformats.org/officeDocument/2006/relationships/image" Target="../media/image95.png"/><Relationship Id="rId26" Type="http://schemas.openxmlformats.org/officeDocument/2006/relationships/image" Target="../media/image76.png"/><Relationship Id="rId3" Type="http://schemas.openxmlformats.org/officeDocument/2006/relationships/tags" Target="../tags/tag102.xml"/><Relationship Id="rId21" Type="http://schemas.microsoft.com/office/2007/relationships/hdphoto" Target="../media/hdphoto39.wdp"/><Relationship Id="rId7" Type="http://schemas.openxmlformats.org/officeDocument/2006/relationships/image" Target="../media/image46.png"/><Relationship Id="rId12" Type="http://schemas.openxmlformats.org/officeDocument/2006/relationships/image" Target="../media/image54.png"/><Relationship Id="rId17" Type="http://schemas.openxmlformats.org/officeDocument/2006/relationships/image" Target="../media/image28.png"/><Relationship Id="rId25" Type="http://schemas.openxmlformats.org/officeDocument/2006/relationships/image" Target="../media/image97.png"/><Relationship Id="rId2" Type="http://schemas.openxmlformats.org/officeDocument/2006/relationships/tags" Target="../tags/tag101.xml"/><Relationship Id="rId16" Type="http://schemas.microsoft.com/office/2007/relationships/hdphoto" Target="../media/hdphoto23.wdp"/><Relationship Id="rId20" Type="http://schemas.openxmlformats.org/officeDocument/2006/relationships/image" Target="../media/image96.png"/><Relationship Id="rId1" Type="http://schemas.openxmlformats.org/officeDocument/2006/relationships/tags" Target="../tags/tag100.xml"/><Relationship Id="rId6" Type="http://schemas.openxmlformats.org/officeDocument/2006/relationships/image" Target="../media/image18.emf"/><Relationship Id="rId11" Type="http://schemas.openxmlformats.org/officeDocument/2006/relationships/image" Target="../media/image22.png"/><Relationship Id="rId24" Type="http://schemas.openxmlformats.org/officeDocument/2006/relationships/image" Target="../media/image69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4.png"/><Relationship Id="rId23" Type="http://schemas.microsoft.com/office/2007/relationships/hdphoto" Target="../media/hdphoto34.wdp"/><Relationship Id="rId10" Type="http://schemas.openxmlformats.org/officeDocument/2006/relationships/image" Target="../media/image85.png"/><Relationship Id="rId19" Type="http://schemas.microsoft.com/office/2007/relationships/hdphoto" Target="../media/hdphoto38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4.png"/><Relationship Id="rId14" Type="http://schemas.microsoft.com/office/2007/relationships/hdphoto" Target="../media/hdphoto22.wdp"/><Relationship Id="rId22" Type="http://schemas.openxmlformats.org/officeDocument/2006/relationships/image" Target="../media/image88.png"/><Relationship Id="rId27" Type="http://schemas.microsoft.com/office/2007/relationships/hdphoto" Target="../media/hdphoto25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chart" Target="../charts/chart9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image" Target="../media/image18.emf"/><Relationship Id="rId2" Type="http://schemas.openxmlformats.org/officeDocument/2006/relationships/tags" Target="../tags/tag104.xml"/><Relationship Id="rId16" Type="http://schemas.openxmlformats.org/officeDocument/2006/relationships/oleObject" Target="../embeddings/oleObject21.bin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notesSlide" Target="../notesSlides/notesSlide17.xml"/><Relationship Id="rId10" Type="http://schemas.openxmlformats.org/officeDocument/2006/relationships/tags" Target="../tags/tag112.xml"/><Relationship Id="rId19" Type="http://schemas.openxmlformats.org/officeDocument/2006/relationships/chart" Target="../charts/chart10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28.xml"/><Relationship Id="rId18" Type="http://schemas.openxmlformats.org/officeDocument/2006/relationships/tags" Target="../tags/tag133.xml"/><Relationship Id="rId26" Type="http://schemas.openxmlformats.org/officeDocument/2006/relationships/tags" Target="../tags/tag141.xml"/><Relationship Id="rId39" Type="http://schemas.openxmlformats.org/officeDocument/2006/relationships/tags" Target="../tags/tag154.xml"/><Relationship Id="rId21" Type="http://schemas.openxmlformats.org/officeDocument/2006/relationships/tags" Target="../tags/tag136.xml"/><Relationship Id="rId34" Type="http://schemas.openxmlformats.org/officeDocument/2006/relationships/tags" Target="../tags/tag149.xml"/><Relationship Id="rId42" Type="http://schemas.openxmlformats.org/officeDocument/2006/relationships/tags" Target="../tags/tag157.xml"/><Relationship Id="rId47" Type="http://schemas.openxmlformats.org/officeDocument/2006/relationships/notesSlide" Target="../notesSlides/notesSlide18.xml"/><Relationship Id="rId50" Type="http://schemas.openxmlformats.org/officeDocument/2006/relationships/chart" Target="../charts/chart11.xml"/><Relationship Id="rId7" Type="http://schemas.openxmlformats.org/officeDocument/2006/relationships/tags" Target="../tags/tag12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9" Type="http://schemas.openxmlformats.org/officeDocument/2006/relationships/tags" Target="../tags/tag144.xml"/><Relationship Id="rId11" Type="http://schemas.openxmlformats.org/officeDocument/2006/relationships/tags" Target="../tags/tag126.xml"/><Relationship Id="rId24" Type="http://schemas.openxmlformats.org/officeDocument/2006/relationships/tags" Target="../tags/tag139.xml"/><Relationship Id="rId32" Type="http://schemas.openxmlformats.org/officeDocument/2006/relationships/tags" Target="../tags/tag147.xml"/><Relationship Id="rId37" Type="http://schemas.openxmlformats.org/officeDocument/2006/relationships/tags" Target="../tags/tag152.xml"/><Relationship Id="rId40" Type="http://schemas.openxmlformats.org/officeDocument/2006/relationships/tags" Target="../tags/tag155.xml"/><Relationship Id="rId45" Type="http://schemas.openxmlformats.org/officeDocument/2006/relationships/tags" Target="../tags/tag160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23" Type="http://schemas.openxmlformats.org/officeDocument/2006/relationships/tags" Target="../tags/tag138.xml"/><Relationship Id="rId28" Type="http://schemas.openxmlformats.org/officeDocument/2006/relationships/tags" Target="../tags/tag143.xml"/><Relationship Id="rId36" Type="http://schemas.openxmlformats.org/officeDocument/2006/relationships/tags" Target="../tags/tag151.xml"/><Relationship Id="rId49" Type="http://schemas.openxmlformats.org/officeDocument/2006/relationships/image" Target="../media/image18.emf"/><Relationship Id="rId10" Type="http://schemas.openxmlformats.org/officeDocument/2006/relationships/tags" Target="../tags/tag125.xml"/><Relationship Id="rId19" Type="http://schemas.openxmlformats.org/officeDocument/2006/relationships/tags" Target="../tags/tag134.xml"/><Relationship Id="rId31" Type="http://schemas.openxmlformats.org/officeDocument/2006/relationships/tags" Target="../tags/tag146.xml"/><Relationship Id="rId44" Type="http://schemas.openxmlformats.org/officeDocument/2006/relationships/tags" Target="../tags/tag159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Relationship Id="rId22" Type="http://schemas.openxmlformats.org/officeDocument/2006/relationships/tags" Target="../tags/tag137.xml"/><Relationship Id="rId27" Type="http://schemas.openxmlformats.org/officeDocument/2006/relationships/tags" Target="../tags/tag142.xml"/><Relationship Id="rId30" Type="http://schemas.openxmlformats.org/officeDocument/2006/relationships/tags" Target="../tags/tag145.xml"/><Relationship Id="rId35" Type="http://schemas.openxmlformats.org/officeDocument/2006/relationships/tags" Target="../tags/tag150.xml"/><Relationship Id="rId43" Type="http://schemas.openxmlformats.org/officeDocument/2006/relationships/tags" Target="../tags/tag158.xml"/><Relationship Id="rId48" Type="http://schemas.openxmlformats.org/officeDocument/2006/relationships/oleObject" Target="../embeddings/oleObject22.bin"/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5" Type="http://schemas.openxmlformats.org/officeDocument/2006/relationships/tags" Target="../tags/tag140.xml"/><Relationship Id="rId33" Type="http://schemas.openxmlformats.org/officeDocument/2006/relationships/tags" Target="../tags/tag148.xml"/><Relationship Id="rId38" Type="http://schemas.openxmlformats.org/officeDocument/2006/relationships/tags" Target="../tags/tag153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35.xml"/><Relationship Id="rId41" Type="http://schemas.openxmlformats.org/officeDocument/2006/relationships/tags" Target="../tags/tag156.xml"/><Relationship Id="rId1" Type="http://schemas.openxmlformats.org/officeDocument/2006/relationships/tags" Target="../tags/tag116.xml"/><Relationship Id="rId6" Type="http://schemas.openxmlformats.org/officeDocument/2006/relationships/tags" Target="../tags/tag1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9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Relationship Id="rId6" Type="http://schemas.openxmlformats.org/officeDocument/2006/relationships/chart" Target="../charts/chart1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4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1.svg"/><Relationship Id="rId12" Type="http://schemas.openxmlformats.org/officeDocument/2006/relationships/image" Target="../media/image22.png"/><Relationship Id="rId17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6.png"/><Relationship Id="rId1" Type="http://schemas.openxmlformats.org/officeDocument/2006/relationships/tags" Target="../tags/tag162.xml"/><Relationship Id="rId6" Type="http://schemas.openxmlformats.org/officeDocument/2006/relationships/image" Target="../media/image100.png"/><Relationship Id="rId11" Type="http://schemas.openxmlformats.org/officeDocument/2006/relationships/chart" Target="../charts/chart14.xml"/><Relationship Id="rId5" Type="http://schemas.openxmlformats.org/officeDocument/2006/relationships/image" Target="../media/image18.emf"/><Relationship Id="rId15" Type="http://schemas.openxmlformats.org/officeDocument/2006/relationships/image" Target="../media/image93.png"/><Relationship Id="rId10" Type="http://schemas.openxmlformats.org/officeDocument/2006/relationships/chart" Target="../charts/chart13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3.svg"/><Relationship Id="rId14" Type="http://schemas.openxmlformats.org/officeDocument/2006/relationships/image" Target="../media/image10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tags" Target="../tags/tag165.xml"/><Relationship Id="rId21" Type="http://schemas.openxmlformats.org/officeDocument/2006/relationships/image" Target="../media/image114.png"/><Relationship Id="rId7" Type="http://schemas.openxmlformats.org/officeDocument/2006/relationships/tags" Target="../tags/tag169.xml"/><Relationship Id="rId12" Type="http://schemas.openxmlformats.org/officeDocument/2006/relationships/image" Target="../media/image51.png"/><Relationship Id="rId17" Type="http://schemas.openxmlformats.org/officeDocument/2006/relationships/image" Target="../media/image111.png"/><Relationship Id="rId25" Type="http://schemas.openxmlformats.org/officeDocument/2006/relationships/image" Target="../media/image116.png"/><Relationship Id="rId2" Type="http://schemas.openxmlformats.org/officeDocument/2006/relationships/tags" Target="../tags/tag164.xml"/><Relationship Id="rId16" Type="http://schemas.openxmlformats.org/officeDocument/2006/relationships/image" Target="../media/image110.jpeg"/><Relationship Id="rId20" Type="http://schemas.openxmlformats.org/officeDocument/2006/relationships/image" Target="../media/image54.png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11" Type="http://schemas.openxmlformats.org/officeDocument/2006/relationships/image" Target="../media/image18.emf"/><Relationship Id="rId24" Type="http://schemas.openxmlformats.org/officeDocument/2006/relationships/image" Target="../media/image115.png"/><Relationship Id="rId5" Type="http://schemas.openxmlformats.org/officeDocument/2006/relationships/tags" Target="../tags/tag167.xml"/><Relationship Id="rId15" Type="http://schemas.openxmlformats.org/officeDocument/2006/relationships/image" Target="../media/image109.png"/><Relationship Id="rId23" Type="http://schemas.microsoft.com/office/2007/relationships/hdphoto" Target="../media/hdphoto38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3.png"/><Relationship Id="rId4" Type="http://schemas.openxmlformats.org/officeDocument/2006/relationships/tags" Target="../tags/tag166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108.png"/><Relationship Id="rId22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18.png"/><Relationship Id="rId12" Type="http://schemas.openxmlformats.org/officeDocument/2006/relationships/image" Target="../media/image1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Relationship Id="rId6" Type="http://schemas.openxmlformats.org/officeDocument/2006/relationships/image" Target="../media/image117.png"/><Relationship Id="rId11" Type="http://schemas.openxmlformats.org/officeDocument/2006/relationships/image" Target="../media/image120.png"/><Relationship Id="rId5" Type="http://schemas.openxmlformats.org/officeDocument/2006/relationships/image" Target="../media/image8.emf"/><Relationship Id="rId10" Type="http://schemas.openxmlformats.org/officeDocument/2006/relationships/image" Target="../media/image119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13" Type="http://schemas.openxmlformats.org/officeDocument/2006/relationships/tags" Target="../tags/tag184.xml"/><Relationship Id="rId18" Type="http://schemas.openxmlformats.org/officeDocument/2006/relationships/tags" Target="../tags/tag189.xml"/><Relationship Id="rId26" Type="http://schemas.openxmlformats.org/officeDocument/2006/relationships/chart" Target="../charts/chart16.xml"/><Relationship Id="rId3" Type="http://schemas.openxmlformats.org/officeDocument/2006/relationships/tags" Target="../tags/tag174.xml"/><Relationship Id="rId21" Type="http://schemas.openxmlformats.org/officeDocument/2006/relationships/tags" Target="../tags/tag192.xml"/><Relationship Id="rId7" Type="http://schemas.openxmlformats.org/officeDocument/2006/relationships/tags" Target="../tags/tag178.xml"/><Relationship Id="rId12" Type="http://schemas.openxmlformats.org/officeDocument/2006/relationships/tags" Target="../tags/tag183.xml"/><Relationship Id="rId17" Type="http://schemas.openxmlformats.org/officeDocument/2006/relationships/tags" Target="../tags/tag188.xml"/><Relationship Id="rId25" Type="http://schemas.openxmlformats.org/officeDocument/2006/relationships/image" Target="../media/image8.emf"/><Relationship Id="rId2" Type="http://schemas.openxmlformats.org/officeDocument/2006/relationships/tags" Target="../tags/tag173.xml"/><Relationship Id="rId16" Type="http://schemas.openxmlformats.org/officeDocument/2006/relationships/tags" Target="../tags/tag187.xml"/><Relationship Id="rId20" Type="http://schemas.openxmlformats.org/officeDocument/2006/relationships/tags" Target="../tags/tag191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tags" Target="../tags/tag182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176.xml"/><Relationship Id="rId15" Type="http://schemas.openxmlformats.org/officeDocument/2006/relationships/tags" Target="../tags/tag186.xml"/><Relationship Id="rId23" Type="http://schemas.openxmlformats.org/officeDocument/2006/relationships/notesSlide" Target="../notesSlides/notesSlide23.xml"/><Relationship Id="rId10" Type="http://schemas.openxmlformats.org/officeDocument/2006/relationships/tags" Target="../tags/tag181.xml"/><Relationship Id="rId19" Type="http://schemas.openxmlformats.org/officeDocument/2006/relationships/tags" Target="../tags/tag190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4" Type="http://schemas.openxmlformats.org/officeDocument/2006/relationships/tags" Target="../tags/tag185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2.png"/><Relationship Id="rId12" Type="http://schemas.openxmlformats.org/officeDocument/2006/relationships/image" Target="../media/image94.png"/><Relationship Id="rId17" Type="http://schemas.openxmlformats.org/officeDocument/2006/relationships/image" Target="../media/image12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7.png"/><Relationship Id="rId1" Type="http://schemas.openxmlformats.org/officeDocument/2006/relationships/tags" Target="../tags/tag194.xml"/><Relationship Id="rId6" Type="http://schemas.openxmlformats.org/officeDocument/2006/relationships/image" Target="../media/image122.png"/><Relationship Id="rId11" Type="http://schemas.openxmlformats.org/officeDocument/2006/relationships/image" Target="../media/image123.png"/><Relationship Id="rId5" Type="http://schemas.openxmlformats.org/officeDocument/2006/relationships/image" Target="../media/image18.emf"/><Relationship Id="rId15" Type="http://schemas.openxmlformats.org/officeDocument/2006/relationships/image" Target="../media/image126.png"/><Relationship Id="rId10" Type="http://schemas.openxmlformats.org/officeDocument/2006/relationships/image" Target="../media/image46.png"/><Relationship Id="rId19" Type="http://schemas.openxmlformats.org/officeDocument/2006/relationships/image" Target="../media/image130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0.png"/><Relationship Id="rId14" Type="http://schemas.openxmlformats.org/officeDocument/2006/relationships/image" Target="../media/image125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png"/><Relationship Id="rId18" Type="http://schemas.openxmlformats.org/officeDocument/2006/relationships/image" Target="../media/image137.png"/><Relationship Id="rId26" Type="http://schemas.openxmlformats.org/officeDocument/2006/relationships/image" Target="../media/image143.png"/><Relationship Id="rId39" Type="http://schemas.openxmlformats.org/officeDocument/2006/relationships/image" Target="../media/image153.png"/><Relationship Id="rId21" Type="http://schemas.openxmlformats.org/officeDocument/2006/relationships/image" Target="../media/image140.png"/><Relationship Id="rId34" Type="http://schemas.openxmlformats.org/officeDocument/2006/relationships/image" Target="../media/image71.png"/><Relationship Id="rId42" Type="http://schemas.openxmlformats.org/officeDocument/2006/relationships/image" Target="../media/image155.png"/><Relationship Id="rId47" Type="http://schemas.openxmlformats.org/officeDocument/2006/relationships/image" Target="../media/image159.png"/><Relationship Id="rId50" Type="http://schemas.openxmlformats.org/officeDocument/2006/relationships/image" Target="../media/image59.png"/><Relationship Id="rId55" Type="http://schemas.openxmlformats.org/officeDocument/2006/relationships/image" Target="../media/image165.png"/><Relationship Id="rId63" Type="http://schemas.openxmlformats.org/officeDocument/2006/relationships/image" Target="../media/image172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png"/><Relationship Id="rId29" Type="http://schemas.openxmlformats.org/officeDocument/2006/relationships/image" Target="../media/image146.png"/><Relationship Id="rId11" Type="http://schemas.openxmlformats.org/officeDocument/2006/relationships/image" Target="../media/image58.png"/><Relationship Id="rId24" Type="http://schemas.openxmlformats.org/officeDocument/2006/relationships/image" Target="../media/image141.png"/><Relationship Id="rId32" Type="http://schemas.openxmlformats.org/officeDocument/2006/relationships/image" Target="../media/image70.png"/><Relationship Id="rId37" Type="http://schemas.openxmlformats.org/officeDocument/2006/relationships/image" Target="../media/image151.png"/><Relationship Id="rId40" Type="http://schemas.openxmlformats.org/officeDocument/2006/relationships/image" Target="../media/image154.png"/><Relationship Id="rId45" Type="http://schemas.openxmlformats.org/officeDocument/2006/relationships/image" Target="../media/image157.png"/><Relationship Id="rId53" Type="http://schemas.openxmlformats.org/officeDocument/2006/relationships/image" Target="../media/image163.png"/><Relationship Id="rId58" Type="http://schemas.openxmlformats.org/officeDocument/2006/relationships/image" Target="../media/image168.png"/><Relationship Id="rId5" Type="http://schemas.openxmlformats.org/officeDocument/2006/relationships/image" Target="../media/image131.png"/><Relationship Id="rId61" Type="http://schemas.openxmlformats.org/officeDocument/2006/relationships/image" Target="../media/image57.png"/><Relationship Id="rId19" Type="http://schemas.openxmlformats.org/officeDocument/2006/relationships/image" Target="../media/image138.png"/><Relationship Id="rId14" Type="http://schemas.openxmlformats.org/officeDocument/2006/relationships/image" Target="../media/image135.png"/><Relationship Id="rId22" Type="http://schemas.openxmlformats.org/officeDocument/2006/relationships/image" Target="../media/image85.png"/><Relationship Id="rId27" Type="http://schemas.openxmlformats.org/officeDocument/2006/relationships/image" Target="../media/image144.png"/><Relationship Id="rId30" Type="http://schemas.openxmlformats.org/officeDocument/2006/relationships/image" Target="../media/image147.png"/><Relationship Id="rId35" Type="http://schemas.openxmlformats.org/officeDocument/2006/relationships/image" Target="../media/image149.png"/><Relationship Id="rId43" Type="http://schemas.openxmlformats.org/officeDocument/2006/relationships/image" Target="../media/image46.png"/><Relationship Id="rId48" Type="http://schemas.openxmlformats.org/officeDocument/2006/relationships/image" Target="../media/image160.png"/><Relationship Id="rId56" Type="http://schemas.openxmlformats.org/officeDocument/2006/relationships/image" Target="../media/image166.png"/><Relationship Id="rId8" Type="http://schemas.openxmlformats.org/officeDocument/2006/relationships/image" Target="../media/image133.png"/><Relationship Id="rId51" Type="http://schemas.openxmlformats.org/officeDocument/2006/relationships/image" Target="../media/image161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2.png"/><Relationship Id="rId17" Type="http://schemas.openxmlformats.org/officeDocument/2006/relationships/image" Target="../media/image136.png"/><Relationship Id="rId25" Type="http://schemas.openxmlformats.org/officeDocument/2006/relationships/image" Target="../media/image142.png"/><Relationship Id="rId33" Type="http://schemas.openxmlformats.org/officeDocument/2006/relationships/image" Target="../media/image148.png"/><Relationship Id="rId38" Type="http://schemas.openxmlformats.org/officeDocument/2006/relationships/image" Target="../media/image152.png"/><Relationship Id="rId46" Type="http://schemas.openxmlformats.org/officeDocument/2006/relationships/image" Target="../media/image158.png"/><Relationship Id="rId59" Type="http://schemas.openxmlformats.org/officeDocument/2006/relationships/image" Target="../media/image169.png"/><Relationship Id="rId20" Type="http://schemas.openxmlformats.org/officeDocument/2006/relationships/image" Target="../media/image139.png"/><Relationship Id="rId41" Type="http://schemas.openxmlformats.org/officeDocument/2006/relationships/image" Target="../media/image65.png"/><Relationship Id="rId54" Type="http://schemas.openxmlformats.org/officeDocument/2006/relationships/image" Target="../media/image164.png"/><Relationship Id="rId62" Type="http://schemas.openxmlformats.org/officeDocument/2006/relationships/image" Target="../media/image171.png"/><Relationship Id="rId1" Type="http://schemas.openxmlformats.org/officeDocument/2006/relationships/tags" Target="../tags/tag195.xml"/><Relationship Id="rId6" Type="http://schemas.openxmlformats.org/officeDocument/2006/relationships/image" Target="../media/image132.png"/><Relationship Id="rId15" Type="http://schemas.openxmlformats.org/officeDocument/2006/relationships/image" Target="../media/image60.png"/><Relationship Id="rId23" Type="http://schemas.openxmlformats.org/officeDocument/2006/relationships/image" Target="../media/image86.png"/><Relationship Id="rId28" Type="http://schemas.openxmlformats.org/officeDocument/2006/relationships/image" Target="../media/image145.png"/><Relationship Id="rId36" Type="http://schemas.openxmlformats.org/officeDocument/2006/relationships/image" Target="../media/image150.png"/><Relationship Id="rId49" Type="http://schemas.openxmlformats.org/officeDocument/2006/relationships/image" Target="../media/image63.png"/><Relationship Id="rId57" Type="http://schemas.openxmlformats.org/officeDocument/2006/relationships/image" Target="../media/image167.png"/><Relationship Id="rId10" Type="http://schemas.openxmlformats.org/officeDocument/2006/relationships/image" Target="../media/image28.png"/><Relationship Id="rId31" Type="http://schemas.openxmlformats.org/officeDocument/2006/relationships/image" Target="../media/image69.png"/><Relationship Id="rId44" Type="http://schemas.openxmlformats.org/officeDocument/2006/relationships/image" Target="../media/image156.png"/><Relationship Id="rId52" Type="http://schemas.openxmlformats.org/officeDocument/2006/relationships/image" Target="../media/image162.png"/><Relationship Id="rId60" Type="http://schemas.openxmlformats.org/officeDocument/2006/relationships/image" Target="../media/image170.png"/><Relationship Id="rId4" Type="http://schemas.openxmlformats.org/officeDocument/2006/relationships/image" Target="../media/image18.emf"/><Relationship Id="rId9" Type="http://schemas.openxmlformats.org/officeDocument/2006/relationships/image" Target="../media/image10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9597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2025/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09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Co-packaged Optics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866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49" imgH="350" progId="TCLayout.ActiveDocument.1">
                  <p:embed/>
                </p:oleObj>
              </mc:Choice>
              <mc:Fallback>
                <p:oleObj name="think-cell 幻灯片" r:id="rId8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0E5FD172-F0A8-5034-8CBA-1F583F5E0DB8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42490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Why the Focus on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Copper to Optical? Why Pluggable to C</a:t>
            </a:r>
            <a:r>
              <a:rPr lang="en-US" altLang="zh-CN" sz="1600" dirty="0">
                <a:solidFill>
                  <a:prstClr val="black"/>
                </a:solidFill>
              </a:rPr>
              <a:t>o-packaged?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Which Segment Matters Most?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 and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C38A9D3-E26D-76B9-5256-41C855B27326}"/>
              </a:ext>
            </a:extLst>
          </p:cNvPr>
          <p:cNvGrpSpPr/>
          <p:nvPr/>
        </p:nvGrpSpPr>
        <p:grpSpPr>
          <a:xfrm>
            <a:off x="1244740" y="1773311"/>
            <a:ext cx="1833093" cy="1492635"/>
            <a:chOff x="1244742" y="2055191"/>
            <a:chExt cx="1833093" cy="1492635"/>
          </a:xfrm>
        </p:grpSpPr>
        <p:sp>
          <p:nvSpPr>
            <p:cNvPr id="59" name="Rectangle 3">
              <a:extLst>
                <a:ext uri="{FF2B5EF4-FFF2-40B4-BE49-F238E27FC236}">
                  <a16:creationId xmlns:a16="http://schemas.microsoft.com/office/drawing/2014/main" id="{66DC64BD-ECC4-3DAC-C3DB-2B0ED0EC975F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1300336" y="2055191"/>
              <a:ext cx="1352711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rgbClr val="0052D9"/>
                  </a:solidFill>
                </a:rPr>
                <a:t>Techs</a:t>
              </a:r>
              <a:endPara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E558451-A235-2B74-CC6E-E9F4D0F630AF}"/>
                </a:ext>
              </a:extLst>
            </p:cNvPr>
            <p:cNvSpPr txBox="1"/>
            <p:nvPr/>
          </p:nvSpPr>
          <p:spPr>
            <a:xfrm>
              <a:off x="1244742" y="2645015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Interconnect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Optical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CPO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E50D06-AF41-43E8-63B7-1E98F01C22C2}"/>
              </a:ext>
            </a:extLst>
          </p:cNvPr>
          <p:cNvGrpSpPr/>
          <p:nvPr/>
        </p:nvGrpSpPr>
        <p:grpSpPr>
          <a:xfrm>
            <a:off x="1244741" y="4180810"/>
            <a:ext cx="1833093" cy="1581607"/>
            <a:chOff x="1244742" y="4113360"/>
            <a:chExt cx="1833093" cy="1581607"/>
          </a:xfrm>
        </p:grpSpPr>
        <p:sp>
          <p:nvSpPr>
            <p:cNvPr id="62" name="Rectangle 3">
              <a:extLst>
                <a:ext uri="{FF2B5EF4-FFF2-40B4-BE49-F238E27FC236}">
                  <a16:creationId xmlns:a16="http://schemas.microsoft.com/office/drawing/2014/main" id="{AE265D59-EBB0-FF67-33E9-BD13DB5E1BD0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1328241" y="4113360"/>
              <a:ext cx="1721906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solidFill>
                    <a:srgbClr val="0052D9"/>
                  </a:solidFill>
                  <a:effectLst/>
                  <a:uLnTx/>
                  <a:uFillTx/>
                </a:rPr>
                <a:t>Markets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E11F60-EAF1-1828-DD1D-836B1FC571EE}"/>
                </a:ext>
              </a:extLst>
            </p:cNvPr>
            <p:cNvSpPr txBox="1"/>
            <p:nvPr/>
          </p:nvSpPr>
          <p:spPr>
            <a:xfrm>
              <a:off x="1244742" y="4792156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Sizing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Segments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Players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2999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Nvidia, Broadcom, and DeepSeek</a:t>
            </a:r>
            <a:endParaRPr lang="en-US" dirty="0"/>
          </a:p>
        </p:txBody>
      </p:sp>
      <p:sp>
        <p:nvSpPr>
          <p:cNvPr id="2" name="Rechteck 52">
            <a:extLst>
              <a:ext uri="{FF2B5EF4-FFF2-40B4-BE49-F238E27FC236}">
                <a16:creationId xmlns:a16="http://schemas.microsoft.com/office/drawing/2014/main" id="{FE2110A6-EDBD-8697-B5F7-4B336BB31161}"/>
              </a:ext>
            </a:extLst>
          </p:cNvPr>
          <p:cNvSpPr>
            <a:spLocks/>
          </p:cNvSpPr>
          <p:nvPr/>
        </p:nvSpPr>
        <p:spPr>
          <a:xfrm>
            <a:off x="407987" y="2518957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6634A095-ABD0-527D-E2B1-46D80EE1E49A}"/>
              </a:ext>
            </a:extLst>
          </p:cNvPr>
          <p:cNvSpPr txBox="1">
            <a:spLocks/>
          </p:cNvSpPr>
          <p:nvPr/>
        </p:nvSpPr>
        <p:spPr>
          <a:xfrm>
            <a:off x="474582" y="4889151"/>
            <a:ext cx="3563744" cy="50783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1400" dirty="0"/>
              <a:t>Pivots from Copper to Optics</a:t>
            </a:r>
          </a:p>
          <a:p>
            <a:pPr>
              <a:spcBef>
                <a:spcPts val="600"/>
              </a:spcBef>
            </a:pPr>
            <a:r>
              <a:rPr lang="en-US" altLang="zh-CN" sz="1400" dirty="0"/>
              <a:t>Launches 2 CPO Switches</a:t>
            </a:r>
            <a:endParaRPr lang="en-US" sz="1400" dirty="0"/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F3F9DCEA-95C5-231D-DDE1-741629D3FFE7}"/>
              </a:ext>
            </a:extLst>
          </p:cNvPr>
          <p:cNvSpPr txBox="1">
            <a:spLocks/>
          </p:cNvSpPr>
          <p:nvPr/>
        </p:nvSpPr>
        <p:spPr bwMode="gray">
          <a:xfrm>
            <a:off x="437170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Aggressively announced CPO switches</a:t>
            </a:r>
            <a:endParaRPr lang="en-US" sz="1400" dirty="0">
              <a:solidFill>
                <a:srgbClr val="0052D9"/>
              </a:solidFill>
            </a:endParaRPr>
          </a:p>
        </p:txBody>
      </p:sp>
      <p:sp>
        <p:nvSpPr>
          <p:cNvPr id="6" name="Rechteck 22">
            <a:extLst>
              <a:ext uri="{FF2B5EF4-FFF2-40B4-BE49-F238E27FC236}">
                <a16:creationId xmlns:a16="http://schemas.microsoft.com/office/drawing/2014/main" id="{2E50D80A-1704-3509-9D6E-FF86D2EDA342}"/>
              </a:ext>
            </a:extLst>
          </p:cNvPr>
          <p:cNvSpPr>
            <a:spLocks/>
          </p:cNvSpPr>
          <p:nvPr/>
        </p:nvSpPr>
        <p:spPr>
          <a:xfrm>
            <a:off x="1524259" y="1337390"/>
            <a:ext cx="2627798" cy="6715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  <a:sym typeface="Futura"/>
              </a:rPr>
              <a:t>GTC 2025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0F00AE-79C7-64B9-F55F-63167A365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631" y="1513532"/>
            <a:ext cx="443699" cy="319247"/>
          </a:xfrm>
          <a:prstGeom prst="rect">
            <a:avLst/>
          </a:prstGeom>
          <a:noFill/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42ACC8-7E17-BB78-EF6C-B7F4644430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30" y="1573189"/>
            <a:ext cx="740492" cy="199933"/>
          </a:xfrm>
          <a:prstGeom prst="rect">
            <a:avLst/>
          </a:prstGeom>
          <a:noFill/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73BC45A2-D98F-47EB-BEC6-315762D7D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8" y="2506344"/>
            <a:ext cx="3142640" cy="19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53">
            <a:extLst>
              <a:ext uri="{FF2B5EF4-FFF2-40B4-BE49-F238E27FC236}">
                <a16:creationId xmlns:a16="http://schemas.microsoft.com/office/drawing/2014/main" id="{A3D89242-83E7-0754-DC42-B6C7A9C3DB38}"/>
              </a:ext>
            </a:extLst>
          </p:cNvPr>
          <p:cNvSpPr>
            <a:spLocks/>
          </p:cNvSpPr>
          <p:nvPr/>
        </p:nvSpPr>
        <p:spPr>
          <a:xfrm>
            <a:off x="8242203" y="2518957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D8FE314-262A-C078-EDB0-5CA09AA3D723}"/>
              </a:ext>
            </a:extLst>
          </p:cNvPr>
          <p:cNvSpPr txBox="1">
            <a:spLocks/>
          </p:cNvSpPr>
          <p:nvPr/>
        </p:nvSpPr>
        <p:spPr>
          <a:xfrm>
            <a:off x="8256794" y="4889151"/>
            <a:ext cx="3660375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/>
              <a:t>Bandwidth limitation restricts training, inference, and network strategies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CPO: higher bandwidth &amp; energy efficiency</a:t>
            </a:r>
          </a:p>
        </p:txBody>
      </p:sp>
      <p:sp>
        <p:nvSpPr>
          <p:cNvPr id="11" name="Rechteck 22">
            <a:extLst>
              <a:ext uri="{FF2B5EF4-FFF2-40B4-BE49-F238E27FC236}">
                <a16:creationId xmlns:a16="http://schemas.microsoft.com/office/drawing/2014/main" id="{D122097B-3085-F1BA-955F-93F0AF30E4E8}"/>
              </a:ext>
            </a:extLst>
          </p:cNvPr>
          <p:cNvSpPr>
            <a:spLocks/>
          </p:cNvSpPr>
          <p:nvPr/>
        </p:nvSpPr>
        <p:spPr>
          <a:xfrm>
            <a:off x="9538802" y="1337390"/>
            <a:ext cx="2627798" cy="6715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  <a:sym typeface="Futura"/>
              </a:rPr>
              <a:t>《Insights into DS-V3》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3D30D61-CEC3-4A04-6835-9D269EB0DA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2" b="88889" l="3125" r="94697">
                        <a14:foregroundMark x1="6155" y1="31418" x2="6155" y2="31418"/>
                        <a14:foregroundMark x1="11364" y1="83525" x2="11364" y2="83525"/>
                        <a14:foregroundMark x1="3125" y1="59387" x2="3125" y2="59387"/>
                        <a14:foregroundMark x1="32576" y1="59387" x2="32576" y2="59387"/>
                        <a14:foregroundMark x1="41098" y1="55556" x2="41098" y2="55556"/>
                        <a14:foregroundMark x1="49242" y1="54789" x2="49242" y2="54789"/>
                        <a14:foregroundMark x1="57765" y1="56705" x2="57765" y2="56705"/>
                        <a14:foregroundMark x1="68845" y1="55939" x2="68845" y2="55939"/>
                        <a14:foregroundMark x1="78030" y1="57088" x2="78030" y2="57088"/>
                        <a14:foregroundMark x1="82765" y1="54023" x2="82765" y2="54023"/>
                        <a14:foregroundMark x1="91288" y1="54406" x2="91288" y2="54406"/>
                        <a14:foregroundMark x1="94697" y1="55556" x2="94697" y2="555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0787" y="1510354"/>
            <a:ext cx="1317379" cy="325602"/>
          </a:xfrm>
          <a:prstGeom prst="rect">
            <a:avLst/>
          </a:prstGeom>
        </p:spPr>
      </p:pic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F68D50D-414D-635E-2792-0BEAB0496A59}"/>
              </a:ext>
            </a:extLst>
          </p:cNvPr>
          <p:cNvSpPr txBox="1">
            <a:spLocks/>
          </p:cNvSpPr>
          <p:nvPr/>
        </p:nvSpPr>
        <p:spPr bwMode="gray">
          <a:xfrm>
            <a:off x="8256795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CPO matters</a:t>
            </a:r>
            <a:r>
              <a:rPr lang="zh-CN" altLang="en-US" b="1" dirty="0"/>
              <a:t> </a:t>
            </a:r>
            <a:r>
              <a:rPr lang="en-US" altLang="zh-CN" b="1" dirty="0"/>
              <a:t>under limited</a:t>
            </a:r>
            <a:r>
              <a:rPr lang="zh-CN" altLang="en-US" b="1" dirty="0"/>
              <a:t> </a:t>
            </a:r>
            <a:r>
              <a:rPr lang="en-US" altLang="zh-CN" b="1" dirty="0"/>
              <a:t>bandwidth in China</a:t>
            </a:r>
            <a:endParaRPr lang="en-US" sz="1400" dirty="0">
              <a:solidFill>
                <a:srgbClr val="0052D9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D943F7C-E7EF-9207-A884-3A534698B846}"/>
              </a:ext>
            </a:extLst>
          </p:cNvPr>
          <p:cNvGrpSpPr/>
          <p:nvPr/>
        </p:nvGrpSpPr>
        <p:grpSpPr>
          <a:xfrm>
            <a:off x="8206661" y="2501169"/>
            <a:ext cx="3509584" cy="1911646"/>
            <a:chOff x="7440021" y="1361951"/>
            <a:chExt cx="3509584" cy="1911646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0234BB60-FB48-622D-A498-75516FE24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2594A99E-9B03-0559-EB83-31733FA28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b="68697"/>
            <a:stretch/>
          </p:blipFill>
          <p:spPr>
            <a:xfrm>
              <a:off x="7440021" y="1877371"/>
              <a:ext cx="3444240" cy="1396226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09EA39E-0613-8F9A-4489-6AACB923E3C7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hteck 54">
            <a:extLst>
              <a:ext uri="{FF2B5EF4-FFF2-40B4-BE49-F238E27FC236}">
                <a16:creationId xmlns:a16="http://schemas.microsoft.com/office/drawing/2014/main" id="{3D6A41AE-49DF-B3A5-B25A-942FE82A13C1}"/>
              </a:ext>
            </a:extLst>
          </p:cNvPr>
          <p:cNvSpPr>
            <a:spLocks/>
          </p:cNvSpPr>
          <p:nvPr/>
        </p:nvSpPr>
        <p:spPr>
          <a:xfrm>
            <a:off x="4154770" y="2496855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44AEC338-DA13-8B7F-9021-2039CE822D21}"/>
              </a:ext>
            </a:extLst>
          </p:cNvPr>
          <p:cNvSpPr txBox="1">
            <a:spLocks/>
          </p:cNvSpPr>
          <p:nvPr/>
        </p:nvSpPr>
        <p:spPr>
          <a:xfrm>
            <a:off x="4169362" y="4889151"/>
            <a:ext cx="3563744" cy="72327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/>
              <a:t>TH4: 1</a:t>
            </a:r>
            <a:r>
              <a:rPr lang="en-US" sz="1400" baseline="30000" dirty="0"/>
              <a:t>st</a:t>
            </a:r>
            <a:r>
              <a:rPr lang="en-US" sz="1400" dirty="0"/>
              <a:t> CPO switch chip</a:t>
            </a:r>
          </a:p>
          <a:p>
            <a:pPr>
              <a:spcBef>
                <a:spcPts val="600"/>
              </a:spcBef>
            </a:pPr>
            <a:r>
              <a:rPr lang="en-US" altLang="zh-CN" sz="1400" dirty="0"/>
              <a:t>TH6: fastest CPO switch chip, announced in April</a:t>
            </a:r>
            <a:endParaRPr lang="en-US" sz="1400" dirty="0"/>
          </a:p>
        </p:txBody>
      </p:sp>
      <p:sp>
        <p:nvSpPr>
          <p:cNvPr id="23" name="Rechteck 23">
            <a:extLst>
              <a:ext uri="{FF2B5EF4-FFF2-40B4-BE49-F238E27FC236}">
                <a16:creationId xmlns:a16="http://schemas.microsoft.com/office/drawing/2014/main" id="{D46FDC1B-0589-0C6F-14BE-04FAC0134390}"/>
              </a:ext>
            </a:extLst>
          </p:cNvPr>
          <p:cNvSpPr>
            <a:spLocks/>
          </p:cNvSpPr>
          <p:nvPr/>
        </p:nvSpPr>
        <p:spPr>
          <a:xfrm>
            <a:off x="5576150" y="1381593"/>
            <a:ext cx="2627798" cy="5831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</a:rPr>
              <a:t>Tomahawk Switches</a:t>
            </a:r>
            <a:endParaRPr lang="en-US" sz="1400" b="1" dirty="0">
              <a:solidFill>
                <a:schemeClr val="accent1"/>
              </a:solidFill>
              <a:sym typeface="Futura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BBA7B24-CECB-4D5E-2109-668B333CB5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296" y="1523092"/>
            <a:ext cx="312632" cy="3001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6E62E3A-EFCC-484A-7059-19CC0144FB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7992" y="1610438"/>
            <a:ext cx="861094" cy="125435"/>
          </a:xfrm>
          <a:prstGeom prst="rect">
            <a:avLst/>
          </a:prstGeom>
        </p:spPr>
      </p:pic>
      <p:sp>
        <p:nvSpPr>
          <p:cNvPr id="31" name="Textplatzhalter 9">
            <a:extLst>
              <a:ext uri="{FF2B5EF4-FFF2-40B4-BE49-F238E27FC236}">
                <a16:creationId xmlns:a16="http://schemas.microsoft.com/office/drawing/2014/main" id="{C5A4A542-2958-433B-B7FD-8AE91883B95C}"/>
              </a:ext>
            </a:extLst>
          </p:cNvPr>
          <p:cNvSpPr txBox="1">
            <a:spLocks/>
          </p:cNvSpPr>
          <p:nvPr/>
        </p:nvSpPr>
        <p:spPr bwMode="gray">
          <a:xfrm>
            <a:off x="4248295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Drives ongoing CPO ecosystem adoption</a:t>
            </a:r>
            <a:endParaRPr lang="en-US" sz="1400" dirty="0">
              <a:solidFill>
                <a:srgbClr val="0052D9"/>
              </a:solidFill>
            </a:endParaRPr>
          </a:p>
        </p:txBody>
      </p:sp>
      <p:pic>
        <p:nvPicPr>
          <p:cNvPr id="33" name="图片 32" descr="男人戴着眼镜&#10;&#10;AI 生成的内容可能不正确。">
            <a:extLst>
              <a:ext uri="{FF2B5EF4-FFF2-40B4-BE49-F238E27FC236}">
                <a16:creationId xmlns:a16="http://schemas.microsoft.com/office/drawing/2014/main" id="{519DC953-2C84-BF8C-246B-B569654A26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7" t="4454" r="24533" b="12287"/>
          <a:stretch/>
        </p:blipFill>
        <p:spPr>
          <a:xfrm>
            <a:off x="4248295" y="2510615"/>
            <a:ext cx="3141178" cy="18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613544" cy="1366256"/>
            <a:chOff x="7960810" y="4321548"/>
            <a:chExt cx="3613544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89898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Impossible Triangle in IDCs: Speed, Distance,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High-speed transmission consumes significant power 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60CAD9-B853-308F-68B2-80168C22CC05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 (BER)¹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: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the core metric for IDC data communications, measuring transmission reliability.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Transmission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speed</a:t>
            </a:r>
            <a:r>
              <a:rPr lang="en-US" altLang="zh-CN" dirty="0"/>
              <a:t> </a:t>
            </a:r>
            <a:r>
              <a:rPr lang="zh-CN" altLang="en-US" dirty="0"/>
              <a:t>↑</a:t>
            </a:r>
            <a:r>
              <a:rPr lang="en-US" altLang="zh-CN" dirty="0"/>
              <a:t>,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distance</a:t>
            </a:r>
            <a:r>
              <a:rPr lang="en-US" altLang="zh-CN" dirty="0"/>
              <a:t> </a:t>
            </a:r>
            <a:r>
              <a:rPr lang="zh-CN" altLang="en-US" dirty="0"/>
              <a:t>↑</a:t>
            </a:r>
            <a:r>
              <a:rPr lang="en-US" altLang="zh-CN" dirty="0"/>
              <a:t>, and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power</a:t>
            </a:r>
            <a:r>
              <a:rPr lang="en-US" altLang="zh-CN" dirty="0"/>
              <a:t> consumption </a:t>
            </a:r>
            <a:r>
              <a:rPr lang="zh-CN" altLang="en-US" dirty="0"/>
              <a:t>↓</a:t>
            </a:r>
            <a:r>
              <a:rPr lang="en-US" altLang="zh-CN" dirty="0"/>
              <a:t> =&gt; BER </a:t>
            </a:r>
            <a:r>
              <a:rPr lang="zh-CN" altLang="en-US" dirty="0"/>
              <a:t>↑</a:t>
            </a:r>
            <a:endParaRPr lang="en-US" altLang="zh-CN" dirty="0"/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310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404" imgH="405" progId="TCLayout.ActiveDocument.1">
                  <p:embed/>
                </p:oleObj>
              </mc:Choice>
              <mc:Fallback>
                <p:oleObj name="think-cell 幻灯片" r:id="rId19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352177"/>
              </p:ext>
            </p:extLst>
          </p:nvPr>
        </p:nvGraphicFramePr>
        <p:xfrm>
          <a:off x="654578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10873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110873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1017415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The Copper Speed Wall in Data Center; Breaking Through with Optical Interconnects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95403" y="599016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wall: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400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8100076" y="459645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H100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009249" y="499203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A100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075724" y="410027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B100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470238"/>
              </p:ext>
            </p:extLst>
          </p:nvPr>
        </p:nvGraphicFramePr>
        <p:xfrm>
          <a:off x="40601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 Gbps =&gt; 400 Gbps/line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98191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Training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3653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69933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83205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20730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28490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8565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47630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06204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6924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8754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47449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9C5F783-6020-FF55-773A-56322875986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718750" y="499203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3.0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E7945A8-88A7-97FB-E1A1-7881D746439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747732" y="410027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5.0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B069D73-4078-A6F3-4081-998A04DE515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747379" y="459645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4.0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B0E99A9-0CF8-651E-AF1C-431C57E5D7E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0871403" y="387215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6.0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99395" y="387215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Rubin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720530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828420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926944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8609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/>
              <a:t>Transceiver/CPO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61903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15812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GPU interconnect: &gt;5m;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10k-GPU clusters interconnect 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km-scale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379624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2.5m-3m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29779" y="3335044"/>
            <a:ext cx="4876" cy="2766695"/>
          </a:xfrm>
          <a:prstGeom prst="bentConnector3">
            <a:avLst>
              <a:gd name="adj1" fmla="val -781382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1" name="组合 3700">
            <a:extLst>
              <a:ext uri="{FF2B5EF4-FFF2-40B4-BE49-F238E27FC236}">
                <a16:creationId xmlns:a16="http://schemas.microsoft.com/office/drawing/2014/main" id="{AB83E71C-3E91-228C-61D0-151F9FC1C746}"/>
              </a:ext>
            </a:extLst>
          </p:cNvPr>
          <p:cNvGrpSpPr/>
          <p:nvPr/>
        </p:nvGrpSpPr>
        <p:grpSpPr>
          <a:xfrm>
            <a:off x="601424" y="2723554"/>
            <a:ext cx="2494891" cy="1997276"/>
            <a:chOff x="1226694" y="2091768"/>
            <a:chExt cx="2376970" cy="190287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A2216E7-D054-6911-62F1-6485D495319D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0323601-200F-D610-B725-2585A75D42C9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59263FE-BD23-D3B9-1040-E7FADE1E688F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4CBB76F-D749-0385-8424-4155C0662DEC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AB78D5B-48DF-973F-5192-397F55E79838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1EA575A3-1765-6B76-30F7-2A70C9DDF344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DE4AD6F4-43A3-1B09-9A95-C30B6409F240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64496906-EA71-71DB-2065-706EBA29BAF6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015E140-7A1D-7F16-C4EE-332851B5DB38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7CC20260-5585-8F7B-0939-3015A660DE6B}"/>
                </a:ext>
              </a:extLst>
            </p:cNvPr>
            <p:cNvCxnSpPr>
              <a:cxnSpLocks/>
              <a:stCxn id="18" idx="0"/>
              <a:endCxn id="26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4B9174-6976-1A7E-F9FF-3976F29D8BEC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587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680" name="矩形: 圆角 3679">
              <a:extLst>
                <a:ext uri="{FF2B5EF4-FFF2-40B4-BE49-F238E27FC236}">
                  <a16:creationId xmlns:a16="http://schemas.microsoft.com/office/drawing/2014/main" id="{08C830D4-FADA-DEE1-76AB-5CF7450C0330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735" y="5203964"/>
            <a:ext cx="318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 at 112Gbps: ~2.5m;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 at 112Gbps : </a:t>
            </a:r>
            <a:r>
              <a:rPr lang="en-US" altLang="zh-CN" b="1" dirty="0">
                <a:solidFill>
                  <a:srgbClr val="0052D9"/>
                </a:solidFill>
              </a:rPr>
              <a:t>&gt;100m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3144728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100m-2km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4578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Copper Interconnect Reach: A Bottleneck for IDC Scaling; Optical Interconnect Breaks the Limit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372462" y="649505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856515" y="42471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requires longer interconnects​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0603" y="2722655"/>
            <a:ext cx="2489923" cy="1993299"/>
            <a:chOff x="1226694" y="2091768"/>
            <a:chExt cx="2376970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587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442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0" imgW="404" imgH="405" progId="TCLayout.ActiveDocument.1">
                  <p:embed/>
                </p:oleObj>
              </mc:Choice>
              <mc:Fallback>
                <p:oleObj name="think-cell 幻灯片" r:id="rId2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122871" y="1285874"/>
            <a:ext cx="54436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2014; account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(~30W), account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7.3%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-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60%+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module power;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F842513F-2F58-496A-C459-D1BC09FFE7E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7870178"/>
              </p:ext>
            </p:extLst>
          </p:nvPr>
        </p:nvGraphicFramePr>
        <p:xfrm>
          <a:off x="855663" y="2255838"/>
          <a:ext cx="4551362" cy="3414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101B2D-DB47-B323-F276-D42332233431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019300" y="2451100"/>
            <a:ext cx="0" cy="12668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3640F1-B1C7-693D-B63F-79B79801C75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019300" y="2451100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DFE6433-2919-1E8F-C8DB-9E96D7C473F7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302000" y="245110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3378200" y="245110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3378200" y="2451100"/>
            <a:ext cx="12842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4662488" y="2451100"/>
            <a:ext cx="0" cy="19272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1820863" y="4445000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3-5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722438" y="5467350"/>
            <a:ext cx="5937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Copper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3141663" y="3929063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5-8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205163" y="5467350"/>
            <a:ext cx="269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PO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470400" y="4775200"/>
            <a:ext cx="384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800" b="1" smtClean="0">
                <a:solidFill>
                  <a:schemeClr val="tx2"/>
                </a:solidFill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800" b="1" dirty="0">
                <a:solidFill>
                  <a:schemeClr val="tx2"/>
                </a:solidFill>
                <a:effectLst/>
                <a:cs typeface="+mn-ea"/>
                <a:sym typeface="+mn-lt"/>
              </a:rPr>
              <a:t>.4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464050" y="5467350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  <a:sym typeface="+mn-lt"/>
              </a:rPr>
              <a:pPr/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C80778E-D083-5825-5919-86855107A5C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243138" y="2257425"/>
            <a:ext cx="836613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effectLst/>
                <a:cs typeface="+mn-cs"/>
              </a:rPr>
              <a:t>60%+</a:t>
            </a:r>
            <a:endParaRPr lang="zh-CN" altLang="en-US" sz="1800" b="1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641725" y="2257425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800" b="1" smtClean="0"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199187" y="3963194"/>
            <a:ext cx="5196700" cy="1937708"/>
          </a:xfrm>
          <a:prstGeom prst="roundRect">
            <a:avLst>
              <a:gd name="adj" fmla="val 368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“CPO primarily replaces traditional POs and does not replace copper interconnects in the short term.​​</a:t>
            </a:r>
          </a:p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​CPO solution reduces power consumption by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70% (33W → 9W) 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and lowers overall (switch) costs by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30%, 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offering clear competitive advantages.​​”</a:t>
            </a:r>
          </a:p>
          <a:p>
            <a:pPr algn="r"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—Nvidia expert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601663" y="1852613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latin typeface="+mn-lt"/>
                <a:ea typeface="+mn-ea"/>
                <a:cs typeface="+mn-ea"/>
                <a:sym typeface="+mn-lt"/>
              </a:rPr>
              <a:t>Power(W/line)</a:t>
            </a:r>
            <a:endParaRPr lang="zh-CN" altLang="en-US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 Issues in Copper-to-Optical Transition; CPO Cuts Power Consumption Significantly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4" y="6531893"/>
            <a:ext cx="1074969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768370" y="1285874"/>
            <a:ext cx="4873586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PO,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208758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859549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17436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Overcomes PO’s Constrains: Signal Loss, Power Consumption, and Speed Limitations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2865436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150331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:​​ PCB traces cause high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signal loss/distortion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(not efficiently correctable by power);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1716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238626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22747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238626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6.4Tbps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4334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PO Dominates Mainstream; CPO Becomes the Focus of Tech Giants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591800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6275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Medium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101850" y="17780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101850" y="1778000"/>
            <a:ext cx="187325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16700" y="1790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16701" y="179070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2046288" y="2230438"/>
            <a:ext cx="488950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6681788" y="2314575"/>
            <a:ext cx="2971800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$10mn-scale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667125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Q4'24: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370046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Q2’25: Spectrum-X CPO switch delivery.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Q2’26E: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delivery.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626725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38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 Interconnect by Distance: Scale-up vs. Scale-out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70434" y="2381267"/>
            <a:ext cx="3322825" cy="328255"/>
            <a:chOff x="1177467" y="2702667"/>
            <a:chExt cx="3322825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interconnection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69927"/>
            <a:ext cx="3070238" cy="646361"/>
            <a:chOff x="944683" y="5439665"/>
            <a:chExt cx="3070238" cy="646361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39665"/>
              <a:ext cx="3070238" cy="328255"/>
              <a:chOff x="1177467" y="2702232"/>
              <a:chExt cx="3070238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98265" y="2702232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interconnection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5408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Single-rack; direct &amp; full interconnect; distance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&lt;5m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5329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interconnect; distance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&gt;&gt;5m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346379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323579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544942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5383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52919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7987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</a:t>
            </a: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Swtich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5003052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84608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944329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82840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35A3A5E-53B1-BB1F-17FD-2FB400D9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cs typeface="+mn-ea"/>
              </a:rPr>
              <a:t>​Overseas: CPO for Scale Out first; Domestic: CPO for Scale Up first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3732B22-A2E7-7704-E64B-75C5CB506E4D}"/>
              </a:ext>
            </a:extLst>
          </p:cNvPr>
          <p:cNvSpPr txBox="1"/>
          <p:nvPr/>
        </p:nvSpPr>
        <p:spPr>
          <a:xfrm>
            <a:off x="652531" y="5142643"/>
            <a:ext cx="1340313" cy="75542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algn="ctr">
              <a:buNone/>
              <a:defRPr kumimoji="1" sz="16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​CPO Initial Adoption</a:t>
            </a:r>
            <a:endParaRPr lang="en-US" altLang="zh-CN" dirty="0"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836027" y="16015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2105234" y="1522594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916400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763299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Scale-up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2350668" y="193288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7039471" y="19772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058" y="1928739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2853432" y="3311460"/>
            <a:ext cx="3004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electronics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EA6A49-3436-45CE-8A28-49F0C87992A5}"/>
              </a:ext>
            </a:extLst>
          </p:cNvPr>
          <p:cNvSpPr txBox="1"/>
          <p:nvPr/>
        </p:nvSpPr>
        <p:spPr>
          <a:xfrm>
            <a:off x="646528" y="1880365"/>
            <a:ext cx="1352317" cy="595046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Restrictions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730EC1-9D33-CB54-2CFC-74E7E487599E}"/>
              </a:ext>
            </a:extLst>
          </p:cNvPr>
          <p:cNvSpPr txBox="1"/>
          <p:nvPr/>
        </p:nvSpPr>
        <p:spPr>
          <a:xfrm>
            <a:off x="654100" y="3334812"/>
            <a:ext cx="1340313" cy="127703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Industry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479" y="19145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r>
              <a:rPr kumimoji="0" lang="en-US" altLang="zh-CN" sz="18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7987935" y="3311460"/>
            <a:ext cx="23658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optics</a:t>
            </a:r>
          </a:p>
        </p:txBody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FA09F23E-B6CE-E640-247C-D1170D40F5BD}"/>
              </a:ext>
            </a:extLst>
          </p:cNvPr>
          <p:cNvSpPr/>
          <p:nvPr/>
        </p:nvSpPr>
        <p:spPr>
          <a:xfrm rot="10800000">
            <a:off x="3120436" y="2795819"/>
            <a:ext cx="1691096" cy="147942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1809A83B-AD48-958C-BFB3-EB2646F08B44}"/>
              </a:ext>
            </a:extLst>
          </p:cNvPr>
          <p:cNvSpPr/>
          <p:nvPr/>
        </p:nvSpPr>
        <p:spPr>
          <a:xfrm rot="10800000">
            <a:off x="7941744" y="2795819"/>
            <a:ext cx="1691096" cy="147942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2200445" y="5120244"/>
            <a:ext cx="39849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Scale Out: </a:t>
            </a:r>
            <a:r>
              <a:rPr lang="en-US" altLang="zh-CN" b="1" dirty="0">
                <a:solidFill>
                  <a:srgbClr val="0052D9"/>
                </a:solidFill>
              </a:rPr>
              <a:t>2025-2026</a:t>
            </a:r>
            <a:endParaRPr lang="en-US" altLang="zh-CN" dirty="0">
              <a:solidFill>
                <a:srgbClr val="0052D9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Faster path to </a:t>
            </a:r>
            <a:r>
              <a:rPr lang="en-US" altLang="zh-CN" sz="1400" b="1" dirty="0">
                <a:solidFill>
                  <a:srgbClr val="0052D9"/>
                </a:solidFill>
              </a:rPr>
              <a:t>commercialization</a:t>
            </a:r>
            <a:r>
              <a:rPr lang="en-US" altLang="zh-CN" sz="1400" dirty="0"/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Scale Up mass production: 2027-2028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4056451" y="394123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80%+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/DSP chip</a:t>
            </a:r>
            <a:r>
              <a:rPr lang="en-US" altLang="zh-CN" sz="1400" i="0" dirty="0">
                <a:effectLst/>
              </a:rPr>
              <a:t> market</a:t>
            </a:r>
            <a:endParaRPr lang="zh-CN" altLang="en-US" sz="14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32B1AA71-8DBA-436A-A1BD-27AAF8AD6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196" y="3927328"/>
            <a:ext cx="325584" cy="312561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48E1699-6FD9-4CC1-CD64-6F077D9E31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4761" y="3933129"/>
            <a:ext cx="642530" cy="244993"/>
          </a:xfrm>
          <a:prstGeom prst="rect">
            <a:avLst/>
          </a:prstGeom>
        </p:spPr>
      </p:pic>
      <p:pic>
        <p:nvPicPr>
          <p:cNvPr id="50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872CFBC6-B8AA-ABA9-2C27-7E708B446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6" t="17821" b="20152"/>
          <a:stretch/>
        </p:blipFill>
        <p:spPr bwMode="auto">
          <a:xfrm>
            <a:off x="6961660" y="4271640"/>
            <a:ext cx="795476" cy="27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图像" descr="图像">
            <a:extLst>
              <a:ext uri="{FF2B5EF4-FFF2-40B4-BE49-F238E27FC236}">
                <a16:creationId xmlns:a16="http://schemas.microsoft.com/office/drawing/2014/main" id="{DC6A92A6-AC30-3119-2689-5CFB930D7D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6860" y="4284659"/>
            <a:ext cx="965100" cy="285957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06948" y="642907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 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98753" y="4108269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0754605A-E031-7BC5-E6F4-C816BEB88A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2687" y="4022501"/>
            <a:ext cx="845672" cy="123188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8281023" y="3922911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6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0%</a:t>
            </a:r>
          </a:p>
          <a:p>
            <a:r>
              <a:rPr lang="en-US" altLang="zh-CN" sz="1400" i="0" dirty="0">
                <a:effectLst/>
              </a:rPr>
              <a:t>800G optical module market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7823325" y="408994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907846" y="5120244"/>
            <a:ext cx="39849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Scale Up: </a:t>
            </a:r>
            <a:r>
              <a:rPr lang="en-US" altLang="zh-CN" b="1" dirty="0">
                <a:solidFill>
                  <a:srgbClr val="0052D9"/>
                </a:solidFill>
              </a:rPr>
              <a:t>~2027</a:t>
            </a:r>
            <a:endParaRPr lang="en-US" altLang="zh-CN" dirty="0">
              <a:solidFill>
                <a:srgbClr val="0052D9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</a:rPr>
              <a:t>Compensate</a:t>
            </a:r>
            <a:r>
              <a:rPr lang="en-US" altLang="zh-CN" sz="1400" dirty="0"/>
              <a:t> for electrical weaknesses.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Amplify optical strengths</a:t>
            </a:r>
          </a:p>
        </p:txBody>
      </p:sp>
      <p:cxnSp>
        <p:nvCxnSpPr>
          <p:cNvPr id="76" name="直线连接符 34">
            <a:extLst>
              <a:ext uri="{FF2B5EF4-FFF2-40B4-BE49-F238E27FC236}">
                <a16:creationId xmlns:a16="http://schemas.microsoft.com/office/drawing/2014/main" id="{7BCBF591-831F-1A23-EFCF-1369DEDB04DA}"/>
              </a:ext>
            </a:extLst>
          </p:cNvPr>
          <p:cNvCxnSpPr>
            <a:cxnSpLocks/>
          </p:cNvCxnSpPr>
          <p:nvPr/>
        </p:nvCxnSpPr>
        <p:spPr>
          <a:xfrm>
            <a:off x="6849727" y="1522594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34">
            <a:extLst>
              <a:ext uri="{FF2B5EF4-FFF2-40B4-BE49-F238E27FC236}">
                <a16:creationId xmlns:a16="http://schemas.microsoft.com/office/drawing/2014/main" id="{FBBD434B-CD1E-5F61-CAAB-31E011343DA4}"/>
              </a:ext>
            </a:extLst>
          </p:cNvPr>
          <p:cNvCxnSpPr>
            <a:cxnSpLocks/>
          </p:cNvCxnSpPr>
          <p:nvPr/>
        </p:nvCxnSpPr>
        <p:spPr>
          <a:xfrm>
            <a:off x="654100" y="4907144"/>
            <a:ext cx="10177077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62744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0741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dirty="0">
                <a:latin typeface="+mn-lt"/>
                <a:cs typeface="+mn-ea"/>
              </a:rPr>
              <a:t>Overseas: Pursue Scale-out &amp; Scale-up Parallelly; CPO Initial Focus on Scale-out (1-2 Years)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746750"/>
            <a:ext cx="936104" cy="57257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Strategy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129649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 roadmap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2572431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56880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69709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58574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7570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123898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129247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123173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131662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3456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230994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2303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4236020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roadmap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794590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Aggressively transitioning from copper to CPO.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1559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1853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1795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0557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25.07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1940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3673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359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2610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2945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5499383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5499383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982873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123144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746749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Betting on CPO to expand from Out to Up in 5 years.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294599"/>
            <a:ext cx="200705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4400188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26Q1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3945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7417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7537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2794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309511"/>
            <a:ext cx="20016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3433672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25.06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399243" y="5295410"/>
            <a:ext cx="464136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​Scale-Out: 2025–2026​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​Scale-Up: ~2028(per Broadcom)</a:t>
            </a: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247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44090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 Transceiver power consumption is based on 10W (400G LPO); Ascend 910C single-card power ≈800W.​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22091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43693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2.5m</a:t>
            </a: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8B021EB7-28CB-335B-0718-DFB63C8F947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247823"/>
              </p:ext>
            </p:extLst>
          </p:nvPr>
        </p:nvGraphicFramePr>
        <p:xfrm>
          <a:off x="236538" y="2859088"/>
          <a:ext cx="295275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2832100"/>
            <a:ext cx="0" cy="1717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A4C4DF0-9FA4-6081-971C-2B8B09D3467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59717625"/>
              </p:ext>
            </p:extLst>
          </p:nvPr>
        </p:nvGraphicFramePr>
        <p:xfrm>
          <a:off x="3205163" y="2859088"/>
          <a:ext cx="229870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2832100"/>
            <a:ext cx="0" cy="1077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26812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F16EA35B-7C0B-66AC-0D88-7AEE63BFFA46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69752568"/>
              </p:ext>
            </p:extLst>
          </p:nvPr>
        </p:nvGraphicFramePr>
        <p:xfrm>
          <a:off x="8926513" y="224472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43217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43217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166395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44090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≈1/3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≈1.7x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33203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33203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32727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32727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35902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134808249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W/TFLOPS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6CD55-FB77-A3AC-E199-52E1D5F9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D664165-D337-BD98-86DD-A31B0D6CD5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2966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" name="文本框 245">
            <a:extLst>
              <a:ext uri="{FF2B5EF4-FFF2-40B4-BE49-F238E27FC236}">
                <a16:creationId xmlns:a16="http://schemas.microsoft.com/office/drawing/2014/main" id="{EA5C795C-C515-BC8D-C257-AFA9FF9F423B}"/>
              </a:ext>
            </a:extLst>
          </p:cNvPr>
          <p:cNvSpPr txBox="1"/>
          <p:nvPr/>
        </p:nvSpPr>
        <p:spPr>
          <a:xfrm>
            <a:off x="6623128" y="2290686"/>
            <a:ext cx="5364632" cy="4560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 </a:t>
            </a:r>
            <a:r>
              <a:rPr kumimoji="1" lang="en-US" altLang="zh-CN" sz="1600" b="1" dirty="0">
                <a:solidFill>
                  <a:srgbClr val="DCDEE0">
                    <a:lumMod val="1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Potential Ports: </a:t>
            </a:r>
            <a:r>
              <a:rPr kumimoji="1" lang="en-US" altLang="zh-CN" sz="1600" dirty="0">
                <a:solidFill>
                  <a:srgbClr val="DCDEE0">
                    <a:lumMod val="1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GPUs/ASICs + switches using 800G/1.6T/3.2T transceivers. 2030E shipments: ​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100mn</a:t>
            </a:r>
            <a:r>
              <a:rPr kumimoji="1" lang="en-US" altLang="zh-CN" sz="1600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.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6D3086-13FE-1D29-38B8-E5C5C498FDD3}"/>
              </a:ext>
            </a:extLst>
          </p:cNvPr>
          <p:cNvSpPr txBox="1"/>
          <p:nvPr/>
        </p:nvSpPr>
        <p:spPr>
          <a:xfrm>
            <a:off x="6537633" y="2848913"/>
            <a:ext cx="53646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Penetration Rate: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Supported by new HPC cluster construction. 2030E penetration: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40%.</a:t>
            </a: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27F10C0B-C23E-88BE-46D2-0F936EECF229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Morgan Stanley Research,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LightCounting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SemiAnalysis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Broadcom expert.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0E159DE-54C8-6C37-B46D-FF12E3B08587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 w="6350" cap="flat">
                  <a:noFill/>
                  <a:miter lim="800000"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CPO: A Multi-Billion Dollar Market Paved by Data Rate Scaling</a:t>
            </a: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4C8FE088-9018-7181-2F90-D0428928D736}"/>
              </a:ext>
            </a:extLst>
          </p:cNvPr>
          <p:cNvGrpSpPr/>
          <p:nvPr/>
        </p:nvGrpSpPr>
        <p:grpSpPr>
          <a:xfrm>
            <a:off x="373525" y="2787152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7E71F5F1-653B-B5A0-1A03-4A14140FD997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2933873-1A82-A7F9-31CC-CC5E9A88B1F5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Base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28D8599-510F-84E1-32F5-0AFC97C92A17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918C1CBB-A30C-CF11-53E9-2DE4696E1092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9813FA2-FCC4-9F84-F7C6-9552509CA901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lvl="0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172%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zh-CN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2030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E</a:t>
                </a:r>
                <a:r>
                  <a:rPr kumimoji="1" lang="zh-CN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 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Revenue: </a:t>
                </a:r>
                <a:r>
                  <a:rPr kumimoji="1" lang="en-US" altLang="zh-CN" sz="1600" b="1" dirty="0">
                    <a:solidFill>
                      <a:srgbClr val="0052D9"/>
                    </a:solidFill>
                    <a:latin typeface="Arial"/>
                    <a:ea typeface="楷体"/>
                    <a:cs typeface="+mn-ea"/>
                    <a:sym typeface="+mn-lt"/>
                  </a:rPr>
                  <a:t>~$</a:t>
                </a:r>
                <a:r>
                  <a:rPr kumimoji="1" lang="zh-CN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9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.</a:t>
                </a:r>
                <a:r>
                  <a:rPr kumimoji="1" lang="zh-CN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3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bn;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lvl="0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NVIDIA Rubin + Broadcom TH7 lead high-end pluggable module replacement; penetration ~40%.</a:t>
                </a:r>
                <a:endParaRPr kumimoji="1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3014FA72-4F3E-9274-7B07-15A87AE4E15F}"/>
              </a:ext>
            </a:extLst>
          </p:cNvPr>
          <p:cNvGrpSpPr/>
          <p:nvPr/>
        </p:nvGrpSpPr>
        <p:grpSpPr>
          <a:xfrm>
            <a:off x="333768" y="885069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2CC4547C-DD76-5143-213D-C0203683C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6624975-0981-D3F9-F854-E1C8F0149307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Bull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E27FD0E-E4FE-C07B-7940-A3C005F152C2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9E33F0B5-71D6-18C3-066D-C723F07AAE06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rgbClr val="FFFFFF"/>
                  </a:solidFill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E85FB7E-4715-B017-F84B-229D98780F76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210%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2030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E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 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Revenue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latin typeface="Arial"/>
                    <a:ea typeface="楷体"/>
                    <a:cs typeface="+mn-ea"/>
                    <a:sym typeface="+mn-lt"/>
                  </a:rPr>
                  <a:t>: 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 </a:t>
                </a:r>
                <a:r>
                  <a:rPr kumimoji="1" lang="en-US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~$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27</a:t>
                </a:r>
                <a:r>
                  <a:rPr kumimoji="1" lang="en-US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bn;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CPO becomes mainstream in 800G/1.6T nodes; penetration &gt;60%, extends to 400G.</a:t>
                </a: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27311E0F-4485-4C28-38B6-7F3E77D40AD7}"/>
              </a:ext>
            </a:extLst>
          </p:cNvPr>
          <p:cNvGrpSpPr/>
          <p:nvPr/>
        </p:nvGrpSpPr>
        <p:grpSpPr>
          <a:xfrm>
            <a:off x="333768" y="466781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BCF078E-651C-DCF7-9B47-E30DF6BA447C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Bear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515180D-B682-5D59-5818-E29380D6C1B2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0698B97B-F638-0BA9-2DFD-235A76E50698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6A2E8E1-C152-F9E3-6C3B-BE5675788C2A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107%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2030E Revenue: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~$1B;</a:t>
                </a:r>
                <a:endPara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>
                        <a:lumMod val="10000"/>
                      </a:scheme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Piloted only in ultra-high-end AI clusters; penetration ≤15%.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4D043F2A-5C28-3691-4374-9746B8A9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EB973E8-1FEE-DB70-288F-C31A26AD01C9}"/>
              </a:ext>
            </a:extLst>
          </p:cNvPr>
          <p:cNvSpPr txBox="1"/>
          <p:nvPr/>
        </p:nvSpPr>
        <p:spPr>
          <a:xfrm>
            <a:off x="6426846" y="146123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4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6306EB-26B0-672C-CB1F-CF34879874A6}"/>
              </a:ext>
            </a:extLst>
          </p:cNvPr>
          <p:cNvSpPr txBox="1"/>
          <p:nvPr/>
        </p:nvSpPr>
        <p:spPr>
          <a:xfrm>
            <a:off x="7418928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=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826D3C-C9F7-864C-F674-04C05058C2CB}"/>
              </a:ext>
            </a:extLst>
          </p:cNvPr>
          <p:cNvSpPr txBox="1"/>
          <p:nvPr/>
        </p:nvSpPr>
        <p:spPr>
          <a:xfrm>
            <a:off x="7865920" y="1404158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Potential Ports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5821CD-80A0-4FCB-263B-885A20102CFC}"/>
              </a:ext>
            </a:extLst>
          </p:cNvPr>
          <p:cNvSpPr txBox="1"/>
          <p:nvPr/>
        </p:nvSpPr>
        <p:spPr>
          <a:xfrm>
            <a:off x="9354650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×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629C8D-0F4C-1F8A-C6AF-5658B92D4CF7}"/>
              </a:ext>
            </a:extLst>
          </p:cNvPr>
          <p:cNvSpPr txBox="1"/>
          <p:nvPr/>
        </p:nvSpPr>
        <p:spPr>
          <a:xfrm>
            <a:off x="9786325" y="1404158"/>
            <a:ext cx="118227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Penetration Rate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7548F9-0DB3-1240-3009-65902E935706}"/>
              </a:ext>
            </a:extLst>
          </p:cNvPr>
          <p:cNvSpPr txBox="1"/>
          <p:nvPr/>
        </p:nvSpPr>
        <p:spPr>
          <a:xfrm>
            <a:off x="10888133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×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940DD8-7E7B-B743-CE39-C879F166600D}"/>
              </a:ext>
            </a:extLst>
          </p:cNvPr>
          <p:cNvSpPr txBox="1"/>
          <p:nvPr/>
        </p:nvSpPr>
        <p:spPr>
          <a:xfrm>
            <a:off x="11157942" y="1461237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Unit Price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DEA6416-A15E-24FF-A739-2C1A7889CF85}"/>
              </a:ext>
            </a:extLst>
          </p:cNvPr>
          <p:cNvSpPr txBox="1"/>
          <p:nvPr/>
        </p:nvSpPr>
        <p:spPr>
          <a:xfrm>
            <a:off x="8422103" y="1750602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E85336B-EB47-75C6-541C-B4372D1F89BE}"/>
              </a:ext>
            </a:extLst>
          </p:cNvPr>
          <p:cNvSpPr txBox="1"/>
          <p:nvPr/>
        </p:nvSpPr>
        <p:spPr>
          <a:xfrm>
            <a:off x="9568359" y="1750602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B758D26-69FF-1190-7338-40D57D987C0C}"/>
              </a:ext>
            </a:extLst>
          </p:cNvPr>
          <p:cNvSpPr/>
          <p:nvPr/>
        </p:nvSpPr>
        <p:spPr>
          <a:xfrm>
            <a:off x="7865920" y="1209512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D45858-BC08-8DBF-06F4-2536BC2DE452}"/>
              </a:ext>
            </a:extLst>
          </p:cNvPr>
          <p:cNvSpPr/>
          <p:nvPr/>
        </p:nvSpPr>
        <p:spPr>
          <a:xfrm>
            <a:off x="9748009" y="1210811"/>
            <a:ext cx="1237480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C47B5B7-12E5-FFB0-4B6D-B3BFC15CED54}"/>
              </a:ext>
            </a:extLst>
          </p:cNvPr>
          <p:cNvSpPr txBox="1"/>
          <p:nvPr/>
        </p:nvSpPr>
        <p:spPr>
          <a:xfrm>
            <a:off x="6585164" y="473520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New IDCs prefer CPO to avoid future replacement costs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Amazon, Meta, Google, x.AI require optical interconnects for 10k-clusters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0D81AA9-A5AA-AFCB-5127-F8AC893064A6}"/>
              </a:ext>
            </a:extLst>
          </p:cNvPr>
          <p:cNvSpPr/>
          <p:nvPr/>
        </p:nvSpPr>
        <p:spPr>
          <a:xfrm>
            <a:off x="6585164" y="3614123"/>
            <a:ext cx="5269570" cy="995304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“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35% 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of Meta’s HPC cluster interconnects have applied CPO.</a:t>
            </a: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”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—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Broadcom expert</a:t>
            </a:r>
          </a:p>
        </p:txBody>
      </p:sp>
      <p:sp>
        <p:nvSpPr>
          <p:cNvPr id="2" name="梯形 1">
            <a:extLst>
              <a:ext uri="{FF2B5EF4-FFF2-40B4-BE49-F238E27FC236}">
                <a16:creationId xmlns:a16="http://schemas.microsoft.com/office/drawing/2014/main" id="{FAB954A1-EA08-9875-CD96-4EC71B65B32B}"/>
              </a:ext>
            </a:extLst>
          </p:cNvPr>
          <p:cNvSpPr/>
          <p:nvPr/>
        </p:nvSpPr>
        <p:spPr>
          <a:xfrm rot="16200000">
            <a:off x="3691051" y="3465152"/>
            <a:ext cx="4799248" cy="370109"/>
          </a:xfrm>
          <a:prstGeom prst="trapezoid">
            <a:avLst>
              <a:gd name="adj" fmla="val 502268"/>
            </a:avLst>
          </a:prstGeom>
          <a:gradFill flip="none" rotWithShape="1">
            <a:gsLst>
              <a:gs pos="18000">
                <a:srgbClr val="BDD4FF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0052D9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130">
            <a:extLst>
              <a:ext uri="{FF2B5EF4-FFF2-40B4-BE49-F238E27FC236}">
                <a16:creationId xmlns:a16="http://schemas.microsoft.com/office/drawing/2014/main" id="{4C4401D9-94DB-E122-8EEB-A71C05351D29}"/>
              </a:ext>
            </a:extLst>
          </p:cNvPr>
          <p:cNvSpPr/>
          <p:nvPr/>
        </p:nvSpPr>
        <p:spPr>
          <a:xfrm>
            <a:off x="6415288" y="1083069"/>
            <a:ext cx="5611611" cy="5101831"/>
          </a:xfrm>
          <a:prstGeom prst="roundRect">
            <a:avLst>
              <a:gd name="adj" fmla="val 5634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rgbClr val="FFFFFF"/>
              </a:solidFill>
              <a:latin typeface="Arial"/>
              <a:ea typeface="楷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5419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6505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 Chip,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Integration¹: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C8B1F2-7CEF-4519-ED3C-8D9DE918E770}"/>
              </a:ext>
            </a:extLst>
          </p:cNvPr>
          <p:cNvSpPr txBox="1"/>
          <p:nvPr/>
        </p:nvSpPr>
        <p:spPr>
          <a:xfrm>
            <a:off x="406273" y="635610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Foundry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included.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9782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463" y="3760737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China</a:t>
            </a: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8" name="图像" descr="图像">
            <a:extLst>
              <a:ext uri="{FF2B5EF4-FFF2-40B4-BE49-F238E27FC236}">
                <a16:creationId xmlns:a16="http://schemas.microsoft.com/office/drawing/2014/main" id="{DB893361-6B45-7E8C-9755-E37F2155A5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5320" y="3760737"/>
            <a:ext cx="770002" cy="2281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373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57337" y="189014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78846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80707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80313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9133" y="417409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30128" y="377434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421780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023675"/>
            <a:ext cx="574356" cy="2213303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7419" y="3045997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5884" t="22886" r="3998" b="18237"/>
          <a:stretch>
            <a:fillRect/>
          </a:stretch>
        </p:blipFill>
        <p:spPr>
          <a:xfrm>
            <a:off x="11200086" y="5363148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sp>
        <p:nvSpPr>
          <p:cNvPr id="2058" name="Rectangle 8">
            <a:extLst>
              <a:ext uri="{FF2B5EF4-FFF2-40B4-BE49-F238E27FC236}">
                <a16:creationId xmlns:a16="http://schemas.microsoft.com/office/drawing/2014/main" id="{2137F4A7-010E-E86A-CB33-ED2C7C50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2745084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光模块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3074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96190A70-1AB2-1B66-22BC-1684BE08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638" y="2946742"/>
            <a:ext cx="703555" cy="32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9846" y="421780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301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2626" y="379447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228365" y="377410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图片 1037">
            <a:extLst>
              <a:ext uri="{FF2B5EF4-FFF2-40B4-BE49-F238E27FC236}">
                <a16:creationId xmlns:a16="http://schemas.microsoft.com/office/drawing/2014/main" id="{6877E9FB-C6BE-A359-B45E-CEF71A89623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0589" y="2987295"/>
            <a:ext cx="590782" cy="225262"/>
          </a:xfrm>
          <a:prstGeom prst="rect">
            <a:avLst/>
          </a:prstGeom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8" cstate="print"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71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2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6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26F952F8-BD30-39B8-0710-DB5BDE7A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81" y="5616691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图片 1046">
            <a:extLst>
              <a:ext uri="{FF2B5EF4-FFF2-40B4-BE49-F238E27FC236}">
                <a16:creationId xmlns:a16="http://schemas.microsoft.com/office/drawing/2014/main" id="{748D2AFE-B7CC-31D4-6479-FF122053DAE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2941" y="5667052"/>
            <a:ext cx="431753" cy="164625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5625" y="380141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77884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946682" y="378192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82919" y="379984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4490" y="3782705"/>
            <a:ext cx="681323" cy="1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E54A-B213-CE75-427F-8AA3404D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558F73-8357-A1DD-7EB5-F81BF5153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8974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BBE0B0-01BF-CB4A-40C0-09FFDB8A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Broadcom: First to Commercialize CPO with a Sustained Lead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E1DD30-7FDB-3F47-7AEF-E5C2244C3CE7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 switch chips prioritized in timeline.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6B5D6ED-707E-C6B1-912C-1C81B662A5CB}"/>
              </a:ext>
            </a:extLst>
          </p:cNvPr>
          <p:cNvGrpSpPr/>
          <p:nvPr/>
        </p:nvGrpSpPr>
        <p:grpSpPr>
          <a:xfrm>
            <a:off x="419231" y="831408"/>
            <a:ext cx="11063882" cy="855636"/>
            <a:chOff x="419231" y="831408"/>
            <a:chExt cx="11063882" cy="85563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D932BCA-CA28-E081-AD9C-A046286F0419}"/>
                </a:ext>
              </a:extLst>
            </p:cNvPr>
            <p:cNvSpPr/>
            <p:nvPr/>
          </p:nvSpPr>
          <p:spPr>
            <a:xfrm>
              <a:off x="419231" y="831408"/>
              <a:ext cx="11063882" cy="842892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F81A6C3-9205-443D-8828-1B7234874E73}"/>
                </a:ext>
              </a:extLst>
            </p:cNvPr>
            <p:cNvSpPr txBox="1"/>
            <p:nvPr/>
          </p:nvSpPr>
          <p:spPr>
            <a:xfrm>
              <a:off x="474403" y="856047"/>
              <a:ext cx="1078287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Competitive Positioning: 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≈1-year lead</a:t>
              </a:r>
              <a:r>
                <a:rPr lang="en-US" altLang="zh-CN" sz="1600" dirty="0"/>
                <a:t> over ​NVIDIA;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The only vendor with publicly confirmed mass production of CPO switches/chips;​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TH4 &amp; TH5: Industry’s 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first CPO switch chips </a:t>
              </a:r>
              <a:r>
                <a:rPr lang="en-US" altLang="zh-CN" sz="1600" dirty="0"/>
                <a:t>to enter volume production.</a:t>
              </a:r>
            </a:p>
          </p:txBody>
        </p:sp>
      </p:grpSp>
      <p:sp>
        <p:nvSpPr>
          <p:cNvPr id="110" name="文本框 13">
            <a:extLst>
              <a:ext uri="{FF2B5EF4-FFF2-40B4-BE49-F238E27FC236}">
                <a16:creationId xmlns:a16="http://schemas.microsoft.com/office/drawing/2014/main" id="{E2C45565-EC1B-5D1D-99A3-5A79B14DD9AA}"/>
              </a:ext>
            </a:extLst>
          </p:cNvPr>
          <p:cNvSpPr txBox="1"/>
          <p:nvPr/>
        </p:nvSpPr>
        <p:spPr>
          <a:xfrm>
            <a:off x="5910123" y="110063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5D36808-52C5-27C7-514E-CA0FED831006}"/>
              </a:ext>
            </a:extLst>
          </p:cNvPr>
          <p:cNvCxnSpPr>
            <a:cxnSpLocks/>
          </p:cNvCxnSpPr>
          <p:nvPr/>
        </p:nvCxnSpPr>
        <p:spPr>
          <a:xfrm>
            <a:off x="1407961" y="5798954"/>
            <a:ext cx="9626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C7DE9DED-194E-1502-E490-1F6920A95A4F}"/>
              </a:ext>
            </a:extLst>
          </p:cNvPr>
          <p:cNvCxnSpPr>
            <a:cxnSpLocks/>
          </p:cNvCxnSpPr>
          <p:nvPr/>
        </p:nvCxnSpPr>
        <p:spPr>
          <a:xfrm flipV="1">
            <a:off x="1407962" y="2367508"/>
            <a:ext cx="0" cy="342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600B4EB6-1EE8-4CC7-CF0C-980549956770}"/>
              </a:ext>
            </a:extLst>
          </p:cNvPr>
          <p:cNvSpPr txBox="1"/>
          <p:nvPr/>
        </p:nvSpPr>
        <p:spPr>
          <a:xfrm>
            <a:off x="751310" y="5139056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12.8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2ECF937A-BCE8-7B42-925C-83B3E3B77D06}"/>
              </a:ext>
            </a:extLst>
          </p:cNvPr>
          <p:cNvSpPr txBox="1"/>
          <p:nvPr/>
        </p:nvSpPr>
        <p:spPr>
          <a:xfrm>
            <a:off x="751310" y="4337143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25.6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52F3FB11-5937-AA18-30B9-0AB44CA4074D}"/>
              </a:ext>
            </a:extLst>
          </p:cNvPr>
          <p:cNvSpPr txBox="1"/>
          <p:nvPr/>
        </p:nvSpPr>
        <p:spPr>
          <a:xfrm>
            <a:off x="751310" y="3535229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51.2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FEC53B9-1D54-FBF6-8971-E6DB3E7C220D}"/>
              </a:ext>
            </a:extLst>
          </p:cNvPr>
          <p:cNvSpPr txBox="1"/>
          <p:nvPr/>
        </p:nvSpPr>
        <p:spPr>
          <a:xfrm>
            <a:off x="656291" y="2733315"/>
            <a:ext cx="867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102.4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9515409C-F418-0A19-0F53-073B69E48FF5}"/>
              </a:ext>
            </a:extLst>
          </p:cNvPr>
          <p:cNvSpPr txBox="1"/>
          <p:nvPr/>
        </p:nvSpPr>
        <p:spPr>
          <a:xfrm>
            <a:off x="587360" y="1872409"/>
            <a:ext cx="1005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ASIC</a:t>
            </a:r>
          </a:p>
          <a:p>
            <a:pPr algn="ctr"/>
            <a:r>
              <a:rPr lang="en-US" altLang="zh-CN" sz="1400" dirty="0">
                <a:cs typeface="+mn-ea"/>
                <a:sym typeface="+mn-lt"/>
              </a:rPr>
              <a:t>Capacity</a:t>
            </a:r>
            <a:r>
              <a:rPr lang="zh-CN" altLang="en-US" sz="1400" dirty="0">
                <a:cs typeface="+mn-ea"/>
                <a:sym typeface="+mn-lt"/>
              </a:rPr>
              <a:t>（</a:t>
            </a:r>
            <a:r>
              <a:rPr lang="en-US" altLang="zh-CN" sz="1400" dirty="0" err="1">
                <a:cs typeface="+mn-ea"/>
                <a:sym typeface="+mn-lt"/>
              </a:rPr>
              <a:t>Tbps</a:t>
            </a:r>
            <a:r>
              <a:rPr lang="zh-CN" altLang="en-US" sz="1400" dirty="0">
                <a:cs typeface="+mn-ea"/>
                <a:sym typeface="+mn-lt"/>
              </a:rPr>
              <a:t>）</a:t>
            </a:r>
          </a:p>
        </p:txBody>
      </p:sp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CE6789BA-E003-ED21-8313-C7D3E2FD3A15}"/>
              </a:ext>
            </a:extLst>
          </p:cNvPr>
          <p:cNvGrpSpPr/>
          <p:nvPr/>
        </p:nvGrpSpPr>
        <p:grpSpPr>
          <a:xfrm>
            <a:off x="3013249" y="5691528"/>
            <a:ext cx="754380" cy="549547"/>
            <a:chOff x="2302741" y="5497808"/>
            <a:chExt cx="754380" cy="549547"/>
          </a:xfrm>
        </p:grpSpPr>
        <p:sp>
          <p:nvSpPr>
            <p:cNvPr id="1028" name="iconfont-1018-792472">
              <a:extLst>
                <a:ext uri="{FF2B5EF4-FFF2-40B4-BE49-F238E27FC236}">
                  <a16:creationId xmlns:a16="http://schemas.microsoft.com/office/drawing/2014/main" id="{A28C6252-82D4-448A-5630-CA8489B87C7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75D40222-E86A-AF05-53F7-23934033CE7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2021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6E9B963C-0085-6B82-A034-F954D71BF01E}"/>
              </a:ext>
            </a:extLst>
          </p:cNvPr>
          <p:cNvGrpSpPr/>
          <p:nvPr/>
        </p:nvGrpSpPr>
        <p:grpSpPr>
          <a:xfrm>
            <a:off x="2921849" y="4354834"/>
            <a:ext cx="885326" cy="430416"/>
            <a:chOff x="1946450" y="4289861"/>
            <a:chExt cx="885326" cy="430416"/>
          </a:xfrm>
        </p:grpSpPr>
        <p:pic>
          <p:nvPicPr>
            <p:cNvPr id="1049" name="图像" descr="图像">
              <a:extLst>
                <a:ext uri="{FF2B5EF4-FFF2-40B4-BE49-F238E27FC236}">
                  <a16:creationId xmlns:a16="http://schemas.microsoft.com/office/drawing/2014/main" id="{7AF4D924-6A75-3F6D-4627-C8413016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8" name="文本框 1057">
              <a:extLst>
                <a:ext uri="{FF2B5EF4-FFF2-40B4-BE49-F238E27FC236}">
                  <a16:creationId xmlns:a16="http://schemas.microsoft.com/office/drawing/2014/main" id="{E3BA46B7-301B-16B7-39BA-CAF291B19DE5}"/>
                </a:ext>
              </a:extLst>
            </p:cNvPr>
            <p:cNvSpPr txBox="1"/>
            <p:nvPr/>
          </p:nvSpPr>
          <p:spPr>
            <a:xfrm>
              <a:off x="1946450" y="4458667"/>
              <a:ext cx="8673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Announced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3F4E0275-E15B-E18B-CFFB-6ED4DB288D4E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98BB9851-94C4-A458-B69A-395D12803CD8}"/>
              </a:ext>
            </a:extLst>
          </p:cNvPr>
          <p:cNvGrpSpPr/>
          <p:nvPr/>
        </p:nvGrpSpPr>
        <p:grpSpPr>
          <a:xfrm>
            <a:off x="6223825" y="5691528"/>
            <a:ext cx="754380" cy="549547"/>
            <a:chOff x="2302741" y="5497808"/>
            <a:chExt cx="754380" cy="549547"/>
          </a:xfrm>
        </p:grpSpPr>
        <p:sp>
          <p:nvSpPr>
            <p:cNvPr id="1034" name="iconfont-1018-792472">
              <a:extLst>
                <a:ext uri="{FF2B5EF4-FFF2-40B4-BE49-F238E27FC236}">
                  <a16:creationId xmlns:a16="http://schemas.microsoft.com/office/drawing/2014/main" id="{72BB9B27-9D6A-BFA8-D830-B57600B6C4E1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23286744-0EF7-17DC-E3E3-6759EA76B90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2023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73BC98C6-518F-6801-762D-326AC7DDB754}"/>
              </a:ext>
            </a:extLst>
          </p:cNvPr>
          <p:cNvGrpSpPr/>
          <p:nvPr/>
        </p:nvGrpSpPr>
        <p:grpSpPr>
          <a:xfrm>
            <a:off x="6050643" y="3554943"/>
            <a:ext cx="1088697" cy="433036"/>
            <a:chOff x="1854080" y="4289861"/>
            <a:chExt cx="1088697" cy="433036"/>
          </a:xfrm>
        </p:grpSpPr>
        <p:pic>
          <p:nvPicPr>
            <p:cNvPr id="1067" name="图像" descr="图像">
              <a:extLst>
                <a:ext uri="{FF2B5EF4-FFF2-40B4-BE49-F238E27FC236}">
                  <a16:creationId xmlns:a16="http://schemas.microsoft.com/office/drawing/2014/main" id="{C61455A4-C0B8-0935-FFFC-5DD3D66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8" name="文本框 1067">
              <a:extLst>
                <a:ext uri="{FF2B5EF4-FFF2-40B4-BE49-F238E27FC236}">
                  <a16:creationId xmlns:a16="http://schemas.microsoft.com/office/drawing/2014/main" id="{72796B5A-F4DF-46A5-C791-2794CB79275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9" name="文本框 1068">
              <a:extLst>
                <a:ext uri="{FF2B5EF4-FFF2-40B4-BE49-F238E27FC236}">
                  <a16:creationId xmlns:a16="http://schemas.microsoft.com/office/drawing/2014/main" id="{DD5B1B47-7BBA-93F3-A3FD-4A22FA9F9F1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3C0140A-BFB7-5CB5-591C-1D43983BCB59}"/>
              </a:ext>
            </a:extLst>
          </p:cNvPr>
          <p:cNvGrpSpPr/>
          <p:nvPr/>
        </p:nvGrpSpPr>
        <p:grpSpPr>
          <a:xfrm>
            <a:off x="1524782" y="5691528"/>
            <a:ext cx="754380" cy="549547"/>
            <a:chOff x="2302741" y="5497808"/>
            <a:chExt cx="754380" cy="549547"/>
          </a:xfrm>
        </p:grpSpPr>
        <p:sp>
          <p:nvSpPr>
            <p:cNvPr id="125" name="iconfont-1018-792472">
              <a:extLst>
                <a:ext uri="{FF2B5EF4-FFF2-40B4-BE49-F238E27FC236}">
                  <a16:creationId xmlns:a16="http://schemas.microsoft.com/office/drawing/2014/main" id="{2713C143-9FCD-8037-8466-015AAA9AF72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2818448-3ACC-1AA6-1E27-5691A0932808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2020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7398A127-81D9-93B8-23A9-EA5EC5A48436}"/>
              </a:ext>
            </a:extLst>
          </p:cNvPr>
          <p:cNvGrpSpPr/>
          <p:nvPr/>
        </p:nvGrpSpPr>
        <p:grpSpPr>
          <a:xfrm>
            <a:off x="1434852" y="5166795"/>
            <a:ext cx="1028945" cy="439944"/>
            <a:chOff x="1658959" y="4966727"/>
            <a:chExt cx="1028945" cy="439944"/>
          </a:xfrm>
        </p:grpSpPr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E0DDA59C-5705-417E-70E7-DDB256B4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9899" y="5027245"/>
              <a:ext cx="246630" cy="158302"/>
            </a:xfrm>
            <a:prstGeom prst="rect">
              <a:avLst/>
            </a:prstGeom>
          </p:spPr>
        </p:pic>
        <p:grpSp>
          <p:nvGrpSpPr>
            <p:cNvPr id="1078" name="组合 1077">
              <a:extLst>
                <a:ext uri="{FF2B5EF4-FFF2-40B4-BE49-F238E27FC236}">
                  <a16:creationId xmlns:a16="http://schemas.microsoft.com/office/drawing/2014/main" id="{EA6D8339-D84C-06DE-8624-47C705CC6B00}"/>
                </a:ext>
              </a:extLst>
            </p:cNvPr>
            <p:cNvGrpSpPr/>
            <p:nvPr/>
          </p:nvGrpSpPr>
          <p:grpSpPr>
            <a:xfrm>
              <a:off x="1658959" y="4966727"/>
              <a:ext cx="1028945" cy="439944"/>
              <a:chOff x="1992505" y="4285065"/>
              <a:chExt cx="1028945" cy="439944"/>
            </a:xfrm>
          </p:grpSpPr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5621A35E-478A-7106-EFBB-5152625053B1}"/>
                  </a:ext>
                </a:extLst>
              </p:cNvPr>
              <p:cNvSpPr txBox="1"/>
              <p:nvPr/>
            </p:nvSpPr>
            <p:spPr>
              <a:xfrm>
                <a:off x="1992505" y="4471093"/>
                <a:ext cx="9921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Demo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2CF1D84A-9BD8-3B4D-E2CD-B3C399E3E197}"/>
                  </a:ext>
                </a:extLst>
              </p:cNvPr>
              <p:cNvSpPr txBox="1"/>
              <p:nvPr/>
            </p:nvSpPr>
            <p:spPr>
              <a:xfrm>
                <a:off x="2248593" y="4285065"/>
                <a:ext cx="7728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12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WEDGE</a:t>
                </a: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33B33FC-2DA3-942C-DE66-EE387FA2C122}"/>
              </a:ext>
            </a:extLst>
          </p:cNvPr>
          <p:cNvSpPr/>
          <p:nvPr/>
        </p:nvSpPr>
        <p:spPr>
          <a:xfrm>
            <a:off x="9405316" y="2079030"/>
            <a:ext cx="1496514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Broadcom edge</a:t>
            </a:r>
          </a:p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~1 year</a:t>
            </a:r>
          </a:p>
        </p:txBody>
      </p: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8A6504AE-10E6-54EA-417B-181B252CDDB4}"/>
              </a:ext>
            </a:extLst>
          </p:cNvPr>
          <p:cNvGrpSpPr/>
          <p:nvPr/>
        </p:nvGrpSpPr>
        <p:grpSpPr>
          <a:xfrm>
            <a:off x="4618537" y="5691528"/>
            <a:ext cx="754380" cy="549547"/>
            <a:chOff x="2302741" y="5497808"/>
            <a:chExt cx="754380" cy="549547"/>
          </a:xfrm>
        </p:grpSpPr>
        <p:sp>
          <p:nvSpPr>
            <p:cNvPr id="1031" name="iconfont-1018-792472">
              <a:extLst>
                <a:ext uri="{FF2B5EF4-FFF2-40B4-BE49-F238E27FC236}">
                  <a16:creationId xmlns:a16="http://schemas.microsoft.com/office/drawing/2014/main" id="{E5A154C5-8C07-50CE-AB81-8B604CA7B02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73FF216-651E-6EF6-0EAF-AD2BE6194F9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2022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2" name="组合 1061">
            <a:extLst>
              <a:ext uri="{FF2B5EF4-FFF2-40B4-BE49-F238E27FC236}">
                <a16:creationId xmlns:a16="http://schemas.microsoft.com/office/drawing/2014/main" id="{149A79A5-076E-7FD2-47D9-F4FEB636EADE}"/>
              </a:ext>
            </a:extLst>
          </p:cNvPr>
          <p:cNvGrpSpPr/>
          <p:nvPr/>
        </p:nvGrpSpPr>
        <p:grpSpPr>
          <a:xfrm>
            <a:off x="4322349" y="4337143"/>
            <a:ext cx="1405254" cy="423965"/>
            <a:chOff x="1671560" y="4289861"/>
            <a:chExt cx="1405254" cy="423965"/>
          </a:xfrm>
        </p:grpSpPr>
        <p:pic>
          <p:nvPicPr>
            <p:cNvPr id="1063" name="图像" descr="图像">
              <a:extLst>
                <a:ext uri="{FF2B5EF4-FFF2-40B4-BE49-F238E27FC236}">
                  <a16:creationId xmlns:a16="http://schemas.microsoft.com/office/drawing/2014/main" id="{F8C501A1-7860-CDE5-0E52-C429F059D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4" name="文本框 1063">
              <a:extLst>
                <a:ext uri="{FF2B5EF4-FFF2-40B4-BE49-F238E27FC236}">
                  <a16:creationId xmlns:a16="http://schemas.microsoft.com/office/drawing/2014/main" id="{5784DEBF-5A58-A220-CDC0-07E083A49F5C}"/>
                </a:ext>
              </a:extLst>
            </p:cNvPr>
            <p:cNvSpPr txBox="1"/>
            <p:nvPr/>
          </p:nvSpPr>
          <p:spPr>
            <a:xfrm>
              <a:off x="1671560" y="4459910"/>
              <a:ext cx="140525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Joint Deployment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4C1640B9-5ECC-4EDF-CAFD-BA8B6053D1E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67C8A49E-89B4-B8F5-F84A-AF029453D0F9}"/>
              </a:ext>
            </a:extLst>
          </p:cNvPr>
          <p:cNvGrpSpPr/>
          <p:nvPr/>
        </p:nvGrpSpPr>
        <p:grpSpPr>
          <a:xfrm>
            <a:off x="4504869" y="3553362"/>
            <a:ext cx="1088697" cy="433036"/>
            <a:chOff x="1854080" y="4289861"/>
            <a:chExt cx="1088697" cy="433036"/>
          </a:xfrm>
        </p:grpSpPr>
        <p:pic>
          <p:nvPicPr>
            <p:cNvPr id="1088" name="图像" descr="图像">
              <a:extLst>
                <a:ext uri="{FF2B5EF4-FFF2-40B4-BE49-F238E27FC236}">
                  <a16:creationId xmlns:a16="http://schemas.microsoft.com/office/drawing/2014/main" id="{B3F769CA-D87D-11C6-2FBC-891CD4D8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89" name="文本框 1088">
              <a:extLst>
                <a:ext uri="{FF2B5EF4-FFF2-40B4-BE49-F238E27FC236}">
                  <a16:creationId xmlns:a16="http://schemas.microsoft.com/office/drawing/2014/main" id="{5EC1C477-C2A5-2410-E6C0-89C029A637B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Announced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90" name="文本框 1089">
              <a:extLst>
                <a:ext uri="{FF2B5EF4-FFF2-40B4-BE49-F238E27FC236}">
                  <a16:creationId xmlns:a16="http://schemas.microsoft.com/office/drawing/2014/main" id="{FF520904-5D9C-19BD-8AE7-41A4FF56320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D955C9-C9A3-CCCE-E717-A5B5A391E55E}"/>
              </a:ext>
            </a:extLst>
          </p:cNvPr>
          <p:cNvGrpSpPr/>
          <p:nvPr/>
        </p:nvGrpSpPr>
        <p:grpSpPr>
          <a:xfrm>
            <a:off x="4562046" y="3910992"/>
            <a:ext cx="1602019" cy="412422"/>
            <a:chOff x="3809830" y="4477461"/>
            <a:chExt cx="1602019" cy="41242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56F8D4-C5B1-AE7C-812D-B21452A66E3C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 err="1">
                  <a:solidFill>
                    <a:schemeClr val="accent6">
                      <a:lumMod val="10000"/>
                    </a:schemeClr>
                  </a:solidFill>
                  <a:cs typeface="+mn-ea"/>
                </a:rPr>
                <a:t>Teralynx</a:t>
              </a:r>
              <a:endPara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</a:endParaRPr>
            </a:p>
          </p:txBody>
        </p:sp>
        <p:pic>
          <p:nvPicPr>
            <p:cNvPr id="4" name="图像" descr="图像">
              <a:extLst>
                <a:ext uri="{FF2B5EF4-FFF2-40B4-BE49-F238E27FC236}">
                  <a16:creationId xmlns:a16="http://schemas.microsoft.com/office/drawing/2014/main" id="{E6A22A77-7A62-7A4E-D357-868438744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0C5CD62-2D3F-2D2E-2D15-B48B81AE95C9}"/>
                </a:ext>
              </a:extLst>
            </p:cNvPr>
            <p:cNvSpPr txBox="1"/>
            <p:nvPr/>
          </p:nvSpPr>
          <p:spPr>
            <a:xfrm>
              <a:off x="3809830" y="4628273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3AD19CF5-AC7C-5F60-B9DE-3668CE65FF81}"/>
              </a:ext>
            </a:extLst>
          </p:cNvPr>
          <p:cNvGrpSpPr/>
          <p:nvPr/>
        </p:nvGrpSpPr>
        <p:grpSpPr>
          <a:xfrm>
            <a:off x="7829113" y="5691528"/>
            <a:ext cx="754380" cy="549547"/>
            <a:chOff x="2302741" y="5497808"/>
            <a:chExt cx="754380" cy="549547"/>
          </a:xfrm>
        </p:grpSpPr>
        <p:sp>
          <p:nvSpPr>
            <p:cNvPr id="1037" name="iconfont-1018-792472">
              <a:extLst>
                <a:ext uri="{FF2B5EF4-FFF2-40B4-BE49-F238E27FC236}">
                  <a16:creationId xmlns:a16="http://schemas.microsoft.com/office/drawing/2014/main" id="{EBB5E8EE-6325-FAE7-4474-198D7B57724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984C29D9-A50C-80E3-8A44-5F8EC7CF14CD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2024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E602BF3A-9CF1-E5A2-1133-27AABA328861}"/>
              </a:ext>
            </a:extLst>
          </p:cNvPr>
          <p:cNvGrpSpPr/>
          <p:nvPr/>
        </p:nvGrpSpPr>
        <p:grpSpPr>
          <a:xfrm>
            <a:off x="7451507" y="3550871"/>
            <a:ext cx="1273746" cy="414636"/>
            <a:chOff x="1758058" y="4289861"/>
            <a:chExt cx="1273746" cy="414636"/>
          </a:xfrm>
        </p:grpSpPr>
        <p:pic>
          <p:nvPicPr>
            <p:cNvPr id="1071" name="图像" descr="图像">
              <a:extLst>
                <a:ext uri="{FF2B5EF4-FFF2-40B4-BE49-F238E27FC236}">
                  <a16:creationId xmlns:a16="http://schemas.microsoft.com/office/drawing/2014/main" id="{C980E913-4E30-300C-EF62-BDD26B412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EA8F9B55-A1AA-2EE9-DA55-0B9997FF346D}"/>
                </a:ext>
              </a:extLst>
            </p:cNvPr>
            <p:cNvSpPr txBox="1"/>
            <p:nvPr/>
          </p:nvSpPr>
          <p:spPr>
            <a:xfrm>
              <a:off x="1758058" y="4450581"/>
              <a:ext cx="12737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Mass production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76E2EE8F-1735-4673-60DD-5E9408493BDB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38BBD4-9A9E-3AC1-4501-B00C8778DAE9}"/>
              </a:ext>
            </a:extLst>
          </p:cNvPr>
          <p:cNvGrpSpPr/>
          <p:nvPr/>
        </p:nvGrpSpPr>
        <p:grpSpPr>
          <a:xfrm>
            <a:off x="7540739" y="3910992"/>
            <a:ext cx="1602019" cy="566310"/>
            <a:chOff x="3809830" y="4477461"/>
            <a:chExt cx="1602019" cy="56631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F8740F-3118-ECA2-6F87-C8EEA43B212D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>
                  <a:solidFill>
                    <a:srgbClr val="A6A6A6"/>
                  </a:solidFill>
                  <a:cs typeface="+mn-ea"/>
                </a:rPr>
                <a:t>Teralynx10</a:t>
              </a:r>
            </a:p>
          </p:txBody>
        </p:sp>
        <p:pic>
          <p:nvPicPr>
            <p:cNvPr id="15" name="图像" descr="图像">
              <a:extLst>
                <a:ext uri="{FF2B5EF4-FFF2-40B4-BE49-F238E27FC236}">
                  <a16:creationId xmlns:a16="http://schemas.microsoft.com/office/drawing/2014/main" id="{BCA805E4-99C2-F829-CD9B-3A17621E6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7EF852-4BE8-7C4C-2624-345DDB40618E}"/>
                </a:ext>
              </a:extLst>
            </p:cNvPr>
            <p:cNvSpPr txBox="1"/>
            <p:nvPr/>
          </p:nvSpPr>
          <p:spPr>
            <a:xfrm>
              <a:off x="3809830" y="4628273"/>
              <a:ext cx="138119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Mass production</a:t>
              </a:r>
              <a:r>
                <a:rPr lang="zh-CN" altLang="en-US" sz="1050" dirty="0">
                  <a:solidFill>
                    <a:srgbClr val="A6A6A6"/>
                  </a:solidFill>
                  <a:cs typeface="+mn-ea"/>
                  <a:sym typeface="+mn-lt"/>
                </a:rPr>
                <a:t> </a:t>
              </a:r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(not CPO)</a:t>
              </a:r>
              <a:endParaRPr lang="zh-CN" altLang="en-US" sz="1050" dirty="0">
                <a:solidFill>
                  <a:srgbClr val="A6A6A6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59594C2-28B8-80C5-B266-B933F316C10A}"/>
              </a:ext>
            </a:extLst>
          </p:cNvPr>
          <p:cNvCxnSpPr>
            <a:cxnSpLocks/>
          </p:cNvCxnSpPr>
          <p:nvPr/>
        </p:nvCxnSpPr>
        <p:spPr>
          <a:xfrm>
            <a:off x="2315177" y="4995164"/>
            <a:ext cx="185586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15AB933-0C8A-C8A5-1639-FE116E3B205F}"/>
              </a:ext>
            </a:extLst>
          </p:cNvPr>
          <p:cNvCxnSpPr>
            <a:cxnSpLocks/>
          </p:cNvCxnSpPr>
          <p:nvPr/>
        </p:nvCxnSpPr>
        <p:spPr>
          <a:xfrm>
            <a:off x="4137309" y="3961026"/>
            <a:ext cx="0" cy="103758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6E28EF1-ADEF-25FF-86AF-EDB1F3CC2312}"/>
              </a:ext>
            </a:extLst>
          </p:cNvPr>
          <p:cNvCxnSpPr>
            <a:cxnSpLocks/>
          </p:cNvCxnSpPr>
          <p:nvPr/>
        </p:nvCxnSpPr>
        <p:spPr>
          <a:xfrm>
            <a:off x="4138001" y="3951720"/>
            <a:ext cx="471934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7C61D60-D220-929E-1FD4-EBB2AE970DF3}"/>
              </a:ext>
            </a:extLst>
          </p:cNvPr>
          <p:cNvCxnSpPr>
            <a:cxnSpLocks/>
          </p:cNvCxnSpPr>
          <p:nvPr/>
        </p:nvCxnSpPr>
        <p:spPr>
          <a:xfrm>
            <a:off x="8850140" y="3319356"/>
            <a:ext cx="0" cy="64167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3CB896F-F638-3A63-C316-677D350ACB29}"/>
              </a:ext>
            </a:extLst>
          </p:cNvPr>
          <p:cNvCxnSpPr>
            <a:cxnSpLocks/>
          </p:cNvCxnSpPr>
          <p:nvPr/>
        </p:nvCxnSpPr>
        <p:spPr>
          <a:xfrm>
            <a:off x="8850140" y="3303510"/>
            <a:ext cx="133864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D43493-F922-E438-2BFE-3037D8D810A2}"/>
              </a:ext>
            </a:extLst>
          </p:cNvPr>
          <p:cNvGrpSpPr/>
          <p:nvPr/>
        </p:nvGrpSpPr>
        <p:grpSpPr>
          <a:xfrm>
            <a:off x="9434403" y="5691528"/>
            <a:ext cx="754380" cy="549547"/>
            <a:chOff x="2302741" y="5497808"/>
            <a:chExt cx="754380" cy="549547"/>
          </a:xfrm>
        </p:grpSpPr>
        <p:sp>
          <p:nvSpPr>
            <p:cNvPr id="1024" name="iconfont-1018-792472">
              <a:extLst>
                <a:ext uri="{FF2B5EF4-FFF2-40B4-BE49-F238E27FC236}">
                  <a16:creationId xmlns:a16="http://schemas.microsoft.com/office/drawing/2014/main" id="{7AF0C5E6-FB4F-D850-064D-0E2342108A0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23D0C599-611C-273C-24CF-A34740DECC5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2025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4" name="组合 1073">
            <a:extLst>
              <a:ext uri="{FF2B5EF4-FFF2-40B4-BE49-F238E27FC236}">
                <a16:creationId xmlns:a16="http://schemas.microsoft.com/office/drawing/2014/main" id="{C1C15FF8-B38E-2347-E6BF-0AA597530D07}"/>
              </a:ext>
            </a:extLst>
          </p:cNvPr>
          <p:cNvGrpSpPr/>
          <p:nvPr/>
        </p:nvGrpSpPr>
        <p:grpSpPr>
          <a:xfrm>
            <a:off x="8963373" y="2692573"/>
            <a:ext cx="1385065" cy="739456"/>
            <a:chOff x="1699272" y="4289861"/>
            <a:chExt cx="1385065" cy="739456"/>
          </a:xfrm>
        </p:grpSpPr>
        <p:pic>
          <p:nvPicPr>
            <p:cNvPr id="1075" name="图像" descr="图像">
              <a:extLst>
                <a:ext uri="{FF2B5EF4-FFF2-40B4-BE49-F238E27FC236}">
                  <a16:creationId xmlns:a16="http://schemas.microsoft.com/office/drawing/2014/main" id="{A6744F7E-615C-3075-A124-F1955C3C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6" name="文本框 1075">
              <a:extLst>
                <a:ext uri="{FF2B5EF4-FFF2-40B4-BE49-F238E27FC236}">
                  <a16:creationId xmlns:a16="http://schemas.microsoft.com/office/drawing/2014/main" id="{7F1B6AD4-6C8B-B494-A452-8E980E9C3488}"/>
                </a:ext>
              </a:extLst>
            </p:cNvPr>
            <p:cNvSpPr txBox="1"/>
            <p:nvPr/>
          </p:nvSpPr>
          <p:spPr>
            <a:xfrm>
              <a:off x="1699272" y="4452236"/>
              <a:ext cx="138506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25.06</a:t>
              </a:r>
            </a:p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Mass production</a:t>
              </a:r>
              <a:endParaRPr lang="zh-CN" altLang="en-US" sz="1050" dirty="0">
                <a:cs typeface="+mn-ea"/>
                <a:sym typeface="+mn-lt"/>
              </a:endParaRPr>
            </a:p>
            <a:p>
              <a:pPr algn="ctr"/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7" name="文本框 1076">
              <a:extLst>
                <a:ext uri="{FF2B5EF4-FFF2-40B4-BE49-F238E27FC236}">
                  <a16:creationId xmlns:a16="http://schemas.microsoft.com/office/drawing/2014/main" id="{1924BB38-0D65-1DD3-A576-58761C9BB514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TH6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C48F1A3-D786-E4DF-401A-917C46558707}"/>
              </a:ext>
            </a:extLst>
          </p:cNvPr>
          <p:cNvGrpSpPr/>
          <p:nvPr/>
        </p:nvGrpSpPr>
        <p:grpSpPr>
          <a:xfrm>
            <a:off x="10217127" y="2706121"/>
            <a:ext cx="1372061" cy="743067"/>
            <a:chOff x="4812563" y="3071024"/>
            <a:chExt cx="1372061" cy="743067"/>
          </a:xfrm>
        </p:grpSpPr>
        <p:pic>
          <p:nvPicPr>
            <p:cNvPr id="1048" name="图像" descr="图像">
              <a:extLst>
                <a:ext uri="{FF2B5EF4-FFF2-40B4-BE49-F238E27FC236}">
                  <a16:creationId xmlns:a16="http://schemas.microsoft.com/office/drawing/2014/main" id="{0683585B-22F3-9DA0-E9C8-2DF87DF7C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1083" name="组合 1082">
              <a:extLst>
                <a:ext uri="{FF2B5EF4-FFF2-40B4-BE49-F238E27FC236}">
                  <a16:creationId xmlns:a16="http://schemas.microsoft.com/office/drawing/2014/main" id="{C4025FA0-2555-83B8-81C1-C52CC2E937DD}"/>
                </a:ext>
              </a:extLst>
            </p:cNvPr>
            <p:cNvGrpSpPr/>
            <p:nvPr/>
          </p:nvGrpSpPr>
          <p:grpSpPr>
            <a:xfrm>
              <a:off x="4812563" y="3071024"/>
              <a:ext cx="1372061" cy="743067"/>
              <a:chOff x="1680977" y="4286017"/>
              <a:chExt cx="1372061" cy="743067"/>
            </a:xfrm>
          </p:grpSpPr>
          <p:sp>
            <p:nvSpPr>
              <p:cNvPr id="1085" name="文本框 1084">
                <a:extLst>
                  <a:ext uri="{FF2B5EF4-FFF2-40B4-BE49-F238E27FC236}">
                    <a16:creationId xmlns:a16="http://schemas.microsoft.com/office/drawing/2014/main" id="{47EDAC5D-A457-72C6-852E-2E505182A312}"/>
                  </a:ext>
                </a:extLst>
              </p:cNvPr>
              <p:cNvSpPr txBox="1"/>
              <p:nvPr/>
            </p:nvSpPr>
            <p:spPr>
              <a:xfrm>
                <a:off x="1680977" y="4452003"/>
                <a:ext cx="1332686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26</a:t>
                </a:r>
              </a:p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Mass production</a:t>
                </a:r>
                <a:endParaRPr lang="zh-CN" altLang="en-US" sz="1050" dirty="0">
                  <a:cs typeface="+mn-ea"/>
                  <a:sym typeface="+mn-lt"/>
                </a:endParaRPr>
              </a:p>
              <a:p>
                <a:pPr algn="ctr"/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6" name="文本框 1085">
                <a:extLst>
                  <a:ext uri="{FF2B5EF4-FFF2-40B4-BE49-F238E27FC236}">
                    <a16:creationId xmlns:a16="http://schemas.microsoft.com/office/drawing/2014/main" id="{8F3793D4-D5A8-BCF6-548D-919A35D9B7D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6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3579D6F-B950-0FFD-EC91-DAE986419410}"/>
              </a:ext>
            </a:extLst>
          </p:cNvPr>
          <p:cNvGrpSpPr/>
          <p:nvPr/>
        </p:nvGrpSpPr>
        <p:grpSpPr>
          <a:xfrm>
            <a:off x="9119384" y="3542631"/>
            <a:ext cx="1433592" cy="620092"/>
            <a:chOff x="4751032" y="3071024"/>
            <a:chExt cx="1433592" cy="620092"/>
          </a:xfrm>
        </p:grpSpPr>
        <p:pic>
          <p:nvPicPr>
            <p:cNvPr id="63" name="图像" descr="图像">
              <a:extLst>
                <a:ext uri="{FF2B5EF4-FFF2-40B4-BE49-F238E27FC236}">
                  <a16:creationId xmlns:a16="http://schemas.microsoft.com/office/drawing/2014/main" id="{7CE4FE3A-99AE-78A5-1B03-679226B27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34F3584-850E-22C1-4065-516B8D2304BD}"/>
                </a:ext>
              </a:extLst>
            </p:cNvPr>
            <p:cNvGrpSpPr/>
            <p:nvPr/>
          </p:nvGrpSpPr>
          <p:grpSpPr>
            <a:xfrm>
              <a:off x="4751032" y="3071024"/>
              <a:ext cx="1433592" cy="620092"/>
              <a:chOff x="1619446" y="4286017"/>
              <a:chExt cx="1433592" cy="620092"/>
            </a:xfrm>
          </p:grpSpPr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D7EB8BB-BF22-FAE5-806B-A6E29FC24C57}"/>
                  </a:ext>
                </a:extLst>
              </p:cNvPr>
              <p:cNvSpPr txBox="1"/>
              <p:nvPr/>
            </p:nvSpPr>
            <p:spPr>
              <a:xfrm>
                <a:off x="1619446" y="4490611"/>
                <a:ext cx="133864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Announced</a:t>
                </a:r>
              </a:p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Mass production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B011860-7AA9-694B-D98D-56EB50211C5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5</a:t>
                </a:r>
              </a:p>
            </p:txBody>
          </p:sp>
        </p:grpSp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5592A4CA-65CA-0A51-BE23-797E10DFF4A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0153573" y="2575944"/>
            <a:ext cx="0" cy="72945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7F6C77D9-FFDD-A14B-B57A-D85A6E9445E2}"/>
              </a:ext>
            </a:extLst>
          </p:cNvPr>
          <p:cNvSpPr/>
          <p:nvPr/>
        </p:nvSpPr>
        <p:spPr>
          <a:xfrm>
            <a:off x="3763917" y="1677643"/>
            <a:ext cx="5199456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Timeline of CPO Switch Chip Milestones</a:t>
            </a:r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(2020–2025)​</a:t>
            </a:r>
          </a:p>
        </p:txBody>
      </p:sp>
    </p:spTree>
    <p:extLst>
      <p:ext uri="{BB962C8B-B14F-4D97-AF65-F5344CB8AC3E}">
        <p14:creationId xmlns:p14="http://schemas.microsoft.com/office/powerpoint/2010/main" val="1326743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4659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strongest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673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1" imgH="401" progId="TCLayout.ActiveDocument.1">
                  <p:embed/>
                </p:oleObj>
              </mc:Choice>
              <mc:Fallback>
                <p:oleObj name="think-cell 幻灯片" r:id="rId1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B5B65-05AC-E9CA-651E-FCBC7F2CA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>
            <a:extLst>
              <a:ext uri="{FF2B5EF4-FFF2-40B4-BE49-F238E27FC236}">
                <a16:creationId xmlns:a16="http://schemas.microsoft.com/office/drawing/2014/main" id="{DAD59D82-61AE-8A79-DEFC-018A8CBAF289}"/>
              </a:ext>
            </a:extLst>
          </p:cNvPr>
          <p:cNvSpPr txBox="1"/>
          <p:nvPr/>
        </p:nvSpPr>
        <p:spPr>
          <a:xfrm>
            <a:off x="6105525" y="3858418"/>
            <a:ext cx="1662113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HPC's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</a:t>
            </a:r>
          </a:p>
        </p:txBody>
      </p:sp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A1FB8181-D34E-060F-1075-6718B82EBCA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0897875"/>
              </p:ext>
            </p:extLst>
          </p:nvPr>
        </p:nvGraphicFramePr>
        <p:xfrm>
          <a:off x="577850" y="2249488"/>
          <a:ext cx="6672263" cy="3862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3789363" y="4075113"/>
            <a:ext cx="35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628650" y="2122488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Shipment Portion</a:t>
            </a:r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%</a:t>
            </a:r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）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8CDAD01-36A1-CF67-846C-CAABF8345DFC}"/>
              </a:ext>
            </a:extLst>
          </p:cNvPr>
          <p:cNvSpPr txBox="1"/>
          <p:nvPr/>
        </p:nvSpPr>
        <p:spPr>
          <a:xfrm>
            <a:off x="5283834" y="2899352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26E,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ASIC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surpass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GPU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4008438" y="5000625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089650" y="4587080"/>
            <a:ext cx="1660525" cy="101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2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2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2433638" y="6126163"/>
            <a:ext cx="231775" cy="0"/>
          </a:xfrm>
          <a:prstGeom prst="line">
            <a:avLst/>
          </a:prstGeom>
          <a:ln w="1905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8163FD0-FFF7-9ABC-9D0A-768743A88758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3252788" y="6126163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4062413" y="6126163"/>
            <a:ext cx="190500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725738" y="602773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8828DF58-8F6B-50C8-8A1F-70A0C4A238B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544888" y="602773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764266F-E44F-445E-86DA-50010A4C62D3}" type="datetime'''''''''G''''''''''''''P''''''''''''''''U'">
              <a:rPr lang="en-US" altLang="en-US" sz="1400" smtClean="0">
                <a:cs typeface="+mn-cs"/>
              </a:rPr>
              <a:pPr/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333875" y="6027738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B018FD-CABA-9F0D-4320-90336A0C6383}"/>
              </a:ext>
            </a:extLst>
          </p:cNvPr>
          <p:cNvSpPr txBox="1"/>
          <p:nvPr/>
        </p:nvSpPr>
        <p:spPr>
          <a:xfrm>
            <a:off x="8224679" y="231615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2025E Main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</a:rPr>
              <a:t>Vendors’s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Shipment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04E9696-50D4-422E-7328-86E1EFE26E7E}"/>
              </a:ext>
            </a:extLst>
          </p:cNvPr>
          <p:cNvSpPr txBox="1"/>
          <p:nvPr/>
        </p:nvSpPr>
        <p:spPr>
          <a:xfrm>
            <a:off x="4008438" y="4273550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986" name="矩形 985">
            <a:extLst>
              <a:ext uri="{FF2B5EF4-FFF2-40B4-BE49-F238E27FC236}">
                <a16:creationId xmlns:a16="http://schemas.microsoft.com/office/drawing/2014/main" id="{BAE37BE9-FE2A-7B0D-051E-278867DB87D0}"/>
              </a:ext>
            </a:extLst>
          </p:cNvPr>
          <p:cNvSpPr/>
          <p:nvPr/>
        </p:nvSpPr>
        <p:spPr>
          <a:xfrm>
            <a:off x="649816" y="1072007"/>
            <a:ext cx="10989734" cy="1022549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The inevitable trend. Broadcom plays a central role.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HPCs seek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computing autonomy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 &amp; cost control​ → More players partner with Broadcom;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​​OpenAI, </a:t>
            </a:r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  <a:latin typeface="PingFang SC"/>
              </a:rPr>
              <a:t>xAI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: New volume production orders in 2026 will ​bring forward the “ASIC &gt; GPU” inflection point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from 2027–28 to 2026.</a:t>
            </a:r>
            <a:endParaRPr lang="zh-CN" altLang="en-US" sz="1600" b="1" dirty="0">
              <a:solidFill>
                <a:srgbClr val="0052D9"/>
              </a:solidFill>
              <a:latin typeface="PingFang SC"/>
            </a:endParaRPr>
          </a:p>
        </p:txBody>
      </p:sp>
      <p:graphicFrame>
        <p:nvGraphicFramePr>
          <p:cNvPr id="1037" name="Chart 3">
            <a:extLst>
              <a:ext uri="{FF2B5EF4-FFF2-40B4-BE49-F238E27FC236}">
                <a16:creationId xmlns:a16="http://schemas.microsoft.com/office/drawing/2014/main" id="{1EB0A3BD-C493-117D-7087-AD8A70B0E6D1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871480184"/>
              </p:ext>
            </p:extLst>
          </p:nvPr>
        </p:nvGraphicFramePr>
        <p:xfrm>
          <a:off x="8145463" y="3005138"/>
          <a:ext cx="2681287" cy="294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993" name="Text Placeholder 4">
            <a:extLst>
              <a:ext uri="{FF2B5EF4-FFF2-40B4-BE49-F238E27FC236}">
                <a16:creationId xmlns:a16="http://schemas.microsoft.com/office/drawing/2014/main" id="{72510644-12DD-8B05-2EAA-33747E79196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577513" y="3968750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64BDAC4-288A-4BD7-9E68-6148510A5DDB}" type="datetime'''A''''''''''''''''''ma''''''''z''o''''''''''''''''''''''n'''">
              <a:rPr lang="en-US" altLang="en-US" sz="1400" smtClean="0">
                <a:cs typeface="+mn-cs"/>
              </a:rPr>
              <a:pPr/>
              <a:t>Amazon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4" name="Text Placeholder 4">
            <a:extLst>
              <a:ext uri="{FF2B5EF4-FFF2-40B4-BE49-F238E27FC236}">
                <a16:creationId xmlns:a16="http://schemas.microsoft.com/office/drawing/2014/main" id="{C9F2E315-66A9-0EC9-1AFD-6C45ACD181F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950200" y="5060950"/>
            <a:ext cx="571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01C0738-3EE2-4505-B79A-4516277350D1}" type="datetime'G''''''oog''''''''''''''''''''''l''''''''''''''''''''''e'">
              <a:rPr lang="en-US" altLang="en-US" sz="1400" smtClean="0">
                <a:cs typeface="+mn-cs"/>
              </a:rPr>
              <a:pPr/>
              <a:t>Google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5" name="Text Placeholder 4">
            <a:extLst>
              <a:ext uri="{FF2B5EF4-FFF2-40B4-BE49-F238E27FC236}">
                <a16:creationId xmlns:a16="http://schemas.microsoft.com/office/drawing/2014/main" id="{E9F40228-5429-4545-FCDD-4FFE85605CF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894763" y="3173413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3685E308-D38A-491F-9826-5B717361118F}" type="datetime'M''''''''''''''''''''''''''''''e''''''''''''''ta'">
              <a:rPr lang="en-US" altLang="en-US" sz="1400" smtClean="0">
                <a:cs typeface="+mn-cs"/>
              </a:rPr>
              <a:pPr/>
              <a:t>Meta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18" name="文本框 1017">
            <a:extLst>
              <a:ext uri="{FF2B5EF4-FFF2-40B4-BE49-F238E27FC236}">
                <a16:creationId xmlns:a16="http://schemas.microsoft.com/office/drawing/2014/main" id="{8073F76C-E6A4-0018-4D76-8F318BFCE52A}"/>
              </a:ext>
            </a:extLst>
          </p:cNvPr>
          <p:cNvSpPr txBox="1"/>
          <p:nvPr/>
        </p:nvSpPr>
        <p:spPr>
          <a:xfrm>
            <a:off x="8791151" y="294322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100-300k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1022" name="文本框 1021">
            <a:extLst>
              <a:ext uri="{FF2B5EF4-FFF2-40B4-BE49-F238E27FC236}">
                <a16:creationId xmlns:a16="http://schemas.microsoft.com/office/drawing/2014/main" id="{BAF251EB-D043-0852-4E82-8EAEBBF6E444}"/>
              </a:ext>
            </a:extLst>
          </p:cNvPr>
          <p:cNvSpPr txBox="1"/>
          <p:nvPr/>
        </p:nvSpPr>
        <p:spPr>
          <a:xfrm>
            <a:off x="10474431" y="374715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1400-1500k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1023" name="文本框 1022">
            <a:extLst>
              <a:ext uri="{FF2B5EF4-FFF2-40B4-BE49-F238E27FC236}">
                <a16:creationId xmlns:a16="http://schemas.microsoft.com/office/drawing/2014/main" id="{E11EB400-8654-69BA-2A6A-22A13588DD25}"/>
              </a:ext>
            </a:extLst>
          </p:cNvPr>
          <p:cNvSpPr txBox="1"/>
          <p:nvPr/>
        </p:nvSpPr>
        <p:spPr>
          <a:xfrm>
            <a:off x="7531100" y="521696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1500-2000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6321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HPC's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 ASIC per-card performance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≈ ​40%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same-gen GPU​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expected to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like ​Google, Amazon​ now evolving toward ​CPO.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3044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Robo-Technik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472427"/>
            <a:ext cx="3110118" cy="2919963"/>
            <a:chOff x="1052162" y="3649002"/>
            <a:chExt cx="3110118" cy="2919963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649002"/>
              <a:ext cx="3110118" cy="2919963"/>
              <a:chOff x="923365" y="3511524"/>
              <a:chExt cx="3110118" cy="2919963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33488" y="3511524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003" y="4437422"/>
              <a:ext cx="124208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2025.06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2959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Robo-Technik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57192" y="4540299"/>
            <a:ext cx="15574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Standard- hardware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(approx. -30%);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74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2024.10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12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D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25H2: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starts,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2027: m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.10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D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​Optical Full-Stack Solutions</a:t>
            </a:r>
            <a:endParaRPr lang="zh-CN" altLang="zh-CN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Startups Comparison: Ayar Labs,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Celestial AI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711F5F-8D89-9156-64DF-5DF7EFA2CB46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1F92B-1D06-7BF6-A21C-E264A7818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0D1F202F-80A5-1AB6-736B-5449905FA3E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ECC74C7F-32D0-426A-8DF9-4AB5C55B4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1B87E95-14B6-6953-DC10-BF87285DCF2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655BCD29-D6E9-6683-4E50-864993F11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B4FC1512-01C0-FBFB-7831-5F748031E6D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4787BB34-9E57-82F4-CB65-C9DE68DFB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8416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Bandwidth,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6143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 Bandwidth and Inference Rate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132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43ABF5-1FF2-0AE9-7070-1BB344EC8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Electricity, Weak in Optics; Domestic Vise Versa - Industry Evidence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6266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7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1657479281933120774E+00&quot;&gt;&lt;m_msothmcolidx val=&quot;0&quot;/&gt;&lt;m_rgb r=&quot;00&quot; g=&quot;52&quot; b=&quot;D9&quot;/&gt;&lt;/elem&gt;&lt;elem m_fUsage=&quot;1.50094635296999207030E-01&quot;&gt;&lt;m_msothmcolidx val=&quot;0&quot;/&gt;&lt;m_rgb r=&quot;C1&quot; g=&quot;E1&quot; b=&quot;FE&quot;/&gt;&lt;/elem&gt;&lt;elem m_fUsage=&quot;1.09418989131512434110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9AGnnBaZltFpC79uhRNkEU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8880348"/>
  <p:tag name="EMPOWERCHARTSPROPERTIES_A_LENGTH" val="24576"/>
  <p:tag name="RUNTIME_ID" val="a42a71d3-1212-4f7b-9f92-078c8c21d33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BE7s2sUq.CqF9g8mj._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WrU2aXqYquu2kM3NqwQ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PEnZm1vuGMZRZdHEPaJ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zBjMrX2tboR_nIej0YV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xsU7ACpff8RuV8KvUVu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5e9ozXdlYWnliYhtW0K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bkA9M_H2DnFUnZmgT07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sNp3x1IMgMsCb.TqhUa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9Ho0eMYLkOwrc_D2S0J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QOj_w.aboWve.s06Gb5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41678</TotalTime>
  <Words>3275</Words>
  <Application>Microsoft Office PowerPoint</Application>
  <PresentationFormat>宽屏</PresentationFormat>
  <Paragraphs>850</Paragraphs>
  <Slides>31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Table of contents</vt:lpstr>
      <vt:lpstr>Why the Focus on CPO? Nvidia, Broadcom, and DeepSeek</vt:lpstr>
      <vt:lpstr>PowerPoint 演示文稿</vt:lpstr>
      <vt:lpstr>The Copper Speed Wall in Data Center; Breaking Through with Optical Interconnects</vt:lpstr>
      <vt:lpstr>PowerPoint 演示文稿</vt:lpstr>
      <vt:lpstr>PowerPoint 演示文稿</vt:lpstr>
      <vt:lpstr>PowerPoint 演示文稿</vt:lpstr>
      <vt:lpstr>PO Dominates Mainstream; CPO Becomes the Focus of Tech Giants</vt:lpstr>
      <vt:lpstr>IDC Interconnect by Distance: Scale-up vs. Scale-out</vt:lpstr>
      <vt:lpstr>​Overseas: CPO for Scale Out first; Domestic: CPO for Scale Up first</vt:lpstr>
      <vt:lpstr>Overseas: Pursue Scale-out &amp; Scale-up Parallelly; CPO Initial Focus on Scale-out (1-2 Years)</vt:lpstr>
      <vt:lpstr>Domestic Vendors Rely on Scale-Up to Close Performance Gap at High Power Cost</vt:lpstr>
      <vt:lpstr>PowerPoint 演示文稿</vt:lpstr>
      <vt:lpstr>CPO Key Modules: Silicon Photonics Chip,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First to Commercialize CPO with a Sustained Lead</vt:lpstr>
      <vt:lpstr>Broadcom: The Most Comprehensive CPO Capability Profile</vt:lpstr>
      <vt:lpstr>Why Broadcom Bets on CPO: Aligning with HPC's In-House ASIC Trend + Network Support for Ecosystem Positioning</vt:lpstr>
      <vt:lpstr>Why Broadcom Bets on CPO: Aligning with HPC's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  <vt:lpstr>Summary</vt:lpstr>
      <vt:lpstr>DeepSeek: Domestic LLM Restricted by GPU Interconnection Bandwidth, CPO as Priority Exploration Direction</vt:lpstr>
      <vt:lpstr>DeepSeek: H800 Bandwidth and Inference Rate</vt:lpstr>
      <vt:lpstr>Overseas Strong in Electricity, Weak in Optics; Domestic Vise Versa - Industry Evidence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4747</cp:revision>
  <dcterms:created xsi:type="dcterms:W3CDTF">2025-06-16T21:28:33Z</dcterms:created>
  <dcterms:modified xsi:type="dcterms:W3CDTF">2025-09-25T07:07:48Z</dcterms:modified>
</cp:coreProperties>
</file>