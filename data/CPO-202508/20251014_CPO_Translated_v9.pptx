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8.xml" ContentType="application/vnd.openxmlformats-officedocument.presentationml.notesSlide+xml"/>
  <Override PartName="/ppt/tags/tag66.xml" ContentType="application/vnd.openxmlformats-officedocument.presentationml.tags+xml"/>
  <Override PartName="/ppt/notesSlides/notesSlide9.xml" ContentType="application/vnd.openxmlformats-officedocument.presentationml.notesSlide+xml"/>
  <Override PartName="/ppt/tags/tag67.xml" ContentType="application/vnd.openxmlformats-officedocument.presentationml.tags+xml"/>
  <Override PartName="/ppt/notesSlides/notesSlide10.xml" ContentType="application/vnd.openxmlformats-officedocument.presentationml.notesSlide+xml"/>
  <Override PartName="/ppt/tags/tag68.xml" ContentType="application/vnd.openxmlformats-officedocument.presentationml.tags+xml"/>
  <Override PartName="/ppt/notesSlides/notesSlide11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38.xml" ContentType="application/vnd.openxmlformats-officedocument.presentationml.tags+xml"/>
  <Override PartName="/ppt/notesSlides/notesSlide15.xml" ContentType="application/vnd.openxmlformats-officedocument.presentationml.notesSlide+xml"/>
  <Override PartName="/ppt/tags/tag139.xml" ContentType="application/vnd.openxmlformats-officedocument.presentationml.tags+xml"/>
  <Override PartName="/ppt/notesSlides/notesSlide16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14.xml" ContentType="application/vnd.openxmlformats-officedocument.drawingml.chart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5.xml" ContentType="application/vnd.openxmlformats-officedocument.drawingml.chart+xml"/>
  <Override PartName="/ppt/tags/tag198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99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21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notesSlides/notesSlide22.xml" ContentType="application/vnd.openxmlformats-officedocument.presentationml.notesSlid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tags/tag230.xml" ContentType="application/vnd.openxmlformats-officedocument.presentationml.tags+xml"/>
  <Override PartName="/ppt/notesSlides/notesSlide24.xml" ContentType="application/vnd.openxmlformats-officedocument.presentationml.notesSlide+xml"/>
  <Override PartName="/ppt/tags/tag231.xml" ContentType="application/vnd.openxmlformats-officedocument.presentationml.tags+xml"/>
  <Override PartName="/ppt/notesSlides/notesSlide25.xml" ContentType="application/vnd.openxmlformats-officedocument.presentationml.notesSlide+xml"/>
  <Override PartName="/ppt/tags/tag2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336" r:id="rId3"/>
    <p:sldId id="386" r:id="rId4"/>
    <p:sldId id="362" r:id="rId5"/>
    <p:sldId id="338" r:id="rId6"/>
    <p:sldId id="332" r:id="rId7"/>
    <p:sldId id="319" r:id="rId8"/>
    <p:sldId id="2147473081" r:id="rId9"/>
    <p:sldId id="317" r:id="rId10"/>
    <p:sldId id="32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</p14:sldIdLst>
        </p14:section>
        <p14:section name="1. Why CPO?" id="{200816D2-54B9-45F9-8CDC-D4443BE7A066}">
          <p14:sldIdLst>
            <p14:sldId id="386"/>
          </p14:sldIdLst>
        </p14:section>
        <p14:section name="2. Why optical? Why co-packaged?" id="{9A5BC1CD-E46C-43F3-91AB-DCB40303C4FD}">
          <p14:sldIdLst>
            <p14:sldId id="362"/>
            <p14:sldId id="338"/>
            <p14:sldId id="332"/>
            <p14:sldId id="319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CPO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0" autoAdjust="0"/>
    <p:restoredTop sz="81937" autoAdjust="0"/>
  </p:normalViewPr>
  <p:slideViewPr>
    <p:cSldViewPr snapToGrid="0">
      <p:cViewPr>
        <p:scale>
          <a:sx n="125" d="100"/>
          <a:sy n="125" d="100"/>
        </p:scale>
        <p:origin x="17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2853792621015433E-2"/>
                  <c:y val="-7.9105391218550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97-49D9-85FF-FE7DDDDB612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dirty="0"/>
                      <a:t>~1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697-49D9-85FF-FE7DDDDB612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dirty="0"/>
                      <a:t>~0.5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697-49D9-85FF-FE7DDDDB61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9B9-40B6-B89E-5F6041407CC0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9B9-40B6-B89E-5F6041407CC0}"/>
              </c:ext>
            </c:extLst>
          </c:dPt>
          <c:dLbls>
            <c:dLbl>
              <c:idx val="1"/>
              <c:layout>
                <c:manualLayout>
                  <c:x val="-2.4711696869851728E-3"/>
                  <c:y val="2.9154518950437316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9B9-40B6-B89E-5F6041407C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5.0000000000000044</c:v>
                </c:pt>
                <c:pt idx="1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B9-40B6-B89E-5F6041407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909-47BE-AA61-8809672D0D3F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909-47BE-AA61-8809672D0D3F}"/>
              </c:ext>
            </c:extLst>
          </c:dPt>
          <c:dLbls>
            <c:dLbl>
              <c:idx val="0"/>
              <c:layout>
                <c:manualLayout>
                  <c:x val="2.4711696869851728E-3"/>
                  <c:y val="4.373177842565597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909-47BE-AA61-8809672D0D3F}"/>
                </c:ext>
              </c:extLst>
            </c:dLbl>
            <c:dLbl>
              <c:idx val="1"/>
              <c:layout>
                <c:manualLayout>
                  <c:x val="-3.2948929159802307E-3"/>
                  <c:y val="-5.8309037900874635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909-47BE-AA61-8809672D0D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09-47BE-AA61-8809672D0D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667215815485998"/>
          <c:y val="0.24635568513119532"/>
          <c:w val="0.28665568369028005"/>
          <c:h val="0.50728862973760935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822-4C45-BAAD-03B306B884D5}"/>
              </c:ext>
            </c:extLst>
          </c:dPt>
          <c:dPt>
            <c:idx val="1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822-4C45-BAAD-03B306B884D5}"/>
              </c:ext>
            </c:extLst>
          </c:dPt>
          <c:dLbls>
            <c:dLbl>
              <c:idx val="0"/>
              <c:layout>
                <c:manualLayout>
                  <c:x val="3.2948929159802307E-3"/>
                  <c:y val="1.8950437317784258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822-4C45-BAAD-03B306B884D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22-4C45-BAAD-03B306B88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50C-4E2C-A132-F82515D7E7C4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50C-4E2C-A132-F82515D7E7C4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50C-4E2C-A132-F82515D7E7C4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50C-4E2C-A132-F82515D7E7C4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50C-4E2C-A132-F82515D7E7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0C-4E2C-A132-F82515D7E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08999983"/>
        <c:axId val="1"/>
      </c:barChart>
      <c:catAx>
        <c:axId val="2008999983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08999983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4775160599571735"/>
          <c:w val="0.72258064516129028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2-4ECB-904A-5DBA6E9A2E6A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1134903640256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2-4ECB-904A-5DBA6E9A2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06786015"/>
        <c:axId val="1"/>
      </c:barChart>
      <c:catAx>
        <c:axId val="1406786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06786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4775160599571735"/>
          <c:w val="0.92817679558011046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8736616702355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4-4DFF-955C-D9401872E6C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E4-4DFF-955C-D9401872E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81938383"/>
        <c:axId val="1"/>
      </c:barChart>
      <c:catAx>
        <c:axId val="28193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193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FF-4627-AD04-29F063A7CAC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FF-4627-AD04-29F063A7CAC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FF-4627-AD04-29F063A7CA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F-4627-AD04-29F063A7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6137791"/>
        <c:axId val="1"/>
      </c:barChart>
      <c:catAx>
        <c:axId val="7261377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61377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7.0000000000000009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5A-4876-BF27-E3130B61CEDF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A5A-4876-BF27-E3130B61CEDF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5A-4876-BF27-E3130B61CE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6119151"/>
        <c:axId val="1"/>
      </c:lineChart>
      <c:catAx>
        <c:axId val="15361191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36119151"/>
        <c:crosses val="min"/>
        <c:crossBetween val="midCat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4123711340206186"/>
          <c:y val="0.23565323565323565"/>
          <c:w val="0.67680412371134024"/>
          <c:h val="0.5286935286935287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700</c:v>
                </c:pt>
                <c:pt idx="1">
                  <c:v>560</c:v>
                </c:pt>
                <c:pt idx="2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93-4757-A512-D1A787018358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1400</c:v>
                </c:pt>
                <c:pt idx="1">
                  <c:v>1120</c:v>
                </c:pt>
                <c:pt idx="2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93-4757-A512-D1A787018358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0.189255189255189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rgbClr val="0052D9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C93-4757-A512-D1A7870183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2800</c:v>
                </c:pt>
                <c:pt idx="1">
                  <c:v>2240</c:v>
                </c:pt>
                <c:pt idx="2">
                  <c:v>1800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C93-4757-A512-D1A787018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5290447"/>
        <c:axId val="1"/>
      </c:lineChart>
      <c:catAx>
        <c:axId val="18052904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05290447"/>
        <c:crosses val="min"/>
        <c:crossBetween val="midCat"/>
        <c:majorUnit val="2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线性，阶跃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chart" Target="../charts/chart1.xml"/><Relationship Id="rId2" Type="http://schemas.openxmlformats.org/officeDocument/2006/relationships/tags" Target="../tags/tag12.xml"/><Relationship Id="rId16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image" Target="../media/image18.emf"/><Relationship Id="rId3" Type="http://schemas.openxmlformats.org/officeDocument/2006/relationships/tags" Target="../tags/tag25.xml"/><Relationship Id="rId21" Type="http://schemas.openxmlformats.org/officeDocument/2006/relationships/chart" Target="../charts/chart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oleObject" Target="../embeddings/oleObject7.bin"/><Relationship Id="rId2" Type="http://schemas.openxmlformats.org/officeDocument/2006/relationships/tags" Target="../tags/tag24.xml"/><Relationship Id="rId16" Type="http://schemas.openxmlformats.org/officeDocument/2006/relationships/notesSlide" Target="../notesSlides/notesSlide6.xml"/><Relationship Id="rId20" Type="http://schemas.openxmlformats.org/officeDocument/2006/relationships/chart" Target="../charts/chart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2.xml"/><Relationship Id="rId19" Type="http://schemas.openxmlformats.org/officeDocument/2006/relationships/chart" Target="../charts/chart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chart" Target="../charts/chart7.xml"/><Relationship Id="rId17" Type="http://schemas.openxmlformats.org/officeDocument/2006/relationships/image" Target="../media/image22.jpeg"/><Relationship Id="rId2" Type="http://schemas.openxmlformats.org/officeDocument/2006/relationships/tags" Target="../tags/tag38.xml"/><Relationship Id="rId16" Type="http://schemas.microsoft.com/office/2007/relationships/hdphoto" Target="../media/hdphoto2.wdp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8.emf"/><Relationship Id="rId5" Type="http://schemas.openxmlformats.org/officeDocument/2006/relationships/tags" Target="../tags/tag41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8.bin"/><Relationship Id="rId4" Type="http://schemas.openxmlformats.org/officeDocument/2006/relationships/tags" Target="../tags/tag40.xml"/><Relationship Id="rId9" Type="http://schemas.openxmlformats.org/officeDocument/2006/relationships/notesSlide" Target="../notesSlides/notesSlide7.xml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26" Type="http://schemas.openxmlformats.org/officeDocument/2006/relationships/image" Target="../media/image18.emf"/><Relationship Id="rId3" Type="http://schemas.openxmlformats.org/officeDocument/2006/relationships/tags" Target="../tags/tag46.xml"/><Relationship Id="rId21" Type="http://schemas.openxmlformats.org/officeDocument/2006/relationships/tags" Target="../tags/tag64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oleObject" Target="../embeddings/oleObject9.bin"/><Relationship Id="rId33" Type="http://schemas.microsoft.com/office/2007/relationships/hdphoto" Target="../media/hdphoto3.wdp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tags" Target="../tags/tag63.xml"/><Relationship Id="rId29" Type="http://schemas.openxmlformats.org/officeDocument/2006/relationships/image" Target="../media/image25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notesSlide" Target="../notesSlides/notesSlide8.xml"/><Relationship Id="rId32" Type="http://schemas.openxmlformats.org/officeDocument/2006/relationships/image" Target="../media/image28.png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4.png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31" Type="http://schemas.openxmlformats.org/officeDocument/2006/relationships/image" Target="../media/image27.jpe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8" Type="http://schemas.openxmlformats.org/officeDocument/2006/relationships/tags" Target="../tags/tag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6" Type="http://schemas.openxmlformats.org/officeDocument/2006/relationships/image" Target="../media/image35.png"/><Relationship Id="rId5" Type="http://schemas.openxmlformats.org/officeDocument/2006/relationships/image" Target="../media/image15.png"/><Relationship Id="rId4" Type="http://schemas.openxmlformats.org/officeDocument/2006/relationships/image" Target="../media/image8.emf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83.xml"/><Relationship Id="rId18" Type="http://schemas.openxmlformats.org/officeDocument/2006/relationships/tags" Target="../tags/tag88.xml"/><Relationship Id="rId26" Type="http://schemas.openxmlformats.org/officeDocument/2006/relationships/tags" Target="../tags/tag96.xml"/><Relationship Id="rId39" Type="http://schemas.openxmlformats.org/officeDocument/2006/relationships/notesSlide" Target="../notesSlides/notesSlide13.xml"/><Relationship Id="rId21" Type="http://schemas.openxmlformats.org/officeDocument/2006/relationships/tags" Target="../tags/tag91.xml"/><Relationship Id="rId34" Type="http://schemas.openxmlformats.org/officeDocument/2006/relationships/tags" Target="../tags/tag104.xml"/><Relationship Id="rId42" Type="http://schemas.openxmlformats.org/officeDocument/2006/relationships/chart" Target="../charts/chart8.xml"/><Relationship Id="rId47" Type="http://schemas.openxmlformats.org/officeDocument/2006/relationships/chart" Target="../charts/chart11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6" Type="http://schemas.openxmlformats.org/officeDocument/2006/relationships/tags" Target="../tags/tag86.xml"/><Relationship Id="rId29" Type="http://schemas.openxmlformats.org/officeDocument/2006/relationships/tags" Target="../tags/tag99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24" Type="http://schemas.openxmlformats.org/officeDocument/2006/relationships/tags" Target="../tags/tag94.xml"/><Relationship Id="rId32" Type="http://schemas.openxmlformats.org/officeDocument/2006/relationships/tags" Target="../tags/tag102.xml"/><Relationship Id="rId37" Type="http://schemas.openxmlformats.org/officeDocument/2006/relationships/tags" Target="../tags/tag107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75.xml"/><Relationship Id="rId15" Type="http://schemas.openxmlformats.org/officeDocument/2006/relationships/tags" Target="../tags/tag85.xml"/><Relationship Id="rId23" Type="http://schemas.openxmlformats.org/officeDocument/2006/relationships/tags" Target="../tags/tag93.xml"/><Relationship Id="rId28" Type="http://schemas.openxmlformats.org/officeDocument/2006/relationships/tags" Target="../tags/tag98.xml"/><Relationship Id="rId36" Type="http://schemas.openxmlformats.org/officeDocument/2006/relationships/tags" Target="../tags/tag106.xml"/><Relationship Id="rId10" Type="http://schemas.openxmlformats.org/officeDocument/2006/relationships/tags" Target="../tags/tag80.xml"/><Relationship Id="rId19" Type="http://schemas.openxmlformats.org/officeDocument/2006/relationships/tags" Target="../tags/tag89.xml"/><Relationship Id="rId31" Type="http://schemas.openxmlformats.org/officeDocument/2006/relationships/tags" Target="../tags/tag101.xml"/><Relationship Id="rId44" Type="http://schemas.openxmlformats.org/officeDocument/2006/relationships/chart" Target="../charts/chart10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Relationship Id="rId22" Type="http://schemas.openxmlformats.org/officeDocument/2006/relationships/tags" Target="../tags/tag92.xml"/><Relationship Id="rId27" Type="http://schemas.openxmlformats.org/officeDocument/2006/relationships/tags" Target="../tags/tag97.xml"/><Relationship Id="rId30" Type="http://schemas.openxmlformats.org/officeDocument/2006/relationships/tags" Target="../tags/tag100.xml"/><Relationship Id="rId35" Type="http://schemas.openxmlformats.org/officeDocument/2006/relationships/tags" Target="../tags/tag105.xml"/><Relationship Id="rId43" Type="http://schemas.openxmlformats.org/officeDocument/2006/relationships/chart" Target="../charts/chart9.xml"/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12" Type="http://schemas.openxmlformats.org/officeDocument/2006/relationships/tags" Target="../tags/tag82.xml"/><Relationship Id="rId17" Type="http://schemas.openxmlformats.org/officeDocument/2006/relationships/tags" Target="../tags/tag87.xml"/><Relationship Id="rId25" Type="http://schemas.openxmlformats.org/officeDocument/2006/relationships/tags" Target="../tags/tag95.xml"/><Relationship Id="rId33" Type="http://schemas.openxmlformats.org/officeDocument/2006/relationships/tags" Target="../tags/tag103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90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20.xml"/><Relationship Id="rId18" Type="http://schemas.openxmlformats.org/officeDocument/2006/relationships/tags" Target="../tags/tag125.xml"/><Relationship Id="rId26" Type="http://schemas.openxmlformats.org/officeDocument/2006/relationships/tags" Target="../tags/tag133.xml"/><Relationship Id="rId39" Type="http://schemas.openxmlformats.org/officeDocument/2006/relationships/image" Target="../media/image46.jpeg"/><Relationship Id="rId21" Type="http://schemas.openxmlformats.org/officeDocument/2006/relationships/tags" Target="../tags/tag128.xml"/><Relationship Id="rId34" Type="http://schemas.openxmlformats.org/officeDocument/2006/relationships/image" Target="../media/image7.emf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6" Type="http://schemas.openxmlformats.org/officeDocument/2006/relationships/tags" Target="../tags/tag123.xml"/><Relationship Id="rId20" Type="http://schemas.openxmlformats.org/officeDocument/2006/relationships/tags" Target="../tags/tag127.xml"/><Relationship Id="rId29" Type="http://schemas.openxmlformats.org/officeDocument/2006/relationships/tags" Target="../tags/tag136.xml"/><Relationship Id="rId41" Type="http://schemas.openxmlformats.org/officeDocument/2006/relationships/chart" Target="../charts/chart13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24" Type="http://schemas.openxmlformats.org/officeDocument/2006/relationships/tags" Target="../tags/tag131.xml"/><Relationship Id="rId32" Type="http://schemas.openxmlformats.org/officeDocument/2006/relationships/notesSlide" Target="../notesSlides/notesSlide14.xml"/><Relationship Id="rId37" Type="http://schemas.openxmlformats.org/officeDocument/2006/relationships/image" Target="../media/image25.png"/><Relationship Id="rId40" Type="http://schemas.openxmlformats.org/officeDocument/2006/relationships/chart" Target="../charts/chart12.xml"/><Relationship Id="rId5" Type="http://schemas.openxmlformats.org/officeDocument/2006/relationships/tags" Target="../tags/tag112.xml"/><Relationship Id="rId15" Type="http://schemas.openxmlformats.org/officeDocument/2006/relationships/tags" Target="../tags/tag122.xml"/><Relationship Id="rId23" Type="http://schemas.openxmlformats.org/officeDocument/2006/relationships/tags" Target="../tags/tag130.xml"/><Relationship Id="rId28" Type="http://schemas.openxmlformats.org/officeDocument/2006/relationships/tags" Target="../tags/tag135.xml"/><Relationship Id="rId36" Type="http://schemas.openxmlformats.org/officeDocument/2006/relationships/image" Target="../media/image10.png"/><Relationship Id="rId10" Type="http://schemas.openxmlformats.org/officeDocument/2006/relationships/tags" Target="../tags/tag117.xml"/><Relationship Id="rId19" Type="http://schemas.openxmlformats.org/officeDocument/2006/relationships/tags" Target="../tags/tag126.xml"/><Relationship Id="rId31" Type="http://schemas.openxmlformats.org/officeDocument/2006/relationships/slideLayout" Target="../slideLayouts/slideLayout13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Relationship Id="rId22" Type="http://schemas.openxmlformats.org/officeDocument/2006/relationships/tags" Target="../tags/tag129.xml"/><Relationship Id="rId27" Type="http://schemas.openxmlformats.org/officeDocument/2006/relationships/tags" Target="../tags/tag134.xml"/><Relationship Id="rId30" Type="http://schemas.openxmlformats.org/officeDocument/2006/relationships/tags" Target="../tags/tag137.xml"/><Relationship Id="rId35" Type="http://schemas.openxmlformats.org/officeDocument/2006/relationships/image" Target="../media/image9.png"/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12" Type="http://schemas.openxmlformats.org/officeDocument/2006/relationships/tags" Target="../tags/tag119.xml"/><Relationship Id="rId17" Type="http://schemas.openxmlformats.org/officeDocument/2006/relationships/tags" Target="../tags/tag124.xml"/><Relationship Id="rId25" Type="http://schemas.openxmlformats.org/officeDocument/2006/relationships/tags" Target="../tags/tag132.xml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5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microsoft.com/office/2007/relationships/hdphoto" Target="../media/hdphoto21.wdp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36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52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4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image" Target="../media/image89.png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80.png"/><Relationship Id="rId72" Type="http://schemas.microsoft.com/office/2007/relationships/hdphoto" Target="../media/hdphoto33.wdp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openxmlformats.org/officeDocument/2006/relationships/image" Target="../media/image76.png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40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4.png"/><Relationship Id="rId49" Type="http://schemas.openxmlformats.org/officeDocument/2006/relationships/image" Target="../media/image28.png"/><Relationship Id="rId57" Type="http://schemas.microsoft.com/office/2007/relationships/hdphoto" Target="../media/hdphoto27.wdp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25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3.png"/><Relationship Id="rId18" Type="http://schemas.openxmlformats.org/officeDocument/2006/relationships/image" Target="../media/image62.png"/><Relationship Id="rId39" Type="http://schemas.microsoft.com/office/2007/relationships/hdphoto" Target="../media/hdphoto20.wdp"/><Relationship Id="rId34" Type="http://schemas.openxmlformats.org/officeDocument/2006/relationships/image" Target="../media/image72.png"/><Relationship Id="rId50" Type="http://schemas.microsoft.com/office/2007/relationships/hdphoto" Target="../media/hdphoto3.wdp"/><Relationship Id="rId55" Type="http://schemas.microsoft.com/office/2007/relationships/hdphoto" Target="../media/hdphoto26.wdp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35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18" Type="http://schemas.openxmlformats.org/officeDocument/2006/relationships/image" Target="../media/image99.png"/><Relationship Id="rId26" Type="http://schemas.openxmlformats.org/officeDocument/2006/relationships/image" Target="../media/image79.png"/><Relationship Id="rId3" Type="http://schemas.openxmlformats.org/officeDocument/2006/relationships/tags" Target="../tags/tag143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42.xml"/><Relationship Id="rId16" Type="http://schemas.microsoft.com/office/2007/relationships/hdphoto" Target="../media/hdphoto22.wdp"/><Relationship Id="rId20" Type="http://schemas.openxmlformats.org/officeDocument/2006/relationships/image" Target="../media/image100.png"/><Relationship Id="rId1" Type="http://schemas.openxmlformats.org/officeDocument/2006/relationships/tags" Target="../tags/tag141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72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7.png"/><Relationship Id="rId23" Type="http://schemas.microsoft.com/office/2007/relationships/hdphoto" Target="../media/hdphoto35.wdp"/><Relationship Id="rId10" Type="http://schemas.openxmlformats.org/officeDocument/2006/relationships/image" Target="../media/image89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1.wdp"/><Relationship Id="rId22" Type="http://schemas.openxmlformats.org/officeDocument/2006/relationships/image" Target="../media/image93.png"/><Relationship Id="rId27" Type="http://schemas.microsoft.com/office/2007/relationships/hdphoto" Target="../media/hdphoto24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image" Target="../media/image18.emf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14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26" Type="http://schemas.openxmlformats.org/officeDocument/2006/relationships/tags" Target="../tags/tag178.xml"/><Relationship Id="rId39" Type="http://schemas.openxmlformats.org/officeDocument/2006/relationships/tags" Target="../tags/tag191.xml"/><Relationship Id="rId21" Type="http://schemas.openxmlformats.org/officeDocument/2006/relationships/tags" Target="../tags/tag173.xml"/><Relationship Id="rId34" Type="http://schemas.openxmlformats.org/officeDocument/2006/relationships/tags" Target="../tags/tag186.xml"/><Relationship Id="rId42" Type="http://schemas.openxmlformats.org/officeDocument/2006/relationships/tags" Target="../tags/tag194.xml"/><Relationship Id="rId47" Type="http://schemas.openxmlformats.org/officeDocument/2006/relationships/notesSlide" Target="../notesSlides/notesSlide18.xml"/><Relationship Id="rId50" Type="http://schemas.openxmlformats.org/officeDocument/2006/relationships/chart" Target="../charts/chart15.xml"/><Relationship Id="rId7" Type="http://schemas.openxmlformats.org/officeDocument/2006/relationships/tags" Target="../tags/tag15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29" Type="http://schemas.openxmlformats.org/officeDocument/2006/relationships/tags" Target="../tags/tag181.xml"/><Relationship Id="rId11" Type="http://schemas.openxmlformats.org/officeDocument/2006/relationships/tags" Target="../tags/tag163.xml"/><Relationship Id="rId24" Type="http://schemas.openxmlformats.org/officeDocument/2006/relationships/tags" Target="../tags/tag176.xml"/><Relationship Id="rId32" Type="http://schemas.openxmlformats.org/officeDocument/2006/relationships/tags" Target="../tags/tag184.xml"/><Relationship Id="rId37" Type="http://schemas.openxmlformats.org/officeDocument/2006/relationships/tags" Target="../tags/tag189.xml"/><Relationship Id="rId40" Type="http://schemas.openxmlformats.org/officeDocument/2006/relationships/tags" Target="../tags/tag192.xml"/><Relationship Id="rId45" Type="http://schemas.openxmlformats.org/officeDocument/2006/relationships/tags" Target="../tags/tag197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23" Type="http://schemas.openxmlformats.org/officeDocument/2006/relationships/tags" Target="../tags/tag175.xml"/><Relationship Id="rId28" Type="http://schemas.openxmlformats.org/officeDocument/2006/relationships/tags" Target="../tags/tag180.xml"/><Relationship Id="rId36" Type="http://schemas.openxmlformats.org/officeDocument/2006/relationships/tags" Target="../tags/tag188.xml"/><Relationship Id="rId49" Type="http://schemas.openxmlformats.org/officeDocument/2006/relationships/image" Target="../media/image18.emf"/><Relationship Id="rId10" Type="http://schemas.openxmlformats.org/officeDocument/2006/relationships/tags" Target="../tags/tag162.xml"/><Relationship Id="rId19" Type="http://schemas.openxmlformats.org/officeDocument/2006/relationships/tags" Target="../tags/tag171.xml"/><Relationship Id="rId31" Type="http://schemas.openxmlformats.org/officeDocument/2006/relationships/tags" Target="../tags/tag183.xml"/><Relationship Id="rId44" Type="http://schemas.openxmlformats.org/officeDocument/2006/relationships/tags" Target="../tags/tag196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Relationship Id="rId22" Type="http://schemas.openxmlformats.org/officeDocument/2006/relationships/tags" Target="../tags/tag174.xml"/><Relationship Id="rId27" Type="http://schemas.openxmlformats.org/officeDocument/2006/relationships/tags" Target="../tags/tag179.xml"/><Relationship Id="rId30" Type="http://schemas.openxmlformats.org/officeDocument/2006/relationships/tags" Target="../tags/tag182.xml"/><Relationship Id="rId35" Type="http://schemas.openxmlformats.org/officeDocument/2006/relationships/tags" Target="../tags/tag187.xml"/><Relationship Id="rId43" Type="http://schemas.openxmlformats.org/officeDocument/2006/relationships/tags" Target="../tags/tag195.xml"/><Relationship Id="rId48" Type="http://schemas.openxmlformats.org/officeDocument/2006/relationships/oleObject" Target="../embeddings/oleObject22.bin"/><Relationship Id="rId8" Type="http://schemas.openxmlformats.org/officeDocument/2006/relationships/tags" Target="../tags/tag160.xml"/><Relationship Id="rId3" Type="http://schemas.openxmlformats.org/officeDocument/2006/relationships/tags" Target="../tags/tag155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5" Type="http://schemas.openxmlformats.org/officeDocument/2006/relationships/tags" Target="../tags/tag177.xml"/><Relationship Id="rId33" Type="http://schemas.openxmlformats.org/officeDocument/2006/relationships/tags" Target="../tags/tag185.xml"/><Relationship Id="rId38" Type="http://schemas.openxmlformats.org/officeDocument/2006/relationships/tags" Target="../tags/tag190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72.xml"/><Relationship Id="rId41" Type="http://schemas.openxmlformats.org/officeDocument/2006/relationships/tags" Target="../tags/tag193.xml"/><Relationship Id="rId1" Type="http://schemas.openxmlformats.org/officeDocument/2006/relationships/tags" Target="../tags/tag153.xml"/><Relationship Id="rId6" Type="http://schemas.openxmlformats.org/officeDocument/2006/relationships/tags" Target="../tags/tag15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Relationship Id="rId6" Type="http://schemas.openxmlformats.org/officeDocument/2006/relationships/chart" Target="../charts/chart16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8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5.svg"/><Relationship Id="rId12" Type="http://schemas.openxmlformats.org/officeDocument/2006/relationships/image" Target="../media/image23.png"/><Relationship Id="rId17" Type="http://schemas.openxmlformats.org/officeDocument/2006/relationships/chart" Target="../charts/chart19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1.png"/><Relationship Id="rId1" Type="http://schemas.openxmlformats.org/officeDocument/2006/relationships/tags" Target="../tags/tag199.xml"/><Relationship Id="rId6" Type="http://schemas.openxmlformats.org/officeDocument/2006/relationships/image" Target="../media/image104.png"/><Relationship Id="rId11" Type="http://schemas.openxmlformats.org/officeDocument/2006/relationships/chart" Target="../charts/chart18.xml"/><Relationship Id="rId5" Type="http://schemas.openxmlformats.org/officeDocument/2006/relationships/image" Target="../media/image18.emf"/><Relationship Id="rId15" Type="http://schemas.openxmlformats.org/officeDocument/2006/relationships/image" Target="../media/image110.png"/><Relationship Id="rId10" Type="http://schemas.openxmlformats.org/officeDocument/2006/relationships/chart" Target="../charts/chart17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202.xml"/><Relationship Id="rId21" Type="http://schemas.openxmlformats.org/officeDocument/2006/relationships/image" Target="../media/image119.png"/><Relationship Id="rId7" Type="http://schemas.openxmlformats.org/officeDocument/2006/relationships/tags" Target="../tags/tag206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201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200.xml"/><Relationship Id="rId6" Type="http://schemas.openxmlformats.org/officeDocument/2006/relationships/tags" Target="../tags/tag205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204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203.xml"/><Relationship Id="rId9" Type="http://schemas.openxmlformats.org/officeDocument/2006/relationships/notesSlide" Target="../notesSlides/notesSlide21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7.x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8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tags" Target="../tags/tag221.xml"/><Relationship Id="rId18" Type="http://schemas.openxmlformats.org/officeDocument/2006/relationships/tags" Target="../tags/tag226.xml"/><Relationship Id="rId26" Type="http://schemas.openxmlformats.org/officeDocument/2006/relationships/chart" Target="../charts/chart20.xml"/><Relationship Id="rId3" Type="http://schemas.openxmlformats.org/officeDocument/2006/relationships/tags" Target="../tags/tag211.xml"/><Relationship Id="rId21" Type="http://schemas.openxmlformats.org/officeDocument/2006/relationships/tags" Target="../tags/tag229.xml"/><Relationship Id="rId7" Type="http://schemas.openxmlformats.org/officeDocument/2006/relationships/tags" Target="../tags/tag215.xml"/><Relationship Id="rId12" Type="http://schemas.openxmlformats.org/officeDocument/2006/relationships/tags" Target="../tags/tag220.xml"/><Relationship Id="rId17" Type="http://schemas.openxmlformats.org/officeDocument/2006/relationships/tags" Target="../tags/tag225.xml"/><Relationship Id="rId25" Type="http://schemas.openxmlformats.org/officeDocument/2006/relationships/image" Target="../media/image8.emf"/><Relationship Id="rId2" Type="http://schemas.openxmlformats.org/officeDocument/2006/relationships/tags" Target="../tags/tag210.xml"/><Relationship Id="rId16" Type="http://schemas.openxmlformats.org/officeDocument/2006/relationships/tags" Target="../tags/tag224.xml"/><Relationship Id="rId20" Type="http://schemas.openxmlformats.org/officeDocument/2006/relationships/tags" Target="../tags/tag228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213.xml"/><Relationship Id="rId15" Type="http://schemas.openxmlformats.org/officeDocument/2006/relationships/tags" Target="../tags/tag223.xml"/><Relationship Id="rId23" Type="http://schemas.openxmlformats.org/officeDocument/2006/relationships/notesSlide" Target="../notesSlides/notesSlide23.xml"/><Relationship Id="rId10" Type="http://schemas.openxmlformats.org/officeDocument/2006/relationships/tags" Target="../tags/tag218.xml"/><Relationship Id="rId19" Type="http://schemas.openxmlformats.org/officeDocument/2006/relationships/tags" Target="../tags/tag227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tags" Target="../tags/tag222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23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231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4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73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9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32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0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2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31552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An Intro of IDC Interconnect and Co-Packaged Optics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FE41C-BAC9-D38E-BE60-C23273C01D13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标题再斟酌下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1171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49" imgH="350" progId="TCLayout.ActiveDocument.1">
                  <p:embed/>
                </p:oleObj>
              </mc:Choice>
              <mc:Fallback>
                <p:oleObj name="think-cell 幻灯片" r:id="rId8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0E5FD172-F0A8-5034-8CBA-1F583F5E0DB8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42490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Why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from copper to optical, and from pluggable to c</a:t>
            </a:r>
            <a:r>
              <a:rPr lang="en-US" altLang="zh-CN" sz="1600" dirty="0">
                <a:solidFill>
                  <a:prstClr val="black"/>
                </a:solidFill>
              </a:rPr>
              <a:t>o-packaged?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Which segment matters most?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 and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328240" y="4180810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1D560-1596-A9A4-974F-7D43E9DB0FE1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47299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Pivots from Copper to Optics;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Launches 2 CPO Switches in Mar 25.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Premieres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 restricts training, inference, and network strategies;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offers higher bandwidth at better energy efficiency (published in May 25).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Highlights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2021;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25.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Accelerates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78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bandwidth.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558090" cy="1366256"/>
            <a:chOff x="7960810" y="4321548"/>
            <a:chExt cx="3558090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compensation.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High-speed transmission consumes significant power. 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Subject to a given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metric for IDC data communications, measuring transmission reliability), optimize a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among speed, distance and power.</a:t>
            </a: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6371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3664541"/>
              </p:ext>
            </p:extLst>
          </p:nvPr>
        </p:nvGraphicFramePr>
        <p:xfrm>
          <a:off x="638830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409451"/>
            <a:ext cx="10774662" cy="481266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​Breaking Through the Copper Speed Wall with Optical Interconnects.​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02451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27851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8170669"/>
              </p:ext>
            </p:extLst>
          </p:nvPr>
        </p:nvGraphicFramePr>
        <p:xfrm>
          <a:off x="24853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34670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448 Gbps: The Tipping Point for Optical over Copper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44066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2443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7905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12817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1882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176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3006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786606-C967-7B6B-FC4A-549F180665B6}"/>
              </a:ext>
            </a:extLst>
          </p:cNvPr>
          <p:cNvSpPr/>
          <p:nvPr/>
        </p:nvSpPr>
        <p:spPr>
          <a:xfrm>
            <a:off x="12305988" y="1861856"/>
            <a:ext cx="297122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增加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tracker: speed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248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01" imgH="401" progId="TCLayout.ActiveDocument.1">
                  <p:embed/>
                </p:oleObj>
              </mc:Choice>
              <mc:Fallback>
                <p:oleObj name="think-cell 幻灯片" r:id="rId17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26742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138762" y="5460765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reach: ~ 2.5 m at 112 Gbps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reach: </a:t>
            </a:r>
            <a:r>
              <a:rPr lang="en-US" altLang="zh-CN" b="1" dirty="0">
                <a:solidFill>
                  <a:srgbClr val="0052D9"/>
                </a:solidFill>
              </a:rPr>
              <a:t>&gt; 100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454315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 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 m – 2 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8811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Copper interconnect reach: a bottleneck for IDC scaling; Optical interconnect breaks the limit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21583" y="39663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60438" y="3819525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49" name="Chart 3">
            <a:extLst>
              <a:ext uri="{FF2B5EF4-FFF2-40B4-BE49-F238E27FC236}">
                <a16:creationId xmlns:a16="http://schemas.microsoft.com/office/drawing/2014/main" id="{566F0490-5E95-A7CA-C309-60AE5FD3FC6F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26932529"/>
              </p:ext>
            </p:extLst>
          </p:nvPr>
        </p:nvGraphicFramePr>
        <p:xfrm>
          <a:off x="1406525" y="346075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3683" name="Text Placeholder 4">
            <a:extLst>
              <a:ext uri="{FF2B5EF4-FFF2-40B4-BE49-F238E27FC236}">
                <a16:creationId xmlns:a16="http://schemas.microsoft.com/office/drawing/2014/main" id="{40C9D0F3-9EA1-4720-9B50-6045296615A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311400" y="3762375"/>
            <a:ext cx="176213" cy="122238"/>
          </a:xfrm>
          <a:prstGeom prst="rect">
            <a:avLst/>
          </a:prstGeom>
          <a:solidFill>
            <a:srgbClr val="0052D9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E0833A-3CC1-4BC4-8A2B-13AFF10CEF48}" type="datetime'''''''''''''''''5''''%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/>
              <a:t>5%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3668" name="矩形 3667">
            <a:extLst>
              <a:ext uri="{FF2B5EF4-FFF2-40B4-BE49-F238E27FC236}">
                <a16:creationId xmlns:a16="http://schemas.microsoft.com/office/drawing/2014/main" id="{09265842-5D48-DF77-1DB9-48A60F28BD0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65150" y="2384425"/>
            <a:ext cx="214313" cy="160338"/>
          </a:xfrm>
          <a:prstGeom prst="rect">
            <a:avLst/>
          </a:prstGeom>
          <a:solidFill>
            <a:srgbClr val="00777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9" name="矩形 3668">
            <a:extLst>
              <a:ext uri="{FF2B5EF4-FFF2-40B4-BE49-F238E27FC236}">
                <a16:creationId xmlns:a16="http://schemas.microsoft.com/office/drawing/2014/main" id="{3DDF94FF-2407-55AC-3862-5EF287818CD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65150" y="2617788"/>
            <a:ext cx="214313" cy="160338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38B3DEB-EAEE-652B-3140-964C1BFFE05F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30263" y="2379663"/>
            <a:ext cx="26273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cs typeface="+mn-cs"/>
              </a:rPr>
              <a:t>Penetration rate of copper interconnect</a:t>
            </a:r>
            <a:endParaRPr lang="zh-CN" altLang="en-US" sz="1200" dirty="0">
              <a:cs typeface="+mn-cs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7417CC3-A8E4-8849-1E95-60500123EDF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830263" y="2613025"/>
            <a:ext cx="26019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/>
              <a:t>Penetration rate of optical interconnect</a:t>
            </a:r>
            <a:endParaRPr lang="zh-CN" altLang="en-US" sz="1200" dirty="0">
              <a:cs typeface="+mn-cs"/>
            </a:endParaRPr>
          </a:p>
        </p:txBody>
      </p:sp>
      <p:graphicFrame>
        <p:nvGraphicFramePr>
          <p:cNvPr id="3844" name="Chart 3">
            <a:extLst>
              <a:ext uri="{FF2B5EF4-FFF2-40B4-BE49-F238E27FC236}">
                <a16:creationId xmlns:a16="http://schemas.microsoft.com/office/drawing/2014/main" id="{8B981A2F-E10E-BA05-926D-EC27B44F7297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573181827"/>
              </p:ext>
            </p:extLst>
          </p:nvPr>
        </p:nvGraphicFramePr>
        <p:xfrm>
          <a:off x="4265613" y="2776538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aphicFrame>
        <p:nvGraphicFramePr>
          <p:cNvPr id="3853" name="Chart 3">
            <a:extLst>
              <a:ext uri="{FF2B5EF4-FFF2-40B4-BE49-F238E27FC236}">
                <a16:creationId xmlns:a16="http://schemas.microsoft.com/office/drawing/2014/main" id="{4A97BCBE-CA54-4EA9-517D-560EDF608698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36780188"/>
              </p:ext>
            </p:extLst>
          </p:nvPr>
        </p:nvGraphicFramePr>
        <p:xfrm>
          <a:off x="3365500" y="5143500"/>
          <a:ext cx="1927225" cy="1089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046" name="Text Placeholder 4">
            <a:extLst>
              <a:ext uri="{FF2B5EF4-FFF2-40B4-BE49-F238E27FC236}">
                <a16:creationId xmlns:a16="http://schemas.microsoft.com/office/drawing/2014/main" id="{6DE8F834-8B0C-E30E-39B0-DEA6DFAB3B7A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162425" y="5472113"/>
            <a:ext cx="233363" cy="122238"/>
          </a:xfrm>
          <a:prstGeom prst="rect">
            <a:avLst/>
          </a:prstGeom>
          <a:solidFill>
            <a:srgbClr val="007770"/>
          </a:solidFill>
          <a:ln>
            <a:noFill/>
          </a:ln>
          <a:effectLst/>
        </p:spPr>
        <p:txBody>
          <a:bodyPr vert="horz" wrap="none" lIns="14288" tIns="0" rIns="1428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962413D-CA9F-4FA3-81CA-1F2B29258675}" type="datetime'1''''''''''''''0''''''%'''''''''''''''''''''''''''''''''''''''">
              <a:rPr lang="en-US" altLang="en-US" sz="8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10%</a:t>
            </a:fld>
            <a:endParaRPr lang="zh-CN" altLang="en-US" sz="8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B00F21-F1BC-8E69-4A03-2DB6C9B1845C}"/>
              </a:ext>
            </a:extLst>
          </p:cNvPr>
          <p:cNvSpPr/>
          <p:nvPr/>
        </p:nvSpPr>
        <p:spPr>
          <a:xfrm>
            <a:off x="12212403" y="743342"/>
            <a:ext cx="2349401" cy="12359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增加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tracker: distance</a:t>
            </a: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无源铜缆（安费诺、立讯）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3CADD3-0291-1A06-753F-AAE13AB111FF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相同速率下，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BER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随距离的图</a:t>
            </a: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5974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278426"/>
            <a:ext cx="3489076" cy="453299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6738" y="1634102"/>
            <a:ext cx="3057836" cy="300139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3-4x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143" name="Chart 3">
            <a:extLst>
              <a:ext uri="{FF2B5EF4-FFF2-40B4-BE49-F238E27FC236}">
                <a16:creationId xmlns:a16="http://schemas.microsoft.com/office/drawing/2014/main" id="{9FE84357-B0DD-6604-0770-61624E77F0F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22010313"/>
              </p:ext>
            </p:extLst>
          </p:nvPr>
        </p:nvGraphicFramePr>
        <p:xfrm>
          <a:off x="1641475" y="192246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40848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18477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82575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787898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 issues in copper-to-optical transition; CPO cuts power consumption significantly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28536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233470"/>
            <a:ext cx="916597" cy="144550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568528"/>
            <a:ext cx="916597" cy="148093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51" y="3151038"/>
            <a:ext cx="1603375" cy="3286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553734"/>
            <a:ext cx="503851" cy="387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329957"/>
            <a:ext cx="627697" cy="38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5107988"/>
            <a:ext cx="390314" cy="375626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4142943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4C9009EC-C93F-8ADE-2FFA-974F98FBA6DF}"/>
              </a:ext>
            </a:extLst>
          </p:cNvPr>
          <p:cNvSpPr/>
          <p:nvPr/>
        </p:nvSpPr>
        <p:spPr>
          <a:xfrm>
            <a:off x="12321763" y="1476534"/>
            <a:ext cx="2519516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增加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tracker: power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A50366-1F55-1814-7FAE-8368587B2495}"/>
              </a:ext>
            </a:extLst>
          </p:cNvPr>
          <p:cNvSpPr/>
          <p:nvPr/>
        </p:nvSpPr>
        <p:spPr>
          <a:xfrm>
            <a:off x="12321763" y="41794"/>
            <a:ext cx="2519516" cy="10449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AEC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放短距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现有数据可能是单模，单模是趋势</a:t>
            </a:r>
          </a:p>
        </p:txBody>
      </p: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1" y="2789016"/>
            <a:ext cx="600074" cy="3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5741" y="4753815"/>
            <a:ext cx="1603375" cy="32861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628193"/>
            <a:ext cx="7129437" cy="38047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568528"/>
            <a:ext cx="17624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341605"/>
            <a:ext cx="14959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51728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8-10W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63D56B0-4EE6-27F5-93FD-1B38E75F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Copper-to-optical migration: different players adopt different roadmaps within optical interconnect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276308"/>
            <a:ext cx="8183112" cy="4343337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6418" y="9746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18143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61980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8833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032566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72986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19553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9360409" y="16039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Future (Long-term)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4530406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39429" y="204250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328052"/>
            <a:ext cx="1107757" cy="61175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316416" y="229410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97505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302320" y="2009242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3165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303966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2865436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123751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303966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64853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If CPO adopts </a:t>
            </a:r>
            <a:r>
              <a:rPr lang="en-US" altLang="zh-CN" dirty="0">
                <a:cs typeface="+mn-ea"/>
              </a:rPr>
              <a:t>in the long run</a:t>
            </a:r>
            <a:r>
              <a:rPr lang="en-US" altLang="zh-CN" dirty="0">
                <a:latin typeface="+mn-lt"/>
                <a:ea typeface="+mn-ea"/>
                <a:cs typeface="+mn-ea"/>
              </a:rPr>
              <a:t>, global giants might gain supply chain leverage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591800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6275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848447" y="2280838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$10mn-scale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667125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Q4'24: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370046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Q2’25: Spectrum-X CPO switch delivery.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Q2’26E: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delivery.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626725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85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(&lt;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0909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35A3A5E-53B1-BB1F-17FD-2FB400D9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890507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cs typeface="+mn-ea"/>
              </a:rPr>
              <a:t>​Overseas: Scale-out first; Domestic: Scale-up or scale-out undetermined 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6015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5305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19433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19772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19297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5898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19145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5898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6206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27520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5913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6206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27520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5305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26730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6378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61389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dirty="0">
                <a:latin typeface="+mn-lt"/>
                <a:cs typeface="+mn-ea"/>
              </a:rPr>
              <a:t>Overseas: pursue scale-out &amp; scale-up in parallel; CPO initial focus on scale-out (1-2 Years)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2286500"/>
            <a:ext cx="936104" cy="57257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Strategy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669399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 roadmap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112181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1085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223684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1254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29678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17787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18322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17714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18563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88541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77006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77006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4775770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roadmap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2334340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Transitioning from copper to CPO.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523892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72508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73378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423265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73378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423265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523892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80081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83434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22206" y="591305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35486" y="591305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993109" y="588415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133380" y="588415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2286499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Betting on CPO to expand from scale-out to scale-up in 5 years.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77006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523892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93426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28152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29354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81917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73378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293849" y="423265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26: Volume production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522474" y="1001159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might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247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44090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22091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43693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8B021EB7-28CB-335B-0718-DFB63C8F947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247823"/>
              </p:ext>
            </p:extLst>
          </p:nvPr>
        </p:nvGraphicFramePr>
        <p:xfrm>
          <a:off x="236538" y="2859088"/>
          <a:ext cx="295275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2832100"/>
            <a:ext cx="0" cy="1717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A4C4DF0-9FA4-6081-971C-2B8B09D3467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59717625"/>
              </p:ext>
            </p:extLst>
          </p:nvPr>
        </p:nvGraphicFramePr>
        <p:xfrm>
          <a:off x="3205163" y="2859088"/>
          <a:ext cx="229870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2832100"/>
            <a:ext cx="0" cy="1077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26812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F16EA35B-7C0B-66AC-0D88-7AEE63BFFA46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69752568"/>
              </p:ext>
            </p:extLst>
          </p:nvPr>
        </p:nvGraphicFramePr>
        <p:xfrm>
          <a:off x="8926513" y="224472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43217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43217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166395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44090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33203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33203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32727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32727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35902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134808249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4270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349" imgH="350" progId="TCLayout.ActiveDocument.1">
                  <p:embed/>
                </p:oleObj>
              </mc:Choice>
              <mc:Fallback>
                <p:oleObj name="think-cell 幻灯片" r:id="rId33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lvl="0">
              <a:defRPr/>
            </a:pPr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CPO: a multi-billion-dollar market paved by data rate scaling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$1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0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hart 3">
            <a:extLst>
              <a:ext uri="{FF2B5EF4-FFF2-40B4-BE49-F238E27FC236}">
                <a16:creationId xmlns:a16="http://schemas.microsoft.com/office/drawing/2014/main" id="{194DD9AC-98E5-B553-333C-7FE7704C3CF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426394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500438" y="430053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217" name="Text Placeholder 4">
            <a:extLst>
              <a:ext uri="{FF2B5EF4-FFF2-40B4-BE49-F238E27FC236}">
                <a16:creationId xmlns:a16="http://schemas.microsoft.com/office/drawing/2014/main" id="{709388AA-EE20-F5DD-D175-9FA72E6DD20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42DE458-4F87-444A-A88B-4207F774D989}" type="datetime'''4''''''''''''''''0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7920AB-4596-40AA-B1F3-60C19FE6580F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6234113" y="4129088"/>
            <a:ext cx="2032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65D9245-00BD-55F6-91ED-0158D8851157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 flipH="1">
            <a:off x="6154738" y="4129088"/>
            <a:ext cx="79375" cy="2000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3868738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49117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62650" y="45481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987FD7C-2B85-484F-9A3C-80EDC92470D8}" type="datetime'''''''''''''''''''''7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</a:t>
            </a:fld>
            <a:r>
              <a:rPr lang="en-US" altLang="en-US" sz="1400" b="1" dirty="0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5913438" y="4300538"/>
            <a:ext cx="406400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F1AA160-8801-4F11-A831-970B47493644}" type="datetime'''''''''''''''''''''2''''''''''''''''0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20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5913438" y="40576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588DBE3-B117-4F66-BA83-23060F0C8F40}" type="datetime'''2''''''''''''''''''4''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24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953125" y="4846638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030F27A6-1EB7-AD1D-A41A-E91FDD3A6A58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1526968396"/>
              </p:ext>
            </p:extLst>
          </p:nvPr>
        </p:nvGraphicFramePr>
        <p:xfrm>
          <a:off x="3289300" y="5032375"/>
          <a:ext cx="3079750" cy="1300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cxnSp>
        <p:nvCxnSpPr>
          <p:cNvPr id="1320" name="直接连接符 1319">
            <a:extLst>
              <a:ext uri="{FF2B5EF4-FFF2-40B4-BE49-F238E27FC236}">
                <a16:creationId xmlns:a16="http://schemas.microsoft.com/office/drawing/2014/main" id="{37F86315-076B-9C76-9BA7-363FB7553367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116638" y="5813425"/>
            <a:ext cx="0" cy="44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3" name="直接连接符 1202">
            <a:extLst>
              <a:ext uri="{FF2B5EF4-FFF2-40B4-BE49-F238E27FC236}">
                <a16:creationId xmlns:a16="http://schemas.microsoft.com/office/drawing/2014/main" id="{305A74FE-681B-4556-55F0-3CDD02243709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H="1">
            <a:off x="6234113" y="5630863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1" name="直接连接符 1320">
            <a:extLst>
              <a:ext uri="{FF2B5EF4-FFF2-40B4-BE49-F238E27FC236}">
                <a16:creationId xmlns:a16="http://schemas.microsoft.com/office/drawing/2014/main" id="{653717A8-1559-2D64-1884-22E291E2145E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 flipH="1">
            <a:off x="6154738" y="5630863"/>
            <a:ext cx="79375" cy="2413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4" name="直接连接符 1213">
            <a:extLst>
              <a:ext uri="{FF2B5EF4-FFF2-40B4-BE49-F238E27FC236}">
                <a16:creationId xmlns:a16="http://schemas.microsoft.com/office/drawing/2014/main" id="{D20F600F-CFC5-F09F-4B43-E567779F8B64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 flipH="1">
            <a:off x="6234113" y="5367338"/>
            <a:ext cx="2317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2" name="直接连接符 1321">
            <a:extLst>
              <a:ext uri="{FF2B5EF4-FFF2-40B4-BE49-F238E27FC236}">
                <a16:creationId xmlns:a16="http://schemas.microsoft.com/office/drawing/2014/main" id="{AB61B7BD-BB90-E80F-CA37-8E1A442F2029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 flipH="1">
            <a:off x="6154738" y="5367337"/>
            <a:ext cx="79375" cy="3492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5" name="Text Placeholder 4">
            <a:extLst>
              <a:ext uri="{FF2B5EF4-FFF2-40B4-BE49-F238E27FC236}">
                <a16:creationId xmlns:a16="http://schemas.microsoft.com/office/drawing/2014/main" id="{E79D603B-F125-AF57-B45A-61EA4BB007F1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3868738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81D3CCB-59E3-4CA2-ACE2-4A27CB289630}" type="datetime'''''''''2''6E''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186" name="Text Placeholder 4">
            <a:extLst>
              <a:ext uri="{FF2B5EF4-FFF2-40B4-BE49-F238E27FC236}">
                <a16:creationId xmlns:a16="http://schemas.microsoft.com/office/drawing/2014/main" id="{D9C3CA1D-FA94-0604-D2EE-C0A5BD5B6920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4911725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CA7C7D3-3D25-4255-AD05-62EC1F47FD6F}" type="datetime'''''''''''''''''''''27''''''''''''''''''E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13" name="Text Placeholder 4">
            <a:extLst>
              <a:ext uri="{FF2B5EF4-FFF2-40B4-BE49-F238E27FC236}">
                <a16:creationId xmlns:a16="http://schemas.microsoft.com/office/drawing/2014/main" id="{5C7A75C5-9DC0-05D4-CE95-5DF02EB904DC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gray">
          <a:xfrm>
            <a:off x="5943600" y="584200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A8C085-FD09-484D-B15C-D381D567CA5B}" type="datetime'''''''''''''4''''''''5''''''''''''''0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450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14" name="Text Placeholder 4">
            <a:extLst>
              <a:ext uri="{FF2B5EF4-FFF2-40B4-BE49-F238E27FC236}">
                <a16:creationId xmlns:a16="http://schemas.microsoft.com/office/drawing/2014/main" id="{58F10D7B-4516-0CBE-94EE-89C90AB2EEA8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gray">
          <a:xfrm>
            <a:off x="5943600" y="5600700"/>
            <a:ext cx="3460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F0526D3-0F6B-40F7-9E4E-FF9A1FDA495A}" type="datetime'''''9''''''''''0''''0''''''''''''''''''''''''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900</a:t>
            </a:fld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187" name="Text Placeholder 4">
            <a:extLst>
              <a:ext uri="{FF2B5EF4-FFF2-40B4-BE49-F238E27FC236}">
                <a16:creationId xmlns:a16="http://schemas.microsoft.com/office/drawing/2014/main" id="{8C7BEA7D-AD57-5293-5AF4-D76D477D78A1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5953125" y="6113463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360A474-07FD-47AB-92FD-68BFAAA78307}" type="datetime'''''''''''2''''''''''''''8''''''E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175" name="Text Placeholder 4">
            <a:extLst>
              <a:ext uri="{FF2B5EF4-FFF2-40B4-BE49-F238E27FC236}">
                <a16:creationId xmlns:a16="http://schemas.microsoft.com/office/drawing/2014/main" id="{0DD96D3C-055A-D8BB-CDC8-42582D30AAA3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6491288" y="578802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B4E63B8-C341-49D6-B878-006EB4C21C21}" type="datetime'''''8''0''''''''''''''''''''''''''''''''''0''''''''G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176" name="Text Placeholder 4">
            <a:extLst>
              <a:ext uri="{FF2B5EF4-FFF2-40B4-BE49-F238E27FC236}">
                <a16:creationId xmlns:a16="http://schemas.microsoft.com/office/drawing/2014/main" id="{624C3461-020C-074F-BF26-1EDBA285510B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6491288" y="552450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5FE9A6A-E047-47A1-90A9-6213277DAF8B}" type="datetime'''''''1''.''''''''''''6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191" name="Text Placeholder 4">
            <a:extLst>
              <a:ext uri="{FF2B5EF4-FFF2-40B4-BE49-F238E27FC236}">
                <a16:creationId xmlns:a16="http://schemas.microsoft.com/office/drawing/2014/main" id="{8AEE3103-7C8D-C7BB-3B76-C371FD3D6632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6491288" y="526097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2448D4-E7C6-479F-93DB-6E5C22BE3ACD}" type="datetime'''''''''''''3.''''''2''''''''''''T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=&gt;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$700 / port in 2026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=&gt; 2x per-port value;</a:t>
            </a:r>
          </a:p>
          <a:p>
            <a:r>
              <a:rPr lang="en-US" altLang="zh-CN" sz="1200" dirty="0">
                <a:sym typeface="+mn-lt"/>
              </a:rPr>
              <a:t>Descends by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20% annually</a:t>
            </a:r>
            <a:r>
              <a:rPr lang="en-US" altLang="zh-CN" sz="1200" dirty="0">
                <a:sym typeface="+mn-lt"/>
              </a:rPr>
              <a:t>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483993" y="6367462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3853227" cy="618118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3.2T: mass CPO penetration as transceivers hit the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upper limit of data rate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;</a:t>
            </a:r>
          </a:p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1.6T: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primary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and sustained penetration.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7394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~40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~$1280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~3.5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~3x 1.6T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=&gt;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~40% of total datacenter AI chip volumes;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~35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9876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0342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88332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18802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18802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18802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18802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7530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441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7969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7930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2676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2503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0716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7530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6781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38094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19973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2704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2500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297459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8007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2874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2927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38007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0929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2984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805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3983775" y="5095202"/>
            <a:ext cx="16605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974892" y="4602760"/>
            <a:ext cx="16605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6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6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6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3200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HPC’s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6692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40802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FiconTEC: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137727" cy="338554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startups comparison: Ayar Labs, Celestial AI, and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864621"/>
            <a:ext cx="1000138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9AGnnBaZltFpC79uhRNkEU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8880348"/>
  <p:tag name="EMPOWERCHARTSPROPERTIES_A_LENGTH" val="24576"/>
  <p:tag name="RUNTIME_ID" val="a42a71d3-1212-4f7b-9f92-078c8c21d33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Ut_zSweJQU1RUezW71I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tMrEXPFu6pSwzJcRULt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0MEdSfrSaDv.LAoG3pD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YNCtyhlJf_pUoSPgG0g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Y3UlfYMT7sTOaywcJBt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TXxeVCRYkidSOzqbR8e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Gpvmh9JzlH.e2oWZ9wF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6D4ZAckJPdeaoRVi0IOn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qj3A90TPHh1ZGjS04N2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t_G.51FchU_rKIRDvwm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NDOUATuI31jB7s96GsU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K7XmaObBqsyguUpD4yH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OjuiIYORNu7YdRC5b9y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RWuZDjJegpxfARVJWSJ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1pjKh8i.p9m_8V.Cmy8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n7KyDDzAUT3oLBTENhH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dD5dUxzfdwWVaaQgcJ8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81Juse4_6N4T3CiUJBH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5kj2XLrYRqUrn7uJlk2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eNLKbHev4jR.Kzm8cFVa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eaafkBmv_v9t4iXJpYX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8xkHbz_JfkDm1DKlNQuW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C47CnNqYp3D42FRJ48M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T.KrK4gNyTT0LPd5ElfE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LN5Cuky_hE8y9yeh4.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170mHRm2fj9hHgzmyXbg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48822</TotalTime>
  <Words>3756</Words>
  <Application>Microsoft Office PowerPoint</Application>
  <PresentationFormat>宽屏</PresentationFormat>
  <Paragraphs>893</Paragraphs>
  <Slides>31</Slides>
  <Notes>25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An Intro of IDC Interconnect and Co-Packaged Optics</vt:lpstr>
      <vt:lpstr>Table of contents</vt:lpstr>
      <vt:lpstr>Why the focus on CPO? </vt:lpstr>
      <vt:lpstr>PowerPoint 演示文稿</vt:lpstr>
      <vt:lpstr>​Breaking Through the Copper Speed Wall with Optical Interconnects.​</vt:lpstr>
      <vt:lpstr>PowerPoint 演示文稿</vt:lpstr>
      <vt:lpstr>PowerPoint 演示文稿</vt:lpstr>
      <vt:lpstr>Copper-to-optical migration: different players adopt different roadmaps within optical interconnect</vt:lpstr>
      <vt:lpstr>PowerPoint 演示文稿</vt:lpstr>
      <vt:lpstr>If CPO adopts in the long run, global giants might gain supply chain leverage</vt:lpstr>
      <vt:lpstr>IDC interconnect by distance: scale-up vs scale-out</vt:lpstr>
      <vt:lpstr>​Overseas: Scale-out first; Domestic: Scale-up or scale-out undetermined </vt:lpstr>
      <vt:lpstr>Overseas: pursue scale-out &amp; scale-up in parallel; CPO initial focus on scale-out (1-2 Years)</vt:lpstr>
      <vt:lpstr>Domestic Vendors Rely on Scale-Up to Close Performance Gap at High Power Cost</vt:lpstr>
      <vt:lpstr>CPO: a multi-billion-dollar market paved by data rate scaling</vt:lpstr>
      <vt:lpstr>CPO key modules: silicon photonics,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the most comprehensive CPO capability profile</vt:lpstr>
      <vt:lpstr>Why Broadcom bets on CPO: aligning with HPC’s in-house ASIC trend + network support for ecosystem positioning</vt:lpstr>
      <vt:lpstr>Why Broadcom bets on CPO: aligning with HPC’s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5579</cp:revision>
  <dcterms:created xsi:type="dcterms:W3CDTF">2025-06-16T21:28:33Z</dcterms:created>
  <dcterms:modified xsi:type="dcterms:W3CDTF">2025-10-14T07:33:01Z</dcterms:modified>
</cp:coreProperties>
</file>