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9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0.xml" ContentType="application/vnd.openxmlformats-officedocument.presentationml.notesSlide+xml"/>
  <Override PartName="/ppt/tags/tag79.xml" ContentType="application/vnd.openxmlformats-officedocument.presentationml.tags+xml"/>
  <Override PartName="/ppt/notesSlides/notesSlide11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2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47.xml" ContentType="application/vnd.openxmlformats-officedocument.presentationml.tags+xml"/>
  <Override PartName="/ppt/notesSlides/notesSlide15.xml" ContentType="application/vnd.openxmlformats-officedocument.presentationml.notesSlide+xml"/>
  <Override PartName="/ppt/tags/tag148.xml" ContentType="application/vnd.openxmlformats-officedocument.presentationml.tags+xml"/>
  <Override PartName="/ppt/notesSlides/notesSlide16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14.xml" ContentType="application/vnd.openxmlformats-officedocument.drawingml.chart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5.xml" ContentType="application/vnd.openxmlformats-officedocument.drawingml.chart+xml"/>
  <Override PartName="/ppt/tags/tag207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1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208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notesSlides/notesSlide21.xml" ContentType="application/vnd.openxmlformats-officedocument.presentationml.notesSl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notesSlides/notesSlide22.xml" ContentType="application/vnd.openxmlformats-officedocument.presentationml.notesSlide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notesSlides/notesSlide23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tags/tag239.xml" ContentType="application/vnd.openxmlformats-officedocument.presentationml.tags+xml"/>
  <Override PartName="/ppt/notesSlides/notesSlide24.xml" ContentType="application/vnd.openxmlformats-officedocument.presentationml.notesSlide+xml"/>
  <Override PartName="/ppt/tags/tag240.xml" ContentType="application/vnd.openxmlformats-officedocument.presentationml.tags+xml"/>
  <Override PartName="/ppt/notesSlides/notesSlide25.xml" ContentType="application/vnd.openxmlformats-officedocument.presentationml.notesSlide+xml"/>
  <Override PartName="/ppt/tags/tag24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336" r:id="rId3"/>
    <p:sldId id="386" r:id="rId4"/>
    <p:sldId id="362" r:id="rId5"/>
    <p:sldId id="338" r:id="rId6"/>
    <p:sldId id="332" r:id="rId7"/>
    <p:sldId id="319" r:id="rId8"/>
    <p:sldId id="317" r:id="rId9"/>
    <p:sldId id="321" r:id="rId10"/>
    <p:sldId id="2147473081" r:id="rId11"/>
    <p:sldId id="334" r:id="rId12"/>
    <p:sldId id="2147473074" r:id="rId13"/>
    <p:sldId id="320" r:id="rId14"/>
    <p:sldId id="364" r:id="rId15"/>
    <p:sldId id="2147473083" r:id="rId16"/>
    <p:sldId id="326" r:id="rId17"/>
    <p:sldId id="315" r:id="rId18"/>
    <p:sldId id="344" r:id="rId19"/>
    <p:sldId id="367" r:id="rId20"/>
    <p:sldId id="370" r:id="rId21"/>
    <p:sldId id="372" r:id="rId22"/>
    <p:sldId id="327" r:id="rId23"/>
    <p:sldId id="2147473076" r:id="rId24"/>
    <p:sldId id="2147473084" r:id="rId25"/>
    <p:sldId id="331" r:id="rId26"/>
    <p:sldId id="339" r:id="rId27"/>
    <p:sldId id="363" r:id="rId28"/>
    <p:sldId id="2147473077" r:id="rId29"/>
    <p:sldId id="341" r:id="rId30"/>
    <p:sldId id="322" r:id="rId31"/>
    <p:sldId id="283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6"/>
          </p14:sldIdLst>
        </p14:section>
        <p14:section name="1. Why CPO?" id="{200816D2-54B9-45F9-8CDC-D4443BE7A066}">
          <p14:sldIdLst>
            <p14:sldId id="386"/>
            <p14:sldId id="362"/>
          </p14:sldIdLst>
        </p14:section>
        <p14:section name="2. Why optical? Why co-packaged?" id="{9A5BC1CD-E46C-43F3-91AB-DCB40303C4FD}">
          <p14:sldIdLst>
            <p14:sldId id="338"/>
            <p14:sldId id="332"/>
            <p14:sldId id="319"/>
          </p14:sldIdLst>
        </p14:section>
        <p14:section name="2.1. From PO to CPO" id="{AC662842-13A9-4DD4-839E-4873B26B8162}">
          <p14:sldIdLst>
            <p14:sldId id="317"/>
            <p14:sldId id="321"/>
            <p14:sldId id="2147473081"/>
          </p14:sldIdLst>
        </p14:section>
        <p14:section name="3. Where CPO fits first: scale up or scale out?" id="{1A99B8B5-BE1D-46F2-B67F-83B8C3D9DB4A}">
          <p14:sldIdLst>
            <p14:sldId id="334"/>
            <p14:sldId id="2147473074"/>
            <p14:sldId id="320"/>
            <p14:sldId id="364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26"/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67"/>
            <p14:sldId id="370"/>
            <p14:sldId id="372"/>
            <p14:sldId id="327"/>
            <p14:sldId id="2147473076"/>
            <p14:sldId id="2147473084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53585F"/>
    <a:srgbClr val="F2F2F2"/>
    <a:srgbClr val="0256FF"/>
    <a:srgbClr val="E94D12"/>
    <a:srgbClr val="ECF6FF"/>
    <a:srgbClr val="DDE3F1"/>
    <a:srgbClr val="C1E1FE"/>
    <a:srgbClr val="9ABBFF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2" autoAdjust="0"/>
    <p:restoredTop sz="91262" autoAdjust="0"/>
  </p:normalViewPr>
  <p:slideViewPr>
    <p:cSldViewPr snapToGrid="0">
      <p:cViewPr>
        <p:scale>
          <a:sx n="125" d="100"/>
          <a:sy n="125" d="100"/>
        </p:scale>
        <p:origin x="145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2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3.2853792621015433E-2"/>
                  <c:y val="-7.91053912185503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697-49D9-85FF-FE7DDDDB612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 dirty="0"/>
                      <a:t>~1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697-49D9-85FF-FE7DDDDB612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 dirty="0"/>
                      <a:t>~0.5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697-49D9-85FF-FE7DDDDB61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9B9-40B6-B89E-5F6041407CC0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9B9-40B6-B89E-5F6041407CC0}"/>
              </c:ext>
            </c:extLst>
          </c:dPt>
          <c:dLbls>
            <c:dLbl>
              <c:idx val="1"/>
              <c:layout>
                <c:manualLayout>
                  <c:x val="-2.4711696869851728E-3"/>
                  <c:y val="2.9154518950437316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9B9-40B6-B89E-5F6041407C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5.0000000000000044</c:v>
                </c:pt>
                <c:pt idx="1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B9-40B6-B89E-5F6041407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909-47BE-AA61-8809672D0D3F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909-47BE-AA61-8809672D0D3F}"/>
              </c:ext>
            </c:extLst>
          </c:dPt>
          <c:dLbls>
            <c:dLbl>
              <c:idx val="0"/>
              <c:layout>
                <c:manualLayout>
                  <c:x val="2.4711696869851728E-3"/>
                  <c:y val="4.3731778425655978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909-47BE-AA61-8809672D0D3F}"/>
                </c:ext>
              </c:extLst>
            </c:dLbl>
            <c:dLbl>
              <c:idx val="1"/>
              <c:layout>
                <c:manualLayout>
                  <c:x val="-3.2948929159802307E-3"/>
                  <c:y val="-5.8309037900874635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909-47BE-AA61-8809672D0D3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909-47BE-AA61-8809672D0D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822-4C45-BAAD-03B306B884D5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822-4C45-BAAD-03B306B884D5}"/>
              </c:ext>
            </c:extLst>
          </c:dPt>
          <c:dLbls>
            <c:dLbl>
              <c:idx val="0"/>
              <c:layout>
                <c:manualLayout>
                  <c:x val="3.2948929159802307E-3"/>
                  <c:y val="1.8950437317784258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822-4C45-BAAD-03B306B884D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22-4C45-BAAD-03B306B88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371505557426744"/>
          <c:y val="0.13874788494077833"/>
          <c:w val="0.84877062984169749"/>
          <c:h val="0.7216582064297800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57F-48E9-8993-299D1DED358C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4.25</c:v>
                </c:pt>
                <c:pt idx="1">
                  <c:v>15</c:v>
                </c:pt>
                <c:pt idx="2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7F-48E9-8993-299D1DED35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94527472"/>
        <c:axId val="1"/>
      </c:barChart>
      <c:catAx>
        <c:axId val="3945274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94527472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4775160599571735"/>
          <c:w val="0.72258064516129028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52-4ECB-904A-5DBA6E9A2E6A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11349036402569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52-4ECB-904A-5DBA6E9A2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06786015"/>
        <c:axId val="1"/>
      </c:barChart>
      <c:catAx>
        <c:axId val="14067860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067860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4775160599571735"/>
          <c:w val="0.92817679558011046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87366167023554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E4-4DFF-955C-D9401872E6C6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BE4-4DFF-955C-D9401872E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81938383"/>
        <c:axId val="1"/>
      </c:barChart>
      <c:catAx>
        <c:axId val="2819383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819383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6FF-4627-AD04-29F063A7CAC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6FF-4627-AD04-29F063A7CAC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6FF-4627-AD04-29F063A7CA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FF-4627-AD04-29F063A7C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6137791"/>
        <c:axId val="1"/>
      </c:barChart>
      <c:catAx>
        <c:axId val="7261377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61377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12</c:v>
                </c:pt>
                <c:pt idx="2">
                  <c:v>7.0000000000000009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18-4D3E-8673-056BDBFAAA68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18-4D3E-8673-056BDBFAAA68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9</c:v>
                </c:pt>
                <c:pt idx="2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B18-4D3E-8673-056BDBFAA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4197536"/>
        <c:axId val="1"/>
      </c:lineChart>
      <c:catAx>
        <c:axId val="5541975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554197536"/>
        <c:crosses val="min"/>
        <c:crossBetween val="midCat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4123711340206186"/>
          <c:y val="0.23565323565323565"/>
          <c:w val="0.67680412371134024"/>
          <c:h val="0.5286935286935287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722.22222222222229</c:v>
                </c:pt>
                <c:pt idx="1">
                  <c:v>577.77777777777783</c:v>
                </c:pt>
                <c:pt idx="2">
                  <c:v>462.22222222222229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9D-49A2-9814-0DCDEBA53F4D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1444.4444444444446</c:v>
                </c:pt>
                <c:pt idx="1">
                  <c:v>1155.5555555555557</c:v>
                </c:pt>
                <c:pt idx="2">
                  <c:v>924.44444444444457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9D-49A2-9814-0DCDEBA53F4D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0.189255189255189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1" kern="1200">
                      <a:solidFill>
                        <a:srgbClr val="0052D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E9D-49A2-9814-0DCDEBA53F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2888.8888888888891</c:v>
                </c:pt>
                <c:pt idx="1">
                  <c:v>2311.1111111111113</c:v>
                </c:pt>
                <c:pt idx="2">
                  <c:v>1848.8888888888891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E9D-49A2-9814-0DCDEBA53F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40596591"/>
        <c:axId val="1"/>
      </c:lineChart>
      <c:catAx>
        <c:axId val="20405965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40596591"/>
        <c:crosses val="min"/>
        <c:crossBetween val="midCat"/>
        <c:majorUnit val="20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4924289566479984E-2"/>
          <c:y val="0.12792297111416781"/>
          <c:w val="0.88301182327317984"/>
          <c:h val="0.76203576341127921"/>
        </c:manualLayout>
      </c:layout>
      <c:scatterChart>
        <c:scatterStyle val="lineMarker"/>
        <c:varyColors val="0"/>
        <c:ser>
          <c:idx val="0"/>
          <c:order val="0"/>
          <c:spPr>
            <a:ln w="12700" cmpd="sng" algn="ctr">
              <a:solidFill>
                <a:srgbClr val="0052D9"/>
              </a:solidFill>
              <a:prstDash val="lgDash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F3-49A9-A5DF-E5E5A95CDE36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5513378967019291E-2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9F3-49A9-A5DF-E5E5A95CDE36}"/>
                </c:ext>
              </c:extLst>
            </c:dLbl>
            <c:dLbl>
              <c:idx val="1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9F3-49A9-A5DF-E5E5A95CD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Sheet1!$B$1:$B$19</c:f>
              <c:numCache>
                <c:formatCode>General</c:formatCode>
                <c:ptCount val="19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7C-4E5E-A622-D699D6F25D33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  <c:pt idx="10">
                  <c:v>19723</c:v>
                </c:pt>
                <c:pt idx="11">
                  <c:v>19358</c:v>
                </c:pt>
              </c:numCache>
            </c:numRef>
          </c:xVal>
          <c:yVal>
            <c:numRef>
              <c:f>Sheet1!$C$1:$C$19</c:f>
              <c:numCache>
                <c:formatCode>General</c:formatCode>
                <c:ptCount val="19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  <c:pt idx="10">
                  <c:v>177</c:v>
                </c:pt>
                <c:pt idx="11">
                  <c:v>51.2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7C-4E5E-A622-D699D6F25D33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3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C7C-4E5E-A622-D699D6F25D33}"/>
              </c:ext>
            </c:extLst>
          </c:dPt>
          <c:xVal>
            <c:numRef>
              <c:f>Sheet1!$A$1:$A$19</c:f>
              <c:numCache>
                <c:formatCode>General</c:formatCode>
                <c:ptCount val="19"/>
                <c:pt idx="12">
                  <c:v>19723</c:v>
                </c:pt>
                <c:pt idx="13">
                  <c:v>20089</c:v>
                </c:pt>
                <c:pt idx="14">
                  <c:v>20089</c:v>
                </c:pt>
                <c:pt idx="15">
                  <c:v>19723</c:v>
                </c:pt>
                <c:pt idx="16">
                  <c:v>18993</c:v>
                </c:pt>
              </c:numCache>
            </c:numRef>
          </c:xVal>
          <c:yVal>
            <c:numRef>
              <c:f>Sheet1!$D$1:$D$19</c:f>
              <c:numCache>
                <c:formatCode>General</c:formatCode>
                <c:ptCount val="19"/>
                <c:pt idx="12">
                  <c:v>2615</c:v>
                </c:pt>
                <c:pt idx="13">
                  <c:v>5000</c:v>
                </c:pt>
                <c:pt idx="14">
                  <c:v>4600</c:v>
                </c:pt>
                <c:pt idx="15">
                  <c:v>1835</c:v>
                </c:pt>
                <c:pt idx="16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C7C-4E5E-A622-D699D6F25D33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17">
                  <c:v>20089</c:v>
                </c:pt>
                <c:pt idx="18">
                  <c:v>19358</c:v>
                </c:pt>
              </c:numCache>
            </c:numRef>
          </c:xVal>
          <c:yVal>
            <c:numRef>
              <c:f>Sheet1!$E$1:$E$19</c:f>
              <c:numCache>
                <c:formatCode>General</c:formatCode>
                <c:ptCount val="19"/>
                <c:pt idx="17">
                  <c:v>800</c:v>
                </c:pt>
                <c:pt idx="18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C7C-4E5E-A622-D699D6F25D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991087"/>
        <c:axId val="1"/>
      </c:scatterChart>
      <c:valAx>
        <c:axId val="103599108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3599108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668182257971086E-2"/>
          <c:y val="0.11551276055928993"/>
          <c:w val="0.80432110171008009"/>
          <c:h val="0.817695107185039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  <c:minorUnit val="0.1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1327906500388486E-2"/>
          <c:y val="0.8780523639706429"/>
          <c:w val="0.80693091620705704"/>
          <c:h val="0.12194774247045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7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2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chart" Target="../charts/chart1.xml"/><Relationship Id="rId2" Type="http://schemas.openxmlformats.org/officeDocument/2006/relationships/tags" Target="../tags/tag12.xml"/><Relationship Id="rId16" Type="http://schemas.openxmlformats.org/officeDocument/2006/relationships/image" Target="../media/image8.emf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oleObject" Target="../embeddings/oleObject6.bin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image" Target="../media/image18.emf"/><Relationship Id="rId3" Type="http://schemas.openxmlformats.org/officeDocument/2006/relationships/tags" Target="../tags/tag25.xml"/><Relationship Id="rId21" Type="http://schemas.openxmlformats.org/officeDocument/2006/relationships/chart" Target="../charts/chart5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oleObject" Target="../embeddings/oleObject7.bin"/><Relationship Id="rId2" Type="http://schemas.openxmlformats.org/officeDocument/2006/relationships/tags" Target="../tags/tag24.xml"/><Relationship Id="rId16" Type="http://schemas.openxmlformats.org/officeDocument/2006/relationships/notesSlide" Target="../notesSlides/notesSlide6.xml"/><Relationship Id="rId20" Type="http://schemas.openxmlformats.org/officeDocument/2006/relationships/chart" Target="../charts/chart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32.xml"/><Relationship Id="rId19" Type="http://schemas.openxmlformats.org/officeDocument/2006/relationships/chart" Target="../charts/chart3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image" Target="../media/image8.emf"/><Relationship Id="rId3" Type="http://schemas.openxmlformats.org/officeDocument/2006/relationships/tags" Target="../tags/tag39.xml"/><Relationship Id="rId21" Type="http://schemas.openxmlformats.org/officeDocument/2006/relationships/image" Target="../media/image20.jpeg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oleObject" Target="../embeddings/oleObject8.bin"/><Relationship Id="rId2" Type="http://schemas.openxmlformats.org/officeDocument/2006/relationships/tags" Target="../tags/tag38.xml"/><Relationship Id="rId16" Type="http://schemas.openxmlformats.org/officeDocument/2006/relationships/notesSlide" Target="../notesSlides/notesSlide7.xml"/><Relationship Id="rId20" Type="http://schemas.openxmlformats.org/officeDocument/2006/relationships/image" Target="../media/image19.jpeg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24" Type="http://schemas.microsoft.com/office/2007/relationships/hdphoto" Target="../media/hdphoto2.wdp"/><Relationship Id="rId5" Type="http://schemas.openxmlformats.org/officeDocument/2006/relationships/tags" Target="../tags/tag41.xml"/><Relationship Id="rId15" Type="http://schemas.openxmlformats.org/officeDocument/2006/relationships/slideLayout" Target="../slideLayouts/slideLayout2.xml"/><Relationship Id="rId23" Type="http://schemas.openxmlformats.org/officeDocument/2006/relationships/image" Target="../media/image22.png"/><Relationship Id="rId10" Type="http://schemas.openxmlformats.org/officeDocument/2006/relationships/tags" Target="../tags/tag46.xml"/><Relationship Id="rId19" Type="http://schemas.openxmlformats.org/officeDocument/2006/relationships/chart" Target="../charts/chart7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9.png"/><Relationship Id="rId3" Type="http://schemas.openxmlformats.org/officeDocument/2006/relationships/tags" Target="../tags/tag54.xml"/><Relationship Id="rId7" Type="http://schemas.openxmlformats.org/officeDocument/2006/relationships/notesSlide" Target="../notesSlides/notesSlide9.xml"/><Relationship Id="rId12" Type="http://schemas.openxmlformats.org/officeDocument/2006/relationships/image" Target="../media/image25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4.png"/><Relationship Id="rId5" Type="http://schemas.openxmlformats.org/officeDocument/2006/relationships/tags" Target="../tags/tag56.xml"/><Relationship Id="rId15" Type="http://schemas.openxmlformats.org/officeDocument/2006/relationships/image" Target="../media/image26.png"/><Relationship Id="rId10" Type="http://schemas.openxmlformats.org/officeDocument/2006/relationships/image" Target="../media/image23.png"/><Relationship Id="rId4" Type="http://schemas.openxmlformats.org/officeDocument/2006/relationships/tags" Target="../tags/tag55.xml"/><Relationship Id="rId9" Type="http://schemas.openxmlformats.org/officeDocument/2006/relationships/image" Target="../media/image18.emf"/><Relationship Id="rId1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26" Type="http://schemas.openxmlformats.org/officeDocument/2006/relationships/image" Target="../media/image18.emf"/><Relationship Id="rId3" Type="http://schemas.openxmlformats.org/officeDocument/2006/relationships/tags" Target="../tags/tag59.xml"/><Relationship Id="rId21" Type="http://schemas.openxmlformats.org/officeDocument/2006/relationships/tags" Target="../tags/tag77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5" Type="http://schemas.openxmlformats.org/officeDocument/2006/relationships/oleObject" Target="../embeddings/oleObject11.bin"/><Relationship Id="rId33" Type="http://schemas.microsoft.com/office/2007/relationships/hdphoto" Target="../media/hdphoto3.wdp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tags" Target="../tags/tag76.xml"/><Relationship Id="rId29" Type="http://schemas.openxmlformats.org/officeDocument/2006/relationships/image" Target="../media/image28.png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24" Type="http://schemas.openxmlformats.org/officeDocument/2006/relationships/notesSlide" Target="../notesSlides/notesSlide10.xml"/><Relationship Id="rId32" Type="http://schemas.openxmlformats.org/officeDocument/2006/relationships/image" Target="../media/image31.png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23" Type="http://schemas.openxmlformats.org/officeDocument/2006/relationships/slideLayout" Target="../slideLayouts/slideLayout2.xml"/><Relationship Id="rId28" Type="http://schemas.openxmlformats.org/officeDocument/2006/relationships/image" Target="../media/image27.png"/><Relationship Id="rId10" Type="http://schemas.openxmlformats.org/officeDocument/2006/relationships/tags" Target="../tags/tag66.xml"/><Relationship Id="rId19" Type="http://schemas.openxmlformats.org/officeDocument/2006/relationships/tags" Target="../tags/tag75.xml"/><Relationship Id="rId31" Type="http://schemas.openxmlformats.org/officeDocument/2006/relationships/image" Target="../media/image30.jpeg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Relationship Id="rId22" Type="http://schemas.openxmlformats.org/officeDocument/2006/relationships/tags" Target="../tags/tag78.xml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tags" Target="../tags/tag6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Relationship Id="rId6" Type="http://schemas.openxmlformats.org/officeDocument/2006/relationships/image" Target="../media/image35.png"/><Relationship Id="rId5" Type="http://schemas.openxmlformats.org/officeDocument/2006/relationships/image" Target="../media/image15.png"/><Relationship Id="rId4" Type="http://schemas.openxmlformats.org/officeDocument/2006/relationships/image" Target="../media/image8.emf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94.xml"/><Relationship Id="rId18" Type="http://schemas.openxmlformats.org/officeDocument/2006/relationships/tags" Target="../tags/tag99.xml"/><Relationship Id="rId26" Type="http://schemas.openxmlformats.org/officeDocument/2006/relationships/tags" Target="../tags/tag107.xml"/><Relationship Id="rId39" Type="http://schemas.openxmlformats.org/officeDocument/2006/relationships/notesSlide" Target="../notesSlides/notesSlide13.xml"/><Relationship Id="rId21" Type="http://schemas.openxmlformats.org/officeDocument/2006/relationships/tags" Target="../tags/tag102.xml"/><Relationship Id="rId34" Type="http://schemas.openxmlformats.org/officeDocument/2006/relationships/tags" Target="../tags/tag115.xml"/><Relationship Id="rId42" Type="http://schemas.openxmlformats.org/officeDocument/2006/relationships/chart" Target="../charts/chart8.xml"/><Relationship Id="rId47" Type="http://schemas.openxmlformats.org/officeDocument/2006/relationships/chart" Target="../charts/chart11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29" Type="http://schemas.openxmlformats.org/officeDocument/2006/relationships/tags" Target="../tags/tag110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24" Type="http://schemas.openxmlformats.org/officeDocument/2006/relationships/tags" Target="../tags/tag105.xml"/><Relationship Id="rId32" Type="http://schemas.openxmlformats.org/officeDocument/2006/relationships/tags" Target="../tags/tag113.xml"/><Relationship Id="rId37" Type="http://schemas.openxmlformats.org/officeDocument/2006/relationships/tags" Target="../tags/tag118.xml"/><Relationship Id="rId40" Type="http://schemas.openxmlformats.org/officeDocument/2006/relationships/oleObject" Target="../embeddings/oleObject15.bin"/><Relationship Id="rId45" Type="http://schemas.openxmlformats.org/officeDocument/2006/relationships/image" Target="../media/image44.png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23" Type="http://schemas.openxmlformats.org/officeDocument/2006/relationships/tags" Target="../tags/tag104.xml"/><Relationship Id="rId28" Type="http://schemas.openxmlformats.org/officeDocument/2006/relationships/tags" Target="../tags/tag109.xml"/><Relationship Id="rId36" Type="http://schemas.openxmlformats.org/officeDocument/2006/relationships/tags" Target="../tags/tag117.xml"/><Relationship Id="rId10" Type="http://schemas.openxmlformats.org/officeDocument/2006/relationships/tags" Target="../tags/tag91.xml"/><Relationship Id="rId19" Type="http://schemas.openxmlformats.org/officeDocument/2006/relationships/tags" Target="../tags/tag100.xml"/><Relationship Id="rId31" Type="http://schemas.openxmlformats.org/officeDocument/2006/relationships/tags" Target="../tags/tag112.xml"/><Relationship Id="rId44" Type="http://schemas.openxmlformats.org/officeDocument/2006/relationships/chart" Target="../charts/chart10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Relationship Id="rId22" Type="http://schemas.openxmlformats.org/officeDocument/2006/relationships/tags" Target="../tags/tag103.xml"/><Relationship Id="rId27" Type="http://schemas.openxmlformats.org/officeDocument/2006/relationships/tags" Target="../tags/tag108.xml"/><Relationship Id="rId30" Type="http://schemas.openxmlformats.org/officeDocument/2006/relationships/tags" Target="../tags/tag111.xml"/><Relationship Id="rId35" Type="http://schemas.openxmlformats.org/officeDocument/2006/relationships/tags" Target="../tags/tag116.xml"/><Relationship Id="rId43" Type="http://schemas.openxmlformats.org/officeDocument/2006/relationships/chart" Target="../charts/chart9.xml"/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5" Type="http://schemas.openxmlformats.org/officeDocument/2006/relationships/tags" Target="../tags/tag106.xml"/><Relationship Id="rId33" Type="http://schemas.openxmlformats.org/officeDocument/2006/relationships/tags" Target="../tags/tag114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7.wdp"/><Relationship Id="rId20" Type="http://schemas.openxmlformats.org/officeDocument/2006/relationships/tags" Target="../tags/tag101.xml"/><Relationship Id="rId41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31.xml"/><Relationship Id="rId18" Type="http://schemas.openxmlformats.org/officeDocument/2006/relationships/tags" Target="../tags/tag136.xml"/><Relationship Id="rId26" Type="http://schemas.openxmlformats.org/officeDocument/2006/relationships/tags" Target="../tags/tag144.xml"/><Relationship Id="rId39" Type="http://schemas.openxmlformats.org/officeDocument/2006/relationships/chart" Target="../charts/chart13.xml"/><Relationship Id="rId21" Type="http://schemas.openxmlformats.org/officeDocument/2006/relationships/tags" Target="../tags/tag139.xml"/><Relationship Id="rId34" Type="http://schemas.openxmlformats.org/officeDocument/2006/relationships/image" Target="../media/image10.png"/><Relationship Id="rId7" Type="http://schemas.openxmlformats.org/officeDocument/2006/relationships/tags" Target="../tags/tag125.xml"/><Relationship Id="rId12" Type="http://schemas.openxmlformats.org/officeDocument/2006/relationships/tags" Target="../tags/tag130.xml"/><Relationship Id="rId17" Type="http://schemas.openxmlformats.org/officeDocument/2006/relationships/tags" Target="../tags/tag135.xml"/><Relationship Id="rId25" Type="http://schemas.openxmlformats.org/officeDocument/2006/relationships/tags" Target="../tags/tag143.xml"/><Relationship Id="rId33" Type="http://schemas.openxmlformats.org/officeDocument/2006/relationships/image" Target="../media/image9.png"/><Relationship Id="rId38" Type="http://schemas.openxmlformats.org/officeDocument/2006/relationships/chart" Target="../charts/chart12.xml"/><Relationship Id="rId2" Type="http://schemas.openxmlformats.org/officeDocument/2006/relationships/tags" Target="../tags/tag120.xml"/><Relationship Id="rId16" Type="http://schemas.openxmlformats.org/officeDocument/2006/relationships/tags" Target="../tags/tag134.xml"/><Relationship Id="rId20" Type="http://schemas.openxmlformats.org/officeDocument/2006/relationships/tags" Target="../tags/tag138.xml"/><Relationship Id="rId29" Type="http://schemas.openxmlformats.org/officeDocument/2006/relationships/slideLayout" Target="../slideLayouts/slideLayout13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tags" Target="../tags/tag129.xml"/><Relationship Id="rId24" Type="http://schemas.openxmlformats.org/officeDocument/2006/relationships/tags" Target="../tags/tag142.xml"/><Relationship Id="rId32" Type="http://schemas.openxmlformats.org/officeDocument/2006/relationships/image" Target="../media/image7.emf"/><Relationship Id="rId37" Type="http://schemas.openxmlformats.org/officeDocument/2006/relationships/image" Target="../media/image46.jpeg"/><Relationship Id="rId5" Type="http://schemas.openxmlformats.org/officeDocument/2006/relationships/tags" Target="../tags/tag123.xml"/><Relationship Id="rId15" Type="http://schemas.openxmlformats.org/officeDocument/2006/relationships/tags" Target="../tags/tag133.xml"/><Relationship Id="rId23" Type="http://schemas.openxmlformats.org/officeDocument/2006/relationships/tags" Target="../tags/tag141.xml"/><Relationship Id="rId28" Type="http://schemas.openxmlformats.org/officeDocument/2006/relationships/tags" Target="../tags/tag146.xml"/><Relationship Id="rId36" Type="http://schemas.openxmlformats.org/officeDocument/2006/relationships/image" Target="../media/image45.png"/><Relationship Id="rId10" Type="http://schemas.openxmlformats.org/officeDocument/2006/relationships/tags" Target="../tags/tag128.xml"/><Relationship Id="rId19" Type="http://schemas.openxmlformats.org/officeDocument/2006/relationships/tags" Target="../tags/tag137.xml"/><Relationship Id="rId31" Type="http://schemas.openxmlformats.org/officeDocument/2006/relationships/oleObject" Target="../embeddings/oleObject16.bin"/><Relationship Id="rId4" Type="http://schemas.openxmlformats.org/officeDocument/2006/relationships/tags" Target="../tags/tag122.xml"/><Relationship Id="rId9" Type="http://schemas.openxmlformats.org/officeDocument/2006/relationships/tags" Target="../tags/tag127.xml"/><Relationship Id="rId14" Type="http://schemas.openxmlformats.org/officeDocument/2006/relationships/tags" Target="../tags/tag132.xml"/><Relationship Id="rId22" Type="http://schemas.openxmlformats.org/officeDocument/2006/relationships/tags" Target="../tags/tag140.xml"/><Relationship Id="rId27" Type="http://schemas.openxmlformats.org/officeDocument/2006/relationships/tags" Target="../tags/tag145.xml"/><Relationship Id="rId30" Type="http://schemas.openxmlformats.org/officeDocument/2006/relationships/notesSlide" Target="../notesSlides/notesSlide14.xml"/><Relationship Id="rId35" Type="http://schemas.openxmlformats.org/officeDocument/2006/relationships/image" Target="../media/image28.png"/><Relationship Id="rId8" Type="http://schemas.openxmlformats.org/officeDocument/2006/relationships/tags" Target="../tags/tag126.xml"/><Relationship Id="rId3" Type="http://schemas.openxmlformats.org/officeDocument/2006/relationships/tags" Target="../tags/tag12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notesSlide" Target="../notesSlides/notesSlide15.xml"/><Relationship Id="rId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Relationship Id="rId6" Type="http://schemas.openxmlformats.org/officeDocument/2006/relationships/image" Target="../media/image47.png"/><Relationship Id="rId11" Type="http://schemas.microsoft.com/office/2007/relationships/hdphoto" Target="../media/hdphoto9.wdp"/><Relationship Id="rId5" Type="http://schemas.openxmlformats.org/officeDocument/2006/relationships/image" Target="../media/image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6.png"/><Relationship Id="rId12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Relationship Id="rId6" Type="http://schemas.openxmlformats.org/officeDocument/2006/relationships/image" Target="../media/image26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52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png"/><Relationship Id="rId21" Type="http://schemas.openxmlformats.org/officeDocument/2006/relationships/image" Target="../media/image64.png"/><Relationship Id="rId42" Type="http://schemas.openxmlformats.org/officeDocument/2006/relationships/image" Target="../media/image35.png"/><Relationship Id="rId47" Type="http://schemas.openxmlformats.org/officeDocument/2006/relationships/image" Target="../media/image79.png"/><Relationship Id="rId63" Type="http://schemas.microsoft.com/office/2007/relationships/hdphoto" Target="../media/hdphoto30.wdp"/><Relationship Id="rId68" Type="http://schemas.openxmlformats.org/officeDocument/2006/relationships/image" Target="../media/image89.png"/><Relationship Id="rId16" Type="http://schemas.openxmlformats.org/officeDocument/2006/relationships/image" Target="../media/image61.png"/><Relationship Id="rId11" Type="http://schemas.microsoft.com/office/2007/relationships/hdphoto" Target="../media/hdphoto12.wdp"/><Relationship Id="rId32" Type="http://schemas.openxmlformats.org/officeDocument/2006/relationships/image" Target="../media/image71.png"/><Relationship Id="rId37" Type="http://schemas.openxmlformats.org/officeDocument/2006/relationships/image" Target="../media/image74.png"/><Relationship Id="rId53" Type="http://schemas.openxmlformats.org/officeDocument/2006/relationships/image" Target="../media/image81.png"/><Relationship Id="rId58" Type="http://schemas.openxmlformats.org/officeDocument/2006/relationships/image" Target="../media/image84.png"/><Relationship Id="rId74" Type="http://schemas.microsoft.com/office/2007/relationships/hdphoto" Target="../media/hdphoto34.wdp"/><Relationship Id="rId79" Type="http://schemas.openxmlformats.org/officeDocument/2006/relationships/image" Target="../media/image95.png"/><Relationship Id="rId5" Type="http://schemas.openxmlformats.org/officeDocument/2006/relationships/image" Target="../media/image55.png"/><Relationship Id="rId61" Type="http://schemas.microsoft.com/office/2007/relationships/hdphoto" Target="../media/hdphoto29.wdp"/><Relationship Id="rId82" Type="http://schemas.microsoft.com/office/2007/relationships/hdphoto" Target="../media/hdphoto38.wdp"/><Relationship Id="rId19" Type="http://schemas.openxmlformats.org/officeDocument/2006/relationships/image" Target="../media/image27.png"/><Relationship Id="rId14" Type="http://schemas.openxmlformats.org/officeDocument/2006/relationships/image" Target="../media/image60.png"/><Relationship Id="rId22" Type="http://schemas.openxmlformats.org/officeDocument/2006/relationships/image" Target="../media/image65.png"/><Relationship Id="rId27" Type="http://schemas.openxmlformats.org/officeDocument/2006/relationships/image" Target="../media/image68.png"/><Relationship Id="rId30" Type="http://schemas.openxmlformats.org/officeDocument/2006/relationships/image" Target="../media/image70.png"/><Relationship Id="rId35" Type="http://schemas.microsoft.com/office/2007/relationships/hdphoto" Target="../media/hdphoto20.wdp"/><Relationship Id="rId43" Type="http://schemas.openxmlformats.org/officeDocument/2006/relationships/image" Target="../media/image77.png"/><Relationship Id="rId48" Type="http://schemas.microsoft.com/office/2007/relationships/hdphoto" Target="../media/hdphoto24.wdp"/><Relationship Id="rId56" Type="http://schemas.microsoft.com/office/2007/relationships/hdphoto" Target="../media/hdphoto27.wdp"/><Relationship Id="rId64" Type="http://schemas.openxmlformats.org/officeDocument/2006/relationships/image" Target="../media/image87.png"/><Relationship Id="rId69" Type="http://schemas.microsoft.com/office/2007/relationships/hdphoto" Target="../media/hdphoto33.wdp"/><Relationship Id="rId77" Type="http://schemas.openxmlformats.org/officeDocument/2006/relationships/image" Target="../media/image94.png"/><Relationship Id="rId8" Type="http://schemas.openxmlformats.org/officeDocument/2006/relationships/image" Target="../media/image57.png"/><Relationship Id="rId51" Type="http://schemas.openxmlformats.org/officeDocument/2006/relationships/image" Target="../media/image31.png"/><Relationship Id="rId72" Type="http://schemas.openxmlformats.org/officeDocument/2006/relationships/image" Target="../media/image91.png"/><Relationship Id="rId80" Type="http://schemas.microsoft.com/office/2007/relationships/hdphoto" Target="../media/hdphoto37.wdp"/><Relationship Id="rId3" Type="http://schemas.openxmlformats.org/officeDocument/2006/relationships/oleObject" Target="../embeddings/oleObject19.bin"/><Relationship Id="rId12" Type="http://schemas.openxmlformats.org/officeDocument/2006/relationships/image" Target="../media/image59.png"/><Relationship Id="rId17" Type="http://schemas.microsoft.com/office/2007/relationships/hdphoto" Target="../media/hdphoto14.wdp"/><Relationship Id="rId25" Type="http://schemas.microsoft.com/office/2007/relationships/hdphoto" Target="../media/hdphoto16.wdp"/><Relationship Id="rId33" Type="http://schemas.microsoft.com/office/2007/relationships/hdphoto" Target="../media/hdphoto19.wdp"/><Relationship Id="rId38" Type="http://schemas.openxmlformats.org/officeDocument/2006/relationships/image" Target="../media/image75.png"/><Relationship Id="rId46" Type="http://schemas.microsoft.com/office/2007/relationships/hdphoto" Target="../media/hdphoto23.wdp"/><Relationship Id="rId59" Type="http://schemas.microsoft.com/office/2007/relationships/hdphoto" Target="../media/hdphoto28.wdp"/><Relationship Id="rId67" Type="http://schemas.microsoft.com/office/2007/relationships/hdphoto" Target="../media/hdphoto32.wdp"/><Relationship Id="rId20" Type="http://schemas.openxmlformats.org/officeDocument/2006/relationships/image" Target="../media/image63.png"/><Relationship Id="rId41" Type="http://schemas.microsoft.com/office/2007/relationships/hdphoto" Target="../media/hdphoto21.wdp"/><Relationship Id="rId54" Type="http://schemas.microsoft.com/office/2007/relationships/hdphoto" Target="../media/hdphoto26.wdp"/><Relationship Id="rId62" Type="http://schemas.openxmlformats.org/officeDocument/2006/relationships/image" Target="../media/image86.png"/><Relationship Id="rId70" Type="http://schemas.openxmlformats.org/officeDocument/2006/relationships/image" Target="../media/image36.png"/><Relationship Id="rId75" Type="http://schemas.openxmlformats.org/officeDocument/2006/relationships/image" Target="../media/image93.png"/><Relationship Id="rId83" Type="http://schemas.openxmlformats.org/officeDocument/2006/relationships/image" Target="../media/image97.png"/><Relationship Id="rId1" Type="http://schemas.openxmlformats.org/officeDocument/2006/relationships/tags" Target="../tags/tag149.xml"/><Relationship Id="rId6" Type="http://schemas.microsoft.com/office/2007/relationships/hdphoto" Target="../media/hdphoto10.wdp"/><Relationship Id="rId15" Type="http://schemas.microsoft.com/office/2007/relationships/hdphoto" Target="../media/hdphoto13.wdp"/><Relationship Id="rId23" Type="http://schemas.microsoft.com/office/2007/relationships/hdphoto" Target="../media/hdphoto15.wdp"/><Relationship Id="rId28" Type="http://schemas.microsoft.com/office/2007/relationships/hdphoto" Target="../media/hdphoto17.wdp"/><Relationship Id="rId36" Type="http://schemas.openxmlformats.org/officeDocument/2006/relationships/image" Target="../media/image73.png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image" Target="../media/image58.png"/><Relationship Id="rId31" Type="http://schemas.microsoft.com/office/2007/relationships/hdphoto" Target="../media/hdphoto18.wdp"/><Relationship Id="rId44" Type="http://schemas.microsoft.com/office/2007/relationships/hdphoto" Target="../media/hdphoto22.wdp"/><Relationship Id="rId52" Type="http://schemas.microsoft.com/office/2007/relationships/hdphoto" Target="../media/hdphoto3.wdp"/><Relationship Id="rId60" Type="http://schemas.openxmlformats.org/officeDocument/2006/relationships/image" Target="../media/image85.png"/><Relationship Id="rId65" Type="http://schemas.microsoft.com/office/2007/relationships/hdphoto" Target="../media/hdphoto31.wdp"/><Relationship Id="rId73" Type="http://schemas.openxmlformats.org/officeDocument/2006/relationships/image" Target="../media/image92.png"/><Relationship Id="rId78" Type="http://schemas.microsoft.com/office/2007/relationships/hdphoto" Target="../media/hdphoto36.wdp"/><Relationship Id="rId81" Type="http://schemas.openxmlformats.org/officeDocument/2006/relationships/image" Target="../media/image96.png"/><Relationship Id="rId4" Type="http://schemas.openxmlformats.org/officeDocument/2006/relationships/image" Target="../media/image8.emf"/><Relationship Id="rId9" Type="http://schemas.microsoft.com/office/2007/relationships/hdphoto" Target="../media/hdphoto11.wdp"/><Relationship Id="rId13" Type="http://schemas.openxmlformats.org/officeDocument/2006/relationships/image" Target="../media/image26.png"/><Relationship Id="rId18" Type="http://schemas.openxmlformats.org/officeDocument/2006/relationships/image" Target="../media/image62.png"/><Relationship Id="rId39" Type="http://schemas.openxmlformats.org/officeDocument/2006/relationships/image" Target="../media/image52.png"/><Relationship Id="rId34" Type="http://schemas.openxmlformats.org/officeDocument/2006/relationships/image" Target="../media/image72.png"/><Relationship Id="rId50" Type="http://schemas.microsoft.com/office/2007/relationships/hdphoto" Target="../media/hdphoto25.wdp"/><Relationship Id="rId55" Type="http://schemas.openxmlformats.org/officeDocument/2006/relationships/image" Target="../media/image82.png"/><Relationship Id="rId76" Type="http://schemas.microsoft.com/office/2007/relationships/hdphoto" Target="../media/hdphoto35.wdp"/><Relationship Id="rId7" Type="http://schemas.openxmlformats.org/officeDocument/2006/relationships/image" Target="../media/image56.png"/><Relationship Id="rId71" Type="http://schemas.openxmlformats.org/officeDocument/2006/relationships/image" Target="../media/image90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9.png"/><Relationship Id="rId24" Type="http://schemas.openxmlformats.org/officeDocument/2006/relationships/image" Target="../media/image66.png"/><Relationship Id="rId40" Type="http://schemas.openxmlformats.org/officeDocument/2006/relationships/image" Target="../media/image76.png"/><Relationship Id="rId45" Type="http://schemas.openxmlformats.org/officeDocument/2006/relationships/image" Target="../media/image78.png"/><Relationship Id="rId66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7.png"/><Relationship Id="rId18" Type="http://schemas.openxmlformats.org/officeDocument/2006/relationships/image" Target="../media/image99.png"/><Relationship Id="rId26" Type="http://schemas.openxmlformats.org/officeDocument/2006/relationships/image" Target="../media/image80.png"/><Relationship Id="rId3" Type="http://schemas.openxmlformats.org/officeDocument/2006/relationships/tags" Target="../tags/tag152.xml"/><Relationship Id="rId21" Type="http://schemas.microsoft.com/office/2007/relationships/hdphoto" Target="../media/hdphoto40.wdp"/><Relationship Id="rId7" Type="http://schemas.openxmlformats.org/officeDocument/2006/relationships/image" Target="../media/image52.png"/><Relationship Id="rId12" Type="http://schemas.openxmlformats.org/officeDocument/2006/relationships/image" Target="../media/image59.png"/><Relationship Id="rId17" Type="http://schemas.openxmlformats.org/officeDocument/2006/relationships/image" Target="../media/image35.png"/><Relationship Id="rId25" Type="http://schemas.openxmlformats.org/officeDocument/2006/relationships/image" Target="../media/image101.png"/><Relationship Id="rId2" Type="http://schemas.openxmlformats.org/officeDocument/2006/relationships/tags" Target="../tags/tag151.xml"/><Relationship Id="rId16" Type="http://schemas.microsoft.com/office/2007/relationships/hdphoto" Target="../media/hdphoto23.wdp"/><Relationship Id="rId20" Type="http://schemas.openxmlformats.org/officeDocument/2006/relationships/image" Target="../media/image100.png"/><Relationship Id="rId1" Type="http://schemas.openxmlformats.org/officeDocument/2006/relationships/tags" Target="../tags/tag150.xml"/><Relationship Id="rId6" Type="http://schemas.openxmlformats.org/officeDocument/2006/relationships/image" Target="../media/image18.emf"/><Relationship Id="rId11" Type="http://schemas.openxmlformats.org/officeDocument/2006/relationships/image" Target="../media/image26.png"/><Relationship Id="rId24" Type="http://schemas.openxmlformats.org/officeDocument/2006/relationships/image" Target="../media/image73.png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78.png"/><Relationship Id="rId23" Type="http://schemas.microsoft.com/office/2007/relationships/hdphoto" Target="../media/hdphoto35.wdp"/><Relationship Id="rId10" Type="http://schemas.openxmlformats.org/officeDocument/2006/relationships/image" Target="../media/image90.png"/><Relationship Id="rId19" Type="http://schemas.microsoft.com/office/2007/relationships/hdphoto" Target="../media/hdphoto39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8.png"/><Relationship Id="rId14" Type="http://schemas.microsoft.com/office/2007/relationships/hdphoto" Target="../media/hdphoto22.wdp"/><Relationship Id="rId22" Type="http://schemas.openxmlformats.org/officeDocument/2006/relationships/image" Target="../media/image93.png"/><Relationship Id="rId27" Type="http://schemas.microsoft.com/office/2007/relationships/hdphoto" Target="../media/hdphoto25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image" Target="../media/image18.emf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12" Type="http://schemas.openxmlformats.org/officeDocument/2006/relationships/oleObject" Target="../embeddings/oleObject21.bin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notesSlide" Target="../notesSlides/notesSlide17.xml"/><Relationship Id="rId5" Type="http://schemas.openxmlformats.org/officeDocument/2006/relationships/tags" Target="../tags/tag15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chart" Target="../charts/chart14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74.xml"/><Relationship Id="rId18" Type="http://schemas.openxmlformats.org/officeDocument/2006/relationships/tags" Target="../tags/tag179.xml"/><Relationship Id="rId26" Type="http://schemas.openxmlformats.org/officeDocument/2006/relationships/tags" Target="../tags/tag187.xml"/><Relationship Id="rId39" Type="http://schemas.openxmlformats.org/officeDocument/2006/relationships/tags" Target="../tags/tag200.xml"/><Relationship Id="rId21" Type="http://schemas.openxmlformats.org/officeDocument/2006/relationships/tags" Target="../tags/tag182.xml"/><Relationship Id="rId34" Type="http://schemas.openxmlformats.org/officeDocument/2006/relationships/tags" Target="../tags/tag195.xml"/><Relationship Id="rId42" Type="http://schemas.openxmlformats.org/officeDocument/2006/relationships/tags" Target="../tags/tag203.xml"/><Relationship Id="rId47" Type="http://schemas.openxmlformats.org/officeDocument/2006/relationships/notesSlide" Target="../notesSlides/notesSlide18.xml"/><Relationship Id="rId50" Type="http://schemas.openxmlformats.org/officeDocument/2006/relationships/chart" Target="../charts/chart15.xml"/><Relationship Id="rId7" Type="http://schemas.openxmlformats.org/officeDocument/2006/relationships/tags" Target="../tags/tag168.xml"/><Relationship Id="rId2" Type="http://schemas.openxmlformats.org/officeDocument/2006/relationships/tags" Target="../tags/tag163.xml"/><Relationship Id="rId16" Type="http://schemas.openxmlformats.org/officeDocument/2006/relationships/tags" Target="../tags/tag177.xml"/><Relationship Id="rId29" Type="http://schemas.openxmlformats.org/officeDocument/2006/relationships/tags" Target="../tags/tag190.xml"/><Relationship Id="rId11" Type="http://schemas.openxmlformats.org/officeDocument/2006/relationships/tags" Target="../tags/tag172.xml"/><Relationship Id="rId24" Type="http://schemas.openxmlformats.org/officeDocument/2006/relationships/tags" Target="../tags/tag185.xml"/><Relationship Id="rId32" Type="http://schemas.openxmlformats.org/officeDocument/2006/relationships/tags" Target="../tags/tag193.xml"/><Relationship Id="rId37" Type="http://schemas.openxmlformats.org/officeDocument/2006/relationships/tags" Target="../tags/tag198.xml"/><Relationship Id="rId40" Type="http://schemas.openxmlformats.org/officeDocument/2006/relationships/tags" Target="../tags/tag201.xml"/><Relationship Id="rId45" Type="http://schemas.openxmlformats.org/officeDocument/2006/relationships/tags" Target="../tags/tag206.xml"/><Relationship Id="rId5" Type="http://schemas.openxmlformats.org/officeDocument/2006/relationships/tags" Target="../tags/tag166.xml"/><Relationship Id="rId15" Type="http://schemas.openxmlformats.org/officeDocument/2006/relationships/tags" Target="../tags/tag176.xml"/><Relationship Id="rId23" Type="http://schemas.openxmlformats.org/officeDocument/2006/relationships/tags" Target="../tags/tag184.xml"/><Relationship Id="rId28" Type="http://schemas.openxmlformats.org/officeDocument/2006/relationships/tags" Target="../tags/tag189.xml"/><Relationship Id="rId36" Type="http://schemas.openxmlformats.org/officeDocument/2006/relationships/tags" Target="../tags/tag197.xml"/><Relationship Id="rId49" Type="http://schemas.openxmlformats.org/officeDocument/2006/relationships/image" Target="../media/image18.emf"/><Relationship Id="rId10" Type="http://schemas.openxmlformats.org/officeDocument/2006/relationships/tags" Target="../tags/tag171.xml"/><Relationship Id="rId19" Type="http://schemas.openxmlformats.org/officeDocument/2006/relationships/tags" Target="../tags/tag180.xml"/><Relationship Id="rId31" Type="http://schemas.openxmlformats.org/officeDocument/2006/relationships/tags" Target="../tags/tag192.xml"/><Relationship Id="rId44" Type="http://schemas.openxmlformats.org/officeDocument/2006/relationships/tags" Target="../tags/tag205.xml"/><Relationship Id="rId4" Type="http://schemas.openxmlformats.org/officeDocument/2006/relationships/tags" Target="../tags/tag165.xml"/><Relationship Id="rId9" Type="http://schemas.openxmlformats.org/officeDocument/2006/relationships/tags" Target="../tags/tag170.xml"/><Relationship Id="rId14" Type="http://schemas.openxmlformats.org/officeDocument/2006/relationships/tags" Target="../tags/tag175.xml"/><Relationship Id="rId22" Type="http://schemas.openxmlformats.org/officeDocument/2006/relationships/tags" Target="../tags/tag183.xml"/><Relationship Id="rId27" Type="http://schemas.openxmlformats.org/officeDocument/2006/relationships/tags" Target="../tags/tag188.xml"/><Relationship Id="rId30" Type="http://schemas.openxmlformats.org/officeDocument/2006/relationships/tags" Target="../tags/tag191.xml"/><Relationship Id="rId35" Type="http://schemas.openxmlformats.org/officeDocument/2006/relationships/tags" Target="../tags/tag196.xml"/><Relationship Id="rId43" Type="http://schemas.openxmlformats.org/officeDocument/2006/relationships/tags" Target="../tags/tag204.xml"/><Relationship Id="rId48" Type="http://schemas.openxmlformats.org/officeDocument/2006/relationships/oleObject" Target="../embeddings/oleObject22.bin"/><Relationship Id="rId8" Type="http://schemas.openxmlformats.org/officeDocument/2006/relationships/tags" Target="../tags/tag169.xml"/><Relationship Id="rId3" Type="http://schemas.openxmlformats.org/officeDocument/2006/relationships/tags" Target="../tags/tag164.xml"/><Relationship Id="rId12" Type="http://schemas.openxmlformats.org/officeDocument/2006/relationships/tags" Target="../tags/tag173.xml"/><Relationship Id="rId17" Type="http://schemas.openxmlformats.org/officeDocument/2006/relationships/tags" Target="../tags/tag178.xml"/><Relationship Id="rId25" Type="http://schemas.openxmlformats.org/officeDocument/2006/relationships/tags" Target="../tags/tag186.xml"/><Relationship Id="rId33" Type="http://schemas.openxmlformats.org/officeDocument/2006/relationships/tags" Target="../tags/tag194.xml"/><Relationship Id="rId38" Type="http://schemas.openxmlformats.org/officeDocument/2006/relationships/tags" Target="../tags/tag199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181.xml"/><Relationship Id="rId41" Type="http://schemas.openxmlformats.org/officeDocument/2006/relationships/tags" Target="../tags/tag202.xml"/><Relationship Id="rId1" Type="http://schemas.openxmlformats.org/officeDocument/2006/relationships/tags" Target="../tags/tag162.xml"/><Relationship Id="rId6" Type="http://schemas.openxmlformats.org/officeDocument/2006/relationships/tags" Target="../tags/tag16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7.xml"/><Relationship Id="rId6" Type="http://schemas.openxmlformats.org/officeDocument/2006/relationships/chart" Target="../charts/chart16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08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5.svg"/><Relationship Id="rId12" Type="http://schemas.openxmlformats.org/officeDocument/2006/relationships/image" Target="../media/image26.png"/><Relationship Id="rId17" Type="http://schemas.openxmlformats.org/officeDocument/2006/relationships/chart" Target="../charts/chart19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1.png"/><Relationship Id="rId1" Type="http://schemas.openxmlformats.org/officeDocument/2006/relationships/tags" Target="../tags/tag208.xml"/><Relationship Id="rId6" Type="http://schemas.openxmlformats.org/officeDocument/2006/relationships/image" Target="../media/image104.png"/><Relationship Id="rId11" Type="http://schemas.openxmlformats.org/officeDocument/2006/relationships/chart" Target="../charts/chart18.xml"/><Relationship Id="rId5" Type="http://schemas.openxmlformats.org/officeDocument/2006/relationships/image" Target="../media/image18.emf"/><Relationship Id="rId15" Type="http://schemas.openxmlformats.org/officeDocument/2006/relationships/image" Target="../media/image110.png"/><Relationship Id="rId10" Type="http://schemas.openxmlformats.org/officeDocument/2006/relationships/chart" Target="../charts/chart17.xml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07.svg"/><Relationship Id="rId14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tags" Target="../tags/tag211.xml"/><Relationship Id="rId21" Type="http://schemas.openxmlformats.org/officeDocument/2006/relationships/image" Target="../media/image119.png"/><Relationship Id="rId7" Type="http://schemas.openxmlformats.org/officeDocument/2006/relationships/tags" Target="../tags/tag215.xml"/><Relationship Id="rId12" Type="http://schemas.openxmlformats.org/officeDocument/2006/relationships/image" Target="../media/image56.png"/><Relationship Id="rId17" Type="http://schemas.openxmlformats.org/officeDocument/2006/relationships/image" Target="../media/image116.png"/><Relationship Id="rId25" Type="http://schemas.openxmlformats.org/officeDocument/2006/relationships/image" Target="../media/image121.png"/><Relationship Id="rId2" Type="http://schemas.openxmlformats.org/officeDocument/2006/relationships/tags" Target="../tags/tag210.xml"/><Relationship Id="rId16" Type="http://schemas.openxmlformats.org/officeDocument/2006/relationships/image" Target="../media/image115.jpeg"/><Relationship Id="rId20" Type="http://schemas.openxmlformats.org/officeDocument/2006/relationships/image" Target="../media/image59.png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image" Target="../media/image18.emf"/><Relationship Id="rId24" Type="http://schemas.openxmlformats.org/officeDocument/2006/relationships/image" Target="../media/image120.png"/><Relationship Id="rId5" Type="http://schemas.openxmlformats.org/officeDocument/2006/relationships/tags" Target="../tags/tag213.xml"/><Relationship Id="rId15" Type="http://schemas.openxmlformats.org/officeDocument/2006/relationships/image" Target="../media/image114.png"/><Relationship Id="rId23" Type="http://schemas.microsoft.com/office/2007/relationships/hdphoto" Target="../media/hdphoto39.wdp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118.png"/><Relationship Id="rId4" Type="http://schemas.openxmlformats.org/officeDocument/2006/relationships/tags" Target="../tags/tag212.xml"/><Relationship Id="rId9" Type="http://schemas.openxmlformats.org/officeDocument/2006/relationships/notesSlide" Target="../notesSlides/notesSlide21.xml"/><Relationship Id="rId14" Type="http://schemas.openxmlformats.org/officeDocument/2006/relationships/image" Target="../media/image113.png"/><Relationship Id="rId22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6.xml"/><Relationship Id="rId4" Type="http://schemas.openxmlformats.org/officeDocument/2006/relationships/image" Target="../media/image1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23.png"/><Relationship Id="rId12" Type="http://schemas.openxmlformats.org/officeDocument/2006/relationships/image" Target="../media/image1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7.xml"/><Relationship Id="rId6" Type="http://schemas.openxmlformats.org/officeDocument/2006/relationships/image" Target="../media/image122.png"/><Relationship Id="rId11" Type="http://schemas.openxmlformats.org/officeDocument/2006/relationships/image" Target="../media/image125.png"/><Relationship Id="rId5" Type="http://schemas.openxmlformats.org/officeDocument/2006/relationships/image" Target="../media/image8.emf"/><Relationship Id="rId10" Type="http://schemas.openxmlformats.org/officeDocument/2006/relationships/image" Target="../media/image124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25.xml"/><Relationship Id="rId13" Type="http://schemas.openxmlformats.org/officeDocument/2006/relationships/tags" Target="../tags/tag230.xml"/><Relationship Id="rId18" Type="http://schemas.openxmlformats.org/officeDocument/2006/relationships/tags" Target="../tags/tag235.xml"/><Relationship Id="rId26" Type="http://schemas.openxmlformats.org/officeDocument/2006/relationships/chart" Target="../charts/chart20.xml"/><Relationship Id="rId3" Type="http://schemas.openxmlformats.org/officeDocument/2006/relationships/tags" Target="../tags/tag220.xml"/><Relationship Id="rId21" Type="http://schemas.openxmlformats.org/officeDocument/2006/relationships/tags" Target="../tags/tag238.xml"/><Relationship Id="rId7" Type="http://schemas.openxmlformats.org/officeDocument/2006/relationships/tags" Target="../tags/tag224.xml"/><Relationship Id="rId12" Type="http://schemas.openxmlformats.org/officeDocument/2006/relationships/tags" Target="../tags/tag229.xml"/><Relationship Id="rId17" Type="http://schemas.openxmlformats.org/officeDocument/2006/relationships/tags" Target="../tags/tag234.xml"/><Relationship Id="rId25" Type="http://schemas.openxmlformats.org/officeDocument/2006/relationships/image" Target="../media/image8.emf"/><Relationship Id="rId2" Type="http://schemas.openxmlformats.org/officeDocument/2006/relationships/tags" Target="../tags/tag219.xml"/><Relationship Id="rId16" Type="http://schemas.openxmlformats.org/officeDocument/2006/relationships/tags" Target="../tags/tag233.xml"/><Relationship Id="rId20" Type="http://schemas.openxmlformats.org/officeDocument/2006/relationships/tags" Target="../tags/tag237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11" Type="http://schemas.openxmlformats.org/officeDocument/2006/relationships/tags" Target="../tags/tag228.xml"/><Relationship Id="rId24" Type="http://schemas.openxmlformats.org/officeDocument/2006/relationships/oleObject" Target="../embeddings/oleObject28.bin"/><Relationship Id="rId5" Type="http://schemas.openxmlformats.org/officeDocument/2006/relationships/tags" Target="../tags/tag222.xml"/><Relationship Id="rId15" Type="http://schemas.openxmlformats.org/officeDocument/2006/relationships/tags" Target="../tags/tag232.xml"/><Relationship Id="rId23" Type="http://schemas.openxmlformats.org/officeDocument/2006/relationships/notesSlide" Target="../notesSlides/notesSlide23.xml"/><Relationship Id="rId10" Type="http://schemas.openxmlformats.org/officeDocument/2006/relationships/tags" Target="../tags/tag227.xml"/><Relationship Id="rId19" Type="http://schemas.openxmlformats.org/officeDocument/2006/relationships/tags" Target="../tags/tag236.xml"/><Relationship Id="rId4" Type="http://schemas.openxmlformats.org/officeDocument/2006/relationships/tags" Target="../tags/tag221.xml"/><Relationship Id="rId9" Type="http://schemas.openxmlformats.org/officeDocument/2006/relationships/tags" Target="../tags/tag226.xml"/><Relationship Id="rId14" Type="http://schemas.openxmlformats.org/officeDocument/2006/relationships/tags" Target="../tags/tag231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9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26.png"/><Relationship Id="rId12" Type="http://schemas.openxmlformats.org/officeDocument/2006/relationships/image" Target="../media/image98.png"/><Relationship Id="rId17" Type="http://schemas.openxmlformats.org/officeDocument/2006/relationships/image" Target="../media/image13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2.png"/><Relationship Id="rId1" Type="http://schemas.openxmlformats.org/officeDocument/2006/relationships/tags" Target="../tags/tag240.xml"/><Relationship Id="rId6" Type="http://schemas.openxmlformats.org/officeDocument/2006/relationships/image" Target="../media/image127.png"/><Relationship Id="rId11" Type="http://schemas.openxmlformats.org/officeDocument/2006/relationships/image" Target="../media/image128.png"/><Relationship Id="rId5" Type="http://schemas.openxmlformats.org/officeDocument/2006/relationships/image" Target="../media/image18.emf"/><Relationship Id="rId15" Type="http://schemas.openxmlformats.org/officeDocument/2006/relationships/image" Target="../media/image131.png"/><Relationship Id="rId10" Type="http://schemas.openxmlformats.org/officeDocument/2006/relationships/image" Target="../media/image52.png"/><Relationship Id="rId19" Type="http://schemas.openxmlformats.org/officeDocument/2006/relationships/image" Target="../media/image135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4.png"/><Relationship Id="rId14" Type="http://schemas.openxmlformats.org/officeDocument/2006/relationships/image" Target="../media/image130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75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63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png"/><Relationship Id="rId29" Type="http://schemas.openxmlformats.org/officeDocument/2006/relationships/image" Target="../media/image151.png"/><Relationship Id="rId11" Type="http://schemas.openxmlformats.org/officeDocument/2006/relationships/image" Target="../media/image27.png"/><Relationship Id="rId24" Type="http://schemas.openxmlformats.org/officeDocument/2006/relationships/image" Target="../media/image146.png"/><Relationship Id="rId32" Type="http://schemas.openxmlformats.org/officeDocument/2006/relationships/image" Target="../media/image74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6.png"/><Relationship Id="rId61" Type="http://schemas.openxmlformats.org/officeDocument/2006/relationships/image" Target="../media/image62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90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52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8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127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9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241.xml"/><Relationship Id="rId6" Type="http://schemas.openxmlformats.org/officeDocument/2006/relationships/image" Target="../media/image137.png"/><Relationship Id="rId15" Type="http://schemas.openxmlformats.org/officeDocument/2006/relationships/image" Target="../media/image64.png"/><Relationship Id="rId23" Type="http://schemas.openxmlformats.org/officeDocument/2006/relationships/image" Target="../media/image91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67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73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0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95973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Co-Packaged Optics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11711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349" imgH="350" progId="TCLayout.ActiveDocument.1">
                  <p:embed/>
                </p:oleObj>
              </mc:Choice>
              <mc:Fallback>
                <p:oleObj name="think-cell 幻灯片" r:id="rId8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0E5FD172-F0A8-5034-8CBA-1F583F5E0DB8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4249034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Why the focus on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</a:t>
            </a:r>
            <a:r>
              <a:rPr lang="en-US" altLang="zh-CN" sz="1600" dirty="0">
                <a:solidFill>
                  <a:prstClr val="black"/>
                </a:solidFill>
              </a:rPr>
              <a:t>move</a:t>
            </a:r>
            <a:r>
              <a:rPr lang="en-US" sz="1600" dirty="0">
                <a:solidFill>
                  <a:prstClr val="black"/>
                </a:solidFill>
              </a:rPr>
              <a:t> from copper to optical, and from pluggable to c</a:t>
            </a:r>
            <a:r>
              <a:rPr lang="en-US" altLang="zh-CN" sz="1600" dirty="0">
                <a:solidFill>
                  <a:prstClr val="black"/>
                </a:solidFill>
              </a:rPr>
              <a:t>o-packaged?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Which segment matters most?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 and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endParaRPr lang="en-US" sz="1600" dirty="0">
              <a:solidFill>
                <a:prstClr val="black"/>
              </a:solidFill>
            </a:endParaRP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C38A9D3-E26D-76B9-5256-41C855B27326}"/>
              </a:ext>
            </a:extLst>
          </p:cNvPr>
          <p:cNvGrpSpPr/>
          <p:nvPr/>
        </p:nvGrpSpPr>
        <p:grpSpPr>
          <a:xfrm>
            <a:off x="1244740" y="1773311"/>
            <a:ext cx="1833093" cy="1492635"/>
            <a:chOff x="1244742" y="2055191"/>
            <a:chExt cx="1833093" cy="1492635"/>
          </a:xfrm>
        </p:grpSpPr>
        <p:sp>
          <p:nvSpPr>
            <p:cNvPr id="59" name="Rectangle 3">
              <a:extLst>
                <a:ext uri="{FF2B5EF4-FFF2-40B4-BE49-F238E27FC236}">
                  <a16:creationId xmlns:a16="http://schemas.microsoft.com/office/drawing/2014/main" id="{66DC64BD-ECC4-3DAC-C3DB-2B0ED0EC975F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gray">
            <a:xfrm>
              <a:off x="1300336" y="2055191"/>
              <a:ext cx="1352711" cy="5207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78998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b="1" dirty="0">
                  <a:solidFill>
                    <a:srgbClr val="0052D9"/>
                  </a:solidFill>
                </a:rPr>
                <a:t>Tech</a:t>
              </a:r>
              <a:endPara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E558451-A235-2B74-CC6E-E9F4D0F630AF}"/>
                </a:ext>
              </a:extLst>
            </p:cNvPr>
            <p:cNvSpPr txBox="1"/>
            <p:nvPr/>
          </p:nvSpPr>
          <p:spPr>
            <a:xfrm>
              <a:off x="1244742" y="2645015"/>
              <a:ext cx="1833093" cy="902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Interconnect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Optical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CPO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9E50D06-AF41-43E8-63B7-1E98F01C22C2}"/>
              </a:ext>
            </a:extLst>
          </p:cNvPr>
          <p:cNvGrpSpPr/>
          <p:nvPr/>
        </p:nvGrpSpPr>
        <p:grpSpPr>
          <a:xfrm>
            <a:off x="1244741" y="4180810"/>
            <a:ext cx="1833093" cy="1581607"/>
            <a:chOff x="1244742" y="4113360"/>
            <a:chExt cx="1833093" cy="1581607"/>
          </a:xfrm>
        </p:grpSpPr>
        <p:sp>
          <p:nvSpPr>
            <p:cNvPr id="62" name="Rectangle 3">
              <a:extLst>
                <a:ext uri="{FF2B5EF4-FFF2-40B4-BE49-F238E27FC236}">
                  <a16:creationId xmlns:a16="http://schemas.microsoft.com/office/drawing/2014/main" id="{AE265D59-EBB0-FF67-33E9-BD13DB5E1BD0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gray">
            <a:xfrm>
              <a:off x="1328241" y="4113360"/>
              <a:ext cx="1721906" cy="5207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78998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solidFill>
                    <a:srgbClr val="0052D9"/>
                  </a:solidFill>
                  <a:effectLst/>
                  <a:uLnTx/>
                  <a:uFillTx/>
                </a:rPr>
                <a:t>Markets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7E11F60-EAF1-1828-DD1D-836B1FC571EE}"/>
                </a:ext>
              </a:extLst>
            </p:cNvPr>
            <p:cNvSpPr txBox="1"/>
            <p:nvPr/>
          </p:nvSpPr>
          <p:spPr>
            <a:xfrm>
              <a:off x="1244742" y="4792156"/>
              <a:ext cx="1833093" cy="902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Sizing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Segments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Players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32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5812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Nvidia, Broadcom, and DeepSeek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Pivots from Copper to Optics;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Launches 2 CPO Switches.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Premieres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490480"/>
            <a:chOff x="8206661" y="1337390"/>
            <a:chExt cx="4031564" cy="4490480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9387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 restricts training, inference, and network strategies;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offers higher bandwidth at better energy efficiency.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Highlights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230833"/>
            <a:chOff x="4154770" y="1381593"/>
            <a:chExt cx="4049178" cy="4230833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089334"/>
              <a:chOff x="4154770" y="1523092"/>
              <a:chExt cx="3657269" cy="4089334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723275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chip;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April.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Accelerates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7830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C0F53BD-CF13-09D7-CD70-30CD58C3C89C}"/>
              </a:ext>
            </a:extLst>
          </p:cNvPr>
          <p:cNvGrpSpPr/>
          <p:nvPr/>
        </p:nvGrpSpPr>
        <p:grpSpPr>
          <a:xfrm>
            <a:off x="1525684" y="1686290"/>
            <a:ext cx="4001871" cy="1366256"/>
            <a:chOff x="248972" y="4321548"/>
            <a:chExt cx="4001871" cy="1366256"/>
          </a:xfrm>
        </p:grpSpPr>
        <p:sp>
          <p:nvSpPr>
            <p:cNvPr id="42" name="Bullet2">
              <a:extLst>
                <a:ext uri="{FF2B5EF4-FFF2-40B4-BE49-F238E27FC236}">
                  <a16:creationId xmlns:a16="http://schemas.microsoft.com/office/drawing/2014/main" id="{AD7E5E9D-5BB8-E5F7-B5D6-8BDBDE8FCCB6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Speed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43" name="Text2">
              <a:extLst>
                <a:ext uri="{FF2B5EF4-FFF2-40B4-BE49-F238E27FC236}">
                  <a16:creationId xmlns:a16="http://schemas.microsoft.com/office/drawing/2014/main" id="{0B1BFAA2-8A23-4D8A-51B5-EAC207FF8428}"/>
                </a:ext>
              </a:extLst>
            </p:cNvPr>
            <p:cNvSpPr>
              <a:spLocks/>
            </p:cNvSpPr>
            <p:nvPr/>
          </p:nvSpPr>
          <p:spPr>
            <a:xfrm flipH="1">
              <a:off x="248972" y="4879942"/>
              <a:ext cx="3378225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/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Low power + extended distance requires reduced data rates or bandwidth.</a:t>
              </a:r>
            </a:p>
          </p:txBody>
        </p:sp>
        <p:sp>
          <p:nvSpPr>
            <p:cNvPr id="41" name="Number2">
              <a:extLst>
                <a:ext uri="{FF2B5EF4-FFF2-40B4-BE49-F238E27FC236}">
                  <a16:creationId xmlns:a16="http://schemas.microsoft.com/office/drawing/2014/main" id="{88D41197-0323-1967-31F4-7F86FD4170ED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1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B9F577-638B-7FAE-9CD2-4143C9451290}"/>
              </a:ext>
            </a:extLst>
          </p:cNvPr>
          <p:cNvGrpSpPr/>
          <p:nvPr/>
        </p:nvGrpSpPr>
        <p:grpSpPr>
          <a:xfrm>
            <a:off x="8202929" y="4727558"/>
            <a:ext cx="3558090" cy="1366256"/>
            <a:chOff x="7960810" y="4321548"/>
            <a:chExt cx="3558090" cy="1366256"/>
          </a:xfrm>
        </p:grpSpPr>
        <p:sp>
          <p:nvSpPr>
            <p:cNvPr id="37" name="Bullet3">
              <a:extLst>
                <a:ext uri="{FF2B5EF4-FFF2-40B4-BE49-F238E27FC236}">
                  <a16:creationId xmlns:a16="http://schemas.microsoft.com/office/drawing/2014/main" id="{5EB07114-1B64-7AB3-881D-2F910A3D00A4}"/>
                </a:ext>
              </a:extLst>
            </p:cNvPr>
            <p:cNvSpPr>
              <a:spLocks/>
            </p:cNvSpPr>
            <p:nvPr/>
          </p:nvSpPr>
          <p:spPr>
            <a:xfrm>
              <a:off x="8584456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Power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38" name="Text3">
              <a:extLst>
                <a:ext uri="{FF2B5EF4-FFF2-40B4-BE49-F238E27FC236}">
                  <a16:creationId xmlns:a16="http://schemas.microsoft.com/office/drawing/2014/main" id="{B0D4B49A-57E2-9478-02C9-086D3221DF1E}"/>
                </a:ext>
              </a:extLst>
            </p:cNvPr>
            <p:cNvSpPr>
              <a:spLocks/>
            </p:cNvSpPr>
            <p:nvPr/>
          </p:nvSpPr>
          <p:spPr>
            <a:xfrm>
              <a:off x="8584456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Long-distance suffers signal attenuation, requiring power compensation.</a:t>
              </a:r>
            </a:p>
            <a:p>
              <a:pPr>
                <a:lnSpc>
                  <a:spcPct val="120000"/>
                </a:lnSpc>
              </a:pP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36" name="Number3">
              <a:extLst>
                <a:ext uri="{FF2B5EF4-FFF2-40B4-BE49-F238E27FC236}">
                  <a16:creationId xmlns:a16="http://schemas.microsoft.com/office/drawing/2014/main" id="{92787A42-58EB-D724-89E3-05CC3AC7C96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60810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3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261C36-B73F-FD1B-4AB6-0A3AF886EE6D}"/>
              </a:ext>
            </a:extLst>
          </p:cNvPr>
          <p:cNvGrpSpPr/>
          <p:nvPr/>
        </p:nvGrpSpPr>
        <p:grpSpPr>
          <a:xfrm>
            <a:off x="459341" y="4721387"/>
            <a:ext cx="3558090" cy="1366256"/>
            <a:chOff x="692753" y="4321548"/>
            <a:chExt cx="3558090" cy="1366256"/>
          </a:xfrm>
        </p:grpSpPr>
        <p:sp>
          <p:nvSpPr>
            <p:cNvPr id="15" name="Bullet2">
              <a:extLst>
                <a:ext uri="{FF2B5EF4-FFF2-40B4-BE49-F238E27FC236}">
                  <a16:creationId xmlns:a16="http://schemas.microsoft.com/office/drawing/2014/main" id="{020D2B8C-297B-1DE8-7205-1FCC7FF548A2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Distance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16" name="Text2">
              <a:extLst>
                <a:ext uri="{FF2B5EF4-FFF2-40B4-BE49-F238E27FC236}">
                  <a16:creationId xmlns:a16="http://schemas.microsoft.com/office/drawing/2014/main" id="{5009F1E3-5AC0-17B2-CC3B-ED261A33494A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High-speed transmission consumes significant power. 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7" name="Number2">
              <a:extLst>
                <a:ext uri="{FF2B5EF4-FFF2-40B4-BE49-F238E27FC236}">
                  <a16:creationId xmlns:a16="http://schemas.microsoft.com/office/drawing/2014/main" id="{15E7B3D2-FCDE-F42D-CD2F-EDACC50481DB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2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460CAD9-B853-308F-68B2-80168C22CC05}"/>
              </a:ext>
            </a:extLst>
          </p:cNvPr>
          <p:cNvSpPr txBox="1"/>
          <p:nvPr/>
        </p:nvSpPr>
        <p:spPr>
          <a:xfrm>
            <a:off x="511331" y="954770"/>
            <a:ext cx="10837646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Bit Error Rate (BER)¹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: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the core metric for IDC data communications, measuring transmission reliability;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As transmission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speed</a:t>
            </a:r>
            <a:r>
              <a:rPr lang="en-US" altLang="zh-CN" dirty="0"/>
              <a:t>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or</a:t>
            </a:r>
            <a:r>
              <a:rPr lang="en-US" altLang="zh-CN" dirty="0"/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distance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increases,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and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power consumption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tighten,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BER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</a:rPr>
              <a:t>increases.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070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6733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352177"/>
              </p:ext>
            </p:extLst>
          </p:nvPr>
        </p:nvGraphicFramePr>
        <p:xfrm>
          <a:off x="654578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110873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110873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518263-54BA-16B5-9CE4-5D013E91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10174152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The copper speed wall in data center: breaking through with optical interconnects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29273" y="605527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8199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43599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448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8110035" y="453585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7026583" y="499203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9149122" y="406736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2470238"/>
              </p:ext>
            </p:extLst>
          </p:nvPr>
        </p:nvGraphicFramePr>
        <p:xfrm>
          <a:off x="40601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224 Gbps =&gt; 448 Gbps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5303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growth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93973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98191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Training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503653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69933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83205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20730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28490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8565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47630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406204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16924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38754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47449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279810" y="393201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20530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28420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26944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28609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61903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52484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01" imgH="401" progId="TCLayout.ActiveDocument.1">
                  <p:embed/>
                </p:oleObj>
              </mc:Choice>
              <mc:Fallback>
                <p:oleObj name="think-cell 幻灯片" r:id="rId17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Intra-rack GPU interconnect: Copper dominates;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/ DC interconnect: Optics dominate.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267426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 m - 3 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.”</a:t>
            </a: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359705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334327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84333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98608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138762" y="5460765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Copper's effective reach: ~ 2.5 m at 112 Gbps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Optics’ effective reach : </a:t>
            </a:r>
            <a:r>
              <a:rPr lang="en-US" altLang="zh-CN" b="1" dirty="0">
                <a:solidFill>
                  <a:srgbClr val="0052D9"/>
                </a:solidFill>
              </a:rPr>
              <a:t>&gt; 100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r>
              <a:rPr lang="en-US" altLang="zh-CN" dirty="0"/>
              <a:t>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4454315"/>
              </p:ext>
            </p:extLst>
          </p:nvPr>
        </p:nvGraphicFramePr>
        <p:xfrm>
          <a:off x="6841656" y="2792616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364824" y="227899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240819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 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515839" y="3822289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593360" y="2396116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100 m – 2 km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14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68811" y="2609427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646309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601408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E7B5A71-1378-25BA-844E-D629AD194426}"/>
              </a:ext>
            </a:extLst>
          </p:cNvPr>
          <p:cNvCxnSpPr>
            <a:cxnSpLocks/>
          </p:cNvCxnSpPr>
          <p:nvPr/>
        </p:nvCxnSpPr>
        <p:spPr>
          <a:xfrm flipH="1">
            <a:off x="7299325" y="46437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Copper interconnect reach: a bottleneck for IDC scaling; Optical interconnect breaks the limit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63193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721583" y="3966369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98450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393329" y="2613147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60438" y="3819525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359727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424656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82428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49" name="Chart 3">
            <a:extLst>
              <a:ext uri="{FF2B5EF4-FFF2-40B4-BE49-F238E27FC236}">
                <a16:creationId xmlns:a16="http://schemas.microsoft.com/office/drawing/2014/main" id="{566F0490-5E95-A7CA-C309-60AE5FD3FC6F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26932529"/>
              </p:ext>
            </p:extLst>
          </p:nvPr>
        </p:nvGraphicFramePr>
        <p:xfrm>
          <a:off x="1406525" y="3460750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3683" name="Text Placeholder 4">
            <a:extLst>
              <a:ext uri="{FF2B5EF4-FFF2-40B4-BE49-F238E27FC236}">
                <a16:creationId xmlns:a16="http://schemas.microsoft.com/office/drawing/2014/main" id="{40C9D0F3-9EA1-4720-9B50-6045296615A3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311400" y="3762375"/>
            <a:ext cx="176213" cy="122238"/>
          </a:xfrm>
          <a:prstGeom prst="rect">
            <a:avLst/>
          </a:prstGeom>
          <a:solidFill>
            <a:srgbClr val="0052D9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FE0833A-3CC1-4BC4-8A2B-13AFF10CEF48}" type="datetime'''''''''''''''''5''''%'''''''">
              <a:rPr lang="en-US" altLang="en-US" sz="800" smtClean="0">
                <a:solidFill>
                  <a:schemeClr val="tx2"/>
                </a:solidFill>
                <a:effectLst/>
                <a:cs typeface="+mn-cs"/>
              </a:rPr>
              <a:pPr/>
              <a:t>5%</a:t>
            </a:fld>
            <a:endParaRPr lang="zh-CN" altLang="en-US" sz="8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3668" name="矩形 3667">
            <a:extLst>
              <a:ext uri="{FF2B5EF4-FFF2-40B4-BE49-F238E27FC236}">
                <a16:creationId xmlns:a16="http://schemas.microsoft.com/office/drawing/2014/main" id="{09265842-5D48-DF77-1DB9-48A60F28BD0A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565150" y="2384425"/>
            <a:ext cx="214313" cy="160338"/>
          </a:xfrm>
          <a:prstGeom prst="rect">
            <a:avLst/>
          </a:prstGeom>
          <a:solidFill>
            <a:srgbClr val="00777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69" name="矩形 3668">
            <a:extLst>
              <a:ext uri="{FF2B5EF4-FFF2-40B4-BE49-F238E27FC236}">
                <a16:creationId xmlns:a16="http://schemas.microsoft.com/office/drawing/2014/main" id="{3DDF94FF-2407-55AC-3862-5EF287818CD1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565150" y="2617788"/>
            <a:ext cx="214313" cy="160338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38B3DEB-EAEE-652B-3140-964C1BFFE05F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30263" y="2379663"/>
            <a:ext cx="26273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cs typeface="+mn-cs"/>
              </a:rPr>
              <a:t>Penetration rate of copper interconnect</a:t>
            </a:r>
            <a:endParaRPr lang="zh-CN" altLang="en-US" sz="1200" dirty="0">
              <a:cs typeface="+mn-cs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7417CC3-A8E4-8849-1E95-60500123EDFB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830263" y="2613025"/>
            <a:ext cx="26019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Penetration rate of optical interconnect</a:t>
            </a:r>
            <a:endParaRPr lang="zh-CN" altLang="en-US" sz="1200" dirty="0">
              <a:cs typeface="+mn-cs"/>
            </a:endParaRPr>
          </a:p>
        </p:txBody>
      </p:sp>
      <p:graphicFrame>
        <p:nvGraphicFramePr>
          <p:cNvPr id="3844" name="Chart 3">
            <a:extLst>
              <a:ext uri="{FF2B5EF4-FFF2-40B4-BE49-F238E27FC236}">
                <a16:creationId xmlns:a16="http://schemas.microsoft.com/office/drawing/2014/main" id="{8B981A2F-E10E-BA05-926D-EC27B44F7297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573181827"/>
              </p:ext>
            </p:extLst>
          </p:nvPr>
        </p:nvGraphicFramePr>
        <p:xfrm>
          <a:off x="4265613" y="2776538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graphicFrame>
        <p:nvGraphicFramePr>
          <p:cNvPr id="3853" name="Chart 3">
            <a:extLst>
              <a:ext uri="{FF2B5EF4-FFF2-40B4-BE49-F238E27FC236}">
                <a16:creationId xmlns:a16="http://schemas.microsoft.com/office/drawing/2014/main" id="{4A97BCBE-CA54-4EA9-517D-560EDF608698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936780188"/>
              </p:ext>
            </p:extLst>
          </p:nvPr>
        </p:nvGraphicFramePr>
        <p:xfrm>
          <a:off x="3365500" y="5143500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046" name="Text Placeholder 4">
            <a:extLst>
              <a:ext uri="{FF2B5EF4-FFF2-40B4-BE49-F238E27FC236}">
                <a16:creationId xmlns:a16="http://schemas.microsoft.com/office/drawing/2014/main" id="{6DE8F834-8B0C-E30E-39B0-DEA6DFAB3B7A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162425" y="5472113"/>
            <a:ext cx="233363" cy="122238"/>
          </a:xfrm>
          <a:prstGeom prst="rect">
            <a:avLst/>
          </a:prstGeom>
          <a:solidFill>
            <a:srgbClr val="007770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962413D-CA9F-4FA3-81CA-1F2B29258675}" type="datetime'1''''''''''''''0''''''%'''''''''''''''''''''''''''''''''''''''">
              <a:rPr lang="en-US" altLang="en-US" sz="800" smtClean="0">
                <a:solidFill>
                  <a:schemeClr val="tx2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10%</a:t>
            </a:fld>
            <a:endParaRPr lang="zh-CN" altLang="en-US" sz="800" dirty="0">
              <a:solidFill>
                <a:schemeClr val="tx2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97391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04" imgH="405" progId="TCLayout.ActiveDocument.1">
                  <p:embed/>
                </p:oleObj>
              </mc:Choice>
              <mc:Fallback>
                <p:oleObj name="think-cell 幻灯片" r:id="rId17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7519989" y="1278426"/>
            <a:ext cx="4062797" cy="453299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7768907" y="1634102"/>
            <a:ext cx="3563277" cy="300139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3-4x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86" name="Chart 3">
            <a:extLst>
              <a:ext uri="{FF2B5EF4-FFF2-40B4-BE49-F238E27FC236}">
                <a16:creationId xmlns:a16="http://schemas.microsoft.com/office/drawing/2014/main" id="{0332C7DB-05D7-749E-163B-FA86688A67C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96322766"/>
              </p:ext>
            </p:extLst>
          </p:nvPr>
        </p:nvGraphicFramePr>
        <p:xfrm>
          <a:off x="1824038" y="3876675"/>
          <a:ext cx="4713287" cy="1876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V="1">
            <a:off x="4452938" y="3865563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452938" y="3865563"/>
            <a:ext cx="13335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>
            <a:off x="5786438" y="3865563"/>
            <a:ext cx="0" cy="10906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DC4CD58A-1D30-4943-B58C-A25C614A1318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3119438" y="5081588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686050" y="4806950"/>
            <a:ext cx="8667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33338" tIns="0" rIns="333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3.5-5 W</a:t>
            </a:r>
            <a:endParaRPr lang="zh-CN" altLang="en-US" sz="18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522538" y="5549900"/>
            <a:ext cx="11938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Copper (AEC</a:t>
            </a:r>
            <a:r>
              <a:rPr lang="en-US" altLang="zh-CN" sz="1400" baseline="30000" dirty="0">
                <a:solidFill>
                  <a:srgbClr val="000000"/>
                </a:solidFill>
                <a:cs typeface="+mn-cs"/>
                <a:sym typeface="+mn-lt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)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4152900" y="4676775"/>
            <a:ext cx="6000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bg1"/>
                </a:solidFill>
                <a:cs typeface="+mn-ea"/>
                <a:sym typeface="+mn-lt"/>
              </a:rPr>
              <a:t>15 W</a:t>
            </a:r>
            <a:endParaRPr lang="zh-CN" altLang="en-U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4318000" y="5549900"/>
            <a:ext cx="269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PO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5454650" y="5105400"/>
            <a:ext cx="663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tx2"/>
                </a:solidFill>
                <a:cs typeface="+mn-cs"/>
              </a:rPr>
              <a:t>5.5 W</a:t>
            </a:r>
            <a:endParaRPr lang="zh-CN" altLang="en-US" sz="1800" b="1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5588000" y="5549900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  <a:sym typeface="+mn-lt"/>
              </a:rPr>
              <a:pPr/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741863" y="3671888"/>
            <a:ext cx="755650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508DA37-3689-4A53-8EFA-A7E63FCBBF8B}" type="datetime'''''''-''''''''''''''''''''6''''''''''3%'''''''">
              <a:rPr lang="en-US" altLang="en-US" sz="1800" b="1" smtClean="0">
                <a:effectLst/>
                <a:cs typeface="+mn-cs"/>
              </a:rPr>
              <a:pPr/>
              <a:t>-63%</a:t>
            </a:fld>
            <a:endParaRPr lang="zh-CN" altLang="en-US" sz="1800" b="1" dirty="0">
              <a:cs typeface="+mn-cs"/>
              <a:sym typeface="+mn-lt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609214" y="1783361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Power issues in copper-to-optical transition; CPO cuts power consumption significantly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AEC (Active ​Electrical ​Cable) integrates signal enhancement chips (re-timer) to extend the reach, using more power (3.5-5W with a 5-meter reach).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546100" y="134998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0E2481-139C-4146-EA11-E128D6775A2E}"/>
              </a:ext>
            </a:extLst>
          </p:cNvPr>
          <p:cNvSpPr/>
          <p:nvPr/>
        </p:nvSpPr>
        <p:spPr>
          <a:xfrm>
            <a:off x="12321763" y="0"/>
            <a:ext cx="1989145" cy="13615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不同互联方式的功耗对应的距离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@sidong</a:t>
            </a:r>
            <a:endParaRPr 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859816" y="3428999"/>
            <a:ext cx="916597" cy="22510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859816" y="2338575"/>
            <a:ext cx="916597" cy="85344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(&lt;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697BAD-D444-13BD-DF04-AB02E7BFFE58}"/>
              </a:ext>
            </a:extLst>
          </p:cNvPr>
          <p:cNvSpPr txBox="1"/>
          <p:nvPr/>
        </p:nvSpPr>
        <p:spPr>
          <a:xfrm>
            <a:off x="3063875" y="2501430"/>
            <a:ext cx="1312863" cy="69058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buNone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Direct Attach Copper Cable</a:t>
            </a:r>
          </a:p>
          <a:p>
            <a:pPr>
              <a:buNone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(DAC)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>
            <a:off x="2101849" y="2259348"/>
            <a:ext cx="1603375" cy="32861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B059BF-3052-01F3-8755-6F742A360A56}"/>
              </a:ext>
            </a:extLst>
          </p:cNvPr>
          <p:cNvSpPr txBox="1"/>
          <p:nvPr/>
        </p:nvSpPr>
        <p:spPr>
          <a:xfrm>
            <a:off x="2102643" y="3376611"/>
            <a:ext cx="1601788" cy="32861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or optics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2644037"/>
            <a:ext cx="628650" cy="48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02984D2D-D2E6-38E8-62AC-3208B12CA8AE}"/>
              </a:ext>
            </a:extLst>
          </p:cNvPr>
          <p:cNvSpPr txBox="1"/>
          <p:nvPr/>
        </p:nvSpPr>
        <p:spPr>
          <a:xfrm>
            <a:off x="4741863" y="2444216"/>
            <a:ext cx="1312863" cy="69058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buNone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&lt; 0.1 W</a:t>
            </a:r>
            <a:endParaRPr kumimoji="1"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8" name="Picture 4" descr="image-20250810150708856">
            <a:extLst>
              <a:ext uri="{FF2B5EF4-FFF2-40B4-BE49-F238E27FC236}">
                <a16:creationId xmlns:a16="http://schemas.microsoft.com/office/drawing/2014/main" id="{28C774C1-DAC2-FC8F-8A8F-864194456A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2586040" y="4420194"/>
            <a:ext cx="600074" cy="3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3790902" y="3714535"/>
            <a:ext cx="627697" cy="38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86375" y="4552446"/>
            <a:ext cx="390314" cy="375626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/>
          <p:nvPr/>
        </p:nvCxnSpPr>
        <p:spPr>
          <a:xfrm>
            <a:off x="859816" y="3310359"/>
            <a:ext cx="55351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84882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620789" y="2303966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193560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2865436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150331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4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0700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4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176219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069996" y="2303966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176219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12.8Tbps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0231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PO is </a:t>
            </a:r>
            <a:r>
              <a:rPr lang="en-US" altLang="zh-CN" dirty="0">
                <a:cs typeface="+mn-ea"/>
              </a:rPr>
              <a:t>currently the </a:t>
            </a:r>
            <a:r>
              <a:rPr lang="en-US" altLang="zh-CN" dirty="0">
                <a:latin typeface="+mn-lt"/>
                <a:ea typeface="+mn-ea"/>
                <a:cs typeface="+mn-ea"/>
              </a:rPr>
              <a:t>mainstream choice while tech giants target CPO soon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591800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627563" cy="442913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Medium: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12BFE29-888F-9E49-4EC1-44B14D6925B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101850" y="17780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弧 155">
            <a:extLst>
              <a:ext uri="{FF2B5EF4-FFF2-40B4-BE49-F238E27FC236}">
                <a16:creationId xmlns:a16="http://schemas.microsoft.com/office/drawing/2014/main" id="{2951776E-1A62-A9CD-5D1E-9DF41ED6A0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2101850" y="1778000"/>
            <a:ext cx="187325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F0B813F-32EE-EB79-187C-85AF6F62ABF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616700" y="17907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8" name="弧 155">
            <a:extLst>
              <a:ext uri="{FF2B5EF4-FFF2-40B4-BE49-F238E27FC236}">
                <a16:creationId xmlns:a16="http://schemas.microsoft.com/office/drawing/2014/main" id="{8979A53B-A0DE-2250-D385-2828F07FC3C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6616701" y="179070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609890-EC78-519E-A870-70859BE2F8E7}"/>
              </a:ext>
            </a:extLst>
          </p:cNvPr>
          <p:cNvSpPr/>
          <p:nvPr/>
        </p:nvSpPr>
        <p:spPr>
          <a:xfrm>
            <a:off x="2046288" y="2230438"/>
            <a:ext cx="488950" cy="488950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CF9ED99-140F-0C08-740C-0D6F2007712D}"/>
              </a:ext>
            </a:extLst>
          </p:cNvPr>
          <p:cNvGrpSpPr/>
          <p:nvPr/>
        </p:nvGrpSpPr>
        <p:grpSpPr>
          <a:xfrm>
            <a:off x="6681788" y="2314575"/>
            <a:ext cx="2971800" cy="307975"/>
            <a:chOff x="5410439" y="2582719"/>
            <a:chExt cx="2970624" cy="30777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6DC493-6BA9-C9D8-1CDB-AB108B52E3F6}"/>
                </a:ext>
              </a:extLst>
            </p:cNvPr>
            <p:cNvSpPr/>
            <p:nvPr/>
          </p:nvSpPr>
          <p:spPr>
            <a:xfrm>
              <a:off x="5410439" y="2702157"/>
              <a:ext cx="100683" cy="100683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B844F1B-C95E-1A69-4E59-4E369A0B197F}"/>
                </a:ext>
              </a:extLst>
            </p:cNvPr>
            <p:cNvSpPr txBox="1"/>
            <p:nvPr/>
          </p:nvSpPr>
          <p:spPr>
            <a:xfrm>
              <a:off x="5593413" y="2582719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$10mn-scale</a:t>
              </a:r>
              <a:endPara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667125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50%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Q4'24: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370046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Q2’25: Spectrum-X CPO switch delivery.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Q2’26E: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delivery.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626725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56339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5" imgW="401" imgH="401" progId="TCLayout.ActiveDocument.1">
                  <p:embed/>
                </p:oleObj>
              </mc:Choice>
              <mc:Fallback>
                <p:oleObj name="think-cell 幻灯片" r:id="rId25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8-10W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63D56B0-4EE6-27F5-93FD-1B38E75F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Long-term path: CPO; Short-term path: multiple transition options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276308"/>
            <a:ext cx="8183112" cy="4343337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6418" y="974601"/>
            <a:ext cx="203381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Barriers to Adoption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18143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0B33B3F5-F303-8C26-795F-B128DBE985D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61980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Low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A692F1EA-F65B-71F9-F34E-3AE61D4EF08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98833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High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032566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F2F2F2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72986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19553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8571813" y="4390110"/>
            <a:ext cx="2815145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solidFill>
                  <a:srgbClr val="0052D9"/>
                </a:solidFill>
                <a:ea typeface="Verdana" pitchFamily="34" charset="0"/>
              </a:rPr>
              <a:t>Short-term: no </a:t>
            </a:r>
            <a:r>
              <a:rPr lang="en-US" altLang="zh-CN" sz="1600" b="1" dirty="0">
                <a:solidFill>
                  <a:srgbClr val="0052D9"/>
                </a:solidFill>
                <a:ea typeface="Verdana" pitchFamily="34" charset="0"/>
              </a:rPr>
              <a:t>consensus solutions</a:t>
            </a:r>
            <a:endParaRPr lang="en-US" sz="1600" b="1" dirty="0">
              <a:solidFill>
                <a:srgbClr val="0052D9"/>
              </a:solidFill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8510458" y="2598431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192DB1D0-E9EF-7F5F-4DBD-5D1458C34DB8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13684583" y="3547389"/>
            <a:ext cx="2723335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ea typeface="Verdana" pitchFamily="34" charset="0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88FF1BB7-D136-FCD2-72A4-FBB3A2A7833A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4530406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Medium</a:t>
            </a: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495252" y="-1040427"/>
            <a:ext cx="5478844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39429" y="2042507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11140" y="4377771"/>
            <a:ext cx="921948" cy="524429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328052"/>
            <a:ext cx="1107757" cy="61175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4102635" y="4333888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316416" y="2294109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2022-2025: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97505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>
                <a:solidFill>
                  <a:sysClr val="windowText" lastClr="000000"/>
                </a:solidFill>
              </a:rPr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302320" y="2009242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85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 interconnect by distance: scale-up vs scale-out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(&lt;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(&gt;&gt;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0909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35A3A5E-53B1-BB1F-17FD-2FB400D9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890507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cs typeface="+mn-ea"/>
              </a:rPr>
              <a:t>​Overseas: Scale-out first; Domestic: Scale-up or scale-out undetermined 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6015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5305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063976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 first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323300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Priority undetermined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1943313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19772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1929707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589844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19145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589844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1495546" y="4257842"/>
            <a:ext cx="2860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6206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6" y="628765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Sitrus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Official Web Site.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27520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591365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6206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27520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858551" y="5039160"/>
            <a:ext cx="3448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optics essential for scale-up.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B9130E-3826-3AAE-6107-DF2BA19FAC94}"/>
              </a:ext>
            </a:extLst>
          </p:cNvPr>
          <p:cNvSpPr txBox="1"/>
          <p:nvPr/>
        </p:nvSpPr>
        <p:spPr>
          <a:xfrm>
            <a:off x="6858552" y="4257842"/>
            <a:ext cx="2895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95546" y="5294877"/>
            <a:ext cx="3454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dominates in the short-term;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Mass production: 2027-2028.</a:t>
            </a:r>
            <a:endParaRPr lang="zh-CN" altLang="zh-CN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8" y="3736218"/>
            <a:ext cx="10411818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</p:cNvCxnSpPr>
          <p:nvPr/>
        </p:nvCxnSpPr>
        <p:spPr>
          <a:xfrm>
            <a:off x="992938" y="4856165"/>
            <a:ext cx="520590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34">
            <a:extLst>
              <a:ext uri="{FF2B5EF4-FFF2-40B4-BE49-F238E27FC236}">
                <a16:creationId xmlns:a16="http://schemas.microsoft.com/office/drawing/2014/main" id="{66CFC39C-4D69-9C82-182B-5DEC4C0CFC2B}"/>
              </a:ext>
            </a:extLst>
          </p:cNvPr>
          <p:cNvCxnSpPr>
            <a:cxnSpLocks/>
            <a:stCxn id="56" idx="0"/>
            <a:endCxn id="56" idx="2"/>
          </p:cNvCxnSpPr>
          <p:nvPr/>
        </p:nvCxnSpPr>
        <p:spPr>
          <a:xfrm>
            <a:off x="6198847" y="3736218"/>
            <a:ext cx="0" cy="223989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223489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b="1" dirty="0">
                <a:solidFill>
                  <a:srgbClr val="0052D9"/>
                </a:solidFill>
                <a:latin typeface="Arial"/>
                <a:sym typeface="Futura"/>
              </a:rPr>
              <a:t>Optical interconnect fits first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223489" y="4914694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dirty="0">
                <a:latin typeface="Arial"/>
                <a:sym typeface="Futura"/>
              </a:rPr>
              <a:t>Optical interconnect</a:t>
            </a:r>
            <a:r>
              <a:rPr lang="en-US" altLang="zh-CN" sz="1800" dirty="0">
                <a:latin typeface="Arial"/>
                <a:sym typeface="Futura"/>
              </a:rPr>
              <a:t> adopts in the long-term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FE6ECF-F5D4-C801-6067-A3A43188B6FB}"/>
              </a:ext>
            </a:extLst>
          </p:cNvPr>
          <p:cNvSpPr txBox="1"/>
          <p:nvPr/>
        </p:nvSpPr>
        <p:spPr>
          <a:xfrm>
            <a:off x="6486954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dirty="0">
                <a:latin typeface="Arial"/>
                <a:sym typeface="Futura"/>
              </a:rPr>
              <a:t>Optical interconnect critical in both </a:t>
            </a:r>
            <a:r>
              <a:rPr lang="en-US" altLang="zh-CN" dirty="0"/>
              <a:t>scenarios</a:t>
            </a:r>
            <a:endParaRPr lang="en-US" altLang="zh-CN" sz="1800" dirty="0"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5305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96568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2673095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6378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0741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altLang="zh-CN" dirty="0">
                <a:latin typeface="+mn-lt"/>
                <a:cs typeface="+mn-ea"/>
              </a:rPr>
              <a:t>Overseas: pursue scale-out &amp; scale-up in parallel; CPO initial focus on scale-out (1-2 Years)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746750"/>
            <a:ext cx="936104" cy="57257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Strategy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129649"/>
            <a:ext cx="936104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 roadmap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2572431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56880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69709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58574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7570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123898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129247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123173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131662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34566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230312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23031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4236020"/>
            <a:ext cx="936104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roadmap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794590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 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Transitioning from copper to CPO.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4699175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1853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1940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6929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1940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6929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4699175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2610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29459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5499383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5499383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982873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123144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746749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Betting on CPO to expand from scale-out to scale-up in 5 years.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2303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193851" y="46991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Volume production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3945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7417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7537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2794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1940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293849" y="36929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26: Volume production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All dates refer to mass production.​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399243" y="5295410"/>
            <a:ext cx="464136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​Scale-out: ~2026​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​Scale-up: ~2028 (per Broadcom)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756EAC-B52C-DC4A-52A8-1CCF38B5A7AA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0247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44090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53ED52-958D-42EB-5D68-EE7AA6A2B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4186" y="971862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22091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43693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8B021EB7-28CB-335B-0718-DFB63C8F947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40247823"/>
              </p:ext>
            </p:extLst>
          </p:nvPr>
        </p:nvGraphicFramePr>
        <p:xfrm>
          <a:off x="236538" y="2859088"/>
          <a:ext cx="295275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2832100"/>
            <a:ext cx="0" cy="17176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2681288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0" name="Chart 3">
            <a:extLst>
              <a:ext uri="{FF2B5EF4-FFF2-40B4-BE49-F238E27FC236}">
                <a16:creationId xmlns:a16="http://schemas.microsoft.com/office/drawing/2014/main" id="{2A4C4DF0-9FA4-6081-971C-2B8B09D34679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59717625"/>
              </p:ext>
            </p:extLst>
          </p:nvPr>
        </p:nvGraphicFramePr>
        <p:xfrm>
          <a:off x="3205163" y="2859088"/>
          <a:ext cx="229870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2832100"/>
            <a:ext cx="0" cy="1077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26812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55" name="Chart 3">
            <a:extLst>
              <a:ext uri="{FF2B5EF4-FFF2-40B4-BE49-F238E27FC236}">
                <a16:creationId xmlns:a16="http://schemas.microsoft.com/office/drawing/2014/main" id="{F16EA35B-7C0B-66AC-0D88-7AEE63BFFA46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69752568"/>
              </p:ext>
            </p:extLst>
          </p:nvPr>
        </p:nvGraphicFramePr>
        <p:xfrm>
          <a:off x="8926513" y="224472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43217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43217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166395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44090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33203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33203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32727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32727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35902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134808249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0C3AAC-2373-323E-222A-B6DC4757DCA5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83568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1" imgW="349" imgH="350" progId="TCLayout.ActiveDocument.1">
                  <p:embed/>
                </p:oleObj>
              </mc:Choice>
              <mc:Fallback>
                <p:oleObj name="think-cell 幻灯片" r:id="rId31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lvl="0">
              <a:defRPr/>
            </a:pPr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CPO: a multi-billion-dollar market paved by data rate scaling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133321FE-471A-9D58-E3A4-347153EAA1B8}"/>
              </a:ext>
            </a:extLst>
          </p:cNvPr>
          <p:cNvSpPr txBox="1">
            <a:spLocks/>
          </p:cNvSpPr>
          <p:nvPr/>
        </p:nvSpPr>
        <p:spPr bwMode="gray">
          <a:xfrm>
            <a:off x="1041329" y="1720374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6491FCF5-AD49-434C-5A20-FF06D36E6CB1}"/>
              </a:ext>
            </a:extLst>
          </p:cNvPr>
          <p:cNvSpPr txBox="1">
            <a:spLocks/>
          </p:cNvSpPr>
          <p:nvPr/>
        </p:nvSpPr>
        <p:spPr bwMode="gray">
          <a:xfrm>
            <a:off x="1041328" y="3902149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9B00FACC-372C-5C1D-5048-D7C653DF206B}"/>
              </a:ext>
            </a:extLst>
          </p:cNvPr>
          <p:cNvSpPr txBox="1">
            <a:spLocks/>
          </p:cNvSpPr>
          <p:nvPr/>
        </p:nvSpPr>
        <p:spPr bwMode="gray">
          <a:xfrm>
            <a:off x="1041329" y="5215567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AAD5A-F8E2-104B-6B50-9D8452BBF226}"/>
              </a:ext>
            </a:extLst>
          </p:cNvPr>
          <p:cNvSpPr txBox="1"/>
          <p:nvPr/>
        </p:nvSpPr>
        <p:spPr>
          <a:xfrm>
            <a:off x="241089" y="908427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4CFA27-1578-017B-51D5-05E1E2E9944F}"/>
              </a:ext>
            </a:extLst>
          </p:cNvPr>
          <p:cNvSpPr txBox="1"/>
          <p:nvPr/>
        </p:nvSpPr>
        <p:spPr>
          <a:xfrm>
            <a:off x="1194419" y="901967"/>
            <a:ext cx="199764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$1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0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7A51EBDC-CB07-8627-0006-B31EF5BB4551}"/>
              </a:ext>
            </a:extLst>
          </p:cNvPr>
          <p:cNvCxnSpPr>
            <a:cxnSpLocks/>
            <a:stCxn id="3" idx="2"/>
            <a:endCxn id="16" idx="1"/>
          </p:cNvCxnSpPr>
          <p:nvPr/>
        </p:nvCxnSpPr>
        <p:spPr>
          <a:xfrm rot="16200000" flipH="1">
            <a:off x="646010" y="1448165"/>
            <a:ext cx="606445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26AFD03A-67CB-4AE1-FEED-B5A5484B352C}"/>
              </a:ext>
            </a:extLst>
          </p:cNvPr>
          <p:cNvCxnSpPr>
            <a:cxnSpLocks/>
            <a:stCxn id="3" idx="2"/>
            <a:endCxn id="17" idx="1"/>
          </p:cNvCxnSpPr>
          <p:nvPr/>
        </p:nvCxnSpPr>
        <p:spPr>
          <a:xfrm rot="16200000" flipH="1">
            <a:off x="-444878" y="2539054"/>
            <a:ext cx="2788220" cy="184192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E224059-1B99-F5CF-A4B7-F2683AF536C2}"/>
              </a:ext>
            </a:extLst>
          </p:cNvPr>
          <p:cNvCxnSpPr>
            <a:cxnSpLocks/>
            <a:stCxn id="3" idx="2"/>
            <a:endCxn id="18" idx="1"/>
          </p:cNvCxnSpPr>
          <p:nvPr/>
        </p:nvCxnSpPr>
        <p:spPr>
          <a:xfrm rot="16200000" flipH="1">
            <a:off x="-1101587" y="3195762"/>
            <a:ext cx="4101638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FB2F7F-8885-41A9-3656-5B3F067CEC91}"/>
              </a:ext>
            </a:extLst>
          </p:cNvPr>
          <p:cNvSpPr txBox="1"/>
          <p:nvPr/>
        </p:nvSpPr>
        <p:spPr>
          <a:xfrm>
            <a:off x="1177209" y="2010956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DDAB04C4-EB46-7D5D-3566-ADC7163CC7A3}"/>
              </a:ext>
            </a:extLst>
          </p:cNvPr>
          <p:cNvSpPr txBox="1">
            <a:spLocks/>
          </p:cNvSpPr>
          <p:nvPr/>
        </p:nvSpPr>
        <p:spPr bwMode="gray">
          <a:xfrm>
            <a:off x="4173245" y="1662305"/>
            <a:ext cx="1922753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6" name="Textplatzhalter 9">
            <a:extLst>
              <a:ext uri="{FF2B5EF4-FFF2-40B4-BE49-F238E27FC236}">
                <a16:creationId xmlns:a16="http://schemas.microsoft.com/office/drawing/2014/main" id="{5EF8663E-051B-B4A4-54DB-38B83B7C0B33}"/>
              </a:ext>
            </a:extLst>
          </p:cNvPr>
          <p:cNvSpPr txBox="1">
            <a:spLocks/>
          </p:cNvSpPr>
          <p:nvPr/>
        </p:nvSpPr>
        <p:spPr bwMode="gray">
          <a:xfrm>
            <a:off x="4173245" y="2985404"/>
            <a:ext cx="3147935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53AB518C-C4AA-2D26-2D1E-648D1301FD07}"/>
              </a:ext>
            </a:extLst>
          </p:cNvPr>
          <p:cNvCxnSpPr>
            <a:cxnSpLocks/>
            <a:stCxn id="44" idx="1"/>
            <a:endCxn id="1031" idx="1"/>
          </p:cNvCxnSpPr>
          <p:nvPr/>
        </p:nvCxnSpPr>
        <p:spPr>
          <a:xfrm>
            <a:off x="3168319" y="2010956"/>
            <a:ext cx="801277" cy="64113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7F350D-6B79-18FD-51E5-6B5B0A7A3634}"/>
              </a:ext>
            </a:extLst>
          </p:cNvPr>
          <p:cNvGrpSpPr/>
          <p:nvPr/>
        </p:nvGrpSpPr>
        <p:grpSpPr>
          <a:xfrm>
            <a:off x="4964140" y="1199243"/>
            <a:ext cx="886779" cy="257609"/>
            <a:chOff x="5019885" y="4088857"/>
            <a:chExt cx="969121" cy="350678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740A79A-8726-4776-9DD3-2CE7E1AFE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A3C19EEB-AA1B-8A22-383D-36E1201DD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024" name="Textplatzhalter 9">
            <a:extLst>
              <a:ext uri="{FF2B5EF4-FFF2-40B4-BE49-F238E27FC236}">
                <a16:creationId xmlns:a16="http://schemas.microsoft.com/office/drawing/2014/main" id="{1332662F-95E6-6C6C-14F0-42E36CBF7D68}"/>
              </a:ext>
            </a:extLst>
          </p:cNvPr>
          <p:cNvSpPr txBox="1">
            <a:spLocks/>
          </p:cNvSpPr>
          <p:nvPr/>
        </p:nvSpPr>
        <p:spPr bwMode="gray">
          <a:xfrm>
            <a:off x="4173245" y="2103338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032" name="组合 1031">
            <a:extLst>
              <a:ext uri="{FF2B5EF4-FFF2-40B4-BE49-F238E27FC236}">
                <a16:creationId xmlns:a16="http://schemas.microsoft.com/office/drawing/2014/main" id="{1D87FE20-FB05-1D1F-2AFD-520976D32D80}"/>
              </a:ext>
            </a:extLst>
          </p:cNvPr>
          <p:cNvGrpSpPr/>
          <p:nvPr/>
        </p:nvGrpSpPr>
        <p:grpSpPr>
          <a:xfrm>
            <a:off x="4997104" y="2534572"/>
            <a:ext cx="1124028" cy="256470"/>
            <a:chOff x="4391911" y="2529715"/>
            <a:chExt cx="1124028" cy="256470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C3BE9785-5F82-55B9-BDDA-BA31D657A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E2DB309D-C908-878B-CC14-DA377EDBB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oogle Cloud Logo - Significado, História e PNG">
              <a:extLst>
                <a:ext uri="{FF2B5EF4-FFF2-40B4-BE49-F238E27FC236}">
                  <a16:creationId xmlns:a16="http://schemas.microsoft.com/office/drawing/2014/main" id="{6975AF66-40D0-D28E-8A61-2D0CBBEF7F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7" name="Textplatzhalter 9">
            <a:extLst>
              <a:ext uri="{FF2B5EF4-FFF2-40B4-BE49-F238E27FC236}">
                <a16:creationId xmlns:a16="http://schemas.microsoft.com/office/drawing/2014/main" id="{22552676-7B18-0D9A-89FB-138C0250C458}"/>
              </a:ext>
            </a:extLst>
          </p:cNvPr>
          <p:cNvSpPr txBox="1">
            <a:spLocks/>
          </p:cNvSpPr>
          <p:nvPr/>
        </p:nvSpPr>
        <p:spPr bwMode="gray">
          <a:xfrm>
            <a:off x="4173245" y="3426437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029" name="Textplatzhalter 9">
            <a:extLst>
              <a:ext uri="{FF2B5EF4-FFF2-40B4-BE49-F238E27FC236}">
                <a16:creationId xmlns:a16="http://schemas.microsoft.com/office/drawing/2014/main" id="{E2B009F4-8061-4E51-9FD0-C395BF5B0898}"/>
              </a:ext>
            </a:extLst>
          </p:cNvPr>
          <p:cNvSpPr txBox="1">
            <a:spLocks/>
          </p:cNvSpPr>
          <p:nvPr/>
        </p:nvSpPr>
        <p:spPr bwMode="gray">
          <a:xfrm>
            <a:off x="3967309" y="1221272"/>
            <a:ext cx="953509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031" name="Textplatzhalter 9">
            <a:extLst>
              <a:ext uri="{FF2B5EF4-FFF2-40B4-BE49-F238E27FC236}">
                <a16:creationId xmlns:a16="http://schemas.microsoft.com/office/drawing/2014/main" id="{3031B129-A9F8-A3CA-9A25-09FCA5061D45}"/>
              </a:ext>
            </a:extLst>
          </p:cNvPr>
          <p:cNvSpPr txBox="1">
            <a:spLocks/>
          </p:cNvSpPr>
          <p:nvPr/>
        </p:nvSpPr>
        <p:spPr bwMode="gray">
          <a:xfrm>
            <a:off x="3969596" y="2544371"/>
            <a:ext cx="9707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034" name="连接符: 肘形 1033">
            <a:extLst>
              <a:ext uri="{FF2B5EF4-FFF2-40B4-BE49-F238E27FC236}">
                <a16:creationId xmlns:a16="http://schemas.microsoft.com/office/drawing/2014/main" id="{70840A1C-CF44-1D56-14C2-41FEFB5DCBAC}"/>
              </a:ext>
            </a:extLst>
          </p:cNvPr>
          <p:cNvCxnSpPr>
            <a:cxnSpLocks/>
            <a:stCxn id="44" idx="1"/>
            <a:endCxn id="1029" idx="1"/>
          </p:cNvCxnSpPr>
          <p:nvPr/>
        </p:nvCxnSpPr>
        <p:spPr>
          <a:xfrm flipV="1">
            <a:off x="3168319" y="1328994"/>
            <a:ext cx="798990" cy="681962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35" name="Chart 3">
            <a:extLst>
              <a:ext uri="{FF2B5EF4-FFF2-40B4-BE49-F238E27FC236}">
                <a16:creationId xmlns:a16="http://schemas.microsoft.com/office/drawing/2014/main" id="{BB66B055-19F1-1363-64C4-78015BAD19D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39915910"/>
              </p:ext>
            </p:extLst>
          </p:nvPr>
        </p:nvGraphicFramePr>
        <p:xfrm>
          <a:off x="3949700" y="394176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8"/>
          </a:graphicData>
        </a:graphic>
      </p:graphicFrame>
      <p:sp>
        <p:nvSpPr>
          <p:cNvPr id="1122" name="Text Placeholder 4">
            <a:extLst>
              <a:ext uri="{FF2B5EF4-FFF2-40B4-BE49-F238E27FC236}">
                <a16:creationId xmlns:a16="http://schemas.microsoft.com/office/drawing/2014/main" id="{B06CF0C9-E443-79E3-28D0-5033F94EE76B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3757613" y="46815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7867155-0C77-46BF-9F6A-EEC40F0A4E8A}" type="datetime'''''''''''''''''''''''''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124" name="Text Placeholder 4">
            <a:extLst>
              <a:ext uri="{FF2B5EF4-FFF2-40B4-BE49-F238E27FC236}">
                <a16:creationId xmlns:a16="http://schemas.microsoft.com/office/drawing/2014/main" id="{BCCCB18C-3566-F8EA-669F-42EB6856D799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3500438" y="4300538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E6B8691-5F22-4F76-A802-44B440702DB6}" type="datetime'''''''''''''''''''20''''''''''''''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20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217" name="Text Placeholder 4">
            <a:extLst>
              <a:ext uri="{FF2B5EF4-FFF2-40B4-BE49-F238E27FC236}">
                <a16:creationId xmlns:a16="http://schemas.microsoft.com/office/drawing/2014/main" id="{709388AA-EE20-F5DD-D175-9FA72E6DD201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500438" y="39179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242DE458-4F87-444A-A88B-4207F774D989}" type="datetime'''4''''''''''''''''0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40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061" name="Text Placeholder 4">
            <a:extLst>
              <a:ext uri="{FF2B5EF4-FFF2-40B4-BE49-F238E27FC236}">
                <a16:creationId xmlns:a16="http://schemas.microsoft.com/office/drawing/2014/main" id="{330B9421-81E8-3987-E0F4-28829518F75A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3868738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5A349D7-288B-4048-8601-5F55D45DFB5A}" type="datetime'''''''''''''''''''''''2''6''E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062" name="Text Placeholder 4">
            <a:extLst>
              <a:ext uri="{FF2B5EF4-FFF2-40B4-BE49-F238E27FC236}">
                <a16:creationId xmlns:a16="http://schemas.microsoft.com/office/drawing/2014/main" id="{988E448E-8B77-1400-E19A-6A3783D7276F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49117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DCB31A-94AF-4E5F-A6D4-9E5E117C7FEC}" type="datetime'2''7''''''''''''''''''''''''''''''''''''''''''E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52" name="Text Placeholder 4">
            <a:extLst>
              <a:ext uri="{FF2B5EF4-FFF2-40B4-BE49-F238E27FC236}">
                <a16:creationId xmlns:a16="http://schemas.microsoft.com/office/drawing/2014/main" id="{198A5A74-4BBC-A116-D461-F3AE0322BB2D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5962650" y="45481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987FD7C-2B85-484F-9A3C-80EDC92470D8}" type="datetime'''''''''''''''''''''7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7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49" name="Text Placeholder 4">
            <a:extLst>
              <a:ext uri="{FF2B5EF4-FFF2-40B4-BE49-F238E27FC236}">
                <a16:creationId xmlns:a16="http://schemas.microsoft.com/office/drawing/2014/main" id="{CE4BE880-A68A-7E8F-3169-3FD8D6102223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5913438" y="4203700"/>
            <a:ext cx="406400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6CA07C-FE09-49D1-9088-5D452800708A}" type="datetime'''''''''''''''2''''''''''''''''''''''''''''5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25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355" name="Text Placeholder 4">
            <a:extLst>
              <a:ext uri="{FF2B5EF4-FFF2-40B4-BE49-F238E27FC236}">
                <a16:creationId xmlns:a16="http://schemas.microsoft.com/office/drawing/2014/main" id="{AD8F9F10-DADD-48BA-F137-CA2D6C182CF4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5913438" y="39433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4E97A02-E8A8-4C51-841D-0C922340F557}" type="datetime'''''''''''''''''''''''''''''''''''''''''''''3''''''''0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30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063" name="Text Placeholder 4">
            <a:extLst>
              <a:ext uri="{FF2B5EF4-FFF2-40B4-BE49-F238E27FC236}">
                <a16:creationId xmlns:a16="http://schemas.microsoft.com/office/drawing/2014/main" id="{966E5B4D-19F3-71AB-7F7C-DB12C3897E48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59531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60D3045-293C-4F33-8FC8-B69552A67803}" type="datetime'''''''2''''''''''''''''''''''8''''''''''E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051" name="Text Placeholder 4">
            <a:extLst>
              <a:ext uri="{FF2B5EF4-FFF2-40B4-BE49-F238E27FC236}">
                <a16:creationId xmlns:a16="http://schemas.microsoft.com/office/drawing/2014/main" id="{5D58E8BE-6E49-2471-B20C-35AA8DB34F72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462713" y="454977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D8B0E8F-0D39-4D3C-A85D-A50756EE8777}" type="datetime'''''''''''''''''''''8''''''''''''''''''00G''''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2AFC1402-D656-E6AF-AAAA-23FF900B434E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462713" y="428625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DD1A7DD-A28F-460A-B07A-F85E1437C2AD}" type="datetime'''''1''''''''''''''''''.''''''6''''''''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067" name="Text Placeholder 4">
            <a:extLst>
              <a:ext uri="{FF2B5EF4-FFF2-40B4-BE49-F238E27FC236}">
                <a16:creationId xmlns:a16="http://schemas.microsoft.com/office/drawing/2014/main" id="{967F946C-A303-81F3-DF78-6D378FC90C55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462713" y="402272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E37AC63-CBE8-4866-830B-4FEDB1586AA4}" type="datetime'''''3''''''''''''''.2''''''''''''''T''''''''''''''''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F3AA76B9-FA8D-6A83-E9D4-BB84583A8DD8}"/>
              </a:ext>
            </a:extLst>
          </p:cNvPr>
          <p:cNvSpPr txBox="1"/>
          <p:nvPr/>
        </p:nvSpPr>
        <p:spPr>
          <a:xfrm>
            <a:off x="1177209" y="4196423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CD13E7FE-78BD-DF41-6A45-F2D1F9FD23C6}"/>
              </a:ext>
            </a:extLst>
          </p:cNvPr>
          <p:cNvGraphicFramePr/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385172971"/>
              </p:ext>
            </p:extLst>
          </p:nvPr>
        </p:nvGraphicFramePr>
        <p:xfrm>
          <a:off x="3289300" y="5032375"/>
          <a:ext cx="3079750" cy="130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9"/>
          </a:graphicData>
        </a:graphic>
      </p:graphicFrame>
      <p:cxnSp>
        <p:nvCxnSpPr>
          <p:cNvPr id="1320" name="直接连接符 1319">
            <a:extLst>
              <a:ext uri="{FF2B5EF4-FFF2-40B4-BE49-F238E27FC236}">
                <a16:creationId xmlns:a16="http://schemas.microsoft.com/office/drawing/2014/main" id="{37F86315-076B-9C76-9BA7-363FB7553367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6116638" y="5808663"/>
            <a:ext cx="0" cy="444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3" name="直接连接符 1202">
            <a:extLst>
              <a:ext uri="{FF2B5EF4-FFF2-40B4-BE49-F238E27FC236}">
                <a16:creationId xmlns:a16="http://schemas.microsoft.com/office/drawing/2014/main" id="{305A74FE-681B-4556-55F0-3CDD02243709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 flipH="1">
            <a:off x="6234113" y="5630863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1" name="直接连接符 1320">
            <a:extLst>
              <a:ext uri="{FF2B5EF4-FFF2-40B4-BE49-F238E27FC236}">
                <a16:creationId xmlns:a16="http://schemas.microsoft.com/office/drawing/2014/main" id="{653717A8-1559-2D64-1884-22E291E2145E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 flipH="1">
            <a:off x="6154738" y="5630862"/>
            <a:ext cx="79375" cy="2365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4" name="直接连接符 1213">
            <a:extLst>
              <a:ext uri="{FF2B5EF4-FFF2-40B4-BE49-F238E27FC236}">
                <a16:creationId xmlns:a16="http://schemas.microsoft.com/office/drawing/2014/main" id="{D20F600F-CFC5-F09F-4B43-E567779F8B64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 flipH="1">
            <a:off x="6234113" y="5367338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2" name="直接连接符 1321">
            <a:extLst>
              <a:ext uri="{FF2B5EF4-FFF2-40B4-BE49-F238E27FC236}">
                <a16:creationId xmlns:a16="http://schemas.microsoft.com/office/drawing/2014/main" id="{AB61B7BD-BB90-E80F-CA37-8E1A442F2029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 flipH="1">
            <a:off x="6154738" y="5367338"/>
            <a:ext cx="79375" cy="3413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5" name="Text Placeholder 4">
            <a:extLst>
              <a:ext uri="{FF2B5EF4-FFF2-40B4-BE49-F238E27FC236}">
                <a16:creationId xmlns:a16="http://schemas.microsoft.com/office/drawing/2014/main" id="{E79D603B-F125-AF57-B45A-61EA4BB007F1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3868738" y="6111875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81D3CCB-59E3-4CA2-ACE2-4A27CB289630}" type="datetime'''''''''2''6E''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186" name="Text Placeholder 4">
            <a:extLst>
              <a:ext uri="{FF2B5EF4-FFF2-40B4-BE49-F238E27FC236}">
                <a16:creationId xmlns:a16="http://schemas.microsoft.com/office/drawing/2014/main" id="{D9C3CA1D-FA94-0604-D2EE-C0A5BD5B6920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4911725" y="6111875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CA7C7D3-3D25-4255-AD05-62EC1F47FD6F}" type="datetime'''''''''''''''''''''27''''''''''''''''''E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13" name="Text Placeholder 4">
            <a:extLst>
              <a:ext uri="{FF2B5EF4-FFF2-40B4-BE49-F238E27FC236}">
                <a16:creationId xmlns:a16="http://schemas.microsoft.com/office/drawing/2014/main" id="{5C7A75C5-9DC0-05D4-CE95-5DF02EB904DC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gray">
          <a:xfrm>
            <a:off x="5943600" y="5840413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3154BF3-793B-43F4-B2FE-DCA62B892C55}" type="datetime'''''''''''''''''4''''''''''''''''''''6''''''''''2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462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14" name="Text Placeholder 4">
            <a:extLst>
              <a:ext uri="{FF2B5EF4-FFF2-40B4-BE49-F238E27FC236}">
                <a16:creationId xmlns:a16="http://schemas.microsoft.com/office/drawing/2014/main" id="{58F10D7B-4516-0CBE-94EE-89C90AB2EEA8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gray">
          <a:xfrm>
            <a:off x="5943600" y="5595938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9C6A6C4-E668-4DDC-BF38-C67E3DC07428}" type="datetime'''''''''''''''''''''9''''''''''''2''''''''''''4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924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187" name="Text Placeholder 4">
            <a:extLst>
              <a:ext uri="{FF2B5EF4-FFF2-40B4-BE49-F238E27FC236}">
                <a16:creationId xmlns:a16="http://schemas.microsoft.com/office/drawing/2014/main" id="{8C7BEA7D-AD57-5293-5AF4-D76D477D78A1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5953125" y="6111875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360A474-07FD-47AB-92FD-68BFAAA78307}" type="datetime'''''''''''2''''''''''''''8''''''E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175" name="Text Placeholder 4">
            <a:extLst>
              <a:ext uri="{FF2B5EF4-FFF2-40B4-BE49-F238E27FC236}">
                <a16:creationId xmlns:a16="http://schemas.microsoft.com/office/drawing/2014/main" id="{0DD96D3C-055A-D8BB-CDC8-42582D30AAA3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6491288" y="57880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B4E63B8-C341-49D6-B878-006EB4C21C21}" type="datetime'''''8''0''''''''''''''''''''''''''''''''''0''''''''G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176" name="Text Placeholder 4">
            <a:extLst>
              <a:ext uri="{FF2B5EF4-FFF2-40B4-BE49-F238E27FC236}">
                <a16:creationId xmlns:a16="http://schemas.microsoft.com/office/drawing/2014/main" id="{624C3461-020C-074F-BF26-1EDBA285510B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6491288" y="55245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5FE9A6A-E047-47A1-90A9-6213277DAF8B}" type="datetime'''''''1''.''''''''''''6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191" name="Text Placeholder 4">
            <a:extLst>
              <a:ext uri="{FF2B5EF4-FFF2-40B4-BE49-F238E27FC236}">
                <a16:creationId xmlns:a16="http://schemas.microsoft.com/office/drawing/2014/main" id="{8AEE3103-7C8D-C7BB-3B76-C371FD3D6632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6491288" y="52609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2448D4-E7C6-479F-93DB-6E5C22BE3ACD}" type="datetime'''''''''''''3.''''''2''''''''''''T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219" name="文本框 1218">
            <a:extLst>
              <a:ext uri="{FF2B5EF4-FFF2-40B4-BE49-F238E27FC236}">
                <a16:creationId xmlns:a16="http://schemas.microsoft.com/office/drawing/2014/main" id="{430E845B-A1CC-4553-9086-1EB2235674E3}"/>
              </a:ext>
            </a:extLst>
          </p:cNvPr>
          <p:cNvSpPr txBox="1"/>
          <p:nvPr/>
        </p:nvSpPr>
        <p:spPr>
          <a:xfrm>
            <a:off x="1177209" y="5489029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42" name="Textplatzhalter 9">
            <a:extLst>
              <a:ext uri="{FF2B5EF4-FFF2-40B4-BE49-F238E27FC236}">
                <a16:creationId xmlns:a16="http://schemas.microsoft.com/office/drawing/2014/main" id="{692C5931-3CCF-D55F-4677-A886D3FC9611}"/>
              </a:ext>
            </a:extLst>
          </p:cNvPr>
          <p:cNvSpPr txBox="1">
            <a:spLocks/>
          </p:cNvSpPr>
          <p:nvPr/>
        </p:nvSpPr>
        <p:spPr bwMode="gray">
          <a:xfrm>
            <a:off x="7153721" y="5238919"/>
            <a:ext cx="4696435" cy="86690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=&gt;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$700 / port in 2026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2x data rate =&gt; 2x per-port value;</a:t>
            </a:r>
          </a:p>
          <a:p>
            <a:r>
              <a:rPr lang="en-US" altLang="zh-CN" sz="1200" dirty="0">
                <a:sym typeface="+mn-lt"/>
              </a:rPr>
              <a:t>Descends by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20% annually</a:t>
            </a:r>
            <a:r>
              <a:rPr lang="en-US" altLang="zh-CN" sz="1200" dirty="0">
                <a:sym typeface="+mn-lt"/>
              </a:rPr>
              <a:t>.</a:t>
            </a:r>
          </a:p>
        </p:txBody>
      </p:sp>
      <p:sp>
        <p:nvSpPr>
          <p:cNvPr id="1248" name="文本框 1247">
            <a:extLst>
              <a:ext uri="{FF2B5EF4-FFF2-40B4-BE49-F238E27FC236}">
                <a16:creationId xmlns:a16="http://schemas.microsoft.com/office/drawing/2014/main" id="{B9B1CF88-61FC-54BA-FFE2-EF370A95B54F}"/>
              </a:ext>
            </a:extLst>
          </p:cNvPr>
          <p:cNvSpPr txBox="1"/>
          <p:nvPr/>
        </p:nvSpPr>
        <p:spPr>
          <a:xfrm>
            <a:off x="483993" y="6367462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2, 3, 5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249" name="Textplatzhalter 9">
            <a:extLst>
              <a:ext uri="{FF2B5EF4-FFF2-40B4-BE49-F238E27FC236}">
                <a16:creationId xmlns:a16="http://schemas.microsoft.com/office/drawing/2014/main" id="{19B337B2-D5E5-C2C9-AE76-908F57F2A0D8}"/>
              </a:ext>
            </a:extLst>
          </p:cNvPr>
          <p:cNvSpPr txBox="1">
            <a:spLocks/>
          </p:cNvSpPr>
          <p:nvPr/>
        </p:nvSpPr>
        <p:spPr bwMode="gray">
          <a:xfrm>
            <a:off x="7153721" y="4044485"/>
            <a:ext cx="3853227" cy="61811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3.2T: mass CPO penetration as transceivers hit the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upper limit of data rate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;</a:t>
            </a:r>
          </a:p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1.6T: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primary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and sustained penetration.</a:t>
            </a:r>
          </a:p>
        </p:txBody>
      </p:sp>
      <p:sp>
        <p:nvSpPr>
          <p:cNvPr id="1369" name="Textplatzhalter 9">
            <a:extLst>
              <a:ext uri="{FF2B5EF4-FFF2-40B4-BE49-F238E27FC236}">
                <a16:creationId xmlns:a16="http://schemas.microsoft.com/office/drawing/2014/main" id="{9C61EA30-EC03-DB77-DDE9-7D0334F34DA0}"/>
              </a:ext>
            </a:extLst>
          </p:cNvPr>
          <p:cNvSpPr txBox="1">
            <a:spLocks/>
          </p:cNvSpPr>
          <p:nvPr/>
        </p:nvSpPr>
        <p:spPr bwMode="gray">
          <a:xfrm>
            <a:off x="7153721" y="1660696"/>
            <a:ext cx="4696435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375" name="文本框 1374">
            <a:extLst>
              <a:ext uri="{FF2B5EF4-FFF2-40B4-BE49-F238E27FC236}">
                <a16:creationId xmlns:a16="http://schemas.microsoft.com/office/drawing/2014/main" id="{76F2B39E-2A54-4575-5AFD-56BA2C129BE1}"/>
              </a:ext>
            </a:extLst>
          </p:cNvPr>
          <p:cNvSpPr txBox="1"/>
          <p:nvPr/>
        </p:nvSpPr>
        <p:spPr>
          <a:xfrm>
            <a:off x="2473944" y="1700980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~60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76" name="文本框 1375">
            <a:extLst>
              <a:ext uri="{FF2B5EF4-FFF2-40B4-BE49-F238E27FC236}">
                <a16:creationId xmlns:a16="http://schemas.microsoft.com/office/drawing/2014/main" id="{81CA0002-94CC-CC2D-994D-89171AAE0B80}"/>
              </a:ext>
            </a:extLst>
          </p:cNvPr>
          <p:cNvSpPr txBox="1"/>
          <p:nvPr/>
        </p:nvSpPr>
        <p:spPr>
          <a:xfrm>
            <a:off x="2709224" y="3872774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77" name="文本框 1376">
            <a:extLst>
              <a:ext uri="{FF2B5EF4-FFF2-40B4-BE49-F238E27FC236}">
                <a16:creationId xmlns:a16="http://schemas.microsoft.com/office/drawing/2014/main" id="{F446EDFB-20D2-6756-38F8-5209CCD8859D}"/>
              </a:ext>
            </a:extLst>
          </p:cNvPr>
          <p:cNvSpPr txBox="1"/>
          <p:nvPr/>
        </p:nvSpPr>
        <p:spPr>
          <a:xfrm>
            <a:off x="2097374" y="5179350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~$1150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93" name="文本框 1392">
            <a:extLst>
              <a:ext uri="{FF2B5EF4-FFF2-40B4-BE49-F238E27FC236}">
                <a16:creationId xmlns:a16="http://schemas.microsoft.com/office/drawing/2014/main" id="{4DC0B05E-6518-8C5B-F97D-2CE5B0E8645C}"/>
              </a:ext>
            </a:extLst>
          </p:cNvPr>
          <p:cNvSpPr txBox="1"/>
          <p:nvPr/>
        </p:nvSpPr>
        <p:spPr>
          <a:xfrm>
            <a:off x="5519154" y="1613973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6" name="文本框 1415">
            <a:extLst>
              <a:ext uri="{FF2B5EF4-FFF2-40B4-BE49-F238E27FC236}">
                <a16:creationId xmlns:a16="http://schemas.microsoft.com/office/drawing/2014/main" id="{116CCA58-F5E6-1706-E874-92A77133DBA3}"/>
              </a:ext>
            </a:extLst>
          </p:cNvPr>
          <p:cNvSpPr txBox="1"/>
          <p:nvPr/>
        </p:nvSpPr>
        <p:spPr>
          <a:xfrm>
            <a:off x="5999427" y="2038349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7" name="文本框 1416">
            <a:extLst>
              <a:ext uri="{FF2B5EF4-FFF2-40B4-BE49-F238E27FC236}">
                <a16:creationId xmlns:a16="http://schemas.microsoft.com/office/drawing/2014/main" id="{61964997-15BE-BF36-AFAD-E7D11AA4FF61}"/>
              </a:ext>
            </a:extLst>
          </p:cNvPr>
          <p:cNvSpPr txBox="1"/>
          <p:nvPr/>
        </p:nvSpPr>
        <p:spPr>
          <a:xfrm>
            <a:off x="5533472" y="2935474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~3.5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8" name="文本框 1417">
            <a:extLst>
              <a:ext uri="{FF2B5EF4-FFF2-40B4-BE49-F238E27FC236}">
                <a16:creationId xmlns:a16="http://schemas.microsoft.com/office/drawing/2014/main" id="{3EDB9800-E355-2737-F766-E1479A7CF65D}"/>
              </a:ext>
            </a:extLst>
          </p:cNvPr>
          <p:cNvSpPr txBox="1"/>
          <p:nvPr/>
        </p:nvSpPr>
        <p:spPr>
          <a:xfrm>
            <a:off x="6051701" y="3376606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9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9" name="Textplatzhalter 9">
            <a:extLst>
              <a:ext uri="{FF2B5EF4-FFF2-40B4-BE49-F238E27FC236}">
                <a16:creationId xmlns:a16="http://schemas.microsoft.com/office/drawing/2014/main" id="{F33DF096-EC3C-1D64-F689-F1526B680CF4}"/>
              </a:ext>
            </a:extLst>
          </p:cNvPr>
          <p:cNvSpPr txBox="1">
            <a:spLocks/>
          </p:cNvSpPr>
          <p:nvPr/>
        </p:nvSpPr>
        <p:spPr bwMode="gray">
          <a:xfrm>
            <a:off x="7153721" y="2089234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=&gt;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~3x 1.6T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transceivers / card).</a:t>
            </a:r>
          </a:p>
        </p:txBody>
      </p:sp>
      <p:sp>
        <p:nvSpPr>
          <p:cNvPr id="1420" name="Textplatzhalter 9">
            <a:extLst>
              <a:ext uri="{FF2B5EF4-FFF2-40B4-BE49-F238E27FC236}">
                <a16:creationId xmlns:a16="http://schemas.microsoft.com/office/drawing/2014/main" id="{1C0E3EB3-CE6D-5FD1-3011-2D0A4894D15D}"/>
              </a:ext>
            </a:extLst>
          </p:cNvPr>
          <p:cNvSpPr txBox="1">
            <a:spLocks/>
          </p:cNvSpPr>
          <p:nvPr/>
        </p:nvSpPr>
        <p:spPr bwMode="gray">
          <a:xfrm>
            <a:off x="7153721" y="3429000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 : 1 =&gt; 9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21" name="Textplatzhalter 9">
            <a:extLst>
              <a:ext uri="{FF2B5EF4-FFF2-40B4-BE49-F238E27FC236}">
                <a16:creationId xmlns:a16="http://schemas.microsoft.com/office/drawing/2014/main" id="{927DC90D-8F68-EF27-1640-F3FB06905974}"/>
              </a:ext>
            </a:extLst>
          </p:cNvPr>
          <p:cNvSpPr txBox="1">
            <a:spLocks/>
          </p:cNvSpPr>
          <p:nvPr/>
        </p:nvSpPr>
        <p:spPr bwMode="gray">
          <a:xfrm>
            <a:off x="7153720" y="2981640"/>
            <a:ext cx="473347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~40% of total datacenter AI chip volumes; </a:t>
            </a:r>
          </a:p>
        </p:txBody>
      </p:sp>
      <p:sp>
        <p:nvSpPr>
          <p:cNvPr id="1423" name="文本框 1422">
            <a:extLst>
              <a:ext uri="{FF2B5EF4-FFF2-40B4-BE49-F238E27FC236}">
                <a16:creationId xmlns:a16="http://schemas.microsoft.com/office/drawing/2014/main" id="{CA575760-A05C-94E3-A9F6-D9BA29A60A55}"/>
              </a:ext>
            </a:extLst>
          </p:cNvPr>
          <p:cNvSpPr txBox="1"/>
          <p:nvPr/>
        </p:nvSpPr>
        <p:spPr>
          <a:xfrm>
            <a:off x="5883883" y="1182197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4" name="文本框 1423">
            <a:extLst>
              <a:ext uri="{FF2B5EF4-FFF2-40B4-BE49-F238E27FC236}">
                <a16:creationId xmlns:a16="http://schemas.microsoft.com/office/drawing/2014/main" id="{37A4122F-AB89-43A6-8617-3D8D1B7A75E0}"/>
              </a:ext>
            </a:extLst>
          </p:cNvPr>
          <p:cNvSpPr txBox="1"/>
          <p:nvPr/>
        </p:nvSpPr>
        <p:spPr>
          <a:xfrm>
            <a:off x="6182743" y="24949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8" name="文本框 1427">
            <a:extLst>
              <a:ext uri="{FF2B5EF4-FFF2-40B4-BE49-F238E27FC236}">
                <a16:creationId xmlns:a16="http://schemas.microsoft.com/office/drawing/2014/main" id="{CADBA52A-2BD1-B0DF-7E59-294220A41D4F}"/>
              </a:ext>
            </a:extLst>
          </p:cNvPr>
          <p:cNvSpPr txBox="1"/>
          <p:nvPr/>
        </p:nvSpPr>
        <p:spPr>
          <a:xfrm>
            <a:off x="7171687" y="1161993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36F1D5-6951-4ADB-FD66-BAD4FA3A6E92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98761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key modules: silicon photonics, electrical IC, switch ASIC, and integration &amp; delivery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5355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5355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5355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5915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2264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1361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0918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2527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1255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1255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1165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1255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5355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6582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3680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3680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27233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2527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6951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37255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38522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1406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37912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5723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4033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49039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38673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4401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4957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1474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0342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50" y="94209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12731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234660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6902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5429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57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1286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89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92754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31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69715" y="4839218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232627" y="483331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7351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7453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0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6584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008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4674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339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12731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234660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232627" y="5487059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69715" y="5492964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40708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6690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6759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6740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6690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6759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6669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57337" y="1890146"/>
            <a:ext cx="8402638" cy="827356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5B6B8E-B98F-0CB7-E285-D8CC98B8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6740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7441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48823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6208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0866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0910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1055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0910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3807072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3803139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9133" y="4174099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0317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3546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19876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7630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0219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49157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49390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49877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28276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7896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0104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30128" y="3774348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6447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6886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58066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58896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6293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4217809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023675"/>
            <a:ext cx="574356" cy="2213303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D544ED39-3EF7-50CB-502E-B74080C01BB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7419" y="3045997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311481" y="18819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96462" y="24347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l="5884" t="22886" r="3998" b="18237"/>
          <a:stretch>
            <a:fillRect/>
          </a:stretch>
        </p:blipFill>
        <p:spPr>
          <a:xfrm>
            <a:off x="11200086" y="5363148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687657" y="19491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3497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19158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542610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19985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3909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3878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6520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037197"/>
            <a:ext cx="475097" cy="89818"/>
          </a:xfrm>
          <a:prstGeom prst="rect">
            <a:avLst/>
          </a:prstGeom>
        </p:spPr>
      </p:pic>
      <p:sp>
        <p:nvSpPr>
          <p:cNvPr id="2058" name="Rectangle 8">
            <a:extLst>
              <a:ext uri="{FF2B5EF4-FFF2-40B4-BE49-F238E27FC236}">
                <a16:creationId xmlns:a16="http://schemas.microsoft.com/office/drawing/2014/main" id="{2137F4A7-010E-E86A-CB33-ED2C7C50C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2745084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b="1" dirty="0">
                <a:solidFill>
                  <a:srgbClr val="000000"/>
                </a:solidFill>
                <a:cs typeface="+mn-ea"/>
                <a:sym typeface="+mn-lt"/>
              </a:rPr>
              <a:t>光模块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021993"/>
            <a:ext cx="431753" cy="164625"/>
          </a:xfrm>
          <a:prstGeom prst="rect">
            <a:avLst/>
          </a:prstGeom>
        </p:spPr>
      </p:pic>
      <p:pic>
        <p:nvPicPr>
          <p:cNvPr id="3074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96190A70-1AB2-1B66-22BC-1684BE086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638" y="2946742"/>
            <a:ext cx="703555" cy="32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3872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3152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6247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0510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49716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9846" y="4217809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28242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0328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2895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4347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4347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4347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19369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3730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19547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3909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171279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946682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3301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19547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3909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28242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2626" y="3794478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9397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228365" y="3774101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图片 1037">
            <a:extLst>
              <a:ext uri="{FF2B5EF4-FFF2-40B4-BE49-F238E27FC236}">
                <a16:creationId xmlns:a16="http://schemas.microsoft.com/office/drawing/2014/main" id="{6877E9FB-C6BE-A359-B45E-CEF71A89623E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0589" y="2987295"/>
            <a:ext cx="590782" cy="225262"/>
          </a:xfrm>
          <a:prstGeom prst="rect">
            <a:avLst/>
          </a:prstGeom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8" cstate="print">
            <a:extLst>
              <a:ext uri="{BEBA8EAE-BF5A-486C-A8C5-ECC9F3942E4B}">
                <a14:imgProps xmlns:a14="http://schemas.microsoft.com/office/drawing/2010/main">
                  <a14:imgLayer r:embed="rId69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27762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058873" y="50022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49265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71"/>
          <a:srcRect t="29736" r="12" b="29739"/>
          <a:stretch>
            <a:fillRect/>
          </a:stretch>
        </p:blipFill>
        <p:spPr>
          <a:xfrm>
            <a:off x="9353452" y="53782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2"/>
          <a:srcRect l="10181" t="33840" r="8725" b="35390"/>
          <a:stretch>
            <a:fillRect/>
          </a:stretch>
        </p:blipFill>
        <p:spPr>
          <a:xfrm>
            <a:off x="9910587" y="50409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6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26F952F8-BD30-39B8-0710-DB5BDE7A0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281" y="5616691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图片 1046">
            <a:extLst>
              <a:ext uri="{FF2B5EF4-FFF2-40B4-BE49-F238E27FC236}">
                <a16:creationId xmlns:a16="http://schemas.microsoft.com/office/drawing/2014/main" id="{748D2AFE-B7CC-31D4-6479-FF122053DAE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2941" y="5667052"/>
            <a:ext cx="431753" cy="164625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5625" y="3801417"/>
            <a:ext cx="504030" cy="133869"/>
          </a:xfrm>
          <a:prstGeom prst="rect">
            <a:avLst/>
          </a:prstGeom>
        </p:spPr>
      </p:pic>
      <p:sp>
        <p:nvSpPr>
          <p:cNvPr id="1051" name="矩形 1050">
            <a:extLst>
              <a:ext uri="{FF2B5EF4-FFF2-40B4-BE49-F238E27FC236}">
                <a16:creationId xmlns:a16="http://schemas.microsoft.com/office/drawing/2014/main" id="{9CA8FAD8-3AFF-D22F-C790-600157E53E3D}"/>
              </a:ext>
            </a:extLst>
          </p:cNvPr>
          <p:cNvSpPr/>
          <p:nvPr/>
        </p:nvSpPr>
        <p:spPr>
          <a:xfrm>
            <a:off x="1565012" y="5634135"/>
            <a:ext cx="897642" cy="493426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3778846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2619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38041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0467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38066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27802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6869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7450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946682" y="3781929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8582919" y="3799845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14490" y="3782705"/>
            <a:ext cx="681323" cy="1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2984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sp>
        <p:nvSpPr>
          <p:cNvPr id="72" name="标题 1">
            <a:extLst>
              <a:ext uri="{FF2B5EF4-FFF2-40B4-BE49-F238E27FC236}">
                <a16:creationId xmlns:a16="http://schemas.microsoft.com/office/drawing/2014/main" id="{A1810013-68A2-F16E-DBA1-099AC577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/>
          <a:lstStyle/>
          <a:p>
            <a:r>
              <a:rPr lang="en-US" altLang="zh-CN" dirty="0">
                <a:ea typeface="+mn-ea"/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805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8DE6BB8-FA89-3E25-EA44-004C929E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Why Broadcom bets on CPO: aligning with HPC’s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0" name="Chart 3">
            <a:extLst>
              <a:ext uri="{FF2B5EF4-FFF2-40B4-BE49-F238E27FC236}">
                <a16:creationId xmlns:a16="http://schemas.microsoft.com/office/drawing/2014/main" id="{B819E793-3146-7BC0-3C1C-F3175CBC3FA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43078970"/>
              </p:ext>
            </p:extLst>
          </p:nvPr>
        </p:nvGraphicFramePr>
        <p:xfrm>
          <a:off x="387350" y="1824038"/>
          <a:ext cx="7653338" cy="461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 useBgFill="1"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4043363" y="3679824"/>
            <a:ext cx="454025" cy="274638"/>
          </a:xfrm>
          <a:prstGeom prst="rect">
            <a:avLst/>
          </a:prstGeom>
          <a:ln>
            <a:noFill/>
          </a:ln>
          <a:effectLst/>
        </p:spPr>
        <p:txBody>
          <a:bodyPr vert="horz" wrap="none" lIns="33338" tIns="0" rIns="33338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8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800" dirty="0">
              <a:cs typeface="+mn-cs"/>
            </a:endParaRP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4E1A86B5-3450-CD77-317A-BEB7EAAD878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288213" y="4127500"/>
            <a:ext cx="708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20~30</a:t>
            </a:r>
            <a:endParaRPr lang="zh-CN" altLang="en-US" sz="18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292100" y="1690688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Shipment Unit Share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dirty="0">
              <a:solidFill>
                <a:srgbClr val="000000"/>
              </a:solidFill>
              <a:latin typeface="PingFang SC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AEC0F4-E29C-AD43-22E2-4740D7678743}"/>
              </a:ext>
            </a:extLst>
          </p:cNvPr>
          <p:cNvSpPr txBox="1"/>
          <p:nvPr/>
        </p:nvSpPr>
        <p:spPr>
          <a:xfrm>
            <a:off x="3983775" y="5095202"/>
            <a:ext cx="16605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rgbClr val="0052D9"/>
                </a:solidFill>
                <a:latin typeface="PingFang SC"/>
              </a:rPr>
              <a:t>ByteDance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3DA313-5994-5C1E-B018-417A0A4C3D3B}"/>
              </a:ext>
            </a:extLst>
          </p:cNvPr>
          <p:cNvSpPr txBox="1"/>
          <p:nvPr/>
        </p:nvSpPr>
        <p:spPr>
          <a:xfrm>
            <a:off x="6974892" y="4602760"/>
            <a:ext cx="16605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ByteDance</a:t>
            </a:r>
          </a:p>
          <a:p>
            <a:r>
              <a:rPr lang="en-US" altLang="zh-CN" sz="1600" dirty="0">
                <a:solidFill>
                  <a:srgbClr val="0052D9"/>
                </a:solidFill>
                <a:latin typeface="PingFang SC"/>
              </a:rPr>
              <a:t>OpenAI</a:t>
            </a:r>
          </a:p>
          <a:p>
            <a:r>
              <a:rPr lang="en-US" altLang="zh-CN" sz="1600" dirty="0" err="1">
                <a:solidFill>
                  <a:srgbClr val="0052D9"/>
                </a:solidFill>
                <a:latin typeface="PingFang SC"/>
              </a:rPr>
              <a:t>xAI</a:t>
            </a:r>
            <a:endParaRPr lang="en-US" altLang="zh-CN" sz="1600" dirty="0">
              <a:solidFill>
                <a:srgbClr val="0052D9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2743200" y="1860550"/>
            <a:ext cx="228600" cy="0"/>
          </a:xfrm>
          <a:prstGeom prst="line">
            <a:avLst/>
          </a:prstGeom>
          <a:ln w="12700" cap="rnd" cmpd="sng" algn="ctr">
            <a:solidFill>
              <a:srgbClr val="0052D9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3560763" y="1860550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033713" y="1762125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852863" y="1762125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12A1E5-C527-E5DF-0FC8-3D86F59979D3}"/>
              </a:ext>
            </a:extLst>
          </p:cNvPr>
          <p:cNvSpPr txBox="1"/>
          <p:nvPr/>
        </p:nvSpPr>
        <p:spPr>
          <a:xfrm>
            <a:off x="8330962" y="3735758"/>
            <a:ext cx="3528377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​ASIC: high costs,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limited TSMC supply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​Nvidia continues to dominate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AI cloud compute.​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0DA3CF-3767-0AEA-75AE-EB826B843EF9}"/>
              </a:ext>
            </a:extLst>
          </p:cNvPr>
          <p:cNvSpPr txBox="1"/>
          <p:nvPr/>
        </p:nvSpPr>
        <p:spPr>
          <a:xfrm>
            <a:off x="292100" y="1154721"/>
            <a:ext cx="876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 becomes the long-term trend; Broadcom plays a central role</a:t>
            </a:r>
            <a:endParaRPr lang="zh-CN" altLang="en-US" dirty="0"/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427673" y="1546913"/>
            <a:ext cx="7515225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F32C493-823A-5118-2E4F-36E3ABD2BFEA}"/>
              </a:ext>
            </a:extLst>
          </p:cNvPr>
          <p:cNvCxnSpPr>
            <a:cxnSpLocks/>
          </p:cNvCxnSpPr>
          <p:nvPr/>
        </p:nvCxnSpPr>
        <p:spPr>
          <a:xfrm flipV="1">
            <a:off x="897846" y="3990974"/>
            <a:ext cx="3389674" cy="767797"/>
          </a:xfrm>
          <a:prstGeom prst="line">
            <a:avLst/>
          </a:prstGeom>
          <a:ln w="1905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A76F7B2-9937-B624-8716-8A0BFD1B4BBB}"/>
              </a:ext>
            </a:extLst>
          </p:cNvPr>
          <p:cNvCxnSpPr>
            <a:cxnSpLocks/>
          </p:cNvCxnSpPr>
          <p:nvPr/>
        </p:nvCxnSpPr>
        <p:spPr>
          <a:xfrm flipV="1">
            <a:off x="4245283" y="3611770"/>
            <a:ext cx="3397736" cy="388532"/>
          </a:xfrm>
          <a:prstGeom prst="line">
            <a:avLst/>
          </a:prstGeom>
          <a:ln w="9525">
            <a:solidFill>
              <a:srgbClr val="0052D9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7C07FBA-FD55-123B-6CC2-D48F932459CC}"/>
              </a:ext>
            </a:extLst>
          </p:cNvPr>
          <p:cNvSpPr txBox="1"/>
          <p:nvPr/>
        </p:nvSpPr>
        <p:spPr>
          <a:xfrm>
            <a:off x="8330962" y="1990805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​​Optimistic Scenario</a:t>
            </a:r>
            <a:endParaRPr lang="zh-CN" altLang="en-US" b="1" dirty="0"/>
          </a:p>
        </p:txBody>
      </p:sp>
      <p:sp>
        <p:nvSpPr>
          <p:cNvPr id="964" name="文本框 963">
            <a:extLst>
              <a:ext uri="{FF2B5EF4-FFF2-40B4-BE49-F238E27FC236}">
                <a16:creationId xmlns:a16="http://schemas.microsoft.com/office/drawing/2014/main" id="{FA12F98D-AFB1-F69C-EB36-438FF7419D87}"/>
              </a:ext>
            </a:extLst>
          </p:cNvPr>
          <p:cNvSpPr txBox="1"/>
          <p:nvPr/>
        </p:nvSpPr>
        <p:spPr>
          <a:xfrm>
            <a:off x="8330962" y="3369711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Pessimistic Scenario</a:t>
            </a:r>
            <a:endParaRPr lang="zh-CN" altLang="en-US" b="1" dirty="0"/>
          </a:p>
        </p:txBody>
      </p:sp>
      <p:sp>
        <p:nvSpPr>
          <p:cNvPr id="966" name="文本框 965">
            <a:extLst>
              <a:ext uri="{FF2B5EF4-FFF2-40B4-BE49-F238E27FC236}">
                <a16:creationId xmlns:a16="http://schemas.microsoft.com/office/drawing/2014/main" id="{3EA0C51F-3CA4-A0C8-3FC9-3D399000562D}"/>
              </a:ext>
            </a:extLst>
          </p:cNvPr>
          <p:cNvSpPr txBox="1"/>
          <p:nvPr/>
        </p:nvSpPr>
        <p:spPr>
          <a:xfrm>
            <a:off x="8330962" y="2404130"/>
            <a:ext cx="3770682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New orders from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OpenAI &amp; </a:t>
            </a:r>
            <a:r>
              <a:rPr lang="en-US" altLang="zh-CN" sz="1400" b="1" dirty="0" err="1">
                <a:solidFill>
                  <a:srgbClr val="0052D9"/>
                </a:solidFill>
                <a:latin typeface="PingFang SC"/>
              </a:rPr>
              <a:t>xAI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Bring forward the “ASIC &gt; GPU” inflection point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from 2027–28 to 2026.</a:t>
            </a:r>
          </a:p>
        </p:txBody>
      </p: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348154" y="3256502"/>
            <a:ext cx="69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53585F"/>
                </a:solidFill>
                <a:cs typeface="+mn-ea"/>
                <a:sym typeface="+mn-lt"/>
              </a:rPr>
              <a:t>~40</a:t>
            </a:r>
            <a:endParaRPr lang="zh-CN" altLang="en-US" dirty="0">
              <a:solidFill>
                <a:srgbClr val="53585F"/>
              </a:solidFill>
            </a:endParaRPr>
          </a:p>
        </p:txBody>
      </p:sp>
      <p:sp>
        <p:nvSpPr>
          <p:cNvPr id="1013" name="文本框 1012">
            <a:extLst>
              <a:ext uri="{FF2B5EF4-FFF2-40B4-BE49-F238E27FC236}">
                <a16:creationId xmlns:a16="http://schemas.microsoft.com/office/drawing/2014/main" id="{3ABC8DEF-3EDC-5D1E-C5C2-56BBD98FEC48}"/>
              </a:ext>
            </a:extLst>
          </p:cNvPr>
          <p:cNvSpPr txBox="1"/>
          <p:nvPr/>
        </p:nvSpPr>
        <p:spPr>
          <a:xfrm>
            <a:off x="8330962" y="4571981"/>
            <a:ext cx="3528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b="1">
                <a:solidFill>
                  <a:schemeClr val="tx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</a:t>
            </a:r>
            <a:r>
              <a:rPr lang="zh-CN" altLang="en-US" dirty="0"/>
              <a:t>③ </a:t>
            </a:r>
            <a:r>
              <a:rPr lang="en-US" altLang="zh-CN" dirty="0"/>
              <a:t>Broadcom</a:t>
            </a:r>
          </a:p>
        </p:txBody>
      </p:sp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8330962" y="4941313"/>
            <a:ext cx="7242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r>
              <a:rPr lang="en-US" altLang="zh-CN"/>
              <a:t>Maintain ~50</a:t>
            </a:r>
            <a:r>
              <a:rPr lang="en-US" altLang="zh-CN" dirty="0"/>
              <a:t>% share in ASIC design.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63200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8" imgW="401" imgH="401" progId="TCLayout.ActiveDocument.1">
                  <p:embed/>
                </p:oleObj>
              </mc:Choice>
              <mc:Fallback>
                <p:oleObj name="think-cell 幻灯片" r:id="rId48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1F44BCD-E96A-EC37-D488-0C77B9DB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Why Broadcom bets on CPO: aligning with HPC’s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7" name="Chart 3">
            <a:extLst>
              <a:ext uri="{FF2B5EF4-FFF2-40B4-BE49-F238E27FC236}">
                <a16:creationId xmlns:a16="http://schemas.microsoft.com/office/drawing/2014/main" id="{5B981BC7-9560-7465-B7E9-3FBD863794A5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84124000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3375"/>
            <a:ext cx="4762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23A816-CF35-DCF4-A607-3C74BF7DAB4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906838" y="5461000"/>
            <a:ext cx="16510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66237" y="5984875"/>
            <a:ext cx="1925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217988" y="5276850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 useBgFill="1">
        <p:nvSpPr>
          <p:cNvPr id="777" name="Text Placeholder 4">
            <a:extLst>
              <a:ext uri="{FF2B5EF4-FFF2-40B4-BE49-F238E27FC236}">
                <a16:creationId xmlns:a16="http://schemas.microsoft.com/office/drawing/2014/main" id="{E98B94FD-306F-3CF1-4E96-49A821D92747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5753100" y="5287963"/>
            <a:ext cx="1019175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BD81C13-0B36-4EE4-AD3B-BAC462CE44E9}" type="datetime'''''''''M''''e''''''ta''-''M''''TI''A ''''V''2'''''''''''">
              <a:rPr lang="en-US" altLang="en-US" sz="1200" smtClean="0">
                <a:cs typeface="+mn-cs"/>
              </a:rPr>
              <a:pPr/>
              <a:t>Meta-MTIA V2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8" name="Text Placeholder 4">
            <a:extLst>
              <a:ext uri="{FF2B5EF4-FFF2-40B4-BE49-F238E27FC236}">
                <a16:creationId xmlns:a16="http://schemas.microsoft.com/office/drawing/2014/main" id="{5A109F75-CD81-6FBD-10C4-46D24855A27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2887663" y="5305425"/>
            <a:ext cx="1019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18FAF74-62C6-4C98-80A5-D0BF6C5C2F3D}" type="datetime'Meta-''''''''''''M''T''''''I''A'''''''' ''''V''''1'''">
              <a:rPr lang="en-US" altLang="en-US" sz="1200" smtClean="0">
                <a:cs typeface="+mn-cs"/>
              </a:rPr>
              <a:pPr/>
              <a:t>Meta-MTIA V1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507038" y="4579938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 useBgFill="1"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3187699" y="5135563"/>
            <a:ext cx="947738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7362825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4629150" y="5995988"/>
            <a:ext cx="2551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Compute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7583488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266006" y="4644501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same‑gen GPU throughput​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could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(e.g., Google, Amazon) are reserving CPO interfaces..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6692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728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534831"/>
            <a:ext cx="3611656" cy="2857559"/>
            <a:chOff x="1052162" y="3711406"/>
            <a:chExt cx="3611656" cy="285755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711406"/>
              <a:ext cx="3154068" cy="2857559"/>
              <a:chOff x="923365" y="3573928"/>
              <a:chExt cx="3154068" cy="2857559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77438" y="3573928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Breakdown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726" y="4752126"/>
              <a:ext cx="2191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Jun 25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40802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D7193-CA48-7240-D427-8FCDD66A1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811A02-3CE0-3DE8-0365-8A8A4512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FiconTEC: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 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74526" y="4696258"/>
            <a:ext cx="2015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Standard hardware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Delivery: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19260879-9433-0847-8209-2001BC7786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51624"/>
              </p:ext>
            </p:extLst>
          </p:nvPr>
        </p:nvGraphicFramePr>
        <p:xfrm>
          <a:off x="397687" y="2541712"/>
          <a:ext cx="5701757" cy="3498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Rate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397687" y="251015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65000"/>
                  </a:schemeClr>
                </a:solidFill>
                <a:cs typeface="+mn-ea"/>
                <a:sym typeface="+mn-lt"/>
              </a:rPr>
              <a:t>0.1 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894588"/>
            <a:ext cx="2016125" cy="338554"/>
            <a:chOff x="1471613" y="4870565"/>
            <a:chExt cx="2015690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=&gt;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startups comparison: Ayar Labs,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Lightmatter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, and Celestial AI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7428387583522493287E+00&quot;&gt;&lt;m_msothmcolidx val=&quot;0&quot;/&gt;&lt;m_rgb r=&quot;00&quot; g=&quot;52&quot; b=&quot;D9&quot;/&gt;&lt;/elem&gt;&lt;elem m_fUsage=&quot;4.39755252302736210357E-01&quot;&gt;&lt;m_msothmcolidx val=&quot;0&quot;/&gt;&lt;m_rgb r=&quot;C1&quot; g=&quot;E1&quot; b=&quot;FE&quot;/&gt;&lt;/elem&gt;&lt;elem m_fUsage=&quot;3.81520424476946215520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9AGnnBaZltFpC79uhRNkEU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NAGnnBaZltFpC79uhRNkEUDRGF0YQAWAAAAAlBlcnNvbmFsSWQAAQAAAAAAAk5hbWUACwAAAFBlcnNvbmFsSWQAEFZlcnNpb24AAAAAAAlMYXN0V3JpdGUAs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8880348"/>
  <p:tag name="EMPOWERCHARTSPROPERTIES_A_LENGTH" val="24576"/>
  <p:tag name="RUNTIME_ID" val="a42a71d3-1212-4f7b-9f92-078c8c21d33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Ut_zSweJQU1RUezW71I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tMrEXPFu6pSwzJcRULt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0MEdSfrSaDv.LAoG3pD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YNCtyhlJf_pUoSPgG0g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Y3UlfYMT7sTOaywcJBt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TXxeVCRYkidSOzqbR8e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rGpvmh9JzlH.e2oWZ9wF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6D4ZAckJPdeaoRVi0IOn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qj3A90TPHh1ZGjS04N2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7NWdC0EjBhNu2dzRw8G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gWc73Dbls8NwEOMv9Mo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zKy9Ca9e9p40r5qy0hE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sXZ7CwQoMy2ztWQLodw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0GeuDc1gEqYzYhfCBh2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BiCSrXgIsJdEX6fmrgg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bLTdEvrX2KppyNVxoQ8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IAKd8p_DYIw8zQZRg5n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Nt_G.51FchU_rKIRDvwm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xEb7ELwcbLBrdoVoHO8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UW9fOpqYVFQAm9zCUaL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zK0bw0JBn4OIaXWVOm0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RTI4kDB5fHcKog_oUEo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CHlON60YhDtMBi4Rcd1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ZsxVFpZ8vAuJi0Ti_f1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oX8tcph5wAE5BvMSLqZ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9o7WG2rBsqp5EBZmd8K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gywV900iGkeLOesWzDC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OjuiIYORNu7YdRC5b9y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RWuZDjJegpxfARVJWSJ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1pjKh8i.p9m_8V.Cmy8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n7KyDDzAUT3oLBTENhH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dD5dUxzfdwWVaaQgcJ8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81Juse4_6N4T3CiUJBH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5kj2XLrYRqUrn7uJlk2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NLKbHev4jR.Kzm8cFVa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eaafkBmv_v9t4iXJpYX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8xkHbz_JfkDm1DKlNQuW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C47CnNqYp3D42FRJ48MQ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T.KrK4gNyTT0LPd5ElfE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kLN5Cuky_hE8y9yeh4.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70mHRm2fj9hHgzmyXbg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XFwv1ylazqe1rhRF75Y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nYFqo0nbms3jjRchkNt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tmSuhW5xMD1W7aBGJdc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SPugWYXmHeFlv.QcWgf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48380</TotalTime>
  <Words>3577</Words>
  <Application>Microsoft Office PowerPoint</Application>
  <PresentationFormat>宽屏</PresentationFormat>
  <Paragraphs>892</Paragraphs>
  <Slides>31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CPO</vt:lpstr>
      <vt:lpstr>Table of contents</vt:lpstr>
      <vt:lpstr>Why the focus on CPO? Nvidia, Broadcom, and DeepSeek</vt:lpstr>
      <vt:lpstr>PowerPoint 演示文稿</vt:lpstr>
      <vt:lpstr>The copper speed wall in data center: breaking through with optical interconnects</vt:lpstr>
      <vt:lpstr>PowerPoint 演示文稿</vt:lpstr>
      <vt:lpstr>PowerPoint 演示文稿</vt:lpstr>
      <vt:lpstr>PowerPoint 演示文稿</vt:lpstr>
      <vt:lpstr>PO is currently the mainstream choice while tech giants target CPO soon</vt:lpstr>
      <vt:lpstr>Long-term path: CPO; Short-term path: multiple transition options</vt:lpstr>
      <vt:lpstr>IDC interconnect by distance: scale-up vs scale-out</vt:lpstr>
      <vt:lpstr>​Overseas: Scale-out first; Domestic: Scale-up or scale-out undetermined </vt:lpstr>
      <vt:lpstr>Overseas: pursue scale-out &amp; scale-up in parallel; CPO initial focus on scale-out (1-2 Years)</vt:lpstr>
      <vt:lpstr>Domestic Vendors Rely on Scale-Up to Close Performance Gap at High Power Cost</vt:lpstr>
      <vt:lpstr>CPO: a multi-billion-dollar market paved by data rate scaling</vt:lpstr>
      <vt:lpstr>CPO key modules: silicon photonics, electrical IC, switch ASIC, and integration &amp; delivery</vt:lpstr>
      <vt:lpstr>Supply chain: EICs &amp; switch chips - large Scale, high margin, long R&amp;D</vt:lpstr>
      <vt:lpstr>​Supply chain focus: Broadcom-led integrated giants and strategic domestic startups like ficonTEC</vt:lpstr>
      <vt:lpstr>Broadcom: the most comprehensive CPO capability profile</vt:lpstr>
      <vt:lpstr>Why Broadcom bets on CPO: aligning with HPC’s in-house ASIC trend + network support for ecosystem positioning</vt:lpstr>
      <vt:lpstr>Why Broadcom bets on CPO: aligning with HPC’s in-house ASIC trend + network support for ecosystem positioning</vt:lpstr>
      <vt:lpstr>FiconTEC: Key player for domestic substitution in CPO</vt:lpstr>
      <vt:lpstr>FiconTEC: Key player for domestic substitution in CPO</vt:lpstr>
      <vt:lpstr>PowerPoint 演示文稿</vt:lpstr>
      <vt:lpstr>Summary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5514</cp:revision>
  <dcterms:created xsi:type="dcterms:W3CDTF">2025-06-16T21:28:33Z</dcterms:created>
  <dcterms:modified xsi:type="dcterms:W3CDTF">2025-10-13T12:38:32Z</dcterms:modified>
</cp:coreProperties>
</file>