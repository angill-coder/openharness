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7.xml" ContentType="application/vnd.openxmlformats-officedocument.presentationml.notesSlide+xml"/>
  <Override PartName="/ppt/tags/tag64.xml" ContentType="application/vnd.openxmlformats-officedocument.presentationml.tags+xml"/>
  <Override PartName="/ppt/notesSlides/notesSlide8.xml" ContentType="application/vnd.openxmlformats-officedocument.presentationml.notesSlide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2.xml" ContentType="application/vnd.openxmlformats-officedocument.presentationml.notesSlide+xml"/>
  <Override PartName="/ppt/tags/tag112.xml" ContentType="application/vnd.openxmlformats-officedocument.presentationml.tags+xml"/>
  <Override PartName="/ppt/notesSlides/notesSlide13.xml" ContentType="application/vnd.openxmlformats-officedocument.presentationml.notesSlide+xml"/>
  <Override PartName="/ppt/tags/tag113.xml" ContentType="application/vnd.openxmlformats-officedocument.presentationml.tags+xml"/>
  <Override PartName="/ppt/notesSlides/notesSlide14.xml" ContentType="application/vnd.openxmlformats-officedocument.presentationml.notesSlide+xml"/>
  <Override PartName="/ppt/tags/tag114.xml" ContentType="application/vnd.openxmlformats-officedocument.presentationml.tags+xml"/>
  <Override PartName="/ppt/notesSlides/notesSlide15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16.xml" ContentType="application/vnd.openxmlformats-officedocument.presentationml.notesSlide+xml"/>
  <Override PartName="/ppt/tags/tag117.xml" ContentType="application/vnd.openxmlformats-officedocument.presentationml.tags+xml"/>
  <Override PartName="/ppt/notesSlides/notesSlide17.xml" ContentType="application/vnd.openxmlformats-officedocument.presentationml.notesSlide+xml"/>
  <Override PartName="/ppt/tags/tag118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1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9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20.xml" ContentType="application/vnd.openxmlformats-officedocument.presentationml.notesSlide+xml"/>
  <Override PartName="/ppt/tags/tag1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45" r:id="rId3"/>
    <p:sldId id="336" r:id="rId4"/>
    <p:sldId id="338" r:id="rId5"/>
    <p:sldId id="332" r:id="rId6"/>
    <p:sldId id="319" r:id="rId7"/>
    <p:sldId id="321" r:id="rId8"/>
    <p:sldId id="317" r:id="rId9"/>
    <p:sldId id="334" r:id="rId10"/>
    <p:sldId id="346" r:id="rId11"/>
    <p:sldId id="339" r:id="rId12"/>
    <p:sldId id="320" r:id="rId13"/>
    <p:sldId id="313" r:id="rId14"/>
    <p:sldId id="335" r:id="rId15"/>
    <p:sldId id="326" r:id="rId16"/>
    <p:sldId id="315" r:id="rId17"/>
    <p:sldId id="344" r:id="rId18"/>
    <p:sldId id="342" r:id="rId19"/>
    <p:sldId id="343" r:id="rId20"/>
    <p:sldId id="327" r:id="rId21"/>
    <p:sldId id="328" r:id="rId22"/>
    <p:sldId id="331" r:id="rId23"/>
    <p:sldId id="341" r:id="rId24"/>
    <p:sldId id="322" r:id="rId25"/>
    <p:sldId id="283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45"/>
            <p14:sldId id="336"/>
            <p14:sldId id="338"/>
            <p14:sldId id="332"/>
            <p14:sldId id="319"/>
            <p14:sldId id="321"/>
            <p14:sldId id="317"/>
            <p14:sldId id="334"/>
            <p14:sldId id="346"/>
            <p14:sldId id="339"/>
            <p14:sldId id="320"/>
            <p14:sldId id="313"/>
            <p14:sldId id="335"/>
            <p14:sldId id="326"/>
            <p14:sldId id="315"/>
            <p14:sldId id="344"/>
            <p14:sldId id="342"/>
            <p14:sldId id="343"/>
            <p14:sldId id="327"/>
            <p14:sldId id="328"/>
            <p14:sldId id="331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DDE3F1"/>
    <a:srgbClr val="F2F2F2"/>
    <a:srgbClr val="0365C0"/>
    <a:srgbClr val="8C929A"/>
    <a:srgbClr val="C2C5C9"/>
    <a:srgbClr val="FF7201"/>
    <a:srgbClr val="FFFFFF"/>
    <a:srgbClr val="DCDEE0"/>
    <a:srgbClr val="EB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92207" autoAdjust="0"/>
  </p:normalViewPr>
  <p:slideViewPr>
    <p:cSldViewPr snapToGrid="0">
      <p:cViewPr>
        <p:scale>
          <a:sx n="125" d="100"/>
          <a:sy n="125" d="100"/>
        </p:scale>
        <p:origin x="196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算力与传输速率!$M$2</c:f>
              <c:strCache>
                <c:ptCount val="1"/>
                <c:pt idx="0">
                  <c:v>每line速率（Gbps）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算力与传输速率!$L$3:$L$6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算力与传输速率!$M$3:$M$6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6B-426D-8E47-AA62801B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181186613901992"/>
          <c:y val="0.88719030460072612"/>
          <c:w val="0.51716575965549116"/>
          <c:h val="7.3644547012699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8.5526315789473686E-2"/>
          <c:w val="0.88880733944954127"/>
          <c:h val="0.82894736842105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85F-48E6-B583-8D7ACAF5DEEF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5F-48E6-B583-8D7ACAF5D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23044000"/>
        <c:axId val="1"/>
      </c:barChart>
      <c:catAx>
        <c:axId val="9230440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3044000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11201392919326755"/>
          <c:w val="0.82752902155887231"/>
          <c:h val="0.775972141613464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4561810795124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2F2-4FF3-8C8F-AB1F24AB3604}"/>
                </c:ext>
              </c:extLst>
            </c:dLbl>
            <c:dLbl>
              <c:idx val="1"/>
              <c:layout>
                <c:manualLayout>
                  <c:x val="0"/>
                  <c:y val="-0.391758560650029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F2-4FF3-8C8F-AB1F24AB360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2F2-4FF3-8C8F-AB1F24AB3604}"/>
              </c:ext>
            </c:extLst>
          </c:dPt>
          <c:dLbls>
            <c:dLbl>
              <c:idx val="0"/>
              <c:layout>
                <c:manualLayout>
                  <c:x val="0"/>
                  <c:y val="9.866511897852581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2F2-4FF3-8C8F-AB1F24AB3604}"/>
                </c:ext>
              </c:extLst>
            </c:dLbl>
            <c:dLbl>
              <c:idx val="1"/>
              <c:layout>
                <c:manualLayout>
                  <c:x val="0"/>
                  <c:y val="-4.236796285548462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2F2-4FF3-8C8F-AB1F24AB36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7407009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2F2-4FF3-8C8F-AB1F24AB3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374070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4070096"/>
        <c:crosses val="min"/>
        <c:crossBetween val="between"/>
        <c:majorUnit val="2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284128020901372"/>
          <c:y val="0.17797356828193833"/>
          <c:w val="0.83017635532331813"/>
          <c:h val="0.6519823788546255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6519823788546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69-489E-A21E-C3AB5D0B4249}"/>
                </c:ext>
              </c:extLst>
            </c:dLbl>
            <c:dLbl>
              <c:idx val="1"/>
              <c:layout>
                <c:manualLayout>
                  <c:x val="0"/>
                  <c:y val="-0.220264317180616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369-489E-A21E-C3AB5D0B4249}"/>
                </c:ext>
              </c:extLst>
            </c:dLbl>
            <c:dLbl>
              <c:idx val="2"/>
              <c:layout>
                <c:manualLayout>
                  <c:x val="0"/>
                  <c:y val="-0.138325991189427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69-489E-A21E-C3AB5D0B4249}"/>
                </c:ext>
              </c:extLst>
            </c:dLbl>
            <c:dLbl>
              <c:idx val="3"/>
              <c:layout>
                <c:manualLayout>
                  <c:x val="0"/>
                  <c:y val="-0.105726872246696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69-489E-A21E-C3AB5D0B424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9-489E-A21E-C3AB5D0B4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98808272"/>
        <c:axId val="1"/>
      </c:barChart>
      <c:catAx>
        <c:axId val="4988082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808272"/>
        <c:crosses val="min"/>
        <c:crossBetween val="between"/>
        <c:majorUnit val="5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20104166666666667"/>
          <c:w val="0.75137783221065524"/>
          <c:h val="0.5979166666666666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6458333333333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4BF-40A0-89F2-8EB1BCA4A98C}"/>
                </c:ext>
              </c:extLst>
            </c:dLbl>
            <c:dLbl>
              <c:idx val="1"/>
              <c:layout>
                <c:manualLayout>
                  <c:x val="0"/>
                  <c:y val="-0.2656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4BF-40A0-89F2-8EB1BCA4A98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BF-40A0-89F2-8EB1BCA4A98C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4BF-40A0-89F2-8EB1BCA4A98C}"/>
              </c:ext>
            </c:extLst>
          </c:dPt>
          <c:dLbls>
            <c:dLbl>
              <c:idx val="0"/>
              <c:layout>
                <c:manualLayout>
                  <c:x val="0"/>
                  <c:y val="-4.166666666666666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4BF-40A0-89F2-8EB1BCA4A98C}"/>
                </c:ext>
              </c:extLst>
            </c:dLbl>
            <c:dLbl>
              <c:idx val="1"/>
              <c:layout>
                <c:manualLayout>
                  <c:x val="0"/>
                  <c:y val="-0.325000000000000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4BF-40A0-89F2-8EB1BCA4A98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BF-40A0-89F2-8EB1BCA4A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917965040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F4BF-40A0-89F2-8EB1BCA4A9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9179650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17965040"/>
        <c:crosses val="max"/>
        <c:crossBetween val="between"/>
        <c:majorUnit val="5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0038412291933419"/>
          <c:y val="0.19734151329243355"/>
          <c:w val="0.76632522407170289"/>
          <c:h val="0.605316973415132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30061349693251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3D0-4337-9CC7-DC491061245C}"/>
                </c:ext>
              </c:extLst>
            </c:dLbl>
            <c:dLbl>
              <c:idx val="1"/>
              <c:layout>
                <c:manualLayout>
                  <c:x val="0"/>
                  <c:y val="-9.10020449897750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3D0-4337-9CC7-DC49106124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7.2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D0-4337-9CC7-DC491061245C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86094069529652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3D0-4337-9CC7-DC491061245C}"/>
                </c:ext>
              </c:extLst>
            </c:dLbl>
            <c:dLbl>
              <c:idx val="1"/>
              <c:layout>
                <c:manualLayout>
                  <c:x val="0"/>
                  <c:y val="-0.301635991820040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3D0-4337-9CC7-DC49106124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5.18</c:v>
                </c:pt>
                <c:pt idx="1">
                  <c:v>10.75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3D0-4337-9CC7-DC49106124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862003840"/>
        <c:axId val="1"/>
      </c:barChart>
      <c:catAx>
        <c:axId val="8620038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62003840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709677419354838"/>
          <c:y val="0.25674418604651161"/>
          <c:w val="0.72634408602150535"/>
          <c:h val="0.5637209302325580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9069767441860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B86-4EC4-8F04-DAC63B8679F3}"/>
                </c:ext>
              </c:extLst>
            </c:dLbl>
            <c:dLbl>
              <c:idx val="1"/>
              <c:layout>
                <c:manualLayout>
                  <c:x val="0"/>
                  <c:y val="-0.155348837209302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B86-4EC4-8F04-DAC63B8679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2500</c:v>
                </c:pt>
                <c:pt idx="1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86-4EC4-8F04-DAC63B8679F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6511627906976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B86-4EC4-8F04-DAC63B8679F3}"/>
                </c:ext>
              </c:extLst>
            </c:dLbl>
            <c:dLbl>
              <c:idx val="1"/>
              <c:layout>
                <c:manualLayout>
                  <c:x val="0"/>
                  <c:y val="-4.744186046511628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B86-4EC4-8F04-DAC63B8679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180</c:v>
                </c:pt>
                <c:pt idx="1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B86-4EC4-8F04-DAC63B867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53090880"/>
        <c:axId val="1"/>
      </c:barChart>
      <c:catAx>
        <c:axId val="153090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30908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1063196930447839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营收（左）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净利润（左）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毛利率（右）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397209602633906"/>
          <c:y val="0.20277245578292413"/>
          <c:w val="0.26602790397366088"/>
          <c:h val="0.5944542790052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光互连及</a:t>
            </a:r>
            <a:r>
              <a:rPr lang="en-US" altLang="zh-CN" dirty="0"/>
              <a:t>CPO</a:t>
            </a:r>
            <a:r>
              <a:rPr lang="zh-CN" altLang="en-US" dirty="0"/>
              <a:t>是什么、为什么重要？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及</a:t>
            </a:r>
            <a:r>
              <a:rPr lang="en-US" altLang="zh-CN" dirty="0"/>
              <a:t>OIO</a:t>
            </a:r>
            <a:r>
              <a:rPr lang="zh-CN" altLang="en-US" dirty="0"/>
              <a:t>市场怎么样，会有什么公司机会？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9CE3-6066-5E43-E06A-1830CCF2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EC7BC-BD18-BACA-5808-947EC495C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613A55-4B40-555D-4F38-9E682164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74761D-3A91-1244-A83E-975B34D59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083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为了解决互连难题，过去出现了四条技术路线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四种技术是并行的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为了支撑传输速率从</a:t>
            </a:r>
            <a:r>
              <a:rPr lang="en-US" altLang="zh-CN" dirty="0"/>
              <a:t>Gbps</a:t>
            </a:r>
            <a:r>
              <a:rPr lang="zh-CN" altLang="en-US" dirty="0"/>
              <a:t>到</a:t>
            </a:r>
            <a:r>
              <a:rPr lang="en-US" altLang="zh-CN" dirty="0" err="1"/>
              <a:t>Tbps</a:t>
            </a:r>
            <a:r>
              <a:rPr lang="zh-CN" altLang="en-US" dirty="0"/>
              <a:t>，每种技术不断发展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铜和可插拔光模块共存了很长一段时间，未来铜互联、可插拔光模块、</a:t>
            </a:r>
            <a:r>
              <a:rPr lang="en-US" altLang="zh-CN" dirty="0"/>
              <a:t>CPO</a:t>
            </a:r>
            <a:r>
              <a:rPr lang="zh-CN" altLang="en-US" dirty="0"/>
              <a:t>仍将共存一段时间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3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IDC</a:t>
            </a:r>
            <a:r>
              <a:rPr lang="zh-CN" altLang="en-US" dirty="0"/>
              <a:t>的迅猛扩张，算力、卡数增长带来三大互联难题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光互连大势所趋，开始详细讲光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宏观视角，光的三种技术路径的差异，以及当前所处阶段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差异：连接距离，速率上限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阶段：规模看市场成熟度，动向看商业化阶段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讲完光的宏观，进入微观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相比可插拔到底解决了什么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从图上看，拆分整合（光引擎、光源）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缩距降低功耗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拆分光源解决散热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6C02-E088-2E0B-9126-DEF2854B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162037-D5A8-57F7-9B1E-52E4DBF63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10B93E-4CA2-5E9E-C2A6-47C6D4E78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FB28CC-6807-F805-356C-8B6C2D9C8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78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范式迁移下存在着变与不变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不变：三层对应关系不变，周边硬件等低附加值、接口芯片层、封装层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变：迁移过程中，新玩家涌入，投资关注点迁移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6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For</a:t>
            </a:r>
            <a:r>
              <a:rPr lang="zh-CN" altLang="en-US" dirty="0"/>
              <a:t>简单理解</a:t>
            </a:r>
            <a:r>
              <a:rPr lang="en-US" altLang="zh-CN" dirty="0"/>
              <a:t>CPO</a:t>
            </a:r>
            <a:r>
              <a:rPr lang="zh-CN" altLang="en-US" dirty="0"/>
              <a:t>关键环节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用跨语言通话理解：当我和一个说韩语的人打电话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光纤：电话线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激光器：喇叭。这俩没那么重要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硅光：翻译官，光电互译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电光：声音润色，让声音更大，听得更清楚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交换机：末端首脑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占比较大、规模较大、毛利较高，电相关芯片，</a:t>
            </a:r>
            <a:r>
              <a:rPr lang="en-US" altLang="zh-CN" dirty="0"/>
              <a:t>EIC</a:t>
            </a:r>
            <a:r>
              <a:rPr lang="zh-CN" altLang="en-US" dirty="0"/>
              <a:t>、</a:t>
            </a:r>
            <a:r>
              <a:rPr lang="en-US" altLang="zh-CN" dirty="0"/>
              <a:t>Switch ASIC</a:t>
            </a:r>
            <a:r>
              <a:rPr lang="zh-CN" altLang="en-US" dirty="0"/>
              <a:t>，但增速低，偏向于低价渗透</a:t>
            </a:r>
            <a:r>
              <a:rPr lang="en-US" altLang="zh-CN" dirty="0"/>
              <a:t>=&gt;</a:t>
            </a:r>
            <a:r>
              <a:rPr lang="zh-CN" altLang="en-US" dirty="0"/>
              <a:t>起量逻辑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4A0E1-D00F-46B9-73D8-430CF7BB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626B03-19EF-2DE2-00DB-92BB4C379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0D0A6F-89AE-4F21-9A68-F65A4AE64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B180D-30E9-1482-AB2F-AA58CA77C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15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chart" Target="../charts/chart1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image" Target="../media/image7.emf"/><Relationship Id="rId2" Type="http://schemas.openxmlformats.org/officeDocument/2006/relationships/tags" Target="../tags/tag7.xml"/><Relationship Id="rId16" Type="http://schemas.openxmlformats.org/officeDocument/2006/relationships/oleObject" Target="../embeddings/oleObject5.bin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5.xml"/><Relationship Id="rId19" Type="http://schemas.openxmlformats.org/officeDocument/2006/relationships/chart" Target="../charts/char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21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10" Type="http://schemas.openxmlformats.org/officeDocument/2006/relationships/chart" Target="../charts/chart3.xml"/><Relationship Id="rId4" Type="http://schemas.openxmlformats.org/officeDocument/2006/relationships/tags" Target="../tags/tag22.xml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26" Type="http://schemas.openxmlformats.org/officeDocument/2006/relationships/tags" Target="../tags/tag49.xml"/><Relationship Id="rId39" Type="http://schemas.openxmlformats.org/officeDocument/2006/relationships/chart" Target="../charts/chart5.xml"/><Relationship Id="rId21" Type="http://schemas.openxmlformats.org/officeDocument/2006/relationships/tags" Target="../tags/tag44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tags" Target="../tags/tag48.xml"/><Relationship Id="rId33" Type="http://schemas.openxmlformats.org/officeDocument/2006/relationships/tags" Target="../tags/tag56.xml"/><Relationship Id="rId38" Type="http://schemas.openxmlformats.org/officeDocument/2006/relationships/chart" Target="../charts/chart4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0" Type="http://schemas.openxmlformats.org/officeDocument/2006/relationships/tags" Target="../tags/tag43.xml"/><Relationship Id="rId29" Type="http://schemas.openxmlformats.org/officeDocument/2006/relationships/tags" Target="../tags/tag52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24" Type="http://schemas.openxmlformats.org/officeDocument/2006/relationships/tags" Target="../tags/tag47.xml"/><Relationship Id="rId32" Type="http://schemas.openxmlformats.org/officeDocument/2006/relationships/tags" Target="../tags/tag55.xml"/><Relationship Id="rId37" Type="http://schemas.openxmlformats.org/officeDocument/2006/relationships/image" Target="../media/image7.emf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28" Type="http://schemas.openxmlformats.org/officeDocument/2006/relationships/tags" Target="../tags/tag51.xml"/><Relationship Id="rId36" Type="http://schemas.openxmlformats.org/officeDocument/2006/relationships/oleObject" Target="../embeddings/oleObject7.bin"/><Relationship Id="rId10" Type="http://schemas.openxmlformats.org/officeDocument/2006/relationships/tags" Target="../tags/tag33.xml"/><Relationship Id="rId19" Type="http://schemas.openxmlformats.org/officeDocument/2006/relationships/tags" Target="../tags/tag42.xml"/><Relationship Id="rId31" Type="http://schemas.openxmlformats.org/officeDocument/2006/relationships/tags" Target="../tags/tag54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tags" Target="../tags/tag45.xml"/><Relationship Id="rId27" Type="http://schemas.openxmlformats.org/officeDocument/2006/relationships/tags" Target="../tags/tag50.xml"/><Relationship Id="rId30" Type="http://schemas.openxmlformats.org/officeDocument/2006/relationships/tags" Target="../tags/tag53.xml"/><Relationship Id="rId35" Type="http://schemas.openxmlformats.org/officeDocument/2006/relationships/notesSlide" Target="../notesSlides/notesSlide6.xml"/><Relationship Id="rId8" Type="http://schemas.openxmlformats.org/officeDocument/2006/relationships/tags" Target="../tags/tag31.xml"/><Relationship Id="rId3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tags" Target="../tags/tag59.xml"/><Relationship Id="rId21" Type="http://schemas.openxmlformats.org/officeDocument/2006/relationships/image" Target="../media/image18.png"/><Relationship Id="rId7" Type="http://schemas.openxmlformats.org/officeDocument/2006/relationships/tags" Target="../tags/tag63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tags" Target="../tags/tag58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image" Target="../media/image8.emf"/><Relationship Id="rId5" Type="http://schemas.openxmlformats.org/officeDocument/2006/relationships/tags" Target="../tags/tag61.xml"/><Relationship Id="rId15" Type="http://schemas.openxmlformats.org/officeDocument/2006/relationships/image" Target="../media/image12.png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6.png"/><Relationship Id="rId4" Type="http://schemas.openxmlformats.org/officeDocument/2006/relationships/tags" Target="../tags/tag60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9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Relationship Id="rId6" Type="http://schemas.openxmlformats.org/officeDocument/2006/relationships/image" Target="../media/image20.png"/><Relationship Id="rId11" Type="http://schemas.microsoft.com/office/2007/relationships/hdphoto" Target="../media/hdphoto3.wdp"/><Relationship Id="rId5" Type="http://schemas.openxmlformats.org/officeDocument/2006/relationships/image" Target="../media/image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10.bin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2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26" Type="http://schemas.openxmlformats.org/officeDocument/2006/relationships/tags" Target="../tags/tag92.xml"/><Relationship Id="rId39" Type="http://schemas.openxmlformats.org/officeDocument/2006/relationships/tags" Target="../tags/tag105.xml"/><Relationship Id="rId21" Type="http://schemas.openxmlformats.org/officeDocument/2006/relationships/tags" Target="../tags/tag87.xml"/><Relationship Id="rId34" Type="http://schemas.openxmlformats.org/officeDocument/2006/relationships/tags" Target="../tags/tag100.xml"/><Relationship Id="rId42" Type="http://schemas.openxmlformats.org/officeDocument/2006/relationships/tags" Target="../tags/tag108.xml"/><Relationship Id="rId47" Type="http://schemas.openxmlformats.org/officeDocument/2006/relationships/image" Target="../media/image7.emf"/><Relationship Id="rId50" Type="http://schemas.openxmlformats.org/officeDocument/2006/relationships/chart" Target="../charts/chart8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29" Type="http://schemas.openxmlformats.org/officeDocument/2006/relationships/tags" Target="../tags/tag95.xml"/><Relationship Id="rId11" Type="http://schemas.openxmlformats.org/officeDocument/2006/relationships/tags" Target="../tags/tag77.xml"/><Relationship Id="rId24" Type="http://schemas.openxmlformats.org/officeDocument/2006/relationships/tags" Target="../tags/tag90.xml"/><Relationship Id="rId32" Type="http://schemas.openxmlformats.org/officeDocument/2006/relationships/tags" Target="../tags/tag98.xml"/><Relationship Id="rId37" Type="http://schemas.openxmlformats.org/officeDocument/2006/relationships/tags" Target="../tags/tag103.xml"/><Relationship Id="rId40" Type="http://schemas.openxmlformats.org/officeDocument/2006/relationships/tags" Target="../tags/tag106.xml"/><Relationship Id="rId45" Type="http://schemas.openxmlformats.org/officeDocument/2006/relationships/notesSlide" Target="../notesSlides/notesSlide11.xml"/><Relationship Id="rId53" Type="http://schemas.microsoft.com/office/2007/relationships/hdphoto" Target="../media/hdphoto1.wdp"/><Relationship Id="rId5" Type="http://schemas.openxmlformats.org/officeDocument/2006/relationships/tags" Target="../tags/tag71.xml"/><Relationship Id="rId10" Type="http://schemas.openxmlformats.org/officeDocument/2006/relationships/tags" Target="../tags/tag76.xml"/><Relationship Id="rId19" Type="http://schemas.openxmlformats.org/officeDocument/2006/relationships/tags" Target="../tags/tag85.xml"/><Relationship Id="rId31" Type="http://schemas.openxmlformats.org/officeDocument/2006/relationships/tags" Target="../tags/tag97.xml"/><Relationship Id="rId44" Type="http://schemas.openxmlformats.org/officeDocument/2006/relationships/slideLayout" Target="../slideLayouts/slideLayout2.xml"/><Relationship Id="rId52" Type="http://schemas.openxmlformats.org/officeDocument/2006/relationships/image" Target="../media/image20.png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Relationship Id="rId22" Type="http://schemas.openxmlformats.org/officeDocument/2006/relationships/tags" Target="../tags/tag88.xml"/><Relationship Id="rId27" Type="http://schemas.openxmlformats.org/officeDocument/2006/relationships/tags" Target="../tags/tag93.xml"/><Relationship Id="rId30" Type="http://schemas.openxmlformats.org/officeDocument/2006/relationships/tags" Target="../tags/tag96.xml"/><Relationship Id="rId35" Type="http://schemas.openxmlformats.org/officeDocument/2006/relationships/tags" Target="../tags/tag101.xml"/><Relationship Id="rId43" Type="http://schemas.openxmlformats.org/officeDocument/2006/relationships/tags" Target="../tags/tag109.xml"/><Relationship Id="rId48" Type="http://schemas.openxmlformats.org/officeDocument/2006/relationships/chart" Target="../charts/chart6.xml"/><Relationship Id="rId8" Type="http://schemas.openxmlformats.org/officeDocument/2006/relationships/tags" Target="../tags/tag74.xml"/><Relationship Id="rId51" Type="http://schemas.openxmlformats.org/officeDocument/2006/relationships/chart" Target="../charts/chart9.xml"/><Relationship Id="rId3" Type="http://schemas.openxmlformats.org/officeDocument/2006/relationships/tags" Target="../tags/tag69.xml"/><Relationship Id="rId12" Type="http://schemas.openxmlformats.org/officeDocument/2006/relationships/tags" Target="../tags/tag78.xml"/><Relationship Id="rId17" Type="http://schemas.openxmlformats.org/officeDocument/2006/relationships/tags" Target="../tags/tag83.xml"/><Relationship Id="rId25" Type="http://schemas.openxmlformats.org/officeDocument/2006/relationships/tags" Target="../tags/tag91.xml"/><Relationship Id="rId33" Type="http://schemas.openxmlformats.org/officeDocument/2006/relationships/tags" Target="../tags/tag99.xml"/><Relationship Id="rId38" Type="http://schemas.openxmlformats.org/officeDocument/2006/relationships/tags" Target="../tags/tag104.xml"/><Relationship Id="rId46" Type="http://schemas.openxmlformats.org/officeDocument/2006/relationships/oleObject" Target="../embeddings/oleObject12.bin"/><Relationship Id="rId20" Type="http://schemas.openxmlformats.org/officeDocument/2006/relationships/tags" Target="../tags/tag86.xml"/><Relationship Id="rId41" Type="http://schemas.openxmlformats.org/officeDocument/2006/relationships/tags" Target="../tags/tag107.xml"/><Relationship Id="rId54" Type="http://schemas.openxmlformats.org/officeDocument/2006/relationships/image" Target="../media/image25.png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5" Type="http://schemas.openxmlformats.org/officeDocument/2006/relationships/tags" Target="../tags/tag81.xml"/><Relationship Id="rId23" Type="http://schemas.openxmlformats.org/officeDocument/2006/relationships/tags" Target="../tags/tag89.xml"/><Relationship Id="rId28" Type="http://schemas.openxmlformats.org/officeDocument/2006/relationships/tags" Target="../tags/tag94.xml"/><Relationship Id="rId36" Type="http://schemas.openxmlformats.org/officeDocument/2006/relationships/tags" Target="../tags/tag102.xml"/><Relationship Id="rId49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26.png"/><Relationship Id="rId12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6" Type="http://schemas.openxmlformats.org/officeDocument/2006/relationships/image" Target="../media/image13.png"/><Relationship Id="rId11" Type="http://schemas.openxmlformats.org/officeDocument/2006/relationships/image" Target="../media/image30.png"/><Relationship Id="rId5" Type="http://schemas.openxmlformats.org/officeDocument/2006/relationships/image" Target="../media/image12.png"/><Relationship Id="rId15" Type="http://schemas.openxmlformats.org/officeDocument/2006/relationships/image" Target="../media/image34.png"/><Relationship Id="rId10" Type="http://schemas.openxmlformats.org/officeDocument/2006/relationships/image" Target="../media/image29.jpeg"/><Relationship Id="rId4" Type="http://schemas.openxmlformats.org/officeDocument/2006/relationships/image" Target="../media/image7.emf"/><Relationship Id="rId9" Type="http://schemas.openxmlformats.org/officeDocument/2006/relationships/image" Target="../media/image28.png"/><Relationship Id="rId1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6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6" Type="http://schemas.openxmlformats.org/officeDocument/2006/relationships/image" Target="../media/image3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14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image" Target="../media/image39.png"/><Relationship Id="rId11" Type="http://schemas.microsoft.com/office/2007/relationships/hdphoto" Target="../media/hdphoto5.wdp"/><Relationship Id="rId5" Type="http://schemas.openxmlformats.org/officeDocument/2006/relationships/image" Target="../media/image7.emf"/><Relationship Id="rId10" Type="http://schemas.openxmlformats.org/officeDocument/2006/relationships/image" Target="../media/image42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47.png"/><Relationship Id="rId18" Type="http://schemas.openxmlformats.org/officeDocument/2006/relationships/image" Target="../media/image50.png"/><Relationship Id="rId3" Type="http://schemas.openxmlformats.org/officeDocument/2006/relationships/notesSlide" Target="../notesSlides/notesSlide15.xml"/><Relationship Id="rId7" Type="http://schemas.microsoft.com/office/2007/relationships/hdphoto" Target="../media/hdphoto6.wdp"/><Relationship Id="rId12" Type="http://schemas.openxmlformats.org/officeDocument/2006/relationships/image" Target="../media/image10.png"/><Relationship Id="rId1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png"/><Relationship Id="rId1" Type="http://schemas.openxmlformats.org/officeDocument/2006/relationships/tags" Target="../tags/tag114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7.emf"/><Relationship Id="rId15" Type="http://schemas.openxmlformats.org/officeDocument/2006/relationships/image" Target="../media/image48.png"/><Relationship Id="rId10" Type="http://schemas.openxmlformats.org/officeDocument/2006/relationships/image" Target="../media/image45.png"/><Relationship Id="rId19" Type="http://schemas.openxmlformats.org/officeDocument/2006/relationships/image" Target="../media/image51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4.png"/><Relationship Id="rId14" Type="http://schemas.microsoft.com/office/2007/relationships/hdphoto" Target="../media/hdphoto7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9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53.png"/><Relationship Id="rId12" Type="http://schemas.microsoft.com/office/2007/relationships/hdphoto" Target="../media/hdphoto7.wdp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tags" Target="../tags/tag115.xml"/><Relationship Id="rId6" Type="http://schemas.openxmlformats.org/officeDocument/2006/relationships/image" Target="../media/image14.png"/><Relationship Id="rId11" Type="http://schemas.openxmlformats.org/officeDocument/2006/relationships/image" Target="../media/image47.png"/><Relationship Id="rId5" Type="http://schemas.openxmlformats.org/officeDocument/2006/relationships/image" Target="../media/image52.png"/><Relationship Id="rId15" Type="http://schemas.openxmlformats.org/officeDocument/2006/relationships/image" Target="../media/image54.png"/><Relationship Id="rId10" Type="http://schemas.openxmlformats.org/officeDocument/2006/relationships/image" Target="../media/image44.jpeg"/><Relationship Id="rId4" Type="http://schemas.openxmlformats.org/officeDocument/2006/relationships/image" Target="../media/image7.emf"/><Relationship Id="rId9" Type="http://schemas.microsoft.com/office/2007/relationships/hdphoto" Target="../media/hdphoto6.wdp"/><Relationship Id="rId14" Type="http://schemas.microsoft.com/office/2007/relationships/hdphoto" Target="../media/hdphoto8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Relationship Id="rId6" Type="http://schemas.openxmlformats.org/officeDocument/2006/relationships/image" Target="../media/image55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Relationship Id="rId6" Type="http://schemas.openxmlformats.org/officeDocument/2006/relationships/image" Target="../media/image56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chart" Target="../charts/chart11.xml"/><Relationship Id="rId18" Type="http://schemas.openxmlformats.org/officeDocument/2006/relationships/image" Target="../media/image18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58.svg"/><Relationship Id="rId12" Type="http://schemas.openxmlformats.org/officeDocument/2006/relationships/image" Target="../media/image62.png"/><Relationship Id="rId17" Type="http://schemas.openxmlformats.org/officeDocument/2006/relationships/image" Target="../media/image6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chart" Target="../charts/chart13.xml"/><Relationship Id="rId1" Type="http://schemas.openxmlformats.org/officeDocument/2006/relationships/tags" Target="../tags/tag118.xml"/><Relationship Id="rId6" Type="http://schemas.openxmlformats.org/officeDocument/2006/relationships/image" Target="../media/image57.png"/><Relationship Id="rId11" Type="http://schemas.openxmlformats.org/officeDocument/2006/relationships/image" Target="../media/image61.png"/><Relationship Id="rId5" Type="http://schemas.openxmlformats.org/officeDocument/2006/relationships/image" Target="../media/image8.emf"/><Relationship Id="rId15" Type="http://schemas.openxmlformats.org/officeDocument/2006/relationships/image" Target="../media/image14.png"/><Relationship Id="rId10" Type="http://schemas.openxmlformats.org/officeDocument/2006/relationships/chart" Target="../charts/chart10.xml"/><Relationship Id="rId19" Type="http://schemas.openxmlformats.org/officeDocument/2006/relationships/image" Target="../media/image64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60.svg"/><Relationship Id="rId14" Type="http://schemas.openxmlformats.org/officeDocument/2006/relationships/chart" Target="../charts/char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4.png"/><Relationship Id="rId18" Type="http://schemas.openxmlformats.org/officeDocument/2006/relationships/image" Target="../media/image68.png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image" Target="../media/image16.png"/><Relationship Id="rId17" Type="http://schemas.openxmlformats.org/officeDocument/2006/relationships/image" Target="../media/image67.png"/><Relationship Id="rId2" Type="http://schemas.openxmlformats.org/officeDocument/2006/relationships/tags" Target="../tags/tag120.xml"/><Relationship Id="rId16" Type="http://schemas.openxmlformats.org/officeDocument/2006/relationships/image" Target="../media/image66.jpeg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image" Target="../media/image8.emf"/><Relationship Id="rId5" Type="http://schemas.openxmlformats.org/officeDocument/2006/relationships/tags" Target="../tags/tag123.xml"/><Relationship Id="rId15" Type="http://schemas.openxmlformats.org/officeDocument/2006/relationships/image" Target="../media/image65.png"/><Relationship Id="rId10" Type="http://schemas.openxmlformats.org/officeDocument/2006/relationships/oleObject" Target="../embeddings/oleObject22.bin"/><Relationship Id="rId4" Type="http://schemas.openxmlformats.org/officeDocument/2006/relationships/tags" Target="../tags/tag122.xml"/><Relationship Id="rId9" Type="http://schemas.openxmlformats.org/officeDocument/2006/relationships/notesSlide" Target="../notesSlides/notesSlide19.xml"/><Relationship Id="rId1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Relationship Id="rId4" Type="http://schemas.openxmlformats.org/officeDocument/2006/relationships/image" Target="../media/image8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4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.png"/><Relationship Id="rId1" Type="http://schemas.openxmlformats.org/officeDocument/2006/relationships/tags" Target="../tags/tag127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5" Type="http://schemas.openxmlformats.org/officeDocument/2006/relationships/image" Target="../media/image8.emf"/><Relationship Id="rId15" Type="http://schemas.openxmlformats.org/officeDocument/2006/relationships/image" Target="../media/image76.png"/><Relationship Id="rId10" Type="http://schemas.openxmlformats.org/officeDocument/2006/relationships/image" Target="../media/image48.png"/><Relationship Id="rId19" Type="http://schemas.openxmlformats.org/officeDocument/2006/relationships/image" Target="../media/image80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71.png"/><Relationship Id="rId14" Type="http://schemas.openxmlformats.org/officeDocument/2006/relationships/image" Target="../media/image75.jpe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18" Type="http://schemas.openxmlformats.org/officeDocument/2006/relationships/image" Target="../media/image90.png"/><Relationship Id="rId26" Type="http://schemas.openxmlformats.org/officeDocument/2006/relationships/image" Target="../media/image97.png"/><Relationship Id="rId39" Type="http://schemas.openxmlformats.org/officeDocument/2006/relationships/image" Target="../media/image109.png"/><Relationship Id="rId21" Type="http://schemas.openxmlformats.org/officeDocument/2006/relationships/image" Target="../media/image93.png"/><Relationship Id="rId34" Type="http://schemas.openxmlformats.org/officeDocument/2006/relationships/image" Target="../media/image104.png"/><Relationship Id="rId42" Type="http://schemas.openxmlformats.org/officeDocument/2006/relationships/image" Target="../media/image112.png"/><Relationship Id="rId47" Type="http://schemas.openxmlformats.org/officeDocument/2006/relationships/image" Target="../media/image116.png"/><Relationship Id="rId50" Type="http://schemas.openxmlformats.org/officeDocument/2006/relationships/image" Target="../media/image119.png"/><Relationship Id="rId55" Type="http://schemas.openxmlformats.org/officeDocument/2006/relationships/image" Target="../media/image124.png"/><Relationship Id="rId63" Type="http://schemas.openxmlformats.org/officeDocument/2006/relationships/image" Target="../media/image132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png"/><Relationship Id="rId29" Type="http://schemas.openxmlformats.org/officeDocument/2006/relationships/image" Target="../media/image100.png"/><Relationship Id="rId11" Type="http://schemas.openxmlformats.org/officeDocument/2006/relationships/image" Target="../media/image85.png"/><Relationship Id="rId24" Type="http://schemas.openxmlformats.org/officeDocument/2006/relationships/image" Target="../media/image95.png"/><Relationship Id="rId32" Type="http://schemas.openxmlformats.org/officeDocument/2006/relationships/image" Target="../media/image71.png"/><Relationship Id="rId37" Type="http://schemas.openxmlformats.org/officeDocument/2006/relationships/image" Target="../media/image107.png"/><Relationship Id="rId40" Type="http://schemas.openxmlformats.org/officeDocument/2006/relationships/image" Target="../media/image110.png"/><Relationship Id="rId45" Type="http://schemas.openxmlformats.org/officeDocument/2006/relationships/image" Target="../media/image114.png"/><Relationship Id="rId53" Type="http://schemas.openxmlformats.org/officeDocument/2006/relationships/image" Target="../media/image122.png"/><Relationship Id="rId58" Type="http://schemas.openxmlformats.org/officeDocument/2006/relationships/image" Target="../media/image127.png"/><Relationship Id="rId5" Type="http://schemas.openxmlformats.org/officeDocument/2006/relationships/image" Target="../media/image81.png"/><Relationship Id="rId61" Type="http://schemas.openxmlformats.org/officeDocument/2006/relationships/image" Target="../media/image130.png"/><Relationship Id="rId19" Type="http://schemas.openxmlformats.org/officeDocument/2006/relationships/image" Target="../media/image91.png"/><Relationship Id="rId14" Type="http://schemas.openxmlformats.org/officeDocument/2006/relationships/image" Target="../media/image87.png"/><Relationship Id="rId22" Type="http://schemas.openxmlformats.org/officeDocument/2006/relationships/image" Target="../media/image70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Relationship Id="rId35" Type="http://schemas.openxmlformats.org/officeDocument/2006/relationships/image" Target="../media/image105.png"/><Relationship Id="rId43" Type="http://schemas.openxmlformats.org/officeDocument/2006/relationships/image" Target="../media/image48.png"/><Relationship Id="rId48" Type="http://schemas.openxmlformats.org/officeDocument/2006/relationships/image" Target="../media/image117.png"/><Relationship Id="rId56" Type="http://schemas.openxmlformats.org/officeDocument/2006/relationships/image" Target="../media/image125.png"/><Relationship Id="rId8" Type="http://schemas.openxmlformats.org/officeDocument/2006/relationships/image" Target="../media/image83.png"/><Relationship Id="rId51" Type="http://schemas.openxmlformats.org/officeDocument/2006/relationships/image" Target="../media/image120.png"/><Relationship Id="rId3" Type="http://schemas.openxmlformats.org/officeDocument/2006/relationships/oleObject" Target="../embeddings/oleObject25.bin"/><Relationship Id="rId12" Type="http://schemas.openxmlformats.org/officeDocument/2006/relationships/image" Target="../media/image69.png"/><Relationship Id="rId17" Type="http://schemas.openxmlformats.org/officeDocument/2006/relationships/image" Target="../media/image89.png"/><Relationship Id="rId25" Type="http://schemas.openxmlformats.org/officeDocument/2006/relationships/image" Target="../media/image96.png"/><Relationship Id="rId33" Type="http://schemas.openxmlformats.org/officeDocument/2006/relationships/image" Target="../media/image103.png"/><Relationship Id="rId38" Type="http://schemas.openxmlformats.org/officeDocument/2006/relationships/image" Target="../media/image108.png"/><Relationship Id="rId46" Type="http://schemas.openxmlformats.org/officeDocument/2006/relationships/image" Target="../media/image115.png"/><Relationship Id="rId59" Type="http://schemas.openxmlformats.org/officeDocument/2006/relationships/image" Target="../media/image128.png"/><Relationship Id="rId20" Type="http://schemas.openxmlformats.org/officeDocument/2006/relationships/image" Target="../media/image92.png"/><Relationship Id="rId41" Type="http://schemas.openxmlformats.org/officeDocument/2006/relationships/image" Target="../media/image111.png"/><Relationship Id="rId54" Type="http://schemas.openxmlformats.org/officeDocument/2006/relationships/image" Target="../media/image123.png"/><Relationship Id="rId62" Type="http://schemas.openxmlformats.org/officeDocument/2006/relationships/image" Target="../media/image131.png"/><Relationship Id="rId1" Type="http://schemas.openxmlformats.org/officeDocument/2006/relationships/tags" Target="../tags/tag128.xml"/><Relationship Id="rId6" Type="http://schemas.openxmlformats.org/officeDocument/2006/relationships/image" Target="../media/image82.png"/><Relationship Id="rId15" Type="http://schemas.openxmlformats.org/officeDocument/2006/relationships/image" Target="../media/image88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36" Type="http://schemas.openxmlformats.org/officeDocument/2006/relationships/image" Target="../media/image106.png"/><Relationship Id="rId49" Type="http://schemas.openxmlformats.org/officeDocument/2006/relationships/image" Target="../media/image118.png"/><Relationship Id="rId57" Type="http://schemas.openxmlformats.org/officeDocument/2006/relationships/image" Target="../media/image126.png"/><Relationship Id="rId10" Type="http://schemas.openxmlformats.org/officeDocument/2006/relationships/image" Target="../media/image84.png"/><Relationship Id="rId31" Type="http://schemas.openxmlformats.org/officeDocument/2006/relationships/image" Target="../media/image102.png"/><Relationship Id="rId44" Type="http://schemas.openxmlformats.org/officeDocument/2006/relationships/image" Target="../media/image113.png"/><Relationship Id="rId52" Type="http://schemas.openxmlformats.org/officeDocument/2006/relationships/image" Target="../media/image121.png"/><Relationship Id="rId60" Type="http://schemas.openxmlformats.org/officeDocument/2006/relationships/image" Target="../media/image129.png"/><Relationship Id="rId4" Type="http://schemas.openxmlformats.org/officeDocument/2006/relationships/image" Target="../media/image8.emf"/><Relationship Id="rId9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2259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08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B5FB-C110-0127-B140-33AEAB46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382EC63-30B0-4791-7AFE-D914343FB7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7325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98D064A-CB34-56AF-DBE5-CD01AE65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大模型及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面临“通信不可能三角”：速率、距离、功耗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1B600C-B0F9-2098-43E8-AED46CBBF3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196560EC-C0C7-ECFB-FD65-4689B19009AD}"/>
              </a:ext>
            </a:extLst>
          </p:cNvPr>
          <p:cNvSpPr/>
          <p:nvPr/>
        </p:nvSpPr>
        <p:spPr>
          <a:xfrm>
            <a:off x="4552604" y="2216727"/>
            <a:ext cx="3086792" cy="2661028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2D9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4E1F3C-C673-FEE1-7A54-F3D1A8092189}"/>
              </a:ext>
            </a:extLst>
          </p:cNvPr>
          <p:cNvSpPr txBox="1"/>
          <p:nvPr/>
        </p:nvSpPr>
        <p:spPr>
          <a:xfrm>
            <a:off x="5389230" y="1782958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③ 通信功耗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238598-9142-5E28-34AA-F313B3CF79F2}"/>
              </a:ext>
            </a:extLst>
          </p:cNvPr>
          <p:cNvSpPr txBox="1"/>
          <p:nvPr/>
        </p:nvSpPr>
        <p:spPr>
          <a:xfrm>
            <a:off x="3770832" y="5106933"/>
            <a:ext cx="139414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通信速率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09A84E-8488-E20E-42E4-E6DF4DC90748}"/>
              </a:ext>
            </a:extLst>
          </p:cNvPr>
          <p:cNvSpPr txBox="1"/>
          <p:nvPr/>
        </p:nvSpPr>
        <p:spPr>
          <a:xfrm>
            <a:off x="7359159" y="5106932"/>
            <a:ext cx="139414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通信距离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A274E4-8855-1CDA-A758-6D221EE29810}"/>
              </a:ext>
            </a:extLst>
          </p:cNvPr>
          <p:cNvSpPr txBox="1"/>
          <p:nvPr/>
        </p:nvSpPr>
        <p:spPr>
          <a:xfrm>
            <a:off x="5389230" y="3737170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BER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zh-CN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72BFE6C-7517-4A4B-21B9-84A7C9B21621}"/>
              </a:ext>
            </a:extLst>
          </p:cNvPr>
          <p:cNvSpPr txBox="1"/>
          <p:nvPr/>
        </p:nvSpPr>
        <p:spPr>
          <a:xfrm>
            <a:off x="395404" y="599016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BER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Bit Error Rate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（误码率）​，衡量通信链路的传输可靠性的核心指标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35E8818-EC57-9BB9-06FB-2FDD6F718DF8}"/>
              </a:ext>
            </a:extLst>
          </p:cNvPr>
          <p:cNvSpPr/>
          <p:nvPr/>
        </p:nvSpPr>
        <p:spPr>
          <a:xfrm>
            <a:off x="2450634" y="4915460"/>
            <a:ext cx="940862" cy="564360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铜到光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7416C1-0397-F081-801D-8BD442C23ED6}"/>
              </a:ext>
            </a:extLst>
          </p:cNvPr>
          <p:cNvSpPr/>
          <p:nvPr/>
        </p:nvSpPr>
        <p:spPr>
          <a:xfrm>
            <a:off x="5476213" y="997462"/>
            <a:ext cx="1239573" cy="665796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可插拔到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CPO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DB43095-EE0E-314D-284E-F109BB680B56}"/>
              </a:ext>
            </a:extLst>
          </p:cNvPr>
          <p:cNvSpPr/>
          <p:nvPr/>
        </p:nvSpPr>
        <p:spPr>
          <a:xfrm>
            <a:off x="8851369" y="4915460"/>
            <a:ext cx="940862" cy="564360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铜到光</a:t>
            </a:r>
          </a:p>
        </p:txBody>
      </p:sp>
    </p:spTree>
    <p:extLst>
      <p:ext uri="{BB962C8B-B14F-4D97-AF65-F5344CB8AC3E}">
        <p14:creationId xmlns:p14="http://schemas.microsoft.com/office/powerpoint/2010/main" val="27111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9978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互连技术变革，</a:t>
            </a:r>
            <a:r>
              <a:rPr lang="zh-CN" altLang="en-US" dirty="0">
                <a:cs typeface="+mn-ea"/>
                <a:sym typeface="+mn-lt"/>
              </a:rPr>
              <a:t>打破通信瓶颈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：铜互连、可插拔光模块、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3FD1E53-9FE0-147D-3B6D-26B62A742416}"/>
              </a:ext>
            </a:extLst>
          </p:cNvPr>
          <p:cNvCxnSpPr>
            <a:cxnSpLocks/>
          </p:cNvCxnSpPr>
          <p:nvPr/>
        </p:nvCxnSpPr>
        <p:spPr>
          <a:xfrm>
            <a:off x="933075" y="5600700"/>
            <a:ext cx="10599420" cy="0"/>
          </a:xfrm>
          <a:prstGeom prst="straightConnector1">
            <a:avLst/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confont-1018-792472">
            <a:extLst>
              <a:ext uri="{FF2B5EF4-FFF2-40B4-BE49-F238E27FC236}">
                <a16:creationId xmlns:a16="http://schemas.microsoft.com/office/drawing/2014/main" id="{AC7D3654-D8DA-F367-A98F-9D4BD20E305D}"/>
              </a:ext>
            </a:extLst>
          </p:cNvPr>
          <p:cNvSpPr/>
          <p:nvPr/>
        </p:nvSpPr>
        <p:spPr>
          <a:xfrm>
            <a:off x="140168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EBE5EBD-4417-3B84-AF2F-A82C6929D7FC}"/>
              </a:ext>
            </a:extLst>
          </p:cNvPr>
          <p:cNvSpPr txBox="1"/>
          <p:nvPr/>
        </p:nvSpPr>
        <p:spPr>
          <a:xfrm>
            <a:off x="1127384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1997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4F8D3D-8527-F7CE-F036-E5FFB83EA138}"/>
              </a:ext>
            </a:extLst>
          </p:cNvPr>
          <p:cNvGrpSpPr/>
          <p:nvPr/>
        </p:nvGrpSpPr>
        <p:grpSpPr>
          <a:xfrm>
            <a:off x="2302741" y="5497808"/>
            <a:ext cx="754380" cy="611102"/>
            <a:chOff x="2302741" y="5497808"/>
            <a:chExt cx="754380" cy="611102"/>
          </a:xfrm>
        </p:grpSpPr>
        <p:sp>
          <p:nvSpPr>
            <p:cNvPr id="100" name="iconfont-1018-792472">
              <a:extLst>
                <a:ext uri="{FF2B5EF4-FFF2-40B4-BE49-F238E27FC236}">
                  <a16:creationId xmlns:a16="http://schemas.microsoft.com/office/drawing/2014/main" id="{C2411CC2-A45F-CCBB-60AE-F895A1A86F5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5F898082-1866-FC02-D6D5-9A1975DC11C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03" name="iconfont-1018-792472">
            <a:extLst>
              <a:ext uri="{FF2B5EF4-FFF2-40B4-BE49-F238E27FC236}">
                <a16:creationId xmlns:a16="http://schemas.microsoft.com/office/drawing/2014/main" id="{B6FABA63-608D-04FD-3BF7-A628FB6A3C18}"/>
              </a:ext>
            </a:extLst>
          </p:cNvPr>
          <p:cNvSpPr/>
          <p:nvPr/>
        </p:nvSpPr>
        <p:spPr>
          <a:xfrm>
            <a:off x="3745240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B7CB96D-3384-4EDE-4C46-BC94184B5E7C}"/>
              </a:ext>
            </a:extLst>
          </p:cNvPr>
          <p:cNvSpPr txBox="1"/>
          <p:nvPr/>
        </p:nvSpPr>
        <p:spPr>
          <a:xfrm>
            <a:off x="3478098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2016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6" name="iconfont-1018-792472">
            <a:extLst>
              <a:ext uri="{FF2B5EF4-FFF2-40B4-BE49-F238E27FC236}">
                <a16:creationId xmlns:a16="http://schemas.microsoft.com/office/drawing/2014/main" id="{F46B675D-898A-3BE2-AD38-072DE7CDBA0A}"/>
              </a:ext>
            </a:extLst>
          </p:cNvPr>
          <p:cNvSpPr/>
          <p:nvPr/>
        </p:nvSpPr>
        <p:spPr>
          <a:xfrm>
            <a:off x="4917019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5A4EF93-B0CF-C1C5-B53B-853F0221E8EB}"/>
              </a:ext>
            </a:extLst>
          </p:cNvPr>
          <p:cNvSpPr txBox="1"/>
          <p:nvPr/>
        </p:nvSpPr>
        <p:spPr>
          <a:xfrm>
            <a:off x="4653455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2018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9" name="iconfont-1018-792472">
            <a:extLst>
              <a:ext uri="{FF2B5EF4-FFF2-40B4-BE49-F238E27FC236}">
                <a16:creationId xmlns:a16="http://schemas.microsoft.com/office/drawing/2014/main" id="{AE3CC971-61BA-E737-E160-334CDA5B2CE2}"/>
              </a:ext>
            </a:extLst>
          </p:cNvPr>
          <p:cNvSpPr/>
          <p:nvPr/>
        </p:nvSpPr>
        <p:spPr>
          <a:xfrm>
            <a:off x="6088797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0983A09-B9E4-988B-357B-FA6275482492}"/>
              </a:ext>
            </a:extLst>
          </p:cNvPr>
          <p:cNvSpPr txBox="1"/>
          <p:nvPr/>
        </p:nvSpPr>
        <p:spPr>
          <a:xfrm>
            <a:off x="5360075" y="5739578"/>
            <a:ext cx="175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2020-2021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2" name="iconfont-1018-792472">
            <a:extLst>
              <a:ext uri="{FF2B5EF4-FFF2-40B4-BE49-F238E27FC236}">
                <a16:creationId xmlns:a16="http://schemas.microsoft.com/office/drawing/2014/main" id="{4BEC9973-D0F5-6716-1698-7BEF33D1C310}"/>
              </a:ext>
            </a:extLst>
          </p:cNvPr>
          <p:cNvSpPr/>
          <p:nvPr/>
        </p:nvSpPr>
        <p:spPr>
          <a:xfrm>
            <a:off x="7260575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E6BD08F-AEDB-0847-80DC-7C0A52669B2F}"/>
              </a:ext>
            </a:extLst>
          </p:cNvPr>
          <p:cNvSpPr txBox="1"/>
          <p:nvPr/>
        </p:nvSpPr>
        <p:spPr>
          <a:xfrm>
            <a:off x="6986276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2023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5" name="iconfont-1018-792472">
            <a:extLst>
              <a:ext uri="{FF2B5EF4-FFF2-40B4-BE49-F238E27FC236}">
                <a16:creationId xmlns:a16="http://schemas.microsoft.com/office/drawing/2014/main" id="{3B3721F7-75A8-73E8-DA1C-081233DCEE89}"/>
              </a:ext>
            </a:extLst>
          </p:cNvPr>
          <p:cNvSpPr/>
          <p:nvPr/>
        </p:nvSpPr>
        <p:spPr>
          <a:xfrm>
            <a:off x="843235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B1C6FC0-8810-7EBA-8A3D-C9A6FBFE7885}"/>
              </a:ext>
            </a:extLst>
          </p:cNvPr>
          <p:cNvSpPr txBox="1"/>
          <p:nvPr/>
        </p:nvSpPr>
        <p:spPr>
          <a:xfrm>
            <a:off x="8153562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2025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8" name="iconfont-1018-792472">
            <a:extLst>
              <a:ext uri="{FF2B5EF4-FFF2-40B4-BE49-F238E27FC236}">
                <a16:creationId xmlns:a16="http://schemas.microsoft.com/office/drawing/2014/main" id="{21C3A0DF-BA5D-0371-1C6D-4363309F999A}"/>
              </a:ext>
            </a:extLst>
          </p:cNvPr>
          <p:cNvSpPr/>
          <p:nvPr/>
        </p:nvSpPr>
        <p:spPr>
          <a:xfrm>
            <a:off x="960413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704391B-F74E-45D3-4177-6ACBD9CD4EFB}"/>
              </a:ext>
            </a:extLst>
          </p:cNvPr>
          <p:cNvSpPr txBox="1"/>
          <p:nvPr/>
        </p:nvSpPr>
        <p:spPr>
          <a:xfrm>
            <a:off x="9289883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2027E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1" name="iconfont-1018-792472">
            <a:extLst>
              <a:ext uri="{FF2B5EF4-FFF2-40B4-BE49-F238E27FC236}">
                <a16:creationId xmlns:a16="http://schemas.microsoft.com/office/drawing/2014/main" id="{71DE8BD8-4A1C-1E9A-05BC-29E641EE7E5E}"/>
              </a:ext>
            </a:extLst>
          </p:cNvPr>
          <p:cNvSpPr/>
          <p:nvPr/>
        </p:nvSpPr>
        <p:spPr>
          <a:xfrm>
            <a:off x="1077591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184813B-4407-065E-F15B-330244C2DBB3}"/>
              </a:ext>
            </a:extLst>
          </p:cNvPr>
          <p:cNvSpPr txBox="1"/>
          <p:nvPr/>
        </p:nvSpPr>
        <p:spPr>
          <a:xfrm>
            <a:off x="10460009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2030E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6A5AC6-3F67-C01B-8E4E-4B1A2D998481}"/>
              </a:ext>
            </a:extLst>
          </p:cNvPr>
          <p:cNvSpPr txBox="1"/>
          <p:nvPr/>
        </p:nvSpPr>
        <p:spPr>
          <a:xfrm>
            <a:off x="-402337" y="5291359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Speed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E6357F8-B683-ABA3-CB77-96E128A0B7F8}"/>
              </a:ext>
            </a:extLst>
          </p:cNvPr>
          <p:cNvSpPr txBox="1"/>
          <p:nvPr/>
        </p:nvSpPr>
        <p:spPr>
          <a:xfrm>
            <a:off x="49469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AC97D7-E9E5-5BA1-6097-148B73639866}"/>
              </a:ext>
            </a:extLst>
          </p:cNvPr>
          <p:cNvSpPr txBox="1"/>
          <p:nvPr/>
        </p:nvSpPr>
        <p:spPr>
          <a:xfrm>
            <a:off x="1695831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043AB13-FE5B-2D10-7C09-2D09FF6992CC}"/>
              </a:ext>
            </a:extLst>
          </p:cNvPr>
          <p:cNvSpPr txBox="1"/>
          <p:nvPr/>
        </p:nvSpPr>
        <p:spPr>
          <a:xfrm>
            <a:off x="5199385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400/800G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A415130-5F83-2176-DFC7-3C1FC6C51EC7}"/>
              </a:ext>
            </a:extLst>
          </p:cNvPr>
          <p:cNvSpPr txBox="1"/>
          <p:nvPr/>
        </p:nvSpPr>
        <p:spPr>
          <a:xfrm>
            <a:off x="632939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C67923-703A-0361-49A9-099FFE7E13F6}"/>
              </a:ext>
            </a:extLst>
          </p:cNvPr>
          <p:cNvSpPr txBox="1"/>
          <p:nvPr/>
        </p:nvSpPr>
        <p:spPr>
          <a:xfrm>
            <a:off x="746635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7A4CBAF-8A2C-84FB-6753-C3858EFADB52}"/>
              </a:ext>
            </a:extLst>
          </p:cNvPr>
          <p:cNvSpPr txBox="1"/>
          <p:nvPr/>
        </p:nvSpPr>
        <p:spPr>
          <a:xfrm>
            <a:off x="867642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3.2T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3A8DCB8-EE2E-65BA-9C51-B9CD67209086}"/>
              </a:ext>
            </a:extLst>
          </p:cNvPr>
          <p:cNvSpPr txBox="1"/>
          <p:nvPr/>
        </p:nvSpPr>
        <p:spPr>
          <a:xfrm>
            <a:off x="984820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6.4T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840527B2-9761-2BAE-5099-3A1743076ED7}"/>
              </a:ext>
            </a:extLst>
          </p:cNvPr>
          <p:cNvGrpSpPr/>
          <p:nvPr/>
        </p:nvGrpSpPr>
        <p:grpSpPr>
          <a:xfrm>
            <a:off x="1401684" y="4097438"/>
            <a:ext cx="9490042" cy="645195"/>
            <a:chOff x="1485504" y="4097438"/>
            <a:chExt cx="9490042" cy="645195"/>
          </a:xfrm>
        </p:grpSpPr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E7CBD5E6-75D7-8A1E-51AD-DD8E61B76C0F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  <a:cs typeface="+mn-ea"/>
                  <a:sym typeface="+mn-lt"/>
                </a:rPr>
                <a:t>    ?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2" name="箭头: 右 131">
              <a:extLst>
                <a:ext uri="{FF2B5EF4-FFF2-40B4-BE49-F238E27FC236}">
                  <a16:creationId xmlns:a16="http://schemas.microsoft.com/office/drawing/2014/main" id="{1AA29896-608D-0C44-8340-392B192086B5}"/>
                </a:ext>
              </a:extLst>
            </p:cNvPr>
            <p:cNvSpPr/>
            <p:nvPr/>
          </p:nvSpPr>
          <p:spPr>
            <a:xfrm>
              <a:off x="1485504" y="4097438"/>
              <a:ext cx="7116058" cy="645195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CA4DF44-D9A5-BA4A-E55E-0E7350AD4348}"/>
              </a:ext>
            </a:extLst>
          </p:cNvPr>
          <p:cNvCxnSpPr/>
          <p:nvPr/>
        </p:nvCxnSpPr>
        <p:spPr>
          <a:xfrm flipV="1">
            <a:off x="11026440" y="1363684"/>
            <a:ext cx="0" cy="33789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F94007B-700C-BDB6-058E-20F471A9CA12}"/>
              </a:ext>
            </a:extLst>
          </p:cNvPr>
          <p:cNvSpPr txBox="1"/>
          <p:nvPr/>
        </p:nvSpPr>
        <p:spPr>
          <a:xfrm rot="16200000">
            <a:off x="10453724" y="2743677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Power efficiency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Complexity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0107C66-7D40-492A-D4A5-6BAA808C8A50}"/>
              </a:ext>
            </a:extLst>
          </p:cNvPr>
          <p:cNvGrpSpPr/>
          <p:nvPr/>
        </p:nvGrpSpPr>
        <p:grpSpPr>
          <a:xfrm>
            <a:off x="2669057" y="3244175"/>
            <a:ext cx="8222667" cy="645195"/>
            <a:chOff x="2752879" y="4097438"/>
            <a:chExt cx="8222667" cy="645195"/>
          </a:xfrm>
        </p:grpSpPr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A26ADE6B-49CF-0B2B-4CA9-51FA87B47220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/>
                  </a:solidFill>
                  <a:cs typeface="+mn-ea"/>
                  <a:sym typeface="+mn-lt"/>
                </a:rPr>
                <a:t>                              </a:t>
              </a:r>
              <a:r>
                <a:rPr lang="en-US" altLang="zh-CN" dirty="0">
                  <a:solidFill>
                    <a:schemeClr val="accent4"/>
                  </a:solidFill>
                  <a:cs typeface="+mn-ea"/>
                  <a:sym typeface="+mn-lt"/>
                </a:rPr>
                <a:t>?</a:t>
              </a:r>
              <a:endParaRPr lang="zh-CN" altLang="en-US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C8395481-E407-1A57-AB3B-745AE68A6769}"/>
                </a:ext>
              </a:extLst>
            </p:cNvPr>
            <p:cNvSpPr/>
            <p:nvPr/>
          </p:nvSpPr>
          <p:spPr>
            <a:xfrm>
              <a:off x="2752879" y="4097438"/>
              <a:ext cx="6721358" cy="64519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Pluggable Optics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005F9F6-D1E0-9C25-8920-A4ED7442437A}"/>
              </a:ext>
            </a:extLst>
          </p:cNvPr>
          <p:cNvSpPr/>
          <p:nvPr/>
        </p:nvSpPr>
        <p:spPr>
          <a:xfrm>
            <a:off x="4859238" y="2276507"/>
            <a:ext cx="6032487" cy="807573"/>
          </a:xfrm>
          <a:prstGeom prst="rightArrow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   CPO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544170DA-07C0-31F4-D09E-9DCFF12C8C8A}"/>
              </a:ext>
            </a:extLst>
          </p:cNvPr>
          <p:cNvSpPr/>
          <p:nvPr/>
        </p:nvSpPr>
        <p:spPr>
          <a:xfrm>
            <a:off x="3302165" y="1366042"/>
            <a:ext cx="7589559" cy="64519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A082EE3-531A-D7E3-F422-37FCFACEAAA3}"/>
              </a:ext>
            </a:extLst>
          </p:cNvPr>
          <p:cNvSpPr txBox="1"/>
          <p:nvPr/>
        </p:nvSpPr>
        <p:spPr>
          <a:xfrm>
            <a:off x="8837339" y="3721184"/>
            <a:ext cx="206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3.2T optics </a:t>
            </a:r>
          </a:p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Hard to continue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C21AE233-BF12-9462-3EFA-8E00F75C6210}"/>
              </a:ext>
            </a:extLst>
          </p:cNvPr>
          <p:cNvGrpSpPr/>
          <p:nvPr/>
        </p:nvGrpSpPr>
        <p:grpSpPr>
          <a:xfrm>
            <a:off x="4593574" y="2577401"/>
            <a:ext cx="1115494" cy="601626"/>
            <a:chOff x="4593574" y="2577401"/>
            <a:chExt cx="1115494" cy="601626"/>
          </a:xfrm>
        </p:grpSpPr>
        <p:sp>
          <p:nvSpPr>
            <p:cNvPr id="148" name="iconfont-1018-792472">
              <a:extLst>
                <a:ext uri="{FF2B5EF4-FFF2-40B4-BE49-F238E27FC236}">
                  <a16:creationId xmlns:a16="http://schemas.microsoft.com/office/drawing/2014/main" id="{DD905833-F9CE-0F1B-7524-51A2C85476AB}"/>
                </a:ext>
              </a:extLst>
            </p:cNvPr>
            <p:cNvSpPr/>
            <p:nvPr/>
          </p:nvSpPr>
          <p:spPr>
            <a:xfrm>
              <a:off x="5048430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D4864F0-FD40-BF53-3D19-44BD69AC0DD5}"/>
                </a:ext>
              </a:extLst>
            </p:cNvPr>
            <p:cNvSpPr txBox="1"/>
            <p:nvPr/>
          </p:nvSpPr>
          <p:spPr>
            <a:xfrm>
              <a:off x="4593574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063E9656-86D7-0F80-F1BF-75B868010E23}"/>
              </a:ext>
            </a:extLst>
          </p:cNvPr>
          <p:cNvGrpSpPr/>
          <p:nvPr/>
        </p:nvGrpSpPr>
        <p:grpSpPr>
          <a:xfrm>
            <a:off x="5589742" y="2577401"/>
            <a:ext cx="1115494" cy="601626"/>
            <a:chOff x="5589742" y="2577401"/>
            <a:chExt cx="1115494" cy="601626"/>
          </a:xfrm>
        </p:grpSpPr>
        <p:sp>
          <p:nvSpPr>
            <p:cNvPr id="150" name="iconfont-1018-792472">
              <a:extLst>
                <a:ext uri="{FF2B5EF4-FFF2-40B4-BE49-F238E27FC236}">
                  <a16:creationId xmlns:a16="http://schemas.microsoft.com/office/drawing/2014/main" id="{5C753B97-2F1F-5CA1-DDEE-E05461B1B5E7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825104B-F905-1774-54F2-F389FD32846C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Demo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E443CD2-5EA6-CBFB-ED56-C7590B49C1E9}"/>
              </a:ext>
            </a:extLst>
          </p:cNvPr>
          <p:cNvGrpSpPr/>
          <p:nvPr/>
        </p:nvGrpSpPr>
        <p:grpSpPr>
          <a:xfrm>
            <a:off x="6796917" y="2577401"/>
            <a:ext cx="1115494" cy="793893"/>
            <a:chOff x="5589742" y="2577401"/>
            <a:chExt cx="1115494" cy="793893"/>
          </a:xfrm>
        </p:grpSpPr>
        <p:sp>
          <p:nvSpPr>
            <p:cNvPr id="154" name="iconfont-1018-792472">
              <a:extLst>
                <a:ext uri="{FF2B5EF4-FFF2-40B4-BE49-F238E27FC236}">
                  <a16:creationId xmlns:a16="http://schemas.microsoft.com/office/drawing/2014/main" id="{35B6F8DE-178E-5CB9-5F05-612F3922D4B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54C5C5E-DADC-70C9-2057-6775A6684C0D}"/>
                </a:ext>
              </a:extLst>
            </p:cNvPr>
            <p:cNvSpPr txBox="1"/>
            <p:nvPr/>
          </p:nvSpPr>
          <p:spPr>
            <a:xfrm>
              <a:off x="5589742" y="2848074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Proofs of concept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B9FED42-BE7C-AB74-D637-92D45A612C48}"/>
              </a:ext>
            </a:extLst>
          </p:cNvPr>
          <p:cNvGrpSpPr/>
          <p:nvPr/>
        </p:nvGrpSpPr>
        <p:grpSpPr>
          <a:xfrm>
            <a:off x="7857103" y="2577401"/>
            <a:ext cx="1115494" cy="601626"/>
            <a:chOff x="5589742" y="2577401"/>
            <a:chExt cx="1115494" cy="601626"/>
          </a:xfrm>
        </p:grpSpPr>
        <p:sp>
          <p:nvSpPr>
            <p:cNvPr id="157" name="iconfont-1018-792472">
              <a:extLst>
                <a:ext uri="{FF2B5EF4-FFF2-40B4-BE49-F238E27FC236}">
                  <a16:creationId xmlns:a16="http://schemas.microsoft.com/office/drawing/2014/main" id="{2514C8D7-26D8-670D-A148-A6062DB9DD9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5420642-9F54-696E-1EA1-57A7F06B1B9A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Test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DFCEDB3-42BA-07AA-77A9-7A4CA9940C08}"/>
              </a:ext>
            </a:extLst>
          </p:cNvPr>
          <p:cNvGrpSpPr/>
          <p:nvPr/>
        </p:nvGrpSpPr>
        <p:grpSpPr>
          <a:xfrm>
            <a:off x="9064419" y="2577401"/>
            <a:ext cx="1115494" cy="780397"/>
            <a:chOff x="5643082" y="2577401"/>
            <a:chExt cx="1115494" cy="780397"/>
          </a:xfrm>
        </p:grpSpPr>
        <p:sp>
          <p:nvSpPr>
            <p:cNvPr id="160" name="iconfont-1018-792472">
              <a:extLst>
                <a:ext uri="{FF2B5EF4-FFF2-40B4-BE49-F238E27FC236}">
                  <a16:creationId xmlns:a16="http://schemas.microsoft.com/office/drawing/2014/main" id="{ED141343-B0E9-0C31-A3D0-574EC161D735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5E960809-1561-50A1-E9EF-B74FCD2FE929}"/>
                </a:ext>
              </a:extLst>
            </p:cNvPr>
            <p:cNvSpPr txBox="1"/>
            <p:nvPr/>
          </p:nvSpPr>
          <p:spPr>
            <a:xfrm>
              <a:off x="5643082" y="2834578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1895BE81-56D2-9BDC-9D33-6E7916E63DA3}"/>
              </a:ext>
            </a:extLst>
          </p:cNvPr>
          <p:cNvGrpSpPr/>
          <p:nvPr/>
        </p:nvGrpSpPr>
        <p:grpSpPr>
          <a:xfrm>
            <a:off x="2920351" y="1576885"/>
            <a:ext cx="1115494" cy="646196"/>
            <a:chOff x="3302165" y="1580956"/>
            <a:chExt cx="1115494" cy="646196"/>
          </a:xfrm>
        </p:grpSpPr>
        <p:sp>
          <p:nvSpPr>
            <p:cNvPr id="162" name="iconfont-1018-792472">
              <a:extLst>
                <a:ext uri="{FF2B5EF4-FFF2-40B4-BE49-F238E27FC236}">
                  <a16:creationId xmlns:a16="http://schemas.microsoft.com/office/drawing/2014/main" id="{6AFF8666-6F71-5CD9-3270-95862384C540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645BDF68-1659-28BE-DAB3-B8E754540A7C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2088448-E8F5-B286-8475-8A90D6C0D946}"/>
              </a:ext>
            </a:extLst>
          </p:cNvPr>
          <p:cNvGrpSpPr/>
          <p:nvPr/>
        </p:nvGrpSpPr>
        <p:grpSpPr>
          <a:xfrm>
            <a:off x="7115179" y="1576885"/>
            <a:ext cx="1115494" cy="646196"/>
            <a:chOff x="3302165" y="1580956"/>
            <a:chExt cx="1115494" cy="646196"/>
          </a:xfrm>
        </p:grpSpPr>
        <p:sp>
          <p:nvSpPr>
            <p:cNvPr id="166" name="iconfont-1018-792472">
              <a:extLst>
                <a:ext uri="{FF2B5EF4-FFF2-40B4-BE49-F238E27FC236}">
                  <a16:creationId xmlns:a16="http://schemas.microsoft.com/office/drawing/2014/main" id="{EE27585B-C766-2515-9E2B-9E86F090A052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FC177F9-61E7-4EE8-8FFC-C2F76BCFF093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Demo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62B0942-AEAF-3AB0-CBD3-9EFE6C032518}"/>
              </a:ext>
            </a:extLst>
          </p:cNvPr>
          <p:cNvGrpSpPr/>
          <p:nvPr/>
        </p:nvGrpSpPr>
        <p:grpSpPr>
          <a:xfrm>
            <a:off x="7955412" y="1576885"/>
            <a:ext cx="1115494" cy="861639"/>
            <a:chOff x="3302165" y="1580956"/>
            <a:chExt cx="1115494" cy="861639"/>
          </a:xfrm>
        </p:grpSpPr>
        <p:sp>
          <p:nvSpPr>
            <p:cNvPr id="169" name="iconfont-1018-792472">
              <a:extLst>
                <a:ext uri="{FF2B5EF4-FFF2-40B4-BE49-F238E27FC236}">
                  <a16:creationId xmlns:a16="http://schemas.microsoft.com/office/drawing/2014/main" id="{D03D7DB3-FCDA-ABE2-00E8-0132F9452E1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180931C-587D-0311-7748-01E124A7A3AB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Proofs of concept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41CC3DA-D7A4-E480-78B5-4E31685CB94A}"/>
              </a:ext>
            </a:extLst>
          </p:cNvPr>
          <p:cNvGrpSpPr/>
          <p:nvPr/>
        </p:nvGrpSpPr>
        <p:grpSpPr>
          <a:xfrm>
            <a:off x="9431425" y="1576885"/>
            <a:ext cx="1115494" cy="861639"/>
            <a:chOff x="3302165" y="1580956"/>
            <a:chExt cx="1115494" cy="861639"/>
          </a:xfrm>
        </p:grpSpPr>
        <p:sp>
          <p:nvSpPr>
            <p:cNvPr id="173" name="iconfont-1018-792472">
              <a:extLst>
                <a:ext uri="{FF2B5EF4-FFF2-40B4-BE49-F238E27FC236}">
                  <a16:creationId xmlns:a16="http://schemas.microsoft.com/office/drawing/2014/main" id="{01B4FF7B-629D-84E1-EAB1-162149FCC25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4D71DB7-1705-4580-0452-036DB394B81E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Full scale deployment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03FA49B-D6A0-476B-01A8-EFA6A9E871A7}"/>
              </a:ext>
            </a:extLst>
          </p:cNvPr>
          <p:cNvGrpSpPr/>
          <p:nvPr/>
        </p:nvGrpSpPr>
        <p:grpSpPr>
          <a:xfrm>
            <a:off x="8704126" y="1576885"/>
            <a:ext cx="1115494" cy="646196"/>
            <a:chOff x="3302165" y="1580956"/>
            <a:chExt cx="1115494" cy="646196"/>
          </a:xfrm>
        </p:grpSpPr>
        <p:sp>
          <p:nvSpPr>
            <p:cNvPr id="176" name="iconfont-1018-792472">
              <a:extLst>
                <a:ext uri="{FF2B5EF4-FFF2-40B4-BE49-F238E27FC236}">
                  <a16:creationId xmlns:a16="http://schemas.microsoft.com/office/drawing/2014/main" id="{673BF21F-83F9-1979-45EF-481A19F60A0A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1D498CD-C8CA-2590-0FC0-AE400343B879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Test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181" name="iconfont-1018-792472">
            <a:extLst>
              <a:ext uri="{FF2B5EF4-FFF2-40B4-BE49-F238E27FC236}">
                <a16:creationId xmlns:a16="http://schemas.microsoft.com/office/drawing/2014/main" id="{76EE4AAE-AF71-F7F5-5742-42D08A95082A}"/>
              </a:ext>
            </a:extLst>
          </p:cNvPr>
          <p:cNvSpPr/>
          <p:nvPr/>
        </p:nvSpPr>
        <p:spPr>
          <a:xfrm>
            <a:off x="2739994" y="341794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9752DE3-0114-40A8-83EB-29643F3A3227}"/>
              </a:ext>
            </a:extLst>
          </p:cNvPr>
          <p:cNvSpPr txBox="1"/>
          <p:nvPr/>
        </p:nvSpPr>
        <p:spPr>
          <a:xfrm>
            <a:off x="2302741" y="3712066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3" name="iconfont-1018-792472">
            <a:extLst>
              <a:ext uri="{FF2B5EF4-FFF2-40B4-BE49-F238E27FC236}">
                <a16:creationId xmlns:a16="http://schemas.microsoft.com/office/drawing/2014/main" id="{010959CF-D0A9-FF40-4C64-1476C5225674}"/>
              </a:ext>
            </a:extLst>
          </p:cNvPr>
          <p:cNvSpPr/>
          <p:nvPr/>
        </p:nvSpPr>
        <p:spPr>
          <a:xfrm>
            <a:off x="1479214" y="4317611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9A11310-AA18-B25A-688F-94749B9D6B98}"/>
              </a:ext>
            </a:extLst>
          </p:cNvPr>
          <p:cNvSpPr txBox="1"/>
          <p:nvPr/>
        </p:nvSpPr>
        <p:spPr>
          <a:xfrm>
            <a:off x="1077698" y="4574788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scale deployment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9FAB7-B6A1-7230-AD5E-A51673932C2C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</a:p>
        </p:txBody>
      </p:sp>
      <p:sp>
        <p:nvSpPr>
          <p:cNvPr id="4" name="箭头: 直角上 3">
            <a:extLst>
              <a:ext uri="{FF2B5EF4-FFF2-40B4-BE49-F238E27FC236}">
                <a16:creationId xmlns:a16="http://schemas.microsoft.com/office/drawing/2014/main" id="{655E9103-EB90-3CD7-A603-1FCE189DA305}"/>
              </a:ext>
            </a:extLst>
          </p:cNvPr>
          <p:cNvSpPr/>
          <p:nvPr/>
        </p:nvSpPr>
        <p:spPr>
          <a:xfrm rot="16200000" flipV="1">
            <a:off x="1822010" y="3257372"/>
            <a:ext cx="523218" cy="896348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箭头: 直角上 4">
            <a:extLst>
              <a:ext uri="{FF2B5EF4-FFF2-40B4-BE49-F238E27FC236}">
                <a16:creationId xmlns:a16="http://schemas.microsoft.com/office/drawing/2014/main" id="{ECCD6F90-A6A2-CAD1-B9A6-08F425F89C36}"/>
              </a:ext>
            </a:extLst>
          </p:cNvPr>
          <p:cNvSpPr/>
          <p:nvPr/>
        </p:nvSpPr>
        <p:spPr>
          <a:xfrm rot="16200000" flipV="1">
            <a:off x="3771346" y="2209839"/>
            <a:ext cx="485751" cy="1278030"/>
          </a:xfrm>
          <a:prstGeom prst="bentUp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7A30D5-6435-38B1-2536-BD99E8D3C123}"/>
              </a:ext>
            </a:extLst>
          </p:cNvPr>
          <p:cNvSpPr txBox="1"/>
          <p:nvPr/>
        </p:nvSpPr>
        <p:spPr>
          <a:xfrm>
            <a:off x="3388680" y="2338251"/>
            <a:ext cx="1259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Transferring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7ACA44-946A-42C9-CABB-D34DB285B74D}"/>
              </a:ext>
            </a:extLst>
          </p:cNvPr>
          <p:cNvSpPr txBox="1"/>
          <p:nvPr/>
        </p:nvSpPr>
        <p:spPr>
          <a:xfrm>
            <a:off x="1517049" y="3139719"/>
            <a:ext cx="1115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Transferred</a:t>
            </a:r>
            <a:endParaRPr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97769EBD-80AC-92E4-783B-810E8FB33583}"/>
              </a:ext>
            </a:extLst>
          </p:cNvPr>
          <p:cNvSpPr/>
          <p:nvPr/>
        </p:nvSpPr>
        <p:spPr>
          <a:xfrm>
            <a:off x="995533" y="1592737"/>
            <a:ext cx="406150" cy="2144840"/>
          </a:xfrm>
          <a:prstGeom prst="leftBrace">
            <a:avLst>
              <a:gd name="adj1" fmla="val 20841"/>
              <a:gd name="adj2" fmla="val 455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F2E993-13C0-D00E-7073-E02E01DC079F}"/>
              </a:ext>
            </a:extLst>
          </p:cNvPr>
          <p:cNvSpPr txBox="1"/>
          <p:nvPr/>
        </p:nvSpPr>
        <p:spPr>
          <a:xfrm>
            <a:off x="-453724" y="2369706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F341C6-C93F-DF5A-9BD3-E471745AC49C}"/>
              </a:ext>
            </a:extLst>
          </p:cNvPr>
          <p:cNvSpPr txBox="1"/>
          <p:nvPr/>
        </p:nvSpPr>
        <p:spPr>
          <a:xfrm>
            <a:off x="-418705" y="4240080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688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4" imgH="405" progId="TCLayout.ActiveDocument.1">
                  <p:embed/>
                </p:oleObj>
              </mc:Choice>
              <mc:Fallback>
                <p:oleObj name="think-cell 幻灯片" r:id="rId1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1987FD83-4562-496F-1F5C-FF0AE6A9F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479570"/>
              </p:ext>
            </p:extLst>
          </p:nvPr>
        </p:nvGraphicFramePr>
        <p:xfrm>
          <a:off x="6725313" y="2428571"/>
          <a:ext cx="4398145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91" name="矩形 90">
            <a:extLst>
              <a:ext uri="{FF2B5EF4-FFF2-40B4-BE49-F238E27FC236}">
                <a16:creationId xmlns:a16="http://schemas.microsoft.com/office/drawing/2014/main" id="{2A75B2E2-D37D-930E-3B33-EF1FA065535C}"/>
              </a:ext>
            </a:extLst>
          </p:cNvPr>
          <p:cNvSpPr/>
          <p:nvPr/>
        </p:nvSpPr>
        <p:spPr>
          <a:xfrm>
            <a:off x="7245978" y="2370863"/>
            <a:ext cx="3543325" cy="174823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1C27984-14BA-3117-3032-E80831A01721}"/>
              </a:ext>
            </a:extLst>
          </p:cNvPr>
          <p:cNvSpPr/>
          <p:nvPr/>
        </p:nvSpPr>
        <p:spPr>
          <a:xfrm>
            <a:off x="7204719" y="4149805"/>
            <a:ext cx="3584584" cy="1368023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6617" y="332572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EEB2B4E0-7BAA-AEAB-AF03-71285B868F3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252353" y="2833483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+mn-lt"/>
                <a:ea typeface="+mn-ea"/>
                <a:cs typeface="+mn-ea"/>
                <a:sym typeface="+mn-lt"/>
              </a:rPr>
              <a:t>可插拔光模块</a:t>
            </a:r>
            <a:endParaRPr lang="en-US" altLang="zh-CN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F7E52F83-B906-C63C-D683-335A742EE24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252353" y="2428571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atin typeface="+mn-lt"/>
                <a:ea typeface="+mn-ea"/>
                <a:cs typeface="+mn-ea"/>
                <a:sym typeface="+mn-lt"/>
              </a:rPr>
              <a:t>上限</a:t>
            </a:r>
            <a:r>
              <a:rPr lang="en-US" altLang="zh-CN" sz="1200" dirty="0">
                <a:latin typeface="+mn-lt"/>
                <a:ea typeface="+mn-ea"/>
                <a:cs typeface="+mn-ea"/>
                <a:sym typeface="+mn-lt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latin typeface="+mn-lt"/>
                <a:ea typeface="+mn-ea"/>
                <a:cs typeface="+mn-ea"/>
                <a:sym typeface="+mn-lt"/>
              </a:rPr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10962789" y="460960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B3E2BD4A-657D-A020-D137-31054771F2F9}"/>
              </a:ext>
            </a:extLst>
          </p:cNvPr>
          <p:cNvCxnSpPr>
            <a:cxnSpLocks/>
          </p:cNvCxnSpPr>
          <p:nvPr/>
        </p:nvCxnSpPr>
        <p:spPr>
          <a:xfrm>
            <a:off x="7314725" y="2762164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铜互连速率成为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算力释放瓶颈，光互连可突破铜互连速率上限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4" y="599016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网卡带宽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：有效传输速率，保证误码率不超过可用临界值的稳定传输速率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单通道触达</a:t>
            </a:r>
            <a:r>
              <a:rPr kumimoji="1" lang="zh-CN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有效</a:t>
            </a:r>
            <a:r>
              <a:rPr kumimoji="1" lang="zh-CN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传输速率</a:t>
            </a:r>
            <a:r>
              <a:rPr kumimoji="1" lang="en-US" altLang="zh-CN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极限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224Gbps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，光互连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&gt;800Gbp/s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可支持算力扩充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297035" y="474013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420040" y="506999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150041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BF7C0A-CA93-B1DB-60ED-1D840E44339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552697"/>
              </p:ext>
            </p:extLst>
          </p:nvPr>
        </p:nvGraphicFramePr>
        <p:xfrm>
          <a:off x="406016" y="2028367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光：传输速率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224Gbps =&gt; 800Gbps+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通信速率相对算力发展严重落后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基于铜互连的通信速率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，落后于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算力增幅，通信速率成为集群算力瓶颈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362654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推理算力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32x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5003514" y="4092392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chemeClr val="accent5"/>
                </a:solidFill>
                <a:cs typeface="+mn-ea"/>
                <a:sym typeface="+mn-lt"/>
              </a:rPr>
              <a:t>训练算力</a:t>
            </a:r>
            <a:endParaRPr kumimoji="1" lang="en-US" altLang="zh-CN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03514" y="4793295"/>
            <a:ext cx="102870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dirty="0">
                <a:solidFill>
                  <a:srgbClr val="0052D9"/>
                </a:solidFill>
                <a:cs typeface="+mn-ea"/>
                <a:sym typeface="+mn-lt"/>
              </a:rPr>
              <a:t>网络带宽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720789" y="2344499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FP4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3235768" y="4075891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354919" y="4338960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516277" y="440060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679366" y="4597608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95238" y="4696136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170117" y="436899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</a:t>
            </a:r>
            <a:r>
              <a:rPr kumimoji="1" lang="en-US" altLang="zh-CN" sz="1200" dirty="0" err="1">
                <a:solidFill>
                  <a:schemeClr val="accent5"/>
                </a:solidFill>
                <a:cs typeface="+mn-ea"/>
                <a:sym typeface="+mn-lt"/>
              </a:rPr>
              <a:t>Tflops</a:t>
            </a:r>
            <a:endParaRPr kumimoji="1" lang="en-US" altLang="zh-CN" sz="1200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70117" y="5031623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05569" y="5108011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98412" y="51974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420040" y="452443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076133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264640" y="410624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994099" y="371917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9985817" y="42102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3892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4" y="1459243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机柜间互连距离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，万卡集群千米级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23912"/>
            <a:ext cx="4919043" cy="1112155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38272-DD80-325F-F941-5CEC1B69D10D}"/>
              </a:ext>
            </a:extLst>
          </p:cNvPr>
          <p:cNvSpPr/>
          <p:nvPr/>
        </p:nvSpPr>
        <p:spPr>
          <a:xfrm>
            <a:off x="13063447" y="2218327"/>
            <a:ext cx="4445496" cy="930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归因不用那么细，归因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check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3"/>
            <a:endCxn id="3681" idx="3"/>
          </p:cNvCxnSpPr>
          <p:nvPr/>
        </p:nvCxnSpPr>
        <p:spPr>
          <a:xfrm>
            <a:off x="3750646" y="2936414"/>
            <a:ext cx="12700" cy="2416207"/>
          </a:xfrm>
          <a:prstGeom prst="bentConnector3">
            <a:avLst>
              <a:gd name="adj1" fmla="val 39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1136180" y="1889913"/>
            <a:ext cx="2614466" cy="2093001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60304"/>
              <a:ext cx="1816564" cy="839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  <a:r>
                <a:rPr lang="zh-CN" altLang="en-US" dirty="0">
                  <a:cs typeface="+mn-ea"/>
                  <a:sym typeface="+mn-lt"/>
                </a:rPr>
                <a:t>（</a:t>
              </a:r>
              <a:r>
                <a:rPr lang="en-US" altLang="zh-CN" dirty="0">
                  <a:cs typeface="+mn-ea"/>
                  <a:sym typeface="+mn-lt"/>
                </a:rPr>
                <a:t>Scale Out</a:t>
              </a:r>
              <a:r>
                <a:rPr lang="zh-CN" altLang="en-US" dirty="0">
                  <a:cs typeface="+mn-ea"/>
                  <a:sym typeface="+mn-lt"/>
                </a:rPr>
                <a:t>）</a:t>
              </a:r>
              <a:endParaRPr lang="en-US" altLang="zh-CN" dirty="0">
                <a:cs typeface="+mn-ea"/>
                <a:sym typeface="+mn-lt"/>
              </a:endParaRP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E017D33-248C-7348-763F-F47A52E406D2}"/>
              </a:ext>
            </a:extLst>
          </p:cNvPr>
          <p:cNvGrpSpPr/>
          <p:nvPr/>
        </p:nvGrpSpPr>
        <p:grpSpPr>
          <a:xfrm>
            <a:off x="1250863" y="4990145"/>
            <a:ext cx="1038358" cy="957617"/>
            <a:chOff x="926656" y="3512102"/>
            <a:chExt cx="944034" cy="87062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087F5E8-D41E-9D1B-A2DD-72E90944A592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30A02888-98A3-9114-4706-90C23E112CF2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F8CAB8A-42A1-DE23-5E1A-AD8334B0C412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C68D6FA-1762-B32E-40FF-2881E4769510}"/>
              </a:ext>
            </a:extLst>
          </p:cNvPr>
          <p:cNvGrpSpPr/>
          <p:nvPr/>
        </p:nvGrpSpPr>
        <p:grpSpPr>
          <a:xfrm>
            <a:off x="2607422" y="4990145"/>
            <a:ext cx="1038358" cy="957617"/>
            <a:chOff x="926656" y="3512102"/>
            <a:chExt cx="944034" cy="870628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880930B2-B29B-AC72-3A35-3275EE335150}"/>
                </a:ext>
              </a:extLst>
            </p:cNvPr>
            <p:cNvSpPr/>
            <p:nvPr/>
          </p:nvSpPr>
          <p:spPr>
            <a:xfrm>
              <a:off x="926656" y="3512102"/>
              <a:ext cx="944034" cy="87062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475BD99-3F1E-7E1F-9391-08F883480FEA}"/>
                </a:ext>
              </a:extLst>
            </p:cNvPr>
            <p:cNvSpPr/>
            <p:nvPr/>
          </p:nvSpPr>
          <p:spPr>
            <a:xfrm>
              <a:off x="1065914" y="4001538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C4C827F6-93BB-2D32-C04F-C541CEFF6B23}"/>
                </a:ext>
              </a:extLst>
            </p:cNvPr>
            <p:cNvSpPr/>
            <p:nvPr/>
          </p:nvSpPr>
          <p:spPr>
            <a:xfrm>
              <a:off x="1065914" y="3667525"/>
              <a:ext cx="665519" cy="217561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9FE69A5-72F3-2176-4942-3BE38760A4CB}"/>
              </a:ext>
            </a:extLst>
          </p:cNvPr>
          <p:cNvSpPr txBox="1"/>
          <p:nvPr/>
        </p:nvSpPr>
        <p:spPr>
          <a:xfrm>
            <a:off x="2069849" y="5261323"/>
            <a:ext cx="74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1" name="矩形: 圆角 3680">
            <a:extLst>
              <a:ext uri="{FF2B5EF4-FFF2-40B4-BE49-F238E27FC236}">
                <a16:creationId xmlns:a16="http://schemas.microsoft.com/office/drawing/2014/main" id="{EBE39A50-9430-9AB5-39D4-BB14C062824E}"/>
              </a:ext>
            </a:extLst>
          </p:cNvPr>
          <p:cNvSpPr/>
          <p:nvPr/>
        </p:nvSpPr>
        <p:spPr>
          <a:xfrm>
            <a:off x="1136180" y="4306120"/>
            <a:ext cx="2614466" cy="2093001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4076121" y="3778412"/>
            <a:ext cx="18165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m~km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702" name="连接符: 肘形 3701">
            <a:extLst>
              <a:ext uri="{FF2B5EF4-FFF2-40B4-BE49-F238E27FC236}">
                <a16:creationId xmlns:a16="http://schemas.microsoft.com/office/drawing/2014/main" id="{5CE3D939-1865-66FD-287A-EDCE347EA12A}"/>
              </a:ext>
            </a:extLst>
          </p:cNvPr>
          <p:cNvCxnSpPr>
            <a:cxnSpLocks/>
            <a:stCxn id="30" idx="0"/>
            <a:endCxn id="34" idx="0"/>
          </p:cNvCxnSpPr>
          <p:nvPr/>
        </p:nvCxnSpPr>
        <p:spPr>
          <a:xfrm rot="5400000" flipH="1" flipV="1">
            <a:off x="2448321" y="4311866"/>
            <a:ext cx="12700" cy="135655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目前通用速率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112Gbps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下，铜互连有效传输距离仅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2.5m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，需采用光互连取代铜互连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859857"/>
              </p:ext>
            </p:extLst>
          </p:nvPr>
        </p:nvGraphicFramePr>
        <p:xfrm>
          <a:off x="6841656" y="2744991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269738" y="221972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有效传输距离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193194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7955150" y="3785904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112G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铜互联</a:t>
            </a: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9099655" y="2359032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&gt;&gt;50m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200G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光互联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74103" y="2561802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926685" y="2555976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598684"/>
            <a:ext cx="1629561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553783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596116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铜互连传输距离成为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扩量瓶颈，光互连可突破铜互联距离上限</a:t>
            </a: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：有效传输距离，保证误码率不超过可用临界值的稳定传输距离</a:t>
            </a: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0075095" y="432147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传输速率（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Gbps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铜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光：传输距离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10m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IDC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扩张对互连距离提出更高要求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70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6" imgW="404" imgH="405" progId="TCLayout.ActiveDocument.1">
                  <p:embed/>
                </p:oleObj>
              </mc:Choice>
              <mc:Fallback>
                <p:oleObj name="think-cell 幻灯片" r:id="rId3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方案：降低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60%+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光模块功耗，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万卡集群整体电费降低数百万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RMB/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1" name="Chart 3">
            <a:extLst>
              <a:ext uri="{FF2B5EF4-FFF2-40B4-BE49-F238E27FC236}">
                <a16:creationId xmlns:a16="http://schemas.microsoft.com/office/drawing/2014/main" id="{60E08A6A-2FF2-73CB-6B93-4B7C75623DB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5829090"/>
              </p:ext>
            </p:extLst>
          </p:nvPr>
        </p:nvGraphicFramePr>
        <p:xfrm>
          <a:off x="6954838" y="2543175"/>
          <a:ext cx="4325937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9274175" y="2620963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274175" y="262096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556875" y="2620962"/>
            <a:ext cx="0" cy="14049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7794625" y="4041775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897813" y="4808538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78955D-E5A0-49B9-B7E1-CCC82A47AB9E}" type="datetime'铜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铜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9075738" y="3684588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734425" y="4808538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1C365C8-0CB0-4B88-9626-3C99A0890C17}" type="datetime'''可''''''''插拔''''''''''''''''光''''模''''块'''''''''''">
              <a:rPr lang="zh-CN" altLang="en-US" sz="1400" smtClean="0">
                <a:solidFill>
                  <a:srgbClr val="000000"/>
                </a:solidFill>
                <a:cs typeface="+mn-ea"/>
                <a:sym typeface="+mn-lt"/>
              </a:rPr>
              <a:pPr/>
              <a:t>可插拔光模块</a:t>
            </a:fld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10364788" y="4270375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358439" y="4808538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ea"/>
                <a:sym typeface="+mn-lt"/>
              </a:rPr>
              <a:pPr/>
              <a:t>CPO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537699" y="2427288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781990" y="5152756"/>
            <a:ext cx="5003610" cy="1289682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），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（交换机）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7383" y="608842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262" name="Chart 3">
            <a:extLst>
              <a:ext uri="{FF2B5EF4-FFF2-40B4-BE49-F238E27FC236}">
                <a16:creationId xmlns:a16="http://schemas.microsoft.com/office/drawing/2014/main" id="{24008895-D9E2-6C70-A8FF-44A97D3617B1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753314800"/>
              </p:ext>
            </p:extLst>
          </p:nvPr>
        </p:nvGraphicFramePr>
        <p:xfrm>
          <a:off x="682625" y="2460625"/>
          <a:ext cx="4786313" cy="273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71BDA12-AEE8-4134-5C60-C6EA46F4A23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5386388" y="4889500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C350DA0-781F-9001-54A5-56F3DBC3922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5386388" y="446563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D7EB9F4-2DBC-160E-4D54-E65265566121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5386388" y="4040188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D93D83C-858F-8F88-AAB8-6F68D3618D3E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386388" y="361632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3C59829-087F-B8B1-F707-6F9BF88AA173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5386388" y="31908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16E45A7-247C-8DC0-B553-0A8E733A01A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5562600" y="47831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0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9B97D8B3-5266-2982-1A1F-9A307773FD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5562600" y="435927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6FAF003-FD49-49EC-A5CD-EE15446ABF3A}" type="datetime'''''''''''0''''''''''''.''''''''''''''0''''''''''''2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0.02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4E25710A-4DC0-8907-7590-6CEF0E5A923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5562600" y="3933825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39CD60-979E-4089-86ED-23B8B68F8E3F}" type="datetime'''''''''''''''''''''''''''''0.''''''''''0''4''''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0.04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6C80E67A-470D-8548-FB10-606F145B5E7A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5562600" y="350996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CB4B8D3-B3CF-4530-BC82-221C78930947}" type="datetime'''''''''''''''''''''''''''''''''''0.0''''''''''''''6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0.06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467F350-8FBE-C0E8-9D8D-531F456902E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5562600" y="3084513"/>
            <a:ext cx="3444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EFC418C-195B-4165-BB51-73FBADC048E5}" type="datetime'''''''''''''0''.''''''''''''0''''8'''''''''''''">
              <a:rPr lang="zh-CN" altLang="en-US" sz="1400" smtClean="0">
                <a:effectLst/>
                <a:cs typeface="+mn-ea"/>
                <a:sym typeface="+mn-lt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0.08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5200A85-AF67-5FF8-729C-7A44BBF011F7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5562600" y="26606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ea"/>
                <a:sym typeface="+mn-lt"/>
              </a:rPr>
              <a:t>10%</a:t>
            </a:r>
            <a:endParaRPr lang="zh-CN" altLang="en-US" sz="1400" dirty="0">
              <a:cs typeface="+mn-ea"/>
              <a:sym typeface="+mn-lt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F0CD128-9BD1-B8D7-EA7E-068A7EC90C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 flipV="1">
            <a:off x="2770188" y="2543175"/>
            <a:ext cx="0" cy="2062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2A43F2C-0E85-4B49-D0A9-9BB8540853B2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 bwMode="auto">
          <a:xfrm>
            <a:off x="2770188" y="2543175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DF609F-E657-C2FD-4D2E-3AB028971542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4749800" y="2543174"/>
            <a:ext cx="0" cy="19192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7" name="Text Placeholder 4">
            <a:extLst>
              <a:ext uri="{FF2B5EF4-FFF2-40B4-BE49-F238E27FC236}">
                <a16:creationId xmlns:a16="http://schemas.microsoft.com/office/drawing/2014/main" id="{1B137E7D-F8D1-DF59-71D2-9DAF521A528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376488" y="43164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ea"/>
                <a:sym typeface="+mn-lt"/>
              </a:rPr>
              <a:t>1%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050F4A4-ABCB-746C-BD33-7AF4E959EDF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2212975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D9E166-2607-4DFE-ABC8-C2961A8612B8}" type="datetime'''''''''''''2''0''''''''2''''''''''''2'''''">
              <a:rPr lang="zh-CN" altLang="en-US" sz="1400" smtClean="0">
                <a:cs typeface="+mn-ea"/>
                <a:sym typeface="+mn-lt"/>
              </a:rPr>
              <a:pPr/>
              <a:t>2022</a:t>
            </a:fld>
            <a:endParaRPr lang="zh-CN" altLang="en-US" sz="1400" dirty="0">
              <a:cs typeface="+mn-ea"/>
              <a:sym typeface="+mn-lt"/>
            </a:endParaRPr>
          </a:p>
        </p:txBody>
      </p:sp>
      <p:sp useBgFill="1">
        <p:nvSpPr>
          <p:cNvPr id="20" name="Text Placeholder 4">
            <a:extLst>
              <a:ext uri="{FF2B5EF4-FFF2-40B4-BE49-F238E27FC236}">
                <a16:creationId xmlns:a16="http://schemas.microsoft.com/office/drawing/2014/main" id="{EF9DA3AD-365B-44CB-6ACE-B99CBCF2497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4241800" y="3084513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ea"/>
                <a:sym typeface="+mn-lt"/>
              </a:rPr>
              <a:t>8%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7BDD456-B124-C560-0DF8-F98741042E38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4192588" y="4948238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CCF0963-CF58-4147-8F99-C875A2430581}" type="datetime'''''2''0''''''2''''''''''8'''">
              <a:rPr lang="zh-CN" altLang="en-US" sz="1400" smtClean="0">
                <a:cs typeface="+mn-ea"/>
                <a:sym typeface="+mn-lt"/>
              </a:rPr>
              <a:pPr/>
              <a:t>2028</a:t>
            </a:fld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C79F64D-9132-1AFA-69C8-A6066192A3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549650" y="2392363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ea"/>
                <a:sym typeface="+mn-lt"/>
              </a:rPr>
              <a:t>20</a:t>
            </a:r>
            <a:r>
              <a:rPr lang="en-US" altLang="zh-CN" sz="1400" b="1" dirty="0">
                <a:effectLst/>
                <a:cs typeface="+mn-ea"/>
                <a:sym typeface="+mn-lt"/>
              </a:rPr>
              <a:t>x</a:t>
            </a:r>
            <a:endParaRPr lang="zh-CN" altLang="en-US" sz="1400" b="1" dirty="0">
              <a:cs typeface="+mn-ea"/>
              <a:sym typeface="+mn-lt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30601F6-BB29-C5BD-FF3F-CF124258903F}"/>
              </a:ext>
            </a:extLst>
          </p:cNvPr>
          <p:cNvGrpSpPr/>
          <p:nvPr/>
        </p:nvGrpSpPr>
        <p:grpSpPr>
          <a:xfrm>
            <a:off x="762722" y="5525986"/>
            <a:ext cx="1490664" cy="147564"/>
            <a:chOff x="7056423" y="8136268"/>
            <a:chExt cx="1490965" cy="147564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0D6B96B-9FCC-2D3B-A6CB-D2E01750C713}"/>
                </a:ext>
              </a:extLst>
            </p:cNvPr>
            <p:cNvCxnSpPr/>
            <p:nvPr/>
          </p:nvCxnSpPr>
          <p:spPr>
            <a:xfrm>
              <a:off x="7056423" y="82270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CB6E258-D6B1-5657-55E4-2196B3AC2876}"/>
                </a:ext>
              </a:extLst>
            </p:cNvPr>
            <p:cNvSpPr txBox="1"/>
            <p:nvPr/>
          </p:nvSpPr>
          <p:spPr>
            <a:xfrm>
              <a:off x="7399069" y="8136268"/>
              <a:ext cx="1148319" cy="14756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光模块功耗占比（右轴） 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13C72FB-3311-2BD6-62C0-8221FF098A64}"/>
              </a:ext>
            </a:extLst>
          </p:cNvPr>
          <p:cNvGrpSpPr/>
          <p:nvPr/>
        </p:nvGrpSpPr>
        <p:grpSpPr>
          <a:xfrm>
            <a:off x="2621459" y="5473562"/>
            <a:ext cx="1467302" cy="252413"/>
            <a:chOff x="7119936" y="8370638"/>
            <a:chExt cx="1468517" cy="252413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53150B7-DADE-FE5C-F739-F581D84BE5FA}"/>
                </a:ext>
              </a:extLst>
            </p:cNvPr>
            <p:cNvSpPr txBox="1"/>
            <p:nvPr/>
          </p:nvSpPr>
          <p:spPr>
            <a:xfrm>
              <a:off x="7510927" y="8370638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全球</a:t>
              </a:r>
              <a:r>
                <a:rPr lang="en-US" altLang="zh-CN" sz="1400" dirty="0">
                  <a:cs typeface="+mn-ea"/>
                  <a:sym typeface="+mn-lt"/>
                </a:rPr>
                <a:t>IDC</a:t>
              </a:r>
              <a:r>
                <a:rPr lang="zh-CN" altLang="en-US" sz="1400" dirty="0">
                  <a:cs typeface="+mn-ea"/>
                  <a:sym typeface="+mn-lt"/>
                </a:rPr>
                <a:t>用电量（左轴） 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F604937-B6F7-CB2D-A025-6E7491B8BDE6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DC1B323-BF9F-2AE2-67C3-C56A5BDD6497}"/>
              </a:ext>
            </a:extLst>
          </p:cNvPr>
          <p:cNvGrpSpPr/>
          <p:nvPr/>
        </p:nvGrpSpPr>
        <p:grpSpPr>
          <a:xfrm>
            <a:off x="4456834" y="5452131"/>
            <a:ext cx="1312864" cy="295275"/>
            <a:chOff x="7119936" y="8356358"/>
            <a:chExt cx="1312552" cy="294870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FD540D0-E5E0-E180-C919-307C496DA945}"/>
                </a:ext>
              </a:extLst>
            </p:cNvPr>
            <p:cNvSpPr txBox="1"/>
            <p:nvPr/>
          </p:nvSpPr>
          <p:spPr>
            <a:xfrm>
              <a:off x="7470716" y="8356358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400" dirty="0">
                  <a:cs typeface="+mn-ea"/>
                  <a:sym typeface="+mn-lt"/>
                </a:rPr>
                <a:t>光模块功耗（左轴） 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DBB7B26-19F1-A695-7DEF-D885AF11D420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8F19C2D3-5E9F-DE88-25AF-CCC2D6738615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至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2028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年，预计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光模块能耗占比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1%=&gt;8%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，增长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20x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，成为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能耗重要组成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176F9CD6-3D3D-562C-F111-32376BB40DFF}"/>
              </a:ext>
            </a:extLst>
          </p:cNvPr>
          <p:cNvSpPr txBox="1"/>
          <p:nvPr/>
        </p:nvSpPr>
        <p:spPr>
          <a:xfrm>
            <a:off x="568326" y="2215431"/>
            <a:ext cx="6149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TWh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auto">
          <a:xfrm>
            <a:off x="6388540" y="2235454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可插拔光模块作为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光互连主流方案面临功耗问题，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可大幅降低功耗</a:t>
            </a:r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3329CC76-C3AA-EDF8-5B5F-E2B4AA273236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E179372-5D6A-E866-3D02-CC41FA1BEB85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可插拔光模块 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=&gt; CPO</a:t>
              </a:r>
              <a:r>
                <a:rPr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：功耗下降</a:t>
              </a:r>
              <a:r>
                <a:rPr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60%+</a:t>
              </a:r>
              <a:endPara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E492E42F-26BC-586E-DDFB-7A784C29C62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2" name="直线连接符 38">
              <a:extLst>
                <a:ext uri="{FF2B5EF4-FFF2-40B4-BE49-F238E27FC236}">
                  <a16:creationId xmlns:a16="http://schemas.microsoft.com/office/drawing/2014/main" id="{5EE3F395-4CD3-AE72-963B-51836EBFA5E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B53395C7-1F28-C0E5-5F0F-4716C13A71D2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能耗：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34" name="直线连接符 38">
              <a:extLst>
                <a:ext uri="{FF2B5EF4-FFF2-40B4-BE49-F238E27FC236}">
                  <a16:creationId xmlns:a16="http://schemas.microsoft.com/office/drawing/2014/main" id="{50214BAF-0171-18BB-B779-50D92AB69249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：按照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扩展方案，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组网架构层数计算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28313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光互连技术路径：可插拔仍为主流，巨头将商业落地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OIO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初创处于技术验证期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71%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率先认证并出货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样片给英伟达、台积电等做验证</a:t>
            </a:r>
            <a:endParaRPr lang="zh-CN" altLang="en-US" sz="12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</a:t>
            </a:r>
            <a:endParaRPr lang="zh-CN" altLang="zh-CN" sz="12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B93F5-5D27-F4C3-FB47-60B3987E8E51}"/>
              </a:ext>
            </a:extLst>
          </p:cNvPr>
          <p:cNvSpPr/>
          <p:nvPr/>
        </p:nvSpPr>
        <p:spPr>
          <a:xfrm>
            <a:off x="11998907" y="1044496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弱化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0458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解决可插拔光模块的信息损耗、功耗、速率痛点</a:t>
            </a: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1447849" y="2623982"/>
            <a:ext cx="991020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298577" y="3224151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143532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36146" y="926664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硬制约：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走线带来高信息损耗，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不走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损耗仅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224Gbps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下，信息损耗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 &gt;&gt; IEEE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16db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信号强度差距），导致信号中断；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软制约：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长距离需高功耗补偿（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，占光模块整体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2/3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）且限制速率（同等信息损耗下，距离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，信息损耗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2x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10x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级缩距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50886C-697B-026F-46EB-F4126C039A9E}"/>
              </a:ext>
            </a:extLst>
          </p:cNvPr>
          <p:cNvGrpSpPr/>
          <p:nvPr/>
        </p:nvGrpSpPr>
        <p:grpSpPr>
          <a:xfrm>
            <a:off x="4473209" y="2068100"/>
            <a:ext cx="8187507" cy="4042114"/>
            <a:chOff x="2568076" y="2105163"/>
            <a:chExt cx="8187507" cy="4042114"/>
          </a:xfrm>
        </p:grpSpPr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5330856" y="371977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正面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6777012" y="5355590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7970483" y="3468200"/>
              <a:ext cx="583239" cy="246220"/>
            </a:xfrm>
            <a:custGeom>
              <a:avLst/>
              <a:gdLst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0 w 518039"/>
                <a:gd name="connsiteY3" fmla="*/ 246220 h 246220"/>
                <a:gd name="connsiteX4" fmla="*/ 0 w 518039"/>
                <a:gd name="connsiteY4" fmla="*/ 0 h 246220"/>
                <a:gd name="connsiteX0" fmla="*/ 0 w 518039"/>
                <a:gd name="connsiteY0" fmla="*/ 0 h 246220"/>
                <a:gd name="connsiteX1" fmla="*/ 518039 w 518039"/>
                <a:gd name="connsiteY1" fmla="*/ 0 h 246220"/>
                <a:gd name="connsiteX2" fmla="*/ 518039 w 518039"/>
                <a:gd name="connsiteY2" fmla="*/ 246220 h 246220"/>
                <a:gd name="connsiteX3" fmla="*/ 422160 w 518039"/>
                <a:gd name="connsiteY3" fmla="*/ 246030 h 246220"/>
                <a:gd name="connsiteX4" fmla="*/ 0 w 518039"/>
                <a:gd name="connsiteY4" fmla="*/ 246220 h 246220"/>
                <a:gd name="connsiteX5" fmla="*/ 0 w 518039"/>
                <a:gd name="connsiteY5" fmla="*/ 0 h 24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8039" h="246220">
                  <a:moveTo>
                    <a:pt x="0" y="0"/>
                  </a:moveTo>
                  <a:lnTo>
                    <a:pt x="518039" y="0"/>
                  </a:lnTo>
                  <a:lnTo>
                    <a:pt x="518039" y="246220"/>
                  </a:lnTo>
                  <a:lnTo>
                    <a:pt x="422160" y="246030"/>
                  </a:lnTo>
                  <a:lnTo>
                    <a:pt x="0" y="246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8" name="椭圆 2217">
              <a:extLst>
                <a:ext uri="{FF2B5EF4-FFF2-40B4-BE49-F238E27FC236}">
                  <a16:creationId xmlns:a16="http://schemas.microsoft.com/office/drawing/2014/main" id="{4F68F8D8-5A4F-9AB0-A2B1-4AA8521AE26C}"/>
                </a:ext>
              </a:extLst>
            </p:cNvPr>
            <p:cNvSpPr/>
            <p:nvPr/>
          </p:nvSpPr>
          <p:spPr>
            <a:xfrm>
              <a:off x="8100201" y="3677084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9" name="椭圆 2218">
              <a:extLst>
                <a:ext uri="{FF2B5EF4-FFF2-40B4-BE49-F238E27FC236}">
                  <a16:creationId xmlns:a16="http://schemas.microsoft.com/office/drawing/2014/main" id="{697FD642-E1C7-984C-84FD-F9BA32AE213D}"/>
                </a:ext>
              </a:extLst>
            </p:cNvPr>
            <p:cNvSpPr/>
            <p:nvPr/>
          </p:nvSpPr>
          <p:spPr>
            <a:xfrm>
              <a:off x="8018472" y="3677908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5792113" y="3427635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5756277" y="3667993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6282008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侧面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5360854" y="373841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5560302" y="347240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5557540" y="345136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5762833" y="327806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5874015" y="323343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8180455" y="3552471"/>
              <a:ext cx="196913" cy="12422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cxnSpLocks/>
              <a:stCxn id="2208" idx="3"/>
            </p:cNvCxnSpPr>
            <p:nvPr/>
          </p:nvCxnSpPr>
          <p:spPr>
            <a:xfrm>
              <a:off x="8377368" y="3614581"/>
              <a:ext cx="687160" cy="2331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8594229" y="352406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5634495" y="2927195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6669921" y="2972902"/>
              <a:ext cx="3227870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光模块：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30W</a:t>
              </a:r>
              <a:r>
                <a:rPr kumimoji="1" lang="en-US" altLang="zh-CN" sz="1400" baseline="30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数字信号处理器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 + 10W (</a:t>
              </a:r>
              <a:r>
                <a:rPr kumimoji="1"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光引擎，含光源</a:t>
              </a:r>
              <a:r>
                <a:rPr kumimoji="1" lang="en-US" altLang="zh-CN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)</a:t>
              </a: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344339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3512978"/>
              <a:ext cx="246441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6576272" y="3509774"/>
              <a:ext cx="0" cy="246105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6574684" y="3754291"/>
              <a:ext cx="1469679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8044363" y="3682672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5792113" y="5359855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5756277" y="5600213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5330856" y="5651995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5360854" y="5670637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PCB</a:t>
              </a:r>
              <a:endParaRPr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5560302" y="5404622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rgbClr val="0052D9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5557540" y="5383583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5762833" y="5210281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5874015" y="5165656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ASIC</a:t>
              </a:r>
              <a:endParaRPr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8199553" y="5468340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7317333" y="5549131"/>
              <a:ext cx="1658150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8594229" y="5456286"/>
              <a:ext cx="149225" cy="88931"/>
            </a:xfrm>
            <a:prstGeom prst="ellipse">
              <a:avLst/>
            </a:prstGeom>
            <a:noFill/>
            <a:ln w="127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5587594" y="4868277"/>
              <a:ext cx="954142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交换机芯片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7644385" y="5092875"/>
              <a:ext cx="134697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外置光源：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2W</a:t>
              </a: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53" y="5375616"/>
              <a:ext cx="0" cy="72522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6331419" y="5445198"/>
              <a:ext cx="47632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6804873" y="5356800"/>
              <a:ext cx="0" cy="89316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6769328" y="5237672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6635783" y="4858874"/>
              <a:ext cx="104863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光引擎：</a:t>
              </a:r>
              <a:r>
                <a:rPr kumimoji="1"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7W</a:t>
              </a: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6964908" y="5304656"/>
              <a:ext cx="358775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7320508" y="5297530"/>
              <a:ext cx="0" cy="25224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8166810" y="5521456"/>
              <a:ext cx="238490" cy="496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39F46A2D-EB35-B179-00C5-9AC49FE23C20}"/>
                </a:ext>
              </a:extLst>
            </p:cNvPr>
            <p:cNvCxnSpPr>
              <a:cxnSpLocks/>
              <a:stCxn id="2208" idx="2"/>
              <a:endCxn id="2282" idx="0"/>
            </p:cNvCxnSpPr>
            <p:nvPr/>
          </p:nvCxnSpPr>
          <p:spPr>
            <a:xfrm rot="5400000">
              <a:off x="6792859" y="3751618"/>
              <a:ext cx="1560981" cy="1411127"/>
            </a:xfrm>
            <a:prstGeom prst="bentConnector3">
              <a:avLst>
                <a:gd name="adj1" fmla="val 50000"/>
              </a:avLst>
            </a:prstGeom>
            <a:ln w="9525">
              <a:solidFill>
                <a:srgbClr val="0052D9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FEE17CA1-B873-58C8-C886-BEDAF753562F}"/>
                </a:ext>
              </a:extLst>
            </p:cNvPr>
            <p:cNvSpPr/>
            <p:nvPr/>
          </p:nvSpPr>
          <p:spPr>
            <a:xfrm>
              <a:off x="8004102" y="3553862"/>
              <a:ext cx="163588" cy="12282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5" name="椭圆 2244">
              <a:extLst>
                <a:ext uri="{FF2B5EF4-FFF2-40B4-BE49-F238E27FC236}">
                  <a16:creationId xmlns:a16="http://schemas.microsoft.com/office/drawing/2014/main" id="{493B989A-0BAA-46CC-573B-65C09D39CF00}"/>
                </a:ext>
              </a:extLst>
            </p:cNvPr>
            <p:cNvSpPr/>
            <p:nvPr/>
          </p:nvSpPr>
          <p:spPr>
            <a:xfrm>
              <a:off x="8286097" y="3675867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6" name="椭圆 2245">
              <a:extLst>
                <a:ext uri="{FF2B5EF4-FFF2-40B4-BE49-F238E27FC236}">
                  <a16:creationId xmlns:a16="http://schemas.microsoft.com/office/drawing/2014/main" id="{8E212FC6-BB78-F14B-0660-4327A0CDE51F}"/>
                </a:ext>
              </a:extLst>
            </p:cNvPr>
            <p:cNvSpPr/>
            <p:nvPr/>
          </p:nvSpPr>
          <p:spPr>
            <a:xfrm>
              <a:off x="8204368" y="3676691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247" name="直接连接符 2246">
              <a:extLst>
                <a:ext uri="{FF2B5EF4-FFF2-40B4-BE49-F238E27FC236}">
                  <a16:creationId xmlns:a16="http://schemas.microsoft.com/office/drawing/2014/main" id="{4BEC45EB-6ECD-9D67-10A7-2909C80F2BCA}"/>
                </a:ext>
              </a:extLst>
            </p:cNvPr>
            <p:cNvCxnSpPr>
              <a:cxnSpLocks/>
            </p:cNvCxnSpPr>
            <p:nvPr/>
          </p:nvCxnSpPr>
          <p:spPr>
            <a:xfrm>
              <a:off x="8123238" y="3752339"/>
              <a:ext cx="110037" cy="0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1" name="直接连接符 2270">
              <a:extLst>
                <a:ext uri="{FF2B5EF4-FFF2-40B4-BE49-F238E27FC236}">
                  <a16:creationId xmlns:a16="http://schemas.microsoft.com/office/drawing/2014/main" id="{7F730EB3-8D5A-9C97-39B7-82D20ADC53BE}"/>
                </a:ext>
              </a:extLst>
            </p:cNvPr>
            <p:cNvCxnSpPr>
              <a:cxnSpLocks/>
            </p:cNvCxnSpPr>
            <p:nvPr/>
          </p:nvCxnSpPr>
          <p:spPr>
            <a:xfrm>
              <a:off x="8233275" y="3680720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直接连接符 2286">
              <a:extLst>
                <a:ext uri="{FF2B5EF4-FFF2-40B4-BE49-F238E27FC236}">
                  <a16:creationId xmlns:a16="http://schemas.microsoft.com/office/drawing/2014/main" id="{69F62410-1C97-AD9E-0107-EDC00361AFA5}"/>
                </a:ext>
              </a:extLst>
            </p:cNvPr>
            <p:cNvCxnSpPr>
              <a:cxnSpLocks/>
            </p:cNvCxnSpPr>
            <p:nvPr/>
          </p:nvCxnSpPr>
          <p:spPr>
            <a:xfrm>
              <a:off x="8126913" y="3681969"/>
              <a:ext cx="0" cy="71254"/>
            </a:xfrm>
            <a:prstGeom prst="line">
              <a:avLst/>
            </a:prstGeom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3" name="直接箭头连接符 2302">
              <a:extLst>
                <a:ext uri="{FF2B5EF4-FFF2-40B4-BE49-F238E27FC236}">
                  <a16:creationId xmlns:a16="http://schemas.microsoft.com/office/drawing/2014/main" id="{BC55CDD2-E772-C35E-78E6-6D89D2399390}"/>
                </a:ext>
              </a:extLst>
            </p:cNvPr>
            <p:cNvCxnSpPr>
              <a:cxnSpLocks/>
            </p:cNvCxnSpPr>
            <p:nvPr/>
          </p:nvCxnSpPr>
          <p:spPr>
            <a:xfrm>
              <a:off x="8275502" y="4453404"/>
              <a:ext cx="0" cy="1014936"/>
            </a:xfrm>
            <a:prstGeom prst="straightConnector1">
              <a:avLst/>
            </a:prstGeom>
            <a:ln w="9525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34DDFF-3CD2-B224-D30A-9AAF270E7E99}"/>
              </a:ext>
            </a:extLst>
          </p:cNvPr>
          <p:cNvGrpSpPr/>
          <p:nvPr/>
        </p:nvGrpSpPr>
        <p:grpSpPr>
          <a:xfrm>
            <a:off x="3021878" y="2068100"/>
            <a:ext cx="4498799" cy="3469687"/>
            <a:chOff x="9988296" y="2105163"/>
            <a:chExt cx="4498799" cy="3469687"/>
          </a:xfrm>
        </p:grpSpPr>
        <p:sp>
          <p:nvSpPr>
            <p:cNvPr id="2309" name="文本框 2308">
              <a:extLst>
                <a:ext uri="{FF2B5EF4-FFF2-40B4-BE49-F238E27FC236}">
                  <a16:creationId xmlns:a16="http://schemas.microsoft.com/office/drawing/2014/main" id="{9BFF16ED-879E-1FC6-ED92-D21BE255939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1.6T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2311" name="文本框 2310">
              <a:extLst>
                <a:ext uri="{FF2B5EF4-FFF2-40B4-BE49-F238E27FC236}">
                  <a16:creationId xmlns:a16="http://schemas.microsoft.com/office/drawing/2014/main" id="{2EEC16A6-73A6-E0A5-1CE1-A674984BCEDC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速率上限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12" name="文本框 2311">
              <a:extLst>
                <a:ext uri="{FF2B5EF4-FFF2-40B4-BE49-F238E27FC236}">
                  <a16:creationId xmlns:a16="http://schemas.microsoft.com/office/drawing/2014/main" id="{B0B135FA-6390-57F1-3CDF-853F2745AFFE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6.4T</a:t>
              </a:r>
              <a:r>
                <a:rPr lang="en-US" altLang="zh-CN" sz="1400" dirty="0">
                  <a:solidFill>
                    <a:srgbClr val="0052D9"/>
                  </a:solidFill>
                  <a:cs typeface="+mn-ea"/>
                  <a:sym typeface="+mn-lt"/>
                </a:rPr>
                <a:t>bps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4FC330-9EC7-3610-2E02-3B7500EC9A6B}"/>
              </a:ext>
            </a:extLst>
          </p:cNvPr>
          <p:cNvGrpSpPr/>
          <p:nvPr/>
        </p:nvGrpSpPr>
        <p:grpSpPr>
          <a:xfrm>
            <a:off x="1904153" y="2068100"/>
            <a:ext cx="4498799" cy="3469687"/>
            <a:chOff x="9988296" y="2105163"/>
            <a:chExt cx="4498799" cy="34696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69FE1A6-9A83-C9EE-0A19-B32C608D75C8}"/>
                </a:ext>
              </a:extLst>
            </p:cNvPr>
            <p:cNvSpPr txBox="1"/>
            <p:nvPr/>
          </p:nvSpPr>
          <p:spPr>
            <a:xfrm>
              <a:off x="9995556" y="3406643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4-9db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CD45E0C-5835-16E7-8E9C-4B9E7B8184C7}"/>
                </a:ext>
              </a:extLst>
            </p:cNvPr>
            <p:cNvSpPr txBox="1"/>
            <p:nvPr/>
          </p:nvSpPr>
          <p:spPr>
            <a:xfrm>
              <a:off x="10013520" y="2105163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4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信息损耗</a:t>
              </a:r>
              <a:endPara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E13A0C2-8BD5-F282-EBFF-1DC4047516D9}"/>
                </a:ext>
              </a:extLst>
            </p:cNvPr>
            <p:cNvSpPr txBox="1"/>
            <p:nvPr/>
          </p:nvSpPr>
          <p:spPr>
            <a:xfrm>
              <a:off x="9988296" y="5267073"/>
              <a:ext cx="2787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52D9"/>
                  </a:solidFill>
                  <a:cs typeface="+mn-ea"/>
                  <a:sym typeface="+mn-lt"/>
                </a:rPr>
                <a:t>22db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64140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41102" y="526501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082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互连按照距离可分为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2901900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60424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467701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052152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040812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单机柜叠加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GPU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&lt;5m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，高频交互强调低延时，铜互连为主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9" y="1552454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算力节点横向互连，距离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&gt;5m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，强调可扩展性，光互连为主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017264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4994464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018259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3960032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3843963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474536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474536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2902769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311375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3972214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3844832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486718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486718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40383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079162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512613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486718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187943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187943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215827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62471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20007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65075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01825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061554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375749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322552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3681356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471868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228367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2950498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3796035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673937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155493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61521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216E-FC44-C556-5ADB-FFE73752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AF53793-3BA8-3B0B-11B0-5646C3396F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15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82EC63-30B0-4791-7AFE-D914343FB7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E6961B5-1638-795A-D4C0-072F72A4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国内光强电弱，海外电强光弱，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为补足短板的关键技术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B83A3A-0ADA-2067-9815-91365E9B612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635F8-C66D-A558-DBC5-8D6B549DA398}"/>
              </a:ext>
            </a:extLst>
          </p:cNvPr>
          <p:cNvSpPr txBox="1"/>
          <p:nvPr/>
        </p:nvSpPr>
        <p:spPr>
          <a:xfrm>
            <a:off x="536146" y="926664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国内：受制于人，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曲线救国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受限于芯片制程，电弱、铜互联弱，交换机芯片、高速电芯片进度落后海外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光强调硅光、封测能力，国内强，光模块进度远超海外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进一步强光，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绕过制程影响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海外：铜互连达上限，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锦上添花</a:t>
            </a:r>
            <a:endParaRPr lang="en-US" altLang="zh-CN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742950" lvl="1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无制程限制，优先发展电芯片与压榨铜互连 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CPO</a:t>
            </a: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解铜互连上限问题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D1B8CB-3B38-16F9-132D-8F4F89C9E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005" y="4218038"/>
            <a:ext cx="3514788" cy="217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78F4B53-700B-2E61-92BC-00A9C7A0BEED}"/>
              </a:ext>
            </a:extLst>
          </p:cNvPr>
          <p:cNvSpPr/>
          <p:nvPr/>
        </p:nvSpPr>
        <p:spPr>
          <a:xfrm>
            <a:off x="4558180" y="3629025"/>
            <a:ext cx="5382109" cy="61559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国内制程限制：盛科通信：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成立，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23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年上市，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25.6TB=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，博通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51.2T=5nm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，落后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年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E38C6AA-B3A3-B68F-2769-A248C0CB0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809" y="4283075"/>
            <a:ext cx="3789598" cy="217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D6CA5BF5-430A-79B2-A2B0-278806ABF995}"/>
              </a:ext>
            </a:extLst>
          </p:cNvPr>
          <p:cNvSpPr/>
          <p:nvPr/>
        </p:nvSpPr>
        <p:spPr>
          <a:xfrm>
            <a:off x="13124343" y="1508913"/>
            <a:ext cx="1341173" cy="1568043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海外动机的数据支撑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1C94BD-5D2B-429B-97A1-B8C402DD430A}"/>
              </a:ext>
            </a:extLst>
          </p:cNvPr>
          <p:cNvSpPr txBox="1"/>
          <p:nvPr/>
        </p:nvSpPr>
        <p:spPr>
          <a:xfrm>
            <a:off x="0" y="4731817"/>
            <a:ext cx="794443" cy="43992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当前制程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AE7AFE-0094-6E85-BA25-DE7F5346EB57}"/>
              </a:ext>
            </a:extLst>
          </p:cNvPr>
          <p:cNvSpPr txBox="1"/>
          <p:nvPr/>
        </p:nvSpPr>
        <p:spPr>
          <a:xfrm>
            <a:off x="3003994" y="4628613"/>
            <a:ext cx="166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5nm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11281E-F381-8401-EF43-2F4B0F48BABA}"/>
              </a:ext>
            </a:extLst>
          </p:cNvPr>
          <p:cNvSpPr txBox="1"/>
          <p:nvPr/>
        </p:nvSpPr>
        <p:spPr>
          <a:xfrm>
            <a:off x="2291815" y="4628614"/>
            <a:ext cx="166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EIC</a:t>
            </a:r>
          </a:p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5nm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9C12F1-2135-F281-7C52-1206F4C8B049}"/>
              </a:ext>
            </a:extLst>
          </p:cNvPr>
          <p:cNvSpPr txBox="1"/>
          <p:nvPr/>
        </p:nvSpPr>
        <p:spPr>
          <a:xfrm>
            <a:off x="912116" y="4628614"/>
            <a:ext cx="166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硅光芯片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100-180nm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ECC7A5-4AEE-1669-475C-ECB96681CBBE}"/>
              </a:ext>
            </a:extLst>
          </p:cNvPr>
          <p:cNvSpPr/>
          <p:nvPr/>
        </p:nvSpPr>
        <p:spPr>
          <a:xfrm>
            <a:off x="81430" y="3903465"/>
            <a:ext cx="4351781" cy="61559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光芯片对制程的要求更宽松，国内光强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182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7950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4" imgH="405" progId="TCLayout.ActiveDocument.1">
                  <p:embed/>
                </p:oleObj>
              </mc:Choice>
              <mc:Fallback>
                <p:oleObj name="think-cell 幻灯片" r:id="rId46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国内受限于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GPU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带宽限制，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优先落地于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272CC209-9CC9-1F05-1D4B-5EE24381A2A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华为：</a:t>
              </a:r>
              <a:r>
                <a:rPr kumimoji="1" lang="en-US" altLang="zh-CN" b="1" dirty="0" err="1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CloudMatrix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384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堆卡补性能，内部采用光互连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 err="1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Deepseek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高带宽可解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难题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50491EA4-7D4D-BEA5-D968-1863C6ACC717}"/>
              </a:ext>
            </a:extLst>
          </p:cNvPr>
          <p:cNvSpPr/>
          <p:nvPr/>
        </p:nvSpPr>
        <p:spPr>
          <a:xfrm>
            <a:off x="13554240" y="1797671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华为作为直接的证据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总带宽是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1/3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单卡性能更低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用了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6FC2D3-CC41-D863-8592-2436A48789EB}"/>
              </a:ext>
            </a:extLst>
          </p:cNvPr>
          <p:cNvSpPr/>
          <p:nvPr/>
        </p:nvSpPr>
        <p:spPr>
          <a:xfrm>
            <a:off x="13481232" y="5173987"/>
            <a:ext cx="2278050" cy="31800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 V3=&gt;R1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论文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2551B1-0708-745B-E773-E2D8491C8BCA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All-to-All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专家并行需大量节点通信，国内可得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卡间带宽均受限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场景受限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55EC61-093A-8818-4706-DDB9126CA541}"/>
              </a:ext>
            </a:extLst>
          </p:cNvPr>
          <p:cNvSpPr txBox="1"/>
          <p:nvPr/>
        </p:nvSpPr>
        <p:spPr>
          <a:xfrm>
            <a:off x="598141" y="4047331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可提升带宽并降低延迟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=&gt; 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显著提升</a:t>
            </a:r>
            <a:r>
              <a:rPr kumimoji="1" lang="en-US" altLang="zh-CN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MoE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推理速度，打穿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瓶颈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02F03A-0489-D3AC-8B5B-8CECA2C14357}"/>
              </a:ext>
            </a:extLst>
          </p:cNvPr>
          <p:cNvSpPr txBox="1"/>
          <p:nvPr/>
        </p:nvSpPr>
        <p:spPr>
          <a:xfrm>
            <a:off x="6434966" y="1560261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昇腾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910C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单卡性能相比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更低，但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总体性能相比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更高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2F9AF3-44B2-B791-E664-CA81AF167627}"/>
              </a:ext>
            </a:extLst>
          </p:cNvPr>
          <p:cNvSpPr txBox="1"/>
          <p:nvPr/>
        </p:nvSpPr>
        <p:spPr>
          <a:xfrm>
            <a:off x="6434965" y="4534046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高性能依赖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，互连距离过大采用可插拔光模块，正积极探索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替换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50" name="Chart 3">
            <a:extLst>
              <a:ext uri="{FF2B5EF4-FFF2-40B4-BE49-F238E27FC236}">
                <a16:creationId xmlns:a16="http://schemas.microsoft.com/office/drawing/2014/main" id="{78187516-4CAD-6B7D-2976-E2F7E637AD4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58976236"/>
              </p:ext>
            </p:extLst>
          </p:nvPr>
        </p:nvGraphicFramePr>
        <p:xfrm>
          <a:off x="871538" y="2217738"/>
          <a:ext cx="4860925" cy="1801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9C4EC16F-EE49-4994-E4AD-5BD0B01F134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3127375" y="2832100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AE415A82-48B0-333C-32E6-1555B80EEFA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127375" y="2832100"/>
            <a:ext cx="10096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3C672C91-C632-C9DA-D52E-C1EF1A6DC1A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137025" y="2832100"/>
            <a:ext cx="0" cy="3698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BF3196E-CB44-2B4B-E94F-AB04C31815F2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906588" y="37719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9E27F69-8DC0-F665-0B84-DEB116B3435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909888" y="37719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B7580EA-4515-23F9-A6D1-6C1414A19E03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919538" y="37719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FC6AC66B-27F7-30B6-BA0A-2D1BB6E5B71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976813" y="37719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F04008CC-8CB7-2E16-81E9-61413664032F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38513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022F3A51-7A0C-89C2-5F4B-50C1B5A63904}"/>
              </a:ext>
            </a:extLst>
          </p:cNvPr>
          <p:cNvSpPr txBox="1"/>
          <p:nvPr/>
        </p:nvSpPr>
        <p:spPr>
          <a:xfrm>
            <a:off x="720725" y="2144445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卡间带宽（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、华为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1044" name="Chart 3">
            <a:extLst>
              <a:ext uri="{FF2B5EF4-FFF2-40B4-BE49-F238E27FC236}">
                <a16:creationId xmlns:a16="http://schemas.microsoft.com/office/drawing/2014/main" id="{50BC8433-A5FD-E805-C583-25609D530E09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969532471"/>
              </p:ext>
            </p:extLst>
          </p:nvPr>
        </p:nvGraphicFramePr>
        <p:xfrm>
          <a:off x="777875" y="4672013"/>
          <a:ext cx="5184775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B3714496-5242-281D-D96F-95F7A5260AA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2646363" y="4732338"/>
            <a:ext cx="0" cy="839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AB89BD39-D758-CC61-FAE3-04EB7F52A491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2646363" y="4732338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C1EDA45F-F008-3925-BD48-CFE4FDBC8FBF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4594225" y="4732338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821EC7B2-CE29-2D1C-0C12-C67E6036C36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487488" y="5948363"/>
            <a:ext cx="162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07FF8A4-CF1A-4804-9538-962E7FFA2CB7}" type="datetime'''''H80''0''（Dee''''''p''''''S''e''''''''''''ek）'''''''''''''">
              <a:rPr lang="en-US" altLang="en-US" sz="1400" smtClean="0">
                <a:cs typeface="+mn-cs"/>
              </a:rPr>
              <a:pPr/>
              <a:t>H800（DeepSeek）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1B4C445F-298C-A628-DEBD-0548A42815D7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67125" y="5948363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4A850680-418C-D1F5-964F-197FA53A433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38513" y="4581525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B6B6F6DD-FCE5-5539-1F61-631996B0F55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557338" y="62118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4CFFE22D-D259-CED6-1416-2D17202E0DD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422650" y="62118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615EB123-1AC8-1AD7-7913-8C85DAA73A4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858963" y="6207125"/>
            <a:ext cx="1462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20F57CF-62D0-476D-BDA3-336DAA2CB0A3}" type="datetime'''''卡''''''''''间带''宽''''（G''''B''/''''''''''''''''s）'''''''''">
              <a:rPr lang="zh-CN" altLang="en-US" sz="1400" smtClean="0">
                <a:cs typeface="+mn-cs"/>
              </a:rPr>
              <a:pPr/>
              <a:t>卡间带宽（GB/s）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81EA4F54-2727-9F6E-C3A9-363EF10DD65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3724275" y="6207125"/>
            <a:ext cx="1638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3F3DEC2-5C84-44DD-8A91-364DF52DBB34}" type="datetime'''推''理''''速率''（''''''''to''''''''ke''''n''''''/s''''''）'">
              <a:rPr lang="zh-CN" altLang="en-US" sz="1400" smtClean="0">
                <a:solidFill>
                  <a:srgbClr val="000000"/>
                </a:solidFill>
                <a:cs typeface="+mn-cs"/>
              </a:rPr>
              <a:pPr/>
              <a:t>推理速率（token/s）</a:t>
            </a:fld>
            <a:endParaRPr lang="zh-CN" altLang="en-US" sz="1400" dirty="0">
              <a:solidFill>
                <a:srgbClr val="000000"/>
              </a:solidFill>
              <a:cs typeface="+mn-cs"/>
            </a:endParaRPr>
          </a:p>
        </p:txBody>
      </p:sp>
      <p:graphicFrame>
        <p:nvGraphicFramePr>
          <p:cNvPr id="3518" name="Chart 3">
            <a:extLst>
              <a:ext uri="{FF2B5EF4-FFF2-40B4-BE49-F238E27FC236}">
                <a16:creationId xmlns:a16="http://schemas.microsoft.com/office/drawing/2014/main" id="{392FCF9C-C388-E1DB-B2C5-7E3392CD298E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239336012"/>
              </p:ext>
            </p:extLst>
          </p:nvPr>
        </p:nvGraphicFramePr>
        <p:xfrm>
          <a:off x="6373813" y="2168525"/>
          <a:ext cx="2479675" cy="1552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cxnSp>
        <p:nvCxnSpPr>
          <p:cNvPr id="3507" name="直接连接符 3506">
            <a:extLst>
              <a:ext uri="{FF2B5EF4-FFF2-40B4-BE49-F238E27FC236}">
                <a16:creationId xmlns:a16="http://schemas.microsoft.com/office/drawing/2014/main" id="{8D0736D3-D065-BA2D-61F2-295B12FB614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 flipV="1">
            <a:off x="7515225" y="2276475"/>
            <a:ext cx="0" cy="538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8" name="直接连接符 3507">
            <a:extLst>
              <a:ext uri="{FF2B5EF4-FFF2-40B4-BE49-F238E27FC236}">
                <a16:creationId xmlns:a16="http://schemas.microsoft.com/office/drawing/2014/main" id="{5EB07BB2-3BE9-F6FF-CEA8-0BA42C269966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 bwMode="auto">
          <a:xfrm>
            <a:off x="7515225" y="2276475"/>
            <a:ext cx="950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9" name="直接连接符 3508">
            <a:extLst>
              <a:ext uri="{FF2B5EF4-FFF2-40B4-BE49-F238E27FC236}">
                <a16:creationId xmlns:a16="http://schemas.microsoft.com/office/drawing/2014/main" id="{2E97C1EB-94F2-B2AD-52FC-3802AF353F0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8466138" y="22764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4" name="Text Placeholder 4">
            <a:extLst>
              <a:ext uri="{FF2B5EF4-FFF2-40B4-BE49-F238E27FC236}">
                <a16:creationId xmlns:a16="http://schemas.microsoft.com/office/drawing/2014/main" id="{1BBF06E2-AFD9-5824-820B-6BCAF47B7384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7062788" y="3473449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80E0B90-F2EC-4BD4-B7AB-B1A0D66CAED1}" type="datetime'''''G''B2''''0''0 NV''''''L''''7''''''''''''''''''''''''2''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5" name="Text Placeholder 4">
            <a:extLst>
              <a:ext uri="{FF2B5EF4-FFF2-40B4-BE49-F238E27FC236}">
                <a16:creationId xmlns:a16="http://schemas.microsoft.com/office/drawing/2014/main" id="{127561D8-7634-9545-A6FC-4B835E091F05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7826375" y="3473451"/>
            <a:ext cx="939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BB59CEC-26EF-449D-8F5A-21BECBFF852B}" type="datetime'华为''''''''''''''''''C''''''''''M''''''''''''''''38''4'''">
              <a:rPr lang="zh-CN" altLang="en-US" sz="1400" smtClean="0">
                <a:cs typeface="+mn-cs"/>
              </a:rPr>
              <a:pPr/>
              <a:t>华为CM384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06" name="Text Placeholder 4">
            <a:extLst>
              <a:ext uri="{FF2B5EF4-FFF2-40B4-BE49-F238E27FC236}">
                <a16:creationId xmlns:a16="http://schemas.microsoft.com/office/drawing/2014/main" id="{E1F9BF98-CF6B-B4BE-3AA1-37631AC7FC60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7596188" y="2125663"/>
            <a:ext cx="7889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CF638F5-99CE-4C75-9ABD-61EE75E8CADE}" type="datetime'''''''''''''+1''''''''''''''''''0''''''''''''8%'''''''''''">
              <a:rPr lang="en-US" altLang="en-US" sz="1400" b="1" smtClean="0">
                <a:effectLst/>
                <a:cs typeface="+mn-cs"/>
              </a:rPr>
              <a:pPr/>
              <a:t>+108%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92" name="矩形 3491">
            <a:extLst>
              <a:ext uri="{FF2B5EF4-FFF2-40B4-BE49-F238E27FC236}">
                <a16:creationId xmlns:a16="http://schemas.microsoft.com/office/drawing/2014/main" id="{F1528EAF-2D97-25A4-4B42-AADB220A6821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6646863" y="4002088"/>
            <a:ext cx="196850" cy="147638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3" name="矩形 3492">
            <a:extLst>
              <a:ext uri="{FF2B5EF4-FFF2-40B4-BE49-F238E27FC236}">
                <a16:creationId xmlns:a16="http://schemas.microsoft.com/office/drawing/2014/main" id="{564EC2E1-325E-C284-2B41-EB8C0756C1D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6646863" y="4221163"/>
            <a:ext cx="196850" cy="1476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8" name="Text Placeholder 4">
            <a:extLst>
              <a:ext uri="{FF2B5EF4-FFF2-40B4-BE49-F238E27FC236}">
                <a16:creationId xmlns:a16="http://schemas.microsoft.com/office/drawing/2014/main" id="{C526EF43-87BD-2DA2-A2D0-85180DA50F43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6894513" y="3997325"/>
            <a:ext cx="169386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8154251-9828-49D4-B9A3-53BFAFC280C4}" type="datetime'单''''''''''''卡''''Scale Up''带''宽（''T''''B''''/''s''''''）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单卡Scale Up带宽（TB/s）</a:t>
            </a:fld>
            <a:endParaRPr lang="zh-CN" altLang="en-US" sz="1100" dirty="0">
              <a:cs typeface="+mn-cs"/>
            </a:endParaRPr>
          </a:p>
        </p:txBody>
      </p:sp>
      <p:sp>
        <p:nvSpPr>
          <p:cNvPr id="3490" name="Text Placeholder 4">
            <a:extLst>
              <a:ext uri="{FF2B5EF4-FFF2-40B4-BE49-F238E27FC236}">
                <a16:creationId xmlns:a16="http://schemas.microsoft.com/office/drawing/2014/main" id="{1E32C81E-041E-4134-7F3C-5A841DCE55C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6894513" y="4216400"/>
            <a:ext cx="192722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9B3EB26-8097-4888-82C8-5017011D0414}" type="datetime'整''体''S''c''''a''le ''''Up''带宽''（''''1''00TB''/''''''s''''）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整体Scale Up带宽（100TB/s）</a:t>
            </a:fld>
            <a:endParaRPr lang="zh-CN" altLang="en-US" sz="1100" dirty="0">
              <a:cs typeface="+mn-cs"/>
            </a:endParaRPr>
          </a:p>
        </p:txBody>
      </p:sp>
      <p:graphicFrame>
        <p:nvGraphicFramePr>
          <p:cNvPr id="3572" name="Chart 3">
            <a:extLst>
              <a:ext uri="{FF2B5EF4-FFF2-40B4-BE49-F238E27FC236}">
                <a16:creationId xmlns:a16="http://schemas.microsoft.com/office/drawing/2014/main" id="{532E39A6-0B15-3188-4BAF-1CA43D67CA3E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4057666661"/>
              </p:ext>
            </p:extLst>
          </p:nvPr>
        </p:nvGraphicFramePr>
        <p:xfrm>
          <a:off x="8869363" y="2014538"/>
          <a:ext cx="2952750" cy="1706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cxnSp>
        <p:nvCxnSpPr>
          <p:cNvPr id="3561" name="直接连接符 3560">
            <a:extLst>
              <a:ext uri="{FF2B5EF4-FFF2-40B4-BE49-F238E27FC236}">
                <a16:creationId xmlns:a16="http://schemas.microsoft.com/office/drawing/2014/main" id="{C15C7BD4-E8F3-A5B3-6275-BC3A4E3F7E57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 flipV="1">
            <a:off x="10001250" y="2649538"/>
            <a:ext cx="0" cy="419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2" name="直接连接符 3561">
            <a:extLst>
              <a:ext uri="{FF2B5EF4-FFF2-40B4-BE49-F238E27FC236}">
                <a16:creationId xmlns:a16="http://schemas.microsoft.com/office/drawing/2014/main" id="{957541C4-500A-31D6-E930-416A74FE9FFD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 bwMode="auto">
          <a:xfrm>
            <a:off x="10001250" y="2649538"/>
            <a:ext cx="10731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3" name="直接连接符 3562">
            <a:extLst>
              <a:ext uri="{FF2B5EF4-FFF2-40B4-BE49-F238E27FC236}">
                <a16:creationId xmlns:a16="http://schemas.microsoft.com/office/drawing/2014/main" id="{BB0002DF-6AC2-0A7F-0D98-37B4A03DF00A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11074400" y="2649539"/>
            <a:ext cx="0" cy="373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29" name="Text Placeholder 4">
            <a:extLst>
              <a:ext uri="{FF2B5EF4-FFF2-40B4-BE49-F238E27FC236}">
                <a16:creationId xmlns:a16="http://schemas.microsoft.com/office/drawing/2014/main" id="{0F06CEA7-F087-CF16-1D55-8DB57B710E91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526588" y="34734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14D188F-F096-46DB-8328-266E07EC387F}" type="datetime'''G''''B''''''''''''''''''20''''''''0'''''' ''''''NVL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46" name="Text Placeholder 4">
            <a:extLst>
              <a:ext uri="{FF2B5EF4-FFF2-40B4-BE49-F238E27FC236}">
                <a16:creationId xmlns:a16="http://schemas.microsoft.com/office/drawing/2014/main" id="{B5997DD6-06AB-B64A-5181-4DD1CD6647D3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10412413" y="3473450"/>
            <a:ext cx="939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1AA01D2-5E41-4187-8F24-F9287EE9C068}" type="datetime'''''''''''''''''华''为''''''''''''C''''''M''''''38''4'''''">
              <a:rPr lang="zh-CN" altLang="en-US" sz="1400" smtClean="0">
                <a:cs typeface="+mn-cs"/>
              </a:rPr>
              <a:pPr/>
              <a:t>华为CM384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59" name="Text Placeholder 4">
            <a:extLst>
              <a:ext uri="{FF2B5EF4-FFF2-40B4-BE49-F238E27FC236}">
                <a16:creationId xmlns:a16="http://schemas.microsoft.com/office/drawing/2014/main" id="{50C32339-6D13-3361-2533-D0C137C7AB3B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10213975" y="2498725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AAB7371-CC3D-42BA-867D-B76CFA543086}" type="datetime'''''+''''''''''''''6''''''''''''''''''7''%''''''''''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573" name="矩形 3572">
            <a:extLst>
              <a:ext uri="{FF2B5EF4-FFF2-40B4-BE49-F238E27FC236}">
                <a16:creationId xmlns:a16="http://schemas.microsoft.com/office/drawing/2014/main" id="{3FD3F05F-89C4-25F5-2A27-506158D258A4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9313863" y="4002088"/>
            <a:ext cx="196850" cy="147638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4" name="矩形 3573">
            <a:extLst>
              <a:ext uri="{FF2B5EF4-FFF2-40B4-BE49-F238E27FC236}">
                <a16:creationId xmlns:a16="http://schemas.microsoft.com/office/drawing/2014/main" id="{71C072DE-5243-6ADA-D16C-20CF6270E22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313863" y="4221163"/>
            <a:ext cx="196850" cy="1476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9" name="Text Placeholder 4">
            <a:extLst>
              <a:ext uri="{FF2B5EF4-FFF2-40B4-BE49-F238E27FC236}">
                <a16:creationId xmlns:a16="http://schemas.microsoft.com/office/drawing/2014/main" id="{9595CAA3-C5D6-62AD-1084-23C9DA20FE44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9561513" y="4216400"/>
            <a:ext cx="23225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53283BA-E61F-4311-8C92-AFB8DF9B4F62}" type="datetime'''整体''B''F1''6 ''''密''集''计''算性''能（''''''''''''PF''''LOPS）''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整体BF16 密集计算性能（PFLOPS）</a:t>
            </a:fld>
            <a:endParaRPr lang="zh-CN" altLang="en-US" sz="1100" dirty="0">
              <a:cs typeface="+mn-cs"/>
            </a:endParaRPr>
          </a:p>
        </p:txBody>
      </p:sp>
      <p:sp>
        <p:nvSpPr>
          <p:cNvPr id="3571" name="Text Placeholder 4">
            <a:extLst>
              <a:ext uri="{FF2B5EF4-FFF2-40B4-BE49-F238E27FC236}">
                <a16:creationId xmlns:a16="http://schemas.microsoft.com/office/drawing/2014/main" id="{1F881DD5-6BFB-4BCC-08F9-DBB17DED5F9F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9561513" y="3997325"/>
            <a:ext cx="2314575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4E46D0A-3C4C-41DF-8BD5-C5B36B566090}" type="datetime'''单卡B''''F''''16'' ''''密''集计算''''''性能（''TFLO''''''''PS''''）'''">
              <a:rPr lang="zh-CN" altLang="en-US" sz="11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单卡BF16 密集计算性能（TFLOPS）</a:t>
            </a:fld>
            <a:endParaRPr lang="zh-CN" altLang="en-US" sz="1100" dirty="0">
              <a:cs typeface="+mn-cs"/>
            </a:endParaRPr>
          </a:p>
        </p:txBody>
      </p:sp>
      <p:pic>
        <p:nvPicPr>
          <p:cNvPr id="3578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0360AE72-6245-FCAF-39F0-2EACE930D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6883009" y="5215558"/>
            <a:ext cx="339501" cy="117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1" name="左大括号 3580">
            <a:extLst>
              <a:ext uri="{FF2B5EF4-FFF2-40B4-BE49-F238E27FC236}">
                <a16:creationId xmlns:a16="http://schemas.microsoft.com/office/drawing/2014/main" id="{937C9845-897D-DA48-DB06-94880BEBDAEC}"/>
              </a:ext>
            </a:extLst>
          </p:cNvPr>
          <p:cNvSpPr/>
          <p:nvPr/>
        </p:nvSpPr>
        <p:spPr>
          <a:xfrm rot="10800000">
            <a:off x="7409855" y="5559068"/>
            <a:ext cx="130492" cy="63137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2" name="文本框 3581">
            <a:extLst>
              <a:ext uri="{FF2B5EF4-FFF2-40B4-BE49-F238E27FC236}">
                <a16:creationId xmlns:a16="http://schemas.microsoft.com/office/drawing/2014/main" id="{300BAE11-E826-7FD4-4EED-C3BD7C5AB34B}"/>
              </a:ext>
            </a:extLst>
          </p:cNvPr>
          <p:cNvSpPr txBox="1"/>
          <p:nvPr/>
        </p:nvSpPr>
        <p:spPr>
          <a:xfrm>
            <a:off x="7599880" y="5725774"/>
            <a:ext cx="7667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&lt; 2.5m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83" name="文本框 3582">
            <a:extLst>
              <a:ext uri="{FF2B5EF4-FFF2-40B4-BE49-F238E27FC236}">
                <a16:creationId xmlns:a16="http://schemas.microsoft.com/office/drawing/2014/main" id="{842E0762-E757-7616-1634-8D8B65949C06}"/>
              </a:ext>
            </a:extLst>
          </p:cNvPr>
          <p:cNvSpPr txBox="1"/>
          <p:nvPr/>
        </p:nvSpPr>
        <p:spPr>
          <a:xfrm>
            <a:off x="6174086" y="646712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3591" name="组合 3590">
            <a:extLst>
              <a:ext uri="{FF2B5EF4-FFF2-40B4-BE49-F238E27FC236}">
                <a16:creationId xmlns:a16="http://schemas.microsoft.com/office/drawing/2014/main" id="{BE6D1C55-29DA-7B88-F9C1-C649C2F46EBD}"/>
              </a:ext>
            </a:extLst>
          </p:cNvPr>
          <p:cNvGrpSpPr/>
          <p:nvPr/>
        </p:nvGrpSpPr>
        <p:grpSpPr>
          <a:xfrm>
            <a:off x="10001250" y="5238843"/>
            <a:ext cx="1892520" cy="1471056"/>
            <a:chOff x="9001041" y="5252249"/>
            <a:chExt cx="1892520" cy="1471056"/>
          </a:xfrm>
        </p:grpSpPr>
        <p:pic>
          <p:nvPicPr>
            <p:cNvPr id="3580" name="图片 3579">
              <a:extLst>
                <a:ext uri="{FF2B5EF4-FFF2-40B4-BE49-F238E27FC236}">
                  <a16:creationId xmlns:a16="http://schemas.microsoft.com/office/drawing/2014/main" id="{D91EC555-7022-F8B5-2BD5-4090EFBCC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380912" y="5252249"/>
              <a:ext cx="1144622" cy="1157779"/>
            </a:xfrm>
            <a:prstGeom prst="rect">
              <a:avLst/>
            </a:prstGeom>
          </p:spPr>
        </p:pic>
        <p:sp>
          <p:nvSpPr>
            <p:cNvPr id="3584" name="文本框 3583">
              <a:extLst>
                <a:ext uri="{FF2B5EF4-FFF2-40B4-BE49-F238E27FC236}">
                  <a16:creationId xmlns:a16="http://schemas.microsoft.com/office/drawing/2014/main" id="{C8511B76-0B28-35D3-1E85-DB6064C9BA8F}"/>
                </a:ext>
              </a:extLst>
            </p:cNvPr>
            <p:cNvSpPr txBox="1"/>
            <p:nvPr/>
          </p:nvSpPr>
          <p:spPr>
            <a:xfrm>
              <a:off x="9001041" y="6467751"/>
              <a:ext cx="1892520" cy="255554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CM384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586" name="左大括号 3585">
              <a:extLst>
                <a:ext uri="{FF2B5EF4-FFF2-40B4-BE49-F238E27FC236}">
                  <a16:creationId xmlns:a16="http://schemas.microsoft.com/office/drawing/2014/main" id="{CCED9811-244C-AA15-6C45-DDE55F466A4A}"/>
                </a:ext>
              </a:extLst>
            </p:cNvPr>
            <p:cNvSpPr/>
            <p:nvPr/>
          </p:nvSpPr>
          <p:spPr>
            <a:xfrm>
              <a:off x="9172184" y="5559068"/>
              <a:ext cx="130492" cy="631371"/>
            </a:xfrm>
            <a:prstGeom prst="leftBrace">
              <a:avLst/>
            </a:prstGeom>
            <a:ln>
              <a:solidFill>
                <a:srgbClr val="0052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BDC45F85-1D99-DA76-582F-3263AC58D903}"/>
              </a:ext>
            </a:extLst>
          </p:cNvPr>
          <p:cNvSpPr txBox="1"/>
          <p:nvPr/>
        </p:nvSpPr>
        <p:spPr>
          <a:xfrm>
            <a:off x="8912533" y="5637868"/>
            <a:ext cx="1385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 × 16</a:t>
            </a: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2.5m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90" name="文本框 3589">
            <a:extLst>
              <a:ext uri="{FF2B5EF4-FFF2-40B4-BE49-F238E27FC236}">
                <a16:creationId xmlns:a16="http://schemas.microsoft.com/office/drawing/2014/main" id="{C0B04EC4-8097-9C40-11C7-A26EA72E415F}"/>
              </a:ext>
            </a:extLst>
          </p:cNvPr>
          <p:cNvSpPr txBox="1"/>
          <p:nvPr/>
        </p:nvSpPr>
        <p:spPr>
          <a:xfrm>
            <a:off x="8957152" y="5173987"/>
            <a:ext cx="136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LPO × 3840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92" name="文本框 3591">
            <a:extLst>
              <a:ext uri="{FF2B5EF4-FFF2-40B4-BE49-F238E27FC236}">
                <a16:creationId xmlns:a16="http://schemas.microsoft.com/office/drawing/2014/main" id="{CFDBC58A-7441-3E09-D310-71B85B05C878}"/>
              </a:ext>
            </a:extLst>
          </p:cNvPr>
          <p:cNvSpPr txBox="1"/>
          <p:nvPr/>
        </p:nvSpPr>
        <p:spPr>
          <a:xfrm>
            <a:off x="7377076" y="5188440"/>
            <a:ext cx="136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铜缆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× 5184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93" name="箭头: 右 3592">
            <a:extLst>
              <a:ext uri="{FF2B5EF4-FFF2-40B4-BE49-F238E27FC236}">
                <a16:creationId xmlns:a16="http://schemas.microsoft.com/office/drawing/2014/main" id="{E8382BD4-BD8B-8116-F4F4-30C9AE8873A1}"/>
              </a:ext>
            </a:extLst>
          </p:cNvPr>
          <p:cNvSpPr/>
          <p:nvPr/>
        </p:nvSpPr>
        <p:spPr>
          <a:xfrm>
            <a:off x="8514487" y="5795434"/>
            <a:ext cx="437992" cy="172204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992CBC-BEBF-8666-F8D5-9D674AACF0D6}"/>
              </a:ext>
            </a:extLst>
          </p:cNvPr>
          <p:cNvSpPr/>
          <p:nvPr/>
        </p:nvSpPr>
        <p:spPr>
          <a:xfrm>
            <a:off x="12540370" y="470102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放截图</a:t>
            </a:r>
          </a:p>
        </p:txBody>
      </p: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40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海外巨头并行布局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落地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1-2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年内看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—</a:t>
              </a:r>
              <a:r>
                <a:rPr lang="en-US" altLang="zh-CN" sz="1400" dirty="0">
                  <a:cs typeface="+mn-ea"/>
                  <a:sym typeface="+mn-lt"/>
                </a:rPr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cs typeface="+mn-ea"/>
                  <a:sym typeface="+mn-lt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整机交付为主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  <a:cs typeface="+mn-ea"/>
                <a:sym typeface="+mn-lt"/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Scale Out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5BD1CA-D3D5-C6C7-C6D0-886D579A80A0}"/>
              </a:ext>
            </a:extLst>
          </p:cNvPr>
          <p:cNvSpPr/>
          <p:nvPr/>
        </p:nvSpPr>
        <p:spPr>
          <a:xfrm>
            <a:off x="12511986" y="1652786"/>
            <a:ext cx="1925211" cy="2016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大模型的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out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统一，英伟达和博通的路线差异与融合的趋势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4FECF1-3EFA-1CA8-0774-65C83E6DC62E}"/>
              </a:ext>
            </a:extLst>
          </p:cNvPr>
          <p:cNvSpPr/>
          <p:nvPr/>
        </p:nvSpPr>
        <p:spPr>
          <a:xfrm>
            <a:off x="12511985" y="3829965"/>
            <a:ext cx="1925211" cy="20162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AMD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的互联方案用的谁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020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万卡集群扩展支撑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百亿级市场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  <a:cs typeface="+mn-ea"/>
                    <a:sym typeface="+mn-lt"/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  <a:cs typeface="+mn-ea"/>
                  <a:sym typeface="+mn-lt"/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  <a:cs typeface="+mn-ea"/>
                    <a:sym typeface="+mn-lt"/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  <a:cs typeface="+mn-ea"/>
                  <a:sym typeface="+mn-lt"/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cs typeface="+mn-ea"/>
                    <a:sym typeface="+mn-lt"/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>
                    <a:cs typeface="+mn-ea"/>
                    <a:sym typeface="+mn-lt"/>
                  </a:rPr>
                  <a:t>只在极高端 AI 集群试点，渗透率≤15 % （渗透难点）</a:t>
                </a:r>
                <a:endParaRPr lang="zh-CN" altLang="zh-CN" dirty="0"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=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×</a:t>
            </a:r>
            <a:endParaRPr kumimoji="1" lang="zh-CN" altLang="zh-CN" sz="16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①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endParaRPr kumimoji="1" lang="zh-CN" altLang="zh-CN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462851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531791" y="3337336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Meta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集群中，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35%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的连接方案已采用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5963EA-EBFF-93D4-982F-2F493F18C7FF}"/>
              </a:ext>
            </a:extLst>
          </p:cNvPr>
          <p:cNvSpPr txBox="1"/>
          <p:nvPr/>
        </p:nvSpPr>
        <p:spPr>
          <a:xfrm>
            <a:off x="436729" y="2873004"/>
            <a:ext cx="740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  <a:cs typeface="+mn-ea"/>
                <a:sym typeface="+mn-lt"/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集群新建支撑高渗透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040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新易盛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294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19D8D22-6E43-8138-D098-C77CC3575224}"/>
              </a:ext>
            </a:extLst>
          </p:cNvPr>
          <p:cNvGrpSpPr/>
          <p:nvPr/>
        </p:nvGrpSpPr>
        <p:grpSpPr>
          <a:xfrm>
            <a:off x="7020700" y="2434778"/>
            <a:ext cx="1480717" cy="1021140"/>
            <a:chOff x="2854288" y="1498237"/>
            <a:chExt cx="1480717" cy="102114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2057720-8647-C162-D7DB-D09E13E54079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LightMatter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45BDFD1-047E-3AC9-9666-9CF88163EA1E}"/>
                </a:ext>
              </a:extLst>
            </p:cNvPr>
            <p:cNvGrpSpPr/>
            <p:nvPr/>
          </p:nvGrpSpPr>
          <p:grpSpPr>
            <a:xfrm>
              <a:off x="3239844" y="1498237"/>
              <a:ext cx="684000" cy="684000"/>
              <a:chOff x="3749018" y="1403528"/>
              <a:chExt cx="684000" cy="684000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6E888A2D-7C24-3464-F071-59D009A78896}"/>
                  </a:ext>
                </a:extLst>
              </p:cNvPr>
              <p:cNvSpPr/>
              <p:nvPr/>
            </p:nvSpPr>
            <p:spPr>
              <a:xfrm>
                <a:off x="3749018" y="1403528"/>
                <a:ext cx="684000" cy="6840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25553AA-8FBC-CFE0-A0B5-06F72A7136DB}"/>
                  </a:ext>
                </a:extLst>
              </p:cNvPr>
              <p:cNvSpPr txBox="1"/>
              <p:nvPr/>
            </p:nvSpPr>
            <p:spPr>
              <a:xfrm>
                <a:off x="3809078" y="162241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4.4B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71474D3-1584-BCB1-6F7B-C9DF3CED2E14}"/>
              </a:ext>
            </a:extLst>
          </p:cNvPr>
          <p:cNvGrpSpPr/>
          <p:nvPr/>
        </p:nvGrpSpPr>
        <p:grpSpPr>
          <a:xfrm>
            <a:off x="7238044" y="3455964"/>
            <a:ext cx="1480717" cy="712522"/>
            <a:chOff x="2854288" y="1806855"/>
            <a:chExt cx="1480717" cy="712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41DF03C-7F9E-2D12-E9DF-78979F8E6D54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AyarLabs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2024 D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E00C53D-550A-0449-61D5-93B181545914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AE1DB967-06E2-C9F8-F5BB-9AC980FB6662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BF3B015-06B4-4E21-8C05-EF5F6D82D47B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1B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cs typeface="+mn-ea"/>
                    <a:sym typeface="+mn-lt"/>
                  </a:rPr>
                  <a:t>中际旭创</a:t>
                </a:r>
                <a:endParaRPr lang="en-US" altLang="zh-CN" sz="1000" dirty="0">
                  <a:cs typeface="+mn-ea"/>
                  <a:sym typeface="+mn-lt"/>
                </a:endParaRPr>
              </a:p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2008</a:t>
                </a:r>
                <a:r>
                  <a:rPr lang="en-US" altLang="zh-CN" sz="1000" baseline="30000" dirty="0">
                    <a:cs typeface="+mn-ea"/>
                    <a:sym typeface="+mn-lt"/>
                  </a:rPr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356</a:t>
              </a:r>
              <a:endParaRPr lang="zh-CN" altLang="en-US" sz="1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光源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20%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CPO/OIO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电芯片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15%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巨头入局，相关初创获资本青睐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2030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130417" y="6607096"/>
            <a:ext cx="7396141" cy="27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：日期为公司成立日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天孚通信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2005</a:t>
              </a:r>
              <a:r>
                <a:rPr lang="en-US" altLang="zh-CN" sz="1000" baseline="30000" dirty="0">
                  <a:cs typeface="+mn-ea"/>
                  <a:sym typeface="+mn-lt"/>
                </a:rPr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剑桥科技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2006</a:t>
              </a:r>
              <a:r>
                <a:rPr lang="en-US" altLang="zh-CN" sz="1000" baseline="30000" dirty="0">
                  <a:cs typeface="+mn-ea"/>
                  <a:sym typeface="+mn-lt"/>
                </a:rPr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cs typeface="+mn-ea"/>
                <a:sym typeface="+mn-lt"/>
              </a:rPr>
              <a:t>AI爆发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cs typeface="+mn-ea"/>
                <a:sym typeface="+mn-lt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91D3D7A-B9AA-FD1C-D3A1-9B43069C3F83}"/>
              </a:ext>
            </a:extLst>
          </p:cNvPr>
          <p:cNvGrpSpPr/>
          <p:nvPr/>
        </p:nvGrpSpPr>
        <p:grpSpPr>
          <a:xfrm>
            <a:off x="299389" y="1623892"/>
            <a:ext cx="1499275" cy="276999"/>
            <a:chOff x="301960" y="960085"/>
            <a:chExt cx="1499275" cy="276999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F6B8640-A920-7B2A-23C7-628A5D5F28D6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FFA3FF0-CA0F-04C4-AE62-D3FFAAF45BEF}"/>
                </a:ext>
              </a:extLst>
            </p:cNvPr>
            <p:cNvSpPr txBox="1"/>
            <p:nvPr/>
          </p:nvSpPr>
          <p:spPr>
            <a:xfrm>
              <a:off x="470607" y="960085"/>
              <a:ext cx="13306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估值（十亿美元）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7F3BCAE-39C4-8E7A-B7C2-9A3D5DA6926A}"/>
              </a:ext>
            </a:extLst>
          </p:cNvPr>
          <p:cNvSpPr txBox="1"/>
          <p:nvPr/>
        </p:nvSpPr>
        <p:spPr>
          <a:xfrm>
            <a:off x="117996" y="1639280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xB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6CE72BB-1679-E7E0-1193-FA7A6A726BE9}"/>
              </a:ext>
            </a:extLst>
          </p:cNvPr>
          <p:cNvGrpSpPr/>
          <p:nvPr/>
        </p:nvGrpSpPr>
        <p:grpSpPr>
          <a:xfrm>
            <a:off x="7727602" y="2882025"/>
            <a:ext cx="1480717" cy="891820"/>
            <a:chOff x="2854288" y="1627557"/>
            <a:chExt cx="1480717" cy="89182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AED42A9-93F9-2EF6-7CB6-A331EC10C5E3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Celestial AI</a:t>
              </a: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2025 C</a:t>
              </a:r>
              <a:r>
                <a:rPr lang="zh-CN" altLang="en-US" sz="1000" dirty="0">
                  <a:cs typeface="+mn-ea"/>
                  <a:sym typeface="+mn-lt"/>
                </a:rPr>
                <a:t>轮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798B39EC-96C8-1552-64A1-C3CFE70BAB64}"/>
                </a:ext>
              </a:extLst>
            </p:cNvPr>
            <p:cNvGrpSpPr/>
            <p:nvPr/>
          </p:nvGrpSpPr>
          <p:grpSpPr>
            <a:xfrm>
              <a:off x="3302218" y="1627557"/>
              <a:ext cx="563880" cy="514800"/>
              <a:chOff x="3811392" y="1532848"/>
              <a:chExt cx="563880" cy="514800"/>
            </a:xfrm>
          </p:grpSpPr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6E0C9F0-06C3-116B-BDB9-6B81F9D2D9E6}"/>
                  </a:ext>
                </a:extLst>
              </p:cNvPr>
              <p:cNvSpPr/>
              <p:nvPr/>
            </p:nvSpPr>
            <p:spPr>
              <a:xfrm>
                <a:off x="3846420" y="1532848"/>
                <a:ext cx="514800" cy="5148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58468C2-3CAA-B518-1D3E-C3962DEF62F2}"/>
                  </a:ext>
                </a:extLst>
              </p:cNvPr>
              <p:cNvSpPr txBox="1"/>
              <p:nvPr/>
            </p:nvSpPr>
            <p:spPr>
              <a:xfrm>
                <a:off x="3811392" y="1668796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2.5B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F40269-8EB9-75ED-BF17-F0DEC6B88679}"/>
              </a:ext>
            </a:extLst>
          </p:cNvPr>
          <p:cNvGrpSpPr/>
          <p:nvPr/>
        </p:nvGrpSpPr>
        <p:grpSpPr>
          <a:xfrm>
            <a:off x="6705656" y="1555414"/>
            <a:ext cx="1480717" cy="782538"/>
            <a:chOff x="2743937" y="1891061"/>
            <a:chExt cx="1480717" cy="78253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AB92A23-CE73-C7BC-9000-C97559F394EB}"/>
                </a:ext>
              </a:extLst>
            </p:cNvPr>
            <p:cNvSpPr txBox="1"/>
            <p:nvPr/>
          </p:nvSpPr>
          <p:spPr>
            <a:xfrm>
              <a:off x="2743937" y="2119601"/>
              <a:ext cx="148071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err="1">
                  <a:cs typeface="+mn-ea"/>
                  <a:sym typeface="+mn-lt"/>
                </a:rPr>
                <a:t>FiconTec</a:t>
              </a:r>
              <a:endParaRPr lang="en-US" altLang="zh-CN" sz="1000" dirty="0">
                <a:cs typeface="+mn-ea"/>
                <a:sym typeface="+mn-lt"/>
              </a:endParaRPr>
            </a:p>
            <a:p>
              <a:pPr algn="ctr"/>
              <a:r>
                <a:rPr lang="en-US" altLang="zh-CN" sz="1000" dirty="0">
                  <a:cs typeface="+mn-ea"/>
                  <a:sym typeface="+mn-lt"/>
                </a:rPr>
                <a:t>2019</a:t>
              </a:r>
            </a:p>
            <a:p>
              <a:pPr algn="ctr"/>
              <a:r>
                <a:rPr lang="zh-CN" altLang="en-US" sz="1000" dirty="0">
                  <a:cs typeface="+mn-ea"/>
                  <a:sym typeface="+mn-lt"/>
                </a:rPr>
                <a:t>并购启动</a:t>
              </a:r>
              <a:endParaRPr lang="en-US" altLang="zh-CN" sz="1000" dirty="0">
                <a:cs typeface="+mn-ea"/>
                <a:sym typeface="+mn-lt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CBD9CFD-9D1E-39A4-2546-4188DF98CD41}"/>
                </a:ext>
              </a:extLst>
            </p:cNvPr>
            <p:cNvGrpSpPr/>
            <p:nvPr/>
          </p:nvGrpSpPr>
          <p:grpSpPr>
            <a:xfrm>
              <a:off x="3180954" y="1891061"/>
              <a:ext cx="563880" cy="251296"/>
              <a:chOff x="3690128" y="1796352"/>
              <a:chExt cx="563880" cy="251296"/>
            </a:xfrm>
          </p:grpSpPr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91489960-0F1C-83D0-473C-2125F01F7ED5}"/>
                  </a:ext>
                </a:extLst>
              </p:cNvPr>
              <p:cNvSpPr/>
              <p:nvPr/>
            </p:nvSpPr>
            <p:spPr>
              <a:xfrm>
                <a:off x="3846420" y="1796352"/>
                <a:ext cx="251296" cy="25129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FBD6DAD-39BD-692A-A5D0-069A9F5AC0D9}"/>
                  </a:ext>
                </a:extLst>
              </p:cNvPr>
              <p:cNvSpPr txBox="1"/>
              <p:nvPr/>
            </p:nvSpPr>
            <p:spPr>
              <a:xfrm>
                <a:off x="3690128" y="1820421"/>
                <a:ext cx="563880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7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0.17B</a:t>
                </a:r>
                <a:endParaRPr lang="zh-CN" altLang="en-US" sz="7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物理层接口芯片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30%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E40A5DF-83E5-6142-DAF5-0C4AC2FE59BF}"/>
              </a:ext>
            </a:extLst>
          </p:cNvPr>
          <p:cNvGrpSpPr/>
          <p:nvPr/>
        </p:nvGrpSpPr>
        <p:grpSpPr>
          <a:xfrm>
            <a:off x="688202" y="5782570"/>
            <a:ext cx="1427975" cy="657509"/>
            <a:chOff x="3616629" y="5923128"/>
            <a:chExt cx="1427975" cy="657509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CA609B8-F79F-2A54-B3D6-6DFBB6944568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38D6BB7-F906-3D4D-E631-57CA185DAA33}"/>
                </a:ext>
              </a:extLst>
            </p:cNvPr>
            <p:cNvSpPr txBox="1"/>
            <p:nvPr/>
          </p:nvSpPr>
          <p:spPr>
            <a:xfrm>
              <a:off x="3616629" y="6026639"/>
              <a:ext cx="142797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2000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铜连接大范围应用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9922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关键模块：硅光芯片、电芯片、交换机芯片及封装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光信号中枢，光</a:t>
            </a:r>
            <a:r>
              <a:rPr lang="en-US" altLang="zh-CN" sz="1600" i="1" dirty="0">
                <a:cs typeface="+mn-ea"/>
                <a:sym typeface="Wingdings" panose="05000000000000000000" pitchFamily="2" charset="2"/>
              </a:rPr>
              <a:t></a:t>
            </a:r>
            <a:r>
              <a:rPr lang="zh-CN" altLang="en-US" sz="1600" i="1" dirty="0">
                <a:cs typeface="+mn-ea"/>
                <a:sym typeface="+mn-lt"/>
              </a:rPr>
              <a:t>电</a:t>
            </a: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电信号控制中枢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09857" y="2448690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182085" y="3083560"/>
            <a:ext cx="3459485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93676" y="4993309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243201" y="4948982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32297" y="3109827"/>
            <a:ext cx="2175647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放大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+ 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cs typeface="+mn-ea"/>
                <a:sym typeface="+mn-lt"/>
              </a:rPr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89027" y="3516325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  <a:sym typeface="+mn-lt"/>
              </a:rPr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521561" y="3500936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62627" y="3486810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10019156" y="2522284"/>
            <a:ext cx="8951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cs typeface="+mn-ea"/>
                <a:sym typeface="+mn-lt"/>
              </a:rPr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73143" y="3109914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00681" y="3552248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697698" y="3582692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646586" y="3709334"/>
            <a:ext cx="493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243869" y="1997735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566928" y="3648410"/>
            <a:ext cx="696411" cy="1993389"/>
          </a:xfrm>
          <a:prstGeom prst="bentConnector3">
            <a:avLst>
              <a:gd name="adj1" fmla="val 5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3788157" y="3464728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401" y="326568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722" y="4761053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5877" y="3826510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200122" y="3161157"/>
            <a:ext cx="1266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交换机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芯片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78371" y="-2465666"/>
            <a:ext cx="238588" cy="852130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4485223" y="2003710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5147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</a:t>
            </a:r>
            <a:r>
              <a:rPr lang="zh-CN" altLang="en-US" dirty="0">
                <a:highlight>
                  <a:srgbClr val="FFFF00"/>
                </a:highlight>
                <a:latin typeface="+mn-lt"/>
                <a:ea typeface="+mn-ea"/>
                <a:cs typeface="+mn-ea"/>
                <a:sym typeface="+mn-lt"/>
              </a:rPr>
              <a:t>光电信号中枢优先关注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908204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39639" y="912676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6096000" y="928620"/>
            <a:ext cx="1002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EIC</a:t>
            </a: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电芯片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197135" y="935687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883234" y="1518115"/>
            <a:ext cx="830680" cy="861706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市场规模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/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价值占比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167407" y="3217024"/>
            <a:ext cx="667231" cy="125985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壁垒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371086" y="928620"/>
            <a:ext cx="66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cs typeface="+mn-ea"/>
              </a:defRPr>
            </a:lvl1pPr>
          </a:lstStyle>
          <a:p>
            <a:r>
              <a:rPr lang="zh-CN" altLang="en-US" sz="1200" dirty="0">
                <a:sym typeface="+mn-lt"/>
              </a:rPr>
              <a:t>硅光</a:t>
            </a:r>
            <a:endParaRPr lang="en-US" altLang="zh-CN" sz="1200" dirty="0">
              <a:sym typeface="+mn-lt"/>
            </a:endParaRPr>
          </a:p>
          <a:p>
            <a:r>
              <a:rPr lang="zh-CN" altLang="en-US" sz="1200" dirty="0">
                <a:sym typeface="+mn-lt"/>
              </a:rPr>
              <a:t>芯片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2480" y="1001660"/>
            <a:ext cx="559532" cy="315584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6121273" y="6246381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：限定在高速光通信市场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417427" y="87924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重点讲博通（落脚点）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博通的布局，靠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从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切份额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顺带提和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tx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合作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830601" y="1029513"/>
            <a:ext cx="366675" cy="25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6587" y="494517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FB7D4F-6CAA-D3F1-8FB3-CF3F03CEF5BD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D6F108-C088-F8C4-41B8-0718BFC535F5}"/>
              </a:ext>
            </a:extLst>
          </p:cNvPr>
          <p:cNvSpPr/>
          <p:nvPr/>
        </p:nvSpPr>
        <p:spPr>
          <a:xfrm>
            <a:off x="9835896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D40F11-15B1-E40E-C9EB-E3734C950B12}"/>
              </a:ext>
            </a:extLst>
          </p:cNvPr>
          <p:cNvSpPr/>
          <p:nvPr/>
        </p:nvSpPr>
        <p:spPr>
          <a:xfrm>
            <a:off x="12357182" y="524455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价值这一行可以打开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价值的客观标准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可以放两页，很重要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E482FF-B44B-05B7-7830-2A12FDF215B9}"/>
              </a:ext>
            </a:extLst>
          </p:cNvPr>
          <p:cNvSpPr txBox="1"/>
          <p:nvPr/>
        </p:nvSpPr>
        <p:spPr>
          <a:xfrm>
            <a:off x="164350" y="1518115"/>
            <a:ext cx="667231" cy="156482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规模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E309C5F-4D98-DCE1-F1CD-73862E9EEED1}"/>
              </a:ext>
            </a:extLst>
          </p:cNvPr>
          <p:cNvSpPr txBox="1"/>
          <p:nvPr/>
        </p:nvSpPr>
        <p:spPr>
          <a:xfrm>
            <a:off x="164350" y="4623582"/>
            <a:ext cx="667231" cy="183841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落地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节奏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747C36E-97D1-0523-D5B9-80DB177F8C27}"/>
              </a:ext>
            </a:extLst>
          </p:cNvPr>
          <p:cNvSpPr txBox="1"/>
          <p:nvPr/>
        </p:nvSpPr>
        <p:spPr>
          <a:xfrm>
            <a:off x="917689" y="4623582"/>
            <a:ext cx="778854" cy="55130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政策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7CA4E52-3F92-E79B-F5B3-873A4D4FC48B}"/>
              </a:ext>
            </a:extLst>
          </p:cNvPr>
          <p:cNvSpPr txBox="1"/>
          <p:nvPr/>
        </p:nvSpPr>
        <p:spPr>
          <a:xfrm>
            <a:off x="911113" y="5276400"/>
            <a:ext cx="785430" cy="55130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阶段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883234" y="3223810"/>
            <a:ext cx="431984" cy="75141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研发周期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20" name="文本框 5119">
            <a:extLst>
              <a:ext uri="{FF2B5EF4-FFF2-40B4-BE49-F238E27FC236}">
                <a16:creationId xmlns:a16="http://schemas.microsoft.com/office/drawing/2014/main" id="{F40C3452-8709-F2D2-A991-EE8FE1D38199}"/>
              </a:ext>
            </a:extLst>
          </p:cNvPr>
          <p:cNvSpPr txBox="1"/>
          <p:nvPr/>
        </p:nvSpPr>
        <p:spPr>
          <a:xfrm>
            <a:off x="917688" y="5910695"/>
            <a:ext cx="761953" cy="55130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化率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172593" y="6457518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、中际旭创</a:t>
            </a:r>
          </a:p>
        </p:txBody>
      </p:sp>
      <p:grpSp>
        <p:nvGrpSpPr>
          <p:cNvPr id="5145" name="组合 5144">
            <a:extLst>
              <a:ext uri="{FF2B5EF4-FFF2-40B4-BE49-F238E27FC236}">
                <a16:creationId xmlns:a16="http://schemas.microsoft.com/office/drawing/2014/main" id="{160256A9-CA18-152E-BD9A-612FBD9BFFBC}"/>
              </a:ext>
            </a:extLst>
          </p:cNvPr>
          <p:cNvGrpSpPr/>
          <p:nvPr/>
        </p:nvGrpSpPr>
        <p:grpSpPr>
          <a:xfrm>
            <a:off x="1748469" y="1646357"/>
            <a:ext cx="2254604" cy="745861"/>
            <a:chOff x="1733951" y="1685870"/>
            <a:chExt cx="2254604" cy="745861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BA270F4-3CB0-4B5C-1C9B-E8570DB4FE6C}"/>
                </a:ext>
              </a:extLst>
            </p:cNvPr>
            <p:cNvSpPr txBox="1"/>
            <p:nvPr/>
          </p:nvSpPr>
          <p:spPr>
            <a:xfrm>
              <a:off x="2978293" y="1768447"/>
              <a:ext cx="101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10-20%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144" name="组合 5143">
              <a:extLst>
                <a:ext uri="{FF2B5EF4-FFF2-40B4-BE49-F238E27FC236}">
                  <a16:creationId xmlns:a16="http://schemas.microsoft.com/office/drawing/2014/main" id="{566E8924-3E7F-E7E5-9628-797F24375CC7}"/>
                </a:ext>
              </a:extLst>
            </p:cNvPr>
            <p:cNvGrpSpPr/>
            <p:nvPr/>
          </p:nvGrpSpPr>
          <p:grpSpPr>
            <a:xfrm>
              <a:off x="1733951" y="1685870"/>
              <a:ext cx="1731994" cy="745861"/>
              <a:chOff x="1733951" y="1685870"/>
              <a:chExt cx="1731994" cy="745861"/>
            </a:xfrm>
          </p:grpSpPr>
          <p:grpSp>
            <p:nvGrpSpPr>
              <p:cNvPr id="5143" name="组合 5142">
                <a:extLst>
                  <a:ext uri="{FF2B5EF4-FFF2-40B4-BE49-F238E27FC236}">
                    <a16:creationId xmlns:a16="http://schemas.microsoft.com/office/drawing/2014/main" id="{DD841929-ADF6-484C-A8EC-6CE52010F1BB}"/>
                  </a:ext>
                </a:extLst>
              </p:cNvPr>
              <p:cNvGrpSpPr/>
              <p:nvPr/>
            </p:nvGrpSpPr>
            <p:grpSpPr>
              <a:xfrm>
                <a:off x="1822823" y="1685870"/>
                <a:ext cx="1452547" cy="319420"/>
                <a:chOff x="1830497" y="1825659"/>
                <a:chExt cx="1452547" cy="319420"/>
              </a:xfrm>
            </p:grpSpPr>
            <p:sp>
              <p:nvSpPr>
                <p:cNvPr id="5139" name="椭圆 5138">
                  <a:extLst>
                    <a:ext uri="{FF2B5EF4-FFF2-40B4-BE49-F238E27FC236}">
                      <a16:creationId xmlns:a16="http://schemas.microsoft.com/office/drawing/2014/main" id="{33339ED0-034F-C0C7-4431-5A5B8CB922C4}"/>
                    </a:ext>
                  </a:extLst>
                </p:cNvPr>
                <p:cNvSpPr/>
                <p:nvPr/>
              </p:nvSpPr>
              <p:spPr>
                <a:xfrm>
                  <a:off x="1830497" y="1825659"/>
                  <a:ext cx="319723" cy="319420"/>
                </a:xfrm>
                <a:prstGeom prst="ellipse">
                  <a:avLst/>
                </a:prstGeom>
                <a:solidFill>
                  <a:srgbClr val="0052D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40" name="文本框 5139">
                  <a:extLst>
                    <a:ext uri="{FF2B5EF4-FFF2-40B4-BE49-F238E27FC236}">
                      <a16:creationId xmlns:a16="http://schemas.microsoft.com/office/drawing/2014/main" id="{2E8076CA-6E11-F40A-4FC9-158485169E27}"/>
                    </a:ext>
                  </a:extLst>
                </p:cNvPr>
                <p:cNvSpPr txBox="1"/>
                <p:nvPr/>
              </p:nvSpPr>
              <p:spPr>
                <a:xfrm>
                  <a:off x="2345046" y="1825659"/>
                  <a:ext cx="937998" cy="3079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$bn</a:t>
                  </a:r>
                  <a:r>
                    <a:rPr lang="zh-CN" altLang="en-US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级</a:t>
                  </a:r>
                  <a:endParaRPr lang="zh-CN" altLang="zh-CN" sz="1400" dirty="0">
                    <a:solidFill>
                      <a:srgbClr val="0052D9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142" name="文本框 5141">
                <a:extLst>
                  <a:ext uri="{FF2B5EF4-FFF2-40B4-BE49-F238E27FC236}">
                    <a16:creationId xmlns:a16="http://schemas.microsoft.com/office/drawing/2014/main" id="{47A5F87E-0888-DD24-02FE-DEF6E7890AA7}"/>
                  </a:ext>
                </a:extLst>
              </p:cNvPr>
              <p:cNvSpPr txBox="1"/>
              <p:nvPr/>
            </p:nvSpPr>
            <p:spPr>
              <a:xfrm>
                <a:off x="1733951" y="2123954"/>
                <a:ext cx="1731994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CAGR: </a:t>
                </a:r>
                <a:r>
                  <a:rPr lang="en-US" altLang="zh-CN" sz="14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40+%</a:t>
                </a:r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 </a:t>
                </a:r>
                <a:endParaRPr lang="zh-CN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146" name="组合 5145">
            <a:extLst>
              <a:ext uri="{FF2B5EF4-FFF2-40B4-BE49-F238E27FC236}">
                <a16:creationId xmlns:a16="http://schemas.microsoft.com/office/drawing/2014/main" id="{3AD7EA43-7AA7-B6BE-2C3C-7B87F3E56CDC}"/>
              </a:ext>
            </a:extLst>
          </p:cNvPr>
          <p:cNvGrpSpPr/>
          <p:nvPr/>
        </p:nvGrpSpPr>
        <p:grpSpPr>
          <a:xfrm>
            <a:off x="4254885" y="1573567"/>
            <a:ext cx="2257162" cy="820402"/>
            <a:chOff x="1733951" y="1611329"/>
            <a:chExt cx="2257162" cy="820402"/>
          </a:xfrm>
        </p:grpSpPr>
        <p:sp>
          <p:nvSpPr>
            <p:cNvPr id="5147" name="文本框 5146">
              <a:extLst>
                <a:ext uri="{FF2B5EF4-FFF2-40B4-BE49-F238E27FC236}">
                  <a16:creationId xmlns:a16="http://schemas.microsoft.com/office/drawing/2014/main" id="{C9501E65-C238-4BD7-A284-98361153E127}"/>
                </a:ext>
              </a:extLst>
            </p:cNvPr>
            <p:cNvSpPr txBox="1"/>
            <p:nvPr/>
          </p:nvSpPr>
          <p:spPr>
            <a:xfrm>
              <a:off x="2980851" y="1742984"/>
              <a:ext cx="101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20-30%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148" name="组合 5147">
              <a:extLst>
                <a:ext uri="{FF2B5EF4-FFF2-40B4-BE49-F238E27FC236}">
                  <a16:creationId xmlns:a16="http://schemas.microsoft.com/office/drawing/2014/main" id="{361B9E15-FEFC-4E05-E7F3-F20887D7CFF2}"/>
                </a:ext>
              </a:extLst>
            </p:cNvPr>
            <p:cNvGrpSpPr/>
            <p:nvPr/>
          </p:nvGrpSpPr>
          <p:grpSpPr>
            <a:xfrm>
              <a:off x="1733951" y="1611329"/>
              <a:ext cx="1541419" cy="820402"/>
              <a:chOff x="1733951" y="1611329"/>
              <a:chExt cx="1541419" cy="820402"/>
            </a:xfrm>
          </p:grpSpPr>
          <p:grpSp>
            <p:nvGrpSpPr>
              <p:cNvPr id="5149" name="组合 5148">
                <a:extLst>
                  <a:ext uri="{FF2B5EF4-FFF2-40B4-BE49-F238E27FC236}">
                    <a16:creationId xmlns:a16="http://schemas.microsoft.com/office/drawing/2014/main" id="{29DA1040-4546-C281-7D9C-E344067E778A}"/>
                  </a:ext>
                </a:extLst>
              </p:cNvPr>
              <p:cNvGrpSpPr/>
              <p:nvPr/>
            </p:nvGrpSpPr>
            <p:grpSpPr>
              <a:xfrm>
                <a:off x="1791108" y="1611329"/>
                <a:ext cx="1484262" cy="414947"/>
                <a:chOff x="1798782" y="1751118"/>
                <a:chExt cx="1484262" cy="414947"/>
              </a:xfrm>
            </p:grpSpPr>
            <p:sp>
              <p:nvSpPr>
                <p:cNvPr id="5151" name="椭圆 5150">
                  <a:extLst>
                    <a:ext uri="{FF2B5EF4-FFF2-40B4-BE49-F238E27FC236}">
                      <a16:creationId xmlns:a16="http://schemas.microsoft.com/office/drawing/2014/main" id="{D24F4DC8-424C-C7AB-466A-449BBB478B15}"/>
                    </a:ext>
                  </a:extLst>
                </p:cNvPr>
                <p:cNvSpPr/>
                <p:nvPr/>
              </p:nvSpPr>
              <p:spPr>
                <a:xfrm>
                  <a:off x="1798782" y="1751118"/>
                  <a:ext cx="415340" cy="414947"/>
                </a:xfrm>
                <a:prstGeom prst="ellipse">
                  <a:avLst/>
                </a:prstGeom>
                <a:solidFill>
                  <a:srgbClr val="0052D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52" name="文本框 5151">
                  <a:extLst>
                    <a:ext uri="{FF2B5EF4-FFF2-40B4-BE49-F238E27FC236}">
                      <a16:creationId xmlns:a16="http://schemas.microsoft.com/office/drawing/2014/main" id="{191DD99A-444F-E7C2-B972-23300F170BE2}"/>
                    </a:ext>
                  </a:extLst>
                </p:cNvPr>
                <p:cNvSpPr txBox="1"/>
                <p:nvPr/>
              </p:nvSpPr>
              <p:spPr>
                <a:xfrm>
                  <a:off x="2345046" y="1825659"/>
                  <a:ext cx="937998" cy="3079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$bn</a:t>
                  </a:r>
                  <a:r>
                    <a:rPr lang="zh-CN" altLang="en-US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级</a:t>
                  </a:r>
                  <a:endParaRPr lang="zh-CN" altLang="zh-CN" sz="1400" dirty="0">
                    <a:solidFill>
                      <a:srgbClr val="0052D9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150" name="文本框 5149">
                <a:extLst>
                  <a:ext uri="{FF2B5EF4-FFF2-40B4-BE49-F238E27FC236}">
                    <a16:creationId xmlns:a16="http://schemas.microsoft.com/office/drawing/2014/main" id="{B135A926-2B11-18C8-545D-3FDA4D19E725}"/>
                  </a:ext>
                </a:extLst>
              </p:cNvPr>
              <p:cNvSpPr txBox="1"/>
              <p:nvPr/>
            </p:nvSpPr>
            <p:spPr>
              <a:xfrm>
                <a:off x="1733951" y="2123954"/>
                <a:ext cx="1317875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CAGR: </a:t>
                </a:r>
                <a:r>
                  <a:rPr lang="en-US" altLang="zh-CN" sz="14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20+%</a:t>
                </a:r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 </a:t>
                </a:r>
                <a:endParaRPr lang="zh-CN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885199" y="2531638"/>
            <a:ext cx="794443" cy="55130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毛利率</a:t>
            </a: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39182" y="2623323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192542" y="2623323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06226" y="318494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117043" y="318494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56219" y="3215718"/>
            <a:ext cx="1613389" cy="307777"/>
            <a:chOff x="4993028" y="3547148"/>
            <a:chExt cx="1613389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22811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年一代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41492" y="3635784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1771" y="3687592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7711" y="2693418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049845" y="262332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635" y="2694807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86422" y="3215718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2451" y="3284075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3001101" y="3635784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4871" y="3675101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1112" y="2693418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357450" y="934458"/>
            <a:ext cx="2796897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集成交付</a:t>
            </a:r>
          </a:p>
        </p:txBody>
      </p:sp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1056" y="1044546"/>
            <a:ext cx="601426" cy="2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10814096" y="950401"/>
            <a:ext cx="154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2.5D/</a:t>
            </a:r>
          </a:p>
          <a:p>
            <a:pPr algn="ctr"/>
            <a:r>
              <a:rPr lang="en-US" altLang="zh-CN" sz="1200" dirty="0">
                <a:cs typeface="+mn-ea"/>
                <a:sym typeface="+mn-lt"/>
              </a:rPr>
              <a:t>3D</a:t>
            </a:r>
            <a:r>
              <a:rPr lang="zh-CN" altLang="en-US" sz="1200" dirty="0">
                <a:cs typeface="+mn-ea"/>
                <a:sym typeface="+mn-lt"/>
              </a:rPr>
              <a:t>封装</a:t>
            </a:r>
          </a:p>
        </p:txBody>
      </p:sp>
      <p:grpSp>
        <p:nvGrpSpPr>
          <p:cNvPr id="5160" name="组合 5159">
            <a:extLst>
              <a:ext uri="{FF2B5EF4-FFF2-40B4-BE49-F238E27FC236}">
                <a16:creationId xmlns:a16="http://schemas.microsoft.com/office/drawing/2014/main" id="{E8C9A726-6D72-1D40-9581-4D80A75152FA}"/>
              </a:ext>
            </a:extLst>
          </p:cNvPr>
          <p:cNvGrpSpPr/>
          <p:nvPr/>
        </p:nvGrpSpPr>
        <p:grpSpPr>
          <a:xfrm>
            <a:off x="9429169" y="1647447"/>
            <a:ext cx="2254604" cy="800662"/>
            <a:chOff x="1733951" y="1631069"/>
            <a:chExt cx="2254604" cy="800662"/>
          </a:xfrm>
        </p:grpSpPr>
        <p:sp>
          <p:nvSpPr>
            <p:cNvPr id="5161" name="文本框 5160">
              <a:extLst>
                <a:ext uri="{FF2B5EF4-FFF2-40B4-BE49-F238E27FC236}">
                  <a16:creationId xmlns:a16="http://schemas.microsoft.com/office/drawing/2014/main" id="{A79B612C-73C5-619C-2AAA-028F960EFD60}"/>
                </a:ext>
              </a:extLst>
            </p:cNvPr>
            <p:cNvSpPr txBox="1"/>
            <p:nvPr/>
          </p:nvSpPr>
          <p:spPr>
            <a:xfrm>
              <a:off x="2978293" y="1768447"/>
              <a:ext cx="101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162" name="组合 5161">
              <a:extLst>
                <a:ext uri="{FF2B5EF4-FFF2-40B4-BE49-F238E27FC236}">
                  <a16:creationId xmlns:a16="http://schemas.microsoft.com/office/drawing/2014/main" id="{E08D4158-40F4-7E31-A423-57F193E7C2DE}"/>
                </a:ext>
              </a:extLst>
            </p:cNvPr>
            <p:cNvGrpSpPr/>
            <p:nvPr/>
          </p:nvGrpSpPr>
          <p:grpSpPr>
            <a:xfrm>
              <a:off x="1733951" y="1631069"/>
              <a:ext cx="1541419" cy="800662"/>
              <a:chOff x="1733951" y="1631069"/>
              <a:chExt cx="1541419" cy="800662"/>
            </a:xfrm>
          </p:grpSpPr>
          <p:grpSp>
            <p:nvGrpSpPr>
              <p:cNvPr id="5163" name="组合 5162">
                <a:extLst>
                  <a:ext uri="{FF2B5EF4-FFF2-40B4-BE49-F238E27FC236}">
                    <a16:creationId xmlns:a16="http://schemas.microsoft.com/office/drawing/2014/main" id="{2FEF4F0D-583F-3858-37A4-BC48C7681A2F}"/>
                  </a:ext>
                </a:extLst>
              </p:cNvPr>
              <p:cNvGrpSpPr/>
              <p:nvPr/>
            </p:nvGrpSpPr>
            <p:grpSpPr>
              <a:xfrm>
                <a:off x="1832891" y="1631069"/>
                <a:ext cx="1442479" cy="362776"/>
                <a:chOff x="1840565" y="1770858"/>
                <a:chExt cx="1442479" cy="362776"/>
              </a:xfrm>
            </p:grpSpPr>
            <p:sp>
              <p:nvSpPr>
                <p:cNvPr id="5165" name="椭圆 5164">
                  <a:extLst>
                    <a:ext uri="{FF2B5EF4-FFF2-40B4-BE49-F238E27FC236}">
                      <a16:creationId xmlns:a16="http://schemas.microsoft.com/office/drawing/2014/main" id="{033CF5C3-3CA0-A564-EA32-E84CBBD37EA2}"/>
                    </a:ext>
                  </a:extLst>
                </p:cNvPr>
                <p:cNvSpPr/>
                <p:nvPr/>
              </p:nvSpPr>
              <p:spPr>
                <a:xfrm>
                  <a:off x="1840565" y="1770858"/>
                  <a:ext cx="316982" cy="316683"/>
                </a:xfrm>
                <a:prstGeom prst="ellipse">
                  <a:avLst/>
                </a:prstGeom>
                <a:solidFill>
                  <a:srgbClr val="0052D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66" name="文本框 5165">
                  <a:extLst>
                    <a:ext uri="{FF2B5EF4-FFF2-40B4-BE49-F238E27FC236}">
                      <a16:creationId xmlns:a16="http://schemas.microsoft.com/office/drawing/2014/main" id="{964AD886-D61D-6854-51E4-C53A55C56E38}"/>
                    </a:ext>
                  </a:extLst>
                </p:cNvPr>
                <p:cNvSpPr txBox="1"/>
                <p:nvPr/>
              </p:nvSpPr>
              <p:spPr>
                <a:xfrm>
                  <a:off x="2345046" y="1825659"/>
                  <a:ext cx="937998" cy="3079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$bn</a:t>
                  </a:r>
                  <a:r>
                    <a:rPr lang="zh-CN" altLang="en-US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级</a:t>
                  </a:r>
                  <a:endParaRPr lang="zh-CN" altLang="zh-CN" sz="1400" dirty="0">
                    <a:solidFill>
                      <a:srgbClr val="0052D9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164" name="文本框 5163">
                <a:extLst>
                  <a:ext uri="{FF2B5EF4-FFF2-40B4-BE49-F238E27FC236}">
                    <a16:creationId xmlns:a16="http://schemas.microsoft.com/office/drawing/2014/main" id="{958AC1E6-7A23-3AC9-B0A6-E7F01B5F1015}"/>
                  </a:ext>
                </a:extLst>
              </p:cNvPr>
              <p:cNvSpPr txBox="1"/>
              <p:nvPr/>
            </p:nvSpPr>
            <p:spPr>
              <a:xfrm>
                <a:off x="1733951" y="2123954"/>
                <a:ext cx="1468246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CAGR: </a:t>
                </a:r>
                <a:r>
                  <a:rPr lang="en-US" altLang="zh-CN" sz="14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15+%</a:t>
                </a:r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 </a:t>
                </a:r>
                <a:endParaRPr lang="zh-CN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20031" y="2630154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50+%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1" name="图像" descr="图像">
            <a:extLst>
              <a:ext uri="{FF2B5EF4-FFF2-40B4-BE49-F238E27FC236}">
                <a16:creationId xmlns:a16="http://schemas.microsoft.com/office/drawing/2014/main" id="{C13252BD-CD0F-67AA-C6EC-20C3C4BA95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70400" y="2690681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25077" y="3184940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053753" y="3184940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grpSp>
        <p:nvGrpSpPr>
          <p:cNvPr id="5186" name="组合 5185">
            <a:extLst>
              <a:ext uri="{FF2B5EF4-FFF2-40B4-BE49-F238E27FC236}">
                <a16:creationId xmlns:a16="http://schemas.microsoft.com/office/drawing/2014/main" id="{6F6DFBAE-19A3-99B6-FA67-CC85A1AF91C5}"/>
              </a:ext>
            </a:extLst>
          </p:cNvPr>
          <p:cNvGrpSpPr/>
          <p:nvPr/>
        </p:nvGrpSpPr>
        <p:grpSpPr>
          <a:xfrm>
            <a:off x="7104357" y="1505381"/>
            <a:ext cx="2254604" cy="910402"/>
            <a:chOff x="1733951" y="1521329"/>
            <a:chExt cx="2254604" cy="910402"/>
          </a:xfrm>
        </p:grpSpPr>
        <p:sp>
          <p:nvSpPr>
            <p:cNvPr id="5187" name="文本框 5186">
              <a:extLst>
                <a:ext uri="{FF2B5EF4-FFF2-40B4-BE49-F238E27FC236}">
                  <a16:creationId xmlns:a16="http://schemas.microsoft.com/office/drawing/2014/main" id="{8C9D95CE-B0D3-AB5D-D820-37E5DDCA2663}"/>
                </a:ext>
              </a:extLst>
            </p:cNvPr>
            <p:cNvSpPr txBox="1"/>
            <p:nvPr/>
          </p:nvSpPr>
          <p:spPr>
            <a:xfrm>
              <a:off x="2978293" y="1768447"/>
              <a:ext cx="101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20-30%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188" name="组合 5187">
              <a:extLst>
                <a:ext uri="{FF2B5EF4-FFF2-40B4-BE49-F238E27FC236}">
                  <a16:creationId xmlns:a16="http://schemas.microsoft.com/office/drawing/2014/main" id="{344DF7D2-CD3B-0C8C-DBEE-C152C08B888D}"/>
                </a:ext>
              </a:extLst>
            </p:cNvPr>
            <p:cNvGrpSpPr/>
            <p:nvPr/>
          </p:nvGrpSpPr>
          <p:grpSpPr>
            <a:xfrm>
              <a:off x="1733951" y="1521329"/>
              <a:ext cx="1541419" cy="910402"/>
              <a:chOff x="1733951" y="1521329"/>
              <a:chExt cx="1541419" cy="910402"/>
            </a:xfrm>
          </p:grpSpPr>
          <p:grpSp>
            <p:nvGrpSpPr>
              <p:cNvPr id="5189" name="组合 5188">
                <a:extLst>
                  <a:ext uri="{FF2B5EF4-FFF2-40B4-BE49-F238E27FC236}">
                    <a16:creationId xmlns:a16="http://schemas.microsoft.com/office/drawing/2014/main" id="{8AE45C2E-AAE4-3EAC-7F61-074C35344631}"/>
                  </a:ext>
                </a:extLst>
              </p:cNvPr>
              <p:cNvGrpSpPr/>
              <p:nvPr/>
            </p:nvGrpSpPr>
            <p:grpSpPr>
              <a:xfrm>
                <a:off x="1791108" y="1521329"/>
                <a:ext cx="1484262" cy="530374"/>
                <a:chOff x="1798782" y="1661118"/>
                <a:chExt cx="1484262" cy="530374"/>
              </a:xfrm>
            </p:grpSpPr>
            <p:sp>
              <p:nvSpPr>
                <p:cNvPr id="5191" name="椭圆 5190">
                  <a:extLst>
                    <a:ext uri="{FF2B5EF4-FFF2-40B4-BE49-F238E27FC236}">
                      <a16:creationId xmlns:a16="http://schemas.microsoft.com/office/drawing/2014/main" id="{F92D9C8C-8F70-FCCB-434D-D374FE498C00}"/>
                    </a:ext>
                  </a:extLst>
                </p:cNvPr>
                <p:cNvSpPr/>
                <p:nvPr/>
              </p:nvSpPr>
              <p:spPr>
                <a:xfrm>
                  <a:off x="1798782" y="1661118"/>
                  <a:ext cx="530876" cy="530374"/>
                </a:xfrm>
                <a:prstGeom prst="ellipse">
                  <a:avLst/>
                </a:prstGeom>
                <a:solidFill>
                  <a:srgbClr val="0052D9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92" name="文本框 5191">
                  <a:extLst>
                    <a:ext uri="{FF2B5EF4-FFF2-40B4-BE49-F238E27FC236}">
                      <a16:creationId xmlns:a16="http://schemas.microsoft.com/office/drawing/2014/main" id="{DD81610E-F601-27CB-DCD1-96F0284D8FFC}"/>
                    </a:ext>
                  </a:extLst>
                </p:cNvPr>
                <p:cNvSpPr txBox="1"/>
                <p:nvPr/>
              </p:nvSpPr>
              <p:spPr>
                <a:xfrm>
                  <a:off x="2345046" y="1825659"/>
                  <a:ext cx="937998" cy="3079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r>
                    <a:rPr lang="en-US" altLang="zh-CN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$bn</a:t>
                  </a:r>
                  <a:r>
                    <a:rPr lang="zh-CN" altLang="en-US" sz="1400" dirty="0">
                      <a:solidFill>
                        <a:schemeClr val="accent6">
                          <a:lumMod val="10000"/>
                        </a:schemeClr>
                      </a:solidFill>
                      <a:cs typeface="+mn-ea"/>
                      <a:sym typeface="+mn-lt"/>
                    </a:rPr>
                    <a:t>级</a:t>
                  </a:r>
                  <a:endParaRPr lang="zh-CN" altLang="zh-CN" sz="1400" dirty="0">
                    <a:solidFill>
                      <a:srgbClr val="0052D9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190" name="文本框 5189">
                <a:extLst>
                  <a:ext uri="{FF2B5EF4-FFF2-40B4-BE49-F238E27FC236}">
                    <a16:creationId xmlns:a16="http://schemas.microsoft.com/office/drawing/2014/main" id="{C26E098D-8477-A171-5494-4045AB9EC7A6}"/>
                  </a:ext>
                </a:extLst>
              </p:cNvPr>
              <p:cNvSpPr txBox="1"/>
              <p:nvPr/>
            </p:nvSpPr>
            <p:spPr>
              <a:xfrm>
                <a:off x="1733951" y="2123954"/>
                <a:ext cx="1317875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CAGR: </a:t>
                </a:r>
                <a:r>
                  <a:rPr lang="en-US" altLang="zh-CN" sz="14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10+%</a:t>
                </a:r>
                <a:r>
                  <a:rPr lang="en-US" altLang="zh-CN" sz="1400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 </a:t>
                </a:r>
                <a:endParaRPr lang="zh-CN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5193" name="图片 5192" descr="图示&#10;&#10;AI 生成的内容可能不正确。">
            <a:extLst>
              <a:ext uri="{FF2B5EF4-FFF2-40B4-BE49-F238E27FC236}">
                <a16:creationId xmlns:a16="http://schemas.microsoft.com/office/drawing/2014/main" id="{99870414-422A-7AF9-3411-CBA4F1AB5C8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825" b="34035" l="78808" r="92881">
                        <a14:foregroundMark x1="78808" y1="24912" x2="78808" y2="24912"/>
                        <a14:foregroundMark x1="84437" y1="33684" x2="84437" y2="33684"/>
                        <a14:foregroundMark x1="87252" y1="34035" x2="87252" y2="34035"/>
                        <a14:foregroundMark x1="92715" y1="24561" x2="92715" y2="245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8677675" y="978687"/>
            <a:ext cx="465131" cy="369333"/>
          </a:xfrm>
          <a:prstGeom prst="rect">
            <a:avLst/>
          </a:prstGeom>
        </p:spPr>
      </p:pic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60706" y="3635784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79491" y="3240071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61727" y="3215718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98" name="文本框 5197">
            <a:extLst>
              <a:ext uri="{FF2B5EF4-FFF2-40B4-BE49-F238E27FC236}">
                <a16:creationId xmlns:a16="http://schemas.microsoft.com/office/drawing/2014/main" id="{FC089579-6BCA-6847-F442-BEEBB3EE0096}"/>
              </a:ext>
            </a:extLst>
          </p:cNvPr>
          <p:cNvSpPr txBox="1"/>
          <p:nvPr/>
        </p:nvSpPr>
        <p:spPr>
          <a:xfrm>
            <a:off x="10899379" y="2557271"/>
            <a:ext cx="202392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高端封装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毛利高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99" name="文本框 5198">
            <a:extLst>
              <a:ext uri="{FF2B5EF4-FFF2-40B4-BE49-F238E27FC236}">
                <a16:creationId xmlns:a16="http://schemas.microsoft.com/office/drawing/2014/main" id="{BE8031B4-B33B-8F8A-2F42-B8725C593B52}"/>
              </a:ext>
            </a:extLst>
          </p:cNvPr>
          <p:cNvSpPr txBox="1"/>
          <p:nvPr/>
        </p:nvSpPr>
        <p:spPr>
          <a:xfrm>
            <a:off x="5883635" y="2553210"/>
            <a:ext cx="11867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自研毛利高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200" name="文本框 5199">
            <a:extLst>
              <a:ext uri="{FF2B5EF4-FFF2-40B4-BE49-F238E27FC236}">
                <a16:creationId xmlns:a16="http://schemas.microsoft.com/office/drawing/2014/main" id="{0378968C-A73A-4786-FF55-E939F9850D99}"/>
              </a:ext>
            </a:extLst>
          </p:cNvPr>
          <p:cNvSpPr txBox="1"/>
          <p:nvPr/>
        </p:nvSpPr>
        <p:spPr>
          <a:xfrm>
            <a:off x="8362534" y="2541536"/>
            <a:ext cx="118672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自研毛利高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9900" y="3284075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53043" y="3215718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年一代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7284" y="3714427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33944" y="3635784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90591" y="3621173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361469" y="3230967"/>
            <a:ext cx="304385" cy="34316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海外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356275" y="3605888"/>
            <a:ext cx="304385" cy="369332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00930" y="360500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118178" y="360500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046463" y="360500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23998" y="360500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10884555" y="1752101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5211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产业链：集成交付环节、光电信号中枢优先关注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439930" y="1852929"/>
            <a:ext cx="66234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头部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厂商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439928" y="3366095"/>
            <a:ext cx="662345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初创</a:t>
            </a: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670" y="2285900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162" y="1816770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D735AD-071B-73E3-B23F-A6E1F1498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5633" y="4791710"/>
            <a:ext cx="908907" cy="237650"/>
          </a:xfrm>
          <a:prstGeom prst="rect">
            <a:avLst/>
          </a:prstGeom>
        </p:spPr>
      </p:pic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439928" y="4879261"/>
            <a:ext cx="662344" cy="979468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国产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7CE8B0A-AE08-3FE1-356F-DDBD2437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766" y="4862830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熹联：100G/lane出货～10K 200G/lane出货～100K；</a:t>
            </a:r>
            <a:r>
              <a:rPr lang="zh-CN" altLang="zh-CN" sz="900" dirty="0">
                <a:solidFill>
                  <a:srgbClr val="000000"/>
                </a:solidFill>
                <a:cs typeface="+mn-ea"/>
                <a:sym typeface="+mn-lt"/>
              </a:rPr>
              <a:t>羲禾 ：100G/lane出货超百万</a:t>
            </a:r>
            <a:r>
              <a:rPr lang="en-US" altLang="zh-CN" sz="900" dirty="0">
                <a:solidFill>
                  <a:srgbClr val="000000"/>
                </a:solidFill>
                <a:cs typeface="+mn-ea"/>
                <a:sym typeface="+mn-lt"/>
              </a:rPr>
              <a:t>;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赛丽：100G/lane出货超百万 200G/lane小批量出货；(前两家为tx现有jdm合作方）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182" y="4862830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1779492B-210F-3AEF-2FD5-60E6F2C0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633" y="5341980"/>
            <a:ext cx="1530169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DD52BBF1-529D-7C5D-02B0-BA73A7643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258" y="2351285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20E5ECE5-0288-D659-4D5F-3B1A05415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932" y="2381040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Intel/Ranovus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DC1A86FA-6C94-51BE-E996-141809E690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7363" y="3540738"/>
            <a:ext cx="908907" cy="237650"/>
          </a:xfrm>
          <a:prstGeom prst="rect">
            <a:avLst/>
          </a:prstGeom>
        </p:spPr>
      </p:pic>
      <p:sp>
        <p:nvSpPr>
          <p:cNvPr id="2068" name="矩形 2067">
            <a:extLst>
              <a:ext uri="{FF2B5EF4-FFF2-40B4-BE49-F238E27FC236}">
                <a16:creationId xmlns:a16="http://schemas.microsoft.com/office/drawing/2014/main" id="{D25F78F9-A7BD-4E2E-460F-38195B2F370B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0350" y="2389326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10E3EC4-D332-C6F1-1338-A1EEFDF3848A}"/>
              </a:ext>
            </a:extLst>
          </p:cNvPr>
          <p:cNvSpPr/>
          <p:nvPr/>
        </p:nvSpPr>
        <p:spPr>
          <a:xfrm>
            <a:off x="12417427" y="87924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重点讲博通（落脚点）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博通的布局，靠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从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切份额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顺带提和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tx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合作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6936E-573A-3D5C-B48D-8BB70325011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602A55-9E35-80E3-64EB-9AEF629AF017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D226E7-63CF-F2E0-EF6A-BCC1C734E8EB}"/>
              </a:ext>
            </a:extLst>
          </p:cNvPr>
          <p:cNvSpPr/>
          <p:nvPr/>
        </p:nvSpPr>
        <p:spPr>
          <a:xfrm>
            <a:off x="8795383" y="7151327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991EDF-1419-EB68-37C4-72FD09066140}"/>
              </a:ext>
            </a:extLst>
          </p:cNvPr>
          <p:cNvSpPr/>
          <p:nvPr/>
        </p:nvSpPr>
        <p:spPr>
          <a:xfrm>
            <a:off x="12357182" y="524455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价值这一行可以打开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价值的客观标准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可以放两页，很重要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300162" y="944619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光信号中枢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3843258" y="949091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电信号中枢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17CD2B7-D3B4-1340-DE1B-B7D4F4D03461}"/>
              </a:ext>
            </a:extLst>
          </p:cNvPr>
          <p:cNvSpPr txBox="1"/>
          <p:nvPr/>
        </p:nvSpPr>
        <p:spPr>
          <a:xfrm>
            <a:off x="5699619" y="965035"/>
            <a:ext cx="1002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EIC</a:t>
            </a:r>
          </a:p>
          <a:p>
            <a:pPr algn="ctr"/>
            <a:r>
              <a:rPr lang="zh-CN" altLang="en-US" sz="1200" dirty="0">
                <a:cs typeface="+mn-ea"/>
                <a:sym typeface="+mn-lt"/>
              </a:rPr>
              <a:t>电芯片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6800754" y="972102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交换机芯片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5339B36-5720-8312-C630-5F2A83CC28B9}"/>
              </a:ext>
            </a:extLst>
          </p:cNvPr>
          <p:cNvSpPr txBox="1"/>
          <p:nvPr/>
        </p:nvSpPr>
        <p:spPr>
          <a:xfrm>
            <a:off x="2974705" y="965035"/>
            <a:ext cx="667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cs typeface="+mn-ea"/>
              </a:defRPr>
            </a:lvl1pPr>
          </a:lstStyle>
          <a:p>
            <a:r>
              <a:rPr lang="zh-CN" altLang="en-US" sz="1200" dirty="0">
                <a:sym typeface="+mn-lt"/>
              </a:rPr>
              <a:t>硅光</a:t>
            </a:r>
            <a:endParaRPr lang="en-US" altLang="zh-CN" sz="1200" dirty="0">
              <a:sym typeface="+mn-lt"/>
            </a:endParaRPr>
          </a:p>
          <a:p>
            <a:r>
              <a:rPr lang="zh-CN" altLang="en-US" sz="1200" dirty="0">
                <a:sym typeface="+mn-lt"/>
              </a:rPr>
              <a:t>芯片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59B1FA9-725E-A661-83F4-2EF411706B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6099" y="1038075"/>
            <a:ext cx="559532" cy="315584"/>
          </a:xfrm>
          <a:prstGeom prst="rect">
            <a:avLst/>
          </a:prstGeom>
        </p:spPr>
      </p:pic>
      <p:pic>
        <p:nvPicPr>
          <p:cNvPr id="5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875ACED9-9B91-03F1-9C95-6CD2C4CBB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34220" y="1065928"/>
            <a:ext cx="366675" cy="25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8961069" y="970873"/>
            <a:ext cx="2796897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集成交付</a:t>
            </a:r>
          </a:p>
        </p:txBody>
      </p:sp>
      <p:pic>
        <p:nvPicPr>
          <p:cNvPr id="55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5E0ACDA1-E26D-80EF-086E-84D89B17C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675" y="1080961"/>
            <a:ext cx="601426" cy="2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6883DAEF-CC22-226D-6218-990A4B3060E1}"/>
              </a:ext>
            </a:extLst>
          </p:cNvPr>
          <p:cNvSpPr txBox="1"/>
          <p:nvPr/>
        </p:nvSpPr>
        <p:spPr>
          <a:xfrm>
            <a:off x="10417715" y="986816"/>
            <a:ext cx="1549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cs typeface="+mn-ea"/>
                <a:sym typeface="+mn-lt"/>
              </a:rPr>
              <a:t>2.5D/</a:t>
            </a:r>
          </a:p>
          <a:p>
            <a:pPr algn="ctr"/>
            <a:r>
              <a:rPr lang="en-US" altLang="zh-CN" sz="1200" dirty="0">
                <a:cs typeface="+mn-ea"/>
                <a:sym typeface="+mn-lt"/>
              </a:rPr>
              <a:t>3D</a:t>
            </a:r>
            <a:r>
              <a:rPr lang="zh-CN" altLang="en-US" sz="1200" dirty="0">
                <a:cs typeface="+mn-ea"/>
                <a:sym typeface="+mn-lt"/>
              </a:rPr>
              <a:t>封装</a:t>
            </a:r>
          </a:p>
        </p:txBody>
      </p:sp>
      <p:pic>
        <p:nvPicPr>
          <p:cNvPr id="5120" name="图片 5119" descr="图示&#10;&#10;AI 生成的内容可能不正确。">
            <a:extLst>
              <a:ext uri="{FF2B5EF4-FFF2-40B4-BE49-F238E27FC236}">
                <a16:creationId xmlns:a16="http://schemas.microsoft.com/office/drawing/2014/main" id="{A3AB3399-4FCB-99E7-2587-9D448DA25F1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825" b="34035" l="78808" r="92881">
                        <a14:foregroundMark x1="78808" y1="24912" x2="78808" y2="24912"/>
                        <a14:foregroundMark x1="84437" y1="33684" x2="84437" y2="33684"/>
                        <a14:foregroundMark x1="87252" y1="34035" x2="87252" y2="34035"/>
                        <a14:foregroundMark x1="92715" y1="24561" x2="92715" y2="245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8281294" y="1015102"/>
            <a:ext cx="465131" cy="369333"/>
          </a:xfrm>
          <a:prstGeom prst="rect">
            <a:avLst/>
          </a:prstGeom>
        </p:spPr>
      </p:pic>
      <p:pic>
        <p:nvPicPr>
          <p:cNvPr id="5129" name="图片 5128">
            <a:extLst>
              <a:ext uri="{FF2B5EF4-FFF2-40B4-BE49-F238E27FC236}">
                <a16:creationId xmlns:a16="http://schemas.microsoft.com/office/drawing/2014/main" id="{3BA6C9DA-EA7E-495E-2912-7F6A26E495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85126" y="3303971"/>
            <a:ext cx="1229948" cy="279934"/>
          </a:xfrm>
          <a:prstGeom prst="rect">
            <a:avLst/>
          </a:prstGeom>
        </p:spPr>
      </p:pic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5730" y="3367021"/>
            <a:ext cx="1229948" cy="279934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9766" y="3421551"/>
            <a:ext cx="775992" cy="216870"/>
          </a:xfrm>
          <a:prstGeom prst="rect">
            <a:avLst/>
          </a:prstGeom>
        </p:spPr>
      </p:pic>
      <p:pic>
        <p:nvPicPr>
          <p:cNvPr id="5132" name="图片 5131">
            <a:extLst>
              <a:ext uri="{FF2B5EF4-FFF2-40B4-BE49-F238E27FC236}">
                <a16:creationId xmlns:a16="http://schemas.microsoft.com/office/drawing/2014/main" id="{24164295-0481-AB19-4694-24E147E92C4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9766" y="3784689"/>
            <a:ext cx="1108830" cy="230637"/>
          </a:xfrm>
          <a:prstGeom prst="rect">
            <a:avLst/>
          </a:prstGeom>
        </p:spPr>
      </p:pic>
      <p:pic>
        <p:nvPicPr>
          <p:cNvPr id="5133" name="图片 5132">
            <a:extLst>
              <a:ext uri="{FF2B5EF4-FFF2-40B4-BE49-F238E27FC236}">
                <a16:creationId xmlns:a16="http://schemas.microsoft.com/office/drawing/2014/main" id="{34EB72E3-3C22-2204-E238-40EBECB0BD1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04704" y="3560377"/>
            <a:ext cx="1108830" cy="230637"/>
          </a:xfrm>
          <a:prstGeom prst="rect">
            <a:avLst/>
          </a:prstGeom>
        </p:spPr>
      </p:pic>
      <p:pic>
        <p:nvPicPr>
          <p:cNvPr id="5134" name="图像" descr="图像">
            <a:extLst>
              <a:ext uri="{FF2B5EF4-FFF2-40B4-BE49-F238E27FC236}">
                <a16:creationId xmlns:a16="http://schemas.microsoft.com/office/drawing/2014/main" id="{7CA252BE-BDD0-038E-E2AC-1C23A44F1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2801" y="1838995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5" name="图像" descr="图像">
            <a:extLst>
              <a:ext uri="{FF2B5EF4-FFF2-40B4-BE49-F238E27FC236}">
                <a16:creationId xmlns:a16="http://schemas.microsoft.com/office/drawing/2014/main" id="{EE5CD461-773B-1116-3F24-BC270B345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8015" y="1838995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8961069" y="2108835"/>
            <a:ext cx="1393177" cy="3111917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7" name="文本框 5136">
            <a:extLst>
              <a:ext uri="{FF2B5EF4-FFF2-40B4-BE49-F238E27FC236}">
                <a16:creationId xmlns:a16="http://schemas.microsoft.com/office/drawing/2014/main" id="{4B47C5F8-1891-6134-17A3-68496BF01BA0}"/>
              </a:ext>
            </a:extLst>
          </p:cNvPr>
          <p:cNvSpPr txBox="1"/>
          <p:nvPr/>
        </p:nvSpPr>
        <p:spPr>
          <a:xfrm>
            <a:off x="8898637" y="2951053"/>
            <a:ext cx="146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52D9"/>
                </a:solidFill>
                <a:cs typeface="+mn-ea"/>
                <a:sym typeface="+mn-lt"/>
              </a:rPr>
              <a:t>国产卡位</a:t>
            </a:r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228567" y="1675515"/>
            <a:ext cx="7517858" cy="564437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9" name="文本框 5138">
            <a:extLst>
              <a:ext uri="{FF2B5EF4-FFF2-40B4-BE49-F238E27FC236}">
                <a16:creationId xmlns:a16="http://schemas.microsoft.com/office/drawing/2014/main" id="{8503B05C-AC2D-2111-9E0B-6C6425C89F3B}"/>
              </a:ext>
            </a:extLst>
          </p:cNvPr>
          <p:cNvSpPr txBox="1"/>
          <p:nvPr/>
        </p:nvSpPr>
        <p:spPr>
          <a:xfrm>
            <a:off x="1939434" y="1782234"/>
            <a:ext cx="1460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52D9"/>
                </a:solidFill>
                <a:cs typeface="+mn-ea"/>
                <a:sym typeface="+mn-lt"/>
              </a:rPr>
              <a:t>全能巨头</a:t>
            </a: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248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博通：率先全面布局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F81A6C3-9205-443D-8828-1B7234874E73}"/>
              </a:ext>
            </a:extLst>
          </p:cNvPr>
          <p:cNvSpPr txBox="1"/>
          <p:nvPr/>
        </p:nvSpPr>
        <p:spPr>
          <a:xfrm>
            <a:off x="158751" y="1366528"/>
            <a:ext cx="6033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博通于</a:t>
            </a:r>
            <a:r>
              <a:rPr lang="en-US" altLang="zh-CN" sz="1600" dirty="0"/>
              <a:t>2021</a:t>
            </a:r>
            <a:r>
              <a:rPr lang="zh-CN" altLang="en-US" sz="1600" dirty="0"/>
              <a:t>年推出</a:t>
            </a:r>
            <a:r>
              <a:rPr lang="en-US" altLang="zh-CN" sz="1600" dirty="0"/>
              <a:t>TH4 CPO</a:t>
            </a:r>
            <a:r>
              <a:rPr lang="zh-CN" altLang="en-US" sz="1600" dirty="0"/>
              <a:t>芯片组，为全球率先推动</a:t>
            </a:r>
            <a:r>
              <a:rPr lang="en-US" altLang="zh-CN" sz="1600" dirty="0"/>
              <a:t>CPO</a:t>
            </a:r>
            <a:r>
              <a:rPr lang="zh-CN" altLang="en-US" sz="1600" dirty="0"/>
              <a:t>技术落地的厂商之一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564CB-03C0-10D4-448B-6B4ED5AF7C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620248A6-4A25-573B-56B2-A8CA76525775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78263787-8F29-F6EE-CF36-CF983DE06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056" y="2516793"/>
            <a:ext cx="5968092" cy="2460972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B0E756CC-CDF2-E2A6-D81D-8464FDF8DF28}"/>
              </a:ext>
            </a:extLst>
          </p:cNvPr>
          <p:cNvSpPr txBox="1"/>
          <p:nvPr/>
        </p:nvSpPr>
        <p:spPr>
          <a:xfrm>
            <a:off x="6286057" y="1366280"/>
            <a:ext cx="5747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博通全面参与</a:t>
            </a:r>
            <a:r>
              <a:rPr lang="en-US" altLang="zh-CN" sz="1600" dirty="0"/>
              <a:t>CPO</a:t>
            </a:r>
            <a:r>
              <a:rPr lang="zh-CN" altLang="en-US" sz="1600" dirty="0"/>
              <a:t>生态各个环节，以定制的合作模式推动</a:t>
            </a:r>
            <a:r>
              <a:rPr lang="en-US" altLang="zh-CN" sz="1600" dirty="0"/>
              <a:t>CPO</a:t>
            </a:r>
            <a:r>
              <a:rPr lang="zh-CN" altLang="en-US" sz="1600" dirty="0"/>
              <a:t>各环节成熟，同时布局了</a:t>
            </a:r>
            <a:r>
              <a:rPr lang="en-US" altLang="zh-CN" sz="1600" dirty="0"/>
              <a:t>IP</a:t>
            </a:r>
            <a:endParaRPr lang="zh-CN" altLang="en-US" sz="1600" dirty="0"/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241888" y="898506"/>
            <a:ext cx="12099377" cy="503758"/>
            <a:chOff x="504186" y="971862"/>
            <a:chExt cx="12099377" cy="503758"/>
          </a:xfrm>
        </p:grpSpPr>
        <p:sp>
          <p:nvSpPr>
            <p:cNvPr id="109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717654" y="991071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博通为布局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最全的厂商之一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0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1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717654" y="1321896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博通为最早完整落地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的厂商之一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3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864401" y="5804455"/>
            <a:ext cx="5182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864401" y="5696815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5121441" y="5696815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1715809" y="5696815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2567217" y="5696815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3418625" y="5696815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4270033" y="5696815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864402" y="2373009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166905" y="5144557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187118" y="4342644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187118" y="3540730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92099" y="2738816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48" name="图像" descr="图像">
            <a:extLst>
              <a:ext uri="{FF2B5EF4-FFF2-40B4-BE49-F238E27FC236}">
                <a16:creationId xmlns:a16="http://schemas.microsoft.com/office/drawing/2014/main" id="{0683585B-22F3-9DA0-E9C8-2DF87DF7C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157" y="3075078"/>
            <a:ext cx="258700" cy="205784"/>
          </a:xfrm>
          <a:prstGeom prst="rect">
            <a:avLst/>
          </a:prstGeom>
          <a:ln w="12700">
            <a:miter lim="400000"/>
          </a:ln>
        </p:spPr>
      </p:pic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23168" y="2108820"/>
            <a:ext cx="1005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cs typeface="+mn-ea"/>
                <a:sym typeface="+mn-lt"/>
              </a:rPr>
              <a:t>交换容量（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1626573" y="4460592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2405795" y="4460592"/>
            <a:ext cx="1088697" cy="433036"/>
            <a:chOff x="1854080" y="4289861"/>
            <a:chExt cx="1088697" cy="433036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合作部署</a:t>
              </a: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3198356" y="3536040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4099295" y="3536040"/>
            <a:ext cx="1088697" cy="433036"/>
            <a:chOff x="1854080" y="4289861"/>
            <a:chExt cx="1088697" cy="4330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量产交付</a:t>
              </a: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4958343" y="2638804"/>
            <a:ext cx="1088697" cy="433036"/>
            <a:chOff x="1854080" y="4289861"/>
            <a:chExt cx="1088697" cy="43303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芯片发布</a:t>
              </a: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891292" y="5172296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grpSp>
        <p:nvGrpSpPr>
          <p:cNvPr id="1083" name="组合 1082">
            <a:extLst>
              <a:ext uri="{FF2B5EF4-FFF2-40B4-BE49-F238E27FC236}">
                <a16:creationId xmlns:a16="http://schemas.microsoft.com/office/drawing/2014/main" id="{C4025FA0-2555-83B8-81C1-C52CC2E937DD}"/>
              </a:ext>
            </a:extLst>
          </p:cNvPr>
          <p:cNvGrpSpPr/>
          <p:nvPr/>
        </p:nvGrpSpPr>
        <p:grpSpPr>
          <a:xfrm>
            <a:off x="4950703" y="3049971"/>
            <a:ext cx="1088697" cy="433036"/>
            <a:chOff x="1854080" y="4289861"/>
            <a:chExt cx="1088697" cy="433036"/>
          </a:xfrm>
        </p:grpSpPr>
        <p:sp>
          <p:nvSpPr>
            <p:cNvPr id="1085" name="文本框 1084">
              <a:extLst>
                <a:ext uri="{FF2B5EF4-FFF2-40B4-BE49-F238E27FC236}">
                  <a16:creationId xmlns:a16="http://schemas.microsoft.com/office/drawing/2014/main" id="{47EDAC5D-A457-72C6-852E-2E505182A312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试产</a:t>
              </a:r>
            </a:p>
          </p:txBody>
        </p:sp>
        <p:sp>
          <p:nvSpPr>
            <p:cNvPr id="1086" name="文本框 1085">
              <a:extLst>
                <a:ext uri="{FF2B5EF4-FFF2-40B4-BE49-F238E27FC236}">
                  <a16:creationId xmlns:a16="http://schemas.microsoft.com/office/drawing/2014/main" id="{8F3793D4-D5A8-BCF6-548D-919A35D9B7D2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QT-X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2390894" y="3546979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50" dirty="0">
                  <a:cs typeface="+mn-ea"/>
                  <a:sym typeface="+mn-lt"/>
                </a:rPr>
                <a:t>方案发布</a:t>
              </a: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1197873" y="2371575"/>
            <a:ext cx="1616187" cy="909287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Marvell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思科没放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56F8D4-C5B1-AE7C-812D-B21452A66E3C}"/>
              </a:ext>
            </a:extLst>
          </p:cNvPr>
          <p:cNvSpPr txBox="1"/>
          <p:nvPr/>
        </p:nvSpPr>
        <p:spPr>
          <a:xfrm>
            <a:off x="2529939" y="3949882"/>
            <a:ext cx="1139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Marvell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AC669-A64E-A202-1EF8-FADA80A6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0527924-3CB2-5186-6135-844E69676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1466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558F73-8357-A1DD-7EB5-F81BF5153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90D4125-22B7-9B05-5F5E-8E5B8356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博通：押注以太网胜出，争夺网络规则制定权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D9A7A5-434F-DDC2-B927-FEF2AB0EFB54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E36631-2FD4-1B1C-15AD-323CF2C58AA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A647D1A-1200-DC93-8897-68329A8848AB}"/>
              </a:ext>
            </a:extLst>
          </p:cNvPr>
          <p:cNvSpPr/>
          <p:nvPr/>
        </p:nvSpPr>
        <p:spPr>
          <a:xfrm>
            <a:off x="12489126" y="541122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ADD36CF-FEF0-5557-646B-028F3CFE8111}"/>
              </a:ext>
            </a:extLst>
          </p:cNvPr>
          <p:cNvGrpSpPr/>
          <p:nvPr/>
        </p:nvGrpSpPr>
        <p:grpSpPr>
          <a:xfrm>
            <a:off x="241887" y="898506"/>
            <a:ext cx="12099378" cy="503758"/>
            <a:chOff x="504185" y="971862"/>
            <a:chExt cx="12099378" cy="503758"/>
          </a:xfrm>
        </p:grpSpPr>
        <p:sp>
          <p:nvSpPr>
            <p:cNvPr id="109" name="文本框 12">
              <a:extLst>
                <a:ext uri="{FF2B5EF4-FFF2-40B4-BE49-F238E27FC236}">
                  <a16:creationId xmlns:a16="http://schemas.microsoft.com/office/drawing/2014/main" id="{EE32AE7C-6813-7096-65A7-A3B7B4E50C98}"/>
                </a:ext>
              </a:extLst>
            </p:cNvPr>
            <p:cNvSpPr txBox="1"/>
            <p:nvPr/>
          </p:nvSpPr>
          <p:spPr>
            <a:xfrm>
              <a:off x="6717654" y="991071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博通押注以太网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方案对抗英伟达，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HPC buy in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博通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0" name="文本框 13">
              <a:extLst>
                <a:ext uri="{FF2B5EF4-FFF2-40B4-BE49-F238E27FC236}">
                  <a16:creationId xmlns:a16="http://schemas.microsoft.com/office/drawing/2014/main" id="{CF53F793-FA5B-1170-7AB8-5286E96C6BCE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1" name="直线连接符 38">
              <a:extLst>
                <a:ext uri="{FF2B5EF4-FFF2-40B4-BE49-F238E27FC236}">
                  <a16:creationId xmlns:a16="http://schemas.microsoft.com/office/drawing/2014/main" id="{C11A1D55-A163-DC7F-2881-805E5AE3A9D8}"/>
                </a:ext>
              </a:extLst>
            </p:cNvPr>
            <p:cNvCxnSpPr>
              <a:cxnSpLocks/>
            </p:cNvCxnSpPr>
            <p:nvPr/>
          </p:nvCxnSpPr>
          <p:spPr>
            <a:xfrm>
              <a:off x="6717654" y="1321896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5">
              <a:extLst>
                <a:ext uri="{FF2B5EF4-FFF2-40B4-BE49-F238E27FC236}">
                  <a16:creationId xmlns:a16="http://schemas.microsoft.com/office/drawing/2014/main" id="{371702AE-C2A7-0C71-73C9-E7EA720FA01D}"/>
                </a:ext>
              </a:extLst>
            </p:cNvPr>
            <p:cNvSpPr txBox="1"/>
            <p:nvPr/>
          </p:nvSpPr>
          <p:spPr>
            <a:xfrm>
              <a:off x="504185" y="971862"/>
              <a:ext cx="595063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以太网或在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AI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节点通信协议争夺中胜出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13" name="直线连接符 38">
              <a:extLst>
                <a:ext uri="{FF2B5EF4-FFF2-40B4-BE49-F238E27FC236}">
                  <a16:creationId xmlns:a16="http://schemas.microsoft.com/office/drawing/2014/main" id="{4C87F793-AFC5-8A08-F860-16FE72E13061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EED4B3EF-DA94-1CA1-E026-C587495E1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24809"/>
              </p:ext>
            </p:extLst>
          </p:nvPr>
        </p:nvGraphicFramePr>
        <p:xfrm>
          <a:off x="6391657" y="2459395"/>
          <a:ext cx="5527336" cy="4087531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39524">
                  <a:extLst>
                    <a:ext uri="{9D8B030D-6E8A-4147-A177-3AD203B41FA5}">
                      <a16:colId xmlns:a16="http://schemas.microsoft.com/office/drawing/2014/main" val="2231899009"/>
                    </a:ext>
                  </a:extLst>
                </a:gridCol>
                <a:gridCol w="2147812">
                  <a:extLst>
                    <a:ext uri="{9D8B030D-6E8A-4147-A177-3AD203B41FA5}">
                      <a16:colId xmlns:a16="http://schemas.microsoft.com/office/drawing/2014/main" val="43690167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499043871"/>
                    </a:ext>
                  </a:extLst>
                </a:gridCol>
              </a:tblGrid>
              <a:tr h="274088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博通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Broadcom) - ​</a:t>
                      </a:r>
                      <a:r>
                        <a:rPr lang="zh-CN" altLang="en-US" sz="1100" u="none" strike="noStrike">
                          <a:effectLst/>
                        </a:rPr>
                        <a:t>赋能者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英伟达 </a:t>
                      </a: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NVIDIA) - ​</a:t>
                      </a:r>
                      <a:r>
                        <a:rPr lang="zh-CN" altLang="en-US" sz="1100" u="none" strike="noStrike">
                          <a:effectLst/>
                        </a:rPr>
                        <a:t>统治者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056898"/>
                  </a:ext>
                </a:extLst>
              </a:tr>
              <a:tr h="4936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​核心网络标准​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​以太网 ，</a:t>
                      </a:r>
                      <a:r>
                        <a:rPr lang="en-US" altLang="zh-CN" sz="1100" u="none" strike="noStrike" dirty="0">
                          <a:effectLst/>
                        </a:rPr>
                        <a:t>IEEE</a:t>
                      </a:r>
                      <a:r>
                        <a:rPr lang="zh-CN" altLang="en-US" sz="1100" u="none" strike="noStrike" dirty="0">
                          <a:effectLst/>
                        </a:rPr>
                        <a:t>标准，开放且通用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​</a:t>
                      </a:r>
                      <a:r>
                        <a:rPr lang="en-US" altLang="zh-CN" sz="1100" u="none" strike="noStrike">
                          <a:effectLst/>
                        </a:rPr>
                        <a:t>InfiniBand</a:t>
                      </a:r>
                      <a:r>
                        <a:rPr lang="zh-CN" altLang="en-US" sz="1100" u="none" strike="noStrike">
                          <a:effectLst/>
                        </a:rPr>
                        <a:t>​，​英伟达私有协议，封闭且专用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124846"/>
                  </a:ext>
                </a:extLst>
              </a:tr>
              <a:tr h="38966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​生态策略​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反对供应商锁定​：客户可自由选择硬件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• ​​“GPU+NVLink+IB”</a:t>
                      </a:r>
                      <a:r>
                        <a:rPr lang="zh-CN" altLang="en-US" sz="1100" u="none" strike="noStrike">
                          <a:effectLst/>
                        </a:rPr>
                        <a:t>软硬件全栈锁定​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281195"/>
                  </a:ext>
                </a:extLst>
              </a:tr>
              <a:tr h="12320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​玩家绑定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 </a:t>
                      </a:r>
                      <a:r>
                        <a:rPr lang="en-US" sz="11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Hyperscalers：Meta</a:t>
                      </a: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zh-CN" alt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微软、谷歌</a:t>
                      </a:r>
                      <a:endParaRPr lang="en-US" altLang="zh-CN" sz="1100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合作伙伴：博通、</a:t>
                      </a:r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Marvell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倾向与博通合作，通过白牌硬件和自有设计打造定制集群，避免</a:t>
                      </a:r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NV</a:t>
                      </a:r>
                      <a:r>
                        <a:rPr lang="zh-CN" alt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过度依赖</a:t>
                      </a:r>
                      <a:endParaRPr lang="en-US" altLang="zh-CN" sz="1100" u="none" strike="noStrike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fontAlgn="ctr"/>
                      <a:endParaRPr lang="en-US" altLang="zh-CN" sz="1100" u="none" strike="noStrike" dirty="0">
                        <a:effectLst/>
                      </a:endParaRPr>
                    </a:p>
                    <a:p>
                      <a:pPr marL="342900" indent="-342900" algn="ctr" fontAlgn="ctr">
                        <a:buAutoNum type="arabicPeriod"/>
                      </a:pPr>
                      <a:r>
                        <a:rPr lang="en-US" altLang="zh-CN" sz="1100" u="none" strike="noStrike" dirty="0">
                          <a:effectLst/>
                        </a:rPr>
                        <a:t>CPO Collaboration</a:t>
                      </a:r>
                      <a:r>
                        <a:rPr lang="zh-CN" altLang="en-US" sz="1100" u="none" strike="noStrike" dirty="0">
                          <a:effectLst/>
                        </a:rPr>
                        <a:t>：倡导开放</a:t>
                      </a:r>
                      <a:r>
                        <a:rPr lang="en-US" altLang="zh-CN" sz="1100" u="none" strike="noStrike" dirty="0">
                          <a:effectLst/>
                        </a:rPr>
                        <a:t>CPO</a:t>
                      </a:r>
                      <a:r>
                        <a:rPr lang="zh-CN" altLang="en-US" sz="1100" u="none" strike="noStrike" dirty="0">
                          <a:effectLst/>
                        </a:rPr>
                        <a:t>（</a:t>
                      </a:r>
                      <a:r>
                        <a:rPr lang="en-US" altLang="zh-CN" sz="1100" u="none" strike="noStrike" dirty="0">
                          <a:effectLst/>
                        </a:rPr>
                        <a:t>2019</a:t>
                      </a:r>
                      <a:r>
                        <a:rPr lang="zh-CN" altLang="en-US" sz="1100" u="none" strike="noStrike" dirty="0">
                          <a:effectLst/>
                        </a:rPr>
                        <a:t>）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marL="342900" indent="-342900" algn="ctr" fontAlgn="ctr">
                        <a:buAutoNum type="arabicPeriod"/>
                      </a:pP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微软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altLang="zh-CN" sz="1100" u="none" strike="noStrike" dirty="0">
                          <a:effectLst/>
                        </a:rPr>
                        <a:t>Meta</a:t>
                      </a:r>
                      <a:r>
                        <a:rPr lang="zh-CN" altLang="en-US" sz="1100" u="none" strike="noStrike" dirty="0">
                          <a:effectLst/>
                        </a:rPr>
                        <a:t>于</a:t>
                      </a:r>
                      <a:r>
                        <a:rPr lang="en-US" altLang="zh-CN" sz="1100" u="none" strike="noStrike" dirty="0">
                          <a:effectLst/>
                        </a:rPr>
                        <a:t>OCP</a:t>
                      </a:r>
                      <a:r>
                        <a:rPr lang="zh-CN" altLang="en-US" sz="1100" u="none" strike="noStrike" dirty="0">
                          <a:effectLst/>
                        </a:rPr>
                        <a:t>会议上明确表示，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其未来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数据中心将采用</a:t>
                      </a:r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单一、超大规模、基于以太网（</a:t>
                      </a:r>
                      <a:r>
                        <a:rPr lang="en-US" altLang="zh-CN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RoCEv2</a:t>
                      </a:r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）的集群网络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CPO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是实现这一目标的关键技术；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​特定云厂商​：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​Oracle</a:t>
                      </a:r>
                      <a:r>
                        <a:rPr lang="zh-CN" altLang="en-US" sz="1100" u="none" strike="noStrike" dirty="0">
                          <a:effectLst/>
                        </a:rPr>
                        <a:t>、</a:t>
                      </a:r>
                      <a:r>
                        <a:rPr lang="en-US" altLang="zh-CN" sz="1100" u="none" strike="noStrike" dirty="0" err="1">
                          <a:effectLst/>
                        </a:rPr>
                        <a:t>CoreWeave</a:t>
                      </a:r>
                      <a:r>
                        <a:rPr lang="en-US" altLang="zh-CN" sz="1100" u="none" strike="noStrike" dirty="0">
                          <a:effectLst/>
                        </a:rPr>
                        <a:t>​ - </a:t>
                      </a:r>
                      <a:r>
                        <a:rPr lang="zh-CN" altLang="en-US" sz="1100" u="none" strike="noStrike" dirty="0">
                          <a:effectLst/>
                        </a:rPr>
                        <a:t>深度依赖英伟达全栈方案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780686"/>
                  </a:ext>
                </a:extLst>
              </a:tr>
              <a:tr h="5825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​硬件伙伴​：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</a:t>
                      </a:r>
                      <a:r>
                        <a:rPr lang="zh-CN" altLang="en-US" sz="1100" u="none" strike="noStrike" dirty="0">
                          <a:effectLst/>
                        </a:rPr>
                        <a:t>白牌交换机厂商（如</a:t>
                      </a:r>
                      <a:r>
                        <a:rPr lang="en-US" altLang="zh-CN" sz="1100" u="none" strike="noStrike" dirty="0">
                          <a:effectLst/>
                        </a:rPr>
                        <a:t>Arista</a:t>
                      </a:r>
                      <a:r>
                        <a:rPr lang="zh-CN" altLang="en-US" sz="1100" u="none" strike="noStrike" dirty="0">
                          <a:effectLst/>
                        </a:rPr>
                        <a:t>），</a:t>
                      </a:r>
                      <a:r>
                        <a:rPr lang="en-US" altLang="zh-CN" sz="1100" u="none" strike="noStrike" dirty="0">
                          <a:effectLst/>
                        </a:rPr>
                        <a:t>• </a:t>
                      </a:r>
                      <a:r>
                        <a:rPr lang="zh-CN" altLang="en-US" sz="1100" u="none" strike="noStrike" dirty="0">
                          <a:effectLst/>
                        </a:rPr>
                        <a:t>光模块</a:t>
                      </a:r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r>
                        <a:rPr lang="zh-CN" altLang="en-US" sz="1100" u="none" strike="noStrike" dirty="0">
                          <a:effectLst/>
                        </a:rPr>
                        <a:t>组件供应商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u="none" strike="noStrike" dirty="0">
                          <a:effectLst/>
                        </a:rPr>
                        <a:t>​传统</a:t>
                      </a:r>
                      <a:r>
                        <a:rPr lang="en-US" altLang="zh-CN" sz="1100" u="none" strike="noStrike" dirty="0">
                          <a:effectLst/>
                        </a:rPr>
                        <a:t>OEM/</a:t>
                      </a:r>
                      <a:r>
                        <a:rPr lang="zh-CN" altLang="en-US" sz="1100" u="none" strike="noStrike" dirty="0">
                          <a:effectLst/>
                        </a:rPr>
                        <a:t>系统集成商​：</a:t>
                      </a:r>
                      <a:r>
                        <a:rPr lang="en-US" altLang="zh-CN" sz="1100" u="none" strike="noStrike" dirty="0">
                          <a:effectLst/>
                        </a:rPr>
                        <a:t>• ​</a:t>
                      </a:r>
                      <a:r>
                        <a:rPr lang="zh-CN" altLang="en-US" sz="1100" u="none" strike="noStrike" dirty="0">
                          <a:effectLst/>
                        </a:rPr>
                        <a:t>戴尔</a:t>
                      </a:r>
                      <a:r>
                        <a:rPr lang="en-US" altLang="zh-CN" sz="1100" u="none" strike="noStrike" dirty="0">
                          <a:effectLst/>
                        </a:rPr>
                        <a:t>(Dell)​</a:t>
                      </a:r>
                      <a:r>
                        <a:rPr lang="zh-CN" altLang="en-US" sz="1100" u="none" strike="noStrike" dirty="0">
                          <a:effectLst/>
                        </a:rPr>
                        <a:t>、慧与</a:t>
                      </a:r>
                      <a:r>
                        <a:rPr lang="en-US" altLang="zh-CN" sz="1100" u="none" strike="noStrike" dirty="0">
                          <a:effectLst/>
                        </a:rPr>
                        <a:t>(HPE)​​ - </a:t>
                      </a:r>
                      <a:r>
                        <a:rPr lang="zh-CN" altLang="en-US" sz="1100" u="none" strike="noStrike" dirty="0">
                          <a:effectLst/>
                        </a:rPr>
                        <a:t>销售英伟达整机系统</a:t>
                      </a:r>
                      <a:endParaRPr lang="en-US" altLang="zh-CN" sz="1100" u="none" strike="noStrike" dirty="0">
                        <a:effectLst/>
                      </a:endParaRP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00" marR="600" marT="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59226"/>
                  </a:ext>
                </a:extLst>
              </a:tr>
            </a:tbl>
          </a:graphicData>
        </a:graphic>
      </p:graphicFrame>
      <p:sp>
        <p:nvSpPr>
          <p:cNvPr id="117" name="文本框 116">
            <a:extLst>
              <a:ext uri="{FF2B5EF4-FFF2-40B4-BE49-F238E27FC236}">
                <a16:creationId xmlns:a16="http://schemas.microsoft.com/office/drawing/2014/main" id="{0B537D4F-DA45-4DAC-671B-CB871440142D}"/>
              </a:ext>
            </a:extLst>
          </p:cNvPr>
          <p:cNvSpPr txBox="1"/>
          <p:nvPr/>
        </p:nvSpPr>
        <p:spPr>
          <a:xfrm>
            <a:off x="6455356" y="1348712"/>
            <a:ext cx="6033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PingFang SC"/>
              </a:defRPr>
            </a:lvl1pPr>
          </a:lstStyle>
          <a:p>
            <a:r>
              <a:rPr lang="zh-CN" altLang="en-US" dirty="0"/>
              <a:t>博通 </a:t>
            </a:r>
            <a:r>
              <a:rPr lang="en-US" altLang="zh-CN" dirty="0"/>
              <a:t>CPO</a:t>
            </a:r>
            <a:r>
              <a:rPr lang="zh-CN" altLang="en-US" dirty="0"/>
              <a:t>技术完全基于以太网标准，英伟达主推</a:t>
            </a:r>
            <a:r>
              <a:rPr lang="en-US" altLang="zh-CN" dirty="0" err="1"/>
              <a:t>Infiniband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579F27-4C15-6213-A0CA-FDAFF7985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06" y="2326143"/>
            <a:ext cx="5129703" cy="25788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DE8E5F4-4EE8-9A5F-3E69-44ED8712D963}"/>
              </a:ext>
            </a:extLst>
          </p:cNvPr>
          <p:cNvSpPr txBox="1"/>
          <p:nvPr/>
        </p:nvSpPr>
        <p:spPr>
          <a:xfrm>
            <a:off x="241887" y="1344696"/>
            <a:ext cx="56255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短期：</a:t>
            </a:r>
            <a:r>
              <a:rPr lang="en-US" altLang="zh-CN" sz="1600" dirty="0" err="1">
                <a:solidFill>
                  <a:srgbClr val="000000"/>
                </a:solidFill>
                <a:latin typeface="PingFang SC"/>
              </a:rPr>
              <a:t>NVLink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因技术成熟度占据主导（尤其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NVIDIA 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生态）</a:t>
            </a:r>
            <a:endParaRPr lang="en-US" altLang="zh-CN" sz="1600" dirty="0">
              <a:solidFill>
                <a:srgbClr val="000000"/>
              </a:solidFill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长期：以太网性能跟上，且凭借生态与运营优势，逐步扩大份额，预计本十年内将成为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Scale Up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的主流技术</a:t>
            </a:r>
            <a:endParaRPr lang="zh-CN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45CCD2-B452-D892-ADF3-DC3105355C12}"/>
              </a:ext>
            </a:extLst>
          </p:cNvPr>
          <p:cNvSpPr txBox="1"/>
          <p:nvPr/>
        </p:nvSpPr>
        <p:spPr>
          <a:xfrm>
            <a:off x="6455356" y="1780935"/>
            <a:ext cx="55273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PingFang SC"/>
              </a:defRPr>
            </a:lvl1pPr>
          </a:lstStyle>
          <a:p>
            <a:r>
              <a:rPr lang="zh-CN" altLang="en-US" dirty="0">
                <a:sym typeface="+mn-lt"/>
              </a:rPr>
              <a:t>大型云厂商更偏好博通的开放以太网</a:t>
            </a:r>
            <a:r>
              <a:rPr lang="en-US" altLang="zh-CN" dirty="0">
                <a:sym typeface="+mn-lt"/>
              </a:rPr>
              <a:t>CPO</a:t>
            </a:r>
            <a:r>
              <a:rPr lang="zh-CN" altLang="en-US" dirty="0">
                <a:sym typeface="+mn-lt"/>
              </a:rPr>
              <a:t>方案，英伟达选择绑定传统</a:t>
            </a:r>
            <a:r>
              <a:rPr lang="en-US" altLang="zh-CN" dirty="0">
                <a:sym typeface="+mn-lt"/>
              </a:rPr>
              <a:t>OEM</a:t>
            </a:r>
            <a:r>
              <a:rPr lang="zh-CN" altLang="en-US" dirty="0">
                <a:sym typeface="+mn-lt"/>
              </a:rPr>
              <a:t>与特定新兴云厂商</a:t>
            </a:r>
          </a:p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03D835-CC3A-FC45-A0FC-AACBD76C684B}"/>
              </a:ext>
            </a:extLst>
          </p:cNvPr>
          <p:cNvSpPr/>
          <p:nvPr/>
        </p:nvSpPr>
        <p:spPr>
          <a:xfrm>
            <a:off x="12489126" y="5005212"/>
            <a:ext cx="3987800" cy="1135487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：如果博通赢了，会对产业有什么影响（云厂商、大模型厂商），怎么追这趟车？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500205-9F6C-D935-E93A-271A2635B423}"/>
              </a:ext>
            </a:extLst>
          </p:cNvPr>
          <p:cNvSpPr/>
          <p:nvPr/>
        </p:nvSpPr>
        <p:spPr>
          <a:xfrm>
            <a:off x="12489126" y="6257425"/>
            <a:ext cx="2040597" cy="1135487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博通在数据中心交换机的市场份额趋势</a:t>
            </a:r>
          </a:p>
        </p:txBody>
      </p:sp>
    </p:spTree>
    <p:extLst>
      <p:ext uri="{BB962C8B-B14F-4D97-AF65-F5344CB8AC3E}">
        <p14:creationId xmlns:p14="http://schemas.microsoft.com/office/powerpoint/2010/main" val="48919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2222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E3E93333-C2DA-51E9-F8F2-0D234A8DBA1C}"/>
              </a:ext>
            </a:extLst>
          </p:cNvPr>
          <p:cNvSpPr txBox="1"/>
          <p:nvPr/>
        </p:nvSpPr>
        <p:spPr>
          <a:xfrm>
            <a:off x="9418476" y="3763774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产能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产量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</a:t>
            </a:r>
            <a:endParaRPr lang="en-US" altLang="zh-CN" sz="1200" dirty="0">
              <a:solidFill>
                <a:srgbClr val="000000"/>
              </a:solidFill>
              <a:cs typeface="+mn-ea"/>
              <a:sym typeface="+mn-lt"/>
            </a:endParaRPr>
          </a:p>
          <a:p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销量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台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291221" y="6542459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7429705" y="3769324"/>
            <a:ext cx="1733694" cy="727564"/>
            <a:chOff x="6959734" y="4207316"/>
            <a:chExt cx="1733694" cy="727564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全球交付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817128" y="4341443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6270295" y="3739181"/>
            <a:ext cx="1975459" cy="787851"/>
            <a:chOff x="9332675" y="4153814"/>
            <a:chExt cx="1975459" cy="787851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平均ASP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9878454" y="4346175"/>
              <a:ext cx="14296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235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万/台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407292" y="5349824"/>
            <a:ext cx="15362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标准机硬件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长期委外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6" y="799727"/>
            <a:ext cx="117833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市场地位：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全球极少数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能够为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以上硅光电子、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光模块提供</a:t>
            </a:r>
            <a:r>
              <a:rPr lang="zh-CN" altLang="en-US" sz="16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全自动封装耦合设备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的企业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前景：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高精度封装能力的重要性在更重视光学的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  <a:r>
              <a:rPr lang="zh-CN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时代会提升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274160" y="329627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交付：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低量高价，重交付，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188364" y="386977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238261" y="1610833"/>
            <a:ext cx="5768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中企收购弥补国内技术空白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6BDC90A3-7CAF-E5F6-70E3-C28E50B2F340}"/>
              </a:ext>
            </a:extLst>
          </p:cNvPr>
          <p:cNvGrpSpPr/>
          <p:nvPr/>
        </p:nvGrpSpPr>
        <p:grpSpPr>
          <a:xfrm>
            <a:off x="-26308" y="1967324"/>
            <a:ext cx="5948680" cy="1104923"/>
            <a:chOff x="27699" y="2598831"/>
            <a:chExt cx="5948680" cy="110492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95F44A2-C061-5D7D-8391-320D4C0B5020}"/>
                </a:ext>
              </a:extLst>
            </p:cNvPr>
            <p:cNvGrpSpPr/>
            <p:nvPr/>
          </p:nvGrpSpPr>
          <p:grpSpPr>
            <a:xfrm>
              <a:off x="27699" y="2598831"/>
              <a:ext cx="5948680" cy="684606"/>
              <a:chOff x="-21769" y="3068770"/>
              <a:chExt cx="5948680" cy="684606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0678657-096D-B78D-191E-F3A961E120A8}"/>
                  </a:ext>
                </a:extLst>
              </p:cNvPr>
              <p:cNvSpPr txBox="1"/>
              <p:nvPr/>
            </p:nvSpPr>
            <p:spPr>
              <a:xfrm>
                <a:off x="3379076" y="3073288"/>
                <a:ext cx="25478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被中国上市公司RoboTechnik以10.11亿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RMB</a:t>
                </a:r>
                <a:r>
                  <a:rPr lang="en-US" altLang="zh-CN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 100%</a:t>
                </a:r>
                <a:r>
                  <a:rPr lang="zh-CN" altLang="en-US" sz="1400" dirty="0">
                    <a:solidFill>
                      <a:srgbClr val="000000"/>
                    </a:solidFill>
                    <a:cs typeface="+mn-ea"/>
                    <a:sym typeface="+mn-lt"/>
                  </a:rPr>
                  <a:t>收购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0B5CBD8-B142-509A-526A-B947849110E3}"/>
                  </a:ext>
                </a:extLst>
              </p:cNvPr>
              <p:cNvSpPr txBox="1"/>
              <p:nvPr/>
            </p:nvSpPr>
            <p:spPr>
              <a:xfrm>
                <a:off x="1685745" y="3068770"/>
                <a:ext cx="13962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获德国mic</a:t>
                </a:r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 </a:t>
                </a: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seed轮投资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86D9C25-13C6-F2D7-5457-4E1AB9466572}"/>
                  </a:ext>
                </a:extLst>
              </p:cNvPr>
              <p:cNvSpPr txBox="1"/>
              <p:nvPr/>
            </p:nvSpPr>
            <p:spPr>
              <a:xfrm>
                <a:off x="-21769" y="3073404"/>
                <a:ext cx="22021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于德国成立</a:t>
                </a:r>
                <a:endParaRPr kumimoji="0" lang="en-US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专用设备供应商</a:t>
                </a:r>
                <a:endPara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733F027-A8A6-A925-8AD6-9E76BA7DC9A4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B5D8CDE-AE66-371A-E90F-DA8720FF0DEE}"/>
                </a:ext>
              </a:extLst>
            </p:cNvPr>
            <p:cNvGrpSpPr/>
            <p:nvPr/>
          </p:nvGrpSpPr>
          <p:grpSpPr>
            <a:xfrm>
              <a:off x="799791" y="3181688"/>
              <a:ext cx="754380" cy="508801"/>
              <a:chOff x="2380429" y="5497808"/>
              <a:chExt cx="754380" cy="508801"/>
            </a:xfrm>
          </p:grpSpPr>
          <p:sp>
            <p:nvSpPr>
              <p:cNvPr id="19" name="iconfont-1018-792472">
                <a:extLst>
                  <a:ext uri="{FF2B5EF4-FFF2-40B4-BE49-F238E27FC236}">
                    <a16:creationId xmlns:a16="http://schemas.microsoft.com/office/drawing/2014/main" id="{EA814B08-CD52-C99A-FC8F-44F9D9CF41C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13A64F3-F6F8-C5E7-1730-DC0120AEDA39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0F82009A-1C4D-7B9A-C8FC-7ED364E2601A}"/>
                </a:ext>
              </a:extLst>
            </p:cNvPr>
            <p:cNvGrpSpPr/>
            <p:nvPr/>
          </p:nvGrpSpPr>
          <p:grpSpPr>
            <a:xfrm>
              <a:off x="2079898" y="3180229"/>
              <a:ext cx="754380" cy="508801"/>
              <a:chOff x="2380429" y="5497808"/>
              <a:chExt cx="754380" cy="508801"/>
            </a:xfrm>
          </p:grpSpPr>
          <p:sp>
            <p:nvSpPr>
              <p:cNvPr id="23" name="iconfont-1018-792472">
                <a:extLst>
                  <a:ext uri="{FF2B5EF4-FFF2-40B4-BE49-F238E27FC236}">
                    <a16:creationId xmlns:a16="http://schemas.microsoft.com/office/drawing/2014/main" id="{519F1AE7-5299-0A4E-7D76-85AA281803A3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BD83B27-AFD4-55EA-5D0E-5F07B18765DA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2002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1114B66-5026-3686-F582-3B3346627BEE}"/>
                </a:ext>
              </a:extLst>
            </p:cNvPr>
            <p:cNvGrpSpPr/>
            <p:nvPr/>
          </p:nvGrpSpPr>
          <p:grpSpPr>
            <a:xfrm>
              <a:off x="4299663" y="3194953"/>
              <a:ext cx="754380" cy="508801"/>
              <a:chOff x="2380429" y="5497808"/>
              <a:chExt cx="754380" cy="508801"/>
            </a:xfrm>
          </p:grpSpPr>
          <p:sp>
            <p:nvSpPr>
              <p:cNvPr id="30" name="iconfont-1018-792472">
                <a:extLst>
                  <a:ext uri="{FF2B5EF4-FFF2-40B4-BE49-F238E27FC236}">
                    <a16:creationId xmlns:a16="http://schemas.microsoft.com/office/drawing/2014/main" id="{0BEE1C87-1BCF-4B35-4846-2AF0E32B8080}"/>
                  </a:ext>
                </a:extLst>
              </p:cNvPr>
              <p:cNvSpPr/>
              <p:nvPr/>
            </p:nvSpPr>
            <p:spPr>
              <a:xfrm>
                <a:off x="2573461" y="5497808"/>
                <a:ext cx="205783" cy="205783"/>
              </a:xfrm>
              <a:custGeom>
                <a:avLst/>
                <a:gdLst>
                  <a:gd name="T0" fmla="*/ 1876 w 12800"/>
                  <a:gd name="T1" fmla="*/ 1876 h 12800"/>
                  <a:gd name="T2" fmla="*/ 6400 w 12800"/>
                  <a:gd name="T3" fmla="*/ 0 h 12800"/>
                  <a:gd name="T4" fmla="*/ 10924 w 12800"/>
                  <a:gd name="T5" fmla="*/ 1876 h 12800"/>
                  <a:gd name="T6" fmla="*/ 12800 w 12800"/>
                  <a:gd name="T7" fmla="*/ 6400 h 12800"/>
                  <a:gd name="T8" fmla="*/ 10924 w 12800"/>
                  <a:gd name="T9" fmla="*/ 10924 h 12800"/>
                  <a:gd name="T10" fmla="*/ 6400 w 12800"/>
                  <a:gd name="T11" fmla="*/ 12800 h 12800"/>
                  <a:gd name="T12" fmla="*/ 1876 w 12800"/>
                  <a:gd name="T13" fmla="*/ 10924 h 12800"/>
                  <a:gd name="T14" fmla="*/ 0 w 12800"/>
                  <a:gd name="T15" fmla="*/ 6400 h 12800"/>
                  <a:gd name="T16" fmla="*/ 1876 w 12800"/>
                  <a:gd name="T17" fmla="*/ 1876 h 12800"/>
                  <a:gd name="T18" fmla="*/ 6400 w 12800"/>
                  <a:gd name="T19" fmla="*/ 524 h 12800"/>
                  <a:gd name="T20" fmla="*/ 3446 w 12800"/>
                  <a:gd name="T21" fmla="*/ 1308 h 12800"/>
                  <a:gd name="T22" fmla="*/ 1308 w 12800"/>
                  <a:gd name="T23" fmla="*/ 3446 h 12800"/>
                  <a:gd name="T24" fmla="*/ 524 w 12800"/>
                  <a:gd name="T25" fmla="*/ 6400 h 12800"/>
                  <a:gd name="T26" fmla="*/ 2246 w 12800"/>
                  <a:gd name="T27" fmla="*/ 10554 h 12800"/>
                  <a:gd name="T28" fmla="*/ 6400 w 12800"/>
                  <a:gd name="T29" fmla="*/ 12276 h 12800"/>
                  <a:gd name="T30" fmla="*/ 10554 w 12800"/>
                  <a:gd name="T31" fmla="*/ 10554 h 12800"/>
                  <a:gd name="T32" fmla="*/ 12276 w 12800"/>
                  <a:gd name="T33" fmla="*/ 6400 h 12800"/>
                  <a:gd name="T34" fmla="*/ 10554 w 12800"/>
                  <a:gd name="T35" fmla="*/ 2246 h 12800"/>
                  <a:gd name="T36" fmla="*/ 6400 w 12800"/>
                  <a:gd name="T37" fmla="*/ 524 h 12800"/>
                  <a:gd name="T38" fmla="*/ 6400 w 12800"/>
                  <a:gd name="T39" fmla="*/ 3200 h 12800"/>
                  <a:gd name="T40" fmla="*/ 5123 w 12800"/>
                  <a:gd name="T41" fmla="*/ 3461 h 12800"/>
                  <a:gd name="T42" fmla="*/ 4061 w 12800"/>
                  <a:gd name="T43" fmla="*/ 4154 h 12800"/>
                  <a:gd name="T44" fmla="*/ 3369 w 12800"/>
                  <a:gd name="T45" fmla="*/ 5215 h 12800"/>
                  <a:gd name="T46" fmla="*/ 3108 w 12800"/>
                  <a:gd name="T47" fmla="*/ 6492 h 12800"/>
                  <a:gd name="T48" fmla="*/ 3369 w 12800"/>
                  <a:gd name="T49" fmla="*/ 7770 h 12800"/>
                  <a:gd name="T50" fmla="*/ 4061 w 12800"/>
                  <a:gd name="T51" fmla="*/ 8831 h 12800"/>
                  <a:gd name="T52" fmla="*/ 5123 w 12800"/>
                  <a:gd name="T53" fmla="*/ 9523 h 12800"/>
                  <a:gd name="T54" fmla="*/ 6400 w 12800"/>
                  <a:gd name="T55" fmla="*/ 9784 h 12800"/>
                  <a:gd name="T56" fmla="*/ 7677 w 12800"/>
                  <a:gd name="T57" fmla="*/ 9523 h 12800"/>
                  <a:gd name="T58" fmla="*/ 8739 w 12800"/>
                  <a:gd name="T59" fmla="*/ 8831 h 12800"/>
                  <a:gd name="T60" fmla="*/ 9431 w 12800"/>
                  <a:gd name="T61" fmla="*/ 7770 h 12800"/>
                  <a:gd name="T62" fmla="*/ 9692 w 12800"/>
                  <a:gd name="T63" fmla="*/ 6492 h 12800"/>
                  <a:gd name="T64" fmla="*/ 9431 w 12800"/>
                  <a:gd name="T65" fmla="*/ 5215 h 12800"/>
                  <a:gd name="T66" fmla="*/ 8739 w 12800"/>
                  <a:gd name="T67" fmla="*/ 4154 h 12800"/>
                  <a:gd name="T68" fmla="*/ 7677 w 12800"/>
                  <a:gd name="T69" fmla="*/ 3461 h 12800"/>
                  <a:gd name="T70" fmla="*/ 6400 w 12800"/>
                  <a:gd name="T71" fmla="*/ 3200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800" h="12800">
                    <a:moveTo>
                      <a:pt x="1876" y="1876"/>
                    </a:moveTo>
                    <a:cubicBezTo>
                      <a:pt x="3128" y="626"/>
                      <a:pt x="4636" y="0"/>
                      <a:pt x="6400" y="0"/>
                    </a:cubicBezTo>
                    <a:cubicBezTo>
                      <a:pt x="8164" y="0"/>
                      <a:pt x="9672" y="626"/>
                      <a:pt x="10924" y="1876"/>
                    </a:cubicBezTo>
                    <a:cubicBezTo>
                      <a:pt x="12174" y="3128"/>
                      <a:pt x="12800" y="4636"/>
                      <a:pt x="12800" y="6400"/>
                    </a:cubicBezTo>
                    <a:cubicBezTo>
                      <a:pt x="12800" y="8165"/>
                      <a:pt x="12174" y="9673"/>
                      <a:pt x="10924" y="10924"/>
                    </a:cubicBezTo>
                    <a:cubicBezTo>
                      <a:pt x="9672" y="12174"/>
                      <a:pt x="8164" y="12800"/>
                      <a:pt x="6400" y="12800"/>
                    </a:cubicBezTo>
                    <a:cubicBezTo>
                      <a:pt x="4636" y="12800"/>
                      <a:pt x="3128" y="12174"/>
                      <a:pt x="1876" y="10924"/>
                    </a:cubicBezTo>
                    <a:cubicBezTo>
                      <a:pt x="626" y="9673"/>
                      <a:pt x="0" y="8165"/>
                      <a:pt x="0" y="6400"/>
                    </a:cubicBezTo>
                    <a:cubicBezTo>
                      <a:pt x="0" y="4636"/>
                      <a:pt x="626" y="3128"/>
                      <a:pt x="1876" y="1876"/>
                    </a:cubicBezTo>
                    <a:close/>
                    <a:moveTo>
                      <a:pt x="6400" y="524"/>
                    </a:moveTo>
                    <a:cubicBezTo>
                      <a:pt x="5334" y="524"/>
                      <a:pt x="4348" y="785"/>
                      <a:pt x="3446" y="1308"/>
                    </a:cubicBezTo>
                    <a:cubicBezTo>
                      <a:pt x="2543" y="1830"/>
                      <a:pt x="1830" y="2543"/>
                      <a:pt x="1308" y="3446"/>
                    </a:cubicBezTo>
                    <a:cubicBezTo>
                      <a:pt x="785" y="4349"/>
                      <a:pt x="524" y="5334"/>
                      <a:pt x="524" y="6400"/>
                    </a:cubicBezTo>
                    <a:cubicBezTo>
                      <a:pt x="524" y="8020"/>
                      <a:pt x="1098" y="9405"/>
                      <a:pt x="2246" y="10554"/>
                    </a:cubicBezTo>
                    <a:cubicBezTo>
                      <a:pt x="3395" y="11703"/>
                      <a:pt x="4780" y="12276"/>
                      <a:pt x="6400" y="12276"/>
                    </a:cubicBezTo>
                    <a:cubicBezTo>
                      <a:pt x="8020" y="12276"/>
                      <a:pt x="9405" y="11703"/>
                      <a:pt x="10554" y="10554"/>
                    </a:cubicBezTo>
                    <a:cubicBezTo>
                      <a:pt x="11703" y="9405"/>
                      <a:pt x="12276" y="8020"/>
                      <a:pt x="12276" y="6400"/>
                    </a:cubicBezTo>
                    <a:cubicBezTo>
                      <a:pt x="12276" y="4780"/>
                      <a:pt x="11702" y="3396"/>
                      <a:pt x="10554" y="2246"/>
                    </a:cubicBezTo>
                    <a:cubicBezTo>
                      <a:pt x="9405" y="1097"/>
                      <a:pt x="8020" y="524"/>
                      <a:pt x="6400" y="524"/>
                    </a:cubicBezTo>
                    <a:close/>
                    <a:moveTo>
                      <a:pt x="6400" y="3200"/>
                    </a:moveTo>
                    <a:cubicBezTo>
                      <a:pt x="5948" y="3200"/>
                      <a:pt x="5523" y="3288"/>
                      <a:pt x="5123" y="3461"/>
                    </a:cubicBezTo>
                    <a:cubicBezTo>
                      <a:pt x="4723" y="3636"/>
                      <a:pt x="4369" y="3867"/>
                      <a:pt x="4061" y="4154"/>
                    </a:cubicBezTo>
                    <a:cubicBezTo>
                      <a:pt x="3775" y="4461"/>
                      <a:pt x="3543" y="4815"/>
                      <a:pt x="3369" y="5215"/>
                    </a:cubicBezTo>
                    <a:cubicBezTo>
                      <a:pt x="3195" y="5614"/>
                      <a:pt x="3108" y="6042"/>
                      <a:pt x="3108" y="6492"/>
                    </a:cubicBezTo>
                    <a:cubicBezTo>
                      <a:pt x="3108" y="6944"/>
                      <a:pt x="3195" y="7369"/>
                      <a:pt x="3369" y="7770"/>
                    </a:cubicBezTo>
                    <a:cubicBezTo>
                      <a:pt x="3543" y="8170"/>
                      <a:pt x="3775" y="8524"/>
                      <a:pt x="4061" y="8831"/>
                    </a:cubicBezTo>
                    <a:cubicBezTo>
                      <a:pt x="4369" y="9119"/>
                      <a:pt x="4723" y="9349"/>
                      <a:pt x="5123" y="9523"/>
                    </a:cubicBezTo>
                    <a:cubicBezTo>
                      <a:pt x="5523" y="9697"/>
                      <a:pt x="5948" y="9784"/>
                      <a:pt x="6400" y="9784"/>
                    </a:cubicBezTo>
                    <a:cubicBezTo>
                      <a:pt x="6852" y="9784"/>
                      <a:pt x="7277" y="9697"/>
                      <a:pt x="7677" y="9523"/>
                    </a:cubicBezTo>
                    <a:cubicBezTo>
                      <a:pt x="8077" y="9349"/>
                      <a:pt x="8431" y="9119"/>
                      <a:pt x="8739" y="8831"/>
                    </a:cubicBezTo>
                    <a:cubicBezTo>
                      <a:pt x="9025" y="8524"/>
                      <a:pt x="9257" y="8169"/>
                      <a:pt x="9431" y="7770"/>
                    </a:cubicBezTo>
                    <a:cubicBezTo>
                      <a:pt x="9605" y="7370"/>
                      <a:pt x="9692" y="6944"/>
                      <a:pt x="9692" y="6492"/>
                    </a:cubicBezTo>
                    <a:cubicBezTo>
                      <a:pt x="9692" y="6042"/>
                      <a:pt x="9605" y="5615"/>
                      <a:pt x="9431" y="5215"/>
                    </a:cubicBezTo>
                    <a:cubicBezTo>
                      <a:pt x="9257" y="4814"/>
                      <a:pt x="9025" y="4462"/>
                      <a:pt x="8739" y="4154"/>
                    </a:cubicBezTo>
                    <a:cubicBezTo>
                      <a:pt x="8431" y="3867"/>
                      <a:pt x="8077" y="3636"/>
                      <a:pt x="7677" y="3461"/>
                    </a:cubicBezTo>
                    <a:cubicBezTo>
                      <a:pt x="7277" y="3288"/>
                      <a:pt x="6852" y="3200"/>
                      <a:pt x="6400" y="32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cs typeface="+mn-ea"/>
                  <a:sym typeface="+mn-lt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95C5602-CF13-CA75-F2EB-4D1EF5788514}"/>
                  </a:ext>
                </a:extLst>
              </p:cNvPr>
              <p:cNvSpPr txBox="1"/>
              <p:nvPr/>
            </p:nvSpPr>
            <p:spPr>
              <a:xfrm>
                <a:off x="2380429" y="5698832"/>
                <a:ext cx="75438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2025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-1977" y="3623765"/>
            <a:ext cx="4395613" cy="2453028"/>
            <a:chOff x="1052162" y="4115937"/>
            <a:chExt cx="4395613" cy="245302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4115937"/>
              <a:ext cx="3690025" cy="2453028"/>
              <a:chOff x="923365" y="3978459"/>
              <a:chExt cx="3690025" cy="2453028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54454941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0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1594251" y="5046125"/>
                  <a:ext cx="102548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zh-CN" altLang="en-US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微组装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613395" y="3978459"/>
                <a:ext cx="299999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2023A </a:t>
                </a:r>
                <a:r>
                  <a:rPr kumimoji="0" lang="zh-CN" alt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营收拆分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64" y="4679637"/>
              <a:ext cx="28777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测试设备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等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57A45E6-15A6-97FB-DE1D-2FCB5BB56D57}"/>
              </a:ext>
            </a:extLst>
          </p:cNvPr>
          <p:cNvGrpSpPr/>
          <p:nvPr/>
        </p:nvGrpSpPr>
        <p:grpSpPr>
          <a:xfrm>
            <a:off x="3106241" y="3433912"/>
            <a:ext cx="3124462" cy="1391828"/>
            <a:chOff x="3402950" y="3532009"/>
            <a:chExt cx="3124462" cy="1391828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39043B5-5736-EAAC-43D6-478C75A51656}"/>
                </a:ext>
              </a:extLst>
            </p:cNvPr>
            <p:cNvSpPr txBox="1"/>
            <p:nvPr/>
          </p:nvSpPr>
          <p:spPr>
            <a:xfrm>
              <a:off x="3402950" y="4547131"/>
              <a:ext cx="3124462" cy="376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测试</a:t>
              </a: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清洁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修复三合一设备</a:t>
              </a:r>
              <a:endParaRPr lang="zh-CN" altLang="en-US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FDB0F42-0C94-1A8D-4A9A-2ED09947B9B1}"/>
                </a:ext>
              </a:extLst>
            </p:cNvPr>
            <p:cNvSpPr txBox="1"/>
            <p:nvPr/>
          </p:nvSpPr>
          <p:spPr>
            <a:xfrm>
              <a:off x="4457376" y="3532009"/>
              <a:ext cx="177849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硅光修复</a:t>
              </a:r>
              <a:r>
                <a:rPr lang="en-US" altLang="zh-CN" sz="1400" dirty="0">
                  <a:solidFill>
                    <a:srgbClr val="333333"/>
                  </a:solidFill>
                  <a:cs typeface="+mn-ea"/>
                  <a:sym typeface="+mn-lt"/>
                </a:rPr>
                <a:t>0-1</a:t>
              </a:r>
              <a:r>
                <a:rPr lang="zh-CN" altLang="en-US" sz="1400" dirty="0">
                  <a:solidFill>
                    <a:srgbClr val="333333"/>
                  </a:solidFill>
                  <a:cs typeface="+mn-ea"/>
                  <a:sym typeface="+mn-lt"/>
                </a:rPr>
                <a:t>突破</a:t>
              </a:r>
              <a:endParaRPr lang="en-US" altLang="zh-CN" sz="1400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u="sng" dirty="0">
                  <a:solidFill>
                    <a:srgbClr val="333333"/>
                  </a:solidFill>
                  <a:cs typeface="+mn-ea"/>
                  <a:sym typeface="+mn-lt"/>
                </a:rPr>
                <a:t>台积电迫切想要但产能被英伟达包圆</a:t>
              </a:r>
              <a:endParaRPr lang="en-US" altLang="zh-CN" sz="1400" u="sng" dirty="0">
                <a:solidFill>
                  <a:srgbClr val="333333"/>
                </a:solidFill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2603556" y="5276780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2603556" y="4247623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35EB4309-6DB0-3A01-8B1B-2E4EEAEBD593}"/>
              </a:ext>
            </a:extLst>
          </p:cNvPr>
          <p:cNvGrpSpPr/>
          <p:nvPr/>
        </p:nvGrpSpPr>
        <p:grpSpPr>
          <a:xfrm>
            <a:off x="3104432" y="4925713"/>
            <a:ext cx="2805323" cy="1229926"/>
            <a:chOff x="3613696" y="3795302"/>
            <a:chExt cx="2805323" cy="1229926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F5E6549A-406A-1198-A9FE-001AA2FD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80668" y="3820493"/>
              <a:ext cx="794640" cy="838986"/>
            </a:xfrm>
            <a:prstGeom prst="rect">
              <a:avLst/>
            </a:prstGeom>
          </p:spPr>
        </p:pic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5BCA0442-1230-9A00-EB53-12F4962257B3}"/>
                </a:ext>
              </a:extLst>
            </p:cNvPr>
            <p:cNvSpPr txBox="1"/>
            <p:nvPr/>
          </p:nvSpPr>
          <p:spPr>
            <a:xfrm>
              <a:off x="3613696" y="4653523"/>
              <a:ext cx="2066744" cy="371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2475"/>
                </a:lnSpc>
                <a:spcAft>
                  <a:spcPts val="1125"/>
                </a:spcAft>
              </a:pPr>
              <a:r>
                <a:rPr lang="en-US" altLang="zh-CN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ASSEMBLYLINE </a:t>
              </a: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系列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C449F9DE-04A3-C679-0A3E-51CD7E98111D}"/>
                </a:ext>
              </a:extLst>
            </p:cNvPr>
            <p:cNvSpPr txBox="1"/>
            <p:nvPr/>
          </p:nvSpPr>
          <p:spPr>
            <a:xfrm>
              <a:off x="4640526" y="3795302"/>
              <a:ext cx="177849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b="0" i="0" dirty="0">
                  <a:solidFill>
                    <a:srgbClr val="333333"/>
                  </a:solidFill>
                  <a:effectLst/>
                  <a:cs typeface="+mn-ea"/>
                  <a:sym typeface="+mn-lt"/>
                </a:rPr>
                <a:t>自动微光学组装</a:t>
              </a:r>
              <a:endPara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cs typeface="+mn-ea"/>
                  <a:sym typeface="+mn-lt"/>
                </a:rPr>
                <a:t>5nm</a:t>
              </a:r>
              <a:r>
                <a:rPr lang="zh-CN" altLang="en-US" sz="1400" dirty="0">
                  <a:cs typeface="+mn-ea"/>
                  <a:sym typeface="+mn-lt"/>
                </a:rPr>
                <a:t>精度光耦</a:t>
              </a:r>
              <a:endParaRPr lang="en-US" altLang="zh-CN" sz="1400" dirty="0">
                <a:cs typeface="+mn-ea"/>
                <a:sym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cs typeface="+mn-ea"/>
                  <a:sym typeface="+mn-lt"/>
                </a:rPr>
                <a:t>精度</a:t>
              </a:r>
              <a:r>
                <a:rPr lang="en-US" altLang="zh-CN" sz="1400" dirty="0">
                  <a:cs typeface="+mn-ea"/>
                  <a:sym typeface="+mn-lt"/>
                </a:rPr>
                <a:t>+</a:t>
              </a:r>
              <a:r>
                <a:rPr lang="zh-CN" altLang="en-US" sz="1400" dirty="0">
                  <a:cs typeface="+mn-ea"/>
                  <a:sym typeface="+mn-lt"/>
                </a:rPr>
                <a:t>集成度全球领先</a:t>
              </a: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8608" y="3866264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3239082" y="356842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1279378"/>
              </p:ext>
            </p:extLst>
          </p:nvPr>
        </p:nvGraphicFramePr>
        <p:xfrm>
          <a:off x="6458084" y="1974032"/>
          <a:ext cx="5129857" cy="123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CDB7C8FB-2497-6267-B3E8-7C588F7D8706}"/>
              </a:ext>
            </a:extLst>
          </p:cNvPr>
          <p:cNvSpPr txBox="1"/>
          <p:nvPr/>
        </p:nvSpPr>
        <p:spPr>
          <a:xfrm>
            <a:off x="6271284" y="1567676"/>
            <a:ext cx="552701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盈利：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毛利超封测行业平均值（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~30%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），亏损持续收窄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F30BF220-4359-8CC2-7E44-546FD86E08B1}"/>
              </a:ext>
            </a:extLst>
          </p:cNvPr>
          <p:cNvGrpSpPr/>
          <p:nvPr/>
        </p:nvGrpSpPr>
        <p:grpSpPr>
          <a:xfrm>
            <a:off x="10706523" y="3840556"/>
            <a:ext cx="1536288" cy="585101"/>
            <a:chOff x="10926477" y="4990752"/>
            <a:chExt cx="1536288" cy="58510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9ACACC4B-4082-0599-A9C3-506CC36B5034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432E317-E7B9-701E-A911-28C5ABBBBE35}"/>
                </a:ext>
              </a:extLst>
            </p:cNvPr>
            <p:cNvSpPr txBox="1"/>
            <p:nvPr/>
          </p:nvSpPr>
          <p:spPr>
            <a:xfrm>
              <a:off x="10926477" y="5298854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产能利用率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8B1550BD-1D69-EC16-44B1-065FE1BB6B04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306CD657-DB77-3194-3368-C2D64FB788C4}"/>
              </a:ext>
            </a:extLst>
          </p:cNvPr>
          <p:cNvSpPr/>
          <p:nvPr/>
        </p:nvSpPr>
        <p:spPr>
          <a:xfrm rot="16200000">
            <a:off x="8903129" y="4062312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2" name="箭头: 右 101">
            <a:extLst>
              <a:ext uri="{FF2B5EF4-FFF2-40B4-BE49-F238E27FC236}">
                <a16:creationId xmlns:a16="http://schemas.microsoft.com/office/drawing/2014/main" id="{FC442DF0-BADE-8275-3AB9-49B2EB9FACCE}"/>
              </a:ext>
            </a:extLst>
          </p:cNvPr>
          <p:cNvSpPr/>
          <p:nvPr/>
        </p:nvSpPr>
        <p:spPr>
          <a:xfrm>
            <a:off x="10350154" y="4073447"/>
            <a:ext cx="269664" cy="119318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10AC663-CC66-FF6B-3712-A1AFCCA8DBAD}"/>
              </a:ext>
            </a:extLst>
          </p:cNvPr>
          <p:cNvSpPr txBox="1"/>
          <p:nvPr/>
        </p:nvSpPr>
        <p:spPr>
          <a:xfrm>
            <a:off x="6271284" y="4692291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上下游：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巨头客户占比大，供应商集中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圆角矩形 1636">
            <a:extLst>
              <a:ext uri="{FF2B5EF4-FFF2-40B4-BE49-F238E27FC236}">
                <a16:creationId xmlns:a16="http://schemas.microsoft.com/office/drawing/2014/main" id="{083FE0B3-A52B-9965-A9F0-9A5055540272}"/>
              </a:ext>
            </a:extLst>
          </p:cNvPr>
          <p:cNvSpPr/>
          <p:nvPr/>
        </p:nvSpPr>
        <p:spPr>
          <a:xfrm>
            <a:off x="238261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763911-E411-2B21-6E2A-8FB9F5CBF7F9}"/>
              </a:ext>
            </a:extLst>
          </p:cNvPr>
          <p:cNvSpPr txBox="1"/>
          <p:nvPr/>
        </p:nvSpPr>
        <p:spPr>
          <a:xfrm>
            <a:off x="291221" y="3203909"/>
            <a:ext cx="9097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光电器件微组装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+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自动化测试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垄断地位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9" name="圆角矩形 1636">
            <a:extLst>
              <a:ext uri="{FF2B5EF4-FFF2-40B4-BE49-F238E27FC236}">
                <a16:creationId xmlns:a16="http://schemas.microsoft.com/office/drawing/2014/main" id="{AD0371B0-D2D6-0324-BB5A-277C944BF757}"/>
              </a:ext>
            </a:extLst>
          </p:cNvPr>
          <p:cNvSpPr/>
          <p:nvPr/>
        </p:nvSpPr>
        <p:spPr>
          <a:xfrm>
            <a:off x="6130599" y="1473290"/>
            <a:ext cx="5712301" cy="4992746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00BD308-531F-5D9B-D859-6BBCD44F85F2}"/>
              </a:ext>
            </a:extLst>
          </p:cNvPr>
          <p:cNvSpPr txBox="1"/>
          <p:nvPr/>
        </p:nvSpPr>
        <p:spPr>
          <a:xfrm>
            <a:off x="6297675" y="1782548"/>
            <a:ext cx="1429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1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cs typeface="+mn-ea"/>
                <a:sym typeface="+mn-lt"/>
              </a:rPr>
              <a:t>亿美元</a:t>
            </a:r>
            <a:endParaRPr lang="zh-CN" altLang="en-US" sz="105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6E869D7-9532-DA1C-EE6B-46E52FFD3DF7}"/>
              </a:ext>
            </a:extLst>
          </p:cNvPr>
          <p:cNvGrpSpPr/>
          <p:nvPr/>
        </p:nvGrpSpPr>
        <p:grpSpPr>
          <a:xfrm>
            <a:off x="5844455" y="502335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C62B12CD-DEA7-D4E4-84A2-81C21616FD1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0961070"/>
                </p:ext>
              </p:extLst>
            </p:nvPr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0208D120-F248-D8FE-B872-D1C9ACC1571F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EEC84D2-0E0F-BC65-9770-3EB1A8687544}"/>
              </a:ext>
            </a:extLst>
          </p:cNvPr>
          <p:cNvSpPr txBox="1"/>
          <p:nvPr/>
        </p:nvSpPr>
        <p:spPr>
          <a:xfrm>
            <a:off x="6561747" y="4946889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客户占比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2A01A2D0-1BA7-691B-2D62-0DE10A07590E}"/>
              </a:ext>
            </a:extLst>
          </p:cNvPr>
          <p:cNvSpPr/>
          <p:nvPr/>
        </p:nvSpPr>
        <p:spPr>
          <a:xfrm>
            <a:off x="7652532" y="541428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711EB7-779D-687C-2D46-ACC9EBC20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330" y="569354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CCC31D5B-5C11-3CCA-5F1F-B960072E2B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6483" y="567062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505F9A0-8D42-91F8-00F6-D04A26784C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5972" y="527245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7E52CD9D-56D1-36B2-1406-1B685F9A0A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8343" y="527950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2E31E35-034B-9EC4-2D14-AA717B9E047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6554" y="601282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34375ADA-0D9F-CA4A-2A46-8FBBB873A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643370"/>
              </p:ext>
            </p:extLst>
          </p:nvPr>
        </p:nvGraphicFramePr>
        <p:xfrm>
          <a:off x="8524091" y="501289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9FA1ED81-34B6-8BDF-ED5A-0DF9E89CBF5B}"/>
              </a:ext>
            </a:extLst>
          </p:cNvPr>
          <p:cNvSpPr txBox="1"/>
          <p:nvPr/>
        </p:nvSpPr>
        <p:spPr>
          <a:xfrm>
            <a:off x="9317262" y="4957447"/>
            <a:ext cx="1387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供应商占比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461963" y="1486366"/>
            <a:ext cx="936625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业务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461963" y="3850640"/>
            <a:ext cx="936625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核心优势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461963" y="4875698"/>
            <a:ext cx="936625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落地进展</a:t>
            </a: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：过去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18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个月已小批量出货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15k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颗芯粒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：首批高量产客户（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AI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加速卡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 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交换机）上机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芯粒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制造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硅光子单片集成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+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标准化生态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技术被纳入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PCIe 6.0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标准，形成生态壁垒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461963" y="2724903"/>
            <a:ext cx="936625" cy="10088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估值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融资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8" y="1836401"/>
            <a:ext cx="1949450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I/O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带宽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功耗低至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419CFA3E-0A90-B5CC-D463-A5802821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50" y="3267610"/>
            <a:ext cx="3081338" cy="3077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Intel Capital、Nvidia、AMD、GlobalFoundries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930962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899841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$1.55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量产之间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公司宣称已与匿名头部制造商开始设计导入阶段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2025 H2开始送样、2026年后见到搭载产品、2027年量产爬坡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系统级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方案，验证周期长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跨越控制/交换芯片、硅光芯片、封装热-机械协同等多个环节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5B80E58D-453E-F82F-6561-D8B2B87A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8" y="3379091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AMD Ventures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Samsung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916966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$2.5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-&gt;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设计导入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早期送样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Passage中介层先行、与 OSAT/代工/SerDes伙伴协同推进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25年夏供货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2026 L200 CPO芯粒计划面向客户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zh-CN" altLang="zh-CN" dirty="0">
                <a:latin typeface="+mn-lt"/>
                <a:cs typeface="+mn-ea"/>
                <a:sym typeface="+mn-lt"/>
              </a:rPr>
              <a:t>兼容 Broadcom CPO 生态，链条成熟</a:t>
            </a:r>
            <a:endParaRPr lang="en-US" altLang="zh-CN" dirty="0">
              <a:latin typeface="+mn-lt"/>
              <a:cs typeface="+mn-ea"/>
              <a:sym typeface="+mn-lt"/>
            </a:endParaRPr>
          </a:p>
          <a:p>
            <a:r>
              <a:rPr lang="zh-CN" altLang="zh-CN" dirty="0">
                <a:latin typeface="+mn-lt"/>
                <a:cs typeface="+mn-ea"/>
                <a:sym typeface="+mn-lt"/>
              </a:rPr>
              <a:t>封装层抽</a:t>
            </a:r>
            <a:r>
              <a:rPr lang="zh-CN" altLang="en-US" dirty="0">
                <a:latin typeface="+mn-lt"/>
                <a:cs typeface="+mn-ea"/>
                <a:sym typeface="+mn-lt"/>
              </a:rPr>
              <a:t>象</a:t>
            </a:r>
            <a:r>
              <a:rPr lang="zh-CN" altLang="zh-CN" dirty="0">
                <a:latin typeface="+mn-lt"/>
                <a:cs typeface="+mn-ea"/>
                <a:sym typeface="+mn-lt"/>
              </a:rPr>
              <a:t>成硬件，</a:t>
            </a:r>
            <a:r>
              <a:rPr lang="zh-CN" altLang="en-US" dirty="0">
                <a:latin typeface="+mn-lt"/>
                <a:cs typeface="+mn-ea"/>
                <a:sym typeface="+mn-lt"/>
              </a:rPr>
              <a:t>交付</a:t>
            </a:r>
            <a:r>
              <a:rPr lang="zh-CN" altLang="zh-CN" dirty="0">
                <a:latin typeface="+mn-lt"/>
                <a:cs typeface="+mn-ea"/>
                <a:sym typeface="+mn-lt"/>
              </a:rPr>
              <a:t>更可控</a:t>
            </a:r>
          </a:p>
          <a:p>
            <a:endParaRPr lang="en-US" altLang="zh-CN" dirty="0">
              <a:latin typeface="+mn-lt"/>
              <a:cs typeface="+mn-ea"/>
              <a:sym typeface="+mn-lt"/>
            </a:endParaRP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341B75F0-F07E-E3EF-11C6-EA414970A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438" y="3371204"/>
            <a:ext cx="3624263" cy="3079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产业资本：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Google Ventures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923330"/>
            <a:ext cx="2428875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D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轮，融资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亿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验证 → 设计导入阶段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71625" y="2388822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TeraPHY芯粒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</a:t>
            </a:r>
            <a:r>
              <a:rPr lang="zh-CN" altLang="zh-CN" dirty="0">
                <a:cs typeface="+mn-ea"/>
                <a:sym typeface="+mn-lt"/>
              </a:rPr>
              <a:t>cale</a:t>
            </a:r>
            <a:r>
              <a:rPr lang="en-US" altLang="zh-CN" dirty="0">
                <a:cs typeface="+mn-ea"/>
                <a:sym typeface="+mn-lt"/>
              </a:rPr>
              <a:t> U</a:t>
            </a:r>
            <a:r>
              <a:rPr lang="zh-CN" altLang="zh-CN" dirty="0">
                <a:cs typeface="+mn-ea"/>
                <a:sym typeface="+mn-lt"/>
              </a:rPr>
              <a:t>p光学</a:t>
            </a:r>
            <a:r>
              <a:rPr lang="zh-CN" altLang="zh-CN" u="sng" dirty="0">
                <a:cs typeface="+mn-ea"/>
                <a:sym typeface="+mn-lt"/>
              </a:rPr>
              <a:t>全栈</a:t>
            </a:r>
            <a:r>
              <a:rPr lang="zh-CN" altLang="en-US" dirty="0">
                <a:cs typeface="+mn-ea"/>
                <a:sym typeface="+mn-lt"/>
              </a:rPr>
              <a:t>供应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卡间：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交换机：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方案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连接层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光学硬件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系列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893021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839904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50" y="1812402"/>
            <a:ext cx="1627188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可采购的中介层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自有硅光芯片 + 模块级封装方案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核心初创对比：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AyarLabs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Celestial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348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3743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附录：博通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布局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D49AF-BC4A-7485-F051-DB8ECFF48339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>
            <a:off x="11636373" y="3199913"/>
            <a:ext cx="305690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sz="1400"/>
              <a:t>终端用户</a:t>
            </a:r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34908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交换机芯片晶圆</a:t>
            </a:r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900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电芯片晶圆</a:t>
            </a:r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1169549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硅光芯片晶圆</a:t>
            </a:r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5137245" y="2551265"/>
            <a:ext cx="148373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交换机芯片+CPO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7348396" y="2551264"/>
            <a:ext cx="197586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交换机芯片+CPO+Lens</a:t>
            </a:r>
            <a:endParaRPr sz="1400" dirty="0"/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10172602" y="2557743"/>
            <a:ext cx="1020470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CPO交换机</a:t>
            </a:r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635367" y="5189775"/>
            <a:ext cx="810476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 err="1"/>
              <a:t>光源芯片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837163" y="5181946"/>
            <a:ext cx="115031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ELS光源模块</a:t>
            </a:r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5140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/>
              <a:t>光缆</a:t>
            </a:r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设计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1657"/>
            <a:ext cx="50270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代工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5087926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集成封装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7400043" y="1401657"/>
            <a:ext cx="1323437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光学组件耦合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716068" y="1401657"/>
            <a:ext cx="91306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zh-CN" altLang="en-US" sz="1600" dirty="0"/>
              <a:t>成本拼装</a:t>
            </a:r>
            <a:endParaRPr sz="1600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24B5294-E9FE-7F35-4441-A572C7F94852}"/>
              </a:ext>
            </a:extLst>
          </p:cNvPr>
          <p:cNvSpPr/>
          <p:nvPr/>
        </p:nvSpPr>
        <p:spPr>
          <a:xfrm>
            <a:off x="12443250" y="1661501"/>
            <a:ext cx="3207820" cy="43639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驱动力，争夺制定权，打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NV</a:t>
            </a: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时间线，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TH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前几代的情况可以放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给具体的动作，从新闻和动向看出其站位，比如出货量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机构给博通的判断确保方向不错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marL="342900" indent="-342900" algn="ctr">
              <a:buAutoNum type="arabicPeriod"/>
            </a:pP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附录：产业和公司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7.58019215803000978582E+00&quot;&gt;&lt;m_msothmcolidx val=&quot;0&quot;/&gt;&lt;m_rgb r=&quot;00&quot; g=&quot;52&quot; b=&quot;D9&quot;/&gt;&lt;/elem&gt;&lt;elem m_fUsage=&quot;5.31441000000000163261E-01&quot;&gt;&lt;m_msothmcolidx val=&quot;0&quot;/&gt;&lt;m_rgb r=&quot;C1&quot; g=&quot;E1&quot; b=&quot;FE&quot;/&gt;&lt;/elem&gt;&lt;elem m_fUsage=&quot;3.87420489000000145552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qm0vI1V49ST3h9Q7pCw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vHWTMhowxUONXR_hekN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hRW1xOBkvVqwAAFnWNk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oPQvrzd9YC8KfbLMrdH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nxdmp91xG5TXX7.jsvt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5ILBKezJ1c7qvroj_Yl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oLUs26IP2FZ9q1xYdvR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oIlM.sW33F1_2stjYc8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JzYEC.Sl_fndokAHD3Z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MHR9LOnyO0qZ8BEE1f0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ydvwTDNnGhVswObjsFq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bP0TCfz8QT7cQyOnma6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MqL52dYY8TxLU9YY67Oi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doysm5N.Ur8DTLHFXbh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AyVTLvxVwnGtdPylDrH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F32_dXScAbrpEPSe0Hj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2CERrkVG7Wl8ybPDAFw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8241CGGGD9.0f6KL.QT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FPjfi5NcaF8vWC7hsE0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fHUlm.9WQpq9ykvzoU.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8xCH4SHkXboASQFVlmg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tqzIg.th3zx3aFscxkPx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MkQAPiPbGcAAa00k_mk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vKWQ5ZpYs2ctt35ii5m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1U1ObGI9q0uyMaXGxzL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5TAUPJ3yUSpYrKxt6S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8iD4zmtyNj2GQnDlLJ2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sJXSpmqrQfl061yP87g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Za8Zt0bzBflrHzWjrcn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I6FNYM6X9JV.Wj_RhQn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d8jiZ7OT6aX.XpE8b2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HUSbhpaB6BV.51sfOdY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BrwOo1YyavqqJ6S69y3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na7Po_JRBNLIuQ0RAU4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aD6GXfqgBUYavcONmlY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0PJ3JmXrU4otm.PS_lj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9CMaail2CuxSzJEuFQo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2a79jlIREynphsjV_L9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J.bfsjJFgJFBnosCXld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Ahexcul3x1.02a.Htsa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vNRFCnSsMFBtR2av2rX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ydANGGY0CYM8xJmlumc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27577</TotalTime>
  <Words>4690</Words>
  <Application>Microsoft Office PowerPoint</Application>
  <PresentationFormat>宽屏</PresentationFormat>
  <Paragraphs>933</Paragraphs>
  <Slides>25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-apple-system</vt:lpstr>
      <vt:lpstr>PingFang SC</vt:lpstr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大模型及IDC面临“通信不可能三角”：速率、距离、功耗</vt:lpstr>
      <vt:lpstr>互连技术变革，打破通信瓶颈：铜互连、可插拔光模块、CPO、OIO</vt:lpstr>
      <vt:lpstr>铜互连速率成为IDC算力释放瓶颈，光互连可突破铜互连速率上限</vt:lpstr>
      <vt:lpstr>PowerPoint 演示文稿</vt:lpstr>
      <vt:lpstr>PowerPoint 演示文稿</vt:lpstr>
      <vt:lpstr>光互连技术路径：可插拔仍为主流，巨头将商业落地 CPO，OIO初创处于技术验证期</vt:lpstr>
      <vt:lpstr>PowerPoint 演示文稿</vt:lpstr>
      <vt:lpstr>IDC互连按照距离可分为 Scale Up与 Scale Out</vt:lpstr>
      <vt:lpstr>国内光强电弱，海外电强光弱，CPO为补足短板的关键技术</vt:lpstr>
      <vt:lpstr>国内受限于GPU带宽限制，CPO优先落地于Scale Up</vt:lpstr>
      <vt:lpstr>海外巨头并行布局 Scale Out与 Scale Up，CPO落地1-2年内看Scale Out</vt:lpstr>
      <vt:lpstr>PowerPoint 演示文稿</vt:lpstr>
      <vt:lpstr>互连技术范式变革带来新的市场机会</vt:lpstr>
      <vt:lpstr>CPO关键模块：硅光芯片、电芯片、交换机芯片及封装</vt:lpstr>
      <vt:lpstr>产业链：光电信号中枢优先关注</vt:lpstr>
      <vt:lpstr>产业链：集成交付环节、光电信号中枢优先关注</vt:lpstr>
      <vt:lpstr>博通：率先全面布局CPO</vt:lpstr>
      <vt:lpstr>博通：押注以太网胜出，争夺网络规则制定权</vt:lpstr>
      <vt:lpstr>FiconTec：德国老牌光子装配测试龙头，中企收购卡位国产替代</vt:lpstr>
      <vt:lpstr>PowerPoint 演示文稿</vt:lpstr>
      <vt:lpstr>总结</vt:lpstr>
      <vt:lpstr>附录：博通CPO布局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2813</cp:revision>
  <dcterms:created xsi:type="dcterms:W3CDTF">2025-06-16T21:28:33Z</dcterms:created>
  <dcterms:modified xsi:type="dcterms:W3CDTF">2025-09-03T09:53:18Z</dcterms:modified>
</cp:coreProperties>
</file>