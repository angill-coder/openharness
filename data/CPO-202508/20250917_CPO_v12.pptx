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7.xml" ContentType="application/vnd.openxmlformats-officedocument.presentationml.notesSlide+xml"/>
  <Override PartName="/ppt/tags/tag63.xml" ContentType="application/vnd.openxmlformats-officedocument.presentationml.tags+xml"/>
  <Override PartName="/ppt/notesSlides/notesSlide8.xml" ContentType="application/vnd.openxmlformats-officedocument.presentationml.notesSlide+xml"/>
  <Override PartName="/ppt/tags/tag64.xml" ContentType="application/vnd.openxmlformats-officedocument.presentationml.tags+xml"/>
  <Override PartName="/ppt/notesSlides/notesSlide9.xml" ContentType="application/vnd.openxmlformats-officedocument.presentationml.notesSlide+xml"/>
  <Override PartName="/ppt/tags/tag65.xml" ContentType="application/vnd.openxmlformats-officedocument.presentationml.tags+xml"/>
  <Override PartName="/ppt/notesSlides/notesSlide10.xml" ContentType="application/vnd.openxmlformats-officedocument.presentationml.notesSlide+xml"/>
  <Override PartName="/ppt/tags/tag66.xml" ContentType="application/vnd.openxmlformats-officedocument.presentationml.tags+xml"/>
  <Override PartName="/ppt/notesSlides/notesSlide11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3.xml" ContentType="application/vnd.openxmlformats-officedocument.presentationml.notesSlide+xml"/>
  <Override PartName="/ppt/tags/tag113.xml" ContentType="application/vnd.openxmlformats-officedocument.presentationml.tags+xml"/>
  <Override PartName="/ppt/notesSlides/notesSlide14.xml" ContentType="application/vnd.openxmlformats-officedocument.presentationml.notesSlide+xml"/>
  <Override PartName="/ppt/tags/tag114.xml" ContentType="application/vnd.openxmlformats-officedocument.presentationml.tags+xml"/>
  <Override PartName="/ppt/notesSlides/notesSlide15.xml" ContentType="application/vnd.openxmlformats-officedocument.presentationml.notesSlide+xml"/>
  <Override PartName="/ppt/tags/tag115.xml" ContentType="application/vnd.openxmlformats-officedocument.presentationml.tags+xml"/>
  <Override PartName="/ppt/notesSlides/notesSlide16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7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5.xml" ContentType="application/vnd.openxmlformats-officedocument.drawingml.chart+xml"/>
  <Override PartName="/ppt/tags/tag180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21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210.xml" ContentType="application/vnd.openxmlformats-officedocument.presentationml.tags+xml"/>
  <Override PartName="/ppt/notesSlides/notesSlide23.xml" ContentType="application/vnd.openxmlformats-officedocument.presentationml.notesSlide+xml"/>
  <Override PartName="/ppt/tags/tag2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362" r:id="rId3"/>
    <p:sldId id="336" r:id="rId4"/>
    <p:sldId id="338" r:id="rId5"/>
    <p:sldId id="332" r:id="rId6"/>
    <p:sldId id="319" r:id="rId7"/>
    <p:sldId id="321" r:id="rId8"/>
    <p:sldId id="317" r:id="rId9"/>
    <p:sldId id="334" r:id="rId10"/>
    <p:sldId id="365" r:id="rId11"/>
    <p:sldId id="339" r:id="rId12"/>
    <p:sldId id="364" r:id="rId13"/>
    <p:sldId id="320" r:id="rId14"/>
    <p:sldId id="313" r:id="rId15"/>
    <p:sldId id="335" r:id="rId16"/>
    <p:sldId id="326" r:id="rId17"/>
    <p:sldId id="315" r:id="rId18"/>
    <p:sldId id="344" r:id="rId19"/>
    <p:sldId id="342" r:id="rId20"/>
    <p:sldId id="367" r:id="rId21"/>
    <p:sldId id="370" r:id="rId22"/>
    <p:sldId id="372" r:id="rId23"/>
    <p:sldId id="327" r:id="rId24"/>
    <p:sldId id="328" r:id="rId25"/>
    <p:sldId id="331" r:id="rId26"/>
    <p:sldId id="363" r:id="rId27"/>
    <p:sldId id="341" r:id="rId28"/>
    <p:sldId id="322" r:id="rId29"/>
    <p:sldId id="283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</p14:sldIdLst>
        </p14:section>
        <p14:section name="为什么看互连技术及路径变迁" id="{200816D2-54B9-45F9-8CDC-D4443BE7A066}">
          <p14:sldIdLst>
            <p14:sldId id="362"/>
            <p14:sldId id="336"/>
          </p14:sldIdLst>
        </p14:section>
        <p14:section name="铜=&gt;光，PO=&gt;CPO解决的问题" id="{9A5BC1CD-E46C-43F3-91AB-DCB40303C4FD}">
          <p14:sldIdLst>
            <p14:sldId id="338"/>
            <p14:sldId id="332"/>
            <p14:sldId id="319"/>
          </p14:sldIdLst>
        </p14:section>
        <p14:section name="光互连技术路径与CPO技术深入" id="{AC662842-13A9-4DD4-839E-4873B26B8162}">
          <p14:sldIdLst>
            <p14:sldId id="321"/>
            <p14:sldId id="317"/>
          </p14:sldIdLst>
        </p14:section>
        <p14:section name="互连CPO在两种互联范式落地的优先级与时点" id="{1A99B8B5-BE1D-46F2-B67F-83B8C3D9DB4A}">
          <p14:sldIdLst>
            <p14:sldId id="334"/>
            <p14:sldId id="365"/>
            <p14:sldId id="339"/>
            <p14:sldId id="364"/>
            <p14:sldId id="320"/>
          </p14:sldIdLst>
        </p14:section>
        <p14:section name="CPO互连市场规模及大的行业机会" id="{5A34DE6B-36BE-4840-9C61-5B0269E52512}">
          <p14:sldIdLst>
            <p14:sldId id="313"/>
            <p14:sldId id="335"/>
          </p14:sldIdLst>
        </p14:section>
        <p14:section name="CPO产业链关键环节" id="{8B027970-4C5E-4A21-ABEE-C3F2C08A42F2}">
          <p14:sldIdLst>
            <p14:sldId id="326"/>
            <p14:sldId id="315"/>
            <p14:sldId id="344"/>
          </p14:sldIdLst>
        </p14:section>
        <p14:section name="CPO关键玩家" id="{2FC5CD99-587C-4ED3-8213-2F2A4313F971}">
          <p14:sldIdLst>
            <p14:sldId id="342"/>
            <p14:sldId id="367"/>
            <p14:sldId id="370"/>
            <p14:sldId id="372"/>
            <p14:sldId id="327"/>
            <p14:sldId id="328"/>
          </p14:sldIdLst>
        </p14:section>
        <p14:section name="其他" id="{8B5E7F54-8D61-4CE1-89AB-837BCD335EC0}">
          <p14:sldIdLst>
            <p14:sldId id="331"/>
            <p14:sldId id="363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F2F2F2"/>
    <a:srgbClr val="C1E1FE"/>
    <a:srgbClr val="ECF6FF"/>
    <a:srgbClr val="9ABBFF"/>
    <a:srgbClr val="A6A6A6"/>
    <a:srgbClr val="9A9D9F"/>
    <a:srgbClr val="EBF1FF"/>
    <a:srgbClr val="DDE3F1"/>
    <a:srgbClr val="03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92207" autoAdjust="0"/>
  </p:normalViewPr>
  <p:slideViewPr>
    <p:cSldViewPr snapToGrid="0">
      <p:cViewPr varScale="1">
        <p:scale>
          <a:sx n="148" d="100"/>
          <a:sy n="148" d="100"/>
        </p:scale>
        <p:origin x="81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算力与传输速率!$M$2</c:f>
              <c:strCache>
                <c:ptCount val="1"/>
                <c:pt idx="0">
                  <c:v>每line速率（Gbps）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算力与传输速率!$L$3:$L$6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算力与传输速率!$M$3:$M$6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6B-426D-8E47-AA62801BC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181186613901992"/>
          <c:y val="0.88719030460072612"/>
          <c:w val="0.51716575965549116"/>
          <c:h val="7.3644547012699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8.5526315789473686E-2"/>
          <c:w val="0.88880733944954127"/>
          <c:h val="0.828947368421052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85F-48E6-B583-8D7ACAF5DEEF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5F-48E6-B583-8D7ACAF5D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23044000"/>
        <c:axId val="1"/>
      </c:barChart>
      <c:catAx>
        <c:axId val="9230440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3044000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11201392919326755"/>
          <c:w val="0.82752902155887231"/>
          <c:h val="0.775972141613464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4561810795124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717-4456-93CC-44C02D098426}"/>
                </c:ext>
              </c:extLst>
            </c:dLbl>
            <c:dLbl>
              <c:idx val="1"/>
              <c:layout>
                <c:manualLayout>
                  <c:x val="0"/>
                  <c:y val="-0.391758560650029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717-4456-93CC-44C02D0984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17-4456-93CC-44C02D09842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717-4456-93CC-44C02D098426}"/>
              </c:ext>
            </c:extLst>
          </c:dPt>
          <c:dLbls>
            <c:dLbl>
              <c:idx val="0"/>
              <c:layout>
                <c:manualLayout>
                  <c:x val="0"/>
                  <c:y val="9.86651189785258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717-4456-93CC-44C02D098426}"/>
                </c:ext>
              </c:extLst>
            </c:dLbl>
            <c:dLbl>
              <c:idx val="1"/>
              <c:layout>
                <c:manualLayout>
                  <c:x val="0"/>
                  <c:y val="-4.236796285548462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717-4456-93CC-44C02D0984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17-4456-93CC-44C02D098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706142320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717-4456-93CC-44C02D098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70614232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6142320"/>
        <c:crosses val="min"/>
        <c:crossBetween val="between"/>
        <c:majorUnit val="2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612903225806451"/>
          <c:y val="0.28991596638655465"/>
          <c:w val="0.64774193548387093"/>
          <c:h val="0.507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138655462184875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F6-4038-B9E1-808CAA2EC4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F6-4038-B9E1-808CAA2EC455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743697478991596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F6-4038-B9E1-808CAA2EC4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F6-4038-B9E1-808CAA2EC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48402416"/>
        <c:axId val="1"/>
      </c:barChart>
      <c:catAx>
        <c:axId val="16484024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484024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612903225806451"/>
          <c:y val="0.28991596638655465"/>
          <c:w val="0.64774193548387093"/>
          <c:h val="0.507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1008403361344538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35F-4690-A7DC-B6D3011694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0.51800000000000002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5F-4690-A7DC-B6D3011694C5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138655462184875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35F-4690-A7DC-B6D3011694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1.075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5F-4690-A7DC-B6D3011694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53844736"/>
        <c:axId val="1"/>
      </c:barChart>
      <c:catAx>
        <c:axId val="16538447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07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384473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28991596638655465"/>
          <c:w val="0.53978494623655915"/>
          <c:h val="0.507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1386554621848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8CC-4DBE-BDAB-E7482214F6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CC-4DBE-BDAB-E7482214F66D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55042016806722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8CC-4DBE-BDAB-E7482214F6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CC-4DBE-BDAB-E7482214F6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53840416"/>
        <c:axId val="1"/>
      </c:barChart>
      <c:catAx>
        <c:axId val="16538404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38404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978494623655913"/>
          <c:y val="0.28991596638655465"/>
          <c:w val="0.71971326164874549"/>
          <c:h val="0.507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39495798319327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8BA-4A03-BD6B-9855D1C6C4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BA-4A03-BD6B-9855D1C6C451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1386554621848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8BA-4A03-BD6B-9855D1C6C4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BA-4A03-BD6B-9855D1C6C4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53860576"/>
        <c:axId val="1"/>
      </c:barChart>
      <c:catAx>
        <c:axId val="16538605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38605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2746268656716418"/>
          <c:w val="0.53978494623655915"/>
          <c:h val="0.5333333333333333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58208955223880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16E-4C83-9FA0-AE117AEC0F09}"/>
                </c:ext>
              </c:extLst>
            </c:dLbl>
            <c:dLbl>
              <c:idx val="1"/>
              <c:layout>
                <c:manualLayout>
                  <c:x val="0"/>
                  <c:y val="-0.34925373134328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16E-4C83-9FA0-AE117AEC0F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6E-4C83-9FA0-AE117AEC0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48410096"/>
        <c:axId val="1"/>
      </c:barChart>
      <c:catAx>
        <c:axId val="1648410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484100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978494623655913"/>
          <c:y val="0.28991596638655465"/>
          <c:w val="0.71971326164874549"/>
          <c:h val="0.507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08193277310924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74F-4940-9273-3238BEB3F2E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4F-4940-9273-3238BEB3F2E5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1386554621848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74F-4940-9273-3238BEB3F2E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4F-4940-9273-3238BEB3F2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48492480"/>
        <c:axId val="1"/>
      </c:barChart>
      <c:catAx>
        <c:axId val="10484924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5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484924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612903225806451"/>
          <c:y val="0.28991596638655465"/>
          <c:w val="0.64774193548387093"/>
          <c:h val="0.507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964285714285714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F62-4656-AAED-2CE747FE4D8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62-4656-AAED-2CE747FE4D8E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138655462184875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F62-4656-AAED-2CE747FE4D8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F62-4656-AAED-2CE747FE4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808382048"/>
        <c:axId val="1"/>
      </c:barChart>
      <c:catAx>
        <c:axId val="8083820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083820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470616226504874E-2"/>
          <c:y val="7.9325935059597202E-2"/>
          <c:w val="0.86581013561741615"/>
          <c:h val="0.7891491985203452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430-497D-90EF-8B2CA6AB1FF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430-497D-90EF-8B2CA6AB1FFC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430-497D-90EF-8B2CA6AB1FFC}"/>
                </c:ext>
              </c:extLst>
            </c:dLbl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430-497D-90EF-8B2CA6AB1FF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430-497D-90EF-8B2CA6AB1FFC}"/>
            </c:ext>
          </c:extLst>
        </c:ser>
        <c:ser>
          <c:idx val="2"/>
          <c:order val="2"/>
          <c:spPr>
            <a:ln w="19050" cmpd="sng" algn="ctr">
              <a:solidFill>
                <a:schemeClr val="accent1"/>
              </a:solidFill>
              <a:prstDash val="dash"/>
            </a:ln>
          </c:spPr>
          <c:marker>
            <c:symbol val="none"/>
          </c:marker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Sheet1!$A$4:$C$4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27.500000000000004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430-497D-90EF-8B2CA6AB1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730609828300769E-2"/>
          <c:y val="0.1318622174381055"/>
          <c:w val="0.8099467140319716"/>
          <c:h val="0.73627556512378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36B-4E1A-88B8-6329369F1BAD}"/>
              </c:ext>
            </c:extLst>
          </c:dPt>
          <c:dPt>
            <c:idx val="1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36B-4E1A-88B8-6329369F1BA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36B-4E1A-88B8-6329369F1BAD}"/>
              </c:ext>
            </c:extLst>
          </c:dPt>
          <c:dLbls>
            <c:dLbl>
              <c:idx val="0"/>
              <c:layout>
                <c:manualLayout>
                  <c:x val="1.9538188277087035E-2"/>
                  <c:y val="-5.92034445640473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36B-4E1A-88B8-6329369F1BAD}"/>
                </c:ext>
              </c:extLst>
            </c:dLbl>
            <c:dLbl>
              <c:idx val="1"/>
              <c:layout>
                <c:manualLayout>
                  <c:x val="-1.6577856719952634E-2"/>
                  <c:y val="9.14962325080732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36B-4E1A-88B8-6329369F1BAD}"/>
                </c:ext>
              </c:extLst>
            </c:dLbl>
            <c:dLbl>
              <c:idx val="2"/>
              <c:layout>
                <c:manualLayout>
                  <c:x val="-1.0657193605683837E-2"/>
                  <c:y val="-3.928955866523143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36B-4E1A-88B8-6329369F1B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39.473684210526315</c:v>
                </c:pt>
                <c:pt idx="1">
                  <c:v>52.631578947368418</c:v>
                </c:pt>
                <c:pt idx="2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6B-4E1A-88B8-6329369F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3B-48EC-A058-CFBCC8342CDD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33B-48EC-A058-CFBCC8342CDD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C33B-48EC-A058-CFBCC8342CDD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33B-48EC-A058-CFBCC8342CDD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C33B-48EC-A058-CFBCC8342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7997680"/>
        <c:axId val="1"/>
      </c:scatterChart>
      <c:valAx>
        <c:axId val="917997680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7997680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106319693044783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营收（左）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净利润（左）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毛利率（右）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397209602633906"/>
          <c:y val="0.20277245578292413"/>
          <c:w val="0.26602790397366088"/>
          <c:h val="0.5944542790052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894-4237-A1BA-D01E1F074A1F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894-4237-A1BA-D01E1F074A1F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894-4237-A1BA-D01E1F074A1F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894-4237-A1BA-D01E1F074A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94-4237-A1BA-D01E1F074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99667344"/>
        <c:axId val="1"/>
      </c:barChart>
      <c:catAx>
        <c:axId val="2996673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9667344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E11-47A9-96E6-C62FB3411FA2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E11-47A9-96E6-C62FB3411F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11-47A9-96E6-C62FB3411FA2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E11-47A9-96E6-C62FB3411FA2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E11-47A9-96E6-C62FB3411FA2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E11-47A9-96E6-C62FB3411F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E11-47A9-96E6-C62FB3411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42364320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CE11-47A9-96E6-C62FB3411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04236432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42364320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光互连及</a:t>
            </a:r>
            <a:r>
              <a:rPr lang="en-US" altLang="zh-CN" dirty="0"/>
              <a:t>CPO</a:t>
            </a:r>
            <a:r>
              <a:rPr lang="zh-CN" altLang="en-US" dirty="0"/>
              <a:t>是什么、为什么重要？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及</a:t>
            </a:r>
            <a:r>
              <a:rPr lang="en-US" altLang="zh-CN" dirty="0"/>
              <a:t>OIO</a:t>
            </a:r>
            <a:r>
              <a:rPr lang="zh-CN" altLang="en-US" dirty="0"/>
              <a:t>市场怎么样，会有什么公司机会？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3de94ce7-dbfe-424f-a85c-fc2810785285.source.3.zh-Hans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为了解决互连难题，过去出现了四条技术路线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四种技术是并行的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为了支撑传输速率从</a:t>
            </a:r>
            <a:r>
              <a:rPr lang="en-US" altLang="zh-CN" dirty="0"/>
              <a:t>Gbps</a:t>
            </a:r>
            <a:r>
              <a:rPr lang="zh-CN" altLang="en-US" dirty="0"/>
              <a:t>到</a:t>
            </a:r>
            <a:r>
              <a:rPr lang="en-US" altLang="zh-CN" dirty="0" err="1"/>
              <a:t>Tbps</a:t>
            </a:r>
            <a:r>
              <a:rPr lang="zh-CN" altLang="en-US" dirty="0"/>
              <a:t>，每种技术不断发展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铜和可插拔光模块共存了很长一段时间，未来铜互联、可插拔光模块、</a:t>
            </a:r>
            <a:r>
              <a:rPr lang="en-US" altLang="zh-CN" dirty="0"/>
              <a:t>CPO</a:t>
            </a:r>
            <a:r>
              <a:rPr lang="zh-CN" altLang="en-US" dirty="0"/>
              <a:t>仍将共存一段时间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3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IDC</a:t>
            </a:r>
            <a:r>
              <a:rPr lang="zh-CN" altLang="en-US" dirty="0"/>
              <a:t>的迅猛扩张，算力、卡数增长带来三大互联难题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光互连大势所趋，开始详细讲光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宏观视角，光的三种技术路径的差异，以及当前所处阶段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差异：连接距离，速率上限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阶段：规模看市场成熟度，动向看商业化阶段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讲完光的宏观，进入微观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相比可插拔到底解决了什么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从图上看，拆分整合（光引擎、光源）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缩距降低功耗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拆分光源解决散热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：芯片中负责低速并行信号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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高速串行信号的模块，速率受限于芯片制程，影响互连带宽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是高速率的源头，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速率低则整体速率低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海外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从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56=&gt;112=&gt;224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2A03-0AE5-E8B6-B44E-2ED060F2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89D116-0090-7692-A808-11EAA5B80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00BBC0-5C0B-D40A-32B6-9FC660E20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7399D-03AA-ACD3-94CB-C584E9D9E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971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范式迁移下存在着变与不变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不变：三层对应关系不变，周边硬件等低附加值、接口芯片层、封装层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变：迁移过程中，新玩家涌入，投资关注点迁移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06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For</a:t>
            </a:r>
            <a:r>
              <a:rPr lang="zh-CN" altLang="en-US" dirty="0"/>
              <a:t>简单理解</a:t>
            </a:r>
            <a:r>
              <a:rPr lang="en-US" altLang="zh-CN" dirty="0"/>
              <a:t>CPO</a:t>
            </a:r>
            <a:r>
              <a:rPr lang="zh-CN" altLang="en-US" dirty="0"/>
              <a:t>关键环节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用跨语言通话理解：当我和一个说韩语的人打电话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光纤：电话线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激光器：喇叭。这俩没那么重要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硅光：翻译官，光电互译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电光：声音润色，让声音更大，听得更清楚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交换机：末端首脑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占比较大、规模较大、毛利较高，电相关芯片，</a:t>
            </a:r>
            <a:r>
              <a:rPr lang="en-US" altLang="zh-CN" dirty="0"/>
              <a:t>EIC</a:t>
            </a:r>
            <a:r>
              <a:rPr lang="zh-CN" altLang="en-US" dirty="0"/>
              <a:t>、</a:t>
            </a:r>
            <a:r>
              <a:rPr lang="en-US" altLang="zh-CN" dirty="0"/>
              <a:t>Switch ASIC</a:t>
            </a:r>
            <a:r>
              <a:rPr lang="zh-CN" altLang="en-US" dirty="0"/>
              <a:t>，但增速低，偏向于低价渗透</a:t>
            </a:r>
            <a:r>
              <a:rPr lang="en-US" altLang="zh-CN" dirty="0"/>
              <a:t>=&gt;</a:t>
            </a:r>
            <a:r>
              <a:rPr lang="zh-CN" altLang="en-US" dirty="0"/>
              <a:t>起量逻辑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8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chart" Target="../charts/chart1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image" Target="../media/image7.emf"/><Relationship Id="rId2" Type="http://schemas.openxmlformats.org/officeDocument/2006/relationships/tags" Target="../tags/tag6.xml"/><Relationship Id="rId16" Type="http://schemas.openxmlformats.org/officeDocument/2006/relationships/oleObject" Target="../embeddings/oleObject4.bin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4.xml"/><Relationship Id="rId19" Type="http://schemas.openxmlformats.org/officeDocument/2006/relationships/chart" Target="../charts/chart2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20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10" Type="http://schemas.openxmlformats.org/officeDocument/2006/relationships/chart" Target="../charts/chart3.xml"/><Relationship Id="rId4" Type="http://schemas.openxmlformats.org/officeDocument/2006/relationships/tags" Target="../tags/tag21.xml"/><Relationship Id="rId9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chart" Target="../charts/chart5.xml"/><Relationship Id="rId21" Type="http://schemas.openxmlformats.org/officeDocument/2006/relationships/tags" Target="../tags/tag43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chart" Target="../charts/chart4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image" Target="../media/image7.emf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oleObject" Target="../embeddings/oleObject6.bin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notesSlide" Target="../notesSlides/notesSlide6.xml"/><Relationship Id="rId8" Type="http://schemas.openxmlformats.org/officeDocument/2006/relationships/tags" Target="../tags/tag30.xml"/><Relationship Id="rId3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tags" Target="../tags/tag58.xml"/><Relationship Id="rId21" Type="http://schemas.openxmlformats.org/officeDocument/2006/relationships/image" Target="../media/image18.png"/><Relationship Id="rId7" Type="http://schemas.openxmlformats.org/officeDocument/2006/relationships/tags" Target="../tags/tag62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tags" Target="../tags/tag57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8.emf"/><Relationship Id="rId5" Type="http://schemas.openxmlformats.org/officeDocument/2006/relationships/tags" Target="../tags/tag60.xml"/><Relationship Id="rId15" Type="http://schemas.openxmlformats.org/officeDocument/2006/relationships/image" Target="../media/image12.png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png"/><Relationship Id="rId4" Type="http://schemas.openxmlformats.org/officeDocument/2006/relationships/tags" Target="../tags/tag59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9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7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9.bin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7.emf"/><Relationship Id="rId10" Type="http://schemas.openxmlformats.org/officeDocument/2006/relationships/image" Target="../media/image27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26" Type="http://schemas.openxmlformats.org/officeDocument/2006/relationships/tags" Target="../tags/tag92.xml"/><Relationship Id="rId39" Type="http://schemas.openxmlformats.org/officeDocument/2006/relationships/tags" Target="../tags/tag105.xml"/><Relationship Id="rId21" Type="http://schemas.openxmlformats.org/officeDocument/2006/relationships/tags" Target="../tags/tag87.xml"/><Relationship Id="rId34" Type="http://schemas.openxmlformats.org/officeDocument/2006/relationships/tags" Target="../tags/tag100.xml"/><Relationship Id="rId42" Type="http://schemas.openxmlformats.org/officeDocument/2006/relationships/tags" Target="../tags/tag108.xml"/><Relationship Id="rId47" Type="http://schemas.openxmlformats.org/officeDocument/2006/relationships/oleObject" Target="../embeddings/oleObject12.bin"/><Relationship Id="rId50" Type="http://schemas.openxmlformats.org/officeDocument/2006/relationships/chart" Target="../charts/chart7.xml"/><Relationship Id="rId55" Type="http://schemas.openxmlformats.org/officeDocument/2006/relationships/chart" Target="../charts/chart11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29" Type="http://schemas.openxmlformats.org/officeDocument/2006/relationships/tags" Target="../tags/tag95.xml"/><Relationship Id="rId11" Type="http://schemas.openxmlformats.org/officeDocument/2006/relationships/tags" Target="../tags/tag77.xml"/><Relationship Id="rId24" Type="http://schemas.openxmlformats.org/officeDocument/2006/relationships/tags" Target="../tags/tag90.xml"/><Relationship Id="rId32" Type="http://schemas.openxmlformats.org/officeDocument/2006/relationships/tags" Target="../tags/tag98.xml"/><Relationship Id="rId37" Type="http://schemas.openxmlformats.org/officeDocument/2006/relationships/tags" Target="../tags/tag103.xml"/><Relationship Id="rId40" Type="http://schemas.openxmlformats.org/officeDocument/2006/relationships/tags" Target="../tags/tag106.xml"/><Relationship Id="rId45" Type="http://schemas.openxmlformats.org/officeDocument/2006/relationships/slideLayout" Target="../slideLayouts/slideLayout2.xml"/><Relationship Id="rId53" Type="http://schemas.openxmlformats.org/officeDocument/2006/relationships/chart" Target="../charts/chart9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19" Type="http://schemas.openxmlformats.org/officeDocument/2006/relationships/tags" Target="../tags/tag85.xml"/><Relationship Id="rId31" Type="http://schemas.openxmlformats.org/officeDocument/2006/relationships/tags" Target="../tags/tag97.xml"/><Relationship Id="rId44" Type="http://schemas.openxmlformats.org/officeDocument/2006/relationships/tags" Target="../tags/tag110.xml"/><Relationship Id="rId52" Type="http://schemas.openxmlformats.org/officeDocument/2006/relationships/chart" Target="../charts/chart8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Relationship Id="rId22" Type="http://schemas.openxmlformats.org/officeDocument/2006/relationships/tags" Target="../tags/tag88.xml"/><Relationship Id="rId27" Type="http://schemas.openxmlformats.org/officeDocument/2006/relationships/tags" Target="../tags/tag93.xml"/><Relationship Id="rId30" Type="http://schemas.openxmlformats.org/officeDocument/2006/relationships/tags" Target="../tags/tag96.xml"/><Relationship Id="rId35" Type="http://schemas.openxmlformats.org/officeDocument/2006/relationships/tags" Target="../tags/tag101.xml"/><Relationship Id="rId43" Type="http://schemas.openxmlformats.org/officeDocument/2006/relationships/tags" Target="../tags/tag109.xml"/><Relationship Id="rId48" Type="http://schemas.openxmlformats.org/officeDocument/2006/relationships/image" Target="../media/image7.emf"/><Relationship Id="rId56" Type="http://schemas.openxmlformats.org/officeDocument/2006/relationships/chart" Target="../charts/chart12.xml"/><Relationship Id="rId8" Type="http://schemas.openxmlformats.org/officeDocument/2006/relationships/tags" Target="../tags/tag74.xml"/><Relationship Id="rId51" Type="http://schemas.openxmlformats.org/officeDocument/2006/relationships/image" Target="../media/image30.png"/><Relationship Id="rId3" Type="http://schemas.openxmlformats.org/officeDocument/2006/relationships/tags" Target="../tags/tag69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25" Type="http://schemas.openxmlformats.org/officeDocument/2006/relationships/tags" Target="../tags/tag91.xml"/><Relationship Id="rId33" Type="http://schemas.openxmlformats.org/officeDocument/2006/relationships/tags" Target="../tags/tag99.xml"/><Relationship Id="rId38" Type="http://schemas.openxmlformats.org/officeDocument/2006/relationships/tags" Target="../tags/tag104.xml"/><Relationship Id="rId46" Type="http://schemas.openxmlformats.org/officeDocument/2006/relationships/notesSlide" Target="../notesSlides/notesSlide12.xml"/><Relationship Id="rId20" Type="http://schemas.openxmlformats.org/officeDocument/2006/relationships/tags" Target="../tags/tag86.xml"/><Relationship Id="rId41" Type="http://schemas.openxmlformats.org/officeDocument/2006/relationships/tags" Target="../tags/tag107.xml"/><Relationship Id="rId54" Type="http://schemas.openxmlformats.org/officeDocument/2006/relationships/chart" Target="../charts/chart10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5" Type="http://schemas.openxmlformats.org/officeDocument/2006/relationships/tags" Target="../tags/tag81.xml"/><Relationship Id="rId23" Type="http://schemas.openxmlformats.org/officeDocument/2006/relationships/tags" Target="../tags/tag89.xml"/><Relationship Id="rId28" Type="http://schemas.openxmlformats.org/officeDocument/2006/relationships/tags" Target="../tags/tag94.xml"/><Relationship Id="rId36" Type="http://schemas.openxmlformats.org/officeDocument/2006/relationships/tags" Target="../tags/tag102.xml"/><Relationship Id="rId49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31.png"/><Relationship Id="rId12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6" Type="http://schemas.openxmlformats.org/officeDocument/2006/relationships/image" Target="../media/image13.png"/><Relationship Id="rId11" Type="http://schemas.openxmlformats.org/officeDocument/2006/relationships/image" Target="../media/image35.png"/><Relationship Id="rId5" Type="http://schemas.openxmlformats.org/officeDocument/2006/relationships/image" Target="../media/image12.png"/><Relationship Id="rId15" Type="http://schemas.openxmlformats.org/officeDocument/2006/relationships/image" Target="../media/image39.png"/><Relationship Id="rId10" Type="http://schemas.openxmlformats.org/officeDocument/2006/relationships/image" Target="../media/image34.jpeg"/><Relationship Id="rId4" Type="http://schemas.openxmlformats.org/officeDocument/2006/relationships/image" Target="../media/image7.emf"/><Relationship Id="rId9" Type="http://schemas.openxmlformats.org/officeDocument/2006/relationships/image" Target="../media/image33.png"/><Relationship Id="rId1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1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6" Type="http://schemas.openxmlformats.org/officeDocument/2006/relationships/image" Target="../media/image4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4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15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Relationship Id="rId6" Type="http://schemas.openxmlformats.org/officeDocument/2006/relationships/image" Target="../media/image44.png"/><Relationship Id="rId11" Type="http://schemas.microsoft.com/office/2007/relationships/hdphoto" Target="../media/hdphoto5.wdp"/><Relationship Id="rId5" Type="http://schemas.openxmlformats.org/officeDocument/2006/relationships/image" Target="../media/image7.emf"/><Relationship Id="rId10" Type="http://schemas.openxmlformats.org/officeDocument/2006/relationships/image" Target="../media/image47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4.png"/><Relationship Id="rId12" Type="http://schemas.microsoft.com/office/2007/relationships/hdphoto" Target="../media/hdphoto6.wdp"/><Relationship Id="rId17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png"/><Relationship Id="rId20" Type="http://schemas.openxmlformats.org/officeDocument/2006/relationships/image" Target="../media/image57.png"/><Relationship Id="rId1" Type="http://schemas.openxmlformats.org/officeDocument/2006/relationships/tags" Target="../tags/tag115.xml"/><Relationship Id="rId6" Type="http://schemas.openxmlformats.org/officeDocument/2006/relationships/image" Target="../media/image48.jpeg"/><Relationship Id="rId11" Type="http://schemas.openxmlformats.org/officeDocument/2006/relationships/image" Target="../media/image51.png"/><Relationship Id="rId5" Type="http://schemas.openxmlformats.org/officeDocument/2006/relationships/image" Target="../media/image7.emf"/><Relationship Id="rId15" Type="http://schemas.openxmlformats.org/officeDocument/2006/relationships/image" Target="../media/image53.png"/><Relationship Id="rId10" Type="http://schemas.openxmlformats.org/officeDocument/2006/relationships/image" Target="../media/image10.png"/><Relationship Id="rId19" Type="http://schemas.microsoft.com/office/2007/relationships/hdphoto" Target="../media/hdphoto8.wdp"/><Relationship Id="rId4" Type="http://schemas.openxmlformats.org/officeDocument/2006/relationships/oleObject" Target="../embeddings/oleObject17.bin"/><Relationship Id="rId9" Type="http://schemas.openxmlformats.org/officeDocument/2006/relationships/image" Target="../media/image50.png"/><Relationship Id="rId14" Type="http://schemas.microsoft.com/office/2007/relationships/hdphoto" Target="../media/hdphoto7.wdp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21" Type="http://schemas.openxmlformats.org/officeDocument/2006/relationships/image" Target="../media/image62.png"/><Relationship Id="rId42" Type="http://schemas.microsoft.com/office/2007/relationships/hdphoto" Target="../media/hdphoto19.wdp"/><Relationship Id="rId47" Type="http://schemas.openxmlformats.org/officeDocument/2006/relationships/image" Target="../media/image79.png"/><Relationship Id="rId63" Type="http://schemas.microsoft.com/office/2007/relationships/hdphoto" Target="../media/hdphoto27.wdp"/><Relationship Id="rId68" Type="http://schemas.microsoft.com/office/2007/relationships/hdphoto" Target="../media/hdphoto29.wdp"/><Relationship Id="rId84" Type="http://schemas.openxmlformats.org/officeDocument/2006/relationships/image" Target="../media/image99.png"/><Relationship Id="rId89" Type="http://schemas.microsoft.com/office/2007/relationships/hdphoto" Target="../media/hdphoto38.wdp"/><Relationship Id="rId16" Type="http://schemas.microsoft.com/office/2007/relationships/hdphoto" Target="../media/hdphoto10.wdp"/><Relationship Id="rId11" Type="http://schemas.microsoft.com/office/2007/relationships/hdphoto" Target="../media/hdphoto7.wdp"/><Relationship Id="rId32" Type="http://schemas.microsoft.com/office/2007/relationships/hdphoto" Target="../media/hdphoto15.wdp"/><Relationship Id="rId37" Type="http://schemas.openxmlformats.org/officeDocument/2006/relationships/image" Target="../media/image73.png"/><Relationship Id="rId53" Type="http://schemas.microsoft.com/office/2007/relationships/hdphoto" Target="../media/hdphoto22.wdp"/><Relationship Id="rId58" Type="http://schemas.openxmlformats.org/officeDocument/2006/relationships/image" Target="../media/image85.png"/><Relationship Id="rId74" Type="http://schemas.microsoft.com/office/2007/relationships/hdphoto" Target="../media/hdphoto32.wdp"/><Relationship Id="rId79" Type="http://schemas.openxmlformats.org/officeDocument/2006/relationships/image" Target="../media/image96.png"/><Relationship Id="rId5" Type="http://schemas.openxmlformats.org/officeDocument/2006/relationships/image" Target="../media/image56.png"/><Relationship Id="rId90" Type="http://schemas.openxmlformats.org/officeDocument/2006/relationships/image" Target="../media/image102.png"/><Relationship Id="rId14" Type="http://schemas.openxmlformats.org/officeDocument/2006/relationships/image" Target="../media/image16.png"/><Relationship Id="rId22" Type="http://schemas.microsoft.com/office/2007/relationships/hdphoto" Target="../media/hdphoto12.wdp"/><Relationship Id="rId27" Type="http://schemas.openxmlformats.org/officeDocument/2006/relationships/image" Target="../media/image66.png"/><Relationship Id="rId30" Type="http://schemas.microsoft.com/office/2007/relationships/hdphoto" Target="../media/hdphoto14.wdp"/><Relationship Id="rId35" Type="http://schemas.microsoft.com/office/2007/relationships/hdphoto" Target="../media/hdphoto16.wdp"/><Relationship Id="rId43" Type="http://schemas.openxmlformats.org/officeDocument/2006/relationships/image" Target="../media/image76.png"/><Relationship Id="rId48" Type="http://schemas.microsoft.com/office/2007/relationships/hdphoto" Target="../media/hdphoto20.wdp"/><Relationship Id="rId56" Type="http://schemas.openxmlformats.org/officeDocument/2006/relationships/image" Target="../media/image84.png"/><Relationship Id="rId64" Type="http://schemas.openxmlformats.org/officeDocument/2006/relationships/image" Target="../media/image88.png"/><Relationship Id="rId69" Type="http://schemas.openxmlformats.org/officeDocument/2006/relationships/image" Target="../media/image91.png"/><Relationship Id="rId77" Type="http://schemas.openxmlformats.org/officeDocument/2006/relationships/image" Target="../media/image49.png"/><Relationship Id="rId8" Type="http://schemas.openxmlformats.org/officeDocument/2006/relationships/image" Target="../media/image51.png"/><Relationship Id="rId51" Type="http://schemas.microsoft.com/office/2007/relationships/hdphoto" Target="../media/hdphoto21.wdp"/><Relationship Id="rId72" Type="http://schemas.microsoft.com/office/2007/relationships/hdphoto" Target="../media/hdphoto31.wdp"/><Relationship Id="rId80" Type="http://schemas.openxmlformats.org/officeDocument/2006/relationships/image" Target="../media/image97.png"/><Relationship Id="rId85" Type="http://schemas.microsoft.com/office/2007/relationships/hdphoto" Target="../media/hdphoto36.wdp"/><Relationship Id="rId3" Type="http://schemas.openxmlformats.org/officeDocument/2006/relationships/oleObject" Target="../embeddings/oleObject18.bin"/><Relationship Id="rId12" Type="http://schemas.openxmlformats.org/officeDocument/2006/relationships/image" Target="../media/image58.png"/><Relationship Id="rId17" Type="http://schemas.openxmlformats.org/officeDocument/2006/relationships/image" Target="../media/image60.png"/><Relationship Id="rId25" Type="http://schemas.openxmlformats.org/officeDocument/2006/relationships/image" Target="../media/image64.png"/><Relationship Id="rId33" Type="http://schemas.openxmlformats.org/officeDocument/2006/relationships/image" Target="../media/image70.png"/><Relationship Id="rId38" Type="http://schemas.microsoft.com/office/2007/relationships/hdphoto" Target="../media/hdphoto17.wdp"/><Relationship Id="rId46" Type="http://schemas.openxmlformats.org/officeDocument/2006/relationships/image" Target="../media/image53.png"/><Relationship Id="rId59" Type="http://schemas.microsoft.com/office/2007/relationships/hdphoto" Target="../media/hdphoto25.wdp"/><Relationship Id="rId67" Type="http://schemas.openxmlformats.org/officeDocument/2006/relationships/image" Target="../media/image90.png"/><Relationship Id="rId20" Type="http://schemas.openxmlformats.org/officeDocument/2006/relationships/image" Target="../media/image14.png"/><Relationship Id="rId41" Type="http://schemas.openxmlformats.org/officeDocument/2006/relationships/image" Target="../media/image75.png"/><Relationship Id="rId54" Type="http://schemas.openxmlformats.org/officeDocument/2006/relationships/image" Target="../media/image83.png"/><Relationship Id="rId62" Type="http://schemas.openxmlformats.org/officeDocument/2006/relationships/image" Target="../media/image87.png"/><Relationship Id="rId70" Type="http://schemas.microsoft.com/office/2007/relationships/hdphoto" Target="../media/hdphoto30.wdp"/><Relationship Id="rId75" Type="http://schemas.openxmlformats.org/officeDocument/2006/relationships/image" Target="../media/image94.png"/><Relationship Id="rId83" Type="http://schemas.microsoft.com/office/2007/relationships/hdphoto" Target="../media/hdphoto35.wdp"/><Relationship Id="rId88" Type="http://schemas.openxmlformats.org/officeDocument/2006/relationships/image" Target="../media/image101.png"/><Relationship Id="rId1" Type="http://schemas.openxmlformats.org/officeDocument/2006/relationships/tags" Target="../tags/tag116.xml"/><Relationship Id="rId6" Type="http://schemas.microsoft.com/office/2007/relationships/hdphoto" Target="../media/hdphoto8.wdp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28" Type="http://schemas.openxmlformats.org/officeDocument/2006/relationships/image" Target="../media/image67.png"/><Relationship Id="rId36" Type="http://schemas.openxmlformats.org/officeDocument/2006/relationships/image" Target="../media/image72.png"/><Relationship Id="rId49" Type="http://schemas.openxmlformats.org/officeDocument/2006/relationships/image" Target="../media/image80.png"/><Relationship Id="rId57" Type="http://schemas.microsoft.com/office/2007/relationships/hdphoto" Target="../media/hdphoto24.wdp"/><Relationship Id="rId10" Type="http://schemas.openxmlformats.org/officeDocument/2006/relationships/image" Target="../media/image52.png"/><Relationship Id="rId31" Type="http://schemas.openxmlformats.org/officeDocument/2006/relationships/image" Target="../media/image69.png"/><Relationship Id="rId44" Type="http://schemas.openxmlformats.org/officeDocument/2006/relationships/image" Target="../media/image77.png"/><Relationship Id="rId52" Type="http://schemas.openxmlformats.org/officeDocument/2006/relationships/image" Target="../media/image82.png"/><Relationship Id="rId60" Type="http://schemas.openxmlformats.org/officeDocument/2006/relationships/image" Target="../media/image86.png"/><Relationship Id="rId65" Type="http://schemas.openxmlformats.org/officeDocument/2006/relationships/image" Target="../media/image89.png"/><Relationship Id="rId73" Type="http://schemas.openxmlformats.org/officeDocument/2006/relationships/image" Target="../media/image93.png"/><Relationship Id="rId78" Type="http://schemas.openxmlformats.org/officeDocument/2006/relationships/image" Target="../media/image95.png"/><Relationship Id="rId81" Type="http://schemas.microsoft.com/office/2007/relationships/hdphoto" Target="../media/hdphoto34.wdp"/><Relationship Id="rId86" Type="http://schemas.openxmlformats.org/officeDocument/2006/relationships/image" Target="../media/image100.png"/><Relationship Id="rId4" Type="http://schemas.openxmlformats.org/officeDocument/2006/relationships/image" Target="../media/image7.emf"/><Relationship Id="rId9" Type="http://schemas.microsoft.com/office/2007/relationships/hdphoto" Target="../media/hdphoto6.wdp"/><Relationship Id="rId13" Type="http://schemas.microsoft.com/office/2007/relationships/hdphoto" Target="../media/hdphoto9.wdp"/><Relationship Id="rId18" Type="http://schemas.microsoft.com/office/2007/relationships/hdphoto" Target="../media/hdphoto11.wdp"/><Relationship Id="rId39" Type="http://schemas.openxmlformats.org/officeDocument/2006/relationships/image" Target="../media/image74.png"/><Relationship Id="rId34" Type="http://schemas.openxmlformats.org/officeDocument/2006/relationships/image" Target="../media/image71.png"/><Relationship Id="rId50" Type="http://schemas.openxmlformats.org/officeDocument/2006/relationships/image" Target="../media/image81.png"/><Relationship Id="rId55" Type="http://schemas.microsoft.com/office/2007/relationships/hdphoto" Target="../media/hdphoto23.wdp"/><Relationship Id="rId76" Type="http://schemas.microsoft.com/office/2007/relationships/hdphoto" Target="../media/hdphoto33.wdp"/><Relationship Id="rId7" Type="http://schemas.openxmlformats.org/officeDocument/2006/relationships/image" Target="../media/image48.jpeg"/><Relationship Id="rId71" Type="http://schemas.openxmlformats.org/officeDocument/2006/relationships/image" Target="../media/image92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8.png"/><Relationship Id="rId24" Type="http://schemas.microsoft.com/office/2007/relationships/hdphoto" Target="../media/hdphoto13.wdp"/><Relationship Id="rId40" Type="http://schemas.microsoft.com/office/2007/relationships/hdphoto" Target="../media/hdphoto18.wdp"/><Relationship Id="rId45" Type="http://schemas.openxmlformats.org/officeDocument/2006/relationships/image" Target="../media/image78.png"/><Relationship Id="rId66" Type="http://schemas.microsoft.com/office/2007/relationships/hdphoto" Target="../media/hdphoto28.wdp"/><Relationship Id="rId87" Type="http://schemas.microsoft.com/office/2007/relationships/hdphoto" Target="../media/hdphoto37.wdp"/><Relationship Id="rId61" Type="http://schemas.microsoft.com/office/2007/relationships/hdphoto" Target="../media/hdphoto26.wdp"/><Relationship Id="rId82" Type="http://schemas.openxmlformats.org/officeDocument/2006/relationships/image" Target="../media/image98.png"/><Relationship Id="rId19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Relationship Id="rId6" Type="http://schemas.openxmlformats.org/officeDocument/2006/relationships/image" Target="../media/image14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1.png"/><Relationship Id="rId18" Type="http://schemas.openxmlformats.org/officeDocument/2006/relationships/image" Target="../media/image104.png"/><Relationship Id="rId26" Type="http://schemas.openxmlformats.org/officeDocument/2006/relationships/image" Target="../media/image84.png"/><Relationship Id="rId3" Type="http://schemas.openxmlformats.org/officeDocument/2006/relationships/tags" Target="../tags/tag120.xml"/><Relationship Id="rId21" Type="http://schemas.microsoft.com/office/2007/relationships/hdphoto" Target="../media/hdphoto40.wdp"/><Relationship Id="rId7" Type="http://schemas.openxmlformats.org/officeDocument/2006/relationships/image" Target="../media/image53.png"/><Relationship Id="rId12" Type="http://schemas.openxmlformats.org/officeDocument/2006/relationships/image" Target="../media/image61.png"/><Relationship Id="rId17" Type="http://schemas.openxmlformats.org/officeDocument/2006/relationships/image" Target="../media/image80.png"/><Relationship Id="rId25" Type="http://schemas.openxmlformats.org/officeDocument/2006/relationships/image" Target="../media/image106.png"/><Relationship Id="rId2" Type="http://schemas.openxmlformats.org/officeDocument/2006/relationships/tags" Target="../tags/tag119.xml"/><Relationship Id="rId16" Type="http://schemas.microsoft.com/office/2007/relationships/hdphoto" Target="../media/hdphoto22.wdp"/><Relationship Id="rId20" Type="http://schemas.openxmlformats.org/officeDocument/2006/relationships/image" Target="../media/image105.png"/><Relationship Id="rId1" Type="http://schemas.openxmlformats.org/officeDocument/2006/relationships/tags" Target="../tags/tag118.xml"/><Relationship Id="rId6" Type="http://schemas.openxmlformats.org/officeDocument/2006/relationships/image" Target="../media/image8.emf"/><Relationship Id="rId11" Type="http://schemas.openxmlformats.org/officeDocument/2006/relationships/image" Target="../media/image14.png"/><Relationship Id="rId24" Type="http://schemas.openxmlformats.org/officeDocument/2006/relationships/image" Target="../media/image76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82.png"/><Relationship Id="rId23" Type="http://schemas.microsoft.com/office/2007/relationships/hdphoto" Target="../media/hdphoto35.wdp"/><Relationship Id="rId10" Type="http://schemas.openxmlformats.org/officeDocument/2006/relationships/image" Target="../media/image95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03.png"/><Relationship Id="rId14" Type="http://schemas.microsoft.com/office/2007/relationships/hdphoto" Target="../media/hdphoto21.wdp"/><Relationship Id="rId22" Type="http://schemas.openxmlformats.org/officeDocument/2006/relationships/image" Target="../media/image98.png"/><Relationship Id="rId27" Type="http://schemas.microsoft.com/office/2007/relationships/hdphoto" Target="../media/hdphoto24.wd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chart" Target="../charts/chart1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image" Target="../media/image8.emf"/><Relationship Id="rId2" Type="http://schemas.openxmlformats.org/officeDocument/2006/relationships/tags" Target="../tags/tag122.xml"/><Relationship Id="rId16" Type="http://schemas.openxmlformats.org/officeDocument/2006/relationships/oleObject" Target="../embeddings/oleObject21.bin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notesSlide" Target="../notesSlides/notesSlide18.xml"/><Relationship Id="rId10" Type="http://schemas.openxmlformats.org/officeDocument/2006/relationships/tags" Target="../tags/tag130.xml"/><Relationship Id="rId19" Type="http://schemas.openxmlformats.org/officeDocument/2006/relationships/chart" Target="../charts/chart14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146.xml"/><Relationship Id="rId18" Type="http://schemas.openxmlformats.org/officeDocument/2006/relationships/tags" Target="../tags/tag151.xml"/><Relationship Id="rId26" Type="http://schemas.openxmlformats.org/officeDocument/2006/relationships/tags" Target="../tags/tag159.xml"/><Relationship Id="rId39" Type="http://schemas.openxmlformats.org/officeDocument/2006/relationships/tags" Target="../tags/tag172.xml"/><Relationship Id="rId21" Type="http://schemas.openxmlformats.org/officeDocument/2006/relationships/tags" Target="../tags/tag154.xml"/><Relationship Id="rId34" Type="http://schemas.openxmlformats.org/officeDocument/2006/relationships/tags" Target="../tags/tag167.xml"/><Relationship Id="rId42" Type="http://schemas.openxmlformats.org/officeDocument/2006/relationships/tags" Target="../tags/tag175.xml"/><Relationship Id="rId47" Type="http://schemas.openxmlformats.org/officeDocument/2006/relationships/slideLayout" Target="../slideLayouts/slideLayout2.xml"/><Relationship Id="rId50" Type="http://schemas.openxmlformats.org/officeDocument/2006/relationships/image" Target="../media/image8.emf"/><Relationship Id="rId7" Type="http://schemas.openxmlformats.org/officeDocument/2006/relationships/tags" Target="../tags/tag140.xml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9" Type="http://schemas.openxmlformats.org/officeDocument/2006/relationships/tags" Target="../tags/tag162.xml"/><Relationship Id="rId11" Type="http://schemas.openxmlformats.org/officeDocument/2006/relationships/tags" Target="../tags/tag144.xml"/><Relationship Id="rId24" Type="http://schemas.openxmlformats.org/officeDocument/2006/relationships/tags" Target="../tags/tag157.xml"/><Relationship Id="rId32" Type="http://schemas.openxmlformats.org/officeDocument/2006/relationships/tags" Target="../tags/tag165.xml"/><Relationship Id="rId37" Type="http://schemas.openxmlformats.org/officeDocument/2006/relationships/tags" Target="../tags/tag170.xml"/><Relationship Id="rId40" Type="http://schemas.openxmlformats.org/officeDocument/2006/relationships/tags" Target="../tags/tag173.xml"/><Relationship Id="rId45" Type="http://schemas.openxmlformats.org/officeDocument/2006/relationships/tags" Target="../tags/tag178.xml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tags" Target="../tags/tag156.xml"/><Relationship Id="rId28" Type="http://schemas.openxmlformats.org/officeDocument/2006/relationships/tags" Target="../tags/tag161.xml"/><Relationship Id="rId36" Type="http://schemas.openxmlformats.org/officeDocument/2006/relationships/tags" Target="../tags/tag169.xml"/><Relationship Id="rId49" Type="http://schemas.openxmlformats.org/officeDocument/2006/relationships/oleObject" Target="../embeddings/oleObject22.bin"/><Relationship Id="rId10" Type="http://schemas.openxmlformats.org/officeDocument/2006/relationships/tags" Target="../tags/tag143.xml"/><Relationship Id="rId19" Type="http://schemas.openxmlformats.org/officeDocument/2006/relationships/tags" Target="../tags/tag152.xml"/><Relationship Id="rId31" Type="http://schemas.openxmlformats.org/officeDocument/2006/relationships/tags" Target="../tags/tag164.xml"/><Relationship Id="rId44" Type="http://schemas.openxmlformats.org/officeDocument/2006/relationships/tags" Target="../tags/tag177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tags" Target="../tags/tag155.xml"/><Relationship Id="rId27" Type="http://schemas.openxmlformats.org/officeDocument/2006/relationships/tags" Target="../tags/tag160.xml"/><Relationship Id="rId30" Type="http://schemas.openxmlformats.org/officeDocument/2006/relationships/tags" Target="../tags/tag163.xml"/><Relationship Id="rId35" Type="http://schemas.openxmlformats.org/officeDocument/2006/relationships/tags" Target="../tags/tag168.xml"/><Relationship Id="rId43" Type="http://schemas.openxmlformats.org/officeDocument/2006/relationships/tags" Target="../tags/tag176.xml"/><Relationship Id="rId48" Type="http://schemas.openxmlformats.org/officeDocument/2006/relationships/notesSlide" Target="../notesSlides/notesSlide19.xml"/><Relationship Id="rId8" Type="http://schemas.openxmlformats.org/officeDocument/2006/relationships/tags" Target="../tags/tag141.xml"/><Relationship Id="rId51" Type="http://schemas.openxmlformats.org/officeDocument/2006/relationships/chart" Target="../charts/chart15.xml"/><Relationship Id="rId3" Type="http://schemas.openxmlformats.org/officeDocument/2006/relationships/tags" Target="../tags/tag136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5" Type="http://schemas.openxmlformats.org/officeDocument/2006/relationships/tags" Target="../tags/tag158.xml"/><Relationship Id="rId33" Type="http://schemas.openxmlformats.org/officeDocument/2006/relationships/tags" Target="../tags/tag166.xml"/><Relationship Id="rId38" Type="http://schemas.openxmlformats.org/officeDocument/2006/relationships/tags" Target="../tags/tag171.xml"/><Relationship Id="rId46" Type="http://schemas.openxmlformats.org/officeDocument/2006/relationships/tags" Target="../tags/tag179.xml"/><Relationship Id="rId20" Type="http://schemas.openxmlformats.org/officeDocument/2006/relationships/tags" Target="../tags/tag153.xml"/><Relationship Id="rId41" Type="http://schemas.openxmlformats.org/officeDocument/2006/relationships/tags" Target="../tags/tag174.xml"/><Relationship Id="rId1" Type="http://schemas.openxmlformats.org/officeDocument/2006/relationships/tags" Target="../tags/tag134.xml"/><Relationship Id="rId6" Type="http://schemas.openxmlformats.org/officeDocument/2006/relationships/tags" Target="../tags/tag13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chart" Target="../charts/chart17.xml"/><Relationship Id="rId18" Type="http://schemas.openxmlformats.org/officeDocument/2006/relationships/image" Target="../media/image1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8.svg"/><Relationship Id="rId12" Type="http://schemas.openxmlformats.org/officeDocument/2006/relationships/image" Target="../media/image112.png"/><Relationship Id="rId17" Type="http://schemas.openxmlformats.org/officeDocument/2006/relationships/image" Target="../media/image11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chart" Target="../charts/chart19.xml"/><Relationship Id="rId1" Type="http://schemas.openxmlformats.org/officeDocument/2006/relationships/tags" Target="../tags/tag180.xml"/><Relationship Id="rId6" Type="http://schemas.openxmlformats.org/officeDocument/2006/relationships/image" Target="../media/image107.png"/><Relationship Id="rId11" Type="http://schemas.openxmlformats.org/officeDocument/2006/relationships/image" Target="../media/image111.png"/><Relationship Id="rId5" Type="http://schemas.openxmlformats.org/officeDocument/2006/relationships/image" Target="../media/image8.emf"/><Relationship Id="rId15" Type="http://schemas.openxmlformats.org/officeDocument/2006/relationships/image" Target="../media/image14.png"/><Relationship Id="rId10" Type="http://schemas.openxmlformats.org/officeDocument/2006/relationships/chart" Target="../charts/chart16.xml"/><Relationship Id="rId19" Type="http://schemas.openxmlformats.org/officeDocument/2006/relationships/image" Target="../media/image11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0.svg"/><Relationship Id="rId14" Type="http://schemas.openxmlformats.org/officeDocument/2006/relationships/chart" Target="../charts/chart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5.png"/><Relationship Id="rId18" Type="http://schemas.openxmlformats.org/officeDocument/2006/relationships/image" Target="../media/image119.png"/><Relationship Id="rId3" Type="http://schemas.openxmlformats.org/officeDocument/2006/relationships/tags" Target="../tags/tag183.xml"/><Relationship Id="rId7" Type="http://schemas.openxmlformats.org/officeDocument/2006/relationships/tags" Target="../tags/tag187.xml"/><Relationship Id="rId12" Type="http://schemas.openxmlformats.org/officeDocument/2006/relationships/image" Target="../media/image16.png"/><Relationship Id="rId17" Type="http://schemas.openxmlformats.org/officeDocument/2006/relationships/image" Target="../media/image118.png"/><Relationship Id="rId2" Type="http://schemas.openxmlformats.org/officeDocument/2006/relationships/tags" Target="../tags/tag182.xml"/><Relationship Id="rId16" Type="http://schemas.openxmlformats.org/officeDocument/2006/relationships/image" Target="../media/image117.jpeg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image" Target="../media/image8.emf"/><Relationship Id="rId5" Type="http://schemas.openxmlformats.org/officeDocument/2006/relationships/tags" Target="../tags/tag185.xml"/><Relationship Id="rId15" Type="http://schemas.openxmlformats.org/officeDocument/2006/relationships/image" Target="../media/image116.png"/><Relationship Id="rId10" Type="http://schemas.openxmlformats.org/officeDocument/2006/relationships/oleObject" Target="../embeddings/oleObject24.bin"/><Relationship Id="rId4" Type="http://schemas.openxmlformats.org/officeDocument/2006/relationships/tags" Target="../tags/tag184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chart" Target="../charts/chart20.xml"/><Relationship Id="rId3" Type="http://schemas.openxmlformats.org/officeDocument/2006/relationships/tags" Target="../tags/tag191.xml"/><Relationship Id="rId21" Type="http://schemas.openxmlformats.org/officeDocument/2006/relationships/tags" Target="../tags/tag209.xml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image" Target="../media/image7.emf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0" Type="http://schemas.openxmlformats.org/officeDocument/2006/relationships/tags" Target="../tags/tag208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oleObject" Target="../embeddings/oleObject26.bin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notesSlide" Target="../notesSlides/notesSlide22.xml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2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4.png"/><Relationship Id="rId12" Type="http://schemas.openxmlformats.org/officeDocument/2006/relationships/image" Target="../media/image103.png"/><Relationship Id="rId17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5.png"/><Relationship Id="rId1" Type="http://schemas.openxmlformats.org/officeDocument/2006/relationships/tags" Target="../tags/tag210.xml"/><Relationship Id="rId6" Type="http://schemas.openxmlformats.org/officeDocument/2006/relationships/image" Target="../media/image120.png"/><Relationship Id="rId11" Type="http://schemas.openxmlformats.org/officeDocument/2006/relationships/image" Target="../media/image121.png"/><Relationship Id="rId5" Type="http://schemas.openxmlformats.org/officeDocument/2006/relationships/image" Target="../media/image8.emf"/><Relationship Id="rId15" Type="http://schemas.openxmlformats.org/officeDocument/2006/relationships/image" Target="../media/image124.png"/><Relationship Id="rId10" Type="http://schemas.openxmlformats.org/officeDocument/2006/relationships/image" Target="../media/image53.png"/><Relationship Id="rId19" Type="http://schemas.openxmlformats.org/officeDocument/2006/relationships/image" Target="../media/image128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77.png"/><Relationship Id="rId14" Type="http://schemas.openxmlformats.org/officeDocument/2006/relationships/image" Target="../media/image123.jpe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35.png"/><Relationship Id="rId26" Type="http://schemas.openxmlformats.org/officeDocument/2006/relationships/image" Target="../media/image141.png"/><Relationship Id="rId39" Type="http://schemas.openxmlformats.org/officeDocument/2006/relationships/image" Target="../media/image151.png"/><Relationship Id="rId21" Type="http://schemas.openxmlformats.org/officeDocument/2006/relationships/image" Target="../media/image138.png"/><Relationship Id="rId34" Type="http://schemas.openxmlformats.org/officeDocument/2006/relationships/image" Target="../media/image78.png"/><Relationship Id="rId42" Type="http://schemas.openxmlformats.org/officeDocument/2006/relationships/image" Target="../media/image153.png"/><Relationship Id="rId47" Type="http://schemas.openxmlformats.org/officeDocument/2006/relationships/image" Target="../media/image157.png"/><Relationship Id="rId50" Type="http://schemas.openxmlformats.org/officeDocument/2006/relationships/image" Target="../media/image66.png"/><Relationship Id="rId55" Type="http://schemas.openxmlformats.org/officeDocument/2006/relationships/image" Target="../media/image163.png"/><Relationship Id="rId63" Type="http://schemas.openxmlformats.org/officeDocument/2006/relationships/image" Target="../media/image17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1.png"/><Relationship Id="rId29" Type="http://schemas.openxmlformats.org/officeDocument/2006/relationships/image" Target="../media/image144.png"/><Relationship Id="rId11" Type="http://schemas.openxmlformats.org/officeDocument/2006/relationships/image" Target="../media/image65.png"/><Relationship Id="rId24" Type="http://schemas.openxmlformats.org/officeDocument/2006/relationships/image" Target="../media/image139.png"/><Relationship Id="rId32" Type="http://schemas.openxmlformats.org/officeDocument/2006/relationships/image" Target="../media/image77.png"/><Relationship Id="rId37" Type="http://schemas.openxmlformats.org/officeDocument/2006/relationships/image" Target="../media/image149.png"/><Relationship Id="rId40" Type="http://schemas.openxmlformats.org/officeDocument/2006/relationships/image" Target="../media/image152.png"/><Relationship Id="rId45" Type="http://schemas.openxmlformats.org/officeDocument/2006/relationships/image" Target="../media/image155.png"/><Relationship Id="rId53" Type="http://schemas.openxmlformats.org/officeDocument/2006/relationships/image" Target="../media/image161.png"/><Relationship Id="rId58" Type="http://schemas.openxmlformats.org/officeDocument/2006/relationships/image" Target="../media/image166.png"/><Relationship Id="rId5" Type="http://schemas.openxmlformats.org/officeDocument/2006/relationships/image" Target="../media/image129.png"/><Relationship Id="rId61" Type="http://schemas.openxmlformats.org/officeDocument/2006/relationships/image" Target="../media/image64.png"/><Relationship Id="rId19" Type="http://schemas.openxmlformats.org/officeDocument/2006/relationships/image" Target="../media/image136.png"/><Relationship Id="rId14" Type="http://schemas.openxmlformats.org/officeDocument/2006/relationships/image" Target="../media/image133.png"/><Relationship Id="rId22" Type="http://schemas.openxmlformats.org/officeDocument/2006/relationships/image" Target="../media/image95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47.png"/><Relationship Id="rId43" Type="http://schemas.openxmlformats.org/officeDocument/2006/relationships/image" Target="../media/image53.png"/><Relationship Id="rId48" Type="http://schemas.openxmlformats.org/officeDocument/2006/relationships/image" Target="../media/image158.png"/><Relationship Id="rId56" Type="http://schemas.openxmlformats.org/officeDocument/2006/relationships/image" Target="../media/image164.png"/><Relationship Id="rId8" Type="http://schemas.openxmlformats.org/officeDocument/2006/relationships/image" Target="../media/image131.png"/><Relationship Id="rId51" Type="http://schemas.openxmlformats.org/officeDocument/2006/relationships/image" Target="../media/image159.png"/><Relationship Id="rId3" Type="http://schemas.openxmlformats.org/officeDocument/2006/relationships/oleObject" Target="../embeddings/oleObject28.bin"/><Relationship Id="rId12" Type="http://schemas.openxmlformats.org/officeDocument/2006/relationships/image" Target="../media/image120.png"/><Relationship Id="rId17" Type="http://schemas.openxmlformats.org/officeDocument/2006/relationships/image" Target="../media/image134.png"/><Relationship Id="rId25" Type="http://schemas.openxmlformats.org/officeDocument/2006/relationships/image" Target="../media/image140.png"/><Relationship Id="rId33" Type="http://schemas.openxmlformats.org/officeDocument/2006/relationships/image" Target="../media/image146.png"/><Relationship Id="rId38" Type="http://schemas.openxmlformats.org/officeDocument/2006/relationships/image" Target="../media/image150.png"/><Relationship Id="rId46" Type="http://schemas.openxmlformats.org/officeDocument/2006/relationships/image" Target="../media/image156.png"/><Relationship Id="rId59" Type="http://schemas.openxmlformats.org/officeDocument/2006/relationships/image" Target="../media/image167.png"/><Relationship Id="rId20" Type="http://schemas.openxmlformats.org/officeDocument/2006/relationships/image" Target="../media/image137.png"/><Relationship Id="rId41" Type="http://schemas.openxmlformats.org/officeDocument/2006/relationships/image" Target="../media/image72.png"/><Relationship Id="rId54" Type="http://schemas.openxmlformats.org/officeDocument/2006/relationships/image" Target="../media/image162.png"/><Relationship Id="rId62" Type="http://schemas.openxmlformats.org/officeDocument/2006/relationships/image" Target="../media/image169.png"/><Relationship Id="rId1" Type="http://schemas.openxmlformats.org/officeDocument/2006/relationships/tags" Target="../tags/tag211.xml"/><Relationship Id="rId6" Type="http://schemas.openxmlformats.org/officeDocument/2006/relationships/image" Target="../media/image130.png"/><Relationship Id="rId15" Type="http://schemas.openxmlformats.org/officeDocument/2006/relationships/image" Target="../media/image67.png"/><Relationship Id="rId23" Type="http://schemas.openxmlformats.org/officeDocument/2006/relationships/image" Target="../media/image96.png"/><Relationship Id="rId28" Type="http://schemas.openxmlformats.org/officeDocument/2006/relationships/image" Target="../media/image143.png"/><Relationship Id="rId36" Type="http://schemas.openxmlformats.org/officeDocument/2006/relationships/image" Target="../media/image148.png"/><Relationship Id="rId49" Type="http://schemas.openxmlformats.org/officeDocument/2006/relationships/image" Target="../media/image70.png"/><Relationship Id="rId57" Type="http://schemas.openxmlformats.org/officeDocument/2006/relationships/image" Target="../media/image165.png"/><Relationship Id="rId10" Type="http://schemas.openxmlformats.org/officeDocument/2006/relationships/image" Target="../media/image80.png"/><Relationship Id="rId31" Type="http://schemas.openxmlformats.org/officeDocument/2006/relationships/image" Target="../media/image76.png"/><Relationship Id="rId44" Type="http://schemas.openxmlformats.org/officeDocument/2006/relationships/image" Target="../media/image154.png"/><Relationship Id="rId52" Type="http://schemas.openxmlformats.org/officeDocument/2006/relationships/image" Target="../media/image160.png"/><Relationship Id="rId60" Type="http://schemas.openxmlformats.org/officeDocument/2006/relationships/image" Target="../media/image168.png"/><Relationship Id="rId4" Type="http://schemas.openxmlformats.org/officeDocument/2006/relationships/image" Target="../media/image8.emf"/><Relationship Id="rId9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2259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08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892461" y="1686290"/>
            <a:ext cx="3635094" cy="1366256"/>
            <a:chOff x="615749" y="4321548"/>
            <a:chExt cx="3635094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zh-CN" altLang="en-US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通信速率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615749" y="4879942"/>
              <a:ext cx="3011448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</a:rPr>
                <a:t>低功耗下延长传输距离需降低数据速率或采用更窄带宽</a:t>
              </a:r>
              <a:endParaRPr kumimoji="1"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zh-CN" altLang="en-US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通信功耗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</a:rPr>
                <a:t>远距离传输信号衰减大，高速率需更高信噪比，需功率补偿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9677146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cs typeface="+mn-ea"/>
                <a:sym typeface="+mn-lt"/>
              </a:rPr>
              <a:t>大模型及</a:t>
            </a:r>
            <a:r>
              <a:rPr lang="en-US" altLang="zh-CN" dirty="0">
                <a:cs typeface="+mn-ea"/>
                <a:sym typeface="+mn-lt"/>
              </a:rPr>
              <a:t>IDC</a:t>
            </a:r>
            <a:r>
              <a:rPr lang="zh-CN" altLang="en-US" dirty="0">
                <a:cs typeface="+mn-ea"/>
                <a:sym typeface="+mn-lt"/>
              </a:rPr>
              <a:t>面临“通信不可能三角”：速率、距离、功耗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27101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zh-CN" altLang="en-US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通信距离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</a:rPr>
                <a:t>高速传输耗电量大，低功耗传输通常只能覆盖近程通信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误码率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为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数据通信中的核心指标，用于衡量传输可靠性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提升传输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速率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、传输</a:t>
            </a:r>
            <a:r>
              <a:rPr kumimoji="1" lang="zh-CN" altLang="en-US" dirty="0">
                <a:solidFill>
                  <a:srgbClr val="0052D9"/>
                </a:solidFill>
                <a:cs typeface="+mn-ea"/>
                <a:sym typeface="+mn-lt"/>
              </a:rPr>
              <a:t>距离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、降低</a:t>
            </a:r>
            <a:r>
              <a:rPr kumimoji="1" lang="zh-CN" altLang="en-US" dirty="0">
                <a:solidFill>
                  <a:srgbClr val="0052D9"/>
                </a:solidFill>
                <a:cs typeface="+mn-ea"/>
                <a:sym typeface="+mn-lt"/>
              </a:rPr>
              <a:t>功耗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均使得误码率上升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95274" y="4497658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cs typeface="+mn-ea"/>
                <a:sym typeface="+mn-lt"/>
              </a:rPr>
              <a:t>误码率</a:t>
            </a:r>
            <a:endParaRPr kumimoji="1"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误码率（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BER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Bit Error Rate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）​，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IDC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场景下标准为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&lt; 1e12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，代表平均传输一万亿比特，出现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比特错误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D45EE13-2B26-1D5F-2E19-261ED39E3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9978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BF972847-AA9B-2D36-4351-F2FFBF0E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1450"/>
            <a:ext cx="9677400" cy="731838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互连技术变革，</a:t>
            </a:r>
            <a:r>
              <a:rPr lang="zh-CN" altLang="en-US" dirty="0">
                <a:cs typeface="+mn-ea"/>
                <a:sym typeface="+mn-lt"/>
              </a:rPr>
              <a:t>打破通信瓶颈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：铜互连、可插拔光模块、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AAA254-D873-7B76-2772-399B02402AC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3FD1E53-9FE0-147D-3B6D-26B62A742416}"/>
              </a:ext>
            </a:extLst>
          </p:cNvPr>
          <p:cNvCxnSpPr>
            <a:cxnSpLocks/>
          </p:cNvCxnSpPr>
          <p:nvPr/>
        </p:nvCxnSpPr>
        <p:spPr>
          <a:xfrm>
            <a:off x="933075" y="5600700"/>
            <a:ext cx="10599420" cy="0"/>
          </a:xfrm>
          <a:prstGeom prst="straightConnector1">
            <a:avLst/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confont-1018-792472">
            <a:extLst>
              <a:ext uri="{FF2B5EF4-FFF2-40B4-BE49-F238E27FC236}">
                <a16:creationId xmlns:a16="http://schemas.microsoft.com/office/drawing/2014/main" id="{AC7D3654-D8DA-F367-A98F-9D4BD20E305D}"/>
              </a:ext>
            </a:extLst>
          </p:cNvPr>
          <p:cNvSpPr/>
          <p:nvPr/>
        </p:nvSpPr>
        <p:spPr>
          <a:xfrm>
            <a:off x="140168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EBE5EBD-4417-3B84-AF2F-A82C6929D7FC}"/>
              </a:ext>
            </a:extLst>
          </p:cNvPr>
          <p:cNvSpPr txBox="1"/>
          <p:nvPr/>
        </p:nvSpPr>
        <p:spPr>
          <a:xfrm>
            <a:off x="1127384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1997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4F8D3D-8527-F7CE-F036-E5FFB83EA138}"/>
              </a:ext>
            </a:extLst>
          </p:cNvPr>
          <p:cNvGrpSpPr/>
          <p:nvPr/>
        </p:nvGrpSpPr>
        <p:grpSpPr>
          <a:xfrm>
            <a:off x="2302741" y="5497808"/>
            <a:ext cx="754380" cy="611102"/>
            <a:chOff x="2302741" y="5497808"/>
            <a:chExt cx="754380" cy="611102"/>
          </a:xfrm>
        </p:grpSpPr>
        <p:sp>
          <p:nvSpPr>
            <p:cNvPr id="100" name="iconfont-1018-792472">
              <a:extLst>
                <a:ext uri="{FF2B5EF4-FFF2-40B4-BE49-F238E27FC236}">
                  <a16:creationId xmlns:a16="http://schemas.microsoft.com/office/drawing/2014/main" id="{C2411CC2-A45F-CCBB-60AE-F895A1A86F5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5F898082-1866-FC02-D6D5-9A1975DC11C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03" name="iconfont-1018-792472">
            <a:extLst>
              <a:ext uri="{FF2B5EF4-FFF2-40B4-BE49-F238E27FC236}">
                <a16:creationId xmlns:a16="http://schemas.microsoft.com/office/drawing/2014/main" id="{B6FABA63-608D-04FD-3BF7-A628FB6A3C18}"/>
              </a:ext>
            </a:extLst>
          </p:cNvPr>
          <p:cNvSpPr/>
          <p:nvPr/>
        </p:nvSpPr>
        <p:spPr>
          <a:xfrm>
            <a:off x="3745240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B7CB96D-3384-4EDE-4C46-BC94184B5E7C}"/>
              </a:ext>
            </a:extLst>
          </p:cNvPr>
          <p:cNvSpPr txBox="1"/>
          <p:nvPr/>
        </p:nvSpPr>
        <p:spPr>
          <a:xfrm>
            <a:off x="3478098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2016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6" name="iconfont-1018-792472">
            <a:extLst>
              <a:ext uri="{FF2B5EF4-FFF2-40B4-BE49-F238E27FC236}">
                <a16:creationId xmlns:a16="http://schemas.microsoft.com/office/drawing/2014/main" id="{F46B675D-898A-3BE2-AD38-072DE7CDBA0A}"/>
              </a:ext>
            </a:extLst>
          </p:cNvPr>
          <p:cNvSpPr/>
          <p:nvPr/>
        </p:nvSpPr>
        <p:spPr>
          <a:xfrm>
            <a:off x="4917019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5A4EF93-B0CF-C1C5-B53B-853F0221E8EB}"/>
              </a:ext>
            </a:extLst>
          </p:cNvPr>
          <p:cNvSpPr txBox="1"/>
          <p:nvPr/>
        </p:nvSpPr>
        <p:spPr>
          <a:xfrm>
            <a:off x="4653455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2018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9" name="iconfont-1018-792472">
            <a:extLst>
              <a:ext uri="{FF2B5EF4-FFF2-40B4-BE49-F238E27FC236}">
                <a16:creationId xmlns:a16="http://schemas.microsoft.com/office/drawing/2014/main" id="{AE3CC971-61BA-E737-E160-334CDA5B2CE2}"/>
              </a:ext>
            </a:extLst>
          </p:cNvPr>
          <p:cNvSpPr/>
          <p:nvPr/>
        </p:nvSpPr>
        <p:spPr>
          <a:xfrm>
            <a:off x="6088797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0983A09-B9E4-988B-357B-FA6275482492}"/>
              </a:ext>
            </a:extLst>
          </p:cNvPr>
          <p:cNvSpPr txBox="1"/>
          <p:nvPr/>
        </p:nvSpPr>
        <p:spPr>
          <a:xfrm>
            <a:off x="5360075" y="5739578"/>
            <a:ext cx="175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2020-2021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2" name="iconfont-1018-792472">
            <a:extLst>
              <a:ext uri="{FF2B5EF4-FFF2-40B4-BE49-F238E27FC236}">
                <a16:creationId xmlns:a16="http://schemas.microsoft.com/office/drawing/2014/main" id="{4BEC9973-D0F5-6716-1698-7BEF33D1C310}"/>
              </a:ext>
            </a:extLst>
          </p:cNvPr>
          <p:cNvSpPr/>
          <p:nvPr/>
        </p:nvSpPr>
        <p:spPr>
          <a:xfrm>
            <a:off x="7260575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E6BD08F-AEDB-0847-80DC-7C0A52669B2F}"/>
              </a:ext>
            </a:extLst>
          </p:cNvPr>
          <p:cNvSpPr txBox="1"/>
          <p:nvPr/>
        </p:nvSpPr>
        <p:spPr>
          <a:xfrm>
            <a:off x="6986276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5" name="iconfont-1018-792472">
            <a:extLst>
              <a:ext uri="{FF2B5EF4-FFF2-40B4-BE49-F238E27FC236}">
                <a16:creationId xmlns:a16="http://schemas.microsoft.com/office/drawing/2014/main" id="{3B3721F7-75A8-73E8-DA1C-081233DCEE89}"/>
              </a:ext>
            </a:extLst>
          </p:cNvPr>
          <p:cNvSpPr/>
          <p:nvPr/>
        </p:nvSpPr>
        <p:spPr>
          <a:xfrm>
            <a:off x="843235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B1C6FC0-8810-7EBA-8A3D-C9A6FBFE7885}"/>
              </a:ext>
            </a:extLst>
          </p:cNvPr>
          <p:cNvSpPr txBox="1"/>
          <p:nvPr/>
        </p:nvSpPr>
        <p:spPr>
          <a:xfrm>
            <a:off x="8153562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2025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8" name="iconfont-1018-792472">
            <a:extLst>
              <a:ext uri="{FF2B5EF4-FFF2-40B4-BE49-F238E27FC236}">
                <a16:creationId xmlns:a16="http://schemas.microsoft.com/office/drawing/2014/main" id="{21C3A0DF-BA5D-0371-1C6D-4363309F999A}"/>
              </a:ext>
            </a:extLst>
          </p:cNvPr>
          <p:cNvSpPr/>
          <p:nvPr/>
        </p:nvSpPr>
        <p:spPr>
          <a:xfrm>
            <a:off x="960413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704391B-F74E-45D3-4177-6ACBD9CD4EFB}"/>
              </a:ext>
            </a:extLst>
          </p:cNvPr>
          <p:cNvSpPr txBox="1"/>
          <p:nvPr/>
        </p:nvSpPr>
        <p:spPr>
          <a:xfrm>
            <a:off x="9289883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2027E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1" name="iconfont-1018-792472">
            <a:extLst>
              <a:ext uri="{FF2B5EF4-FFF2-40B4-BE49-F238E27FC236}">
                <a16:creationId xmlns:a16="http://schemas.microsoft.com/office/drawing/2014/main" id="{71DE8BD8-4A1C-1E9A-05BC-29E641EE7E5E}"/>
              </a:ext>
            </a:extLst>
          </p:cNvPr>
          <p:cNvSpPr/>
          <p:nvPr/>
        </p:nvSpPr>
        <p:spPr>
          <a:xfrm>
            <a:off x="1077591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184813B-4407-065E-F15B-330244C2DBB3}"/>
              </a:ext>
            </a:extLst>
          </p:cNvPr>
          <p:cNvSpPr txBox="1"/>
          <p:nvPr/>
        </p:nvSpPr>
        <p:spPr>
          <a:xfrm>
            <a:off x="10460009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2030E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46A5AC6-3F67-C01B-8E4E-4B1A2D998481}"/>
              </a:ext>
            </a:extLst>
          </p:cNvPr>
          <p:cNvSpPr txBox="1"/>
          <p:nvPr/>
        </p:nvSpPr>
        <p:spPr>
          <a:xfrm>
            <a:off x="-402337" y="5291359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Speed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E6357F8-B683-ABA3-CB77-96E128A0B7F8}"/>
              </a:ext>
            </a:extLst>
          </p:cNvPr>
          <p:cNvSpPr txBox="1"/>
          <p:nvPr/>
        </p:nvSpPr>
        <p:spPr>
          <a:xfrm>
            <a:off x="49469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FAC97D7-E9E5-5BA1-6097-148B73639866}"/>
              </a:ext>
            </a:extLst>
          </p:cNvPr>
          <p:cNvSpPr txBox="1"/>
          <p:nvPr/>
        </p:nvSpPr>
        <p:spPr>
          <a:xfrm>
            <a:off x="1695831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043AB13-FE5B-2D10-7C09-2D09FF6992CC}"/>
              </a:ext>
            </a:extLst>
          </p:cNvPr>
          <p:cNvSpPr txBox="1"/>
          <p:nvPr/>
        </p:nvSpPr>
        <p:spPr>
          <a:xfrm>
            <a:off x="5199385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400/800G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A415130-5F83-2176-DFC7-3C1FC6C51EC7}"/>
              </a:ext>
            </a:extLst>
          </p:cNvPr>
          <p:cNvSpPr txBox="1"/>
          <p:nvPr/>
        </p:nvSpPr>
        <p:spPr>
          <a:xfrm>
            <a:off x="632939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C67923-703A-0361-49A9-099FFE7E13F6}"/>
              </a:ext>
            </a:extLst>
          </p:cNvPr>
          <p:cNvSpPr txBox="1"/>
          <p:nvPr/>
        </p:nvSpPr>
        <p:spPr>
          <a:xfrm>
            <a:off x="746635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7A4CBAF-8A2C-84FB-6753-C3858EFADB52}"/>
              </a:ext>
            </a:extLst>
          </p:cNvPr>
          <p:cNvSpPr txBox="1"/>
          <p:nvPr/>
        </p:nvSpPr>
        <p:spPr>
          <a:xfrm>
            <a:off x="867642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3.2T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3A8DCB8-EE2E-65BA-9C51-B9CD67209086}"/>
              </a:ext>
            </a:extLst>
          </p:cNvPr>
          <p:cNvSpPr txBox="1"/>
          <p:nvPr/>
        </p:nvSpPr>
        <p:spPr>
          <a:xfrm>
            <a:off x="984820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6.4T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840527B2-9761-2BAE-5099-3A1743076ED7}"/>
              </a:ext>
            </a:extLst>
          </p:cNvPr>
          <p:cNvGrpSpPr/>
          <p:nvPr/>
        </p:nvGrpSpPr>
        <p:grpSpPr>
          <a:xfrm>
            <a:off x="1401684" y="4097438"/>
            <a:ext cx="9490042" cy="645195"/>
            <a:chOff x="1485504" y="4097438"/>
            <a:chExt cx="9490042" cy="645195"/>
          </a:xfrm>
        </p:grpSpPr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E7CBD5E6-75D7-8A1E-51AD-DD8E61B76C0F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rPr>
                <a:t>    ?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2" name="箭头: 右 131">
              <a:extLst>
                <a:ext uri="{FF2B5EF4-FFF2-40B4-BE49-F238E27FC236}">
                  <a16:creationId xmlns:a16="http://schemas.microsoft.com/office/drawing/2014/main" id="{1AA29896-608D-0C44-8340-392B192086B5}"/>
                </a:ext>
              </a:extLst>
            </p:cNvPr>
            <p:cNvSpPr/>
            <p:nvPr/>
          </p:nvSpPr>
          <p:spPr>
            <a:xfrm>
              <a:off x="1485504" y="4097438"/>
              <a:ext cx="7116058" cy="645195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CA4DF44-D9A5-BA4A-E55E-0E7350AD4348}"/>
              </a:ext>
            </a:extLst>
          </p:cNvPr>
          <p:cNvCxnSpPr/>
          <p:nvPr/>
        </p:nvCxnSpPr>
        <p:spPr>
          <a:xfrm flipV="1">
            <a:off x="11026440" y="1363684"/>
            <a:ext cx="0" cy="33789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F94007B-700C-BDB6-058E-20F471A9CA12}"/>
              </a:ext>
            </a:extLst>
          </p:cNvPr>
          <p:cNvSpPr txBox="1"/>
          <p:nvPr/>
        </p:nvSpPr>
        <p:spPr>
          <a:xfrm rot="16200000">
            <a:off x="10453724" y="2743677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Power efficiency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Complexity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0107C66-7D40-492A-D4A5-6BAA808C8A50}"/>
              </a:ext>
            </a:extLst>
          </p:cNvPr>
          <p:cNvGrpSpPr/>
          <p:nvPr/>
        </p:nvGrpSpPr>
        <p:grpSpPr>
          <a:xfrm>
            <a:off x="2669057" y="3244175"/>
            <a:ext cx="8222667" cy="645195"/>
            <a:chOff x="2752879" y="4097438"/>
            <a:chExt cx="8222667" cy="645195"/>
          </a:xfrm>
        </p:grpSpPr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A26ADE6B-49CF-0B2B-4CA9-51FA87B47220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/>
                  </a:solidFill>
                  <a:cs typeface="+mn-ea"/>
                  <a:sym typeface="+mn-lt"/>
                </a:rPr>
                <a:t>                              </a:t>
              </a:r>
              <a:r>
                <a:rPr lang="en-US" altLang="zh-CN" dirty="0">
                  <a:solidFill>
                    <a:schemeClr val="accent4"/>
                  </a:solidFill>
                  <a:cs typeface="+mn-ea"/>
                  <a:sym typeface="+mn-lt"/>
                </a:rPr>
                <a:t>?</a:t>
              </a:r>
              <a:endParaRPr lang="zh-CN" altLang="en-US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40" name="箭头: 右 139">
              <a:extLst>
                <a:ext uri="{FF2B5EF4-FFF2-40B4-BE49-F238E27FC236}">
                  <a16:creationId xmlns:a16="http://schemas.microsoft.com/office/drawing/2014/main" id="{C8395481-E407-1A57-AB3B-745AE68A6769}"/>
                </a:ext>
              </a:extLst>
            </p:cNvPr>
            <p:cNvSpPr/>
            <p:nvPr/>
          </p:nvSpPr>
          <p:spPr>
            <a:xfrm>
              <a:off x="2752879" y="4097438"/>
              <a:ext cx="6721358" cy="64519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Pluggable Optics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F005F9F6-D1E0-9C25-8920-A4ED7442437A}"/>
              </a:ext>
            </a:extLst>
          </p:cNvPr>
          <p:cNvSpPr/>
          <p:nvPr/>
        </p:nvSpPr>
        <p:spPr>
          <a:xfrm>
            <a:off x="4859238" y="2276507"/>
            <a:ext cx="6032487" cy="807573"/>
          </a:xfrm>
          <a:prstGeom prst="rightArrow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   CPO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6" name="箭头: 右 145">
            <a:extLst>
              <a:ext uri="{FF2B5EF4-FFF2-40B4-BE49-F238E27FC236}">
                <a16:creationId xmlns:a16="http://schemas.microsoft.com/office/drawing/2014/main" id="{544170DA-07C0-31F4-D09E-9DCFF12C8C8A}"/>
              </a:ext>
            </a:extLst>
          </p:cNvPr>
          <p:cNvSpPr/>
          <p:nvPr/>
        </p:nvSpPr>
        <p:spPr>
          <a:xfrm>
            <a:off x="3302165" y="1366042"/>
            <a:ext cx="7589559" cy="64519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A082EE3-531A-D7E3-F422-37FCFACEAAA3}"/>
              </a:ext>
            </a:extLst>
          </p:cNvPr>
          <p:cNvSpPr txBox="1"/>
          <p:nvPr/>
        </p:nvSpPr>
        <p:spPr>
          <a:xfrm>
            <a:off x="8837339" y="3721184"/>
            <a:ext cx="2061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3.2T optics </a:t>
            </a:r>
          </a:p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Hard to continue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C21AE233-BF12-9462-3EFA-8E00F75C6210}"/>
              </a:ext>
            </a:extLst>
          </p:cNvPr>
          <p:cNvGrpSpPr/>
          <p:nvPr/>
        </p:nvGrpSpPr>
        <p:grpSpPr>
          <a:xfrm>
            <a:off x="4593574" y="2577401"/>
            <a:ext cx="1115494" cy="601626"/>
            <a:chOff x="4593574" y="2577401"/>
            <a:chExt cx="1115494" cy="601626"/>
          </a:xfrm>
        </p:grpSpPr>
        <p:sp>
          <p:nvSpPr>
            <p:cNvPr id="148" name="iconfont-1018-792472">
              <a:extLst>
                <a:ext uri="{FF2B5EF4-FFF2-40B4-BE49-F238E27FC236}">
                  <a16:creationId xmlns:a16="http://schemas.microsoft.com/office/drawing/2014/main" id="{DD905833-F9CE-0F1B-7524-51A2C85476AB}"/>
                </a:ext>
              </a:extLst>
            </p:cNvPr>
            <p:cNvSpPr/>
            <p:nvPr/>
          </p:nvSpPr>
          <p:spPr>
            <a:xfrm>
              <a:off x="5048430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D4864F0-FD40-BF53-3D19-44BD69AC0DD5}"/>
                </a:ext>
              </a:extLst>
            </p:cNvPr>
            <p:cNvSpPr txBox="1"/>
            <p:nvPr/>
          </p:nvSpPr>
          <p:spPr>
            <a:xfrm>
              <a:off x="4593574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063E9656-86D7-0F80-F1BF-75B868010E23}"/>
              </a:ext>
            </a:extLst>
          </p:cNvPr>
          <p:cNvGrpSpPr/>
          <p:nvPr/>
        </p:nvGrpSpPr>
        <p:grpSpPr>
          <a:xfrm>
            <a:off x="5589742" y="2577401"/>
            <a:ext cx="1115494" cy="601626"/>
            <a:chOff x="5589742" y="2577401"/>
            <a:chExt cx="1115494" cy="601626"/>
          </a:xfrm>
        </p:grpSpPr>
        <p:sp>
          <p:nvSpPr>
            <p:cNvPr id="150" name="iconfont-1018-792472">
              <a:extLst>
                <a:ext uri="{FF2B5EF4-FFF2-40B4-BE49-F238E27FC236}">
                  <a16:creationId xmlns:a16="http://schemas.microsoft.com/office/drawing/2014/main" id="{5C753B97-2F1F-5CA1-DDEE-E05461B1B5E7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825104B-F905-1774-54F2-F389FD32846C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Demo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E443CD2-5EA6-CBFB-ED56-C7590B49C1E9}"/>
              </a:ext>
            </a:extLst>
          </p:cNvPr>
          <p:cNvGrpSpPr/>
          <p:nvPr/>
        </p:nvGrpSpPr>
        <p:grpSpPr>
          <a:xfrm>
            <a:off x="6796917" y="2577401"/>
            <a:ext cx="1115494" cy="793893"/>
            <a:chOff x="5589742" y="2577401"/>
            <a:chExt cx="1115494" cy="793893"/>
          </a:xfrm>
        </p:grpSpPr>
        <p:sp>
          <p:nvSpPr>
            <p:cNvPr id="154" name="iconfont-1018-792472">
              <a:extLst>
                <a:ext uri="{FF2B5EF4-FFF2-40B4-BE49-F238E27FC236}">
                  <a16:creationId xmlns:a16="http://schemas.microsoft.com/office/drawing/2014/main" id="{35B6F8DE-178E-5CB9-5F05-612F3922D4B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54C5C5E-DADC-70C9-2057-6775A6684C0D}"/>
                </a:ext>
              </a:extLst>
            </p:cNvPr>
            <p:cNvSpPr txBox="1"/>
            <p:nvPr/>
          </p:nvSpPr>
          <p:spPr>
            <a:xfrm>
              <a:off x="5589742" y="2848074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Proofs of 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B9FED42-BE7C-AB74-D637-92D45A612C48}"/>
              </a:ext>
            </a:extLst>
          </p:cNvPr>
          <p:cNvGrpSpPr/>
          <p:nvPr/>
        </p:nvGrpSpPr>
        <p:grpSpPr>
          <a:xfrm>
            <a:off x="7857103" y="2577401"/>
            <a:ext cx="1115494" cy="601626"/>
            <a:chOff x="5589742" y="2577401"/>
            <a:chExt cx="1115494" cy="601626"/>
          </a:xfrm>
        </p:grpSpPr>
        <p:sp>
          <p:nvSpPr>
            <p:cNvPr id="157" name="iconfont-1018-792472">
              <a:extLst>
                <a:ext uri="{FF2B5EF4-FFF2-40B4-BE49-F238E27FC236}">
                  <a16:creationId xmlns:a16="http://schemas.microsoft.com/office/drawing/2014/main" id="{2514C8D7-26D8-670D-A148-A6062DB9DD9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5420642-9F54-696E-1EA1-57A7F06B1B9A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Test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DFCEDB3-42BA-07AA-77A9-7A4CA9940C08}"/>
              </a:ext>
            </a:extLst>
          </p:cNvPr>
          <p:cNvGrpSpPr/>
          <p:nvPr/>
        </p:nvGrpSpPr>
        <p:grpSpPr>
          <a:xfrm>
            <a:off x="9064419" y="2577401"/>
            <a:ext cx="1115494" cy="780397"/>
            <a:chOff x="5643082" y="2577401"/>
            <a:chExt cx="1115494" cy="780397"/>
          </a:xfrm>
        </p:grpSpPr>
        <p:sp>
          <p:nvSpPr>
            <p:cNvPr id="160" name="iconfont-1018-792472">
              <a:extLst>
                <a:ext uri="{FF2B5EF4-FFF2-40B4-BE49-F238E27FC236}">
                  <a16:creationId xmlns:a16="http://schemas.microsoft.com/office/drawing/2014/main" id="{ED141343-B0E9-0C31-A3D0-574EC161D735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5E960809-1561-50A1-E9EF-B74FCD2FE929}"/>
                </a:ext>
              </a:extLst>
            </p:cNvPr>
            <p:cNvSpPr txBox="1"/>
            <p:nvPr/>
          </p:nvSpPr>
          <p:spPr>
            <a:xfrm>
              <a:off x="5643082" y="2834578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1895BE81-56D2-9BDC-9D33-6E7916E63DA3}"/>
              </a:ext>
            </a:extLst>
          </p:cNvPr>
          <p:cNvGrpSpPr/>
          <p:nvPr/>
        </p:nvGrpSpPr>
        <p:grpSpPr>
          <a:xfrm>
            <a:off x="2930128" y="1577946"/>
            <a:ext cx="1115494" cy="646196"/>
            <a:chOff x="3302165" y="1580956"/>
            <a:chExt cx="1115494" cy="646196"/>
          </a:xfrm>
        </p:grpSpPr>
        <p:sp>
          <p:nvSpPr>
            <p:cNvPr id="162" name="iconfont-1018-792472">
              <a:extLst>
                <a:ext uri="{FF2B5EF4-FFF2-40B4-BE49-F238E27FC236}">
                  <a16:creationId xmlns:a16="http://schemas.microsoft.com/office/drawing/2014/main" id="{6AFF8666-6F71-5CD9-3270-95862384C540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645BDF68-1659-28BE-DAB3-B8E754540A7C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32088448-E8F5-B286-8475-8A90D6C0D946}"/>
              </a:ext>
            </a:extLst>
          </p:cNvPr>
          <p:cNvGrpSpPr/>
          <p:nvPr/>
        </p:nvGrpSpPr>
        <p:grpSpPr>
          <a:xfrm>
            <a:off x="7115179" y="1576885"/>
            <a:ext cx="1115494" cy="646196"/>
            <a:chOff x="3302165" y="1580956"/>
            <a:chExt cx="1115494" cy="646196"/>
          </a:xfrm>
        </p:grpSpPr>
        <p:sp>
          <p:nvSpPr>
            <p:cNvPr id="166" name="iconfont-1018-792472">
              <a:extLst>
                <a:ext uri="{FF2B5EF4-FFF2-40B4-BE49-F238E27FC236}">
                  <a16:creationId xmlns:a16="http://schemas.microsoft.com/office/drawing/2014/main" id="{EE27585B-C766-2515-9E2B-9E86F090A052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FC177F9-61E7-4EE8-8FFC-C2F76BCFF093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Demo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62B0942-AEAF-3AB0-CBD3-9EFE6C032518}"/>
              </a:ext>
            </a:extLst>
          </p:cNvPr>
          <p:cNvGrpSpPr/>
          <p:nvPr/>
        </p:nvGrpSpPr>
        <p:grpSpPr>
          <a:xfrm>
            <a:off x="7955412" y="1576885"/>
            <a:ext cx="1115494" cy="861639"/>
            <a:chOff x="3302165" y="1580956"/>
            <a:chExt cx="1115494" cy="861639"/>
          </a:xfrm>
        </p:grpSpPr>
        <p:sp>
          <p:nvSpPr>
            <p:cNvPr id="169" name="iconfont-1018-792472">
              <a:extLst>
                <a:ext uri="{FF2B5EF4-FFF2-40B4-BE49-F238E27FC236}">
                  <a16:creationId xmlns:a16="http://schemas.microsoft.com/office/drawing/2014/main" id="{D03D7DB3-FCDA-ABE2-00E8-0132F9452E1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180931C-587D-0311-7748-01E124A7A3AB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Proofs of 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41CC3DA-D7A4-E480-78B5-4E31685CB94A}"/>
              </a:ext>
            </a:extLst>
          </p:cNvPr>
          <p:cNvGrpSpPr/>
          <p:nvPr/>
        </p:nvGrpSpPr>
        <p:grpSpPr>
          <a:xfrm>
            <a:off x="9431425" y="1576885"/>
            <a:ext cx="1115494" cy="861639"/>
            <a:chOff x="3302165" y="1580956"/>
            <a:chExt cx="1115494" cy="861639"/>
          </a:xfrm>
        </p:grpSpPr>
        <p:sp>
          <p:nvSpPr>
            <p:cNvPr id="173" name="iconfont-1018-792472">
              <a:extLst>
                <a:ext uri="{FF2B5EF4-FFF2-40B4-BE49-F238E27FC236}">
                  <a16:creationId xmlns:a16="http://schemas.microsoft.com/office/drawing/2014/main" id="{01B4FF7B-629D-84E1-EAB1-162149FCC25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4D71DB7-1705-4580-0452-036DB394B81E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03FA49B-D6A0-476B-01A8-EFA6A9E871A7}"/>
              </a:ext>
            </a:extLst>
          </p:cNvPr>
          <p:cNvGrpSpPr/>
          <p:nvPr/>
        </p:nvGrpSpPr>
        <p:grpSpPr>
          <a:xfrm>
            <a:off x="8704126" y="1576885"/>
            <a:ext cx="1115494" cy="646196"/>
            <a:chOff x="3302165" y="1580956"/>
            <a:chExt cx="1115494" cy="646196"/>
          </a:xfrm>
        </p:grpSpPr>
        <p:sp>
          <p:nvSpPr>
            <p:cNvPr id="176" name="iconfont-1018-792472">
              <a:extLst>
                <a:ext uri="{FF2B5EF4-FFF2-40B4-BE49-F238E27FC236}">
                  <a16:creationId xmlns:a16="http://schemas.microsoft.com/office/drawing/2014/main" id="{673BF21F-83F9-1979-45EF-481A19F60A0A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1D498CD-C8CA-2590-0FC0-AE400343B879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Test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81" name="iconfont-1018-792472">
            <a:extLst>
              <a:ext uri="{FF2B5EF4-FFF2-40B4-BE49-F238E27FC236}">
                <a16:creationId xmlns:a16="http://schemas.microsoft.com/office/drawing/2014/main" id="{76EE4AAE-AF71-F7F5-5742-42D08A95082A}"/>
              </a:ext>
            </a:extLst>
          </p:cNvPr>
          <p:cNvSpPr/>
          <p:nvPr/>
        </p:nvSpPr>
        <p:spPr>
          <a:xfrm>
            <a:off x="2757596" y="3469863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F9752DE3-0114-40A8-83EB-29643F3A3227}"/>
              </a:ext>
            </a:extLst>
          </p:cNvPr>
          <p:cNvSpPr txBox="1"/>
          <p:nvPr/>
        </p:nvSpPr>
        <p:spPr>
          <a:xfrm>
            <a:off x="2302741" y="3712066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3" name="iconfont-1018-792472">
            <a:extLst>
              <a:ext uri="{FF2B5EF4-FFF2-40B4-BE49-F238E27FC236}">
                <a16:creationId xmlns:a16="http://schemas.microsoft.com/office/drawing/2014/main" id="{010959CF-D0A9-FF40-4C64-1476C5225674}"/>
              </a:ext>
            </a:extLst>
          </p:cNvPr>
          <p:cNvSpPr/>
          <p:nvPr/>
        </p:nvSpPr>
        <p:spPr>
          <a:xfrm>
            <a:off x="1479214" y="4317611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9A11310-AA18-B25A-688F-94749B9D6B98}"/>
              </a:ext>
            </a:extLst>
          </p:cNvPr>
          <p:cNvSpPr txBox="1"/>
          <p:nvPr/>
        </p:nvSpPr>
        <p:spPr>
          <a:xfrm>
            <a:off x="1077698" y="4574788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639FAB7-B6A1-7230-AD5E-A51673932C2C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</a:p>
        </p:txBody>
      </p:sp>
      <p:sp>
        <p:nvSpPr>
          <p:cNvPr id="4" name="箭头: 直角上 3">
            <a:extLst>
              <a:ext uri="{FF2B5EF4-FFF2-40B4-BE49-F238E27FC236}">
                <a16:creationId xmlns:a16="http://schemas.microsoft.com/office/drawing/2014/main" id="{655E9103-EB90-3CD7-A603-1FCE189DA305}"/>
              </a:ext>
            </a:extLst>
          </p:cNvPr>
          <p:cNvSpPr/>
          <p:nvPr/>
        </p:nvSpPr>
        <p:spPr>
          <a:xfrm rot="16200000" flipV="1">
            <a:off x="1822010" y="3257372"/>
            <a:ext cx="523218" cy="896348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箭头: 直角上 4">
            <a:extLst>
              <a:ext uri="{FF2B5EF4-FFF2-40B4-BE49-F238E27FC236}">
                <a16:creationId xmlns:a16="http://schemas.microsoft.com/office/drawing/2014/main" id="{ECCD6F90-A6A2-CAD1-B9A6-08F425F89C36}"/>
              </a:ext>
            </a:extLst>
          </p:cNvPr>
          <p:cNvSpPr/>
          <p:nvPr/>
        </p:nvSpPr>
        <p:spPr>
          <a:xfrm rot="16200000" flipV="1">
            <a:off x="3771346" y="2209839"/>
            <a:ext cx="485751" cy="1278030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7A30D5-6435-38B1-2536-BD99E8D3C123}"/>
              </a:ext>
            </a:extLst>
          </p:cNvPr>
          <p:cNvSpPr txBox="1"/>
          <p:nvPr/>
        </p:nvSpPr>
        <p:spPr>
          <a:xfrm>
            <a:off x="3388680" y="2338251"/>
            <a:ext cx="1259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Transferring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7ACA44-946A-42C9-CABB-D34DB285B74D}"/>
              </a:ext>
            </a:extLst>
          </p:cNvPr>
          <p:cNvSpPr txBox="1"/>
          <p:nvPr/>
        </p:nvSpPr>
        <p:spPr>
          <a:xfrm>
            <a:off x="1502126" y="3135479"/>
            <a:ext cx="111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Transferred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97769EBD-80AC-92E4-783B-810E8FB33583}"/>
              </a:ext>
            </a:extLst>
          </p:cNvPr>
          <p:cNvSpPr/>
          <p:nvPr/>
        </p:nvSpPr>
        <p:spPr>
          <a:xfrm>
            <a:off x="995533" y="1592737"/>
            <a:ext cx="406150" cy="2144840"/>
          </a:xfrm>
          <a:prstGeom prst="leftBrace">
            <a:avLst>
              <a:gd name="adj1" fmla="val 20841"/>
              <a:gd name="adj2" fmla="val 455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F2E993-13C0-D00E-7073-E02E01DC079F}"/>
              </a:ext>
            </a:extLst>
          </p:cNvPr>
          <p:cNvSpPr txBox="1"/>
          <p:nvPr/>
        </p:nvSpPr>
        <p:spPr>
          <a:xfrm>
            <a:off x="-453724" y="2369706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F341C6-C93F-DF5A-9BD3-E471745AC49C}"/>
              </a:ext>
            </a:extLst>
          </p:cNvPr>
          <p:cNvSpPr txBox="1"/>
          <p:nvPr/>
        </p:nvSpPr>
        <p:spPr>
          <a:xfrm>
            <a:off x="-418705" y="4240080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time-passing_150431">
            <a:extLst>
              <a:ext uri="{FF2B5EF4-FFF2-40B4-BE49-F238E27FC236}">
                <a16:creationId xmlns:a16="http://schemas.microsoft.com/office/drawing/2014/main" id="{224FF044-2ACA-2C45-73EC-D3D2676F077A}"/>
              </a:ext>
            </a:extLst>
          </p:cNvPr>
          <p:cNvSpPr/>
          <p:nvPr/>
        </p:nvSpPr>
        <p:spPr>
          <a:xfrm>
            <a:off x="1609397" y="2778133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uble-diagonal-arrow_57071">
            <a:extLst>
              <a:ext uri="{FF2B5EF4-FFF2-40B4-BE49-F238E27FC236}">
                <a16:creationId xmlns:a16="http://schemas.microsoft.com/office/drawing/2014/main" id="{12848B8F-5D0A-B1C5-1DAE-111E2B8CD5CD}"/>
              </a:ext>
            </a:extLst>
          </p:cNvPr>
          <p:cNvSpPr/>
          <p:nvPr/>
        </p:nvSpPr>
        <p:spPr>
          <a:xfrm>
            <a:off x="2225193" y="2833170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ight-bolt_192749">
            <a:extLst>
              <a:ext uri="{FF2B5EF4-FFF2-40B4-BE49-F238E27FC236}">
                <a16:creationId xmlns:a16="http://schemas.microsoft.com/office/drawing/2014/main" id="{B6B0280D-DB8E-8DE0-7D04-D8A95E0A341E}"/>
              </a:ext>
            </a:extLst>
          </p:cNvPr>
          <p:cNvSpPr/>
          <p:nvPr/>
        </p:nvSpPr>
        <p:spPr>
          <a:xfrm>
            <a:off x="3896490" y="1977488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688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4" imgH="405" progId="TCLayout.ActiveDocument.1">
                  <p:embed/>
                </p:oleObj>
              </mc:Choice>
              <mc:Fallback>
                <p:oleObj name="think-cell 幻灯片" r:id="rId1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1987FD83-4562-496F-1F5C-FF0AE6A9F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479570"/>
              </p:ext>
            </p:extLst>
          </p:nvPr>
        </p:nvGraphicFramePr>
        <p:xfrm>
          <a:off x="6725313" y="2428571"/>
          <a:ext cx="4398145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91" name="矩形 90">
            <a:extLst>
              <a:ext uri="{FF2B5EF4-FFF2-40B4-BE49-F238E27FC236}">
                <a16:creationId xmlns:a16="http://schemas.microsoft.com/office/drawing/2014/main" id="{2A75B2E2-D37D-930E-3B33-EF1FA065535C}"/>
              </a:ext>
            </a:extLst>
          </p:cNvPr>
          <p:cNvSpPr/>
          <p:nvPr/>
        </p:nvSpPr>
        <p:spPr>
          <a:xfrm>
            <a:off x="7219107" y="2329693"/>
            <a:ext cx="3543325" cy="174823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1C27984-14BA-3117-3032-E80831A01721}"/>
              </a:ext>
            </a:extLst>
          </p:cNvPr>
          <p:cNvSpPr/>
          <p:nvPr/>
        </p:nvSpPr>
        <p:spPr>
          <a:xfrm>
            <a:off x="7219107" y="4149888"/>
            <a:ext cx="3584584" cy="1368023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6617" y="332572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EEB2B4E0-7BAA-AEAB-AF03-71285B868F3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252353" y="2833483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lt"/>
                <a:ea typeface="+mn-ea"/>
                <a:cs typeface="+mn-ea"/>
                <a:sym typeface="+mn-lt"/>
              </a:rPr>
              <a:t>可插拔光模块</a:t>
            </a:r>
            <a:endParaRPr lang="en-US" altLang="zh-CN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F7E52F83-B906-C63C-D683-335A742EE24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252353" y="2428571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lt"/>
                <a:ea typeface="+mn-ea"/>
                <a:cs typeface="+mn-ea"/>
                <a:sym typeface="+mn-lt"/>
              </a:rPr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0962789" y="460960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B3E2BD4A-657D-A020-D137-31054771F2F9}"/>
              </a:ext>
            </a:extLst>
          </p:cNvPr>
          <p:cNvCxnSpPr>
            <a:cxnSpLocks/>
          </p:cNvCxnSpPr>
          <p:nvPr/>
        </p:nvCxnSpPr>
        <p:spPr>
          <a:xfrm>
            <a:off x="7314725" y="2762164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铜互连速率成为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算力释放瓶颈，光互连可突破铜互连速率上限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4" y="599016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网卡带宽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：有效传输速率，保证误码率不超过可用临界值的稳定传输速率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单通道触达</a:t>
            </a:r>
            <a:r>
              <a:rPr kumimoji="1" lang="zh-CN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有效</a:t>
            </a:r>
            <a:r>
              <a:rPr kumimoji="1" lang="zh-CN" altLang="zh-CN" b="1" dirty="0">
                <a:solidFill>
                  <a:srgbClr val="0052D9"/>
                </a:solidFill>
                <a:cs typeface="+mn-ea"/>
                <a:sym typeface="+mn-lt"/>
              </a:rPr>
              <a:t>传输速率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  <a:sym typeface="+mn-lt"/>
              </a:rPr>
              <a:t>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极限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224Gbps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，光互连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&gt;800Gbp/s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可支持算力扩充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297035" y="474013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420040" y="506999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150041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BF7C0A-CA93-B1DB-60ED-1D840E44339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6625344"/>
              </p:ext>
            </p:extLst>
          </p:nvPr>
        </p:nvGraphicFramePr>
        <p:xfrm>
          <a:off x="406016" y="2028367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光：传输速率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224Gbps =&gt; 800Gbps+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通信速率相对算力发展严重落后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基于铜互连的通信速率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，落后于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算力增幅，通信速率成为集群算力瓶颈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362654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推理算力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447162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5"/>
                </a:solidFill>
                <a:cs typeface="+mn-ea"/>
                <a:sym typeface="+mn-lt"/>
              </a:rPr>
              <a:t>训练算力</a:t>
            </a:r>
            <a:endParaRPr kumimoji="1" lang="en-US" altLang="zh-CN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1" y="4502840"/>
            <a:ext cx="102870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rgbClr val="0052D9"/>
                </a:solidFill>
                <a:cs typeface="+mn-ea"/>
                <a:sym typeface="+mn-lt"/>
              </a:rPr>
              <a:t>网络带宽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294221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297888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167901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551092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609608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78919" y="3962964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96141" y="346573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567520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4849023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037633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420040" y="452443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076133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264640" y="410624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9994099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9985817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3892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机柜间互连距离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已突破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，万卡集群千米级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23912"/>
            <a:ext cx="4919043" cy="1112155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05983-BC9A-C222-BB48-2B7148A3E89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29779" y="3011661"/>
            <a:ext cx="4876" cy="2766695"/>
          </a:xfrm>
          <a:prstGeom prst="bentConnector3">
            <a:avLst>
              <a:gd name="adj1" fmla="val -781382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601424" y="2400171"/>
            <a:ext cx="2494891" cy="1997276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735" y="4880581"/>
            <a:ext cx="318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m~km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目前通用速率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112Gbps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下，铜互连有效传输距离仅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，需采用光互连取代铜互连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859857"/>
              </p:ext>
            </p:extLst>
          </p:nvPr>
        </p:nvGraphicFramePr>
        <p:xfrm>
          <a:off x="6841656" y="2744991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269738" y="221972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有效传输距离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193194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955150" y="3785904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112G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铜互联</a:t>
            </a: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9099655" y="2359032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&gt;&gt;50m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200G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光互联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74103" y="2561802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926685" y="2555976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598684"/>
            <a:ext cx="1629561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553783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596116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铜互连传输距离成为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扩量瓶颈，光互连可突破铜互联距离上限</a:t>
            </a: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：有效传输距离，保证误码率不超过可用临界值的稳定传输距离</a:t>
            </a: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0075095" y="432147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传输速率（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Gbps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光：传输距离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10m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IDC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扩张对互连距离提出更高要求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0603" y="2399272"/>
            <a:ext cx="2489923" cy="1993299"/>
            <a:chOff x="1226694" y="2091768"/>
            <a:chExt cx="2376970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0762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6" imgW="404" imgH="405" progId="TCLayout.ActiveDocument.1">
                  <p:embed/>
                </p:oleObj>
              </mc:Choice>
              <mc:Fallback>
                <p:oleObj name="think-cell 幻灯片" r:id="rId3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方案：降低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60%+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光模块功耗，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万卡集群整体电费降低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数百万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RMB/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年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61" name="Chart 3">
            <a:extLst>
              <a:ext uri="{FF2B5EF4-FFF2-40B4-BE49-F238E27FC236}">
                <a16:creationId xmlns:a16="http://schemas.microsoft.com/office/drawing/2014/main" id="{60E08A6A-2FF2-73CB-6B93-4B7C75623DB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29458357"/>
              </p:ext>
            </p:extLst>
          </p:nvPr>
        </p:nvGraphicFramePr>
        <p:xfrm>
          <a:off x="6954838" y="2543175"/>
          <a:ext cx="4325937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9274175" y="26209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274175" y="262096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556875" y="2620962"/>
            <a:ext cx="0" cy="14049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794625" y="4041775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897813" y="4808538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78955D-E5A0-49B9-B7E1-CCC82A47AB9E}" type="datetime'铜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铜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9075738" y="3684588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734425" y="4808538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C365C8-0CB0-4B88-9626-3C99A0890C17}" type="datetime'''可''''''''插拔''''''''''''''''光''''模''''块''''''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可插拔光模块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10364788" y="4270375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358439" y="4808538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ea"/>
                <a:sym typeface="+mn-lt"/>
              </a:rPr>
              <a:pPr/>
              <a:t>CPO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537699" y="24272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781990" y="5152756"/>
            <a:ext cx="5003610" cy="1289682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），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（交换机）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B543A-19AC-3561-C18B-2FDB92856FB1}"/>
              </a:ext>
            </a:extLst>
          </p:cNvPr>
          <p:cNvSpPr/>
          <p:nvPr/>
        </p:nvSpPr>
        <p:spPr>
          <a:xfrm>
            <a:off x="11217383" y="608842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2" name="Chart 3">
            <a:extLst>
              <a:ext uri="{FF2B5EF4-FFF2-40B4-BE49-F238E27FC236}">
                <a16:creationId xmlns:a16="http://schemas.microsoft.com/office/drawing/2014/main" id="{2C61624A-E312-5B83-F08A-4089ECE623C4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474258219"/>
              </p:ext>
            </p:extLst>
          </p:nvPr>
        </p:nvGraphicFramePr>
        <p:xfrm>
          <a:off x="682625" y="2460625"/>
          <a:ext cx="4786313" cy="2735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1BDA12-AEE8-4134-5C60-C6EA46F4A231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5386388" y="4889500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C350DA0-781F-9001-54A5-56F3DBC3922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5386388" y="446563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D7EB9F4-2DBC-160E-4D54-E65265566121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5386388" y="404018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D93D83C-858F-8F88-AAB8-6F68D3618D3E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386388" y="361632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3C59829-087F-B8B1-F707-6F9BF88AA173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5386388" y="31908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16E45A7-247C-8DC0-B553-0A8E733A01A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5562600" y="47831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0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9B97D8B3-5266-2982-1A1F-9A307773FD8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5562601" y="4359275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2%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4E25710A-4DC0-8907-7590-6CEF0E5A923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5562601" y="3933825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4%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6C80E67A-470D-8548-FB10-606F145B5E7A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5562601" y="3509963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6%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467F350-8FBE-C0E8-9D8D-531F456902E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5562600" y="3084513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8%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5200A85-AF67-5FF8-729C-7A44BBF011F7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5562600" y="26606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ea"/>
                <a:sym typeface="+mn-lt"/>
              </a:rPr>
              <a:t>10%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F0CD128-9BD1-B8D7-EA7E-068A7EC90C0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 flipV="1">
            <a:off x="2770188" y="2543175"/>
            <a:ext cx="0" cy="2062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2A43F2C-0E85-4B49-D0A9-9BB8540853B2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>
            <a:off x="2770188" y="2543175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EDF609F-E657-C2FD-4D2E-3AB028971542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4749800" y="2543174"/>
            <a:ext cx="0" cy="19192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7" name="Text Placeholder 4">
            <a:extLst>
              <a:ext uri="{FF2B5EF4-FFF2-40B4-BE49-F238E27FC236}">
                <a16:creationId xmlns:a16="http://schemas.microsoft.com/office/drawing/2014/main" id="{1B137E7D-F8D1-DF59-71D2-9DAF521A528C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2376488" y="43164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1%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050F4A4-ABCB-746C-BD33-7AF4E959EDF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2212975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D9E166-2607-4DFE-ABC8-C2961A8612B8}" type="datetime'''''''''''''2''0''''''''2''''''''''''2'''''">
              <a:rPr lang="zh-CN" altLang="en-US" sz="1400" smtClean="0">
                <a:cs typeface="+mn-ea"/>
                <a:sym typeface="+mn-lt"/>
              </a:rPr>
              <a:pPr/>
              <a:t>2022</a:t>
            </a:fld>
            <a:endParaRPr lang="zh-CN" altLang="en-US" sz="1400" dirty="0">
              <a:cs typeface="+mn-ea"/>
              <a:sym typeface="+mn-lt"/>
            </a:endParaRPr>
          </a:p>
        </p:txBody>
      </p:sp>
      <p:sp useBgFill="1">
        <p:nvSpPr>
          <p:cNvPr id="20" name="Text Placeholder 4">
            <a:extLst>
              <a:ext uri="{FF2B5EF4-FFF2-40B4-BE49-F238E27FC236}">
                <a16:creationId xmlns:a16="http://schemas.microsoft.com/office/drawing/2014/main" id="{EF9DA3AD-365B-44CB-6ACE-B99CBCF2497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4241800" y="30845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8%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7BDD456-B124-C560-0DF8-F98741042E38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4192588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CCF0963-CF58-4147-8F99-C875A2430581}" type="datetime'''''2''0''''''2''''''''''8'''">
              <a:rPr lang="zh-CN" altLang="en-US" sz="1400" smtClean="0">
                <a:cs typeface="+mn-ea"/>
                <a:sym typeface="+mn-lt"/>
              </a:rPr>
              <a:pPr/>
              <a:t>2028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C79F64D-9132-1AFA-69C8-A6066192A3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3549650" y="2392363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ea"/>
                <a:sym typeface="+mn-lt"/>
              </a:rPr>
              <a:t>20</a:t>
            </a:r>
            <a:r>
              <a:rPr lang="en-US" altLang="zh-CN" sz="1400" b="1" dirty="0">
                <a:effectLst/>
                <a:cs typeface="+mn-ea"/>
                <a:sym typeface="+mn-lt"/>
              </a:rPr>
              <a:t>x</a:t>
            </a:r>
            <a:endParaRPr lang="zh-CN" altLang="en-US" sz="1400" b="1" dirty="0">
              <a:cs typeface="+mn-ea"/>
              <a:sym typeface="+mn-lt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30601F6-BB29-C5BD-FF3F-CF124258903F}"/>
              </a:ext>
            </a:extLst>
          </p:cNvPr>
          <p:cNvGrpSpPr/>
          <p:nvPr/>
        </p:nvGrpSpPr>
        <p:grpSpPr>
          <a:xfrm>
            <a:off x="762722" y="5525986"/>
            <a:ext cx="1490664" cy="147564"/>
            <a:chOff x="7056423" y="8136268"/>
            <a:chExt cx="1490965" cy="147564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0D6B96B-9FCC-2D3B-A6CB-D2E01750C713}"/>
                </a:ext>
              </a:extLst>
            </p:cNvPr>
            <p:cNvCxnSpPr/>
            <p:nvPr/>
          </p:nvCxnSpPr>
          <p:spPr>
            <a:xfrm>
              <a:off x="7056423" y="82270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CB6E258-D6B1-5657-55E4-2196B3AC2876}"/>
                </a:ext>
              </a:extLst>
            </p:cNvPr>
            <p:cNvSpPr txBox="1"/>
            <p:nvPr/>
          </p:nvSpPr>
          <p:spPr>
            <a:xfrm>
              <a:off x="7399069" y="8136268"/>
              <a:ext cx="1148319" cy="147564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光模块功耗占比（右轴） 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13C72FB-3311-2BD6-62C0-8221FF098A64}"/>
              </a:ext>
            </a:extLst>
          </p:cNvPr>
          <p:cNvGrpSpPr/>
          <p:nvPr/>
        </p:nvGrpSpPr>
        <p:grpSpPr>
          <a:xfrm>
            <a:off x="2621459" y="5473562"/>
            <a:ext cx="1467302" cy="252413"/>
            <a:chOff x="7119936" y="8370638"/>
            <a:chExt cx="1468517" cy="252413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53150B7-DADE-FE5C-F739-F581D84BE5FA}"/>
                </a:ext>
              </a:extLst>
            </p:cNvPr>
            <p:cNvSpPr txBox="1"/>
            <p:nvPr/>
          </p:nvSpPr>
          <p:spPr>
            <a:xfrm>
              <a:off x="7510927" y="8370638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全球</a:t>
              </a:r>
              <a:r>
                <a:rPr lang="en-US" altLang="zh-CN" sz="1400" dirty="0">
                  <a:cs typeface="+mn-ea"/>
                  <a:sym typeface="+mn-lt"/>
                </a:rPr>
                <a:t>IDC</a:t>
              </a:r>
              <a:r>
                <a:rPr lang="zh-CN" altLang="en-US" sz="1400" dirty="0">
                  <a:cs typeface="+mn-ea"/>
                  <a:sym typeface="+mn-lt"/>
                </a:rPr>
                <a:t>用电量（左轴） 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F604937-B6F7-CB2D-A025-6E7491B8BDE6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DC1B323-BF9F-2AE2-67C3-C56A5BDD6497}"/>
              </a:ext>
            </a:extLst>
          </p:cNvPr>
          <p:cNvGrpSpPr/>
          <p:nvPr/>
        </p:nvGrpSpPr>
        <p:grpSpPr>
          <a:xfrm>
            <a:off x="4456834" y="5452131"/>
            <a:ext cx="1312864" cy="295275"/>
            <a:chOff x="7119936" y="8356358"/>
            <a:chExt cx="1312552" cy="29487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FD540D0-E5E0-E180-C919-307C496DA945}"/>
                </a:ext>
              </a:extLst>
            </p:cNvPr>
            <p:cNvSpPr txBox="1"/>
            <p:nvPr/>
          </p:nvSpPr>
          <p:spPr>
            <a:xfrm>
              <a:off x="7470716" y="8356358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光模块功耗（左轴） 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DBB7B26-19F1-A695-7DEF-D885AF11D420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8F19C2D3-5E9F-DE88-25AF-CCC2D6738615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至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2028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年，预计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光模块能耗占比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1%=&gt;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8%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，增长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，成为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功耗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重要组成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76F9CD6-3D3D-562C-F111-32376BB40DFF}"/>
              </a:ext>
            </a:extLst>
          </p:cNvPr>
          <p:cNvSpPr txBox="1"/>
          <p:nvPr/>
        </p:nvSpPr>
        <p:spPr>
          <a:xfrm>
            <a:off x="568326" y="2215431"/>
            <a:ext cx="6149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TWh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6388540" y="2235454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单通道功耗（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可插拔光模块作为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光互连主流方案面临功耗问题，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可大幅降低功耗</a:t>
            </a: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3329CC76-C3AA-EDF8-5B5F-E2B4AA273236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E179372-5D6A-E866-3D02-CC41FA1BEB85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可插拔光模块 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=&gt; CPO</a:t>
              </a: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：功耗下降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60%+</a:t>
              </a:r>
              <a:endPara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492E42F-26BC-586E-DDFB-7A784C29C62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2" name="直线连接符 38">
              <a:extLst>
                <a:ext uri="{FF2B5EF4-FFF2-40B4-BE49-F238E27FC236}">
                  <a16:creationId xmlns:a16="http://schemas.microsoft.com/office/drawing/2014/main" id="{5EE3F395-4CD3-AE72-963B-51836EBFA5E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B53395C7-1F28-C0E5-5F0F-4716C13A71D2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光模块将成为功耗大户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4" name="直线连接符 38">
              <a:extLst>
                <a:ext uri="{FF2B5EF4-FFF2-40B4-BE49-F238E27FC236}">
                  <a16:creationId xmlns:a16="http://schemas.microsoft.com/office/drawing/2014/main" id="{50214BAF-0171-18BB-B779-50D92AB69249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：按照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扩展方案，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组网架构层数计算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2831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7" y="83348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光互连技术路径：可插拔仍为主流，巨头将商业落地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初创处于技术验证期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OIO (</a:t>
              </a:r>
              <a:r>
                <a:rPr kumimoji="1" lang="en-US" altLang="zh-CN" sz="14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初创抢先布局：</a:t>
            </a:r>
            <a:r>
              <a:rPr kumimoji="1" lang="en-US" altLang="zh-CN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OIO</a:t>
            </a:r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一步到位，</a:t>
            </a:r>
            <a:r>
              <a:rPr kumimoji="1" lang="zh-CN" altLang="en-US" sz="1400" u="sng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绕过巨头</a:t>
            </a:r>
            <a:r>
              <a:rPr kumimoji="1" lang="en-US" altLang="zh-CN" sz="1400" u="sng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u="sng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生态制约</a:t>
            </a:r>
            <a:endParaRPr kumimoji="1" lang="en-US" altLang="zh-CN" sz="1400" u="sng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极高：</a:t>
            </a:r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12.8T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bps 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验证中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)</a:t>
            </a:r>
            <a:endParaRPr lang="zh-CN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（未商用）</a:t>
            </a:r>
            <a:endParaRPr lang="zh-CN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代表厂商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414" y="3547358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221563" y="3646629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082" y="3671385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4249" y="3665625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6134764" y="4167592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71%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（未商用，玩家极少）</a:t>
            </a:r>
            <a:endParaRPr lang="zh-CN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率先认证并出货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以</a:t>
            </a:r>
            <a:r>
              <a:rPr kumimoji="1" lang="en-US" altLang="zh-CN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Demo</a:t>
            </a:r>
            <a:r>
              <a:rPr kumimoji="1"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为主，</a:t>
            </a:r>
            <a:r>
              <a:rPr kumimoji="1" lang="zh-CN" altLang="en-US" sz="1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研发与验证阶段</a:t>
            </a:r>
            <a:endParaRPr kumimoji="1" lang="zh-CN" altLang="en-US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26</a:t>
            </a:r>
            <a:r>
              <a:rPr kumimoji="1"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年中大批量产</a:t>
            </a:r>
            <a:endParaRPr kumimoji="1"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，出货</a:t>
            </a:r>
            <a:r>
              <a:rPr kumimoji="1" lang="en-US" altLang="zh-CN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1.5w </a:t>
            </a:r>
            <a:r>
              <a:rPr kumimoji="1" lang="en-US" altLang="zh-CN" sz="1200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TeraPHY</a:t>
            </a:r>
            <a:r>
              <a:rPr kumimoji="1"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样片给英伟达、台积电等做验证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786502" y="3987638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566" y="1397313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4974" y="135777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147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28263" y="146478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9262" y="1480417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58430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399261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8225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29586" y="418434"/>
            <a:ext cx="54214" cy="2142659"/>
          </a:xfrm>
          <a:prstGeom prst="bentConnector3">
            <a:avLst>
              <a:gd name="adj1" fmla="val 150756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798700" y="1256650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16200000" flipH="1">
            <a:off x="9289186" y="1275022"/>
            <a:ext cx="5567" cy="411498"/>
          </a:xfrm>
          <a:prstGeom prst="bentConnector3">
            <a:avLst>
              <a:gd name="adj1" fmla="val 584749"/>
            </a:avLst>
          </a:prstGeom>
          <a:ln>
            <a:solidFill>
              <a:srgbClr val="FF720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光信号</a:t>
            </a:r>
            <a:endParaRPr lang="zh-CN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91AE42F-07B1-8EBB-6377-FDC9B827432C}"/>
              </a:ext>
            </a:extLst>
          </p:cNvPr>
          <p:cNvSpPr/>
          <p:nvPr/>
        </p:nvSpPr>
        <p:spPr>
          <a:xfrm>
            <a:off x="11060808" y="306754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4E34B9-0199-15CE-99CA-F6127A860E28}"/>
              </a:ext>
            </a:extLst>
          </p:cNvPr>
          <p:cNvSpPr/>
          <p:nvPr/>
        </p:nvSpPr>
        <p:spPr>
          <a:xfrm>
            <a:off x="8514717" y="3601697"/>
            <a:ext cx="3032265" cy="333275"/>
          </a:xfrm>
          <a:prstGeom prst="roundRect">
            <a:avLst>
              <a:gd name="adj" fmla="val 2414"/>
            </a:avLst>
          </a:prstGeom>
          <a:solidFill>
            <a:schemeClr val="accent6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DB4B000-568B-018A-1913-0FACF1C8C8C8}"/>
              </a:ext>
            </a:extLst>
          </p:cNvPr>
          <p:cNvSpPr/>
          <p:nvPr/>
        </p:nvSpPr>
        <p:spPr>
          <a:xfrm>
            <a:off x="8514717" y="5226813"/>
            <a:ext cx="771523" cy="333275"/>
          </a:xfrm>
          <a:prstGeom prst="roundRect">
            <a:avLst>
              <a:gd name="adj" fmla="val 2414"/>
            </a:avLst>
          </a:prstGeom>
          <a:solidFill>
            <a:schemeClr val="accent6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0458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解决可插拔光模块的信息损耗、功耗、速率痛点</a:t>
            </a: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1447849" y="2820832"/>
            <a:ext cx="991020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298577" y="3421001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340382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36146" y="926664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硬制约：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走线带来高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信息损耗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 &gt;&gt; IEEE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16db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导致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信号中断</a:t>
            </a:r>
            <a:endParaRPr lang="en-US" altLang="zh-CN" sz="1600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不走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损耗仅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软制约：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长距离需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高功耗补偿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，占整体光模块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2/3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）且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限制速率</a:t>
            </a:r>
            <a:endParaRPr lang="en-US" altLang="zh-CN" sz="1600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级缩距，传输速率上限提升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50886C-697B-026F-46EB-F4126C039A9E}"/>
              </a:ext>
            </a:extLst>
          </p:cNvPr>
          <p:cNvGrpSpPr/>
          <p:nvPr/>
        </p:nvGrpSpPr>
        <p:grpSpPr>
          <a:xfrm>
            <a:off x="4473209" y="2264950"/>
            <a:ext cx="8187507" cy="4042114"/>
            <a:chOff x="2568076" y="2105163"/>
            <a:chExt cx="8187507" cy="4042114"/>
          </a:xfrm>
        </p:grpSpPr>
        <p:sp>
          <p:nvSpPr>
            <p:cNvPr id="2195" name="矩形: 圆角 2194">
              <a:extLst>
                <a:ext uri="{FF2B5EF4-FFF2-40B4-BE49-F238E27FC236}">
                  <a16:creationId xmlns:a16="http://schemas.microsoft.com/office/drawing/2014/main" id="{1E008CC3-49DA-2C0C-1789-CD0CE484D03C}"/>
                </a:ext>
              </a:extLst>
            </p:cNvPr>
            <p:cNvSpPr/>
            <p:nvPr/>
          </p:nvSpPr>
          <p:spPr>
            <a:xfrm>
              <a:off x="5330856" y="371977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ECCC2ED5-0A88-21E2-49DF-C32546F8E5BC}"/>
                </a:ext>
              </a:extLst>
            </p:cNvPr>
            <p:cNvSpPr txBox="1"/>
            <p:nvPr/>
          </p:nvSpPr>
          <p:spPr>
            <a:xfrm>
              <a:off x="3432101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正面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2583401" y="295890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2685930" y="303090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3259680" y="3290152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4511448" y="3138295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4547034" y="3138295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4513888" y="3325917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4549474" y="3325917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4511448" y="390970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4547034" y="390970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4841648" y="395931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4515178" y="3728301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4550671" y="3728301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4666026" y="348172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4666026" y="362600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4666026" y="35538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4027386" y="3187908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4028672" y="3375530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4029704" y="3676691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4028672" y="3749163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3981667" y="337476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3982953" y="372630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3983985" y="365383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3982953" y="34461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2568076" y="487752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2670605" y="494952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3268663" y="5208772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3427029" y="5383738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4568274" y="5056915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4568273" y="5244537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4568273" y="5828322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4651459" y="587793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4568273" y="5646921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3976273" y="5106528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3976938" y="5294150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3976272" y="5537266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3976539" y="5591536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3930554" y="538325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3930820" y="556867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3930553" y="551440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3931219" y="54350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783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375294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187908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4651459" y="5697064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29338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106528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3868827" y="5383747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06118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57880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37962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93466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3564677" y="5199694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3560034" y="5567772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3294369" y="5379963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293D0147-C09F-6F8D-A3D3-8B10C8E129D5}"/>
                </a:ext>
              </a:extLst>
            </p:cNvPr>
            <p:cNvGrpSpPr/>
            <p:nvPr/>
          </p:nvGrpSpPr>
          <p:grpSpPr>
            <a:xfrm>
              <a:off x="6777012" y="5355590"/>
              <a:ext cx="180133" cy="51782"/>
              <a:chOff x="7867918" y="2835520"/>
              <a:chExt cx="180133" cy="51782"/>
            </a:xfrm>
          </p:grpSpPr>
          <p:sp>
            <p:nvSpPr>
              <p:cNvPr id="2284" name="椭圆 2283">
                <a:extLst>
                  <a:ext uri="{FF2B5EF4-FFF2-40B4-BE49-F238E27FC236}">
                    <a16:creationId xmlns:a16="http://schemas.microsoft.com/office/drawing/2014/main" id="{AE6FD3A3-80B0-1E9E-F69C-44524BD73C07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85" name="椭圆 2284">
                <a:extLst>
                  <a:ext uri="{FF2B5EF4-FFF2-40B4-BE49-F238E27FC236}">
                    <a16:creationId xmlns:a16="http://schemas.microsoft.com/office/drawing/2014/main" id="{E24357DA-78BF-37D7-9509-F80E141FF0FB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07" name="矩形 2206">
              <a:extLst>
                <a:ext uri="{FF2B5EF4-FFF2-40B4-BE49-F238E27FC236}">
                  <a16:creationId xmlns:a16="http://schemas.microsoft.com/office/drawing/2014/main" id="{9D01AEB0-2411-BFDB-2528-00333FFD822E}"/>
                </a:ext>
              </a:extLst>
            </p:cNvPr>
            <p:cNvSpPr/>
            <p:nvPr/>
          </p:nvSpPr>
          <p:spPr>
            <a:xfrm>
              <a:off x="7970483" y="3468200"/>
              <a:ext cx="583239" cy="246220"/>
            </a:xfrm>
            <a:custGeom>
              <a:avLst/>
              <a:gdLst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0 w 518039"/>
                <a:gd name="connsiteY3" fmla="*/ 246220 h 246220"/>
                <a:gd name="connsiteX4" fmla="*/ 0 w 518039"/>
                <a:gd name="connsiteY4" fmla="*/ 0 h 246220"/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422160 w 518039"/>
                <a:gd name="connsiteY3" fmla="*/ 246030 h 246220"/>
                <a:gd name="connsiteX4" fmla="*/ 0 w 518039"/>
                <a:gd name="connsiteY4" fmla="*/ 246220 h 246220"/>
                <a:gd name="connsiteX5" fmla="*/ 0 w 518039"/>
                <a:gd name="connsiteY5" fmla="*/ 0 h 24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039" h="246220">
                  <a:moveTo>
                    <a:pt x="0" y="0"/>
                  </a:moveTo>
                  <a:lnTo>
                    <a:pt x="518039" y="0"/>
                  </a:lnTo>
                  <a:lnTo>
                    <a:pt x="518039" y="246220"/>
                  </a:lnTo>
                  <a:lnTo>
                    <a:pt x="422160" y="246030"/>
                  </a:lnTo>
                  <a:lnTo>
                    <a:pt x="0" y="246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2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8" name="椭圆 2217">
              <a:extLst>
                <a:ext uri="{FF2B5EF4-FFF2-40B4-BE49-F238E27FC236}">
                  <a16:creationId xmlns:a16="http://schemas.microsoft.com/office/drawing/2014/main" id="{4F68F8D8-5A4F-9AB0-A2B1-4AA8521AE26C}"/>
                </a:ext>
              </a:extLst>
            </p:cNvPr>
            <p:cNvSpPr/>
            <p:nvPr/>
          </p:nvSpPr>
          <p:spPr>
            <a:xfrm>
              <a:off x="8100201" y="3677084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9" name="椭圆 2218">
              <a:extLst>
                <a:ext uri="{FF2B5EF4-FFF2-40B4-BE49-F238E27FC236}">
                  <a16:creationId xmlns:a16="http://schemas.microsoft.com/office/drawing/2014/main" id="{697FD642-E1C7-984C-84FD-F9BA32AE213D}"/>
                </a:ext>
              </a:extLst>
            </p:cNvPr>
            <p:cNvSpPr/>
            <p:nvPr/>
          </p:nvSpPr>
          <p:spPr>
            <a:xfrm>
              <a:off x="8018472" y="3677908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16" name="组合 2215">
              <a:extLst>
                <a:ext uri="{FF2B5EF4-FFF2-40B4-BE49-F238E27FC236}">
                  <a16:creationId xmlns:a16="http://schemas.microsoft.com/office/drawing/2014/main" id="{88447058-E641-6033-8952-D70647929279}"/>
                </a:ext>
              </a:extLst>
            </p:cNvPr>
            <p:cNvGrpSpPr/>
            <p:nvPr/>
          </p:nvGrpSpPr>
          <p:grpSpPr>
            <a:xfrm>
              <a:off x="5792113" y="3427635"/>
              <a:ext cx="565185" cy="51782"/>
              <a:chOff x="7867918" y="2835520"/>
              <a:chExt cx="565185" cy="51782"/>
            </a:xfrm>
          </p:grpSpPr>
          <p:sp>
            <p:nvSpPr>
              <p:cNvPr id="2210" name="椭圆 2209">
                <a:extLst>
                  <a:ext uri="{FF2B5EF4-FFF2-40B4-BE49-F238E27FC236}">
                    <a16:creationId xmlns:a16="http://schemas.microsoft.com/office/drawing/2014/main" id="{CA5BA9F9-7CBE-A8DC-E632-02874C6EE9DD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2" name="椭圆 2211">
                <a:extLst>
                  <a:ext uri="{FF2B5EF4-FFF2-40B4-BE49-F238E27FC236}">
                    <a16:creationId xmlns:a16="http://schemas.microsoft.com/office/drawing/2014/main" id="{38157B7A-7332-FF4E-39CB-CE4F567035F6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3" name="椭圆 2212">
                <a:extLst>
                  <a:ext uri="{FF2B5EF4-FFF2-40B4-BE49-F238E27FC236}">
                    <a16:creationId xmlns:a16="http://schemas.microsoft.com/office/drawing/2014/main" id="{30AF12B0-CB8E-BA97-2FE1-598E1F01918C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4" name="椭圆 2213">
                <a:extLst>
                  <a:ext uri="{FF2B5EF4-FFF2-40B4-BE49-F238E27FC236}">
                    <a16:creationId xmlns:a16="http://schemas.microsoft.com/office/drawing/2014/main" id="{F8570447-E39D-1361-7A43-AA47875F2729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5" name="椭圆 2214">
                <a:extLst>
                  <a:ext uri="{FF2B5EF4-FFF2-40B4-BE49-F238E27FC236}">
                    <a16:creationId xmlns:a16="http://schemas.microsoft.com/office/drawing/2014/main" id="{48899A2D-3DEA-B68D-20ED-9FB5F2AEA527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D173D587-F239-6090-3BB5-3FD3512DB4C5}"/>
                </a:ext>
              </a:extLst>
            </p:cNvPr>
            <p:cNvGrpSpPr/>
            <p:nvPr/>
          </p:nvGrpSpPr>
          <p:grpSpPr>
            <a:xfrm>
              <a:off x="5756277" y="3667993"/>
              <a:ext cx="1049169" cy="51782"/>
              <a:chOff x="7142854" y="3452768"/>
              <a:chExt cx="1049169" cy="51782"/>
            </a:xfrm>
          </p:grpSpPr>
          <p:sp>
            <p:nvSpPr>
              <p:cNvPr id="2197" name="椭圆 2196">
                <a:extLst>
                  <a:ext uri="{FF2B5EF4-FFF2-40B4-BE49-F238E27FC236}">
                    <a16:creationId xmlns:a16="http://schemas.microsoft.com/office/drawing/2014/main" id="{8ABCF628-3AF5-004E-C79D-36DC0313349F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8" name="椭圆 2197">
                <a:extLst>
                  <a:ext uri="{FF2B5EF4-FFF2-40B4-BE49-F238E27FC236}">
                    <a16:creationId xmlns:a16="http://schemas.microsoft.com/office/drawing/2014/main" id="{4602E9E2-13BE-B2DE-BE32-81AD1B8D9C35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9" name="椭圆 2198">
                <a:extLst>
                  <a:ext uri="{FF2B5EF4-FFF2-40B4-BE49-F238E27FC236}">
                    <a16:creationId xmlns:a16="http://schemas.microsoft.com/office/drawing/2014/main" id="{C35EC5BA-E3D0-A6BF-8B4D-32CD24E466FE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0" name="椭圆 2199">
                <a:extLst>
                  <a:ext uri="{FF2B5EF4-FFF2-40B4-BE49-F238E27FC236}">
                    <a16:creationId xmlns:a16="http://schemas.microsoft.com/office/drawing/2014/main" id="{86899C8A-820B-5595-CF80-7635EFF3B8FB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1" name="椭圆 2200">
                <a:extLst>
                  <a:ext uri="{FF2B5EF4-FFF2-40B4-BE49-F238E27FC236}">
                    <a16:creationId xmlns:a16="http://schemas.microsoft.com/office/drawing/2014/main" id="{FB518041-1704-7B53-FAC9-036F2F9391CB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2" name="椭圆 2201">
                <a:extLst>
                  <a:ext uri="{FF2B5EF4-FFF2-40B4-BE49-F238E27FC236}">
                    <a16:creationId xmlns:a16="http://schemas.microsoft.com/office/drawing/2014/main" id="{910145BF-E1E5-1AA7-6FD0-D639FBFCFC9F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1938A181-D8E7-F0C8-3BBF-FF91B86C52D1}"/>
                </a:ext>
              </a:extLst>
            </p:cNvPr>
            <p:cNvSpPr txBox="1"/>
            <p:nvPr/>
          </p:nvSpPr>
          <p:spPr>
            <a:xfrm>
              <a:off x="6282008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侧面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B3DB5D86-7298-E069-2C2F-CEA180A43E86}"/>
                </a:ext>
              </a:extLst>
            </p:cNvPr>
            <p:cNvSpPr txBox="1"/>
            <p:nvPr/>
          </p:nvSpPr>
          <p:spPr>
            <a:xfrm>
              <a:off x="5360854" y="373841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96" name="矩形: 圆角 2195">
              <a:extLst>
                <a:ext uri="{FF2B5EF4-FFF2-40B4-BE49-F238E27FC236}">
                  <a16:creationId xmlns:a16="http://schemas.microsoft.com/office/drawing/2014/main" id="{A9689017-7DD6-76F0-78D5-C96A6E551E36}"/>
                </a:ext>
              </a:extLst>
            </p:cNvPr>
            <p:cNvSpPr/>
            <p:nvPr/>
          </p:nvSpPr>
          <p:spPr>
            <a:xfrm>
              <a:off x="5560302" y="347240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4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A3BFFFB6-29D2-A4FF-FB48-E365C59291FE}"/>
                </a:ext>
              </a:extLst>
            </p:cNvPr>
            <p:cNvSpPr txBox="1"/>
            <p:nvPr/>
          </p:nvSpPr>
          <p:spPr>
            <a:xfrm>
              <a:off x="5557540" y="345136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5" name="矩形: 圆角 2204">
              <a:extLst>
                <a:ext uri="{FF2B5EF4-FFF2-40B4-BE49-F238E27FC236}">
                  <a16:creationId xmlns:a16="http://schemas.microsoft.com/office/drawing/2014/main" id="{FC3D11DF-B48F-22F8-3A54-3F120F0497FF}"/>
                </a:ext>
              </a:extLst>
            </p:cNvPr>
            <p:cNvSpPr/>
            <p:nvPr/>
          </p:nvSpPr>
          <p:spPr>
            <a:xfrm>
              <a:off x="5762833" y="327806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6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0172ECF7-A8D8-FF33-A5CD-62523203A418}"/>
                </a:ext>
              </a:extLst>
            </p:cNvPr>
            <p:cNvSpPr txBox="1"/>
            <p:nvPr/>
          </p:nvSpPr>
          <p:spPr>
            <a:xfrm>
              <a:off x="5874015" y="323343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8" name="矩形 2207">
              <a:extLst>
                <a:ext uri="{FF2B5EF4-FFF2-40B4-BE49-F238E27FC236}">
                  <a16:creationId xmlns:a16="http://schemas.microsoft.com/office/drawing/2014/main" id="{5729BD6E-BD70-026D-D0A9-18CBAA9331F4}"/>
                </a:ext>
              </a:extLst>
            </p:cNvPr>
            <p:cNvSpPr/>
            <p:nvPr/>
          </p:nvSpPr>
          <p:spPr>
            <a:xfrm>
              <a:off x="8180455" y="3552471"/>
              <a:ext cx="196913" cy="12422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24" name="直接连接符 2223">
              <a:extLst>
                <a:ext uri="{FF2B5EF4-FFF2-40B4-BE49-F238E27FC236}">
                  <a16:creationId xmlns:a16="http://schemas.microsoft.com/office/drawing/2014/main" id="{62AA3A83-4266-4CAE-BBFD-2A54070AF530}"/>
                </a:ext>
              </a:extLst>
            </p:cNvPr>
            <p:cNvCxnSpPr>
              <a:cxnSpLocks/>
              <a:stCxn id="2208" idx="3"/>
            </p:cNvCxnSpPr>
            <p:nvPr/>
          </p:nvCxnSpPr>
          <p:spPr>
            <a:xfrm>
              <a:off x="8377368" y="3614581"/>
              <a:ext cx="687160" cy="2331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5" name="椭圆 2224">
              <a:extLst>
                <a:ext uri="{FF2B5EF4-FFF2-40B4-BE49-F238E27FC236}">
                  <a16:creationId xmlns:a16="http://schemas.microsoft.com/office/drawing/2014/main" id="{C7061CA2-8A37-562B-4D0B-B6D8EB4B0A9B}"/>
                </a:ext>
              </a:extLst>
            </p:cNvPr>
            <p:cNvSpPr/>
            <p:nvPr/>
          </p:nvSpPr>
          <p:spPr>
            <a:xfrm>
              <a:off x="8594229" y="352406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6" name="文本框 2225">
              <a:extLst>
                <a:ext uri="{FF2B5EF4-FFF2-40B4-BE49-F238E27FC236}">
                  <a16:creationId xmlns:a16="http://schemas.microsoft.com/office/drawing/2014/main" id="{455C7CC0-F6B0-B45C-7FA1-54946414C3CC}"/>
                </a:ext>
              </a:extLst>
            </p:cNvPr>
            <p:cNvSpPr txBox="1"/>
            <p:nvPr/>
          </p:nvSpPr>
          <p:spPr>
            <a:xfrm>
              <a:off x="5634495" y="2927195"/>
              <a:ext cx="92286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27" name="文本框 2226">
              <a:extLst>
                <a:ext uri="{FF2B5EF4-FFF2-40B4-BE49-F238E27FC236}">
                  <a16:creationId xmlns:a16="http://schemas.microsoft.com/office/drawing/2014/main" id="{65F1A0DD-FDE9-FF90-E031-F979EAB49F85}"/>
                </a:ext>
              </a:extLst>
            </p:cNvPr>
            <p:cNvSpPr txBox="1"/>
            <p:nvPr/>
          </p:nvSpPr>
          <p:spPr>
            <a:xfrm>
              <a:off x="6669921" y="2972902"/>
              <a:ext cx="3227870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光模块：</a:t>
              </a: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30W</a:t>
              </a:r>
              <a:r>
                <a:rPr kumimoji="1" lang="en-US" altLang="zh-CN" sz="1400" baseline="30000" dirty="0">
                  <a:solidFill>
                    <a:srgbClr val="0052D9"/>
                  </a:solidFill>
                  <a:cs typeface="+mn-ea"/>
                  <a:sym typeface="+mn-lt"/>
                </a:rPr>
                <a:t>1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数字信号处理器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 + 10W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光引擎，含光源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</a:t>
              </a:r>
            </a:p>
          </p:txBody>
        </p:sp>
        <p:cxnSp>
          <p:nvCxnSpPr>
            <p:cNvPr id="2229" name="直接连接符 2228">
              <a:extLst>
                <a:ext uri="{FF2B5EF4-FFF2-40B4-BE49-F238E27FC236}">
                  <a16:creationId xmlns:a16="http://schemas.microsoft.com/office/drawing/2014/main" id="{9557C8EE-3643-9A2D-2E7A-141A75053537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344339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直接连接符 2235">
              <a:extLst>
                <a:ext uri="{FF2B5EF4-FFF2-40B4-BE49-F238E27FC236}">
                  <a16:creationId xmlns:a16="http://schemas.microsoft.com/office/drawing/2014/main" id="{0EB20CDE-E882-220D-0F19-FED55ADB4629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3512978"/>
              <a:ext cx="246441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直接连接符 2238">
              <a:extLst>
                <a:ext uri="{FF2B5EF4-FFF2-40B4-BE49-F238E27FC236}">
                  <a16:creationId xmlns:a16="http://schemas.microsoft.com/office/drawing/2014/main" id="{3BB8C5A6-EF61-9080-E5D5-A159AE033667}"/>
                </a:ext>
              </a:extLst>
            </p:cNvPr>
            <p:cNvCxnSpPr>
              <a:cxnSpLocks/>
            </p:cNvCxnSpPr>
            <p:nvPr/>
          </p:nvCxnSpPr>
          <p:spPr>
            <a:xfrm>
              <a:off x="6576272" y="3509774"/>
              <a:ext cx="0" cy="246105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直接连接符 2240">
              <a:extLst>
                <a:ext uri="{FF2B5EF4-FFF2-40B4-BE49-F238E27FC236}">
                  <a16:creationId xmlns:a16="http://schemas.microsoft.com/office/drawing/2014/main" id="{8DA9BE6F-0C56-E310-3B45-5ECC625C7DBF}"/>
                </a:ext>
              </a:extLst>
            </p:cNvPr>
            <p:cNvCxnSpPr>
              <a:cxnSpLocks/>
            </p:cNvCxnSpPr>
            <p:nvPr/>
          </p:nvCxnSpPr>
          <p:spPr>
            <a:xfrm>
              <a:off x="6574684" y="3754291"/>
              <a:ext cx="1469679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直接连接符 2243">
              <a:extLst>
                <a:ext uri="{FF2B5EF4-FFF2-40B4-BE49-F238E27FC236}">
                  <a16:creationId xmlns:a16="http://schemas.microsoft.com/office/drawing/2014/main" id="{58C058FE-4759-2C16-CE42-2F324A539B69}"/>
                </a:ext>
              </a:extLst>
            </p:cNvPr>
            <p:cNvCxnSpPr>
              <a:cxnSpLocks/>
            </p:cNvCxnSpPr>
            <p:nvPr/>
          </p:nvCxnSpPr>
          <p:spPr>
            <a:xfrm>
              <a:off x="8044363" y="3682672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0" name="组合 2249">
              <a:extLst>
                <a:ext uri="{FF2B5EF4-FFF2-40B4-BE49-F238E27FC236}">
                  <a16:creationId xmlns:a16="http://schemas.microsoft.com/office/drawing/2014/main" id="{FA361268-33C5-5237-7382-702CAA895B30}"/>
                </a:ext>
              </a:extLst>
            </p:cNvPr>
            <p:cNvGrpSpPr/>
            <p:nvPr/>
          </p:nvGrpSpPr>
          <p:grpSpPr>
            <a:xfrm>
              <a:off x="5792113" y="5359855"/>
              <a:ext cx="565185" cy="51782"/>
              <a:chOff x="7867918" y="2835520"/>
              <a:chExt cx="565185" cy="51782"/>
            </a:xfrm>
          </p:grpSpPr>
          <p:sp>
            <p:nvSpPr>
              <p:cNvPr id="2251" name="椭圆 2250">
                <a:extLst>
                  <a:ext uri="{FF2B5EF4-FFF2-40B4-BE49-F238E27FC236}">
                    <a16:creationId xmlns:a16="http://schemas.microsoft.com/office/drawing/2014/main" id="{CE867EE8-784B-7EA0-2AE4-38FB744C7858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2" name="椭圆 2251">
                <a:extLst>
                  <a:ext uri="{FF2B5EF4-FFF2-40B4-BE49-F238E27FC236}">
                    <a16:creationId xmlns:a16="http://schemas.microsoft.com/office/drawing/2014/main" id="{512F357D-5791-B114-77F8-EDDD352ACB31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3" name="椭圆 2252">
                <a:extLst>
                  <a:ext uri="{FF2B5EF4-FFF2-40B4-BE49-F238E27FC236}">
                    <a16:creationId xmlns:a16="http://schemas.microsoft.com/office/drawing/2014/main" id="{B1450D27-52E0-8897-595C-4491F2883DC7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4" name="椭圆 2253">
                <a:extLst>
                  <a:ext uri="{FF2B5EF4-FFF2-40B4-BE49-F238E27FC236}">
                    <a16:creationId xmlns:a16="http://schemas.microsoft.com/office/drawing/2014/main" id="{4AB83A58-3FB7-570C-5F2F-2E10CEE141AA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5" name="椭圆 2254">
                <a:extLst>
                  <a:ext uri="{FF2B5EF4-FFF2-40B4-BE49-F238E27FC236}">
                    <a16:creationId xmlns:a16="http://schemas.microsoft.com/office/drawing/2014/main" id="{237EA7FA-0F9D-03AD-06B3-F3C688B2BE6E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56" name="组合 2255">
              <a:extLst>
                <a:ext uri="{FF2B5EF4-FFF2-40B4-BE49-F238E27FC236}">
                  <a16:creationId xmlns:a16="http://schemas.microsoft.com/office/drawing/2014/main" id="{104F4237-0ECE-FAC8-C76A-5C74B430FDEE}"/>
                </a:ext>
              </a:extLst>
            </p:cNvPr>
            <p:cNvGrpSpPr/>
            <p:nvPr/>
          </p:nvGrpSpPr>
          <p:grpSpPr>
            <a:xfrm>
              <a:off x="5756277" y="5600213"/>
              <a:ext cx="1049169" cy="51782"/>
              <a:chOff x="7142854" y="3452768"/>
              <a:chExt cx="1049169" cy="51782"/>
            </a:xfrm>
          </p:grpSpPr>
          <p:sp>
            <p:nvSpPr>
              <p:cNvPr id="2257" name="椭圆 2256">
                <a:extLst>
                  <a:ext uri="{FF2B5EF4-FFF2-40B4-BE49-F238E27FC236}">
                    <a16:creationId xmlns:a16="http://schemas.microsoft.com/office/drawing/2014/main" id="{71E17CA2-D1CB-90B1-1378-AAFEF7CAB994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8" name="椭圆 2257">
                <a:extLst>
                  <a:ext uri="{FF2B5EF4-FFF2-40B4-BE49-F238E27FC236}">
                    <a16:creationId xmlns:a16="http://schemas.microsoft.com/office/drawing/2014/main" id="{AD8B3459-9F75-972C-5BD1-0FA76EEE997C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9" name="椭圆 2258">
                <a:extLst>
                  <a:ext uri="{FF2B5EF4-FFF2-40B4-BE49-F238E27FC236}">
                    <a16:creationId xmlns:a16="http://schemas.microsoft.com/office/drawing/2014/main" id="{19AB80E7-AAE6-1430-0645-C6228172DB21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0" name="椭圆 2259">
                <a:extLst>
                  <a:ext uri="{FF2B5EF4-FFF2-40B4-BE49-F238E27FC236}">
                    <a16:creationId xmlns:a16="http://schemas.microsoft.com/office/drawing/2014/main" id="{B1574E16-4F59-CDE9-8941-ADCF0B47ED1D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1" name="椭圆 2260">
                <a:extLst>
                  <a:ext uri="{FF2B5EF4-FFF2-40B4-BE49-F238E27FC236}">
                    <a16:creationId xmlns:a16="http://schemas.microsoft.com/office/drawing/2014/main" id="{51082EBD-8CE3-8786-8F1B-69B0D0FF5F46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2" name="椭圆 2261">
                <a:extLst>
                  <a:ext uri="{FF2B5EF4-FFF2-40B4-BE49-F238E27FC236}">
                    <a16:creationId xmlns:a16="http://schemas.microsoft.com/office/drawing/2014/main" id="{8DB8E0BF-6BD1-1DCE-7734-AB525E2B7614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64" name="矩形: 圆角 2263">
              <a:extLst>
                <a:ext uri="{FF2B5EF4-FFF2-40B4-BE49-F238E27FC236}">
                  <a16:creationId xmlns:a16="http://schemas.microsoft.com/office/drawing/2014/main" id="{FA1199EA-B4C2-CF1A-6C6B-5DFDEBA7396A}"/>
                </a:ext>
              </a:extLst>
            </p:cNvPr>
            <p:cNvSpPr/>
            <p:nvPr/>
          </p:nvSpPr>
          <p:spPr>
            <a:xfrm>
              <a:off x="5330856" y="565199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5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9FD425D7-822D-9513-9EAD-EBC21FB6314B}"/>
                </a:ext>
              </a:extLst>
            </p:cNvPr>
            <p:cNvSpPr txBox="1"/>
            <p:nvPr/>
          </p:nvSpPr>
          <p:spPr>
            <a:xfrm>
              <a:off x="5360854" y="567063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6" name="矩形: 圆角 2265">
              <a:extLst>
                <a:ext uri="{FF2B5EF4-FFF2-40B4-BE49-F238E27FC236}">
                  <a16:creationId xmlns:a16="http://schemas.microsoft.com/office/drawing/2014/main" id="{FE22F93E-1D6A-3B68-0211-EC2A88AE0634}"/>
                </a:ext>
              </a:extLst>
            </p:cNvPr>
            <p:cNvSpPr/>
            <p:nvPr/>
          </p:nvSpPr>
          <p:spPr>
            <a:xfrm>
              <a:off x="5560302" y="540462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7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C02EEDB5-3528-FAE8-0B9A-EF98C6094930}"/>
                </a:ext>
              </a:extLst>
            </p:cNvPr>
            <p:cNvSpPr txBox="1"/>
            <p:nvPr/>
          </p:nvSpPr>
          <p:spPr>
            <a:xfrm>
              <a:off x="5557540" y="538358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8" name="矩形: 圆角 2267">
              <a:extLst>
                <a:ext uri="{FF2B5EF4-FFF2-40B4-BE49-F238E27FC236}">
                  <a16:creationId xmlns:a16="http://schemas.microsoft.com/office/drawing/2014/main" id="{C85569D9-DA69-AA91-EE22-A97E96711DB2}"/>
                </a:ext>
              </a:extLst>
            </p:cNvPr>
            <p:cNvSpPr/>
            <p:nvPr/>
          </p:nvSpPr>
          <p:spPr>
            <a:xfrm>
              <a:off x="5762833" y="521028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9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EBBBC45-249E-1216-FBF3-27F624E7F983}"/>
                </a:ext>
              </a:extLst>
            </p:cNvPr>
            <p:cNvSpPr txBox="1"/>
            <p:nvPr/>
          </p:nvSpPr>
          <p:spPr>
            <a:xfrm>
              <a:off x="5874015" y="516565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70" name="矩形 2269">
              <a:extLst>
                <a:ext uri="{FF2B5EF4-FFF2-40B4-BE49-F238E27FC236}">
                  <a16:creationId xmlns:a16="http://schemas.microsoft.com/office/drawing/2014/main" id="{F8D7BD25-F9C1-3DA6-3512-B4DB765C4A05}"/>
                </a:ext>
              </a:extLst>
            </p:cNvPr>
            <p:cNvSpPr/>
            <p:nvPr/>
          </p:nvSpPr>
          <p:spPr>
            <a:xfrm>
              <a:off x="8199553" y="5468340"/>
              <a:ext cx="160995" cy="178299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72" name="直接连接符 2271">
              <a:extLst>
                <a:ext uri="{FF2B5EF4-FFF2-40B4-BE49-F238E27FC236}">
                  <a16:creationId xmlns:a16="http://schemas.microsoft.com/office/drawing/2014/main" id="{E100FBD0-82FA-926D-1539-9BF437657691}"/>
                </a:ext>
              </a:extLst>
            </p:cNvPr>
            <p:cNvCxnSpPr>
              <a:cxnSpLocks/>
            </p:cNvCxnSpPr>
            <p:nvPr/>
          </p:nvCxnSpPr>
          <p:spPr>
            <a:xfrm>
              <a:off x="7317333" y="5549131"/>
              <a:ext cx="1658150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3" name="椭圆 2272">
              <a:extLst>
                <a:ext uri="{FF2B5EF4-FFF2-40B4-BE49-F238E27FC236}">
                  <a16:creationId xmlns:a16="http://schemas.microsoft.com/office/drawing/2014/main" id="{D0FB83C0-5D0D-82B6-CBCD-A5DE0610F40A}"/>
                </a:ext>
              </a:extLst>
            </p:cNvPr>
            <p:cNvSpPr/>
            <p:nvPr/>
          </p:nvSpPr>
          <p:spPr>
            <a:xfrm>
              <a:off x="8594229" y="545628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4" name="文本框 2273">
              <a:extLst>
                <a:ext uri="{FF2B5EF4-FFF2-40B4-BE49-F238E27FC236}">
                  <a16:creationId xmlns:a16="http://schemas.microsoft.com/office/drawing/2014/main" id="{4CEBBF05-9ED7-45E3-F1CD-E8E480E1E2C2}"/>
                </a:ext>
              </a:extLst>
            </p:cNvPr>
            <p:cNvSpPr txBox="1"/>
            <p:nvPr/>
          </p:nvSpPr>
          <p:spPr>
            <a:xfrm>
              <a:off x="5587594" y="4868277"/>
              <a:ext cx="954142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75" name="文本框 2274">
              <a:extLst>
                <a:ext uri="{FF2B5EF4-FFF2-40B4-BE49-F238E27FC236}">
                  <a16:creationId xmlns:a16="http://schemas.microsoft.com/office/drawing/2014/main" id="{6391F045-3E0C-4C11-BE09-1E81CE2F8190}"/>
                </a:ext>
              </a:extLst>
            </p:cNvPr>
            <p:cNvSpPr txBox="1"/>
            <p:nvPr/>
          </p:nvSpPr>
          <p:spPr>
            <a:xfrm>
              <a:off x="7644385" y="5092875"/>
              <a:ext cx="134697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外置光源：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2W</a:t>
              </a:r>
            </a:p>
          </p:txBody>
        </p:sp>
        <p:cxnSp>
          <p:nvCxnSpPr>
            <p:cNvPr id="2276" name="直接连接符 2275">
              <a:extLst>
                <a:ext uri="{FF2B5EF4-FFF2-40B4-BE49-F238E27FC236}">
                  <a16:creationId xmlns:a16="http://schemas.microsoft.com/office/drawing/2014/main" id="{285E3344-6D39-AA0B-6F38-F5AC3941F282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537561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直接连接符 2276">
              <a:extLst>
                <a:ext uri="{FF2B5EF4-FFF2-40B4-BE49-F238E27FC236}">
                  <a16:creationId xmlns:a16="http://schemas.microsoft.com/office/drawing/2014/main" id="{1F0623B0-B366-3726-28B5-EC3405D1B9BF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5445198"/>
              <a:ext cx="47632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接连接符 2279">
              <a:extLst>
                <a:ext uri="{FF2B5EF4-FFF2-40B4-BE49-F238E27FC236}">
                  <a16:creationId xmlns:a16="http://schemas.microsoft.com/office/drawing/2014/main" id="{3CA154A8-D81D-3F84-BD29-5F4C81D1B490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73" y="5356800"/>
              <a:ext cx="0" cy="89316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2" name="矩形 2281">
              <a:extLst>
                <a:ext uri="{FF2B5EF4-FFF2-40B4-BE49-F238E27FC236}">
                  <a16:creationId xmlns:a16="http://schemas.microsoft.com/office/drawing/2014/main" id="{C4CB0141-DC23-7B97-F507-DDBF687B0693}"/>
                </a:ext>
              </a:extLst>
            </p:cNvPr>
            <p:cNvSpPr/>
            <p:nvPr/>
          </p:nvSpPr>
          <p:spPr>
            <a:xfrm>
              <a:off x="6769328" y="5237672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6" name="文本框 2285">
              <a:extLst>
                <a:ext uri="{FF2B5EF4-FFF2-40B4-BE49-F238E27FC236}">
                  <a16:creationId xmlns:a16="http://schemas.microsoft.com/office/drawing/2014/main" id="{C4F3FA20-ED2F-D8A3-57F6-9D5CAF9BE563}"/>
                </a:ext>
              </a:extLst>
            </p:cNvPr>
            <p:cNvSpPr txBox="1"/>
            <p:nvPr/>
          </p:nvSpPr>
          <p:spPr>
            <a:xfrm>
              <a:off x="6635783" y="4858874"/>
              <a:ext cx="104863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7W</a:t>
              </a:r>
            </a:p>
          </p:txBody>
        </p:sp>
        <p:cxnSp>
          <p:nvCxnSpPr>
            <p:cNvPr id="2293" name="直接连接符 2292">
              <a:extLst>
                <a:ext uri="{FF2B5EF4-FFF2-40B4-BE49-F238E27FC236}">
                  <a16:creationId xmlns:a16="http://schemas.microsoft.com/office/drawing/2014/main" id="{9A251054-255C-BF2D-077F-658927E18F9F}"/>
                </a:ext>
              </a:extLst>
            </p:cNvPr>
            <p:cNvCxnSpPr>
              <a:cxnSpLocks/>
            </p:cNvCxnSpPr>
            <p:nvPr/>
          </p:nvCxnSpPr>
          <p:spPr>
            <a:xfrm>
              <a:off x="6964908" y="5304656"/>
              <a:ext cx="358775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直接连接符 2294">
              <a:extLst>
                <a:ext uri="{FF2B5EF4-FFF2-40B4-BE49-F238E27FC236}">
                  <a16:creationId xmlns:a16="http://schemas.microsoft.com/office/drawing/2014/main" id="{AEA847F6-D574-A430-6A5E-507518DBE31D}"/>
                </a:ext>
              </a:extLst>
            </p:cNvPr>
            <p:cNvCxnSpPr>
              <a:cxnSpLocks/>
            </p:cNvCxnSpPr>
            <p:nvPr/>
          </p:nvCxnSpPr>
          <p:spPr>
            <a:xfrm>
              <a:off x="7320508" y="5297530"/>
              <a:ext cx="0" cy="25224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7" name="矩形 2296">
              <a:extLst>
                <a:ext uri="{FF2B5EF4-FFF2-40B4-BE49-F238E27FC236}">
                  <a16:creationId xmlns:a16="http://schemas.microsoft.com/office/drawing/2014/main" id="{BDDD23E1-A576-068D-5EFB-FB8F2DF60D2E}"/>
                </a:ext>
              </a:extLst>
            </p:cNvPr>
            <p:cNvSpPr/>
            <p:nvPr/>
          </p:nvSpPr>
          <p:spPr>
            <a:xfrm>
              <a:off x="8166810" y="5521456"/>
              <a:ext cx="238490" cy="496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39F46A2D-EB35-B179-00C5-9AC49FE23C20}"/>
                </a:ext>
              </a:extLst>
            </p:cNvPr>
            <p:cNvCxnSpPr>
              <a:cxnSpLocks/>
              <a:stCxn id="2208" idx="2"/>
              <a:endCxn id="2282" idx="0"/>
            </p:cNvCxnSpPr>
            <p:nvPr/>
          </p:nvCxnSpPr>
          <p:spPr>
            <a:xfrm rot="5400000">
              <a:off x="6792859" y="3751618"/>
              <a:ext cx="1560981" cy="1411127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0052D9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EE17CA1-B873-58C8-C886-BEDAF753562F}"/>
                </a:ext>
              </a:extLst>
            </p:cNvPr>
            <p:cNvSpPr/>
            <p:nvPr/>
          </p:nvSpPr>
          <p:spPr>
            <a:xfrm>
              <a:off x="8004102" y="3553862"/>
              <a:ext cx="163588" cy="12282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5" name="椭圆 2244">
              <a:extLst>
                <a:ext uri="{FF2B5EF4-FFF2-40B4-BE49-F238E27FC236}">
                  <a16:creationId xmlns:a16="http://schemas.microsoft.com/office/drawing/2014/main" id="{493B989A-0BAA-46CC-573B-65C09D39CF00}"/>
                </a:ext>
              </a:extLst>
            </p:cNvPr>
            <p:cNvSpPr/>
            <p:nvPr/>
          </p:nvSpPr>
          <p:spPr>
            <a:xfrm>
              <a:off x="8286097" y="3675867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6" name="椭圆 2245">
              <a:extLst>
                <a:ext uri="{FF2B5EF4-FFF2-40B4-BE49-F238E27FC236}">
                  <a16:creationId xmlns:a16="http://schemas.microsoft.com/office/drawing/2014/main" id="{8E212FC6-BB78-F14B-0660-4327A0CDE51F}"/>
                </a:ext>
              </a:extLst>
            </p:cNvPr>
            <p:cNvSpPr/>
            <p:nvPr/>
          </p:nvSpPr>
          <p:spPr>
            <a:xfrm>
              <a:off x="8204368" y="3676691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47" name="直接连接符 2246">
              <a:extLst>
                <a:ext uri="{FF2B5EF4-FFF2-40B4-BE49-F238E27FC236}">
                  <a16:creationId xmlns:a16="http://schemas.microsoft.com/office/drawing/2014/main" id="{4BEC45EB-6ECD-9D67-10A7-2909C80F2BCA}"/>
                </a:ext>
              </a:extLst>
            </p:cNvPr>
            <p:cNvCxnSpPr>
              <a:cxnSpLocks/>
            </p:cNvCxnSpPr>
            <p:nvPr/>
          </p:nvCxnSpPr>
          <p:spPr>
            <a:xfrm>
              <a:off x="8123238" y="3752339"/>
              <a:ext cx="11003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1" name="直接连接符 2270">
              <a:extLst>
                <a:ext uri="{FF2B5EF4-FFF2-40B4-BE49-F238E27FC236}">
                  <a16:creationId xmlns:a16="http://schemas.microsoft.com/office/drawing/2014/main" id="{7F730EB3-8D5A-9C97-39B7-82D20ADC53BE}"/>
                </a:ext>
              </a:extLst>
            </p:cNvPr>
            <p:cNvCxnSpPr>
              <a:cxnSpLocks/>
            </p:cNvCxnSpPr>
            <p:nvPr/>
          </p:nvCxnSpPr>
          <p:spPr>
            <a:xfrm>
              <a:off x="8233275" y="3680720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直接连接符 2286">
              <a:extLst>
                <a:ext uri="{FF2B5EF4-FFF2-40B4-BE49-F238E27FC236}">
                  <a16:creationId xmlns:a16="http://schemas.microsoft.com/office/drawing/2014/main" id="{69F62410-1C97-AD9E-0107-EDC00361AFA5}"/>
                </a:ext>
              </a:extLst>
            </p:cNvPr>
            <p:cNvCxnSpPr>
              <a:cxnSpLocks/>
            </p:cNvCxnSpPr>
            <p:nvPr/>
          </p:nvCxnSpPr>
          <p:spPr>
            <a:xfrm>
              <a:off x="8126913" y="3681969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直接箭头连接符 2302">
              <a:extLst>
                <a:ext uri="{FF2B5EF4-FFF2-40B4-BE49-F238E27FC236}">
                  <a16:creationId xmlns:a16="http://schemas.microsoft.com/office/drawing/2014/main" id="{BC55CDD2-E772-C35E-78E6-6D89D2399390}"/>
                </a:ext>
              </a:extLst>
            </p:cNvPr>
            <p:cNvCxnSpPr>
              <a:cxnSpLocks/>
            </p:cNvCxnSpPr>
            <p:nvPr/>
          </p:nvCxnSpPr>
          <p:spPr>
            <a:xfrm>
              <a:off x="8275502" y="4453404"/>
              <a:ext cx="0" cy="1014936"/>
            </a:xfrm>
            <a:prstGeom prst="straightConnector1">
              <a:avLst/>
            </a:prstGeom>
            <a:ln w="952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34DDFF-3CD2-B224-D30A-9AAF270E7E99}"/>
              </a:ext>
            </a:extLst>
          </p:cNvPr>
          <p:cNvGrpSpPr/>
          <p:nvPr/>
        </p:nvGrpSpPr>
        <p:grpSpPr>
          <a:xfrm>
            <a:off x="3021878" y="2264950"/>
            <a:ext cx="4498799" cy="3469687"/>
            <a:chOff x="9988296" y="2105163"/>
            <a:chExt cx="4498799" cy="3469687"/>
          </a:xfrm>
        </p:grpSpPr>
        <p:sp>
          <p:nvSpPr>
            <p:cNvPr id="2309" name="文本框 2308">
              <a:extLst>
                <a:ext uri="{FF2B5EF4-FFF2-40B4-BE49-F238E27FC236}">
                  <a16:creationId xmlns:a16="http://schemas.microsoft.com/office/drawing/2014/main" id="{9BFF16ED-879E-1FC6-ED92-D21BE255939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1.6T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2311" name="文本框 2310">
              <a:extLst>
                <a:ext uri="{FF2B5EF4-FFF2-40B4-BE49-F238E27FC236}">
                  <a16:creationId xmlns:a16="http://schemas.microsoft.com/office/drawing/2014/main" id="{2EEC16A6-73A6-E0A5-1CE1-A674984BCEDC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速率上限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12" name="文本框 2311">
              <a:extLst>
                <a:ext uri="{FF2B5EF4-FFF2-40B4-BE49-F238E27FC236}">
                  <a16:creationId xmlns:a16="http://schemas.microsoft.com/office/drawing/2014/main" id="{B0B135FA-6390-57F1-3CDF-853F2745AFFE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6.4T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383BB54-FB8E-299D-0C94-E730EE99AFD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4FC330-9EC7-3610-2E02-3B7500EC9A6B}"/>
              </a:ext>
            </a:extLst>
          </p:cNvPr>
          <p:cNvGrpSpPr/>
          <p:nvPr/>
        </p:nvGrpSpPr>
        <p:grpSpPr>
          <a:xfrm>
            <a:off x="1904153" y="2264950"/>
            <a:ext cx="4498799" cy="3469687"/>
            <a:chOff x="9988296" y="2105163"/>
            <a:chExt cx="4498799" cy="346968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69FE1A6-9A83-C9EE-0A19-B32C608D75C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4-9db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CD45E0C-5835-16E7-8E9C-4B9E7B8184C7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信息损耗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13A0C2-8BD5-F282-EBFF-1DC4047516D9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22db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46821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082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互连按照距离可分为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2978100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68044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543901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128352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117012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141" name="矩形 3140">
            <a:extLst>
              <a:ext uri="{FF2B5EF4-FFF2-40B4-BE49-F238E27FC236}">
                <a16:creationId xmlns:a16="http://schemas.microsoft.com/office/drawing/2014/main" id="{083BC268-5829-F7BC-DD26-9637B32283D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单机柜叠加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直连、全连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&lt;5m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高频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交互强调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低延时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铜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互连为主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算力节点横向互连，距离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，强调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可扩展性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b="1" dirty="0">
                <a:solidFill>
                  <a:srgbClr val="0052D9"/>
                </a:solidFill>
                <a:cs typeface="+mn-ea"/>
                <a:sym typeface="+mn-lt"/>
              </a:rPr>
              <a:t>光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互连为主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093464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070664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094459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036232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3920163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550736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550736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2978969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387575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048414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3921032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562918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562918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48003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15536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588813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562918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264143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264143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292027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70091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27627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72695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09445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137754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451949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398752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3757556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54806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304567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026698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3872235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750137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231693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69141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850D-2873-07D1-530D-4BC613DC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E43ABF5-1FF2-0AE9-7070-1BB344EC80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5073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F53793-3BA8-3B0B-11B0-5646C3396F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766A137B-6E9D-60BB-8511-752649837184}"/>
              </a:ext>
            </a:extLst>
          </p:cNvPr>
          <p:cNvSpPr/>
          <p:nvPr/>
        </p:nvSpPr>
        <p:spPr>
          <a:xfrm>
            <a:off x="1055717" y="1412570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138FD6-C23A-0B7C-0D29-6D1A7BE959C8}"/>
              </a:ext>
            </a:extLst>
          </p:cNvPr>
          <p:cNvSpPr txBox="1"/>
          <p:nvPr/>
        </p:nvSpPr>
        <p:spPr>
          <a:xfrm>
            <a:off x="6150349" y="5702224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高速电芯片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E114883-75B7-CEE6-A305-66E44EF4A124}"/>
              </a:ext>
            </a:extLst>
          </p:cNvPr>
          <p:cNvSpPr txBox="1"/>
          <p:nvPr/>
        </p:nvSpPr>
        <p:spPr>
          <a:xfrm>
            <a:off x="792704" y="5702224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纯组装 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 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硅光方案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AF8816-CEA3-09A7-FFC2-76A4FD5A7A02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AD2B3A-EE16-5F02-B4B5-CB5ED8546FBD}"/>
              </a:ext>
            </a:extLst>
          </p:cNvPr>
          <p:cNvSpPr/>
          <p:nvPr/>
        </p:nvSpPr>
        <p:spPr>
          <a:xfrm>
            <a:off x="7490503" y="4761871"/>
            <a:ext cx="63931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制程限制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B60994-67D4-3FE9-A169-02E50771CFEA}"/>
              </a:ext>
            </a:extLst>
          </p:cNvPr>
          <p:cNvSpPr/>
          <p:nvPr/>
        </p:nvSpPr>
        <p:spPr>
          <a:xfrm>
            <a:off x="7448696" y="5553320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822525-BB48-7229-6148-831FCFB1254A}"/>
              </a:ext>
            </a:extLst>
          </p:cNvPr>
          <p:cNvSpPr/>
          <p:nvPr/>
        </p:nvSpPr>
        <p:spPr>
          <a:xfrm>
            <a:off x="1057028" y="1417920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7AF726-DA7C-A581-CAFE-FBCCA44CE89D}"/>
              </a:ext>
            </a:extLst>
          </p:cNvPr>
          <p:cNvSpPr/>
          <p:nvPr/>
        </p:nvSpPr>
        <p:spPr>
          <a:xfrm>
            <a:off x="636330" y="101888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全球市场份额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16A4BD6-D682-90C0-EC22-1B95E38DB751}"/>
              </a:ext>
            </a:extLst>
          </p:cNvPr>
          <p:cNvSpPr/>
          <p:nvPr/>
        </p:nvSpPr>
        <p:spPr>
          <a:xfrm>
            <a:off x="514447" y="5506898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低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48ABD28-59E4-6067-45CB-166F6538C099}"/>
              </a:ext>
            </a:extLst>
          </p:cNvPr>
          <p:cNvSpPr/>
          <p:nvPr/>
        </p:nvSpPr>
        <p:spPr>
          <a:xfrm>
            <a:off x="505832" y="1340966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106CE5FD-87B2-A498-BCDA-2F7D9CDDE4D1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长江证券、盛科通信</a:t>
            </a:r>
            <a:r>
              <a:rPr kumimoji="1" lang="zh-CN" altLang="en-US" sz="1200" i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招股说明书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光模块市场份额为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数据，封测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OSAT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采用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数据，交换机芯片采用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2020A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数据，电芯片采用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2023.08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通信单通道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50/100G DSP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数据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89ED3F-A10D-93AF-E5F7-D38F25AC8BE2}"/>
              </a:ext>
            </a:extLst>
          </p:cNvPr>
          <p:cNvSpPr txBox="1"/>
          <p:nvPr/>
        </p:nvSpPr>
        <p:spPr>
          <a:xfrm>
            <a:off x="4545192" y="5702224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4D2C9F-3C6A-5C44-6FE5-69E4BF9DC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国内光强电弱，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为补足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电（铜）短板关键技术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25FAD6-E2C1-00CA-FAE8-1BFFF9262EE5}"/>
              </a:ext>
            </a:extLst>
          </p:cNvPr>
          <p:cNvSpPr/>
          <p:nvPr/>
        </p:nvSpPr>
        <p:spPr>
          <a:xfrm>
            <a:off x="8250804" y="1393832"/>
            <a:ext cx="3425172" cy="423655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33A501B-20A6-6214-B7BB-92553CFE6FC8}"/>
              </a:ext>
            </a:extLst>
          </p:cNvPr>
          <p:cNvSpPr txBox="1"/>
          <p:nvPr/>
        </p:nvSpPr>
        <p:spPr>
          <a:xfrm>
            <a:off x="2668948" y="5702224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封测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受制程限制小</a:t>
            </a: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5024EF84-C945-A336-54AA-3154EFEE117C}"/>
              </a:ext>
            </a:extLst>
          </p:cNvPr>
          <p:cNvGrpSpPr/>
          <p:nvPr/>
        </p:nvGrpSpPr>
        <p:grpSpPr>
          <a:xfrm>
            <a:off x="1199220" y="3427123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483969D-BA09-89C1-F950-086883E2B888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70BAD92-ABB9-8BF7-3C89-06AF4858050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cs typeface="+mn-ea"/>
                  <a:sym typeface="+mn-lt"/>
                </a:rPr>
                <a:t>中际旭创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765B199C-8422-BDF2-AA9D-608D7774B04E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09A534F4-F8B0-3EEB-53F3-37AC1760F40A}"/>
              </a:ext>
            </a:extLst>
          </p:cNvPr>
          <p:cNvGrpSpPr/>
          <p:nvPr/>
        </p:nvGrpSpPr>
        <p:grpSpPr>
          <a:xfrm>
            <a:off x="1192184" y="4342685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02150D64-F102-4AE2-2497-C83044B02C99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3066D063-02F8-4F2A-932F-C49ED82811A6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cs typeface="+mn-ea"/>
                  <a:sym typeface="+mn-lt"/>
                </a:rPr>
                <a:t>新易盛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ACFC8E1-847F-093A-17BE-5B2BA143BCC8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312B6B0-D9BD-1CF4-166C-94CD1BAB6895}"/>
              </a:ext>
            </a:extLst>
          </p:cNvPr>
          <p:cNvGrpSpPr/>
          <p:nvPr/>
        </p:nvGrpSpPr>
        <p:grpSpPr>
          <a:xfrm>
            <a:off x="1191779" y="4495812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B48A8750-D14A-4001-353C-E104C37FED8B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DF42D3F1-8E55-5600-F004-49671C87229B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E522A366-CDF5-DB03-BDF5-A63DB89BE8F7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8EC7E4E1-C015-0496-3FE7-6A1192D4D7DC}"/>
              </a:ext>
            </a:extLst>
          </p:cNvPr>
          <p:cNvGrpSpPr/>
          <p:nvPr/>
        </p:nvGrpSpPr>
        <p:grpSpPr>
          <a:xfrm>
            <a:off x="1201986" y="5247325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89CCDED0-D664-901E-E740-3076B0AD9FF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7C786C3E-3BC3-D95C-1A42-E2CDA5D423C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127584A-B658-54CC-FD42-8EA69351D5B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9648F1F9-AE23-E11F-D034-A317225D6682}"/>
              </a:ext>
            </a:extLst>
          </p:cNvPr>
          <p:cNvGrpSpPr/>
          <p:nvPr/>
        </p:nvGrpSpPr>
        <p:grpSpPr>
          <a:xfrm>
            <a:off x="1197924" y="5366083"/>
            <a:ext cx="1435622" cy="279230"/>
            <a:chOff x="1199220" y="3424892"/>
            <a:chExt cx="1435622" cy="27923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4D8CF465-2A26-6E27-72E8-34D3002E7BC2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64173DB0-12D2-C9BF-49C0-31ACEF14E5D1}"/>
                </a:ext>
              </a:extLst>
            </p:cNvPr>
            <p:cNvSpPr txBox="1"/>
            <p:nvPr/>
          </p:nvSpPr>
          <p:spPr>
            <a:xfrm>
              <a:off x="1240391" y="3427123"/>
              <a:ext cx="9915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cs typeface="+mn-ea"/>
                  <a:sym typeface="+mn-lt"/>
                </a:rPr>
                <a:t>光迅</a:t>
              </a:r>
              <a:r>
                <a:rPr lang="en-US" altLang="zh-CN" sz="1200" dirty="0">
                  <a:cs typeface="+mn-ea"/>
                  <a:sym typeface="+mn-lt"/>
                </a:rPr>
                <a:t>&amp;</a:t>
              </a:r>
              <a:r>
                <a:rPr lang="zh-CN" altLang="en-US" sz="1200" dirty="0">
                  <a:cs typeface="+mn-ea"/>
                  <a:sym typeface="+mn-lt"/>
                </a:rPr>
                <a:t>华工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D48B6659-70F2-9D92-9689-A8C8FE027F38}"/>
                </a:ext>
              </a:extLst>
            </p:cNvPr>
            <p:cNvSpPr txBox="1"/>
            <p:nvPr/>
          </p:nvSpPr>
          <p:spPr>
            <a:xfrm>
              <a:off x="2025242" y="3424892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1962CB7F-79B6-1634-F2BE-53AAD9C97660}"/>
              </a:ext>
            </a:extLst>
          </p:cNvPr>
          <p:cNvGrpSpPr/>
          <p:nvPr/>
        </p:nvGrpSpPr>
        <p:grpSpPr>
          <a:xfrm>
            <a:off x="3105557" y="3154643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25C84C8D-05E7-BA24-FC42-7392C40FD70A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28A4502-F399-C3C3-222A-563DBF2D0D7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1E08CBEB-9A57-7029-527F-A65AA15F3A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cs typeface="+mn-ea"/>
                    <a:sym typeface="+mn-lt"/>
                  </a:rPr>
                  <a:t>日月光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B4376F1F-0129-7D64-523D-8E2086F97DD0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4B203E11-EFF9-DF37-D751-4250CFB257C3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C4DD28A2-ECD0-1C21-A94B-61F165BCABA6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2525946A-27C8-77FD-92E9-936DF0A65C2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9A339E26-BBB2-866B-94A3-032A551BBF6F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73D6D191-C45F-884D-4EFC-7397EBB01645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38C4871E-A370-4E98-B955-4C1E74C57C8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8C4CF3E2-BD15-5349-B046-162A3794C5FB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cs typeface="+mn-ea"/>
                    <a:sym typeface="+mn-lt"/>
                  </a:rPr>
                  <a:t>长电科技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2D6E1C32-866E-4302-FBAC-048CBCBAB3D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ACB28073-8200-7C00-F395-1DB9B62BB4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78057413-C885-2DC5-211B-1AA123481536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4D194E6A-6B58-2956-8D7D-726B7E69B1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cs typeface="+mn-ea"/>
                    <a:sym typeface="+mn-lt"/>
                  </a:rPr>
                  <a:t>通富微电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252E2792-5D13-0DC6-23B3-4DE0FBFCDC7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AB3A985-C160-8A40-405E-408624D8D9F9}"/>
              </a:ext>
            </a:extLst>
          </p:cNvPr>
          <p:cNvGrpSpPr/>
          <p:nvPr/>
        </p:nvGrpSpPr>
        <p:grpSpPr>
          <a:xfrm>
            <a:off x="4658300" y="2252748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C9704A9E-86A6-352C-6E3B-9F31056F3B6C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C0434E92-B628-5D85-1C05-A73ECD48C1FD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AFB445B7-FD24-3655-B53E-1D14B639DC36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29637334-0C8C-1841-023C-A1811857244F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7196077A-245F-519D-3BA2-7509E4BAA8AF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B8E42453-4320-B1EC-015F-D0F1A87F0E8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8C6BD56B-764C-1177-F4F5-EDCE5EC90C4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873AE537-811D-C97F-FB68-064675CA6C09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32753C0D-9F89-8694-E262-0F48B63F1D22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726047BC-C9E3-113D-E15E-E0947BF8F97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CAEBE118-21AB-2AE2-72F5-CAD2BEF6B19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34E6D944-51AD-D913-68CD-2B8EEF68456B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47DE5B7F-3424-EFE8-352A-C049BBDC6106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14BDD3F-D987-4188-EF11-D1B9C26AB3D8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F902F69-5FE7-DF7B-03E3-74AFB20A4E87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cs typeface="+mn-ea"/>
                    <a:sym typeface="+mn-lt"/>
                  </a:rPr>
                  <a:t>盛科通信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425FF94B-DC71-8F1E-826F-52A625C1AADE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743D9CF9-415E-D3CB-BA1C-11A10E68C535}"/>
              </a:ext>
            </a:extLst>
          </p:cNvPr>
          <p:cNvGrpSpPr/>
          <p:nvPr/>
        </p:nvGrpSpPr>
        <p:grpSpPr>
          <a:xfrm>
            <a:off x="6234636" y="2076834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3DC01725-8EE5-1D78-48AF-F50793970C9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263F94CE-526F-3F10-A111-CBEB1697B47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C4285D9C-6882-450C-6CE4-EFA1B5EC40B9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A3926F42-1FDC-B25D-B8DB-7649232859F3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D726E396-D07A-6258-CC6D-CFDCC7CB39B9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4A028DF0-30E2-8F37-2CF7-6E10F678EC9B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818E76D2-8713-CC39-1C8D-4B850855ABDA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5501272E-FEC2-F860-1802-999DA01D21D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ADE11A9D-DC71-195C-21BD-02464A0849B1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BC05B9F-0333-0D7A-2B5C-C8AF53A185D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7751DA20-B9B8-B87E-FBA8-8F3F8050041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070D9814-02EB-A6B0-A428-EDD084564584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grpSp>
        <p:nvGrpSpPr>
          <p:cNvPr id="1173" name="组合 1172">
            <a:extLst>
              <a:ext uri="{FF2B5EF4-FFF2-40B4-BE49-F238E27FC236}">
                <a16:creationId xmlns:a16="http://schemas.microsoft.com/office/drawing/2014/main" id="{0402D597-D85F-2260-E126-A1D870B472BC}"/>
              </a:ext>
            </a:extLst>
          </p:cNvPr>
          <p:cNvGrpSpPr/>
          <p:nvPr/>
        </p:nvGrpSpPr>
        <p:grpSpPr>
          <a:xfrm>
            <a:off x="2421172" y="1018882"/>
            <a:ext cx="1020072" cy="404100"/>
            <a:chOff x="2416939" y="943709"/>
            <a:chExt cx="1020072" cy="404100"/>
          </a:xfrm>
        </p:grpSpPr>
        <p:sp>
          <p:nvSpPr>
            <p:cNvPr id="1171" name="椭圆 1170">
              <a:extLst>
                <a:ext uri="{FF2B5EF4-FFF2-40B4-BE49-F238E27FC236}">
                  <a16:creationId xmlns:a16="http://schemas.microsoft.com/office/drawing/2014/main" id="{F61647E0-CC7C-3015-3638-4F0FD36C8564}"/>
                </a:ext>
              </a:extLst>
            </p:cNvPr>
            <p:cNvSpPr/>
            <p:nvPr/>
          </p:nvSpPr>
          <p:spPr>
            <a:xfrm>
              <a:off x="2416939" y="1106811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72" name="矩形 1171">
              <a:extLst>
                <a:ext uri="{FF2B5EF4-FFF2-40B4-BE49-F238E27FC236}">
                  <a16:creationId xmlns:a16="http://schemas.microsoft.com/office/drawing/2014/main" id="{7BA47B3C-64B9-C6A0-B370-FF7512F2E85E}"/>
                </a:ext>
              </a:extLst>
            </p:cNvPr>
            <p:cNvSpPr/>
            <p:nvPr/>
          </p:nvSpPr>
          <p:spPr>
            <a:xfrm>
              <a:off x="2523004" y="943709"/>
              <a:ext cx="914007" cy="404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国内厂商</a:t>
              </a:r>
              <a:endPara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74" name="组合 1173">
            <a:extLst>
              <a:ext uri="{FF2B5EF4-FFF2-40B4-BE49-F238E27FC236}">
                <a16:creationId xmlns:a16="http://schemas.microsoft.com/office/drawing/2014/main" id="{220117EF-F2A3-BD01-BE93-FFD164353E0F}"/>
              </a:ext>
            </a:extLst>
          </p:cNvPr>
          <p:cNvGrpSpPr/>
          <p:nvPr/>
        </p:nvGrpSpPr>
        <p:grpSpPr>
          <a:xfrm>
            <a:off x="3614505" y="1018882"/>
            <a:ext cx="1020072" cy="404100"/>
            <a:chOff x="2416939" y="943709"/>
            <a:chExt cx="1020072" cy="404100"/>
          </a:xfrm>
        </p:grpSpPr>
        <p:sp>
          <p:nvSpPr>
            <p:cNvPr id="1175" name="椭圆 1174">
              <a:extLst>
                <a:ext uri="{FF2B5EF4-FFF2-40B4-BE49-F238E27FC236}">
                  <a16:creationId xmlns:a16="http://schemas.microsoft.com/office/drawing/2014/main" id="{A154A328-3462-C30C-C1DE-D9DB595B0F95}"/>
                </a:ext>
              </a:extLst>
            </p:cNvPr>
            <p:cNvSpPr/>
            <p:nvPr/>
          </p:nvSpPr>
          <p:spPr>
            <a:xfrm>
              <a:off x="2416939" y="1106811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76" name="矩形 1175">
              <a:extLst>
                <a:ext uri="{FF2B5EF4-FFF2-40B4-BE49-F238E27FC236}">
                  <a16:creationId xmlns:a16="http://schemas.microsoft.com/office/drawing/2014/main" id="{643F414B-DB27-4355-509F-5A086BBF5D42}"/>
                </a:ext>
              </a:extLst>
            </p:cNvPr>
            <p:cNvSpPr/>
            <p:nvPr/>
          </p:nvSpPr>
          <p:spPr>
            <a:xfrm>
              <a:off x="2523004" y="943709"/>
              <a:ext cx="914007" cy="404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海外厂商</a:t>
              </a:r>
              <a:endPara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177" name="矩形 1176">
            <a:extLst>
              <a:ext uri="{FF2B5EF4-FFF2-40B4-BE49-F238E27FC236}">
                <a16:creationId xmlns:a16="http://schemas.microsoft.com/office/drawing/2014/main" id="{6E517197-2528-D252-9E65-7173FEAAC4A5}"/>
              </a:ext>
            </a:extLst>
          </p:cNvPr>
          <p:cNvSpPr/>
          <p:nvPr/>
        </p:nvSpPr>
        <p:spPr>
          <a:xfrm>
            <a:off x="8376601" y="1640014"/>
            <a:ext cx="3214887" cy="3721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之于国内：雪中送炭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以电（铜）互连为主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光强：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硅光、封测受制程限制小，国内光模块占全球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&gt;60%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电弱：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电芯片制程落后海外，市场多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“独苗”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，份额长期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&lt;5%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绕过制程，用于</a:t>
            </a:r>
            <a:r>
              <a:rPr lang="en-US" altLang="zh-CN" sz="1600" b="1" dirty="0">
                <a:solidFill>
                  <a:srgbClr val="0052D9"/>
                </a:solidFill>
                <a:latin typeface="-apple-system"/>
              </a:rPr>
              <a:t>Scale Up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，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进一步强光，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补电弱短板</a:t>
            </a:r>
            <a:endParaRPr lang="en-US" altLang="zh-CN" sz="1600" b="1" dirty="0">
              <a:solidFill>
                <a:srgbClr val="0052D9"/>
              </a:solidFill>
              <a:cs typeface="+mn-ea"/>
              <a:sym typeface="+mn-lt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之于海外：锦上添花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无制程限制，优先发展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电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芯片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压榨</a:t>
            </a:r>
            <a:r>
              <a:rPr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铜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互连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优先落地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 Out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（易商业化）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A53F232B-F732-F9FC-6A1D-DC1B886E0FEB}"/>
              </a:ext>
            </a:extLst>
          </p:cNvPr>
          <p:cNvSpPr/>
          <p:nvPr/>
        </p:nvSpPr>
        <p:spPr>
          <a:xfrm>
            <a:off x="1530234" y="1423396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国内份额高，优势大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F48A401D-C1D4-8FBF-A6ED-DE48A6FA1914}"/>
              </a:ext>
            </a:extLst>
          </p:cNvPr>
          <p:cNvSpPr/>
          <p:nvPr/>
        </p:nvSpPr>
        <p:spPr>
          <a:xfrm>
            <a:off x="4727492" y="1438028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国内份额极低，优势小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619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8401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LLM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受限于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GPU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互连带宽，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为优先探索方向</a:t>
            </a:r>
          </a:p>
        </p:txBody>
      </p:sp>
      <p:sp>
        <p:nvSpPr>
          <p:cNvPr id="3141" name="矩形 3140">
            <a:extLst>
              <a:ext uri="{FF2B5EF4-FFF2-40B4-BE49-F238E27FC236}">
                <a16:creationId xmlns:a16="http://schemas.microsoft.com/office/drawing/2014/main" id="{272CC209-9CC9-1F05-1D4B-5EE24381A2A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的高带宽、高效能可解互连限制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互连带宽限制网络架构、训练策略、推理速度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H800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带宽相对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H100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砍半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① 网络架构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：被迫用</a:t>
            </a:r>
            <a:r>
              <a:rPr lang="en-US" altLang="zh-CN" sz="1600" b="1" dirty="0">
                <a:solidFill>
                  <a:srgbClr val="0052D9"/>
                </a:solidFill>
              </a:rPr>
              <a:t>Scale Out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弥补</a:t>
            </a:r>
            <a:r>
              <a:rPr lang="en-US" altLang="zh-CN" sz="1600" b="1" dirty="0">
                <a:solidFill>
                  <a:srgbClr val="0052D9"/>
                </a:solidFill>
              </a:rPr>
              <a:t>Scale Up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② 训练策略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：被迫放弃</a:t>
            </a:r>
            <a:r>
              <a:rPr lang="zh-CN" altLang="en-US" sz="1600" b="1" dirty="0">
                <a:solidFill>
                  <a:srgbClr val="0052D9"/>
                </a:solidFill>
              </a:rPr>
              <a:t>张量并行</a:t>
            </a:r>
            <a:endParaRPr lang="en-US" altLang="zh-CN" sz="1600" b="1" dirty="0">
              <a:solidFill>
                <a:srgbClr val="0052D9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③ 推理速度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</a:rPr>
              <a:t>MoE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推理速率为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H100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的</a:t>
            </a:r>
            <a:r>
              <a:rPr lang="en-US" altLang="zh-CN" sz="1600" b="1" dirty="0">
                <a:solidFill>
                  <a:srgbClr val="0052D9"/>
                </a:solidFill>
              </a:rPr>
              <a:t>1/20</a:t>
            </a: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7423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7" imgW="404" imgH="405" progId="TCLayout.ActiveDocument.1">
                  <p:embed/>
                </p:oleObj>
              </mc:Choice>
              <mc:Fallback>
                <p:oleObj name="think-cell 幻灯片" r:id="rId47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华为：依赖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补足性能差距，需大量光模块，代价是极高的功耗</a:t>
            </a:r>
          </a:p>
        </p:txBody>
      </p:sp>
      <p:sp>
        <p:nvSpPr>
          <p:cNvPr id="3141" name="矩形 3140">
            <a:extLst>
              <a:ext uri="{FF2B5EF4-FFF2-40B4-BE49-F238E27FC236}">
                <a16:creationId xmlns:a16="http://schemas.microsoft.com/office/drawing/2014/main" id="{3AAFF4C1-D466-4413-D9DB-0775074D5B5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需大量光模块，总功耗为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NV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的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4x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华为 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vs. 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英伟达：集群堆卡弥补单卡弱势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11507" y="6385818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、华为、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全称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CloudMatrix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384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，由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384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张昇腾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910C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NPU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组成单机柜，对标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机柜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701C05B7-10F7-44DD-45C6-341B5711166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8843091"/>
              </p:ext>
            </p:extLst>
          </p:nvPr>
        </p:nvGraphicFramePr>
        <p:xfrm>
          <a:off x="1131888" y="2166938"/>
          <a:ext cx="2460625" cy="151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cxnSp>
        <p:nvCxnSpPr>
          <p:cNvPr id="1041" name="直接连接符 1040">
            <a:extLst>
              <a:ext uri="{FF2B5EF4-FFF2-40B4-BE49-F238E27FC236}">
                <a16:creationId xmlns:a16="http://schemas.microsoft.com/office/drawing/2014/main" id="{2296F299-EFBD-8FE3-C3DF-F4EB3EA5982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076450" y="2101850"/>
            <a:ext cx="0" cy="2270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2" name="直接连接符 1041">
            <a:extLst>
              <a:ext uri="{FF2B5EF4-FFF2-40B4-BE49-F238E27FC236}">
                <a16:creationId xmlns:a16="http://schemas.microsoft.com/office/drawing/2014/main" id="{6BEAF522-9B5A-D5D6-5D1C-8454F822655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076450" y="2101850"/>
            <a:ext cx="569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直接连接符 1042">
            <a:extLst>
              <a:ext uri="{FF2B5EF4-FFF2-40B4-BE49-F238E27FC236}">
                <a16:creationId xmlns:a16="http://schemas.microsoft.com/office/drawing/2014/main" id="{A015129B-EA84-BDB4-C5A3-F88785B42933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646363" y="2101850"/>
            <a:ext cx="0" cy="695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Text Placeholder 4">
            <a:extLst>
              <a:ext uri="{FF2B5EF4-FFF2-40B4-BE49-F238E27FC236}">
                <a16:creationId xmlns:a16="http://schemas.microsoft.com/office/drawing/2014/main" id="{4046D0A0-D0B5-9E19-DD35-748870D4BAF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819275" y="3422650"/>
            <a:ext cx="10858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711AC0B-C5A5-4DCE-AB60-E28EDEC1B5F1}" type="datetime'''''''单''卡S''cale'''''' U''p''''带''''''''''宽''（T''''B/s''）'''">
              <a:rPr lang="zh-CN" altLang="en-US" sz="1200" smtClean="0">
                <a:cs typeface="+mn-cs"/>
              </a:rPr>
              <a:pPr/>
              <a:t>单卡Scale Up带宽（TB/s）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0" name="Text Placeholder 4">
            <a:extLst>
              <a:ext uri="{FF2B5EF4-FFF2-40B4-BE49-F238E27FC236}">
                <a16:creationId xmlns:a16="http://schemas.microsoft.com/office/drawing/2014/main" id="{FDEDD32A-A12D-3674-3F21-80D734C3D40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066925" y="195103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454D50E-E863-4B3B-87F5-990702CB4A3C}" type="datetime'''-''6''''''''1''''''''''''''''''''''''''''''%''''''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93" name="矩形 3492">
            <a:extLst>
              <a:ext uri="{FF2B5EF4-FFF2-40B4-BE49-F238E27FC236}">
                <a16:creationId xmlns:a16="http://schemas.microsoft.com/office/drawing/2014/main" id="{267B83DE-3DF1-1A54-3E69-C49770F71A8E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60388" y="1536700"/>
            <a:ext cx="196850" cy="147638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4" name="矩形 3253">
            <a:extLst>
              <a:ext uri="{FF2B5EF4-FFF2-40B4-BE49-F238E27FC236}">
                <a16:creationId xmlns:a16="http://schemas.microsoft.com/office/drawing/2014/main" id="{C1B7F33C-DD07-9561-7898-1E4FDC75D5EF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811338" y="1536700"/>
            <a:ext cx="196850" cy="1476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0" name="Text Placeholder 4">
            <a:extLst>
              <a:ext uri="{FF2B5EF4-FFF2-40B4-BE49-F238E27FC236}">
                <a16:creationId xmlns:a16="http://schemas.microsoft.com/office/drawing/2014/main" id="{10135896-8AC9-8589-55ED-6177B1F56DB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08038" y="1531938"/>
            <a:ext cx="9017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381F572-F0DD-4A65-9CB8-0670F3DCEBFB}" type="datetime'''''''''''''''''GB''''''''200'''' ''''''''''''''NVL72'">
              <a:rPr lang="en-US" altLang="en-US" sz="1100" smtClean="0">
                <a:cs typeface="+mn-cs"/>
              </a:rPr>
              <a:pPr/>
              <a:t>GB200 NVL72</a:t>
            </a:fld>
            <a:endParaRPr lang="zh-CN" altLang="en-US" sz="1100" dirty="0">
              <a:cs typeface="+mn-cs"/>
            </a:endParaRPr>
          </a:p>
        </p:txBody>
      </p:sp>
      <p:sp>
        <p:nvSpPr>
          <p:cNvPr id="3251" name="Text Placeholder 4">
            <a:extLst>
              <a:ext uri="{FF2B5EF4-FFF2-40B4-BE49-F238E27FC236}">
                <a16:creationId xmlns:a16="http://schemas.microsoft.com/office/drawing/2014/main" id="{F7BFCC46-FD5E-2AE9-C76B-4C27EEF8BD4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058988" y="1531938"/>
            <a:ext cx="78263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B243DC-F23B-4FAA-B3AE-A1768AA709A2}" type="datetime'华''''''''''''''''''''''''''''''为''CM''''''''''''''38''''4'">
              <a:rPr lang="zh-CN" altLang="en-US" sz="1100" smtClean="0">
                <a:cs typeface="+mn-cs"/>
              </a:rPr>
              <a:pPr/>
              <a:t>华为CM384</a:t>
            </a:fld>
            <a:r>
              <a:rPr lang="en-US" altLang="zh-CN" sz="1100" baseline="30000" dirty="0">
                <a:cs typeface="+mn-cs"/>
              </a:rPr>
              <a:t>1</a:t>
            </a:r>
            <a:endParaRPr lang="zh-CN" altLang="en-US" sz="1100" dirty="0">
              <a:cs typeface="+mn-cs"/>
            </a:endParaRPr>
          </a:p>
        </p:txBody>
      </p:sp>
      <p:graphicFrame>
        <p:nvGraphicFramePr>
          <p:cNvPr id="63" name="Chart 3">
            <a:extLst>
              <a:ext uri="{FF2B5EF4-FFF2-40B4-BE49-F238E27FC236}">
                <a16:creationId xmlns:a16="http://schemas.microsoft.com/office/drawing/2014/main" id="{7B1668A6-EC62-422B-3552-0BA87F32F0BA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664779547"/>
              </p:ext>
            </p:extLst>
          </p:nvPr>
        </p:nvGraphicFramePr>
        <p:xfrm>
          <a:off x="1131888" y="4584700"/>
          <a:ext cx="2460625" cy="151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cxnSp>
        <p:nvCxnSpPr>
          <p:cNvPr id="3204" name="直接连接符 3203">
            <a:extLst>
              <a:ext uri="{FF2B5EF4-FFF2-40B4-BE49-F238E27FC236}">
                <a16:creationId xmlns:a16="http://schemas.microsoft.com/office/drawing/2014/main" id="{FF03ABA2-5167-3A2B-8D5A-35C0C91E028C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 flipV="1">
            <a:off x="2076450" y="4443413"/>
            <a:ext cx="0" cy="7000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05" name="直接连接符 3204">
            <a:extLst>
              <a:ext uri="{FF2B5EF4-FFF2-40B4-BE49-F238E27FC236}">
                <a16:creationId xmlns:a16="http://schemas.microsoft.com/office/drawing/2014/main" id="{C541CC70-64A3-3E7A-2FED-738F8F34F7C1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>
            <a:off x="2076450" y="4443413"/>
            <a:ext cx="569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06" name="直接连接符 3205">
            <a:extLst>
              <a:ext uri="{FF2B5EF4-FFF2-40B4-BE49-F238E27FC236}">
                <a16:creationId xmlns:a16="http://schemas.microsoft.com/office/drawing/2014/main" id="{D1B7BB4D-E367-593C-20B3-27A14B3F7FD5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2646363" y="4443413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29" name="Text Placeholder 4">
            <a:extLst>
              <a:ext uri="{FF2B5EF4-FFF2-40B4-BE49-F238E27FC236}">
                <a16:creationId xmlns:a16="http://schemas.microsoft.com/office/drawing/2014/main" id="{E7C77383-3404-BDC4-1437-1F7F6B389BE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819275" y="5840413"/>
            <a:ext cx="10858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E40064F-C10A-4BB6-8E17-A35C86F1AA75}" type="datetime'整体''Sc''''''a''''''''l''e ''''U''''p''''''带''宽（PB/''''s）'''''">
              <a:rPr lang="zh-CN" altLang="en-US" sz="1200" smtClean="0">
                <a:cs typeface="+mn-cs"/>
              </a:rPr>
              <a:pPr/>
              <a:t>整体Scale Up带宽（PB/s）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02" name="Text Placeholder 4">
            <a:extLst>
              <a:ext uri="{FF2B5EF4-FFF2-40B4-BE49-F238E27FC236}">
                <a16:creationId xmlns:a16="http://schemas.microsoft.com/office/drawing/2014/main" id="{EF366FD9-EF7A-BC1B-1C11-2CDE4636C5E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1966913" y="4292600"/>
            <a:ext cx="7889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67B547-2B8C-424A-9BC3-119E22BF26E1}" type="datetime'''''''''+''''''''''''1''0''8''''''''%'''''''''">
              <a:rPr lang="en-US" altLang="en-US" sz="1400" b="1" smtClean="0">
                <a:effectLst/>
                <a:cs typeface="+mn-cs"/>
              </a:rPr>
              <a:pPr/>
              <a:t>+108%</a:t>
            </a:fld>
            <a:endParaRPr lang="zh-CN" altLang="en-US" sz="1400" b="1" dirty="0">
              <a:cs typeface="+mn-cs"/>
            </a:endParaRPr>
          </a:p>
        </p:txBody>
      </p:sp>
      <p:pic>
        <p:nvPicPr>
          <p:cNvPr id="3580" name="图片 3579">
            <a:extLst>
              <a:ext uri="{FF2B5EF4-FFF2-40B4-BE49-F238E27FC236}">
                <a16:creationId xmlns:a16="http://schemas.microsoft.com/office/drawing/2014/main" id="{0B33E56C-1EE2-31CD-529E-86949C4BE577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63814" y="2139715"/>
            <a:ext cx="1144622" cy="1157779"/>
          </a:xfrm>
          <a:prstGeom prst="rect">
            <a:avLst/>
          </a:prstGeom>
        </p:spPr>
      </p:pic>
      <p:sp>
        <p:nvSpPr>
          <p:cNvPr id="3584" name="文本框 3583">
            <a:extLst>
              <a:ext uri="{FF2B5EF4-FFF2-40B4-BE49-F238E27FC236}">
                <a16:creationId xmlns:a16="http://schemas.microsoft.com/office/drawing/2014/main" id="{E1D64496-D067-CF2C-154F-3D1EE506CF24}"/>
              </a:ext>
            </a:extLst>
          </p:cNvPr>
          <p:cNvSpPr txBox="1"/>
          <p:nvPr/>
        </p:nvSpPr>
        <p:spPr>
          <a:xfrm>
            <a:off x="6289865" y="3400452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0800000">
            <a:off x="7938446" y="2148339"/>
            <a:ext cx="130492" cy="1151445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8159958" y="2437994"/>
            <a:ext cx="1385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2.5m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 × 16</a:t>
            </a:r>
          </a:p>
        </p:txBody>
      </p:sp>
      <p:sp>
        <p:nvSpPr>
          <p:cNvPr id="3590" name="文本框 3589">
            <a:extLst>
              <a:ext uri="{FF2B5EF4-FFF2-40B4-BE49-F238E27FC236}">
                <a16:creationId xmlns:a16="http://schemas.microsoft.com/office/drawing/2014/main" id="{A285872F-6C15-5D29-3F3A-A5C88C8DDDEA}"/>
              </a:ext>
            </a:extLst>
          </p:cNvPr>
          <p:cNvSpPr txBox="1"/>
          <p:nvPr/>
        </p:nvSpPr>
        <p:spPr>
          <a:xfrm>
            <a:off x="7906998" y="2148511"/>
            <a:ext cx="162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光模块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× 6912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47" name="Chart 3">
            <a:extLst>
              <a:ext uri="{FF2B5EF4-FFF2-40B4-BE49-F238E27FC236}">
                <a16:creationId xmlns:a16="http://schemas.microsoft.com/office/drawing/2014/main" id="{C308C7E4-EF32-718E-B976-FF5FF5FD93FD}"/>
              </a:ext>
            </a:extLst>
          </p:cNvPr>
          <p:cNvGraphicFramePr/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3414689923"/>
              </p:ext>
            </p:extLst>
          </p:nvPr>
        </p:nvGraphicFramePr>
        <p:xfrm>
          <a:off x="3109913" y="2166938"/>
          <a:ext cx="2952750" cy="151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V="1">
            <a:off x="4300538" y="2101850"/>
            <a:ext cx="0" cy="2270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4300538" y="2101850"/>
            <a:ext cx="569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4870450" y="2101850"/>
            <a:ext cx="0" cy="754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4017963" y="3422650"/>
            <a:ext cx="11382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051534-2EE9-4BCE-AF8B-E9DE0134CC4F}" type="datetime'''单''''''''''''卡B''F1''6''计算性能''（TFL''''OP''''''S）'''''''''''">
              <a:rPr lang="zh-CN" altLang="en-US" sz="1200" smtClean="0">
                <a:cs typeface="+mn-cs"/>
              </a:rPr>
              <a:pPr/>
              <a:t>单卡BF16计算性能（TFLOPS）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4291013" y="195103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585" name="Chart 3">
            <a:extLst>
              <a:ext uri="{FF2B5EF4-FFF2-40B4-BE49-F238E27FC236}">
                <a16:creationId xmlns:a16="http://schemas.microsoft.com/office/drawing/2014/main" id="{7BA718C8-6067-0C78-BA2A-BEDB6E3C874D}"/>
              </a:ext>
            </a:extLst>
          </p:cNvPr>
          <p:cNvGraphicFramePr/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4261740555"/>
              </p:ext>
            </p:extLst>
          </p:nvPr>
        </p:nvGraphicFramePr>
        <p:xfrm>
          <a:off x="3479800" y="4584700"/>
          <a:ext cx="2214563" cy="151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 flipV="1">
            <a:off x="4300538" y="4443413"/>
            <a:ext cx="0" cy="6096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>
            <a:off x="4300538" y="4443413"/>
            <a:ext cx="569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4870450" y="4443413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3995737" y="5840413"/>
            <a:ext cx="11811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385E9B-F47F-4ECE-ADD4-254666D3D2E6}" type="datetime'整''''''''''体BF16'''' ''计算性能（''''''P''''FLO''P''''''''''''S）'''">
              <a:rPr lang="zh-CN" altLang="en-US" sz="1200" smtClean="0">
                <a:cs typeface="+mn-cs"/>
              </a:rPr>
              <a:pPr/>
              <a:t>整体BF16 计算性能（PFLOPS）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4260850" y="4292600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3C2A648-D4F2-C953-4D32-36C61CECC6A8}"/>
              </a:ext>
            </a:extLst>
          </p:cNvPr>
          <p:cNvSpPr txBox="1"/>
          <p:nvPr/>
        </p:nvSpPr>
        <p:spPr>
          <a:xfrm>
            <a:off x="504186" y="1976437"/>
            <a:ext cx="784863" cy="1819239"/>
          </a:xfrm>
          <a:prstGeom prst="rect">
            <a:avLst/>
          </a:prstGeom>
          <a:solidFill>
            <a:srgbClr val="ECF6FF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单卡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带宽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计算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更弱</a:t>
            </a:r>
            <a:endParaRPr kumimoji="1" lang="en-US" altLang="zh-CN" b="1" baseline="300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88" name="文本框 3587">
            <a:extLst>
              <a:ext uri="{FF2B5EF4-FFF2-40B4-BE49-F238E27FC236}">
                <a16:creationId xmlns:a16="http://schemas.microsoft.com/office/drawing/2014/main" id="{BDF7945B-07CA-E8C0-1CF3-03C90D300380}"/>
              </a:ext>
            </a:extLst>
          </p:cNvPr>
          <p:cNvSpPr txBox="1"/>
          <p:nvPr/>
        </p:nvSpPr>
        <p:spPr>
          <a:xfrm>
            <a:off x="502281" y="4181127"/>
            <a:ext cx="784863" cy="1959320"/>
          </a:xfrm>
          <a:prstGeom prst="rect">
            <a:avLst/>
          </a:prstGeom>
          <a:solidFill>
            <a:srgbClr val="ECF6FF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带宽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计算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更强</a:t>
            </a:r>
            <a:endParaRPr kumimoji="1" lang="en-US" altLang="zh-CN" b="1" baseline="300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237" name="Chart 3">
            <a:extLst>
              <a:ext uri="{FF2B5EF4-FFF2-40B4-BE49-F238E27FC236}">
                <a16:creationId xmlns:a16="http://schemas.microsoft.com/office/drawing/2014/main" id="{431A016E-3A3B-3230-04DC-A1CA3D50965D}"/>
              </a:ext>
            </a:extLst>
          </p:cNvPr>
          <p:cNvGraphicFramePr/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3441248799"/>
              </p:ext>
            </p:extLst>
          </p:nvPr>
        </p:nvGraphicFramePr>
        <p:xfrm>
          <a:off x="9326563" y="2082800"/>
          <a:ext cx="2952750" cy="1595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10007600" y="3430589"/>
            <a:ext cx="7921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38A2901-EC09-4A47-B5F8-BDABD53F4DB7}" type="datetime'''''''Sc''''al''''''''''''''e ''''''''''''''''O''''u''''''''t'">
              <a:rPr lang="en-US" altLang="en-US" sz="1400" smtClean="0">
                <a:cs typeface="+mn-cs"/>
              </a:rPr>
              <a:pPr/>
              <a:t>Scale 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0833100" y="3430589"/>
            <a:ext cx="733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6D1DCB6-5CB8-4A1F-9D2F-300B7B067F66}" type="datetime'''''S''''''''c''''''a''le'' U''''''''''''p'''''">
              <a:rPr lang="en-US" altLang="en-US" sz="1400" smtClean="0">
                <a:cs typeface="+mn-cs"/>
              </a:rPr>
              <a:pPr/>
              <a:t>Scale 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631839" y="1929662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光模块数量分布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66275" y="144849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采用全光互连需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6912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个光模块，其中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占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70+%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233" name="Chart 3">
            <a:extLst>
              <a:ext uri="{FF2B5EF4-FFF2-40B4-BE49-F238E27FC236}">
                <a16:creationId xmlns:a16="http://schemas.microsoft.com/office/drawing/2014/main" id="{F9D72857-48E0-A944-5FDA-C622150FB040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2078152036"/>
              </p:ext>
            </p:extLst>
          </p:nvPr>
        </p:nvGraphicFramePr>
        <p:xfrm>
          <a:off x="7812088" y="4584700"/>
          <a:ext cx="2214562" cy="151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3157" name="直接连接符 3156">
            <a:extLst>
              <a:ext uri="{FF2B5EF4-FFF2-40B4-BE49-F238E27FC236}">
                <a16:creationId xmlns:a16="http://schemas.microsoft.com/office/drawing/2014/main" id="{27B6128E-0AFB-0BC3-260A-D37406817492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 flipV="1">
            <a:off x="8632825" y="4443413"/>
            <a:ext cx="0" cy="8715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8" name="直接连接符 3157">
            <a:extLst>
              <a:ext uri="{FF2B5EF4-FFF2-40B4-BE49-F238E27FC236}">
                <a16:creationId xmlns:a16="http://schemas.microsoft.com/office/drawing/2014/main" id="{ABD32272-CC79-C30C-9D10-B18E0FAABFE0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 bwMode="auto">
          <a:xfrm>
            <a:off x="8632825" y="4443413"/>
            <a:ext cx="569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9" name="直接连接符 3158">
            <a:extLst>
              <a:ext uri="{FF2B5EF4-FFF2-40B4-BE49-F238E27FC236}">
                <a16:creationId xmlns:a16="http://schemas.microsoft.com/office/drawing/2014/main" id="{703EE925-F6E1-CBAF-01FC-1C0E6EAB0D9C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9202738" y="4443413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60" name="Text Placeholder 4">
            <a:extLst>
              <a:ext uri="{FF2B5EF4-FFF2-40B4-BE49-F238E27FC236}">
                <a16:creationId xmlns:a16="http://schemas.microsoft.com/office/drawing/2014/main" id="{E09FB282-FBFF-86BC-1DCA-03D68C2D1E95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8345488" y="5840413"/>
            <a:ext cx="11477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B46BFE5-E71B-4653-A5C0-53CA122E4C3F}" type="datetime'''整''''''''''''机''''''''''''''''功耗''''''''（''kW''）'''''">
              <a:rPr lang="zh-CN" altLang="en-US" sz="1200" smtClean="0">
                <a:cs typeface="+mn-cs"/>
              </a:rPr>
              <a:pPr/>
              <a:t>整机功耗（kW）</a:t>
            </a:fld>
            <a:endParaRPr lang="zh-CN" altLang="en-US" sz="1200" dirty="0">
              <a:cs typeface="+mn-cs"/>
            </a:endParaRPr>
          </a:p>
        </p:txBody>
      </p:sp>
      <p:sp>
        <p:nvSpPr>
          <p:cNvPr id="3161" name="Text Placeholder 4">
            <a:extLst>
              <a:ext uri="{FF2B5EF4-FFF2-40B4-BE49-F238E27FC236}">
                <a16:creationId xmlns:a16="http://schemas.microsoft.com/office/drawing/2014/main" id="{B296F541-DCB1-B1D9-33D3-7917055B2DBC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8523288" y="4292600"/>
            <a:ext cx="7889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FE99C6A-CAE6-441C-8A65-09A3AA80C97B}" type="datetime'+''''2''''''''''''86''''''%'''''''''''''''''''''''''''''">
              <a:rPr lang="en-US" altLang="en-US" sz="1400" b="1" smtClean="0">
                <a:effectLst/>
                <a:cs typeface="+mn-cs"/>
              </a:rPr>
              <a:pPr/>
              <a:t>+286%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234" name="Chart 3">
            <a:extLst>
              <a:ext uri="{FF2B5EF4-FFF2-40B4-BE49-F238E27FC236}">
                <a16:creationId xmlns:a16="http://schemas.microsoft.com/office/drawing/2014/main" id="{6FA8F1C2-6FF2-14F3-97B9-D20AF3F1C7B2}"/>
              </a:ext>
            </a:extLst>
          </p:cNvPr>
          <p:cNvGraphicFramePr/>
          <p:nvPr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1724678884"/>
              </p:ext>
            </p:extLst>
          </p:nvPr>
        </p:nvGraphicFramePr>
        <p:xfrm>
          <a:off x="9572625" y="4584700"/>
          <a:ext cx="2460625" cy="151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6"/>
          </a:graphicData>
        </a:graphic>
      </p:graphicFrame>
      <p:cxnSp>
        <p:nvCxnSpPr>
          <p:cNvPr id="3228" name="直接连接符 3227">
            <a:extLst>
              <a:ext uri="{FF2B5EF4-FFF2-40B4-BE49-F238E27FC236}">
                <a16:creationId xmlns:a16="http://schemas.microsoft.com/office/drawing/2014/main" id="{4D3552DF-BC66-C04F-F568-52C3614E4FB8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 flipV="1">
            <a:off x="10517188" y="4443413"/>
            <a:ext cx="0" cy="738187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29" name="直接连接符 3228">
            <a:extLst>
              <a:ext uri="{FF2B5EF4-FFF2-40B4-BE49-F238E27FC236}">
                <a16:creationId xmlns:a16="http://schemas.microsoft.com/office/drawing/2014/main" id="{7A3EE242-A998-E791-F923-FFF57D4642CD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10517188" y="4443413"/>
            <a:ext cx="569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30" name="直接连接符 3229">
            <a:extLst>
              <a:ext uri="{FF2B5EF4-FFF2-40B4-BE49-F238E27FC236}">
                <a16:creationId xmlns:a16="http://schemas.microsoft.com/office/drawing/2014/main" id="{38017A73-5576-B4EA-7B3C-6E17EAC4D890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11087100" y="4443413"/>
            <a:ext cx="0" cy="303212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B6B1FFCE-8F21-962A-10F7-56CBE13FBB99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10228263" y="5840413"/>
            <a:ext cx="11493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B0027D9-03BA-49F6-A547-56958540393A}" type="datetime'''''平''均计''算''''功''''耗（W''''''/''''T''''''''FL''''OP''''）'''">
              <a:rPr lang="zh-CN" altLang="en-US" sz="1200" smtClean="0">
                <a:cs typeface="+mn-cs"/>
              </a:rPr>
              <a:pPr/>
              <a:t>平均计算功耗（W/TFLOP）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6" name="Text Placeholder 4">
            <a:extLst>
              <a:ext uri="{FF2B5EF4-FFF2-40B4-BE49-F238E27FC236}">
                <a16:creationId xmlns:a16="http://schemas.microsoft.com/office/drawing/2014/main" id="{7F325623-8863-046E-FA80-3C4D261C4C1F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10407650" y="4292600"/>
            <a:ext cx="7889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98E472-D978-475B-BF0B-E554DA5A5EB2}" type="datetime'+''''13''''''''''''''''''''''''1''''%''''''''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+131%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35" name="文本框 3234">
            <a:extLst>
              <a:ext uri="{FF2B5EF4-FFF2-40B4-BE49-F238E27FC236}">
                <a16:creationId xmlns:a16="http://schemas.microsoft.com/office/drawing/2014/main" id="{7765D192-5169-BF1B-E6CF-F2AB6ED53FE1}"/>
              </a:ext>
            </a:extLst>
          </p:cNvPr>
          <p:cNvSpPr txBox="1"/>
          <p:nvPr/>
        </p:nvSpPr>
        <p:spPr>
          <a:xfrm>
            <a:off x="6497639" y="4139503"/>
            <a:ext cx="1264979" cy="2000944"/>
          </a:xfrm>
          <a:prstGeom prst="rect">
            <a:avLst/>
          </a:prstGeom>
          <a:solidFill>
            <a:srgbClr val="ECF6FF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整机功耗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~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  <a:p>
            <a:pPr algn="ctr"/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平均计算功耗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~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2x</a:t>
            </a:r>
          </a:p>
          <a:p>
            <a:pPr algn="ctr"/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需要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405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海外巨头并行布局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落地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1-2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年内看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en-US" altLang="zh-CN" sz="1400" dirty="0">
                  <a:cs typeface="+mn-ea"/>
                  <a:sym typeface="+mn-lt"/>
                </a:rPr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整机交付为主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交换机核心组件为主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0" y="6051732"/>
            <a:ext cx="35209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年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Scale Out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28-29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年密集落地于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（博通预测）</a:t>
            </a:r>
            <a:endParaRPr kumimoji="1" lang="en-US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06D0C-63E0-E1ED-5D8B-710370B55FE3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1056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65963EA-EBFF-93D4-982F-2F493F18C7FF}"/>
              </a:ext>
            </a:extLst>
          </p:cNvPr>
          <p:cNvSpPr txBox="1"/>
          <p:nvPr/>
        </p:nvSpPr>
        <p:spPr>
          <a:xfrm>
            <a:off x="436729" y="2873004"/>
            <a:ext cx="740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集群新建支撑高渗透，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2030E 45%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万卡集群扩展支撑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百亿级市场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  <a:cs typeface="+mn-ea"/>
                  <a:sym typeface="+mn-lt"/>
                </a:rPr>
                <a:t>Base case</a:t>
              </a:r>
              <a:endParaRPr kumimoji="1" lang="zh-CN" altLang="en-US" sz="1600" b="1" dirty="0">
                <a:solidFill>
                  <a:srgbClr val="A6A6A6"/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  <a:cs typeface="+mn-ea"/>
                    <a:sym typeface="+mn-lt"/>
                  </a:rPr>
                  <a:t>93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  <a:cs typeface="+mn-ea"/>
                    <a:sym typeface="+mn-lt"/>
                  </a:rPr>
                  <a:t>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NVIDIA Rubin＋Broadcom TH7 开始全面替换高端可插拔模块，渗透率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Bull case</a:t>
              </a:r>
              <a:endPara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  <a:cs typeface="+mn-ea"/>
                    <a:sym typeface="+mn-lt"/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假设 CPO 方案在 800G</a:t>
                </a:r>
                <a:r>
                  <a:rPr kumimoji="1" lang="en-US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/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1.6T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  <a:cs typeface="+mn-ea"/>
                  <a:sym typeface="+mn-lt"/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cs typeface="+mn-ea"/>
                    <a:sym typeface="+mn-lt"/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>
                    <a:cs typeface="+mn-ea"/>
                    <a:sym typeface="+mn-lt"/>
                  </a:rPr>
                  <a:t>只在极高端 AI 集群试点，渗透率≤15 % （渗透难点）</a:t>
                </a:r>
                <a:endParaRPr lang="zh-CN" altLang="zh-CN" dirty="0"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531791" y="2350374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端口数：</a:t>
            </a:r>
            <a:r>
              <a:rPr lang="zh-CN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AI/HPC GPU＋交换机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需要 800 G/1.6 T端口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数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 2030E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亿级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E0D94-A845-FF91-EE9E-7AB52345993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2425D9-C516-09AD-5E94-049557EDF712}"/>
              </a:ext>
            </a:extLst>
          </p:cNvPr>
          <p:cNvSpPr txBox="1"/>
          <p:nvPr/>
        </p:nvSpPr>
        <p:spPr>
          <a:xfrm>
            <a:off x="298001" y="1354549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规模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7BAE9F-9823-B237-4957-68FCA5F5A095}"/>
              </a:ext>
            </a:extLst>
          </p:cNvPr>
          <p:cNvSpPr txBox="1"/>
          <p:nvPr/>
        </p:nvSpPr>
        <p:spPr>
          <a:xfrm>
            <a:off x="1365555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=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ACD5B-DE16-69DE-2066-BC3879A9CC55}"/>
              </a:ext>
            </a:extLst>
          </p:cNvPr>
          <p:cNvSpPr txBox="1"/>
          <p:nvPr/>
        </p:nvSpPr>
        <p:spPr>
          <a:xfrm>
            <a:off x="1812547" y="1297470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端口数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D7279-47FF-2F21-0A47-281BCE8ECF50}"/>
              </a:ext>
            </a:extLst>
          </p:cNvPr>
          <p:cNvSpPr txBox="1"/>
          <p:nvPr/>
        </p:nvSpPr>
        <p:spPr>
          <a:xfrm>
            <a:off x="3330591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38D37-34DE-F2B2-50A8-7BE8D5349F7D}"/>
              </a:ext>
            </a:extLst>
          </p:cNvPr>
          <p:cNvSpPr txBox="1"/>
          <p:nvPr/>
        </p:nvSpPr>
        <p:spPr>
          <a:xfrm>
            <a:off x="3695892" y="1297470"/>
            <a:ext cx="102951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84F8-3C2E-95F7-D987-4E998EAC842D}"/>
              </a:ext>
            </a:extLst>
          </p:cNvPr>
          <p:cNvSpPr txBox="1"/>
          <p:nvPr/>
        </p:nvSpPr>
        <p:spPr>
          <a:xfrm>
            <a:off x="4536869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EFB10A-3910-C3DA-C6B6-9D01AAFD7F45}"/>
              </a:ext>
            </a:extLst>
          </p:cNvPr>
          <p:cNvSpPr txBox="1"/>
          <p:nvPr/>
        </p:nvSpPr>
        <p:spPr>
          <a:xfrm>
            <a:off x="4878167" y="1354549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单价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970D7C-F5F9-ECFD-AD67-E3D4600CD30E}"/>
              </a:ext>
            </a:extLst>
          </p:cNvPr>
          <p:cNvSpPr txBox="1"/>
          <p:nvPr/>
        </p:nvSpPr>
        <p:spPr>
          <a:xfrm>
            <a:off x="2368730" y="1643914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3D6221-5B57-F054-67C1-B25529A7F405}"/>
              </a:ext>
            </a:extLst>
          </p:cNvPr>
          <p:cNvSpPr txBox="1"/>
          <p:nvPr/>
        </p:nvSpPr>
        <p:spPr>
          <a:xfrm>
            <a:off x="3401547" y="1643914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E4E23-3BC8-BD0D-4C64-FA8CA2612388}"/>
              </a:ext>
            </a:extLst>
          </p:cNvPr>
          <p:cNvSpPr/>
          <p:nvPr/>
        </p:nvSpPr>
        <p:spPr>
          <a:xfrm>
            <a:off x="1812547" y="1102824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FDE41-5061-F099-1BC2-01148CE5B2EA}"/>
              </a:ext>
            </a:extLst>
          </p:cNvPr>
          <p:cNvSpPr/>
          <p:nvPr/>
        </p:nvSpPr>
        <p:spPr>
          <a:xfrm>
            <a:off x="3770013" y="1104123"/>
            <a:ext cx="846345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37F170-FF3C-B0FB-45C8-D91B37556731}"/>
              </a:ext>
            </a:extLst>
          </p:cNvPr>
          <p:cNvSpPr txBox="1"/>
          <p:nvPr/>
        </p:nvSpPr>
        <p:spPr>
          <a:xfrm>
            <a:off x="531791" y="462851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新建优先渗透：为避免重置成本，新建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对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的态度为能用则用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Amazon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、谷歌、</a:t>
            </a:r>
            <a:r>
              <a:rPr kumimoji="1" lang="en-US" altLang="zh-CN" sz="16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xAI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建立十万卡集群，必须用光互连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349C5BE-A87A-77D9-6DB7-D19BE60C5476}"/>
              </a:ext>
            </a:extLst>
          </p:cNvPr>
          <p:cNvSpPr/>
          <p:nvPr/>
        </p:nvSpPr>
        <p:spPr>
          <a:xfrm>
            <a:off x="531791" y="3337336"/>
            <a:ext cx="5269570" cy="1165403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集群中，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35%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的连接方案已采用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040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新易盛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294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19D8D22-6E43-8138-D098-C77CC3575224}"/>
              </a:ext>
            </a:extLst>
          </p:cNvPr>
          <p:cNvGrpSpPr/>
          <p:nvPr/>
        </p:nvGrpSpPr>
        <p:grpSpPr>
          <a:xfrm>
            <a:off x="7020700" y="2434778"/>
            <a:ext cx="1480717" cy="1021140"/>
            <a:chOff x="2854288" y="1498237"/>
            <a:chExt cx="1480717" cy="102114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2057720-8647-C162-D7DB-D09E13E54079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LightMatter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45BDFD1-047E-3AC9-9666-9CF88163EA1E}"/>
                </a:ext>
              </a:extLst>
            </p:cNvPr>
            <p:cNvGrpSpPr/>
            <p:nvPr/>
          </p:nvGrpSpPr>
          <p:grpSpPr>
            <a:xfrm>
              <a:off x="3239844" y="1498237"/>
              <a:ext cx="684000" cy="684000"/>
              <a:chOff x="3749018" y="1403528"/>
              <a:chExt cx="684000" cy="684000"/>
            </a:xfrm>
          </p:grpSpPr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6E888A2D-7C24-3464-F071-59D009A78896}"/>
                  </a:ext>
                </a:extLst>
              </p:cNvPr>
              <p:cNvSpPr/>
              <p:nvPr/>
            </p:nvSpPr>
            <p:spPr>
              <a:xfrm>
                <a:off x="3749018" y="1403528"/>
                <a:ext cx="684000" cy="6840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25553AA-8FBC-CFE0-A0B5-06F72A7136DB}"/>
                  </a:ext>
                </a:extLst>
              </p:cNvPr>
              <p:cNvSpPr txBox="1"/>
              <p:nvPr/>
            </p:nvSpPr>
            <p:spPr>
              <a:xfrm>
                <a:off x="3809078" y="162241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4.4B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71474D3-1584-BCB1-6F7B-C9DF3CED2E14}"/>
              </a:ext>
            </a:extLst>
          </p:cNvPr>
          <p:cNvGrpSpPr/>
          <p:nvPr/>
        </p:nvGrpSpPr>
        <p:grpSpPr>
          <a:xfrm>
            <a:off x="7238044" y="3455964"/>
            <a:ext cx="1480717" cy="712522"/>
            <a:chOff x="2854288" y="1806855"/>
            <a:chExt cx="1480717" cy="712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41DF03C-7F9E-2D12-E9DF-78979F8E6D54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AyarLabs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E00C53D-550A-0449-61D5-93B181545914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E1DB967-06E2-C9F8-F5BB-9AC980FB6662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BF3B015-06B4-4E21-8C05-EF5F6D82D47B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1B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中际旭创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356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20%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425868" y="773571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CPO/OIO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巨头入局，相关初创获资本青睐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2030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130417" y="6607096"/>
            <a:ext cx="7396141" cy="27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：日期为公司成立日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天孚通信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2005</a:t>
              </a:r>
              <a:r>
                <a:rPr lang="en-US" altLang="zh-CN" sz="1000" baseline="30000" dirty="0">
                  <a:cs typeface="+mn-ea"/>
                  <a:sym typeface="+mn-lt"/>
                </a:rPr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84958"/>
            <a:ext cx="1480717" cy="639109"/>
            <a:chOff x="2865717" y="1835536"/>
            <a:chExt cx="1480717" cy="639109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剑桥科技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2006</a:t>
              </a:r>
              <a:r>
                <a:rPr lang="en-US" altLang="zh-CN" sz="1000" baseline="30000" dirty="0">
                  <a:cs typeface="+mn-ea"/>
                  <a:sym typeface="+mn-lt"/>
                </a:rPr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35536"/>
              <a:ext cx="563880" cy="246221"/>
              <a:chOff x="3833309" y="1740827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4082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7" y="807513"/>
            <a:ext cx="1951024" cy="326323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cs typeface="+mn-ea"/>
                <a:sym typeface="+mn-lt"/>
              </a:rPr>
              <a:t>AI爆发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71BFB-94C0-23CC-FB68-52E8955A83D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AA9C9-D930-E4D6-0852-76F64C0F4888}"/>
              </a:ext>
            </a:extLst>
          </p:cNvPr>
          <p:cNvSpPr txBox="1"/>
          <p:nvPr/>
        </p:nvSpPr>
        <p:spPr>
          <a:xfrm>
            <a:off x="115880" y="1241847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91D3D7A-B9AA-FD1C-D3A1-9B43069C3F83}"/>
              </a:ext>
            </a:extLst>
          </p:cNvPr>
          <p:cNvGrpSpPr/>
          <p:nvPr/>
        </p:nvGrpSpPr>
        <p:grpSpPr>
          <a:xfrm>
            <a:off x="299389" y="1623892"/>
            <a:ext cx="1499275" cy="276999"/>
            <a:chOff x="301960" y="960085"/>
            <a:chExt cx="1499275" cy="276999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F6B8640-A920-7B2A-23C7-628A5D5F28D6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FFA3FF0-CA0F-04C4-AE62-D3FFAAF45BEF}"/>
                </a:ext>
              </a:extLst>
            </p:cNvPr>
            <p:cNvSpPr txBox="1"/>
            <p:nvPr/>
          </p:nvSpPr>
          <p:spPr>
            <a:xfrm>
              <a:off x="470607" y="960085"/>
              <a:ext cx="13306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估值（十亿美元）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7F3BCAE-39C4-8E7A-B7C2-9A3D5DA6926A}"/>
              </a:ext>
            </a:extLst>
          </p:cNvPr>
          <p:cNvSpPr txBox="1"/>
          <p:nvPr/>
        </p:nvSpPr>
        <p:spPr>
          <a:xfrm>
            <a:off x="117996" y="1639280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xB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6CE72BB-1679-E7E0-1193-FA7A6A726BE9}"/>
              </a:ext>
            </a:extLst>
          </p:cNvPr>
          <p:cNvGrpSpPr/>
          <p:nvPr/>
        </p:nvGrpSpPr>
        <p:grpSpPr>
          <a:xfrm>
            <a:off x="7727602" y="2882025"/>
            <a:ext cx="1480717" cy="891820"/>
            <a:chOff x="2854288" y="1627557"/>
            <a:chExt cx="1480717" cy="8918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AED42A9-93F9-2EF6-7CB6-A331EC10C5E3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Celestial AI</a:t>
              </a: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2025 C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98B39EC-96C8-1552-64A1-C3CFE70BAB64}"/>
                </a:ext>
              </a:extLst>
            </p:cNvPr>
            <p:cNvGrpSpPr/>
            <p:nvPr/>
          </p:nvGrpSpPr>
          <p:grpSpPr>
            <a:xfrm>
              <a:off x="3302218" y="1627557"/>
              <a:ext cx="563880" cy="514800"/>
              <a:chOff x="3811392" y="1532848"/>
              <a:chExt cx="563880" cy="514800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36E0C9F0-06C3-116B-BDB9-6B81F9D2D9E6}"/>
                  </a:ext>
                </a:extLst>
              </p:cNvPr>
              <p:cNvSpPr/>
              <p:nvPr/>
            </p:nvSpPr>
            <p:spPr>
              <a:xfrm>
                <a:off x="3846420" y="1532848"/>
                <a:ext cx="514800" cy="5148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58468C2-3CAA-B518-1D3E-C3962DEF62F2}"/>
                  </a:ext>
                </a:extLst>
              </p:cNvPr>
              <p:cNvSpPr txBox="1"/>
              <p:nvPr/>
            </p:nvSpPr>
            <p:spPr>
              <a:xfrm>
                <a:off x="3811392" y="1668796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2.5B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F40269-8EB9-75ED-BF17-F0DEC6B88679}"/>
              </a:ext>
            </a:extLst>
          </p:cNvPr>
          <p:cNvGrpSpPr/>
          <p:nvPr/>
        </p:nvGrpSpPr>
        <p:grpSpPr>
          <a:xfrm>
            <a:off x="6705656" y="1555414"/>
            <a:ext cx="1480717" cy="782538"/>
            <a:chOff x="2743937" y="1891061"/>
            <a:chExt cx="1480717" cy="78253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AB92A23-CE73-C7BC-9000-C97559F394EB}"/>
                </a:ext>
              </a:extLst>
            </p:cNvPr>
            <p:cNvSpPr txBox="1"/>
            <p:nvPr/>
          </p:nvSpPr>
          <p:spPr>
            <a:xfrm>
              <a:off x="2743937" y="2119601"/>
              <a:ext cx="148071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FiconTec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2019</a:t>
              </a:r>
            </a:p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并购启动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CBD9CFD-9D1E-39A4-2546-4188DF98CD41}"/>
                </a:ext>
              </a:extLst>
            </p:cNvPr>
            <p:cNvGrpSpPr/>
            <p:nvPr/>
          </p:nvGrpSpPr>
          <p:grpSpPr>
            <a:xfrm>
              <a:off x="3180954" y="1891061"/>
              <a:ext cx="563880" cy="251296"/>
              <a:chOff x="3690128" y="1796352"/>
              <a:chExt cx="563880" cy="251296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91489960-0F1C-83D0-473C-2125F01F7ED5}"/>
                  </a:ext>
                </a:extLst>
              </p:cNvPr>
              <p:cNvSpPr/>
              <p:nvPr/>
            </p:nvSpPr>
            <p:spPr>
              <a:xfrm>
                <a:off x="3846420" y="1796352"/>
                <a:ext cx="251296" cy="251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FBD6DAD-39BD-692A-A5D0-069A9F5AC0D9}"/>
                  </a:ext>
                </a:extLst>
              </p:cNvPr>
              <p:cNvSpPr txBox="1"/>
              <p:nvPr/>
            </p:nvSpPr>
            <p:spPr>
              <a:xfrm>
                <a:off x="3690128" y="1820421"/>
                <a:ext cx="563880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0.17B</a:t>
                </a:r>
                <a:endParaRPr lang="zh-CN" altLang="en-US" sz="7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物理层接口芯片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（高速传输接口）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E40A5DF-83E5-6142-DAF5-0C4AC2FE59BF}"/>
              </a:ext>
            </a:extLst>
          </p:cNvPr>
          <p:cNvGrpSpPr/>
          <p:nvPr/>
        </p:nvGrpSpPr>
        <p:grpSpPr>
          <a:xfrm>
            <a:off x="688202" y="5782570"/>
            <a:ext cx="1427975" cy="657509"/>
            <a:chOff x="3616629" y="5923128"/>
            <a:chExt cx="1427975" cy="657509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CA609B8-F79F-2A54-B3D6-6DFBB6944568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38D6BB7-F906-3D4D-E631-57CA185DAA33}"/>
                </a:ext>
              </a:extLst>
            </p:cNvPr>
            <p:cNvSpPr txBox="1"/>
            <p:nvPr/>
          </p:nvSpPr>
          <p:spPr>
            <a:xfrm>
              <a:off x="3616629" y="6026639"/>
              <a:ext cx="142797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2000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铜连接大范围应用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8988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关键模块：硅光芯片、电芯片、主控芯片、集成交付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617802" y="1358351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3621132" y="1362135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光信号中枢，光</a:t>
            </a:r>
            <a:r>
              <a:rPr lang="en-US" altLang="zh-CN" sz="1600" i="1" dirty="0">
                <a:cs typeface="+mn-ea"/>
                <a:sym typeface="Wingdings" panose="05000000000000000000" pitchFamily="2" charset="2"/>
              </a:rPr>
              <a:t></a:t>
            </a:r>
            <a:r>
              <a:rPr lang="zh-CN" altLang="en-US" sz="1600" i="1" dirty="0">
                <a:cs typeface="+mn-ea"/>
                <a:sym typeface="+mn-lt"/>
              </a:rPr>
              <a:t>电</a:t>
            </a: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7036335" y="136706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电信号控制中枢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09857" y="2448690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182085" y="3083560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593676" y="4993309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243201" y="4948982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32297" y="3109827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28295" y="982651"/>
            <a:ext cx="1924628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放大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47359" y="982651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主控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747322" y="973707"/>
            <a:ext cx="1379386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982651"/>
            <a:ext cx="461271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行走通道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转换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9409097" y="1358351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89027" y="3516325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521561" y="3500936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62627" y="3486810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10019156" y="2522284"/>
            <a:ext cx="8951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cs typeface="+mn-ea"/>
                <a:sym typeface="+mn-lt"/>
              </a:rPr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73143" y="3109914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00681" y="3552248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697698" y="3582692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646586" y="3709334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243869" y="1997735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566928" y="3648410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02DB029A-34DC-7439-48BD-552FDD20957D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3788157" y="3464728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401" y="326568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722" y="4761053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5877" y="3826510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29042" y="3193160"/>
            <a:ext cx="1463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交换机芯片</a:t>
            </a: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78371" y="-2465666"/>
            <a:ext cx="238588" cy="852130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3850661" y="1977046"/>
            <a:ext cx="3581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集成交付</a:t>
            </a:r>
            <a:r>
              <a:rPr lang="en-US" altLang="zh-CN" sz="1600" baseline="30000" dirty="0">
                <a:cs typeface="+mn-ea"/>
                <a:sym typeface="+mn-lt"/>
              </a:rPr>
              <a:t>1</a:t>
            </a:r>
            <a:r>
              <a:rPr lang="zh-CN" altLang="en-US" sz="1600" dirty="0">
                <a:cs typeface="+mn-ea"/>
                <a:sym typeface="+mn-lt"/>
              </a:rPr>
              <a:t>：先进封装 </a:t>
            </a:r>
            <a:r>
              <a:rPr lang="en-US" altLang="zh-CN" sz="1600" dirty="0">
                <a:cs typeface="+mn-ea"/>
                <a:sym typeface="+mn-lt"/>
              </a:rPr>
              <a:t>+ </a:t>
            </a:r>
            <a:r>
              <a:rPr lang="zh-CN" altLang="en-US" sz="1600" dirty="0">
                <a:cs typeface="+mn-ea"/>
                <a:sym typeface="+mn-lt"/>
              </a:rPr>
              <a:t>整机集成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8B1F2-7CEF-4519-ED3C-8D9DE918E770}"/>
              </a:ext>
            </a:extLst>
          </p:cNvPr>
          <p:cNvSpPr txBox="1"/>
          <p:nvPr/>
        </p:nvSpPr>
        <p:spPr>
          <a:xfrm>
            <a:off x="406273" y="635610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：未包含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Foundry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611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产业链：光电信号中枢、交换机芯片规模大、毛利高，高端（高速光互连）国产替代空间大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908204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39639" y="912676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6096000" y="940500"/>
            <a:ext cx="1002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+mn-ea"/>
                <a:sym typeface="+mn-lt"/>
              </a:rPr>
              <a:t>EIC</a:t>
            </a:r>
          </a:p>
          <a:p>
            <a:pPr algn="ctr"/>
            <a:r>
              <a:rPr lang="zh-CN" altLang="en-US" sz="1200" dirty="0">
                <a:cs typeface="+mn-ea"/>
                <a:sym typeface="+mn-lt"/>
              </a:rPr>
              <a:t>电芯片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197135" y="935687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883234" y="1518115"/>
            <a:ext cx="830680" cy="861706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市场规模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/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价值占比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167407" y="3217025"/>
            <a:ext cx="667231" cy="758196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壁垒</a:t>
            </a: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830601" y="1029513"/>
            <a:ext cx="366675" cy="25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0010253-CFE6-4DBB-BE40-73E91D0EA19A}"/>
              </a:ext>
            </a:extLst>
          </p:cNvPr>
          <p:cNvSpPr/>
          <p:nvPr/>
        </p:nvSpPr>
        <p:spPr>
          <a:xfrm>
            <a:off x="11213342" y="409878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E482FF-B44B-05B7-7830-2A12FDF215B9}"/>
              </a:ext>
            </a:extLst>
          </p:cNvPr>
          <p:cNvSpPr txBox="1"/>
          <p:nvPr/>
        </p:nvSpPr>
        <p:spPr>
          <a:xfrm>
            <a:off x="164350" y="1518115"/>
            <a:ext cx="667231" cy="156482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规模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E309C5F-4D98-DCE1-F1CD-73862E9EEED1}"/>
              </a:ext>
            </a:extLst>
          </p:cNvPr>
          <p:cNvSpPr txBox="1"/>
          <p:nvPr/>
        </p:nvSpPr>
        <p:spPr>
          <a:xfrm>
            <a:off x="172452" y="4296278"/>
            <a:ext cx="667231" cy="183841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落地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节奏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883234" y="3223810"/>
            <a:ext cx="431984" cy="75141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研发周期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172593" y="6457518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、华鑫证券、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、中际旭创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：限定在通信市场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550701" y="162002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761015" y="1630206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1748469" y="2072604"/>
            <a:ext cx="173199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5085195" y="1597169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1" name="椭圆 5150">
            <a:extLst>
              <a:ext uri="{FF2B5EF4-FFF2-40B4-BE49-F238E27FC236}">
                <a16:creationId xmlns:a16="http://schemas.microsoft.com/office/drawing/2014/main" id="{D24F4DC8-424C-C7AB-466A-449BBB478B15}"/>
              </a:ext>
            </a:extLst>
          </p:cNvPr>
          <p:cNvSpPr/>
          <p:nvPr/>
        </p:nvSpPr>
        <p:spPr>
          <a:xfrm>
            <a:off x="4312042" y="1559979"/>
            <a:ext cx="415340" cy="414947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254885" y="2072604"/>
            <a:ext cx="13178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885199" y="2531638"/>
            <a:ext cx="794443" cy="55130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毛利率</a:t>
            </a: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39182" y="2623323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192542" y="2623323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06226" y="318494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117043" y="318494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56219" y="3215718"/>
            <a:ext cx="1613389" cy="307777"/>
            <a:chOff x="4993028" y="3547148"/>
            <a:chExt cx="1613389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22811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年一代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41492" y="3635784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1771" y="3687592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2119" y="2693215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049845" y="262332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906" y="2703204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86422" y="3215718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2451" y="3284075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3001101" y="3635784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4871" y="3675101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2991" y="2684450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357450" y="934458"/>
            <a:ext cx="2796897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集成交付</a:t>
            </a:r>
          </a:p>
        </p:txBody>
      </p:sp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0614" y="1062056"/>
            <a:ext cx="601426" cy="2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10823042" y="950660"/>
            <a:ext cx="154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+mn-ea"/>
                <a:sym typeface="+mn-lt"/>
              </a:rPr>
              <a:t>先进封测</a:t>
            </a:r>
            <a:endParaRPr lang="en-US" altLang="zh-CN" sz="1200" dirty="0">
              <a:cs typeface="+mn-ea"/>
              <a:sym typeface="+mn-lt"/>
            </a:endParaRPr>
          </a:p>
          <a:p>
            <a:pPr algn="ctr"/>
            <a:r>
              <a:rPr lang="zh-CN" altLang="en-US" sz="1200" dirty="0">
                <a:cs typeface="+mn-ea"/>
                <a:sym typeface="+mn-lt"/>
              </a:rPr>
              <a:t>设备集成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178482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5" name="椭圆 5164">
            <a:extLst>
              <a:ext uri="{FF2B5EF4-FFF2-40B4-BE49-F238E27FC236}">
                <a16:creationId xmlns:a16="http://schemas.microsoft.com/office/drawing/2014/main" id="{033CF5C3-3CA0-A564-EA32-E84CBBD37EA2}"/>
              </a:ext>
            </a:extLst>
          </p:cNvPr>
          <p:cNvSpPr/>
          <p:nvPr/>
        </p:nvSpPr>
        <p:spPr>
          <a:xfrm>
            <a:off x="9524192" y="1589742"/>
            <a:ext cx="362009" cy="361668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429169" y="2072604"/>
            <a:ext cx="146824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20031" y="2630154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25077" y="3184940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053753" y="3184940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8210988" y="1597169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1" name="椭圆 5190">
            <a:extLst>
              <a:ext uri="{FF2B5EF4-FFF2-40B4-BE49-F238E27FC236}">
                <a16:creationId xmlns:a16="http://schemas.microsoft.com/office/drawing/2014/main" id="{F92D9C8C-8F70-FCCB-434D-D374FE498C00}"/>
              </a:ext>
            </a:extLst>
          </p:cNvPr>
          <p:cNvSpPr/>
          <p:nvPr/>
        </p:nvSpPr>
        <p:spPr>
          <a:xfrm>
            <a:off x="7161514" y="1469979"/>
            <a:ext cx="530876" cy="530374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104357" y="2072604"/>
            <a:ext cx="13178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3" name="图片 5192" descr="图示&#10;&#10;AI 生成的内容可能不正确。">
            <a:extLst>
              <a:ext uri="{FF2B5EF4-FFF2-40B4-BE49-F238E27FC236}">
                <a16:creationId xmlns:a16="http://schemas.microsoft.com/office/drawing/2014/main" id="{99870414-422A-7AF9-3411-CBA4F1AB5C8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825" b="34035" l="78808" r="92881">
                        <a14:foregroundMark x1="78808" y1="24912" x2="78808" y2="24912"/>
                        <a14:foregroundMark x1="84437" y1="33684" x2="84437" y2="33684"/>
                        <a14:foregroundMark x1="87252" y1="34035" x2="87252" y2="34035"/>
                        <a14:foregroundMark x1="92715" y1="24561" x2="92715" y2="245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8645776" y="979504"/>
            <a:ext cx="465131" cy="369333"/>
          </a:xfrm>
          <a:prstGeom prst="rect">
            <a:avLst/>
          </a:prstGeom>
        </p:spPr>
      </p:pic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60706" y="3635784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79491" y="3240071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61727" y="3215718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98" name="文本框 5197">
            <a:extLst>
              <a:ext uri="{FF2B5EF4-FFF2-40B4-BE49-F238E27FC236}">
                <a16:creationId xmlns:a16="http://schemas.microsoft.com/office/drawing/2014/main" id="{FC089579-6BCA-6847-F442-BEEBB3EE0096}"/>
              </a:ext>
            </a:extLst>
          </p:cNvPr>
          <p:cNvSpPr txBox="1"/>
          <p:nvPr/>
        </p:nvSpPr>
        <p:spPr>
          <a:xfrm>
            <a:off x="10755898" y="2565835"/>
            <a:ext cx="202392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高端封装高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低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99" name="文本框 5198">
            <a:extLst>
              <a:ext uri="{FF2B5EF4-FFF2-40B4-BE49-F238E27FC236}">
                <a16:creationId xmlns:a16="http://schemas.microsoft.com/office/drawing/2014/main" id="{BE8031B4-B33B-8F8A-2F42-B8725C593B52}"/>
              </a:ext>
            </a:extLst>
          </p:cNvPr>
          <p:cNvSpPr txBox="1"/>
          <p:nvPr/>
        </p:nvSpPr>
        <p:spPr>
          <a:xfrm>
            <a:off x="5883635" y="2553210"/>
            <a:ext cx="118672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Serdes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自研毛利高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200" name="文本框 5199">
            <a:extLst>
              <a:ext uri="{FF2B5EF4-FFF2-40B4-BE49-F238E27FC236}">
                <a16:creationId xmlns:a16="http://schemas.microsoft.com/office/drawing/2014/main" id="{0378968C-A73A-4786-FF55-E939F9850D99}"/>
              </a:ext>
            </a:extLst>
          </p:cNvPr>
          <p:cNvSpPr txBox="1"/>
          <p:nvPr/>
        </p:nvSpPr>
        <p:spPr>
          <a:xfrm>
            <a:off x="8362534" y="2541536"/>
            <a:ext cx="118672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Serdes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自研毛利高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9900" y="3284075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53043" y="3215718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年一代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47284" y="3714427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33944" y="3635784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0591" y="3621173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361469" y="3230967"/>
            <a:ext cx="304385" cy="34316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海外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356275" y="3605888"/>
            <a:ext cx="304385" cy="369332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00930" y="360500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118178" y="360500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046463" y="3605006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23998" y="3605006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10739954" y="1592729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4959A5-F816-2194-2848-EC7D172B3F97}"/>
              </a:ext>
            </a:extLst>
          </p:cNvPr>
          <p:cNvSpPr txBox="1"/>
          <p:nvPr/>
        </p:nvSpPr>
        <p:spPr>
          <a:xfrm>
            <a:off x="3204353" y="940500"/>
            <a:ext cx="937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cs typeface="+mn-ea"/>
              </a:defRPr>
            </a:lvl1pPr>
          </a:lstStyle>
          <a:p>
            <a:r>
              <a:rPr lang="zh-CN" altLang="en-US" sz="1200" dirty="0">
                <a:sym typeface="+mn-lt"/>
              </a:rPr>
              <a:t>硅光芯片</a:t>
            </a:r>
            <a:endParaRPr lang="en-US" altLang="zh-CN" sz="1200" dirty="0">
              <a:sym typeface="+mn-lt"/>
            </a:endParaRPr>
          </a:p>
          <a:p>
            <a:r>
              <a:rPr lang="zh-CN" altLang="en-US" sz="1200" dirty="0">
                <a:sym typeface="+mn-lt"/>
              </a:rPr>
              <a:t>激光器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82F1A0-83AB-0020-393D-B6104D15BD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57001" y="1015698"/>
            <a:ext cx="510150" cy="2877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81491" y="2709154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10975" y="2674211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4893A59-34F9-88FA-C824-0905D061DE0C}"/>
              </a:ext>
            </a:extLst>
          </p:cNvPr>
          <p:cNvSpPr/>
          <p:nvPr/>
        </p:nvSpPr>
        <p:spPr>
          <a:xfrm>
            <a:off x="1795422" y="4288688"/>
            <a:ext cx="9982200" cy="185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F838DC-F65E-9FE6-2ED7-44468693B930}"/>
              </a:ext>
            </a:extLst>
          </p:cNvPr>
          <p:cNvSpPr txBox="1"/>
          <p:nvPr/>
        </p:nvSpPr>
        <p:spPr>
          <a:xfrm>
            <a:off x="3540848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047EF1-D8D9-A6F9-BD72-1F857DB33227}"/>
              </a:ext>
            </a:extLst>
          </p:cNvPr>
          <p:cNvSpPr txBox="1"/>
          <p:nvPr/>
        </p:nvSpPr>
        <p:spPr>
          <a:xfrm>
            <a:off x="4280320" y="1615502"/>
            <a:ext cx="524985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$bn</a:t>
            </a:r>
            <a:endParaRPr lang="zh-CN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F3ECBE-EA4E-4D30-84D4-7394DFD0AED5}"/>
              </a:ext>
            </a:extLst>
          </p:cNvPr>
          <p:cNvSpPr txBox="1"/>
          <p:nvPr/>
        </p:nvSpPr>
        <p:spPr>
          <a:xfrm>
            <a:off x="7174257" y="1583988"/>
            <a:ext cx="524985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$bn</a:t>
            </a:r>
            <a:endParaRPr lang="zh-CN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156EE3-3C3D-60AE-3973-8B24592D8337}"/>
              </a:ext>
            </a:extLst>
          </p:cNvPr>
          <p:cNvSpPr txBox="1"/>
          <p:nvPr/>
        </p:nvSpPr>
        <p:spPr>
          <a:xfrm>
            <a:off x="9470503" y="1609540"/>
            <a:ext cx="524985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$bn</a:t>
            </a:r>
            <a:endParaRPr lang="zh-CN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61A47A-00EA-3433-0F36-B8FA99D1C55C}"/>
              </a:ext>
            </a:extLst>
          </p:cNvPr>
          <p:cNvSpPr txBox="1"/>
          <p:nvPr/>
        </p:nvSpPr>
        <p:spPr>
          <a:xfrm>
            <a:off x="2266431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中低端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F6BFFDF-6C0A-F581-6AD9-2F121ECB152F}"/>
              </a:ext>
            </a:extLst>
          </p:cNvPr>
          <p:cNvSpPr/>
          <p:nvPr/>
        </p:nvSpPr>
        <p:spPr>
          <a:xfrm>
            <a:off x="2431259" y="4465638"/>
            <a:ext cx="47224" cy="558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154C593-EDDD-51E5-ECEF-8E83D4F3BB86}"/>
              </a:ext>
            </a:extLst>
          </p:cNvPr>
          <p:cNvSpPr txBox="1"/>
          <p:nvPr/>
        </p:nvSpPr>
        <p:spPr>
          <a:xfrm>
            <a:off x="2227971" y="5005065"/>
            <a:ext cx="453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F117094-E798-D9BA-C422-35DEC9EBA0CC}"/>
              </a:ext>
            </a:extLst>
          </p:cNvPr>
          <p:cNvSpPr txBox="1"/>
          <p:nvPr/>
        </p:nvSpPr>
        <p:spPr>
          <a:xfrm>
            <a:off x="2227971" y="4254749"/>
            <a:ext cx="453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22ED6C1-32E1-F3DB-19B5-45F0AB64CD58}"/>
              </a:ext>
            </a:extLst>
          </p:cNvPr>
          <p:cNvSpPr txBox="1"/>
          <p:nvPr/>
        </p:nvSpPr>
        <p:spPr>
          <a:xfrm>
            <a:off x="2227971" y="5467117"/>
            <a:ext cx="453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265BCCA-15B1-1243-49E3-13F952DFB10B}"/>
              </a:ext>
            </a:extLst>
          </p:cNvPr>
          <p:cNvSpPr txBox="1"/>
          <p:nvPr/>
        </p:nvSpPr>
        <p:spPr>
          <a:xfrm>
            <a:off x="3226091" y="5770448"/>
            <a:ext cx="453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&lt;5%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AD6D818-14EE-9BF2-6F32-A164ABFC57E3}"/>
              </a:ext>
            </a:extLst>
          </p:cNvPr>
          <p:cNvSpPr txBox="1"/>
          <p:nvPr/>
        </p:nvSpPr>
        <p:spPr>
          <a:xfrm>
            <a:off x="883235" y="4296277"/>
            <a:ext cx="777426" cy="1838417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化率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量产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阶段</a:t>
            </a:r>
          </a:p>
          <a:p>
            <a:pPr algn="ctr">
              <a:buNone/>
            </a:pP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24E48D3-23A5-ABDD-3541-A5FB15275A96}"/>
              </a:ext>
            </a:extLst>
          </p:cNvPr>
          <p:cNvSpPr txBox="1"/>
          <p:nvPr/>
        </p:nvSpPr>
        <p:spPr>
          <a:xfrm>
            <a:off x="2550701" y="4285762"/>
            <a:ext cx="12197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2.5-10G</a:t>
            </a: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规模化量产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主导全球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F2F250E-EA7B-10BD-3EE8-4D2D0DA670C4}"/>
              </a:ext>
            </a:extLst>
          </p:cNvPr>
          <p:cNvSpPr txBox="1"/>
          <p:nvPr/>
        </p:nvSpPr>
        <p:spPr>
          <a:xfrm>
            <a:off x="2543288" y="5474952"/>
            <a:ext cx="696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25G</a:t>
            </a: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批量发货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逐步替代进口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4816CF1-53FF-E86F-A4B0-BDDAD0830C2F}"/>
              </a:ext>
            </a:extLst>
          </p:cNvPr>
          <p:cNvSpPr txBox="1"/>
          <p:nvPr/>
        </p:nvSpPr>
        <p:spPr>
          <a:xfrm>
            <a:off x="3532441" y="5769653"/>
            <a:ext cx="139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100/200G</a:t>
            </a:r>
          </a:p>
          <a:p>
            <a:r>
              <a:rPr lang="zh-CN" altLang="en-US" dirty="0">
                <a:sym typeface="+mn-lt"/>
              </a:rPr>
              <a:t>客户验证阶段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D0EE4B0-BD21-BF01-1F54-0F415A4D3682}"/>
              </a:ext>
            </a:extLst>
          </p:cNvPr>
          <p:cNvSpPr txBox="1"/>
          <p:nvPr/>
        </p:nvSpPr>
        <p:spPr>
          <a:xfrm>
            <a:off x="6135525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高端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7460D70-1EFC-143F-75C1-F7821909FCE3}"/>
              </a:ext>
            </a:extLst>
          </p:cNvPr>
          <p:cNvSpPr txBox="1"/>
          <p:nvPr/>
        </p:nvSpPr>
        <p:spPr>
          <a:xfrm>
            <a:off x="4805305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中低端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75BEB64-C85B-7F68-DF1E-6A22E237924C}"/>
              </a:ext>
            </a:extLst>
          </p:cNvPr>
          <p:cNvSpPr txBox="1"/>
          <p:nvPr/>
        </p:nvSpPr>
        <p:spPr>
          <a:xfrm>
            <a:off x="8902315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高端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FB62D25-B14A-BC58-B5B5-B5F18F493066}"/>
              </a:ext>
            </a:extLst>
          </p:cNvPr>
          <p:cNvSpPr txBox="1"/>
          <p:nvPr/>
        </p:nvSpPr>
        <p:spPr>
          <a:xfrm>
            <a:off x="7531854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中低端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E368146-A56A-3D5F-44FA-D14262D61F57}"/>
              </a:ext>
            </a:extLst>
          </p:cNvPr>
          <p:cNvSpPr txBox="1"/>
          <p:nvPr/>
        </p:nvSpPr>
        <p:spPr>
          <a:xfrm>
            <a:off x="11178642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高端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9F4229A-637F-447C-CF5B-8CCA5D61B474}"/>
              </a:ext>
            </a:extLst>
          </p:cNvPr>
          <p:cNvSpPr txBox="1"/>
          <p:nvPr/>
        </p:nvSpPr>
        <p:spPr>
          <a:xfrm>
            <a:off x="10160124" y="6145263"/>
            <a:ext cx="83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中低端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37CA3EB-1DE2-1FFB-D3B2-435F90CF3DFA}"/>
              </a:ext>
            </a:extLst>
          </p:cNvPr>
          <p:cNvSpPr txBox="1"/>
          <p:nvPr/>
        </p:nvSpPr>
        <p:spPr>
          <a:xfrm>
            <a:off x="6095457" y="5945324"/>
            <a:ext cx="453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&lt;1%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21" name="文本框 5120">
            <a:extLst>
              <a:ext uri="{FF2B5EF4-FFF2-40B4-BE49-F238E27FC236}">
                <a16:creationId xmlns:a16="http://schemas.microsoft.com/office/drawing/2014/main" id="{76188F07-8CE1-B5E5-0EAF-207EE938B35F}"/>
              </a:ext>
            </a:extLst>
          </p:cNvPr>
          <p:cNvSpPr txBox="1"/>
          <p:nvPr/>
        </p:nvSpPr>
        <p:spPr>
          <a:xfrm>
            <a:off x="7426952" y="5888474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23" name="文本框 5122">
            <a:extLst>
              <a:ext uri="{FF2B5EF4-FFF2-40B4-BE49-F238E27FC236}">
                <a16:creationId xmlns:a16="http://schemas.microsoft.com/office/drawing/2014/main" id="{996AB0CC-A0DF-65D3-E19A-B8B2059B01CB}"/>
              </a:ext>
            </a:extLst>
          </p:cNvPr>
          <p:cNvSpPr txBox="1"/>
          <p:nvPr/>
        </p:nvSpPr>
        <p:spPr>
          <a:xfrm>
            <a:off x="7716858" y="5742109"/>
            <a:ext cx="12197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6.4-12.8T</a:t>
            </a: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规模化量产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endParaRPr lang="zh-CN" altLang="en-US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26" name="文本框 5125">
            <a:extLst>
              <a:ext uri="{FF2B5EF4-FFF2-40B4-BE49-F238E27FC236}">
                <a16:creationId xmlns:a16="http://schemas.microsoft.com/office/drawing/2014/main" id="{E41FFB26-A538-2491-E8D0-3A90139D7BB7}"/>
              </a:ext>
            </a:extLst>
          </p:cNvPr>
          <p:cNvSpPr txBox="1"/>
          <p:nvPr/>
        </p:nvSpPr>
        <p:spPr>
          <a:xfrm>
            <a:off x="8348699" y="5774270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&lt;5%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27" name="文本框 5126">
            <a:extLst>
              <a:ext uri="{FF2B5EF4-FFF2-40B4-BE49-F238E27FC236}">
                <a16:creationId xmlns:a16="http://schemas.microsoft.com/office/drawing/2014/main" id="{BCD50CA7-0E5A-5D0D-1EFC-FA09CE20A85D}"/>
              </a:ext>
            </a:extLst>
          </p:cNvPr>
          <p:cNvSpPr txBox="1"/>
          <p:nvPr/>
        </p:nvSpPr>
        <p:spPr>
          <a:xfrm>
            <a:off x="8666430" y="5774918"/>
            <a:ext cx="16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25.6T</a:t>
            </a:r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：小批量出货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51.2T</a:t>
            </a:r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：已发布（华为）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29" name="文本框 5128">
            <a:extLst>
              <a:ext uri="{FF2B5EF4-FFF2-40B4-BE49-F238E27FC236}">
                <a16:creationId xmlns:a16="http://schemas.microsoft.com/office/drawing/2014/main" id="{EB0A5423-EC7E-4597-B487-65610A6D2EED}"/>
              </a:ext>
            </a:extLst>
          </p:cNvPr>
          <p:cNvSpPr txBox="1"/>
          <p:nvPr/>
        </p:nvSpPr>
        <p:spPr>
          <a:xfrm>
            <a:off x="11086305" y="5413128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31" name="文本框 5130">
            <a:extLst>
              <a:ext uri="{FF2B5EF4-FFF2-40B4-BE49-F238E27FC236}">
                <a16:creationId xmlns:a16="http://schemas.microsoft.com/office/drawing/2014/main" id="{012C0631-C48A-1F03-8A2A-E0B241C96B78}"/>
              </a:ext>
            </a:extLst>
          </p:cNvPr>
          <p:cNvSpPr txBox="1"/>
          <p:nvPr/>
        </p:nvSpPr>
        <p:spPr>
          <a:xfrm>
            <a:off x="10112452" y="4607676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84D7541-3E71-38D4-776B-F8C120CF25C3}"/>
              </a:ext>
            </a:extLst>
          </p:cNvPr>
          <p:cNvSpPr txBox="1"/>
          <p:nvPr/>
        </p:nvSpPr>
        <p:spPr>
          <a:xfrm>
            <a:off x="4727382" y="5893446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0E4C3B9-92F7-54BF-7C8E-08F76A5D19BB}"/>
              </a:ext>
            </a:extLst>
          </p:cNvPr>
          <p:cNvSpPr txBox="1"/>
          <p:nvPr/>
        </p:nvSpPr>
        <p:spPr>
          <a:xfrm>
            <a:off x="6095457" y="5482571"/>
            <a:ext cx="12197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高端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TIA</a:t>
            </a:r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、高速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DSP</a:t>
            </a:r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芯片严重依赖进口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97D8BC8-F30E-27A5-397D-417D0632D13B}"/>
              </a:ext>
            </a:extLst>
          </p:cNvPr>
          <p:cNvSpPr txBox="1"/>
          <p:nvPr/>
        </p:nvSpPr>
        <p:spPr>
          <a:xfrm>
            <a:off x="10442783" y="4612642"/>
            <a:ext cx="1393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传统封测优势明显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0218804-6B71-9CD3-2AD3-9F91DF8AED99}"/>
              </a:ext>
            </a:extLst>
          </p:cNvPr>
          <p:cNvSpPr txBox="1"/>
          <p:nvPr/>
        </p:nvSpPr>
        <p:spPr>
          <a:xfrm>
            <a:off x="11104608" y="5735373"/>
            <a:ext cx="139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2.5D/3D</a:t>
            </a: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快速追赶</a:t>
            </a:r>
          </a:p>
        </p:txBody>
      </p:sp>
      <p:sp>
        <p:nvSpPr>
          <p:cNvPr id="5120" name="椭圆 5119">
            <a:extLst>
              <a:ext uri="{FF2B5EF4-FFF2-40B4-BE49-F238E27FC236}">
                <a16:creationId xmlns:a16="http://schemas.microsoft.com/office/drawing/2014/main" id="{2C273258-871E-DE73-7C59-93449410A4A4}"/>
              </a:ext>
            </a:extLst>
          </p:cNvPr>
          <p:cNvSpPr/>
          <p:nvPr/>
        </p:nvSpPr>
        <p:spPr>
          <a:xfrm>
            <a:off x="3371627" y="5984807"/>
            <a:ext cx="108836" cy="1088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2" name="椭圆 5131">
            <a:extLst>
              <a:ext uri="{FF2B5EF4-FFF2-40B4-BE49-F238E27FC236}">
                <a16:creationId xmlns:a16="http://schemas.microsoft.com/office/drawing/2014/main" id="{45BC4CF4-8B56-67E2-6FC3-DDDBC4D596FF}"/>
              </a:ext>
            </a:extLst>
          </p:cNvPr>
          <p:cNvSpPr/>
          <p:nvPr/>
        </p:nvSpPr>
        <p:spPr>
          <a:xfrm>
            <a:off x="8536940" y="5989780"/>
            <a:ext cx="108836" cy="1088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3" name="矩形: 圆角 5132">
            <a:extLst>
              <a:ext uri="{FF2B5EF4-FFF2-40B4-BE49-F238E27FC236}">
                <a16:creationId xmlns:a16="http://schemas.microsoft.com/office/drawing/2014/main" id="{6AFEE681-BE46-D159-394C-882E7B76AA88}"/>
              </a:ext>
            </a:extLst>
          </p:cNvPr>
          <p:cNvSpPr/>
          <p:nvPr/>
        </p:nvSpPr>
        <p:spPr>
          <a:xfrm>
            <a:off x="4890210" y="5022248"/>
            <a:ext cx="45719" cy="8984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4" name="文本框 5133">
            <a:extLst>
              <a:ext uri="{FF2B5EF4-FFF2-40B4-BE49-F238E27FC236}">
                <a16:creationId xmlns:a16="http://schemas.microsoft.com/office/drawing/2014/main" id="{ECCDB360-17DB-4C9B-D903-D90F44FFA900}"/>
              </a:ext>
            </a:extLst>
          </p:cNvPr>
          <p:cNvSpPr txBox="1"/>
          <p:nvPr/>
        </p:nvSpPr>
        <p:spPr>
          <a:xfrm>
            <a:off x="4727382" y="4806867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35" name="文本框 5134">
            <a:extLst>
              <a:ext uri="{FF2B5EF4-FFF2-40B4-BE49-F238E27FC236}">
                <a16:creationId xmlns:a16="http://schemas.microsoft.com/office/drawing/2014/main" id="{3A2DD8B3-F0A6-CE92-ABFC-DD81DF2CE554}"/>
              </a:ext>
            </a:extLst>
          </p:cNvPr>
          <p:cNvSpPr txBox="1"/>
          <p:nvPr/>
        </p:nvSpPr>
        <p:spPr>
          <a:xfrm>
            <a:off x="5026297" y="5734585"/>
            <a:ext cx="830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低速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DSP</a:t>
            </a: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进口占比大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36" name="文本框 5135">
            <a:extLst>
              <a:ext uri="{FF2B5EF4-FFF2-40B4-BE49-F238E27FC236}">
                <a16:creationId xmlns:a16="http://schemas.microsoft.com/office/drawing/2014/main" id="{61F14F10-ABF3-D6BC-5CBC-8E04145C817C}"/>
              </a:ext>
            </a:extLst>
          </p:cNvPr>
          <p:cNvSpPr txBox="1"/>
          <p:nvPr/>
        </p:nvSpPr>
        <p:spPr>
          <a:xfrm>
            <a:off x="5021771" y="4802434"/>
            <a:ext cx="1001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低端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TIA/DRV</a:t>
            </a: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基本替代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37" name="矩形: 圆角 5136">
            <a:extLst>
              <a:ext uri="{FF2B5EF4-FFF2-40B4-BE49-F238E27FC236}">
                <a16:creationId xmlns:a16="http://schemas.microsoft.com/office/drawing/2014/main" id="{A60048CD-915E-C05A-AB30-3820E32B4C8A}"/>
              </a:ext>
            </a:extLst>
          </p:cNvPr>
          <p:cNvSpPr/>
          <p:nvPr/>
        </p:nvSpPr>
        <p:spPr>
          <a:xfrm>
            <a:off x="5889188" y="5711952"/>
            <a:ext cx="45719" cy="4126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文本框 5137">
            <a:extLst>
              <a:ext uri="{FF2B5EF4-FFF2-40B4-BE49-F238E27FC236}">
                <a16:creationId xmlns:a16="http://schemas.microsoft.com/office/drawing/2014/main" id="{4551CDCB-15BE-EA92-6732-DEEEEA385689}"/>
              </a:ext>
            </a:extLst>
          </p:cNvPr>
          <p:cNvSpPr txBox="1"/>
          <p:nvPr/>
        </p:nvSpPr>
        <p:spPr>
          <a:xfrm>
            <a:off x="5679913" y="5479862"/>
            <a:ext cx="566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~20%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44" name="椭圆 5143">
            <a:extLst>
              <a:ext uri="{FF2B5EF4-FFF2-40B4-BE49-F238E27FC236}">
                <a16:creationId xmlns:a16="http://schemas.microsoft.com/office/drawing/2014/main" id="{17FC14AC-D458-488F-F77E-0182BE5CF2A5}"/>
              </a:ext>
            </a:extLst>
          </p:cNvPr>
          <p:cNvSpPr/>
          <p:nvPr/>
        </p:nvSpPr>
        <p:spPr>
          <a:xfrm>
            <a:off x="2400453" y="5700539"/>
            <a:ext cx="108836" cy="1088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5" name="椭圆 5144">
            <a:extLst>
              <a:ext uri="{FF2B5EF4-FFF2-40B4-BE49-F238E27FC236}">
                <a16:creationId xmlns:a16="http://schemas.microsoft.com/office/drawing/2014/main" id="{76CE64EA-4FB0-687B-A6D7-9E645D66CC87}"/>
              </a:ext>
            </a:extLst>
          </p:cNvPr>
          <p:cNvSpPr/>
          <p:nvPr/>
        </p:nvSpPr>
        <p:spPr>
          <a:xfrm>
            <a:off x="10261518" y="4813725"/>
            <a:ext cx="108836" cy="1088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6" name="椭圆 5145">
            <a:extLst>
              <a:ext uri="{FF2B5EF4-FFF2-40B4-BE49-F238E27FC236}">
                <a16:creationId xmlns:a16="http://schemas.microsoft.com/office/drawing/2014/main" id="{D892E691-BC4E-4729-1413-0802E0D846C3}"/>
              </a:ext>
            </a:extLst>
          </p:cNvPr>
          <p:cNvSpPr/>
          <p:nvPr/>
        </p:nvSpPr>
        <p:spPr>
          <a:xfrm>
            <a:off x="11245085" y="5635162"/>
            <a:ext cx="108836" cy="1088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8" name="椭圆 5147">
            <a:extLst>
              <a:ext uri="{FF2B5EF4-FFF2-40B4-BE49-F238E27FC236}">
                <a16:creationId xmlns:a16="http://schemas.microsoft.com/office/drawing/2014/main" id="{CE247417-AE22-EF64-B5C2-A38CEBCC6A0D}"/>
              </a:ext>
            </a:extLst>
          </p:cNvPr>
          <p:cNvSpPr/>
          <p:nvPr/>
        </p:nvSpPr>
        <p:spPr>
          <a:xfrm>
            <a:off x="3317608" y="4358922"/>
            <a:ext cx="1021973" cy="14216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5149" name="椭圆 5148">
            <a:extLst>
              <a:ext uri="{FF2B5EF4-FFF2-40B4-BE49-F238E27FC236}">
                <a16:creationId xmlns:a16="http://schemas.microsoft.com/office/drawing/2014/main" id="{EE0FFBF8-8412-EDE4-A2DC-104FCB479D6F}"/>
              </a:ext>
            </a:extLst>
          </p:cNvPr>
          <p:cNvSpPr/>
          <p:nvPr/>
        </p:nvSpPr>
        <p:spPr>
          <a:xfrm>
            <a:off x="5917526" y="4347990"/>
            <a:ext cx="884494" cy="10926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5154" name="文本框 5153">
            <a:extLst>
              <a:ext uri="{FF2B5EF4-FFF2-40B4-BE49-F238E27FC236}">
                <a16:creationId xmlns:a16="http://schemas.microsoft.com/office/drawing/2014/main" id="{4E633DB5-BDBE-CF87-DF23-3D8515240802}"/>
              </a:ext>
            </a:extLst>
          </p:cNvPr>
          <p:cNvSpPr txBox="1"/>
          <p:nvPr/>
        </p:nvSpPr>
        <p:spPr>
          <a:xfrm>
            <a:off x="5736506" y="4377859"/>
            <a:ext cx="127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高速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电芯片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（</a:t>
            </a:r>
            <a:r>
              <a:rPr lang="en-US" altLang="zh-CN" sz="1400" dirty="0">
                <a:solidFill>
                  <a:srgbClr val="0052D9"/>
                </a:solidFill>
              </a:rPr>
              <a:t>DSP</a:t>
            </a:r>
            <a:r>
              <a:rPr lang="zh-CN" altLang="en-US" sz="1400" dirty="0">
                <a:solidFill>
                  <a:srgbClr val="0052D9"/>
                </a:solidFill>
              </a:rPr>
              <a:t>）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待渗透</a:t>
            </a:r>
          </a:p>
        </p:txBody>
      </p:sp>
      <p:sp>
        <p:nvSpPr>
          <p:cNvPr id="5155" name="文本框 5154">
            <a:extLst>
              <a:ext uri="{FF2B5EF4-FFF2-40B4-BE49-F238E27FC236}">
                <a16:creationId xmlns:a16="http://schemas.microsoft.com/office/drawing/2014/main" id="{F0FC3E46-6F76-1DA8-3BED-D11B9BBFA5C8}"/>
              </a:ext>
            </a:extLst>
          </p:cNvPr>
          <p:cNvSpPr txBox="1"/>
          <p:nvPr/>
        </p:nvSpPr>
        <p:spPr>
          <a:xfrm>
            <a:off x="3058075" y="4707471"/>
            <a:ext cx="15078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高速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光芯片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待渗透</a:t>
            </a:r>
          </a:p>
        </p:txBody>
      </p:sp>
      <p:cxnSp>
        <p:nvCxnSpPr>
          <p:cNvPr id="5157" name="直接连接符 5156">
            <a:extLst>
              <a:ext uri="{FF2B5EF4-FFF2-40B4-BE49-F238E27FC236}">
                <a16:creationId xmlns:a16="http://schemas.microsoft.com/office/drawing/2014/main" id="{C85E43A1-2FD4-4361-3E6A-E469F9B31A43}"/>
              </a:ext>
            </a:extLst>
          </p:cNvPr>
          <p:cNvCxnSpPr>
            <a:cxnSpLocks/>
          </p:cNvCxnSpPr>
          <p:nvPr/>
        </p:nvCxnSpPr>
        <p:spPr>
          <a:xfrm>
            <a:off x="4576212" y="4296278"/>
            <a:ext cx="0" cy="1839385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9" name="直接连接符 5158">
            <a:extLst>
              <a:ext uri="{FF2B5EF4-FFF2-40B4-BE49-F238E27FC236}">
                <a16:creationId xmlns:a16="http://schemas.microsoft.com/office/drawing/2014/main" id="{F9755157-0093-1946-C609-81E768F155E7}"/>
              </a:ext>
            </a:extLst>
          </p:cNvPr>
          <p:cNvCxnSpPr>
            <a:cxnSpLocks/>
          </p:cNvCxnSpPr>
          <p:nvPr/>
        </p:nvCxnSpPr>
        <p:spPr>
          <a:xfrm>
            <a:off x="7268612" y="4288688"/>
            <a:ext cx="0" cy="1839385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0" name="直接连接符 5159">
            <a:extLst>
              <a:ext uri="{FF2B5EF4-FFF2-40B4-BE49-F238E27FC236}">
                <a16:creationId xmlns:a16="http://schemas.microsoft.com/office/drawing/2014/main" id="{5CDEC9E4-4BDE-61BD-BDC7-AB0C5F09BCD2}"/>
              </a:ext>
            </a:extLst>
          </p:cNvPr>
          <p:cNvCxnSpPr>
            <a:cxnSpLocks/>
          </p:cNvCxnSpPr>
          <p:nvPr/>
        </p:nvCxnSpPr>
        <p:spPr>
          <a:xfrm>
            <a:off x="10099135" y="4288688"/>
            <a:ext cx="0" cy="1839385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8" name="椭圆 5167">
            <a:extLst>
              <a:ext uri="{FF2B5EF4-FFF2-40B4-BE49-F238E27FC236}">
                <a16:creationId xmlns:a16="http://schemas.microsoft.com/office/drawing/2014/main" id="{AC93BA33-39A8-177D-6C22-F46CEE8F9790}"/>
              </a:ext>
            </a:extLst>
          </p:cNvPr>
          <p:cNvSpPr/>
          <p:nvPr/>
        </p:nvSpPr>
        <p:spPr>
          <a:xfrm>
            <a:off x="8599920" y="4378047"/>
            <a:ext cx="1021973" cy="14216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5169" name="文本框 5168">
            <a:extLst>
              <a:ext uri="{FF2B5EF4-FFF2-40B4-BE49-F238E27FC236}">
                <a16:creationId xmlns:a16="http://schemas.microsoft.com/office/drawing/2014/main" id="{F893DE1F-A355-322A-BF6B-178F6BBF62FE}"/>
              </a:ext>
            </a:extLst>
          </p:cNvPr>
          <p:cNvSpPr txBox="1"/>
          <p:nvPr/>
        </p:nvSpPr>
        <p:spPr>
          <a:xfrm>
            <a:off x="8340387" y="4726596"/>
            <a:ext cx="15078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高速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交换机芯片</a:t>
            </a:r>
            <a:endParaRPr lang="en-US" altLang="zh-CN" sz="1400" dirty="0">
              <a:solidFill>
                <a:srgbClr val="0052D9"/>
              </a:solidFill>
            </a:endParaRPr>
          </a:p>
          <a:p>
            <a:pPr algn="ctr"/>
            <a:r>
              <a:rPr lang="zh-CN" altLang="en-US" sz="1400" dirty="0">
                <a:solidFill>
                  <a:srgbClr val="0052D9"/>
                </a:solidFill>
              </a:rPr>
              <a:t>待渗透</a:t>
            </a:r>
          </a:p>
        </p:txBody>
      </p:sp>
      <p:sp>
        <p:nvSpPr>
          <p:cNvPr id="5170" name="矩形: 圆角 5169">
            <a:extLst>
              <a:ext uri="{FF2B5EF4-FFF2-40B4-BE49-F238E27FC236}">
                <a16:creationId xmlns:a16="http://schemas.microsoft.com/office/drawing/2014/main" id="{2063F258-4155-1B31-B96B-E34CDED1133C}"/>
              </a:ext>
            </a:extLst>
          </p:cNvPr>
          <p:cNvSpPr/>
          <p:nvPr/>
        </p:nvSpPr>
        <p:spPr>
          <a:xfrm>
            <a:off x="7625188" y="5023644"/>
            <a:ext cx="45719" cy="8984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71" name="文本框 5170">
            <a:extLst>
              <a:ext uri="{FF2B5EF4-FFF2-40B4-BE49-F238E27FC236}">
                <a16:creationId xmlns:a16="http://schemas.microsoft.com/office/drawing/2014/main" id="{CA8711D3-A0EC-09E9-5601-80431A9B25A3}"/>
              </a:ext>
            </a:extLst>
          </p:cNvPr>
          <p:cNvSpPr txBox="1"/>
          <p:nvPr/>
        </p:nvSpPr>
        <p:spPr>
          <a:xfrm>
            <a:off x="7407849" y="4806155"/>
            <a:ext cx="627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60%</a:t>
            </a:r>
            <a:endParaRPr lang="zh-CN" altLang="en-US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2" name="文本框 5171">
            <a:extLst>
              <a:ext uri="{FF2B5EF4-FFF2-40B4-BE49-F238E27FC236}">
                <a16:creationId xmlns:a16="http://schemas.microsoft.com/office/drawing/2014/main" id="{155E6B15-2601-0F16-268F-173A415304D4}"/>
              </a:ext>
            </a:extLst>
          </p:cNvPr>
          <p:cNvSpPr txBox="1"/>
          <p:nvPr/>
        </p:nvSpPr>
        <p:spPr>
          <a:xfrm>
            <a:off x="7705413" y="4800177"/>
            <a:ext cx="121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25G</a:t>
            </a:r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以下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技术成熟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9513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356626" y="153571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3881964" y="154262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8982609" y="154068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6812886" y="153571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287603" y="154262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2863244" y="153364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300162" y="175679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</a:t>
            </a:r>
            <a:r>
              <a:rPr lang="zh-CN" altLang="en-US" dirty="0">
                <a:cs typeface="+mn-ea"/>
                <a:sym typeface="+mn-lt"/>
              </a:rPr>
              <a:t>关注以</a:t>
            </a:r>
            <a:r>
              <a:rPr lang="en-US" altLang="zh-CN" dirty="0">
                <a:cs typeface="+mn-ea"/>
                <a:sym typeface="+mn-lt"/>
              </a:rPr>
              <a:t>Broadcom</a:t>
            </a:r>
            <a:r>
              <a:rPr lang="zh-CN" altLang="en-US" dirty="0">
                <a:cs typeface="+mn-ea"/>
                <a:sym typeface="+mn-lt"/>
              </a:rPr>
              <a:t>为首的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全能巨头和国产卡位初创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439930" y="1540682"/>
            <a:ext cx="662344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头部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厂商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439928" y="3645496"/>
            <a:ext cx="662345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核心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初创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439928" y="4749037"/>
            <a:ext cx="662344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替代</a:t>
            </a: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174" y="548748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出样</a:t>
            </a: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阶段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，需场景批量落地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6936E-573A-3D5C-B48D-8BB70325011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300162" y="944619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3843258" y="949091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17CD2B7-D3B4-1340-DE1B-B7D4F4D03461}"/>
              </a:ext>
            </a:extLst>
          </p:cNvPr>
          <p:cNvSpPr txBox="1"/>
          <p:nvPr/>
        </p:nvSpPr>
        <p:spPr>
          <a:xfrm>
            <a:off x="5706288" y="986134"/>
            <a:ext cx="1002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+mn-ea"/>
                <a:sym typeface="+mn-lt"/>
              </a:rPr>
              <a:t>EIC</a:t>
            </a:r>
          </a:p>
          <a:p>
            <a:pPr algn="ctr"/>
            <a:r>
              <a:rPr lang="zh-CN" altLang="en-US" sz="1200" dirty="0">
                <a:cs typeface="+mn-ea"/>
                <a:sym typeface="+mn-lt"/>
              </a:rPr>
              <a:t>电芯片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6800754" y="972102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59B1FA9-725E-A661-83F4-2EF411706B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8928" y="1057967"/>
            <a:ext cx="510150" cy="287732"/>
          </a:xfrm>
          <a:prstGeom prst="rect">
            <a:avLst/>
          </a:prstGeom>
        </p:spPr>
      </p:pic>
      <p:pic>
        <p:nvPicPr>
          <p:cNvPr id="5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875ACED9-9B91-03F1-9C95-6CD2C4CBB4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506947" y="1080961"/>
            <a:ext cx="366675" cy="25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8961069" y="970873"/>
            <a:ext cx="2796897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集成交付</a:t>
            </a:r>
          </a:p>
        </p:txBody>
      </p:sp>
      <p:pic>
        <p:nvPicPr>
          <p:cNvPr id="55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5E0ACDA1-E26D-80EF-086E-84D89B17C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675" y="1080961"/>
            <a:ext cx="601426" cy="2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" name="图片 5119" descr="图示&#10;&#10;AI 生成的内容可能不正确。">
            <a:extLst>
              <a:ext uri="{FF2B5EF4-FFF2-40B4-BE49-F238E27FC236}">
                <a16:creationId xmlns:a16="http://schemas.microsoft.com/office/drawing/2014/main" id="{A3AB3399-4FCB-99E7-2587-9D448DA25F1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25" b="34035" l="78808" r="92881">
                        <a14:foregroundMark x1="78808" y1="24912" x2="78808" y2="24912"/>
                        <a14:foregroundMark x1="84437" y1="33684" x2="84437" y2="33684"/>
                        <a14:foregroundMark x1="87252" y1="34035" x2="87252" y2="34035"/>
                        <a14:foregroundMark x1="92715" y1="24561" x2="92715" y2="245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8281294" y="1015102"/>
            <a:ext cx="465131" cy="369333"/>
          </a:xfrm>
          <a:prstGeom prst="rect">
            <a:avLst/>
          </a:prstGeom>
        </p:spPr>
      </p:pic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3925" y="367372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9761" y="366978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1958" y="404074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319761" y="2898371"/>
            <a:ext cx="513440" cy="126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67A5BA0C-BB32-63AC-3DA5-FAA45BCEBB1E}"/>
              </a:ext>
            </a:extLst>
          </p:cNvPr>
          <p:cNvSpPr txBox="1"/>
          <p:nvPr/>
        </p:nvSpPr>
        <p:spPr>
          <a:xfrm>
            <a:off x="10441974" y="991174"/>
            <a:ext cx="154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+mn-ea"/>
                <a:sym typeface="+mn-lt"/>
              </a:rPr>
              <a:t>设备集成</a:t>
            </a:r>
            <a:endParaRPr lang="en-US" altLang="zh-CN" sz="1200" dirty="0">
              <a:cs typeface="+mn-ea"/>
              <a:sym typeface="+mn-lt"/>
            </a:endParaRPr>
          </a:p>
          <a:p>
            <a:pPr algn="ctr"/>
            <a:r>
              <a:rPr lang="zh-CN" altLang="en-US" sz="1200" dirty="0">
                <a:cs typeface="+mn-ea"/>
                <a:sym typeface="+mn-lt"/>
              </a:rPr>
              <a:t>先进封测</a:t>
            </a:r>
            <a:endParaRPr lang="en-US" altLang="zh-CN" sz="1200" dirty="0"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20359" y="222128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9740" y="185425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6854733" y="262965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93561" y="488864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55872" y="478239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6126" y="480567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14104" y="485435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14104" y="269430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1698" y="265629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4920359" y="487706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6527" t="39090" r="6527" b="39090"/>
          <a:stretch>
            <a:fillRect/>
          </a:stretch>
        </p:blipFill>
        <p:spPr>
          <a:xfrm>
            <a:off x="3872953" y="364099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319761" y="551137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3322" t="22445" r="3246" b="22496"/>
          <a:stretch>
            <a:fillRect/>
          </a:stretch>
        </p:blipFill>
        <p:spPr>
          <a:xfrm>
            <a:off x="1795702" y="555528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222812" y="567329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929" y="575628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腾讯</a:t>
            </a: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JDM</a:t>
            </a: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合作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403" y="549598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出货阶段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，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CPO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布局中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9761" y="408445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368555" y="289032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80244" y="291264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054306" y="174864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439287" y="230135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45"/>
          <a:srcRect l="5884" t="22886" r="3998" b="18237"/>
          <a:stretch>
            <a:fillRect/>
          </a:stretch>
        </p:blipFill>
        <p:spPr>
          <a:xfrm>
            <a:off x="10942911" y="522979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430482" y="181582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7250" y="221642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98120" y="178252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285435" y="187501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BEBA8EAE-BF5A-486C-A8C5-ECC9F3942E4B}">
                <a14:imgProps xmlns:a14="http://schemas.microsoft.com/office/drawing/2010/main">
                  <a14:imgLayer r:embed="rId51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02131" y="186519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9354" y="225759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5588" y="225454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7602" y="151866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交换机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4119" y="151866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封测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9765751" y="190384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7602" y="261173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4889" y="488864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 cstate="print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463" y="281339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9761" y="525392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119" y="518189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BEBA8EAE-BF5A-486C-A8C5-ECC9F3942E4B}">
                <a14:imgProps xmlns:a14="http://schemas.microsoft.com/office/drawing/2010/main">
                  <a14:imgLayer r:embed="rId66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7477" y="549144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5059" y="491765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 cstate="print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24" y="483828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2671" y="408445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627" y="151866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硅光芯片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004" y="151866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激光器芯片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2A97347-D174-16AC-16A1-7E2F148E9FBB}"/>
              </a:ext>
            </a:extLst>
          </p:cNvPr>
          <p:cNvSpPr txBox="1"/>
          <p:nvPr/>
        </p:nvSpPr>
        <p:spPr>
          <a:xfrm>
            <a:off x="2850550" y="979117"/>
            <a:ext cx="937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cs typeface="+mn-ea"/>
              </a:defRPr>
            </a:lvl1pPr>
          </a:lstStyle>
          <a:p>
            <a:r>
              <a:rPr lang="zh-CN" altLang="en-US" sz="1200" dirty="0">
                <a:sym typeface="+mn-lt"/>
              </a:rPr>
              <a:t>硅光芯片</a:t>
            </a:r>
            <a:endParaRPr lang="en-US" altLang="zh-CN" sz="1200" dirty="0">
              <a:sym typeface="+mn-lt"/>
            </a:endParaRPr>
          </a:p>
          <a:p>
            <a:r>
              <a:rPr lang="zh-CN" altLang="en-US" sz="1200" dirty="0">
                <a:sym typeface="+mn-lt"/>
              </a:rPr>
              <a:t>激光器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BEBA8EAE-BF5A-486C-A8C5-ECC9F3942E4B}">
                <a14:imgProps xmlns:a14="http://schemas.microsoft.com/office/drawing/2010/main">
                  <a14:imgLayer r:embed="rId68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2910474" y="269087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2916520" y="289950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16520" y="185972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12671" y="315616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BEBA8EAE-BF5A-486C-A8C5-ECC9F3942E4B}">
                <a14:imgProps xmlns:a14="http://schemas.microsoft.com/office/drawing/2010/main">
                  <a14:imgLayer r:embed="rId51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9761" y="230135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BEBA8EAE-BF5A-486C-A8C5-ECC9F3942E4B}">
                <a14:imgProps xmlns:a14="http://schemas.microsoft.com/office/drawing/2010/main">
                  <a14:imgLayer r:embed="rId51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14104" y="230135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BEBA8EAE-BF5A-486C-A8C5-ECC9F3942E4B}">
                <a14:imgProps xmlns:a14="http://schemas.microsoft.com/office/drawing/2010/main">
                  <a14:imgLayer r:embed="rId51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9507" y="230135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8033" y="180356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87063" y="223973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1698" y="182142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6126" y="225759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914104" y="187501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89507" y="187501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20359" y="185972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6126" y="185972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54878" y="182142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6472" y="225759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BEBA8EAE-BF5A-486C-A8C5-ECC9F3942E4B}">
                <a14:imgProps xmlns:a14="http://schemas.microsoft.com/office/drawing/2010/main">
                  <a14:imgLayer r:embed="rId68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319761" y="269087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BEBA8EAE-BF5A-486C-A8C5-ECC9F3942E4B}">
                <a14:imgProps xmlns:a14="http://schemas.microsoft.com/office/drawing/2010/main">
                  <a14:imgLayer r:embed="rId70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5451" y="366112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5059" y="580636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3" cstate="print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4971190" y="364075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83414" y="285394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4920359" y="264290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801698" y="486887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9140" y="479315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8"/>
          <a:srcRect t="29736" r="12" b="29739"/>
          <a:stretch>
            <a:fillRect/>
          </a:stretch>
        </p:blipFill>
        <p:spPr>
          <a:xfrm>
            <a:off x="9096277" y="524493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9"/>
          <a:srcRect l="10181" t="33840" r="8725" b="35390"/>
          <a:stretch>
            <a:fillRect/>
          </a:stretch>
        </p:blipFill>
        <p:spPr>
          <a:xfrm>
            <a:off x="9653412" y="490763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 cstate="print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106" y="548334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85766" y="553370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BEBA8EAE-BF5A-486C-A8C5-ECC9F3942E4B}">
                <a14:imgProps xmlns:a14="http://schemas.microsoft.com/office/drawing/2010/main">
                  <a14:imgLayer r:embed="rId81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018450" y="366806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307837" y="550078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4733" y="364549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4873" y="512862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68518" y="367075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58941" y="491341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8456" y="367331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2" cstate="print">
            <a:extLst>
              <a:ext uri="{BEBA8EAE-BF5A-486C-A8C5-ECC9F3942E4B}">
                <a14:imgProps xmlns:a14="http://schemas.microsoft.com/office/drawing/2010/main">
                  <a14:imgLayer r:embed="rId8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400869" y="264689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4" cstate="print">
            <a:extLst>
              <a:ext uri="{BEBA8EAE-BF5A-486C-A8C5-ECC9F3942E4B}">
                <a14:imgProps xmlns:a14="http://schemas.microsoft.com/office/drawing/2010/main">
                  <a14:imgLayer r:embed="rId85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427304" y="555359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BEBA8EAE-BF5A-486C-A8C5-ECC9F3942E4B}">
                <a14:imgProps xmlns:a14="http://schemas.microsoft.com/office/drawing/2010/main">
                  <a14:imgLayer r:embed="rId87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7250" y="261173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8" cstate="print">
            <a:extLst>
              <a:ext uri="{BEBA8EAE-BF5A-486C-A8C5-ECC9F3942E4B}">
                <a14:imgProps xmlns:a14="http://schemas.microsoft.com/office/drawing/2010/main">
                  <a14:imgLayer r:embed="rId89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689507" y="364857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325744" y="366649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7315" y="364935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8451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博通为最早完整落地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的厂商，具备长期身位优势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：优先列示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交换芯片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6B5D6ED-707E-C6B1-912C-1C81B662A5CB}"/>
              </a:ext>
            </a:extLst>
          </p:cNvPr>
          <p:cNvGrpSpPr/>
          <p:nvPr/>
        </p:nvGrpSpPr>
        <p:grpSpPr>
          <a:xfrm>
            <a:off x="419231" y="831408"/>
            <a:ext cx="11063882" cy="855636"/>
            <a:chOff x="419231" y="831408"/>
            <a:chExt cx="11063882" cy="85563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D932BCA-CA28-E081-AD9C-A046286F0419}"/>
                </a:ext>
              </a:extLst>
            </p:cNvPr>
            <p:cNvSpPr/>
            <p:nvPr/>
          </p:nvSpPr>
          <p:spPr>
            <a:xfrm>
              <a:off x="419231" y="831408"/>
              <a:ext cx="11063882" cy="842892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F81A6C3-9205-443D-8828-1B7234874E73}"/>
                </a:ext>
              </a:extLst>
            </p:cNvPr>
            <p:cNvSpPr txBox="1"/>
            <p:nvPr/>
          </p:nvSpPr>
          <p:spPr>
            <a:xfrm>
              <a:off x="474403" y="856047"/>
              <a:ext cx="1078287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博通为目前</a:t>
              </a:r>
              <a:r>
                <a:rPr lang="zh-CN" altLang="en-US" sz="1600" b="1" dirty="0">
                  <a:solidFill>
                    <a:srgbClr val="0052D9"/>
                  </a:solidFill>
                </a:rPr>
                <a:t>唯一</a:t>
              </a:r>
              <a:r>
                <a:rPr lang="zh-CN" altLang="en-US" sz="1600" dirty="0"/>
                <a:t>公开承认已实现</a:t>
              </a:r>
              <a:r>
                <a:rPr lang="en-US" altLang="zh-CN" sz="1600" dirty="0"/>
                <a:t>CPO</a:t>
              </a:r>
              <a:r>
                <a:rPr lang="zh-CN" altLang="en-US" sz="1600" dirty="0"/>
                <a:t>交换机（芯片）大规模量产的厂商，</a:t>
              </a:r>
              <a:r>
                <a:rPr lang="en-US" altLang="zh-CN" sz="1600" dirty="0"/>
                <a:t>TH4</a:t>
              </a:r>
              <a:r>
                <a:rPr lang="zh-CN" altLang="en-US" sz="1600" dirty="0"/>
                <a:t>、</a:t>
              </a:r>
              <a:r>
                <a:rPr lang="en-US" altLang="zh-CN" sz="1600" dirty="0"/>
                <a:t>TH5</a:t>
              </a:r>
              <a:r>
                <a:rPr lang="zh-CN" altLang="en-US" sz="1600" dirty="0"/>
                <a:t>为</a:t>
              </a:r>
              <a:r>
                <a:rPr lang="zh-CN" altLang="en-US" sz="1600" b="1" dirty="0">
                  <a:solidFill>
                    <a:srgbClr val="0052D9"/>
                  </a:solidFill>
                </a:rPr>
                <a:t>最早量产</a:t>
              </a:r>
              <a:r>
                <a:rPr lang="zh-CN" altLang="en-US" sz="1600" dirty="0"/>
                <a:t>的</a:t>
              </a:r>
              <a:r>
                <a:rPr lang="en-US" altLang="zh-CN" sz="1600" dirty="0"/>
                <a:t>CPO</a:t>
              </a:r>
              <a:r>
                <a:rPr lang="zh-CN" altLang="en-US" sz="1600" dirty="0"/>
                <a:t>交换芯片</a:t>
              </a:r>
              <a:endParaRPr lang="en-US" altLang="zh-CN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当前身位：领先英伟达约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1</a:t>
              </a:r>
              <a:r>
                <a:rPr lang="zh-CN" altLang="en-US" sz="1600" b="1" dirty="0">
                  <a:solidFill>
                    <a:srgbClr val="0052D9"/>
                  </a:solidFill>
                </a:rPr>
                <a:t>年</a:t>
              </a:r>
              <a:r>
                <a:rPr lang="zh-CN" altLang="en-US" sz="1600" dirty="0"/>
                <a:t>，大幅领先</a:t>
              </a:r>
              <a:r>
                <a:rPr lang="en-US" altLang="zh-CN" sz="1600" dirty="0"/>
                <a:t>Marvell</a:t>
              </a:r>
              <a:r>
                <a:rPr lang="zh-CN" altLang="en-US" sz="1600" dirty="0"/>
                <a:t>（交换容量紧跟但无自研</a:t>
              </a:r>
              <a:r>
                <a:rPr lang="en-US" altLang="zh-CN" sz="1600" dirty="0"/>
                <a:t>CPO</a:t>
              </a:r>
              <a:r>
                <a:rPr lang="zh-CN" altLang="en-US" sz="1600" dirty="0"/>
                <a:t>芯片）、思科（在</a:t>
              </a:r>
              <a:r>
                <a:rPr lang="en-US" altLang="zh-CN" sz="1600" dirty="0"/>
                <a:t>CPO</a:t>
              </a:r>
              <a:r>
                <a:rPr lang="zh-CN" altLang="en-US" sz="1600" dirty="0"/>
                <a:t>上谨慎）、英特尔（起步早但后劲不足）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666564CB-03C0-10D4-448B-6B4ED5AF7C8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0" name="文本框 13">
            <a:extLst>
              <a:ext uri="{FF2B5EF4-FFF2-40B4-BE49-F238E27FC236}">
                <a16:creationId xmlns:a16="http://schemas.microsoft.com/office/drawing/2014/main" id="{E2C45565-EC1B-5D1D-99A3-5A79B14DD9AA}"/>
              </a:ext>
            </a:extLst>
          </p:cNvPr>
          <p:cNvSpPr txBox="1"/>
          <p:nvPr/>
        </p:nvSpPr>
        <p:spPr>
          <a:xfrm>
            <a:off x="5910123" y="110063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1407961" y="5798954"/>
            <a:ext cx="9626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1407962" y="2367508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751310" y="5139056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751310" y="4337143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751310" y="3535229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656291" y="2733315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587360" y="1872409"/>
            <a:ext cx="1005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ASIC</a:t>
            </a:r>
          </a:p>
          <a:p>
            <a:pPr algn="ctr"/>
            <a:r>
              <a:rPr lang="zh-CN" altLang="en-US" sz="1400" dirty="0">
                <a:cs typeface="+mn-ea"/>
                <a:sym typeface="+mn-lt"/>
              </a:rPr>
              <a:t>交换容量</a:t>
            </a:r>
            <a:r>
              <a:rPr lang="en-US" altLang="zh-CN" sz="1400" baseline="30000" dirty="0">
                <a:cs typeface="+mn-ea"/>
                <a:sym typeface="+mn-lt"/>
              </a:rPr>
              <a:t>1</a:t>
            </a:r>
            <a:r>
              <a:rPr lang="zh-CN" altLang="en-US" sz="1400" dirty="0">
                <a:cs typeface="+mn-ea"/>
                <a:sym typeface="+mn-lt"/>
              </a:rPr>
              <a:t>（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zh-CN" altLang="en-US" sz="1400" dirty="0">
                <a:cs typeface="+mn-ea"/>
                <a:sym typeface="+mn-lt"/>
              </a:rPr>
              <a:t>）</a:t>
            </a:r>
          </a:p>
        </p:txBody>
      </p: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3013249" y="5691528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2921849" y="4354834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方案发布</a:t>
              </a: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6223825" y="5691528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6050643" y="3554943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1524782" y="5691528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1434852" y="5166795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9405316" y="2079030"/>
            <a:ext cx="1496514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Broadcom edge</a:t>
            </a:r>
          </a:p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~1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年</a:t>
            </a:r>
            <a:endParaRPr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4618537" y="5691528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4504869" y="4337143"/>
            <a:ext cx="1088697" cy="433036"/>
            <a:chOff x="1854080" y="4289861"/>
            <a:chExt cx="1088697" cy="433036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合作部署</a:t>
              </a: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4504869" y="3553362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方案发布</a:t>
              </a: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D955C9-C9A3-CCCE-E717-A5B5A391E55E}"/>
              </a:ext>
            </a:extLst>
          </p:cNvPr>
          <p:cNvGrpSpPr/>
          <p:nvPr/>
        </p:nvGrpSpPr>
        <p:grpSpPr>
          <a:xfrm>
            <a:off x="4562046" y="3910992"/>
            <a:ext cx="1602019" cy="412422"/>
            <a:chOff x="3809830" y="4477461"/>
            <a:chExt cx="1602019" cy="41242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56F8D4-C5B1-AE7C-812D-B21452A66E3C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 err="1">
                  <a:solidFill>
                    <a:schemeClr val="accent6">
                      <a:lumMod val="10000"/>
                    </a:schemeClr>
                  </a:solidFill>
                  <a:cs typeface="+mn-ea"/>
                </a:rPr>
                <a:t>Teralynx</a:t>
              </a:r>
              <a:endPara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</a:endParaRPr>
            </a:p>
          </p:txBody>
        </p:sp>
        <p:pic>
          <p:nvPicPr>
            <p:cNvPr id="4" name="图像" descr="图像">
              <a:extLst>
                <a:ext uri="{FF2B5EF4-FFF2-40B4-BE49-F238E27FC236}">
                  <a16:creationId xmlns:a16="http://schemas.microsoft.com/office/drawing/2014/main" id="{E6A22A77-7A62-7A4E-D357-86843874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C5CD62-2D3F-2D2E-2D15-B48B81AE95C9}"/>
                </a:ext>
              </a:extLst>
            </p:cNvPr>
            <p:cNvSpPr txBox="1"/>
            <p:nvPr/>
          </p:nvSpPr>
          <p:spPr>
            <a:xfrm>
              <a:off x="3809830" y="4628273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7829113" y="5691528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7547529" y="3550871"/>
            <a:ext cx="1088697" cy="433036"/>
            <a:chOff x="1854080" y="4289861"/>
            <a:chExt cx="1088697" cy="4330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量产交付</a:t>
              </a: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38BBD4-9A9E-3AC1-4501-B00C8778DAE9}"/>
              </a:ext>
            </a:extLst>
          </p:cNvPr>
          <p:cNvGrpSpPr/>
          <p:nvPr/>
        </p:nvGrpSpPr>
        <p:grpSpPr>
          <a:xfrm>
            <a:off x="7540739" y="3910992"/>
            <a:ext cx="1602019" cy="404728"/>
            <a:chOff x="3809830" y="4477461"/>
            <a:chExt cx="1602019" cy="40472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F8740F-3118-ECA2-6F87-C8EEA43B212D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>
                  <a:solidFill>
                    <a:srgbClr val="A6A6A6"/>
                  </a:solidFill>
                  <a:cs typeface="+mn-ea"/>
                </a:rPr>
                <a:t>Teralynx10</a:t>
              </a:r>
            </a:p>
          </p:txBody>
        </p:sp>
        <p:pic>
          <p:nvPicPr>
            <p:cNvPr id="15" name="图像" descr="图像">
              <a:extLst>
                <a:ext uri="{FF2B5EF4-FFF2-40B4-BE49-F238E27FC236}">
                  <a16:creationId xmlns:a16="http://schemas.microsoft.com/office/drawing/2014/main" id="{BCA805E4-99C2-F829-CD9B-3A17621E6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7EF852-4BE8-7C4C-2624-345DDB40618E}"/>
                </a:ext>
              </a:extLst>
            </p:cNvPr>
            <p:cNvSpPr txBox="1"/>
            <p:nvPr/>
          </p:nvSpPr>
          <p:spPr>
            <a:xfrm>
              <a:off x="3809830" y="4628273"/>
              <a:ext cx="13811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solidFill>
                    <a:srgbClr val="A6A6A6"/>
                  </a:solidFill>
                  <a:cs typeface="+mn-ea"/>
                  <a:sym typeface="+mn-lt"/>
                </a:rPr>
                <a:t>量产交付（非</a:t>
              </a:r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CPO</a:t>
              </a:r>
              <a:r>
                <a:rPr lang="zh-CN" altLang="en-US" sz="1050" dirty="0">
                  <a:solidFill>
                    <a:srgbClr val="A6A6A6"/>
                  </a:solidFill>
                  <a:cs typeface="+mn-ea"/>
                  <a:sym typeface="+mn-lt"/>
                </a:rPr>
                <a:t>）</a:t>
              </a: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9594C2-28B8-80C5-B266-B933F316C10A}"/>
              </a:ext>
            </a:extLst>
          </p:cNvPr>
          <p:cNvCxnSpPr>
            <a:cxnSpLocks/>
          </p:cNvCxnSpPr>
          <p:nvPr/>
        </p:nvCxnSpPr>
        <p:spPr>
          <a:xfrm>
            <a:off x="2315177" y="4995164"/>
            <a:ext cx="185586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15AB933-0C8A-C8A5-1639-FE116E3B205F}"/>
              </a:ext>
            </a:extLst>
          </p:cNvPr>
          <p:cNvCxnSpPr>
            <a:cxnSpLocks/>
          </p:cNvCxnSpPr>
          <p:nvPr/>
        </p:nvCxnSpPr>
        <p:spPr>
          <a:xfrm>
            <a:off x="4137309" y="3961026"/>
            <a:ext cx="0" cy="103758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6E28EF1-ADEF-25FF-86AF-EDB1F3CC2312}"/>
              </a:ext>
            </a:extLst>
          </p:cNvPr>
          <p:cNvCxnSpPr>
            <a:cxnSpLocks/>
          </p:cNvCxnSpPr>
          <p:nvPr/>
        </p:nvCxnSpPr>
        <p:spPr>
          <a:xfrm>
            <a:off x="4138001" y="3951720"/>
            <a:ext cx="471934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7C61D60-D220-929E-1FD4-EBB2AE970DF3}"/>
              </a:ext>
            </a:extLst>
          </p:cNvPr>
          <p:cNvCxnSpPr>
            <a:cxnSpLocks/>
          </p:cNvCxnSpPr>
          <p:nvPr/>
        </p:nvCxnSpPr>
        <p:spPr>
          <a:xfrm>
            <a:off x="8850140" y="3319356"/>
            <a:ext cx="0" cy="64167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CB896F-F638-3A63-C316-677D350ACB29}"/>
              </a:ext>
            </a:extLst>
          </p:cNvPr>
          <p:cNvCxnSpPr>
            <a:cxnSpLocks/>
          </p:cNvCxnSpPr>
          <p:nvPr/>
        </p:nvCxnSpPr>
        <p:spPr>
          <a:xfrm>
            <a:off x="8850140" y="3303510"/>
            <a:ext cx="133864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9434403" y="5691528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9118181" y="2692573"/>
            <a:ext cx="1137654" cy="586924"/>
            <a:chOff x="1854080" y="4289861"/>
            <a:chExt cx="1137654" cy="586924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854080" y="4461287"/>
              <a:ext cx="113765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25.06 </a:t>
              </a:r>
              <a:r>
                <a:rPr lang="zh-CN" altLang="en-US" sz="1050" dirty="0">
                  <a:cs typeface="+mn-ea"/>
                  <a:sym typeface="+mn-lt"/>
                </a:rPr>
                <a:t>量产交付</a:t>
              </a:r>
              <a:endParaRPr lang="en-US" altLang="zh-CN" sz="1050" dirty="0">
                <a:cs typeface="+mn-ea"/>
                <a:sym typeface="+mn-lt"/>
              </a:endParaRPr>
            </a:p>
            <a:p>
              <a:pPr algn="ctr"/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48F1A3-D786-E4DF-401A-917C46558707}"/>
              </a:ext>
            </a:extLst>
          </p:cNvPr>
          <p:cNvGrpSpPr/>
          <p:nvPr/>
        </p:nvGrpSpPr>
        <p:grpSpPr>
          <a:xfrm>
            <a:off x="10216616" y="2706121"/>
            <a:ext cx="1372572" cy="456354"/>
            <a:chOff x="4812052" y="3071024"/>
            <a:chExt cx="1372572" cy="456354"/>
          </a:xfrm>
        </p:grpSpPr>
        <p:pic>
          <p:nvPicPr>
            <p:cNvPr id="1048" name="图像" descr="图像">
              <a:extLst>
                <a:ext uri="{FF2B5EF4-FFF2-40B4-BE49-F238E27FC236}">
                  <a16:creationId xmlns:a16="http://schemas.microsoft.com/office/drawing/2014/main" id="{0683585B-22F3-9DA0-E9C8-2DF87DF7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C4025FA0-2555-83B8-81C1-C52CC2E937DD}"/>
                </a:ext>
              </a:extLst>
            </p:cNvPr>
            <p:cNvGrpSpPr/>
            <p:nvPr/>
          </p:nvGrpSpPr>
          <p:grpSpPr>
            <a:xfrm>
              <a:off x="4812052" y="3071024"/>
              <a:ext cx="1372572" cy="456354"/>
              <a:chOff x="1680466" y="4286017"/>
              <a:chExt cx="1372572" cy="456354"/>
            </a:xfrm>
          </p:grpSpPr>
          <p:sp>
            <p:nvSpPr>
              <p:cNvPr id="1085" name="文本框 1084">
                <a:extLst>
                  <a:ext uri="{FF2B5EF4-FFF2-40B4-BE49-F238E27FC236}">
                    <a16:creationId xmlns:a16="http://schemas.microsoft.com/office/drawing/2014/main" id="{47EDAC5D-A457-72C6-852E-2E505182A312}"/>
                  </a:ext>
                </a:extLst>
              </p:cNvPr>
              <p:cNvSpPr txBox="1"/>
              <p:nvPr/>
            </p:nvSpPr>
            <p:spPr>
              <a:xfrm>
                <a:off x="1680466" y="4480761"/>
                <a:ext cx="108869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26</a:t>
                </a:r>
                <a:r>
                  <a:rPr lang="zh-CN" altLang="en-US" sz="1050" dirty="0">
                    <a:cs typeface="+mn-ea"/>
                    <a:sym typeface="+mn-lt"/>
                  </a:rPr>
                  <a:t>量产</a:t>
                </a:r>
              </a:p>
            </p:txBody>
          </p:sp>
          <p:sp>
            <p:nvSpPr>
              <p:cNvPr id="1086" name="文本框 1085">
                <a:extLst>
                  <a:ext uri="{FF2B5EF4-FFF2-40B4-BE49-F238E27FC236}">
                    <a16:creationId xmlns:a16="http://schemas.microsoft.com/office/drawing/2014/main" id="{8F3793D4-D5A8-BCF6-548D-919A35D9B7D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6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3579D6F-B950-0FFD-EC91-DAE986419410}"/>
              </a:ext>
            </a:extLst>
          </p:cNvPr>
          <p:cNvGrpSpPr/>
          <p:nvPr/>
        </p:nvGrpSpPr>
        <p:grpSpPr>
          <a:xfrm>
            <a:off x="9180404" y="3542631"/>
            <a:ext cx="1372572" cy="456354"/>
            <a:chOff x="4812052" y="3071024"/>
            <a:chExt cx="1372572" cy="456354"/>
          </a:xfrm>
        </p:grpSpPr>
        <p:pic>
          <p:nvPicPr>
            <p:cNvPr id="63" name="图像" descr="图像">
              <a:extLst>
                <a:ext uri="{FF2B5EF4-FFF2-40B4-BE49-F238E27FC236}">
                  <a16:creationId xmlns:a16="http://schemas.microsoft.com/office/drawing/2014/main" id="{7CE4FE3A-99AE-78A5-1B03-679226B2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34F3584-850E-22C1-4065-516B8D2304BD}"/>
                </a:ext>
              </a:extLst>
            </p:cNvPr>
            <p:cNvGrpSpPr/>
            <p:nvPr/>
          </p:nvGrpSpPr>
          <p:grpSpPr>
            <a:xfrm>
              <a:off x="4812052" y="3071024"/>
              <a:ext cx="1372572" cy="456354"/>
              <a:chOff x="1680466" y="4286017"/>
              <a:chExt cx="1372572" cy="456354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D7EB8BB-BF22-FAE5-806B-A6E29FC24C57}"/>
                  </a:ext>
                </a:extLst>
              </p:cNvPr>
              <p:cNvSpPr txBox="1"/>
              <p:nvPr/>
            </p:nvSpPr>
            <p:spPr>
              <a:xfrm>
                <a:off x="1680466" y="4480761"/>
                <a:ext cx="108869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50" dirty="0">
                    <a:cs typeface="+mn-ea"/>
                    <a:sym typeface="+mn-lt"/>
                  </a:rPr>
                  <a:t>发布、量产</a:t>
                </a: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011860-7AA9-694B-D98D-56EB50211C5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5</a:t>
                </a:r>
              </a:p>
            </p:txBody>
          </p:sp>
        </p:grp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592A4CA-65CA-0A51-BE23-797E10DFF4A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153573" y="2575944"/>
            <a:ext cx="0" cy="7294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7F6C77D9-FFDD-A14B-B57A-D85A6E9445E2}"/>
              </a:ext>
            </a:extLst>
          </p:cNvPr>
          <p:cNvSpPr/>
          <p:nvPr/>
        </p:nvSpPr>
        <p:spPr>
          <a:xfrm>
            <a:off x="4122125" y="1649428"/>
            <a:ext cx="3848572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全能巨头在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交换芯片的布局时间线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0678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5407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j-lt"/>
              </a:rPr>
              <a:t>全能巨头在</a:t>
            </a:r>
            <a:r>
              <a:rPr lang="en-US" altLang="zh-CN" sz="1600" b="1" dirty="0">
                <a:latin typeface="+mj-lt"/>
              </a:rPr>
              <a:t>CPO</a:t>
            </a:r>
            <a:r>
              <a:rPr lang="zh-CN" altLang="en-US" sz="1600" b="1" dirty="0">
                <a:latin typeface="+mj-lt"/>
              </a:rPr>
              <a:t>各环节的能力画像与合作厂商</a:t>
            </a:r>
            <a:r>
              <a:rPr lang="en-US" altLang="zh-CN" sz="1600" b="1" baseline="30000" dirty="0">
                <a:latin typeface="+mj-lt"/>
              </a:rPr>
              <a:t>1</a:t>
            </a:r>
            <a:endParaRPr lang="zh-CN" altLang="en-US" sz="1600" b="1" dirty="0">
              <a:latin typeface="+mj-lt"/>
            </a:endParaRPr>
          </a:p>
        </p:txBody>
      </p:sp>
      <p:sp>
        <p:nvSpPr>
          <p:cNvPr id="63" name="RectangleLegend1">
            <a:extLst>
              <a:ext uri="{FF2B5EF4-FFF2-40B4-BE49-F238E27FC236}">
                <a16:creationId xmlns:a16="http://schemas.microsoft.com/office/drawing/2014/main" id="{95C95311-6E60-C62C-527C-1807C835EFD2}"/>
              </a:ext>
            </a:extLst>
          </p:cNvPr>
          <p:cNvSpPr/>
          <p:nvPr/>
        </p:nvSpPr>
        <p:spPr>
          <a:xfrm>
            <a:off x="6875765" y="1790731"/>
            <a:ext cx="139877" cy="140150"/>
          </a:xfrm>
          <a:prstGeom prst="rect">
            <a:avLst/>
          </a:prstGeom>
          <a:solidFill>
            <a:srgbClr val="ECF6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4" name="Legend1">
            <a:extLst>
              <a:ext uri="{FF2B5EF4-FFF2-40B4-BE49-F238E27FC236}">
                <a16:creationId xmlns:a16="http://schemas.microsoft.com/office/drawing/2014/main" id="{A21CBC61-73B8-D329-A7BB-E2B20DE4B284}"/>
              </a:ext>
            </a:extLst>
          </p:cNvPr>
          <p:cNvSpPr txBox="1"/>
          <p:nvPr/>
        </p:nvSpPr>
        <p:spPr>
          <a:xfrm>
            <a:off x="7171493" y="1768473"/>
            <a:ext cx="157239" cy="18466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latin typeface="+mj-lt"/>
                <a:cs typeface="Arial" panose="020B0604020202020204" pitchFamily="34" charset="0"/>
              </a:rPr>
              <a:t>中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5" name="RectangleLegend2">
            <a:extLst>
              <a:ext uri="{FF2B5EF4-FFF2-40B4-BE49-F238E27FC236}">
                <a16:creationId xmlns:a16="http://schemas.microsoft.com/office/drawing/2014/main" id="{D4F99125-5182-2C50-A3B0-8BD3C7F93604}"/>
              </a:ext>
            </a:extLst>
          </p:cNvPr>
          <p:cNvSpPr/>
          <p:nvPr/>
        </p:nvSpPr>
        <p:spPr>
          <a:xfrm>
            <a:off x="6041158" y="1790731"/>
            <a:ext cx="139877" cy="140150"/>
          </a:xfrm>
          <a:prstGeom prst="rect">
            <a:avLst/>
          </a:prstGeom>
          <a:solidFill>
            <a:srgbClr val="C1E1FE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6" name="Legend2">
            <a:extLst>
              <a:ext uri="{FF2B5EF4-FFF2-40B4-BE49-F238E27FC236}">
                <a16:creationId xmlns:a16="http://schemas.microsoft.com/office/drawing/2014/main" id="{BC5DAD0F-83BC-BE63-7109-61A387C64C40}"/>
              </a:ext>
            </a:extLst>
          </p:cNvPr>
          <p:cNvSpPr txBox="1"/>
          <p:nvPr/>
        </p:nvSpPr>
        <p:spPr>
          <a:xfrm>
            <a:off x="6336888" y="1768473"/>
            <a:ext cx="153888" cy="18466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latin typeface="+mj-lt"/>
                <a:cs typeface="Arial" panose="020B0604020202020204" pitchFamily="34" charset="0"/>
              </a:rPr>
              <a:t>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600741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lt"/>
              </a:rPr>
              <a:t>设计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556103" y="4407039"/>
            <a:ext cx="939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lt"/>
              </a:rPr>
              <a:t>集成封测</a:t>
            </a:r>
            <a:endParaRPr lang="en-GB" altLang="zh-CN" sz="1400" b="1" dirty="0">
              <a:latin typeface="+mj-lt"/>
            </a:endParaRPr>
          </a:p>
        </p:txBody>
      </p:sp>
      <p:sp>
        <p:nvSpPr>
          <p:cNvPr id="69" name="RectangleLegend2">
            <a:extLst>
              <a:ext uri="{FF2B5EF4-FFF2-40B4-BE49-F238E27FC236}">
                <a16:creationId xmlns:a16="http://schemas.microsoft.com/office/drawing/2014/main" id="{03E3235E-0DA4-6B90-E57E-161F34DFC622}"/>
              </a:ext>
            </a:extLst>
          </p:cNvPr>
          <p:cNvSpPr/>
          <p:nvPr/>
        </p:nvSpPr>
        <p:spPr>
          <a:xfrm>
            <a:off x="7691050" y="1790731"/>
            <a:ext cx="139877" cy="140150"/>
          </a:xfrm>
          <a:prstGeom prst="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70" name="Legend2">
            <a:extLst>
              <a:ext uri="{FF2B5EF4-FFF2-40B4-BE49-F238E27FC236}">
                <a16:creationId xmlns:a16="http://schemas.microsoft.com/office/drawing/2014/main" id="{E043DD54-362F-B593-E8D3-0B6ACD8346F0}"/>
              </a:ext>
            </a:extLst>
          </p:cNvPr>
          <p:cNvSpPr txBox="1"/>
          <p:nvPr/>
        </p:nvSpPr>
        <p:spPr>
          <a:xfrm>
            <a:off x="7986778" y="1768473"/>
            <a:ext cx="153888" cy="18466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latin typeface="+mj-lt"/>
                <a:cs typeface="Arial" panose="020B0604020202020204" pitchFamily="34" charset="0"/>
              </a:rPr>
              <a:t>低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zh-CN" altLang="en-US" dirty="0">
                <a:ea typeface="+mn-ea"/>
                <a:cs typeface="+mn-ea"/>
                <a:sym typeface="+mn-lt"/>
              </a:rPr>
              <a:t>博通为</a:t>
            </a:r>
            <a:r>
              <a:rPr lang="en-US" altLang="zh-CN" dirty="0"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ea typeface="+mn-ea"/>
                <a:cs typeface="+mn-ea"/>
                <a:sym typeface="+mn-lt"/>
              </a:rPr>
              <a:t>能力最全面的厂商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+mj-lt"/>
                </a:rPr>
                <a:t>博通全面参与</a:t>
              </a:r>
              <a:r>
                <a:rPr lang="en-US" altLang="zh-CN" dirty="0">
                  <a:latin typeface="+mj-lt"/>
                </a:rPr>
                <a:t>CPO</a:t>
              </a:r>
              <a:r>
                <a:rPr lang="zh-CN" altLang="en-US" dirty="0">
                  <a:latin typeface="+mj-lt"/>
                </a:rPr>
                <a:t>生态各个环节且综合能力</a:t>
              </a:r>
              <a:r>
                <a:rPr lang="zh-CN" altLang="en-US" b="1" dirty="0">
                  <a:solidFill>
                    <a:srgbClr val="0052D9"/>
                  </a:solidFill>
                  <a:latin typeface="+mj-lt"/>
                </a:rPr>
                <a:t>最强</a:t>
              </a:r>
              <a:r>
                <a:rPr lang="zh-CN" altLang="en-US" dirty="0">
                  <a:latin typeface="+mj-lt"/>
                </a:rPr>
                <a:t>，以定制合作模式推动</a:t>
              </a:r>
              <a:r>
                <a:rPr lang="en-US" altLang="zh-CN" dirty="0">
                  <a:latin typeface="+mj-lt"/>
                </a:rPr>
                <a:t>CPO</a:t>
              </a:r>
              <a:r>
                <a:rPr lang="zh-CN" altLang="en-US" dirty="0">
                  <a:latin typeface="+mj-lt"/>
                </a:rPr>
                <a:t>各环节成熟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543070" y="5287107"/>
            <a:ext cx="954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lt"/>
              </a:rPr>
              <a:t>成品拼装</a:t>
            </a: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545547" y="3581177"/>
            <a:ext cx="939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lt"/>
              </a:rPr>
              <a:t>代工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1" name="矩形 250">
            <a:extLst>
              <a:ext uri="{FF2B5EF4-FFF2-40B4-BE49-F238E27FC236}">
                <a16:creationId xmlns:a16="http://schemas.microsoft.com/office/drawing/2014/main" id="{854E83A3-9240-679E-0049-5B527FB20C3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：不完全列示，优先列示最核心合作厂商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498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1" imgH="401" progId="TCLayout.ActiveDocument.1">
                  <p:embed/>
                </p:oleObj>
              </mc:Choice>
              <mc:Fallback>
                <p:oleObj name="think-cell 幻灯片" r:id="rId1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B5B65-05AC-E9CA-651E-FCBC7F2CA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博通为何押注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？顺应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HPC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自研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ASIC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趋势、网络配套形成生态卡位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野村证券、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AMD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计算卡非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33" name="Chart 3">
            <a:extLst>
              <a:ext uri="{FF2B5EF4-FFF2-40B4-BE49-F238E27FC236}">
                <a16:creationId xmlns:a16="http://schemas.microsoft.com/office/drawing/2014/main" id="{7BDC9781-97FC-55CE-966A-736BADE12A9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2325196"/>
              </p:ext>
            </p:extLst>
          </p:nvPr>
        </p:nvGraphicFramePr>
        <p:xfrm>
          <a:off x="895350" y="2249488"/>
          <a:ext cx="6672263" cy="3862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106863" y="4075113"/>
            <a:ext cx="35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946149" y="2122488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出货量占比（</a:t>
            </a:r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%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8CDAD01-36A1-CF67-846C-CAABF8345DFC}"/>
              </a:ext>
            </a:extLst>
          </p:cNvPr>
          <p:cNvSpPr txBox="1"/>
          <p:nvPr/>
        </p:nvSpPr>
        <p:spPr>
          <a:xfrm>
            <a:off x="5655257" y="2929202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26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年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反超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GPU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4325938" y="5000625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407402" y="4587080"/>
            <a:ext cx="1660525" cy="101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2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2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2371725" y="6126163"/>
            <a:ext cx="231775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8163FD0-FFF7-9ABC-9D0A-768743A88758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190875" y="6126163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000500" y="6126163"/>
            <a:ext cx="190500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63825" y="602773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828DF58-8F6B-50C8-8A1F-70A0C4A238B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482975" y="60277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764266F-E44F-445E-86DA-50010A4C62D3}" type="datetime'''''''''G''''''''''''''P''''''''''''''''U'">
              <a:rPr lang="en-US" altLang="en-US" sz="1400" smtClean="0">
                <a:cs typeface="+mn-cs"/>
              </a:rPr>
              <a:pPr/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271963" y="6027738"/>
            <a:ext cx="7715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7D7CDD-3FCF-45C5-A7E5-98D102F27F29}" type="datetime'''博''''''''''''''''''通''''AS''''I''''''''C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博通ASIC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018FD-CABA-9F0D-4320-90336A0C6383}"/>
              </a:ext>
            </a:extLst>
          </p:cNvPr>
          <p:cNvSpPr txBox="1"/>
          <p:nvPr/>
        </p:nvSpPr>
        <p:spPr>
          <a:xfrm>
            <a:off x="8224679" y="231615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2025E 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主要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厂商出货量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04E9696-50D4-422E-7328-86E1EFE26E7E}"/>
              </a:ext>
            </a:extLst>
          </p:cNvPr>
          <p:cNvSpPr txBox="1"/>
          <p:nvPr/>
        </p:nvSpPr>
        <p:spPr>
          <a:xfrm>
            <a:off x="4325938" y="4273550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AD59D82-61AE-8A79-DEFC-018A8CBAF289}"/>
              </a:ext>
            </a:extLst>
          </p:cNvPr>
          <p:cNvSpPr txBox="1"/>
          <p:nvPr/>
        </p:nvSpPr>
        <p:spPr>
          <a:xfrm>
            <a:off x="6423277" y="3858418"/>
            <a:ext cx="1662113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986" name="矩形 985">
            <a:extLst>
              <a:ext uri="{FF2B5EF4-FFF2-40B4-BE49-F238E27FC236}">
                <a16:creationId xmlns:a16="http://schemas.microsoft.com/office/drawing/2014/main" id="{BAE37BE9-FE2A-7B0D-051E-278867DB87D0}"/>
              </a:ext>
            </a:extLst>
          </p:cNvPr>
          <p:cNvSpPr/>
          <p:nvPr/>
        </p:nvSpPr>
        <p:spPr>
          <a:xfrm>
            <a:off x="649816" y="804665"/>
            <a:ext cx="10894483" cy="128989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大势所趋，份额有望迅速赶上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，博通为核心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HPC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考虑</a:t>
            </a:r>
            <a:r>
              <a:rPr lang="zh-CN" altLang="en-US" sz="1600" b="1" dirty="0">
                <a:solidFill>
                  <a:srgbClr val="0052D9"/>
                </a:solidFill>
                <a:latin typeface="PingFang SC"/>
              </a:rPr>
              <a:t>算力自主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+</a:t>
            </a:r>
            <a:r>
              <a:rPr lang="zh-CN" altLang="en-US" sz="1600" b="1" dirty="0">
                <a:solidFill>
                  <a:srgbClr val="0052D9"/>
                </a:solidFill>
                <a:latin typeface="PingFang SC"/>
              </a:rPr>
              <a:t>成本优化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，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越来越多厂商联合博通自研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ASIC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与英伟达解绑</a:t>
            </a:r>
            <a:endParaRPr lang="en-US" altLang="zh-CN" sz="1600" dirty="0">
              <a:solidFill>
                <a:srgbClr val="000000"/>
              </a:solidFill>
              <a:latin typeface="PingFang SC"/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谷歌、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 25-26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年稳定量产；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26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年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OpenAI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、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latin typeface="PingFang SC"/>
              </a:rPr>
              <a:t>xAI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新量产订单将“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AISC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出货量超越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GPU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”时点从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27-28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年提前至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26</a:t>
            </a:r>
            <a:r>
              <a:rPr lang="zh-CN" altLang="en-US" sz="1600" b="1" dirty="0">
                <a:solidFill>
                  <a:srgbClr val="0052D9"/>
                </a:solidFill>
                <a:latin typeface="PingFang SC"/>
              </a:rPr>
              <a:t>年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博通主要合作方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、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预计占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25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年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ASIC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出货量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~60%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，博通强生态卡位</a:t>
            </a:r>
          </a:p>
        </p:txBody>
      </p:sp>
      <p:graphicFrame>
        <p:nvGraphicFramePr>
          <p:cNvPr id="1037" name="Chart 3">
            <a:extLst>
              <a:ext uri="{FF2B5EF4-FFF2-40B4-BE49-F238E27FC236}">
                <a16:creationId xmlns:a16="http://schemas.microsoft.com/office/drawing/2014/main" id="{1EB0A3BD-C493-117D-7087-AD8A70B0E6D1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4063392718"/>
              </p:ext>
            </p:extLst>
          </p:nvPr>
        </p:nvGraphicFramePr>
        <p:xfrm>
          <a:off x="8145463" y="3005138"/>
          <a:ext cx="2681287" cy="294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93" name="Text Placeholder 4">
            <a:extLst>
              <a:ext uri="{FF2B5EF4-FFF2-40B4-BE49-F238E27FC236}">
                <a16:creationId xmlns:a16="http://schemas.microsoft.com/office/drawing/2014/main" id="{72510644-12DD-8B05-2EAA-33747E79196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577513" y="3968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64BDAC4-288A-4BD7-9E68-6148510A5DDB}" type="datetime'''A''''''''''''''''''ma''''''''z''o''''''''''''''''''''''n'''">
              <a:rPr lang="en-US" altLang="en-US" sz="1400" smtClean="0">
                <a:cs typeface="+mn-cs"/>
              </a:rPr>
              <a:pPr/>
              <a:t>Amazon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4" name="Text Placeholder 4">
            <a:extLst>
              <a:ext uri="{FF2B5EF4-FFF2-40B4-BE49-F238E27FC236}">
                <a16:creationId xmlns:a16="http://schemas.microsoft.com/office/drawing/2014/main" id="{C9F2E315-66A9-0EC9-1AFD-6C45ACD181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50200" y="5060950"/>
            <a:ext cx="571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01C0738-3EE2-4505-B79A-4516277350D1}" type="datetime'G''''''oog''''''''''''''''''''''l''''''''''''''''''''''e'">
              <a:rPr lang="en-US" altLang="en-US" sz="1400" smtClean="0">
                <a:cs typeface="+mn-cs"/>
              </a:rPr>
              <a:pPr/>
              <a:t>Google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5" name="Text Placeholder 4">
            <a:extLst>
              <a:ext uri="{FF2B5EF4-FFF2-40B4-BE49-F238E27FC236}">
                <a16:creationId xmlns:a16="http://schemas.microsoft.com/office/drawing/2014/main" id="{E9F40228-5429-4545-FCDD-4FFE85605CF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94763" y="317341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3685E308-D38A-491F-9826-5B717361118F}" type="datetime'M''''''''''''''''''''''''''''''e''''''''''''''ta'">
              <a:rPr lang="en-US" altLang="en-US" sz="1400" smtClean="0">
                <a:cs typeface="+mn-cs"/>
              </a:rPr>
              <a:pPr/>
              <a:t>Meta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18" name="文本框 1017">
            <a:extLst>
              <a:ext uri="{FF2B5EF4-FFF2-40B4-BE49-F238E27FC236}">
                <a16:creationId xmlns:a16="http://schemas.microsoft.com/office/drawing/2014/main" id="{8073F76C-E6A4-0018-4D76-8F318BFCE52A}"/>
              </a:ext>
            </a:extLst>
          </p:cNvPr>
          <p:cNvSpPr txBox="1"/>
          <p:nvPr/>
        </p:nvSpPr>
        <p:spPr>
          <a:xfrm>
            <a:off x="8791151" y="294322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10-30</a:t>
            </a:r>
            <a:r>
              <a:rPr lang="zh-CN" altLang="en-US" dirty="0">
                <a:solidFill>
                  <a:schemeClr val="tx1"/>
                </a:solidFill>
              </a:rPr>
              <a:t>万张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022" name="文本框 1021">
            <a:extLst>
              <a:ext uri="{FF2B5EF4-FFF2-40B4-BE49-F238E27FC236}">
                <a16:creationId xmlns:a16="http://schemas.microsoft.com/office/drawing/2014/main" id="{BAF251EB-D043-0852-4E82-8EAEBBF6E444}"/>
              </a:ext>
            </a:extLst>
          </p:cNvPr>
          <p:cNvSpPr txBox="1"/>
          <p:nvPr/>
        </p:nvSpPr>
        <p:spPr>
          <a:xfrm>
            <a:off x="10474431" y="374715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140-150</a:t>
            </a:r>
            <a:r>
              <a:rPr lang="zh-CN" altLang="en-US" dirty="0">
                <a:solidFill>
                  <a:schemeClr val="tx1"/>
                </a:solidFill>
              </a:rPr>
              <a:t>万张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023" name="文本框 1022">
            <a:extLst>
              <a:ext uri="{FF2B5EF4-FFF2-40B4-BE49-F238E27FC236}">
                <a16:creationId xmlns:a16="http://schemas.microsoft.com/office/drawing/2014/main" id="{E11EB400-8654-69BA-2A6A-22A13588DD25}"/>
              </a:ext>
            </a:extLst>
          </p:cNvPr>
          <p:cNvSpPr txBox="1"/>
          <p:nvPr/>
        </p:nvSpPr>
        <p:spPr>
          <a:xfrm>
            <a:off x="7531100" y="521696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150-200</a:t>
            </a:r>
            <a:r>
              <a:rPr lang="zh-CN" altLang="en-US" dirty="0">
                <a:solidFill>
                  <a:schemeClr val="tx1"/>
                </a:solidFill>
              </a:rPr>
              <a:t>万张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6200AEED-6F04-9597-12BF-72ABF7485DC7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90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9" imgW="401" imgH="401" progId="TCLayout.ActiveDocument.1">
                  <p:embed/>
                </p:oleObj>
              </mc:Choice>
              <mc:Fallback>
                <p:oleObj name="think-cell 幻灯片" r:id="rId49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zh-CN" altLang="en-US" dirty="0">
                <a:cs typeface="+mn-ea"/>
                <a:sym typeface="+mn-lt"/>
              </a:rPr>
              <a:t>博通为何押注</a:t>
            </a:r>
            <a:r>
              <a:rPr lang="en-US" altLang="zh-CN" dirty="0">
                <a:cs typeface="+mn-ea"/>
                <a:sym typeface="+mn-lt"/>
              </a:rPr>
              <a:t>CPO</a:t>
            </a:r>
            <a:r>
              <a:rPr lang="zh-CN" altLang="en-US" dirty="0">
                <a:cs typeface="+mn-ea"/>
                <a:sym typeface="+mn-lt"/>
              </a:rPr>
              <a:t>？顺应</a:t>
            </a:r>
            <a:r>
              <a:rPr lang="en-US" altLang="zh-CN" dirty="0">
                <a:cs typeface="+mn-ea"/>
                <a:sym typeface="+mn-lt"/>
              </a:rPr>
              <a:t>HPC</a:t>
            </a:r>
            <a:r>
              <a:rPr lang="zh-CN" altLang="en-US" dirty="0">
                <a:cs typeface="+mn-ea"/>
                <a:sym typeface="+mn-lt"/>
              </a:rPr>
              <a:t>自研</a:t>
            </a:r>
            <a:r>
              <a:rPr lang="en-US" altLang="zh-CN" dirty="0">
                <a:cs typeface="+mn-ea"/>
                <a:sym typeface="+mn-lt"/>
              </a:rPr>
              <a:t>ASIC</a:t>
            </a:r>
            <a:r>
              <a:rPr lang="zh-CN" altLang="en-US" dirty="0">
                <a:cs typeface="+mn-ea"/>
                <a:sym typeface="+mn-lt"/>
              </a:rPr>
              <a:t>趋势、网络配套形成生态卡位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、半导体综研、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91" name="Chart 3">
            <a:extLst>
              <a:ext uri="{FF2B5EF4-FFF2-40B4-BE49-F238E27FC236}">
                <a16:creationId xmlns:a16="http://schemas.microsoft.com/office/drawing/2014/main" id="{53F68F21-8FD8-8A84-76BB-61491A883630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384888456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8009B48-F0E9-E8BE-4B17-A6B6DEACB168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3890963" y="5308600"/>
            <a:ext cx="182563" cy="428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769475" y="5984875"/>
            <a:ext cx="1422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9177C0A2-69AB-4ED3-89F2-CEF0766041DE}" type="datetime'''''''​''''（预''''''计''''''）量''''''产''''年''份''''''''''​'">
              <a:rPr lang="zh-CN" altLang="en-US" sz="1400" smtClean="0">
                <a:cs typeface="+mn-cs"/>
              </a:rPr>
              <a:pPr/>
              <a:t>​（预计）量产年份​</a:t>
            </a:fld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8837613" y="5049838"/>
            <a:ext cx="71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9BA943C-C6D0-4383-9516-013F32C027AB}" type="datetime'''''''''''''''''''''昇''腾''''910''C'''''''''''''''">
              <a:rPr lang="zh-CN" altLang="en-US" sz="1200" smtClean="0">
                <a:cs typeface="+mn-cs"/>
              </a:rPr>
              <a:pPr/>
              <a:t>昇腾910C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3187700" y="5135563"/>
            <a:ext cx="703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1499BF6-EC6A-4AC2-A725-AF5B6ECB5A1B}" type="datetime'''''''昇''''''''''腾''91''''''''''''''''''''0''''''B'">
              <a:rPr lang="zh-CN" altLang="en-US" sz="1200" smtClean="0">
                <a:cs typeface="+mn-cs"/>
              </a:rPr>
              <a:pPr/>
              <a:t>昇腾910B</a:t>
            </a:fld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419600" y="603091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5208588" y="603091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413500" y="603091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7705725" y="603091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4640263" y="59769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5429250" y="597693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6634163" y="5976938"/>
            <a:ext cx="889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F6C1F86-734B-4609-85A8-284250F265A2}" type="datetime'''''''''''''''''''通''用''''''计''''''算''''卡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通用计算卡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7926388" y="59769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F617F2B-DB00-48D4-986C-20FC332F527A}" type="datetime'''''''''''''华''''为'''''''''''''''''''''''''''''">
              <a:rPr lang="zh-CN" altLang="en-US" sz="1400" smtClean="0">
                <a:cs typeface="+mn-cs"/>
              </a:rPr>
              <a:pPr/>
              <a:t>华为</a:t>
            </a:fld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cxnSp>
        <p:nvCxnSpPr>
          <p:cNvPr id="947" name="连接符: 肘形 946">
            <a:extLst>
              <a:ext uri="{FF2B5EF4-FFF2-40B4-BE49-F238E27FC236}">
                <a16:creationId xmlns:a16="http://schemas.microsoft.com/office/drawing/2014/main" id="{33F0689E-E118-46A0-CC7E-8BAACD6EE147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124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连接符: 肘形 950">
            <a:extLst>
              <a:ext uri="{FF2B5EF4-FFF2-40B4-BE49-F238E27FC236}">
                <a16:creationId xmlns:a16="http://schemas.microsoft.com/office/drawing/2014/main" id="{0094DC3F-C63C-EEFE-480E-958FE179659A}"/>
              </a:ext>
            </a:extLst>
          </p:cNvPr>
          <p:cNvCxnSpPr>
            <a:cxnSpLocks/>
          </p:cNvCxnSpPr>
          <p:nvPr/>
        </p:nvCxnSpPr>
        <p:spPr>
          <a:xfrm flipH="1" flipV="1">
            <a:off x="9661526" y="3193497"/>
            <a:ext cx="282576" cy="1254125"/>
          </a:xfrm>
          <a:prstGeom prst="bentConnector3">
            <a:avLst>
              <a:gd name="adj1" fmla="val -1312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cxnSp>
        <p:nvCxnSpPr>
          <p:cNvPr id="956" name="连接符: 肘形 955">
            <a:extLst>
              <a:ext uri="{FF2B5EF4-FFF2-40B4-BE49-F238E27FC236}">
                <a16:creationId xmlns:a16="http://schemas.microsoft.com/office/drawing/2014/main" id="{8F752E18-7FBB-7FAC-EABA-ED204E278B1F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855521"/>
            <a:ext cx="10751185" cy="113838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单卡性能更弱，堆卡需光互连与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最强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ASIC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单卡性能为同代际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GPU </a:t>
            </a:r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~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40%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，需堆卡补性能差距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=&gt; 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刚需光互连并积极探索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CPO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（与国内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Scale Up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逻辑类似）</a:t>
            </a:r>
            <a:endParaRPr lang="en-US" altLang="zh-CN" sz="1600" dirty="0">
              <a:solidFill>
                <a:srgbClr val="000000"/>
              </a:solidFill>
              <a:latin typeface="PingFang SC"/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预计云厂商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ASIC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将贡献光模块市场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增长，且头部厂商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Google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Amazon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的最新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ASIC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开始</a:t>
            </a:r>
            <a:r>
              <a:rPr lang="zh-CN" altLang="en-US" sz="1600" b="1" dirty="0">
                <a:solidFill>
                  <a:srgbClr val="0052D9"/>
                </a:solidFill>
                <a:latin typeface="PingFang SC"/>
              </a:rPr>
              <a:t>向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CPO</a:t>
            </a:r>
            <a:r>
              <a:rPr lang="zh-CN" altLang="en-US" sz="1600" b="1" dirty="0">
                <a:solidFill>
                  <a:srgbClr val="0052D9"/>
                </a:solidFill>
                <a:latin typeface="PingFang SC"/>
              </a:rPr>
              <a:t>演进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9140155" y="4530824"/>
            <a:ext cx="2317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52D9"/>
                </a:solidFill>
              </a:rPr>
              <a:t>计划留出</a:t>
            </a:r>
            <a:r>
              <a:rPr lang="en-US" altLang="zh-CN" sz="1400" dirty="0">
                <a:solidFill>
                  <a:srgbClr val="0052D9"/>
                </a:solidFill>
              </a:rPr>
              <a:t>CPO</a:t>
            </a:r>
            <a:r>
              <a:rPr lang="zh-CN" altLang="en-US" sz="1400" dirty="0">
                <a:solidFill>
                  <a:srgbClr val="0052D9"/>
                </a:solidFill>
              </a:rPr>
              <a:t>接口</a:t>
            </a:r>
          </a:p>
        </p:txBody>
      </p:sp>
      <p:sp>
        <p:nvSpPr>
          <p:cNvPr id="992" name="矩形 991">
            <a:extLst>
              <a:ext uri="{FF2B5EF4-FFF2-40B4-BE49-F238E27FC236}">
                <a16:creationId xmlns:a16="http://schemas.microsoft.com/office/drawing/2014/main" id="{85EDDB38-4CE4-F48E-72C1-17F14F10AB1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2222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E3E93333-C2DA-51E9-F8F2-0D234A8DBA1C}"/>
              </a:ext>
            </a:extLst>
          </p:cNvPr>
          <p:cNvSpPr txBox="1"/>
          <p:nvPr/>
        </p:nvSpPr>
        <p:spPr>
          <a:xfrm>
            <a:off x="9418476" y="3763774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产能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销量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291221" y="6542459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7429705" y="3769324"/>
            <a:ext cx="1733694" cy="727564"/>
            <a:chOff x="6959734" y="4207316"/>
            <a:chExt cx="1733694" cy="727564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全球交付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817128" y="4341443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6270295" y="3739181"/>
            <a:ext cx="1975459" cy="787851"/>
            <a:chOff x="9332675" y="4153814"/>
            <a:chExt cx="1975459" cy="787851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平均ASP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9878454" y="4346175"/>
              <a:ext cx="14296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235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万/台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407292" y="5349824"/>
            <a:ext cx="15362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标准机硬件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长期委外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6" y="799727"/>
            <a:ext cx="11783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市场地位：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全球极少数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能够为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以上硅光电子、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光模块提供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全自动封装耦合设备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的企业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前景：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高精度封装能力的重要性在更重视光学的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时代会提升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274160" y="329627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低量高价，重交付，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F36E1-E717-FEC7-FD69-6C33AF472ACB}"/>
              </a:ext>
            </a:extLst>
          </p:cNvPr>
          <p:cNvSpPr/>
          <p:nvPr/>
        </p:nvSpPr>
        <p:spPr>
          <a:xfrm>
            <a:off x="11188364" y="386977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238261" y="1610833"/>
            <a:ext cx="5768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中企收购弥补国内技术空白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C90A3-7CAF-E5F6-70E3-C28E50B2F340}"/>
              </a:ext>
            </a:extLst>
          </p:cNvPr>
          <p:cNvGrpSpPr/>
          <p:nvPr/>
        </p:nvGrpSpPr>
        <p:grpSpPr>
          <a:xfrm>
            <a:off x="-26308" y="1967324"/>
            <a:ext cx="5948680" cy="1104923"/>
            <a:chOff x="27699" y="2598831"/>
            <a:chExt cx="5948680" cy="110492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95F44A2-C061-5D7D-8391-320D4C0B5020}"/>
                </a:ext>
              </a:extLst>
            </p:cNvPr>
            <p:cNvGrpSpPr/>
            <p:nvPr/>
          </p:nvGrpSpPr>
          <p:grpSpPr>
            <a:xfrm>
              <a:off x="27699" y="2598831"/>
              <a:ext cx="5948680" cy="684606"/>
              <a:chOff x="-21769" y="3068770"/>
              <a:chExt cx="5948680" cy="684606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0678657-096D-B78D-191E-F3A961E120A8}"/>
                  </a:ext>
                </a:extLst>
              </p:cNvPr>
              <p:cNvSpPr txBox="1"/>
              <p:nvPr/>
            </p:nvSpPr>
            <p:spPr>
              <a:xfrm>
                <a:off x="3379076" y="3073288"/>
                <a:ext cx="25478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被中国上市公司RoboTechnik以10.11亿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RMB</a:t>
                </a:r>
                <a:r>
                  <a:rPr lang="en-US" altLang="zh-CN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 100%</a:t>
                </a:r>
                <a:r>
                  <a:rPr lang="zh-CN" altLang="en-US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收购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0B5CBD8-B142-509A-526A-B947849110E3}"/>
                  </a:ext>
                </a:extLst>
              </p:cNvPr>
              <p:cNvSpPr txBox="1"/>
              <p:nvPr/>
            </p:nvSpPr>
            <p:spPr>
              <a:xfrm>
                <a:off x="1685745" y="3068770"/>
                <a:ext cx="13962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获德国mic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</a:t>
                </a: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seed轮投资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86D9C25-13C6-F2D7-5457-4E1AB9466572}"/>
                  </a:ext>
                </a:extLst>
              </p:cNvPr>
              <p:cNvSpPr txBox="1"/>
              <p:nvPr/>
            </p:nvSpPr>
            <p:spPr>
              <a:xfrm>
                <a:off x="-21769" y="3073404"/>
                <a:ext cx="22021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于德国成立</a:t>
                </a:r>
                <a:endPara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专用设备供应商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733F027-A8A6-A925-8AD6-9E76BA7DC9A4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5D8CDE-AE66-371A-E90F-DA8720FF0DEE}"/>
                </a:ext>
              </a:extLst>
            </p:cNvPr>
            <p:cNvGrpSpPr/>
            <p:nvPr/>
          </p:nvGrpSpPr>
          <p:grpSpPr>
            <a:xfrm>
              <a:off x="799791" y="3181688"/>
              <a:ext cx="754380" cy="508801"/>
              <a:chOff x="2380429" y="5497808"/>
              <a:chExt cx="754380" cy="508801"/>
            </a:xfrm>
          </p:grpSpPr>
          <p:sp>
            <p:nvSpPr>
              <p:cNvPr id="19" name="iconfont-1018-792472">
                <a:extLst>
                  <a:ext uri="{FF2B5EF4-FFF2-40B4-BE49-F238E27FC236}">
                    <a16:creationId xmlns:a16="http://schemas.microsoft.com/office/drawing/2014/main" id="{EA814B08-CD52-C99A-FC8F-44F9D9CF41C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3A64F3-F6F8-C5E7-1730-DC0120AEDA39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F82009A-1C4D-7B9A-C8FC-7ED364E2601A}"/>
                </a:ext>
              </a:extLst>
            </p:cNvPr>
            <p:cNvGrpSpPr/>
            <p:nvPr/>
          </p:nvGrpSpPr>
          <p:grpSpPr>
            <a:xfrm>
              <a:off x="2079898" y="3180229"/>
              <a:ext cx="754380" cy="508801"/>
              <a:chOff x="2380429" y="5497808"/>
              <a:chExt cx="754380" cy="508801"/>
            </a:xfrm>
          </p:grpSpPr>
          <p:sp>
            <p:nvSpPr>
              <p:cNvPr id="23" name="iconfont-1018-792472">
                <a:extLst>
                  <a:ext uri="{FF2B5EF4-FFF2-40B4-BE49-F238E27FC236}">
                    <a16:creationId xmlns:a16="http://schemas.microsoft.com/office/drawing/2014/main" id="{519F1AE7-5299-0A4E-7D76-85AA281803A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BD83B27-AFD4-55EA-5D0E-5F07B18765DA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2002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1114B66-5026-3686-F582-3B3346627BEE}"/>
                </a:ext>
              </a:extLst>
            </p:cNvPr>
            <p:cNvGrpSpPr/>
            <p:nvPr/>
          </p:nvGrpSpPr>
          <p:grpSpPr>
            <a:xfrm>
              <a:off x="4299663" y="3194953"/>
              <a:ext cx="754380" cy="508801"/>
              <a:chOff x="2380429" y="5497808"/>
              <a:chExt cx="754380" cy="508801"/>
            </a:xfrm>
          </p:grpSpPr>
          <p:sp>
            <p:nvSpPr>
              <p:cNvPr id="30" name="iconfont-1018-792472">
                <a:extLst>
                  <a:ext uri="{FF2B5EF4-FFF2-40B4-BE49-F238E27FC236}">
                    <a16:creationId xmlns:a16="http://schemas.microsoft.com/office/drawing/2014/main" id="{0BEE1C87-1BCF-4B35-4846-2AF0E32B8080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95C5602-CF13-CA75-F2EB-4D1EF5788514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2025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-1977" y="3623765"/>
            <a:ext cx="4395613" cy="2453028"/>
            <a:chOff x="1052162" y="4115937"/>
            <a:chExt cx="4395613" cy="245302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4115937"/>
              <a:ext cx="3690025" cy="2453028"/>
              <a:chOff x="923365" y="3978459"/>
              <a:chExt cx="3690025" cy="2453028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54454941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0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1594251" y="5046125"/>
                  <a:ext cx="102548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zh-CN" altLang="en-US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微组装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613395" y="3978459"/>
                <a:ext cx="299999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2023A </a:t>
                </a:r>
                <a:r>
                  <a:rPr kumimoji="0" lang="zh-CN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营收拆分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64" y="4679637"/>
              <a:ext cx="28777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测试设备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等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57A45E6-15A6-97FB-DE1D-2FCB5BB56D57}"/>
              </a:ext>
            </a:extLst>
          </p:cNvPr>
          <p:cNvGrpSpPr/>
          <p:nvPr/>
        </p:nvGrpSpPr>
        <p:grpSpPr>
          <a:xfrm>
            <a:off x="3106241" y="3433912"/>
            <a:ext cx="3124462" cy="1391828"/>
            <a:chOff x="3402950" y="3532009"/>
            <a:chExt cx="3124462" cy="1391828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39043B5-5736-EAAC-43D6-478C75A51656}"/>
                </a:ext>
              </a:extLst>
            </p:cNvPr>
            <p:cNvSpPr txBox="1"/>
            <p:nvPr/>
          </p:nvSpPr>
          <p:spPr>
            <a:xfrm>
              <a:off x="3402950" y="4547131"/>
              <a:ext cx="3124462" cy="376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测试</a:t>
              </a: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清洁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修复三合一设备</a:t>
              </a:r>
              <a:endParaRPr lang="zh-CN" altLang="en-US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FDB0F42-0C94-1A8D-4A9A-2ED09947B9B1}"/>
                </a:ext>
              </a:extLst>
            </p:cNvPr>
            <p:cNvSpPr txBox="1"/>
            <p:nvPr/>
          </p:nvSpPr>
          <p:spPr>
            <a:xfrm>
              <a:off x="4457376" y="3532009"/>
              <a:ext cx="177849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硅光修复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0-1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突破</a:t>
              </a:r>
              <a:endParaRPr lang="en-US" altLang="zh-CN" sz="1400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u="sng" dirty="0">
                  <a:solidFill>
                    <a:srgbClr val="333333"/>
                  </a:solidFill>
                  <a:cs typeface="+mn-ea"/>
                  <a:sym typeface="+mn-lt"/>
                </a:rPr>
                <a:t>台积电迫切想要但产能被英伟达包圆</a:t>
              </a:r>
              <a:endParaRPr lang="en-US" altLang="zh-CN" sz="1400" u="sng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2603556" y="5276780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2603556" y="4247623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5EB4309-6DB0-3A01-8B1B-2E4EEAEBD593}"/>
              </a:ext>
            </a:extLst>
          </p:cNvPr>
          <p:cNvGrpSpPr/>
          <p:nvPr/>
        </p:nvGrpSpPr>
        <p:grpSpPr>
          <a:xfrm>
            <a:off x="3104432" y="4925713"/>
            <a:ext cx="2805323" cy="1229926"/>
            <a:chOff x="3613696" y="3795302"/>
            <a:chExt cx="2805323" cy="1229926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5E6549A-406A-1198-A9FE-001AA2FD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80668" y="3820493"/>
              <a:ext cx="794640" cy="838986"/>
            </a:xfrm>
            <a:prstGeom prst="rect">
              <a:avLst/>
            </a:prstGeom>
          </p:spPr>
        </p:pic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BCA0442-1230-9A00-EB53-12F4962257B3}"/>
                </a:ext>
              </a:extLst>
            </p:cNvPr>
            <p:cNvSpPr txBox="1"/>
            <p:nvPr/>
          </p:nvSpPr>
          <p:spPr>
            <a:xfrm>
              <a:off x="3613696" y="4653523"/>
              <a:ext cx="2066744" cy="371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ASSEMBLYLINE </a:t>
              </a: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系列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449F9DE-04A3-C679-0A3E-51CD7E98111D}"/>
                </a:ext>
              </a:extLst>
            </p:cNvPr>
            <p:cNvSpPr txBox="1"/>
            <p:nvPr/>
          </p:nvSpPr>
          <p:spPr>
            <a:xfrm>
              <a:off x="4640526" y="3795302"/>
              <a:ext cx="177849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自动微光学组装</a:t>
              </a:r>
              <a:endPara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cs typeface="+mn-ea"/>
                  <a:sym typeface="+mn-lt"/>
                </a:rPr>
                <a:t>5nm</a:t>
              </a:r>
              <a:r>
                <a:rPr lang="zh-CN" altLang="en-US" sz="1400" dirty="0">
                  <a:cs typeface="+mn-ea"/>
                  <a:sym typeface="+mn-lt"/>
                </a:rPr>
                <a:t>精度光耦</a:t>
              </a:r>
              <a:endParaRPr lang="en-US" altLang="zh-CN" sz="1400" dirty="0"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cs typeface="+mn-ea"/>
                  <a:sym typeface="+mn-lt"/>
                </a:rPr>
                <a:t>精度</a:t>
              </a:r>
              <a:r>
                <a:rPr lang="en-US" altLang="zh-CN" sz="1400" dirty="0"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cs typeface="+mn-ea"/>
                  <a:sym typeface="+mn-lt"/>
                </a:rPr>
                <a:t>集成度全球领先</a:t>
              </a:r>
            </a:p>
          </p:txBody>
        </p: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8608" y="3866264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3239082" y="356842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279378"/>
              </p:ext>
            </p:extLst>
          </p:nvPr>
        </p:nvGraphicFramePr>
        <p:xfrm>
          <a:off x="6458084" y="1974032"/>
          <a:ext cx="5129857" cy="123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CDB7C8FB-2497-6267-B3E8-7C588F7D8706}"/>
              </a:ext>
            </a:extLst>
          </p:cNvPr>
          <p:cNvSpPr txBox="1"/>
          <p:nvPr/>
        </p:nvSpPr>
        <p:spPr>
          <a:xfrm>
            <a:off x="6271284" y="1567676"/>
            <a:ext cx="552701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盈利：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毛利超封测行业平均值（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~30%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），亏损持续收窄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30BF220-4359-8CC2-7E44-546FD86E08B1}"/>
              </a:ext>
            </a:extLst>
          </p:cNvPr>
          <p:cNvGrpSpPr/>
          <p:nvPr/>
        </p:nvGrpSpPr>
        <p:grpSpPr>
          <a:xfrm>
            <a:off x="10706523" y="3840556"/>
            <a:ext cx="1536288" cy="585101"/>
            <a:chOff x="10926477" y="4990752"/>
            <a:chExt cx="1536288" cy="58510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9ACACC4B-4082-0599-A9C3-506CC36B5034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432E317-E7B9-701E-A911-28C5ABBBBE35}"/>
                </a:ext>
              </a:extLst>
            </p:cNvPr>
            <p:cNvSpPr txBox="1"/>
            <p:nvPr/>
          </p:nvSpPr>
          <p:spPr>
            <a:xfrm>
              <a:off x="10926477" y="5298854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产能利用率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8B1550BD-1D69-EC16-44B1-065FE1BB6B04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306CD657-DB77-3194-3368-C2D64FB788C4}"/>
              </a:ext>
            </a:extLst>
          </p:cNvPr>
          <p:cNvSpPr/>
          <p:nvPr/>
        </p:nvSpPr>
        <p:spPr>
          <a:xfrm rot="16200000">
            <a:off x="8903129" y="4062312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2" name="箭头: 右 101">
            <a:extLst>
              <a:ext uri="{FF2B5EF4-FFF2-40B4-BE49-F238E27FC236}">
                <a16:creationId xmlns:a16="http://schemas.microsoft.com/office/drawing/2014/main" id="{FC442DF0-BADE-8275-3AB9-49B2EB9FACCE}"/>
              </a:ext>
            </a:extLst>
          </p:cNvPr>
          <p:cNvSpPr/>
          <p:nvPr/>
        </p:nvSpPr>
        <p:spPr>
          <a:xfrm>
            <a:off x="10350154" y="4073447"/>
            <a:ext cx="269664" cy="119318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10AC663-CC66-FF6B-3712-A1AFCCA8DBAD}"/>
              </a:ext>
            </a:extLst>
          </p:cNvPr>
          <p:cNvSpPr txBox="1"/>
          <p:nvPr/>
        </p:nvSpPr>
        <p:spPr>
          <a:xfrm>
            <a:off x="6271284" y="4692291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上下游：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巨头客户占比大，供应商集中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圆角矩形 1636">
            <a:extLst>
              <a:ext uri="{FF2B5EF4-FFF2-40B4-BE49-F238E27FC236}">
                <a16:creationId xmlns:a16="http://schemas.microsoft.com/office/drawing/2014/main" id="{083FE0B3-A52B-9965-A9F0-9A5055540272}"/>
              </a:ext>
            </a:extLst>
          </p:cNvPr>
          <p:cNvSpPr/>
          <p:nvPr/>
        </p:nvSpPr>
        <p:spPr>
          <a:xfrm>
            <a:off x="238261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0763911-E411-2B21-6E2A-8FB9F5CBF7F9}"/>
              </a:ext>
            </a:extLst>
          </p:cNvPr>
          <p:cNvSpPr txBox="1"/>
          <p:nvPr/>
        </p:nvSpPr>
        <p:spPr>
          <a:xfrm>
            <a:off x="291221" y="3203909"/>
            <a:ext cx="9097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光电器件微组装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+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自动化测试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垄断地位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9" name="圆角矩形 1636">
            <a:extLst>
              <a:ext uri="{FF2B5EF4-FFF2-40B4-BE49-F238E27FC236}">
                <a16:creationId xmlns:a16="http://schemas.microsoft.com/office/drawing/2014/main" id="{AD0371B0-D2D6-0324-BB5A-277C944BF757}"/>
              </a:ext>
            </a:extLst>
          </p:cNvPr>
          <p:cNvSpPr/>
          <p:nvPr/>
        </p:nvSpPr>
        <p:spPr>
          <a:xfrm>
            <a:off x="6130599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00BD308-531F-5D9B-D859-6BBCD44F85F2}"/>
              </a:ext>
            </a:extLst>
          </p:cNvPr>
          <p:cNvSpPr txBox="1"/>
          <p:nvPr/>
        </p:nvSpPr>
        <p:spPr>
          <a:xfrm>
            <a:off x="6297675" y="1782548"/>
            <a:ext cx="1429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cs typeface="+mn-ea"/>
                <a:sym typeface="+mn-lt"/>
              </a:rPr>
              <a:t>亿美元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6E869D7-9532-DA1C-EE6B-46E52FFD3DF7}"/>
              </a:ext>
            </a:extLst>
          </p:cNvPr>
          <p:cNvGrpSpPr/>
          <p:nvPr/>
        </p:nvGrpSpPr>
        <p:grpSpPr>
          <a:xfrm>
            <a:off x="5844455" y="502335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C62B12CD-DEA7-D4E4-84A2-81C21616FD1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0961070"/>
                </p:ext>
              </p:extLst>
            </p:nvPr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0208D120-F248-D8FE-B872-D1C9ACC1571F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EEC84D2-0E0F-BC65-9770-3EB1A8687544}"/>
              </a:ext>
            </a:extLst>
          </p:cNvPr>
          <p:cNvSpPr txBox="1"/>
          <p:nvPr/>
        </p:nvSpPr>
        <p:spPr>
          <a:xfrm>
            <a:off x="6561747" y="4946889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客户占比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2A01A2D0-1BA7-691B-2D62-0DE10A07590E}"/>
              </a:ext>
            </a:extLst>
          </p:cNvPr>
          <p:cNvSpPr/>
          <p:nvPr/>
        </p:nvSpPr>
        <p:spPr>
          <a:xfrm>
            <a:off x="7652532" y="541428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711EB7-779D-687C-2D46-ACC9EBC20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6330" y="569354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CCC31D5B-5C11-3CCA-5F1F-B960072E2B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6483" y="567062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505F9A0-8D42-91F8-00F6-D04A26784C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5972" y="527245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7E52CD9D-56D1-36B2-1406-1B685F9A0A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8343" y="527950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2E31E35-034B-9EC4-2D14-AA717B9E047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554" y="601282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34375ADA-0D9F-CA4A-2A46-8FBBB873A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643370"/>
              </p:ext>
            </p:extLst>
          </p:nvPr>
        </p:nvGraphicFramePr>
        <p:xfrm>
          <a:off x="8524091" y="501289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9FA1ED81-34B6-8BDF-ED5A-0DF9E89CBF5B}"/>
              </a:ext>
            </a:extLst>
          </p:cNvPr>
          <p:cNvSpPr txBox="1"/>
          <p:nvPr/>
        </p:nvSpPr>
        <p:spPr>
          <a:xfrm>
            <a:off x="9317262" y="4957447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供应商占比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1BFB9DB-E3DF-4C8C-3B60-3D8B55BD316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461963" y="1486366"/>
            <a:ext cx="936625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业务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461963" y="3850640"/>
            <a:ext cx="936625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核心优势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461963" y="4875698"/>
            <a:ext cx="936625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落地进展</a:t>
            </a: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：过去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18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个月已小批量出货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15k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颗芯粒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：首批高量产客户（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加速卡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交换机）上机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芯粒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制造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硅光子单片集成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标准化生态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技术被纳入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PCIe 6.0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标准，形成生态壁垒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461963" y="2724903"/>
            <a:ext cx="936625" cy="10088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估值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融资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8" y="1836401"/>
            <a:ext cx="1949450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I/O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功耗低至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19CFA3E-0A90-B5CC-D463-A5802821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3267610"/>
            <a:ext cx="3081338" cy="3077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Intel Capital、Nvidia、AMD、GlobalFoundries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930962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899841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$1.55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量产之间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公司宣称已与匿名头部制造商开始设计导入阶段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2025 H2开始送样、2026年后见到搭载产品、2027年量产爬坡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系统级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方案，验证周期长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跨越控制/交换芯片、硅光芯片、封装热-机械协同等多个环节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5B80E58D-453E-F82F-6561-D8B2B87A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3379091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AMD Ventures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Samsung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916966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$2.5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-&gt;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设计导入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早期送样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Passage中介层先行、与 OSAT/代工/SerDes伙伴协同推进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25年夏供货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2026 L200 CPO芯粒计划面向客户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zh-CN" altLang="zh-CN" dirty="0">
                <a:latin typeface="+mn-lt"/>
                <a:cs typeface="+mn-ea"/>
                <a:sym typeface="+mn-lt"/>
              </a:rPr>
              <a:t>兼容 Broadcom CPO 生态，链条成熟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zh-CN" dirty="0">
                <a:latin typeface="+mn-lt"/>
                <a:cs typeface="+mn-ea"/>
                <a:sym typeface="+mn-lt"/>
              </a:rPr>
              <a:t>封装层抽</a:t>
            </a:r>
            <a:r>
              <a:rPr lang="zh-CN" altLang="en-US" dirty="0">
                <a:latin typeface="+mn-lt"/>
                <a:cs typeface="+mn-ea"/>
                <a:sym typeface="+mn-lt"/>
              </a:rPr>
              <a:t>象</a:t>
            </a:r>
            <a:r>
              <a:rPr lang="zh-CN" altLang="zh-CN" dirty="0">
                <a:latin typeface="+mn-lt"/>
                <a:cs typeface="+mn-ea"/>
                <a:sym typeface="+mn-lt"/>
              </a:rPr>
              <a:t>成硬件，</a:t>
            </a:r>
            <a:r>
              <a:rPr lang="zh-CN" altLang="en-US" dirty="0">
                <a:latin typeface="+mn-lt"/>
                <a:cs typeface="+mn-ea"/>
                <a:sym typeface="+mn-lt"/>
              </a:rPr>
              <a:t>交付</a:t>
            </a:r>
            <a:r>
              <a:rPr lang="zh-CN" altLang="zh-CN" dirty="0">
                <a:latin typeface="+mn-lt"/>
                <a:cs typeface="+mn-ea"/>
                <a:sym typeface="+mn-lt"/>
              </a:rPr>
              <a:t>更可控</a:t>
            </a: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341B75F0-F07E-E3EF-11C6-EA414970A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438" y="3371204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Google Ventures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923330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 → 设计导入阶段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71625" y="2388822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TeraPHY芯粒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</a:t>
            </a:r>
            <a:r>
              <a:rPr lang="zh-CN" altLang="zh-CN" dirty="0">
                <a:cs typeface="+mn-ea"/>
                <a:sym typeface="+mn-lt"/>
              </a:rPr>
              <a:t>cale</a:t>
            </a:r>
            <a:r>
              <a:rPr lang="en-US" altLang="zh-CN" dirty="0">
                <a:cs typeface="+mn-ea"/>
                <a:sym typeface="+mn-lt"/>
              </a:rPr>
              <a:t> U</a:t>
            </a:r>
            <a:r>
              <a:rPr lang="zh-CN" altLang="zh-CN" dirty="0">
                <a:cs typeface="+mn-ea"/>
                <a:sym typeface="+mn-lt"/>
              </a:rPr>
              <a:t>p光学</a:t>
            </a:r>
            <a:r>
              <a:rPr lang="zh-CN" altLang="zh-CN" u="sng" dirty="0">
                <a:cs typeface="+mn-ea"/>
                <a:sym typeface="+mn-lt"/>
              </a:rPr>
              <a:t>全栈</a:t>
            </a:r>
            <a:r>
              <a:rPr lang="zh-CN" altLang="en-US" dirty="0">
                <a:cs typeface="+mn-ea"/>
                <a:sym typeface="+mn-lt"/>
              </a:rPr>
              <a:t>供应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卡间：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方案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连接层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光学硬件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系列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893021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839904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50" y="1812402"/>
            <a:ext cx="1627188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可采购的中介层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自有硅光芯片 + 模块级封装方案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核心初创对比：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AyarLabs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Celestial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348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9AFA2C-107E-1D15-C507-81856CD320A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0668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Deepseek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为什么认为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可解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8D2C2-4F9B-ADCB-00BD-57CEF4442C62}"/>
              </a:ext>
            </a:extLst>
          </p:cNvPr>
          <p:cNvSpPr txBox="1"/>
          <p:nvPr/>
        </p:nvSpPr>
        <p:spPr>
          <a:xfrm>
            <a:off x="362744" y="115828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MoE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All-to-All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专家并行需大量节点通信，国内可得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卡间带宽均受限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=&gt; 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场景受限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1535DE-CAB5-8EF9-3D1C-965D0EC3FCF8}"/>
              </a:ext>
            </a:extLst>
          </p:cNvPr>
          <p:cNvSpPr txBox="1"/>
          <p:nvPr/>
        </p:nvSpPr>
        <p:spPr>
          <a:xfrm>
            <a:off x="6522243" y="1117601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可提升带宽并降低延迟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=&gt;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显著提升</a:t>
            </a: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MoE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推理速度，打穿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瓶颈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5" name="Chart 3">
            <a:extLst>
              <a:ext uri="{FF2B5EF4-FFF2-40B4-BE49-F238E27FC236}">
                <a16:creationId xmlns:a16="http://schemas.microsoft.com/office/drawing/2014/main" id="{A884C195-C692-B6F3-BA3C-AD21927B481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61595037"/>
              </p:ext>
            </p:extLst>
          </p:nvPr>
        </p:nvGraphicFramePr>
        <p:xfrm>
          <a:off x="601663" y="205422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70681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70681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706812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68325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68325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68325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68325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55600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19125" y="189319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卡间带宽（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、华为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B573975A-0285-3E5C-6DA7-20A43D5A4F58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4035623403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339013" y="5683250"/>
            <a:ext cx="162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07FF8A4-CF1A-4804-9538-962E7FFA2CB7}" type="datetime'''''H80''0''（Dee''''''p''''''S''e''''''''''''ek）'''''''''''''">
              <a:rPr lang="en-US" altLang="en-US" sz="1400" smtClean="0">
                <a:cs typeface="+mn-cs"/>
              </a:rPr>
              <a:pPr/>
              <a:t>H800（DeepSeek）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7246938" y="607536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112250" y="607536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548563" y="6070600"/>
            <a:ext cx="1462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20F57CF-62D0-476D-BDA3-336DAA2CB0A3}" type="datetime'''''卡''''''''''间带''宽''''（G''''B''/''''''''''''''''s）'''''''''">
              <a:rPr lang="zh-CN" altLang="en-US" sz="1400" smtClean="0">
                <a:cs typeface="+mn-cs"/>
              </a:rPr>
              <a:pPr/>
              <a:t>卡间带宽（GB/s）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413875" y="6070600"/>
            <a:ext cx="1638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3F3DEC2-5C84-44DD-8A91-364DF52DBB34}" type="datetime'''推''理''''速率''（''''''''to''''''''ke''''n''''''/s''''''）'">
              <a:rPr lang="zh-CN" altLang="en-US" sz="1400" smtClean="0">
                <a:solidFill>
                  <a:srgbClr val="000000"/>
                </a:solidFill>
                <a:cs typeface="+mn-cs"/>
              </a:rPr>
              <a:pPr/>
              <a:t>推理速率（token/s）</a:t>
            </a:fld>
            <a:endParaRPr lang="zh-CN" altLang="en-US" sz="1400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651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附录：博通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ED49AF-BC4A-7485-F051-DB8ECFF48339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>
            <a:off x="11636373" y="3199913"/>
            <a:ext cx="305690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sz="1400"/>
              <a:t>终端用户</a:t>
            </a:r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34908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交换机芯片晶圆</a:t>
            </a:r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900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电芯片晶圆</a:t>
            </a:r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116954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硅光芯片晶圆</a:t>
            </a:r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5137245" y="2551265"/>
            <a:ext cx="148373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交换机芯片+CPO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7348396" y="2551264"/>
            <a:ext cx="197586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交换机芯片+CPO+Lens</a:t>
            </a:r>
            <a:endParaRPr sz="1400" dirty="0"/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10172602" y="2557743"/>
            <a:ext cx="102047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CPO交换机</a:t>
            </a:r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635367" y="5189775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光源芯片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837163" y="5181946"/>
            <a:ext cx="11503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ELS光源模块</a:t>
            </a:r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5140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光缆</a:t>
            </a: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设计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代工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5087926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集成封装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7400043" y="1401657"/>
            <a:ext cx="132343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光学组件耦合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716068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成本拼装</a:t>
            </a:r>
            <a:endParaRPr sz="16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24B5294-E9FE-7F35-4441-A572C7F94852}"/>
              </a:ext>
            </a:extLst>
          </p:cNvPr>
          <p:cNvSpPr/>
          <p:nvPr/>
        </p:nvSpPr>
        <p:spPr>
          <a:xfrm>
            <a:off x="12443250" y="1661501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附录：产业和公司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9C47217-AE45-D9DC-B66D-5FF91E2E5A6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7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24063865868814460214E+00&quot;&gt;&lt;m_msothmcolidx val=&quot;0&quot;/&gt;&lt;m_rgb r=&quot;00&quot; g=&quot;52&quot; b=&quot;D9&quot;/&gt;&lt;/elem&gt;&lt;elem m_fUsage=&quot;1.66771816996665767086E-01&quot;&gt;&lt;m_msothmcolidx val=&quot;0&quot;/&gt;&lt;m_rgb r=&quot;C1&quot; g=&quot;E1&quot; b=&quot;FE&quot;/&gt;&lt;/elem&gt;&lt;elem m_fUsage=&quot;1.21576654590569363523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qm0vI1V49ST3h9Q7pC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vHWTMhowxUONXR_hekN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hRW1xOBkvVqwAAFnWNk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oPQvrzd9YC8KfbLMrdH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nxdmp91xG5TXX7.jsvt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5ILBKezJ1c7qvroj_Yl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oLUs26IP2FZ9q1xYdvR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oIlM.sW33F1_2stjYc8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JzYEC.Sl_fndokAHD3Z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MHR9LOnyO0qZ8BEE1f0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2ydvwTDNnGhVswObjsFq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bP0TCfz8QT7cQyOnma6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MqL52dYY8TxLU9YY67Oi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doysm5N.Ur8DTLHFXbh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AyVTLvxVwnGtdPylDrH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F32_dXScAbrpEPSe0Hj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2CERrkVG7Wl8ybPDAFw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8241CGGGD9.0f6KL.QT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FPjfi5NcaF8vWC7hsE0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fHUlm.9WQpq9ykvzoU.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8xCH4SHkXboASQFVlmg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OkpLZCBUEl.Mmh2rQG.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UBQMSGEwoZ8xc33_Qdg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KFNDyjeWue4AFAFY.S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1U1ObGI9q0uyMaXGxzLr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U3aEpdzTbTZVZJaY_5A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Za8Zt0bzBflrHzWjrcn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eWOlwzPtODaKXXwZ5uw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d8jiZ7OT6aX.XpE8b2x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DdAATXtWMLkjSU4S_M2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HUSbhpaB6BV.51sfOdY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64HBoTLv7VFpVxyDGiI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n9JYMt.3655stT1garN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.jdy9k11VnUirikR6hF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0PJ3JmXrU4otm.PS_lj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PGCg1McVRffsUQhbCGO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N0_7oOqVkLuYLY4zALv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4wjcv30jpVXzFYgZD4j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Mt853Abny5PL0TpjAA_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GvXmYk20dbOgYsdZmrU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9punr0DpeQcrLf0vWos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5Re.EnDNh.QnXE9sKCr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fdEGGFl1ehnGQsbZK..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QillfnxI5dx_yrffzfe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QIpSK4CGDorJM6kIpNu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IzEtVSGBn95PlKPl8KL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quXdiiSiIinntf6_HJZ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rbRP_5YlSoZuNeGlJAz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sU7ACpff8RuV8KvUVu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5e9ozXdlYWnliYhtW0K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bkA9M_H2DnFUnZmgT07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sNp3x1IMgMsCb.TqhUa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9Ho0eMYLkOwrc_D2S0J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QOj_w.aboWve.s06Gb5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87VxCuYO2apzlte2r3bC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35134</TotalTime>
  <Words>4796</Words>
  <Application>Microsoft Office PowerPoint</Application>
  <PresentationFormat>宽屏</PresentationFormat>
  <Paragraphs>1106</Paragraphs>
  <Slides>29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-apple-system</vt:lpstr>
      <vt:lpstr>Inherit</vt:lpstr>
      <vt:lpstr>PingFang SC</vt:lpstr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PowerPoint 演示文稿</vt:lpstr>
      <vt:lpstr>互连技术变革，打破通信瓶颈：铜互连、可插拔光模块、CPO、OIO</vt:lpstr>
      <vt:lpstr>铜互连速率成为IDC算力释放瓶颈，光互连可突破铜互连速率上限</vt:lpstr>
      <vt:lpstr>PowerPoint 演示文稿</vt:lpstr>
      <vt:lpstr>PowerPoint 演示文稿</vt:lpstr>
      <vt:lpstr>光互连技术路径：可插拔仍为主流，巨头将商业落地 CPO，OIO初创处于技术验证期</vt:lpstr>
      <vt:lpstr>PowerPoint 演示文稿</vt:lpstr>
      <vt:lpstr>IDC互连按照距离可分为 Scale Up与 Scale Out</vt:lpstr>
      <vt:lpstr>国内光强电弱，CPO为补足Scale Up 电（铜）短板关键技术</vt:lpstr>
      <vt:lpstr>DeepSeek：国内LLM受限于GPU互连带宽，CPO为优先探索方向</vt:lpstr>
      <vt:lpstr>华为：依赖Scale Up补足性能差距，需大量光模块，代价是极高的功耗</vt:lpstr>
      <vt:lpstr>海外巨头并行布局 Scale Out与 Scale Up，CPO落地1-2年内看Scale Out</vt:lpstr>
      <vt:lpstr>PowerPoint 演示文稿</vt:lpstr>
      <vt:lpstr>互连技术范式变革带来新的市场机会</vt:lpstr>
      <vt:lpstr>CPO关键模块：硅光芯片、电芯片、主控芯片、集成交付</vt:lpstr>
      <vt:lpstr>产业链：光电信号中枢、交换机芯片规模大、毛利高，高端（高速光互连）国产替代空间大</vt:lpstr>
      <vt:lpstr>产业链：关注以Broadcom为首的全能巨头和国产卡位初创FiconTec</vt:lpstr>
      <vt:lpstr>博通为最早完整落地CPO的厂商，具备长期身位优势</vt:lpstr>
      <vt:lpstr>博通为CPO能力最全面的厂商</vt:lpstr>
      <vt:lpstr>博通为何押注CPO？顺应HPC自研ASIC趋势、网络配套形成生态卡位</vt:lpstr>
      <vt:lpstr>博通为何押注CPO？顺应HPC自研ASIC趋势、网络配套形成生态卡位</vt:lpstr>
      <vt:lpstr>FiconTec：德国老牌光子装配测试龙头，中企收购卡位国产替代</vt:lpstr>
      <vt:lpstr>PowerPoint 演示文稿</vt:lpstr>
      <vt:lpstr>总结</vt:lpstr>
      <vt:lpstr>附录：Deepseek为什么认为CPO可解Scale Up</vt:lpstr>
      <vt:lpstr>附录：博通CPO产业链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3949</cp:revision>
  <dcterms:created xsi:type="dcterms:W3CDTF">2025-06-16T21:28:33Z</dcterms:created>
  <dcterms:modified xsi:type="dcterms:W3CDTF">2025-09-18T06:32:52Z</dcterms:modified>
</cp:coreProperties>
</file>