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19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/>
        </p14:section>
        <p14:section name="2. Why optical? Why co-packaged?" id="{9A5BC1CD-E46C-43F3-91AB-DCB40303C4FD}">
          <p14:sldIdLst>
            <p14:sldId id="3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0052D9"/>
    <a:srgbClr val="EEF1F8"/>
    <a:srgbClr val="A6A6A6"/>
    <a:srgbClr val="53585F"/>
    <a:srgbClr val="0256FF"/>
    <a:srgbClr val="E94D12"/>
    <a:srgbClr val="ECF6FF"/>
    <a:srgbClr val="DDE3F1"/>
    <a:srgbClr val="C1E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2" autoAdjust="0"/>
    <p:restoredTop sz="84268" autoAdjust="0"/>
  </p:normalViewPr>
  <p:slideViewPr>
    <p:cSldViewPr snapToGrid="0">
      <p:cViewPr>
        <p:scale>
          <a:sx n="100" d="100"/>
          <a:sy n="100" d="100"/>
        </p:scale>
        <p:origin x="2932" y="1404"/>
      </p:cViewPr>
      <p:guideLst/>
    </p:cSldViewPr>
  </p:slideViewPr>
  <p:outlineViewPr>
    <p:cViewPr>
      <p:scale>
        <a:sx n="33" d="100"/>
        <a:sy n="33" d="100"/>
      </p:scale>
      <p:origin x="0" y="-122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4044368600682595E-2"/>
          <c:y val="0.15735068912710568"/>
          <c:w val="0.81484641638225253"/>
          <c:h val="0.748851454823889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2B4-47EC-90FF-B062007EC5D1}"/>
              </c:ext>
            </c:extLst>
          </c:dPt>
          <c:dPt>
            <c:idx val="3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2B4-47EC-90FF-B062007EC5D1}"/>
              </c:ext>
            </c:extLst>
          </c:dPt>
          <c:dLbls>
            <c:dLbl>
              <c:idx val="1"/>
              <c:layout>
                <c:manualLayout>
                  <c:x val="0.3212457337883958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2B4-47EC-90FF-B062007EC5D1}"/>
                </c:ext>
              </c:extLst>
            </c:dLbl>
            <c:dLbl>
              <c:idx val="2"/>
              <c:layout>
                <c:manualLayout>
                  <c:x val="0.4573378839590443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2B4-47EC-90FF-B062007EC5D1}"/>
                </c:ext>
              </c:extLst>
            </c:dLbl>
            <c:dLbl>
              <c:idx val="3"/>
              <c:layout>
                <c:manualLayout>
                  <c:x val="0.1821672354948805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2B4-47EC-90FF-B062007EC5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15</c:v>
                </c:pt>
                <c:pt idx="3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B4-47EC-90FF-B062007EC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51664"/>
        <c:axId val="1"/>
      </c:barChart>
      <c:catAx>
        <c:axId val="7445166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4451664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现有功耗数据是单模，单模是趋势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800G AEC</a:t>
            </a:r>
            <a:r>
              <a:rPr lang="zh-CN" altLang="en-US" dirty="0"/>
              <a:t> </a:t>
            </a:r>
            <a:r>
              <a:rPr lang="en-US" altLang="zh-CN" dirty="0"/>
              <a:t>10W</a:t>
            </a:r>
            <a:r>
              <a:rPr lang="zh-CN" altLang="en-US" dirty="0"/>
              <a:t>（</a:t>
            </a:r>
            <a:r>
              <a:rPr lang="en-US" altLang="zh-CN" dirty="0"/>
              <a:t>5m</a:t>
            </a:r>
            <a:r>
              <a:rPr lang="zh-CN" altLang="en-US" dirty="0"/>
              <a:t>），</a:t>
            </a:r>
            <a:r>
              <a:rPr lang="en-US" altLang="zh-CN" dirty="0"/>
              <a:t>5W</a:t>
            </a:r>
            <a:r>
              <a:rPr lang="zh-CN" altLang="en-US" dirty="0"/>
              <a:t>有可能是</a:t>
            </a:r>
            <a:r>
              <a:rPr lang="en-US" altLang="zh-CN" dirty="0"/>
              <a:t>half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单模是未来趋势，多模速率难提升（</a:t>
            </a:r>
            <a:r>
              <a:rPr lang="en-US" altLang="zh-CN" dirty="0"/>
              <a:t>224G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功耗测算逻辑：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9216 GPU -&gt; 9216 800G</a:t>
            </a:r>
            <a:r>
              <a:rPr lang="zh-CN" altLang="en-US" dirty="0"/>
              <a:t>光模块 </a:t>
            </a:r>
            <a:r>
              <a:rPr lang="en-US" altLang="zh-CN" dirty="0"/>
              <a:t>+ 14400 1.6T</a:t>
            </a:r>
            <a:r>
              <a:rPr lang="zh-CN" altLang="en-US" dirty="0"/>
              <a:t>光模块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光模块</a:t>
            </a:r>
            <a:r>
              <a:rPr lang="en-US" altLang="zh-CN" dirty="0"/>
              <a:t>-&gt;CPO</a:t>
            </a:r>
            <a:r>
              <a:rPr lang="zh-CN" altLang="en-US" dirty="0"/>
              <a:t>的系统级功耗节约（考虑交换机）：</a:t>
            </a:r>
            <a:r>
              <a:rPr lang="en-US" altLang="zh-CN" dirty="0"/>
              <a:t>800G 22W</a:t>
            </a:r>
            <a:r>
              <a:rPr lang="zh-CN" altLang="en-US" dirty="0"/>
              <a:t>，</a:t>
            </a:r>
            <a:r>
              <a:rPr lang="en-US" altLang="zh-CN" dirty="0"/>
              <a:t>1.6T 48W </a:t>
            </a:r>
            <a:r>
              <a:rPr lang="zh-CN" altLang="en-US" dirty="0"/>
              <a:t>（）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总功耗节约：</a:t>
            </a:r>
            <a:r>
              <a:rPr lang="en-US" altLang="zh-CN" dirty="0"/>
              <a:t>900 kW</a:t>
            </a:r>
          </a:p>
          <a:p>
            <a:pPr marL="0" indent="0">
              <a:buNone/>
            </a:pPr>
            <a:r>
              <a:rPr lang="zh-CN" altLang="en-US" dirty="0"/>
              <a:t>年电费节约：</a:t>
            </a:r>
            <a:r>
              <a:rPr lang="en-US" altLang="zh-CN" dirty="0"/>
              <a:t>5.5 </a:t>
            </a:r>
            <a:r>
              <a:rPr lang="en-US" altLang="zh-CN" dirty="0" err="1"/>
              <a:t>mn</a:t>
            </a:r>
            <a:r>
              <a:rPr lang="en-US" altLang="zh-CN" dirty="0"/>
              <a:t> RMB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7772400" imgH="10058400" progId="TCLayout.ActiveDocument.1">
                  <p:embed/>
                </p:oleObj>
              </mc:Choice>
              <mc:Fallback>
                <p:oleObj name="think-cell 幻灯片" r:id="rId12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5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9" r:id="rId8"/>
    <p:sldLayoutId id="2147483660" r:id="rId9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5.jpeg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chart" Target="../charts/chart1.xml"/><Relationship Id="rId17" Type="http://schemas.openxmlformats.org/officeDocument/2006/relationships/image" Target="../media/image8.jpeg"/><Relationship Id="rId2" Type="http://schemas.openxmlformats.org/officeDocument/2006/relationships/tags" Target="../tags/tag4.xml"/><Relationship Id="rId16" Type="http://schemas.microsoft.com/office/2007/relationships/hdphoto" Target="../media/hdphoto1.wdp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image" Target="../media/image4.emf"/><Relationship Id="rId5" Type="http://schemas.openxmlformats.org/officeDocument/2006/relationships/tags" Target="../tags/tag7.xml"/><Relationship Id="rId15" Type="http://schemas.openxmlformats.org/officeDocument/2006/relationships/image" Target="../media/image7.png"/><Relationship Id="rId10" Type="http://schemas.openxmlformats.org/officeDocument/2006/relationships/oleObject" Target="../embeddings/oleObject2.bin"/><Relationship Id="rId4" Type="http://schemas.openxmlformats.org/officeDocument/2006/relationships/tags" Target="../tags/tag6.xml"/><Relationship Id="rId9" Type="http://schemas.openxmlformats.org/officeDocument/2006/relationships/notesSlide" Target="../notesSlides/notesSlide1.xml"/><Relationship Id="rId1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6601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8134350" y="1131887"/>
            <a:ext cx="3489076" cy="4533900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5733188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 Broadcom.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8349970" y="1354395"/>
            <a:ext cx="3146070" cy="30019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50%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power consumption increase,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~40%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system-level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5- </a:t>
            </a:r>
            <a:r>
              <a:rPr kumimoji="1"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21" name="Chart 3">
            <a:extLst>
              <a:ext uri="{FF2B5EF4-FFF2-40B4-BE49-F238E27FC236}">
                <a16:creationId xmlns:a16="http://schemas.microsoft.com/office/drawing/2014/main" id="{16D727F9-A939-883A-6F2F-1F74E16EE74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273842"/>
              </p:ext>
            </p:extLst>
          </p:nvPr>
        </p:nvGraphicFramePr>
        <p:xfrm>
          <a:off x="1641475" y="1776413"/>
          <a:ext cx="37211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6C207414-8AE3-9784-EF1C-BF41CCA361F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468938" y="4262438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81F127A-4CD7-4BA2-AE8F-D2A3D7448094}" type="datetime'P''''''''''''''''''''''''''''''O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DCD97CB7-F89E-1C03-7660-C6D9621BADD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468938" y="5038725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90D8F29-B490-4BBF-83C4-E9BC72CFCAE0}" type="datetime'''''''''''''''''''CP''''''''''''''''O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7390EFEA-FCAB-1BA9-DFE5-38B71D2AD22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2181225" y="2679700"/>
            <a:ext cx="581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&lt; 0.1</a:t>
            </a:r>
            <a:endParaRPr lang="zh-CN" altLang="en-US" sz="1800" dirty="0">
              <a:cs typeface="+mn-cs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88976" y="1641475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5986117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The transmission reach of DAC is less than 2 meters. AEC integrates signal enhancement chips (re-timer) to extend the reach (5 meters) using more power.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Consider GB200 NVL72 cluster with 9,216 B200 GPUs with 2-layer interconnect.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3: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At the 2025 Optica Executive Forum held in March, Broadcom demonstrated power savings of CPO in full 64-port system tests.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498527" y="113982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529616" y="4087814"/>
            <a:ext cx="916597" cy="144462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529616" y="2422525"/>
            <a:ext cx="916597" cy="148113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≤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 rot="16200000">
            <a:off x="877888" y="3005138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813" y="3408363"/>
            <a:ext cx="502071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6823890" y="4184650"/>
            <a:ext cx="627695" cy="3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2581" y="4962525"/>
            <a:ext cx="389300" cy="37465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506337-6F5A-448F-7CA9-0E1DAE97AA45}"/>
              </a:ext>
            </a:extLst>
          </p:cNvPr>
          <p:cNvCxnSpPr>
            <a:cxnSpLocks/>
          </p:cNvCxnSpPr>
          <p:nvPr/>
        </p:nvCxnSpPr>
        <p:spPr>
          <a:xfrm>
            <a:off x="529616" y="3997325"/>
            <a:ext cx="7088797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image-20250810150708856">
            <a:extLst>
              <a:ext uri="{FF2B5EF4-FFF2-40B4-BE49-F238E27FC236}">
                <a16:creationId xmlns:a16="http://schemas.microsoft.com/office/drawing/2014/main" id="{06453414-A956-66C2-0EA9-8660DF9A2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6837702" y="2643188"/>
            <a:ext cx="598515" cy="37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文本框 128">
            <a:extLst>
              <a:ext uri="{FF2B5EF4-FFF2-40B4-BE49-F238E27FC236}">
                <a16:creationId xmlns:a16="http://schemas.microsoft.com/office/drawing/2014/main" id="{6A55DB69-2315-DC0C-0F72-6F463A428652}"/>
              </a:ext>
            </a:extLst>
          </p:cNvPr>
          <p:cNvSpPr txBox="1"/>
          <p:nvPr/>
        </p:nvSpPr>
        <p:spPr>
          <a:xfrm rot="16200000">
            <a:off x="876300" y="4608513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Optical</a:t>
            </a:r>
          </a:p>
        </p:txBody>
      </p:sp>
      <p:cxnSp>
        <p:nvCxnSpPr>
          <p:cNvPr id="132" name="Straight Connector 69">
            <a:extLst>
              <a:ext uri="{FF2B5EF4-FFF2-40B4-BE49-F238E27FC236}">
                <a16:creationId xmlns:a16="http://schemas.microsoft.com/office/drawing/2014/main" id="{DA1D4792-B452-63E4-15AE-20E2A4F53BBC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488976" y="1482724"/>
            <a:ext cx="7129437" cy="3810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D8220F0-D202-A023-62EA-C0E8010DCB57}"/>
              </a:ext>
            </a:extLst>
          </p:cNvPr>
          <p:cNvSpPr txBox="1"/>
          <p:nvPr/>
        </p:nvSpPr>
        <p:spPr>
          <a:xfrm>
            <a:off x="5349571" y="2422525"/>
            <a:ext cx="176248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Direct Attach Copper Cable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(DAC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3F2AC22-96D4-B524-69A6-CE2E4B53E6D4}"/>
              </a:ext>
            </a:extLst>
          </p:cNvPr>
          <p:cNvSpPr txBox="1"/>
          <p:nvPr/>
        </p:nvSpPr>
        <p:spPr>
          <a:xfrm>
            <a:off x="5349571" y="3195638"/>
            <a:ext cx="149594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Active Electrical Cable </a:t>
            </a:r>
          </a:p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(AEC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13699F08-5D91-DD3F-9CA1-B7415640E91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E3FE933C-6D7A-0C8D-0189-3B6563776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C2C07A80-BCBF-A854-73A8-4C9A3CCB9B28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FBFD3182-542B-D39D-4AD5-70ED32BD33C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00FD3751-AC63-A9B2-DE58-5F6177CB6276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6E875E7-B63C-28F9-E4CE-F32E3F7453E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D1B3DED3-5BE5-74D8-CEFF-38866F57C4C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26D1C861-3DED-3344-288B-FE92786B39ED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A0A75861-8016-56BE-3EA5-ACE100B1B54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power issue in the copper-to-optical migration is cut significantly by CPO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58946765093549302605E+00&quot;&gt;&lt;m_msothmcolidx val=&quot;0&quot;/&gt;&lt;m_rgb r=&quot;00&quot; g=&quot;52&quot; b=&quot;D9&quot;/&gt;&lt;/elem&gt;&lt;elem m_fUsage=&quot;2.88523421035825233805E-01&quot;&gt;&lt;m_msothmcolidx val=&quot;0&quot;/&gt;&lt;m_rgb r=&quot;C1&quot; g=&quot;E1&quot; b=&quot;FE&quot;/&gt;&lt;/elem&gt;&lt;elem m_fUsage=&quot;2.50315550499324440681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AeVIIhGnBjlN5lZ10SA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D5RxkP25tVVDTHH2b9w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0xe_u31lUImfj5d6dRj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52142</TotalTime>
  <Words>292</Words>
  <Application>Microsoft Office PowerPoint</Application>
  <PresentationFormat>宽屏</PresentationFormat>
  <Paragraphs>43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微软雅黑</vt:lpstr>
      <vt:lpstr>Arial</vt:lpstr>
      <vt:lpstr>Georgia</vt:lpstr>
      <vt:lpstr>Segoe UI</vt:lpstr>
      <vt:lpstr>Wingdings</vt:lpstr>
      <vt:lpstr>1_White</vt:lpstr>
      <vt:lpstr>think-cell 幻灯片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6044</cp:revision>
  <dcterms:created xsi:type="dcterms:W3CDTF">2025-06-16T21:28:33Z</dcterms:created>
  <dcterms:modified xsi:type="dcterms:W3CDTF">2025-10-17T03:34:44Z</dcterms:modified>
</cp:coreProperties>
</file>