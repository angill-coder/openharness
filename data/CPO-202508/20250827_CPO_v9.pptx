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6.xml" ContentType="application/vnd.openxmlformats-officedocument.presentationml.notesSlide+xml"/>
  <Override PartName="/ppt/tags/tag63.xml" ContentType="application/vnd.openxmlformats-officedocument.presentationml.tags+xml"/>
  <Override PartName="/ppt/notesSlides/notesSlide7.xml" ContentType="application/vnd.openxmlformats-officedocument.presentationml.notesSlide+xml"/>
  <Override PartName="/ppt/tags/tag64.xml" ContentType="application/vnd.openxmlformats-officedocument.presentationml.tags+xml"/>
  <Override PartName="/ppt/notesSlides/notesSlide8.xml" ContentType="application/vnd.openxmlformats-officedocument.presentationml.notesSlide+xml"/>
  <Override PartName="/ppt/tags/tag65.xml" ContentType="application/vnd.openxmlformats-officedocument.presentationml.tags+xml"/>
  <Override PartName="/ppt/notesSlides/notesSlide9.xml" ContentType="application/vnd.openxmlformats-officedocument.presentationml.notesSlide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notesSlides/notesSlide10.xml" ContentType="application/vnd.openxmlformats-officedocument.presentationml.notesSlide+xml"/>
  <Override PartName="/ppt/tags/tag68.xml" ContentType="application/vnd.openxmlformats-officedocument.presentationml.tags+xml"/>
  <Override PartName="/ppt/notesSlides/notesSlide11.xml" ContentType="application/vnd.openxmlformats-officedocument.presentationml.notesSlide+xml"/>
  <Override PartName="/ppt/tags/tag69.xml" ContentType="application/vnd.openxmlformats-officedocument.presentationml.tags+xml"/>
  <Override PartName="/ppt/notesSlides/notesSlide12.xml" ContentType="application/vnd.openxmlformats-officedocument.presentationml.notesSlide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13.xml" ContentType="application/vnd.openxmlformats-officedocument.presentationml.notesSlide+xml"/>
  <Override PartName="/ppt/tags/tag79.xml" ContentType="application/vnd.openxmlformats-officedocument.presentationml.tags+xml"/>
  <Override PartName="/ppt/notesSlides/notesSlide14.xml" ContentType="application/vnd.openxmlformats-officedocument.presentationml.notesSlide+xml"/>
  <Override PartName="/ppt/charts/chart6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7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8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9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notesSlides/notesSlide15.xml" ContentType="application/vnd.openxmlformats-officedocument.presentationml.notesSlide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336" r:id="rId3"/>
    <p:sldId id="338" r:id="rId4"/>
    <p:sldId id="332" r:id="rId5"/>
    <p:sldId id="319" r:id="rId6"/>
    <p:sldId id="321" r:id="rId7"/>
    <p:sldId id="317" r:id="rId8"/>
    <p:sldId id="334" r:id="rId9"/>
    <p:sldId id="339" r:id="rId10"/>
    <p:sldId id="320" r:id="rId11"/>
    <p:sldId id="313" r:id="rId12"/>
    <p:sldId id="335" r:id="rId13"/>
    <p:sldId id="326" r:id="rId14"/>
    <p:sldId id="315" r:id="rId15"/>
    <p:sldId id="341" r:id="rId16"/>
    <p:sldId id="327" r:id="rId17"/>
    <p:sldId id="328" r:id="rId18"/>
    <p:sldId id="331" r:id="rId19"/>
    <p:sldId id="322" r:id="rId20"/>
    <p:sldId id="283" r:id="rId21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39A09C8-330C-4419-85BC-2F9D711F0A78}">
          <p14:sldIdLst>
            <p14:sldId id="256"/>
            <p14:sldId id="336"/>
            <p14:sldId id="338"/>
            <p14:sldId id="332"/>
            <p14:sldId id="319"/>
            <p14:sldId id="321"/>
            <p14:sldId id="317"/>
            <p14:sldId id="334"/>
            <p14:sldId id="339"/>
            <p14:sldId id="320"/>
            <p14:sldId id="313"/>
            <p14:sldId id="335"/>
            <p14:sldId id="326"/>
            <p14:sldId id="315"/>
            <p14:sldId id="341"/>
            <p14:sldId id="327"/>
            <p14:sldId id="328"/>
            <p14:sldId id="331"/>
            <p14:sldId id="32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2D9"/>
    <a:srgbClr val="0365C0"/>
    <a:srgbClr val="8C929A"/>
    <a:srgbClr val="C2C5C9"/>
    <a:srgbClr val="FF7201"/>
    <a:srgbClr val="FFFFFF"/>
    <a:srgbClr val="DCDEE0"/>
    <a:srgbClr val="EBF1FF"/>
    <a:srgbClr val="DDE3F1"/>
    <a:srgbClr val="EEF1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89" autoAdjust="0"/>
    <p:restoredTop sz="92207" autoAdjust="0"/>
  </p:normalViewPr>
  <p:slideViewPr>
    <p:cSldViewPr snapToGrid="0">
      <p:cViewPr>
        <p:scale>
          <a:sx n="66" d="100"/>
          <a:sy n="66" d="100"/>
        </p:scale>
        <p:origin x="271" y="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算力与传输速率!$M$2</c:f>
              <c:strCache>
                <c:ptCount val="1"/>
                <c:pt idx="0">
                  <c:v>每line速率（Gbps）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算力与传输速率!$L$3:$L$6</c:f>
              <c:numCache>
                <c:formatCode>General</c:formatCode>
                <c:ptCount val="4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</c:numCache>
            </c:numRef>
          </c:cat>
          <c:val>
            <c:numRef>
              <c:f>算力与传输速率!$M$3:$M$6</c:f>
              <c:numCache>
                <c:formatCode>General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200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86B-426D-8E47-AA62801BCE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64581919"/>
        <c:axId val="964586239"/>
      </c:lineChart>
      <c:catAx>
        <c:axId val="9645819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964586239"/>
        <c:crosses val="autoZero"/>
        <c:auto val="1"/>
        <c:lblAlgn val="ctr"/>
        <c:lblOffset val="100"/>
        <c:noMultiLvlLbl val="0"/>
      </c:catAx>
      <c:valAx>
        <c:axId val="964586239"/>
        <c:scaling>
          <c:logBase val="2"/>
          <c:orientation val="minMax"/>
          <c:max val="1600"/>
          <c:min val="25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9645819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7181186613901992"/>
          <c:y val="0.88719030460072612"/>
          <c:w val="0.51716575965549116"/>
          <c:h val="7.364454701269956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为什么要看互连!$J$2</c:f>
              <c:strCache>
                <c:ptCount val="1"/>
                <c:pt idx="0">
                  <c:v>推理算力</c:v>
                </c:pt>
              </c:strCache>
            </c:strRef>
          </c:tx>
          <c:spPr>
            <a:ln w="28575" cap="rnd">
              <a:solidFill>
                <a:srgbClr val="A6A6A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A6A6A6"/>
              </a:solidFill>
              <a:ln w="9525">
                <a:solidFill>
                  <a:srgbClr val="A6A6A6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为什么要看互连!$K$2:$O$2</c:f>
              <c:numCache>
                <c:formatCode>General</c:formatCode>
                <c:ptCount val="5"/>
                <c:pt idx="0">
                  <c:v>19</c:v>
                </c:pt>
                <c:pt idx="1">
                  <c:v>130</c:v>
                </c:pt>
                <c:pt idx="2">
                  <c:v>620</c:v>
                </c:pt>
                <c:pt idx="3">
                  <c:v>4000</c:v>
                </c:pt>
                <c:pt idx="4">
                  <c:v>20000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BCF-42DE-BB37-8C72B62C3948}"/>
            </c:ext>
          </c:extLst>
        </c:ser>
        <c:ser>
          <c:idx val="1"/>
          <c:order val="1"/>
          <c:tx>
            <c:strRef>
              <c:f>为什么要看互连!$J$3</c:f>
              <c:strCache>
                <c:ptCount val="1"/>
                <c:pt idx="0">
                  <c:v>训练算力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rgbClr val="C1E1FE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为什么要看互连!$K$3:$O$3</c:f>
              <c:numCache>
                <c:formatCode>General</c:formatCode>
                <c:ptCount val="5"/>
                <c:pt idx="2">
                  <c:v>620</c:v>
                </c:pt>
                <c:pt idx="3">
                  <c:v>1987.1794871794871</c:v>
                </c:pt>
                <c:pt idx="4">
                  <c:v>3477.5641025641025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BCF-42DE-BB37-8C72B62C3948}"/>
            </c:ext>
          </c:extLst>
        </c:ser>
        <c:ser>
          <c:idx val="2"/>
          <c:order val="2"/>
          <c:tx>
            <c:strRef>
              <c:f>为什么要看互连!$J$4</c:f>
              <c:strCache>
                <c:ptCount val="1"/>
                <c:pt idx="0">
                  <c:v>网络带宽</c:v>
                </c:pt>
              </c:strCache>
            </c:strRef>
          </c:tx>
          <c:spPr>
            <a:ln w="28575" cap="rnd">
              <a:solidFill>
                <a:srgbClr val="0052D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52D9"/>
              </a:solidFill>
              <a:ln w="9525">
                <a:solidFill>
                  <a:srgbClr val="0052D9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为什么要看互连!$K$4:$O$4</c:f>
              <c:numCache>
                <c:formatCode>General</c:formatCode>
                <c:ptCount val="5"/>
                <c:pt idx="2">
                  <c:v>620</c:v>
                </c:pt>
                <c:pt idx="3">
                  <c:v>1240</c:v>
                </c:pt>
                <c:pt idx="4">
                  <c:v>2480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BCF-42DE-BB37-8C72B62C39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8269808"/>
        <c:axId val="278280848"/>
      </c:lineChart>
      <c:catAx>
        <c:axId val="278269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80848"/>
        <c:crosses val="autoZero"/>
        <c:auto val="1"/>
        <c:lblAlgn val="ctr"/>
        <c:lblOffset val="100"/>
        <c:noMultiLvlLbl val="0"/>
      </c:catAx>
      <c:valAx>
        <c:axId val="27828084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78269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8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速率与距离!$B$1</c:f>
              <c:strCache>
                <c:ptCount val="1"/>
                <c:pt idx="0">
                  <c:v>Maximum Reach(m)</c:v>
                </c:pt>
              </c:strCache>
            </c:strRef>
          </c:tx>
          <c:spPr>
            <a:ln w="19050" cap="rnd">
              <a:solidFill>
                <a:srgbClr val="0052D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rgbClr val="0052D9"/>
                </a:solidFill>
              </a:ln>
              <a:effectLst/>
            </c:spPr>
          </c:marker>
          <c:xVal>
            <c:numRef>
              <c:f>速率与距离!$A$2:$A$8</c:f>
              <c:numCache>
                <c:formatCode>General</c:formatCode>
                <c:ptCount val="7"/>
                <c:pt idx="0">
                  <c:v>1</c:v>
                </c:pt>
                <c:pt idx="1">
                  <c:v>10</c:v>
                </c:pt>
                <c:pt idx="2">
                  <c:v>25</c:v>
                </c:pt>
                <c:pt idx="3">
                  <c:v>50</c:v>
                </c:pt>
                <c:pt idx="4">
                  <c:v>100</c:v>
                </c:pt>
                <c:pt idx="5">
                  <c:v>200</c:v>
                </c:pt>
                <c:pt idx="6">
                  <c:v>400</c:v>
                </c:pt>
              </c:numCache>
            </c:numRef>
          </c:xVal>
          <c:yVal>
            <c:numRef>
              <c:f>速率与距离!$B$2:$B$8</c:f>
              <c:numCache>
                <c:formatCode>0</c:formatCode>
                <c:ptCount val="7"/>
                <c:pt idx="0">
                  <c:v>25.22727272727273</c:v>
                </c:pt>
                <c:pt idx="1">
                  <c:v>15.113636363636365</c:v>
                </c:pt>
                <c:pt idx="2">
                  <c:v>7.1590909090909092</c:v>
                </c:pt>
                <c:pt idx="3">
                  <c:v>5.1136363636363633</c:v>
                </c:pt>
                <c:pt idx="4">
                  <c:v>3.0681818181818183</c:v>
                </c:pt>
                <c:pt idx="5">
                  <c:v>2</c:v>
                </c:pt>
                <c:pt idx="6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F50-48D5-8E5C-85E65537BB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78292368"/>
        <c:axId val="278293328"/>
      </c:scatterChart>
      <c:valAx>
        <c:axId val="278292368"/>
        <c:scaling>
          <c:orientation val="minMax"/>
          <c:max val="40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93328"/>
        <c:crosses val="autoZero"/>
        <c:crossBetween val="midCat"/>
      </c:valAx>
      <c:valAx>
        <c:axId val="278293328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923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2110091743119266E-2"/>
          <c:y val="8.5526315789473686E-2"/>
          <c:w val="0.88880733944954127"/>
          <c:h val="0.8289473684210526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52D9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185F-48E6-B583-8D7ACAF5DEEF}"/>
              </c:ext>
            </c:extLst>
          </c:dPt>
          <c:val>
            <c:numRef>
              <c:f>Sheet1!$A$1:$C$1</c:f>
              <c:numCache>
                <c:formatCode>General</c:formatCode>
                <c:ptCount val="3"/>
                <c:pt idx="0">
                  <c:v>4</c:v>
                </c:pt>
                <c:pt idx="1">
                  <c:v>6.5</c:v>
                </c:pt>
                <c:pt idx="2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85F-48E6-B583-8D7ACAF5DE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923044000"/>
        <c:axId val="1"/>
      </c:barChart>
      <c:catAx>
        <c:axId val="923044000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7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23044000"/>
        <c:crosses val="min"/>
        <c:crossBetween val="between"/>
        <c:majorUnit val="1"/>
      </c:valAx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5522388059701492"/>
          <c:y val="0.11201392919326755"/>
          <c:w val="0.82752902155887231"/>
          <c:h val="0.77597214161346484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6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845618107951247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F2F2-4FF3-8C8F-AB1F24AB3604}"/>
                </c:ext>
              </c:extLst>
            </c:dLbl>
            <c:dLbl>
              <c:idx val="1"/>
              <c:layout>
                <c:manualLayout>
                  <c:x val="0"/>
                  <c:y val="-0.3917585606500290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F2F2-4FF3-8C8F-AB1F24AB360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351.57831325301203</c:v>
                </c:pt>
                <c:pt idx="1">
                  <c:v>886.37349397590367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2F2-4FF3-8C8F-AB1F24AB3604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F2F2-4FF3-8C8F-AB1F24AB3604}"/>
              </c:ext>
            </c:extLst>
          </c:dPt>
          <c:dLbls>
            <c:dLbl>
              <c:idx val="0"/>
              <c:layout>
                <c:manualLayout>
                  <c:x val="0"/>
                  <c:y val="9.866511897852581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F2F2-4FF3-8C8F-AB1F24AB3604}"/>
                </c:ext>
              </c:extLst>
            </c:dLbl>
            <c:dLbl>
              <c:idx val="1"/>
              <c:layout>
                <c:manualLayout>
                  <c:x val="0"/>
                  <c:y val="-4.2367962855484623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F2F2-4FF3-8C8F-AB1F24AB360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0">
                  <c:v>3.5157831325301205</c:v>
                </c:pt>
                <c:pt idx="1">
                  <c:v>70.909879518072302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2F2-4FF3-8C8F-AB1F24AB36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374070096"/>
        <c:axId val="1"/>
      </c:barChart>
      <c:lineChart>
        <c:grouping val="standard"/>
        <c:varyColors val="0"/>
        <c:ser>
          <c:idx val="2"/>
          <c:order val="2"/>
          <c:spPr>
            <a:ln w="28575" cmpd="sng" algn="ctr">
              <a:solidFill>
                <a:schemeClr val="accent5"/>
              </a:solidFill>
              <a:prstDash val="solid"/>
            </a:ln>
          </c:spPr>
          <c:marker>
            <c:symbol val="none"/>
          </c:marker>
          <c:val>
            <c:numRef>
              <c:f>Sheet1!$A$3:$B$3</c:f>
              <c:numCache>
                <c:formatCode>General</c:formatCode>
                <c:ptCount val="2"/>
                <c:pt idx="0">
                  <c:v>0.01</c:v>
                </c:pt>
                <c:pt idx="1">
                  <c:v>0.08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F2F2-4FF3-8C8F-AB1F24AB36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"/>
        <c:axId val="3"/>
      </c:lineChart>
      <c:catAx>
        <c:axId val="37407009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74070096"/>
        <c:crosses val="min"/>
        <c:crossBetween val="between"/>
        <c:majorUnit val="200"/>
      </c:valAx>
      <c:catAx>
        <c:axId val="2"/>
        <c:scaling>
          <c:orientation val="minMax"/>
        </c:scaling>
        <c:delete val="1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0.1"/>
          <c:min val="0"/>
        </c:scaling>
        <c:delete val="0"/>
        <c:axPos val="r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2"/>
        <c:crosses val="max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explosion val="11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E01-4CD0-973A-EB20BFE7C550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E01-4CD0-973A-EB20BFE7C550}"/>
              </c:ext>
            </c:extLst>
          </c:dPt>
          <c:dLbls>
            <c:dLbl>
              <c:idx val="0"/>
              <c:layout>
                <c:manualLayout>
                  <c:x val="0.45181605359569404"/>
                  <c:y val="-9.285743608797138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017024892085929"/>
                      <c:h val="0.1816875985100082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0E01-4CD0-973A-EB20BFE7C550}"/>
                </c:ext>
              </c:extLst>
            </c:dLbl>
            <c:dLbl>
              <c:idx val="1"/>
              <c:layout>
                <c:manualLayout>
                  <c:x val="-0.19933061188045326"/>
                  <c:y val="0.21063196930447839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400" b="0" i="0" u="none" strike="noStrike" kern="1200" baseline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ea"/>
                        <a:sym typeface="+mn-lt"/>
                      </a:defRPr>
                    </a:pPr>
                    <a:fld id="{4F0BB2E3-0575-467F-A8A3-AA53A14E4342}" type="VALUE">
                      <a:rPr lang="en-US" altLang="zh-CN" sz="1400">
                        <a:solidFill>
                          <a:schemeClr val="bg1">
                            <a:lumMod val="50000"/>
                          </a:schemeClr>
                        </a:solidFill>
                      </a:rPr>
                      <a:pPr>
                        <a:defRPr sz="1400">
                          <a:solidFill>
                            <a:schemeClr val="bg1">
                              <a:lumMod val="50000"/>
                            </a:schemeClr>
                          </a:solidFill>
                        </a:defRPr>
                      </a:pPr>
                      <a:t>[值]</a:t>
                    </a:fld>
                    <a:endParaRPr lang="zh-CN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 altLang="en-US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3332507875564682"/>
                      <c:h val="0.18563732891239976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0E01-4CD0-973A-EB20BFE7C55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Ficontec!$A$2:$A$3</c:f>
              <c:strCache>
                <c:ptCount val="2"/>
                <c:pt idx="0">
                  <c:v>微组装</c:v>
                </c:pt>
                <c:pt idx="1">
                  <c:v>自动化测试</c:v>
                </c:pt>
              </c:strCache>
            </c:strRef>
          </c:cat>
          <c:val>
            <c:numRef>
              <c:f>Ficontec!$B$2:$B$3</c:f>
              <c:numCache>
                <c:formatCode>0.00%</c:formatCode>
                <c:ptCount val="2"/>
                <c:pt idx="0">
                  <c:v>0.78290000000000004</c:v>
                </c:pt>
                <c:pt idx="1">
                  <c:v>0.21709999999999996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E01-4CD0-973A-EB20BFE7C550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9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Ficontec!$E$8</c:f>
              <c:strCache>
                <c:ptCount val="1"/>
                <c:pt idx="0">
                  <c:v>营收（左）</c:v>
                </c:pt>
              </c:strCache>
            </c:strRef>
          </c:tx>
          <c:spPr>
            <a:solidFill>
              <a:srgbClr val="0052D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Ficontec!$F$8:$H$8</c:f>
              <c:numCache>
                <c:formatCode>General</c:formatCode>
                <c:ptCount val="3"/>
                <c:pt idx="0">
                  <c:v>2.79</c:v>
                </c:pt>
                <c:pt idx="1">
                  <c:v>2.87</c:v>
                </c:pt>
                <c:pt idx="2">
                  <c:v>2.57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17-4999-A788-42C823432753}"/>
            </c:ext>
          </c:extLst>
        </c:ser>
        <c:ser>
          <c:idx val="2"/>
          <c:order val="2"/>
          <c:tx>
            <c:strRef>
              <c:f>Ficontec!$E$10</c:f>
              <c:strCache>
                <c:ptCount val="1"/>
                <c:pt idx="0">
                  <c:v>净利润（左）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7044761443574113E-2"/>
                  <c:y val="0.2383975604898250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317-4999-A788-42C823432753}"/>
                </c:ext>
              </c:extLst>
            </c:dLbl>
            <c:dLbl>
              <c:idx val="1"/>
              <c:layout>
                <c:manualLayout>
                  <c:x val="2.4068193831947745E-2"/>
                  <c:y val="0.2209549253792847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317-4999-A788-42C823432753}"/>
                </c:ext>
              </c:extLst>
            </c:dLbl>
            <c:dLbl>
              <c:idx val="2"/>
              <c:layout>
                <c:manualLayout>
                  <c:x val="3.0680387931092332E-2"/>
                  <c:y val="0.1671661812685744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317-4999-A788-42C82343275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Ficontec!$F$10:$H$10</c:f>
              <c:numCache>
                <c:formatCode>General</c:formatCode>
                <c:ptCount val="3"/>
                <c:pt idx="0">
                  <c:v>-0.57999999999999996</c:v>
                </c:pt>
                <c:pt idx="1">
                  <c:v>-0.22</c:v>
                </c:pt>
                <c:pt idx="2">
                  <c:v>-0.14000000000000001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317-4999-A788-42C8234327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279053040"/>
        <c:axId val="279052080"/>
      </c:barChart>
      <c:lineChart>
        <c:grouping val="standard"/>
        <c:varyColors val="0"/>
        <c:ser>
          <c:idx val="1"/>
          <c:order val="1"/>
          <c:tx>
            <c:strRef>
              <c:f>Ficontec!$E$9</c:f>
              <c:strCache>
                <c:ptCount val="1"/>
                <c:pt idx="0">
                  <c:v>毛利率（右）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Ficontec!$F$9:$H$9</c:f>
              <c:numCache>
                <c:formatCode>0%</c:formatCode>
                <c:ptCount val="3"/>
                <c:pt idx="0">
                  <c:v>0.34399999999999997</c:v>
                </c:pt>
                <c:pt idx="1">
                  <c:v>0.41599999999999998</c:v>
                </c:pt>
                <c:pt idx="2">
                  <c:v>0.40200000000000002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317-4999-A788-42C8234327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8411808"/>
        <c:axId val="2098409408"/>
      </c:lineChart>
      <c:catAx>
        <c:axId val="279053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9052080"/>
        <c:crosses val="autoZero"/>
        <c:auto val="1"/>
        <c:lblAlgn val="ctr"/>
        <c:lblOffset val="100"/>
        <c:noMultiLvlLbl val="0"/>
      </c:catAx>
      <c:valAx>
        <c:axId val="2790520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9053040"/>
        <c:crosses val="autoZero"/>
        <c:crossBetween val="between"/>
      </c:valAx>
      <c:valAx>
        <c:axId val="2098409408"/>
        <c:scaling>
          <c:orientation val="minMax"/>
          <c:max val="0.5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098411808"/>
        <c:crosses val="max"/>
        <c:crossBetween val="between"/>
      </c:valAx>
      <c:catAx>
        <c:axId val="20984118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9840940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3397209602633906"/>
          <c:y val="0.20277245578292413"/>
          <c:w val="0.26602790397366088"/>
          <c:h val="0.594454279005276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solidFill>
              <a:schemeClr val="accent6"/>
            </a:solidFill>
          </c:spPr>
          <c:dPt>
            <c:idx val="0"/>
            <c:bubble3D val="0"/>
            <c:explosion val="9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199-495D-97DB-D08FE0B5DAB2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199-495D-97DB-D08FE0B5DAB2}"/>
              </c:ext>
            </c:extLst>
          </c:dPt>
          <c:dLbls>
            <c:dLbl>
              <c:idx val="0"/>
              <c:layout>
                <c:manualLayout>
                  <c:x val="-0.18208374909235203"/>
                  <c:y val="6.411521097721374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199-495D-97DB-D08FE0B5DAB2}"/>
                </c:ext>
              </c:extLst>
            </c:dLbl>
            <c:dLbl>
              <c:idx val="1"/>
              <c:layout>
                <c:manualLayout>
                  <c:x val="0.21953623863801"/>
                  <c:y val="-2.7580147981129104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199-495D-97DB-D08FE0B5DAB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Ficontec!$K$2:$K$3</c:f>
              <c:strCache>
                <c:ptCount val="2"/>
                <c:pt idx="0">
                  <c:v>前五大客户</c:v>
                </c:pt>
                <c:pt idx="1">
                  <c:v>其他</c:v>
                </c:pt>
              </c:strCache>
            </c:strRef>
          </c:cat>
          <c:val>
            <c:numRef>
              <c:f>Ficontec!$L$2:$L$3</c:f>
              <c:numCache>
                <c:formatCode>0%</c:formatCode>
                <c:ptCount val="2"/>
                <c:pt idx="0">
                  <c:v>0.42</c:v>
                </c:pt>
                <c:pt idx="1">
                  <c:v>0.58000000000000007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199-495D-97DB-D08FE0B5DAB2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solidFill>
              <a:srgbClr val="0052D9"/>
            </a:solidFill>
          </c:spPr>
          <c:dPt>
            <c:idx val="0"/>
            <c:bubble3D val="0"/>
            <c:explosion val="8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504-412D-B844-C5F261DCD04A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504-412D-B844-C5F261DCD04A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7504-412D-B844-C5F261DCD04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Ficontec!$O$2:$O$3</c:f>
              <c:strCache>
                <c:ptCount val="2"/>
                <c:pt idx="0">
                  <c:v>Tech Group AS</c:v>
                </c:pt>
                <c:pt idx="1">
                  <c:v>其他</c:v>
                </c:pt>
              </c:strCache>
            </c:strRef>
          </c:cat>
          <c:val>
            <c:numRef>
              <c:f>Ficontec!$P$2:$P$3</c:f>
              <c:numCache>
                <c:formatCode>0%</c:formatCode>
                <c:ptCount val="2"/>
                <c:pt idx="0">
                  <c:v>0.38</c:v>
                </c:pt>
                <c:pt idx="1">
                  <c:v>0.62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504-412D-B844-C5F261DCD04A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E122AA-3DD6-491B-8E01-9C859ED232BE}" type="datetimeFigureOut">
              <a:rPr lang="zh-CN" altLang="en-US" smtClean="0"/>
              <a:t>2025/9/1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132800-FE64-4159-8F62-EF1F0A4E3E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光互连及</a:t>
            </a:r>
            <a:r>
              <a:rPr lang="en-US" altLang="zh-CN" dirty="0"/>
              <a:t>CPO</a:t>
            </a:r>
            <a:r>
              <a:rPr lang="zh-CN" altLang="en-US" dirty="0"/>
              <a:t>是什么、为什么重要？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en-US" altLang="zh-CN" dirty="0"/>
              <a:t>CPO</a:t>
            </a:r>
            <a:r>
              <a:rPr lang="zh-CN" altLang="en-US" dirty="0"/>
              <a:t>及</a:t>
            </a:r>
            <a:r>
              <a:rPr lang="en-US" altLang="zh-CN" dirty="0"/>
              <a:t>OIO</a:t>
            </a:r>
            <a:r>
              <a:rPr lang="zh-CN" altLang="en-US" dirty="0"/>
              <a:t>市场怎么样，会有什么公司机会？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164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CN" altLang="en-US" dirty="0"/>
              <a:t>为了解决互连难题，过去出现了四条技术路线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四种技术是并行的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为了支撑传输速率从</a:t>
            </a:r>
            <a:r>
              <a:rPr lang="en-US" altLang="zh-CN" dirty="0"/>
              <a:t>Gbps</a:t>
            </a:r>
            <a:r>
              <a:rPr lang="zh-CN" altLang="en-US" dirty="0"/>
              <a:t>到</a:t>
            </a:r>
            <a:r>
              <a:rPr lang="en-US" altLang="zh-CN" dirty="0" err="1"/>
              <a:t>Tbps</a:t>
            </a:r>
            <a:r>
              <a:rPr lang="zh-CN" altLang="en-US" dirty="0"/>
              <a:t>，每种技术不断发展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铜和可插拔光模块共存了很长一段时间，未来铜互联、可插拔光模块、</a:t>
            </a:r>
            <a:r>
              <a:rPr lang="en-US" altLang="zh-CN" dirty="0"/>
              <a:t>CPO</a:t>
            </a:r>
            <a:r>
              <a:rPr lang="zh-CN" altLang="en-US" dirty="0"/>
              <a:t>仍将共存一段时间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33387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0B92A-CB33-6FE2-407B-3FFF235C8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29F6CED-1DE0-E8D1-0A63-DDECE26501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CEA3C55-893B-8D30-9C4C-225BF0FEA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CN" altLang="en-US" dirty="0"/>
              <a:t>上述技术路线如何解决三大难题？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光解决速率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en-US" altLang="zh-CN" dirty="0"/>
              <a:t>CPO</a:t>
            </a:r>
            <a:r>
              <a:rPr lang="zh-CN" altLang="en-US" dirty="0"/>
              <a:t>解决功耗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2AD1F1-F583-3E7F-815D-1E99659490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26825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altLang="zh-CN" dirty="0"/>
              <a:t>IDC</a:t>
            </a:r>
            <a:r>
              <a:rPr lang="zh-CN" altLang="en-US" dirty="0"/>
              <a:t>的迅猛扩张，算力、卡数增长带来三大互联难题</a:t>
            </a:r>
            <a:endParaRPr lang="en-US" altLang="zh-CN" dirty="0"/>
          </a:p>
          <a:p>
            <a:pPr marL="228600" indent="-228600">
              <a:buAutoNum type="arabicPeriod"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837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AB9F2-4393-7A21-C03B-ECDA81CC9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AD0FC4-7D3E-F1A8-1B29-D1388CEEC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92472D-0B08-14B0-CBDC-81D348F029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CN" altLang="en-US" dirty="0"/>
              <a:t>上述技术路线如何解决三大难题？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光解决速率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en-US" altLang="zh-CN" dirty="0"/>
              <a:t>CPO</a:t>
            </a:r>
            <a:r>
              <a:rPr lang="zh-CN" altLang="en-US" dirty="0"/>
              <a:t>解决功耗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615051-E466-499A-DC21-BB2A80CF72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6433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CN" altLang="en-US" dirty="0"/>
              <a:t>光互连大势所趋，开始详细讲光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宏观视角，光的三种技术路径的差异，以及当前所处阶段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差异：连接距离，速率上限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阶段：规模看市场成熟度，动向看商业化阶段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6866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讲完光的宏观，进入微观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en-US" altLang="zh-CN" dirty="0"/>
              <a:t>CPO</a:t>
            </a:r>
            <a:r>
              <a:rPr lang="zh-CN" altLang="en-US" dirty="0"/>
              <a:t>相比可插拔到底解决了什么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从图上看，拆分整合（光引擎、光源）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缩距降低功耗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拆分光源解决散热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7140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</a:rPr>
              <a:t>Serdes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</a:rPr>
              <a:t>：芯片中负责低速并行信号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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高速串行信号的模块，速率受限于芯片制程，影响互连带宽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sym typeface="Wingdings" panose="05000000000000000000" pitchFamily="2" charset="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Serdes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是高速率的源头，</a:t>
            </a:r>
            <a:r>
              <a:rPr kumimoji="1" lang="en-US" altLang="zh-CN" sz="1200" dirty="0" err="1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serdes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速率低则整体速率低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sym typeface="Wingdings" panose="05000000000000000000" pitchFamily="2" charset="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海外</a:t>
            </a:r>
            <a:r>
              <a:rPr kumimoji="1" lang="en-US" altLang="zh-CN" sz="1200" dirty="0" err="1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serdes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从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56=&gt;112=&gt;224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68503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85DC4-9F71-7029-88C9-5231930CF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5A44506-1A1E-4CD4-7D0C-26A26BE272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F59C66-A481-15B0-C4B1-7F35E9C9B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</a:rPr>
              <a:t>Serdes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</a:rPr>
              <a:t>：芯片中负责低速并行信号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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高速串行信号的模块，速率受限于芯片制程，影响互连带宽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sym typeface="Wingdings" panose="05000000000000000000" pitchFamily="2" charset="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Serdes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是高速率的源头，</a:t>
            </a:r>
            <a:r>
              <a:rPr kumimoji="1" lang="en-US" altLang="zh-CN" sz="1200" dirty="0" err="1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serdes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速率低则整体速率低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sym typeface="Wingdings" panose="05000000000000000000" pitchFamily="2" charset="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海外</a:t>
            </a:r>
            <a:r>
              <a:rPr kumimoji="1" lang="en-US" altLang="zh-CN" sz="1200" dirty="0" err="1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serdes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从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56=&gt;112=&gt;224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50F25C-6548-447D-772B-4FC52E0DD5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9351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773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CN" altLang="en-US" dirty="0"/>
              <a:t>范式迁移下存在着变与不变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不变：三层对应关系不变，周边硬件等低附加值、接口芯片层、封装层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变：迁移过程中，新玩家涌入，投资关注点迁移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95062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altLang="zh-CN" dirty="0"/>
              <a:t>For</a:t>
            </a:r>
            <a:r>
              <a:rPr lang="zh-CN" altLang="en-US" dirty="0"/>
              <a:t>简单理解</a:t>
            </a:r>
            <a:r>
              <a:rPr lang="en-US" altLang="zh-CN" dirty="0"/>
              <a:t>CPO</a:t>
            </a:r>
            <a:r>
              <a:rPr lang="zh-CN" altLang="en-US" dirty="0"/>
              <a:t>关键环节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用跨语言通话理解：当我和一个说韩语的人打电话</a:t>
            </a:r>
            <a:endParaRPr lang="en-US" altLang="zh-CN" dirty="0"/>
          </a:p>
          <a:p>
            <a:pPr marL="685800" lvl="1" indent="-228600">
              <a:buAutoNum type="arabicPeriod"/>
            </a:pPr>
            <a:r>
              <a:rPr lang="zh-CN" altLang="en-US" dirty="0"/>
              <a:t>光纤：电话线</a:t>
            </a:r>
            <a:endParaRPr lang="en-US" altLang="zh-CN" dirty="0"/>
          </a:p>
          <a:p>
            <a:pPr marL="685800" lvl="1" indent="-228600">
              <a:buAutoNum type="arabicPeriod"/>
            </a:pPr>
            <a:r>
              <a:rPr lang="zh-CN" altLang="en-US" dirty="0"/>
              <a:t>激光器：喇叭。这俩没那么重要</a:t>
            </a:r>
            <a:endParaRPr lang="en-US" altLang="zh-CN" dirty="0"/>
          </a:p>
          <a:p>
            <a:pPr marL="685800" lvl="1" indent="-228600">
              <a:buAutoNum type="arabicPeriod"/>
            </a:pPr>
            <a:r>
              <a:rPr lang="zh-CN" altLang="en-US" dirty="0"/>
              <a:t>硅光：翻译官，光电互译</a:t>
            </a:r>
            <a:endParaRPr lang="en-US" altLang="zh-CN" dirty="0"/>
          </a:p>
          <a:p>
            <a:pPr marL="685800" lvl="1" indent="-228600">
              <a:buAutoNum type="arabicPeriod"/>
            </a:pPr>
            <a:r>
              <a:rPr lang="zh-CN" altLang="en-US" dirty="0"/>
              <a:t>电光：声音润色，让声音更大，听得更清楚</a:t>
            </a:r>
            <a:endParaRPr lang="en-US" altLang="zh-CN" dirty="0"/>
          </a:p>
          <a:p>
            <a:pPr marL="685800" lvl="1" indent="-228600">
              <a:buAutoNum type="arabicPeriod"/>
            </a:pPr>
            <a:r>
              <a:rPr lang="zh-CN" altLang="en-US" dirty="0"/>
              <a:t>交换机：末端首脑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3020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B86A8-7591-8406-6C23-BB55AEFA2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48E406-13BB-E2AD-64DB-7C66E717C0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D623573-22AB-BC5E-EE2C-B727BDAF4B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C74687-5F85-8C3C-2C93-DC0ABEAFED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04058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5188F-0C1B-9BB9-B624-B8CEE13CF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D10F4C-27ED-860C-C110-B7EE030448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BE31EE-32EA-8555-6100-0B4F5670EA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595747-82F0-E094-AEBD-AE7CD95790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63158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1644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6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" name="Documenttype"/>
          <p:cNvSpPr>
            <a:spLocks noGrp="1"/>
          </p:cNvSpPr>
          <p:nvPr>
            <p:ph type="body" sz="quarter" idx="13" hasCustomPrompt="1"/>
          </p:nvPr>
        </p:nvSpPr>
        <p:spPr bwMode="ltGray">
          <a:xfrm>
            <a:off x="550801" y="4881475"/>
            <a:ext cx="7736926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Edit date or title/role</a:t>
            </a:r>
            <a:endParaRPr/>
          </a:p>
        </p:txBody>
      </p:sp>
      <p:sp>
        <p:nvSpPr>
          <p:cNvPr id="5" name="Subtitle"/>
          <p:cNvSpPr>
            <a:spLocks noGrp="1"/>
          </p:cNvSpPr>
          <p:nvPr>
            <p:ph type="subTitle" idx="1"/>
          </p:nvPr>
        </p:nvSpPr>
        <p:spPr bwMode="ltGray">
          <a:xfrm>
            <a:off x="551942" y="4170626"/>
            <a:ext cx="7736926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 bwMode="ltGray">
          <a:xfrm>
            <a:off x="551942" y="3090446"/>
            <a:ext cx="7736926" cy="67710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图片 11" descr="03_Tencent_English logo_Reverse type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466705" y="31750"/>
            <a:ext cx="1647825" cy="677545"/>
          </a:xfrm>
          <a:prstGeom prst="rect">
            <a:avLst/>
          </a:prstGeom>
        </p:spPr>
      </p:pic>
      <p:sp>
        <p:nvSpPr>
          <p:cNvPr id="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1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12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/>
          </a:p>
        </p:txBody>
      </p:sp>
      <p:sp>
        <p:nvSpPr>
          <p:cNvPr id="13" name="3. Subtitle"/>
          <p:cNvSpPr>
            <a:spLocks noGrp="1"/>
          </p:cNvSpPr>
          <p:nvPr>
            <p:ph type="subTitle" idx="1"/>
          </p:nvPr>
        </p:nvSpPr>
        <p:spPr>
          <a:xfrm>
            <a:off x="158750" y="916604"/>
            <a:ext cx="9677146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800" b="0" dirty="0"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Click to edit Master subtitle style</a:t>
            </a:r>
            <a:endParaRPr/>
          </a:p>
        </p:txBody>
      </p:sp>
      <p:sp>
        <p:nvSpPr>
          <p:cNvPr id="14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5" name="5. Source" hidden="1"/>
          <p:cNvSpPr txBox="1"/>
          <p:nvPr userDrawn="1"/>
        </p:nvSpPr>
        <p:spPr>
          <a:xfrm>
            <a:off x="554735" y="6498754"/>
            <a:ext cx="7277861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6" name="Text Placeholder 4"/>
          <p:cNvSpPr>
            <a:spLocks noGrp="1"/>
          </p:cNvSpPr>
          <p:nvPr>
            <p:ph idx="10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9" name="RectangleLight"/>
          <p:cNvSpPr/>
          <p:nvPr userDrawn="1"/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5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5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2514600" cy="769441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2" name="3. Subtitle"/>
          <p:cNvSpPr>
            <a:spLocks noGrp="1"/>
          </p:cNvSpPr>
          <p:nvPr>
            <p:ph type="subTitle" idx="1"/>
          </p:nvPr>
        </p:nvSpPr>
        <p:spPr>
          <a:xfrm>
            <a:off x="554736" y="3659644"/>
            <a:ext cx="2514600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5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5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5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9" name="RectangleLight"/>
          <p:cNvSpPr/>
          <p:nvPr userDrawn="1"/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6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6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2" name="3. Subtitle"/>
          <p:cNvSpPr>
            <a:spLocks noGrp="1"/>
          </p:cNvSpPr>
          <p:nvPr>
            <p:ph type="subTitle" idx="1"/>
          </p:nvPr>
        </p:nvSpPr>
        <p:spPr>
          <a:xfrm>
            <a:off x="554735" y="3659644"/>
            <a:ext cx="3465575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6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6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6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69" name="RectangleLight"/>
          <p:cNvSpPr/>
          <p:nvPr userDrawn="1"/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7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7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5065776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7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7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7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79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0" name="RectangleLight"/>
          <p:cNvSpPr/>
          <p:nvPr userDrawn="1"/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81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8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6967728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3" name="5. Source" hidden="1"/>
          <p:cNvSpPr txBox="1"/>
          <p:nvPr userDrawn="1"/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8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8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8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89" name="RectangleLight"/>
          <p:cNvSpPr/>
          <p:nvPr userDrawn="1"/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noProof="0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9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791870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9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9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Object 1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9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9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0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101" name="图片 3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End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Object 1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04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5" name="TextBox 11"/>
          <p:cNvSpPr txBox="1"/>
          <p:nvPr userDrawn="1"/>
        </p:nvSpPr>
        <p:spPr bwMode="ltGray">
          <a:xfrm>
            <a:off x="4427988" y="3090446"/>
            <a:ext cx="3336024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785" lvl="2" indent="-21018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5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4070" lvl="4" indent="-1460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4400" b="1" dirty="0">
                <a:solidFill>
                  <a:schemeClr val="bg2"/>
                </a:solidFill>
                <a:latin typeface="+mj-lt"/>
                <a:ea typeface="+mj-ea"/>
                <a:sym typeface="微软雅黑" panose="020B0503020204020204" pitchFamily="34" charset="-122"/>
              </a:rPr>
              <a:t>THANK YOU</a:t>
            </a:r>
            <a:endParaRPr/>
          </a:p>
        </p:txBody>
      </p:sp>
      <p:sp>
        <p:nvSpPr>
          <p:cNvPr id="106" name="文本框 3"/>
          <p:cNvSpPr txBox="1"/>
          <p:nvPr userDrawn="1"/>
        </p:nvSpPr>
        <p:spPr>
          <a:xfrm>
            <a:off x="2007704" y="2723322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9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2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21" name="2. Slide Title"/>
          <p:cNvSpPr>
            <a:spLocks noGrp="1"/>
          </p:cNvSpPr>
          <p:nvPr>
            <p:ph type="title"/>
          </p:nvPr>
        </p:nvSpPr>
        <p:spPr>
          <a:xfrm>
            <a:off x="158750" y="175171"/>
            <a:ext cx="9677146" cy="989512"/>
          </a:xfrm>
        </p:spPr>
        <p:txBody>
          <a:bodyPr vert="horz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22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23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158750" y="41597"/>
            <a:ext cx="4239323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sp>
        <p:nvSpPr>
          <p:cNvPr id="24" name="Text Placeholder 4"/>
          <p:cNvSpPr>
            <a:spLocks noGrp="1"/>
          </p:cNvSpPr>
          <p:nvPr>
            <p:ph idx="1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  <p:pic>
        <p:nvPicPr>
          <p:cNvPr id="25" name="图片 6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2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1"/>
              </a:spcBef>
              <a:spcAft>
                <a:spcPct val="1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9" name="2. Slide Title"/>
          <p:cNvSpPr>
            <a:spLocks noGrp="1"/>
          </p:cNvSpPr>
          <p:nvPr>
            <p:ph type="title"/>
          </p:nvPr>
        </p:nvSpPr>
        <p:spPr>
          <a:xfrm>
            <a:off x="158750" y="182372"/>
            <a:ext cx="1147851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3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31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  <a:endParaRPr/>
          </a:p>
        </p:txBody>
      </p:sp>
      <p:sp>
        <p:nvSpPr>
          <p:cNvPr id="3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j-lt"/>
                <a:ea typeface="+mj-ea"/>
              </a:defRPr>
            </a:lvl1pPr>
          </a:lstStyle>
          <a:p>
            <a:pPr lvl="0"/>
            <a:r>
              <a:rPr lang="en-US" dirty="0"/>
              <a:t>Chapter › Topic</a:t>
            </a:r>
            <a:endParaRPr/>
          </a:p>
        </p:txBody>
      </p:sp>
      <p:sp>
        <p:nvSpPr>
          <p:cNvPr id="33" name="3. Subtitle"/>
          <p:cNvSpPr>
            <a:spLocks noGrp="1"/>
          </p:cNvSpPr>
          <p:nvPr>
            <p:ph type="subTitle" idx="1"/>
          </p:nvPr>
        </p:nvSpPr>
        <p:spPr>
          <a:xfrm>
            <a:off x="158750" y="919250"/>
            <a:ext cx="11478514" cy="246221"/>
          </a:xfrm>
        </p:spPr>
        <p:txBody>
          <a:bodyPr anchor="ctr" anchorCtr="0"/>
          <a:lstStyle>
            <a:lvl1pPr>
              <a:defRPr>
                <a:latin typeface="+mj-lt"/>
                <a:ea typeface="+mj-ea"/>
              </a:defRPr>
            </a:lvl1pPr>
          </a:lstStyle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34" name="Text Placeholder 4"/>
          <p:cNvSpPr>
            <a:spLocks noGrp="1"/>
          </p:cNvSpPr>
          <p:nvPr>
            <p:ph idx="18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think-cell data - do not delete" hidden="1">
            <a:extLst>
              <a:ext uri="{FF2B5EF4-FFF2-40B4-BE49-F238E27FC236}">
                <a16:creationId xmlns:a16="http://schemas.microsoft.com/office/drawing/2014/main" id="{5498E0C6-D3B1-F8C9-B459-3679639405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94992585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4" imgW="7772400" imgH="10058400" progId="TCLayout.ActiveDocument.1">
                  <p:embed/>
                </p:oleObj>
              </mc:Choice>
              <mc:Fallback>
                <p:oleObj name="think-cell 幻灯片" r:id="rId1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7" descr="03_Tencent_English logo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  <p:pic>
        <p:nvPicPr>
          <p:cNvPr id="3" name="Object 6" hidden="1"/>
          <p:cNvPicPr/>
          <p:nvPr/>
        </p:nvPicPr>
        <p:blipFill>
          <a:blip r:embed="rId17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" name="4. Footnote" hidden="1"/>
          <p:cNvSpPr txBox="1"/>
          <p:nvPr userDrawn="1"/>
        </p:nvSpPr>
        <p:spPr>
          <a:xfrm>
            <a:off x="553972" y="6278400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Footnotes</a:t>
            </a:r>
            <a:endParaRPr/>
          </a:p>
        </p:txBody>
      </p:sp>
      <p:sp>
        <p:nvSpPr>
          <p:cNvPr id="6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lvl="0"/>
            <a:r>
              <a:rPr lang="en-US" dirty="0"/>
              <a:t>Click to edit Master title style</a:t>
            </a:r>
            <a:endParaRPr/>
          </a:p>
        </p:txBody>
      </p:sp>
      <p:grpSp>
        <p:nvGrpSpPr>
          <p:cNvPr id="7" name="Grid" hidden="1"/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8" name="slide margin"/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" name="Straight Connector 60"/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61"/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62"/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63"/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4"/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5"/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6"/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7"/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8"/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9"/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70"/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71"/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Freeform: Shape 72"/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2" name="Freeform: Shape 73"/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3" name="Freeform: Shape 74"/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4" name="Freeform: Shape 75"/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5" name="Freeform: Shape 76"/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6" name="Freeform: Shape 77"/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7" name="Freeform: Shape 78"/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8" name="Freeform: Shape 79"/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9" name="Freeform: Shape 80"/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0" name="Freeform: Shape 81"/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1" name="Freeform: Shape 82"/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2" name="Freeform: Shape 83"/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3" name="Freeform: Shape 84"/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4" name="Freeform: Shape 85"/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5" name="Freeform: Shape 86"/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6" name="Freeform: Shape 87"/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7" name="Freeform: Shape 88"/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8" name="Freeform: Shape 89"/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9" name="Freeform: Shape 90"/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0" name="Freeform: Shape 91"/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1" name="Freeform: Shape 92"/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2" name="Freeform: Shape 93"/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3" name="Freeform: Shape 94"/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4" name="Freeform: Shape 95"/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5" name="Freeform: Shape 96"/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46" name="Straight Connector 97"/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98"/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99"/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100"/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101"/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104"/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6"/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7"/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8"/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9"/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10"/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11"/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12"/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13"/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4"/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5"/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6"/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7"/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8"/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9"/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20"/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21"/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22"/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23"/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4"/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5"/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6"/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7"/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8"/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9"/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30"/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31"/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32"/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33"/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4"/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5"/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6"/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7"/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8"/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9"/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40"/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41"/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42"/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43"/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main body box"/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noAutofit/>
            </a:bodyPr>
            <a:lstStyle/>
            <a:p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1" name="Straight Connector 145"/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92" name="Straight Connector 146"/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93" name="Sticker" hidden="1"/>
          <p:cNvSpPr txBox="1"/>
          <p:nvPr userDrawn="1"/>
        </p:nvSpPr>
        <p:spPr>
          <a:xfrm>
            <a:off x="554736" y="1323648"/>
            <a:ext cx="431208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STICKER</a:t>
            </a:r>
            <a:endParaRPr/>
          </a:p>
        </p:txBody>
      </p:sp>
      <p:sp>
        <p:nvSpPr>
          <p:cNvPr id="94" name="ACET" hidden="1"/>
          <p:cNvSpPr txBox="1"/>
          <p:nvPr userDrawn="1"/>
        </p:nvSpPr>
        <p:spPr>
          <a:xfrm>
            <a:off x="554736" y="2170800"/>
            <a:ext cx="3049253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3230" lvl="2" indent="-21463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805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880" lvl="4" indent="-1479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Above Chart Exhibit Title</a:t>
            </a:r>
            <a:b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</a:br>
            <a:r>
              <a:rPr lang="en-US" b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Unit of Measure</a:t>
            </a:r>
            <a:endParaRPr/>
          </a:p>
        </p:txBody>
      </p:sp>
      <p:sp>
        <p:nvSpPr>
          <p:cNvPr id="95" name="Text Placeholder 4"/>
          <p:cNvSpPr>
            <a:spLocks noGrp="1"/>
          </p:cNvSpPr>
          <p:nvPr>
            <p:ph type="body" idx="1"/>
          </p:nvPr>
        </p:nvSpPr>
        <p:spPr>
          <a:xfrm>
            <a:off x="158750" y="2170800"/>
            <a:ext cx="2880641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Text</a:t>
            </a:r>
            <a:endParaRPr lang="en-US" dirty="0"/>
          </a:p>
        </p:txBody>
      </p:sp>
      <p:grpSp>
        <p:nvGrpSpPr>
          <p:cNvPr id="96" name="LegendLines" hidden="1"/>
          <p:cNvGrpSpPr/>
          <p:nvPr userDrawn="1"/>
        </p:nvGrpSpPr>
        <p:grpSpPr>
          <a:xfrm>
            <a:off x="10317304" y="3150223"/>
            <a:ext cx="1361638" cy="958286"/>
            <a:chOff x="10162879" y="3243772"/>
            <a:chExt cx="1361638" cy="958286"/>
          </a:xfrm>
        </p:grpSpPr>
        <p:sp>
          <p:nvSpPr>
            <p:cNvPr id="97" name="Legend1" hidden="1"/>
            <p:cNvSpPr txBox="1"/>
            <p:nvPr/>
          </p:nvSpPr>
          <p:spPr>
            <a:xfrm>
              <a:off x="10886522" y="324377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8" name="Legend2" hidden="1"/>
            <p:cNvSpPr txBox="1"/>
            <p:nvPr/>
          </p:nvSpPr>
          <p:spPr>
            <a:xfrm>
              <a:off x="10886522" y="3615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9" name="Legend3" hidden="1"/>
            <p:cNvSpPr txBox="1"/>
            <p:nvPr/>
          </p:nvSpPr>
          <p:spPr>
            <a:xfrm>
              <a:off x="10886522" y="398661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0" name="LineLegend3" hidden="1"/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1" name="LineLegend2" hidden="1"/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2" name="LineLegend1" hidden="1"/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03" name="LegendMoons" hidden="1"/>
          <p:cNvGrpSpPr/>
          <p:nvPr userDrawn="1"/>
        </p:nvGrpSpPr>
        <p:grpSpPr>
          <a:xfrm>
            <a:off x="10688315" y="1145373"/>
            <a:ext cx="990627" cy="1731859"/>
            <a:chOff x="7723680" y="1702457"/>
            <a:chExt cx="990627" cy="1731859"/>
          </a:xfrm>
        </p:grpSpPr>
        <p:sp>
          <p:nvSpPr>
            <p:cNvPr id="104" name="Legend1" hidden="1"/>
            <p:cNvSpPr txBox="1"/>
            <p:nvPr/>
          </p:nvSpPr>
          <p:spPr>
            <a:xfrm>
              <a:off x="8076312" y="1709816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5" name="Legend2" hidden="1"/>
            <p:cNvSpPr txBox="1"/>
            <p:nvPr/>
          </p:nvSpPr>
          <p:spPr>
            <a:xfrm>
              <a:off x="8076312" y="2085275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6" name="Legend3" hidden="1"/>
            <p:cNvSpPr txBox="1"/>
            <p:nvPr/>
          </p:nvSpPr>
          <p:spPr>
            <a:xfrm>
              <a:off x="8076312" y="246073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7" name="Legend4" hidden="1"/>
            <p:cNvSpPr txBox="1"/>
            <p:nvPr/>
          </p:nvSpPr>
          <p:spPr>
            <a:xfrm>
              <a:off x="8076312" y="2836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8" name="Legend5" hidden="1"/>
            <p:cNvSpPr txBox="1"/>
            <p:nvPr/>
          </p:nvSpPr>
          <p:spPr>
            <a:xfrm>
              <a:off x="8076312" y="321165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grpSp>
          <p:nvGrpSpPr>
            <p:cNvPr id="109" name="MoonLegend1" hidden="1"/>
            <p:cNvGrpSpPr>
              <a:grpSpLocks noChangeAspect="1"/>
            </p:cNvGrpSpPr>
            <p:nvPr/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10" name="Oval 213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1" name="Arc 214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2" name="MoonLegend2" hidden="1"/>
            <p:cNvGrpSpPr>
              <a:grpSpLocks noChangeAspect="1"/>
            </p:cNvGrpSpPr>
            <p:nvPr/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13" name="Oval 211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4" name="Arc 212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5" name="MoonLegend3" hidden="1"/>
            <p:cNvGrpSpPr>
              <a:grpSpLocks noChangeAspect="1"/>
            </p:cNvGrpSpPr>
            <p:nvPr/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16" name="Oval 209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7" name="Arc 210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8" name="MoonLegend4" hidden="1"/>
            <p:cNvGrpSpPr>
              <a:grpSpLocks noChangeAspect="1"/>
            </p:cNvGrpSpPr>
            <p:nvPr/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19" name="Oval 207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0" name="Arc 208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21" name="MoonLegend5" hidden="1"/>
            <p:cNvGrpSpPr>
              <a:grpSpLocks noChangeAspect="1"/>
            </p:cNvGrpSpPr>
            <p:nvPr/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22" name="Oval 205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3" name="Arc 206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24" name="LegendBoxes" hidden="1"/>
          <p:cNvGrpSpPr/>
          <p:nvPr userDrawn="1"/>
        </p:nvGrpSpPr>
        <p:grpSpPr>
          <a:xfrm>
            <a:off x="10714801" y="4381500"/>
            <a:ext cx="964141" cy="1717282"/>
            <a:chOff x="10652400" y="4322824"/>
            <a:chExt cx="964141" cy="1717282"/>
          </a:xfrm>
        </p:grpSpPr>
        <p:sp>
          <p:nvSpPr>
            <p:cNvPr id="125" name="RectangleLegend1" hidden="1"/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6" name="RectangleLegend2" hidden="1"/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7" name="RectangleLegend3" hidden="1"/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8" name="RectangleLegend4" hidden="1"/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9" name="RectangleLegend5" hidden="1"/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0" name="Legend1" hidden="1"/>
            <p:cNvSpPr txBox="1"/>
            <p:nvPr/>
          </p:nvSpPr>
          <p:spPr>
            <a:xfrm>
              <a:off x="10978546" y="432282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1" name="Legend2" hidden="1"/>
            <p:cNvSpPr txBox="1"/>
            <p:nvPr/>
          </p:nvSpPr>
          <p:spPr>
            <a:xfrm>
              <a:off x="10978546" y="470232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2" name="Legend3" hidden="1"/>
            <p:cNvSpPr txBox="1"/>
            <p:nvPr/>
          </p:nvSpPr>
          <p:spPr>
            <a:xfrm>
              <a:off x="10978546" y="5081820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3" name="Legend4" hidden="1"/>
            <p:cNvSpPr txBox="1"/>
            <p:nvPr/>
          </p:nvSpPr>
          <p:spPr>
            <a:xfrm>
              <a:off x="10978546" y="5453241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4" name="Legend5" hidden="1"/>
            <p:cNvSpPr txBox="1"/>
            <p:nvPr/>
          </p:nvSpPr>
          <p:spPr>
            <a:xfrm>
              <a:off x="10978545" y="582466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</p:grpSp>
      <p:sp>
        <p:nvSpPr>
          <p:cNvPr id="135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1"/>
        </a:spcBef>
        <a:buNone/>
        <a:defRPr lang="en-US" sz="2500" b="0" kern="1200" spc="0" baseline="0" dirty="0">
          <a:ln w="6350" cap="flat">
            <a:noFill/>
            <a:miter lim="800000"/>
          </a:ln>
          <a:solidFill>
            <a:schemeClr val="tx1"/>
          </a:solidFill>
          <a:latin typeface="+mn-lt"/>
          <a:ea typeface="+mn-ea"/>
          <a:cs typeface="+mj-cs"/>
          <a:sym typeface="微软雅黑" panose="020B0503020204020204" pitchFamily="34" charset="-122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  <a:sym typeface="微软雅黑" panose="020B0503020204020204" pitchFamily="34" charset="-122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2pPr>
      <a:lvl3pPr marL="438785" indent="-21018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3pPr>
      <a:lvl4pPr marL="594360" indent="-15557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4pPr>
      <a:lvl5pPr marL="814070" indent="-1460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3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3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13" Type="http://schemas.openxmlformats.org/officeDocument/2006/relationships/tags" Target="../tags/tag17.xml"/><Relationship Id="rId18" Type="http://schemas.openxmlformats.org/officeDocument/2006/relationships/chart" Target="../charts/chart1.xml"/><Relationship Id="rId3" Type="http://schemas.openxmlformats.org/officeDocument/2006/relationships/tags" Target="../tags/tag7.xml"/><Relationship Id="rId7" Type="http://schemas.openxmlformats.org/officeDocument/2006/relationships/tags" Target="../tags/tag11.xml"/><Relationship Id="rId12" Type="http://schemas.openxmlformats.org/officeDocument/2006/relationships/tags" Target="../tags/tag16.xml"/><Relationship Id="rId17" Type="http://schemas.openxmlformats.org/officeDocument/2006/relationships/image" Target="../media/image7.emf"/><Relationship Id="rId2" Type="http://schemas.openxmlformats.org/officeDocument/2006/relationships/tags" Target="../tags/tag6.xml"/><Relationship Id="rId16" Type="http://schemas.openxmlformats.org/officeDocument/2006/relationships/oleObject" Target="../embeddings/oleObject4.bin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tags" Target="../tags/tag15.xml"/><Relationship Id="rId5" Type="http://schemas.openxmlformats.org/officeDocument/2006/relationships/tags" Target="../tags/tag9.xml"/><Relationship Id="rId15" Type="http://schemas.openxmlformats.org/officeDocument/2006/relationships/notesSlide" Target="../notesSlides/notesSlide3.xml"/><Relationship Id="rId10" Type="http://schemas.openxmlformats.org/officeDocument/2006/relationships/tags" Target="../tags/tag14.xml"/><Relationship Id="rId19" Type="http://schemas.openxmlformats.org/officeDocument/2006/relationships/chart" Target="../charts/chart2.xml"/><Relationship Id="rId4" Type="http://schemas.openxmlformats.org/officeDocument/2006/relationships/tags" Target="../tags/tag8.xml"/><Relationship Id="rId9" Type="http://schemas.openxmlformats.org/officeDocument/2006/relationships/tags" Target="../tags/tag13.xml"/><Relationship Id="rId1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tags" Target="../tags/tag20.xml"/><Relationship Id="rId7" Type="http://schemas.openxmlformats.org/officeDocument/2006/relationships/notesSlide" Target="../notesSlides/notesSlide4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2.xml"/><Relationship Id="rId10" Type="http://schemas.openxmlformats.org/officeDocument/2006/relationships/chart" Target="../charts/chart3.xml"/><Relationship Id="rId4" Type="http://schemas.openxmlformats.org/officeDocument/2006/relationships/tags" Target="../tags/tag21.xml"/><Relationship Id="rId9" Type="http://schemas.openxmlformats.org/officeDocument/2006/relationships/image" Target="../media/image8.emf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tags" Target="../tags/tag35.xml"/><Relationship Id="rId18" Type="http://schemas.openxmlformats.org/officeDocument/2006/relationships/tags" Target="../tags/tag40.xml"/><Relationship Id="rId26" Type="http://schemas.openxmlformats.org/officeDocument/2006/relationships/tags" Target="../tags/tag48.xml"/><Relationship Id="rId39" Type="http://schemas.openxmlformats.org/officeDocument/2006/relationships/chart" Target="../charts/chart5.xml"/><Relationship Id="rId21" Type="http://schemas.openxmlformats.org/officeDocument/2006/relationships/tags" Target="../tags/tag43.xml"/><Relationship Id="rId34" Type="http://schemas.openxmlformats.org/officeDocument/2006/relationships/slideLayout" Target="../slideLayouts/slideLayout2.xml"/><Relationship Id="rId7" Type="http://schemas.openxmlformats.org/officeDocument/2006/relationships/tags" Target="../tags/tag29.xml"/><Relationship Id="rId12" Type="http://schemas.openxmlformats.org/officeDocument/2006/relationships/tags" Target="../tags/tag34.xml"/><Relationship Id="rId17" Type="http://schemas.openxmlformats.org/officeDocument/2006/relationships/tags" Target="../tags/tag39.xml"/><Relationship Id="rId25" Type="http://schemas.openxmlformats.org/officeDocument/2006/relationships/tags" Target="../tags/tag47.xml"/><Relationship Id="rId33" Type="http://schemas.openxmlformats.org/officeDocument/2006/relationships/tags" Target="../tags/tag55.xml"/><Relationship Id="rId38" Type="http://schemas.openxmlformats.org/officeDocument/2006/relationships/chart" Target="../charts/chart4.xml"/><Relationship Id="rId2" Type="http://schemas.openxmlformats.org/officeDocument/2006/relationships/tags" Target="../tags/tag24.xml"/><Relationship Id="rId16" Type="http://schemas.openxmlformats.org/officeDocument/2006/relationships/tags" Target="../tags/tag38.xml"/><Relationship Id="rId20" Type="http://schemas.openxmlformats.org/officeDocument/2006/relationships/tags" Target="../tags/tag42.xml"/><Relationship Id="rId29" Type="http://schemas.openxmlformats.org/officeDocument/2006/relationships/tags" Target="../tags/tag51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tags" Target="../tags/tag33.xml"/><Relationship Id="rId24" Type="http://schemas.openxmlformats.org/officeDocument/2006/relationships/tags" Target="../tags/tag46.xml"/><Relationship Id="rId32" Type="http://schemas.openxmlformats.org/officeDocument/2006/relationships/tags" Target="../tags/tag54.xml"/><Relationship Id="rId37" Type="http://schemas.openxmlformats.org/officeDocument/2006/relationships/image" Target="../media/image7.emf"/><Relationship Id="rId5" Type="http://schemas.openxmlformats.org/officeDocument/2006/relationships/tags" Target="../tags/tag27.xml"/><Relationship Id="rId15" Type="http://schemas.openxmlformats.org/officeDocument/2006/relationships/tags" Target="../tags/tag37.xml"/><Relationship Id="rId23" Type="http://schemas.openxmlformats.org/officeDocument/2006/relationships/tags" Target="../tags/tag45.xml"/><Relationship Id="rId28" Type="http://schemas.openxmlformats.org/officeDocument/2006/relationships/tags" Target="../tags/tag50.xml"/><Relationship Id="rId36" Type="http://schemas.openxmlformats.org/officeDocument/2006/relationships/oleObject" Target="../embeddings/oleObject6.bin"/><Relationship Id="rId10" Type="http://schemas.openxmlformats.org/officeDocument/2006/relationships/tags" Target="../tags/tag32.xml"/><Relationship Id="rId19" Type="http://schemas.openxmlformats.org/officeDocument/2006/relationships/tags" Target="../tags/tag41.xml"/><Relationship Id="rId31" Type="http://schemas.openxmlformats.org/officeDocument/2006/relationships/tags" Target="../tags/tag53.xml"/><Relationship Id="rId4" Type="http://schemas.openxmlformats.org/officeDocument/2006/relationships/tags" Target="../tags/tag26.xml"/><Relationship Id="rId9" Type="http://schemas.openxmlformats.org/officeDocument/2006/relationships/tags" Target="../tags/tag31.xml"/><Relationship Id="rId14" Type="http://schemas.openxmlformats.org/officeDocument/2006/relationships/tags" Target="../tags/tag36.xml"/><Relationship Id="rId22" Type="http://schemas.openxmlformats.org/officeDocument/2006/relationships/tags" Target="../tags/tag44.xml"/><Relationship Id="rId27" Type="http://schemas.openxmlformats.org/officeDocument/2006/relationships/tags" Target="../tags/tag49.xml"/><Relationship Id="rId30" Type="http://schemas.openxmlformats.org/officeDocument/2006/relationships/tags" Target="../tags/tag52.xml"/><Relationship Id="rId35" Type="http://schemas.openxmlformats.org/officeDocument/2006/relationships/notesSlide" Target="../notesSlides/notesSlide5.xml"/><Relationship Id="rId8" Type="http://schemas.openxmlformats.org/officeDocument/2006/relationships/tags" Target="../tags/tag30.xml"/><Relationship Id="rId3" Type="http://schemas.openxmlformats.org/officeDocument/2006/relationships/tags" Target="../tags/tag2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3" Type="http://schemas.openxmlformats.org/officeDocument/2006/relationships/tags" Target="../tags/tag58.xml"/><Relationship Id="rId21" Type="http://schemas.openxmlformats.org/officeDocument/2006/relationships/image" Target="../media/image18.png"/><Relationship Id="rId7" Type="http://schemas.openxmlformats.org/officeDocument/2006/relationships/tags" Target="../tags/tag62.xml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" Type="http://schemas.openxmlformats.org/officeDocument/2006/relationships/tags" Target="../tags/tag57.xml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1" Type="http://schemas.openxmlformats.org/officeDocument/2006/relationships/tags" Target="../tags/tag56.xml"/><Relationship Id="rId6" Type="http://schemas.openxmlformats.org/officeDocument/2006/relationships/tags" Target="../tags/tag61.xml"/><Relationship Id="rId11" Type="http://schemas.openxmlformats.org/officeDocument/2006/relationships/image" Target="../media/image8.emf"/><Relationship Id="rId5" Type="http://schemas.openxmlformats.org/officeDocument/2006/relationships/tags" Target="../tags/tag60.xml"/><Relationship Id="rId15" Type="http://schemas.openxmlformats.org/officeDocument/2006/relationships/image" Target="../media/image12.png"/><Relationship Id="rId10" Type="http://schemas.openxmlformats.org/officeDocument/2006/relationships/oleObject" Target="../embeddings/oleObject7.bin"/><Relationship Id="rId19" Type="http://schemas.openxmlformats.org/officeDocument/2006/relationships/image" Target="../media/image16.png"/><Relationship Id="rId4" Type="http://schemas.openxmlformats.org/officeDocument/2006/relationships/tags" Target="../tags/tag59.xml"/><Relationship Id="rId9" Type="http://schemas.openxmlformats.org/officeDocument/2006/relationships/notesSlide" Target="../notesSlides/notesSlide6.xml"/><Relationship Id="rId14" Type="http://schemas.openxmlformats.org/officeDocument/2006/relationships/image" Target="../media/image11.png"/><Relationship Id="rId22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8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notesSlide" Target="../notesSlides/notesSlide8.xml"/><Relationship Id="rId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Relationship Id="rId6" Type="http://schemas.openxmlformats.org/officeDocument/2006/relationships/image" Target="../media/image20.png"/><Relationship Id="rId11" Type="http://schemas.microsoft.com/office/2007/relationships/hdphoto" Target="../media/hdphoto3.wdp"/><Relationship Id="rId5" Type="http://schemas.openxmlformats.org/officeDocument/2006/relationships/image" Target="../media/image7.emf"/><Relationship Id="rId10" Type="http://schemas.openxmlformats.org/officeDocument/2006/relationships/image" Target="../media/image22.png"/><Relationship Id="rId4" Type="http://schemas.openxmlformats.org/officeDocument/2006/relationships/oleObject" Target="../embeddings/oleObject9.bin"/><Relationship Id="rId9" Type="http://schemas.microsoft.com/office/2007/relationships/hdphoto" Target="../media/hdphoto2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10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oleObject" Target="../embeddings/oleObject11.bin"/><Relationship Id="rId7" Type="http://schemas.openxmlformats.org/officeDocument/2006/relationships/image" Target="../media/image23.png"/><Relationship Id="rId12" Type="http://schemas.openxmlformats.org/officeDocument/2006/relationships/image" Target="../media/image28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Relationship Id="rId6" Type="http://schemas.openxmlformats.org/officeDocument/2006/relationships/image" Target="../media/image13.png"/><Relationship Id="rId11" Type="http://schemas.openxmlformats.org/officeDocument/2006/relationships/image" Target="../media/image27.png"/><Relationship Id="rId5" Type="http://schemas.openxmlformats.org/officeDocument/2006/relationships/image" Target="../media/image12.png"/><Relationship Id="rId15" Type="http://schemas.openxmlformats.org/officeDocument/2006/relationships/image" Target="../media/image31.png"/><Relationship Id="rId10" Type="http://schemas.openxmlformats.org/officeDocument/2006/relationships/image" Target="../media/image26.jpeg"/><Relationship Id="rId4" Type="http://schemas.openxmlformats.org/officeDocument/2006/relationships/image" Target="../media/image7.emf"/><Relationship Id="rId9" Type="http://schemas.openxmlformats.org/officeDocument/2006/relationships/image" Target="../media/image25.png"/><Relationship Id="rId14" Type="http://schemas.openxmlformats.org/officeDocument/2006/relationships/image" Target="../media/image30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33.sv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Relationship Id="rId6" Type="http://schemas.openxmlformats.org/officeDocument/2006/relationships/image" Target="../media/image32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12.bin"/><Relationship Id="rId9" Type="http://schemas.openxmlformats.org/officeDocument/2006/relationships/image" Target="../media/image3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13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notesSlide" Target="../notesSlides/notesSlide12.xml"/><Relationship Id="rId7" Type="http://schemas.microsoft.com/office/2007/relationships/hdphoto" Target="../media/hdphoto4.wd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Relationship Id="rId6" Type="http://schemas.openxmlformats.org/officeDocument/2006/relationships/image" Target="../media/image36.png"/><Relationship Id="rId11" Type="http://schemas.microsoft.com/office/2007/relationships/hdphoto" Target="../media/hdphoto5.wdp"/><Relationship Id="rId5" Type="http://schemas.openxmlformats.org/officeDocument/2006/relationships/image" Target="../media/image7.emf"/><Relationship Id="rId10" Type="http://schemas.openxmlformats.org/officeDocument/2006/relationships/image" Target="../media/image39.png"/><Relationship Id="rId4" Type="http://schemas.openxmlformats.org/officeDocument/2006/relationships/oleObject" Target="../embeddings/oleObject14.bin"/><Relationship Id="rId9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77.xml"/><Relationship Id="rId13" Type="http://schemas.openxmlformats.org/officeDocument/2006/relationships/image" Target="../media/image40.png"/><Relationship Id="rId18" Type="http://schemas.openxmlformats.org/officeDocument/2006/relationships/image" Target="../media/image16.png"/><Relationship Id="rId3" Type="http://schemas.openxmlformats.org/officeDocument/2006/relationships/tags" Target="../tags/tag72.xml"/><Relationship Id="rId21" Type="http://schemas.openxmlformats.org/officeDocument/2006/relationships/image" Target="../media/image45.jpeg"/><Relationship Id="rId7" Type="http://schemas.openxmlformats.org/officeDocument/2006/relationships/tags" Target="../tags/tag76.xml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" Type="http://schemas.openxmlformats.org/officeDocument/2006/relationships/tags" Target="../tags/tag71.xml"/><Relationship Id="rId16" Type="http://schemas.openxmlformats.org/officeDocument/2006/relationships/image" Target="../media/image14.png"/><Relationship Id="rId20" Type="http://schemas.openxmlformats.org/officeDocument/2006/relationships/image" Target="../media/image17.png"/><Relationship Id="rId1" Type="http://schemas.openxmlformats.org/officeDocument/2006/relationships/tags" Target="../tags/tag70.xml"/><Relationship Id="rId6" Type="http://schemas.openxmlformats.org/officeDocument/2006/relationships/tags" Target="../tags/tag75.xml"/><Relationship Id="rId11" Type="http://schemas.openxmlformats.org/officeDocument/2006/relationships/image" Target="../media/image7.emf"/><Relationship Id="rId24" Type="http://schemas.openxmlformats.org/officeDocument/2006/relationships/image" Target="../media/image48.jpeg"/><Relationship Id="rId5" Type="http://schemas.openxmlformats.org/officeDocument/2006/relationships/tags" Target="../tags/tag74.xml"/><Relationship Id="rId15" Type="http://schemas.openxmlformats.org/officeDocument/2006/relationships/image" Target="../media/image42.png"/><Relationship Id="rId23" Type="http://schemas.openxmlformats.org/officeDocument/2006/relationships/image" Target="../media/image47.png"/><Relationship Id="rId10" Type="http://schemas.openxmlformats.org/officeDocument/2006/relationships/oleObject" Target="../embeddings/oleObject15.bin"/><Relationship Id="rId19" Type="http://schemas.openxmlformats.org/officeDocument/2006/relationships/image" Target="../media/image44.png"/><Relationship Id="rId4" Type="http://schemas.openxmlformats.org/officeDocument/2006/relationships/tags" Target="../tags/tag73.xml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41.jpeg"/><Relationship Id="rId22" Type="http://schemas.openxmlformats.org/officeDocument/2006/relationships/image" Target="../media/image46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png"/><Relationship Id="rId18" Type="http://schemas.openxmlformats.org/officeDocument/2006/relationships/image" Target="../media/image60.png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14.png"/><Relationship Id="rId12" Type="http://schemas.openxmlformats.org/officeDocument/2006/relationships/image" Target="../media/image54.png"/><Relationship Id="rId17" Type="http://schemas.openxmlformats.org/officeDocument/2006/relationships/image" Target="../media/image59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8.png"/><Relationship Id="rId1" Type="http://schemas.openxmlformats.org/officeDocument/2006/relationships/tags" Target="../tags/tag78.xml"/><Relationship Id="rId6" Type="http://schemas.openxmlformats.org/officeDocument/2006/relationships/image" Target="../media/image49.png"/><Relationship Id="rId11" Type="http://schemas.openxmlformats.org/officeDocument/2006/relationships/image" Target="../media/image53.png"/><Relationship Id="rId5" Type="http://schemas.openxmlformats.org/officeDocument/2006/relationships/image" Target="../media/image8.emf"/><Relationship Id="rId15" Type="http://schemas.openxmlformats.org/officeDocument/2006/relationships/image" Target="../media/image57.png"/><Relationship Id="rId10" Type="http://schemas.openxmlformats.org/officeDocument/2006/relationships/image" Target="../media/image52.png"/><Relationship Id="rId19" Type="http://schemas.openxmlformats.org/officeDocument/2006/relationships/image" Target="../media/image61.png"/><Relationship Id="rId4" Type="http://schemas.openxmlformats.org/officeDocument/2006/relationships/oleObject" Target="../embeddings/oleObject16.bin"/><Relationship Id="rId9" Type="http://schemas.openxmlformats.org/officeDocument/2006/relationships/image" Target="../media/image51.png"/><Relationship Id="rId14" Type="http://schemas.openxmlformats.org/officeDocument/2006/relationships/image" Target="../media/image56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chart" Target="../charts/chart7.xml"/><Relationship Id="rId18" Type="http://schemas.openxmlformats.org/officeDocument/2006/relationships/image" Target="../media/image18.png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63.svg"/><Relationship Id="rId12" Type="http://schemas.openxmlformats.org/officeDocument/2006/relationships/image" Target="../media/image67.png"/><Relationship Id="rId17" Type="http://schemas.openxmlformats.org/officeDocument/2006/relationships/image" Target="../media/image68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5.png"/><Relationship Id="rId20" Type="http://schemas.openxmlformats.org/officeDocument/2006/relationships/chart" Target="../charts/chart9.xml"/><Relationship Id="rId1" Type="http://schemas.openxmlformats.org/officeDocument/2006/relationships/tags" Target="../tags/tag79.xml"/><Relationship Id="rId6" Type="http://schemas.openxmlformats.org/officeDocument/2006/relationships/image" Target="../media/image62.png"/><Relationship Id="rId11" Type="http://schemas.openxmlformats.org/officeDocument/2006/relationships/image" Target="../media/image66.png"/><Relationship Id="rId5" Type="http://schemas.openxmlformats.org/officeDocument/2006/relationships/image" Target="../media/image8.emf"/><Relationship Id="rId15" Type="http://schemas.openxmlformats.org/officeDocument/2006/relationships/image" Target="../media/image14.png"/><Relationship Id="rId10" Type="http://schemas.openxmlformats.org/officeDocument/2006/relationships/chart" Target="../charts/chart6.xml"/><Relationship Id="rId19" Type="http://schemas.openxmlformats.org/officeDocument/2006/relationships/image" Target="../media/image69.png"/><Relationship Id="rId4" Type="http://schemas.openxmlformats.org/officeDocument/2006/relationships/oleObject" Target="../embeddings/oleObject17.bin"/><Relationship Id="rId9" Type="http://schemas.openxmlformats.org/officeDocument/2006/relationships/image" Target="../media/image65.svg"/><Relationship Id="rId14" Type="http://schemas.openxmlformats.org/officeDocument/2006/relationships/chart" Target="../charts/chart8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44.png"/><Relationship Id="rId18" Type="http://schemas.openxmlformats.org/officeDocument/2006/relationships/image" Target="../media/image73.png"/><Relationship Id="rId3" Type="http://schemas.openxmlformats.org/officeDocument/2006/relationships/tags" Target="../tags/tag82.xml"/><Relationship Id="rId7" Type="http://schemas.openxmlformats.org/officeDocument/2006/relationships/tags" Target="../tags/tag86.xml"/><Relationship Id="rId12" Type="http://schemas.openxmlformats.org/officeDocument/2006/relationships/image" Target="../media/image16.png"/><Relationship Id="rId17" Type="http://schemas.openxmlformats.org/officeDocument/2006/relationships/image" Target="../media/image72.png"/><Relationship Id="rId2" Type="http://schemas.openxmlformats.org/officeDocument/2006/relationships/tags" Target="../tags/tag81.xml"/><Relationship Id="rId16" Type="http://schemas.openxmlformats.org/officeDocument/2006/relationships/image" Target="../media/image71.jpeg"/><Relationship Id="rId1" Type="http://schemas.openxmlformats.org/officeDocument/2006/relationships/tags" Target="../tags/tag80.xml"/><Relationship Id="rId6" Type="http://schemas.openxmlformats.org/officeDocument/2006/relationships/tags" Target="../tags/tag85.xml"/><Relationship Id="rId11" Type="http://schemas.openxmlformats.org/officeDocument/2006/relationships/image" Target="../media/image8.emf"/><Relationship Id="rId5" Type="http://schemas.openxmlformats.org/officeDocument/2006/relationships/tags" Target="../tags/tag84.xml"/><Relationship Id="rId15" Type="http://schemas.openxmlformats.org/officeDocument/2006/relationships/image" Target="../media/image70.png"/><Relationship Id="rId10" Type="http://schemas.openxmlformats.org/officeDocument/2006/relationships/oleObject" Target="../embeddings/oleObject18.bin"/><Relationship Id="rId4" Type="http://schemas.openxmlformats.org/officeDocument/2006/relationships/tags" Target="../tags/tag83.xml"/><Relationship Id="rId9" Type="http://schemas.openxmlformats.org/officeDocument/2006/relationships/notesSlide" Target="../notesSlides/notesSlide15.xml"/><Relationship Id="rId1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7.xml"/><Relationship Id="rId4" Type="http://schemas.openxmlformats.org/officeDocument/2006/relationships/image" Target="../media/image8.emf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9.png"/><Relationship Id="rId18" Type="http://schemas.openxmlformats.org/officeDocument/2006/relationships/image" Target="../media/image83.png"/><Relationship Id="rId26" Type="http://schemas.openxmlformats.org/officeDocument/2006/relationships/image" Target="../media/image90.png"/><Relationship Id="rId39" Type="http://schemas.openxmlformats.org/officeDocument/2006/relationships/image" Target="../media/image102.png"/><Relationship Id="rId21" Type="http://schemas.openxmlformats.org/officeDocument/2006/relationships/image" Target="../media/image86.png"/><Relationship Id="rId34" Type="http://schemas.openxmlformats.org/officeDocument/2006/relationships/image" Target="../media/image97.png"/><Relationship Id="rId42" Type="http://schemas.openxmlformats.org/officeDocument/2006/relationships/image" Target="../media/image105.png"/><Relationship Id="rId47" Type="http://schemas.openxmlformats.org/officeDocument/2006/relationships/image" Target="../media/image109.png"/><Relationship Id="rId50" Type="http://schemas.openxmlformats.org/officeDocument/2006/relationships/image" Target="../media/image112.png"/><Relationship Id="rId55" Type="http://schemas.openxmlformats.org/officeDocument/2006/relationships/image" Target="../media/image117.png"/><Relationship Id="rId63" Type="http://schemas.openxmlformats.org/officeDocument/2006/relationships/image" Target="../media/image125.png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2.png"/><Relationship Id="rId29" Type="http://schemas.openxmlformats.org/officeDocument/2006/relationships/image" Target="../media/image93.png"/><Relationship Id="rId11" Type="http://schemas.openxmlformats.org/officeDocument/2006/relationships/image" Target="../media/image78.png"/><Relationship Id="rId24" Type="http://schemas.openxmlformats.org/officeDocument/2006/relationships/image" Target="../media/image88.png"/><Relationship Id="rId32" Type="http://schemas.openxmlformats.org/officeDocument/2006/relationships/image" Target="../media/image51.png"/><Relationship Id="rId37" Type="http://schemas.openxmlformats.org/officeDocument/2006/relationships/image" Target="../media/image100.png"/><Relationship Id="rId40" Type="http://schemas.openxmlformats.org/officeDocument/2006/relationships/image" Target="../media/image103.png"/><Relationship Id="rId45" Type="http://schemas.openxmlformats.org/officeDocument/2006/relationships/image" Target="../media/image107.png"/><Relationship Id="rId53" Type="http://schemas.openxmlformats.org/officeDocument/2006/relationships/image" Target="../media/image115.png"/><Relationship Id="rId58" Type="http://schemas.openxmlformats.org/officeDocument/2006/relationships/image" Target="../media/image120.png"/><Relationship Id="rId5" Type="http://schemas.openxmlformats.org/officeDocument/2006/relationships/image" Target="../media/image74.png"/><Relationship Id="rId61" Type="http://schemas.openxmlformats.org/officeDocument/2006/relationships/image" Target="../media/image123.png"/><Relationship Id="rId19" Type="http://schemas.openxmlformats.org/officeDocument/2006/relationships/image" Target="../media/image84.png"/><Relationship Id="rId14" Type="http://schemas.openxmlformats.org/officeDocument/2006/relationships/image" Target="../media/image80.png"/><Relationship Id="rId22" Type="http://schemas.openxmlformats.org/officeDocument/2006/relationships/image" Target="../media/image50.png"/><Relationship Id="rId27" Type="http://schemas.openxmlformats.org/officeDocument/2006/relationships/image" Target="../media/image91.png"/><Relationship Id="rId30" Type="http://schemas.openxmlformats.org/officeDocument/2006/relationships/image" Target="../media/image94.png"/><Relationship Id="rId35" Type="http://schemas.openxmlformats.org/officeDocument/2006/relationships/image" Target="../media/image98.png"/><Relationship Id="rId43" Type="http://schemas.openxmlformats.org/officeDocument/2006/relationships/image" Target="../media/image52.png"/><Relationship Id="rId48" Type="http://schemas.openxmlformats.org/officeDocument/2006/relationships/image" Target="../media/image110.png"/><Relationship Id="rId56" Type="http://schemas.openxmlformats.org/officeDocument/2006/relationships/image" Target="../media/image118.png"/><Relationship Id="rId8" Type="http://schemas.openxmlformats.org/officeDocument/2006/relationships/image" Target="../media/image76.png"/><Relationship Id="rId51" Type="http://schemas.openxmlformats.org/officeDocument/2006/relationships/image" Target="../media/image113.png"/><Relationship Id="rId3" Type="http://schemas.openxmlformats.org/officeDocument/2006/relationships/oleObject" Target="../embeddings/oleObject20.bin"/><Relationship Id="rId12" Type="http://schemas.openxmlformats.org/officeDocument/2006/relationships/image" Target="../media/image49.png"/><Relationship Id="rId17" Type="http://schemas.openxmlformats.org/officeDocument/2006/relationships/image" Target="../media/image82.png"/><Relationship Id="rId25" Type="http://schemas.openxmlformats.org/officeDocument/2006/relationships/image" Target="../media/image89.png"/><Relationship Id="rId33" Type="http://schemas.openxmlformats.org/officeDocument/2006/relationships/image" Target="../media/image96.png"/><Relationship Id="rId38" Type="http://schemas.openxmlformats.org/officeDocument/2006/relationships/image" Target="../media/image101.png"/><Relationship Id="rId46" Type="http://schemas.openxmlformats.org/officeDocument/2006/relationships/image" Target="../media/image108.png"/><Relationship Id="rId59" Type="http://schemas.openxmlformats.org/officeDocument/2006/relationships/image" Target="../media/image121.png"/><Relationship Id="rId20" Type="http://schemas.openxmlformats.org/officeDocument/2006/relationships/image" Target="../media/image85.png"/><Relationship Id="rId41" Type="http://schemas.openxmlformats.org/officeDocument/2006/relationships/image" Target="../media/image104.png"/><Relationship Id="rId54" Type="http://schemas.openxmlformats.org/officeDocument/2006/relationships/image" Target="../media/image116.png"/><Relationship Id="rId62" Type="http://schemas.openxmlformats.org/officeDocument/2006/relationships/image" Target="../media/image124.png"/><Relationship Id="rId1" Type="http://schemas.openxmlformats.org/officeDocument/2006/relationships/tags" Target="../tags/tag88.xml"/><Relationship Id="rId6" Type="http://schemas.openxmlformats.org/officeDocument/2006/relationships/image" Target="../media/image75.png"/><Relationship Id="rId15" Type="http://schemas.openxmlformats.org/officeDocument/2006/relationships/image" Target="../media/image81.png"/><Relationship Id="rId23" Type="http://schemas.openxmlformats.org/officeDocument/2006/relationships/image" Target="../media/image87.png"/><Relationship Id="rId28" Type="http://schemas.openxmlformats.org/officeDocument/2006/relationships/image" Target="../media/image92.png"/><Relationship Id="rId36" Type="http://schemas.openxmlformats.org/officeDocument/2006/relationships/image" Target="../media/image99.png"/><Relationship Id="rId49" Type="http://schemas.openxmlformats.org/officeDocument/2006/relationships/image" Target="../media/image111.png"/><Relationship Id="rId57" Type="http://schemas.openxmlformats.org/officeDocument/2006/relationships/image" Target="../media/image119.png"/><Relationship Id="rId10" Type="http://schemas.openxmlformats.org/officeDocument/2006/relationships/image" Target="../media/image77.png"/><Relationship Id="rId31" Type="http://schemas.openxmlformats.org/officeDocument/2006/relationships/image" Target="../media/image95.png"/><Relationship Id="rId44" Type="http://schemas.openxmlformats.org/officeDocument/2006/relationships/image" Target="../media/image106.png"/><Relationship Id="rId52" Type="http://schemas.openxmlformats.org/officeDocument/2006/relationships/image" Target="../media/image114.png"/><Relationship Id="rId60" Type="http://schemas.openxmlformats.org/officeDocument/2006/relationships/image" Target="../media/image122.png"/><Relationship Id="rId4" Type="http://schemas.openxmlformats.org/officeDocument/2006/relationships/image" Target="../media/image8.emf"/><Relationship Id="rId9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2CC5A34-E94C-9C85-43D4-E435CB73F0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822597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/>
          <p:nvPr/>
        </p:nvPicPr>
        <p:blipFill>
          <a:blip r:embed="rId6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50801" y="4881475"/>
            <a:ext cx="7740650" cy="215900"/>
          </a:xfrm>
        </p:spPr>
        <p:txBody>
          <a:bodyPr/>
          <a:lstStyle/>
          <a:p>
            <a:pPr>
              <a:buClr>
                <a:schemeClr val="tx1">
                  <a:alpha val="100000"/>
                </a:schemeClr>
              </a:buClr>
              <a:buSzPct val="100000"/>
              <a:buFont typeface="Segoe UI" panose="020B0502040204020203" pitchFamily="34" charset="0"/>
              <a:buChar char="​"/>
            </a:pPr>
            <a:r>
              <a:rPr lang="en-US" dirty="0">
                <a:latin typeface="+mn-lt"/>
                <a:ea typeface="+mn-ea"/>
                <a:cs typeface="+mn-ea"/>
                <a:sym typeface="+mn-lt"/>
              </a:rPr>
              <a:t>2025/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08</a:t>
            </a:r>
            <a:endParaRPr lang="zh-CN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标题 3"/>
          <p:cNvSpPr>
            <a:spLocks noGrp="1"/>
          </p:cNvSpPr>
          <p:nvPr>
            <p:ph type="title"/>
          </p:nvPr>
        </p:nvSpPr>
        <p:spPr>
          <a:xfrm>
            <a:off x="551942" y="3090446"/>
            <a:ext cx="7740650" cy="679450"/>
          </a:xfrm>
        </p:spPr>
        <p:txBody>
          <a:bodyPr vert="horz"/>
          <a:lstStyle/>
          <a:p>
            <a:pPr>
              <a:buNone/>
            </a:pP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endParaRPr dirty="0"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D45EE13-2B26-1D5F-2E19-261ED39E3AA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49779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标题 1">
            <a:extLst>
              <a:ext uri="{FF2B5EF4-FFF2-40B4-BE49-F238E27FC236}">
                <a16:creationId xmlns:a16="http://schemas.microsoft.com/office/drawing/2014/main" id="{BF972847-AA9B-2D36-4351-F2FFBF0EA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" y="171450"/>
            <a:ext cx="9677400" cy="731838"/>
          </a:xfrm>
        </p:spPr>
        <p:txBody>
          <a:bodyPr vert="horz"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互连技术变革：铜互连、可插拔光模块、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、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OIO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FAAA254-D873-7B76-2772-399B02402AC0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83FD1E53-9FE0-147D-3B6D-26B62A742416}"/>
              </a:ext>
            </a:extLst>
          </p:cNvPr>
          <p:cNvCxnSpPr>
            <a:cxnSpLocks/>
          </p:cNvCxnSpPr>
          <p:nvPr/>
        </p:nvCxnSpPr>
        <p:spPr>
          <a:xfrm>
            <a:off x="933075" y="5600700"/>
            <a:ext cx="10599420" cy="0"/>
          </a:xfrm>
          <a:prstGeom prst="straightConnector1">
            <a:avLst/>
          </a:prstGeom>
          <a:ln w="19050">
            <a:solidFill>
              <a:srgbClr val="0052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iconfont-1018-792472">
            <a:extLst>
              <a:ext uri="{FF2B5EF4-FFF2-40B4-BE49-F238E27FC236}">
                <a16:creationId xmlns:a16="http://schemas.microsoft.com/office/drawing/2014/main" id="{AC7D3654-D8DA-F367-A98F-9D4BD20E305D}"/>
              </a:ext>
            </a:extLst>
          </p:cNvPr>
          <p:cNvSpPr/>
          <p:nvPr/>
        </p:nvSpPr>
        <p:spPr>
          <a:xfrm>
            <a:off x="1401683" y="5497808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4EBE5EBD-4417-3B84-AF2F-A82C6929D7FC}"/>
              </a:ext>
            </a:extLst>
          </p:cNvPr>
          <p:cNvSpPr txBox="1"/>
          <p:nvPr/>
        </p:nvSpPr>
        <p:spPr>
          <a:xfrm>
            <a:off x="1127384" y="5739578"/>
            <a:ext cx="75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1997</a:t>
            </a:r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C4F8D3D-8527-F7CE-F036-E5FFB83EA138}"/>
              </a:ext>
            </a:extLst>
          </p:cNvPr>
          <p:cNvGrpSpPr/>
          <p:nvPr/>
        </p:nvGrpSpPr>
        <p:grpSpPr>
          <a:xfrm>
            <a:off x="2302741" y="5497808"/>
            <a:ext cx="754380" cy="611102"/>
            <a:chOff x="2302741" y="5497808"/>
            <a:chExt cx="754380" cy="611102"/>
          </a:xfrm>
        </p:grpSpPr>
        <p:sp>
          <p:nvSpPr>
            <p:cNvPr id="100" name="iconfont-1018-792472">
              <a:extLst>
                <a:ext uri="{FF2B5EF4-FFF2-40B4-BE49-F238E27FC236}">
                  <a16:creationId xmlns:a16="http://schemas.microsoft.com/office/drawing/2014/main" id="{C2411CC2-A45F-CCBB-60AE-F895A1A86F5C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5F898082-1866-FC02-D6D5-9A1975DC11C5}"/>
                </a:ext>
              </a:extLst>
            </p:cNvPr>
            <p:cNvSpPr txBox="1"/>
            <p:nvPr/>
          </p:nvSpPr>
          <p:spPr>
            <a:xfrm>
              <a:off x="2302741" y="5739578"/>
              <a:ext cx="7543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cs typeface="+mn-ea"/>
                  <a:sym typeface="+mn-lt"/>
                </a:rPr>
                <a:t>2014</a:t>
              </a:r>
              <a:endParaRPr lang="zh-CN" altLang="en-US" dirty="0">
                <a:cs typeface="+mn-ea"/>
                <a:sym typeface="+mn-lt"/>
              </a:endParaRPr>
            </a:p>
          </p:txBody>
        </p:sp>
      </p:grpSp>
      <p:sp>
        <p:nvSpPr>
          <p:cNvPr id="103" name="iconfont-1018-792472">
            <a:extLst>
              <a:ext uri="{FF2B5EF4-FFF2-40B4-BE49-F238E27FC236}">
                <a16:creationId xmlns:a16="http://schemas.microsoft.com/office/drawing/2014/main" id="{B6FABA63-608D-04FD-3BF7-A628FB6A3C18}"/>
              </a:ext>
            </a:extLst>
          </p:cNvPr>
          <p:cNvSpPr/>
          <p:nvPr/>
        </p:nvSpPr>
        <p:spPr>
          <a:xfrm>
            <a:off x="3745240" y="5497808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AB7CB96D-3384-4EDE-4C46-BC94184B5E7C}"/>
              </a:ext>
            </a:extLst>
          </p:cNvPr>
          <p:cNvSpPr txBox="1"/>
          <p:nvPr/>
        </p:nvSpPr>
        <p:spPr>
          <a:xfrm>
            <a:off x="3478098" y="5739578"/>
            <a:ext cx="75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2016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06" name="iconfont-1018-792472">
            <a:extLst>
              <a:ext uri="{FF2B5EF4-FFF2-40B4-BE49-F238E27FC236}">
                <a16:creationId xmlns:a16="http://schemas.microsoft.com/office/drawing/2014/main" id="{F46B675D-898A-3BE2-AD38-072DE7CDBA0A}"/>
              </a:ext>
            </a:extLst>
          </p:cNvPr>
          <p:cNvSpPr/>
          <p:nvPr/>
        </p:nvSpPr>
        <p:spPr>
          <a:xfrm>
            <a:off x="4917019" y="5497808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C5A4EF93-B0CF-C1C5-B53B-853F0221E8EB}"/>
              </a:ext>
            </a:extLst>
          </p:cNvPr>
          <p:cNvSpPr txBox="1"/>
          <p:nvPr/>
        </p:nvSpPr>
        <p:spPr>
          <a:xfrm>
            <a:off x="4653455" y="5739578"/>
            <a:ext cx="75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2018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09" name="iconfont-1018-792472">
            <a:extLst>
              <a:ext uri="{FF2B5EF4-FFF2-40B4-BE49-F238E27FC236}">
                <a16:creationId xmlns:a16="http://schemas.microsoft.com/office/drawing/2014/main" id="{AE3CC971-61BA-E737-E160-334CDA5B2CE2}"/>
              </a:ext>
            </a:extLst>
          </p:cNvPr>
          <p:cNvSpPr/>
          <p:nvPr/>
        </p:nvSpPr>
        <p:spPr>
          <a:xfrm>
            <a:off x="6088797" y="5497808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A0983A09-B9E4-988B-357B-FA6275482492}"/>
              </a:ext>
            </a:extLst>
          </p:cNvPr>
          <p:cNvSpPr txBox="1"/>
          <p:nvPr/>
        </p:nvSpPr>
        <p:spPr>
          <a:xfrm>
            <a:off x="5360075" y="5739578"/>
            <a:ext cx="1754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2020-2021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2" name="iconfont-1018-792472">
            <a:extLst>
              <a:ext uri="{FF2B5EF4-FFF2-40B4-BE49-F238E27FC236}">
                <a16:creationId xmlns:a16="http://schemas.microsoft.com/office/drawing/2014/main" id="{4BEC9973-D0F5-6716-1698-7BEF33D1C310}"/>
              </a:ext>
            </a:extLst>
          </p:cNvPr>
          <p:cNvSpPr/>
          <p:nvPr/>
        </p:nvSpPr>
        <p:spPr>
          <a:xfrm>
            <a:off x="7260575" y="5497808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AE6BD08F-AEDB-0847-80DC-7C0A52669B2F}"/>
              </a:ext>
            </a:extLst>
          </p:cNvPr>
          <p:cNvSpPr txBox="1"/>
          <p:nvPr/>
        </p:nvSpPr>
        <p:spPr>
          <a:xfrm>
            <a:off x="6986276" y="5739578"/>
            <a:ext cx="75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2023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5" name="iconfont-1018-792472">
            <a:extLst>
              <a:ext uri="{FF2B5EF4-FFF2-40B4-BE49-F238E27FC236}">
                <a16:creationId xmlns:a16="http://schemas.microsoft.com/office/drawing/2014/main" id="{3B3721F7-75A8-73E8-DA1C-081233DCEE89}"/>
              </a:ext>
            </a:extLst>
          </p:cNvPr>
          <p:cNvSpPr/>
          <p:nvPr/>
        </p:nvSpPr>
        <p:spPr>
          <a:xfrm>
            <a:off x="8432353" y="5497808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FB1C6FC0-8810-7EBA-8A3D-C9A6FBFE7885}"/>
              </a:ext>
            </a:extLst>
          </p:cNvPr>
          <p:cNvSpPr txBox="1"/>
          <p:nvPr/>
        </p:nvSpPr>
        <p:spPr>
          <a:xfrm>
            <a:off x="8153562" y="5739578"/>
            <a:ext cx="75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2025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8" name="iconfont-1018-792472">
            <a:extLst>
              <a:ext uri="{FF2B5EF4-FFF2-40B4-BE49-F238E27FC236}">
                <a16:creationId xmlns:a16="http://schemas.microsoft.com/office/drawing/2014/main" id="{21C3A0DF-BA5D-0371-1C6D-4363309F999A}"/>
              </a:ext>
            </a:extLst>
          </p:cNvPr>
          <p:cNvSpPr/>
          <p:nvPr/>
        </p:nvSpPr>
        <p:spPr>
          <a:xfrm>
            <a:off x="9604131" y="5497809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9704391B-F74E-45D3-4177-6ACBD9CD4EFB}"/>
              </a:ext>
            </a:extLst>
          </p:cNvPr>
          <p:cNvSpPr txBox="1"/>
          <p:nvPr/>
        </p:nvSpPr>
        <p:spPr>
          <a:xfrm>
            <a:off x="9289883" y="5739578"/>
            <a:ext cx="924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2027E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21" name="iconfont-1018-792472">
            <a:extLst>
              <a:ext uri="{FF2B5EF4-FFF2-40B4-BE49-F238E27FC236}">
                <a16:creationId xmlns:a16="http://schemas.microsoft.com/office/drawing/2014/main" id="{71DE8BD8-4A1C-1E9A-05BC-29E641EE7E5E}"/>
              </a:ext>
            </a:extLst>
          </p:cNvPr>
          <p:cNvSpPr/>
          <p:nvPr/>
        </p:nvSpPr>
        <p:spPr>
          <a:xfrm>
            <a:off x="10775911" y="5497809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D184813B-4407-065E-F15B-330244C2DBB3}"/>
              </a:ext>
            </a:extLst>
          </p:cNvPr>
          <p:cNvSpPr txBox="1"/>
          <p:nvPr/>
        </p:nvSpPr>
        <p:spPr>
          <a:xfrm>
            <a:off x="10460009" y="5739578"/>
            <a:ext cx="924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2030E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146A5AC6-3F67-C01B-8E4E-4B1A2D998481}"/>
              </a:ext>
            </a:extLst>
          </p:cNvPr>
          <p:cNvSpPr txBox="1"/>
          <p:nvPr/>
        </p:nvSpPr>
        <p:spPr>
          <a:xfrm>
            <a:off x="-402337" y="5291359"/>
            <a:ext cx="20611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Total</a:t>
            </a:r>
          </a:p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Speed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6E6357F8-B683-ABA3-CB77-96E128A0B7F8}"/>
              </a:ext>
            </a:extLst>
          </p:cNvPr>
          <p:cNvSpPr txBox="1"/>
          <p:nvPr/>
        </p:nvSpPr>
        <p:spPr>
          <a:xfrm>
            <a:off x="494697" y="5055637"/>
            <a:ext cx="2061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2.5G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0FAC97D7-E9E5-5BA1-6097-148B73639866}"/>
              </a:ext>
            </a:extLst>
          </p:cNvPr>
          <p:cNvSpPr txBox="1"/>
          <p:nvPr/>
        </p:nvSpPr>
        <p:spPr>
          <a:xfrm>
            <a:off x="1695831" y="5055637"/>
            <a:ext cx="2061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100G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4043AB13-FE5B-2D10-7C09-2D09FF6992CC}"/>
              </a:ext>
            </a:extLst>
          </p:cNvPr>
          <p:cNvSpPr txBox="1"/>
          <p:nvPr/>
        </p:nvSpPr>
        <p:spPr>
          <a:xfrm>
            <a:off x="5199385" y="5055637"/>
            <a:ext cx="2061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400/800G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3A415130-5F83-2176-DFC7-3C1FC6C51EC7}"/>
              </a:ext>
            </a:extLst>
          </p:cNvPr>
          <p:cNvSpPr txBox="1"/>
          <p:nvPr/>
        </p:nvSpPr>
        <p:spPr>
          <a:xfrm>
            <a:off x="6329398" y="5055637"/>
            <a:ext cx="2061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800G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2EC67923-703A-0361-49A9-099FFE7E13F6}"/>
              </a:ext>
            </a:extLst>
          </p:cNvPr>
          <p:cNvSpPr txBox="1"/>
          <p:nvPr/>
        </p:nvSpPr>
        <p:spPr>
          <a:xfrm>
            <a:off x="7466358" y="5055637"/>
            <a:ext cx="2061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1.6T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97A4CBAF-8A2C-84FB-6753-C3858EFADB52}"/>
              </a:ext>
            </a:extLst>
          </p:cNvPr>
          <p:cNvSpPr txBox="1"/>
          <p:nvPr/>
        </p:nvSpPr>
        <p:spPr>
          <a:xfrm>
            <a:off x="8676427" y="5055637"/>
            <a:ext cx="2061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3.2T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C3A8DCB8-EE2E-65BA-9C51-B9CD67209086}"/>
              </a:ext>
            </a:extLst>
          </p:cNvPr>
          <p:cNvSpPr txBox="1"/>
          <p:nvPr/>
        </p:nvSpPr>
        <p:spPr>
          <a:xfrm>
            <a:off x="9848207" y="5055637"/>
            <a:ext cx="2061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6.4T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37" name="组合 136">
            <a:extLst>
              <a:ext uri="{FF2B5EF4-FFF2-40B4-BE49-F238E27FC236}">
                <a16:creationId xmlns:a16="http://schemas.microsoft.com/office/drawing/2014/main" id="{840527B2-9761-2BAE-5099-3A1743076ED7}"/>
              </a:ext>
            </a:extLst>
          </p:cNvPr>
          <p:cNvGrpSpPr/>
          <p:nvPr/>
        </p:nvGrpSpPr>
        <p:grpSpPr>
          <a:xfrm>
            <a:off x="1401684" y="4097438"/>
            <a:ext cx="9490042" cy="645195"/>
            <a:chOff x="1485504" y="4097438"/>
            <a:chExt cx="9490042" cy="645195"/>
          </a:xfrm>
        </p:grpSpPr>
        <p:sp>
          <p:nvSpPr>
            <p:cNvPr id="136" name="箭头: 右 135">
              <a:extLst>
                <a:ext uri="{FF2B5EF4-FFF2-40B4-BE49-F238E27FC236}">
                  <a16:creationId xmlns:a16="http://schemas.microsoft.com/office/drawing/2014/main" id="{E7CBD5E6-75D7-8A1E-51AD-DD8E61B76C0F}"/>
                </a:ext>
              </a:extLst>
            </p:cNvPr>
            <p:cNvSpPr/>
            <p:nvPr/>
          </p:nvSpPr>
          <p:spPr>
            <a:xfrm>
              <a:off x="7070096" y="4097438"/>
              <a:ext cx="3905450" cy="645195"/>
            </a:xfrm>
            <a:prstGeom prst="rightArrow">
              <a:avLst/>
            </a:prstGeom>
            <a:noFill/>
            <a:ln w="1270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6">
                      <a:lumMod val="75000"/>
                    </a:schemeClr>
                  </a:solidFill>
                  <a:cs typeface="+mn-ea"/>
                  <a:sym typeface="+mn-lt"/>
                </a:rPr>
                <a:t>    ?</a:t>
              </a:r>
              <a:endParaRPr lang="zh-CN" altLang="en-US" dirty="0">
                <a:solidFill>
                  <a:schemeClr val="accent6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32" name="箭头: 右 131">
              <a:extLst>
                <a:ext uri="{FF2B5EF4-FFF2-40B4-BE49-F238E27FC236}">
                  <a16:creationId xmlns:a16="http://schemas.microsoft.com/office/drawing/2014/main" id="{1AA29896-608D-0C44-8340-392B192086B5}"/>
                </a:ext>
              </a:extLst>
            </p:cNvPr>
            <p:cNvSpPr/>
            <p:nvPr/>
          </p:nvSpPr>
          <p:spPr>
            <a:xfrm>
              <a:off x="1485504" y="4097438"/>
              <a:ext cx="7116058" cy="645195"/>
            </a:xfrm>
            <a:prstGeom prst="rightArrow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Copper</a:t>
              </a:r>
              <a:endPara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134" name="直接箭头连接符 133">
            <a:extLst>
              <a:ext uri="{FF2B5EF4-FFF2-40B4-BE49-F238E27FC236}">
                <a16:creationId xmlns:a16="http://schemas.microsoft.com/office/drawing/2014/main" id="{CCA4DF44-D9A5-BA4A-E55E-0E7350AD4348}"/>
              </a:ext>
            </a:extLst>
          </p:cNvPr>
          <p:cNvCxnSpPr/>
          <p:nvPr/>
        </p:nvCxnSpPr>
        <p:spPr>
          <a:xfrm flipV="1">
            <a:off x="11026440" y="1363684"/>
            <a:ext cx="0" cy="337894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文本框 134">
            <a:extLst>
              <a:ext uri="{FF2B5EF4-FFF2-40B4-BE49-F238E27FC236}">
                <a16:creationId xmlns:a16="http://schemas.microsoft.com/office/drawing/2014/main" id="{9F94007B-700C-BDB6-058E-20F471A9CA12}"/>
              </a:ext>
            </a:extLst>
          </p:cNvPr>
          <p:cNvSpPr txBox="1"/>
          <p:nvPr/>
        </p:nvSpPr>
        <p:spPr>
          <a:xfrm rot="16200000">
            <a:off x="10453724" y="2743677"/>
            <a:ext cx="20611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Power efficiency</a:t>
            </a:r>
          </a:p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Complexity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38" name="组合 137">
            <a:extLst>
              <a:ext uri="{FF2B5EF4-FFF2-40B4-BE49-F238E27FC236}">
                <a16:creationId xmlns:a16="http://schemas.microsoft.com/office/drawing/2014/main" id="{70107C66-7D40-492A-D4A5-6BAA808C8A50}"/>
              </a:ext>
            </a:extLst>
          </p:cNvPr>
          <p:cNvGrpSpPr/>
          <p:nvPr/>
        </p:nvGrpSpPr>
        <p:grpSpPr>
          <a:xfrm>
            <a:off x="2669057" y="3244175"/>
            <a:ext cx="8222667" cy="645195"/>
            <a:chOff x="2752879" y="4097438"/>
            <a:chExt cx="8222667" cy="645195"/>
          </a:xfrm>
        </p:grpSpPr>
        <p:sp>
          <p:nvSpPr>
            <p:cNvPr id="139" name="箭头: 右 138">
              <a:extLst>
                <a:ext uri="{FF2B5EF4-FFF2-40B4-BE49-F238E27FC236}">
                  <a16:creationId xmlns:a16="http://schemas.microsoft.com/office/drawing/2014/main" id="{A26ADE6B-49CF-0B2B-4CA9-51FA87B47220}"/>
                </a:ext>
              </a:extLst>
            </p:cNvPr>
            <p:cNvSpPr/>
            <p:nvPr/>
          </p:nvSpPr>
          <p:spPr>
            <a:xfrm>
              <a:off x="7070096" y="4097438"/>
              <a:ext cx="3905450" cy="645195"/>
            </a:xfrm>
            <a:prstGeom prst="rightArrow">
              <a:avLst/>
            </a:prstGeom>
            <a:noFill/>
            <a:ln w="12700">
              <a:solidFill>
                <a:schemeClr val="accent4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5"/>
                  </a:solidFill>
                  <a:cs typeface="+mn-ea"/>
                  <a:sym typeface="+mn-lt"/>
                </a:rPr>
                <a:t>                              </a:t>
              </a:r>
              <a:r>
                <a:rPr lang="en-US" altLang="zh-CN" dirty="0">
                  <a:solidFill>
                    <a:schemeClr val="accent4"/>
                  </a:solidFill>
                  <a:cs typeface="+mn-ea"/>
                  <a:sym typeface="+mn-lt"/>
                </a:rPr>
                <a:t>?</a:t>
              </a:r>
              <a:endParaRPr lang="zh-CN" altLang="en-US" dirty="0">
                <a:solidFill>
                  <a:schemeClr val="accent4"/>
                </a:solidFill>
                <a:cs typeface="+mn-ea"/>
                <a:sym typeface="+mn-lt"/>
              </a:endParaRPr>
            </a:p>
          </p:txBody>
        </p:sp>
        <p:sp>
          <p:nvSpPr>
            <p:cNvPr id="140" name="箭头: 右 139">
              <a:extLst>
                <a:ext uri="{FF2B5EF4-FFF2-40B4-BE49-F238E27FC236}">
                  <a16:creationId xmlns:a16="http://schemas.microsoft.com/office/drawing/2014/main" id="{C8395481-E407-1A57-AB3B-745AE68A6769}"/>
                </a:ext>
              </a:extLst>
            </p:cNvPr>
            <p:cNvSpPr/>
            <p:nvPr/>
          </p:nvSpPr>
          <p:spPr>
            <a:xfrm>
              <a:off x="2752879" y="4097438"/>
              <a:ext cx="6721358" cy="645195"/>
            </a:xfrm>
            <a:prstGeom prst="rightArrow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cs typeface="+mn-ea"/>
                  <a:sym typeface="+mn-lt"/>
                </a:rPr>
                <a:t>Pluggable Optics</a:t>
              </a:r>
              <a:endParaRPr lang="zh-CN" altLang="en-US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43" name="箭头: 右 142">
            <a:extLst>
              <a:ext uri="{FF2B5EF4-FFF2-40B4-BE49-F238E27FC236}">
                <a16:creationId xmlns:a16="http://schemas.microsoft.com/office/drawing/2014/main" id="{F005F9F6-D1E0-9C25-8920-A4ED7442437A}"/>
              </a:ext>
            </a:extLst>
          </p:cNvPr>
          <p:cNvSpPr/>
          <p:nvPr/>
        </p:nvSpPr>
        <p:spPr>
          <a:xfrm>
            <a:off x="4859238" y="2276507"/>
            <a:ext cx="6032487" cy="807573"/>
          </a:xfrm>
          <a:prstGeom prst="rightArrow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cs typeface="+mn-ea"/>
                <a:sym typeface="+mn-lt"/>
              </a:rPr>
              <a:t>   CPO</a:t>
            </a:r>
            <a:endParaRPr lang="zh-CN" altLang="en-US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6" name="箭头: 右 145">
            <a:extLst>
              <a:ext uri="{FF2B5EF4-FFF2-40B4-BE49-F238E27FC236}">
                <a16:creationId xmlns:a16="http://schemas.microsoft.com/office/drawing/2014/main" id="{544170DA-07C0-31F4-D09E-9DCFF12C8C8A}"/>
              </a:ext>
            </a:extLst>
          </p:cNvPr>
          <p:cNvSpPr/>
          <p:nvPr/>
        </p:nvSpPr>
        <p:spPr>
          <a:xfrm>
            <a:off x="3302165" y="1366042"/>
            <a:ext cx="7589559" cy="645195"/>
          </a:xfrm>
          <a:prstGeom prst="rightArrow">
            <a:avLst/>
          </a:prstGeom>
          <a:solidFill>
            <a:schemeClr val="bg1"/>
          </a:solidFill>
          <a:ln>
            <a:solidFill>
              <a:schemeClr val="accent6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OIO</a:t>
            </a:r>
            <a:endParaRPr lang="zh-CN" altLang="en-US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3A082EE3-531A-D7E3-F422-37FCFACEAAA3}"/>
              </a:ext>
            </a:extLst>
          </p:cNvPr>
          <p:cNvSpPr txBox="1"/>
          <p:nvPr/>
        </p:nvSpPr>
        <p:spPr>
          <a:xfrm>
            <a:off x="8837339" y="3721184"/>
            <a:ext cx="20611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4">
                    <a:lumMod val="75000"/>
                  </a:schemeClr>
                </a:solidFill>
                <a:cs typeface="+mn-ea"/>
                <a:sym typeface="+mn-lt"/>
              </a:rPr>
              <a:t>3.2T optics </a:t>
            </a:r>
          </a:p>
          <a:p>
            <a:pPr algn="ctr"/>
            <a:r>
              <a:rPr lang="en-US" altLang="zh-CN" sz="1400" dirty="0">
                <a:solidFill>
                  <a:schemeClr val="accent4">
                    <a:lumMod val="75000"/>
                  </a:schemeClr>
                </a:solidFill>
                <a:cs typeface="+mn-ea"/>
                <a:sym typeface="+mn-lt"/>
              </a:rPr>
              <a:t>Hard to continue</a:t>
            </a:r>
            <a:endParaRPr lang="zh-CN" altLang="en-US" sz="1400" dirty="0">
              <a:solidFill>
                <a:schemeClr val="accent4">
                  <a:lumMod val="7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71" name="组合 170">
            <a:extLst>
              <a:ext uri="{FF2B5EF4-FFF2-40B4-BE49-F238E27FC236}">
                <a16:creationId xmlns:a16="http://schemas.microsoft.com/office/drawing/2014/main" id="{C21AE233-BF12-9462-3EFA-8E00F75C6210}"/>
              </a:ext>
            </a:extLst>
          </p:cNvPr>
          <p:cNvGrpSpPr/>
          <p:nvPr/>
        </p:nvGrpSpPr>
        <p:grpSpPr>
          <a:xfrm>
            <a:off x="4593574" y="2577401"/>
            <a:ext cx="1115494" cy="601626"/>
            <a:chOff x="4593574" y="2577401"/>
            <a:chExt cx="1115494" cy="601626"/>
          </a:xfrm>
        </p:grpSpPr>
        <p:sp>
          <p:nvSpPr>
            <p:cNvPr id="148" name="iconfont-1018-792472">
              <a:extLst>
                <a:ext uri="{FF2B5EF4-FFF2-40B4-BE49-F238E27FC236}">
                  <a16:creationId xmlns:a16="http://schemas.microsoft.com/office/drawing/2014/main" id="{DD905833-F9CE-0F1B-7524-51A2C85476AB}"/>
                </a:ext>
              </a:extLst>
            </p:cNvPr>
            <p:cNvSpPr/>
            <p:nvPr/>
          </p:nvSpPr>
          <p:spPr>
            <a:xfrm>
              <a:off x="5048430" y="2577401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49" name="文本框 148">
              <a:extLst>
                <a:ext uri="{FF2B5EF4-FFF2-40B4-BE49-F238E27FC236}">
                  <a16:creationId xmlns:a16="http://schemas.microsoft.com/office/drawing/2014/main" id="{6D4864F0-FD40-BF53-3D19-44BD69AC0DD5}"/>
                </a:ext>
              </a:extLst>
            </p:cNvPr>
            <p:cNvSpPr txBox="1"/>
            <p:nvPr/>
          </p:nvSpPr>
          <p:spPr>
            <a:xfrm>
              <a:off x="4593574" y="2871250"/>
              <a:ext cx="11154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rgbClr val="0052D9"/>
                  </a:solidFill>
                  <a:cs typeface="+mn-ea"/>
                  <a:sym typeface="+mn-lt"/>
                </a:rPr>
                <a:t>Concept</a:t>
              </a:r>
              <a:endParaRPr lang="zh-CN" altLang="en-US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52" name="组合 151">
            <a:extLst>
              <a:ext uri="{FF2B5EF4-FFF2-40B4-BE49-F238E27FC236}">
                <a16:creationId xmlns:a16="http://schemas.microsoft.com/office/drawing/2014/main" id="{063E9656-86D7-0F80-F1BF-75B868010E23}"/>
              </a:ext>
            </a:extLst>
          </p:cNvPr>
          <p:cNvGrpSpPr/>
          <p:nvPr/>
        </p:nvGrpSpPr>
        <p:grpSpPr>
          <a:xfrm>
            <a:off x="5589742" y="2577401"/>
            <a:ext cx="1115494" cy="601626"/>
            <a:chOff x="5589742" y="2577401"/>
            <a:chExt cx="1115494" cy="601626"/>
          </a:xfrm>
        </p:grpSpPr>
        <p:sp>
          <p:nvSpPr>
            <p:cNvPr id="150" name="iconfont-1018-792472">
              <a:extLst>
                <a:ext uri="{FF2B5EF4-FFF2-40B4-BE49-F238E27FC236}">
                  <a16:creationId xmlns:a16="http://schemas.microsoft.com/office/drawing/2014/main" id="{5C753B97-2F1F-5CA1-DDEE-E05461B1B5E7}"/>
                </a:ext>
              </a:extLst>
            </p:cNvPr>
            <p:cNvSpPr/>
            <p:nvPr/>
          </p:nvSpPr>
          <p:spPr>
            <a:xfrm>
              <a:off x="6044598" y="2577401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sp>
          <p:nvSpPr>
            <p:cNvPr id="151" name="文本框 150">
              <a:extLst>
                <a:ext uri="{FF2B5EF4-FFF2-40B4-BE49-F238E27FC236}">
                  <a16:creationId xmlns:a16="http://schemas.microsoft.com/office/drawing/2014/main" id="{4825104B-F905-1774-54F2-F389FD32846C}"/>
                </a:ext>
              </a:extLst>
            </p:cNvPr>
            <p:cNvSpPr txBox="1"/>
            <p:nvPr/>
          </p:nvSpPr>
          <p:spPr>
            <a:xfrm>
              <a:off x="5589742" y="2871250"/>
              <a:ext cx="11154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rgbClr val="0052D9"/>
                  </a:solidFill>
                  <a:cs typeface="+mn-ea"/>
                  <a:sym typeface="+mn-lt"/>
                </a:rPr>
                <a:t>Demo</a:t>
              </a:r>
              <a:endParaRPr lang="zh-CN" altLang="en-US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FE443CD2-5EA6-CBFB-ED56-C7590B49C1E9}"/>
              </a:ext>
            </a:extLst>
          </p:cNvPr>
          <p:cNvGrpSpPr/>
          <p:nvPr/>
        </p:nvGrpSpPr>
        <p:grpSpPr>
          <a:xfrm>
            <a:off x="6796917" y="2577401"/>
            <a:ext cx="1115494" cy="793893"/>
            <a:chOff x="5589742" y="2577401"/>
            <a:chExt cx="1115494" cy="793893"/>
          </a:xfrm>
        </p:grpSpPr>
        <p:sp>
          <p:nvSpPr>
            <p:cNvPr id="154" name="iconfont-1018-792472">
              <a:extLst>
                <a:ext uri="{FF2B5EF4-FFF2-40B4-BE49-F238E27FC236}">
                  <a16:creationId xmlns:a16="http://schemas.microsoft.com/office/drawing/2014/main" id="{35B6F8DE-178E-5CB9-5F05-612F3922D4B6}"/>
                </a:ext>
              </a:extLst>
            </p:cNvPr>
            <p:cNvSpPr/>
            <p:nvPr/>
          </p:nvSpPr>
          <p:spPr>
            <a:xfrm>
              <a:off x="6044598" y="2577401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55" name="文本框 154">
              <a:extLst>
                <a:ext uri="{FF2B5EF4-FFF2-40B4-BE49-F238E27FC236}">
                  <a16:creationId xmlns:a16="http://schemas.microsoft.com/office/drawing/2014/main" id="{654C5C5E-DADC-70C9-2057-6775A6684C0D}"/>
                </a:ext>
              </a:extLst>
            </p:cNvPr>
            <p:cNvSpPr txBox="1"/>
            <p:nvPr/>
          </p:nvSpPr>
          <p:spPr>
            <a:xfrm>
              <a:off x="5589742" y="2848074"/>
              <a:ext cx="11154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rgbClr val="0052D9"/>
                  </a:solidFill>
                  <a:cs typeface="+mn-ea"/>
                  <a:sym typeface="+mn-lt"/>
                </a:rPr>
                <a:t>Proofs of concept</a:t>
              </a:r>
              <a:endParaRPr lang="zh-CN" altLang="en-US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56" name="组合 155">
            <a:extLst>
              <a:ext uri="{FF2B5EF4-FFF2-40B4-BE49-F238E27FC236}">
                <a16:creationId xmlns:a16="http://schemas.microsoft.com/office/drawing/2014/main" id="{CB9FED42-BE7C-AB74-D637-92D45A612C48}"/>
              </a:ext>
            </a:extLst>
          </p:cNvPr>
          <p:cNvGrpSpPr/>
          <p:nvPr/>
        </p:nvGrpSpPr>
        <p:grpSpPr>
          <a:xfrm>
            <a:off x="7857103" y="2577401"/>
            <a:ext cx="1115494" cy="601626"/>
            <a:chOff x="5589742" y="2577401"/>
            <a:chExt cx="1115494" cy="601626"/>
          </a:xfrm>
        </p:grpSpPr>
        <p:sp>
          <p:nvSpPr>
            <p:cNvPr id="157" name="iconfont-1018-792472">
              <a:extLst>
                <a:ext uri="{FF2B5EF4-FFF2-40B4-BE49-F238E27FC236}">
                  <a16:creationId xmlns:a16="http://schemas.microsoft.com/office/drawing/2014/main" id="{2514C8D7-26D8-670D-A148-A6062DB9DD96}"/>
                </a:ext>
              </a:extLst>
            </p:cNvPr>
            <p:cNvSpPr/>
            <p:nvPr/>
          </p:nvSpPr>
          <p:spPr>
            <a:xfrm>
              <a:off x="6044598" y="2577401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sp>
          <p:nvSpPr>
            <p:cNvPr id="158" name="文本框 157">
              <a:extLst>
                <a:ext uri="{FF2B5EF4-FFF2-40B4-BE49-F238E27FC236}">
                  <a16:creationId xmlns:a16="http://schemas.microsoft.com/office/drawing/2014/main" id="{55420642-9F54-696E-1EA1-57A7F06B1B9A}"/>
                </a:ext>
              </a:extLst>
            </p:cNvPr>
            <p:cNvSpPr txBox="1"/>
            <p:nvPr/>
          </p:nvSpPr>
          <p:spPr>
            <a:xfrm>
              <a:off x="5589742" y="2871250"/>
              <a:ext cx="11154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rgbClr val="0052D9"/>
                  </a:solidFill>
                  <a:cs typeface="+mn-ea"/>
                  <a:sym typeface="+mn-lt"/>
                </a:rPr>
                <a:t>Test</a:t>
              </a:r>
              <a:endParaRPr lang="zh-CN" altLang="en-US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0DFCEDB3-42BA-07AA-77A9-7A4CA9940C08}"/>
              </a:ext>
            </a:extLst>
          </p:cNvPr>
          <p:cNvGrpSpPr/>
          <p:nvPr/>
        </p:nvGrpSpPr>
        <p:grpSpPr>
          <a:xfrm>
            <a:off x="9064419" y="2577401"/>
            <a:ext cx="1115494" cy="780397"/>
            <a:chOff x="5643082" y="2577401"/>
            <a:chExt cx="1115494" cy="780397"/>
          </a:xfrm>
        </p:grpSpPr>
        <p:sp>
          <p:nvSpPr>
            <p:cNvPr id="160" name="iconfont-1018-792472">
              <a:extLst>
                <a:ext uri="{FF2B5EF4-FFF2-40B4-BE49-F238E27FC236}">
                  <a16:creationId xmlns:a16="http://schemas.microsoft.com/office/drawing/2014/main" id="{ED141343-B0E9-0C31-A3D0-574EC161D735}"/>
                </a:ext>
              </a:extLst>
            </p:cNvPr>
            <p:cNvSpPr/>
            <p:nvPr/>
          </p:nvSpPr>
          <p:spPr>
            <a:xfrm>
              <a:off x="6044598" y="2577401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sp>
          <p:nvSpPr>
            <p:cNvPr id="161" name="文本框 160">
              <a:extLst>
                <a:ext uri="{FF2B5EF4-FFF2-40B4-BE49-F238E27FC236}">
                  <a16:creationId xmlns:a16="http://schemas.microsoft.com/office/drawing/2014/main" id="{5E960809-1561-50A1-E9EF-B74FCD2FE929}"/>
                </a:ext>
              </a:extLst>
            </p:cNvPr>
            <p:cNvSpPr txBox="1"/>
            <p:nvPr/>
          </p:nvSpPr>
          <p:spPr>
            <a:xfrm>
              <a:off x="5643082" y="2834578"/>
              <a:ext cx="11154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rgbClr val="0052D9"/>
                  </a:solidFill>
                  <a:cs typeface="+mn-ea"/>
                  <a:sym typeface="+mn-lt"/>
                </a:rPr>
                <a:t>Full scale deployment</a:t>
              </a:r>
              <a:endParaRPr lang="zh-CN" altLang="en-US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64" name="组合 163">
            <a:extLst>
              <a:ext uri="{FF2B5EF4-FFF2-40B4-BE49-F238E27FC236}">
                <a16:creationId xmlns:a16="http://schemas.microsoft.com/office/drawing/2014/main" id="{1895BE81-56D2-9BDC-9D33-6E7916E63DA3}"/>
              </a:ext>
            </a:extLst>
          </p:cNvPr>
          <p:cNvGrpSpPr/>
          <p:nvPr/>
        </p:nvGrpSpPr>
        <p:grpSpPr>
          <a:xfrm>
            <a:off x="2920351" y="1576885"/>
            <a:ext cx="1115494" cy="646196"/>
            <a:chOff x="3302165" y="1580956"/>
            <a:chExt cx="1115494" cy="646196"/>
          </a:xfrm>
        </p:grpSpPr>
        <p:sp>
          <p:nvSpPr>
            <p:cNvPr id="162" name="iconfont-1018-792472">
              <a:extLst>
                <a:ext uri="{FF2B5EF4-FFF2-40B4-BE49-F238E27FC236}">
                  <a16:creationId xmlns:a16="http://schemas.microsoft.com/office/drawing/2014/main" id="{6AFF8666-6F71-5CD9-3270-95862384C540}"/>
                </a:ext>
              </a:extLst>
            </p:cNvPr>
            <p:cNvSpPr/>
            <p:nvPr/>
          </p:nvSpPr>
          <p:spPr>
            <a:xfrm>
              <a:off x="3757021" y="1580956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6">
                <a:lumMod val="10000"/>
              </a:schemeClr>
            </a:solidFill>
            <a:ln>
              <a:solidFill>
                <a:schemeClr val="accent6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63" name="文本框 162">
              <a:extLst>
                <a:ext uri="{FF2B5EF4-FFF2-40B4-BE49-F238E27FC236}">
                  <a16:creationId xmlns:a16="http://schemas.microsoft.com/office/drawing/2014/main" id="{645BDF68-1659-28BE-DAB3-B8E754540A7C}"/>
                </a:ext>
              </a:extLst>
            </p:cNvPr>
            <p:cNvSpPr txBox="1"/>
            <p:nvPr/>
          </p:nvSpPr>
          <p:spPr>
            <a:xfrm>
              <a:off x="3302165" y="1919375"/>
              <a:ext cx="11154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Concept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165" name="组合 164">
            <a:extLst>
              <a:ext uri="{FF2B5EF4-FFF2-40B4-BE49-F238E27FC236}">
                <a16:creationId xmlns:a16="http://schemas.microsoft.com/office/drawing/2014/main" id="{32088448-E8F5-B286-8475-8A90D6C0D946}"/>
              </a:ext>
            </a:extLst>
          </p:cNvPr>
          <p:cNvGrpSpPr/>
          <p:nvPr/>
        </p:nvGrpSpPr>
        <p:grpSpPr>
          <a:xfrm>
            <a:off x="7115179" y="1576885"/>
            <a:ext cx="1115494" cy="646196"/>
            <a:chOff x="3302165" y="1580956"/>
            <a:chExt cx="1115494" cy="646196"/>
          </a:xfrm>
        </p:grpSpPr>
        <p:sp>
          <p:nvSpPr>
            <p:cNvPr id="166" name="iconfont-1018-792472">
              <a:extLst>
                <a:ext uri="{FF2B5EF4-FFF2-40B4-BE49-F238E27FC236}">
                  <a16:creationId xmlns:a16="http://schemas.microsoft.com/office/drawing/2014/main" id="{EE27585B-C766-2515-9E2B-9E86F090A052}"/>
                </a:ext>
              </a:extLst>
            </p:cNvPr>
            <p:cNvSpPr/>
            <p:nvPr/>
          </p:nvSpPr>
          <p:spPr>
            <a:xfrm>
              <a:off x="3757021" y="1580956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6">
                <a:lumMod val="10000"/>
              </a:schemeClr>
            </a:solidFill>
            <a:ln>
              <a:solidFill>
                <a:schemeClr val="accent6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67" name="文本框 166">
              <a:extLst>
                <a:ext uri="{FF2B5EF4-FFF2-40B4-BE49-F238E27FC236}">
                  <a16:creationId xmlns:a16="http://schemas.microsoft.com/office/drawing/2014/main" id="{6FC177F9-61E7-4EE8-8FFC-C2F76BCFF093}"/>
                </a:ext>
              </a:extLst>
            </p:cNvPr>
            <p:cNvSpPr txBox="1"/>
            <p:nvPr/>
          </p:nvSpPr>
          <p:spPr>
            <a:xfrm>
              <a:off x="3302165" y="1919375"/>
              <a:ext cx="11154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Demo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168" name="组合 167">
            <a:extLst>
              <a:ext uri="{FF2B5EF4-FFF2-40B4-BE49-F238E27FC236}">
                <a16:creationId xmlns:a16="http://schemas.microsoft.com/office/drawing/2014/main" id="{F62B0942-AEAF-3AB0-CBD3-9EFE6C032518}"/>
              </a:ext>
            </a:extLst>
          </p:cNvPr>
          <p:cNvGrpSpPr/>
          <p:nvPr/>
        </p:nvGrpSpPr>
        <p:grpSpPr>
          <a:xfrm>
            <a:off x="7955412" y="1576885"/>
            <a:ext cx="1115494" cy="861639"/>
            <a:chOff x="3302165" y="1580956"/>
            <a:chExt cx="1115494" cy="861639"/>
          </a:xfrm>
        </p:grpSpPr>
        <p:sp>
          <p:nvSpPr>
            <p:cNvPr id="169" name="iconfont-1018-792472">
              <a:extLst>
                <a:ext uri="{FF2B5EF4-FFF2-40B4-BE49-F238E27FC236}">
                  <a16:creationId xmlns:a16="http://schemas.microsoft.com/office/drawing/2014/main" id="{D03D7DB3-FCDA-ABE2-00E8-0132F9452E1E}"/>
                </a:ext>
              </a:extLst>
            </p:cNvPr>
            <p:cNvSpPr/>
            <p:nvPr/>
          </p:nvSpPr>
          <p:spPr>
            <a:xfrm>
              <a:off x="3757021" y="1580956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6">
                <a:lumMod val="10000"/>
              </a:schemeClr>
            </a:solidFill>
            <a:ln>
              <a:solidFill>
                <a:schemeClr val="accent6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70" name="文本框 169">
              <a:extLst>
                <a:ext uri="{FF2B5EF4-FFF2-40B4-BE49-F238E27FC236}">
                  <a16:creationId xmlns:a16="http://schemas.microsoft.com/office/drawing/2014/main" id="{E180931C-587D-0311-7748-01E124A7A3AB}"/>
                </a:ext>
              </a:extLst>
            </p:cNvPr>
            <p:cNvSpPr txBox="1"/>
            <p:nvPr/>
          </p:nvSpPr>
          <p:spPr>
            <a:xfrm>
              <a:off x="3302165" y="1919375"/>
              <a:ext cx="11154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Proofs of concept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172" name="组合 171">
            <a:extLst>
              <a:ext uri="{FF2B5EF4-FFF2-40B4-BE49-F238E27FC236}">
                <a16:creationId xmlns:a16="http://schemas.microsoft.com/office/drawing/2014/main" id="{341CC3DA-D7A4-E480-78B5-4E31685CB94A}"/>
              </a:ext>
            </a:extLst>
          </p:cNvPr>
          <p:cNvGrpSpPr/>
          <p:nvPr/>
        </p:nvGrpSpPr>
        <p:grpSpPr>
          <a:xfrm>
            <a:off x="9431425" y="1576885"/>
            <a:ext cx="1115494" cy="861639"/>
            <a:chOff x="3302165" y="1580956"/>
            <a:chExt cx="1115494" cy="861639"/>
          </a:xfrm>
        </p:grpSpPr>
        <p:sp>
          <p:nvSpPr>
            <p:cNvPr id="173" name="iconfont-1018-792472">
              <a:extLst>
                <a:ext uri="{FF2B5EF4-FFF2-40B4-BE49-F238E27FC236}">
                  <a16:creationId xmlns:a16="http://schemas.microsoft.com/office/drawing/2014/main" id="{01B4FF7B-629D-84E1-EAB1-162149FCC25E}"/>
                </a:ext>
              </a:extLst>
            </p:cNvPr>
            <p:cNvSpPr/>
            <p:nvPr/>
          </p:nvSpPr>
          <p:spPr>
            <a:xfrm>
              <a:off x="3757021" y="1580956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6">
                <a:lumMod val="10000"/>
              </a:schemeClr>
            </a:solidFill>
            <a:ln>
              <a:solidFill>
                <a:schemeClr val="accent6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74" name="文本框 173">
              <a:extLst>
                <a:ext uri="{FF2B5EF4-FFF2-40B4-BE49-F238E27FC236}">
                  <a16:creationId xmlns:a16="http://schemas.microsoft.com/office/drawing/2014/main" id="{74D71DB7-1705-4580-0452-036DB394B81E}"/>
                </a:ext>
              </a:extLst>
            </p:cNvPr>
            <p:cNvSpPr txBox="1"/>
            <p:nvPr/>
          </p:nvSpPr>
          <p:spPr>
            <a:xfrm>
              <a:off x="3302165" y="1919375"/>
              <a:ext cx="11154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Full scale deployment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203FA49B-D6A0-476B-01A8-EFA6A9E871A7}"/>
              </a:ext>
            </a:extLst>
          </p:cNvPr>
          <p:cNvGrpSpPr/>
          <p:nvPr/>
        </p:nvGrpSpPr>
        <p:grpSpPr>
          <a:xfrm>
            <a:off x="8704126" y="1576885"/>
            <a:ext cx="1115494" cy="646196"/>
            <a:chOff x="3302165" y="1580956"/>
            <a:chExt cx="1115494" cy="646196"/>
          </a:xfrm>
        </p:grpSpPr>
        <p:sp>
          <p:nvSpPr>
            <p:cNvPr id="176" name="iconfont-1018-792472">
              <a:extLst>
                <a:ext uri="{FF2B5EF4-FFF2-40B4-BE49-F238E27FC236}">
                  <a16:creationId xmlns:a16="http://schemas.microsoft.com/office/drawing/2014/main" id="{673BF21F-83F9-1979-45EF-481A19F60A0A}"/>
                </a:ext>
              </a:extLst>
            </p:cNvPr>
            <p:cNvSpPr/>
            <p:nvPr/>
          </p:nvSpPr>
          <p:spPr>
            <a:xfrm>
              <a:off x="3757021" y="1580956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6">
                <a:lumMod val="10000"/>
              </a:schemeClr>
            </a:solidFill>
            <a:ln>
              <a:solidFill>
                <a:schemeClr val="accent6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01D498CD-C8CA-2590-0FC0-AE400343B879}"/>
                </a:ext>
              </a:extLst>
            </p:cNvPr>
            <p:cNvSpPr txBox="1"/>
            <p:nvPr/>
          </p:nvSpPr>
          <p:spPr>
            <a:xfrm>
              <a:off x="3302165" y="1919375"/>
              <a:ext cx="11154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Test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sp>
        <p:nvSpPr>
          <p:cNvPr id="181" name="iconfont-1018-792472">
            <a:extLst>
              <a:ext uri="{FF2B5EF4-FFF2-40B4-BE49-F238E27FC236}">
                <a16:creationId xmlns:a16="http://schemas.microsoft.com/office/drawing/2014/main" id="{76EE4AAE-AF71-F7F5-5742-42D08A95082A}"/>
              </a:ext>
            </a:extLst>
          </p:cNvPr>
          <p:cNvSpPr/>
          <p:nvPr/>
        </p:nvSpPr>
        <p:spPr>
          <a:xfrm>
            <a:off x="2739994" y="3417945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82" name="文本框 181">
            <a:extLst>
              <a:ext uri="{FF2B5EF4-FFF2-40B4-BE49-F238E27FC236}">
                <a16:creationId xmlns:a16="http://schemas.microsoft.com/office/drawing/2014/main" id="{F9752DE3-0114-40A8-83EB-29643F3A3227}"/>
              </a:ext>
            </a:extLst>
          </p:cNvPr>
          <p:cNvSpPr txBox="1"/>
          <p:nvPr/>
        </p:nvSpPr>
        <p:spPr>
          <a:xfrm>
            <a:off x="2302741" y="3712066"/>
            <a:ext cx="11154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4">
                    <a:lumMod val="75000"/>
                  </a:schemeClr>
                </a:solidFill>
                <a:cs typeface="+mn-ea"/>
                <a:sym typeface="+mn-lt"/>
              </a:rPr>
              <a:t>Full scale deployment</a:t>
            </a:r>
            <a:endParaRPr lang="zh-CN" altLang="en-US" sz="1400" dirty="0">
              <a:solidFill>
                <a:schemeClr val="accent4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3" name="iconfont-1018-792472">
            <a:extLst>
              <a:ext uri="{FF2B5EF4-FFF2-40B4-BE49-F238E27FC236}">
                <a16:creationId xmlns:a16="http://schemas.microsoft.com/office/drawing/2014/main" id="{010959CF-D0A9-FF40-4C64-1476C5225674}"/>
              </a:ext>
            </a:extLst>
          </p:cNvPr>
          <p:cNvSpPr/>
          <p:nvPr/>
        </p:nvSpPr>
        <p:spPr>
          <a:xfrm>
            <a:off x="1479214" y="4317611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84" name="文本框 183">
            <a:extLst>
              <a:ext uri="{FF2B5EF4-FFF2-40B4-BE49-F238E27FC236}">
                <a16:creationId xmlns:a16="http://schemas.microsoft.com/office/drawing/2014/main" id="{B9A11310-AA18-B25A-688F-94749B9D6B98}"/>
              </a:ext>
            </a:extLst>
          </p:cNvPr>
          <p:cNvSpPr txBox="1"/>
          <p:nvPr/>
        </p:nvSpPr>
        <p:spPr>
          <a:xfrm>
            <a:off x="1077698" y="4574788"/>
            <a:ext cx="11154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Full scale deployment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4639FAB7-B6A1-7230-AD5E-A51673932C2C}"/>
              </a:ext>
            </a:extLst>
          </p:cNvPr>
          <p:cNvSpPr txBox="1"/>
          <p:nvPr/>
        </p:nvSpPr>
        <p:spPr>
          <a:xfrm>
            <a:off x="476056" y="6488020"/>
            <a:ext cx="1073385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Yole</a:t>
            </a:r>
          </a:p>
        </p:txBody>
      </p:sp>
      <p:sp>
        <p:nvSpPr>
          <p:cNvPr id="4" name="箭头: 直角上 3">
            <a:extLst>
              <a:ext uri="{FF2B5EF4-FFF2-40B4-BE49-F238E27FC236}">
                <a16:creationId xmlns:a16="http://schemas.microsoft.com/office/drawing/2014/main" id="{655E9103-EB90-3CD7-A603-1FCE189DA305}"/>
              </a:ext>
            </a:extLst>
          </p:cNvPr>
          <p:cNvSpPr/>
          <p:nvPr/>
        </p:nvSpPr>
        <p:spPr>
          <a:xfrm rot="16200000" flipV="1">
            <a:off x="1822010" y="3257372"/>
            <a:ext cx="523218" cy="896348"/>
          </a:xfrm>
          <a:prstGeom prst="bentUp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箭头: 直角上 4">
            <a:extLst>
              <a:ext uri="{FF2B5EF4-FFF2-40B4-BE49-F238E27FC236}">
                <a16:creationId xmlns:a16="http://schemas.microsoft.com/office/drawing/2014/main" id="{ECCD6F90-A6A2-CAD1-B9A6-08F425F89C36}"/>
              </a:ext>
            </a:extLst>
          </p:cNvPr>
          <p:cNvSpPr/>
          <p:nvPr/>
        </p:nvSpPr>
        <p:spPr>
          <a:xfrm rot="16200000" flipV="1">
            <a:off x="3771346" y="2209839"/>
            <a:ext cx="485751" cy="1278030"/>
          </a:xfrm>
          <a:prstGeom prst="bentUp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37A30D5-6435-38B1-2536-BD99E8D3C123}"/>
              </a:ext>
            </a:extLst>
          </p:cNvPr>
          <p:cNvSpPr txBox="1"/>
          <p:nvPr/>
        </p:nvSpPr>
        <p:spPr>
          <a:xfrm>
            <a:off x="3388680" y="2338251"/>
            <a:ext cx="12590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Transferring</a:t>
            </a:r>
            <a:endParaRPr lang="zh-CN" altLang="en-US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97ACA44-946A-42C9-CABB-D34DB285B74D}"/>
              </a:ext>
            </a:extLst>
          </p:cNvPr>
          <p:cNvSpPr txBox="1"/>
          <p:nvPr/>
        </p:nvSpPr>
        <p:spPr>
          <a:xfrm>
            <a:off x="1517049" y="3139719"/>
            <a:ext cx="11154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Transferred</a:t>
            </a:r>
            <a:endParaRPr lang="zh-CN" altLang="en-US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7" name="左大括号 16">
            <a:extLst>
              <a:ext uri="{FF2B5EF4-FFF2-40B4-BE49-F238E27FC236}">
                <a16:creationId xmlns:a16="http://schemas.microsoft.com/office/drawing/2014/main" id="{97769EBD-80AC-92E4-783B-810E8FB33583}"/>
              </a:ext>
            </a:extLst>
          </p:cNvPr>
          <p:cNvSpPr/>
          <p:nvPr/>
        </p:nvSpPr>
        <p:spPr>
          <a:xfrm>
            <a:off x="995533" y="1592737"/>
            <a:ext cx="406150" cy="2144840"/>
          </a:xfrm>
          <a:prstGeom prst="leftBrace">
            <a:avLst>
              <a:gd name="adj1" fmla="val 20841"/>
              <a:gd name="adj2" fmla="val 4555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3F2E993-13C0-D00E-7073-E02E01DC079F}"/>
              </a:ext>
            </a:extLst>
          </p:cNvPr>
          <p:cNvSpPr txBox="1"/>
          <p:nvPr/>
        </p:nvSpPr>
        <p:spPr>
          <a:xfrm>
            <a:off x="-453724" y="2369706"/>
            <a:ext cx="2061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Optics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27735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DB18A-A612-81D0-A2EB-7A43E173C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77F1ACE-62DC-6BFF-33F3-2B9D22D2B23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214925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6" imgW="404" imgH="405" progId="TCLayout.ActiveDocument.1">
                  <p:embed/>
                </p:oleObj>
              </mc:Choice>
              <mc:Fallback>
                <p:oleObj name="think-cell 幻灯片" r:id="rId16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1B79062-AB10-AD66-28A3-873272074B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" name="图表 169">
            <a:extLst>
              <a:ext uri="{FF2B5EF4-FFF2-40B4-BE49-F238E27FC236}">
                <a16:creationId xmlns:a16="http://schemas.microsoft.com/office/drawing/2014/main" id="{1987FD83-4562-496F-1F5C-FF0AE6A9FE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54729566"/>
              </p:ext>
            </p:extLst>
          </p:nvPr>
        </p:nvGraphicFramePr>
        <p:xfrm>
          <a:off x="6586723" y="2583928"/>
          <a:ext cx="4398145" cy="3704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sp>
        <p:nvSpPr>
          <p:cNvPr id="91" name="矩形 90">
            <a:extLst>
              <a:ext uri="{FF2B5EF4-FFF2-40B4-BE49-F238E27FC236}">
                <a16:creationId xmlns:a16="http://schemas.microsoft.com/office/drawing/2014/main" id="{2A75B2E2-D37D-930E-3B33-EF1FA065535C}"/>
              </a:ext>
            </a:extLst>
          </p:cNvPr>
          <p:cNvSpPr/>
          <p:nvPr/>
        </p:nvSpPr>
        <p:spPr>
          <a:xfrm>
            <a:off x="7245978" y="2370863"/>
            <a:ext cx="3543325" cy="1748238"/>
          </a:xfrm>
          <a:prstGeom prst="rect">
            <a:avLst/>
          </a:prstGeom>
          <a:solidFill>
            <a:srgbClr val="C1E1FE">
              <a:alpha val="25000"/>
            </a:srgb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51C27984-14BA-3117-3032-E80831A01721}"/>
              </a:ext>
            </a:extLst>
          </p:cNvPr>
          <p:cNvSpPr/>
          <p:nvPr/>
        </p:nvSpPr>
        <p:spPr>
          <a:xfrm>
            <a:off x="7204719" y="4149805"/>
            <a:ext cx="3584584" cy="1368023"/>
          </a:xfrm>
          <a:prstGeom prst="rect">
            <a:avLst/>
          </a:prstGeom>
          <a:solidFill>
            <a:srgbClr val="D9D9D9">
              <a:alpha val="25000"/>
            </a:srgb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6" name="Text Placeholder 4">
            <a:extLst>
              <a:ext uri="{FF2B5EF4-FFF2-40B4-BE49-F238E27FC236}">
                <a16:creationId xmlns:a16="http://schemas.microsoft.com/office/drawing/2014/main" id="{807F10EC-ADEC-73F9-6554-6EB9ED0A117A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10956617" y="3325720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光互连</a:t>
            </a:r>
          </a:p>
        </p:txBody>
      </p:sp>
      <p:sp>
        <p:nvSpPr>
          <p:cNvPr id="121" name="Text Placeholder 4">
            <a:extLst>
              <a:ext uri="{FF2B5EF4-FFF2-40B4-BE49-F238E27FC236}">
                <a16:creationId xmlns:a16="http://schemas.microsoft.com/office/drawing/2014/main" id="{EEB2B4E0-7BAA-AEAB-AF03-71285B868F39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7252353" y="2833483"/>
            <a:ext cx="1231792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latin typeface="+mn-lt"/>
                <a:ea typeface="+mn-ea"/>
                <a:cs typeface="+mn-ea"/>
                <a:sym typeface="+mn-lt"/>
              </a:rPr>
              <a:t>上限</a:t>
            </a:r>
            <a:r>
              <a:rPr lang="en-US" altLang="zh-CN" sz="1200" dirty="0">
                <a:latin typeface="+mn-lt"/>
                <a:ea typeface="+mn-ea"/>
                <a:cs typeface="+mn-ea"/>
                <a:sym typeface="+mn-lt"/>
              </a:rPr>
              <a:t>1.6Tbp/s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latin typeface="+mn-lt"/>
                <a:ea typeface="+mn-ea"/>
                <a:cs typeface="+mn-ea"/>
                <a:sym typeface="+mn-lt"/>
              </a:rPr>
              <a:t>可插拔光模块</a:t>
            </a:r>
            <a:endParaRPr lang="en-US" altLang="zh-CN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6" name="Text Placeholder 4">
            <a:extLst>
              <a:ext uri="{FF2B5EF4-FFF2-40B4-BE49-F238E27FC236}">
                <a16:creationId xmlns:a16="http://schemas.microsoft.com/office/drawing/2014/main" id="{F7E52F83-B906-C63C-D683-335A742EE245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7252353" y="2428571"/>
            <a:ext cx="1231792" cy="27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latin typeface="+mn-lt"/>
                <a:ea typeface="+mn-ea"/>
                <a:cs typeface="+mn-ea"/>
                <a:sym typeface="+mn-lt"/>
              </a:rPr>
              <a:t>上限</a:t>
            </a:r>
            <a:r>
              <a:rPr lang="en-US" altLang="zh-CN" sz="1200" dirty="0">
                <a:latin typeface="+mn-lt"/>
                <a:ea typeface="+mn-ea"/>
                <a:cs typeface="+mn-ea"/>
                <a:sym typeface="+mn-lt"/>
              </a:rPr>
              <a:t>6.4Tbp/s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latin typeface="+mn-lt"/>
                <a:ea typeface="+mn-ea"/>
                <a:cs typeface="+mn-ea"/>
                <a:sym typeface="+mn-lt"/>
              </a:rPr>
              <a:t>CPO</a:t>
            </a:r>
          </a:p>
        </p:txBody>
      </p:sp>
      <p:sp>
        <p:nvSpPr>
          <p:cNvPr id="140" name="Text Placeholder 4">
            <a:extLst>
              <a:ext uri="{FF2B5EF4-FFF2-40B4-BE49-F238E27FC236}">
                <a16:creationId xmlns:a16="http://schemas.microsoft.com/office/drawing/2014/main" id="{633B19CE-4887-7952-2D13-649B2FB8D7FB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10962789" y="4609608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铜互连</a:t>
            </a:r>
          </a:p>
        </p:txBody>
      </p:sp>
      <p:cxnSp>
        <p:nvCxnSpPr>
          <p:cNvPr id="144" name="直接连接符 143">
            <a:extLst>
              <a:ext uri="{FF2B5EF4-FFF2-40B4-BE49-F238E27FC236}">
                <a16:creationId xmlns:a16="http://schemas.microsoft.com/office/drawing/2014/main" id="{B3E2BD4A-657D-A020-D137-31054771F2F9}"/>
              </a:ext>
            </a:extLst>
          </p:cNvPr>
          <p:cNvCxnSpPr>
            <a:cxnSpLocks/>
          </p:cNvCxnSpPr>
          <p:nvPr/>
        </p:nvCxnSpPr>
        <p:spPr>
          <a:xfrm>
            <a:off x="7314725" y="2762164"/>
            <a:ext cx="3379481" cy="0"/>
          </a:xfrm>
          <a:prstGeom prst="line">
            <a:avLst/>
          </a:prstGeom>
          <a:ln>
            <a:solidFill>
              <a:schemeClr val="tx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id="{61518263-54BA-16B5-9CE4-5D013E91E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143" y="159198"/>
            <a:ext cx="9677146" cy="731520"/>
          </a:xfrm>
        </p:spPr>
        <p:txBody>
          <a:bodyPr vert="horz"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铜互连速率成为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IDC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算力释放瓶颈，光互连突破速率极限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47A6CDC-24B1-60EE-BA29-CB2E35B197DC}"/>
              </a:ext>
            </a:extLst>
          </p:cNvPr>
          <p:cNvSpPr txBox="1"/>
          <p:nvPr/>
        </p:nvSpPr>
        <p:spPr>
          <a:xfrm>
            <a:off x="395404" y="5990163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InfiniBand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网卡带宽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：有效传输速率，保证误码率不超过可用临界值的稳定传输速率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AA5F3160-738C-87C5-A795-B056FD86FF71}"/>
              </a:ext>
            </a:extLst>
          </p:cNvPr>
          <p:cNvSpPr txBox="1"/>
          <p:nvPr/>
        </p:nvSpPr>
        <p:spPr>
          <a:xfrm>
            <a:off x="6181999" y="1261308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3" name="文本框 152">
            <a:extLst>
              <a:ext uri="{FF2B5EF4-FFF2-40B4-BE49-F238E27FC236}">
                <a16:creationId xmlns:a16="http://schemas.microsoft.com/office/drawing/2014/main" id="{B8C5B985-123B-5E5B-694E-C5248B1DAF9C}"/>
              </a:ext>
            </a:extLst>
          </p:cNvPr>
          <p:cNvSpPr txBox="1"/>
          <p:nvPr/>
        </p:nvSpPr>
        <p:spPr>
          <a:xfrm>
            <a:off x="6435999" y="1529170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NVLink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单通道触达</a:t>
            </a:r>
            <a:r>
              <a:rPr kumimoji="1" lang="zh-CN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铜互连</a:t>
            </a:r>
            <a:r>
              <a:rPr kumimoji="1" lang="zh-CN" altLang="en-US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有效</a:t>
            </a:r>
            <a:r>
              <a:rPr kumimoji="1" lang="zh-CN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传输速率</a:t>
            </a:r>
            <a:r>
              <a:rPr kumimoji="1" lang="en-US" altLang="zh-CN" b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极限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224Gbps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，光互连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&gt;800Gbp/s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可支持算力扩充</a:t>
            </a: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4" name="Text Placeholder 4">
            <a:extLst>
              <a:ext uri="{FF2B5EF4-FFF2-40B4-BE49-F238E27FC236}">
                <a16:creationId xmlns:a16="http://schemas.microsoft.com/office/drawing/2014/main" id="{CC1B76EA-80C4-9E0C-FE26-828AA4BD346A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8297035" y="4740132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H100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5" name="Text Placeholder 4">
            <a:extLst>
              <a:ext uri="{FF2B5EF4-FFF2-40B4-BE49-F238E27FC236}">
                <a16:creationId xmlns:a16="http://schemas.microsoft.com/office/drawing/2014/main" id="{F66D4AB4-3C0B-4878-7716-B4AC555CDE0A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7420040" y="5069992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A100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6" name="Text Placeholder 4">
            <a:extLst>
              <a:ext uri="{FF2B5EF4-FFF2-40B4-BE49-F238E27FC236}">
                <a16:creationId xmlns:a16="http://schemas.microsoft.com/office/drawing/2014/main" id="{7779F627-F2EA-D7A9-F0EA-94AB8399BED4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9150041" y="4210281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B100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0BF7C0A-CA93-B1DB-60ED-1D840E443390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40C3D0EE-0AAE-5FDA-C19D-D60482CFEB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82552697"/>
              </p:ext>
            </p:extLst>
          </p:nvPr>
        </p:nvGraphicFramePr>
        <p:xfrm>
          <a:off x="406016" y="2028367"/>
          <a:ext cx="4792881" cy="36720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grpSp>
        <p:nvGrpSpPr>
          <p:cNvPr id="33" name="组合 32">
            <a:extLst>
              <a:ext uri="{FF2B5EF4-FFF2-40B4-BE49-F238E27FC236}">
                <a16:creationId xmlns:a16="http://schemas.microsoft.com/office/drawing/2014/main" id="{D830B87E-BE31-2C31-7690-D1F862E02D80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BCE16986-4D40-A41A-E6B6-A05C05606FD1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铜 </a:t>
              </a: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=&gt; </a:t>
              </a: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光：传输速率</a:t>
              </a: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224Gbps =&gt; 800Gbps+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7932CE7E-7053-F560-8F79-599E34A7B976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89" name="直线连接符 38">
              <a:extLst>
                <a:ext uri="{FF2B5EF4-FFF2-40B4-BE49-F238E27FC236}">
                  <a16:creationId xmlns:a16="http://schemas.microsoft.com/office/drawing/2014/main" id="{A2459047-D2F5-6A93-6043-F65FE093ABAC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72C7B039-FE12-C778-F388-F1495DFAED31}"/>
                </a:ext>
              </a:extLst>
            </p:cNvPr>
            <p:cNvSpPr txBox="1"/>
            <p:nvPr/>
          </p:nvSpPr>
          <p:spPr>
            <a:xfrm>
              <a:off x="504186" y="971862"/>
              <a:ext cx="3873873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通信速率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8" name="直线连接符 38">
              <a:extLst>
                <a:ext uri="{FF2B5EF4-FFF2-40B4-BE49-F238E27FC236}">
                  <a16:creationId xmlns:a16="http://schemas.microsoft.com/office/drawing/2014/main" id="{9BCB1723-D312-8F2C-8985-206A2EAC758A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130A2CCF-4792-4187-740B-53EDD1BC7B7C}"/>
              </a:ext>
            </a:extLst>
          </p:cNvPr>
          <p:cNvSpPr txBox="1"/>
          <p:nvPr/>
        </p:nvSpPr>
        <p:spPr>
          <a:xfrm>
            <a:off x="598141" y="1560262"/>
            <a:ext cx="550386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基于铜互连的通信速率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4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年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4x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，落后于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GPU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算力增幅，通信速率成为集群算力瓶颈</a:t>
            </a:r>
            <a:endParaRPr kumimoji="1" lang="zh-CN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E107C64-2966-84EB-C537-9B401C82FCF5}"/>
              </a:ext>
            </a:extLst>
          </p:cNvPr>
          <p:cNvSpPr txBox="1"/>
          <p:nvPr/>
        </p:nvSpPr>
        <p:spPr>
          <a:xfrm>
            <a:off x="4939730" y="2362654"/>
            <a:ext cx="1156270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推理算力</a:t>
            </a:r>
            <a:endParaRPr kumimoji="1"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32x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41508EA-7012-F175-3EBD-4275FA38BD14}"/>
              </a:ext>
            </a:extLst>
          </p:cNvPr>
          <p:cNvSpPr txBox="1"/>
          <p:nvPr/>
        </p:nvSpPr>
        <p:spPr>
          <a:xfrm>
            <a:off x="5003514" y="4092392"/>
            <a:ext cx="1074463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zh-CN" altLang="en-US" dirty="0">
                <a:solidFill>
                  <a:schemeClr val="accent5"/>
                </a:solidFill>
                <a:cs typeface="+mn-ea"/>
                <a:sym typeface="+mn-lt"/>
              </a:rPr>
              <a:t>训练算力</a:t>
            </a:r>
            <a:endParaRPr kumimoji="1" lang="en-US" altLang="zh-CN" dirty="0">
              <a:solidFill>
                <a:schemeClr val="accent5"/>
              </a:solidFill>
              <a:cs typeface="+mn-ea"/>
              <a:sym typeface="+mn-lt"/>
            </a:endParaRP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5"/>
                </a:solidFill>
                <a:cs typeface="+mn-ea"/>
                <a:sym typeface="+mn-lt"/>
              </a:rPr>
              <a:t>5.6x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3826E87-5A59-1074-F2A6-51787585C403}"/>
              </a:ext>
            </a:extLst>
          </p:cNvPr>
          <p:cNvSpPr txBox="1"/>
          <p:nvPr/>
        </p:nvSpPr>
        <p:spPr>
          <a:xfrm>
            <a:off x="5003514" y="4793295"/>
            <a:ext cx="1028700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zh-CN" altLang="en-US" dirty="0">
                <a:solidFill>
                  <a:srgbClr val="0052D9"/>
                </a:solidFill>
                <a:cs typeface="+mn-ea"/>
                <a:sym typeface="+mn-lt"/>
              </a:rPr>
              <a:t>网络带宽</a:t>
            </a:r>
            <a:r>
              <a:rPr kumimoji="1" lang="en-US" altLang="zh-CN" baseline="30000" dirty="0">
                <a:solidFill>
                  <a:srgbClr val="0052D9"/>
                </a:solidFill>
                <a:cs typeface="+mn-ea"/>
                <a:sym typeface="+mn-lt"/>
              </a:rPr>
              <a:t>1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4x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D28867A-D863-6C5A-41FD-84F642EDBEC0}"/>
              </a:ext>
            </a:extLst>
          </p:cNvPr>
          <p:cNvSpPr txBox="1"/>
          <p:nvPr/>
        </p:nvSpPr>
        <p:spPr>
          <a:xfrm>
            <a:off x="3720789" y="2344499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Blackwell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2w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FP4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EE0D2F9-50AB-A201-9125-EDB21C662140}"/>
              </a:ext>
            </a:extLst>
          </p:cNvPr>
          <p:cNvSpPr txBox="1"/>
          <p:nvPr/>
        </p:nvSpPr>
        <p:spPr>
          <a:xfrm>
            <a:off x="3235768" y="4075891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Hopper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FP8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BBB8668-846F-ABEC-00F1-04F3083BD423}"/>
              </a:ext>
            </a:extLst>
          </p:cNvPr>
          <p:cNvSpPr txBox="1"/>
          <p:nvPr/>
        </p:nvSpPr>
        <p:spPr>
          <a:xfrm>
            <a:off x="2354919" y="4338960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Ampere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620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2B2000C-0E01-6F45-654A-00DEE9458274}"/>
              </a:ext>
            </a:extLst>
          </p:cNvPr>
          <p:cNvSpPr txBox="1"/>
          <p:nvPr/>
        </p:nvSpPr>
        <p:spPr>
          <a:xfrm>
            <a:off x="1516277" y="4400604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Volta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130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FF201AB-0434-4852-8E17-DBA76094D961}"/>
              </a:ext>
            </a:extLst>
          </p:cNvPr>
          <p:cNvSpPr txBox="1"/>
          <p:nvPr/>
        </p:nvSpPr>
        <p:spPr>
          <a:xfrm>
            <a:off x="679366" y="4597608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Pascal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19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7DF1B80-E3FD-4C79-FC30-FA6B7CDCE568}"/>
              </a:ext>
            </a:extLst>
          </p:cNvPr>
          <p:cNvSpPr txBox="1"/>
          <p:nvPr/>
        </p:nvSpPr>
        <p:spPr>
          <a:xfrm>
            <a:off x="3395238" y="4696136"/>
            <a:ext cx="867285" cy="33548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5"/>
                </a:solidFill>
                <a:cs typeface="+mn-ea"/>
                <a:sym typeface="+mn-lt"/>
              </a:rPr>
              <a:t>1k </a:t>
            </a:r>
            <a:r>
              <a:rPr kumimoji="1" lang="en-US" altLang="zh-CN" sz="1200" dirty="0" err="1">
                <a:solidFill>
                  <a:schemeClr val="accent5"/>
                </a:solidFill>
                <a:cs typeface="+mn-ea"/>
                <a:sym typeface="+mn-lt"/>
              </a:rPr>
              <a:t>Tflops</a:t>
            </a:r>
            <a:endParaRPr kumimoji="1" lang="en-US" altLang="zh-CN" sz="1200" dirty="0">
              <a:solidFill>
                <a:schemeClr val="accent5"/>
              </a:solidFill>
              <a:cs typeface="+mn-ea"/>
              <a:sym typeface="+mn-lt"/>
            </a:endParaRPr>
          </a:p>
          <a:p>
            <a:pPr algn="ctr"/>
            <a:r>
              <a:rPr kumimoji="1" lang="en-US" altLang="zh-CN" sz="1200" dirty="0">
                <a:solidFill>
                  <a:schemeClr val="accent5"/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B98CB60-397E-AF27-C09D-4536FD50FDE6}"/>
              </a:ext>
            </a:extLst>
          </p:cNvPr>
          <p:cNvSpPr txBox="1"/>
          <p:nvPr/>
        </p:nvSpPr>
        <p:spPr>
          <a:xfrm>
            <a:off x="4170117" y="4368991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5"/>
                </a:solidFill>
                <a:cs typeface="+mn-ea"/>
                <a:sym typeface="+mn-lt"/>
              </a:rPr>
              <a:t>1.75k </a:t>
            </a:r>
            <a:r>
              <a:rPr kumimoji="1" lang="en-US" altLang="zh-CN" sz="1200" dirty="0" err="1">
                <a:solidFill>
                  <a:schemeClr val="accent5"/>
                </a:solidFill>
                <a:cs typeface="+mn-ea"/>
                <a:sym typeface="+mn-lt"/>
              </a:rPr>
              <a:t>Tflops</a:t>
            </a:r>
            <a:endParaRPr kumimoji="1" lang="en-US" altLang="zh-CN" sz="1200" dirty="0">
              <a:solidFill>
                <a:schemeClr val="accent5"/>
              </a:solidFill>
              <a:cs typeface="+mn-ea"/>
              <a:sym typeface="+mn-lt"/>
            </a:endParaRPr>
          </a:p>
          <a:p>
            <a:pPr algn="ctr"/>
            <a:r>
              <a:rPr kumimoji="1" lang="en-US" altLang="zh-CN" sz="1200" dirty="0">
                <a:solidFill>
                  <a:schemeClr val="accent5"/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60F0908-50AC-1EC0-1A41-48AB2E05CB88}"/>
              </a:ext>
            </a:extLst>
          </p:cNvPr>
          <p:cNvSpPr txBox="1"/>
          <p:nvPr/>
        </p:nvSpPr>
        <p:spPr>
          <a:xfrm>
            <a:off x="4170117" y="5031623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800Gbps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11AC40C-71A8-C591-235F-4A6280BAEA79}"/>
              </a:ext>
            </a:extLst>
          </p:cNvPr>
          <p:cNvSpPr txBox="1"/>
          <p:nvPr/>
        </p:nvSpPr>
        <p:spPr>
          <a:xfrm>
            <a:off x="3305569" y="5108011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400Gbps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39756B9-2D75-4F3F-A7E1-43CB33B1C463}"/>
              </a:ext>
            </a:extLst>
          </p:cNvPr>
          <p:cNvSpPr txBox="1"/>
          <p:nvPr/>
        </p:nvSpPr>
        <p:spPr>
          <a:xfrm>
            <a:off x="2398412" y="5197469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200Gbps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F9C5F783-6020-FF55-773A-563228759864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7420040" y="4524436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 err="1">
                <a:latin typeface="+mn-lt"/>
                <a:ea typeface="+mn-ea"/>
                <a:cs typeface="+mn-ea"/>
                <a:sym typeface="+mn-lt"/>
              </a:rPr>
              <a:t>NVLink</a:t>
            </a: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 3.0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3E7945A8-88A7-97FB-E1A1-7881D746439B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9076133" y="3719170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 err="1">
                <a:latin typeface="+mn-lt"/>
                <a:ea typeface="+mn-ea"/>
                <a:cs typeface="+mn-ea"/>
                <a:sym typeface="+mn-lt"/>
              </a:rPr>
              <a:t>NVLink</a:t>
            </a: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 5.0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6B069D73-4078-A6F3-4081-998A04DE5155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auto">
          <a:xfrm>
            <a:off x="8264640" y="4106242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 err="1">
                <a:latin typeface="+mn-lt"/>
                <a:ea typeface="+mn-ea"/>
                <a:cs typeface="+mn-ea"/>
                <a:sym typeface="+mn-lt"/>
              </a:rPr>
              <a:t>NVLink</a:t>
            </a: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 4.0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1B0E99A9-0CF8-651E-AF1C-431C57E5D7E3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auto">
          <a:xfrm>
            <a:off x="9994099" y="3719170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 err="1">
                <a:latin typeface="+mn-lt"/>
                <a:ea typeface="+mn-ea"/>
                <a:cs typeface="+mn-ea"/>
                <a:sym typeface="+mn-lt"/>
              </a:rPr>
              <a:t>NVLink</a:t>
            </a: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 6.0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3E14B2A7-8AFA-D06B-1F84-638BC175DAFB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auto">
          <a:xfrm>
            <a:off x="9985817" y="4210281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Rubin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32639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F132999-7A6A-C0DA-FA39-6557A781CD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438925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8" imgW="401" imgH="401" progId="TCLayout.ActiveDocument.1">
                  <p:embed/>
                </p:oleObj>
              </mc:Choice>
              <mc:Fallback>
                <p:oleObj name="think-cell 幻灯片" r:id="rId8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文本框 55">
            <a:extLst>
              <a:ext uri="{FF2B5EF4-FFF2-40B4-BE49-F238E27FC236}">
                <a16:creationId xmlns:a16="http://schemas.microsoft.com/office/drawing/2014/main" id="{73C0F648-236B-FC51-C553-DAB2DEE186DA}"/>
              </a:ext>
            </a:extLst>
          </p:cNvPr>
          <p:cNvSpPr txBox="1"/>
          <p:nvPr/>
        </p:nvSpPr>
        <p:spPr>
          <a:xfrm>
            <a:off x="194205" y="6480696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Marvell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专家访谈、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Microsoft Research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8C599B7C-C8ED-3D74-CE07-179B7D8D05C8}"/>
              </a:ext>
            </a:extLst>
          </p:cNvPr>
          <p:cNvSpPr txBox="1"/>
          <p:nvPr/>
        </p:nvSpPr>
        <p:spPr>
          <a:xfrm>
            <a:off x="610164" y="1459243"/>
            <a:ext cx="4928622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GPU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机柜间互连距离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&gt;5m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，万卡集群千米级</a:t>
            </a:r>
            <a:endParaRPr kumimoji="1" lang="zh-CN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840" name="矩形: 圆角 3839">
            <a:extLst>
              <a:ext uri="{FF2B5EF4-FFF2-40B4-BE49-F238E27FC236}">
                <a16:creationId xmlns:a16="http://schemas.microsoft.com/office/drawing/2014/main" id="{790B1870-88FB-BD6B-86C4-CCFB70E7AD0A}"/>
              </a:ext>
            </a:extLst>
          </p:cNvPr>
          <p:cNvSpPr/>
          <p:nvPr/>
        </p:nvSpPr>
        <p:spPr>
          <a:xfrm>
            <a:off x="6642100" y="5223912"/>
            <a:ext cx="4919043" cy="1112155"/>
          </a:xfrm>
          <a:prstGeom prst="roundRect">
            <a:avLst>
              <a:gd name="adj" fmla="val 3533"/>
            </a:avLst>
          </a:prstGeom>
          <a:solidFill>
            <a:schemeClr val="tx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25000"/>
              </a:lnSpc>
            </a:pPr>
            <a:r>
              <a:rPr lang="zh-CN" altLang="en-US" sz="1600" b="1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“</a:t>
            </a:r>
            <a:r>
              <a:rPr lang="zh-CN" altLang="zh-CN" sz="1600" b="1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铜互连的极限是</a:t>
            </a:r>
            <a:r>
              <a:rPr lang="en-US" altLang="zh-CN" sz="1600" b="1" i="1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2.5</a:t>
            </a:r>
            <a:r>
              <a:rPr lang="zh-CN" altLang="zh-CN" sz="1600" b="1" i="1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米</a:t>
            </a:r>
            <a:r>
              <a:rPr lang="en-US" altLang="zh-CN" sz="1600" b="1" i="1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-3</a:t>
            </a:r>
            <a:r>
              <a:rPr lang="zh-CN" altLang="zh-CN" sz="1600" b="1" i="1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米</a:t>
            </a:r>
            <a:r>
              <a:rPr lang="zh-CN" altLang="zh-CN" sz="1600" b="1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，因此铜互连能承载的集群上限大约是</a:t>
            </a:r>
            <a:r>
              <a:rPr lang="zh-CN" altLang="zh-CN" sz="1600" b="1" i="1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万卡规模</a:t>
            </a:r>
            <a:r>
              <a:rPr lang="zh-CN" altLang="en-US" sz="1600" b="1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”</a:t>
            </a:r>
            <a:endParaRPr lang="en-US" altLang="zh-CN" sz="1600" b="1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algn="r">
              <a:lnSpc>
                <a:spcPct val="125000"/>
              </a:lnSpc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—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博通高速互联系统架构师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DA05983-BC9A-C222-BB48-2B7148A3E894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8438272-DD80-325F-F941-5CEC1B69D10D}"/>
              </a:ext>
            </a:extLst>
          </p:cNvPr>
          <p:cNvSpPr/>
          <p:nvPr/>
        </p:nvSpPr>
        <p:spPr>
          <a:xfrm>
            <a:off x="13063447" y="2218327"/>
            <a:ext cx="4445496" cy="93075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归因不用那么细，归因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check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3677" name="连接符: 肘形 3676">
            <a:extLst>
              <a:ext uri="{FF2B5EF4-FFF2-40B4-BE49-F238E27FC236}">
                <a16:creationId xmlns:a16="http://schemas.microsoft.com/office/drawing/2014/main" id="{D5A142FF-0735-3827-58EC-1A8BB46072D6}"/>
              </a:ext>
            </a:extLst>
          </p:cNvPr>
          <p:cNvCxnSpPr>
            <a:cxnSpLocks/>
            <a:stCxn id="3680" idx="3"/>
            <a:endCxn id="3681" idx="3"/>
          </p:cNvCxnSpPr>
          <p:nvPr/>
        </p:nvCxnSpPr>
        <p:spPr>
          <a:xfrm>
            <a:off x="3750646" y="2936414"/>
            <a:ext cx="12700" cy="2416207"/>
          </a:xfrm>
          <a:prstGeom prst="bentConnector3">
            <a:avLst>
              <a:gd name="adj1" fmla="val 390000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01" name="组合 3700">
            <a:extLst>
              <a:ext uri="{FF2B5EF4-FFF2-40B4-BE49-F238E27FC236}">
                <a16:creationId xmlns:a16="http://schemas.microsoft.com/office/drawing/2014/main" id="{AB83E71C-3E91-228C-61D0-151F9FC1C746}"/>
              </a:ext>
            </a:extLst>
          </p:cNvPr>
          <p:cNvGrpSpPr/>
          <p:nvPr/>
        </p:nvGrpSpPr>
        <p:grpSpPr>
          <a:xfrm>
            <a:off x="1136180" y="1889913"/>
            <a:ext cx="2614466" cy="2093001"/>
            <a:chOff x="1226694" y="2091768"/>
            <a:chExt cx="2376970" cy="1902874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EA2216E7-D054-6911-62F1-6485D495319D}"/>
                </a:ext>
              </a:extLst>
            </p:cNvPr>
            <p:cNvGrpSpPr/>
            <p:nvPr/>
          </p:nvGrpSpPr>
          <p:grpSpPr>
            <a:xfrm>
              <a:off x="1330382" y="2935129"/>
              <a:ext cx="944034" cy="870628"/>
              <a:chOff x="926656" y="3512102"/>
              <a:chExt cx="944034" cy="870628"/>
            </a:xfrm>
          </p:grpSpPr>
          <p:sp>
            <p:nvSpPr>
              <p:cNvPr id="18" name="矩形: 圆角 17">
                <a:extLst>
                  <a:ext uri="{FF2B5EF4-FFF2-40B4-BE49-F238E27FC236}">
                    <a16:creationId xmlns:a16="http://schemas.microsoft.com/office/drawing/2014/main" id="{70323601-200F-D610-B725-2585A75D42C9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9" name="矩形: 圆角 18">
                <a:extLst>
                  <a:ext uri="{FF2B5EF4-FFF2-40B4-BE49-F238E27FC236}">
                    <a16:creationId xmlns:a16="http://schemas.microsoft.com/office/drawing/2014/main" id="{C59263FE-BD23-D3B9-1040-E7FADE1E688F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3" name="矩形: 圆角 22">
                <a:extLst>
                  <a:ext uri="{FF2B5EF4-FFF2-40B4-BE49-F238E27FC236}">
                    <a16:creationId xmlns:a16="http://schemas.microsoft.com/office/drawing/2014/main" id="{F4CBB76F-D749-0385-8424-4155C0662DEC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7AB78D5B-48DF-973F-5192-397F55E79838}"/>
                </a:ext>
              </a:extLst>
            </p:cNvPr>
            <p:cNvGrpSpPr/>
            <p:nvPr/>
          </p:nvGrpSpPr>
          <p:grpSpPr>
            <a:xfrm>
              <a:off x="2563712" y="2935129"/>
              <a:ext cx="944034" cy="870628"/>
              <a:chOff x="926656" y="3512102"/>
              <a:chExt cx="944034" cy="870628"/>
            </a:xfrm>
          </p:grpSpPr>
          <p:sp>
            <p:nvSpPr>
              <p:cNvPr id="26" name="矩形: 圆角 25">
                <a:extLst>
                  <a:ext uri="{FF2B5EF4-FFF2-40B4-BE49-F238E27FC236}">
                    <a16:creationId xmlns:a16="http://schemas.microsoft.com/office/drawing/2014/main" id="{1EA575A3-1765-6B76-30F7-2A70C9DDF344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7" name="矩形: 圆角 26">
                <a:extLst>
                  <a:ext uri="{FF2B5EF4-FFF2-40B4-BE49-F238E27FC236}">
                    <a16:creationId xmlns:a16="http://schemas.microsoft.com/office/drawing/2014/main" id="{DE4AD6F4-43A3-1B09-9A95-C30B6409F240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8" name="矩形: 圆角 27">
                <a:extLst>
                  <a:ext uri="{FF2B5EF4-FFF2-40B4-BE49-F238E27FC236}">
                    <a16:creationId xmlns:a16="http://schemas.microsoft.com/office/drawing/2014/main" id="{64496906-EA71-71DB-2065-706EBA29BAF6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C015E140-7A1D-7F16-C4EE-332851B5DB38}"/>
                </a:ext>
              </a:extLst>
            </p:cNvPr>
            <p:cNvSpPr txBox="1"/>
            <p:nvPr/>
          </p:nvSpPr>
          <p:spPr>
            <a:xfrm>
              <a:off x="2074972" y="3189996"/>
              <a:ext cx="679429" cy="335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52D9"/>
                  </a:solidFill>
                  <a:cs typeface="+mn-ea"/>
                  <a:sym typeface="+mn-lt"/>
                </a:rPr>
                <a:t>···</a:t>
              </a:r>
              <a:endParaRPr lang="zh-CN" altLang="en-US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cxnSp>
          <p:nvCxnSpPr>
            <p:cNvPr id="40" name="连接符: 肘形 39">
              <a:extLst>
                <a:ext uri="{FF2B5EF4-FFF2-40B4-BE49-F238E27FC236}">
                  <a16:creationId xmlns:a16="http://schemas.microsoft.com/office/drawing/2014/main" id="{7CC20260-5585-8F7B-0939-3015A660DE6B}"/>
                </a:ext>
              </a:extLst>
            </p:cNvPr>
            <p:cNvCxnSpPr>
              <a:cxnSpLocks/>
              <a:stCxn id="18" idx="0"/>
              <a:endCxn id="26" idx="0"/>
            </p:cNvCxnSpPr>
            <p:nvPr/>
          </p:nvCxnSpPr>
          <p:spPr>
            <a:xfrm rot="5400000" flipH="1" flipV="1">
              <a:off x="2419064" y="2318464"/>
              <a:ext cx="12700" cy="1233330"/>
            </a:xfrm>
            <a:prstGeom prst="bentConnector3">
              <a:avLst>
                <a:gd name="adj1" fmla="val 1800000"/>
              </a:avLst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B84B9174-6976-1A7E-F9FF-3976F29D8BEC}"/>
                </a:ext>
              </a:extLst>
            </p:cNvPr>
            <p:cNvSpPr txBox="1"/>
            <p:nvPr/>
          </p:nvSpPr>
          <p:spPr>
            <a:xfrm>
              <a:off x="1504814" y="2160304"/>
              <a:ext cx="1816564" cy="8394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cs typeface="+mn-ea"/>
                  <a:sym typeface="+mn-lt"/>
                </a:rPr>
                <a:t>Rack &amp; Rack</a:t>
              </a:r>
              <a:r>
                <a:rPr lang="zh-CN" altLang="en-US" dirty="0">
                  <a:cs typeface="+mn-ea"/>
                  <a:sym typeface="+mn-lt"/>
                </a:rPr>
                <a:t>（</a:t>
              </a:r>
              <a:r>
                <a:rPr lang="en-US" altLang="zh-CN" dirty="0">
                  <a:cs typeface="+mn-ea"/>
                  <a:sym typeface="+mn-lt"/>
                </a:rPr>
                <a:t>Scale Out</a:t>
              </a:r>
              <a:r>
                <a:rPr lang="zh-CN" altLang="en-US" dirty="0">
                  <a:cs typeface="+mn-ea"/>
                  <a:sym typeface="+mn-lt"/>
                </a:rPr>
                <a:t>）</a:t>
              </a:r>
              <a:endParaRPr lang="en-US" altLang="zh-CN" dirty="0">
                <a:cs typeface="+mn-ea"/>
                <a:sym typeface="+mn-lt"/>
              </a:endParaRPr>
            </a:p>
            <a:p>
              <a:pPr algn="ctr"/>
              <a:r>
                <a:rPr lang="en-US" altLang="zh-CN" b="1" dirty="0">
                  <a:solidFill>
                    <a:srgbClr val="0052D9"/>
                  </a:solidFill>
                  <a:cs typeface="+mn-ea"/>
                  <a:sym typeface="+mn-lt"/>
                </a:rPr>
                <a:t>&gt;5m</a:t>
              </a:r>
              <a:endParaRPr lang="zh-CN" altLang="en-US" b="1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sp>
          <p:nvSpPr>
            <p:cNvPr id="3680" name="矩形: 圆角 3679">
              <a:extLst>
                <a:ext uri="{FF2B5EF4-FFF2-40B4-BE49-F238E27FC236}">
                  <a16:creationId xmlns:a16="http://schemas.microsoft.com/office/drawing/2014/main" id="{08C830D4-FADA-DEE1-76AB-5CF7450C0330}"/>
                </a:ext>
              </a:extLst>
            </p:cNvPr>
            <p:cNvSpPr/>
            <p:nvPr/>
          </p:nvSpPr>
          <p:spPr>
            <a:xfrm>
              <a:off x="1226694" y="2091768"/>
              <a:ext cx="2376970" cy="1902874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6E017D33-248C-7348-763F-F47A52E406D2}"/>
              </a:ext>
            </a:extLst>
          </p:cNvPr>
          <p:cNvGrpSpPr/>
          <p:nvPr/>
        </p:nvGrpSpPr>
        <p:grpSpPr>
          <a:xfrm>
            <a:off x="1250863" y="4990145"/>
            <a:ext cx="1038358" cy="957617"/>
            <a:chOff x="926656" y="3512102"/>
            <a:chExt cx="944034" cy="870628"/>
          </a:xfrm>
        </p:grpSpPr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E087F5E8-D41E-9D1B-A2DD-72E90944A592}"/>
                </a:ext>
              </a:extLst>
            </p:cNvPr>
            <p:cNvSpPr/>
            <p:nvPr/>
          </p:nvSpPr>
          <p:spPr>
            <a:xfrm>
              <a:off x="926656" y="3512102"/>
              <a:ext cx="944034" cy="87062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30A02888-98A3-9114-4706-90C23E112CF2}"/>
                </a:ext>
              </a:extLst>
            </p:cNvPr>
            <p:cNvSpPr/>
            <p:nvPr/>
          </p:nvSpPr>
          <p:spPr>
            <a:xfrm>
              <a:off x="1065914" y="4001538"/>
              <a:ext cx="665519" cy="217561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DF8CAB8A-42A1-DE23-5E1A-AD8334B0C412}"/>
                </a:ext>
              </a:extLst>
            </p:cNvPr>
            <p:cNvSpPr/>
            <p:nvPr/>
          </p:nvSpPr>
          <p:spPr>
            <a:xfrm>
              <a:off x="1065914" y="3667525"/>
              <a:ext cx="665519" cy="217561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4C68D6FA-1762-B32E-40FF-2881E4769510}"/>
              </a:ext>
            </a:extLst>
          </p:cNvPr>
          <p:cNvGrpSpPr/>
          <p:nvPr/>
        </p:nvGrpSpPr>
        <p:grpSpPr>
          <a:xfrm>
            <a:off x="2607422" y="4990145"/>
            <a:ext cx="1038358" cy="957617"/>
            <a:chOff x="926656" y="3512102"/>
            <a:chExt cx="944034" cy="870628"/>
          </a:xfrm>
        </p:grpSpPr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880930B2-B29B-AC72-3A35-3275EE335150}"/>
                </a:ext>
              </a:extLst>
            </p:cNvPr>
            <p:cNvSpPr/>
            <p:nvPr/>
          </p:nvSpPr>
          <p:spPr>
            <a:xfrm>
              <a:off x="926656" y="3512102"/>
              <a:ext cx="944034" cy="87062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1475BD99-3F1E-7E1F-9391-08F883480FEA}"/>
                </a:ext>
              </a:extLst>
            </p:cNvPr>
            <p:cNvSpPr/>
            <p:nvPr/>
          </p:nvSpPr>
          <p:spPr>
            <a:xfrm>
              <a:off x="1065914" y="4001538"/>
              <a:ext cx="665519" cy="217561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C4C827F6-93BB-2D32-C04F-C541CEFF6B23}"/>
                </a:ext>
              </a:extLst>
            </p:cNvPr>
            <p:cNvSpPr/>
            <p:nvPr/>
          </p:nvSpPr>
          <p:spPr>
            <a:xfrm>
              <a:off x="1065914" y="3667525"/>
              <a:ext cx="665519" cy="217561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38" name="文本框 37">
            <a:extLst>
              <a:ext uri="{FF2B5EF4-FFF2-40B4-BE49-F238E27FC236}">
                <a16:creationId xmlns:a16="http://schemas.microsoft.com/office/drawing/2014/main" id="{39FE69A5-72F3-2176-4942-3BE38760A4CB}"/>
              </a:ext>
            </a:extLst>
          </p:cNvPr>
          <p:cNvSpPr txBox="1"/>
          <p:nvPr/>
        </p:nvSpPr>
        <p:spPr>
          <a:xfrm>
            <a:off x="2069849" y="5261323"/>
            <a:ext cx="747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0052D9"/>
                </a:solidFill>
                <a:cs typeface="+mn-ea"/>
                <a:sym typeface="+mn-lt"/>
              </a:rPr>
              <a:t>···</a:t>
            </a:r>
            <a:endParaRPr lang="zh-CN" altLang="en-US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681" name="矩形: 圆角 3680">
            <a:extLst>
              <a:ext uri="{FF2B5EF4-FFF2-40B4-BE49-F238E27FC236}">
                <a16:creationId xmlns:a16="http://schemas.microsoft.com/office/drawing/2014/main" id="{EBE39A50-9430-9AB5-39D4-BB14C062824E}"/>
              </a:ext>
            </a:extLst>
          </p:cNvPr>
          <p:cNvSpPr/>
          <p:nvPr/>
        </p:nvSpPr>
        <p:spPr>
          <a:xfrm>
            <a:off x="1136180" y="4306120"/>
            <a:ext cx="2614466" cy="2093001"/>
          </a:xfrm>
          <a:prstGeom prst="roundRect">
            <a:avLst>
              <a:gd name="adj" fmla="val 1015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84" name="文本框 3683">
            <a:extLst>
              <a:ext uri="{FF2B5EF4-FFF2-40B4-BE49-F238E27FC236}">
                <a16:creationId xmlns:a16="http://schemas.microsoft.com/office/drawing/2014/main" id="{1B2964A3-C377-4C2C-EB9B-019B27A0D665}"/>
              </a:ext>
            </a:extLst>
          </p:cNvPr>
          <p:cNvSpPr txBox="1"/>
          <p:nvPr/>
        </p:nvSpPr>
        <p:spPr>
          <a:xfrm>
            <a:off x="4076121" y="3778412"/>
            <a:ext cx="18165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Data center interconnect</a:t>
            </a:r>
          </a:p>
          <a:p>
            <a:pPr algn="ctr"/>
            <a:r>
              <a:rPr lang="en-US" altLang="zh-CN" b="1" dirty="0" err="1">
                <a:solidFill>
                  <a:srgbClr val="0052D9"/>
                </a:solidFill>
                <a:cs typeface="+mn-ea"/>
                <a:sym typeface="+mn-lt"/>
              </a:rPr>
              <a:t>m~km</a:t>
            </a:r>
            <a:endParaRPr lang="zh-CN" altLang="en-US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686" name="文本框 3685">
            <a:extLst>
              <a:ext uri="{FF2B5EF4-FFF2-40B4-BE49-F238E27FC236}">
                <a16:creationId xmlns:a16="http://schemas.microsoft.com/office/drawing/2014/main" id="{237B7F0C-9BCC-2C70-6872-EDC1DC7E2CF9}"/>
              </a:ext>
            </a:extLst>
          </p:cNvPr>
          <p:cNvSpPr txBox="1"/>
          <p:nvPr/>
        </p:nvSpPr>
        <p:spPr>
          <a:xfrm>
            <a:off x="6172421" y="1173995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3702" name="连接符: 肘形 3701">
            <a:extLst>
              <a:ext uri="{FF2B5EF4-FFF2-40B4-BE49-F238E27FC236}">
                <a16:creationId xmlns:a16="http://schemas.microsoft.com/office/drawing/2014/main" id="{5CE3D939-1865-66FD-287A-EDCE347EA12A}"/>
              </a:ext>
            </a:extLst>
          </p:cNvPr>
          <p:cNvCxnSpPr>
            <a:cxnSpLocks/>
            <a:stCxn id="30" idx="0"/>
            <a:endCxn id="34" idx="0"/>
          </p:cNvCxnSpPr>
          <p:nvPr/>
        </p:nvCxnSpPr>
        <p:spPr>
          <a:xfrm rot="5400000" flipH="1" flipV="1">
            <a:off x="2448321" y="4311866"/>
            <a:ext cx="12700" cy="1356559"/>
          </a:xfrm>
          <a:prstGeom prst="bentConnector3">
            <a:avLst>
              <a:gd name="adj1" fmla="val 180000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06" name="文本框 3705">
            <a:extLst>
              <a:ext uri="{FF2B5EF4-FFF2-40B4-BE49-F238E27FC236}">
                <a16:creationId xmlns:a16="http://schemas.microsoft.com/office/drawing/2014/main" id="{073D2CD5-53C8-625B-57DA-625CF473DDC6}"/>
              </a:ext>
            </a:extLst>
          </p:cNvPr>
          <p:cNvSpPr txBox="1"/>
          <p:nvPr/>
        </p:nvSpPr>
        <p:spPr>
          <a:xfrm>
            <a:off x="6427695" y="1478376"/>
            <a:ext cx="526891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目前通用速率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112Gbps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下，铜互连有效传输距离仅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2.5m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，需采用光互连取代铜互连</a:t>
            </a: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3707" name="图表 3706">
            <a:extLst>
              <a:ext uri="{FF2B5EF4-FFF2-40B4-BE49-F238E27FC236}">
                <a16:creationId xmlns:a16="http://schemas.microsoft.com/office/drawing/2014/main" id="{7713F77A-0E98-445D-ADAE-FE66BB31E8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5859857"/>
              </p:ext>
            </p:extLst>
          </p:nvPr>
        </p:nvGraphicFramePr>
        <p:xfrm>
          <a:off x="6841656" y="2744991"/>
          <a:ext cx="4748919" cy="24162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3708" name="Text Placeholder 4">
            <a:extLst>
              <a:ext uri="{FF2B5EF4-FFF2-40B4-BE49-F238E27FC236}">
                <a16:creationId xmlns:a16="http://schemas.microsoft.com/office/drawing/2014/main" id="{C5DBB834-0EEA-7696-AEFA-E85517E0B2D0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6269738" y="2219720"/>
            <a:ext cx="213730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有效传输距离</a:t>
            </a:r>
            <a:r>
              <a:rPr lang="en-US" altLang="zh-CN" sz="1400" baseline="300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(m)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09" name="文本框 20">
            <a:extLst>
              <a:ext uri="{FF2B5EF4-FFF2-40B4-BE49-F238E27FC236}">
                <a16:creationId xmlns:a16="http://schemas.microsoft.com/office/drawing/2014/main" id="{6ECB1057-BBC7-AE00-2DB4-837FCAA81073}"/>
              </a:ext>
            </a:extLst>
          </p:cNvPr>
          <p:cNvSpPr txBox="1"/>
          <p:nvPr/>
        </p:nvSpPr>
        <p:spPr>
          <a:xfrm>
            <a:off x="8536185" y="4193194"/>
            <a:ext cx="636413" cy="280988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2.5m</a:t>
            </a:r>
          </a:p>
        </p:txBody>
      </p:sp>
      <p:sp>
        <p:nvSpPr>
          <p:cNvPr id="3710" name="Text Placeholder 4">
            <a:extLst>
              <a:ext uri="{FF2B5EF4-FFF2-40B4-BE49-F238E27FC236}">
                <a16:creationId xmlns:a16="http://schemas.microsoft.com/office/drawing/2014/main" id="{4AE8E1AA-D71C-85D7-04E9-7EE05BEA6B0E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7955150" y="3785904"/>
            <a:ext cx="2312282" cy="521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112G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铜互联</a:t>
            </a:r>
          </a:p>
        </p:txBody>
      </p:sp>
      <p:grpSp>
        <p:nvGrpSpPr>
          <p:cNvPr id="3711" name="组合 3710">
            <a:extLst>
              <a:ext uri="{FF2B5EF4-FFF2-40B4-BE49-F238E27FC236}">
                <a16:creationId xmlns:a16="http://schemas.microsoft.com/office/drawing/2014/main" id="{6C6F9160-A687-5112-7186-A19DE18AE21D}"/>
              </a:ext>
            </a:extLst>
          </p:cNvPr>
          <p:cNvGrpSpPr/>
          <p:nvPr/>
        </p:nvGrpSpPr>
        <p:grpSpPr>
          <a:xfrm>
            <a:off x="9099655" y="2359032"/>
            <a:ext cx="2454525" cy="667571"/>
            <a:chOff x="9291269" y="3716868"/>
            <a:chExt cx="2454525" cy="667571"/>
          </a:xfrm>
        </p:grpSpPr>
        <p:sp>
          <p:nvSpPr>
            <p:cNvPr id="1025" name="文本框 20">
              <a:extLst>
                <a:ext uri="{FF2B5EF4-FFF2-40B4-BE49-F238E27FC236}">
                  <a16:creationId xmlns:a16="http://schemas.microsoft.com/office/drawing/2014/main" id="{5E805C8B-DF20-F453-FEA9-C26CC0EDFA2A}"/>
                </a:ext>
              </a:extLst>
            </p:cNvPr>
            <p:cNvSpPr txBox="1"/>
            <p:nvPr/>
          </p:nvSpPr>
          <p:spPr>
            <a:xfrm>
              <a:off x="9291269" y="4103451"/>
              <a:ext cx="976311" cy="280988"/>
            </a:xfrm>
            <a:prstGeom prst="rect">
              <a:avLst/>
            </a:prstGeom>
            <a:solidFill>
              <a:schemeClr val="bg1"/>
            </a:solidFill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rgbClr val="0052D9"/>
                  </a:solidFill>
                  <a:cs typeface="+mn-ea"/>
                  <a:sym typeface="+mn-lt"/>
                </a:rPr>
                <a:t>&gt;&gt;50m</a:t>
              </a:r>
            </a:p>
          </p:txBody>
        </p:sp>
        <p:sp>
          <p:nvSpPr>
            <p:cNvPr id="1026" name="Text Placeholder 4">
              <a:extLst>
                <a:ext uri="{FF2B5EF4-FFF2-40B4-BE49-F238E27FC236}">
                  <a16:creationId xmlns:a16="http://schemas.microsoft.com/office/drawing/2014/main" id="{785147F7-A2BB-2771-FFF2-9432554327EF}"/>
                </a:ext>
              </a:extLst>
            </p:cNvPr>
            <p:cNvSpPr txBox="1">
              <a:spLocks/>
            </p:cNvSpPr>
            <p:nvPr>
              <p:custDataLst>
                <p:tags r:id="rId5"/>
              </p:custDataLst>
            </p:nvPr>
          </p:nvSpPr>
          <p:spPr bwMode="auto">
            <a:xfrm>
              <a:off x="9291269" y="3716868"/>
              <a:ext cx="2454525" cy="521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square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800" b="0" kern="1200" dirty="0">
                  <a:solidFill>
                    <a:schemeClr val="tx1"/>
                  </a:solidFill>
                  <a:latin typeface="+mj-lt"/>
                  <a:ea typeface="+mj-ea"/>
                  <a:cs typeface="Arial" panose="020B0604020202020204" pitchFamily="34" charset="0"/>
                  <a:sym typeface="微软雅黑" panose="020B0503020204020204" pitchFamily="34" charset="-122"/>
                </a:defRPr>
              </a:lvl1pPr>
              <a:lvl2pPr marL="228600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Wingdings" panose="05000000000000000000" pitchFamily="2" charset="2"/>
                <a:buChar char="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2pPr>
              <a:lvl3pPr marL="438785" indent="-21018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Arial" panose="020B0604020202020204" pitchFamily="34" charset="0"/>
                <a:buChar char="‒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3pPr>
              <a:lvl4pPr marL="594360" indent="-15557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4pPr>
              <a:lvl5pPr marL="814070" indent="-1460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̶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5pPr>
              <a:lvl6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6pPr>
              <a:lvl7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7pPr>
              <a:lvl8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8pPr>
              <a:lvl9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dirty="0">
                  <a:solidFill>
                    <a:schemeClr val="accent6">
                      <a:lumMod val="1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200G</a:t>
              </a:r>
              <a:r>
                <a:rPr lang="zh-CN" altLang="en-US" dirty="0">
                  <a:solidFill>
                    <a:schemeClr val="accent6">
                      <a:lumMod val="1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光互联</a:t>
              </a:r>
            </a:p>
          </p:txBody>
        </p:sp>
      </p:grpSp>
      <p:cxnSp>
        <p:nvCxnSpPr>
          <p:cNvPr id="1031" name="直接连接符 1030">
            <a:extLst>
              <a:ext uri="{FF2B5EF4-FFF2-40B4-BE49-F238E27FC236}">
                <a16:creationId xmlns:a16="http://schemas.microsoft.com/office/drawing/2014/main" id="{7630D003-B955-5A6D-156A-640E9CB482B1}"/>
              </a:ext>
            </a:extLst>
          </p:cNvPr>
          <p:cNvCxnSpPr>
            <a:cxnSpLocks/>
          </p:cNvCxnSpPr>
          <p:nvPr/>
        </p:nvCxnSpPr>
        <p:spPr>
          <a:xfrm>
            <a:off x="7274103" y="2561802"/>
            <a:ext cx="0" cy="366378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2" name="椭圆 1031">
            <a:extLst>
              <a:ext uri="{FF2B5EF4-FFF2-40B4-BE49-F238E27FC236}">
                <a16:creationId xmlns:a16="http://schemas.microsoft.com/office/drawing/2014/main" id="{23CD7850-F95B-5AE5-7EF7-3A95E05D107B}"/>
              </a:ext>
            </a:extLst>
          </p:cNvPr>
          <p:cNvSpPr/>
          <p:nvPr/>
        </p:nvSpPr>
        <p:spPr>
          <a:xfrm>
            <a:off x="8926685" y="2555976"/>
            <a:ext cx="84667" cy="84667"/>
          </a:xfrm>
          <a:prstGeom prst="ellipse">
            <a:avLst/>
          </a:prstGeom>
          <a:solidFill>
            <a:schemeClr val="bg1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1033" name="直接箭头连接符 1032">
            <a:extLst>
              <a:ext uri="{FF2B5EF4-FFF2-40B4-BE49-F238E27FC236}">
                <a16:creationId xmlns:a16="http://schemas.microsoft.com/office/drawing/2014/main" id="{A024889B-083E-65DE-DA35-8EA1D88EC3A1}"/>
              </a:ext>
            </a:extLst>
          </p:cNvPr>
          <p:cNvCxnSpPr>
            <a:cxnSpLocks/>
          </p:cNvCxnSpPr>
          <p:nvPr/>
        </p:nvCxnSpPr>
        <p:spPr>
          <a:xfrm flipH="1">
            <a:off x="7299325" y="2598684"/>
            <a:ext cx="1629561" cy="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8" name="椭圆 1027">
            <a:extLst>
              <a:ext uri="{FF2B5EF4-FFF2-40B4-BE49-F238E27FC236}">
                <a16:creationId xmlns:a16="http://schemas.microsoft.com/office/drawing/2014/main" id="{9C83E2F2-BF2A-4B53-3552-F0DD8601823F}"/>
              </a:ext>
            </a:extLst>
          </p:cNvPr>
          <p:cNvSpPr/>
          <p:nvPr/>
        </p:nvSpPr>
        <p:spPr>
          <a:xfrm>
            <a:off x="8417465" y="4553783"/>
            <a:ext cx="84667" cy="84667"/>
          </a:xfrm>
          <a:prstGeom prst="ellipse">
            <a:avLst/>
          </a:prstGeom>
          <a:solidFill>
            <a:schemeClr val="bg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1034" name="直接箭头连接符 1033">
            <a:extLst>
              <a:ext uri="{FF2B5EF4-FFF2-40B4-BE49-F238E27FC236}">
                <a16:creationId xmlns:a16="http://schemas.microsoft.com/office/drawing/2014/main" id="{1E7B5A71-1378-25BA-844E-D629AD194426}"/>
              </a:ext>
            </a:extLst>
          </p:cNvPr>
          <p:cNvCxnSpPr>
            <a:cxnSpLocks/>
          </p:cNvCxnSpPr>
          <p:nvPr/>
        </p:nvCxnSpPr>
        <p:spPr>
          <a:xfrm flipH="1">
            <a:off x="7299325" y="4596116"/>
            <a:ext cx="1118140" cy="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9" name="标题 1">
            <a:extLst>
              <a:ext uri="{FF2B5EF4-FFF2-40B4-BE49-F238E27FC236}">
                <a16:creationId xmlns:a16="http://schemas.microsoft.com/office/drawing/2014/main" id="{6CE95533-BFDD-317F-19D4-3112CF619809}"/>
              </a:ext>
            </a:extLst>
          </p:cNvPr>
          <p:cNvSpPr txBox="1">
            <a:spLocks/>
          </p:cNvSpPr>
          <p:nvPr/>
        </p:nvSpPr>
        <p:spPr>
          <a:xfrm>
            <a:off x="263143" y="159198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铜互连传输距离成为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IDC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扩量瓶颈，光互连突破距离极限</a:t>
            </a:r>
          </a:p>
        </p:txBody>
      </p:sp>
      <p:sp>
        <p:nvSpPr>
          <p:cNvPr id="1050" name="文本框 1049">
            <a:extLst>
              <a:ext uri="{FF2B5EF4-FFF2-40B4-BE49-F238E27FC236}">
                <a16:creationId xmlns:a16="http://schemas.microsoft.com/office/drawing/2014/main" id="{3179E295-4193-A968-20B6-7ED683B0F2D2}"/>
              </a:ext>
            </a:extLst>
          </p:cNvPr>
          <p:cNvSpPr txBox="1"/>
          <p:nvPr/>
        </p:nvSpPr>
        <p:spPr>
          <a:xfrm>
            <a:off x="6372462" y="6495055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：有效传输距离，保证误码率不超过可用临界值的稳定传输距离</a:t>
            </a:r>
          </a:p>
        </p:txBody>
      </p:sp>
      <p:sp>
        <p:nvSpPr>
          <p:cNvPr id="1052" name="Text Placeholder 4">
            <a:extLst>
              <a:ext uri="{FF2B5EF4-FFF2-40B4-BE49-F238E27FC236}">
                <a16:creationId xmlns:a16="http://schemas.microsoft.com/office/drawing/2014/main" id="{98CB40A3-78E9-6274-F383-E6BC128C15F9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10075095" y="4321478"/>
            <a:ext cx="213730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传输速率（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Gbps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）</a:t>
            </a:r>
          </a:p>
        </p:txBody>
      </p:sp>
      <p:grpSp>
        <p:nvGrpSpPr>
          <p:cNvPr id="1061" name="组合 1060">
            <a:extLst>
              <a:ext uri="{FF2B5EF4-FFF2-40B4-BE49-F238E27FC236}">
                <a16:creationId xmlns:a16="http://schemas.microsoft.com/office/drawing/2014/main" id="{9CEE07DE-0EB8-609B-C9BE-AA5A4E34D770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1062" name="文本框 1061">
              <a:extLst>
                <a:ext uri="{FF2B5EF4-FFF2-40B4-BE49-F238E27FC236}">
                  <a16:creationId xmlns:a16="http://schemas.microsoft.com/office/drawing/2014/main" id="{55F168A1-7BD4-88E0-EF86-9379A44FF6E3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铜 </a:t>
              </a: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=&gt; </a:t>
              </a: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光：传输距离 </a:t>
              </a: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2.5m =&gt; 10m</a:t>
              </a: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级</a:t>
              </a:r>
            </a:p>
          </p:txBody>
        </p:sp>
        <p:sp>
          <p:nvSpPr>
            <p:cNvPr id="1063" name="文本框 1062">
              <a:extLst>
                <a:ext uri="{FF2B5EF4-FFF2-40B4-BE49-F238E27FC236}">
                  <a16:creationId xmlns:a16="http://schemas.microsoft.com/office/drawing/2014/main" id="{66B63D50-7A87-6ADA-4203-62F7A881047F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64" name="直线连接符 38">
              <a:extLst>
                <a:ext uri="{FF2B5EF4-FFF2-40B4-BE49-F238E27FC236}">
                  <a16:creationId xmlns:a16="http://schemas.microsoft.com/office/drawing/2014/main" id="{B7C75769-1CDE-6452-24DB-AE99868E490F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5" name="文本框 1064">
              <a:extLst>
                <a:ext uri="{FF2B5EF4-FFF2-40B4-BE49-F238E27FC236}">
                  <a16:creationId xmlns:a16="http://schemas.microsoft.com/office/drawing/2014/main" id="{CA12BEBA-992B-1331-D01B-D4F034DAA27D}"/>
                </a:ext>
              </a:extLst>
            </p:cNvPr>
            <p:cNvSpPr txBox="1"/>
            <p:nvPr/>
          </p:nvSpPr>
          <p:spPr>
            <a:xfrm>
              <a:off x="504186" y="971862"/>
              <a:ext cx="3873873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距离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66" name="直线连接符 38">
              <a:extLst>
                <a:ext uri="{FF2B5EF4-FFF2-40B4-BE49-F238E27FC236}">
                  <a16:creationId xmlns:a16="http://schemas.microsoft.com/office/drawing/2014/main" id="{01C339C7-3D20-22FC-25FA-5F4E074CFDBF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93631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80F2B-B77D-64EE-D8EB-5C6CFE23B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1B79062-AB10-AD66-28A3-873272074B8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867088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6" imgW="404" imgH="405" progId="TCLayout.ActiveDocument.1">
                  <p:embed/>
                </p:oleObj>
              </mc:Choice>
              <mc:Fallback>
                <p:oleObj name="think-cell 幻灯片" r:id="rId36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97B2007-B7FD-C68E-DD7F-3E2CE41FC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文本框 61">
            <a:extLst>
              <a:ext uri="{FF2B5EF4-FFF2-40B4-BE49-F238E27FC236}">
                <a16:creationId xmlns:a16="http://schemas.microsoft.com/office/drawing/2014/main" id="{1B75C849-9B8A-D63E-8B72-8C179694304E}"/>
              </a:ext>
            </a:extLst>
          </p:cNvPr>
          <p:cNvSpPr txBox="1"/>
          <p:nvPr/>
        </p:nvSpPr>
        <p:spPr>
          <a:xfrm>
            <a:off x="268503" y="6261465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115154D-BF4F-3FE2-994F-651E7AE8C2AF}"/>
              </a:ext>
            </a:extLst>
          </p:cNvPr>
          <p:cNvSpPr txBox="1"/>
          <p:nvPr/>
        </p:nvSpPr>
        <p:spPr>
          <a:xfrm>
            <a:off x="6397159" y="1552454"/>
            <a:ext cx="519670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方案：降低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60%+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光模块功耗，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万卡集群整体电费降低数百万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RMB/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年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261" name="Chart 3">
            <a:extLst>
              <a:ext uri="{FF2B5EF4-FFF2-40B4-BE49-F238E27FC236}">
                <a16:creationId xmlns:a16="http://schemas.microsoft.com/office/drawing/2014/main" id="{60E08A6A-2FF2-73CB-6B93-4B7C75623DBB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95829090"/>
              </p:ext>
            </p:extLst>
          </p:nvPr>
        </p:nvGraphicFramePr>
        <p:xfrm>
          <a:off x="6954838" y="2543175"/>
          <a:ext cx="4325937" cy="241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8"/>
          </a:graphicData>
        </a:graphic>
      </p:graphicFrame>
      <p:cxnSp>
        <p:nvCxnSpPr>
          <p:cNvPr id="271" name="直接连接符 270">
            <a:extLst>
              <a:ext uri="{FF2B5EF4-FFF2-40B4-BE49-F238E27FC236}">
                <a16:creationId xmlns:a16="http://schemas.microsoft.com/office/drawing/2014/main" id="{EEFE292B-D0A0-20CC-BC60-BAE3A928AACE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 bwMode="auto">
          <a:xfrm flipV="1">
            <a:off x="9274175" y="2620963"/>
            <a:ext cx="0" cy="23336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3818ECE0-82B7-DC06-95A8-1C90DA9721B2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9274175" y="2620963"/>
            <a:ext cx="12827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9F3D5B60-BF92-80CF-B129-E4261AE538EC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10556875" y="2620962"/>
            <a:ext cx="0" cy="1404938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7" name="Text Placeholder 4">
            <a:extLst>
              <a:ext uri="{FF2B5EF4-FFF2-40B4-BE49-F238E27FC236}">
                <a16:creationId xmlns:a16="http://schemas.microsoft.com/office/drawing/2014/main" id="{EE605E94-4724-DEF2-7912-9130B91ED26E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7794625" y="4041775"/>
            <a:ext cx="3968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33338" tIns="0" rIns="3333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8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3-5</a:t>
            </a:r>
            <a:endParaRPr lang="zh-CN" altLang="en-US" sz="18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5" name="Text Placeholder 4">
            <a:extLst>
              <a:ext uri="{FF2B5EF4-FFF2-40B4-BE49-F238E27FC236}">
                <a16:creationId xmlns:a16="http://schemas.microsoft.com/office/drawing/2014/main" id="{12CCB4E7-78E5-38E8-125C-7614CBCAF0AB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7897813" y="4808538"/>
            <a:ext cx="1905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3A78955D-E5A0-49B9-B7E1-CCC82A47AB9E}" type="datetime'铜'''''">
              <a:rPr lang="zh-CN" altLang="en-US" sz="1400" smtClean="0">
                <a:solidFill>
                  <a:srgbClr val="000000"/>
                </a:solidFill>
                <a:cs typeface="+mn-ea"/>
                <a:sym typeface="+mn-lt"/>
              </a:rPr>
              <a:pPr/>
              <a:t>铜</a:t>
            </a:fld>
            <a:endParaRPr lang="zh-CN" altLang="en-US" sz="14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336" name="Text Placeholder 4">
            <a:extLst>
              <a:ext uri="{FF2B5EF4-FFF2-40B4-BE49-F238E27FC236}">
                <a16:creationId xmlns:a16="http://schemas.microsoft.com/office/drawing/2014/main" id="{2D714D05-B240-7E6B-C34D-A9C32BCD887C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9075738" y="3684588"/>
            <a:ext cx="3968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33338" tIns="0" rIns="3333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800" b="1" dirty="0">
                <a:solidFill>
                  <a:schemeClr val="bg1"/>
                </a:solidFill>
                <a:cs typeface="+mn-ea"/>
                <a:sym typeface="+mn-lt"/>
              </a:rPr>
              <a:t>5-8</a:t>
            </a:r>
            <a:endParaRPr lang="zh-CN" altLang="en-US" sz="1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71" name="Text Placeholder 4">
            <a:extLst>
              <a:ext uri="{FF2B5EF4-FFF2-40B4-BE49-F238E27FC236}">
                <a16:creationId xmlns:a16="http://schemas.microsoft.com/office/drawing/2014/main" id="{C4877991-8815-3B0C-239A-FA241A1A2A3D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8734425" y="4808538"/>
            <a:ext cx="10795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1C365C8-0CB0-4B88-9626-3C99A0890C17}" type="datetime'''可''''''''插拔''''''''''''''''光''''模''''块'''''''''''">
              <a:rPr lang="zh-CN" altLang="en-US" sz="1400" smtClean="0">
                <a:solidFill>
                  <a:srgbClr val="000000"/>
                </a:solidFill>
                <a:cs typeface="+mn-ea"/>
                <a:sym typeface="+mn-lt"/>
              </a:rPr>
              <a:pPr/>
              <a:t>可插拔光模块</a:t>
            </a:fld>
            <a:endParaRPr lang="zh-CN" altLang="en-US" sz="14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343" name="Text Placeholder 4">
            <a:extLst>
              <a:ext uri="{FF2B5EF4-FFF2-40B4-BE49-F238E27FC236}">
                <a16:creationId xmlns:a16="http://schemas.microsoft.com/office/drawing/2014/main" id="{BB709C0C-4FD8-2E1A-C5FC-902A7B56B955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gray">
          <a:xfrm>
            <a:off x="10364788" y="4270375"/>
            <a:ext cx="3841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33338" tIns="0" rIns="3333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53390113-E74C-4AFE-97FC-A33B57D3516D}" type="datetime'''''''''''''''''2'''''''''''''''''''''''">
              <a:rPr lang="zh-CN" altLang="en-US" sz="1800" b="1" smtClean="0">
                <a:solidFill>
                  <a:schemeClr val="tx2"/>
                </a:solidFill>
                <a:effectLst/>
                <a:cs typeface="+mn-ea"/>
                <a:sym typeface="+mn-lt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</a:t>
            </a:fld>
            <a:r>
              <a:rPr lang="en-US" altLang="zh-CN" sz="1800" b="1" dirty="0">
                <a:solidFill>
                  <a:schemeClr val="tx2"/>
                </a:solidFill>
                <a:effectLst/>
                <a:cs typeface="+mn-ea"/>
                <a:sym typeface="+mn-lt"/>
              </a:rPr>
              <a:t>.4</a:t>
            </a:r>
            <a:endParaRPr lang="zh-CN" altLang="en-US" sz="1800" b="1" dirty="0">
              <a:solidFill>
                <a:schemeClr val="tx2"/>
              </a:solidFill>
              <a:cs typeface="+mn-ea"/>
              <a:sym typeface="+mn-lt"/>
            </a:endParaRPr>
          </a:p>
        </p:txBody>
      </p:sp>
      <p:sp>
        <p:nvSpPr>
          <p:cNvPr id="182" name="Text Placeholder 4">
            <a:extLst>
              <a:ext uri="{FF2B5EF4-FFF2-40B4-BE49-F238E27FC236}">
                <a16:creationId xmlns:a16="http://schemas.microsoft.com/office/drawing/2014/main" id="{62BEE835-D25C-5772-E70E-E3B50279754D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10358439" y="4808538"/>
            <a:ext cx="3984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176B2D5-5628-4116-8002-3DBBCA4C15B9}" type="datetime'''''''''''''''C''''''''P''O'''''''''''''''''''''''''''''''''''">
              <a:rPr lang="en-US" altLang="en-US" sz="1400" smtClean="0">
                <a:cs typeface="+mn-ea"/>
                <a:sym typeface="+mn-lt"/>
              </a:rPr>
              <a:pPr/>
              <a:t>CPO</a:t>
            </a:fld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267" name="Text Placeholder 4">
            <a:extLst>
              <a:ext uri="{FF2B5EF4-FFF2-40B4-BE49-F238E27FC236}">
                <a16:creationId xmlns:a16="http://schemas.microsoft.com/office/drawing/2014/main" id="{9660483F-E692-1656-25FE-7D1AA851843D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9537699" y="2427288"/>
            <a:ext cx="755650" cy="388938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D21FFE5-290F-478E-813B-C3667B3F5B7E}" type="datetime'''''''-''''''''''''''''''''6''''''''''3%'''''''">
              <a:rPr lang="en-US" altLang="en-US" sz="1800" b="1" smtClean="0">
                <a:effectLst/>
                <a:cs typeface="+mn-ea"/>
                <a:sym typeface="+mn-lt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-63%</a:t>
            </a:fld>
            <a:endParaRPr lang="zh-CN" altLang="en-US" sz="1800" b="1" dirty="0">
              <a:cs typeface="+mn-ea"/>
              <a:sym typeface="+mn-lt"/>
            </a:endParaRPr>
          </a:p>
        </p:txBody>
      </p:sp>
      <p:sp>
        <p:nvSpPr>
          <p:cNvPr id="105" name="矩形: 圆角 104">
            <a:extLst>
              <a:ext uri="{FF2B5EF4-FFF2-40B4-BE49-F238E27FC236}">
                <a16:creationId xmlns:a16="http://schemas.microsoft.com/office/drawing/2014/main" id="{00530C14-FEC1-EEF4-F50D-D7B9DAE15A48}"/>
              </a:ext>
            </a:extLst>
          </p:cNvPr>
          <p:cNvSpPr/>
          <p:nvPr/>
        </p:nvSpPr>
        <p:spPr>
          <a:xfrm>
            <a:off x="6781990" y="5152756"/>
            <a:ext cx="5003610" cy="1289682"/>
          </a:xfrm>
          <a:prstGeom prst="roundRect">
            <a:avLst>
              <a:gd name="adj" fmla="val 3687"/>
            </a:avLst>
          </a:prstGeom>
          <a:solidFill>
            <a:schemeClr val="tx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25000"/>
              </a:lnSpc>
            </a:pPr>
            <a:r>
              <a:rPr lang="zh-CN" altLang="en-US" sz="1600" b="1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“</a:t>
            </a:r>
            <a:r>
              <a:rPr lang="en-US" altLang="zh-CN" sz="1600" b="1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lang="zh-CN" altLang="zh-CN" sz="1600" b="1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主要替代传统可插拔光模块，短期不替代铜互连。</a:t>
            </a:r>
            <a:r>
              <a:rPr lang="en-US" altLang="zh-CN" sz="1600" b="1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lang="zh-CN" altLang="zh-CN" sz="1600" b="1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方案</a:t>
            </a:r>
            <a:r>
              <a:rPr lang="zh-CN" altLang="zh-CN" sz="1600" b="1" i="1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功耗降低</a:t>
            </a:r>
            <a:r>
              <a:rPr lang="en-US" altLang="zh-CN" sz="1600" b="1" i="1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70%</a:t>
            </a:r>
            <a:r>
              <a:rPr lang="zh-CN" altLang="zh-CN" sz="1600" b="1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（</a:t>
            </a:r>
            <a:r>
              <a:rPr lang="en-US" altLang="zh-CN" sz="1600" b="1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33W→9W</a:t>
            </a:r>
            <a:r>
              <a:rPr lang="zh-CN" altLang="zh-CN" sz="1600" b="1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），</a:t>
            </a:r>
            <a:r>
              <a:rPr lang="zh-CN" altLang="en-US" sz="1600" b="1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（交换机）</a:t>
            </a:r>
            <a:r>
              <a:rPr lang="zh-CN" altLang="zh-CN" sz="1600" b="1" i="1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整体成本降低</a:t>
            </a:r>
            <a:r>
              <a:rPr lang="en-US" altLang="zh-CN" sz="1600" b="1" i="1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30%</a:t>
            </a:r>
            <a:r>
              <a:rPr lang="zh-CN" altLang="zh-CN" sz="1600" b="1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，具备明确竞争优势。</a:t>
            </a:r>
            <a:r>
              <a:rPr lang="zh-CN" altLang="en-US" sz="1600" b="1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”</a:t>
            </a:r>
            <a:endParaRPr lang="en-US" altLang="zh-CN" sz="1600" b="1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algn="r">
              <a:lnSpc>
                <a:spcPct val="125000"/>
              </a:lnSpc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—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英伟达网络方案架构师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63B543A-19AC-3561-C18B-2FDB92856FB1}"/>
              </a:ext>
            </a:extLst>
          </p:cNvPr>
          <p:cNvSpPr/>
          <p:nvPr/>
        </p:nvSpPr>
        <p:spPr>
          <a:xfrm>
            <a:off x="11217383" y="608842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262" name="Chart 3">
            <a:extLst>
              <a:ext uri="{FF2B5EF4-FFF2-40B4-BE49-F238E27FC236}">
                <a16:creationId xmlns:a16="http://schemas.microsoft.com/office/drawing/2014/main" id="{24008895-D9E2-6C70-A8FF-44A97D3617B1}"/>
              </a:ext>
            </a:extLst>
          </p:cNvPr>
          <p:cNvGraphicFramePr/>
          <p:nvPr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3753314800"/>
              </p:ext>
            </p:extLst>
          </p:nvPr>
        </p:nvGraphicFramePr>
        <p:xfrm>
          <a:off x="682625" y="2460625"/>
          <a:ext cx="4786313" cy="27352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9"/>
          </a:graphicData>
        </a:graphic>
      </p:graphicFrame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71BDA12-AEE8-4134-5C60-C6EA46F4A231}"/>
              </a:ext>
            </a:extLst>
          </p:cNvPr>
          <p:cNvCxnSpPr/>
          <p:nvPr>
            <p:custDataLst>
              <p:tags r:id="rId14"/>
            </p:custDataLst>
          </p:nvPr>
        </p:nvCxnSpPr>
        <p:spPr bwMode="auto">
          <a:xfrm>
            <a:off x="5386388" y="4889500"/>
            <a:ext cx="58738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5C350DA0-781F-9001-54A5-56F3DBC39223}"/>
              </a:ext>
            </a:extLst>
          </p:cNvPr>
          <p:cNvCxnSpPr/>
          <p:nvPr>
            <p:custDataLst>
              <p:tags r:id="rId15"/>
            </p:custDataLst>
          </p:nvPr>
        </p:nvCxnSpPr>
        <p:spPr bwMode="auto">
          <a:xfrm>
            <a:off x="5386388" y="4465638"/>
            <a:ext cx="58738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4D7EB9F4-2DBC-160E-4D54-E65265566121}"/>
              </a:ext>
            </a:extLst>
          </p:cNvPr>
          <p:cNvCxnSpPr/>
          <p:nvPr>
            <p:custDataLst>
              <p:tags r:id="rId16"/>
            </p:custDataLst>
          </p:nvPr>
        </p:nvCxnSpPr>
        <p:spPr bwMode="auto">
          <a:xfrm>
            <a:off x="5386388" y="4040188"/>
            <a:ext cx="58738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2D93D83C-858F-8F88-AAB8-6F68D3618D3E}"/>
              </a:ext>
            </a:extLst>
          </p:cNvPr>
          <p:cNvCxnSpPr/>
          <p:nvPr>
            <p:custDataLst>
              <p:tags r:id="rId17"/>
            </p:custDataLst>
          </p:nvPr>
        </p:nvCxnSpPr>
        <p:spPr bwMode="auto">
          <a:xfrm>
            <a:off x="5386388" y="3616325"/>
            <a:ext cx="58738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D3C59829-087F-B8B1-F707-6F9BF88AA173}"/>
              </a:ext>
            </a:extLst>
          </p:cNvPr>
          <p:cNvCxnSpPr/>
          <p:nvPr>
            <p:custDataLst>
              <p:tags r:id="rId18"/>
            </p:custDataLst>
          </p:nvPr>
        </p:nvCxnSpPr>
        <p:spPr bwMode="auto">
          <a:xfrm>
            <a:off x="5386388" y="3190875"/>
            <a:ext cx="58738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16E45A7-247C-8DC0-B553-0A8E733A01A2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gray">
          <a:xfrm>
            <a:off x="5562600" y="4783138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effectLst/>
                <a:cs typeface="+mn-ea"/>
                <a:sym typeface="+mn-lt"/>
              </a:rPr>
              <a:t>0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53" name="Text Placeholder 4">
            <a:extLst>
              <a:ext uri="{FF2B5EF4-FFF2-40B4-BE49-F238E27FC236}">
                <a16:creationId xmlns:a16="http://schemas.microsoft.com/office/drawing/2014/main" id="{9B97D8B3-5266-2982-1A1F-9A307773FD81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gray">
          <a:xfrm>
            <a:off x="5562600" y="4359275"/>
            <a:ext cx="3444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B6FAF003-FD49-49EC-A5CD-EE15446ABF3A}" type="datetime'''''''''''0''''''''''''.''''''''''''''0''''''''''''2'''">
              <a:rPr lang="zh-CN" altLang="en-US" sz="1400" smtClean="0">
                <a:effectLst/>
                <a:cs typeface="+mn-ea"/>
                <a:sym typeface="+mn-lt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0.02</a:t>
            </a:fld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54" name="Text Placeholder 4">
            <a:extLst>
              <a:ext uri="{FF2B5EF4-FFF2-40B4-BE49-F238E27FC236}">
                <a16:creationId xmlns:a16="http://schemas.microsoft.com/office/drawing/2014/main" id="{4E25710A-4DC0-8907-7590-6CEF0E5A923B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gray">
          <a:xfrm>
            <a:off x="5562600" y="3933825"/>
            <a:ext cx="3444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C39CD60-979E-4089-86ED-23B8B68F8E3F}" type="datetime'''''''''''''''''''''''''''''0.''''''''''0''4'''''''''''''''''">
              <a:rPr lang="zh-CN" altLang="en-US" sz="1400" smtClean="0">
                <a:effectLst/>
                <a:cs typeface="+mn-ea"/>
                <a:sym typeface="+mn-lt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0.04</a:t>
            </a:fld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56" name="Text Placeholder 4">
            <a:extLst>
              <a:ext uri="{FF2B5EF4-FFF2-40B4-BE49-F238E27FC236}">
                <a16:creationId xmlns:a16="http://schemas.microsoft.com/office/drawing/2014/main" id="{6C80E67A-470D-8548-FB10-606F145B5E7A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gray">
          <a:xfrm>
            <a:off x="5562600" y="3509963"/>
            <a:ext cx="3444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ECB4B8D3-B3CF-4530-BC82-221C78930947}" type="datetime'''''''''''''''''''''''''''''''''''0.0''''''''''''''6'''">
              <a:rPr lang="zh-CN" altLang="en-US" sz="1400" smtClean="0">
                <a:effectLst/>
                <a:cs typeface="+mn-ea"/>
                <a:sym typeface="+mn-lt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0.06</a:t>
            </a:fld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57" name="Text Placeholder 4">
            <a:extLst>
              <a:ext uri="{FF2B5EF4-FFF2-40B4-BE49-F238E27FC236}">
                <a16:creationId xmlns:a16="http://schemas.microsoft.com/office/drawing/2014/main" id="{0467F350-8FBE-C0E8-9D8D-531F456902E9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gray">
          <a:xfrm>
            <a:off x="5562600" y="3084513"/>
            <a:ext cx="3444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8EFC418C-195B-4165-BB51-73FBADC048E5}" type="datetime'''''''''''''0''.''''''''''''0''''8'''''''''''''">
              <a:rPr lang="zh-CN" altLang="en-US" sz="1400" smtClean="0">
                <a:effectLst/>
                <a:cs typeface="+mn-ea"/>
                <a:sym typeface="+mn-lt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0.08</a:t>
            </a:fld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35200A85-AF67-5FF8-729C-7A44BBF011F7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gray">
          <a:xfrm>
            <a:off x="5562600" y="2660650"/>
            <a:ext cx="3556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400" dirty="0">
                <a:effectLst/>
                <a:cs typeface="+mn-ea"/>
                <a:sym typeface="+mn-lt"/>
              </a:rPr>
              <a:t>10%</a:t>
            </a:r>
            <a:endParaRPr lang="zh-CN" altLang="en-US" sz="1400" dirty="0">
              <a:cs typeface="+mn-ea"/>
              <a:sym typeface="+mn-lt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0F0CD128-9BD1-B8D7-EA7E-068A7EC90C01}"/>
              </a:ext>
            </a:extLst>
          </p:cNvPr>
          <p:cNvCxnSpPr/>
          <p:nvPr>
            <p:custDataLst>
              <p:tags r:id="rId25"/>
            </p:custDataLst>
          </p:nvPr>
        </p:nvCxnSpPr>
        <p:spPr bwMode="auto">
          <a:xfrm flipV="1">
            <a:off x="2770188" y="2543175"/>
            <a:ext cx="0" cy="206216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A2A43F2C-0E85-4B49-D0A9-9BB8540853B2}"/>
              </a:ext>
            </a:extLst>
          </p:cNvPr>
          <p:cNvCxnSpPr>
            <a:cxnSpLocks/>
          </p:cNvCxnSpPr>
          <p:nvPr>
            <p:custDataLst>
              <p:tags r:id="rId26"/>
            </p:custDataLst>
          </p:nvPr>
        </p:nvCxnSpPr>
        <p:spPr bwMode="auto">
          <a:xfrm>
            <a:off x="2770188" y="2543175"/>
            <a:ext cx="19796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0EDF609F-E657-C2FD-4D2E-3AB028971542}"/>
              </a:ext>
            </a:extLst>
          </p:cNvPr>
          <p:cNvCxnSpPr/>
          <p:nvPr>
            <p:custDataLst>
              <p:tags r:id="rId27"/>
            </p:custDataLst>
          </p:nvPr>
        </p:nvCxnSpPr>
        <p:spPr bwMode="auto">
          <a:xfrm>
            <a:off x="4749800" y="2543174"/>
            <a:ext cx="0" cy="1919288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17" name="Text Placeholder 4">
            <a:extLst>
              <a:ext uri="{FF2B5EF4-FFF2-40B4-BE49-F238E27FC236}">
                <a16:creationId xmlns:a16="http://schemas.microsoft.com/office/drawing/2014/main" id="{1B137E7D-F8D1-DF59-71D2-9DAF521A528C}"/>
              </a:ext>
            </a:extLst>
          </p:cNvPr>
          <p:cNvSpPr>
            <a:spLocks/>
          </p:cNvSpPr>
          <p:nvPr>
            <p:custDataLst>
              <p:tags r:id="rId28"/>
            </p:custDataLst>
          </p:nvPr>
        </p:nvSpPr>
        <p:spPr bwMode="gray">
          <a:xfrm>
            <a:off x="2376488" y="4316413"/>
            <a:ext cx="3079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ea"/>
                <a:sym typeface="+mn-lt"/>
              </a:rPr>
              <a:t>1%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050F4A4-ABCB-746C-BD33-7AF4E959EDF5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auto">
          <a:xfrm>
            <a:off x="2212975" y="4948238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5D9E166-2607-4DFE-ABC8-C2961A8612B8}" type="datetime'''''''''''''2''0''''''''2''''''''''''2'''''">
              <a:rPr lang="zh-CN" altLang="en-US" sz="1400" smtClean="0">
                <a:cs typeface="+mn-ea"/>
                <a:sym typeface="+mn-lt"/>
              </a:rPr>
              <a:pPr/>
              <a:t>2022</a:t>
            </a:fld>
            <a:endParaRPr lang="zh-CN" altLang="en-US" sz="1400" dirty="0">
              <a:cs typeface="+mn-ea"/>
              <a:sym typeface="+mn-lt"/>
            </a:endParaRPr>
          </a:p>
        </p:txBody>
      </p:sp>
      <p:sp useBgFill="1">
        <p:nvSpPr>
          <p:cNvPr id="20" name="Text Placeholder 4">
            <a:extLst>
              <a:ext uri="{FF2B5EF4-FFF2-40B4-BE49-F238E27FC236}">
                <a16:creationId xmlns:a16="http://schemas.microsoft.com/office/drawing/2014/main" id="{EF9DA3AD-365B-44CB-6ACE-B99CBCF24974}"/>
              </a:ext>
            </a:extLst>
          </p:cNvPr>
          <p:cNvSpPr>
            <a:spLocks/>
          </p:cNvSpPr>
          <p:nvPr>
            <p:custDataLst>
              <p:tags r:id="rId30"/>
            </p:custDataLst>
          </p:nvPr>
        </p:nvSpPr>
        <p:spPr bwMode="gray">
          <a:xfrm>
            <a:off x="4241800" y="3084513"/>
            <a:ext cx="3079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effectLst/>
                <a:cs typeface="+mn-ea"/>
                <a:sym typeface="+mn-lt"/>
              </a:rPr>
              <a:t>8%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07BDD456-B124-C560-0DF8-F98741042E38}"/>
              </a:ext>
            </a:extLst>
          </p:cNvPr>
          <p:cNvSpPr>
            <a:spLocks/>
          </p:cNvSpPr>
          <p:nvPr>
            <p:custDataLst>
              <p:tags r:id="rId31"/>
            </p:custDataLst>
          </p:nvPr>
        </p:nvSpPr>
        <p:spPr bwMode="auto">
          <a:xfrm>
            <a:off x="4192588" y="4948238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CCF0963-CF58-4147-8F99-C875A2430581}" type="datetime'''''2''0''''''2''''''''''8'''">
              <a:rPr lang="zh-CN" altLang="en-US" sz="1400" smtClean="0">
                <a:cs typeface="+mn-ea"/>
                <a:sym typeface="+mn-lt"/>
              </a:rPr>
              <a:pPr/>
              <a:t>2028</a:t>
            </a:fld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2C79F64D-9132-1AFA-69C8-A6066192A317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auto">
          <a:xfrm>
            <a:off x="3549650" y="2392363"/>
            <a:ext cx="419100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effectLst/>
                <a:cs typeface="+mn-ea"/>
                <a:sym typeface="+mn-lt"/>
              </a:rPr>
              <a:t>20</a:t>
            </a:r>
            <a:r>
              <a:rPr lang="en-US" altLang="zh-CN" sz="1400" b="1" dirty="0">
                <a:effectLst/>
                <a:cs typeface="+mn-ea"/>
                <a:sym typeface="+mn-lt"/>
              </a:rPr>
              <a:t>x</a:t>
            </a:r>
            <a:endParaRPr lang="zh-CN" altLang="en-US" sz="1400" b="1" dirty="0">
              <a:cs typeface="+mn-ea"/>
              <a:sym typeface="+mn-lt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530601F6-BB29-C5BD-FF3F-CF124258903F}"/>
              </a:ext>
            </a:extLst>
          </p:cNvPr>
          <p:cNvGrpSpPr/>
          <p:nvPr/>
        </p:nvGrpSpPr>
        <p:grpSpPr>
          <a:xfrm>
            <a:off x="762722" y="5525986"/>
            <a:ext cx="1490664" cy="147564"/>
            <a:chOff x="7056423" y="8136268"/>
            <a:chExt cx="1490965" cy="147564"/>
          </a:xfrm>
        </p:grpSpPr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00D6B96B-9FCC-2D3B-A6CB-D2E01750C713}"/>
                </a:ext>
              </a:extLst>
            </p:cNvPr>
            <p:cNvCxnSpPr/>
            <p:nvPr/>
          </p:nvCxnSpPr>
          <p:spPr>
            <a:xfrm>
              <a:off x="7056423" y="8227060"/>
              <a:ext cx="249238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1CB6E258-D6B1-5657-55E4-2196B3AC2876}"/>
                </a:ext>
              </a:extLst>
            </p:cNvPr>
            <p:cNvSpPr txBox="1"/>
            <p:nvPr/>
          </p:nvSpPr>
          <p:spPr>
            <a:xfrm>
              <a:off x="7399069" y="8136268"/>
              <a:ext cx="1148319" cy="147564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lang="zh-CN" altLang="en-US" sz="1400" dirty="0">
                  <a:cs typeface="+mn-ea"/>
                  <a:sym typeface="+mn-lt"/>
                </a:rPr>
                <a:t>光模块功耗占比（右轴） </a:t>
              </a: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B13C72FB-3311-2BD6-62C0-8221FF098A64}"/>
              </a:ext>
            </a:extLst>
          </p:cNvPr>
          <p:cNvGrpSpPr/>
          <p:nvPr/>
        </p:nvGrpSpPr>
        <p:grpSpPr>
          <a:xfrm>
            <a:off x="2621459" y="5473562"/>
            <a:ext cx="1467302" cy="252413"/>
            <a:chOff x="7119936" y="8370638"/>
            <a:chExt cx="1468517" cy="252413"/>
          </a:xfrm>
        </p:grpSpPr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753150B7-DADE-FE5C-F739-F581D84BE5FA}"/>
                </a:ext>
              </a:extLst>
            </p:cNvPr>
            <p:cNvSpPr txBox="1"/>
            <p:nvPr/>
          </p:nvSpPr>
          <p:spPr>
            <a:xfrm>
              <a:off x="7510927" y="8370638"/>
              <a:ext cx="1077526" cy="252413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lang="zh-CN" altLang="en-US" sz="1400" dirty="0">
                  <a:cs typeface="+mn-ea"/>
                  <a:sym typeface="+mn-lt"/>
                </a:rPr>
                <a:t>全球</a:t>
              </a:r>
              <a:r>
                <a:rPr lang="en-US" altLang="zh-CN" sz="1400" dirty="0">
                  <a:cs typeface="+mn-ea"/>
                  <a:sym typeface="+mn-lt"/>
                </a:rPr>
                <a:t>IDC</a:t>
              </a:r>
              <a:r>
                <a:rPr lang="zh-CN" altLang="en-US" sz="1400" dirty="0">
                  <a:cs typeface="+mn-ea"/>
                  <a:sym typeface="+mn-lt"/>
                </a:rPr>
                <a:t>用电量（左轴） </a:t>
              </a: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1F604937-B6F7-CB2D-A025-6E7491B8BDE6}"/>
                </a:ext>
              </a:extLst>
            </p:cNvPr>
            <p:cNvSpPr/>
            <p:nvPr/>
          </p:nvSpPr>
          <p:spPr>
            <a:xfrm>
              <a:off x="7119936" y="8424904"/>
              <a:ext cx="249238" cy="165481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0DC1B323-BF9F-2AE2-67C3-C56A5BDD6497}"/>
              </a:ext>
            </a:extLst>
          </p:cNvPr>
          <p:cNvGrpSpPr/>
          <p:nvPr/>
        </p:nvGrpSpPr>
        <p:grpSpPr>
          <a:xfrm>
            <a:off x="4456834" y="5452131"/>
            <a:ext cx="1312864" cy="295275"/>
            <a:chOff x="7119936" y="8356358"/>
            <a:chExt cx="1312552" cy="294870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3FD540D0-E5E0-E180-C919-307C496DA945}"/>
                </a:ext>
              </a:extLst>
            </p:cNvPr>
            <p:cNvSpPr txBox="1"/>
            <p:nvPr/>
          </p:nvSpPr>
          <p:spPr>
            <a:xfrm>
              <a:off x="7470716" y="8356358"/>
              <a:ext cx="961772" cy="294870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lang="zh-CN" altLang="en-US" sz="1400" dirty="0">
                  <a:cs typeface="+mn-ea"/>
                  <a:sym typeface="+mn-lt"/>
                </a:rPr>
                <a:t>光模块功耗（左轴） </a:t>
              </a: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8DBB7B26-19F1-A695-7DEF-D885AF11D420}"/>
                </a:ext>
              </a:extLst>
            </p:cNvPr>
            <p:cNvSpPr/>
            <p:nvPr/>
          </p:nvSpPr>
          <p:spPr>
            <a:xfrm>
              <a:off x="7119936" y="8424904"/>
              <a:ext cx="249238" cy="165481"/>
            </a:xfrm>
            <a:prstGeom prst="rect">
              <a:avLst/>
            </a:prstGeom>
            <a:solidFill>
              <a:srgbClr val="0052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sp>
        <p:nvSpPr>
          <p:cNvPr id="51" name="文本框 50">
            <a:extLst>
              <a:ext uri="{FF2B5EF4-FFF2-40B4-BE49-F238E27FC236}">
                <a16:creationId xmlns:a16="http://schemas.microsoft.com/office/drawing/2014/main" id="{8F19C2D3-5E9F-DE88-25AF-CCC2D6738615}"/>
              </a:ext>
            </a:extLst>
          </p:cNvPr>
          <p:cNvSpPr txBox="1"/>
          <p:nvPr/>
        </p:nvSpPr>
        <p:spPr>
          <a:xfrm>
            <a:off x="598141" y="1560262"/>
            <a:ext cx="550386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2022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至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2028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年，预计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IDC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光模块能耗占比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1%=&gt;8%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，增长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20x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，成为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IDC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能耗重要组成</a:t>
            </a:r>
            <a:endParaRPr kumimoji="1" lang="zh-CN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176F9CD6-3D3D-562C-F111-32376BB40DFF}"/>
              </a:ext>
            </a:extLst>
          </p:cNvPr>
          <p:cNvSpPr txBox="1"/>
          <p:nvPr/>
        </p:nvSpPr>
        <p:spPr>
          <a:xfrm>
            <a:off x="568326" y="2215431"/>
            <a:ext cx="61499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cs typeface="+mn-ea"/>
                <a:sym typeface="+mn-lt"/>
              </a:rPr>
              <a:t>TWh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84" name="Text Placeholder 4">
            <a:extLst>
              <a:ext uri="{FF2B5EF4-FFF2-40B4-BE49-F238E27FC236}">
                <a16:creationId xmlns:a16="http://schemas.microsoft.com/office/drawing/2014/main" id="{ED4DBD6C-2C3B-3B52-8ADA-7166A0B107E1}"/>
              </a:ext>
            </a:extLst>
          </p:cNvPr>
          <p:cNvSpPr txBox="1">
            <a:spLocks/>
          </p:cNvSpPr>
          <p:nvPr>
            <p:custDataLst>
              <p:tags r:id="rId33"/>
            </p:custDataLst>
          </p:nvPr>
        </p:nvSpPr>
        <p:spPr bwMode="auto">
          <a:xfrm>
            <a:off x="6388540" y="2235454"/>
            <a:ext cx="213730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单通道功耗（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w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）</a:t>
            </a:r>
          </a:p>
        </p:txBody>
      </p:sp>
      <p:sp>
        <p:nvSpPr>
          <p:cNvPr id="96" name="标题 1">
            <a:extLst>
              <a:ext uri="{FF2B5EF4-FFF2-40B4-BE49-F238E27FC236}">
                <a16:creationId xmlns:a16="http://schemas.microsoft.com/office/drawing/2014/main" id="{BD7B789B-24A8-260F-8606-C0620ED9CB96}"/>
              </a:ext>
            </a:extLst>
          </p:cNvPr>
          <p:cNvSpPr txBox="1">
            <a:spLocks/>
          </p:cNvSpPr>
          <p:nvPr/>
        </p:nvSpPr>
        <p:spPr>
          <a:xfrm>
            <a:off x="263143" y="159198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解决可插拔光模块能耗问题</a:t>
            </a:r>
          </a:p>
        </p:txBody>
      </p:sp>
      <p:grpSp>
        <p:nvGrpSpPr>
          <p:cNvPr id="129" name="组合 128">
            <a:extLst>
              <a:ext uri="{FF2B5EF4-FFF2-40B4-BE49-F238E27FC236}">
                <a16:creationId xmlns:a16="http://schemas.microsoft.com/office/drawing/2014/main" id="{3329CC76-C3AA-EDF8-5B5F-E2B4AA273236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130" name="文本框 129">
              <a:extLst>
                <a:ext uri="{FF2B5EF4-FFF2-40B4-BE49-F238E27FC236}">
                  <a16:creationId xmlns:a16="http://schemas.microsoft.com/office/drawing/2014/main" id="{EE179372-5D6A-E866-3D02-CC41FA1BEB85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可插拔光模块 </a:t>
              </a:r>
              <a:r>
                <a:rPr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=&gt; CPO</a:t>
              </a:r>
              <a:r>
                <a:rPr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：功耗下降</a:t>
              </a:r>
              <a:r>
                <a:rPr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60%+</a:t>
              </a:r>
              <a:endParaRPr kumimoji="1" lang="zh-CN" altLang="en-US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31" name="文本框 130">
              <a:extLst>
                <a:ext uri="{FF2B5EF4-FFF2-40B4-BE49-F238E27FC236}">
                  <a16:creationId xmlns:a16="http://schemas.microsoft.com/office/drawing/2014/main" id="{E492E42F-26BC-586E-DDFB-7A784C29C62F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32" name="直线连接符 38">
              <a:extLst>
                <a:ext uri="{FF2B5EF4-FFF2-40B4-BE49-F238E27FC236}">
                  <a16:creationId xmlns:a16="http://schemas.microsoft.com/office/drawing/2014/main" id="{5EE3F395-4CD3-AE72-963B-51836EBFA5EC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文本框 132">
              <a:extLst>
                <a:ext uri="{FF2B5EF4-FFF2-40B4-BE49-F238E27FC236}">
                  <a16:creationId xmlns:a16="http://schemas.microsoft.com/office/drawing/2014/main" id="{B53395C7-1F28-C0E5-5F0F-4716C13A71D2}"/>
                </a:ext>
              </a:extLst>
            </p:cNvPr>
            <p:cNvSpPr txBox="1"/>
            <p:nvPr/>
          </p:nvSpPr>
          <p:spPr>
            <a:xfrm>
              <a:off x="504186" y="971862"/>
              <a:ext cx="3873873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能耗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34" name="直线连接符 38">
              <a:extLst>
                <a:ext uri="{FF2B5EF4-FFF2-40B4-BE49-F238E27FC236}">
                  <a16:creationId xmlns:a16="http://schemas.microsoft.com/office/drawing/2014/main" id="{50214BAF-0171-18BB-B779-50D92AB69249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9" name="文本框 258">
            <a:extLst>
              <a:ext uri="{FF2B5EF4-FFF2-40B4-BE49-F238E27FC236}">
                <a16:creationId xmlns:a16="http://schemas.microsoft.com/office/drawing/2014/main" id="{41A191AD-645C-E1FE-AD69-F0931DDFCF62}"/>
              </a:ext>
            </a:extLst>
          </p:cNvPr>
          <p:cNvSpPr txBox="1"/>
          <p:nvPr/>
        </p:nvSpPr>
        <p:spPr>
          <a:xfrm>
            <a:off x="245404" y="6531893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：按照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NVL72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扩展方案，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组网架构层数计算</a:t>
            </a:r>
          </a:p>
        </p:txBody>
      </p:sp>
    </p:spTree>
    <p:extLst>
      <p:ext uri="{BB962C8B-B14F-4D97-AF65-F5344CB8AC3E}">
        <p14:creationId xmlns:p14="http://schemas.microsoft.com/office/powerpoint/2010/main" val="1408630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hink-cell data - do not delete" hidden="1">
            <a:extLst>
              <a:ext uri="{FF2B5EF4-FFF2-40B4-BE49-F238E27FC236}">
                <a16:creationId xmlns:a16="http://schemas.microsoft.com/office/drawing/2014/main" id="{9626425B-D7C9-EE32-8B7E-F896A973C6F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128313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401" imgH="401" progId="TCLayout.ActiveDocument.1">
                  <p:embed/>
                </p:oleObj>
              </mc:Choice>
              <mc:Fallback>
                <p:oleObj name="think-cell 幻灯片" r:id="rId10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" name="文本框 203">
            <a:extLst>
              <a:ext uri="{FF2B5EF4-FFF2-40B4-BE49-F238E27FC236}">
                <a16:creationId xmlns:a16="http://schemas.microsoft.com/office/drawing/2014/main" id="{41918CB3-DEB4-5CEB-E499-F3AD8D4AE173}"/>
              </a:ext>
            </a:extLst>
          </p:cNvPr>
          <p:cNvSpPr txBox="1"/>
          <p:nvPr/>
        </p:nvSpPr>
        <p:spPr>
          <a:xfrm>
            <a:off x="5114226" y="3080458"/>
            <a:ext cx="308211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巨头大力布局：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为新一代技术中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最易商业化落地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的路径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marL="182563" indent="-182563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72F8DDA-EA12-3D19-91E3-EB0B2B9B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47" y="83348"/>
            <a:ext cx="10071100" cy="731520"/>
          </a:xfrm>
        </p:spPr>
        <p:txBody>
          <a:bodyPr vert="horz"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光互连技术路径：可插拔仍为主流，巨头将商业落地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OIO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初创处于技术验证期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79D3A06-0ACF-F28E-498D-9892DB459C5F}"/>
              </a:ext>
            </a:extLst>
          </p:cNvPr>
          <p:cNvSpPr txBox="1"/>
          <p:nvPr/>
        </p:nvSpPr>
        <p:spPr>
          <a:xfrm>
            <a:off x="645018" y="3098880"/>
            <a:ext cx="994569" cy="140200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代表厂商</a:t>
            </a:r>
            <a:r>
              <a:rPr kumimoji="1" lang="en-US" altLang="zh-CN" sz="1400" b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</a:p>
        </p:txBody>
      </p:sp>
      <p:cxnSp>
        <p:nvCxnSpPr>
          <p:cNvPr id="34" name="直线连接符 8">
            <a:extLst>
              <a:ext uri="{FF2B5EF4-FFF2-40B4-BE49-F238E27FC236}">
                <a16:creationId xmlns:a16="http://schemas.microsoft.com/office/drawing/2014/main" id="{92D521B5-6713-18DC-5E72-62681B8FE3A0}"/>
              </a:ext>
            </a:extLst>
          </p:cNvPr>
          <p:cNvCxnSpPr>
            <a:cxnSpLocks/>
          </p:cNvCxnSpPr>
          <p:nvPr/>
        </p:nvCxnSpPr>
        <p:spPr>
          <a:xfrm>
            <a:off x="1771776" y="2956049"/>
            <a:ext cx="9289032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EBBC2B9E-B668-8E6A-1BD4-C77FE175657E}"/>
              </a:ext>
            </a:extLst>
          </p:cNvPr>
          <p:cNvGrpSpPr/>
          <p:nvPr/>
        </p:nvGrpSpPr>
        <p:grpSpPr>
          <a:xfrm>
            <a:off x="5200651" y="752031"/>
            <a:ext cx="2535238" cy="443738"/>
            <a:chOff x="3873011" y="995866"/>
            <a:chExt cx="2534139" cy="443738"/>
          </a:xfrm>
        </p:grpSpPr>
        <p:cxnSp>
          <p:nvCxnSpPr>
            <p:cNvPr id="42" name="直线连接符 34">
              <a:extLst>
                <a:ext uri="{FF2B5EF4-FFF2-40B4-BE49-F238E27FC236}">
                  <a16:creationId xmlns:a16="http://schemas.microsoft.com/office/drawing/2014/main" id="{92AE7B20-0E62-6537-08C9-4B4B44AD472D}"/>
                </a:ext>
              </a:extLst>
            </p:cNvPr>
            <p:cNvCxnSpPr>
              <a:cxnSpLocks/>
            </p:cNvCxnSpPr>
            <p:nvPr/>
          </p:nvCxnSpPr>
          <p:spPr>
            <a:xfrm>
              <a:off x="3873011" y="1439604"/>
              <a:ext cx="2534138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60F05AC7-7CFD-0E60-3FDD-2CCEFB3069E8}"/>
                </a:ext>
              </a:extLst>
            </p:cNvPr>
            <p:cNvSpPr txBox="1"/>
            <p:nvPr/>
          </p:nvSpPr>
          <p:spPr>
            <a:xfrm>
              <a:off x="3873012" y="995866"/>
              <a:ext cx="2534138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400" b="1" dirty="0">
                  <a:solidFill>
                    <a:srgbClr val="0052D9"/>
                  </a:solidFill>
                  <a:cs typeface="+mn-ea"/>
                  <a:sym typeface="+mn-lt"/>
                </a:rPr>
                <a:t>CPO </a:t>
              </a:r>
              <a:r>
                <a:rPr kumimoji="1" lang="en-US" altLang="zh-CN" sz="1400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(</a:t>
              </a:r>
              <a:r>
                <a:rPr kumimoji="1" lang="en-US" altLang="zh-CN" sz="14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Co-Packaged Optics)</a:t>
              </a: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FBF70457-AB08-B6CD-2294-70689C320AB2}"/>
              </a:ext>
            </a:extLst>
          </p:cNvPr>
          <p:cNvGrpSpPr/>
          <p:nvPr/>
        </p:nvGrpSpPr>
        <p:grpSpPr>
          <a:xfrm>
            <a:off x="8668562" y="752975"/>
            <a:ext cx="2823252" cy="443738"/>
            <a:chOff x="7489148" y="1004272"/>
            <a:chExt cx="2823252" cy="443738"/>
          </a:xfrm>
        </p:grpSpPr>
        <p:cxnSp>
          <p:nvCxnSpPr>
            <p:cNvPr id="35" name="直线连接符 30">
              <a:extLst>
                <a:ext uri="{FF2B5EF4-FFF2-40B4-BE49-F238E27FC236}">
                  <a16:creationId xmlns:a16="http://schemas.microsoft.com/office/drawing/2014/main" id="{64BF7E5D-564A-FDE0-3825-E5CDFEA8CD23}"/>
                </a:ext>
              </a:extLst>
            </p:cNvPr>
            <p:cNvCxnSpPr>
              <a:cxnSpLocks/>
            </p:cNvCxnSpPr>
            <p:nvPr/>
          </p:nvCxnSpPr>
          <p:spPr>
            <a:xfrm>
              <a:off x="7489148" y="1448010"/>
              <a:ext cx="2685688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996278A5-28AB-DF4B-68D8-6B09966A2C4D}"/>
                </a:ext>
              </a:extLst>
            </p:cNvPr>
            <p:cNvSpPr txBox="1"/>
            <p:nvPr/>
          </p:nvSpPr>
          <p:spPr>
            <a:xfrm>
              <a:off x="7489719" y="1004272"/>
              <a:ext cx="2822681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400" b="1" dirty="0">
                  <a:solidFill>
                    <a:srgbClr val="0052D9"/>
                  </a:solidFill>
                  <a:cs typeface="+mn-ea"/>
                  <a:sym typeface="+mn-lt"/>
                </a:rPr>
                <a:t>OIO </a:t>
              </a:r>
              <a:r>
                <a:rPr kumimoji="1" lang="en-US" altLang="zh-CN" sz="1400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(</a:t>
              </a:r>
              <a:r>
                <a:rPr kumimoji="1" lang="en-US" altLang="zh-CN" sz="14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In-Packaged Optical I/O)</a:t>
              </a:r>
            </a:p>
          </p:txBody>
        </p:sp>
      </p:grpSp>
      <p:sp>
        <p:nvSpPr>
          <p:cNvPr id="38" name="文本框 37">
            <a:extLst>
              <a:ext uri="{FF2B5EF4-FFF2-40B4-BE49-F238E27FC236}">
                <a16:creationId xmlns:a16="http://schemas.microsoft.com/office/drawing/2014/main" id="{792BF100-A7AB-CF8D-0B2B-E098437F2754}"/>
              </a:ext>
            </a:extLst>
          </p:cNvPr>
          <p:cNvSpPr txBox="1"/>
          <p:nvPr/>
        </p:nvSpPr>
        <p:spPr>
          <a:xfrm>
            <a:off x="8566510" y="3049653"/>
            <a:ext cx="2882293" cy="10934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初创抢先布局：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OIO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一步到位，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绕过巨头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生态制约</a:t>
            </a:r>
            <a:endParaRPr kumimoji="1" lang="en-US" altLang="zh-CN" sz="1400" u="sng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7FCE8F0-C0FA-ED7F-35BA-13284730F1B9}"/>
              </a:ext>
            </a:extLst>
          </p:cNvPr>
          <p:cNvSpPr txBox="1"/>
          <p:nvPr/>
        </p:nvSpPr>
        <p:spPr>
          <a:xfrm>
            <a:off x="641350" y="1778000"/>
            <a:ext cx="994569" cy="39370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速率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EE681432-B156-18D5-9791-25EED3A08238}"/>
              </a:ext>
            </a:extLst>
          </p:cNvPr>
          <p:cNvGrpSpPr/>
          <p:nvPr/>
        </p:nvGrpSpPr>
        <p:grpSpPr>
          <a:xfrm>
            <a:off x="1801815" y="754741"/>
            <a:ext cx="2928935" cy="443738"/>
            <a:chOff x="460392" y="999954"/>
            <a:chExt cx="3180162" cy="443738"/>
          </a:xfrm>
        </p:grpSpPr>
        <p:cxnSp>
          <p:nvCxnSpPr>
            <p:cNvPr id="21" name="直线连接符 30">
              <a:extLst>
                <a:ext uri="{FF2B5EF4-FFF2-40B4-BE49-F238E27FC236}">
                  <a16:creationId xmlns:a16="http://schemas.microsoft.com/office/drawing/2014/main" id="{B94178F3-BFE6-A703-1A8A-61441D44CFC8}"/>
                </a:ext>
              </a:extLst>
            </p:cNvPr>
            <p:cNvCxnSpPr>
              <a:cxnSpLocks/>
            </p:cNvCxnSpPr>
            <p:nvPr/>
          </p:nvCxnSpPr>
          <p:spPr>
            <a:xfrm>
              <a:off x="460392" y="1443692"/>
              <a:ext cx="3179997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6106B15-6C9C-84DA-206F-D5D5E3E5D02F}"/>
                </a:ext>
              </a:extLst>
            </p:cNvPr>
            <p:cNvSpPr txBox="1"/>
            <p:nvPr/>
          </p:nvSpPr>
          <p:spPr>
            <a:xfrm>
              <a:off x="460963" y="999954"/>
              <a:ext cx="3179591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400" b="1" dirty="0">
                  <a:solidFill>
                    <a:srgbClr val="0052D9"/>
                  </a:solidFill>
                  <a:cs typeface="+mn-ea"/>
                  <a:sym typeface="+mn-lt"/>
                </a:rPr>
                <a:t>PO </a:t>
              </a:r>
              <a:r>
                <a:rPr kumimoji="1" lang="en-US" altLang="zh-CN" sz="14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(</a:t>
              </a:r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Pluggable Optics)</a:t>
              </a:r>
              <a:endPara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5B542C07-6CD8-95C9-8173-DEEE32527E6E}"/>
              </a:ext>
            </a:extLst>
          </p:cNvPr>
          <p:cNvSpPr txBox="1"/>
          <p:nvPr/>
        </p:nvSpPr>
        <p:spPr>
          <a:xfrm>
            <a:off x="2195513" y="1833563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中：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1.6T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bps</a:t>
            </a:r>
            <a:r>
              <a:rPr lang="zh-CN" altLang="en-US" sz="14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(2025)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B12BFE29-888F-9E49-4EC1-44B14D6925BA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917701" y="1873250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4" name="弧 155">
            <a:extLst>
              <a:ext uri="{FF2B5EF4-FFF2-40B4-BE49-F238E27FC236}">
                <a16:creationId xmlns:a16="http://schemas.microsoft.com/office/drawing/2014/main" id="{2951776E-1A62-A9CD-5D1E-9DF41ED6A0AA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1917701" y="1873250"/>
            <a:ext cx="187324" cy="187324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0693F763-3501-ECBC-5DAA-878A02914201}"/>
              </a:ext>
            </a:extLst>
          </p:cNvPr>
          <p:cNvSpPr txBox="1"/>
          <p:nvPr/>
        </p:nvSpPr>
        <p:spPr>
          <a:xfrm>
            <a:off x="5478463" y="1814513"/>
            <a:ext cx="2787650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高：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6.4T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bps (2026)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6" name="椭圆 65">
            <a:extLst>
              <a:ext uri="{FF2B5EF4-FFF2-40B4-BE49-F238E27FC236}">
                <a16:creationId xmlns:a16="http://schemas.microsoft.com/office/drawing/2014/main" id="{4F0B813F-32EE-EB79-187C-85AF6F62ABF9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5200651" y="1885950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8" name="弧 155">
            <a:extLst>
              <a:ext uri="{FF2B5EF4-FFF2-40B4-BE49-F238E27FC236}">
                <a16:creationId xmlns:a16="http://schemas.microsoft.com/office/drawing/2014/main" id="{8979A53B-A0DE-2250-D385-2828F07FC3CF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5200651" y="1885950"/>
            <a:ext cx="187324" cy="187324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71AD8984-35B2-511E-E509-E637AA0E30A4}"/>
              </a:ext>
            </a:extLst>
          </p:cNvPr>
          <p:cNvSpPr txBox="1"/>
          <p:nvPr/>
        </p:nvSpPr>
        <p:spPr>
          <a:xfrm>
            <a:off x="8836025" y="1830388"/>
            <a:ext cx="2787650" cy="306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极高：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12.8T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bps (</a:t>
            </a:r>
            <a:r>
              <a:rPr lang="zh-CN" altLang="en-US" sz="1400" dirty="0">
                <a:solidFill>
                  <a:srgbClr val="0052D9"/>
                </a:solidFill>
                <a:cs typeface="+mn-ea"/>
                <a:sym typeface="+mn-lt"/>
              </a:rPr>
              <a:t>验证中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)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85E690DB-6DFF-C54D-9476-B66DB31650CD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8591551" y="1885950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3" name="弧 155">
            <a:extLst>
              <a:ext uri="{FF2B5EF4-FFF2-40B4-BE49-F238E27FC236}">
                <a16:creationId xmlns:a16="http://schemas.microsoft.com/office/drawing/2014/main" id="{4B02B27A-C8D1-8361-A3E3-36E55CC62905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8591551" y="1885950"/>
            <a:ext cx="187324" cy="187324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250D9217-0F5D-90E5-5E10-7CC583563E0D}"/>
              </a:ext>
            </a:extLst>
          </p:cNvPr>
          <p:cNvSpPr txBox="1"/>
          <p:nvPr/>
        </p:nvSpPr>
        <p:spPr>
          <a:xfrm>
            <a:off x="641349" y="2355851"/>
            <a:ext cx="994569" cy="485775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市场规模</a:t>
            </a:r>
            <a:endParaRPr kumimoji="1" lang="en-US" altLang="zh-CN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2023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D9609890-EC78-519E-A870-70859BE2F8E7}"/>
              </a:ext>
            </a:extLst>
          </p:cNvPr>
          <p:cNvSpPr/>
          <p:nvPr/>
        </p:nvSpPr>
        <p:spPr>
          <a:xfrm>
            <a:off x="1862260" y="2325688"/>
            <a:ext cx="489413" cy="488950"/>
          </a:xfrm>
          <a:prstGeom prst="ellipse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DC51F2BC-C34D-AC29-3F22-0C78B9A2B981}"/>
              </a:ext>
            </a:extLst>
          </p:cNvPr>
          <p:cNvSpPr txBox="1"/>
          <p:nvPr/>
        </p:nvSpPr>
        <p:spPr>
          <a:xfrm>
            <a:off x="2398893" y="2435225"/>
            <a:ext cx="2787650" cy="3079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$bn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级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DCF9ED99-140F-0C08-740C-0D6F2007712D}"/>
              </a:ext>
            </a:extLst>
          </p:cNvPr>
          <p:cNvGrpSpPr/>
          <p:nvPr/>
        </p:nvGrpSpPr>
        <p:grpSpPr>
          <a:xfrm>
            <a:off x="5266074" y="2409825"/>
            <a:ext cx="2971176" cy="307975"/>
            <a:chOff x="5410439" y="2582719"/>
            <a:chExt cx="2970624" cy="307777"/>
          </a:xfrm>
        </p:grpSpPr>
        <p:sp>
          <p:nvSpPr>
            <p:cNvPr id="93" name="椭圆 92">
              <a:extLst>
                <a:ext uri="{FF2B5EF4-FFF2-40B4-BE49-F238E27FC236}">
                  <a16:creationId xmlns:a16="http://schemas.microsoft.com/office/drawing/2014/main" id="{176DC493-6BA9-C9D8-1CDB-AB108B52E3F6}"/>
                </a:ext>
              </a:extLst>
            </p:cNvPr>
            <p:cNvSpPr/>
            <p:nvPr/>
          </p:nvSpPr>
          <p:spPr>
            <a:xfrm>
              <a:off x="5410439" y="2702157"/>
              <a:ext cx="100683" cy="100683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9B844F1B-C95E-1A69-4E59-4E369A0B197F}"/>
                </a:ext>
              </a:extLst>
            </p:cNvPr>
            <p:cNvSpPr txBox="1"/>
            <p:nvPr/>
          </p:nvSpPr>
          <p:spPr>
            <a:xfrm>
              <a:off x="5593413" y="2582719"/>
              <a:ext cx="2787650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$</a:t>
              </a:r>
              <a:r>
                <a:rPr lang="en-US" altLang="zh-CN" sz="1400" dirty="0" err="1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mn</a:t>
              </a:r>
              <a:r>
                <a:rPr lang="zh-CN" altLang="en-US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级</a:t>
              </a:r>
              <a:endPara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103" name="文本框 102">
            <a:extLst>
              <a:ext uri="{FF2B5EF4-FFF2-40B4-BE49-F238E27FC236}">
                <a16:creationId xmlns:a16="http://schemas.microsoft.com/office/drawing/2014/main" id="{83500EFE-8D19-7E82-EC8C-8E9CCC682BC2}"/>
              </a:ext>
            </a:extLst>
          </p:cNvPr>
          <p:cNvSpPr txBox="1"/>
          <p:nvPr/>
        </p:nvSpPr>
        <p:spPr>
          <a:xfrm>
            <a:off x="8587297" y="2405063"/>
            <a:ext cx="2788169" cy="3079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-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（未商用）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DCEE26B6-06D0-7BAB-E150-BD9FBA69AC82}"/>
              </a:ext>
            </a:extLst>
          </p:cNvPr>
          <p:cNvSpPr txBox="1"/>
          <p:nvPr/>
        </p:nvSpPr>
        <p:spPr>
          <a:xfrm>
            <a:off x="263545" y="6202642"/>
            <a:ext cx="739614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TSMC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Insight Partners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QYResearch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Morgan Stanly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AyarLabs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CEO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：仅展示赛道中份额最大的公司</a:t>
            </a:r>
          </a:p>
        </p:txBody>
      </p:sp>
      <p:sp>
        <p:nvSpPr>
          <p:cNvPr id="1038" name="文本框 1037">
            <a:extLst>
              <a:ext uri="{FF2B5EF4-FFF2-40B4-BE49-F238E27FC236}">
                <a16:creationId xmlns:a16="http://schemas.microsoft.com/office/drawing/2014/main" id="{BBB42BAE-20BE-6C89-F6AF-EA383B4D26CD}"/>
              </a:ext>
            </a:extLst>
          </p:cNvPr>
          <p:cNvSpPr txBox="1"/>
          <p:nvPr/>
        </p:nvSpPr>
        <p:spPr>
          <a:xfrm>
            <a:off x="1812683" y="3091746"/>
            <a:ext cx="308211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国产优势：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高速率产品率先实现技术突破，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全球前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10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大厂商中国占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7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成</a:t>
            </a:r>
            <a:endParaRPr kumimoji="1" lang="en-US" altLang="zh-CN" sz="1400" u="sng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marL="182563" indent="-182563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0" name="文本框 1039">
            <a:extLst>
              <a:ext uri="{FF2B5EF4-FFF2-40B4-BE49-F238E27FC236}">
                <a16:creationId xmlns:a16="http://schemas.microsoft.com/office/drawing/2014/main" id="{F0CB0FFF-4911-498F-02C9-998CD487C915}"/>
              </a:ext>
            </a:extLst>
          </p:cNvPr>
          <p:cNvSpPr txBox="1"/>
          <p:nvPr/>
        </p:nvSpPr>
        <p:spPr>
          <a:xfrm>
            <a:off x="641349" y="4830173"/>
            <a:ext cx="994569" cy="1042307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最新动向</a:t>
            </a:r>
            <a:endParaRPr kumimoji="1" lang="en-US" altLang="zh-CN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32" name="图片 1031">
            <a:extLst>
              <a:ext uri="{FF2B5EF4-FFF2-40B4-BE49-F238E27FC236}">
                <a16:creationId xmlns:a16="http://schemas.microsoft.com/office/drawing/2014/main" id="{E80FC4DC-6301-6CCA-6ED4-E5673DC3200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12902" y="3676082"/>
            <a:ext cx="602198" cy="216791"/>
          </a:xfrm>
          <a:prstGeom prst="rect">
            <a:avLst/>
          </a:prstGeom>
        </p:spPr>
      </p:pic>
      <p:pic>
        <p:nvPicPr>
          <p:cNvPr id="1034" name="图片 1033">
            <a:extLst>
              <a:ext uri="{FF2B5EF4-FFF2-40B4-BE49-F238E27FC236}">
                <a16:creationId xmlns:a16="http://schemas.microsoft.com/office/drawing/2014/main" id="{A6A80C89-7F65-CF6B-2A38-CBB3E60D2FF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00414" y="3547358"/>
            <a:ext cx="1016581" cy="387617"/>
          </a:xfrm>
          <a:prstGeom prst="rect">
            <a:avLst/>
          </a:prstGeom>
        </p:spPr>
      </p:pic>
      <p:pic>
        <p:nvPicPr>
          <p:cNvPr id="1036" name="图片 1035">
            <a:extLst>
              <a:ext uri="{FF2B5EF4-FFF2-40B4-BE49-F238E27FC236}">
                <a16:creationId xmlns:a16="http://schemas.microsoft.com/office/drawing/2014/main" id="{9C681C13-0730-27E7-2273-5A5FF9D075B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21664" y="3667374"/>
            <a:ext cx="965649" cy="234206"/>
          </a:xfrm>
          <a:prstGeom prst="rect">
            <a:avLst/>
          </a:prstGeom>
        </p:spPr>
      </p:pic>
      <p:sp>
        <p:nvSpPr>
          <p:cNvPr id="1042" name="文本框 1041">
            <a:extLst>
              <a:ext uri="{FF2B5EF4-FFF2-40B4-BE49-F238E27FC236}">
                <a16:creationId xmlns:a16="http://schemas.microsoft.com/office/drawing/2014/main" id="{A160CDC6-AB41-4571-C60F-17C58F524AA0}"/>
              </a:ext>
            </a:extLst>
          </p:cNvPr>
          <p:cNvSpPr txBox="1"/>
          <p:nvPr/>
        </p:nvSpPr>
        <p:spPr>
          <a:xfrm>
            <a:off x="2833659" y="4180987"/>
            <a:ext cx="994569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CR3: 50%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47A4D54C-0042-9C28-3A00-5E086A865180}"/>
              </a:ext>
            </a:extLst>
          </p:cNvPr>
          <p:cNvGrpSpPr/>
          <p:nvPr/>
        </p:nvGrpSpPr>
        <p:grpSpPr>
          <a:xfrm>
            <a:off x="6221563" y="3646629"/>
            <a:ext cx="711919" cy="257609"/>
            <a:chOff x="5019885" y="4088857"/>
            <a:chExt cx="969121" cy="350678"/>
          </a:xfrm>
        </p:grpSpPr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88FB5E51-9ECE-7368-8C10-FDA37AC764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019885" y="4088857"/>
              <a:ext cx="355624" cy="350678"/>
            </a:xfrm>
            <a:prstGeom prst="rect">
              <a:avLst/>
            </a:prstGeom>
          </p:spPr>
        </p:pic>
        <p:pic>
          <p:nvPicPr>
            <p:cNvPr id="59" name="图片 58">
              <a:extLst>
                <a:ext uri="{FF2B5EF4-FFF2-40B4-BE49-F238E27FC236}">
                  <a16:creationId xmlns:a16="http://schemas.microsoft.com/office/drawing/2014/main" id="{448C6786-1751-A660-4813-8EE9706460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5395503" y="4154387"/>
              <a:ext cx="593503" cy="219617"/>
            </a:xfrm>
            <a:prstGeom prst="rect">
              <a:avLst/>
            </a:prstGeom>
          </p:spPr>
        </p:pic>
      </p:grpSp>
      <p:pic>
        <p:nvPicPr>
          <p:cNvPr id="60" name="图像" descr="图像">
            <a:extLst>
              <a:ext uri="{FF2B5EF4-FFF2-40B4-BE49-F238E27FC236}">
                <a16:creationId xmlns:a16="http://schemas.microsoft.com/office/drawing/2014/main" id="{E137054D-360E-C5A4-E853-C39432BC959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449082" y="3671385"/>
            <a:ext cx="314925" cy="208096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9" name="图像" descr="图像">
            <a:extLst>
              <a:ext uri="{FF2B5EF4-FFF2-40B4-BE49-F238E27FC236}">
                <a16:creationId xmlns:a16="http://schemas.microsoft.com/office/drawing/2014/main" id="{10AE3C14-FBC0-4A41-30BC-21EE5C053E5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74249" y="3665625"/>
            <a:ext cx="406698" cy="219617"/>
          </a:xfrm>
          <a:prstGeom prst="rect">
            <a:avLst/>
          </a:prstGeom>
          <a:ln w="12700">
            <a:miter lim="400000"/>
          </a:ln>
        </p:spPr>
      </p:pic>
      <p:sp>
        <p:nvSpPr>
          <p:cNvPr id="1045" name="文本框 1044">
            <a:extLst>
              <a:ext uri="{FF2B5EF4-FFF2-40B4-BE49-F238E27FC236}">
                <a16:creationId xmlns:a16="http://schemas.microsoft.com/office/drawing/2014/main" id="{837901F7-98DA-4D36-37A5-D43D99AB0EF4}"/>
              </a:ext>
            </a:extLst>
          </p:cNvPr>
          <p:cNvSpPr txBox="1"/>
          <p:nvPr/>
        </p:nvSpPr>
        <p:spPr>
          <a:xfrm>
            <a:off x="6134764" y="4167592"/>
            <a:ext cx="994569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CR3: 71%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047" name="文本框 1046">
            <a:extLst>
              <a:ext uri="{FF2B5EF4-FFF2-40B4-BE49-F238E27FC236}">
                <a16:creationId xmlns:a16="http://schemas.microsoft.com/office/drawing/2014/main" id="{0D8F1CAE-DB1F-75B2-676D-1B125D2C01E9}"/>
              </a:ext>
            </a:extLst>
          </p:cNvPr>
          <p:cNvSpPr txBox="1"/>
          <p:nvPr/>
        </p:nvSpPr>
        <p:spPr>
          <a:xfrm>
            <a:off x="8983899" y="4171932"/>
            <a:ext cx="225113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-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（未商用，玩家极少）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67" name="图片 66">
            <a:extLst>
              <a:ext uri="{FF2B5EF4-FFF2-40B4-BE49-F238E27FC236}">
                <a16:creationId xmlns:a16="http://schemas.microsoft.com/office/drawing/2014/main" id="{B36BC0C1-A345-5C17-8242-A5B9869AA5D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87297" y="3701824"/>
            <a:ext cx="591492" cy="165307"/>
          </a:xfrm>
          <a:prstGeom prst="rect">
            <a:avLst/>
          </a:prstGeom>
        </p:spPr>
      </p:pic>
      <p:pic>
        <p:nvPicPr>
          <p:cNvPr id="211" name="图片 210">
            <a:extLst>
              <a:ext uri="{FF2B5EF4-FFF2-40B4-BE49-F238E27FC236}">
                <a16:creationId xmlns:a16="http://schemas.microsoft.com/office/drawing/2014/main" id="{C39A2795-83F0-65C8-22DD-B5433D6D75A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336755" y="3704115"/>
            <a:ext cx="772710" cy="16072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463DDCF-39D0-471E-0C67-C0EC41499BF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86798" y="3705326"/>
            <a:ext cx="246630" cy="158302"/>
          </a:xfrm>
          <a:prstGeom prst="rect">
            <a:avLst/>
          </a:prstGeom>
        </p:spPr>
      </p:pic>
      <p:pic>
        <p:nvPicPr>
          <p:cNvPr id="1049" name="图片 1048">
            <a:extLst>
              <a:ext uri="{FF2B5EF4-FFF2-40B4-BE49-F238E27FC236}">
                <a16:creationId xmlns:a16="http://schemas.microsoft.com/office/drawing/2014/main" id="{3E62AE80-3B64-D7E6-8384-C5CF3A9E76C6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710761" y="3700365"/>
            <a:ext cx="740192" cy="168225"/>
          </a:xfrm>
          <a:prstGeom prst="rect">
            <a:avLst/>
          </a:prstGeom>
        </p:spPr>
      </p:pic>
      <p:pic>
        <p:nvPicPr>
          <p:cNvPr id="1067" name="图片 1066">
            <a:extLst>
              <a:ext uri="{FF2B5EF4-FFF2-40B4-BE49-F238E27FC236}">
                <a16:creationId xmlns:a16="http://schemas.microsoft.com/office/drawing/2014/main" id="{3C3E3C86-1D14-079A-F916-19AD852F2C5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76479" y="5248738"/>
            <a:ext cx="773879" cy="295076"/>
          </a:xfrm>
          <a:prstGeom prst="rect">
            <a:avLst/>
          </a:prstGeom>
        </p:spPr>
      </p:pic>
      <p:sp>
        <p:nvSpPr>
          <p:cNvPr id="1068" name="文本框 1067">
            <a:extLst>
              <a:ext uri="{FF2B5EF4-FFF2-40B4-BE49-F238E27FC236}">
                <a16:creationId xmlns:a16="http://schemas.microsoft.com/office/drawing/2014/main" id="{EE528FDD-5319-4889-9CBB-E6E295812618}"/>
              </a:ext>
            </a:extLst>
          </p:cNvPr>
          <p:cNvSpPr txBox="1"/>
          <p:nvPr/>
        </p:nvSpPr>
        <p:spPr>
          <a:xfrm>
            <a:off x="2579684" y="5202891"/>
            <a:ext cx="2144624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24A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</a:t>
            </a:r>
            <a:r>
              <a:rPr kumimoji="1" lang="en-US" altLang="zh-CN" sz="12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800G</a:t>
            </a:r>
            <a:r>
              <a:rPr kumimoji="1" lang="zh-CN" altLang="en-US" sz="12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出货量 </a:t>
            </a:r>
            <a:r>
              <a:rPr kumimoji="1" lang="en-US" altLang="zh-CN" sz="12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&gt;200w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，全球份额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40%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24Q4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1.6T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率先认证并出货</a:t>
            </a:r>
            <a:endParaRPr lang="zh-CN" altLang="en-US" sz="1200" dirty="0">
              <a:cs typeface="+mn-ea"/>
              <a:sym typeface="+mn-lt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74" name="文本框 1073">
            <a:extLst>
              <a:ext uri="{FF2B5EF4-FFF2-40B4-BE49-F238E27FC236}">
                <a16:creationId xmlns:a16="http://schemas.microsoft.com/office/drawing/2014/main" id="{AA4B8E98-2E4E-FE0D-4F0F-F51B2599332E}"/>
              </a:ext>
            </a:extLst>
          </p:cNvPr>
          <p:cNvSpPr txBox="1"/>
          <p:nvPr/>
        </p:nvSpPr>
        <p:spPr>
          <a:xfrm>
            <a:off x="5920038" y="5131318"/>
            <a:ext cx="2239749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25Q2 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</a:t>
            </a: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Spectrum-X CPO</a:t>
            </a: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交换机交付</a:t>
            </a:r>
            <a:endParaRPr kumimoji="1" lang="en-US" altLang="zh-CN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预计</a:t>
            </a: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26Q2 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Quantum-X </a:t>
            </a: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交换机交付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zh-CN" altLang="en-US" sz="1200" dirty="0">
              <a:cs typeface="+mn-ea"/>
              <a:sym typeface="+mn-lt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75" name="图片 1074">
            <a:extLst>
              <a:ext uri="{FF2B5EF4-FFF2-40B4-BE49-F238E27FC236}">
                <a16:creationId xmlns:a16="http://schemas.microsoft.com/office/drawing/2014/main" id="{F3EB3747-D6D5-4403-99FE-A4CB3549421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15351" y="5302479"/>
            <a:ext cx="261242" cy="257609"/>
          </a:xfrm>
          <a:prstGeom prst="rect">
            <a:avLst/>
          </a:prstGeom>
        </p:spPr>
      </p:pic>
      <p:pic>
        <p:nvPicPr>
          <p:cNvPr id="1076" name="图片 1075">
            <a:extLst>
              <a:ext uri="{FF2B5EF4-FFF2-40B4-BE49-F238E27FC236}">
                <a16:creationId xmlns:a16="http://schemas.microsoft.com/office/drawing/2014/main" id="{86C281A5-2F71-019A-61A4-00B0F3F827E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91281" y="5350618"/>
            <a:ext cx="435989" cy="161331"/>
          </a:xfrm>
          <a:prstGeom prst="rect">
            <a:avLst/>
          </a:prstGeom>
        </p:spPr>
      </p:pic>
      <p:pic>
        <p:nvPicPr>
          <p:cNvPr id="1080" name="图片 1079">
            <a:extLst>
              <a:ext uri="{FF2B5EF4-FFF2-40B4-BE49-F238E27FC236}">
                <a16:creationId xmlns:a16="http://schemas.microsoft.com/office/drawing/2014/main" id="{3322A9DD-C334-6D42-B03C-458BA57525A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625731" y="5313622"/>
            <a:ext cx="591492" cy="165307"/>
          </a:xfrm>
          <a:prstGeom prst="rect">
            <a:avLst/>
          </a:prstGeom>
        </p:spPr>
      </p:pic>
      <p:cxnSp>
        <p:nvCxnSpPr>
          <p:cNvPr id="1083" name="直线连接符 8">
            <a:extLst>
              <a:ext uri="{FF2B5EF4-FFF2-40B4-BE49-F238E27FC236}">
                <a16:creationId xmlns:a16="http://schemas.microsoft.com/office/drawing/2014/main" id="{B9FC0685-FA4A-FE26-816D-2B1F2CF7B34F}"/>
              </a:ext>
            </a:extLst>
          </p:cNvPr>
          <p:cNvCxnSpPr>
            <a:cxnSpLocks/>
          </p:cNvCxnSpPr>
          <p:nvPr/>
        </p:nvCxnSpPr>
        <p:spPr>
          <a:xfrm>
            <a:off x="1806129" y="4674667"/>
            <a:ext cx="9289032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4" name="文本框 1083">
            <a:extLst>
              <a:ext uri="{FF2B5EF4-FFF2-40B4-BE49-F238E27FC236}">
                <a16:creationId xmlns:a16="http://schemas.microsoft.com/office/drawing/2014/main" id="{7D1A73FF-FE74-E4CE-8756-CD7EBAF67DA9}"/>
              </a:ext>
            </a:extLst>
          </p:cNvPr>
          <p:cNvSpPr txBox="1"/>
          <p:nvPr/>
        </p:nvSpPr>
        <p:spPr>
          <a:xfrm>
            <a:off x="1806129" y="4836256"/>
            <a:ext cx="3076236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已全面应用于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AIDC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，</a:t>
            </a:r>
            <a:r>
              <a:rPr kumimoji="1" lang="zh-CN" altLang="en-US" sz="1400" b="1" dirty="0">
                <a:solidFill>
                  <a:srgbClr val="0052D9"/>
                </a:solidFill>
                <a:cs typeface="+mn-ea"/>
                <a:sym typeface="+mn-lt"/>
              </a:rPr>
              <a:t>大规模商业落地</a:t>
            </a:r>
            <a:endParaRPr kumimoji="1" lang="zh-CN" altLang="en-US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085" name="文本框 1084">
            <a:extLst>
              <a:ext uri="{FF2B5EF4-FFF2-40B4-BE49-F238E27FC236}">
                <a16:creationId xmlns:a16="http://schemas.microsoft.com/office/drawing/2014/main" id="{13C27EC4-0F72-90E1-EA8E-6659BF2C8AEF}"/>
              </a:ext>
            </a:extLst>
          </p:cNvPr>
          <p:cNvSpPr txBox="1"/>
          <p:nvPr/>
        </p:nvSpPr>
        <p:spPr>
          <a:xfrm>
            <a:off x="5114226" y="4830173"/>
            <a:ext cx="3076236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25-26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年将商业化，</a:t>
            </a:r>
            <a:r>
              <a:rPr kumimoji="1" lang="zh-CN" altLang="en-US" sz="1400" b="1" dirty="0">
                <a:solidFill>
                  <a:srgbClr val="0052D9"/>
                </a:solidFill>
                <a:cs typeface="+mn-ea"/>
                <a:sym typeface="+mn-lt"/>
              </a:rPr>
              <a:t>技术成熟</a:t>
            </a:r>
            <a:endParaRPr kumimoji="1" lang="zh-CN" altLang="en-US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086" name="文本框 1085">
            <a:extLst>
              <a:ext uri="{FF2B5EF4-FFF2-40B4-BE49-F238E27FC236}">
                <a16:creationId xmlns:a16="http://schemas.microsoft.com/office/drawing/2014/main" id="{55D50945-2A35-6CE4-97E3-C19094ADA71C}"/>
              </a:ext>
            </a:extLst>
          </p:cNvPr>
          <p:cNvSpPr txBox="1"/>
          <p:nvPr/>
        </p:nvSpPr>
        <p:spPr>
          <a:xfrm>
            <a:off x="8629110" y="4830173"/>
            <a:ext cx="3076236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以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Demo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为主，</a:t>
            </a:r>
            <a:r>
              <a:rPr kumimoji="1" lang="zh-CN" altLang="en-US" sz="1400" b="1" dirty="0">
                <a:solidFill>
                  <a:srgbClr val="0052D9"/>
                </a:solidFill>
                <a:cs typeface="+mn-ea"/>
                <a:sym typeface="+mn-lt"/>
              </a:rPr>
              <a:t>研发与验证阶段</a:t>
            </a:r>
            <a:endParaRPr kumimoji="1" lang="zh-CN" altLang="en-US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087" name="文本框 1086">
            <a:extLst>
              <a:ext uri="{FF2B5EF4-FFF2-40B4-BE49-F238E27FC236}">
                <a16:creationId xmlns:a16="http://schemas.microsoft.com/office/drawing/2014/main" id="{F2358CF0-DFE1-EC42-0D1C-81BBFB5E4E94}"/>
              </a:ext>
            </a:extLst>
          </p:cNvPr>
          <p:cNvSpPr txBox="1"/>
          <p:nvPr/>
        </p:nvSpPr>
        <p:spPr>
          <a:xfrm>
            <a:off x="9418337" y="5118104"/>
            <a:ext cx="2239749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预计</a:t>
            </a: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26</a:t>
            </a: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年中大批量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产</a:t>
            </a:r>
            <a:endParaRPr kumimoji="1" lang="en-US" altLang="zh-CN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24A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，出货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1.5w </a:t>
            </a:r>
            <a:r>
              <a:rPr kumimoji="1" lang="en-US" altLang="zh-CN" sz="1200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TeraPHY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样片给英伟达、台积电等做验证</a:t>
            </a:r>
            <a:endParaRPr lang="zh-CN" altLang="en-US" sz="1200" dirty="0">
              <a:cs typeface="+mn-ea"/>
              <a:sym typeface="+mn-lt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等腰三角形 2">
            <a:extLst>
              <a:ext uri="{FF2B5EF4-FFF2-40B4-BE49-F238E27FC236}">
                <a16:creationId xmlns:a16="http://schemas.microsoft.com/office/drawing/2014/main" id="{05DAED3E-611C-0A98-0C70-3B6098267E26}"/>
              </a:ext>
            </a:extLst>
          </p:cNvPr>
          <p:cNvSpPr/>
          <p:nvPr/>
        </p:nvSpPr>
        <p:spPr>
          <a:xfrm rot="10800000">
            <a:off x="2489966" y="3996681"/>
            <a:ext cx="1691096" cy="91163"/>
          </a:xfrm>
          <a:prstGeom prst="triangle">
            <a:avLst/>
          </a:prstGeom>
          <a:solidFill>
            <a:schemeClr val="tx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229821F5-C4E2-6784-9CD6-0979EBDD566A}"/>
              </a:ext>
            </a:extLst>
          </p:cNvPr>
          <p:cNvSpPr/>
          <p:nvPr/>
        </p:nvSpPr>
        <p:spPr>
          <a:xfrm rot="10800000">
            <a:off x="5786502" y="3987638"/>
            <a:ext cx="1691096" cy="91163"/>
          </a:xfrm>
          <a:prstGeom prst="triangle">
            <a:avLst/>
          </a:prstGeom>
          <a:solidFill>
            <a:schemeClr val="tx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9" name="等腰三角形 8">
            <a:extLst>
              <a:ext uri="{FF2B5EF4-FFF2-40B4-BE49-F238E27FC236}">
                <a16:creationId xmlns:a16="http://schemas.microsoft.com/office/drawing/2014/main" id="{0963FA22-BEF9-2DB2-FC07-0DF184A757EA}"/>
              </a:ext>
            </a:extLst>
          </p:cNvPr>
          <p:cNvSpPr/>
          <p:nvPr/>
        </p:nvSpPr>
        <p:spPr>
          <a:xfrm rot="10800000">
            <a:off x="9227766" y="3996682"/>
            <a:ext cx="1691096" cy="91163"/>
          </a:xfrm>
          <a:prstGeom prst="triangle">
            <a:avLst/>
          </a:prstGeom>
          <a:solidFill>
            <a:schemeClr val="tx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F08E8E2-6EA8-7595-7D35-C7F12B36ED29}"/>
              </a:ext>
            </a:extLst>
          </p:cNvPr>
          <p:cNvSpPr/>
          <p:nvPr/>
        </p:nvSpPr>
        <p:spPr>
          <a:xfrm>
            <a:off x="1913979" y="1512070"/>
            <a:ext cx="2588124" cy="66209"/>
          </a:xfrm>
          <a:prstGeom prst="roundRect">
            <a:avLst>
              <a:gd name="adj" fmla="val 2414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40A7358-3A58-EAA4-9FCB-7961732207B9}"/>
              </a:ext>
            </a:extLst>
          </p:cNvPr>
          <p:cNvSpPr/>
          <p:nvPr/>
        </p:nvSpPr>
        <p:spPr>
          <a:xfrm>
            <a:off x="1972322" y="1343099"/>
            <a:ext cx="626083" cy="119558"/>
          </a:xfrm>
          <a:prstGeom prst="roundRect">
            <a:avLst>
              <a:gd name="adj" fmla="val 2414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0B77634-6E73-3575-1DF3-E44087F13340}"/>
              </a:ext>
            </a:extLst>
          </p:cNvPr>
          <p:cNvSpPr/>
          <p:nvPr/>
        </p:nvSpPr>
        <p:spPr>
          <a:xfrm>
            <a:off x="4329566" y="1397313"/>
            <a:ext cx="196913" cy="11955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464DC18-2AC5-C164-EE15-711F93094C75}"/>
              </a:ext>
            </a:extLst>
          </p:cNvPr>
          <p:cNvSpPr/>
          <p:nvPr/>
        </p:nvSpPr>
        <p:spPr>
          <a:xfrm>
            <a:off x="5264974" y="1357776"/>
            <a:ext cx="626083" cy="119558"/>
          </a:xfrm>
          <a:prstGeom prst="roundRect">
            <a:avLst>
              <a:gd name="adj" fmla="val 2414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39FDA30-2F1E-F0B7-BDF0-35D93A14AD15}"/>
              </a:ext>
            </a:extLst>
          </p:cNvPr>
          <p:cNvSpPr/>
          <p:nvPr/>
        </p:nvSpPr>
        <p:spPr>
          <a:xfrm>
            <a:off x="5927147" y="1363997"/>
            <a:ext cx="196913" cy="11955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AA8B52A9-D8D3-CAAB-F636-AE4BAC34A4AA}"/>
              </a:ext>
            </a:extLst>
          </p:cNvPr>
          <p:cNvSpPr/>
          <p:nvPr/>
        </p:nvSpPr>
        <p:spPr>
          <a:xfrm>
            <a:off x="1928263" y="1464784"/>
            <a:ext cx="1441121" cy="45719"/>
          </a:xfrm>
          <a:prstGeom prst="roundRect">
            <a:avLst>
              <a:gd name="adj" fmla="val 2414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5735AB34-1E3B-0D3E-54B4-9C753D9E9C2C}"/>
              </a:ext>
            </a:extLst>
          </p:cNvPr>
          <p:cNvSpPr/>
          <p:nvPr/>
        </p:nvSpPr>
        <p:spPr>
          <a:xfrm>
            <a:off x="5211007" y="1523054"/>
            <a:ext cx="2588124" cy="66209"/>
          </a:xfrm>
          <a:prstGeom prst="roundRect">
            <a:avLst>
              <a:gd name="adj" fmla="val 2414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42371F24-8612-A02E-DAF4-2F6CA161C71A}"/>
              </a:ext>
            </a:extLst>
          </p:cNvPr>
          <p:cNvSpPr/>
          <p:nvPr/>
        </p:nvSpPr>
        <p:spPr>
          <a:xfrm>
            <a:off x="5229262" y="1480417"/>
            <a:ext cx="1441121" cy="45719"/>
          </a:xfrm>
          <a:prstGeom prst="roundRect">
            <a:avLst>
              <a:gd name="adj" fmla="val 2414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588C6288-E8BA-2CD4-58C1-710463D9A4C3}"/>
              </a:ext>
            </a:extLst>
          </p:cNvPr>
          <p:cNvSpPr/>
          <p:nvPr/>
        </p:nvSpPr>
        <p:spPr>
          <a:xfrm>
            <a:off x="8773178" y="1358430"/>
            <a:ext cx="626083" cy="119558"/>
          </a:xfrm>
          <a:prstGeom prst="roundRect">
            <a:avLst>
              <a:gd name="adj" fmla="val 2414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E1F6A5B-B749-3AD6-F7E8-5A20E6FADD0D}"/>
              </a:ext>
            </a:extLst>
          </p:cNvPr>
          <p:cNvSpPr/>
          <p:nvPr/>
        </p:nvSpPr>
        <p:spPr>
          <a:xfrm>
            <a:off x="9399261" y="1363997"/>
            <a:ext cx="196913" cy="11955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D61EB173-67B9-AC7E-5E08-AFD0BE7F29CE}"/>
              </a:ext>
            </a:extLst>
          </p:cNvPr>
          <p:cNvSpPr/>
          <p:nvPr/>
        </p:nvSpPr>
        <p:spPr>
          <a:xfrm>
            <a:off x="8718111" y="1527771"/>
            <a:ext cx="2588124" cy="66209"/>
          </a:xfrm>
          <a:prstGeom prst="roundRect">
            <a:avLst>
              <a:gd name="adj" fmla="val 2414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0E2907F3-A6D5-42AB-83E2-B4A0DCFC25B2}"/>
              </a:ext>
            </a:extLst>
          </p:cNvPr>
          <p:cNvSpPr/>
          <p:nvPr/>
        </p:nvSpPr>
        <p:spPr>
          <a:xfrm>
            <a:off x="8735526" y="1482254"/>
            <a:ext cx="1441121" cy="45719"/>
          </a:xfrm>
          <a:prstGeom prst="roundRect">
            <a:avLst>
              <a:gd name="adj" fmla="val 2414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43" name="连接符: 肘形 42">
            <a:extLst>
              <a:ext uri="{FF2B5EF4-FFF2-40B4-BE49-F238E27FC236}">
                <a16:creationId xmlns:a16="http://schemas.microsoft.com/office/drawing/2014/main" id="{9887032B-5E53-9EE5-83A0-72F538BF4A70}"/>
              </a:ext>
            </a:extLst>
          </p:cNvPr>
          <p:cNvCxnSpPr>
            <a:cxnSpLocks/>
            <a:stCxn id="7" idx="2"/>
            <a:endCxn id="10" idx="2"/>
          </p:cNvCxnSpPr>
          <p:nvPr/>
        </p:nvCxnSpPr>
        <p:spPr>
          <a:xfrm rot="16200000" flipH="1">
            <a:off x="3329586" y="418434"/>
            <a:ext cx="54214" cy="2142659"/>
          </a:xfrm>
          <a:prstGeom prst="bentConnector3">
            <a:avLst>
              <a:gd name="adj1" fmla="val 150756"/>
            </a:avLst>
          </a:prstGeom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连接符: 肘形 50">
            <a:extLst>
              <a:ext uri="{FF2B5EF4-FFF2-40B4-BE49-F238E27FC236}">
                <a16:creationId xmlns:a16="http://schemas.microsoft.com/office/drawing/2014/main" id="{518E038F-B31E-937D-E340-AA31A690FC8B}"/>
              </a:ext>
            </a:extLst>
          </p:cNvPr>
          <p:cNvCxnSpPr>
            <a:cxnSpLocks/>
            <a:stCxn id="15" idx="2"/>
            <a:endCxn id="16" idx="2"/>
          </p:cNvCxnSpPr>
          <p:nvPr/>
        </p:nvCxnSpPr>
        <p:spPr>
          <a:xfrm rot="16200000" flipH="1">
            <a:off x="5798700" y="1256650"/>
            <a:ext cx="6221" cy="447588"/>
          </a:xfrm>
          <a:prstGeom prst="bentConnector3">
            <a:avLst>
              <a:gd name="adj1" fmla="val 474249"/>
            </a:avLst>
          </a:prstGeom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连接符: 肘形 60">
            <a:extLst>
              <a:ext uri="{FF2B5EF4-FFF2-40B4-BE49-F238E27FC236}">
                <a16:creationId xmlns:a16="http://schemas.microsoft.com/office/drawing/2014/main" id="{BA90A0AE-7AC5-74D8-0A6B-04C89FD7CB52}"/>
              </a:ext>
            </a:extLst>
          </p:cNvPr>
          <p:cNvCxnSpPr>
            <a:cxnSpLocks/>
            <a:stCxn id="33" idx="2"/>
            <a:endCxn id="36" idx="2"/>
          </p:cNvCxnSpPr>
          <p:nvPr/>
        </p:nvCxnSpPr>
        <p:spPr>
          <a:xfrm rot="16200000" flipH="1">
            <a:off x="9289186" y="1275022"/>
            <a:ext cx="5567" cy="411498"/>
          </a:xfrm>
          <a:prstGeom prst="bentConnector3">
            <a:avLst>
              <a:gd name="adj1" fmla="val 584749"/>
            </a:avLst>
          </a:prstGeom>
          <a:ln>
            <a:solidFill>
              <a:srgbClr val="FF720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D4C39E1B-7EB9-ED06-B5B7-5C17F23B0F71}"/>
              </a:ext>
            </a:extLst>
          </p:cNvPr>
          <p:cNvSpPr txBox="1"/>
          <p:nvPr/>
        </p:nvSpPr>
        <p:spPr>
          <a:xfrm>
            <a:off x="2998405" y="1537514"/>
            <a:ext cx="138593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电信号</a:t>
            </a:r>
            <a:endParaRPr lang="zh-CN" altLang="zh-CN" sz="12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F2461C33-8A9C-4EC5-8A21-6FE5802EFF04}"/>
              </a:ext>
            </a:extLst>
          </p:cNvPr>
          <p:cNvSpPr txBox="1"/>
          <p:nvPr/>
        </p:nvSpPr>
        <p:spPr>
          <a:xfrm>
            <a:off x="2543867" y="1194217"/>
            <a:ext cx="138593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交换机芯片</a:t>
            </a:r>
            <a:endParaRPr lang="zh-CN" altLang="zh-CN" sz="12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6223F204-F625-0B14-E727-B05199BB37BA}"/>
              </a:ext>
            </a:extLst>
          </p:cNvPr>
          <p:cNvSpPr txBox="1"/>
          <p:nvPr/>
        </p:nvSpPr>
        <p:spPr>
          <a:xfrm>
            <a:off x="3737221" y="1199748"/>
            <a:ext cx="138593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光引擎</a:t>
            </a:r>
            <a:endParaRPr lang="zh-CN" altLang="zh-CN" sz="12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AA684037-5C7B-B76C-54AF-9B0D0C2216CC}"/>
              </a:ext>
            </a:extLst>
          </p:cNvPr>
          <p:cNvSpPr txBox="1"/>
          <p:nvPr/>
        </p:nvSpPr>
        <p:spPr>
          <a:xfrm>
            <a:off x="5477869" y="1529219"/>
            <a:ext cx="138593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电信号</a:t>
            </a:r>
            <a:endParaRPr lang="zh-CN" altLang="zh-CN" sz="12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480A546C-5A6B-254F-4E22-C20FA5E42301}"/>
              </a:ext>
            </a:extLst>
          </p:cNvPr>
          <p:cNvSpPr txBox="1"/>
          <p:nvPr/>
        </p:nvSpPr>
        <p:spPr>
          <a:xfrm>
            <a:off x="8963821" y="1537513"/>
            <a:ext cx="138593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光信号</a:t>
            </a:r>
            <a:endParaRPr lang="zh-CN" altLang="zh-CN" sz="12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591AE42F-07B1-8EBB-6377-FDC9B827432C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4746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FEB7AE4-B65B-C4C4-1B81-0F6F5726F2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504586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标题 1">
            <a:extLst>
              <a:ext uri="{FF2B5EF4-FFF2-40B4-BE49-F238E27FC236}">
                <a16:creationId xmlns:a16="http://schemas.microsoft.com/office/drawing/2014/main" id="{989D3CE2-210E-CC7D-621E-E3C9275A6A3A}"/>
              </a:ext>
            </a:extLst>
          </p:cNvPr>
          <p:cNvSpPr txBox="1">
            <a:spLocks/>
          </p:cNvSpPr>
          <p:nvPr/>
        </p:nvSpPr>
        <p:spPr>
          <a:xfrm>
            <a:off x="311150" y="216822"/>
            <a:ext cx="10331450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解决可插拔光模块的信息损耗、功耗、速率痛点</a:t>
            </a:r>
          </a:p>
        </p:txBody>
      </p:sp>
      <p:cxnSp>
        <p:nvCxnSpPr>
          <p:cNvPr id="1037" name="直线连接符 30">
            <a:extLst>
              <a:ext uri="{FF2B5EF4-FFF2-40B4-BE49-F238E27FC236}">
                <a16:creationId xmlns:a16="http://schemas.microsoft.com/office/drawing/2014/main" id="{ED02B6E0-8381-DC9D-621A-D6B315636CD9}"/>
              </a:ext>
            </a:extLst>
          </p:cNvPr>
          <p:cNvCxnSpPr>
            <a:cxnSpLocks/>
          </p:cNvCxnSpPr>
          <p:nvPr/>
        </p:nvCxnSpPr>
        <p:spPr>
          <a:xfrm>
            <a:off x="1447849" y="2623982"/>
            <a:ext cx="9910206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2" name="文本框 2191">
            <a:extLst>
              <a:ext uri="{FF2B5EF4-FFF2-40B4-BE49-F238E27FC236}">
                <a16:creationId xmlns:a16="http://schemas.microsoft.com/office/drawing/2014/main" id="{11C415A0-6402-D7B4-E114-4E16E77FFEE9}"/>
              </a:ext>
            </a:extLst>
          </p:cNvPr>
          <p:cNvSpPr txBox="1"/>
          <p:nvPr/>
        </p:nvSpPr>
        <p:spPr>
          <a:xfrm>
            <a:off x="298577" y="3224151"/>
            <a:ext cx="1361697" cy="523220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Pluggable</a:t>
            </a:r>
          </a:p>
          <a:p>
            <a:pPr algn="ctr"/>
            <a:r>
              <a:rPr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传统方案</a:t>
            </a:r>
            <a:endParaRPr lang="en-US" altLang="zh-CN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94" name="文本框 2193">
            <a:extLst>
              <a:ext uri="{FF2B5EF4-FFF2-40B4-BE49-F238E27FC236}">
                <a16:creationId xmlns:a16="http://schemas.microsoft.com/office/drawing/2014/main" id="{CA121FB0-0CE5-73AC-E986-07E323FE78ED}"/>
              </a:ext>
            </a:extLst>
          </p:cNvPr>
          <p:cNvSpPr txBox="1"/>
          <p:nvPr/>
        </p:nvSpPr>
        <p:spPr>
          <a:xfrm>
            <a:off x="536146" y="5143532"/>
            <a:ext cx="911703" cy="523220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</a:p>
          <a:p>
            <a:pPr algn="ctr"/>
            <a:r>
              <a:rPr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进阶方案</a:t>
            </a:r>
          </a:p>
        </p:txBody>
      </p:sp>
      <p:sp>
        <p:nvSpPr>
          <p:cNvPr id="2306" name="文本框 2305">
            <a:extLst>
              <a:ext uri="{FF2B5EF4-FFF2-40B4-BE49-F238E27FC236}">
                <a16:creationId xmlns:a16="http://schemas.microsoft.com/office/drawing/2014/main" id="{8702DED7-1C3A-C8DD-13BE-F188EA97DC8D}"/>
              </a:ext>
            </a:extLst>
          </p:cNvPr>
          <p:cNvSpPr txBox="1"/>
          <p:nvPr/>
        </p:nvSpPr>
        <p:spPr>
          <a:xfrm>
            <a:off x="536146" y="926664"/>
            <a:ext cx="10132483" cy="7924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硬制约：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PCB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走线带来高信息损耗，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不走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PCB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损耗仅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4db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。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224Gbps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下，信息损耗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22db &gt;&gt; IEEE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标准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16db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（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4x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信号强度差距），导致信号中断；</a:t>
            </a: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软制约：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长距离需高功耗补偿（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20W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，占光模块整体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2/3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）且限制速率（同等信息损耗下，距离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2x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，信息损耗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2x 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），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10x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级缩距</a:t>
            </a: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1FB244C6-6982-29E6-9E9D-31CEF0F57E3B}"/>
              </a:ext>
            </a:extLst>
          </p:cNvPr>
          <p:cNvSpPr txBox="1"/>
          <p:nvPr/>
        </p:nvSpPr>
        <p:spPr>
          <a:xfrm>
            <a:off x="298577" y="6334673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：功耗均为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1.6Tbps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速率下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2350886C-697B-026F-46EB-F4126C039A9E}"/>
              </a:ext>
            </a:extLst>
          </p:cNvPr>
          <p:cNvGrpSpPr/>
          <p:nvPr/>
        </p:nvGrpSpPr>
        <p:grpSpPr>
          <a:xfrm>
            <a:off x="4473209" y="2068100"/>
            <a:ext cx="8187507" cy="4042114"/>
            <a:chOff x="2568076" y="2105163"/>
            <a:chExt cx="8187507" cy="4042114"/>
          </a:xfrm>
        </p:grpSpPr>
        <p:sp>
          <p:nvSpPr>
            <p:cNvPr id="2195" name="矩形: 圆角 2194">
              <a:extLst>
                <a:ext uri="{FF2B5EF4-FFF2-40B4-BE49-F238E27FC236}">
                  <a16:creationId xmlns:a16="http://schemas.microsoft.com/office/drawing/2014/main" id="{1E008CC3-49DA-2C0C-1789-CD0CE484D03C}"/>
                </a:ext>
              </a:extLst>
            </p:cNvPr>
            <p:cNvSpPr/>
            <p:nvPr/>
          </p:nvSpPr>
          <p:spPr>
            <a:xfrm>
              <a:off x="5330856" y="3719775"/>
              <a:ext cx="3048997" cy="338554"/>
            </a:xfrm>
            <a:prstGeom prst="roundRect">
              <a:avLst>
                <a:gd name="adj" fmla="val 241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36" name="文本框 1035">
              <a:extLst>
                <a:ext uri="{FF2B5EF4-FFF2-40B4-BE49-F238E27FC236}">
                  <a16:creationId xmlns:a16="http://schemas.microsoft.com/office/drawing/2014/main" id="{ECCC2ED5-0A88-21E2-49DF-C32546F8E5BC}"/>
                </a:ext>
              </a:extLst>
            </p:cNvPr>
            <p:cNvSpPr txBox="1"/>
            <p:nvPr/>
          </p:nvSpPr>
          <p:spPr>
            <a:xfrm>
              <a:off x="3432101" y="2105163"/>
              <a:ext cx="4473575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sz="14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正面</a:t>
              </a:r>
              <a:endPara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42" name="矩形: 圆角 1041">
              <a:extLst>
                <a:ext uri="{FF2B5EF4-FFF2-40B4-BE49-F238E27FC236}">
                  <a16:creationId xmlns:a16="http://schemas.microsoft.com/office/drawing/2014/main" id="{2C14DC3B-5354-59BE-E4AB-329C65D1E68E}"/>
                </a:ext>
              </a:extLst>
            </p:cNvPr>
            <p:cNvSpPr/>
            <p:nvPr/>
          </p:nvSpPr>
          <p:spPr>
            <a:xfrm>
              <a:off x="2583401" y="2958907"/>
              <a:ext cx="2085629" cy="1269750"/>
            </a:xfrm>
            <a:prstGeom prst="roundRect">
              <a:avLst>
                <a:gd name="adj" fmla="val 2414"/>
              </a:avLst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43" name="矩形: 圆角 1042">
              <a:extLst>
                <a:ext uri="{FF2B5EF4-FFF2-40B4-BE49-F238E27FC236}">
                  <a16:creationId xmlns:a16="http://schemas.microsoft.com/office/drawing/2014/main" id="{6F68F9E7-9DBF-BD3C-CB2E-323EF915AE65}"/>
                </a:ext>
              </a:extLst>
            </p:cNvPr>
            <p:cNvSpPr/>
            <p:nvPr/>
          </p:nvSpPr>
          <p:spPr>
            <a:xfrm>
              <a:off x="2685930" y="3030900"/>
              <a:ext cx="1897669" cy="1103778"/>
            </a:xfrm>
            <a:prstGeom prst="roundRect">
              <a:avLst>
                <a:gd name="adj" fmla="val 241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1046" name="组合 1045">
              <a:extLst>
                <a:ext uri="{FF2B5EF4-FFF2-40B4-BE49-F238E27FC236}">
                  <a16:creationId xmlns:a16="http://schemas.microsoft.com/office/drawing/2014/main" id="{BA8377B1-B952-9DA8-8F57-4FE110181346}"/>
                </a:ext>
              </a:extLst>
            </p:cNvPr>
            <p:cNvGrpSpPr/>
            <p:nvPr/>
          </p:nvGrpSpPr>
          <p:grpSpPr>
            <a:xfrm>
              <a:off x="3259680" y="3290152"/>
              <a:ext cx="750168" cy="577216"/>
              <a:chOff x="3336517" y="2797616"/>
              <a:chExt cx="750168" cy="577216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44" name="矩形: 圆角 1043">
                <a:extLst>
                  <a:ext uri="{FF2B5EF4-FFF2-40B4-BE49-F238E27FC236}">
                    <a16:creationId xmlns:a16="http://schemas.microsoft.com/office/drawing/2014/main" id="{CA163804-597D-8956-E42D-B8ABC1F0534D}"/>
                  </a:ext>
                </a:extLst>
              </p:cNvPr>
              <p:cNvSpPr/>
              <p:nvPr/>
            </p:nvSpPr>
            <p:spPr>
              <a:xfrm>
                <a:off x="3336517" y="2797616"/>
                <a:ext cx="750168" cy="577216"/>
              </a:xfrm>
              <a:prstGeom prst="roundRect">
                <a:avLst>
                  <a:gd name="adj" fmla="val 0"/>
                </a:avLst>
              </a:prstGeom>
              <a:solidFill>
                <a:srgbClr val="0052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045" name="矩形: 圆角 1044">
                <a:extLst>
                  <a:ext uri="{FF2B5EF4-FFF2-40B4-BE49-F238E27FC236}">
                    <a16:creationId xmlns:a16="http://schemas.microsoft.com/office/drawing/2014/main" id="{DB5B6A9C-A7B5-79A8-3782-BDA030CC9E7E}"/>
                  </a:ext>
                </a:extLst>
              </p:cNvPr>
              <p:cNvSpPr/>
              <p:nvPr/>
            </p:nvSpPr>
            <p:spPr>
              <a:xfrm>
                <a:off x="3454981" y="2935009"/>
                <a:ext cx="529937" cy="298758"/>
              </a:xfrm>
              <a:prstGeom prst="roundRect">
                <a:avLst>
                  <a:gd name="adj" fmla="val 2414"/>
                </a:avLst>
              </a:prstGeom>
              <a:solidFill>
                <a:schemeClr val="accent6">
                  <a:lumMod val="1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>
                    <a:cs typeface="+mn-ea"/>
                    <a:sym typeface="+mn-lt"/>
                  </a:rPr>
                  <a:t>ASIC</a:t>
                </a:r>
                <a:endParaRPr lang="zh-CN" altLang="en-US" sz="1000" dirty="0">
                  <a:cs typeface="+mn-ea"/>
                  <a:sym typeface="+mn-lt"/>
                </a:endParaRPr>
              </a:p>
            </p:txBody>
          </p:sp>
        </p:grpSp>
        <p:sp>
          <p:nvSpPr>
            <p:cNvPr id="1047" name="矩形 1046">
              <a:extLst>
                <a:ext uri="{FF2B5EF4-FFF2-40B4-BE49-F238E27FC236}">
                  <a16:creationId xmlns:a16="http://schemas.microsoft.com/office/drawing/2014/main" id="{8350E1FE-666C-7AA9-474A-32B62A0E475B}"/>
                </a:ext>
              </a:extLst>
            </p:cNvPr>
            <p:cNvSpPr/>
            <p:nvPr/>
          </p:nvSpPr>
          <p:spPr>
            <a:xfrm>
              <a:off x="4511448" y="3138295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48" name="矩形 1047">
              <a:extLst>
                <a:ext uri="{FF2B5EF4-FFF2-40B4-BE49-F238E27FC236}">
                  <a16:creationId xmlns:a16="http://schemas.microsoft.com/office/drawing/2014/main" id="{B96B9758-7027-1FEC-AB6D-E2CF1A100AFC}"/>
                </a:ext>
              </a:extLst>
            </p:cNvPr>
            <p:cNvSpPr/>
            <p:nvPr/>
          </p:nvSpPr>
          <p:spPr>
            <a:xfrm>
              <a:off x="4547034" y="3138295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3" name="矩形 1052">
              <a:extLst>
                <a:ext uri="{FF2B5EF4-FFF2-40B4-BE49-F238E27FC236}">
                  <a16:creationId xmlns:a16="http://schemas.microsoft.com/office/drawing/2014/main" id="{A7B0E92B-B756-0B17-674C-AAEF90FE5694}"/>
                </a:ext>
              </a:extLst>
            </p:cNvPr>
            <p:cNvSpPr/>
            <p:nvPr/>
          </p:nvSpPr>
          <p:spPr>
            <a:xfrm>
              <a:off x="4513888" y="3325917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4" name="矩形 1053">
              <a:extLst>
                <a:ext uri="{FF2B5EF4-FFF2-40B4-BE49-F238E27FC236}">
                  <a16:creationId xmlns:a16="http://schemas.microsoft.com/office/drawing/2014/main" id="{3472999C-4C34-C793-DACE-2C5A7551C5EE}"/>
                </a:ext>
              </a:extLst>
            </p:cNvPr>
            <p:cNvSpPr/>
            <p:nvPr/>
          </p:nvSpPr>
          <p:spPr>
            <a:xfrm>
              <a:off x="4549474" y="3325917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7" name="矩形 1056">
              <a:extLst>
                <a:ext uri="{FF2B5EF4-FFF2-40B4-BE49-F238E27FC236}">
                  <a16:creationId xmlns:a16="http://schemas.microsoft.com/office/drawing/2014/main" id="{B2BD3E79-0917-9D6C-77B0-E12318CF5A59}"/>
                </a:ext>
              </a:extLst>
            </p:cNvPr>
            <p:cNvSpPr/>
            <p:nvPr/>
          </p:nvSpPr>
          <p:spPr>
            <a:xfrm>
              <a:off x="4511448" y="3909702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8" name="矩形 1057">
              <a:extLst>
                <a:ext uri="{FF2B5EF4-FFF2-40B4-BE49-F238E27FC236}">
                  <a16:creationId xmlns:a16="http://schemas.microsoft.com/office/drawing/2014/main" id="{10A355C0-9305-6632-BE91-51B70F7C1521}"/>
                </a:ext>
              </a:extLst>
            </p:cNvPr>
            <p:cNvSpPr/>
            <p:nvPr/>
          </p:nvSpPr>
          <p:spPr>
            <a:xfrm>
              <a:off x="4547034" y="3909702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1059" name="直接连接符 1058">
              <a:extLst>
                <a:ext uri="{FF2B5EF4-FFF2-40B4-BE49-F238E27FC236}">
                  <a16:creationId xmlns:a16="http://schemas.microsoft.com/office/drawing/2014/main" id="{7BB8A278-EB91-9529-D699-7C254893C7F3}"/>
                </a:ext>
              </a:extLst>
            </p:cNvPr>
            <p:cNvCxnSpPr>
              <a:cxnSpLocks/>
              <a:stCxn id="1057" idx="3"/>
            </p:cNvCxnSpPr>
            <p:nvPr/>
          </p:nvCxnSpPr>
          <p:spPr>
            <a:xfrm>
              <a:off x="4841648" y="3959315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1" name="矩形 1060">
              <a:extLst>
                <a:ext uri="{FF2B5EF4-FFF2-40B4-BE49-F238E27FC236}">
                  <a16:creationId xmlns:a16="http://schemas.microsoft.com/office/drawing/2014/main" id="{8496BCF2-07F8-800B-1908-539DBA8804F7}"/>
                </a:ext>
              </a:extLst>
            </p:cNvPr>
            <p:cNvSpPr/>
            <p:nvPr/>
          </p:nvSpPr>
          <p:spPr>
            <a:xfrm>
              <a:off x="4515178" y="3728301"/>
              <a:ext cx="32933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2" name="矩形 1061">
              <a:extLst>
                <a:ext uri="{FF2B5EF4-FFF2-40B4-BE49-F238E27FC236}">
                  <a16:creationId xmlns:a16="http://schemas.microsoft.com/office/drawing/2014/main" id="{E6A177FF-A6A2-57DE-30F2-40CDA08FFFF2}"/>
                </a:ext>
              </a:extLst>
            </p:cNvPr>
            <p:cNvSpPr/>
            <p:nvPr/>
          </p:nvSpPr>
          <p:spPr>
            <a:xfrm>
              <a:off x="4550671" y="3728301"/>
              <a:ext cx="107429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4" name="椭圆 1063">
              <a:extLst>
                <a:ext uri="{FF2B5EF4-FFF2-40B4-BE49-F238E27FC236}">
                  <a16:creationId xmlns:a16="http://schemas.microsoft.com/office/drawing/2014/main" id="{6FDCDF67-8C85-5478-BCE2-56B514101DAF}"/>
                </a:ext>
              </a:extLst>
            </p:cNvPr>
            <p:cNvSpPr/>
            <p:nvPr/>
          </p:nvSpPr>
          <p:spPr>
            <a:xfrm>
              <a:off x="4666026" y="3481724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5" name="椭圆 1064">
              <a:extLst>
                <a:ext uri="{FF2B5EF4-FFF2-40B4-BE49-F238E27FC236}">
                  <a16:creationId xmlns:a16="http://schemas.microsoft.com/office/drawing/2014/main" id="{69377BAB-9FFF-BC50-93E3-45E5EE3018A9}"/>
                </a:ext>
              </a:extLst>
            </p:cNvPr>
            <p:cNvSpPr/>
            <p:nvPr/>
          </p:nvSpPr>
          <p:spPr>
            <a:xfrm>
              <a:off x="4666026" y="362600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6" name="椭圆 1065">
              <a:extLst>
                <a:ext uri="{FF2B5EF4-FFF2-40B4-BE49-F238E27FC236}">
                  <a16:creationId xmlns:a16="http://schemas.microsoft.com/office/drawing/2014/main" id="{473112B6-B768-759A-09A6-26C00BE72A9C}"/>
                </a:ext>
              </a:extLst>
            </p:cNvPr>
            <p:cNvSpPr/>
            <p:nvPr/>
          </p:nvSpPr>
          <p:spPr>
            <a:xfrm>
              <a:off x="4666026" y="3553862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1070" name="连接符: 肘形 1069">
              <a:extLst>
                <a:ext uri="{FF2B5EF4-FFF2-40B4-BE49-F238E27FC236}">
                  <a16:creationId xmlns:a16="http://schemas.microsoft.com/office/drawing/2014/main" id="{53068155-CCB4-44E1-5336-E64C0592D565}"/>
                </a:ext>
              </a:extLst>
            </p:cNvPr>
            <p:cNvCxnSpPr>
              <a:cxnSpLocks/>
              <a:stCxn id="1087" idx="6"/>
              <a:endCxn id="1047" idx="1"/>
            </p:cNvCxnSpPr>
            <p:nvPr/>
          </p:nvCxnSpPr>
          <p:spPr>
            <a:xfrm flipV="1">
              <a:off x="4027386" y="3187908"/>
              <a:ext cx="484062" cy="209714"/>
            </a:xfrm>
            <a:prstGeom prst="bentConnector3">
              <a:avLst>
                <a:gd name="adj1" fmla="val 27371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6" name="连接符: 肘形 1075">
              <a:extLst>
                <a:ext uri="{FF2B5EF4-FFF2-40B4-BE49-F238E27FC236}">
                  <a16:creationId xmlns:a16="http://schemas.microsoft.com/office/drawing/2014/main" id="{C46DB562-BF27-363E-1DD8-A9D038061614}"/>
                </a:ext>
              </a:extLst>
            </p:cNvPr>
            <p:cNvCxnSpPr>
              <a:cxnSpLocks/>
              <a:stCxn id="2051" idx="6"/>
              <a:endCxn id="1053" idx="1"/>
            </p:cNvCxnSpPr>
            <p:nvPr/>
          </p:nvCxnSpPr>
          <p:spPr>
            <a:xfrm flipV="1">
              <a:off x="4028672" y="3375530"/>
              <a:ext cx="485216" cy="93482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连接符: 肘形 1079">
              <a:extLst>
                <a:ext uri="{FF2B5EF4-FFF2-40B4-BE49-F238E27FC236}">
                  <a16:creationId xmlns:a16="http://schemas.microsoft.com/office/drawing/2014/main" id="{608FC537-CD16-8B76-495B-5605AB70A9E4}"/>
                </a:ext>
              </a:extLst>
            </p:cNvPr>
            <p:cNvCxnSpPr>
              <a:cxnSpLocks/>
              <a:stCxn id="2049" idx="6"/>
              <a:endCxn id="1061" idx="1"/>
            </p:cNvCxnSpPr>
            <p:nvPr/>
          </p:nvCxnSpPr>
          <p:spPr>
            <a:xfrm>
              <a:off x="4029704" y="3676691"/>
              <a:ext cx="485470" cy="101223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4" name="连接符: 肘形 1083">
              <a:extLst>
                <a:ext uri="{FF2B5EF4-FFF2-40B4-BE49-F238E27FC236}">
                  <a16:creationId xmlns:a16="http://schemas.microsoft.com/office/drawing/2014/main" id="{C14FAB72-7E07-C761-7F8F-9BD0C8303699}"/>
                </a:ext>
              </a:extLst>
            </p:cNvPr>
            <p:cNvCxnSpPr>
              <a:cxnSpLocks/>
              <a:stCxn id="2048" idx="6"/>
              <a:endCxn id="1057" idx="1"/>
            </p:cNvCxnSpPr>
            <p:nvPr/>
          </p:nvCxnSpPr>
          <p:spPr>
            <a:xfrm>
              <a:off x="4028672" y="3749163"/>
              <a:ext cx="482776" cy="210152"/>
            </a:xfrm>
            <a:prstGeom prst="bentConnector3">
              <a:avLst>
                <a:gd name="adj1" fmla="val 2764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7" name="椭圆 1086">
              <a:extLst>
                <a:ext uri="{FF2B5EF4-FFF2-40B4-BE49-F238E27FC236}">
                  <a16:creationId xmlns:a16="http://schemas.microsoft.com/office/drawing/2014/main" id="{CE795343-1F1E-E7E6-A80D-32209C3B087F}"/>
                </a:ext>
              </a:extLst>
            </p:cNvPr>
            <p:cNvSpPr/>
            <p:nvPr/>
          </p:nvSpPr>
          <p:spPr>
            <a:xfrm>
              <a:off x="3981667" y="3374762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48" name="椭圆 2047">
              <a:extLst>
                <a:ext uri="{FF2B5EF4-FFF2-40B4-BE49-F238E27FC236}">
                  <a16:creationId xmlns:a16="http://schemas.microsoft.com/office/drawing/2014/main" id="{92AFFC3B-B98C-45A4-56BD-BD5530284314}"/>
                </a:ext>
              </a:extLst>
            </p:cNvPr>
            <p:cNvSpPr/>
            <p:nvPr/>
          </p:nvSpPr>
          <p:spPr>
            <a:xfrm>
              <a:off x="3982953" y="3726303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49" name="椭圆 2048">
              <a:extLst>
                <a:ext uri="{FF2B5EF4-FFF2-40B4-BE49-F238E27FC236}">
                  <a16:creationId xmlns:a16="http://schemas.microsoft.com/office/drawing/2014/main" id="{B131E1CC-A42F-DC54-C680-7D00376308C0}"/>
                </a:ext>
              </a:extLst>
            </p:cNvPr>
            <p:cNvSpPr/>
            <p:nvPr/>
          </p:nvSpPr>
          <p:spPr>
            <a:xfrm>
              <a:off x="3983985" y="3653831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51" name="椭圆 2050">
              <a:extLst>
                <a:ext uri="{FF2B5EF4-FFF2-40B4-BE49-F238E27FC236}">
                  <a16:creationId xmlns:a16="http://schemas.microsoft.com/office/drawing/2014/main" id="{5855C64E-E952-B368-D965-12F97492F792}"/>
                </a:ext>
              </a:extLst>
            </p:cNvPr>
            <p:cNvSpPr/>
            <p:nvPr/>
          </p:nvSpPr>
          <p:spPr>
            <a:xfrm>
              <a:off x="3982953" y="3446152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64" name="矩形: 圆角 2063">
              <a:extLst>
                <a:ext uri="{FF2B5EF4-FFF2-40B4-BE49-F238E27FC236}">
                  <a16:creationId xmlns:a16="http://schemas.microsoft.com/office/drawing/2014/main" id="{2D3474E0-D9D6-0E59-925B-B54755F1F35A}"/>
                </a:ext>
              </a:extLst>
            </p:cNvPr>
            <p:cNvSpPr/>
            <p:nvPr/>
          </p:nvSpPr>
          <p:spPr>
            <a:xfrm>
              <a:off x="2568076" y="4877527"/>
              <a:ext cx="2085629" cy="1269750"/>
            </a:xfrm>
            <a:prstGeom prst="roundRect">
              <a:avLst>
                <a:gd name="adj" fmla="val 2414"/>
              </a:avLst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65" name="矩形: 圆角 2064">
              <a:extLst>
                <a:ext uri="{FF2B5EF4-FFF2-40B4-BE49-F238E27FC236}">
                  <a16:creationId xmlns:a16="http://schemas.microsoft.com/office/drawing/2014/main" id="{D3F80D84-B442-8B61-A21B-02D2BA10F9E3}"/>
                </a:ext>
              </a:extLst>
            </p:cNvPr>
            <p:cNvSpPr/>
            <p:nvPr/>
          </p:nvSpPr>
          <p:spPr>
            <a:xfrm>
              <a:off x="2670605" y="4949520"/>
              <a:ext cx="1897669" cy="1103778"/>
            </a:xfrm>
            <a:prstGeom prst="roundRect">
              <a:avLst>
                <a:gd name="adj" fmla="val 241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67" name="矩形: 圆角 2066">
              <a:extLst>
                <a:ext uri="{FF2B5EF4-FFF2-40B4-BE49-F238E27FC236}">
                  <a16:creationId xmlns:a16="http://schemas.microsoft.com/office/drawing/2014/main" id="{58F33ACB-8ABF-8166-4EB9-3E807939C910}"/>
                </a:ext>
              </a:extLst>
            </p:cNvPr>
            <p:cNvSpPr/>
            <p:nvPr/>
          </p:nvSpPr>
          <p:spPr>
            <a:xfrm>
              <a:off x="3268663" y="5208772"/>
              <a:ext cx="725860" cy="577216"/>
            </a:xfrm>
            <a:prstGeom prst="roundRect">
              <a:avLst>
                <a:gd name="adj" fmla="val 0"/>
              </a:avLst>
            </a:prstGeom>
            <a:solidFill>
              <a:srgbClr val="0052D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068" name="矩形: 圆角 2067">
              <a:extLst>
                <a:ext uri="{FF2B5EF4-FFF2-40B4-BE49-F238E27FC236}">
                  <a16:creationId xmlns:a16="http://schemas.microsoft.com/office/drawing/2014/main" id="{FB3213F1-9F17-855C-F534-A8249EE484E1}"/>
                </a:ext>
              </a:extLst>
            </p:cNvPr>
            <p:cNvSpPr/>
            <p:nvPr/>
          </p:nvSpPr>
          <p:spPr>
            <a:xfrm>
              <a:off x="3427029" y="5383738"/>
              <a:ext cx="415836" cy="234432"/>
            </a:xfrm>
            <a:prstGeom prst="roundRect">
              <a:avLst>
                <a:gd name="adj" fmla="val 2414"/>
              </a:avLst>
            </a:prstGeom>
            <a:solidFill>
              <a:schemeClr val="accent6">
                <a:lumMod val="1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dirty="0">
                  <a:cs typeface="+mn-ea"/>
                  <a:sym typeface="+mn-lt"/>
                </a:rPr>
                <a:t>ASIC</a:t>
              </a:r>
              <a:endParaRPr lang="zh-CN" altLang="en-US" sz="700" dirty="0">
                <a:cs typeface="+mn-ea"/>
                <a:sym typeface="+mn-lt"/>
              </a:endParaRPr>
            </a:p>
          </p:txBody>
        </p:sp>
        <p:sp>
          <p:nvSpPr>
            <p:cNvPr id="2070" name="矩形 2069">
              <a:extLst>
                <a:ext uri="{FF2B5EF4-FFF2-40B4-BE49-F238E27FC236}">
                  <a16:creationId xmlns:a16="http://schemas.microsoft.com/office/drawing/2014/main" id="{B1030952-1810-5436-4395-5719ABFE9E15}"/>
                </a:ext>
              </a:extLst>
            </p:cNvPr>
            <p:cNvSpPr/>
            <p:nvPr/>
          </p:nvSpPr>
          <p:spPr>
            <a:xfrm>
              <a:off x="4568274" y="5056915"/>
              <a:ext cx="74872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74" name="矩形 2073">
              <a:extLst>
                <a:ext uri="{FF2B5EF4-FFF2-40B4-BE49-F238E27FC236}">
                  <a16:creationId xmlns:a16="http://schemas.microsoft.com/office/drawing/2014/main" id="{32F1A191-6100-D28E-6EF9-78BCAD1FAD0A}"/>
                </a:ext>
              </a:extLst>
            </p:cNvPr>
            <p:cNvSpPr/>
            <p:nvPr/>
          </p:nvSpPr>
          <p:spPr>
            <a:xfrm>
              <a:off x="4568273" y="5244537"/>
              <a:ext cx="74873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78" name="矩形 2077">
              <a:extLst>
                <a:ext uri="{FF2B5EF4-FFF2-40B4-BE49-F238E27FC236}">
                  <a16:creationId xmlns:a16="http://schemas.microsoft.com/office/drawing/2014/main" id="{5B676141-72DB-E0C4-DFE0-B876D7A11DA5}"/>
                </a:ext>
              </a:extLst>
            </p:cNvPr>
            <p:cNvSpPr/>
            <p:nvPr/>
          </p:nvSpPr>
          <p:spPr>
            <a:xfrm>
              <a:off x="4568273" y="5828322"/>
              <a:ext cx="8318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080" name="直接连接符 2079">
              <a:extLst>
                <a:ext uri="{FF2B5EF4-FFF2-40B4-BE49-F238E27FC236}">
                  <a16:creationId xmlns:a16="http://schemas.microsoft.com/office/drawing/2014/main" id="{87D3F4F7-D37A-0E2C-6145-F7F063C6B46F}"/>
                </a:ext>
              </a:extLst>
            </p:cNvPr>
            <p:cNvCxnSpPr>
              <a:cxnSpLocks/>
              <a:stCxn id="2078" idx="3"/>
            </p:cNvCxnSpPr>
            <p:nvPr/>
          </p:nvCxnSpPr>
          <p:spPr>
            <a:xfrm>
              <a:off x="4651459" y="5877935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2" name="矩形 2081">
              <a:extLst>
                <a:ext uri="{FF2B5EF4-FFF2-40B4-BE49-F238E27FC236}">
                  <a16:creationId xmlns:a16="http://schemas.microsoft.com/office/drawing/2014/main" id="{BB9BFD7D-0AAC-8124-8BC9-653A68EBB444}"/>
                </a:ext>
              </a:extLst>
            </p:cNvPr>
            <p:cNvSpPr/>
            <p:nvPr/>
          </p:nvSpPr>
          <p:spPr>
            <a:xfrm>
              <a:off x="4568273" y="5646921"/>
              <a:ext cx="8318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089" name="连接符: 肘形 2088">
              <a:extLst>
                <a:ext uri="{FF2B5EF4-FFF2-40B4-BE49-F238E27FC236}">
                  <a16:creationId xmlns:a16="http://schemas.microsoft.com/office/drawing/2014/main" id="{8DD1F950-97EB-F4A2-AD4E-A1B01E72EC33}"/>
                </a:ext>
              </a:extLst>
            </p:cNvPr>
            <p:cNvCxnSpPr>
              <a:cxnSpLocks/>
              <a:stCxn id="2093" idx="6"/>
              <a:endCxn id="2070" idx="1"/>
            </p:cNvCxnSpPr>
            <p:nvPr/>
          </p:nvCxnSpPr>
          <p:spPr>
            <a:xfrm flipV="1">
              <a:off x="3976273" y="5106528"/>
              <a:ext cx="592001" cy="299591"/>
            </a:xfrm>
            <a:prstGeom prst="bentConnector3">
              <a:avLst>
                <a:gd name="adj1" fmla="val 30424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0" name="连接符: 肘形 2089">
              <a:extLst>
                <a:ext uri="{FF2B5EF4-FFF2-40B4-BE49-F238E27FC236}">
                  <a16:creationId xmlns:a16="http://schemas.microsoft.com/office/drawing/2014/main" id="{8DF35806-A9FC-2A22-7101-F4E8ED531D97}"/>
                </a:ext>
              </a:extLst>
            </p:cNvPr>
            <p:cNvCxnSpPr>
              <a:cxnSpLocks/>
              <a:stCxn id="2096" idx="6"/>
              <a:endCxn id="2074" idx="1"/>
            </p:cNvCxnSpPr>
            <p:nvPr/>
          </p:nvCxnSpPr>
          <p:spPr>
            <a:xfrm flipV="1">
              <a:off x="3976938" y="5294150"/>
              <a:ext cx="591335" cy="163731"/>
            </a:xfrm>
            <a:prstGeom prst="bentConnector3">
              <a:avLst>
                <a:gd name="adj1" fmla="val 50000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1" name="连接符: 肘形 2090">
              <a:extLst>
                <a:ext uri="{FF2B5EF4-FFF2-40B4-BE49-F238E27FC236}">
                  <a16:creationId xmlns:a16="http://schemas.microsoft.com/office/drawing/2014/main" id="{8C346686-067C-63BF-E445-631A708B7640}"/>
                </a:ext>
              </a:extLst>
            </p:cNvPr>
            <p:cNvCxnSpPr>
              <a:cxnSpLocks/>
              <a:stCxn id="2095" idx="6"/>
              <a:endCxn id="2082" idx="1"/>
            </p:cNvCxnSpPr>
            <p:nvPr/>
          </p:nvCxnSpPr>
          <p:spPr>
            <a:xfrm>
              <a:off x="3976272" y="5537266"/>
              <a:ext cx="592001" cy="159268"/>
            </a:xfrm>
            <a:prstGeom prst="bentConnector3">
              <a:avLst>
                <a:gd name="adj1" fmla="val 50000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2" name="连接符: 肘形 2091">
              <a:extLst>
                <a:ext uri="{FF2B5EF4-FFF2-40B4-BE49-F238E27FC236}">
                  <a16:creationId xmlns:a16="http://schemas.microsoft.com/office/drawing/2014/main" id="{82590B93-6530-1C73-159A-88359E6EBE58}"/>
                </a:ext>
              </a:extLst>
            </p:cNvPr>
            <p:cNvCxnSpPr>
              <a:cxnSpLocks/>
              <a:stCxn id="2094" idx="6"/>
              <a:endCxn id="2078" idx="1"/>
            </p:cNvCxnSpPr>
            <p:nvPr/>
          </p:nvCxnSpPr>
          <p:spPr>
            <a:xfrm>
              <a:off x="3976539" y="5591536"/>
              <a:ext cx="591734" cy="286399"/>
            </a:xfrm>
            <a:prstGeom prst="bentConnector3">
              <a:avLst>
                <a:gd name="adj1" fmla="val 30684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3" name="椭圆 2092">
              <a:extLst>
                <a:ext uri="{FF2B5EF4-FFF2-40B4-BE49-F238E27FC236}">
                  <a16:creationId xmlns:a16="http://schemas.microsoft.com/office/drawing/2014/main" id="{A0E07606-750D-7A9B-454E-36E2CA7773A9}"/>
                </a:ext>
              </a:extLst>
            </p:cNvPr>
            <p:cNvSpPr/>
            <p:nvPr/>
          </p:nvSpPr>
          <p:spPr>
            <a:xfrm>
              <a:off x="3930554" y="538325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4" name="椭圆 2093">
              <a:extLst>
                <a:ext uri="{FF2B5EF4-FFF2-40B4-BE49-F238E27FC236}">
                  <a16:creationId xmlns:a16="http://schemas.microsoft.com/office/drawing/2014/main" id="{ED2C1C18-69A0-D6F6-7C9A-E424AA2983A8}"/>
                </a:ext>
              </a:extLst>
            </p:cNvPr>
            <p:cNvSpPr/>
            <p:nvPr/>
          </p:nvSpPr>
          <p:spPr>
            <a:xfrm>
              <a:off x="3930820" y="5568676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5" name="椭圆 2094">
              <a:extLst>
                <a:ext uri="{FF2B5EF4-FFF2-40B4-BE49-F238E27FC236}">
                  <a16:creationId xmlns:a16="http://schemas.microsoft.com/office/drawing/2014/main" id="{80993937-D567-1CBC-53AF-525CCE51C4A3}"/>
                </a:ext>
              </a:extLst>
            </p:cNvPr>
            <p:cNvSpPr/>
            <p:nvPr/>
          </p:nvSpPr>
          <p:spPr>
            <a:xfrm>
              <a:off x="3930553" y="5514406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6" name="椭圆 2095">
              <a:extLst>
                <a:ext uri="{FF2B5EF4-FFF2-40B4-BE49-F238E27FC236}">
                  <a16:creationId xmlns:a16="http://schemas.microsoft.com/office/drawing/2014/main" id="{A47E9B9D-9642-DBC7-A831-7CC92DDF5FF6}"/>
                </a:ext>
              </a:extLst>
            </p:cNvPr>
            <p:cNvSpPr/>
            <p:nvPr/>
          </p:nvSpPr>
          <p:spPr>
            <a:xfrm>
              <a:off x="3931219" y="5435021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19" name="直接连接符 2118">
              <a:extLst>
                <a:ext uri="{FF2B5EF4-FFF2-40B4-BE49-F238E27FC236}">
                  <a16:creationId xmlns:a16="http://schemas.microsoft.com/office/drawing/2014/main" id="{3B3537D0-C835-9C80-9C28-35DC1224C280}"/>
                </a:ext>
              </a:extLst>
            </p:cNvPr>
            <p:cNvCxnSpPr>
              <a:cxnSpLocks/>
            </p:cNvCxnSpPr>
            <p:nvPr/>
          </p:nvCxnSpPr>
          <p:spPr>
            <a:xfrm>
              <a:off x="4841648" y="3783102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0" name="直接连接符 2119">
              <a:extLst>
                <a:ext uri="{FF2B5EF4-FFF2-40B4-BE49-F238E27FC236}">
                  <a16:creationId xmlns:a16="http://schemas.microsoft.com/office/drawing/2014/main" id="{678B84E6-DAC7-A2EF-5EA7-43681B73B3EE}"/>
                </a:ext>
              </a:extLst>
            </p:cNvPr>
            <p:cNvCxnSpPr>
              <a:cxnSpLocks/>
            </p:cNvCxnSpPr>
            <p:nvPr/>
          </p:nvCxnSpPr>
          <p:spPr>
            <a:xfrm>
              <a:off x="4841648" y="3375294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1" name="直接连接符 2120">
              <a:extLst>
                <a:ext uri="{FF2B5EF4-FFF2-40B4-BE49-F238E27FC236}">
                  <a16:creationId xmlns:a16="http://schemas.microsoft.com/office/drawing/2014/main" id="{BB4CF096-CB66-22F0-2DB3-10A21FAD3B50}"/>
                </a:ext>
              </a:extLst>
            </p:cNvPr>
            <p:cNvCxnSpPr>
              <a:cxnSpLocks/>
            </p:cNvCxnSpPr>
            <p:nvPr/>
          </p:nvCxnSpPr>
          <p:spPr>
            <a:xfrm>
              <a:off x="4841648" y="3187908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2" name="直接连接符 2121">
              <a:extLst>
                <a:ext uri="{FF2B5EF4-FFF2-40B4-BE49-F238E27FC236}">
                  <a16:creationId xmlns:a16="http://schemas.microsoft.com/office/drawing/2014/main" id="{3E65DC7F-2F8A-8030-73C6-B10B0359D458}"/>
                </a:ext>
              </a:extLst>
            </p:cNvPr>
            <p:cNvCxnSpPr>
              <a:cxnSpLocks/>
            </p:cNvCxnSpPr>
            <p:nvPr/>
          </p:nvCxnSpPr>
          <p:spPr>
            <a:xfrm>
              <a:off x="4651459" y="5697064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3" name="直接连接符 2122">
              <a:extLst>
                <a:ext uri="{FF2B5EF4-FFF2-40B4-BE49-F238E27FC236}">
                  <a16:creationId xmlns:a16="http://schemas.microsoft.com/office/drawing/2014/main" id="{A0FD160C-58A3-913D-D882-533546A7B042}"/>
                </a:ext>
              </a:extLst>
            </p:cNvPr>
            <p:cNvCxnSpPr>
              <a:cxnSpLocks/>
            </p:cNvCxnSpPr>
            <p:nvPr/>
          </p:nvCxnSpPr>
          <p:spPr>
            <a:xfrm>
              <a:off x="4643146" y="5293382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4" name="直接连接符 2123">
              <a:extLst>
                <a:ext uri="{FF2B5EF4-FFF2-40B4-BE49-F238E27FC236}">
                  <a16:creationId xmlns:a16="http://schemas.microsoft.com/office/drawing/2014/main" id="{F725813E-84C7-EA56-D518-55861B1EA78F}"/>
                </a:ext>
              </a:extLst>
            </p:cNvPr>
            <p:cNvCxnSpPr>
              <a:cxnSpLocks/>
            </p:cNvCxnSpPr>
            <p:nvPr/>
          </p:nvCxnSpPr>
          <p:spPr>
            <a:xfrm>
              <a:off x="4643146" y="5106528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25" name="矩形 2124">
              <a:extLst>
                <a:ext uri="{FF2B5EF4-FFF2-40B4-BE49-F238E27FC236}">
                  <a16:creationId xmlns:a16="http://schemas.microsoft.com/office/drawing/2014/main" id="{DD30B286-427C-9FF9-0FBC-B9990AE98510}"/>
                </a:ext>
              </a:extLst>
            </p:cNvPr>
            <p:cNvSpPr/>
            <p:nvPr/>
          </p:nvSpPr>
          <p:spPr>
            <a:xfrm>
              <a:off x="3868827" y="5383747"/>
              <a:ext cx="107711" cy="234432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42" name="直接连接符 2141">
              <a:extLst>
                <a:ext uri="{FF2B5EF4-FFF2-40B4-BE49-F238E27FC236}">
                  <a16:creationId xmlns:a16="http://schemas.microsoft.com/office/drawing/2014/main" id="{018AB5C2-76BE-4C7E-C14D-BC46F3175833}"/>
                </a:ext>
              </a:extLst>
            </p:cNvPr>
            <p:cNvCxnSpPr>
              <a:cxnSpLocks/>
            </p:cNvCxnSpPr>
            <p:nvPr/>
          </p:nvCxnSpPr>
          <p:spPr>
            <a:xfrm>
              <a:off x="3842865" y="5406118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4" name="直接连接符 2143">
              <a:extLst>
                <a:ext uri="{FF2B5EF4-FFF2-40B4-BE49-F238E27FC236}">
                  <a16:creationId xmlns:a16="http://schemas.microsoft.com/office/drawing/2014/main" id="{FBCEB2F9-ABD4-72D4-FDBC-4BCC218447DA}"/>
                </a:ext>
              </a:extLst>
            </p:cNvPr>
            <p:cNvCxnSpPr>
              <a:cxnSpLocks/>
            </p:cNvCxnSpPr>
            <p:nvPr/>
          </p:nvCxnSpPr>
          <p:spPr>
            <a:xfrm>
              <a:off x="3842865" y="5457880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5" name="直接连接符 2144">
              <a:extLst>
                <a:ext uri="{FF2B5EF4-FFF2-40B4-BE49-F238E27FC236}">
                  <a16:creationId xmlns:a16="http://schemas.microsoft.com/office/drawing/2014/main" id="{BA546A0B-4FD7-D411-1455-CB36E4BA3ABD}"/>
                </a:ext>
              </a:extLst>
            </p:cNvPr>
            <p:cNvCxnSpPr>
              <a:cxnSpLocks/>
            </p:cNvCxnSpPr>
            <p:nvPr/>
          </p:nvCxnSpPr>
          <p:spPr>
            <a:xfrm>
              <a:off x="3842865" y="5537962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6" name="直接连接符 2145">
              <a:extLst>
                <a:ext uri="{FF2B5EF4-FFF2-40B4-BE49-F238E27FC236}">
                  <a16:creationId xmlns:a16="http://schemas.microsoft.com/office/drawing/2014/main" id="{E137EBE4-A222-E161-C69E-5CC6C17918E1}"/>
                </a:ext>
              </a:extLst>
            </p:cNvPr>
            <p:cNvCxnSpPr>
              <a:cxnSpLocks/>
            </p:cNvCxnSpPr>
            <p:nvPr/>
          </p:nvCxnSpPr>
          <p:spPr>
            <a:xfrm>
              <a:off x="3842865" y="5593466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54" name="组合 2153">
              <a:extLst>
                <a:ext uri="{FF2B5EF4-FFF2-40B4-BE49-F238E27FC236}">
                  <a16:creationId xmlns:a16="http://schemas.microsoft.com/office/drawing/2014/main" id="{E78C4C66-170F-A06C-6F8D-4D38E1D9321C}"/>
                </a:ext>
              </a:extLst>
            </p:cNvPr>
            <p:cNvGrpSpPr/>
            <p:nvPr/>
          </p:nvGrpSpPr>
          <p:grpSpPr>
            <a:xfrm rot="16200000">
              <a:off x="3564677" y="5199694"/>
              <a:ext cx="133673" cy="234432"/>
              <a:chOff x="4069877" y="6177592"/>
              <a:chExt cx="133673" cy="234432"/>
            </a:xfrm>
          </p:grpSpPr>
          <p:sp>
            <p:nvSpPr>
              <p:cNvPr id="2149" name="矩形 2148">
                <a:extLst>
                  <a:ext uri="{FF2B5EF4-FFF2-40B4-BE49-F238E27FC236}">
                    <a16:creationId xmlns:a16="http://schemas.microsoft.com/office/drawing/2014/main" id="{F16E47A6-6573-F98E-F75C-7329AFFFBB60}"/>
                  </a:ext>
                </a:extLst>
              </p:cNvPr>
              <p:cNvSpPr/>
              <p:nvPr/>
            </p:nvSpPr>
            <p:spPr>
              <a:xfrm>
                <a:off x="4095839" y="6177592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50" name="直接连接符 2149">
                <a:extLst>
                  <a:ext uri="{FF2B5EF4-FFF2-40B4-BE49-F238E27FC236}">
                    <a16:creationId xmlns:a16="http://schemas.microsoft.com/office/drawing/2014/main" id="{2DEFB9AB-6125-A95E-528C-3AD457AED4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19996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1" name="直接连接符 2150">
                <a:extLst>
                  <a:ext uri="{FF2B5EF4-FFF2-40B4-BE49-F238E27FC236}">
                    <a16:creationId xmlns:a16="http://schemas.microsoft.com/office/drawing/2014/main" id="{24226B46-97DD-EEDD-93D8-0D5A414B18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251725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2" name="直接连接符 2151">
                <a:extLst>
                  <a:ext uri="{FF2B5EF4-FFF2-40B4-BE49-F238E27FC236}">
                    <a16:creationId xmlns:a16="http://schemas.microsoft.com/office/drawing/2014/main" id="{285C4076-1E2A-59C4-5EE3-586500774C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33180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3" name="直接连接符 2152">
                <a:extLst>
                  <a:ext uri="{FF2B5EF4-FFF2-40B4-BE49-F238E27FC236}">
                    <a16:creationId xmlns:a16="http://schemas.microsoft.com/office/drawing/2014/main" id="{472D814C-E1BB-4710-3482-807D4F653F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3873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4" name="组合 2183">
              <a:extLst>
                <a:ext uri="{FF2B5EF4-FFF2-40B4-BE49-F238E27FC236}">
                  <a16:creationId xmlns:a16="http://schemas.microsoft.com/office/drawing/2014/main" id="{700D2923-9348-78EA-3D49-838ABCAE2F1A}"/>
                </a:ext>
              </a:extLst>
            </p:cNvPr>
            <p:cNvGrpSpPr/>
            <p:nvPr/>
          </p:nvGrpSpPr>
          <p:grpSpPr>
            <a:xfrm rot="5400000">
              <a:off x="3560034" y="5567772"/>
              <a:ext cx="133673" cy="234432"/>
              <a:chOff x="3963440" y="6379578"/>
              <a:chExt cx="133673" cy="234432"/>
            </a:xfrm>
          </p:grpSpPr>
          <p:sp>
            <p:nvSpPr>
              <p:cNvPr id="2155" name="矩形 2154">
                <a:extLst>
                  <a:ext uri="{FF2B5EF4-FFF2-40B4-BE49-F238E27FC236}">
                    <a16:creationId xmlns:a16="http://schemas.microsoft.com/office/drawing/2014/main" id="{5BD91CE2-ECD5-6CB6-09E7-ADFD123DD55E}"/>
                  </a:ext>
                </a:extLst>
              </p:cNvPr>
              <p:cNvSpPr/>
              <p:nvPr/>
            </p:nvSpPr>
            <p:spPr>
              <a:xfrm>
                <a:off x="3989402" y="6379578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56" name="直接连接符 2155">
                <a:extLst>
                  <a:ext uri="{FF2B5EF4-FFF2-40B4-BE49-F238E27FC236}">
                    <a16:creationId xmlns:a16="http://schemas.microsoft.com/office/drawing/2014/main" id="{8B2F601F-E22D-1A3A-BCBC-392A540622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01949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7" name="直接连接符 2156">
                <a:extLst>
                  <a:ext uri="{FF2B5EF4-FFF2-40B4-BE49-F238E27FC236}">
                    <a16:creationId xmlns:a16="http://schemas.microsoft.com/office/drawing/2014/main" id="{B2C8C993-3430-FFF0-5294-DCE79E104B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537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8" name="直接连接符 2157">
                <a:extLst>
                  <a:ext uri="{FF2B5EF4-FFF2-40B4-BE49-F238E27FC236}">
                    <a16:creationId xmlns:a16="http://schemas.microsoft.com/office/drawing/2014/main" id="{AE0A485D-143F-1983-19EF-E99A49B167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3379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9" name="直接连接符 2158">
                <a:extLst>
                  <a:ext uri="{FF2B5EF4-FFF2-40B4-BE49-F238E27FC236}">
                    <a16:creationId xmlns:a16="http://schemas.microsoft.com/office/drawing/2014/main" id="{90414AED-0C67-2E2F-5763-31C5D10AE4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8929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5" name="组合 2184">
              <a:extLst>
                <a:ext uri="{FF2B5EF4-FFF2-40B4-BE49-F238E27FC236}">
                  <a16:creationId xmlns:a16="http://schemas.microsoft.com/office/drawing/2014/main" id="{6948E263-CC9A-2ADD-ECB9-5838F9627EF3}"/>
                </a:ext>
              </a:extLst>
            </p:cNvPr>
            <p:cNvGrpSpPr/>
            <p:nvPr/>
          </p:nvGrpSpPr>
          <p:grpSpPr>
            <a:xfrm rot="10800000">
              <a:off x="3294369" y="5379963"/>
              <a:ext cx="133673" cy="234432"/>
              <a:chOff x="3963440" y="6379578"/>
              <a:chExt cx="133673" cy="234432"/>
            </a:xfrm>
          </p:grpSpPr>
          <p:sp>
            <p:nvSpPr>
              <p:cNvPr id="2186" name="矩形 2185">
                <a:extLst>
                  <a:ext uri="{FF2B5EF4-FFF2-40B4-BE49-F238E27FC236}">
                    <a16:creationId xmlns:a16="http://schemas.microsoft.com/office/drawing/2014/main" id="{7316E993-FDF0-7C38-09F8-594FBA6BA955}"/>
                  </a:ext>
                </a:extLst>
              </p:cNvPr>
              <p:cNvSpPr/>
              <p:nvPr/>
            </p:nvSpPr>
            <p:spPr>
              <a:xfrm>
                <a:off x="3989402" y="6379578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87" name="直接连接符 2186">
                <a:extLst>
                  <a:ext uri="{FF2B5EF4-FFF2-40B4-BE49-F238E27FC236}">
                    <a16:creationId xmlns:a16="http://schemas.microsoft.com/office/drawing/2014/main" id="{D2D71FE3-5E45-54DA-3C4C-F1EB12E7E2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01949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8" name="直接连接符 2187">
                <a:extLst>
                  <a:ext uri="{FF2B5EF4-FFF2-40B4-BE49-F238E27FC236}">
                    <a16:creationId xmlns:a16="http://schemas.microsoft.com/office/drawing/2014/main" id="{B33DF06A-5242-F6C1-F717-188BBFB1E4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537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9" name="直接连接符 2188">
                <a:extLst>
                  <a:ext uri="{FF2B5EF4-FFF2-40B4-BE49-F238E27FC236}">
                    <a16:creationId xmlns:a16="http://schemas.microsoft.com/office/drawing/2014/main" id="{C0D0A1A6-E1CF-6B8F-0D43-75A4128C4C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3379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0" name="直接连接符 2189">
                <a:extLst>
                  <a:ext uri="{FF2B5EF4-FFF2-40B4-BE49-F238E27FC236}">
                    <a16:creationId xmlns:a16="http://schemas.microsoft.com/office/drawing/2014/main" id="{0470F646-6534-B7E9-60B4-FB42C5C9C0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8929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83" name="组合 2282">
              <a:extLst>
                <a:ext uri="{FF2B5EF4-FFF2-40B4-BE49-F238E27FC236}">
                  <a16:creationId xmlns:a16="http://schemas.microsoft.com/office/drawing/2014/main" id="{293D0147-C09F-6F8D-A3D3-8B10C8E129D5}"/>
                </a:ext>
              </a:extLst>
            </p:cNvPr>
            <p:cNvGrpSpPr/>
            <p:nvPr/>
          </p:nvGrpSpPr>
          <p:grpSpPr>
            <a:xfrm>
              <a:off x="6777012" y="5355590"/>
              <a:ext cx="180133" cy="51782"/>
              <a:chOff x="7867918" y="2835520"/>
              <a:chExt cx="180133" cy="51782"/>
            </a:xfrm>
          </p:grpSpPr>
          <p:sp>
            <p:nvSpPr>
              <p:cNvPr id="2284" name="椭圆 2283">
                <a:extLst>
                  <a:ext uri="{FF2B5EF4-FFF2-40B4-BE49-F238E27FC236}">
                    <a16:creationId xmlns:a16="http://schemas.microsoft.com/office/drawing/2014/main" id="{AE6FD3A3-80B0-1E9E-F69C-44524BD73C07}"/>
                  </a:ext>
                </a:extLst>
              </p:cNvPr>
              <p:cNvSpPr/>
              <p:nvPr/>
            </p:nvSpPr>
            <p:spPr>
              <a:xfrm>
                <a:off x="7867918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85" name="椭圆 2284">
                <a:extLst>
                  <a:ext uri="{FF2B5EF4-FFF2-40B4-BE49-F238E27FC236}">
                    <a16:creationId xmlns:a16="http://schemas.microsoft.com/office/drawing/2014/main" id="{E24357DA-78BF-37D7-9509-F80E141FF0FB}"/>
                  </a:ext>
                </a:extLst>
              </p:cNvPr>
              <p:cNvSpPr/>
              <p:nvPr/>
            </p:nvSpPr>
            <p:spPr>
              <a:xfrm>
                <a:off x="7996269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2207" name="矩形 2206">
              <a:extLst>
                <a:ext uri="{FF2B5EF4-FFF2-40B4-BE49-F238E27FC236}">
                  <a16:creationId xmlns:a16="http://schemas.microsoft.com/office/drawing/2014/main" id="{9D01AEB0-2411-BFDB-2528-00333FFD822E}"/>
                </a:ext>
              </a:extLst>
            </p:cNvPr>
            <p:cNvSpPr/>
            <p:nvPr/>
          </p:nvSpPr>
          <p:spPr>
            <a:xfrm>
              <a:off x="7970483" y="3468200"/>
              <a:ext cx="583239" cy="246220"/>
            </a:xfrm>
            <a:custGeom>
              <a:avLst/>
              <a:gdLst>
                <a:gd name="connsiteX0" fmla="*/ 0 w 518039"/>
                <a:gd name="connsiteY0" fmla="*/ 0 h 246220"/>
                <a:gd name="connsiteX1" fmla="*/ 518039 w 518039"/>
                <a:gd name="connsiteY1" fmla="*/ 0 h 246220"/>
                <a:gd name="connsiteX2" fmla="*/ 518039 w 518039"/>
                <a:gd name="connsiteY2" fmla="*/ 246220 h 246220"/>
                <a:gd name="connsiteX3" fmla="*/ 0 w 518039"/>
                <a:gd name="connsiteY3" fmla="*/ 246220 h 246220"/>
                <a:gd name="connsiteX4" fmla="*/ 0 w 518039"/>
                <a:gd name="connsiteY4" fmla="*/ 0 h 246220"/>
                <a:gd name="connsiteX0" fmla="*/ 0 w 518039"/>
                <a:gd name="connsiteY0" fmla="*/ 0 h 246220"/>
                <a:gd name="connsiteX1" fmla="*/ 518039 w 518039"/>
                <a:gd name="connsiteY1" fmla="*/ 0 h 246220"/>
                <a:gd name="connsiteX2" fmla="*/ 518039 w 518039"/>
                <a:gd name="connsiteY2" fmla="*/ 246220 h 246220"/>
                <a:gd name="connsiteX3" fmla="*/ 422160 w 518039"/>
                <a:gd name="connsiteY3" fmla="*/ 246030 h 246220"/>
                <a:gd name="connsiteX4" fmla="*/ 0 w 518039"/>
                <a:gd name="connsiteY4" fmla="*/ 246220 h 246220"/>
                <a:gd name="connsiteX5" fmla="*/ 0 w 518039"/>
                <a:gd name="connsiteY5" fmla="*/ 0 h 246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18039" h="246220">
                  <a:moveTo>
                    <a:pt x="0" y="0"/>
                  </a:moveTo>
                  <a:lnTo>
                    <a:pt x="518039" y="0"/>
                  </a:lnTo>
                  <a:lnTo>
                    <a:pt x="518039" y="246220"/>
                  </a:lnTo>
                  <a:lnTo>
                    <a:pt x="422160" y="246030"/>
                  </a:lnTo>
                  <a:lnTo>
                    <a:pt x="0" y="2462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6A6A6">
                <a:alpha val="25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8" name="椭圆 2217">
              <a:extLst>
                <a:ext uri="{FF2B5EF4-FFF2-40B4-BE49-F238E27FC236}">
                  <a16:creationId xmlns:a16="http://schemas.microsoft.com/office/drawing/2014/main" id="{4F68F8D8-5A4F-9AB0-A2B1-4AA8521AE26C}"/>
                </a:ext>
              </a:extLst>
            </p:cNvPr>
            <p:cNvSpPr/>
            <p:nvPr/>
          </p:nvSpPr>
          <p:spPr>
            <a:xfrm>
              <a:off x="8100201" y="3677084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9" name="椭圆 2218">
              <a:extLst>
                <a:ext uri="{FF2B5EF4-FFF2-40B4-BE49-F238E27FC236}">
                  <a16:creationId xmlns:a16="http://schemas.microsoft.com/office/drawing/2014/main" id="{697FD642-E1C7-984C-84FD-F9BA32AE213D}"/>
                </a:ext>
              </a:extLst>
            </p:cNvPr>
            <p:cNvSpPr/>
            <p:nvPr/>
          </p:nvSpPr>
          <p:spPr>
            <a:xfrm>
              <a:off x="8018472" y="3677908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2216" name="组合 2215">
              <a:extLst>
                <a:ext uri="{FF2B5EF4-FFF2-40B4-BE49-F238E27FC236}">
                  <a16:creationId xmlns:a16="http://schemas.microsoft.com/office/drawing/2014/main" id="{88447058-E641-6033-8952-D70647929279}"/>
                </a:ext>
              </a:extLst>
            </p:cNvPr>
            <p:cNvGrpSpPr/>
            <p:nvPr/>
          </p:nvGrpSpPr>
          <p:grpSpPr>
            <a:xfrm>
              <a:off x="5792113" y="3427635"/>
              <a:ext cx="565185" cy="51782"/>
              <a:chOff x="7867918" y="2835520"/>
              <a:chExt cx="565185" cy="51782"/>
            </a:xfrm>
          </p:grpSpPr>
          <p:sp>
            <p:nvSpPr>
              <p:cNvPr id="2210" name="椭圆 2209">
                <a:extLst>
                  <a:ext uri="{FF2B5EF4-FFF2-40B4-BE49-F238E27FC236}">
                    <a16:creationId xmlns:a16="http://schemas.microsoft.com/office/drawing/2014/main" id="{CA5BA9F9-7CBE-A8DC-E632-02874C6EE9DD}"/>
                  </a:ext>
                </a:extLst>
              </p:cNvPr>
              <p:cNvSpPr/>
              <p:nvPr/>
            </p:nvSpPr>
            <p:spPr>
              <a:xfrm>
                <a:off x="7867918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12" name="椭圆 2211">
                <a:extLst>
                  <a:ext uri="{FF2B5EF4-FFF2-40B4-BE49-F238E27FC236}">
                    <a16:creationId xmlns:a16="http://schemas.microsoft.com/office/drawing/2014/main" id="{38157B7A-7332-FF4E-39CB-CE4F567035F6}"/>
                  </a:ext>
                </a:extLst>
              </p:cNvPr>
              <p:cNvSpPr/>
              <p:nvPr/>
            </p:nvSpPr>
            <p:spPr>
              <a:xfrm>
                <a:off x="7996269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13" name="椭圆 2212">
                <a:extLst>
                  <a:ext uri="{FF2B5EF4-FFF2-40B4-BE49-F238E27FC236}">
                    <a16:creationId xmlns:a16="http://schemas.microsoft.com/office/drawing/2014/main" id="{30AF12B0-CB8E-BA97-2FE1-598E1F01918C}"/>
                  </a:ext>
                </a:extLst>
              </p:cNvPr>
              <p:cNvSpPr/>
              <p:nvPr/>
            </p:nvSpPr>
            <p:spPr>
              <a:xfrm>
                <a:off x="8381321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14" name="椭圆 2213">
                <a:extLst>
                  <a:ext uri="{FF2B5EF4-FFF2-40B4-BE49-F238E27FC236}">
                    <a16:creationId xmlns:a16="http://schemas.microsoft.com/office/drawing/2014/main" id="{F8570447-E39D-1361-7A43-AA47875F2729}"/>
                  </a:ext>
                </a:extLst>
              </p:cNvPr>
              <p:cNvSpPr/>
              <p:nvPr/>
            </p:nvSpPr>
            <p:spPr>
              <a:xfrm>
                <a:off x="8124620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15" name="椭圆 2214">
                <a:extLst>
                  <a:ext uri="{FF2B5EF4-FFF2-40B4-BE49-F238E27FC236}">
                    <a16:creationId xmlns:a16="http://schemas.microsoft.com/office/drawing/2014/main" id="{48899A2D-3DEA-B68D-20ED-9FB5F2AEA527}"/>
                  </a:ext>
                </a:extLst>
              </p:cNvPr>
              <p:cNvSpPr/>
              <p:nvPr/>
            </p:nvSpPr>
            <p:spPr>
              <a:xfrm>
                <a:off x="8252971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2203" name="组合 2202">
              <a:extLst>
                <a:ext uri="{FF2B5EF4-FFF2-40B4-BE49-F238E27FC236}">
                  <a16:creationId xmlns:a16="http://schemas.microsoft.com/office/drawing/2014/main" id="{D173D587-F239-6090-3BB5-3FD3512DB4C5}"/>
                </a:ext>
              </a:extLst>
            </p:cNvPr>
            <p:cNvGrpSpPr/>
            <p:nvPr/>
          </p:nvGrpSpPr>
          <p:grpSpPr>
            <a:xfrm>
              <a:off x="5756277" y="3667993"/>
              <a:ext cx="1049169" cy="51782"/>
              <a:chOff x="7142854" y="3452768"/>
              <a:chExt cx="1049169" cy="51782"/>
            </a:xfrm>
          </p:grpSpPr>
          <p:sp>
            <p:nvSpPr>
              <p:cNvPr id="2197" name="椭圆 2196">
                <a:extLst>
                  <a:ext uri="{FF2B5EF4-FFF2-40B4-BE49-F238E27FC236}">
                    <a16:creationId xmlns:a16="http://schemas.microsoft.com/office/drawing/2014/main" id="{8ABCF628-3AF5-004E-C79D-36DC0313349F}"/>
                  </a:ext>
                </a:extLst>
              </p:cNvPr>
              <p:cNvSpPr/>
              <p:nvPr/>
            </p:nvSpPr>
            <p:spPr>
              <a:xfrm>
                <a:off x="7142854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198" name="椭圆 2197">
                <a:extLst>
                  <a:ext uri="{FF2B5EF4-FFF2-40B4-BE49-F238E27FC236}">
                    <a16:creationId xmlns:a16="http://schemas.microsoft.com/office/drawing/2014/main" id="{4602E9E2-13BE-B2DE-BE32-81AD1B8D9C35}"/>
                  </a:ext>
                </a:extLst>
              </p:cNvPr>
              <p:cNvSpPr/>
              <p:nvPr/>
            </p:nvSpPr>
            <p:spPr>
              <a:xfrm>
                <a:off x="8140241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199" name="椭圆 2198">
                <a:extLst>
                  <a:ext uri="{FF2B5EF4-FFF2-40B4-BE49-F238E27FC236}">
                    <a16:creationId xmlns:a16="http://schemas.microsoft.com/office/drawing/2014/main" id="{C35EC5BA-E3D0-A6BF-8B4D-32CD24E466FE}"/>
                  </a:ext>
                </a:extLst>
              </p:cNvPr>
              <p:cNvSpPr/>
              <p:nvPr/>
            </p:nvSpPr>
            <p:spPr>
              <a:xfrm>
                <a:off x="7342331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00" name="椭圆 2199">
                <a:extLst>
                  <a:ext uri="{FF2B5EF4-FFF2-40B4-BE49-F238E27FC236}">
                    <a16:creationId xmlns:a16="http://schemas.microsoft.com/office/drawing/2014/main" id="{86899C8A-820B-5595-CF80-7635EFF3B8FB}"/>
                  </a:ext>
                </a:extLst>
              </p:cNvPr>
              <p:cNvSpPr/>
              <p:nvPr/>
            </p:nvSpPr>
            <p:spPr>
              <a:xfrm>
                <a:off x="7741285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01" name="椭圆 2200">
                <a:extLst>
                  <a:ext uri="{FF2B5EF4-FFF2-40B4-BE49-F238E27FC236}">
                    <a16:creationId xmlns:a16="http://schemas.microsoft.com/office/drawing/2014/main" id="{FB518041-1704-7B53-FAC9-036F2F9391CB}"/>
                  </a:ext>
                </a:extLst>
              </p:cNvPr>
              <p:cNvSpPr/>
              <p:nvPr/>
            </p:nvSpPr>
            <p:spPr>
              <a:xfrm>
                <a:off x="7541808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02" name="椭圆 2201">
                <a:extLst>
                  <a:ext uri="{FF2B5EF4-FFF2-40B4-BE49-F238E27FC236}">
                    <a16:creationId xmlns:a16="http://schemas.microsoft.com/office/drawing/2014/main" id="{910145BF-E1E5-1AA7-6FD0-D639FBFCFC9F}"/>
                  </a:ext>
                </a:extLst>
              </p:cNvPr>
              <p:cNvSpPr/>
              <p:nvPr/>
            </p:nvSpPr>
            <p:spPr>
              <a:xfrm>
                <a:off x="7940762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1038" name="文本框 1037">
              <a:extLst>
                <a:ext uri="{FF2B5EF4-FFF2-40B4-BE49-F238E27FC236}">
                  <a16:creationId xmlns:a16="http://schemas.microsoft.com/office/drawing/2014/main" id="{1938A181-D8E7-F0C8-3BBF-FF91B86C52D1}"/>
                </a:ext>
              </a:extLst>
            </p:cNvPr>
            <p:cNvSpPr txBox="1"/>
            <p:nvPr/>
          </p:nvSpPr>
          <p:spPr>
            <a:xfrm>
              <a:off x="6282008" y="2105163"/>
              <a:ext cx="4473575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sz="14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侧面</a:t>
              </a:r>
              <a:endPara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3" name="CPO技术：通过将OE放置在距离主芯片（ASIC）足够近的地方，大幅度降低传输代价、复用ASIC能力，实现降成本、降功耗、降延迟！">
              <a:extLst>
                <a:ext uri="{FF2B5EF4-FFF2-40B4-BE49-F238E27FC236}">
                  <a16:creationId xmlns:a16="http://schemas.microsoft.com/office/drawing/2014/main" id="{B3DB5D86-7298-E069-2C2F-CEA180A43E86}"/>
                </a:ext>
              </a:extLst>
            </p:cNvPr>
            <p:cNvSpPr txBox="1"/>
            <p:nvPr/>
          </p:nvSpPr>
          <p:spPr>
            <a:xfrm>
              <a:off x="5360854" y="3738417"/>
              <a:ext cx="901373" cy="3077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rIns="45719">
              <a:spAutoFit/>
            </a:bodyPr>
            <a:lstStyle>
              <a:lvl1pPr defTabSz="457200">
                <a:defRPr b="1">
                  <a:solidFill>
                    <a:srgbClr val="2151CF"/>
                  </a:solidFill>
                  <a:latin typeface="Times Roman"/>
                  <a:ea typeface="Times Roman"/>
                  <a:cs typeface="Times Roman"/>
                  <a:sym typeface="Times Roman"/>
                </a:defRPr>
              </a:lvl1pPr>
            </a:lstStyle>
            <a:p>
              <a:r>
                <a:rPr lang="en-US" sz="1400" dirty="0">
                  <a:solidFill>
                    <a:schemeClr val="accent6">
                      <a:lumMod val="1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PCB</a:t>
              </a:r>
              <a:endParaRPr sz="140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96" name="矩形: 圆角 2195">
              <a:extLst>
                <a:ext uri="{FF2B5EF4-FFF2-40B4-BE49-F238E27FC236}">
                  <a16:creationId xmlns:a16="http://schemas.microsoft.com/office/drawing/2014/main" id="{A9689017-7DD6-76F0-78D5-C96A6E551E36}"/>
                </a:ext>
              </a:extLst>
            </p:cNvPr>
            <p:cNvSpPr/>
            <p:nvPr/>
          </p:nvSpPr>
          <p:spPr>
            <a:xfrm>
              <a:off x="5560302" y="3472402"/>
              <a:ext cx="1441121" cy="196072"/>
            </a:xfrm>
            <a:prstGeom prst="roundRect">
              <a:avLst>
                <a:gd name="adj" fmla="val 2414"/>
              </a:avLst>
            </a:prstGeom>
            <a:solidFill>
              <a:srgbClr val="0052D9"/>
            </a:solidFill>
            <a:ln>
              <a:solidFill>
                <a:schemeClr val="accent3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04" name="CPO技术：通过将OE放置在距离主芯片（ASIC）足够近的地方，大幅度降低传输代价、复用ASIC能力，实现降成本、降功耗、降延迟！">
              <a:extLst>
                <a:ext uri="{FF2B5EF4-FFF2-40B4-BE49-F238E27FC236}">
                  <a16:creationId xmlns:a16="http://schemas.microsoft.com/office/drawing/2014/main" id="{A3BFFFB6-29D2-A4FF-FB48-E365C59291FE}"/>
                </a:ext>
              </a:extLst>
            </p:cNvPr>
            <p:cNvSpPr txBox="1"/>
            <p:nvPr/>
          </p:nvSpPr>
          <p:spPr>
            <a:xfrm>
              <a:off x="5557540" y="3451363"/>
              <a:ext cx="1080498" cy="24622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rIns="45719">
              <a:spAutoFit/>
            </a:bodyPr>
            <a:lstStyle>
              <a:lvl1pPr defTabSz="457200">
                <a:defRPr b="1">
                  <a:solidFill>
                    <a:srgbClr val="2151CF"/>
                  </a:solidFill>
                  <a:latin typeface="Times Roman"/>
                  <a:ea typeface="Times Roman"/>
                  <a:cs typeface="Times Roman"/>
                  <a:sym typeface="Times Roman"/>
                </a:defRPr>
              </a:lvl1pPr>
            </a:lstStyle>
            <a:p>
              <a:r>
                <a:rPr lang="en-US" altLang="zh-CN" sz="10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Substrate</a:t>
              </a:r>
              <a:endParaRPr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05" name="矩形: 圆角 2204">
              <a:extLst>
                <a:ext uri="{FF2B5EF4-FFF2-40B4-BE49-F238E27FC236}">
                  <a16:creationId xmlns:a16="http://schemas.microsoft.com/office/drawing/2014/main" id="{FC3D11DF-B48F-22F8-3A54-3F120F0497FF}"/>
                </a:ext>
              </a:extLst>
            </p:cNvPr>
            <p:cNvSpPr/>
            <p:nvPr/>
          </p:nvSpPr>
          <p:spPr>
            <a:xfrm>
              <a:off x="5762833" y="3278061"/>
              <a:ext cx="626083" cy="156973"/>
            </a:xfrm>
            <a:prstGeom prst="roundRect">
              <a:avLst>
                <a:gd name="adj" fmla="val 2414"/>
              </a:avLst>
            </a:prstGeom>
            <a:solidFill>
              <a:schemeClr val="accent6">
                <a:lumMod val="1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06" name="CPO技术：通过将OE放置在距离主芯片（ASIC）足够近的地方，大幅度降低传输代价、复用ASIC能力，实现降成本、降功耗、降延迟！">
              <a:extLst>
                <a:ext uri="{FF2B5EF4-FFF2-40B4-BE49-F238E27FC236}">
                  <a16:creationId xmlns:a16="http://schemas.microsoft.com/office/drawing/2014/main" id="{0172ECF7-A8D8-FF33-A5CD-62523203A418}"/>
                </a:ext>
              </a:extLst>
            </p:cNvPr>
            <p:cNvSpPr txBox="1"/>
            <p:nvPr/>
          </p:nvSpPr>
          <p:spPr>
            <a:xfrm>
              <a:off x="5874015" y="3233436"/>
              <a:ext cx="1080498" cy="24622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rIns="45719">
              <a:spAutoFit/>
            </a:bodyPr>
            <a:lstStyle>
              <a:lvl1pPr defTabSz="457200">
                <a:defRPr b="1">
                  <a:solidFill>
                    <a:srgbClr val="2151CF"/>
                  </a:solidFill>
                  <a:latin typeface="Times Roman"/>
                  <a:ea typeface="Times Roman"/>
                  <a:cs typeface="Times Roman"/>
                  <a:sym typeface="Times Roman"/>
                </a:defRPr>
              </a:lvl1pPr>
            </a:lstStyle>
            <a:p>
              <a:r>
                <a:rPr lang="en-US" altLang="zh-CN" sz="10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ASIC</a:t>
              </a:r>
              <a:endParaRPr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08" name="矩形 2207">
              <a:extLst>
                <a:ext uri="{FF2B5EF4-FFF2-40B4-BE49-F238E27FC236}">
                  <a16:creationId xmlns:a16="http://schemas.microsoft.com/office/drawing/2014/main" id="{5729BD6E-BD70-026D-D0A9-18CBAA9331F4}"/>
                </a:ext>
              </a:extLst>
            </p:cNvPr>
            <p:cNvSpPr/>
            <p:nvPr/>
          </p:nvSpPr>
          <p:spPr>
            <a:xfrm>
              <a:off x="8180455" y="3552471"/>
              <a:ext cx="196913" cy="12422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224" name="直接连接符 2223">
              <a:extLst>
                <a:ext uri="{FF2B5EF4-FFF2-40B4-BE49-F238E27FC236}">
                  <a16:creationId xmlns:a16="http://schemas.microsoft.com/office/drawing/2014/main" id="{62AA3A83-4266-4CAE-BBFD-2A54070AF530}"/>
                </a:ext>
              </a:extLst>
            </p:cNvPr>
            <p:cNvCxnSpPr>
              <a:cxnSpLocks/>
              <a:stCxn id="2208" idx="3"/>
            </p:cNvCxnSpPr>
            <p:nvPr/>
          </p:nvCxnSpPr>
          <p:spPr>
            <a:xfrm>
              <a:off x="8377368" y="3614581"/>
              <a:ext cx="687160" cy="2331"/>
            </a:xfrm>
            <a:prstGeom prst="line">
              <a:avLst/>
            </a:prstGeom>
            <a:ln w="127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25" name="椭圆 2224">
              <a:extLst>
                <a:ext uri="{FF2B5EF4-FFF2-40B4-BE49-F238E27FC236}">
                  <a16:creationId xmlns:a16="http://schemas.microsoft.com/office/drawing/2014/main" id="{C7061CA2-8A37-562B-4D0B-B6D8EB4B0A9B}"/>
                </a:ext>
              </a:extLst>
            </p:cNvPr>
            <p:cNvSpPr/>
            <p:nvPr/>
          </p:nvSpPr>
          <p:spPr>
            <a:xfrm>
              <a:off x="8594229" y="3524066"/>
              <a:ext cx="149225" cy="88931"/>
            </a:xfrm>
            <a:prstGeom prst="ellipse">
              <a:avLst/>
            </a:prstGeom>
            <a:noFill/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26" name="文本框 2225">
              <a:extLst>
                <a:ext uri="{FF2B5EF4-FFF2-40B4-BE49-F238E27FC236}">
                  <a16:creationId xmlns:a16="http://schemas.microsoft.com/office/drawing/2014/main" id="{455C7CC0-F6B0-B45C-7FA1-54946414C3CC}"/>
                </a:ext>
              </a:extLst>
            </p:cNvPr>
            <p:cNvSpPr txBox="1"/>
            <p:nvPr/>
          </p:nvSpPr>
          <p:spPr>
            <a:xfrm>
              <a:off x="5634495" y="2927195"/>
              <a:ext cx="922865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交换机芯片</a:t>
              </a:r>
              <a:endPara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227" name="文本框 2226">
              <a:extLst>
                <a:ext uri="{FF2B5EF4-FFF2-40B4-BE49-F238E27FC236}">
                  <a16:creationId xmlns:a16="http://schemas.microsoft.com/office/drawing/2014/main" id="{65F1A0DD-FDE9-FF90-E031-F979EAB49F85}"/>
                </a:ext>
              </a:extLst>
            </p:cNvPr>
            <p:cNvSpPr txBox="1"/>
            <p:nvPr/>
          </p:nvSpPr>
          <p:spPr>
            <a:xfrm>
              <a:off x="6669921" y="2972902"/>
              <a:ext cx="3227870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光模块：</a:t>
              </a:r>
              <a:r>
                <a:rPr kumimoji="1"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30W</a:t>
              </a:r>
              <a:r>
                <a:rPr kumimoji="1" lang="en-US" altLang="zh-CN" sz="1400" baseline="30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1</a:t>
              </a:r>
              <a:endPara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2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20W (</a:t>
              </a:r>
              <a:r>
                <a:rPr kumimoji="1" lang="zh-CN" altLang="en-US" sz="12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功放</a:t>
              </a:r>
              <a:r>
                <a:rPr kumimoji="1" lang="en-US" altLang="zh-CN" sz="12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) + 10W (</a:t>
              </a:r>
              <a:r>
                <a:rPr kumimoji="1" lang="zh-CN" altLang="en-US" sz="12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光引擎，含光源</a:t>
              </a:r>
              <a:r>
                <a:rPr kumimoji="1" lang="en-US" altLang="zh-CN" sz="12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)</a:t>
              </a:r>
            </a:p>
          </p:txBody>
        </p:sp>
        <p:cxnSp>
          <p:nvCxnSpPr>
            <p:cNvPr id="2229" name="直接连接符 2228">
              <a:extLst>
                <a:ext uri="{FF2B5EF4-FFF2-40B4-BE49-F238E27FC236}">
                  <a16:creationId xmlns:a16="http://schemas.microsoft.com/office/drawing/2014/main" id="{9557C8EE-3643-9A2D-2E7A-141A75053537}"/>
                </a:ext>
              </a:extLst>
            </p:cNvPr>
            <p:cNvCxnSpPr>
              <a:cxnSpLocks/>
            </p:cNvCxnSpPr>
            <p:nvPr/>
          </p:nvCxnSpPr>
          <p:spPr>
            <a:xfrm>
              <a:off x="6333353" y="3443396"/>
              <a:ext cx="0" cy="72522"/>
            </a:xfrm>
            <a:prstGeom prst="line">
              <a:avLst/>
            </a:prstGeom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6" name="直接连接符 2235">
              <a:extLst>
                <a:ext uri="{FF2B5EF4-FFF2-40B4-BE49-F238E27FC236}">
                  <a16:creationId xmlns:a16="http://schemas.microsoft.com/office/drawing/2014/main" id="{0EB20CDE-E882-220D-0F19-FED55ADB4629}"/>
                </a:ext>
              </a:extLst>
            </p:cNvPr>
            <p:cNvCxnSpPr>
              <a:cxnSpLocks/>
            </p:cNvCxnSpPr>
            <p:nvPr/>
          </p:nvCxnSpPr>
          <p:spPr>
            <a:xfrm>
              <a:off x="6331419" y="3512978"/>
              <a:ext cx="246441" cy="0"/>
            </a:xfrm>
            <a:prstGeom prst="line">
              <a:avLst/>
            </a:prstGeom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9" name="直接连接符 2238">
              <a:extLst>
                <a:ext uri="{FF2B5EF4-FFF2-40B4-BE49-F238E27FC236}">
                  <a16:creationId xmlns:a16="http://schemas.microsoft.com/office/drawing/2014/main" id="{3BB8C5A6-EF61-9080-E5D5-A159AE033667}"/>
                </a:ext>
              </a:extLst>
            </p:cNvPr>
            <p:cNvCxnSpPr>
              <a:cxnSpLocks/>
            </p:cNvCxnSpPr>
            <p:nvPr/>
          </p:nvCxnSpPr>
          <p:spPr>
            <a:xfrm>
              <a:off x="6576272" y="3509774"/>
              <a:ext cx="0" cy="246105"/>
            </a:xfrm>
            <a:prstGeom prst="line">
              <a:avLst/>
            </a:prstGeom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1" name="直接连接符 2240">
              <a:extLst>
                <a:ext uri="{FF2B5EF4-FFF2-40B4-BE49-F238E27FC236}">
                  <a16:creationId xmlns:a16="http://schemas.microsoft.com/office/drawing/2014/main" id="{8DA9BE6F-0C56-E310-3B45-5ECC625C7DBF}"/>
                </a:ext>
              </a:extLst>
            </p:cNvPr>
            <p:cNvCxnSpPr>
              <a:cxnSpLocks/>
            </p:cNvCxnSpPr>
            <p:nvPr/>
          </p:nvCxnSpPr>
          <p:spPr>
            <a:xfrm>
              <a:off x="6574684" y="3754291"/>
              <a:ext cx="1469679" cy="0"/>
            </a:xfrm>
            <a:prstGeom prst="line">
              <a:avLst/>
            </a:prstGeom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4" name="直接连接符 2243">
              <a:extLst>
                <a:ext uri="{FF2B5EF4-FFF2-40B4-BE49-F238E27FC236}">
                  <a16:creationId xmlns:a16="http://schemas.microsoft.com/office/drawing/2014/main" id="{58C058FE-4759-2C16-CE42-2F324A539B69}"/>
                </a:ext>
              </a:extLst>
            </p:cNvPr>
            <p:cNvCxnSpPr>
              <a:cxnSpLocks/>
            </p:cNvCxnSpPr>
            <p:nvPr/>
          </p:nvCxnSpPr>
          <p:spPr>
            <a:xfrm>
              <a:off x="8044363" y="3682672"/>
              <a:ext cx="0" cy="71254"/>
            </a:xfrm>
            <a:prstGeom prst="line">
              <a:avLst/>
            </a:prstGeom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50" name="组合 2249">
              <a:extLst>
                <a:ext uri="{FF2B5EF4-FFF2-40B4-BE49-F238E27FC236}">
                  <a16:creationId xmlns:a16="http://schemas.microsoft.com/office/drawing/2014/main" id="{FA361268-33C5-5237-7382-702CAA895B30}"/>
                </a:ext>
              </a:extLst>
            </p:cNvPr>
            <p:cNvGrpSpPr/>
            <p:nvPr/>
          </p:nvGrpSpPr>
          <p:grpSpPr>
            <a:xfrm>
              <a:off x="5792113" y="5359855"/>
              <a:ext cx="565185" cy="51782"/>
              <a:chOff x="7867918" y="2835520"/>
              <a:chExt cx="565185" cy="51782"/>
            </a:xfrm>
          </p:grpSpPr>
          <p:sp>
            <p:nvSpPr>
              <p:cNvPr id="2251" name="椭圆 2250">
                <a:extLst>
                  <a:ext uri="{FF2B5EF4-FFF2-40B4-BE49-F238E27FC236}">
                    <a16:creationId xmlns:a16="http://schemas.microsoft.com/office/drawing/2014/main" id="{CE867EE8-784B-7EA0-2AE4-38FB744C7858}"/>
                  </a:ext>
                </a:extLst>
              </p:cNvPr>
              <p:cNvSpPr/>
              <p:nvPr/>
            </p:nvSpPr>
            <p:spPr>
              <a:xfrm>
                <a:off x="7867918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52" name="椭圆 2251">
                <a:extLst>
                  <a:ext uri="{FF2B5EF4-FFF2-40B4-BE49-F238E27FC236}">
                    <a16:creationId xmlns:a16="http://schemas.microsoft.com/office/drawing/2014/main" id="{512F357D-5791-B114-77F8-EDDD352ACB31}"/>
                  </a:ext>
                </a:extLst>
              </p:cNvPr>
              <p:cNvSpPr/>
              <p:nvPr/>
            </p:nvSpPr>
            <p:spPr>
              <a:xfrm>
                <a:off x="7996269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53" name="椭圆 2252">
                <a:extLst>
                  <a:ext uri="{FF2B5EF4-FFF2-40B4-BE49-F238E27FC236}">
                    <a16:creationId xmlns:a16="http://schemas.microsoft.com/office/drawing/2014/main" id="{B1450D27-52E0-8897-595C-4491F2883DC7}"/>
                  </a:ext>
                </a:extLst>
              </p:cNvPr>
              <p:cNvSpPr/>
              <p:nvPr/>
            </p:nvSpPr>
            <p:spPr>
              <a:xfrm>
                <a:off x="8381321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54" name="椭圆 2253">
                <a:extLst>
                  <a:ext uri="{FF2B5EF4-FFF2-40B4-BE49-F238E27FC236}">
                    <a16:creationId xmlns:a16="http://schemas.microsoft.com/office/drawing/2014/main" id="{4AB83A58-3FB7-570C-5F2F-2E10CEE141AA}"/>
                  </a:ext>
                </a:extLst>
              </p:cNvPr>
              <p:cNvSpPr/>
              <p:nvPr/>
            </p:nvSpPr>
            <p:spPr>
              <a:xfrm>
                <a:off x="8124620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55" name="椭圆 2254">
                <a:extLst>
                  <a:ext uri="{FF2B5EF4-FFF2-40B4-BE49-F238E27FC236}">
                    <a16:creationId xmlns:a16="http://schemas.microsoft.com/office/drawing/2014/main" id="{237EA7FA-0F9D-03AD-06B3-F3C688B2BE6E}"/>
                  </a:ext>
                </a:extLst>
              </p:cNvPr>
              <p:cNvSpPr/>
              <p:nvPr/>
            </p:nvSpPr>
            <p:spPr>
              <a:xfrm>
                <a:off x="8252971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2256" name="组合 2255">
              <a:extLst>
                <a:ext uri="{FF2B5EF4-FFF2-40B4-BE49-F238E27FC236}">
                  <a16:creationId xmlns:a16="http://schemas.microsoft.com/office/drawing/2014/main" id="{104F4237-0ECE-FAC8-C76A-5C74B430FDEE}"/>
                </a:ext>
              </a:extLst>
            </p:cNvPr>
            <p:cNvGrpSpPr/>
            <p:nvPr/>
          </p:nvGrpSpPr>
          <p:grpSpPr>
            <a:xfrm>
              <a:off x="5756277" y="5600213"/>
              <a:ext cx="1049169" cy="51782"/>
              <a:chOff x="7142854" y="3452768"/>
              <a:chExt cx="1049169" cy="51782"/>
            </a:xfrm>
          </p:grpSpPr>
          <p:sp>
            <p:nvSpPr>
              <p:cNvPr id="2257" name="椭圆 2256">
                <a:extLst>
                  <a:ext uri="{FF2B5EF4-FFF2-40B4-BE49-F238E27FC236}">
                    <a16:creationId xmlns:a16="http://schemas.microsoft.com/office/drawing/2014/main" id="{71E17CA2-D1CB-90B1-1378-AAFEF7CAB994}"/>
                  </a:ext>
                </a:extLst>
              </p:cNvPr>
              <p:cNvSpPr/>
              <p:nvPr/>
            </p:nvSpPr>
            <p:spPr>
              <a:xfrm>
                <a:off x="7142854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58" name="椭圆 2257">
                <a:extLst>
                  <a:ext uri="{FF2B5EF4-FFF2-40B4-BE49-F238E27FC236}">
                    <a16:creationId xmlns:a16="http://schemas.microsoft.com/office/drawing/2014/main" id="{AD8B3459-9F75-972C-5BD1-0FA76EEE997C}"/>
                  </a:ext>
                </a:extLst>
              </p:cNvPr>
              <p:cNvSpPr/>
              <p:nvPr/>
            </p:nvSpPr>
            <p:spPr>
              <a:xfrm>
                <a:off x="8140241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59" name="椭圆 2258">
                <a:extLst>
                  <a:ext uri="{FF2B5EF4-FFF2-40B4-BE49-F238E27FC236}">
                    <a16:creationId xmlns:a16="http://schemas.microsoft.com/office/drawing/2014/main" id="{19AB80E7-AAE6-1430-0645-C6228172DB21}"/>
                  </a:ext>
                </a:extLst>
              </p:cNvPr>
              <p:cNvSpPr/>
              <p:nvPr/>
            </p:nvSpPr>
            <p:spPr>
              <a:xfrm>
                <a:off x="7342331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60" name="椭圆 2259">
                <a:extLst>
                  <a:ext uri="{FF2B5EF4-FFF2-40B4-BE49-F238E27FC236}">
                    <a16:creationId xmlns:a16="http://schemas.microsoft.com/office/drawing/2014/main" id="{B1574E16-4F59-CDE9-8941-ADCF0B47ED1D}"/>
                  </a:ext>
                </a:extLst>
              </p:cNvPr>
              <p:cNvSpPr/>
              <p:nvPr/>
            </p:nvSpPr>
            <p:spPr>
              <a:xfrm>
                <a:off x="7741285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61" name="椭圆 2260">
                <a:extLst>
                  <a:ext uri="{FF2B5EF4-FFF2-40B4-BE49-F238E27FC236}">
                    <a16:creationId xmlns:a16="http://schemas.microsoft.com/office/drawing/2014/main" id="{51082EBD-8CE3-8786-8F1B-69B0D0FF5F46}"/>
                  </a:ext>
                </a:extLst>
              </p:cNvPr>
              <p:cNvSpPr/>
              <p:nvPr/>
            </p:nvSpPr>
            <p:spPr>
              <a:xfrm>
                <a:off x="7541808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62" name="椭圆 2261">
                <a:extLst>
                  <a:ext uri="{FF2B5EF4-FFF2-40B4-BE49-F238E27FC236}">
                    <a16:creationId xmlns:a16="http://schemas.microsoft.com/office/drawing/2014/main" id="{8DB8E0BF-6BD1-1DCE-7734-AB525E2B7614}"/>
                  </a:ext>
                </a:extLst>
              </p:cNvPr>
              <p:cNvSpPr/>
              <p:nvPr/>
            </p:nvSpPr>
            <p:spPr>
              <a:xfrm>
                <a:off x="7940762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2264" name="矩形: 圆角 2263">
              <a:extLst>
                <a:ext uri="{FF2B5EF4-FFF2-40B4-BE49-F238E27FC236}">
                  <a16:creationId xmlns:a16="http://schemas.microsoft.com/office/drawing/2014/main" id="{FA1199EA-B4C2-CF1A-6C6B-5DFDEBA7396A}"/>
                </a:ext>
              </a:extLst>
            </p:cNvPr>
            <p:cNvSpPr/>
            <p:nvPr/>
          </p:nvSpPr>
          <p:spPr>
            <a:xfrm>
              <a:off x="5330856" y="5651995"/>
              <a:ext cx="3048997" cy="338554"/>
            </a:xfrm>
            <a:prstGeom prst="roundRect">
              <a:avLst>
                <a:gd name="adj" fmla="val 241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65" name="CPO技术：通过将OE放置在距离主芯片（ASIC）足够近的地方，大幅度降低传输代价、复用ASIC能力，实现降成本、降功耗、降延迟！">
              <a:extLst>
                <a:ext uri="{FF2B5EF4-FFF2-40B4-BE49-F238E27FC236}">
                  <a16:creationId xmlns:a16="http://schemas.microsoft.com/office/drawing/2014/main" id="{9FD425D7-822D-9513-9EAD-EBC21FB6314B}"/>
                </a:ext>
              </a:extLst>
            </p:cNvPr>
            <p:cNvSpPr txBox="1"/>
            <p:nvPr/>
          </p:nvSpPr>
          <p:spPr>
            <a:xfrm>
              <a:off x="5360854" y="5670637"/>
              <a:ext cx="901373" cy="3077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rIns="45719">
              <a:spAutoFit/>
            </a:bodyPr>
            <a:lstStyle>
              <a:lvl1pPr defTabSz="457200">
                <a:defRPr b="1">
                  <a:solidFill>
                    <a:srgbClr val="2151CF"/>
                  </a:solidFill>
                  <a:latin typeface="Times Roman"/>
                  <a:ea typeface="Times Roman"/>
                  <a:cs typeface="Times Roman"/>
                  <a:sym typeface="Times Roman"/>
                </a:defRPr>
              </a:lvl1pPr>
            </a:lstStyle>
            <a:p>
              <a:r>
                <a:rPr lang="en-US" sz="1400" dirty="0">
                  <a:solidFill>
                    <a:schemeClr val="accent6">
                      <a:lumMod val="1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PCB</a:t>
              </a:r>
              <a:endParaRPr sz="140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66" name="矩形: 圆角 2265">
              <a:extLst>
                <a:ext uri="{FF2B5EF4-FFF2-40B4-BE49-F238E27FC236}">
                  <a16:creationId xmlns:a16="http://schemas.microsoft.com/office/drawing/2014/main" id="{FE22F93E-1D6A-3B68-0211-EC2A88AE0634}"/>
                </a:ext>
              </a:extLst>
            </p:cNvPr>
            <p:cNvSpPr/>
            <p:nvPr/>
          </p:nvSpPr>
          <p:spPr>
            <a:xfrm>
              <a:off x="5560302" y="5404622"/>
              <a:ext cx="1441121" cy="196072"/>
            </a:xfrm>
            <a:prstGeom prst="roundRect">
              <a:avLst>
                <a:gd name="adj" fmla="val 2414"/>
              </a:avLst>
            </a:prstGeom>
            <a:solidFill>
              <a:srgbClr val="0052D9"/>
            </a:solidFill>
            <a:ln>
              <a:solidFill>
                <a:schemeClr val="accent3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67" name="CPO技术：通过将OE放置在距离主芯片（ASIC）足够近的地方，大幅度降低传输代价、复用ASIC能力，实现降成本、降功耗、降延迟！">
              <a:extLst>
                <a:ext uri="{FF2B5EF4-FFF2-40B4-BE49-F238E27FC236}">
                  <a16:creationId xmlns:a16="http://schemas.microsoft.com/office/drawing/2014/main" id="{C02EEDB5-3528-FAE8-0B9A-EF98C6094930}"/>
                </a:ext>
              </a:extLst>
            </p:cNvPr>
            <p:cNvSpPr txBox="1"/>
            <p:nvPr/>
          </p:nvSpPr>
          <p:spPr>
            <a:xfrm>
              <a:off x="5557540" y="5383583"/>
              <a:ext cx="1080498" cy="24622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rIns="45719">
              <a:spAutoFit/>
            </a:bodyPr>
            <a:lstStyle>
              <a:lvl1pPr defTabSz="457200">
                <a:defRPr b="1">
                  <a:solidFill>
                    <a:srgbClr val="2151CF"/>
                  </a:solidFill>
                  <a:latin typeface="Times Roman"/>
                  <a:ea typeface="Times Roman"/>
                  <a:cs typeface="Times Roman"/>
                  <a:sym typeface="Times Roman"/>
                </a:defRPr>
              </a:lvl1pPr>
            </a:lstStyle>
            <a:p>
              <a:r>
                <a:rPr lang="en-US" altLang="zh-CN" sz="10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Substrate</a:t>
              </a:r>
              <a:endParaRPr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68" name="矩形: 圆角 2267">
              <a:extLst>
                <a:ext uri="{FF2B5EF4-FFF2-40B4-BE49-F238E27FC236}">
                  <a16:creationId xmlns:a16="http://schemas.microsoft.com/office/drawing/2014/main" id="{C85569D9-DA69-AA91-EE22-A97E96711DB2}"/>
                </a:ext>
              </a:extLst>
            </p:cNvPr>
            <p:cNvSpPr/>
            <p:nvPr/>
          </p:nvSpPr>
          <p:spPr>
            <a:xfrm>
              <a:off x="5762833" y="5210281"/>
              <a:ext cx="626083" cy="156973"/>
            </a:xfrm>
            <a:prstGeom prst="roundRect">
              <a:avLst>
                <a:gd name="adj" fmla="val 2414"/>
              </a:avLst>
            </a:prstGeom>
            <a:solidFill>
              <a:schemeClr val="accent6">
                <a:lumMod val="1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69" name="CPO技术：通过将OE放置在距离主芯片（ASIC）足够近的地方，大幅度降低传输代价、复用ASIC能力，实现降成本、降功耗、降延迟！">
              <a:extLst>
                <a:ext uri="{FF2B5EF4-FFF2-40B4-BE49-F238E27FC236}">
                  <a16:creationId xmlns:a16="http://schemas.microsoft.com/office/drawing/2014/main" id="{8EBBBC45-249E-1216-FBF3-27F624E7F983}"/>
                </a:ext>
              </a:extLst>
            </p:cNvPr>
            <p:cNvSpPr txBox="1"/>
            <p:nvPr/>
          </p:nvSpPr>
          <p:spPr>
            <a:xfrm>
              <a:off x="5874015" y="5165656"/>
              <a:ext cx="1080498" cy="24622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rIns="45719">
              <a:spAutoFit/>
            </a:bodyPr>
            <a:lstStyle>
              <a:lvl1pPr defTabSz="457200">
                <a:defRPr b="1">
                  <a:solidFill>
                    <a:srgbClr val="2151CF"/>
                  </a:solidFill>
                  <a:latin typeface="Times Roman"/>
                  <a:ea typeface="Times Roman"/>
                  <a:cs typeface="Times Roman"/>
                  <a:sym typeface="Times Roman"/>
                </a:defRPr>
              </a:lvl1pPr>
            </a:lstStyle>
            <a:p>
              <a:r>
                <a:rPr lang="en-US" altLang="zh-CN" sz="10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ASIC</a:t>
              </a:r>
              <a:endParaRPr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70" name="矩形 2269">
              <a:extLst>
                <a:ext uri="{FF2B5EF4-FFF2-40B4-BE49-F238E27FC236}">
                  <a16:creationId xmlns:a16="http://schemas.microsoft.com/office/drawing/2014/main" id="{F8D7BD25-F9C1-3DA6-3512-B4DB765C4A05}"/>
                </a:ext>
              </a:extLst>
            </p:cNvPr>
            <p:cNvSpPr/>
            <p:nvPr/>
          </p:nvSpPr>
          <p:spPr>
            <a:xfrm>
              <a:off x="8199553" y="5468340"/>
              <a:ext cx="160995" cy="178299"/>
            </a:xfrm>
            <a:prstGeom prst="rect">
              <a:avLst/>
            </a:prstGeom>
            <a:solidFill>
              <a:srgbClr val="D9D9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272" name="直接连接符 2271">
              <a:extLst>
                <a:ext uri="{FF2B5EF4-FFF2-40B4-BE49-F238E27FC236}">
                  <a16:creationId xmlns:a16="http://schemas.microsoft.com/office/drawing/2014/main" id="{E100FBD0-82FA-926D-1539-9BF437657691}"/>
                </a:ext>
              </a:extLst>
            </p:cNvPr>
            <p:cNvCxnSpPr>
              <a:cxnSpLocks/>
            </p:cNvCxnSpPr>
            <p:nvPr/>
          </p:nvCxnSpPr>
          <p:spPr>
            <a:xfrm>
              <a:off x="7317333" y="5549131"/>
              <a:ext cx="1658150" cy="0"/>
            </a:xfrm>
            <a:prstGeom prst="line">
              <a:avLst/>
            </a:prstGeom>
            <a:ln w="127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3" name="椭圆 2272">
              <a:extLst>
                <a:ext uri="{FF2B5EF4-FFF2-40B4-BE49-F238E27FC236}">
                  <a16:creationId xmlns:a16="http://schemas.microsoft.com/office/drawing/2014/main" id="{D0FB83C0-5D0D-82B6-CBCD-A5DE0610F40A}"/>
                </a:ext>
              </a:extLst>
            </p:cNvPr>
            <p:cNvSpPr/>
            <p:nvPr/>
          </p:nvSpPr>
          <p:spPr>
            <a:xfrm>
              <a:off x="8594229" y="5456286"/>
              <a:ext cx="149225" cy="88931"/>
            </a:xfrm>
            <a:prstGeom prst="ellipse">
              <a:avLst/>
            </a:prstGeom>
            <a:noFill/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74" name="文本框 2273">
              <a:extLst>
                <a:ext uri="{FF2B5EF4-FFF2-40B4-BE49-F238E27FC236}">
                  <a16:creationId xmlns:a16="http://schemas.microsoft.com/office/drawing/2014/main" id="{4CEBBF05-9ED7-45E3-F1CD-E8E480E1E2C2}"/>
                </a:ext>
              </a:extLst>
            </p:cNvPr>
            <p:cNvSpPr txBox="1"/>
            <p:nvPr/>
          </p:nvSpPr>
          <p:spPr>
            <a:xfrm>
              <a:off x="5587594" y="4868277"/>
              <a:ext cx="954142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交换机芯片</a:t>
              </a:r>
              <a:endPara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275" name="文本框 2274">
              <a:extLst>
                <a:ext uri="{FF2B5EF4-FFF2-40B4-BE49-F238E27FC236}">
                  <a16:creationId xmlns:a16="http://schemas.microsoft.com/office/drawing/2014/main" id="{6391F045-3E0C-4C11-BE09-1E81CE2F8190}"/>
                </a:ext>
              </a:extLst>
            </p:cNvPr>
            <p:cNvSpPr txBox="1"/>
            <p:nvPr/>
          </p:nvSpPr>
          <p:spPr>
            <a:xfrm>
              <a:off x="7644385" y="5092875"/>
              <a:ext cx="1346973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外置光源：</a:t>
              </a:r>
              <a:r>
                <a:rPr kumimoji="1"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2W</a:t>
              </a:r>
            </a:p>
          </p:txBody>
        </p:sp>
        <p:cxnSp>
          <p:nvCxnSpPr>
            <p:cNvPr id="2276" name="直接连接符 2275">
              <a:extLst>
                <a:ext uri="{FF2B5EF4-FFF2-40B4-BE49-F238E27FC236}">
                  <a16:creationId xmlns:a16="http://schemas.microsoft.com/office/drawing/2014/main" id="{285E3344-6D39-AA0B-6F38-F5AC3941F282}"/>
                </a:ext>
              </a:extLst>
            </p:cNvPr>
            <p:cNvCxnSpPr>
              <a:cxnSpLocks/>
            </p:cNvCxnSpPr>
            <p:nvPr/>
          </p:nvCxnSpPr>
          <p:spPr>
            <a:xfrm>
              <a:off x="6333353" y="5375616"/>
              <a:ext cx="0" cy="72522"/>
            </a:xfrm>
            <a:prstGeom prst="line">
              <a:avLst/>
            </a:prstGeom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7" name="直接连接符 2276">
              <a:extLst>
                <a:ext uri="{FF2B5EF4-FFF2-40B4-BE49-F238E27FC236}">
                  <a16:creationId xmlns:a16="http://schemas.microsoft.com/office/drawing/2014/main" id="{1F0623B0-B366-3726-28B5-EC3405D1B9BF}"/>
                </a:ext>
              </a:extLst>
            </p:cNvPr>
            <p:cNvCxnSpPr>
              <a:cxnSpLocks/>
            </p:cNvCxnSpPr>
            <p:nvPr/>
          </p:nvCxnSpPr>
          <p:spPr>
            <a:xfrm>
              <a:off x="6331419" y="5445198"/>
              <a:ext cx="476327" cy="0"/>
            </a:xfrm>
            <a:prstGeom prst="line">
              <a:avLst/>
            </a:prstGeom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0" name="直接连接符 2279">
              <a:extLst>
                <a:ext uri="{FF2B5EF4-FFF2-40B4-BE49-F238E27FC236}">
                  <a16:creationId xmlns:a16="http://schemas.microsoft.com/office/drawing/2014/main" id="{3CA154A8-D81D-3F84-BD29-5F4C81D1B490}"/>
                </a:ext>
              </a:extLst>
            </p:cNvPr>
            <p:cNvCxnSpPr>
              <a:cxnSpLocks/>
            </p:cNvCxnSpPr>
            <p:nvPr/>
          </p:nvCxnSpPr>
          <p:spPr>
            <a:xfrm>
              <a:off x="6804873" y="5356800"/>
              <a:ext cx="0" cy="89316"/>
            </a:xfrm>
            <a:prstGeom prst="line">
              <a:avLst/>
            </a:prstGeom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82" name="矩形 2281">
              <a:extLst>
                <a:ext uri="{FF2B5EF4-FFF2-40B4-BE49-F238E27FC236}">
                  <a16:creationId xmlns:a16="http://schemas.microsoft.com/office/drawing/2014/main" id="{C4CB0141-DC23-7B97-F507-DDBF687B0693}"/>
                </a:ext>
              </a:extLst>
            </p:cNvPr>
            <p:cNvSpPr/>
            <p:nvPr/>
          </p:nvSpPr>
          <p:spPr>
            <a:xfrm>
              <a:off x="6769328" y="5237672"/>
              <a:ext cx="196913" cy="119558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86" name="文本框 2285">
              <a:extLst>
                <a:ext uri="{FF2B5EF4-FFF2-40B4-BE49-F238E27FC236}">
                  <a16:creationId xmlns:a16="http://schemas.microsoft.com/office/drawing/2014/main" id="{C4F3FA20-ED2F-D8A3-57F6-9D5CAF9BE563}"/>
                </a:ext>
              </a:extLst>
            </p:cNvPr>
            <p:cNvSpPr txBox="1"/>
            <p:nvPr/>
          </p:nvSpPr>
          <p:spPr>
            <a:xfrm>
              <a:off x="6635783" y="4858874"/>
              <a:ext cx="1048633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光引擎：</a:t>
              </a:r>
              <a:r>
                <a:rPr kumimoji="1"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7W</a:t>
              </a:r>
            </a:p>
          </p:txBody>
        </p:sp>
        <p:cxnSp>
          <p:nvCxnSpPr>
            <p:cNvPr id="2293" name="直接连接符 2292">
              <a:extLst>
                <a:ext uri="{FF2B5EF4-FFF2-40B4-BE49-F238E27FC236}">
                  <a16:creationId xmlns:a16="http://schemas.microsoft.com/office/drawing/2014/main" id="{9A251054-255C-BF2D-077F-658927E18F9F}"/>
                </a:ext>
              </a:extLst>
            </p:cNvPr>
            <p:cNvCxnSpPr>
              <a:cxnSpLocks/>
            </p:cNvCxnSpPr>
            <p:nvPr/>
          </p:nvCxnSpPr>
          <p:spPr>
            <a:xfrm>
              <a:off x="6964908" y="5304656"/>
              <a:ext cx="358775" cy="0"/>
            </a:xfrm>
            <a:prstGeom prst="line">
              <a:avLst/>
            </a:prstGeom>
            <a:ln w="127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5" name="直接连接符 2294">
              <a:extLst>
                <a:ext uri="{FF2B5EF4-FFF2-40B4-BE49-F238E27FC236}">
                  <a16:creationId xmlns:a16="http://schemas.microsoft.com/office/drawing/2014/main" id="{AEA847F6-D574-A430-6A5E-507518DBE31D}"/>
                </a:ext>
              </a:extLst>
            </p:cNvPr>
            <p:cNvCxnSpPr>
              <a:cxnSpLocks/>
            </p:cNvCxnSpPr>
            <p:nvPr/>
          </p:nvCxnSpPr>
          <p:spPr>
            <a:xfrm>
              <a:off x="7320508" y="5297530"/>
              <a:ext cx="0" cy="252240"/>
            </a:xfrm>
            <a:prstGeom prst="line">
              <a:avLst/>
            </a:prstGeom>
            <a:ln w="127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97" name="矩形 2296">
              <a:extLst>
                <a:ext uri="{FF2B5EF4-FFF2-40B4-BE49-F238E27FC236}">
                  <a16:creationId xmlns:a16="http://schemas.microsoft.com/office/drawing/2014/main" id="{BDDD23E1-A576-068D-5EFB-FB8F2DF60D2E}"/>
                </a:ext>
              </a:extLst>
            </p:cNvPr>
            <p:cNvSpPr/>
            <p:nvPr/>
          </p:nvSpPr>
          <p:spPr>
            <a:xfrm>
              <a:off x="8166810" y="5521456"/>
              <a:ext cx="238490" cy="49612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4" name="连接符: 肘形 3">
              <a:extLst>
                <a:ext uri="{FF2B5EF4-FFF2-40B4-BE49-F238E27FC236}">
                  <a16:creationId xmlns:a16="http://schemas.microsoft.com/office/drawing/2014/main" id="{39F46A2D-EB35-B179-00C5-9AC49FE23C20}"/>
                </a:ext>
              </a:extLst>
            </p:cNvPr>
            <p:cNvCxnSpPr>
              <a:cxnSpLocks/>
              <a:stCxn id="2208" idx="2"/>
              <a:endCxn id="2282" idx="0"/>
            </p:cNvCxnSpPr>
            <p:nvPr/>
          </p:nvCxnSpPr>
          <p:spPr>
            <a:xfrm rot="5400000">
              <a:off x="6792859" y="3751618"/>
              <a:ext cx="1560981" cy="1411127"/>
            </a:xfrm>
            <a:prstGeom prst="bentConnector3">
              <a:avLst>
                <a:gd name="adj1" fmla="val 50000"/>
              </a:avLst>
            </a:prstGeom>
            <a:ln w="9525">
              <a:solidFill>
                <a:srgbClr val="0052D9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FEE17CA1-B873-58C8-C886-BEDAF753562F}"/>
                </a:ext>
              </a:extLst>
            </p:cNvPr>
            <p:cNvSpPr/>
            <p:nvPr/>
          </p:nvSpPr>
          <p:spPr>
            <a:xfrm>
              <a:off x="8004102" y="3553862"/>
              <a:ext cx="163588" cy="12282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45" name="椭圆 2244">
              <a:extLst>
                <a:ext uri="{FF2B5EF4-FFF2-40B4-BE49-F238E27FC236}">
                  <a16:creationId xmlns:a16="http://schemas.microsoft.com/office/drawing/2014/main" id="{493B989A-0BAA-46CC-573B-65C09D39CF00}"/>
                </a:ext>
              </a:extLst>
            </p:cNvPr>
            <p:cNvSpPr/>
            <p:nvPr/>
          </p:nvSpPr>
          <p:spPr>
            <a:xfrm>
              <a:off x="8286097" y="3675867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46" name="椭圆 2245">
              <a:extLst>
                <a:ext uri="{FF2B5EF4-FFF2-40B4-BE49-F238E27FC236}">
                  <a16:creationId xmlns:a16="http://schemas.microsoft.com/office/drawing/2014/main" id="{8E212FC6-BB78-F14B-0660-4327A0CDE51F}"/>
                </a:ext>
              </a:extLst>
            </p:cNvPr>
            <p:cNvSpPr/>
            <p:nvPr/>
          </p:nvSpPr>
          <p:spPr>
            <a:xfrm>
              <a:off x="8204368" y="3676691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247" name="直接连接符 2246">
              <a:extLst>
                <a:ext uri="{FF2B5EF4-FFF2-40B4-BE49-F238E27FC236}">
                  <a16:creationId xmlns:a16="http://schemas.microsoft.com/office/drawing/2014/main" id="{4BEC45EB-6ECD-9D67-10A7-2909C80F2BCA}"/>
                </a:ext>
              </a:extLst>
            </p:cNvPr>
            <p:cNvCxnSpPr>
              <a:cxnSpLocks/>
            </p:cNvCxnSpPr>
            <p:nvPr/>
          </p:nvCxnSpPr>
          <p:spPr>
            <a:xfrm>
              <a:off x="8123238" y="3752339"/>
              <a:ext cx="110037" cy="0"/>
            </a:xfrm>
            <a:prstGeom prst="line">
              <a:avLst/>
            </a:prstGeom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1" name="直接连接符 2270">
              <a:extLst>
                <a:ext uri="{FF2B5EF4-FFF2-40B4-BE49-F238E27FC236}">
                  <a16:creationId xmlns:a16="http://schemas.microsoft.com/office/drawing/2014/main" id="{7F730EB3-8D5A-9C97-39B7-82D20ADC53BE}"/>
                </a:ext>
              </a:extLst>
            </p:cNvPr>
            <p:cNvCxnSpPr>
              <a:cxnSpLocks/>
            </p:cNvCxnSpPr>
            <p:nvPr/>
          </p:nvCxnSpPr>
          <p:spPr>
            <a:xfrm>
              <a:off x="8233275" y="3680720"/>
              <a:ext cx="0" cy="71254"/>
            </a:xfrm>
            <a:prstGeom prst="line">
              <a:avLst/>
            </a:prstGeom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7" name="直接连接符 2286">
              <a:extLst>
                <a:ext uri="{FF2B5EF4-FFF2-40B4-BE49-F238E27FC236}">
                  <a16:creationId xmlns:a16="http://schemas.microsoft.com/office/drawing/2014/main" id="{69F62410-1C97-AD9E-0107-EDC00361AFA5}"/>
                </a:ext>
              </a:extLst>
            </p:cNvPr>
            <p:cNvCxnSpPr>
              <a:cxnSpLocks/>
            </p:cNvCxnSpPr>
            <p:nvPr/>
          </p:nvCxnSpPr>
          <p:spPr>
            <a:xfrm>
              <a:off x="8126913" y="3681969"/>
              <a:ext cx="0" cy="71254"/>
            </a:xfrm>
            <a:prstGeom prst="line">
              <a:avLst/>
            </a:prstGeom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3" name="直接箭头连接符 2302">
              <a:extLst>
                <a:ext uri="{FF2B5EF4-FFF2-40B4-BE49-F238E27FC236}">
                  <a16:creationId xmlns:a16="http://schemas.microsoft.com/office/drawing/2014/main" id="{BC55CDD2-E772-C35E-78E6-6D89D2399390}"/>
                </a:ext>
              </a:extLst>
            </p:cNvPr>
            <p:cNvCxnSpPr>
              <a:cxnSpLocks/>
            </p:cNvCxnSpPr>
            <p:nvPr/>
          </p:nvCxnSpPr>
          <p:spPr>
            <a:xfrm>
              <a:off x="8275502" y="4453404"/>
              <a:ext cx="0" cy="1014936"/>
            </a:xfrm>
            <a:prstGeom prst="straightConnector1">
              <a:avLst/>
            </a:prstGeom>
            <a:ln w="9525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D834DDFF-3CD2-B224-D30A-9AAF270E7E99}"/>
              </a:ext>
            </a:extLst>
          </p:cNvPr>
          <p:cNvGrpSpPr/>
          <p:nvPr/>
        </p:nvGrpSpPr>
        <p:grpSpPr>
          <a:xfrm>
            <a:off x="3021878" y="2068100"/>
            <a:ext cx="4498799" cy="3469687"/>
            <a:chOff x="9988296" y="2105163"/>
            <a:chExt cx="4498799" cy="3469687"/>
          </a:xfrm>
        </p:grpSpPr>
        <p:sp>
          <p:nvSpPr>
            <p:cNvPr id="2309" name="文本框 2308">
              <a:extLst>
                <a:ext uri="{FF2B5EF4-FFF2-40B4-BE49-F238E27FC236}">
                  <a16:creationId xmlns:a16="http://schemas.microsoft.com/office/drawing/2014/main" id="{9BFF16ED-879E-1FC6-ED92-D21BE2559398}"/>
                </a:ext>
              </a:extLst>
            </p:cNvPr>
            <p:cNvSpPr txBox="1"/>
            <p:nvPr/>
          </p:nvSpPr>
          <p:spPr>
            <a:xfrm>
              <a:off x="9995556" y="3406643"/>
              <a:ext cx="2787650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b="1" dirty="0">
                  <a:solidFill>
                    <a:srgbClr val="0052D9"/>
                  </a:solidFill>
                  <a:cs typeface="+mn-ea"/>
                  <a:sym typeface="+mn-lt"/>
                </a:rPr>
                <a:t>1.6T</a:t>
              </a:r>
              <a:r>
                <a:rPr lang="en-US" altLang="zh-CN" sz="1400" dirty="0">
                  <a:solidFill>
                    <a:srgbClr val="0052D9"/>
                  </a:solidFill>
                  <a:cs typeface="+mn-ea"/>
                  <a:sym typeface="+mn-lt"/>
                </a:rPr>
                <a:t>bps</a:t>
              </a:r>
              <a:endParaRPr lang="zh-CN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sp>
          <p:nvSpPr>
            <p:cNvPr id="2311" name="文本框 2310">
              <a:extLst>
                <a:ext uri="{FF2B5EF4-FFF2-40B4-BE49-F238E27FC236}">
                  <a16:creationId xmlns:a16="http://schemas.microsoft.com/office/drawing/2014/main" id="{2EEC16A6-73A6-E0A5-1CE1-A674984BCEDC}"/>
                </a:ext>
              </a:extLst>
            </p:cNvPr>
            <p:cNvSpPr txBox="1"/>
            <p:nvPr/>
          </p:nvSpPr>
          <p:spPr>
            <a:xfrm>
              <a:off x="10013520" y="2105163"/>
              <a:ext cx="4473575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sz="14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速率上限</a:t>
              </a:r>
              <a:endPara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312" name="文本框 2311">
              <a:extLst>
                <a:ext uri="{FF2B5EF4-FFF2-40B4-BE49-F238E27FC236}">
                  <a16:creationId xmlns:a16="http://schemas.microsoft.com/office/drawing/2014/main" id="{B0B135FA-6390-57F1-3CDF-853F2745AFFE}"/>
                </a:ext>
              </a:extLst>
            </p:cNvPr>
            <p:cNvSpPr txBox="1"/>
            <p:nvPr/>
          </p:nvSpPr>
          <p:spPr>
            <a:xfrm>
              <a:off x="9988296" y="5267073"/>
              <a:ext cx="27876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52D9"/>
                  </a:solidFill>
                  <a:cs typeface="+mn-ea"/>
                  <a:sym typeface="+mn-lt"/>
                </a:rPr>
                <a:t>6.4T</a:t>
              </a:r>
              <a:r>
                <a:rPr lang="en-US" altLang="zh-CN" sz="1400" dirty="0">
                  <a:solidFill>
                    <a:srgbClr val="0052D9"/>
                  </a:solidFill>
                  <a:cs typeface="+mn-ea"/>
                  <a:sym typeface="+mn-lt"/>
                </a:rPr>
                <a:t>bps</a:t>
              </a:r>
              <a:endParaRPr lang="zh-CN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8383BB54-FB8E-299D-0C94-E730EE99AFD6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A74FC330-9EC7-3610-2E02-3B7500EC9A6B}"/>
              </a:ext>
            </a:extLst>
          </p:cNvPr>
          <p:cNvGrpSpPr/>
          <p:nvPr/>
        </p:nvGrpSpPr>
        <p:grpSpPr>
          <a:xfrm>
            <a:off x="1904153" y="2068100"/>
            <a:ext cx="4498799" cy="3469687"/>
            <a:chOff x="9988296" y="2105163"/>
            <a:chExt cx="4498799" cy="3469687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69FE1A6-9A83-C9EE-0A19-B32C608D75C8}"/>
                </a:ext>
              </a:extLst>
            </p:cNvPr>
            <p:cNvSpPr txBox="1"/>
            <p:nvPr/>
          </p:nvSpPr>
          <p:spPr>
            <a:xfrm>
              <a:off x="9995556" y="3406643"/>
              <a:ext cx="2787650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b="1" dirty="0">
                  <a:solidFill>
                    <a:srgbClr val="0052D9"/>
                  </a:solidFill>
                  <a:cs typeface="+mn-ea"/>
                  <a:sym typeface="+mn-lt"/>
                </a:rPr>
                <a:t>4-9db</a:t>
              </a:r>
              <a:endParaRPr lang="zh-CN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CD45E0C-5835-16E7-8E9C-4B9E7B8184C7}"/>
                </a:ext>
              </a:extLst>
            </p:cNvPr>
            <p:cNvSpPr txBox="1"/>
            <p:nvPr/>
          </p:nvSpPr>
          <p:spPr>
            <a:xfrm>
              <a:off x="10013520" y="2105163"/>
              <a:ext cx="4473575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sz="14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信息损耗</a:t>
              </a:r>
              <a:endPara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E13A0C2-8BD5-F282-EBFF-1DC4047516D9}"/>
                </a:ext>
              </a:extLst>
            </p:cNvPr>
            <p:cNvSpPr txBox="1"/>
            <p:nvPr/>
          </p:nvSpPr>
          <p:spPr>
            <a:xfrm>
              <a:off x="9988296" y="5267073"/>
              <a:ext cx="27876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52D9"/>
                  </a:solidFill>
                  <a:cs typeface="+mn-ea"/>
                  <a:sym typeface="+mn-lt"/>
                </a:rPr>
                <a:t>22db</a:t>
              </a:r>
              <a:endParaRPr lang="zh-CN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298" name="文本框 2297">
            <a:extLst>
              <a:ext uri="{FF2B5EF4-FFF2-40B4-BE49-F238E27FC236}">
                <a16:creationId xmlns:a16="http://schemas.microsoft.com/office/drawing/2014/main" id="{8B14412C-8E71-205E-8FA7-B63D453D35BB}"/>
              </a:ext>
            </a:extLst>
          </p:cNvPr>
          <p:cNvSpPr txBox="1"/>
          <p:nvPr/>
        </p:nvSpPr>
        <p:spPr>
          <a:xfrm>
            <a:off x="9121267" y="3641401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6-8cm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299" name="文本框 2298">
            <a:extLst>
              <a:ext uri="{FF2B5EF4-FFF2-40B4-BE49-F238E27FC236}">
                <a16:creationId xmlns:a16="http://schemas.microsoft.com/office/drawing/2014/main" id="{C86EDA3F-A26D-6D57-4D34-AC56A675EC72}"/>
              </a:ext>
            </a:extLst>
          </p:cNvPr>
          <p:cNvSpPr txBox="1"/>
          <p:nvPr/>
        </p:nvSpPr>
        <p:spPr>
          <a:xfrm>
            <a:off x="8241102" y="5265018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050" b="1" dirty="0">
                <a:solidFill>
                  <a:schemeClr val="bg1"/>
                </a:solidFill>
                <a:cs typeface="+mn-ea"/>
                <a:sym typeface="+mn-lt"/>
              </a:rPr>
              <a:t> &lt;1mm</a:t>
            </a:r>
            <a:endParaRPr kumimoji="1" lang="en-US" altLang="zh-CN" sz="105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87205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C2142-6504-B9B4-CBED-3D265AAB7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C1FC24B-9E23-FCA0-83AB-7138FD1C3D5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690822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1FC24B-9E23-FCA0-83AB-7138FD1C3D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511AF1C5-56F9-9940-02AA-B60CF2F35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IDC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互连按照距离可分为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Scale Up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与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Scale Out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EEAD20BA-E111-872C-9310-5D089E478DB0}"/>
              </a:ext>
            </a:extLst>
          </p:cNvPr>
          <p:cNvGrpSpPr/>
          <p:nvPr/>
        </p:nvGrpSpPr>
        <p:grpSpPr>
          <a:xfrm>
            <a:off x="982515" y="2901900"/>
            <a:ext cx="1588079" cy="1550052"/>
            <a:chOff x="2573606" y="2277426"/>
            <a:chExt cx="1580596" cy="1542748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965E25FB-042E-752B-1B21-8045D7BD7AF2}"/>
                </a:ext>
              </a:extLst>
            </p:cNvPr>
            <p:cNvSpPr/>
            <p:nvPr/>
          </p:nvSpPr>
          <p:spPr>
            <a:xfrm>
              <a:off x="2573606" y="2277426"/>
              <a:ext cx="1580596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BDECE4D8-2D7C-33C6-66F8-D8587EC9F1EB}"/>
                </a:ext>
              </a:extLst>
            </p:cNvPr>
            <p:cNvSpPr/>
            <p:nvPr/>
          </p:nvSpPr>
          <p:spPr>
            <a:xfrm>
              <a:off x="2722868" y="343922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B31EB4A6-2F41-A510-ECA3-FA1D4314AB5D}"/>
                </a:ext>
              </a:extLst>
            </p:cNvPr>
            <p:cNvSpPr/>
            <p:nvPr/>
          </p:nvSpPr>
          <p:spPr>
            <a:xfrm>
              <a:off x="2722868" y="310678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7" name="三角形 53">
            <a:extLst>
              <a:ext uri="{FF2B5EF4-FFF2-40B4-BE49-F238E27FC236}">
                <a16:creationId xmlns:a16="http://schemas.microsoft.com/office/drawing/2014/main" id="{F9201A86-A9F8-C928-1199-A1C8317A7B06}"/>
              </a:ext>
            </a:extLst>
          </p:cNvPr>
          <p:cNvSpPr/>
          <p:nvPr/>
        </p:nvSpPr>
        <p:spPr>
          <a:xfrm rot="5400000">
            <a:off x="2885555" y="3604241"/>
            <a:ext cx="396001" cy="144021"/>
          </a:xfrm>
          <a:prstGeom prst="triangle">
            <a:avLst/>
          </a:prstGeom>
          <a:solidFill>
            <a:srgbClr val="0052D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096" name="三角形 53">
            <a:extLst>
              <a:ext uri="{FF2B5EF4-FFF2-40B4-BE49-F238E27FC236}">
                <a16:creationId xmlns:a16="http://schemas.microsoft.com/office/drawing/2014/main" id="{27AFADDE-684D-76FF-ED5E-BB0883027CDE}"/>
              </a:ext>
            </a:extLst>
          </p:cNvPr>
          <p:cNvSpPr/>
          <p:nvPr/>
        </p:nvSpPr>
        <p:spPr>
          <a:xfrm rot="5400000">
            <a:off x="8720634" y="3467701"/>
            <a:ext cx="396001" cy="144021"/>
          </a:xfrm>
          <a:prstGeom prst="triangle">
            <a:avLst/>
          </a:prstGeom>
          <a:solidFill>
            <a:srgbClr val="0052D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3271" name="组合 3270">
            <a:extLst>
              <a:ext uri="{FF2B5EF4-FFF2-40B4-BE49-F238E27FC236}">
                <a16:creationId xmlns:a16="http://schemas.microsoft.com/office/drawing/2014/main" id="{B0F04F1F-B7C6-EBF5-08EF-77EE958C1F26}"/>
              </a:ext>
            </a:extLst>
          </p:cNvPr>
          <p:cNvGrpSpPr/>
          <p:nvPr/>
        </p:nvGrpSpPr>
        <p:grpSpPr>
          <a:xfrm>
            <a:off x="670434" y="2052152"/>
            <a:ext cx="3322825" cy="328255"/>
            <a:chOff x="1177467" y="2702667"/>
            <a:chExt cx="3322825" cy="328255"/>
          </a:xfrm>
        </p:grpSpPr>
        <p:sp>
          <p:nvSpPr>
            <p:cNvPr id="3267" name="文本框 3266">
              <a:extLst>
                <a:ext uri="{FF2B5EF4-FFF2-40B4-BE49-F238E27FC236}">
                  <a16:creationId xmlns:a16="http://schemas.microsoft.com/office/drawing/2014/main" id="{E64EF022-78BB-6895-24DA-DEE29289F0BE}"/>
                </a:ext>
              </a:extLst>
            </p:cNvPr>
            <p:cNvSpPr txBox="1"/>
            <p:nvPr/>
          </p:nvSpPr>
          <p:spPr>
            <a:xfrm>
              <a:off x="1613598" y="2702667"/>
              <a:ext cx="2886694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Copper interconnection  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cxnSp>
          <p:nvCxnSpPr>
            <p:cNvPr id="3269" name="直接连接符 3268">
              <a:extLst>
                <a:ext uri="{FF2B5EF4-FFF2-40B4-BE49-F238E27FC236}">
                  <a16:creationId xmlns:a16="http://schemas.microsoft.com/office/drawing/2014/main" id="{F8E81B31-E2A9-5192-E979-77F1F630CD3C}"/>
                </a:ext>
              </a:extLst>
            </p:cNvPr>
            <p:cNvCxnSpPr/>
            <p:nvPr/>
          </p:nvCxnSpPr>
          <p:spPr>
            <a:xfrm>
              <a:off x="1177467" y="2886260"/>
              <a:ext cx="553272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44" name="组合 3343">
            <a:extLst>
              <a:ext uri="{FF2B5EF4-FFF2-40B4-BE49-F238E27FC236}">
                <a16:creationId xmlns:a16="http://schemas.microsoft.com/office/drawing/2014/main" id="{03132B9D-4854-895A-CFFE-662665B22780}"/>
              </a:ext>
            </a:extLst>
          </p:cNvPr>
          <p:cNvGrpSpPr/>
          <p:nvPr/>
        </p:nvGrpSpPr>
        <p:grpSpPr>
          <a:xfrm>
            <a:off x="6514322" y="2040812"/>
            <a:ext cx="3070238" cy="646361"/>
            <a:chOff x="944683" y="5439665"/>
            <a:chExt cx="3070238" cy="646361"/>
          </a:xfrm>
        </p:grpSpPr>
        <p:grpSp>
          <p:nvGrpSpPr>
            <p:cNvPr id="3272" name="组合 3271">
              <a:extLst>
                <a:ext uri="{FF2B5EF4-FFF2-40B4-BE49-F238E27FC236}">
                  <a16:creationId xmlns:a16="http://schemas.microsoft.com/office/drawing/2014/main" id="{D1D101FE-4DF0-899A-BF1B-00AA5B7DBCDB}"/>
                </a:ext>
              </a:extLst>
            </p:cNvPr>
            <p:cNvGrpSpPr/>
            <p:nvPr/>
          </p:nvGrpSpPr>
          <p:grpSpPr>
            <a:xfrm>
              <a:off x="944683" y="5439665"/>
              <a:ext cx="3070238" cy="328255"/>
              <a:chOff x="1177467" y="2702232"/>
              <a:chExt cx="3070238" cy="328255"/>
            </a:xfrm>
          </p:grpSpPr>
          <p:sp>
            <p:nvSpPr>
              <p:cNvPr id="3273" name="文本框 3272">
                <a:extLst>
                  <a:ext uri="{FF2B5EF4-FFF2-40B4-BE49-F238E27FC236}">
                    <a16:creationId xmlns:a16="http://schemas.microsoft.com/office/drawing/2014/main" id="{BB3DF70E-2952-0F11-3BB1-B6048D3DAC35}"/>
                  </a:ext>
                </a:extLst>
              </p:cNvPr>
              <p:cNvSpPr txBox="1"/>
              <p:nvPr/>
            </p:nvSpPr>
            <p:spPr>
              <a:xfrm>
                <a:off x="1698265" y="2702232"/>
                <a:ext cx="2549440" cy="32825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1400" b="1" dirty="0">
                    <a:cs typeface="+mn-ea"/>
                    <a:sym typeface="+mn-lt"/>
                  </a:rPr>
                  <a:t>Optical interconnection  </a:t>
                </a:r>
                <a:endParaRPr kumimoji="1" lang="en-US" altLang="zh-CN" sz="1400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3274" name="直接连接符 3273">
                <a:extLst>
                  <a:ext uri="{FF2B5EF4-FFF2-40B4-BE49-F238E27FC236}">
                    <a16:creationId xmlns:a16="http://schemas.microsoft.com/office/drawing/2014/main" id="{99AB7532-9D35-5CCE-C6E2-6DB4D5569C12}"/>
                  </a:ext>
                </a:extLst>
              </p:cNvPr>
              <p:cNvCxnSpPr/>
              <p:nvPr/>
            </p:nvCxnSpPr>
            <p:spPr>
              <a:xfrm>
                <a:off x="1177467" y="2886260"/>
                <a:ext cx="553272" cy="0"/>
              </a:xfrm>
              <a:prstGeom prst="line">
                <a:avLst/>
              </a:prstGeom>
              <a:ln w="1905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42" name="椭圆 3341">
              <a:extLst>
                <a:ext uri="{FF2B5EF4-FFF2-40B4-BE49-F238E27FC236}">
                  <a16:creationId xmlns:a16="http://schemas.microsoft.com/office/drawing/2014/main" id="{3B54F34A-CE0E-8936-6DAA-45B09663BDFF}"/>
                </a:ext>
              </a:extLst>
            </p:cNvPr>
            <p:cNvSpPr/>
            <p:nvPr/>
          </p:nvSpPr>
          <p:spPr>
            <a:xfrm>
              <a:off x="1179356" y="5877079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343" name="文本框 3342">
              <a:extLst>
                <a:ext uri="{FF2B5EF4-FFF2-40B4-BE49-F238E27FC236}">
                  <a16:creationId xmlns:a16="http://schemas.microsoft.com/office/drawing/2014/main" id="{E1D1FEBA-938A-3562-0934-FBCBECD015E8}"/>
                </a:ext>
              </a:extLst>
            </p:cNvPr>
            <p:cNvSpPr txBox="1"/>
            <p:nvPr/>
          </p:nvSpPr>
          <p:spPr>
            <a:xfrm>
              <a:off x="1380814" y="5757771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Optical module 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sp>
        <p:nvSpPr>
          <p:cNvPr id="3141" name="矩形 3140">
            <a:extLst>
              <a:ext uri="{FF2B5EF4-FFF2-40B4-BE49-F238E27FC236}">
                <a16:creationId xmlns:a16="http://schemas.microsoft.com/office/drawing/2014/main" id="{083BC268-5829-F7BC-DD26-9637B32283D1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3376" name="组合 3375">
            <a:extLst>
              <a:ext uri="{FF2B5EF4-FFF2-40B4-BE49-F238E27FC236}">
                <a16:creationId xmlns:a16="http://schemas.microsoft.com/office/drawing/2014/main" id="{A311E22A-3B40-1112-F2C1-F4B0E00EDFF7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3377" name="文本框 3376">
              <a:extLst>
                <a:ext uri="{FF2B5EF4-FFF2-40B4-BE49-F238E27FC236}">
                  <a16:creationId xmlns:a16="http://schemas.microsoft.com/office/drawing/2014/main" id="{EDB8D8EE-B5EC-896A-E165-6347DDADEE1B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Scale Out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378" name="文本框 3377">
              <a:extLst>
                <a:ext uri="{FF2B5EF4-FFF2-40B4-BE49-F238E27FC236}">
                  <a16:creationId xmlns:a16="http://schemas.microsoft.com/office/drawing/2014/main" id="{7C8E51CD-9FC5-0898-3D72-0D16A7E1D2F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3379" name="直线连接符 38">
              <a:extLst>
                <a:ext uri="{FF2B5EF4-FFF2-40B4-BE49-F238E27FC236}">
                  <a16:creationId xmlns:a16="http://schemas.microsoft.com/office/drawing/2014/main" id="{57D7DE24-6456-1C24-9923-82A8F9BEC91A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80" name="文本框 3379">
              <a:extLst>
                <a:ext uri="{FF2B5EF4-FFF2-40B4-BE49-F238E27FC236}">
                  <a16:creationId xmlns:a16="http://schemas.microsoft.com/office/drawing/2014/main" id="{2D7AAA23-5836-338E-E67C-FA2C90B0F5E0}"/>
                </a:ext>
              </a:extLst>
            </p:cNvPr>
            <p:cNvSpPr txBox="1"/>
            <p:nvPr/>
          </p:nvSpPr>
          <p:spPr>
            <a:xfrm>
              <a:off x="504186" y="971862"/>
              <a:ext cx="3873873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Scale Up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3381" name="直线连接符 38">
              <a:extLst>
                <a:ext uri="{FF2B5EF4-FFF2-40B4-BE49-F238E27FC236}">
                  <a16:creationId xmlns:a16="http://schemas.microsoft.com/office/drawing/2014/main" id="{C572C1AD-F592-8A21-7F93-208F08C8D2A8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82" name="文本框 3381">
            <a:extLst>
              <a:ext uri="{FF2B5EF4-FFF2-40B4-BE49-F238E27FC236}">
                <a16:creationId xmlns:a16="http://schemas.microsoft.com/office/drawing/2014/main" id="{D08737EF-333E-660C-4B94-ABCA3B720A04}"/>
              </a:ext>
            </a:extLst>
          </p:cNvPr>
          <p:cNvSpPr txBox="1"/>
          <p:nvPr/>
        </p:nvSpPr>
        <p:spPr>
          <a:xfrm>
            <a:off x="598141" y="1560262"/>
            <a:ext cx="550386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单机柜叠加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GPU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，距离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&lt;5m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，高频交互强调低延时</a:t>
            </a: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83" name="文本框 3382">
            <a:extLst>
              <a:ext uri="{FF2B5EF4-FFF2-40B4-BE49-F238E27FC236}">
                <a16:creationId xmlns:a16="http://schemas.microsoft.com/office/drawing/2014/main" id="{544432B3-3B8D-2084-AA66-7E7EB77D20F9}"/>
              </a:ext>
            </a:extLst>
          </p:cNvPr>
          <p:cNvSpPr txBox="1"/>
          <p:nvPr/>
        </p:nvSpPr>
        <p:spPr>
          <a:xfrm>
            <a:off x="6397159" y="1552454"/>
            <a:ext cx="519670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算力节点横向互连，距离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&gt;5m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，强调可扩展性</a:t>
            </a: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389" name="Picture 4" descr="Nvidia's DGX GB200 NVL72 is a rack scale system that uses NVLink to mesh 72 Blackwell accelerators into one big GPU.">
            <a:extLst>
              <a:ext uri="{FF2B5EF4-FFF2-40B4-BE49-F238E27FC236}">
                <a16:creationId xmlns:a16="http://schemas.microsoft.com/office/drawing/2014/main" id="{81268441-0430-A466-8932-5295D85194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5330" b="99492" l="9831" r="89492">
                        <a14:foregroundMark x1="33642" y1="19792" x2="33786" y2="6079"/>
                        <a14:foregroundMark x1="34958" y1="5128" x2="45370" y2="5440"/>
                        <a14:foregroundMark x1="56249" y1="5440" x2="59414" y2="5440"/>
                        <a14:foregroundMark x1="50434" y1="5440" x2="52410" y2="5440"/>
                        <a14:foregroundMark x1="45370" y1="5440" x2="45804" y2="5440"/>
                        <a14:foregroundMark x1="59414" y1="5440" x2="65895" y2="12153"/>
                        <a14:foregroundMark x1="65895" y1="12153" x2="65741" y2="13310"/>
                        <a14:foregroundMark x1="34722" y1="88773" x2="45525" y2="94444"/>
                        <a14:foregroundMark x1="45525" y1="94444" x2="57407" y2="94444"/>
                        <a14:foregroundMark x1="57407" y1="94444" x2="63426" y2="89120"/>
                        <a14:foregroundMark x1="63426" y1="89120" x2="63889" y2="87153"/>
                        <a14:foregroundMark x1="33506" y1="30560" x2="33517" y2="32017"/>
                        <a14:foregroundMark x1="32562" y1="7060" x2="33179" y2="13542"/>
                        <a14:foregroundMark x1="33642" y1="33218" x2="34105" y2="35301"/>
                        <a14:foregroundMark x1="33951" y1="36690" x2="33951" y2="38426"/>
                        <a14:foregroundMark x1="33796" y1="39699" x2="34105" y2="41435"/>
                        <a14:foregroundMark x1="33642" y1="42477" x2="34105" y2="43981"/>
                        <a14:foregroundMark x1="58644" y1="95939" x2="62034" y2="91371"/>
                        <a14:foregroundMark x1="62034" y1="96447" x2="36949" y2="98477"/>
                        <a14:foregroundMark x1="61356" y1="95685" x2="64068" y2="99492"/>
                        <a14:foregroundMark x1="60339" y1="39340" x2="47119" y2="84010"/>
                        <a14:foregroundMark x1="61017" y1="42132" x2="61017" y2="56345"/>
                        <a14:backgroundMark x1="54630" y1="3125" x2="58025" y2="3588"/>
                        <a14:backgroundMark x1="47377" y1="3588" x2="52006" y2="3588"/>
                        <a14:backgroundMark x1="11728" y1="17940" x2="24383" y2="28704"/>
                        <a14:backgroundMark x1="19599" y1="28704" x2="21914" y2="59144"/>
                        <a14:backgroundMark x1="25926" y1="31597" x2="29630" y2="61111"/>
                        <a14:backgroundMark x1="34568" y1="3588" x2="36265" y2="3588"/>
                        <a14:backgroundMark x1="31950" y1="44348" x2="32099" y2="48264"/>
                        <a14:backgroundMark x1="31847" y1="41659" x2="31890" y2="42775"/>
                        <a14:backgroundMark x1="31724" y1="38426" x2="31780" y2="39899"/>
                        <a14:backgroundMark x1="31616" y1="35609" x2="31657" y2="36690"/>
                        <a14:backgroundMark x1="31481" y1="32060" x2="31535" y2="33479"/>
                        <a14:backgroundMark x1="29153" y1="21827" x2="28814" y2="30457"/>
                        <a14:backgroundMark x1="70847" y1="27665" x2="78983" y2="408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529" r="31937"/>
          <a:stretch/>
        </p:blipFill>
        <p:spPr bwMode="auto">
          <a:xfrm>
            <a:off x="732871" y="5017264"/>
            <a:ext cx="298369" cy="1032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90" name="Picture 6">
            <a:extLst>
              <a:ext uri="{FF2B5EF4-FFF2-40B4-BE49-F238E27FC236}">
                <a16:creationId xmlns:a16="http://schemas.microsoft.com/office/drawing/2014/main" id="{E5706736-8514-F8DF-864E-A96B7C7568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5067" b="93200" l="10000" r="90000">
                        <a14:foregroundMark x1="19417" y1="10000" x2="42583" y2="5067"/>
                        <a14:foregroundMark x1="42583" y1="5067" x2="76583" y2="9467"/>
                        <a14:foregroundMark x1="20500" y1="86000" x2="37930" y2="92845"/>
                        <a14:foregroundMark x1="51040" y1="91247" x2="68108" y2="88516"/>
                        <a14:foregroundMark x1="19833" y1="87067" x2="18250" y2="89067"/>
                        <a14:backgroundMark x1="36000" y1="95867" x2="50000" y2="94000"/>
                        <a14:backgroundMark x1="43333" y1="94533" x2="47417" y2="94533"/>
                        <a14:backgroundMark x1="47667" y1="93867" x2="44667" y2="94267"/>
                        <a14:backgroundMark x1="36333" y1="95600" x2="38917" y2="95200"/>
                        <a14:backgroundMark x1="67083" y1="91333" x2="69333" y2="908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814" t="2184" r="20049" b="3520"/>
          <a:stretch/>
        </p:blipFill>
        <p:spPr bwMode="auto">
          <a:xfrm>
            <a:off x="3129199" y="4994464"/>
            <a:ext cx="1313370" cy="1206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393" name="组合 3392">
            <a:extLst>
              <a:ext uri="{FF2B5EF4-FFF2-40B4-BE49-F238E27FC236}">
                <a16:creationId xmlns:a16="http://schemas.microsoft.com/office/drawing/2014/main" id="{F6BA629C-C41D-CF31-17B4-AFA2941DDBBB}"/>
              </a:ext>
            </a:extLst>
          </p:cNvPr>
          <p:cNvGrpSpPr/>
          <p:nvPr/>
        </p:nvGrpSpPr>
        <p:grpSpPr>
          <a:xfrm>
            <a:off x="1752921" y="3018259"/>
            <a:ext cx="978034" cy="1114469"/>
            <a:chOff x="1966449" y="2822041"/>
            <a:chExt cx="978034" cy="1114469"/>
          </a:xfrm>
        </p:grpSpPr>
        <p:grpSp>
          <p:nvGrpSpPr>
            <p:cNvPr id="3117" name="组合 3116">
              <a:extLst>
                <a:ext uri="{FF2B5EF4-FFF2-40B4-BE49-F238E27FC236}">
                  <a16:creationId xmlns:a16="http://schemas.microsoft.com/office/drawing/2014/main" id="{5AFA96AA-26BF-B317-BCE6-13DE6EC24C32}"/>
                </a:ext>
              </a:extLst>
            </p:cNvPr>
            <p:cNvGrpSpPr/>
            <p:nvPr/>
          </p:nvGrpSpPr>
          <p:grpSpPr>
            <a:xfrm>
              <a:off x="1966449" y="2822041"/>
              <a:ext cx="978034" cy="1114469"/>
              <a:chOff x="2195088" y="3024517"/>
              <a:chExt cx="1256271" cy="1431520"/>
            </a:xfrm>
          </p:grpSpPr>
          <p:sp>
            <p:nvSpPr>
              <p:cNvPr id="3115" name="矩形: 圆角 3114">
                <a:extLst>
                  <a:ext uri="{FF2B5EF4-FFF2-40B4-BE49-F238E27FC236}">
                    <a16:creationId xmlns:a16="http://schemas.microsoft.com/office/drawing/2014/main" id="{5612C2CA-7487-B790-747F-CF07F79EB1DD}"/>
                  </a:ext>
                </a:extLst>
              </p:cNvPr>
              <p:cNvSpPr/>
              <p:nvPr/>
            </p:nvSpPr>
            <p:spPr>
              <a:xfrm>
                <a:off x="2840583" y="3385373"/>
                <a:ext cx="86614" cy="1070664"/>
              </a:xfrm>
              <a:prstGeom prst="roundRect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cs typeface="+mn-ea"/>
                  <a:sym typeface="+mn-lt"/>
                </a:endParaRPr>
              </a:p>
            </p:txBody>
          </p:sp>
          <p:sp>
            <p:nvSpPr>
              <p:cNvPr id="3116" name="文本框 3115">
                <a:extLst>
                  <a:ext uri="{FF2B5EF4-FFF2-40B4-BE49-F238E27FC236}">
                    <a16:creationId xmlns:a16="http://schemas.microsoft.com/office/drawing/2014/main" id="{D080EB64-9D40-F836-B215-251AE7B1A239}"/>
                  </a:ext>
                </a:extLst>
              </p:cNvPr>
              <p:cNvSpPr txBox="1"/>
              <p:nvPr/>
            </p:nvSpPr>
            <p:spPr>
              <a:xfrm>
                <a:off x="2195088" y="3024517"/>
                <a:ext cx="1256271" cy="328256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kumimoji="1" lang="en-US" altLang="zh-CN" sz="1400" dirty="0" err="1">
                    <a:solidFill>
                      <a:schemeClr val="accent5"/>
                    </a:solidFill>
                    <a:cs typeface="+mn-ea"/>
                    <a:sym typeface="+mn-lt"/>
                  </a:rPr>
                  <a:t>NVLink</a:t>
                </a:r>
                <a:endParaRPr kumimoji="1" lang="en-US" altLang="zh-CN" sz="1400" dirty="0">
                  <a:solidFill>
                    <a:schemeClr val="accent5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3391" name="椭圆 3390">
              <a:extLst>
                <a:ext uri="{FF2B5EF4-FFF2-40B4-BE49-F238E27FC236}">
                  <a16:creationId xmlns:a16="http://schemas.microsoft.com/office/drawing/2014/main" id="{CF04F415-983A-C0FE-6810-67D81A7395A0}"/>
                </a:ext>
              </a:extLst>
            </p:cNvPr>
            <p:cNvSpPr/>
            <p:nvPr/>
          </p:nvSpPr>
          <p:spPr>
            <a:xfrm>
              <a:off x="2455467" y="3717568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392" name="椭圆 3391">
              <a:extLst>
                <a:ext uri="{FF2B5EF4-FFF2-40B4-BE49-F238E27FC236}">
                  <a16:creationId xmlns:a16="http://schemas.microsoft.com/office/drawing/2014/main" id="{AD038174-A9A3-46F6-4D3E-975DCC2F9B84}"/>
                </a:ext>
              </a:extLst>
            </p:cNvPr>
            <p:cNvSpPr/>
            <p:nvPr/>
          </p:nvSpPr>
          <p:spPr>
            <a:xfrm>
              <a:off x="2455466" y="3232072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394" name="直接连接符 3393">
            <a:extLst>
              <a:ext uri="{FF2B5EF4-FFF2-40B4-BE49-F238E27FC236}">
                <a16:creationId xmlns:a16="http://schemas.microsoft.com/office/drawing/2014/main" id="{7B333325-F1FE-A9FF-0B8C-4E3EA375A269}"/>
              </a:ext>
            </a:extLst>
          </p:cNvPr>
          <p:cNvCxnSpPr>
            <a:cxnSpLocks/>
            <a:stCxn id="52" idx="3"/>
            <a:endCxn id="3391" idx="2"/>
          </p:cNvCxnSpPr>
          <p:nvPr/>
        </p:nvCxnSpPr>
        <p:spPr>
          <a:xfrm flipV="1">
            <a:off x="1902091" y="3960032"/>
            <a:ext cx="339848" cy="217944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7" name="直接连接符 3396">
            <a:extLst>
              <a:ext uri="{FF2B5EF4-FFF2-40B4-BE49-F238E27FC236}">
                <a16:creationId xmlns:a16="http://schemas.microsoft.com/office/drawing/2014/main" id="{E0B5F15D-B0FF-4052-0BD0-F1B82BAAD438}"/>
              </a:ext>
            </a:extLst>
          </p:cNvPr>
          <p:cNvCxnSpPr>
            <a:cxnSpLocks/>
            <a:stCxn id="53" idx="3"/>
            <a:endCxn id="3391" idx="2"/>
          </p:cNvCxnSpPr>
          <p:nvPr/>
        </p:nvCxnSpPr>
        <p:spPr>
          <a:xfrm>
            <a:off x="1902091" y="3843963"/>
            <a:ext cx="339848" cy="116069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0" name="直接连接符 3399">
            <a:extLst>
              <a:ext uri="{FF2B5EF4-FFF2-40B4-BE49-F238E27FC236}">
                <a16:creationId xmlns:a16="http://schemas.microsoft.com/office/drawing/2014/main" id="{552E5129-15D6-B1FF-5B0D-10FF80B6902D}"/>
              </a:ext>
            </a:extLst>
          </p:cNvPr>
          <p:cNvCxnSpPr>
            <a:cxnSpLocks/>
            <a:stCxn id="52" idx="3"/>
            <a:endCxn id="3392" idx="2"/>
          </p:cNvCxnSpPr>
          <p:nvPr/>
        </p:nvCxnSpPr>
        <p:spPr>
          <a:xfrm flipV="1">
            <a:off x="1902091" y="3474536"/>
            <a:ext cx="339847" cy="70344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3" name="直接连接符 3402">
            <a:extLst>
              <a:ext uri="{FF2B5EF4-FFF2-40B4-BE49-F238E27FC236}">
                <a16:creationId xmlns:a16="http://schemas.microsoft.com/office/drawing/2014/main" id="{EFE94D55-56D8-2DC5-66FD-E678A6663757}"/>
              </a:ext>
            </a:extLst>
          </p:cNvPr>
          <p:cNvCxnSpPr>
            <a:cxnSpLocks/>
            <a:stCxn id="53" idx="3"/>
            <a:endCxn id="3392" idx="2"/>
          </p:cNvCxnSpPr>
          <p:nvPr/>
        </p:nvCxnSpPr>
        <p:spPr>
          <a:xfrm flipV="1">
            <a:off x="1902091" y="3474536"/>
            <a:ext cx="339847" cy="369427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07" name="组合 3406">
            <a:extLst>
              <a:ext uri="{FF2B5EF4-FFF2-40B4-BE49-F238E27FC236}">
                <a16:creationId xmlns:a16="http://schemas.microsoft.com/office/drawing/2014/main" id="{391F9969-E92A-6BFD-05EB-2803777ADC73}"/>
              </a:ext>
            </a:extLst>
          </p:cNvPr>
          <p:cNvGrpSpPr/>
          <p:nvPr/>
        </p:nvGrpSpPr>
        <p:grpSpPr>
          <a:xfrm>
            <a:off x="3564779" y="2902769"/>
            <a:ext cx="1641306" cy="1550052"/>
            <a:chOff x="2573607" y="2277426"/>
            <a:chExt cx="1633572" cy="1542748"/>
          </a:xfrm>
        </p:grpSpPr>
        <p:sp>
          <p:nvSpPr>
            <p:cNvPr id="3408" name="矩形: 圆角 3407">
              <a:extLst>
                <a:ext uri="{FF2B5EF4-FFF2-40B4-BE49-F238E27FC236}">
                  <a16:creationId xmlns:a16="http://schemas.microsoft.com/office/drawing/2014/main" id="{28072606-BBCC-B39B-69AC-F5203562D82A}"/>
                </a:ext>
              </a:extLst>
            </p:cNvPr>
            <p:cNvSpPr/>
            <p:nvPr/>
          </p:nvSpPr>
          <p:spPr>
            <a:xfrm>
              <a:off x="2573607" y="2277426"/>
              <a:ext cx="1633572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3409" name="矩形: 圆角 3408">
              <a:extLst>
                <a:ext uri="{FF2B5EF4-FFF2-40B4-BE49-F238E27FC236}">
                  <a16:creationId xmlns:a16="http://schemas.microsoft.com/office/drawing/2014/main" id="{F37021CA-7328-4561-1AFB-584637DE2BBB}"/>
                </a:ext>
              </a:extLst>
            </p:cNvPr>
            <p:cNvSpPr/>
            <p:nvPr/>
          </p:nvSpPr>
          <p:spPr>
            <a:xfrm>
              <a:off x="2722868" y="343922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411" name="矩形: 圆角 3410">
              <a:extLst>
                <a:ext uri="{FF2B5EF4-FFF2-40B4-BE49-F238E27FC236}">
                  <a16:creationId xmlns:a16="http://schemas.microsoft.com/office/drawing/2014/main" id="{7BF33DDC-236E-6CAC-2690-BBDA7816AEFF}"/>
                </a:ext>
              </a:extLst>
            </p:cNvPr>
            <p:cNvSpPr/>
            <p:nvPr/>
          </p:nvSpPr>
          <p:spPr>
            <a:xfrm>
              <a:off x="2722868" y="310678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412" name="组合 3411">
            <a:extLst>
              <a:ext uri="{FF2B5EF4-FFF2-40B4-BE49-F238E27FC236}">
                <a16:creationId xmlns:a16="http://schemas.microsoft.com/office/drawing/2014/main" id="{3A9A8C5D-4B35-6B6D-42B5-3A90106399FE}"/>
              </a:ext>
            </a:extLst>
          </p:cNvPr>
          <p:cNvGrpSpPr/>
          <p:nvPr/>
        </p:nvGrpSpPr>
        <p:grpSpPr>
          <a:xfrm>
            <a:off x="4837774" y="3311375"/>
            <a:ext cx="92492" cy="833534"/>
            <a:chOff x="2455466" y="3102975"/>
            <a:chExt cx="92492" cy="833534"/>
          </a:xfrm>
        </p:grpSpPr>
        <p:sp>
          <p:nvSpPr>
            <p:cNvPr id="3416" name="矩形: 圆角 3415">
              <a:extLst>
                <a:ext uri="{FF2B5EF4-FFF2-40B4-BE49-F238E27FC236}">
                  <a16:creationId xmlns:a16="http://schemas.microsoft.com/office/drawing/2014/main" id="{FB09705E-11B9-A3E4-03C7-DF4DD8CEA4A0}"/>
                </a:ext>
              </a:extLst>
            </p:cNvPr>
            <p:cNvSpPr/>
            <p:nvPr/>
          </p:nvSpPr>
          <p:spPr>
            <a:xfrm>
              <a:off x="2468981" y="3102975"/>
              <a:ext cx="67431" cy="83353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cs typeface="+mn-ea"/>
                <a:sym typeface="+mn-lt"/>
              </a:endParaRPr>
            </a:p>
          </p:txBody>
        </p:sp>
        <p:sp>
          <p:nvSpPr>
            <p:cNvPr id="3414" name="椭圆 3413">
              <a:extLst>
                <a:ext uri="{FF2B5EF4-FFF2-40B4-BE49-F238E27FC236}">
                  <a16:creationId xmlns:a16="http://schemas.microsoft.com/office/drawing/2014/main" id="{D84399B7-4E9B-E308-A3E1-04EAE063B5E0}"/>
                </a:ext>
              </a:extLst>
            </p:cNvPr>
            <p:cNvSpPr/>
            <p:nvPr/>
          </p:nvSpPr>
          <p:spPr>
            <a:xfrm>
              <a:off x="2455467" y="3717568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415" name="椭圆 3414">
              <a:extLst>
                <a:ext uri="{FF2B5EF4-FFF2-40B4-BE49-F238E27FC236}">
                  <a16:creationId xmlns:a16="http://schemas.microsoft.com/office/drawing/2014/main" id="{7659C2B1-5849-EAC7-75E1-ECD7441CB33E}"/>
                </a:ext>
              </a:extLst>
            </p:cNvPr>
            <p:cNvSpPr/>
            <p:nvPr/>
          </p:nvSpPr>
          <p:spPr>
            <a:xfrm>
              <a:off x="2455466" y="3232072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423" name="直接连接符 3422">
            <a:extLst>
              <a:ext uri="{FF2B5EF4-FFF2-40B4-BE49-F238E27FC236}">
                <a16:creationId xmlns:a16="http://schemas.microsoft.com/office/drawing/2014/main" id="{963164C7-C9CA-EA7D-634D-46FF9E912599}"/>
              </a:ext>
            </a:extLst>
          </p:cNvPr>
          <p:cNvCxnSpPr>
            <a:cxnSpLocks/>
            <a:stCxn id="3409" idx="3"/>
            <a:endCxn id="3414" idx="2"/>
          </p:cNvCxnSpPr>
          <p:nvPr/>
        </p:nvCxnSpPr>
        <p:spPr>
          <a:xfrm flipV="1">
            <a:off x="4484354" y="3972214"/>
            <a:ext cx="353421" cy="20663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4" name="直接连接符 3423">
            <a:extLst>
              <a:ext uri="{FF2B5EF4-FFF2-40B4-BE49-F238E27FC236}">
                <a16:creationId xmlns:a16="http://schemas.microsoft.com/office/drawing/2014/main" id="{CD3C8A83-A366-0A91-483C-A54370A82348}"/>
              </a:ext>
            </a:extLst>
          </p:cNvPr>
          <p:cNvCxnSpPr>
            <a:cxnSpLocks/>
            <a:stCxn id="3411" idx="3"/>
            <a:endCxn id="3414" idx="2"/>
          </p:cNvCxnSpPr>
          <p:nvPr/>
        </p:nvCxnSpPr>
        <p:spPr>
          <a:xfrm>
            <a:off x="4484354" y="3844832"/>
            <a:ext cx="353421" cy="127382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5" name="直接连接符 3424">
            <a:extLst>
              <a:ext uri="{FF2B5EF4-FFF2-40B4-BE49-F238E27FC236}">
                <a16:creationId xmlns:a16="http://schemas.microsoft.com/office/drawing/2014/main" id="{FCAB4C00-EF0D-45C2-C864-B4D6C97125AD}"/>
              </a:ext>
            </a:extLst>
          </p:cNvPr>
          <p:cNvCxnSpPr>
            <a:cxnSpLocks/>
            <a:stCxn id="3409" idx="3"/>
            <a:endCxn id="3415" idx="2"/>
          </p:cNvCxnSpPr>
          <p:nvPr/>
        </p:nvCxnSpPr>
        <p:spPr>
          <a:xfrm flipV="1">
            <a:off x="4484354" y="3486718"/>
            <a:ext cx="353420" cy="692127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6" name="直接连接符 3425">
            <a:extLst>
              <a:ext uri="{FF2B5EF4-FFF2-40B4-BE49-F238E27FC236}">
                <a16:creationId xmlns:a16="http://schemas.microsoft.com/office/drawing/2014/main" id="{B2DD250C-7B49-06E2-2BAB-AC75539F4DF8}"/>
              </a:ext>
            </a:extLst>
          </p:cNvPr>
          <p:cNvCxnSpPr>
            <a:cxnSpLocks/>
            <a:stCxn id="3411" idx="3"/>
            <a:endCxn id="3415" idx="2"/>
          </p:cNvCxnSpPr>
          <p:nvPr/>
        </p:nvCxnSpPr>
        <p:spPr>
          <a:xfrm flipV="1">
            <a:off x="4484354" y="3486718"/>
            <a:ext cx="353420" cy="358114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8" name="矩形: 圆角 3427">
            <a:extLst>
              <a:ext uri="{FF2B5EF4-FFF2-40B4-BE49-F238E27FC236}">
                <a16:creationId xmlns:a16="http://schemas.microsoft.com/office/drawing/2014/main" id="{CE124CB6-AA6C-AD8C-5E1B-E7947546F062}"/>
              </a:ext>
            </a:extLst>
          </p:cNvPr>
          <p:cNvSpPr/>
          <p:nvPr/>
        </p:nvSpPr>
        <p:spPr>
          <a:xfrm>
            <a:off x="3711772" y="3403832"/>
            <a:ext cx="769607" cy="217561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29" name="矩形: 圆角 3428">
            <a:extLst>
              <a:ext uri="{FF2B5EF4-FFF2-40B4-BE49-F238E27FC236}">
                <a16:creationId xmlns:a16="http://schemas.microsoft.com/office/drawing/2014/main" id="{E16227F0-6213-F22F-9506-89632EB94746}"/>
              </a:ext>
            </a:extLst>
          </p:cNvPr>
          <p:cNvSpPr/>
          <p:nvPr/>
        </p:nvSpPr>
        <p:spPr>
          <a:xfrm>
            <a:off x="3711772" y="3079162"/>
            <a:ext cx="769607" cy="217561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cxnSp>
        <p:nvCxnSpPr>
          <p:cNvPr id="3430" name="直接连接符 3429">
            <a:extLst>
              <a:ext uri="{FF2B5EF4-FFF2-40B4-BE49-F238E27FC236}">
                <a16:creationId xmlns:a16="http://schemas.microsoft.com/office/drawing/2014/main" id="{82084147-875B-58C5-3677-DCE62B11F212}"/>
              </a:ext>
            </a:extLst>
          </p:cNvPr>
          <p:cNvCxnSpPr>
            <a:cxnSpLocks/>
            <a:stCxn id="3428" idx="3"/>
            <a:endCxn id="3414" idx="2"/>
          </p:cNvCxnSpPr>
          <p:nvPr/>
        </p:nvCxnSpPr>
        <p:spPr>
          <a:xfrm>
            <a:off x="4481379" y="3512613"/>
            <a:ext cx="356396" cy="45960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3" name="直接连接符 3432">
            <a:extLst>
              <a:ext uri="{FF2B5EF4-FFF2-40B4-BE49-F238E27FC236}">
                <a16:creationId xmlns:a16="http://schemas.microsoft.com/office/drawing/2014/main" id="{307D8FDE-4C39-110D-E132-BE91F988A233}"/>
              </a:ext>
            </a:extLst>
          </p:cNvPr>
          <p:cNvCxnSpPr>
            <a:cxnSpLocks/>
            <a:stCxn id="3428" idx="3"/>
            <a:endCxn id="3415" idx="2"/>
          </p:cNvCxnSpPr>
          <p:nvPr/>
        </p:nvCxnSpPr>
        <p:spPr>
          <a:xfrm flipV="1">
            <a:off x="4481379" y="3486718"/>
            <a:ext cx="356395" cy="25895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6" name="直接连接符 3435">
            <a:extLst>
              <a:ext uri="{FF2B5EF4-FFF2-40B4-BE49-F238E27FC236}">
                <a16:creationId xmlns:a16="http://schemas.microsoft.com/office/drawing/2014/main" id="{91E7EB49-86B4-FE97-A1DF-730BC01B133B}"/>
              </a:ext>
            </a:extLst>
          </p:cNvPr>
          <p:cNvCxnSpPr>
            <a:cxnSpLocks/>
            <a:stCxn id="3429" idx="3"/>
            <a:endCxn id="3415" idx="2"/>
          </p:cNvCxnSpPr>
          <p:nvPr/>
        </p:nvCxnSpPr>
        <p:spPr>
          <a:xfrm>
            <a:off x="4481379" y="3187943"/>
            <a:ext cx="356395" cy="298775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9" name="直接连接符 3438">
            <a:extLst>
              <a:ext uri="{FF2B5EF4-FFF2-40B4-BE49-F238E27FC236}">
                <a16:creationId xmlns:a16="http://schemas.microsoft.com/office/drawing/2014/main" id="{F8D9D600-3C63-4698-519E-3BB80DFAB0F5}"/>
              </a:ext>
            </a:extLst>
          </p:cNvPr>
          <p:cNvCxnSpPr>
            <a:cxnSpLocks/>
            <a:stCxn id="3429" idx="3"/>
            <a:endCxn id="3414" idx="2"/>
          </p:cNvCxnSpPr>
          <p:nvPr/>
        </p:nvCxnSpPr>
        <p:spPr>
          <a:xfrm>
            <a:off x="4481379" y="3187943"/>
            <a:ext cx="356396" cy="78427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5" name="文本框 3444">
            <a:extLst>
              <a:ext uri="{FF2B5EF4-FFF2-40B4-BE49-F238E27FC236}">
                <a16:creationId xmlns:a16="http://schemas.microsoft.com/office/drawing/2014/main" id="{5AB648A0-C9A6-86DC-0F05-35A6C4324378}"/>
              </a:ext>
            </a:extLst>
          </p:cNvPr>
          <p:cNvSpPr txBox="1"/>
          <p:nvPr/>
        </p:nvSpPr>
        <p:spPr>
          <a:xfrm>
            <a:off x="955831" y="5215827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NVL72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46" name="文本框 3445">
            <a:extLst>
              <a:ext uri="{FF2B5EF4-FFF2-40B4-BE49-F238E27FC236}">
                <a16:creationId xmlns:a16="http://schemas.microsoft.com/office/drawing/2014/main" id="{F7E74B25-9972-961F-9C93-14B857F195DA}"/>
              </a:ext>
            </a:extLst>
          </p:cNvPr>
          <p:cNvSpPr txBox="1"/>
          <p:nvPr/>
        </p:nvSpPr>
        <p:spPr>
          <a:xfrm>
            <a:off x="969794" y="5624716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B200 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72 / rack</a:t>
            </a:r>
          </a:p>
        </p:txBody>
      </p:sp>
      <p:sp>
        <p:nvSpPr>
          <p:cNvPr id="3448" name="文本框 3447">
            <a:extLst>
              <a:ext uri="{FF2B5EF4-FFF2-40B4-BE49-F238E27FC236}">
                <a16:creationId xmlns:a16="http://schemas.microsoft.com/office/drawing/2014/main" id="{36315F0B-BB47-1E9C-18F7-E527D0C174A7}"/>
              </a:ext>
            </a:extLst>
          </p:cNvPr>
          <p:cNvSpPr txBox="1"/>
          <p:nvPr/>
        </p:nvSpPr>
        <p:spPr>
          <a:xfrm>
            <a:off x="4481379" y="5200079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Rubin NVL288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49" name="文本框 3448">
            <a:extLst>
              <a:ext uri="{FF2B5EF4-FFF2-40B4-BE49-F238E27FC236}">
                <a16:creationId xmlns:a16="http://schemas.microsoft.com/office/drawing/2014/main" id="{E2ADC65E-017D-3DB4-50DD-1FF45A14E953}"/>
              </a:ext>
            </a:extLst>
          </p:cNvPr>
          <p:cNvSpPr txBox="1"/>
          <p:nvPr/>
        </p:nvSpPr>
        <p:spPr>
          <a:xfrm>
            <a:off x="4504639" y="5650756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Rubin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288 / rack </a:t>
            </a:r>
          </a:p>
        </p:txBody>
      </p:sp>
      <p:sp>
        <p:nvSpPr>
          <p:cNvPr id="3451" name="文本框 3450">
            <a:extLst>
              <a:ext uri="{FF2B5EF4-FFF2-40B4-BE49-F238E27FC236}">
                <a16:creationId xmlns:a16="http://schemas.microsoft.com/office/drawing/2014/main" id="{2B851CDC-5F65-1568-5E1B-F56677B7DCF7}"/>
              </a:ext>
            </a:extLst>
          </p:cNvPr>
          <p:cNvSpPr txBox="1"/>
          <p:nvPr/>
        </p:nvSpPr>
        <p:spPr>
          <a:xfrm>
            <a:off x="4403771" y="3018258"/>
            <a:ext cx="97803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endParaRPr kumimoji="1" lang="en-US" altLang="zh-CN" sz="1400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grpSp>
        <p:nvGrpSpPr>
          <p:cNvPr id="3470" name="组合 3469">
            <a:extLst>
              <a:ext uri="{FF2B5EF4-FFF2-40B4-BE49-F238E27FC236}">
                <a16:creationId xmlns:a16="http://schemas.microsoft.com/office/drawing/2014/main" id="{14A599D8-D430-AD37-1E3E-C3B9ED956E30}"/>
              </a:ext>
            </a:extLst>
          </p:cNvPr>
          <p:cNvGrpSpPr/>
          <p:nvPr/>
        </p:nvGrpSpPr>
        <p:grpSpPr>
          <a:xfrm>
            <a:off x="6762943" y="3061554"/>
            <a:ext cx="1588079" cy="1089889"/>
            <a:chOff x="6616348" y="4646527"/>
            <a:chExt cx="1588079" cy="1089889"/>
          </a:xfrm>
        </p:grpSpPr>
        <p:grpSp>
          <p:nvGrpSpPr>
            <p:cNvPr id="3452" name="组合 3451">
              <a:extLst>
                <a:ext uri="{FF2B5EF4-FFF2-40B4-BE49-F238E27FC236}">
                  <a16:creationId xmlns:a16="http://schemas.microsoft.com/office/drawing/2014/main" id="{AA871210-F008-BAE3-ED93-6F0D476DC6FD}"/>
                </a:ext>
              </a:extLst>
            </p:cNvPr>
            <p:cNvGrpSpPr/>
            <p:nvPr/>
          </p:nvGrpSpPr>
          <p:grpSpPr>
            <a:xfrm>
              <a:off x="6616348" y="4646527"/>
              <a:ext cx="1588079" cy="1089889"/>
              <a:chOff x="2573606" y="2472321"/>
              <a:chExt cx="1580596" cy="1084754"/>
            </a:xfrm>
          </p:grpSpPr>
          <p:sp>
            <p:nvSpPr>
              <p:cNvPr id="3453" name="矩形: 圆角 3452">
                <a:extLst>
                  <a:ext uri="{FF2B5EF4-FFF2-40B4-BE49-F238E27FC236}">
                    <a16:creationId xmlns:a16="http://schemas.microsoft.com/office/drawing/2014/main" id="{0B6B8096-B177-2A84-68D3-076CBD52C7A2}"/>
                  </a:ext>
                </a:extLst>
              </p:cNvPr>
              <p:cNvSpPr/>
              <p:nvPr/>
            </p:nvSpPr>
            <p:spPr>
              <a:xfrm>
                <a:off x="2573606" y="2472321"/>
                <a:ext cx="1580596" cy="1084754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cs typeface="+mn-ea"/>
                  <a:sym typeface="+mn-lt"/>
                </a:endParaRPr>
              </a:p>
            </p:txBody>
          </p:sp>
          <p:sp>
            <p:nvSpPr>
              <p:cNvPr id="3454" name="矩形: 圆角 3453">
                <a:extLst>
                  <a:ext uri="{FF2B5EF4-FFF2-40B4-BE49-F238E27FC236}">
                    <a16:creationId xmlns:a16="http://schemas.microsoft.com/office/drawing/2014/main" id="{36B06501-8AA9-6F67-3D48-8B4DD08026EB}"/>
                  </a:ext>
                </a:extLst>
              </p:cNvPr>
              <p:cNvSpPr/>
              <p:nvPr/>
            </p:nvSpPr>
            <p:spPr>
              <a:xfrm>
                <a:off x="2773429" y="3176554"/>
                <a:ext cx="765981" cy="216536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sz="16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455" name="矩形: 圆角 3454">
                <a:extLst>
                  <a:ext uri="{FF2B5EF4-FFF2-40B4-BE49-F238E27FC236}">
                    <a16:creationId xmlns:a16="http://schemas.microsoft.com/office/drawing/2014/main" id="{F192DF0C-3298-8A65-E4D3-8D6B071D1731}"/>
                  </a:ext>
                </a:extLst>
              </p:cNvPr>
              <p:cNvSpPr/>
              <p:nvPr/>
            </p:nvSpPr>
            <p:spPr>
              <a:xfrm>
                <a:off x="2773429" y="2844115"/>
                <a:ext cx="765981" cy="216536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sz="16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3456" name="组合 3455">
              <a:extLst>
                <a:ext uri="{FF2B5EF4-FFF2-40B4-BE49-F238E27FC236}">
                  <a16:creationId xmlns:a16="http://schemas.microsoft.com/office/drawing/2014/main" id="{1D81A472-F073-EA88-12CC-BEED40840FC8}"/>
                </a:ext>
              </a:extLst>
            </p:cNvPr>
            <p:cNvGrpSpPr/>
            <p:nvPr/>
          </p:nvGrpSpPr>
          <p:grpSpPr>
            <a:xfrm>
              <a:off x="7051474" y="4681821"/>
              <a:ext cx="978034" cy="999716"/>
              <a:chOff x="1631169" y="2936792"/>
              <a:chExt cx="978034" cy="999716"/>
            </a:xfrm>
          </p:grpSpPr>
          <p:grpSp>
            <p:nvGrpSpPr>
              <p:cNvPr id="3457" name="组合 3456">
                <a:extLst>
                  <a:ext uri="{FF2B5EF4-FFF2-40B4-BE49-F238E27FC236}">
                    <a16:creationId xmlns:a16="http://schemas.microsoft.com/office/drawing/2014/main" id="{925FFEDE-BED2-2837-4722-216729C550C9}"/>
                  </a:ext>
                </a:extLst>
              </p:cNvPr>
              <p:cNvGrpSpPr/>
              <p:nvPr/>
            </p:nvGrpSpPr>
            <p:grpSpPr>
              <a:xfrm>
                <a:off x="1631169" y="2936792"/>
                <a:ext cx="978034" cy="999716"/>
                <a:chOff x="1764426" y="3171915"/>
                <a:chExt cx="1256271" cy="1284122"/>
              </a:xfrm>
            </p:grpSpPr>
            <p:sp>
              <p:nvSpPr>
                <p:cNvPr id="3460" name="矩形: 圆角 3459">
                  <a:extLst>
                    <a:ext uri="{FF2B5EF4-FFF2-40B4-BE49-F238E27FC236}">
                      <a16:creationId xmlns:a16="http://schemas.microsoft.com/office/drawing/2014/main" id="{B7AFC3C2-B228-B181-2DDE-A792C8761AE5}"/>
                    </a:ext>
                  </a:extLst>
                </p:cNvPr>
                <p:cNvSpPr/>
                <p:nvPr/>
              </p:nvSpPr>
              <p:spPr>
                <a:xfrm>
                  <a:off x="2840583" y="3385373"/>
                  <a:ext cx="86614" cy="1070664"/>
                </a:xfrm>
                <a:prstGeom prst="roundRect">
                  <a:avLst/>
                </a:prstGeom>
                <a:solidFill>
                  <a:schemeClr val="accent5"/>
                </a:solidFill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3461" name="文本框 3460">
                  <a:extLst>
                    <a:ext uri="{FF2B5EF4-FFF2-40B4-BE49-F238E27FC236}">
                      <a16:creationId xmlns:a16="http://schemas.microsoft.com/office/drawing/2014/main" id="{184F703F-E80B-F629-A207-104B925B50D2}"/>
                    </a:ext>
                  </a:extLst>
                </p:cNvPr>
                <p:cNvSpPr txBox="1"/>
                <p:nvPr/>
              </p:nvSpPr>
              <p:spPr>
                <a:xfrm>
                  <a:off x="1764426" y="3171915"/>
                  <a:ext cx="1256271" cy="328256"/>
                </a:xfrm>
                <a:prstGeom prst="rect">
                  <a:avLst/>
                </a:prstGeom>
                <a:ln w="6350">
                  <a:noFill/>
                  <a:miter lim="800000"/>
                </a:ln>
              </p:spPr>
              <p:txBody>
                <a:bodyPr vert="horz" wrap="square" lIns="0" tIns="0" rIns="0" bIns="0" rtlCol="0" anchor="ctr">
                  <a:noAutofit/>
                </a:bodyPr>
                <a:lstStyle/>
                <a:p>
                  <a:pPr algn="ctr"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kumimoji="1" lang="en-US" altLang="zh-CN" sz="1400" dirty="0" err="1">
                      <a:solidFill>
                        <a:schemeClr val="accent5"/>
                      </a:solidFill>
                      <a:cs typeface="+mn-ea"/>
                      <a:sym typeface="+mn-lt"/>
                    </a:rPr>
                    <a:t>NVLink</a:t>
                  </a:r>
                  <a:endParaRPr kumimoji="1" lang="en-US" altLang="zh-CN" sz="1400" dirty="0">
                    <a:solidFill>
                      <a:schemeClr val="accent5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3458" name="椭圆 3457">
                <a:extLst>
                  <a:ext uri="{FF2B5EF4-FFF2-40B4-BE49-F238E27FC236}">
                    <a16:creationId xmlns:a16="http://schemas.microsoft.com/office/drawing/2014/main" id="{DDF02565-73A4-39F1-F71E-60723FAA5771}"/>
                  </a:ext>
                </a:extLst>
              </p:cNvPr>
              <p:cNvSpPr/>
              <p:nvPr/>
            </p:nvSpPr>
            <p:spPr>
              <a:xfrm>
                <a:off x="2455467" y="3717568"/>
                <a:ext cx="92491" cy="9249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cs typeface="+mn-ea"/>
                  <a:sym typeface="+mn-lt"/>
                </a:endParaRPr>
              </a:p>
            </p:txBody>
          </p:sp>
          <p:sp>
            <p:nvSpPr>
              <p:cNvPr id="3459" name="椭圆 3458">
                <a:extLst>
                  <a:ext uri="{FF2B5EF4-FFF2-40B4-BE49-F238E27FC236}">
                    <a16:creationId xmlns:a16="http://schemas.microsoft.com/office/drawing/2014/main" id="{F8D163FF-E192-A995-FE7E-EF39369258F1}"/>
                  </a:ext>
                </a:extLst>
              </p:cNvPr>
              <p:cNvSpPr/>
              <p:nvPr/>
            </p:nvSpPr>
            <p:spPr>
              <a:xfrm>
                <a:off x="2455466" y="3232072"/>
                <a:ext cx="92491" cy="9249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cs typeface="+mn-ea"/>
                  <a:sym typeface="+mn-lt"/>
                </a:endParaRPr>
              </a:p>
            </p:txBody>
          </p:sp>
        </p:grpSp>
        <p:cxnSp>
          <p:nvCxnSpPr>
            <p:cNvPr id="3462" name="直接连接符 3461">
              <a:extLst>
                <a:ext uri="{FF2B5EF4-FFF2-40B4-BE49-F238E27FC236}">
                  <a16:creationId xmlns:a16="http://schemas.microsoft.com/office/drawing/2014/main" id="{24A0859A-04C0-1AB1-C409-C4E8B4CC2D28}"/>
                </a:ext>
              </a:extLst>
            </p:cNvPr>
            <p:cNvCxnSpPr>
              <a:cxnSpLocks/>
              <a:stCxn id="3454" idx="3"/>
              <a:endCxn id="3458" idx="2"/>
            </p:cNvCxnSpPr>
            <p:nvPr/>
          </p:nvCxnSpPr>
          <p:spPr>
            <a:xfrm>
              <a:off x="7586724" y="5462877"/>
              <a:ext cx="289048" cy="45966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3" name="直接连接符 3462">
              <a:extLst>
                <a:ext uri="{FF2B5EF4-FFF2-40B4-BE49-F238E27FC236}">
                  <a16:creationId xmlns:a16="http://schemas.microsoft.com/office/drawing/2014/main" id="{600B027F-AE4F-0EFD-65F4-4D3A560EB70B}"/>
                </a:ext>
              </a:extLst>
            </p:cNvPr>
            <p:cNvCxnSpPr>
              <a:cxnSpLocks/>
              <a:stCxn id="3455" idx="3"/>
              <a:endCxn id="3458" idx="2"/>
            </p:cNvCxnSpPr>
            <p:nvPr/>
          </p:nvCxnSpPr>
          <p:spPr>
            <a:xfrm>
              <a:off x="7586724" y="5128864"/>
              <a:ext cx="289048" cy="379979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4" name="直接连接符 3463">
              <a:extLst>
                <a:ext uri="{FF2B5EF4-FFF2-40B4-BE49-F238E27FC236}">
                  <a16:creationId xmlns:a16="http://schemas.microsoft.com/office/drawing/2014/main" id="{E027670F-41CF-D14D-30E5-D815C05679F7}"/>
                </a:ext>
              </a:extLst>
            </p:cNvPr>
            <p:cNvCxnSpPr>
              <a:cxnSpLocks/>
              <a:stCxn id="3454" idx="3"/>
              <a:endCxn id="3459" idx="2"/>
            </p:cNvCxnSpPr>
            <p:nvPr/>
          </p:nvCxnSpPr>
          <p:spPr>
            <a:xfrm flipV="1">
              <a:off x="7586724" y="5023347"/>
              <a:ext cx="289047" cy="439530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5" name="直接连接符 3464">
              <a:extLst>
                <a:ext uri="{FF2B5EF4-FFF2-40B4-BE49-F238E27FC236}">
                  <a16:creationId xmlns:a16="http://schemas.microsoft.com/office/drawing/2014/main" id="{AA840891-62FC-CCA4-AC8A-CBB02330C94E}"/>
                </a:ext>
              </a:extLst>
            </p:cNvPr>
            <p:cNvCxnSpPr>
              <a:cxnSpLocks/>
              <a:stCxn id="3455" idx="3"/>
              <a:endCxn id="3459" idx="2"/>
            </p:cNvCxnSpPr>
            <p:nvPr/>
          </p:nvCxnSpPr>
          <p:spPr>
            <a:xfrm flipV="1">
              <a:off x="7586724" y="5023347"/>
              <a:ext cx="289047" cy="105517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74" name="组合 3473">
            <a:extLst>
              <a:ext uri="{FF2B5EF4-FFF2-40B4-BE49-F238E27FC236}">
                <a16:creationId xmlns:a16="http://schemas.microsoft.com/office/drawing/2014/main" id="{34E9D85A-C0A6-6B16-6F83-4F36802A0E32}"/>
              </a:ext>
            </a:extLst>
          </p:cNvPr>
          <p:cNvGrpSpPr/>
          <p:nvPr/>
        </p:nvGrpSpPr>
        <p:grpSpPr>
          <a:xfrm>
            <a:off x="859851" y="2375749"/>
            <a:ext cx="2215113" cy="328255"/>
            <a:chOff x="917705" y="2569182"/>
            <a:chExt cx="2215113" cy="328255"/>
          </a:xfrm>
        </p:grpSpPr>
        <p:sp>
          <p:nvSpPr>
            <p:cNvPr id="3472" name="椭圆 3471">
              <a:extLst>
                <a:ext uri="{FF2B5EF4-FFF2-40B4-BE49-F238E27FC236}">
                  <a16:creationId xmlns:a16="http://schemas.microsoft.com/office/drawing/2014/main" id="{03D5B286-D7E8-6A8E-CAA8-5CAF424B3D1B}"/>
                </a:ext>
              </a:extLst>
            </p:cNvPr>
            <p:cNvSpPr/>
            <p:nvPr/>
          </p:nvSpPr>
          <p:spPr>
            <a:xfrm>
              <a:off x="917705" y="2692953"/>
              <a:ext cx="92491" cy="92491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473" name="文本框 3472">
              <a:extLst>
                <a:ext uri="{FF2B5EF4-FFF2-40B4-BE49-F238E27FC236}">
                  <a16:creationId xmlns:a16="http://schemas.microsoft.com/office/drawing/2014/main" id="{A76703C2-FA27-3AB5-5AFB-2B592A7E8E8A}"/>
                </a:ext>
              </a:extLst>
            </p:cNvPr>
            <p:cNvSpPr txBox="1"/>
            <p:nvPr/>
          </p:nvSpPr>
          <p:spPr>
            <a:xfrm>
              <a:off x="1148665" y="2569182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Port</a:t>
              </a:r>
              <a:r>
                <a:rPr lang="zh-CN" altLang="en-US" sz="1400" b="1" dirty="0">
                  <a:cs typeface="+mn-ea"/>
                  <a:sym typeface="+mn-lt"/>
                </a:rPr>
                <a:t> </a:t>
              </a:r>
              <a:r>
                <a:rPr lang="en-US" altLang="zh-CN" sz="1400" b="1" dirty="0">
                  <a:cs typeface="+mn-ea"/>
                  <a:sym typeface="+mn-lt"/>
                </a:rPr>
                <a:t>(copper)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091" name="组合 3090">
            <a:extLst>
              <a:ext uri="{FF2B5EF4-FFF2-40B4-BE49-F238E27FC236}">
                <a16:creationId xmlns:a16="http://schemas.microsoft.com/office/drawing/2014/main" id="{029DA4D0-CEC5-87F4-5678-EF03322AAF6C}"/>
              </a:ext>
            </a:extLst>
          </p:cNvPr>
          <p:cNvGrpSpPr/>
          <p:nvPr/>
        </p:nvGrpSpPr>
        <p:grpSpPr>
          <a:xfrm>
            <a:off x="9470744" y="2322552"/>
            <a:ext cx="1588079" cy="1089889"/>
            <a:chOff x="9471437" y="2407667"/>
            <a:chExt cx="1588079" cy="1089889"/>
          </a:xfrm>
        </p:grpSpPr>
        <p:grpSp>
          <p:nvGrpSpPr>
            <p:cNvPr id="3475" name="组合 3474">
              <a:extLst>
                <a:ext uri="{FF2B5EF4-FFF2-40B4-BE49-F238E27FC236}">
                  <a16:creationId xmlns:a16="http://schemas.microsoft.com/office/drawing/2014/main" id="{2C16EB5C-BD24-530C-2975-9C0901D644A3}"/>
                </a:ext>
              </a:extLst>
            </p:cNvPr>
            <p:cNvGrpSpPr/>
            <p:nvPr/>
          </p:nvGrpSpPr>
          <p:grpSpPr>
            <a:xfrm>
              <a:off x="9471437" y="2407667"/>
              <a:ext cx="1588079" cy="1089889"/>
              <a:chOff x="6616348" y="4646527"/>
              <a:chExt cx="1588079" cy="1089889"/>
            </a:xfrm>
          </p:grpSpPr>
          <p:grpSp>
            <p:nvGrpSpPr>
              <p:cNvPr id="3476" name="组合 3475">
                <a:extLst>
                  <a:ext uri="{FF2B5EF4-FFF2-40B4-BE49-F238E27FC236}">
                    <a16:creationId xmlns:a16="http://schemas.microsoft.com/office/drawing/2014/main" id="{07192AF5-D36C-4DB7-B9B7-B9E33D871F65}"/>
                  </a:ext>
                </a:extLst>
              </p:cNvPr>
              <p:cNvGrpSpPr/>
              <p:nvPr/>
            </p:nvGrpSpPr>
            <p:grpSpPr>
              <a:xfrm>
                <a:off x="6616348" y="4646527"/>
                <a:ext cx="1588079" cy="1089889"/>
                <a:chOff x="2573606" y="2472321"/>
                <a:chExt cx="1580596" cy="1084754"/>
              </a:xfrm>
            </p:grpSpPr>
            <p:sp>
              <p:nvSpPr>
                <p:cNvPr id="3487" name="矩形: 圆角 3486">
                  <a:extLst>
                    <a:ext uri="{FF2B5EF4-FFF2-40B4-BE49-F238E27FC236}">
                      <a16:creationId xmlns:a16="http://schemas.microsoft.com/office/drawing/2014/main" id="{39D21823-4E9A-4471-0949-58D4DFDB897C}"/>
                    </a:ext>
                  </a:extLst>
                </p:cNvPr>
                <p:cNvSpPr/>
                <p:nvPr/>
              </p:nvSpPr>
              <p:spPr>
                <a:xfrm>
                  <a:off x="2573606" y="2472321"/>
                  <a:ext cx="1580596" cy="1084754"/>
                </a:xfrm>
                <a:prstGeom prst="roundRect">
                  <a:avLst>
                    <a:gd name="adj" fmla="val 10158"/>
                  </a:avLst>
                </a:prstGeom>
                <a:noFill/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  <a:sym typeface="+mn-lt"/>
                  </a:endParaRPr>
                </a:p>
              </p:txBody>
            </p:sp>
            <p:sp>
              <p:nvSpPr>
                <p:cNvPr id="3488" name="矩形: 圆角 3487">
                  <a:extLst>
                    <a:ext uri="{FF2B5EF4-FFF2-40B4-BE49-F238E27FC236}">
                      <a16:creationId xmlns:a16="http://schemas.microsoft.com/office/drawing/2014/main" id="{0A07AD35-F067-9B49-07B5-F276A1D7ECC0}"/>
                    </a:ext>
                  </a:extLst>
                </p:cNvPr>
                <p:cNvSpPr/>
                <p:nvPr/>
              </p:nvSpPr>
              <p:spPr>
                <a:xfrm>
                  <a:off x="2773429" y="3176554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489" name="矩形: 圆角 3488">
                  <a:extLst>
                    <a:ext uri="{FF2B5EF4-FFF2-40B4-BE49-F238E27FC236}">
                      <a16:creationId xmlns:a16="http://schemas.microsoft.com/office/drawing/2014/main" id="{2B53CD05-B7FC-442F-3A1C-4D4D247D9E3A}"/>
                    </a:ext>
                  </a:extLst>
                </p:cNvPr>
                <p:cNvSpPr/>
                <p:nvPr/>
              </p:nvSpPr>
              <p:spPr>
                <a:xfrm>
                  <a:off x="2773429" y="2844115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477" name="组合 3476">
                <a:extLst>
                  <a:ext uri="{FF2B5EF4-FFF2-40B4-BE49-F238E27FC236}">
                    <a16:creationId xmlns:a16="http://schemas.microsoft.com/office/drawing/2014/main" id="{85D1D0D6-D25B-B737-4901-9B3E57E56144}"/>
                  </a:ext>
                </a:extLst>
              </p:cNvPr>
              <p:cNvGrpSpPr/>
              <p:nvPr/>
            </p:nvGrpSpPr>
            <p:grpSpPr>
              <a:xfrm>
                <a:off x="7051474" y="4681821"/>
                <a:ext cx="978034" cy="999716"/>
                <a:chOff x="1631169" y="2936792"/>
                <a:chExt cx="978034" cy="999716"/>
              </a:xfrm>
            </p:grpSpPr>
            <p:grpSp>
              <p:nvGrpSpPr>
                <p:cNvPr id="3482" name="组合 3481">
                  <a:extLst>
                    <a:ext uri="{FF2B5EF4-FFF2-40B4-BE49-F238E27FC236}">
                      <a16:creationId xmlns:a16="http://schemas.microsoft.com/office/drawing/2014/main" id="{069BFE75-DB40-1014-53D5-BC80A2920AF6}"/>
                    </a:ext>
                  </a:extLst>
                </p:cNvPr>
                <p:cNvGrpSpPr/>
                <p:nvPr/>
              </p:nvGrpSpPr>
              <p:grpSpPr>
                <a:xfrm>
                  <a:off x="1631169" y="2936792"/>
                  <a:ext cx="978034" cy="999716"/>
                  <a:chOff x="1764426" y="3171915"/>
                  <a:chExt cx="1256271" cy="1284122"/>
                </a:xfrm>
              </p:grpSpPr>
              <p:sp>
                <p:nvSpPr>
                  <p:cNvPr id="3485" name="矩形: 圆角 3484">
                    <a:extLst>
                      <a:ext uri="{FF2B5EF4-FFF2-40B4-BE49-F238E27FC236}">
                        <a16:creationId xmlns:a16="http://schemas.microsoft.com/office/drawing/2014/main" id="{233FD13A-7823-3D11-E4E7-6DDCA7D70950}"/>
                      </a:ext>
                    </a:extLst>
                  </p:cNvPr>
                  <p:cNvSpPr/>
                  <p:nvPr/>
                </p:nvSpPr>
                <p:spPr>
                  <a:xfrm>
                    <a:off x="2840583" y="3385373"/>
                    <a:ext cx="86614" cy="1070664"/>
                  </a:xfrm>
                  <a:prstGeom prst="round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600" dirty="0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86" name="文本框 3485">
                    <a:extLst>
                      <a:ext uri="{FF2B5EF4-FFF2-40B4-BE49-F238E27FC236}">
                        <a16:creationId xmlns:a16="http://schemas.microsoft.com/office/drawing/2014/main" id="{A94038F6-182A-9E45-A245-F77E6EEAC22C}"/>
                      </a:ext>
                    </a:extLst>
                  </p:cNvPr>
                  <p:cNvSpPr txBox="1"/>
                  <p:nvPr/>
                </p:nvSpPr>
                <p:spPr>
                  <a:xfrm>
                    <a:off x="1764426" y="3171915"/>
                    <a:ext cx="1256271" cy="328256"/>
                  </a:xfrm>
                  <a:prstGeom prst="rect">
                    <a:avLst/>
                  </a:prstGeom>
                  <a:ln w="6350">
                    <a:noFill/>
                    <a:miter lim="800000"/>
                  </a:ln>
                </p:spPr>
                <p:txBody>
                  <a:bodyPr vert="horz" wrap="square" lIns="0" tIns="0" rIns="0" bIns="0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kumimoji="1" lang="en-US" altLang="zh-CN" sz="1400" dirty="0" err="1">
                        <a:solidFill>
                          <a:schemeClr val="accent5"/>
                        </a:solidFill>
                        <a:cs typeface="+mn-ea"/>
                        <a:sym typeface="+mn-lt"/>
                      </a:rPr>
                      <a:t>NVLink</a:t>
                    </a:r>
                    <a:endParaRPr kumimoji="1" lang="en-US" altLang="zh-CN" sz="1400" dirty="0">
                      <a:solidFill>
                        <a:schemeClr val="accent5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3483" name="椭圆 3482">
                  <a:extLst>
                    <a:ext uri="{FF2B5EF4-FFF2-40B4-BE49-F238E27FC236}">
                      <a16:creationId xmlns:a16="http://schemas.microsoft.com/office/drawing/2014/main" id="{DAF172DA-3AFD-74E3-8FC2-471F981BB256}"/>
                    </a:ext>
                  </a:extLst>
                </p:cNvPr>
                <p:cNvSpPr/>
                <p:nvPr/>
              </p:nvSpPr>
              <p:spPr>
                <a:xfrm>
                  <a:off x="2455467" y="3717568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3484" name="椭圆 3483">
                  <a:extLst>
                    <a:ext uri="{FF2B5EF4-FFF2-40B4-BE49-F238E27FC236}">
                      <a16:creationId xmlns:a16="http://schemas.microsoft.com/office/drawing/2014/main" id="{625586D0-527A-E620-5603-C93E82C99949}"/>
                    </a:ext>
                  </a:extLst>
                </p:cNvPr>
                <p:cNvSpPr/>
                <p:nvPr/>
              </p:nvSpPr>
              <p:spPr>
                <a:xfrm>
                  <a:off x="2455466" y="3232072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3478" name="直接连接符 3477">
                <a:extLst>
                  <a:ext uri="{FF2B5EF4-FFF2-40B4-BE49-F238E27FC236}">
                    <a16:creationId xmlns:a16="http://schemas.microsoft.com/office/drawing/2014/main" id="{F4535F0F-272E-EB9F-F316-D1600905082A}"/>
                  </a:ext>
                </a:extLst>
              </p:cNvPr>
              <p:cNvCxnSpPr>
                <a:cxnSpLocks/>
                <a:stCxn id="3488" idx="3"/>
                <a:endCxn id="3483" idx="2"/>
              </p:cNvCxnSpPr>
              <p:nvPr/>
            </p:nvCxnSpPr>
            <p:spPr>
              <a:xfrm>
                <a:off x="7586724" y="5462877"/>
                <a:ext cx="289048" cy="45966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79" name="直接连接符 3478">
                <a:extLst>
                  <a:ext uri="{FF2B5EF4-FFF2-40B4-BE49-F238E27FC236}">
                    <a16:creationId xmlns:a16="http://schemas.microsoft.com/office/drawing/2014/main" id="{3CD2625B-4377-5C13-8D4B-50D3BF016E34}"/>
                  </a:ext>
                </a:extLst>
              </p:cNvPr>
              <p:cNvCxnSpPr>
                <a:cxnSpLocks/>
                <a:stCxn id="3489" idx="3"/>
                <a:endCxn id="3483" idx="2"/>
              </p:cNvCxnSpPr>
              <p:nvPr/>
            </p:nvCxnSpPr>
            <p:spPr>
              <a:xfrm>
                <a:off x="7586724" y="5128864"/>
                <a:ext cx="289048" cy="379979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0" name="直接连接符 3479">
                <a:extLst>
                  <a:ext uri="{FF2B5EF4-FFF2-40B4-BE49-F238E27FC236}">
                    <a16:creationId xmlns:a16="http://schemas.microsoft.com/office/drawing/2014/main" id="{67C42228-EDFD-54E7-D8D2-E6902615D528}"/>
                  </a:ext>
                </a:extLst>
              </p:cNvPr>
              <p:cNvCxnSpPr>
                <a:cxnSpLocks/>
                <a:stCxn id="3488" idx="3"/>
                <a:endCxn id="3484" idx="2"/>
              </p:cNvCxnSpPr>
              <p:nvPr/>
            </p:nvCxnSpPr>
            <p:spPr>
              <a:xfrm flipV="1">
                <a:off x="7586724" y="5023347"/>
                <a:ext cx="289047" cy="439530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1" name="直接连接符 3480">
                <a:extLst>
                  <a:ext uri="{FF2B5EF4-FFF2-40B4-BE49-F238E27FC236}">
                    <a16:creationId xmlns:a16="http://schemas.microsoft.com/office/drawing/2014/main" id="{6296F15B-6101-6C3A-5C28-9E8C894348A4}"/>
                  </a:ext>
                </a:extLst>
              </p:cNvPr>
              <p:cNvCxnSpPr>
                <a:cxnSpLocks/>
                <a:stCxn id="3489" idx="3"/>
                <a:endCxn id="3484" idx="2"/>
              </p:cNvCxnSpPr>
              <p:nvPr/>
            </p:nvCxnSpPr>
            <p:spPr>
              <a:xfrm flipV="1">
                <a:off x="7586724" y="5023347"/>
                <a:ext cx="289047" cy="105517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71" name="椭圆 3470">
              <a:extLst>
                <a:ext uri="{FF2B5EF4-FFF2-40B4-BE49-F238E27FC236}">
                  <a16:creationId xmlns:a16="http://schemas.microsoft.com/office/drawing/2014/main" id="{DD60FAA0-2FFC-3607-C70F-2D25DF6CA719}"/>
                </a:ext>
              </a:extLst>
            </p:cNvPr>
            <p:cNvSpPr/>
            <p:nvPr/>
          </p:nvSpPr>
          <p:spPr>
            <a:xfrm>
              <a:off x="10731277" y="2989367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grpSp>
        <p:nvGrpSpPr>
          <p:cNvPr id="3092" name="组合 3091">
            <a:extLst>
              <a:ext uri="{FF2B5EF4-FFF2-40B4-BE49-F238E27FC236}">
                <a16:creationId xmlns:a16="http://schemas.microsoft.com/office/drawing/2014/main" id="{B551C8D1-7088-EA17-5591-785D4A6BB140}"/>
              </a:ext>
            </a:extLst>
          </p:cNvPr>
          <p:cNvGrpSpPr/>
          <p:nvPr/>
        </p:nvGrpSpPr>
        <p:grpSpPr>
          <a:xfrm>
            <a:off x="9470744" y="3681356"/>
            <a:ext cx="1588079" cy="1089889"/>
            <a:chOff x="9470744" y="3681356"/>
            <a:chExt cx="1588079" cy="1089889"/>
          </a:xfrm>
        </p:grpSpPr>
        <p:grpSp>
          <p:nvGrpSpPr>
            <p:cNvPr id="3490" name="组合 3489">
              <a:extLst>
                <a:ext uri="{FF2B5EF4-FFF2-40B4-BE49-F238E27FC236}">
                  <a16:creationId xmlns:a16="http://schemas.microsoft.com/office/drawing/2014/main" id="{D3CDF684-13B3-72CC-FCF2-B5F2108AA0C4}"/>
                </a:ext>
              </a:extLst>
            </p:cNvPr>
            <p:cNvGrpSpPr/>
            <p:nvPr/>
          </p:nvGrpSpPr>
          <p:grpSpPr>
            <a:xfrm>
              <a:off x="9470744" y="3681356"/>
              <a:ext cx="1588079" cy="1089889"/>
              <a:chOff x="6616348" y="4646527"/>
              <a:chExt cx="1588079" cy="1089889"/>
            </a:xfrm>
          </p:grpSpPr>
          <p:grpSp>
            <p:nvGrpSpPr>
              <p:cNvPr id="3491" name="组合 3490">
                <a:extLst>
                  <a:ext uri="{FF2B5EF4-FFF2-40B4-BE49-F238E27FC236}">
                    <a16:creationId xmlns:a16="http://schemas.microsoft.com/office/drawing/2014/main" id="{5519C2D0-D30C-4FAA-59A1-DE07A341C930}"/>
                  </a:ext>
                </a:extLst>
              </p:cNvPr>
              <p:cNvGrpSpPr/>
              <p:nvPr/>
            </p:nvGrpSpPr>
            <p:grpSpPr>
              <a:xfrm>
                <a:off x="6616348" y="4646527"/>
                <a:ext cx="1588079" cy="1089889"/>
                <a:chOff x="2573606" y="2472321"/>
                <a:chExt cx="1580596" cy="1084754"/>
              </a:xfrm>
            </p:grpSpPr>
            <p:sp>
              <p:nvSpPr>
                <p:cNvPr id="3503" name="矩形: 圆角 3502">
                  <a:extLst>
                    <a:ext uri="{FF2B5EF4-FFF2-40B4-BE49-F238E27FC236}">
                      <a16:creationId xmlns:a16="http://schemas.microsoft.com/office/drawing/2014/main" id="{ABEE0D30-1F1A-D365-B07C-D8F5BD67C3BE}"/>
                    </a:ext>
                  </a:extLst>
                </p:cNvPr>
                <p:cNvSpPr/>
                <p:nvPr/>
              </p:nvSpPr>
              <p:spPr>
                <a:xfrm>
                  <a:off x="2573606" y="2472321"/>
                  <a:ext cx="1580596" cy="1084754"/>
                </a:xfrm>
                <a:prstGeom prst="roundRect">
                  <a:avLst>
                    <a:gd name="adj" fmla="val 10158"/>
                  </a:avLst>
                </a:prstGeom>
                <a:noFill/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  <a:sym typeface="+mn-lt"/>
                  </a:endParaRPr>
                </a:p>
              </p:txBody>
            </p:sp>
            <p:sp>
              <p:nvSpPr>
                <p:cNvPr id="3507" name="矩形: 圆角 3506">
                  <a:extLst>
                    <a:ext uri="{FF2B5EF4-FFF2-40B4-BE49-F238E27FC236}">
                      <a16:creationId xmlns:a16="http://schemas.microsoft.com/office/drawing/2014/main" id="{10130EC9-5E74-D7C0-260C-DB8B9F4682E8}"/>
                    </a:ext>
                  </a:extLst>
                </p:cNvPr>
                <p:cNvSpPr/>
                <p:nvPr/>
              </p:nvSpPr>
              <p:spPr>
                <a:xfrm>
                  <a:off x="2773429" y="3176554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509" name="矩形: 圆角 3508">
                  <a:extLst>
                    <a:ext uri="{FF2B5EF4-FFF2-40B4-BE49-F238E27FC236}">
                      <a16:creationId xmlns:a16="http://schemas.microsoft.com/office/drawing/2014/main" id="{AC446673-1082-C15B-9C1D-50B3101FF03A}"/>
                    </a:ext>
                  </a:extLst>
                </p:cNvPr>
                <p:cNvSpPr/>
                <p:nvPr/>
              </p:nvSpPr>
              <p:spPr>
                <a:xfrm>
                  <a:off x="2773429" y="2844115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492" name="组合 3491">
                <a:extLst>
                  <a:ext uri="{FF2B5EF4-FFF2-40B4-BE49-F238E27FC236}">
                    <a16:creationId xmlns:a16="http://schemas.microsoft.com/office/drawing/2014/main" id="{AB362256-262D-A0A6-3EE6-52B99D66B06A}"/>
                  </a:ext>
                </a:extLst>
              </p:cNvPr>
              <p:cNvGrpSpPr/>
              <p:nvPr/>
            </p:nvGrpSpPr>
            <p:grpSpPr>
              <a:xfrm>
                <a:off x="7051474" y="4681821"/>
                <a:ext cx="978034" cy="999716"/>
                <a:chOff x="1631169" y="2936792"/>
                <a:chExt cx="978034" cy="999716"/>
              </a:xfrm>
            </p:grpSpPr>
            <p:grpSp>
              <p:nvGrpSpPr>
                <p:cNvPr id="3498" name="组合 3497">
                  <a:extLst>
                    <a:ext uri="{FF2B5EF4-FFF2-40B4-BE49-F238E27FC236}">
                      <a16:creationId xmlns:a16="http://schemas.microsoft.com/office/drawing/2014/main" id="{EC55BE38-A859-9B5C-A99E-6C8BA5685ABB}"/>
                    </a:ext>
                  </a:extLst>
                </p:cNvPr>
                <p:cNvGrpSpPr/>
                <p:nvPr/>
              </p:nvGrpSpPr>
              <p:grpSpPr>
                <a:xfrm>
                  <a:off x="1631169" y="2936792"/>
                  <a:ext cx="978034" cy="999716"/>
                  <a:chOff x="1764426" y="3171915"/>
                  <a:chExt cx="1256271" cy="1284122"/>
                </a:xfrm>
              </p:grpSpPr>
              <p:sp>
                <p:nvSpPr>
                  <p:cNvPr id="3501" name="矩形: 圆角 3500">
                    <a:extLst>
                      <a:ext uri="{FF2B5EF4-FFF2-40B4-BE49-F238E27FC236}">
                        <a16:creationId xmlns:a16="http://schemas.microsoft.com/office/drawing/2014/main" id="{EE7C1BCA-F5DE-6EAA-9469-08BDF0DFBA5F}"/>
                      </a:ext>
                    </a:extLst>
                  </p:cNvPr>
                  <p:cNvSpPr/>
                  <p:nvPr/>
                </p:nvSpPr>
                <p:spPr>
                  <a:xfrm>
                    <a:off x="2840583" y="3385373"/>
                    <a:ext cx="86614" cy="1070664"/>
                  </a:xfrm>
                  <a:prstGeom prst="round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600" dirty="0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02" name="文本框 3501">
                    <a:extLst>
                      <a:ext uri="{FF2B5EF4-FFF2-40B4-BE49-F238E27FC236}">
                        <a16:creationId xmlns:a16="http://schemas.microsoft.com/office/drawing/2014/main" id="{E1A00E15-8882-FC75-C156-7DE4FE801D9E}"/>
                      </a:ext>
                    </a:extLst>
                  </p:cNvPr>
                  <p:cNvSpPr txBox="1"/>
                  <p:nvPr/>
                </p:nvSpPr>
                <p:spPr>
                  <a:xfrm>
                    <a:off x="1764426" y="3171915"/>
                    <a:ext cx="1256271" cy="328256"/>
                  </a:xfrm>
                  <a:prstGeom prst="rect">
                    <a:avLst/>
                  </a:prstGeom>
                  <a:ln w="6350">
                    <a:noFill/>
                    <a:miter lim="800000"/>
                  </a:ln>
                </p:spPr>
                <p:txBody>
                  <a:bodyPr vert="horz" wrap="square" lIns="0" tIns="0" rIns="0" bIns="0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kumimoji="1" lang="en-US" altLang="zh-CN" sz="1400" dirty="0" err="1">
                        <a:solidFill>
                          <a:schemeClr val="accent5"/>
                        </a:solidFill>
                        <a:cs typeface="+mn-ea"/>
                        <a:sym typeface="+mn-lt"/>
                      </a:rPr>
                      <a:t>NVLink</a:t>
                    </a:r>
                    <a:endParaRPr kumimoji="1" lang="en-US" altLang="zh-CN" sz="1400" dirty="0">
                      <a:solidFill>
                        <a:schemeClr val="accent5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3499" name="椭圆 3498">
                  <a:extLst>
                    <a:ext uri="{FF2B5EF4-FFF2-40B4-BE49-F238E27FC236}">
                      <a16:creationId xmlns:a16="http://schemas.microsoft.com/office/drawing/2014/main" id="{127D37CC-7C21-2349-F234-3552526C7274}"/>
                    </a:ext>
                  </a:extLst>
                </p:cNvPr>
                <p:cNvSpPr/>
                <p:nvPr/>
              </p:nvSpPr>
              <p:spPr>
                <a:xfrm>
                  <a:off x="2455467" y="3717568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3500" name="椭圆 3499">
                  <a:extLst>
                    <a:ext uri="{FF2B5EF4-FFF2-40B4-BE49-F238E27FC236}">
                      <a16:creationId xmlns:a16="http://schemas.microsoft.com/office/drawing/2014/main" id="{48761E0C-94EB-3B01-AE40-AE3011AF5A1B}"/>
                    </a:ext>
                  </a:extLst>
                </p:cNvPr>
                <p:cNvSpPr/>
                <p:nvPr/>
              </p:nvSpPr>
              <p:spPr>
                <a:xfrm>
                  <a:off x="2455466" y="3232072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3493" name="直接连接符 3492">
                <a:extLst>
                  <a:ext uri="{FF2B5EF4-FFF2-40B4-BE49-F238E27FC236}">
                    <a16:creationId xmlns:a16="http://schemas.microsoft.com/office/drawing/2014/main" id="{FF7762E2-A283-96C3-DF4D-8646C66B8B07}"/>
                  </a:ext>
                </a:extLst>
              </p:cNvPr>
              <p:cNvCxnSpPr>
                <a:cxnSpLocks/>
                <a:stCxn id="3507" idx="3"/>
                <a:endCxn id="3499" idx="2"/>
              </p:cNvCxnSpPr>
              <p:nvPr/>
            </p:nvCxnSpPr>
            <p:spPr>
              <a:xfrm>
                <a:off x="7586724" y="5462877"/>
                <a:ext cx="289048" cy="45966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4" name="直接连接符 3493">
                <a:extLst>
                  <a:ext uri="{FF2B5EF4-FFF2-40B4-BE49-F238E27FC236}">
                    <a16:creationId xmlns:a16="http://schemas.microsoft.com/office/drawing/2014/main" id="{1D5C805B-FAEB-B6F0-BF50-5AFFEF0D0675}"/>
                  </a:ext>
                </a:extLst>
              </p:cNvPr>
              <p:cNvCxnSpPr>
                <a:cxnSpLocks/>
                <a:stCxn id="3509" idx="3"/>
                <a:endCxn id="3499" idx="2"/>
              </p:cNvCxnSpPr>
              <p:nvPr/>
            </p:nvCxnSpPr>
            <p:spPr>
              <a:xfrm>
                <a:off x="7586724" y="5128864"/>
                <a:ext cx="289048" cy="379979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5" name="直接连接符 3494">
                <a:extLst>
                  <a:ext uri="{FF2B5EF4-FFF2-40B4-BE49-F238E27FC236}">
                    <a16:creationId xmlns:a16="http://schemas.microsoft.com/office/drawing/2014/main" id="{F6611276-8E09-2551-EF01-0382E8B00EEA}"/>
                  </a:ext>
                </a:extLst>
              </p:cNvPr>
              <p:cNvCxnSpPr>
                <a:cxnSpLocks/>
                <a:stCxn id="3507" idx="3"/>
                <a:endCxn id="3500" idx="2"/>
              </p:cNvCxnSpPr>
              <p:nvPr/>
            </p:nvCxnSpPr>
            <p:spPr>
              <a:xfrm flipV="1">
                <a:off x="7586724" y="5023347"/>
                <a:ext cx="289047" cy="439530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6" name="直接连接符 3495">
                <a:extLst>
                  <a:ext uri="{FF2B5EF4-FFF2-40B4-BE49-F238E27FC236}">
                    <a16:creationId xmlns:a16="http://schemas.microsoft.com/office/drawing/2014/main" id="{B50BCF7C-0F6A-1369-F0C0-D51FA490A9C0}"/>
                  </a:ext>
                </a:extLst>
              </p:cNvPr>
              <p:cNvCxnSpPr>
                <a:cxnSpLocks/>
                <a:stCxn id="3509" idx="3"/>
                <a:endCxn id="3500" idx="2"/>
              </p:cNvCxnSpPr>
              <p:nvPr/>
            </p:nvCxnSpPr>
            <p:spPr>
              <a:xfrm flipV="1">
                <a:off x="7586724" y="5023347"/>
                <a:ext cx="289047" cy="105517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10" name="椭圆 3509">
              <a:extLst>
                <a:ext uri="{FF2B5EF4-FFF2-40B4-BE49-F238E27FC236}">
                  <a16:creationId xmlns:a16="http://schemas.microsoft.com/office/drawing/2014/main" id="{39A6A9F3-D4A6-94A0-375A-DEA75A340B9F}"/>
                </a:ext>
              </a:extLst>
            </p:cNvPr>
            <p:cNvSpPr/>
            <p:nvPr/>
          </p:nvSpPr>
          <p:spPr>
            <a:xfrm>
              <a:off x="10731277" y="4268361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sp>
        <p:nvSpPr>
          <p:cNvPr id="3512" name="文本框 3511">
            <a:extLst>
              <a:ext uri="{FF2B5EF4-FFF2-40B4-BE49-F238E27FC236}">
                <a16:creationId xmlns:a16="http://schemas.microsoft.com/office/drawing/2014/main" id="{21D4E1C6-A7AD-0B1B-3DA7-3603D84666F2}"/>
              </a:ext>
            </a:extLst>
          </p:cNvPr>
          <p:cNvSpPr txBox="1"/>
          <p:nvPr/>
        </p:nvSpPr>
        <p:spPr>
          <a:xfrm rot="5400000">
            <a:off x="11187136" y="3471868"/>
            <a:ext cx="97803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accent5"/>
                </a:solidFill>
                <a:cs typeface="+mn-ea"/>
                <a:sym typeface="+mn-lt"/>
              </a:rPr>
              <a:t>CPO </a:t>
            </a:r>
            <a:r>
              <a:rPr kumimoji="1" lang="en-US" altLang="zh-CN" sz="1400" dirty="0" err="1">
                <a:solidFill>
                  <a:schemeClr val="accent5"/>
                </a:solidFill>
                <a:cs typeface="+mn-ea"/>
                <a:sym typeface="+mn-lt"/>
              </a:rPr>
              <a:t>Swtich</a:t>
            </a:r>
            <a:endParaRPr kumimoji="1" lang="en-US" altLang="zh-CN" sz="1400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grpSp>
        <p:nvGrpSpPr>
          <p:cNvPr id="3078" name="组合 3077">
            <a:extLst>
              <a:ext uri="{FF2B5EF4-FFF2-40B4-BE49-F238E27FC236}">
                <a16:creationId xmlns:a16="http://schemas.microsoft.com/office/drawing/2014/main" id="{55CDC5CC-EB14-38DB-D29A-6C909D1C4E36}"/>
              </a:ext>
            </a:extLst>
          </p:cNvPr>
          <p:cNvGrpSpPr/>
          <p:nvPr/>
        </p:nvGrpSpPr>
        <p:grpSpPr>
          <a:xfrm>
            <a:off x="11293879" y="3228367"/>
            <a:ext cx="93877" cy="833534"/>
            <a:chOff x="11556461" y="3241372"/>
            <a:chExt cx="93877" cy="833534"/>
          </a:xfrm>
        </p:grpSpPr>
        <p:sp>
          <p:nvSpPr>
            <p:cNvPr id="3511" name="矩形: 圆角 3510">
              <a:extLst>
                <a:ext uri="{FF2B5EF4-FFF2-40B4-BE49-F238E27FC236}">
                  <a16:creationId xmlns:a16="http://schemas.microsoft.com/office/drawing/2014/main" id="{EDBBC228-752E-ECEB-B395-B84A2961D72F}"/>
                </a:ext>
              </a:extLst>
            </p:cNvPr>
            <p:cNvSpPr/>
            <p:nvPr/>
          </p:nvSpPr>
          <p:spPr>
            <a:xfrm rot="10800000">
              <a:off x="11568992" y="3241372"/>
              <a:ext cx="67431" cy="83353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cs typeface="+mn-ea"/>
                <a:sym typeface="+mn-lt"/>
              </a:endParaRPr>
            </a:p>
          </p:txBody>
        </p:sp>
        <p:sp>
          <p:nvSpPr>
            <p:cNvPr id="3513" name="椭圆 3512">
              <a:extLst>
                <a:ext uri="{FF2B5EF4-FFF2-40B4-BE49-F238E27FC236}">
                  <a16:creationId xmlns:a16="http://schemas.microsoft.com/office/drawing/2014/main" id="{F68758A1-EE41-C2FC-C77B-2ACA85279F2F}"/>
                </a:ext>
              </a:extLst>
            </p:cNvPr>
            <p:cNvSpPr/>
            <p:nvPr/>
          </p:nvSpPr>
          <p:spPr>
            <a:xfrm>
              <a:off x="11557847" y="3459733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514" name="椭圆 3513">
              <a:extLst>
                <a:ext uri="{FF2B5EF4-FFF2-40B4-BE49-F238E27FC236}">
                  <a16:creationId xmlns:a16="http://schemas.microsoft.com/office/drawing/2014/main" id="{BC54A4FD-0FE7-F700-06CE-B3AD24A7090B}"/>
                </a:ext>
              </a:extLst>
            </p:cNvPr>
            <p:cNvSpPr/>
            <p:nvPr/>
          </p:nvSpPr>
          <p:spPr>
            <a:xfrm>
              <a:off x="11556461" y="3762794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516" name="连接符: 肘形 3515">
            <a:extLst>
              <a:ext uri="{FF2B5EF4-FFF2-40B4-BE49-F238E27FC236}">
                <a16:creationId xmlns:a16="http://schemas.microsoft.com/office/drawing/2014/main" id="{4E796503-7735-7FCD-3914-0A0953BCFF90}"/>
              </a:ext>
            </a:extLst>
          </p:cNvPr>
          <p:cNvCxnSpPr>
            <a:cxnSpLocks/>
            <a:stCxn id="3471" idx="6"/>
            <a:endCxn id="3513" idx="2"/>
          </p:cNvCxnSpPr>
          <p:nvPr/>
        </p:nvCxnSpPr>
        <p:spPr>
          <a:xfrm>
            <a:off x="10823075" y="2950498"/>
            <a:ext cx="472190" cy="542476"/>
          </a:xfrm>
          <a:prstGeom prst="bentConnector3">
            <a:avLst>
              <a:gd name="adj1" fmla="val 71517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9" name="连接符: 肘形 3518">
            <a:extLst>
              <a:ext uri="{FF2B5EF4-FFF2-40B4-BE49-F238E27FC236}">
                <a16:creationId xmlns:a16="http://schemas.microsoft.com/office/drawing/2014/main" id="{516761EB-0393-E5FA-8357-B7741A7B37D5}"/>
              </a:ext>
            </a:extLst>
          </p:cNvPr>
          <p:cNvCxnSpPr>
            <a:cxnSpLocks/>
            <a:stCxn id="3510" idx="6"/>
            <a:endCxn id="3514" idx="2"/>
          </p:cNvCxnSpPr>
          <p:nvPr/>
        </p:nvCxnSpPr>
        <p:spPr>
          <a:xfrm flipV="1">
            <a:off x="10823768" y="3796035"/>
            <a:ext cx="470111" cy="518572"/>
          </a:xfrm>
          <a:prstGeom prst="bentConnector3">
            <a:avLst>
              <a:gd name="adj1" fmla="val 71612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86" name="图片 3085" descr="图形用户界面&#10;&#10;AI 生成的内容可能不正确。">
            <a:extLst>
              <a:ext uri="{FF2B5EF4-FFF2-40B4-BE49-F238E27FC236}">
                <a16:creationId xmlns:a16="http://schemas.microsoft.com/office/drawing/2014/main" id="{AB869D2F-8EA5-F1E7-E09D-7FFE5491EFB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209" b="95159" l="78" r="94264">
                        <a14:foregroundMark x1="7674" y1="38961" x2="7132" y2="60567"/>
                        <a14:foregroundMark x1="4651" y1="39551" x2="4419" y2="59976"/>
                        <a14:foregroundMark x1="155" y1="65525" x2="5194" y2="63636"/>
                        <a14:foregroundMark x1="10672" y1="85600" x2="10698" y2="86423"/>
                        <a14:foregroundMark x1="10620" y1="83943" x2="10672" y2="85600"/>
                        <a14:foregroundMark x1="543" y1="87249" x2="543" y2="87249"/>
                        <a14:foregroundMark x1="155" y1="86659" x2="155" y2="87013"/>
                        <a14:foregroundMark x1="9443" y1="84531" x2="9922" y2="84416"/>
                        <a14:foregroundMark x1="31842" y1="90916" x2="33876" y2="91972"/>
                        <a14:foregroundMark x1="20465" y1="85006" x2="27617" y2="88721"/>
                        <a14:foregroundMark x1="33876" y1="91972" x2="41628" y2="90083"/>
                        <a14:foregroundMark x1="41628" y1="90083" x2="42558" y2="89374"/>
                        <a14:foregroundMark x1="27545" y1="88521" x2="24806" y2="88076"/>
                        <a14:foregroundMark x1="32791" y1="89374" x2="31197" y2="89115"/>
                        <a14:foregroundMark x1="24806" y1="88076" x2="22713" y2="84179"/>
                        <a14:foregroundMark x1="16405" y1="89333" x2="16434" y2="89965"/>
                        <a14:foregroundMark x1="16345" y1="88000" x2="16405" y2="89333"/>
                        <a14:foregroundMark x1="16279" y1="86541" x2="16345" y2="88000"/>
                        <a14:foregroundMark x1="12359" y1="83476" x2="15426" y2="82999"/>
                        <a14:foregroundMark x1="11628" y1="83589" x2="11901" y2="83547"/>
                        <a14:foregroundMark x1="47236" y1="80829" x2="50000" y2="85596"/>
                        <a14:foregroundMark x1="43566" y1="74498" x2="44825" y2="76670"/>
                        <a14:foregroundMark x1="51850" y1="79309" x2="52326" y2="80047"/>
                        <a14:foregroundMark x1="48140" y1="73554" x2="48592" y2="74255"/>
                        <a14:foregroundMark x1="90465" y1="65171" x2="88140" y2="72609"/>
                        <a14:foregroundMark x1="88140" y1="72609" x2="86899" y2="73436"/>
                        <a14:foregroundMark x1="59073" y1="70145" x2="58450" y2="68713"/>
                        <a14:foregroundMark x1="62403" y1="77804" x2="61257" y2="75169"/>
                        <a14:foregroundMark x1="66822" y1="80992" x2="66822" y2="82645"/>
                        <a14:foregroundMark x1="77519" y1="78512" x2="77519" y2="78512"/>
                        <a14:foregroundMark x1="89767" y1="74498" x2="89767" y2="74498"/>
                        <a14:foregroundMark x1="94341" y1="70366" x2="94341" y2="70366"/>
                        <a14:foregroundMark x1="38915" y1="92326" x2="38915" y2="92326"/>
                        <a14:foregroundMark x1="32093" y1="95159" x2="32093" y2="95159"/>
                        <a14:foregroundMark x1="48527" y1="89256" x2="48527" y2="89256"/>
                        <a14:foregroundMark x1="38527" y1="93388" x2="38527" y2="93388"/>
                        <a14:foregroundMark x1="22248" y1="92562" x2="22248" y2="92562"/>
                        <a14:foregroundMark x1="5604" y1="84267" x2="350" y2="85067"/>
                        <a14:foregroundMark x1="51138" y1="74133" x2="51138" y2="74133"/>
                        <a14:foregroundMark x1="59194" y1="72533" x2="59194" y2="72533"/>
                        <a14:foregroundMark x1="45884" y1="78933" x2="45884" y2="78933"/>
                        <a14:backgroundMark x1="30078" y1="63518" x2="32713" y2="70366"/>
                        <a14:backgroundMark x1="24651" y1="56553" x2="29922" y2="63754"/>
                        <a14:backgroundMark x1="29922" y1="63754" x2="30078" y2="64227"/>
                        <a14:backgroundMark x1="28062" y1="89020" x2="30000" y2="89256"/>
                        <a14:backgroundMark x1="34186" y1="87249" x2="34031" y2="86068"/>
                        <a14:backgroundMark x1="31163" y1="89020" x2="27132" y2="87367"/>
                        <a14:backgroundMark x1="47013" y1="78933" x2="47752" y2="80283"/>
                        <a14:backgroundMark x1="45426" y1="76033" x2="47013" y2="78933"/>
                        <a14:backgroundMark x1="49799" y1="78933" x2="50155" y2="79457"/>
                        <a14:backgroundMark x1="47829" y1="76033" x2="49799" y2="78933"/>
                        <a14:backgroundMark x1="51318" y1="75443" x2="52713" y2="78512"/>
                        <a14:backgroundMark x1="48372" y1="74498" x2="50775" y2="78630"/>
                        <a14:backgroundMark x1="9380" y1="68241" x2="9767" y2="72019"/>
                        <a14:backgroundMark x1="52014" y1="80800" x2="52014" y2="80800"/>
                        <a14:backgroundMark x1="60595" y1="73867" x2="60595" y2="73867"/>
                        <a14:backgroundMark x1="61296" y1="74400" x2="61296" y2="74400"/>
                        <a14:backgroundMark x1="59720" y1="72267" x2="59720" y2="72267"/>
                        <a14:backgroundMark x1="60058" y1="72533" x2="61646" y2="74667"/>
                        <a14:backgroundMark x1="58669" y1="70667" x2="60058" y2="72533"/>
                        <a14:backgroundMark x1="9282" y1="85600" x2="9282" y2="85600"/>
                        <a14:backgroundMark x1="9807" y1="85333" x2="7005" y2="85867"/>
                        <a14:backgroundMark x1="7180" y1="85600" x2="6236" y2="85682"/>
                        <a14:backgroundMark x1="9457" y1="85600" x2="9982" y2="85600"/>
                        <a14:backgroundMark x1="11559" y1="84533" x2="12084" y2="84267"/>
                        <a14:backgroundMark x1="16637" y1="89333" x2="16637" y2="89333"/>
                        <a14:backgroundMark x1="15762" y1="88000" x2="15762" y2="88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3382" y="4673937"/>
            <a:ext cx="2371347" cy="1557001"/>
          </a:xfrm>
          <a:prstGeom prst="rect">
            <a:avLst/>
          </a:prstGeom>
        </p:spPr>
      </p:pic>
      <p:sp>
        <p:nvSpPr>
          <p:cNvPr id="3087" name="文本框 3086">
            <a:extLst>
              <a:ext uri="{FF2B5EF4-FFF2-40B4-BE49-F238E27FC236}">
                <a16:creationId xmlns:a16="http://schemas.microsoft.com/office/drawing/2014/main" id="{F6E28845-37FF-8EC5-B366-64A323F417F9}"/>
              </a:ext>
            </a:extLst>
          </p:cNvPr>
          <p:cNvSpPr txBox="1"/>
          <p:nvPr/>
        </p:nvSpPr>
        <p:spPr>
          <a:xfrm>
            <a:off x="9205085" y="5155493"/>
            <a:ext cx="225404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</a:t>
            </a:r>
            <a:r>
              <a:rPr kumimoji="1" lang="en-US" altLang="zh-CN" sz="1400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SuperPod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NVL 576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089" name="文本框 3088">
            <a:extLst>
              <a:ext uri="{FF2B5EF4-FFF2-40B4-BE49-F238E27FC236}">
                <a16:creationId xmlns:a16="http://schemas.microsoft.com/office/drawing/2014/main" id="{7460BAC1-6691-7D84-177E-0F4F7CB50DDD}"/>
              </a:ext>
            </a:extLst>
          </p:cNvPr>
          <p:cNvSpPr txBox="1"/>
          <p:nvPr/>
        </p:nvSpPr>
        <p:spPr>
          <a:xfrm>
            <a:off x="9385847" y="5615214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NVL72 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8</a:t>
            </a:r>
          </a:p>
        </p:txBody>
      </p:sp>
      <p:sp>
        <p:nvSpPr>
          <p:cNvPr id="3090" name="文本框 3089">
            <a:extLst>
              <a:ext uri="{FF2B5EF4-FFF2-40B4-BE49-F238E27FC236}">
                <a16:creationId xmlns:a16="http://schemas.microsoft.com/office/drawing/2014/main" id="{E592F033-6F69-A940-A2A5-C49D8F7A1808}"/>
              </a:ext>
            </a:extLst>
          </p:cNvPr>
          <p:cNvSpPr txBox="1"/>
          <p:nvPr/>
        </p:nvSpPr>
        <p:spPr>
          <a:xfrm>
            <a:off x="298577" y="6334673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</a:t>
            </a:r>
          </a:p>
        </p:txBody>
      </p:sp>
    </p:spTree>
    <p:extLst>
      <p:ext uri="{BB962C8B-B14F-4D97-AF65-F5344CB8AC3E}">
        <p14:creationId xmlns:p14="http://schemas.microsoft.com/office/powerpoint/2010/main" val="947821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9187D-0497-D405-6A5F-44F0FEB66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355E215-8BAB-2E41-0118-7D65F37E295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640557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1FC24B-9E23-FCA0-83AB-7138FD1C3D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67" name="矩形: 圆角 3366">
            <a:extLst>
              <a:ext uri="{FF2B5EF4-FFF2-40B4-BE49-F238E27FC236}">
                <a16:creationId xmlns:a16="http://schemas.microsoft.com/office/drawing/2014/main" id="{FEC555CB-841C-8461-0B14-A28C4B4CBE45}"/>
              </a:ext>
            </a:extLst>
          </p:cNvPr>
          <p:cNvSpPr/>
          <p:nvPr/>
        </p:nvSpPr>
        <p:spPr>
          <a:xfrm>
            <a:off x="9244945" y="6032021"/>
            <a:ext cx="1893162" cy="6804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>
              <a:cs typeface="+mn-ea"/>
              <a:sym typeface="+mn-lt"/>
            </a:endParaRPr>
          </a:p>
        </p:txBody>
      </p:sp>
      <p:sp>
        <p:nvSpPr>
          <p:cNvPr id="3354" name="矩形: 圆角 3353">
            <a:extLst>
              <a:ext uri="{FF2B5EF4-FFF2-40B4-BE49-F238E27FC236}">
                <a16:creationId xmlns:a16="http://schemas.microsoft.com/office/drawing/2014/main" id="{785C745C-8643-F4AA-C3F3-32A74CE74714}"/>
              </a:ext>
            </a:extLst>
          </p:cNvPr>
          <p:cNvSpPr/>
          <p:nvPr/>
        </p:nvSpPr>
        <p:spPr>
          <a:xfrm>
            <a:off x="6282770" y="6036783"/>
            <a:ext cx="2010823" cy="7384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>
              <a:cs typeface="+mn-ea"/>
              <a:sym typeface="+mn-lt"/>
            </a:endParaRPr>
          </a:p>
        </p:txBody>
      </p:sp>
      <p:sp>
        <p:nvSpPr>
          <p:cNvPr id="3316" name="文本框 3315">
            <a:extLst>
              <a:ext uri="{FF2B5EF4-FFF2-40B4-BE49-F238E27FC236}">
                <a16:creationId xmlns:a16="http://schemas.microsoft.com/office/drawing/2014/main" id="{19B9F07C-90D7-3446-01A3-D8FEDA787683}"/>
              </a:ext>
            </a:extLst>
          </p:cNvPr>
          <p:cNvSpPr txBox="1"/>
          <p:nvPr/>
        </p:nvSpPr>
        <p:spPr>
          <a:xfrm>
            <a:off x="8091751" y="5605104"/>
            <a:ext cx="18753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cs typeface="+mn-ea"/>
                <a:sym typeface="+mn-lt"/>
              </a:rPr>
              <a:t>4x</a:t>
            </a:r>
            <a:r>
              <a:rPr lang="zh-CN" altLang="en-US" sz="1200" dirty="0">
                <a:cs typeface="+mn-ea"/>
                <a:sym typeface="+mn-lt"/>
              </a:rPr>
              <a:t>通道并行</a:t>
            </a:r>
          </a:p>
        </p:txBody>
      </p:sp>
      <p:sp>
        <p:nvSpPr>
          <p:cNvPr id="3304" name="矩形: 圆角 3303">
            <a:extLst>
              <a:ext uri="{FF2B5EF4-FFF2-40B4-BE49-F238E27FC236}">
                <a16:creationId xmlns:a16="http://schemas.microsoft.com/office/drawing/2014/main" id="{0249785F-2827-6981-A6AA-79564BF16CEF}"/>
              </a:ext>
            </a:extLst>
          </p:cNvPr>
          <p:cNvSpPr/>
          <p:nvPr/>
        </p:nvSpPr>
        <p:spPr>
          <a:xfrm>
            <a:off x="6282770" y="6117488"/>
            <a:ext cx="2698004" cy="140764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>
              <a:cs typeface="+mn-ea"/>
              <a:sym typeface="+mn-lt"/>
            </a:endParaRPr>
          </a:p>
        </p:txBody>
      </p:sp>
      <p:cxnSp>
        <p:nvCxnSpPr>
          <p:cNvPr id="1048" name="连接符: 肘形 1047">
            <a:extLst>
              <a:ext uri="{FF2B5EF4-FFF2-40B4-BE49-F238E27FC236}">
                <a16:creationId xmlns:a16="http://schemas.microsoft.com/office/drawing/2014/main" id="{B0503867-EAC0-164B-4024-09EE26E2A602}"/>
              </a:ext>
            </a:extLst>
          </p:cNvPr>
          <p:cNvCxnSpPr>
            <a:cxnSpLocks/>
            <a:stCxn id="3324" idx="2"/>
            <a:endCxn id="3312" idx="2"/>
          </p:cNvCxnSpPr>
          <p:nvPr/>
        </p:nvCxnSpPr>
        <p:spPr>
          <a:xfrm rot="16200000" flipH="1">
            <a:off x="8084900" y="5495522"/>
            <a:ext cx="366449" cy="870622"/>
          </a:xfrm>
          <a:prstGeom prst="bentConnector3">
            <a:avLst>
              <a:gd name="adj1" fmla="val 125559"/>
            </a:avLst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2" name="连接符: 肘形 1041">
            <a:extLst>
              <a:ext uri="{FF2B5EF4-FFF2-40B4-BE49-F238E27FC236}">
                <a16:creationId xmlns:a16="http://schemas.microsoft.com/office/drawing/2014/main" id="{D11C4EC5-649F-AB56-5530-B96016A311F1}"/>
              </a:ext>
            </a:extLst>
          </p:cNvPr>
          <p:cNvCxnSpPr>
            <a:cxnSpLocks/>
            <a:stCxn id="3322" idx="2"/>
            <a:endCxn id="3312" idx="2"/>
          </p:cNvCxnSpPr>
          <p:nvPr/>
        </p:nvCxnSpPr>
        <p:spPr>
          <a:xfrm rot="16200000" flipH="1">
            <a:off x="7803823" y="5214446"/>
            <a:ext cx="351634" cy="1447589"/>
          </a:xfrm>
          <a:prstGeom prst="bentConnector3">
            <a:avLst>
              <a:gd name="adj1" fmla="val 126185"/>
            </a:avLst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id="{32409746-8D5F-E604-870C-3107F5BD9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国内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Scale Up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受限于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GPU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带宽限制，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优先落地于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Scale Up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B4F535C-2B80-4222-0EFA-97C524269EB8}"/>
              </a:ext>
            </a:extLst>
          </p:cNvPr>
          <p:cNvSpPr txBox="1"/>
          <p:nvPr/>
        </p:nvSpPr>
        <p:spPr>
          <a:xfrm>
            <a:off x="12366780" y="1027912"/>
            <a:ext cx="5222875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Serdes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速率限制</a:t>
            </a: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场景，海外优先</a:t>
            </a: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Out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，国内优先</a:t>
            </a: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Up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141" name="矩形 3140">
            <a:extLst>
              <a:ext uri="{FF2B5EF4-FFF2-40B4-BE49-F238E27FC236}">
                <a16:creationId xmlns:a16="http://schemas.microsoft.com/office/drawing/2014/main" id="{272CC209-9CC9-1F05-1D4B-5EE24381A2AA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59CA1BE-BA21-140B-C552-76B73AE4D2A9}"/>
              </a:ext>
            </a:extLst>
          </p:cNvPr>
          <p:cNvSpPr txBox="1"/>
          <p:nvPr/>
        </p:nvSpPr>
        <p:spPr>
          <a:xfrm>
            <a:off x="6098321" y="2503120"/>
            <a:ext cx="5364362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海外：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CPO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优先落地于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Scale Out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Scale Up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不急迫。因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Serdes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速率不断提升，目前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4nm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下可实现单向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224Gbps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，不断压榨铜互连速率、距离极限 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219" name="文本框 3218">
            <a:extLst>
              <a:ext uri="{FF2B5EF4-FFF2-40B4-BE49-F238E27FC236}">
                <a16:creationId xmlns:a16="http://schemas.microsoft.com/office/drawing/2014/main" id="{08B09CF2-91CC-2DE7-C41C-E9E2ADA89D31}"/>
              </a:ext>
            </a:extLst>
          </p:cNvPr>
          <p:cNvSpPr txBox="1"/>
          <p:nvPr/>
        </p:nvSpPr>
        <p:spPr>
          <a:xfrm>
            <a:off x="6143128" y="4417827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国内：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优先落地于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Scale Up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。受限于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7nm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制程与进口限制，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Serdes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速率仅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56Gbps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，为达到同等速率需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4x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通道并行（物理上难以实现）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240" name="文本框 3239">
            <a:extLst>
              <a:ext uri="{FF2B5EF4-FFF2-40B4-BE49-F238E27FC236}">
                <a16:creationId xmlns:a16="http://schemas.microsoft.com/office/drawing/2014/main" id="{853EB270-BDD3-230F-11F4-5323284109AA}"/>
              </a:ext>
            </a:extLst>
          </p:cNvPr>
          <p:cNvSpPr txBox="1"/>
          <p:nvPr/>
        </p:nvSpPr>
        <p:spPr>
          <a:xfrm>
            <a:off x="639776" y="1617193"/>
            <a:ext cx="5364362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zh-CN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01" name="矩形: 圆角 3300">
            <a:extLst>
              <a:ext uri="{FF2B5EF4-FFF2-40B4-BE49-F238E27FC236}">
                <a16:creationId xmlns:a16="http://schemas.microsoft.com/office/drawing/2014/main" id="{1774F939-D683-C4AD-62BC-0CDE765984A3}"/>
              </a:ext>
            </a:extLst>
          </p:cNvPr>
          <p:cNvSpPr/>
          <p:nvPr/>
        </p:nvSpPr>
        <p:spPr>
          <a:xfrm rot="5400000">
            <a:off x="6940571" y="4824857"/>
            <a:ext cx="530537" cy="1877250"/>
          </a:xfrm>
          <a:prstGeom prst="round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>
              <a:cs typeface="+mn-ea"/>
              <a:sym typeface="+mn-lt"/>
            </a:endParaRPr>
          </a:p>
        </p:txBody>
      </p:sp>
      <p:sp>
        <p:nvSpPr>
          <p:cNvPr id="3302" name="矩形: 圆角 3301">
            <a:extLst>
              <a:ext uri="{FF2B5EF4-FFF2-40B4-BE49-F238E27FC236}">
                <a16:creationId xmlns:a16="http://schemas.microsoft.com/office/drawing/2014/main" id="{070A0050-549A-7BA1-4B7F-8537DE2DF12B}"/>
              </a:ext>
            </a:extLst>
          </p:cNvPr>
          <p:cNvSpPr/>
          <p:nvPr/>
        </p:nvSpPr>
        <p:spPr>
          <a:xfrm>
            <a:off x="6355484" y="5565187"/>
            <a:ext cx="513394" cy="427157"/>
          </a:xfrm>
          <a:prstGeom prst="roundRe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bg1"/>
                </a:solidFill>
                <a:cs typeface="+mn-ea"/>
                <a:sym typeface="+mn-lt"/>
              </a:rPr>
              <a:t>主控</a:t>
            </a:r>
          </a:p>
        </p:txBody>
      </p:sp>
      <p:sp>
        <p:nvSpPr>
          <p:cNvPr id="3305" name="矩形: 圆角 3304">
            <a:extLst>
              <a:ext uri="{FF2B5EF4-FFF2-40B4-BE49-F238E27FC236}">
                <a16:creationId xmlns:a16="http://schemas.microsoft.com/office/drawing/2014/main" id="{D2CB0011-7AAB-5BD0-05DF-E5DF92B8CDA3}"/>
              </a:ext>
            </a:extLst>
          </p:cNvPr>
          <p:cNvSpPr/>
          <p:nvPr/>
        </p:nvSpPr>
        <p:spPr>
          <a:xfrm>
            <a:off x="6993732" y="5798053"/>
            <a:ext cx="535390" cy="197237"/>
          </a:xfrm>
          <a:prstGeom prst="roundRe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bg1"/>
                </a:solidFill>
                <a:cs typeface="+mn-ea"/>
                <a:sym typeface="+mn-lt"/>
              </a:rPr>
              <a:t>Serdes</a:t>
            </a:r>
            <a:endParaRPr lang="zh-CN" altLang="en-US" sz="8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312" name="矩形: 圆角 3311">
            <a:extLst>
              <a:ext uri="{FF2B5EF4-FFF2-40B4-BE49-F238E27FC236}">
                <a16:creationId xmlns:a16="http://schemas.microsoft.com/office/drawing/2014/main" id="{3346F340-4270-8D72-FA88-78BF8B7485F4}"/>
              </a:ext>
            </a:extLst>
          </p:cNvPr>
          <p:cNvSpPr/>
          <p:nvPr/>
        </p:nvSpPr>
        <p:spPr>
          <a:xfrm>
            <a:off x="8491768" y="5933934"/>
            <a:ext cx="423334" cy="180124"/>
          </a:xfrm>
          <a:prstGeom prst="roundRect">
            <a:avLst/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3314" name="连接符: 肘形 3313">
            <a:extLst>
              <a:ext uri="{FF2B5EF4-FFF2-40B4-BE49-F238E27FC236}">
                <a16:creationId xmlns:a16="http://schemas.microsoft.com/office/drawing/2014/main" id="{B68BE836-E289-A954-3A76-3FBAF276FB55}"/>
              </a:ext>
            </a:extLst>
          </p:cNvPr>
          <p:cNvCxnSpPr>
            <a:cxnSpLocks/>
            <a:stCxn id="3305" idx="2"/>
            <a:endCxn id="3312" idx="2"/>
          </p:cNvCxnSpPr>
          <p:nvPr/>
        </p:nvCxnSpPr>
        <p:spPr>
          <a:xfrm rot="16200000" flipH="1">
            <a:off x="7923047" y="5333670"/>
            <a:ext cx="118768" cy="1442008"/>
          </a:xfrm>
          <a:prstGeom prst="bentConnector3">
            <a:avLst>
              <a:gd name="adj1" fmla="val 133416"/>
            </a:avLst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21" name="矩形: 圆角 3320">
            <a:extLst>
              <a:ext uri="{FF2B5EF4-FFF2-40B4-BE49-F238E27FC236}">
                <a16:creationId xmlns:a16="http://schemas.microsoft.com/office/drawing/2014/main" id="{CBAD50C6-40EA-19E1-CA7B-75C0DC2BF79B}"/>
              </a:ext>
            </a:extLst>
          </p:cNvPr>
          <p:cNvSpPr/>
          <p:nvPr/>
        </p:nvSpPr>
        <p:spPr>
          <a:xfrm>
            <a:off x="7565118" y="5795106"/>
            <a:ext cx="535390" cy="197237"/>
          </a:xfrm>
          <a:prstGeom prst="roundRe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bg1"/>
                </a:solidFill>
                <a:cs typeface="+mn-ea"/>
                <a:sym typeface="+mn-lt"/>
              </a:rPr>
              <a:t>Serdes</a:t>
            </a:r>
            <a:endParaRPr lang="zh-CN" altLang="en-US" sz="8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322" name="矩形: 圆角 3321">
            <a:extLst>
              <a:ext uri="{FF2B5EF4-FFF2-40B4-BE49-F238E27FC236}">
                <a16:creationId xmlns:a16="http://schemas.microsoft.com/office/drawing/2014/main" id="{833F10B2-6805-7F1A-51F3-2AC865430080}"/>
              </a:ext>
            </a:extLst>
          </p:cNvPr>
          <p:cNvSpPr/>
          <p:nvPr/>
        </p:nvSpPr>
        <p:spPr>
          <a:xfrm>
            <a:off x="6988151" y="5565187"/>
            <a:ext cx="535390" cy="197237"/>
          </a:xfrm>
          <a:prstGeom prst="roundRe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bg1"/>
                </a:solidFill>
                <a:cs typeface="+mn-ea"/>
                <a:sym typeface="+mn-lt"/>
              </a:rPr>
              <a:t>Serdes</a:t>
            </a:r>
            <a:endParaRPr lang="zh-CN" altLang="en-US" sz="8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324" name="矩形: 圆角 3323">
            <a:extLst>
              <a:ext uri="{FF2B5EF4-FFF2-40B4-BE49-F238E27FC236}">
                <a16:creationId xmlns:a16="http://schemas.microsoft.com/office/drawing/2014/main" id="{AA59CC96-19D2-394A-B316-04CF65167652}"/>
              </a:ext>
            </a:extLst>
          </p:cNvPr>
          <p:cNvSpPr/>
          <p:nvPr/>
        </p:nvSpPr>
        <p:spPr>
          <a:xfrm>
            <a:off x="7565118" y="5550372"/>
            <a:ext cx="535390" cy="197237"/>
          </a:xfrm>
          <a:prstGeom prst="roundRe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bg1"/>
                </a:solidFill>
                <a:cs typeface="+mn-ea"/>
                <a:sym typeface="+mn-lt"/>
              </a:rPr>
              <a:t>Serdes</a:t>
            </a:r>
            <a:endParaRPr lang="zh-CN" altLang="en-US" sz="8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cxnSp>
        <p:nvCxnSpPr>
          <p:cNvPr id="1027" name="连接符: 肘形 1026">
            <a:extLst>
              <a:ext uri="{FF2B5EF4-FFF2-40B4-BE49-F238E27FC236}">
                <a16:creationId xmlns:a16="http://schemas.microsoft.com/office/drawing/2014/main" id="{DF7662A2-A2BC-E344-387F-9E074C01272B}"/>
              </a:ext>
            </a:extLst>
          </p:cNvPr>
          <p:cNvCxnSpPr>
            <a:cxnSpLocks/>
            <a:stCxn id="3321" idx="2"/>
            <a:endCxn id="3312" idx="2"/>
          </p:cNvCxnSpPr>
          <p:nvPr/>
        </p:nvCxnSpPr>
        <p:spPr>
          <a:xfrm rot="16200000" flipH="1">
            <a:off x="8207267" y="5617889"/>
            <a:ext cx="121715" cy="870622"/>
          </a:xfrm>
          <a:prstGeom prst="bentConnector3">
            <a:avLst>
              <a:gd name="adj1" fmla="val 132606"/>
            </a:avLst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9" name="文本框 1058">
            <a:extLst>
              <a:ext uri="{FF2B5EF4-FFF2-40B4-BE49-F238E27FC236}">
                <a16:creationId xmlns:a16="http://schemas.microsoft.com/office/drawing/2014/main" id="{6CE9A590-FCBD-F75E-E296-7B9E3543A5CB}"/>
              </a:ext>
            </a:extLst>
          </p:cNvPr>
          <p:cNvSpPr txBox="1"/>
          <p:nvPr/>
        </p:nvSpPr>
        <p:spPr>
          <a:xfrm>
            <a:off x="6140491" y="5234730"/>
            <a:ext cx="65002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400"/>
            </a:lvl1pPr>
          </a:lstStyle>
          <a:p>
            <a:r>
              <a:rPr lang="zh-CN" altLang="en-US" sz="1200" dirty="0">
                <a:cs typeface="+mn-ea"/>
                <a:sym typeface="+mn-lt"/>
              </a:rPr>
              <a:t>可插拔：多通道干扰、难布线</a:t>
            </a:r>
          </a:p>
        </p:txBody>
      </p:sp>
      <p:sp>
        <p:nvSpPr>
          <p:cNvPr id="1083" name="矩形: 圆角 1082">
            <a:extLst>
              <a:ext uri="{FF2B5EF4-FFF2-40B4-BE49-F238E27FC236}">
                <a16:creationId xmlns:a16="http://schemas.microsoft.com/office/drawing/2014/main" id="{62DA0F2C-A949-DB09-C756-637F34641421}"/>
              </a:ext>
            </a:extLst>
          </p:cNvPr>
          <p:cNvSpPr/>
          <p:nvPr/>
        </p:nvSpPr>
        <p:spPr>
          <a:xfrm>
            <a:off x="9223113" y="6117488"/>
            <a:ext cx="2129709" cy="140764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>
              <a:cs typeface="+mn-ea"/>
              <a:sym typeface="+mn-lt"/>
            </a:endParaRPr>
          </a:p>
        </p:txBody>
      </p:sp>
      <p:cxnSp>
        <p:nvCxnSpPr>
          <p:cNvPr id="1085" name="连接符: 肘形 1084">
            <a:extLst>
              <a:ext uri="{FF2B5EF4-FFF2-40B4-BE49-F238E27FC236}">
                <a16:creationId xmlns:a16="http://schemas.microsoft.com/office/drawing/2014/main" id="{93DD2E17-A65E-79C1-494C-A8307DD2FC11}"/>
              </a:ext>
            </a:extLst>
          </p:cNvPr>
          <p:cNvCxnSpPr>
            <a:cxnSpLocks/>
            <a:stCxn id="3337" idx="2"/>
            <a:endCxn id="3332" idx="2"/>
          </p:cNvCxnSpPr>
          <p:nvPr/>
        </p:nvCxnSpPr>
        <p:spPr>
          <a:xfrm rot="16200000" flipH="1">
            <a:off x="10403585" y="5562096"/>
            <a:ext cx="267498" cy="650822"/>
          </a:xfrm>
          <a:prstGeom prst="bentConnector3">
            <a:avLst>
              <a:gd name="adj1" fmla="val 125049"/>
            </a:avLst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6" name="矩形: 圆角 1085">
            <a:extLst>
              <a:ext uri="{FF2B5EF4-FFF2-40B4-BE49-F238E27FC236}">
                <a16:creationId xmlns:a16="http://schemas.microsoft.com/office/drawing/2014/main" id="{79DC3836-D46A-BC95-81FF-EE24A1F7680E}"/>
              </a:ext>
            </a:extLst>
          </p:cNvPr>
          <p:cNvSpPr/>
          <p:nvPr/>
        </p:nvSpPr>
        <p:spPr>
          <a:xfrm rot="5400000">
            <a:off x="9661806" y="5051034"/>
            <a:ext cx="530537" cy="1407566"/>
          </a:xfrm>
          <a:prstGeom prst="round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>
              <a:cs typeface="+mn-ea"/>
              <a:sym typeface="+mn-lt"/>
            </a:endParaRPr>
          </a:p>
        </p:txBody>
      </p:sp>
      <p:sp>
        <p:nvSpPr>
          <p:cNvPr id="1087" name="矩形: 圆角 1086">
            <a:extLst>
              <a:ext uri="{FF2B5EF4-FFF2-40B4-BE49-F238E27FC236}">
                <a16:creationId xmlns:a16="http://schemas.microsoft.com/office/drawing/2014/main" id="{255D13BE-3824-EB2C-7EFB-1F361BBAFD12}"/>
              </a:ext>
            </a:extLst>
          </p:cNvPr>
          <p:cNvSpPr/>
          <p:nvPr/>
        </p:nvSpPr>
        <p:spPr>
          <a:xfrm>
            <a:off x="9311561" y="5556521"/>
            <a:ext cx="513394" cy="427157"/>
          </a:xfrm>
          <a:prstGeom prst="roundRe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bg1"/>
                </a:solidFill>
                <a:cs typeface="+mn-ea"/>
                <a:sym typeface="+mn-lt"/>
              </a:rPr>
              <a:t>主控</a:t>
            </a:r>
          </a:p>
        </p:txBody>
      </p:sp>
      <p:sp>
        <p:nvSpPr>
          <p:cNvPr id="3331" name="矩形: 圆角 3330">
            <a:extLst>
              <a:ext uri="{FF2B5EF4-FFF2-40B4-BE49-F238E27FC236}">
                <a16:creationId xmlns:a16="http://schemas.microsoft.com/office/drawing/2014/main" id="{EEDD743D-EE55-7D96-0EC7-B942209D84F7}"/>
              </a:ext>
            </a:extLst>
          </p:cNvPr>
          <p:cNvSpPr/>
          <p:nvPr/>
        </p:nvSpPr>
        <p:spPr>
          <a:xfrm>
            <a:off x="9949809" y="5789387"/>
            <a:ext cx="535390" cy="197237"/>
          </a:xfrm>
          <a:prstGeom prst="roundRe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bg1"/>
                </a:solidFill>
                <a:cs typeface="+mn-ea"/>
                <a:sym typeface="+mn-lt"/>
              </a:rPr>
              <a:t>Serdes</a:t>
            </a:r>
            <a:endParaRPr lang="zh-CN" altLang="en-US" sz="8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332" name="矩形: 圆角 3331">
            <a:extLst>
              <a:ext uri="{FF2B5EF4-FFF2-40B4-BE49-F238E27FC236}">
                <a16:creationId xmlns:a16="http://schemas.microsoft.com/office/drawing/2014/main" id="{3504C959-6CC9-9928-24F3-229938EA7005}"/>
              </a:ext>
            </a:extLst>
          </p:cNvPr>
          <p:cNvSpPr/>
          <p:nvPr/>
        </p:nvSpPr>
        <p:spPr>
          <a:xfrm>
            <a:off x="10651078" y="5841132"/>
            <a:ext cx="423334" cy="180124"/>
          </a:xfrm>
          <a:prstGeom prst="roundRect">
            <a:avLst/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3334" name="连接符: 肘形 3333">
            <a:extLst>
              <a:ext uri="{FF2B5EF4-FFF2-40B4-BE49-F238E27FC236}">
                <a16:creationId xmlns:a16="http://schemas.microsoft.com/office/drawing/2014/main" id="{4FC446A4-52AB-6DE8-27DA-BBCCC5D23A11}"/>
              </a:ext>
            </a:extLst>
          </p:cNvPr>
          <p:cNvCxnSpPr>
            <a:cxnSpLocks/>
            <a:stCxn id="3331" idx="2"/>
            <a:endCxn id="3332" idx="2"/>
          </p:cNvCxnSpPr>
          <p:nvPr/>
        </p:nvCxnSpPr>
        <p:spPr>
          <a:xfrm rot="16200000" flipH="1">
            <a:off x="10522808" y="5681319"/>
            <a:ext cx="34632" cy="645241"/>
          </a:xfrm>
          <a:prstGeom prst="bentConnector3">
            <a:avLst>
              <a:gd name="adj1" fmla="val 192634"/>
            </a:avLst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37" name="矩形: 圆角 3336">
            <a:extLst>
              <a:ext uri="{FF2B5EF4-FFF2-40B4-BE49-F238E27FC236}">
                <a16:creationId xmlns:a16="http://schemas.microsoft.com/office/drawing/2014/main" id="{501325B6-A634-3897-19A8-BDFC507FBBC2}"/>
              </a:ext>
            </a:extLst>
          </p:cNvPr>
          <p:cNvSpPr/>
          <p:nvPr/>
        </p:nvSpPr>
        <p:spPr>
          <a:xfrm>
            <a:off x="9944228" y="5556521"/>
            <a:ext cx="535390" cy="197237"/>
          </a:xfrm>
          <a:prstGeom prst="roundRe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bg1"/>
                </a:solidFill>
                <a:cs typeface="+mn-ea"/>
                <a:sym typeface="+mn-lt"/>
              </a:rPr>
              <a:t>Serdes</a:t>
            </a:r>
            <a:endParaRPr lang="zh-CN" altLang="en-US" sz="8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341" name="文本框 3340">
            <a:extLst>
              <a:ext uri="{FF2B5EF4-FFF2-40B4-BE49-F238E27FC236}">
                <a16:creationId xmlns:a16="http://schemas.microsoft.com/office/drawing/2014/main" id="{9C5B53E0-C228-AB2C-9055-937C914A5B69}"/>
              </a:ext>
            </a:extLst>
          </p:cNvPr>
          <p:cNvSpPr txBox="1"/>
          <p:nvPr/>
        </p:nvSpPr>
        <p:spPr>
          <a:xfrm>
            <a:off x="9096568" y="5226064"/>
            <a:ext cx="65002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400"/>
            </a:lvl1pPr>
          </a:lstStyle>
          <a:p>
            <a:r>
              <a:rPr lang="en-US" altLang="zh-CN" sz="1200" dirty="0">
                <a:cs typeface="+mn-ea"/>
                <a:sym typeface="+mn-lt"/>
              </a:rPr>
              <a:t>CPO</a:t>
            </a:r>
            <a:r>
              <a:rPr lang="zh-CN" altLang="en-US" sz="1200" dirty="0">
                <a:cs typeface="+mn-ea"/>
                <a:sym typeface="+mn-lt"/>
              </a:rPr>
              <a:t>：干扰可忽略易布线</a:t>
            </a:r>
          </a:p>
        </p:txBody>
      </p:sp>
      <p:sp>
        <p:nvSpPr>
          <p:cNvPr id="3370" name="箭头: 右 3369">
            <a:extLst>
              <a:ext uri="{FF2B5EF4-FFF2-40B4-BE49-F238E27FC236}">
                <a16:creationId xmlns:a16="http://schemas.microsoft.com/office/drawing/2014/main" id="{6308EC3E-B9AF-CFE1-2BCD-33A618034660}"/>
              </a:ext>
            </a:extLst>
          </p:cNvPr>
          <p:cNvSpPr/>
          <p:nvPr/>
        </p:nvSpPr>
        <p:spPr>
          <a:xfrm>
            <a:off x="9029434" y="5739925"/>
            <a:ext cx="139215" cy="14217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371" name="矩形 3370">
            <a:extLst>
              <a:ext uri="{FF2B5EF4-FFF2-40B4-BE49-F238E27FC236}">
                <a16:creationId xmlns:a16="http://schemas.microsoft.com/office/drawing/2014/main" id="{B788BDA4-AEC7-174E-60C9-BFEB5585D7EB}"/>
              </a:ext>
            </a:extLst>
          </p:cNvPr>
          <p:cNvSpPr/>
          <p:nvPr/>
        </p:nvSpPr>
        <p:spPr>
          <a:xfrm>
            <a:off x="12272347" y="1797672"/>
            <a:ext cx="940862" cy="276154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国内和国外分开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确认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Serdes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是不是卡脖子环节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88D7E0C-453C-6326-7DB9-572A85A52F64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FCB66F6D-4F1C-F368-0A38-4BE5AA684159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Scale Up</a:t>
              </a:r>
              <a:r>
                <a:rPr kumimoji="1"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下亟需</a:t>
              </a: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CPO</a:t>
              </a:r>
              <a:r>
                <a:rPr kumimoji="1"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解</a:t>
              </a: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Serdes</a:t>
              </a:r>
              <a:r>
                <a:rPr kumimoji="1"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速率瓶颈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E2C45565-EC1B-5D1D-99A3-5A79B14DD9AA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5" name="直线连接符 38">
              <a:extLst>
                <a:ext uri="{FF2B5EF4-FFF2-40B4-BE49-F238E27FC236}">
                  <a16:creationId xmlns:a16="http://schemas.microsoft.com/office/drawing/2014/main" id="{730B3B19-E012-3749-EFB6-6FE3870AA39A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5825E03D-14AD-5599-B770-2113CC4164C1}"/>
                </a:ext>
              </a:extLst>
            </p:cNvPr>
            <p:cNvSpPr txBox="1"/>
            <p:nvPr/>
          </p:nvSpPr>
          <p:spPr>
            <a:xfrm>
              <a:off x="504186" y="971862"/>
              <a:ext cx="5297174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Serdes</a:t>
              </a:r>
              <a:r>
                <a:rPr kumimoji="1"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速率限制带宽，国内</a:t>
              </a: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Serdes</a:t>
              </a:r>
              <a:r>
                <a:rPr kumimoji="1"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难突破</a:t>
              </a: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56Gbps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7" name="直线连接符 38">
              <a:extLst>
                <a:ext uri="{FF2B5EF4-FFF2-40B4-BE49-F238E27FC236}">
                  <a16:creationId xmlns:a16="http://schemas.microsoft.com/office/drawing/2014/main" id="{F64265D1-2B14-B03E-642A-033893A5B82B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917E9314-C009-5795-0852-6E7CEE8E73B2}"/>
              </a:ext>
            </a:extLst>
          </p:cNvPr>
          <p:cNvSpPr txBox="1"/>
          <p:nvPr/>
        </p:nvSpPr>
        <p:spPr>
          <a:xfrm>
            <a:off x="598141" y="1560262"/>
            <a:ext cx="5356341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Serdes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</a:t>
            </a:r>
            <a:r>
              <a:rPr lang="pt-BR" altLang="zh-CN" dirty="0">
                <a:cs typeface="+mn-ea"/>
                <a:sym typeface="+mn-lt"/>
              </a:rPr>
              <a:t> </a:t>
            </a:r>
            <a:r>
              <a:rPr kumimoji="1" lang="pt-BR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Serializer</a:t>
            </a:r>
            <a:r>
              <a:rPr kumimoji="1" lang="zh-CN" altLang="pt-BR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（串行器）</a:t>
            </a:r>
            <a:r>
              <a:rPr kumimoji="1" lang="pt-BR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/Deserializer</a:t>
            </a:r>
            <a:r>
              <a:rPr kumimoji="1" lang="zh-CN" altLang="pt-BR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（解串器）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，高速传输的“源头”</a:t>
            </a:r>
            <a:endParaRPr lang="zh-CN" altLang="en-US" dirty="0">
              <a:cs typeface="+mn-ea"/>
              <a:sym typeface="+mn-lt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FF233BA-B7D0-C01F-5D94-93842FB22EB4}"/>
              </a:ext>
            </a:extLst>
          </p:cNvPr>
          <p:cNvSpPr txBox="1"/>
          <p:nvPr/>
        </p:nvSpPr>
        <p:spPr>
          <a:xfrm>
            <a:off x="579105" y="4164564"/>
            <a:ext cx="550386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国内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Serdes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速率仅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56Gbps</a:t>
            </a:r>
          </a:p>
        </p:txBody>
      </p:sp>
      <p:grpSp>
        <p:nvGrpSpPr>
          <p:cNvPr id="3139" name="组合 3138">
            <a:extLst>
              <a:ext uri="{FF2B5EF4-FFF2-40B4-BE49-F238E27FC236}">
                <a16:creationId xmlns:a16="http://schemas.microsoft.com/office/drawing/2014/main" id="{4B2C3B52-4CEA-4933-0D14-77A94A1570EB}"/>
              </a:ext>
            </a:extLst>
          </p:cNvPr>
          <p:cNvGrpSpPr/>
          <p:nvPr/>
        </p:nvGrpSpPr>
        <p:grpSpPr>
          <a:xfrm>
            <a:off x="669218" y="3321822"/>
            <a:ext cx="5757100" cy="636922"/>
            <a:chOff x="576731" y="2326185"/>
            <a:chExt cx="5757100" cy="636922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B0E7AC9B-7DB7-A6E9-C011-4D271FBD998D}"/>
                </a:ext>
              </a:extLst>
            </p:cNvPr>
            <p:cNvGrpSpPr/>
            <p:nvPr/>
          </p:nvGrpSpPr>
          <p:grpSpPr>
            <a:xfrm>
              <a:off x="576731" y="2384704"/>
              <a:ext cx="5046800" cy="578403"/>
              <a:chOff x="598140" y="2002737"/>
              <a:chExt cx="5046800" cy="578403"/>
            </a:xfrm>
          </p:grpSpPr>
          <p:sp>
            <p:nvSpPr>
              <p:cNvPr id="3266" name="文本框 3265">
                <a:extLst>
                  <a:ext uri="{FF2B5EF4-FFF2-40B4-BE49-F238E27FC236}">
                    <a16:creationId xmlns:a16="http://schemas.microsoft.com/office/drawing/2014/main" id="{97EA3133-4B77-FFBD-6DF2-77B8C7F81E79}"/>
                  </a:ext>
                </a:extLst>
              </p:cNvPr>
              <p:cNvSpPr txBox="1"/>
              <p:nvPr/>
            </p:nvSpPr>
            <p:spPr>
              <a:xfrm>
                <a:off x="1984600" y="2319530"/>
                <a:ext cx="2155755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zh-CN" altLang="en-US" sz="1100" dirty="0">
                    <a:solidFill>
                      <a:schemeClr val="tx1">
                        <a:lumMod val="50000"/>
                      </a:schemeClr>
                    </a:solidFill>
                    <a:cs typeface="+mn-ea"/>
                    <a:sym typeface="+mn-lt"/>
                  </a:rPr>
                  <a:t>低速并行</a:t>
                </a:r>
                <a:endParaRPr lang="zh-CN" altLang="en-US" sz="1100" dirty="0">
                  <a:cs typeface="+mn-ea"/>
                  <a:sym typeface="+mn-lt"/>
                </a:endParaRPr>
              </a:p>
            </p:txBody>
          </p:sp>
          <p:sp>
            <p:nvSpPr>
              <p:cNvPr id="3241" name="矩形: 圆角 3240">
                <a:extLst>
                  <a:ext uri="{FF2B5EF4-FFF2-40B4-BE49-F238E27FC236}">
                    <a16:creationId xmlns:a16="http://schemas.microsoft.com/office/drawing/2014/main" id="{B01E26A5-6C9E-6876-9BBE-DC44BC938952}"/>
                  </a:ext>
                </a:extLst>
              </p:cNvPr>
              <p:cNvSpPr/>
              <p:nvPr/>
            </p:nvSpPr>
            <p:spPr>
              <a:xfrm rot="5400000">
                <a:off x="2551066" y="49811"/>
                <a:ext cx="546009" cy="4451861"/>
              </a:xfrm>
              <a:prstGeom prst="roundRect">
                <a:avLst/>
              </a:prstGeom>
              <a:noFill/>
              <a:ln w="12700"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cs typeface="+mn-ea"/>
                  <a:sym typeface="+mn-lt"/>
                </a:endParaRPr>
              </a:p>
            </p:txBody>
          </p:sp>
          <p:sp>
            <p:nvSpPr>
              <p:cNvPr id="3242" name="矩形: 圆角 3241">
                <a:extLst>
                  <a:ext uri="{FF2B5EF4-FFF2-40B4-BE49-F238E27FC236}">
                    <a16:creationId xmlns:a16="http://schemas.microsoft.com/office/drawing/2014/main" id="{1BAB3BC1-2AC0-CDD4-C458-1D7DEAB3BAD8}"/>
                  </a:ext>
                </a:extLst>
              </p:cNvPr>
              <p:cNvSpPr/>
              <p:nvPr/>
            </p:nvSpPr>
            <p:spPr>
              <a:xfrm>
                <a:off x="1843591" y="2104293"/>
                <a:ext cx="815775" cy="334082"/>
              </a:xfrm>
              <a:prstGeom prst="roundRect">
                <a:avLst/>
              </a:prstGeom>
              <a:solidFill>
                <a:srgbClr val="0052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800" dirty="0">
                    <a:solidFill>
                      <a:schemeClr val="bg1"/>
                    </a:solidFill>
                    <a:cs typeface="+mn-ea"/>
                    <a:sym typeface="+mn-lt"/>
                  </a:rPr>
                  <a:t>主控</a:t>
                </a:r>
              </a:p>
            </p:txBody>
          </p:sp>
          <p:sp>
            <p:nvSpPr>
              <p:cNvPr id="3244" name="矩形: 圆角 3243">
                <a:extLst>
                  <a:ext uri="{FF2B5EF4-FFF2-40B4-BE49-F238E27FC236}">
                    <a16:creationId xmlns:a16="http://schemas.microsoft.com/office/drawing/2014/main" id="{3CE594A2-60A3-2D4D-9D67-3040E4CC84DB}"/>
                  </a:ext>
                </a:extLst>
              </p:cNvPr>
              <p:cNvSpPr/>
              <p:nvPr/>
            </p:nvSpPr>
            <p:spPr>
              <a:xfrm>
                <a:off x="3456502" y="2100558"/>
                <a:ext cx="728908" cy="336859"/>
              </a:xfrm>
              <a:prstGeom prst="roundRect">
                <a:avLst/>
              </a:prstGeom>
              <a:solidFill>
                <a:srgbClr val="0052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chemeClr val="bg1"/>
                    </a:solidFill>
                    <a:cs typeface="+mn-ea"/>
                    <a:sym typeface="+mn-lt"/>
                  </a:rPr>
                  <a:t>Serdes</a:t>
                </a:r>
                <a:endParaRPr lang="zh-CN" altLang="en-US" sz="8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3264" name="组合 3263">
                <a:extLst>
                  <a:ext uri="{FF2B5EF4-FFF2-40B4-BE49-F238E27FC236}">
                    <a16:creationId xmlns:a16="http://schemas.microsoft.com/office/drawing/2014/main" id="{EB7DE3DC-73E0-89D6-8B04-818A9B897EF7}"/>
                  </a:ext>
                </a:extLst>
              </p:cNvPr>
              <p:cNvGrpSpPr/>
              <p:nvPr/>
            </p:nvGrpSpPr>
            <p:grpSpPr>
              <a:xfrm>
                <a:off x="2662709" y="2193567"/>
                <a:ext cx="797136" cy="150839"/>
                <a:chOff x="8489113" y="1978196"/>
                <a:chExt cx="797136" cy="150839"/>
              </a:xfrm>
            </p:grpSpPr>
            <p:cxnSp>
              <p:nvCxnSpPr>
                <p:cNvPr id="3243" name="直接连接符 3242">
                  <a:extLst>
                    <a:ext uri="{FF2B5EF4-FFF2-40B4-BE49-F238E27FC236}">
                      <a16:creationId xmlns:a16="http://schemas.microsoft.com/office/drawing/2014/main" id="{B1AC1A55-7704-2149-B0A0-BA8D2D4C81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489113" y="1978196"/>
                  <a:ext cx="797136" cy="2346"/>
                </a:xfrm>
                <a:prstGeom prst="line">
                  <a:avLst/>
                </a:prstGeom>
                <a:ln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59" name="直接连接符 3258">
                  <a:extLst>
                    <a:ext uri="{FF2B5EF4-FFF2-40B4-BE49-F238E27FC236}">
                      <a16:creationId xmlns:a16="http://schemas.microsoft.com/office/drawing/2014/main" id="{87EB7359-5151-A2EB-ED9C-3449E23E44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489113" y="2052442"/>
                  <a:ext cx="797136" cy="2346"/>
                </a:xfrm>
                <a:prstGeom prst="line">
                  <a:avLst/>
                </a:prstGeom>
                <a:ln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61" name="直接连接符 3260">
                  <a:extLst>
                    <a:ext uri="{FF2B5EF4-FFF2-40B4-BE49-F238E27FC236}">
                      <a16:creationId xmlns:a16="http://schemas.microsoft.com/office/drawing/2014/main" id="{579A9A92-1E71-3CBD-BC7C-05D9D4B3EA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489113" y="2126689"/>
                  <a:ext cx="797136" cy="2346"/>
                </a:xfrm>
                <a:prstGeom prst="line">
                  <a:avLst/>
                </a:prstGeom>
                <a:ln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263" name="文本框 3262">
                <a:extLst>
                  <a:ext uri="{FF2B5EF4-FFF2-40B4-BE49-F238E27FC236}">
                    <a16:creationId xmlns:a16="http://schemas.microsoft.com/office/drawing/2014/main" id="{6455E238-1EA6-176F-18CD-13BCAADE9630}"/>
                  </a:ext>
                </a:extLst>
              </p:cNvPr>
              <p:cNvSpPr txBox="1"/>
              <p:nvPr/>
            </p:nvSpPr>
            <p:spPr>
              <a:xfrm>
                <a:off x="625905" y="2131229"/>
                <a:ext cx="121768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400" b="0" dirty="0">
                    <a:solidFill>
                      <a:schemeClr val="tx1">
                        <a:lumMod val="50000"/>
                      </a:schemeClr>
                    </a:solidFill>
                    <a:cs typeface="+mn-ea"/>
                    <a:sym typeface="+mn-lt"/>
                  </a:rPr>
                  <a:t>交换机芯片</a:t>
                </a:r>
              </a:p>
            </p:txBody>
          </p:sp>
          <p:cxnSp>
            <p:nvCxnSpPr>
              <p:cNvPr id="3268" name="直接连接符 3267">
                <a:extLst>
                  <a:ext uri="{FF2B5EF4-FFF2-40B4-BE49-F238E27FC236}">
                    <a16:creationId xmlns:a16="http://schemas.microsoft.com/office/drawing/2014/main" id="{4FC13E4B-CAE5-69F2-C85D-0C4C852774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85410" y="2267868"/>
                <a:ext cx="1459530" cy="0"/>
              </a:xfrm>
              <a:prstGeom prst="line">
                <a:avLst/>
              </a:prstGeom>
              <a:ln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70" name="文本框 3269">
                <a:extLst>
                  <a:ext uri="{FF2B5EF4-FFF2-40B4-BE49-F238E27FC236}">
                    <a16:creationId xmlns:a16="http://schemas.microsoft.com/office/drawing/2014/main" id="{5F701EED-18F5-CBB4-B85B-17E8C690D505}"/>
                  </a:ext>
                </a:extLst>
              </p:cNvPr>
              <p:cNvSpPr txBox="1"/>
              <p:nvPr/>
            </p:nvSpPr>
            <p:spPr>
              <a:xfrm>
                <a:off x="3759767" y="2294638"/>
                <a:ext cx="1724802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zh-CN" altLang="en-US" sz="1100" dirty="0">
                    <a:solidFill>
                      <a:schemeClr val="tx1">
                        <a:lumMod val="50000"/>
                      </a:schemeClr>
                    </a:solidFill>
                    <a:cs typeface="+mn-ea"/>
                    <a:sym typeface="+mn-lt"/>
                  </a:rPr>
                  <a:t>高速串行</a:t>
                </a:r>
                <a:endParaRPr lang="zh-CN" altLang="en-US" sz="1100" dirty="0">
                  <a:cs typeface="+mn-ea"/>
                  <a:sym typeface="+mn-lt"/>
                </a:endParaRPr>
              </a:p>
            </p:txBody>
          </p:sp>
          <p:sp>
            <p:nvSpPr>
              <p:cNvPr id="3286" name="流程图: 摘录 3285">
                <a:extLst>
                  <a:ext uri="{FF2B5EF4-FFF2-40B4-BE49-F238E27FC236}">
                    <a16:creationId xmlns:a16="http://schemas.microsoft.com/office/drawing/2014/main" id="{BD096151-3AF1-816B-4158-7CBF111F77C6}"/>
                  </a:ext>
                </a:extLst>
              </p:cNvPr>
              <p:cNvSpPr/>
              <p:nvPr/>
            </p:nvSpPr>
            <p:spPr>
              <a:xfrm rot="5400000">
                <a:off x="3029243" y="2172107"/>
                <a:ext cx="71107" cy="45719"/>
              </a:xfrm>
              <a:prstGeom prst="flowChartExtra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288" name="流程图: 摘录 3287">
                <a:extLst>
                  <a:ext uri="{FF2B5EF4-FFF2-40B4-BE49-F238E27FC236}">
                    <a16:creationId xmlns:a16="http://schemas.microsoft.com/office/drawing/2014/main" id="{9B1068C3-A330-1E4C-B106-81C6D5FCF62D}"/>
                  </a:ext>
                </a:extLst>
              </p:cNvPr>
              <p:cNvSpPr/>
              <p:nvPr/>
            </p:nvSpPr>
            <p:spPr>
              <a:xfrm rot="5400000">
                <a:off x="3029243" y="2247149"/>
                <a:ext cx="71107" cy="45719"/>
              </a:xfrm>
              <a:prstGeom prst="flowChartExtra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291" name="流程图: 摘录 3290">
                <a:extLst>
                  <a:ext uri="{FF2B5EF4-FFF2-40B4-BE49-F238E27FC236}">
                    <a16:creationId xmlns:a16="http://schemas.microsoft.com/office/drawing/2014/main" id="{81105D63-9318-E138-1C23-DC1156571B15}"/>
                  </a:ext>
                </a:extLst>
              </p:cNvPr>
              <p:cNvSpPr/>
              <p:nvPr/>
            </p:nvSpPr>
            <p:spPr>
              <a:xfrm rot="5400000">
                <a:off x="3029243" y="2324472"/>
                <a:ext cx="71107" cy="45719"/>
              </a:xfrm>
              <a:prstGeom prst="flowChartExtra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292" name="流程图: 摘录 3291">
                <a:extLst>
                  <a:ext uri="{FF2B5EF4-FFF2-40B4-BE49-F238E27FC236}">
                    <a16:creationId xmlns:a16="http://schemas.microsoft.com/office/drawing/2014/main" id="{EF922F8D-1547-19B7-C01C-D38C2FE7B74C}"/>
                  </a:ext>
                </a:extLst>
              </p:cNvPr>
              <p:cNvSpPr/>
              <p:nvPr/>
            </p:nvSpPr>
            <p:spPr>
              <a:xfrm rot="5400000">
                <a:off x="4581085" y="2242304"/>
                <a:ext cx="71107" cy="45719"/>
              </a:xfrm>
              <a:prstGeom prst="flowChartExtra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95C2E30C-CF8D-5835-8FB9-09ABF90B4B92}"/>
                </a:ext>
              </a:extLst>
            </p:cNvPr>
            <p:cNvSpPr txBox="1"/>
            <p:nvPr/>
          </p:nvSpPr>
          <p:spPr>
            <a:xfrm>
              <a:off x="5028592" y="2326185"/>
              <a:ext cx="130523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cs typeface="+mn-ea"/>
                  <a:sym typeface="+mn-lt"/>
                </a:rPr>
                <a:t>224Gbps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3140" name="组合 3139">
            <a:extLst>
              <a:ext uri="{FF2B5EF4-FFF2-40B4-BE49-F238E27FC236}">
                <a16:creationId xmlns:a16="http://schemas.microsoft.com/office/drawing/2014/main" id="{E5D884B6-2372-B8BD-6747-FF546A69C628}"/>
              </a:ext>
            </a:extLst>
          </p:cNvPr>
          <p:cNvGrpSpPr/>
          <p:nvPr/>
        </p:nvGrpSpPr>
        <p:grpSpPr>
          <a:xfrm>
            <a:off x="696983" y="2157478"/>
            <a:ext cx="4720197" cy="1138398"/>
            <a:chOff x="598141" y="3177090"/>
            <a:chExt cx="4720197" cy="1138398"/>
          </a:xfrm>
        </p:grpSpPr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842E1470-C2F7-5EB1-2139-E2959689897A}"/>
                </a:ext>
              </a:extLst>
            </p:cNvPr>
            <p:cNvSpPr txBox="1"/>
            <p:nvPr/>
          </p:nvSpPr>
          <p:spPr>
            <a:xfrm>
              <a:off x="3640564" y="3456695"/>
              <a:ext cx="167777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400"/>
              </a:lvl1pPr>
            </a:lstStyle>
            <a:p>
              <a:r>
                <a:rPr lang="en-US" altLang="zh-CN" dirty="0">
                  <a:cs typeface="+mn-ea"/>
                  <a:sym typeface="+mn-lt"/>
                </a:rPr>
                <a:t>100GB</a:t>
              </a:r>
              <a:r>
                <a:rPr lang="zh-CN" altLang="en-US" dirty="0">
                  <a:cs typeface="+mn-ea"/>
                  <a:sym typeface="+mn-lt"/>
                </a:rPr>
                <a:t>端口</a:t>
              </a:r>
            </a:p>
          </p:txBody>
        </p:sp>
        <p:grpSp>
          <p:nvGrpSpPr>
            <p:cNvPr id="3137" name="组合 3136">
              <a:extLst>
                <a:ext uri="{FF2B5EF4-FFF2-40B4-BE49-F238E27FC236}">
                  <a16:creationId xmlns:a16="http://schemas.microsoft.com/office/drawing/2014/main" id="{1F28E48B-D7C2-2948-4B7B-43F7851607D8}"/>
                </a:ext>
              </a:extLst>
            </p:cNvPr>
            <p:cNvGrpSpPr/>
            <p:nvPr/>
          </p:nvGrpSpPr>
          <p:grpSpPr>
            <a:xfrm>
              <a:off x="598141" y="3177090"/>
              <a:ext cx="4093584" cy="1138398"/>
              <a:chOff x="598141" y="3177090"/>
              <a:chExt cx="4093584" cy="1138398"/>
            </a:xfrm>
          </p:grpSpPr>
          <p:sp>
            <p:nvSpPr>
              <p:cNvPr id="3349" name="矩形: 圆角 3348">
                <a:extLst>
                  <a:ext uri="{FF2B5EF4-FFF2-40B4-BE49-F238E27FC236}">
                    <a16:creationId xmlns:a16="http://schemas.microsoft.com/office/drawing/2014/main" id="{61D4C7E9-6CAA-F2EC-B0AD-29A346A63667}"/>
                  </a:ext>
                </a:extLst>
              </p:cNvPr>
              <p:cNvSpPr/>
              <p:nvPr/>
            </p:nvSpPr>
            <p:spPr>
              <a:xfrm>
                <a:off x="639776" y="3804676"/>
                <a:ext cx="1652574" cy="85733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cs typeface="+mn-ea"/>
                  <a:sym typeface="+mn-lt"/>
                </a:endParaRPr>
              </a:p>
            </p:txBody>
          </p:sp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84054776-E833-2D3C-A006-3AB508CF3D0B}"/>
                  </a:ext>
                </a:extLst>
              </p:cNvPr>
              <p:cNvSpPr txBox="1"/>
              <p:nvPr/>
            </p:nvSpPr>
            <p:spPr>
              <a:xfrm>
                <a:off x="839547" y="3177090"/>
                <a:ext cx="121768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400" b="0" dirty="0">
                    <a:solidFill>
                      <a:schemeClr val="tx1">
                        <a:lumMod val="50000"/>
                      </a:schemeClr>
                    </a:solidFill>
                    <a:cs typeface="+mn-ea"/>
                    <a:sym typeface="+mn-lt"/>
                  </a:rPr>
                  <a:t>交换机芯片</a:t>
                </a:r>
              </a:p>
            </p:txBody>
          </p:sp>
          <p:sp>
            <p:nvSpPr>
              <p:cNvPr id="47" name="矩形: 圆角 46">
                <a:extLst>
                  <a:ext uri="{FF2B5EF4-FFF2-40B4-BE49-F238E27FC236}">
                    <a16:creationId xmlns:a16="http://schemas.microsoft.com/office/drawing/2014/main" id="{C6D52C5F-E541-DB3E-C0FF-2BD1FA7B955E}"/>
                  </a:ext>
                </a:extLst>
              </p:cNvPr>
              <p:cNvSpPr/>
              <p:nvPr/>
            </p:nvSpPr>
            <p:spPr>
              <a:xfrm rot="5400000">
                <a:off x="1294502" y="2893221"/>
                <a:ext cx="307776" cy="1499090"/>
              </a:xfrm>
              <a:prstGeom prst="roundRect">
                <a:avLst/>
              </a:prstGeom>
              <a:noFill/>
              <a:ln w="12700"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cs typeface="+mn-ea"/>
                  <a:sym typeface="+mn-lt"/>
                </a:endParaRPr>
              </a:p>
            </p:txBody>
          </p:sp>
          <p:sp>
            <p:nvSpPr>
              <p:cNvPr id="56" name="矩形: 圆角 55">
                <a:extLst>
                  <a:ext uri="{FF2B5EF4-FFF2-40B4-BE49-F238E27FC236}">
                    <a16:creationId xmlns:a16="http://schemas.microsoft.com/office/drawing/2014/main" id="{2028C66D-A29B-E378-ABBF-8D802B0361B8}"/>
                  </a:ext>
                </a:extLst>
              </p:cNvPr>
              <p:cNvSpPr/>
              <p:nvPr/>
            </p:nvSpPr>
            <p:spPr>
              <a:xfrm>
                <a:off x="760291" y="3523617"/>
                <a:ext cx="630255" cy="245934"/>
              </a:xfrm>
              <a:prstGeom prst="roundRect">
                <a:avLst/>
              </a:prstGeom>
              <a:solidFill>
                <a:srgbClr val="0052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800" dirty="0">
                    <a:solidFill>
                      <a:schemeClr val="bg1"/>
                    </a:solidFill>
                    <a:cs typeface="+mn-ea"/>
                    <a:sym typeface="+mn-lt"/>
                  </a:rPr>
                  <a:t>主控</a:t>
                </a:r>
              </a:p>
            </p:txBody>
          </p:sp>
          <p:sp>
            <p:nvSpPr>
              <p:cNvPr id="3172" name="矩形: 圆角 3171">
                <a:extLst>
                  <a:ext uri="{FF2B5EF4-FFF2-40B4-BE49-F238E27FC236}">
                    <a16:creationId xmlns:a16="http://schemas.microsoft.com/office/drawing/2014/main" id="{9FB8C025-F481-B245-95C5-78360C4E4C65}"/>
                  </a:ext>
                </a:extLst>
              </p:cNvPr>
              <p:cNvSpPr/>
              <p:nvPr/>
            </p:nvSpPr>
            <p:spPr>
              <a:xfrm>
                <a:off x="598141" y="3890409"/>
                <a:ext cx="2701742" cy="138197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cs typeface="+mn-ea"/>
                  <a:sym typeface="+mn-lt"/>
                </a:endParaRPr>
              </a:p>
            </p:txBody>
          </p:sp>
          <p:sp>
            <p:nvSpPr>
              <p:cNvPr id="3175" name="矩形: 圆角 3174">
                <a:extLst>
                  <a:ext uri="{FF2B5EF4-FFF2-40B4-BE49-F238E27FC236}">
                    <a16:creationId xmlns:a16="http://schemas.microsoft.com/office/drawing/2014/main" id="{1E641BE7-9160-7C44-1780-AAD047F006AC}"/>
                  </a:ext>
                </a:extLst>
              </p:cNvPr>
              <p:cNvSpPr/>
              <p:nvPr/>
            </p:nvSpPr>
            <p:spPr>
              <a:xfrm>
                <a:off x="1526605" y="3519729"/>
                <a:ext cx="630254" cy="245935"/>
              </a:xfrm>
              <a:prstGeom prst="roundRect">
                <a:avLst/>
              </a:prstGeom>
              <a:solidFill>
                <a:srgbClr val="0052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chemeClr val="bg1"/>
                    </a:solidFill>
                    <a:cs typeface="+mn-ea"/>
                    <a:sym typeface="+mn-lt"/>
                  </a:rPr>
                  <a:t>Serdes</a:t>
                </a:r>
                <a:endParaRPr lang="zh-CN" altLang="en-US" sz="8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178" name="矩形: 圆角 3177">
                <a:extLst>
                  <a:ext uri="{FF2B5EF4-FFF2-40B4-BE49-F238E27FC236}">
                    <a16:creationId xmlns:a16="http://schemas.microsoft.com/office/drawing/2014/main" id="{374F5507-4B45-6117-1F02-4CE15A4FB6D3}"/>
                  </a:ext>
                </a:extLst>
              </p:cNvPr>
              <p:cNvSpPr/>
              <p:nvPr/>
            </p:nvSpPr>
            <p:spPr>
              <a:xfrm>
                <a:off x="2808861" y="3706504"/>
                <a:ext cx="423334" cy="180124"/>
              </a:xfrm>
              <a:prstGeom prst="roundRect">
                <a:avLst/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3180" name="连接符: 肘形 3179">
                <a:extLst>
                  <a:ext uri="{FF2B5EF4-FFF2-40B4-BE49-F238E27FC236}">
                    <a16:creationId xmlns:a16="http://schemas.microsoft.com/office/drawing/2014/main" id="{939276A6-17B8-24A0-DA9A-A404FD2430CF}"/>
                  </a:ext>
                </a:extLst>
              </p:cNvPr>
              <p:cNvCxnSpPr>
                <a:cxnSpLocks/>
                <a:stCxn id="3175" idx="2"/>
                <a:endCxn id="3178" idx="2"/>
              </p:cNvCxnSpPr>
              <p:nvPr/>
            </p:nvCxnSpPr>
            <p:spPr>
              <a:xfrm rot="16200000" flipH="1">
                <a:off x="2370648" y="3236748"/>
                <a:ext cx="120964" cy="1178796"/>
              </a:xfrm>
              <a:prstGeom prst="bentConnector3">
                <a:avLst>
                  <a:gd name="adj1" fmla="val 176992"/>
                </a:avLst>
              </a:prstGeom>
              <a:ln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94" name="文本框 3193">
                <a:extLst>
                  <a:ext uri="{FF2B5EF4-FFF2-40B4-BE49-F238E27FC236}">
                    <a16:creationId xmlns:a16="http://schemas.microsoft.com/office/drawing/2014/main" id="{3B016A73-36DC-F145-873C-F6EB56F0A9A2}"/>
                  </a:ext>
                </a:extLst>
              </p:cNvPr>
              <p:cNvSpPr txBox="1"/>
              <p:nvPr/>
            </p:nvSpPr>
            <p:spPr>
              <a:xfrm>
                <a:off x="2431025" y="3418779"/>
                <a:ext cx="121768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400" b="0" dirty="0">
                    <a:solidFill>
                      <a:schemeClr val="tx1">
                        <a:lumMod val="50000"/>
                      </a:schemeClr>
                    </a:solidFill>
                    <a:cs typeface="+mn-ea"/>
                    <a:sym typeface="+mn-lt"/>
                  </a:rPr>
                  <a:t>外部组件</a:t>
                </a:r>
              </a:p>
            </p:txBody>
          </p:sp>
          <p:sp>
            <p:nvSpPr>
              <p:cNvPr id="3195" name="文本框 3194">
                <a:extLst>
                  <a:ext uri="{FF2B5EF4-FFF2-40B4-BE49-F238E27FC236}">
                    <a16:creationId xmlns:a16="http://schemas.microsoft.com/office/drawing/2014/main" id="{0A8DFC3B-EFED-198E-2B90-2817FFA8BB1E}"/>
                  </a:ext>
                </a:extLst>
              </p:cNvPr>
              <p:cNvSpPr txBox="1"/>
              <p:nvPr/>
            </p:nvSpPr>
            <p:spPr>
              <a:xfrm>
                <a:off x="1864977" y="4007711"/>
                <a:ext cx="187536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>
                    <a:cs typeface="+mn-ea"/>
                    <a:sym typeface="+mn-lt"/>
                  </a:rPr>
                  <a:t>2×224Gbps</a:t>
                </a:r>
                <a:endParaRPr lang="zh-CN" altLang="en-US" sz="1400" dirty="0">
                  <a:cs typeface="+mn-ea"/>
                  <a:sym typeface="+mn-lt"/>
                </a:endParaRPr>
              </a:p>
            </p:txBody>
          </p:sp>
          <p:cxnSp>
            <p:nvCxnSpPr>
              <p:cNvPr id="3203" name="连接符: 肘形 3202">
                <a:extLst>
                  <a:ext uri="{FF2B5EF4-FFF2-40B4-BE49-F238E27FC236}">
                    <a16:creationId xmlns:a16="http://schemas.microsoft.com/office/drawing/2014/main" id="{CA14D849-CA24-1EFA-2351-AC81B8002519}"/>
                  </a:ext>
                </a:extLst>
              </p:cNvPr>
              <p:cNvCxnSpPr>
                <a:cxnSpLocks/>
                <a:stCxn id="3175" idx="2"/>
                <a:endCxn id="3178" idx="2"/>
              </p:cNvCxnSpPr>
              <p:nvPr/>
            </p:nvCxnSpPr>
            <p:spPr>
              <a:xfrm rot="16200000" flipH="1">
                <a:off x="2370648" y="3236748"/>
                <a:ext cx="120964" cy="1178796"/>
              </a:xfrm>
              <a:prstGeom prst="bentConnector3">
                <a:avLst>
                  <a:gd name="adj1" fmla="val 131497"/>
                </a:avLst>
              </a:prstGeom>
              <a:ln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36" name="组合 3135">
                <a:extLst>
                  <a:ext uri="{FF2B5EF4-FFF2-40B4-BE49-F238E27FC236}">
                    <a16:creationId xmlns:a16="http://schemas.microsoft.com/office/drawing/2014/main" id="{6A78A0DF-0CBA-1CF4-146C-F220AF540076}"/>
                  </a:ext>
                </a:extLst>
              </p:cNvPr>
              <p:cNvGrpSpPr/>
              <p:nvPr/>
            </p:nvGrpSpPr>
            <p:grpSpPr>
              <a:xfrm>
                <a:off x="3232195" y="3767441"/>
                <a:ext cx="1459530" cy="71107"/>
                <a:chOff x="3587443" y="3928396"/>
                <a:chExt cx="1459530" cy="71107"/>
              </a:xfrm>
            </p:grpSpPr>
            <p:cxnSp>
              <p:nvCxnSpPr>
                <p:cNvPr id="54" name="直接连接符 53">
                  <a:extLst>
                    <a:ext uri="{FF2B5EF4-FFF2-40B4-BE49-F238E27FC236}">
                      <a16:creationId xmlns:a16="http://schemas.microsoft.com/office/drawing/2014/main" id="{3E8AC818-E023-E58E-D86E-B8F2A57FCD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87443" y="3966654"/>
                  <a:ext cx="1459530" cy="0"/>
                </a:xfrm>
                <a:prstGeom prst="line">
                  <a:avLst/>
                </a:prstGeom>
                <a:ln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5" name="流程图: 摘录 54">
                  <a:extLst>
                    <a:ext uri="{FF2B5EF4-FFF2-40B4-BE49-F238E27FC236}">
                      <a16:creationId xmlns:a16="http://schemas.microsoft.com/office/drawing/2014/main" id="{2F0BD9DB-7EB4-A47B-6DD8-E193B92036D7}"/>
                    </a:ext>
                  </a:extLst>
                </p:cNvPr>
                <p:cNvSpPr/>
                <p:nvPr/>
              </p:nvSpPr>
              <p:spPr>
                <a:xfrm rot="5400000">
                  <a:off x="3983118" y="3941090"/>
                  <a:ext cx="71107" cy="45719"/>
                </a:xfrm>
                <a:prstGeom prst="flowChartExtract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</p:grpSp>
      </p:grpSp>
      <p:sp>
        <p:nvSpPr>
          <p:cNvPr id="3142" name="箭头: 左弧形 3141">
            <a:extLst>
              <a:ext uri="{FF2B5EF4-FFF2-40B4-BE49-F238E27FC236}">
                <a16:creationId xmlns:a16="http://schemas.microsoft.com/office/drawing/2014/main" id="{E5995D81-6954-9232-BAC8-3F07248DFB84}"/>
              </a:ext>
            </a:extLst>
          </p:cNvPr>
          <p:cNvSpPr/>
          <p:nvPr/>
        </p:nvSpPr>
        <p:spPr>
          <a:xfrm>
            <a:off x="338356" y="2587626"/>
            <a:ext cx="247664" cy="1084616"/>
          </a:xfrm>
          <a:prstGeom prst="curved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0491EA4-7D4D-BEA5-D968-1863C6ACC717}"/>
              </a:ext>
            </a:extLst>
          </p:cNvPr>
          <p:cNvSpPr/>
          <p:nvPr/>
        </p:nvSpPr>
        <p:spPr>
          <a:xfrm>
            <a:off x="13554240" y="1797671"/>
            <a:ext cx="2278050" cy="318009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华为作为直接的证据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342900" indent="-342900" algn="ctr">
              <a:buAutoNum type="arabicPeriod"/>
            </a:pP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总带宽是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NV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的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1/3</a:t>
            </a:r>
          </a:p>
          <a:p>
            <a:pPr marL="342900" indent="-342900" algn="ctr">
              <a:buAutoNum type="arabicPeriod"/>
            </a:pP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单卡性能更低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342900" indent="-342900" algn="ctr">
              <a:buAutoNum type="arabicPeriod"/>
            </a:pP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用了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做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Scale Up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E6FC2D3-CC41-D863-8592-2436A48789EB}"/>
              </a:ext>
            </a:extLst>
          </p:cNvPr>
          <p:cNvSpPr/>
          <p:nvPr/>
        </p:nvSpPr>
        <p:spPr>
          <a:xfrm>
            <a:off x="13058257" y="3537017"/>
            <a:ext cx="2278050" cy="318009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DS V3=&gt;R1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论文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27185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F6C40-2E68-1E93-CF1C-750C7D846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FC8A3E0-0CA0-C767-446E-C6D3AE926F5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94053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4" imgH="405" progId="TCLayout.ActiveDocument.1">
                  <p:embed/>
                </p:oleObj>
              </mc:Choice>
              <mc:Fallback>
                <p:oleObj name="think-cell 幻灯片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BC957F2-C96F-B8BD-0407-49505FC2A9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" name="矩形 109">
            <a:extLst>
              <a:ext uri="{FF2B5EF4-FFF2-40B4-BE49-F238E27FC236}">
                <a16:creationId xmlns:a16="http://schemas.microsoft.com/office/drawing/2014/main" id="{3208FF9C-68D9-51D7-D13F-47B026856424}"/>
              </a:ext>
            </a:extLst>
          </p:cNvPr>
          <p:cNvSpPr/>
          <p:nvPr/>
        </p:nvSpPr>
        <p:spPr>
          <a:xfrm>
            <a:off x="1653998" y="4897753"/>
            <a:ext cx="9719937" cy="1022203"/>
          </a:xfrm>
          <a:prstGeom prst="rect">
            <a:avLst/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7C7B16E-048E-6EFA-F314-B428F2289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" y="172212"/>
            <a:ext cx="10287402" cy="731520"/>
          </a:xfrm>
        </p:spPr>
        <p:txBody>
          <a:bodyPr vert="horz"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海外巨头并行布局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Scale Out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与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Scale Up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落地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1-2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年内看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Scale Out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CBD7E81-A494-6AAD-5CAB-C52B7178334D}"/>
              </a:ext>
            </a:extLst>
          </p:cNvPr>
          <p:cNvSpPr txBox="1"/>
          <p:nvPr/>
        </p:nvSpPr>
        <p:spPr>
          <a:xfrm>
            <a:off x="425161" y="1413385"/>
            <a:ext cx="936104" cy="1879214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战略定位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928BE40-AAC7-2266-E2D1-DBE481179513}"/>
              </a:ext>
            </a:extLst>
          </p:cNvPr>
          <p:cNvSpPr txBox="1"/>
          <p:nvPr/>
        </p:nvSpPr>
        <p:spPr>
          <a:xfrm>
            <a:off x="417686" y="3953258"/>
            <a:ext cx="936104" cy="821294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Scale Up</a:t>
            </a:r>
          </a:p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产品布局</a:t>
            </a:r>
          </a:p>
        </p:txBody>
      </p:sp>
      <p:cxnSp>
        <p:nvCxnSpPr>
          <p:cNvPr id="45" name="直线连接符 8">
            <a:extLst>
              <a:ext uri="{FF2B5EF4-FFF2-40B4-BE49-F238E27FC236}">
                <a16:creationId xmlns:a16="http://schemas.microsoft.com/office/drawing/2014/main" id="{322F88D2-71EE-E0EC-7ABF-1C47DF926C22}"/>
              </a:ext>
            </a:extLst>
          </p:cNvPr>
          <p:cNvCxnSpPr>
            <a:cxnSpLocks/>
          </p:cNvCxnSpPr>
          <p:nvPr/>
        </p:nvCxnSpPr>
        <p:spPr>
          <a:xfrm>
            <a:off x="1722234" y="3454405"/>
            <a:ext cx="9651701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30">
            <a:extLst>
              <a:ext uri="{FF2B5EF4-FFF2-40B4-BE49-F238E27FC236}">
                <a16:creationId xmlns:a16="http://schemas.microsoft.com/office/drawing/2014/main" id="{C932ED26-1282-C5B1-BD34-D6C92E8AA917}"/>
              </a:ext>
            </a:extLst>
          </p:cNvPr>
          <p:cNvCxnSpPr>
            <a:cxnSpLocks/>
          </p:cNvCxnSpPr>
          <p:nvPr/>
        </p:nvCxnSpPr>
        <p:spPr>
          <a:xfrm>
            <a:off x="6550109" y="1267864"/>
            <a:ext cx="4735207" cy="16945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D91B4777-F700-A999-A441-5B04853892C8}"/>
              </a:ext>
            </a:extLst>
          </p:cNvPr>
          <p:cNvSpPr txBox="1"/>
          <p:nvPr/>
        </p:nvSpPr>
        <p:spPr>
          <a:xfrm>
            <a:off x="6550277" y="1363730"/>
            <a:ext cx="2433271" cy="2518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52" name="直线连接符 34">
            <a:extLst>
              <a:ext uri="{FF2B5EF4-FFF2-40B4-BE49-F238E27FC236}">
                <a16:creationId xmlns:a16="http://schemas.microsoft.com/office/drawing/2014/main" id="{6DD553CC-7B98-C852-D6FA-8EC2FB7529E2}"/>
              </a:ext>
            </a:extLst>
          </p:cNvPr>
          <p:cNvCxnSpPr>
            <a:cxnSpLocks/>
          </p:cNvCxnSpPr>
          <p:nvPr/>
        </p:nvCxnSpPr>
        <p:spPr>
          <a:xfrm>
            <a:off x="1845240" y="1284809"/>
            <a:ext cx="3981449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8495683D-ACD8-6EC3-BE9F-61E2A87DD8FB}"/>
              </a:ext>
            </a:extLst>
          </p:cNvPr>
          <p:cNvSpPr txBox="1"/>
          <p:nvPr/>
        </p:nvSpPr>
        <p:spPr>
          <a:xfrm>
            <a:off x="1802912" y="2798608"/>
            <a:ext cx="4154305" cy="7924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GTC 2025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zh-CN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着重介绍了其与台积电等合作伙伴开发的首款基于1.6T硅光引擎的CPO交换机系列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marL="182563" indent="-182563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75791427-A387-F439-75A5-EE91C05AF97C}"/>
              </a:ext>
            </a:extLst>
          </p:cNvPr>
          <p:cNvSpPr txBox="1"/>
          <p:nvPr/>
        </p:nvSpPr>
        <p:spPr>
          <a:xfrm>
            <a:off x="1237543" y="4580647"/>
            <a:ext cx="3189810" cy="57257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en-US" altLang="zh-CN" sz="1400" i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E10AEF8E-3571-0E3B-85EC-71C1CB66EF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4487" y="938044"/>
            <a:ext cx="443699" cy="319247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748A04B3-2207-3AFC-831B-3AE97C714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8186" y="991534"/>
            <a:ext cx="740492" cy="199933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22A9EC61-E86A-883B-A8E2-2738809751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0109" y="930790"/>
            <a:ext cx="339635" cy="326050"/>
          </a:xfrm>
          <a:prstGeom prst="rect">
            <a:avLst/>
          </a:prstGeom>
        </p:spPr>
      </p:pic>
      <p:pic>
        <p:nvPicPr>
          <p:cNvPr id="69" name="图片 68">
            <a:extLst>
              <a:ext uri="{FF2B5EF4-FFF2-40B4-BE49-F238E27FC236}">
                <a16:creationId xmlns:a16="http://schemas.microsoft.com/office/drawing/2014/main" id="{763E55EF-68B0-BF58-5961-DC83355B5A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9806" y="1015680"/>
            <a:ext cx="1072772" cy="156270"/>
          </a:xfrm>
          <a:prstGeom prst="rect">
            <a:avLst/>
          </a:prstGeom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B96B9A1B-1518-781A-49DE-12799E2079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37" t="13248" r="15583" b="17177"/>
          <a:stretch/>
        </p:blipFill>
        <p:spPr bwMode="auto">
          <a:xfrm>
            <a:off x="1780516" y="5169271"/>
            <a:ext cx="460324" cy="282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文本框 91">
            <a:extLst>
              <a:ext uri="{FF2B5EF4-FFF2-40B4-BE49-F238E27FC236}">
                <a16:creationId xmlns:a16="http://schemas.microsoft.com/office/drawing/2014/main" id="{0F67BECB-F069-2C4B-A71D-0831D86D9C32}"/>
              </a:ext>
            </a:extLst>
          </p:cNvPr>
          <p:cNvSpPr txBox="1"/>
          <p:nvPr/>
        </p:nvSpPr>
        <p:spPr>
          <a:xfrm>
            <a:off x="2288186" y="5054603"/>
            <a:ext cx="191166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Spectrum-X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以太网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 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交换机</a:t>
            </a:r>
            <a:endParaRPr kumimoji="1" lang="en-US" altLang="zh-CN" sz="11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BC75DB03-7494-0929-C943-8E6E786633E3}"/>
              </a:ext>
            </a:extLst>
          </p:cNvPr>
          <p:cNvGrpSpPr/>
          <p:nvPr/>
        </p:nvGrpSpPr>
        <p:grpSpPr>
          <a:xfrm>
            <a:off x="1653999" y="1813261"/>
            <a:ext cx="4319790" cy="886261"/>
            <a:chOff x="6380443" y="5056839"/>
            <a:chExt cx="4146591" cy="927865"/>
          </a:xfrm>
        </p:grpSpPr>
        <p:pic>
          <p:nvPicPr>
            <p:cNvPr id="102" name="Picture 41" descr="Ausriss-gross">
              <a:extLst>
                <a:ext uri="{FF2B5EF4-FFF2-40B4-BE49-F238E27FC236}">
                  <a16:creationId xmlns:a16="http://schemas.microsoft.com/office/drawing/2014/main" id="{752C2E75-D563-E684-6588-E32A451277E0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6380443" y="5056839"/>
              <a:ext cx="4146591" cy="927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" name="文本框 177">
              <a:extLst>
                <a:ext uri="{FF2B5EF4-FFF2-40B4-BE49-F238E27FC236}">
                  <a16:creationId xmlns:a16="http://schemas.microsoft.com/office/drawing/2014/main" id="{6C0517C0-9C03-4EF7-6FD7-7FDEF25635A6}"/>
                </a:ext>
              </a:extLst>
            </p:cNvPr>
            <p:cNvSpPr txBox="1"/>
            <p:nvPr/>
          </p:nvSpPr>
          <p:spPr>
            <a:xfrm>
              <a:off x="6498713" y="5126103"/>
              <a:ext cx="3900389" cy="7733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b="0" i="0" dirty="0">
                  <a:solidFill>
                    <a:schemeClr val="tx1">
                      <a:lumMod val="50000"/>
                    </a:schemeClr>
                  </a:solidFill>
                  <a:effectLst/>
                  <a:cs typeface="+mn-ea"/>
                  <a:sym typeface="+mn-lt"/>
                </a:rPr>
                <a:t>“</a:t>
              </a:r>
              <a:r>
                <a:rPr kumimoji="1" lang="zh-CN" altLang="zh-CN" sz="14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NVL72使用铜缆互连较光模块大幅节省了成本，铜缆高速连接的成本仅为光模块的20%</a:t>
              </a:r>
              <a:r>
                <a:rPr lang="zh-CN" altLang="en-US" sz="14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”</a:t>
              </a:r>
              <a:endParaRPr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  <a:p>
              <a:pPr algn="r"/>
              <a:r>
                <a:rPr lang="zh-CN" altLang="en-US" sz="1400" b="0" i="0" dirty="0">
                  <a:solidFill>
                    <a:schemeClr val="tx1">
                      <a:lumMod val="50000"/>
                    </a:schemeClr>
                  </a:solidFill>
                  <a:effectLst/>
                  <a:cs typeface="+mn-ea"/>
                  <a:sym typeface="+mn-lt"/>
                </a:rPr>
                <a:t> </a:t>
              </a:r>
              <a:r>
                <a:rPr lang="en-US" altLang="zh-CN" sz="1400" b="0" i="0" dirty="0">
                  <a:solidFill>
                    <a:schemeClr val="tx1">
                      <a:lumMod val="50000"/>
                    </a:schemeClr>
                  </a:solidFill>
                  <a:effectLst/>
                  <a:cs typeface="+mn-ea"/>
                  <a:sym typeface="+mn-lt"/>
                </a:rPr>
                <a:t>—</a:t>
              </a:r>
              <a:r>
                <a:rPr lang="zh-CN" altLang="en-US" sz="1400" b="0" i="0" dirty="0">
                  <a:solidFill>
                    <a:schemeClr val="tx1">
                      <a:lumMod val="50000"/>
                    </a:schemeClr>
                  </a:solidFill>
                  <a:effectLst/>
                  <a:cs typeface="+mn-ea"/>
                  <a:sym typeface="+mn-lt"/>
                </a:rPr>
                <a:t>黄仁勋，</a:t>
              </a:r>
              <a:r>
                <a:rPr lang="en-US" altLang="zh-CN" sz="1400" b="0" i="0" dirty="0">
                  <a:solidFill>
                    <a:schemeClr val="tx1">
                      <a:lumMod val="50000"/>
                    </a:schemeClr>
                  </a:solidFill>
                  <a:effectLst/>
                  <a:cs typeface="+mn-ea"/>
                  <a:sym typeface="+mn-lt"/>
                </a:rPr>
                <a:t>GTC 2024</a:t>
              </a:r>
            </a:p>
          </p:txBody>
        </p:sp>
      </p:grpSp>
      <p:sp>
        <p:nvSpPr>
          <p:cNvPr id="118" name="文本框 117">
            <a:extLst>
              <a:ext uri="{FF2B5EF4-FFF2-40B4-BE49-F238E27FC236}">
                <a16:creationId xmlns:a16="http://schemas.microsoft.com/office/drawing/2014/main" id="{72F4FE6E-086B-8A12-8254-545B59AA8384}"/>
              </a:ext>
            </a:extLst>
          </p:cNvPr>
          <p:cNvSpPr txBox="1"/>
          <p:nvPr/>
        </p:nvSpPr>
        <p:spPr>
          <a:xfrm>
            <a:off x="4718447" y="5053921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Quantum-X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InfiniBand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交换机</a:t>
            </a:r>
            <a:endParaRPr kumimoji="1" lang="en-US" altLang="zh-CN" sz="11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3568096-9799-95DE-48DD-CED2F091BF03}"/>
              </a:ext>
            </a:extLst>
          </p:cNvPr>
          <p:cNvSpPr txBox="1"/>
          <p:nvPr/>
        </p:nvSpPr>
        <p:spPr>
          <a:xfrm>
            <a:off x="402684" y="5059629"/>
            <a:ext cx="936104" cy="720978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Scale Out</a:t>
            </a:r>
          </a:p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产品布局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4EA42EC-757B-6882-31DD-52DEBF9DC4E6}"/>
              </a:ext>
            </a:extLst>
          </p:cNvPr>
          <p:cNvSpPr txBox="1"/>
          <p:nvPr/>
        </p:nvSpPr>
        <p:spPr>
          <a:xfrm>
            <a:off x="1722234" y="1461225"/>
            <a:ext cx="3821866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Scale Up</a:t>
            </a: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统治地位，强推铜到强推</a:t>
            </a: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D805C44-CD00-8C32-92FD-175EA9AA71D2}"/>
              </a:ext>
            </a:extLst>
          </p:cNvPr>
          <p:cNvSpPr txBox="1"/>
          <p:nvPr/>
        </p:nvSpPr>
        <p:spPr>
          <a:xfrm>
            <a:off x="1957829" y="5571116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25Q2</a:t>
            </a:r>
            <a:r>
              <a:rPr kumimoji="1" lang="zh-CN" altLang="en-US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交付</a:t>
            </a:r>
            <a:endParaRPr kumimoji="1" lang="en-US" altLang="zh-CN" sz="12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D42F1F0-94F0-7A4C-A5EE-5B1D888F4B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79"/>
          <a:stretch/>
        </p:blipFill>
        <p:spPr bwMode="auto">
          <a:xfrm>
            <a:off x="1802912" y="4008939"/>
            <a:ext cx="415531" cy="511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D036EFDF-1ADD-801A-C48B-0E4BD7D73D22}"/>
              </a:ext>
            </a:extLst>
          </p:cNvPr>
          <p:cNvSpPr txBox="1"/>
          <p:nvPr/>
        </p:nvSpPr>
        <p:spPr>
          <a:xfrm>
            <a:off x="2292916" y="4041562"/>
            <a:ext cx="191166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  <a:cs typeface="+mn-ea"/>
                <a:sym typeface="+mn-lt"/>
              </a:rPr>
              <a:t>NVL 72 GB300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整机柜服务器</a:t>
            </a:r>
            <a:endParaRPr kumimoji="1" lang="en-US" altLang="zh-CN" sz="11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4C1CCC6-343B-484D-317A-2DFE494B1636}"/>
              </a:ext>
            </a:extLst>
          </p:cNvPr>
          <p:cNvSpPr txBox="1"/>
          <p:nvPr/>
        </p:nvSpPr>
        <p:spPr>
          <a:xfrm>
            <a:off x="1957829" y="4597390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25.07</a:t>
            </a:r>
            <a:r>
              <a:rPr kumimoji="1" lang="zh-CN" altLang="en-US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交付</a:t>
            </a:r>
            <a:endParaRPr kumimoji="1" lang="en-US" altLang="zh-CN" sz="12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D9C8D31-DE2C-38D5-325C-E5E0875B0FCC}"/>
              </a:ext>
            </a:extLst>
          </p:cNvPr>
          <p:cNvSpPr txBox="1"/>
          <p:nvPr/>
        </p:nvSpPr>
        <p:spPr>
          <a:xfrm>
            <a:off x="4728013" y="4017639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  <a:cs typeface="+mn-ea"/>
                <a:sym typeface="+mn-lt"/>
              </a:rPr>
              <a:t>Rubin 288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整机柜服务器</a:t>
            </a:r>
            <a:endParaRPr kumimoji="1" lang="en-US" altLang="zh-CN" sz="11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47C8A2E-DBCC-6B31-BF8D-8BB0DCB054EA}"/>
              </a:ext>
            </a:extLst>
          </p:cNvPr>
          <p:cNvSpPr txBox="1"/>
          <p:nvPr/>
        </p:nvSpPr>
        <p:spPr>
          <a:xfrm>
            <a:off x="4321656" y="4565820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26Q2</a:t>
            </a:r>
            <a:r>
              <a:rPr kumimoji="1" lang="zh-CN" altLang="en-US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交付</a:t>
            </a:r>
            <a:endParaRPr kumimoji="1" lang="en-US" altLang="zh-CN" sz="12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8C53818-2416-3643-E53B-F9132A2B7732}"/>
              </a:ext>
            </a:extLst>
          </p:cNvPr>
          <p:cNvSpPr txBox="1"/>
          <p:nvPr/>
        </p:nvSpPr>
        <p:spPr>
          <a:xfrm>
            <a:off x="4321656" y="5571115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26Q2</a:t>
            </a:r>
            <a:r>
              <a:rPr kumimoji="1" lang="zh-CN" altLang="en-US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交付</a:t>
            </a:r>
            <a:endParaRPr kumimoji="1" lang="en-US" altLang="zh-CN" sz="12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49BF8719-9148-8540-80FE-BC193E92F4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39" t="-2" r="13487" b="68005"/>
          <a:stretch/>
        </p:blipFill>
        <p:spPr bwMode="auto">
          <a:xfrm>
            <a:off x="4115801" y="4084673"/>
            <a:ext cx="623104" cy="405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图片 47" descr="电脑屏幕截图&#10;&#10;AI 生成的内容可能不正确。">
            <a:extLst>
              <a:ext uri="{FF2B5EF4-FFF2-40B4-BE49-F238E27FC236}">
                <a16:creationId xmlns:a16="http://schemas.microsoft.com/office/drawing/2014/main" id="{661BD6DC-F80B-A7A2-91FF-7C5EBDC5BA4E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73" t="50628" r="12722" b="20213"/>
          <a:stretch/>
        </p:blipFill>
        <p:spPr>
          <a:xfrm>
            <a:off x="4115801" y="5118208"/>
            <a:ext cx="637526" cy="412191"/>
          </a:xfrm>
          <a:prstGeom prst="rect">
            <a:avLst/>
          </a:prstGeom>
        </p:spPr>
      </p:pic>
      <p:sp>
        <p:nvSpPr>
          <p:cNvPr id="51" name="矩形 50">
            <a:extLst>
              <a:ext uri="{FF2B5EF4-FFF2-40B4-BE49-F238E27FC236}">
                <a16:creationId xmlns:a16="http://schemas.microsoft.com/office/drawing/2014/main" id="{BAB9E579-637A-802B-F8A2-94C6E0CEEFBC}"/>
              </a:ext>
            </a:extLst>
          </p:cNvPr>
          <p:cNvSpPr/>
          <p:nvPr/>
        </p:nvSpPr>
        <p:spPr>
          <a:xfrm>
            <a:off x="411970" y="6096017"/>
            <a:ext cx="587842" cy="21920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cs typeface="+mn-ea"/>
                <a:sym typeface="+mn-lt"/>
              </a:rPr>
              <a:t>xx</a:t>
            </a:r>
            <a:endParaRPr lang="zh-CN" altLang="en-US" sz="1000" dirty="0">
              <a:cs typeface="+mn-ea"/>
              <a:sym typeface="+mn-lt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2EE96E3-1D2C-8BFF-8AC1-22DBC33714F2}"/>
              </a:ext>
            </a:extLst>
          </p:cNvPr>
          <p:cNvSpPr/>
          <p:nvPr/>
        </p:nvSpPr>
        <p:spPr>
          <a:xfrm>
            <a:off x="2525250" y="6096017"/>
            <a:ext cx="587842" cy="219206"/>
          </a:xfrm>
          <a:prstGeom prst="re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cs typeface="+mn-ea"/>
                <a:sym typeface="+mn-lt"/>
              </a:rPr>
              <a:t>xx</a:t>
            </a:r>
            <a:endParaRPr lang="zh-CN" altLang="en-US" sz="1000" dirty="0"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14E63B84-481E-70AD-816D-7D069233E2A1}"/>
              </a:ext>
            </a:extLst>
          </p:cNvPr>
          <p:cNvSpPr txBox="1"/>
          <p:nvPr/>
        </p:nvSpPr>
        <p:spPr>
          <a:xfrm>
            <a:off x="807778" y="6067121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基于铜互连</a:t>
            </a:r>
            <a:endParaRPr kumimoji="1" lang="en-US" altLang="zh-CN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E03D25C1-BFC1-CB0B-5B92-76A8D5AB2E4C}"/>
              </a:ext>
            </a:extLst>
          </p:cNvPr>
          <p:cNvSpPr txBox="1"/>
          <p:nvPr/>
        </p:nvSpPr>
        <p:spPr>
          <a:xfrm>
            <a:off x="2915624" y="6067121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基于</a:t>
            </a: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2FB27E28-9F4A-8FA7-BCFE-9AE1CE01AF6A}"/>
              </a:ext>
            </a:extLst>
          </p:cNvPr>
          <p:cNvSpPr txBox="1"/>
          <p:nvPr/>
        </p:nvSpPr>
        <p:spPr>
          <a:xfrm>
            <a:off x="6550108" y="1413384"/>
            <a:ext cx="5013241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Scale Out</a:t>
            </a: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统治地位，</a:t>
            </a:r>
            <a:r>
              <a:rPr kumimoji="1" lang="zh-CN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未来5年押注</a:t>
            </a: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实现</a:t>
            </a: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Out</a:t>
            </a: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到</a:t>
            </a: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Up</a:t>
            </a: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的渗透</a:t>
            </a:r>
            <a:endParaRPr kumimoji="1" lang="zh-CN" altLang="zh-CN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F251152D-8156-E033-5400-805507FAE389}"/>
              </a:ext>
            </a:extLst>
          </p:cNvPr>
          <p:cNvGrpSpPr/>
          <p:nvPr/>
        </p:nvGrpSpPr>
        <p:grpSpPr>
          <a:xfrm>
            <a:off x="6447847" y="1820204"/>
            <a:ext cx="4926088" cy="886261"/>
            <a:chOff x="6380443" y="5056839"/>
            <a:chExt cx="4146591" cy="927865"/>
          </a:xfrm>
        </p:grpSpPr>
        <p:pic>
          <p:nvPicPr>
            <p:cNvPr id="82" name="Picture 41" descr="Ausriss-gross">
              <a:extLst>
                <a:ext uri="{FF2B5EF4-FFF2-40B4-BE49-F238E27FC236}">
                  <a16:creationId xmlns:a16="http://schemas.microsoft.com/office/drawing/2014/main" id="{86A8C24A-F751-B001-13C5-63B17D26ECB1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6380443" y="5056839"/>
              <a:ext cx="4146591" cy="927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3" name="文本框 177">
              <a:extLst>
                <a:ext uri="{FF2B5EF4-FFF2-40B4-BE49-F238E27FC236}">
                  <a16:creationId xmlns:a16="http://schemas.microsoft.com/office/drawing/2014/main" id="{EBE25E6A-AA85-E69A-5E99-5189EB13BF28}"/>
                </a:ext>
              </a:extLst>
            </p:cNvPr>
            <p:cNvSpPr txBox="1"/>
            <p:nvPr/>
          </p:nvSpPr>
          <p:spPr>
            <a:xfrm>
              <a:off x="6498713" y="5126103"/>
              <a:ext cx="3900389" cy="7733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zh-CN" altLang="en-US" sz="14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“</a:t>
              </a:r>
              <a:r>
                <a:rPr kumimoji="1" lang="en-US" altLang="zh-CN" sz="14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CPO </a:t>
              </a:r>
              <a:r>
                <a:rPr kumimoji="1" lang="zh-CN" altLang="en-US" sz="14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是应对 </a:t>
              </a:r>
              <a:r>
                <a:rPr kumimoji="1" lang="en-US" altLang="zh-CN" sz="14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AI </a:t>
              </a:r>
              <a:r>
                <a:rPr kumimoji="1" lang="zh-CN" altLang="en-US" sz="14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集群带宽需求的关键技术，其集成化设计可显著提升系统能效”</a:t>
              </a:r>
              <a:endPara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  <a:p>
              <a:pPr algn="r"/>
              <a:r>
                <a:rPr lang="zh-CN" altLang="en-US" sz="1400" b="0" i="0" dirty="0">
                  <a:solidFill>
                    <a:schemeClr val="tx1">
                      <a:lumMod val="50000"/>
                    </a:schemeClr>
                  </a:solidFill>
                  <a:effectLst/>
                  <a:cs typeface="+mn-ea"/>
                  <a:sym typeface="+mn-lt"/>
                </a:rPr>
                <a:t> </a:t>
              </a:r>
              <a:r>
                <a:rPr lang="en-US" altLang="zh-CN" sz="1400" b="0" i="0" dirty="0">
                  <a:solidFill>
                    <a:schemeClr val="tx1">
                      <a:lumMod val="50000"/>
                    </a:schemeClr>
                  </a:solidFill>
                  <a:effectLst/>
                  <a:cs typeface="+mn-ea"/>
                  <a:sym typeface="+mn-lt"/>
                </a:rPr>
                <a:t>—</a:t>
              </a:r>
              <a:r>
                <a:rPr lang="en-US" altLang="zh-CN" sz="1400" dirty="0">
                  <a:cs typeface="+mn-ea"/>
                  <a:sym typeface="+mn-lt"/>
                </a:rPr>
                <a:t>Hock Tan</a:t>
              </a:r>
              <a:r>
                <a:rPr lang="zh-CN" altLang="en-US" sz="1400" b="0" i="0" dirty="0">
                  <a:solidFill>
                    <a:schemeClr val="tx1">
                      <a:lumMod val="50000"/>
                    </a:schemeClr>
                  </a:solidFill>
                  <a:effectLst/>
                  <a:cs typeface="+mn-ea"/>
                  <a:sym typeface="+mn-lt"/>
                </a:rPr>
                <a:t>，</a:t>
              </a:r>
              <a:r>
                <a:rPr lang="en-US" altLang="zh-CN" sz="1400" b="0" i="0" dirty="0">
                  <a:solidFill>
                    <a:schemeClr val="tx1">
                      <a:lumMod val="50000"/>
                    </a:schemeClr>
                  </a:solidFill>
                  <a:effectLst/>
                  <a:cs typeface="+mn-ea"/>
                  <a:sym typeface="+mn-lt"/>
                </a:rPr>
                <a:t>25Q2 Conference Call</a:t>
              </a:r>
            </a:p>
          </p:txBody>
        </p:sp>
      </p:grpSp>
      <p:sp>
        <p:nvSpPr>
          <p:cNvPr id="85" name="文本框 84">
            <a:extLst>
              <a:ext uri="{FF2B5EF4-FFF2-40B4-BE49-F238E27FC236}">
                <a16:creationId xmlns:a16="http://schemas.microsoft.com/office/drawing/2014/main" id="{936DE709-FEFC-64A4-3B75-B2BB3A7693D6}"/>
              </a:ext>
            </a:extLst>
          </p:cNvPr>
          <p:cNvSpPr txBox="1"/>
          <p:nvPr/>
        </p:nvSpPr>
        <p:spPr>
          <a:xfrm>
            <a:off x="6550109" y="2769653"/>
            <a:ext cx="4926088" cy="7924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zh-CN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于23年开始联合产业伙伴推动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方案，目前已在各环节实现单环节测试可靠性，但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未</a:t>
            </a:r>
            <a:r>
              <a:rPr kumimoji="1" lang="zh-CN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完整部署并获得运营数据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6FF20BF8-457E-1902-C171-AE4383E4637B}"/>
              </a:ext>
            </a:extLst>
          </p:cNvPr>
          <p:cNvSpPr txBox="1"/>
          <p:nvPr/>
        </p:nvSpPr>
        <p:spPr>
          <a:xfrm>
            <a:off x="8323716" y="5118208"/>
            <a:ext cx="1732629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Tomahawk 5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以太网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交换机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F9E1C816-0DC4-FDCB-9F3E-63A7285C0C61}"/>
              </a:ext>
            </a:extLst>
          </p:cNvPr>
          <p:cNvSpPr txBox="1"/>
          <p:nvPr/>
        </p:nvSpPr>
        <p:spPr>
          <a:xfrm>
            <a:off x="9696641" y="5223797"/>
            <a:ext cx="14106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26Q1</a:t>
            </a:r>
            <a:r>
              <a:rPr kumimoji="1" lang="zh-CN" altLang="en-US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交付</a:t>
            </a:r>
            <a:endParaRPr kumimoji="1" lang="en-US" altLang="zh-CN" sz="14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91" name="图片 90" descr="图形用户界面&#10;&#10;AI 生成的内容可能不正确。">
            <a:extLst>
              <a:ext uri="{FF2B5EF4-FFF2-40B4-BE49-F238E27FC236}">
                <a16:creationId xmlns:a16="http://schemas.microsoft.com/office/drawing/2014/main" id="{12C6F346-BF32-1098-7FA8-404964AD1B8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64" t="48548" r="8679" b="13268"/>
          <a:stretch/>
        </p:blipFill>
        <p:spPr>
          <a:xfrm>
            <a:off x="7019086" y="5218125"/>
            <a:ext cx="1136898" cy="425290"/>
          </a:xfrm>
          <a:prstGeom prst="rect">
            <a:avLst/>
          </a:prstGeom>
        </p:spPr>
      </p:pic>
      <p:sp>
        <p:nvSpPr>
          <p:cNvPr id="94" name="文本框 93">
            <a:extLst>
              <a:ext uri="{FF2B5EF4-FFF2-40B4-BE49-F238E27FC236}">
                <a16:creationId xmlns:a16="http://schemas.microsoft.com/office/drawing/2014/main" id="{C40832D3-6819-A1FD-019B-87031ADA38BB}"/>
              </a:ext>
            </a:extLst>
          </p:cNvPr>
          <p:cNvSpPr txBox="1"/>
          <p:nvPr/>
        </p:nvSpPr>
        <p:spPr>
          <a:xfrm>
            <a:off x="1697097" y="3565386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整机交付为主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2EA31D44-0FF8-EB58-409E-4D1BB627BFF2}"/>
              </a:ext>
            </a:extLst>
          </p:cNvPr>
          <p:cNvSpPr txBox="1"/>
          <p:nvPr/>
        </p:nvSpPr>
        <p:spPr>
          <a:xfrm>
            <a:off x="6366750" y="3577403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交换机核心组件为主，积极布局整机</a:t>
            </a:r>
          </a:p>
        </p:txBody>
      </p:sp>
      <p:pic>
        <p:nvPicPr>
          <p:cNvPr id="98" name="图片 97" descr="图示&#10;&#10;AI 生成的内容可能不正确。">
            <a:extLst>
              <a:ext uri="{FF2B5EF4-FFF2-40B4-BE49-F238E27FC236}">
                <a16:creationId xmlns:a16="http://schemas.microsoft.com/office/drawing/2014/main" id="{6B483AC3-A4C4-F3FB-36BF-CA0763D30E4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83" t="7282" r="5341" b="63652"/>
          <a:stretch/>
        </p:blipFill>
        <p:spPr>
          <a:xfrm>
            <a:off x="7185906" y="4103035"/>
            <a:ext cx="801515" cy="636436"/>
          </a:xfrm>
          <a:prstGeom prst="rect">
            <a:avLst/>
          </a:prstGeom>
        </p:spPr>
      </p:pic>
      <p:sp>
        <p:nvSpPr>
          <p:cNvPr id="99" name="文本框 98">
            <a:extLst>
              <a:ext uri="{FF2B5EF4-FFF2-40B4-BE49-F238E27FC236}">
                <a16:creationId xmlns:a16="http://schemas.microsoft.com/office/drawing/2014/main" id="{48751070-806F-BD3A-9A65-E465675B12CD}"/>
              </a:ext>
            </a:extLst>
          </p:cNvPr>
          <p:cNvSpPr txBox="1"/>
          <p:nvPr/>
        </p:nvSpPr>
        <p:spPr>
          <a:xfrm>
            <a:off x="8329100" y="4133120"/>
            <a:ext cx="158449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Tomahawk 6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芯片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108EC22A-7453-8CCE-88B3-8D46BB600215}"/>
              </a:ext>
            </a:extLst>
          </p:cNvPr>
          <p:cNvSpPr txBox="1"/>
          <p:nvPr/>
        </p:nvSpPr>
        <p:spPr>
          <a:xfrm>
            <a:off x="9683755" y="4257281"/>
            <a:ext cx="14106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25.06</a:t>
            </a:r>
            <a:r>
              <a:rPr kumimoji="1" lang="zh-CN" altLang="en-US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交付</a:t>
            </a:r>
            <a:endParaRPr kumimoji="1" lang="en-US" altLang="zh-CN" sz="14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3F5B50A7-8BDA-4E90-DAE8-3BB88D0D34B0}"/>
              </a:ext>
            </a:extLst>
          </p:cNvPr>
          <p:cNvSpPr txBox="1"/>
          <p:nvPr/>
        </p:nvSpPr>
        <p:spPr>
          <a:xfrm>
            <a:off x="403220" y="6444539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</a:t>
            </a:r>
          </a:p>
        </p:txBody>
      </p:sp>
      <p:cxnSp>
        <p:nvCxnSpPr>
          <p:cNvPr id="112" name="直接连接符 111">
            <a:extLst>
              <a:ext uri="{FF2B5EF4-FFF2-40B4-BE49-F238E27FC236}">
                <a16:creationId xmlns:a16="http://schemas.microsoft.com/office/drawing/2014/main" id="{626543AD-3823-A230-D15F-C420F3F10183}"/>
              </a:ext>
            </a:extLst>
          </p:cNvPr>
          <p:cNvCxnSpPr>
            <a:cxnSpLocks/>
            <a:stCxn id="110" idx="2"/>
          </p:cNvCxnSpPr>
          <p:nvPr/>
        </p:nvCxnSpPr>
        <p:spPr>
          <a:xfrm flipH="1">
            <a:off x="5840513" y="5919956"/>
            <a:ext cx="673454" cy="15259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文本框 113">
            <a:extLst>
              <a:ext uri="{FF2B5EF4-FFF2-40B4-BE49-F238E27FC236}">
                <a16:creationId xmlns:a16="http://schemas.microsoft.com/office/drawing/2014/main" id="{577DA440-306B-0311-62FF-B124E91D6FF4}"/>
              </a:ext>
            </a:extLst>
          </p:cNvPr>
          <p:cNvSpPr txBox="1"/>
          <p:nvPr/>
        </p:nvSpPr>
        <p:spPr>
          <a:xfrm>
            <a:off x="4635011" y="6051732"/>
            <a:ext cx="29516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1-2</a:t>
            </a:r>
            <a:r>
              <a:rPr kumimoji="1" lang="zh-CN" altLang="en-US" sz="1400" b="1" dirty="0">
                <a:solidFill>
                  <a:srgbClr val="0052D9"/>
                </a:solidFill>
                <a:cs typeface="+mn-ea"/>
                <a:sym typeface="+mn-lt"/>
              </a:rPr>
              <a:t>年内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CPO</a:t>
            </a:r>
            <a:r>
              <a:rPr kumimoji="1" lang="zh-CN" altLang="en-US" sz="1400" b="1" dirty="0">
                <a:solidFill>
                  <a:srgbClr val="0052D9"/>
                </a:solidFill>
                <a:cs typeface="+mn-ea"/>
                <a:sym typeface="+mn-lt"/>
              </a:rPr>
              <a:t>密集落地于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Scale Out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C906D0C-63E0-E1ED-5D8B-710370B55FE3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89451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97B2007-B7FD-C68E-DD7F-3E2CE41FC71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530207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3" name="文本框 232">
            <a:extLst>
              <a:ext uri="{FF2B5EF4-FFF2-40B4-BE49-F238E27FC236}">
                <a16:creationId xmlns:a16="http://schemas.microsoft.com/office/drawing/2014/main" id="{605C4544-84E9-82E5-A95E-0DF727A07A98}"/>
              </a:ext>
            </a:extLst>
          </p:cNvPr>
          <p:cNvSpPr txBox="1"/>
          <p:nvPr/>
        </p:nvSpPr>
        <p:spPr>
          <a:xfrm>
            <a:off x="476056" y="6488020"/>
            <a:ext cx="1073385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Morgan Stanley Research,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SemiAnalysis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专家访谈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6CB530C4-67EE-5F36-A764-580DBAB3BDCD}"/>
              </a:ext>
            </a:extLst>
          </p:cNvPr>
          <p:cNvSpPr txBox="1">
            <a:spLocks/>
          </p:cNvSpPr>
          <p:nvPr/>
        </p:nvSpPr>
        <p:spPr>
          <a:xfrm>
            <a:off x="189040" y="80875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万卡集群扩展支撑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百亿级市场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463" name="组合 1462">
            <a:extLst>
              <a:ext uri="{FF2B5EF4-FFF2-40B4-BE49-F238E27FC236}">
                <a16:creationId xmlns:a16="http://schemas.microsoft.com/office/drawing/2014/main" id="{1119B0E3-6C87-C2F3-B496-E09B199A6ED0}"/>
              </a:ext>
            </a:extLst>
          </p:cNvPr>
          <p:cNvGrpSpPr/>
          <p:nvPr/>
        </p:nvGrpSpPr>
        <p:grpSpPr>
          <a:xfrm>
            <a:off x="6229850" y="906950"/>
            <a:ext cx="5430359" cy="1436985"/>
            <a:chOff x="6288045" y="906950"/>
            <a:chExt cx="5430359" cy="1436985"/>
          </a:xfrm>
        </p:grpSpPr>
        <p:sp>
          <p:nvSpPr>
            <p:cNvPr id="232" name="straight_152520">
              <a:extLst>
                <a:ext uri="{FF2B5EF4-FFF2-40B4-BE49-F238E27FC236}">
                  <a16:creationId xmlns:a16="http://schemas.microsoft.com/office/drawing/2014/main" id="{2BA9EE65-39D9-DC2A-B670-0553D7AAC8D8}"/>
                </a:ext>
              </a:extLst>
            </p:cNvPr>
            <p:cNvSpPr/>
            <p:nvPr/>
          </p:nvSpPr>
          <p:spPr>
            <a:xfrm>
              <a:off x="6288045" y="906950"/>
              <a:ext cx="324237" cy="323781"/>
            </a:xfrm>
            <a:custGeom>
              <a:avLst/>
              <a:gdLst>
                <a:gd name="T0" fmla="*/ 228 w 457"/>
                <a:gd name="T1" fmla="*/ 0 h 457"/>
                <a:gd name="T2" fmla="*/ 0 w 457"/>
                <a:gd name="T3" fmla="*/ 228 h 457"/>
                <a:gd name="T4" fmla="*/ 228 w 457"/>
                <a:gd name="T5" fmla="*/ 457 h 457"/>
                <a:gd name="T6" fmla="*/ 457 w 457"/>
                <a:gd name="T7" fmla="*/ 228 h 457"/>
                <a:gd name="T8" fmla="*/ 228 w 457"/>
                <a:gd name="T9" fmla="*/ 0 h 457"/>
                <a:gd name="T10" fmla="*/ 144 w 457"/>
                <a:gd name="T11" fmla="*/ 152 h 457"/>
                <a:gd name="T12" fmla="*/ 177 w 457"/>
                <a:gd name="T13" fmla="*/ 185 h 457"/>
                <a:gd name="T14" fmla="*/ 144 w 457"/>
                <a:gd name="T15" fmla="*/ 218 h 457"/>
                <a:gd name="T16" fmla="*/ 111 w 457"/>
                <a:gd name="T17" fmla="*/ 185 h 457"/>
                <a:gd name="T18" fmla="*/ 144 w 457"/>
                <a:gd name="T19" fmla="*/ 152 h 457"/>
                <a:gd name="T20" fmla="*/ 324 w 457"/>
                <a:gd name="T21" fmla="*/ 359 h 457"/>
                <a:gd name="T22" fmla="*/ 133 w 457"/>
                <a:gd name="T23" fmla="*/ 359 h 457"/>
                <a:gd name="T24" fmla="*/ 113 w 457"/>
                <a:gd name="T25" fmla="*/ 339 h 457"/>
                <a:gd name="T26" fmla="*/ 133 w 457"/>
                <a:gd name="T27" fmla="*/ 319 h 457"/>
                <a:gd name="T28" fmla="*/ 324 w 457"/>
                <a:gd name="T29" fmla="*/ 319 h 457"/>
                <a:gd name="T30" fmla="*/ 344 w 457"/>
                <a:gd name="T31" fmla="*/ 339 h 457"/>
                <a:gd name="T32" fmla="*/ 324 w 457"/>
                <a:gd name="T33" fmla="*/ 359 h 457"/>
                <a:gd name="T34" fmla="*/ 313 w 457"/>
                <a:gd name="T35" fmla="*/ 218 h 457"/>
                <a:gd name="T36" fmla="*/ 280 w 457"/>
                <a:gd name="T37" fmla="*/ 185 h 457"/>
                <a:gd name="T38" fmla="*/ 313 w 457"/>
                <a:gd name="T39" fmla="*/ 152 h 457"/>
                <a:gd name="T40" fmla="*/ 345 w 457"/>
                <a:gd name="T41" fmla="*/ 185 h 457"/>
                <a:gd name="T42" fmla="*/ 313 w 457"/>
                <a:gd name="T43" fmla="*/ 218 h 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57" h="457">
                  <a:moveTo>
                    <a:pt x="228" y="0"/>
                  </a:moveTo>
                  <a:cubicBezTo>
                    <a:pt x="102" y="0"/>
                    <a:pt x="0" y="102"/>
                    <a:pt x="0" y="228"/>
                  </a:cubicBezTo>
                  <a:cubicBezTo>
                    <a:pt x="0" y="354"/>
                    <a:pt x="102" y="457"/>
                    <a:pt x="228" y="457"/>
                  </a:cubicBezTo>
                  <a:cubicBezTo>
                    <a:pt x="354" y="457"/>
                    <a:pt x="457" y="354"/>
                    <a:pt x="457" y="228"/>
                  </a:cubicBezTo>
                  <a:cubicBezTo>
                    <a:pt x="457" y="102"/>
                    <a:pt x="354" y="0"/>
                    <a:pt x="228" y="0"/>
                  </a:cubicBezTo>
                  <a:close/>
                  <a:moveTo>
                    <a:pt x="144" y="152"/>
                  </a:moveTo>
                  <a:cubicBezTo>
                    <a:pt x="162" y="152"/>
                    <a:pt x="177" y="167"/>
                    <a:pt x="177" y="185"/>
                  </a:cubicBezTo>
                  <a:cubicBezTo>
                    <a:pt x="177" y="203"/>
                    <a:pt x="162" y="218"/>
                    <a:pt x="144" y="218"/>
                  </a:cubicBezTo>
                  <a:cubicBezTo>
                    <a:pt x="126" y="218"/>
                    <a:pt x="111" y="203"/>
                    <a:pt x="111" y="185"/>
                  </a:cubicBezTo>
                  <a:cubicBezTo>
                    <a:pt x="111" y="167"/>
                    <a:pt x="126" y="152"/>
                    <a:pt x="144" y="152"/>
                  </a:cubicBezTo>
                  <a:close/>
                  <a:moveTo>
                    <a:pt x="324" y="359"/>
                  </a:moveTo>
                  <a:lnTo>
                    <a:pt x="133" y="359"/>
                  </a:lnTo>
                  <a:cubicBezTo>
                    <a:pt x="122" y="359"/>
                    <a:pt x="113" y="350"/>
                    <a:pt x="113" y="339"/>
                  </a:cubicBezTo>
                  <a:cubicBezTo>
                    <a:pt x="113" y="328"/>
                    <a:pt x="122" y="319"/>
                    <a:pt x="133" y="319"/>
                  </a:cubicBezTo>
                  <a:lnTo>
                    <a:pt x="324" y="319"/>
                  </a:lnTo>
                  <a:cubicBezTo>
                    <a:pt x="335" y="319"/>
                    <a:pt x="344" y="328"/>
                    <a:pt x="344" y="339"/>
                  </a:cubicBezTo>
                  <a:cubicBezTo>
                    <a:pt x="344" y="350"/>
                    <a:pt x="335" y="359"/>
                    <a:pt x="324" y="359"/>
                  </a:cubicBezTo>
                  <a:close/>
                  <a:moveTo>
                    <a:pt x="313" y="218"/>
                  </a:moveTo>
                  <a:cubicBezTo>
                    <a:pt x="295" y="218"/>
                    <a:pt x="280" y="203"/>
                    <a:pt x="280" y="185"/>
                  </a:cubicBezTo>
                  <a:cubicBezTo>
                    <a:pt x="280" y="167"/>
                    <a:pt x="295" y="152"/>
                    <a:pt x="313" y="152"/>
                  </a:cubicBezTo>
                  <a:cubicBezTo>
                    <a:pt x="331" y="152"/>
                    <a:pt x="345" y="167"/>
                    <a:pt x="345" y="185"/>
                  </a:cubicBezTo>
                  <a:cubicBezTo>
                    <a:pt x="345" y="203"/>
                    <a:pt x="331" y="218"/>
                    <a:pt x="313" y="218"/>
                  </a:cubicBezTo>
                  <a:close/>
                </a:path>
              </a:pathLst>
            </a:custGeom>
            <a:solidFill>
              <a:srgbClr val="0052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FD551816-CB9E-FE4B-9923-232237321159}"/>
                </a:ext>
              </a:extLst>
            </p:cNvPr>
            <p:cNvSpPr txBox="1"/>
            <p:nvPr/>
          </p:nvSpPr>
          <p:spPr>
            <a:xfrm>
              <a:off x="6742766" y="991252"/>
              <a:ext cx="3492221" cy="244216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rgbClr val="0052D9"/>
                  </a:solidFill>
                  <a:cs typeface="+mn-ea"/>
                  <a:sym typeface="+mn-lt"/>
                </a:rPr>
                <a:t>Base case</a:t>
              </a:r>
              <a:endParaRPr kumimoji="1" lang="zh-CN" altLang="en-US" sz="1600" b="1" dirty="0">
                <a:solidFill>
                  <a:schemeClr val="accent2"/>
                </a:solidFill>
                <a:cs typeface="+mn-ea"/>
                <a:sym typeface="+mn-lt"/>
              </a:endParaRPr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C8700E79-336F-457D-B468-C9D59E46DC82}"/>
                </a:ext>
              </a:extLst>
            </p:cNvPr>
            <p:cNvGrpSpPr/>
            <p:nvPr/>
          </p:nvGrpSpPr>
          <p:grpSpPr>
            <a:xfrm>
              <a:off x="6306483" y="1322982"/>
              <a:ext cx="5411921" cy="1020953"/>
              <a:chOff x="341635" y="2107778"/>
              <a:chExt cx="5934382" cy="1020953"/>
            </a:xfrm>
          </p:grpSpPr>
          <p:sp>
            <p:nvSpPr>
              <p:cNvPr id="19" name="圆角矩形 130">
                <a:extLst>
                  <a:ext uri="{FF2B5EF4-FFF2-40B4-BE49-F238E27FC236}">
                    <a16:creationId xmlns:a16="http://schemas.microsoft.com/office/drawing/2014/main" id="{62DF4FF9-8427-C473-880D-9B4B4268F820}"/>
                  </a:ext>
                </a:extLst>
              </p:cNvPr>
              <p:cNvSpPr/>
              <p:nvPr/>
            </p:nvSpPr>
            <p:spPr>
              <a:xfrm>
                <a:off x="341635" y="2107778"/>
                <a:ext cx="5934382" cy="1020953"/>
              </a:xfrm>
              <a:prstGeom prst="roundRect">
                <a:avLst>
                  <a:gd name="adj" fmla="val 5634"/>
                </a:avLst>
              </a:prstGeom>
              <a:noFill/>
              <a:ln w="6350" cap="sq">
                <a:solidFill>
                  <a:schemeClr val="tx1">
                    <a:lumMod val="50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kumimoji="1" lang="zh-CN" altLang="en-US" sz="1600" dirty="0" err="1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3E8B579A-7D5F-B81A-8B7A-A9495A39441C}"/>
                  </a:ext>
                </a:extLst>
              </p:cNvPr>
              <p:cNvSpPr txBox="1"/>
              <p:nvPr/>
            </p:nvSpPr>
            <p:spPr>
              <a:xfrm>
                <a:off x="488628" y="2203240"/>
                <a:ext cx="5607371" cy="25180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>
                <a:noAutofit/>
              </a:bodyPr>
              <a:lstStyle/>
              <a:p>
                <a:pPr marL="185738" indent="-185738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  <a:cs typeface="+mn-ea"/>
                    <a:sym typeface="+mn-lt"/>
                  </a:rPr>
                  <a:t>CAGR 172 %，2030e 收入约 </a:t>
                </a:r>
                <a:r>
                  <a:rPr kumimoji="1" lang="zh-CN" altLang="zh-CN" sz="1600" b="1" dirty="0">
                    <a:solidFill>
                      <a:srgbClr val="0052D9"/>
                    </a:solidFill>
                    <a:cs typeface="+mn-ea"/>
                    <a:sym typeface="+mn-lt"/>
                  </a:rPr>
                  <a:t>93 </a:t>
                </a:r>
                <a:r>
                  <a:rPr kumimoji="1" lang="zh-CN" altLang="zh-CN" sz="1600" dirty="0">
                    <a:solidFill>
                      <a:schemeClr val="accent6">
                        <a:lumMod val="10000"/>
                      </a:schemeClr>
                    </a:solidFill>
                    <a:cs typeface="+mn-ea"/>
                    <a:sym typeface="+mn-lt"/>
                  </a:rPr>
                  <a:t>亿美元</a:t>
                </a:r>
                <a:endParaRPr kumimoji="1" lang="en-US" altLang="zh-CN" sz="16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endParaRPr>
              </a:p>
              <a:p>
                <a:pPr marL="185738" indent="-185738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  <a:cs typeface="+mn-ea"/>
                    <a:sym typeface="+mn-lt"/>
                  </a:rPr>
                  <a:t>NVIDIA Rubin＋Broadcom TH7 开始全面替换高端可插拔模块，渗透率 ~45 %</a:t>
                </a:r>
              </a:p>
            </p:txBody>
          </p:sp>
        </p:grpSp>
      </p:grpSp>
      <p:grpSp>
        <p:nvGrpSpPr>
          <p:cNvPr id="1462" name="组合 1461">
            <a:extLst>
              <a:ext uri="{FF2B5EF4-FFF2-40B4-BE49-F238E27FC236}">
                <a16:creationId xmlns:a16="http://schemas.microsoft.com/office/drawing/2014/main" id="{5B16F916-6606-2C5F-F989-1167F32C7BE5}"/>
              </a:ext>
            </a:extLst>
          </p:cNvPr>
          <p:cNvGrpSpPr/>
          <p:nvPr/>
        </p:nvGrpSpPr>
        <p:grpSpPr>
          <a:xfrm>
            <a:off x="6229850" y="2758836"/>
            <a:ext cx="5475869" cy="1475032"/>
            <a:chOff x="6288045" y="2695433"/>
            <a:chExt cx="5475869" cy="1475032"/>
          </a:xfrm>
        </p:grpSpPr>
        <p:pic>
          <p:nvPicPr>
            <p:cNvPr id="212" name="图形 211" descr="实心填充的笑嘻嘻表情 纯色填充">
              <a:extLst>
                <a:ext uri="{FF2B5EF4-FFF2-40B4-BE49-F238E27FC236}">
                  <a16:creationId xmlns:a16="http://schemas.microsoft.com/office/drawing/2014/main" id="{AED32677-2246-9991-6357-BC5CB6589AA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288045" y="2695433"/>
              <a:ext cx="396000" cy="396000"/>
            </a:xfrm>
            <a:prstGeom prst="rect">
              <a:avLst/>
            </a:prstGeom>
          </p:spPr>
        </p:pic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B26C1BE3-5CB0-12C0-DDA9-24E13907921F}"/>
                </a:ext>
              </a:extLst>
            </p:cNvPr>
            <p:cNvSpPr txBox="1"/>
            <p:nvPr/>
          </p:nvSpPr>
          <p:spPr>
            <a:xfrm>
              <a:off x="6788276" y="2817782"/>
              <a:ext cx="3492221" cy="244216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rgbClr val="A6A6A6"/>
                  </a:solidFill>
                  <a:cs typeface="+mn-ea"/>
                  <a:sym typeface="+mn-lt"/>
                </a:rPr>
                <a:t>Bull case</a:t>
              </a:r>
              <a:endParaRPr kumimoji="1" lang="zh-CN" altLang="en-US" sz="1600" b="1" dirty="0">
                <a:solidFill>
                  <a:schemeClr val="accent2"/>
                </a:solidFill>
                <a:cs typeface="+mn-ea"/>
                <a:sym typeface="+mn-lt"/>
              </a:endParaRPr>
            </a:p>
          </p:txBody>
        </p: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C70F10C9-99E6-CE03-F2DF-EC8DBECE0140}"/>
                </a:ext>
              </a:extLst>
            </p:cNvPr>
            <p:cNvGrpSpPr/>
            <p:nvPr/>
          </p:nvGrpSpPr>
          <p:grpSpPr>
            <a:xfrm>
              <a:off x="6351993" y="3149512"/>
              <a:ext cx="5411921" cy="1020953"/>
              <a:chOff x="341635" y="2107778"/>
              <a:chExt cx="5934382" cy="1020953"/>
            </a:xfrm>
          </p:grpSpPr>
          <p:sp>
            <p:nvSpPr>
              <p:cNvPr id="25" name="圆角矩形 130">
                <a:extLst>
                  <a:ext uri="{FF2B5EF4-FFF2-40B4-BE49-F238E27FC236}">
                    <a16:creationId xmlns:a16="http://schemas.microsoft.com/office/drawing/2014/main" id="{553E7BD9-CD76-BBAF-856D-034AB9935C45}"/>
                  </a:ext>
                </a:extLst>
              </p:cNvPr>
              <p:cNvSpPr/>
              <p:nvPr/>
            </p:nvSpPr>
            <p:spPr>
              <a:xfrm>
                <a:off x="341635" y="2107778"/>
                <a:ext cx="5934382" cy="1020953"/>
              </a:xfrm>
              <a:prstGeom prst="roundRect">
                <a:avLst>
                  <a:gd name="adj" fmla="val 5634"/>
                </a:avLst>
              </a:prstGeom>
              <a:noFill/>
              <a:ln w="6350" cap="sq">
                <a:solidFill>
                  <a:schemeClr val="tx1">
                    <a:lumMod val="50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kumimoji="1" lang="zh-CN" altLang="en-US" sz="1600" dirty="0" err="1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D6E73D90-BAFB-4FD4-1E91-68E18BB1AEF8}"/>
                  </a:ext>
                </a:extLst>
              </p:cNvPr>
              <p:cNvSpPr txBox="1"/>
              <p:nvPr/>
            </p:nvSpPr>
            <p:spPr>
              <a:xfrm>
                <a:off x="488628" y="2203240"/>
                <a:ext cx="5607371" cy="25180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>
                <a:noAutofit/>
              </a:bodyPr>
              <a:lstStyle/>
              <a:p>
                <a:pPr marL="185738" indent="-185738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  <a:cs typeface="+mn-ea"/>
                    <a:sym typeface="+mn-lt"/>
                  </a:rPr>
                  <a:t>CAGR 210 %，2030e 收入约 </a:t>
                </a:r>
                <a:r>
                  <a:rPr kumimoji="1" lang="zh-CN" altLang="zh-CN" sz="1600" b="1" dirty="0">
                    <a:solidFill>
                      <a:srgbClr val="A6A6A6"/>
                    </a:solidFill>
                    <a:cs typeface="+mn-ea"/>
                    <a:sym typeface="+mn-lt"/>
                  </a:rPr>
                  <a:t>270</a:t>
                </a: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  <a:cs typeface="+mn-ea"/>
                    <a:sym typeface="+mn-lt"/>
                  </a:rPr>
                  <a:t> 亿美元</a:t>
                </a:r>
                <a:endParaRPr kumimoji="1" lang="en-US" altLang="zh-CN" sz="16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endParaRPr>
              </a:p>
              <a:p>
                <a:pPr marL="185738" indent="-185738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  <a:cs typeface="+mn-ea"/>
                    <a:sym typeface="+mn-lt"/>
                  </a:rPr>
                  <a:t>假设 CPO 方案在 800G</a:t>
                </a:r>
                <a:r>
                  <a:rPr kumimoji="1" lang="en-US" altLang="zh-CN" sz="1600" dirty="0">
                    <a:solidFill>
                      <a:schemeClr val="tx1">
                        <a:lumMod val="50000"/>
                      </a:schemeClr>
                    </a:solidFill>
                    <a:cs typeface="+mn-ea"/>
                    <a:sym typeface="+mn-lt"/>
                  </a:rPr>
                  <a:t>/</a:t>
                </a: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  <a:cs typeface="+mn-ea"/>
                    <a:sym typeface="+mn-lt"/>
                  </a:rPr>
                  <a:t>1.6T 所有节点都成为主流，渗透率&gt;60 %，并向 400 G 量级下沉</a:t>
                </a:r>
                <a:endParaRPr kumimoji="1" lang="en-US" altLang="zh-CN" sz="16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464" name="组合 1463">
            <a:extLst>
              <a:ext uri="{FF2B5EF4-FFF2-40B4-BE49-F238E27FC236}">
                <a16:creationId xmlns:a16="http://schemas.microsoft.com/office/drawing/2014/main" id="{0B5357ED-5A4E-2ECA-BADF-9C8B2A83B0AA}"/>
              </a:ext>
            </a:extLst>
          </p:cNvPr>
          <p:cNvGrpSpPr/>
          <p:nvPr/>
        </p:nvGrpSpPr>
        <p:grpSpPr>
          <a:xfrm>
            <a:off x="6229850" y="4648768"/>
            <a:ext cx="5470116" cy="1470577"/>
            <a:chOff x="6229850" y="4648768"/>
            <a:chExt cx="5470116" cy="1470577"/>
          </a:xfrm>
        </p:grpSpPr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5785EF29-3E3B-1056-EDFA-9A957B95F60D}"/>
                </a:ext>
              </a:extLst>
            </p:cNvPr>
            <p:cNvSpPr txBox="1"/>
            <p:nvPr/>
          </p:nvSpPr>
          <p:spPr>
            <a:xfrm>
              <a:off x="6724328" y="4766662"/>
              <a:ext cx="3492221" cy="244216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5"/>
                  </a:solidFill>
                  <a:cs typeface="+mn-ea"/>
                  <a:sym typeface="+mn-lt"/>
                </a:rPr>
                <a:t>Bear case</a:t>
              </a:r>
              <a:endParaRPr kumimoji="1" lang="zh-CN" altLang="en-US" sz="1600" b="1" dirty="0">
                <a:solidFill>
                  <a:schemeClr val="accent2"/>
                </a:solidFill>
                <a:cs typeface="+mn-ea"/>
                <a:sym typeface="+mn-lt"/>
              </a:endParaRPr>
            </a:p>
          </p:txBody>
        </p: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76B887FB-C16F-F745-166B-FBC2FD6C77A8}"/>
                </a:ext>
              </a:extLst>
            </p:cNvPr>
            <p:cNvGrpSpPr/>
            <p:nvPr/>
          </p:nvGrpSpPr>
          <p:grpSpPr>
            <a:xfrm>
              <a:off x="6288045" y="5098392"/>
              <a:ext cx="5411921" cy="1020953"/>
              <a:chOff x="341635" y="2107778"/>
              <a:chExt cx="5934382" cy="1020953"/>
            </a:xfrm>
          </p:grpSpPr>
          <p:sp>
            <p:nvSpPr>
              <p:cNvPr id="30" name="圆角矩形 130">
                <a:extLst>
                  <a:ext uri="{FF2B5EF4-FFF2-40B4-BE49-F238E27FC236}">
                    <a16:creationId xmlns:a16="http://schemas.microsoft.com/office/drawing/2014/main" id="{39FBF59B-ED41-C0EB-9B27-64B470BE56E1}"/>
                  </a:ext>
                </a:extLst>
              </p:cNvPr>
              <p:cNvSpPr/>
              <p:nvPr/>
            </p:nvSpPr>
            <p:spPr>
              <a:xfrm>
                <a:off x="341635" y="2107778"/>
                <a:ext cx="5934382" cy="1020953"/>
              </a:xfrm>
              <a:prstGeom prst="roundRect">
                <a:avLst>
                  <a:gd name="adj" fmla="val 5634"/>
                </a:avLst>
              </a:prstGeom>
              <a:noFill/>
              <a:ln w="6350" cap="sq">
                <a:solidFill>
                  <a:schemeClr val="tx1">
                    <a:lumMod val="50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kumimoji="1" lang="zh-CN" altLang="en-US" sz="1600" dirty="0" err="1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5CECCE4C-671F-75C0-ADA8-19D6C9B92977}"/>
                  </a:ext>
                </a:extLst>
              </p:cNvPr>
              <p:cNvSpPr txBox="1"/>
              <p:nvPr/>
            </p:nvSpPr>
            <p:spPr>
              <a:xfrm>
                <a:off x="488628" y="2203240"/>
                <a:ext cx="5607371" cy="25180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>
                <a:noAutofit/>
              </a:bodyPr>
              <a:lstStyle/>
              <a:p>
                <a:pPr marL="185738" indent="-185738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  <a:cs typeface="+mn-ea"/>
                    <a:sym typeface="+mn-lt"/>
                  </a:rPr>
                  <a:t>CAGR 107 %，2030e 收入约 </a:t>
                </a:r>
                <a:r>
                  <a:rPr kumimoji="1" lang="zh-CN" altLang="zh-CN" sz="1600" b="1" dirty="0">
                    <a:solidFill>
                      <a:schemeClr val="accent5"/>
                    </a:solidFill>
                    <a:cs typeface="+mn-ea"/>
                    <a:sym typeface="+mn-lt"/>
                  </a:rPr>
                  <a:t>10</a:t>
                </a: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  <a:cs typeface="+mn-ea"/>
                    <a:sym typeface="+mn-lt"/>
                  </a:rPr>
                  <a:t>亿美元</a:t>
                </a:r>
                <a:endParaRPr kumimoji="1" lang="zh-CN" altLang="en-US" sz="1600" dirty="0">
                  <a:solidFill>
                    <a:schemeClr val="accent5"/>
                  </a:solidFill>
                  <a:cs typeface="+mn-ea"/>
                  <a:sym typeface="+mn-lt"/>
                </a:endParaRPr>
              </a:p>
              <a:p>
                <a:pPr marL="185738" indent="-185738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zh-CN" dirty="0">
                    <a:cs typeface="+mn-ea"/>
                    <a:sym typeface="+mn-lt"/>
                  </a:rPr>
                  <a:t>只在极高端 AI 集群试点，渗透率≤15 % （渗透难点）</a:t>
                </a:r>
                <a:endParaRPr lang="zh-CN" altLang="zh-CN" dirty="0">
                  <a:cs typeface="+mn-ea"/>
                  <a:sym typeface="+mn-lt"/>
                </a:endParaRPr>
              </a:p>
            </p:txBody>
          </p:sp>
        </p:grpSp>
        <p:pic>
          <p:nvPicPr>
            <p:cNvPr id="32" name="图形 31" descr="实心填充的悲伤表情 纯色填充">
              <a:extLst>
                <a:ext uri="{FF2B5EF4-FFF2-40B4-BE49-F238E27FC236}">
                  <a16:creationId xmlns:a16="http://schemas.microsoft.com/office/drawing/2014/main" id="{2280765D-1A3A-785E-BBE1-EE0D12CB71F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229850" y="4648768"/>
              <a:ext cx="396000" cy="396000"/>
            </a:xfrm>
            <a:prstGeom prst="rect">
              <a:avLst/>
            </a:prstGeom>
          </p:spPr>
        </p:pic>
      </p:grpSp>
      <p:sp>
        <p:nvSpPr>
          <p:cNvPr id="246" name="文本框 245">
            <a:extLst>
              <a:ext uri="{FF2B5EF4-FFF2-40B4-BE49-F238E27FC236}">
                <a16:creationId xmlns:a16="http://schemas.microsoft.com/office/drawing/2014/main" id="{007138D0-E65D-096F-D2A3-D906A9C3C210}"/>
              </a:ext>
            </a:extLst>
          </p:cNvPr>
          <p:cNvSpPr txBox="1"/>
          <p:nvPr/>
        </p:nvSpPr>
        <p:spPr>
          <a:xfrm>
            <a:off x="531791" y="2350374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sz="1600" dirty="0">
                <a:solidFill>
                  <a:srgbClr val="0052D9"/>
                </a:solidFill>
                <a:cs typeface="+mn-ea"/>
                <a:sym typeface="+mn-lt"/>
              </a:rPr>
              <a:t>① 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潜在</a:t>
            </a: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端口数：</a:t>
            </a:r>
            <a:r>
              <a:rPr lang="zh-CN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zh-CN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AI/HPC GPU＋交换机</a:t>
            </a:r>
            <a:r>
              <a:rPr kumimoji="1"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，</a:t>
            </a:r>
            <a:r>
              <a:rPr kumimoji="1" lang="zh-CN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需要 800 G/1.6 T端口</a:t>
            </a:r>
            <a:r>
              <a:rPr kumimoji="1"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数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~ 2030E </a:t>
            </a:r>
            <a:r>
              <a:rPr kumimoji="1"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亿级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55E0D94-A845-FF91-EE9E-7AB523459935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B2425D9-C516-09AD-5E94-049557EDF712}"/>
              </a:ext>
            </a:extLst>
          </p:cNvPr>
          <p:cNvSpPr txBox="1"/>
          <p:nvPr/>
        </p:nvSpPr>
        <p:spPr>
          <a:xfrm>
            <a:off x="298001" y="1354549"/>
            <a:ext cx="1232094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规模</a:t>
            </a:r>
            <a:endParaRPr kumimoji="1" lang="zh-CN" altLang="zh-CN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27BAE9F-9823-B237-4957-68FCA5F5A095}"/>
              </a:ext>
            </a:extLst>
          </p:cNvPr>
          <p:cNvSpPr txBox="1"/>
          <p:nvPr/>
        </p:nvSpPr>
        <p:spPr>
          <a:xfrm>
            <a:off x="1365555" y="1354549"/>
            <a:ext cx="505839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=</a:t>
            </a:r>
            <a:endParaRPr kumimoji="1" lang="zh-CN" altLang="zh-CN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6DACD5B-DE16-69DE-2066-BC3879A9CC55}"/>
              </a:ext>
            </a:extLst>
          </p:cNvPr>
          <p:cNvSpPr txBox="1"/>
          <p:nvPr/>
        </p:nvSpPr>
        <p:spPr>
          <a:xfrm>
            <a:off x="1812547" y="1297470"/>
            <a:ext cx="1618207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潜在</a:t>
            </a: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端口数</a:t>
            </a:r>
            <a:endParaRPr kumimoji="1" lang="zh-CN" altLang="zh-CN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B9D7279-47FF-2F21-0A47-281BCE8ECF50}"/>
              </a:ext>
            </a:extLst>
          </p:cNvPr>
          <p:cNvSpPr txBox="1"/>
          <p:nvPr/>
        </p:nvSpPr>
        <p:spPr>
          <a:xfrm>
            <a:off x="3330591" y="1354549"/>
            <a:ext cx="505839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×</a:t>
            </a:r>
            <a:endParaRPr kumimoji="1" lang="zh-CN" altLang="zh-CN" sz="16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8438D37-34DE-F2B2-50A8-7BE8D5349F7D}"/>
              </a:ext>
            </a:extLst>
          </p:cNvPr>
          <p:cNvSpPr txBox="1"/>
          <p:nvPr/>
        </p:nvSpPr>
        <p:spPr>
          <a:xfrm>
            <a:off x="3695892" y="1297470"/>
            <a:ext cx="1029519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渗透率</a:t>
            </a:r>
            <a:endParaRPr kumimoji="1" lang="zh-CN" altLang="zh-CN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76084F8-3C2E-95F7-D987-4E998EAC842D}"/>
              </a:ext>
            </a:extLst>
          </p:cNvPr>
          <p:cNvSpPr txBox="1"/>
          <p:nvPr/>
        </p:nvSpPr>
        <p:spPr>
          <a:xfrm>
            <a:off x="4536869" y="1354549"/>
            <a:ext cx="505839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×</a:t>
            </a:r>
            <a:endParaRPr kumimoji="1" lang="zh-CN" altLang="zh-CN" sz="16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F4EFB10A-3910-C3DA-C6B6-9D01AAFD7F45}"/>
              </a:ext>
            </a:extLst>
          </p:cNvPr>
          <p:cNvSpPr txBox="1"/>
          <p:nvPr/>
        </p:nvSpPr>
        <p:spPr>
          <a:xfrm>
            <a:off x="4878167" y="1354549"/>
            <a:ext cx="801798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单价</a:t>
            </a:r>
            <a:endParaRPr kumimoji="1" lang="zh-CN" altLang="zh-CN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D970D7C-F5F9-ECFD-AD67-E3D4600CD30E}"/>
              </a:ext>
            </a:extLst>
          </p:cNvPr>
          <p:cNvSpPr txBox="1"/>
          <p:nvPr/>
        </p:nvSpPr>
        <p:spPr>
          <a:xfrm>
            <a:off x="2368730" y="1643914"/>
            <a:ext cx="50584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sz="1600" dirty="0">
                <a:solidFill>
                  <a:srgbClr val="0052D9"/>
                </a:solidFill>
                <a:cs typeface="+mn-ea"/>
                <a:sym typeface="+mn-lt"/>
              </a:rPr>
              <a:t>①</a:t>
            </a:r>
            <a:endParaRPr kumimoji="1" lang="zh-CN" altLang="zh-CN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993D6221-5B57-F054-67C1-B25529A7F405}"/>
              </a:ext>
            </a:extLst>
          </p:cNvPr>
          <p:cNvSpPr txBox="1"/>
          <p:nvPr/>
        </p:nvSpPr>
        <p:spPr>
          <a:xfrm>
            <a:off x="3401547" y="1643914"/>
            <a:ext cx="1618207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sz="1600" dirty="0">
                <a:solidFill>
                  <a:srgbClr val="0052D9"/>
                </a:solidFill>
                <a:cs typeface="+mn-ea"/>
                <a:sym typeface="+mn-lt"/>
              </a:rPr>
              <a:t>②</a:t>
            </a:r>
            <a:endParaRPr kumimoji="1" lang="zh-CN" altLang="zh-CN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5AE4E23-3BC8-BD0D-4C64-FA8CA2612388}"/>
              </a:ext>
            </a:extLst>
          </p:cNvPr>
          <p:cNvSpPr/>
          <p:nvPr/>
        </p:nvSpPr>
        <p:spPr>
          <a:xfrm>
            <a:off x="1812547" y="1102824"/>
            <a:ext cx="1618207" cy="869703"/>
          </a:xfrm>
          <a:prstGeom prst="rect">
            <a:avLst/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CBFDE41-5061-F099-1BC2-01148CE5B2EA}"/>
              </a:ext>
            </a:extLst>
          </p:cNvPr>
          <p:cNvSpPr/>
          <p:nvPr/>
        </p:nvSpPr>
        <p:spPr>
          <a:xfrm>
            <a:off x="3770013" y="1104123"/>
            <a:ext cx="846345" cy="869703"/>
          </a:xfrm>
          <a:prstGeom prst="rect">
            <a:avLst/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337F170-FF3C-B0FB-45C8-D91B37556731}"/>
              </a:ext>
            </a:extLst>
          </p:cNvPr>
          <p:cNvSpPr txBox="1"/>
          <p:nvPr/>
        </p:nvSpPr>
        <p:spPr>
          <a:xfrm>
            <a:off x="531791" y="4628517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新建优先渗透：为避免重置成本，新建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IDC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对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的态度为能用则用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Amazon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Meta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、谷歌、</a:t>
            </a:r>
            <a:r>
              <a:rPr kumimoji="1" lang="en-US" altLang="zh-CN" sz="1600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xAI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建立十万卡集群，必须用光互连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5349C5BE-A87A-77D9-6DB7-D19BE60C5476}"/>
              </a:ext>
            </a:extLst>
          </p:cNvPr>
          <p:cNvSpPr/>
          <p:nvPr/>
        </p:nvSpPr>
        <p:spPr>
          <a:xfrm>
            <a:off x="531791" y="3337336"/>
            <a:ext cx="5269570" cy="1165403"/>
          </a:xfrm>
          <a:prstGeom prst="roundRect">
            <a:avLst>
              <a:gd name="adj" fmla="val 3687"/>
            </a:avLst>
          </a:prstGeom>
          <a:solidFill>
            <a:schemeClr val="tx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25000"/>
              </a:lnSpc>
            </a:pPr>
            <a:r>
              <a:rPr lang="zh-CN" altLang="en-US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“</a:t>
            </a: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Meta</a:t>
            </a:r>
            <a:r>
              <a:rPr lang="zh-CN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的</a:t>
            </a: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HPC</a:t>
            </a:r>
            <a:r>
              <a:rPr lang="zh-CN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集群中，</a:t>
            </a: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35%</a:t>
            </a:r>
            <a:r>
              <a:rPr lang="zh-CN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的连接方案已采用</a:t>
            </a: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lang="zh-CN" altLang="en-US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”</a:t>
            </a:r>
            <a:endParaRPr lang="en-US" altLang="zh-CN" sz="16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algn="r">
              <a:lnSpc>
                <a:spcPct val="125000"/>
              </a:lnSpc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—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博通高速互联系统架构师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65963EA-EBFF-93D4-982F-2F493F18C7FF}"/>
              </a:ext>
            </a:extLst>
          </p:cNvPr>
          <p:cNvSpPr txBox="1"/>
          <p:nvPr/>
        </p:nvSpPr>
        <p:spPr>
          <a:xfrm>
            <a:off x="436729" y="2873004"/>
            <a:ext cx="74061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sz="1600" dirty="0">
                <a:solidFill>
                  <a:srgbClr val="0052D9"/>
                </a:solidFill>
                <a:cs typeface="+mn-ea"/>
                <a:sym typeface="+mn-lt"/>
              </a:rPr>
              <a:t>②</a:t>
            </a:r>
            <a:r>
              <a:rPr kumimoji="1"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渗透率：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HPC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集群新建支撑高渗透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47276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hink-cell data - do not delete" hidden="1">
            <a:extLst>
              <a:ext uri="{FF2B5EF4-FFF2-40B4-BE49-F238E27FC236}">
                <a16:creationId xmlns:a16="http://schemas.microsoft.com/office/drawing/2014/main" id="{E3CE0BBF-9994-4AD6-A649-87D5C200ECB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970408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" name="箭头: 右 124">
            <a:extLst>
              <a:ext uri="{FF2B5EF4-FFF2-40B4-BE49-F238E27FC236}">
                <a16:creationId xmlns:a16="http://schemas.microsoft.com/office/drawing/2014/main" id="{B54D6428-1440-4442-D9A5-01301A082C02}"/>
              </a:ext>
            </a:extLst>
          </p:cNvPr>
          <p:cNvSpPr/>
          <p:nvPr/>
        </p:nvSpPr>
        <p:spPr>
          <a:xfrm>
            <a:off x="4327413" y="3290592"/>
            <a:ext cx="3373461" cy="546360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rgbClr val="0052D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箭头: 右 117">
            <a:extLst>
              <a:ext uri="{FF2B5EF4-FFF2-40B4-BE49-F238E27FC236}">
                <a16:creationId xmlns:a16="http://schemas.microsoft.com/office/drawing/2014/main" id="{07D1418C-9CEF-AD27-80D1-B04D5CF5A32D}"/>
              </a:ext>
            </a:extLst>
          </p:cNvPr>
          <p:cNvSpPr/>
          <p:nvPr/>
        </p:nvSpPr>
        <p:spPr>
          <a:xfrm>
            <a:off x="4327413" y="1606483"/>
            <a:ext cx="3386663" cy="578979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rgbClr val="0052D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箭头: 右 125">
            <a:extLst>
              <a:ext uri="{FF2B5EF4-FFF2-40B4-BE49-F238E27FC236}">
                <a16:creationId xmlns:a16="http://schemas.microsoft.com/office/drawing/2014/main" id="{6CCC3114-A1C0-D36B-2A33-9DEC32A61AE9}"/>
              </a:ext>
            </a:extLst>
          </p:cNvPr>
          <p:cNvSpPr/>
          <p:nvPr/>
        </p:nvSpPr>
        <p:spPr>
          <a:xfrm>
            <a:off x="4327413" y="4789936"/>
            <a:ext cx="3386663" cy="534464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rgbClr val="0052D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8" name="组合 177">
            <a:extLst>
              <a:ext uri="{FF2B5EF4-FFF2-40B4-BE49-F238E27FC236}">
                <a16:creationId xmlns:a16="http://schemas.microsoft.com/office/drawing/2014/main" id="{1229F559-6349-7093-3523-BD18CF0D5EB5}"/>
              </a:ext>
            </a:extLst>
          </p:cNvPr>
          <p:cNvGrpSpPr/>
          <p:nvPr/>
        </p:nvGrpSpPr>
        <p:grpSpPr>
          <a:xfrm>
            <a:off x="3984798" y="2908263"/>
            <a:ext cx="1480717" cy="983134"/>
            <a:chOff x="3057321" y="2990360"/>
            <a:chExt cx="1480717" cy="983134"/>
          </a:xfrm>
        </p:grpSpPr>
        <p:grpSp>
          <p:nvGrpSpPr>
            <p:cNvPr id="179" name="组合 178">
              <a:extLst>
                <a:ext uri="{FF2B5EF4-FFF2-40B4-BE49-F238E27FC236}">
                  <a16:creationId xmlns:a16="http://schemas.microsoft.com/office/drawing/2014/main" id="{802B6849-8BD3-5037-7F80-3542AD40AC84}"/>
                </a:ext>
              </a:extLst>
            </p:cNvPr>
            <p:cNvGrpSpPr/>
            <p:nvPr/>
          </p:nvGrpSpPr>
          <p:grpSpPr>
            <a:xfrm>
              <a:off x="3057321" y="2990360"/>
              <a:ext cx="1480717" cy="983134"/>
              <a:chOff x="3041057" y="3910778"/>
              <a:chExt cx="1480717" cy="983134"/>
            </a:xfrm>
          </p:grpSpPr>
          <p:sp>
            <p:nvSpPr>
              <p:cNvPr id="181" name="椭圆 180">
                <a:extLst>
                  <a:ext uri="{FF2B5EF4-FFF2-40B4-BE49-F238E27FC236}">
                    <a16:creationId xmlns:a16="http://schemas.microsoft.com/office/drawing/2014/main" id="{EBDF5A6E-5D4C-D8AF-811D-2D6A7EB957F8}"/>
                  </a:ext>
                </a:extLst>
              </p:cNvPr>
              <p:cNvSpPr/>
              <p:nvPr/>
            </p:nvSpPr>
            <p:spPr>
              <a:xfrm>
                <a:off x="3494132" y="3910778"/>
                <a:ext cx="565200" cy="565200"/>
              </a:xfrm>
              <a:prstGeom prst="ellipse">
                <a:avLst/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cs typeface="+mn-ea"/>
                  <a:sym typeface="+mn-lt"/>
                </a:endParaRPr>
              </a:p>
            </p:txBody>
          </p:sp>
          <p:sp>
            <p:nvSpPr>
              <p:cNvPr id="182" name="文本框 181">
                <a:extLst>
                  <a:ext uri="{FF2B5EF4-FFF2-40B4-BE49-F238E27FC236}">
                    <a16:creationId xmlns:a16="http://schemas.microsoft.com/office/drawing/2014/main" id="{D77BE2C8-6BE5-DF2A-CE04-591001B9F949}"/>
                  </a:ext>
                </a:extLst>
              </p:cNvPr>
              <p:cNvSpPr txBox="1"/>
              <p:nvPr/>
            </p:nvSpPr>
            <p:spPr>
              <a:xfrm>
                <a:off x="3041057" y="4493802"/>
                <a:ext cx="148071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 dirty="0">
                    <a:cs typeface="+mn-ea"/>
                    <a:sym typeface="+mn-lt"/>
                  </a:rPr>
                  <a:t>新易盛</a:t>
                </a:r>
                <a:endParaRPr lang="en-US" altLang="zh-CN" sz="1000" dirty="0">
                  <a:cs typeface="+mn-ea"/>
                  <a:sym typeface="+mn-lt"/>
                </a:endParaRPr>
              </a:p>
              <a:p>
                <a:pPr algn="ctr"/>
                <a:r>
                  <a:rPr lang="en-US" altLang="zh-CN" sz="1000" dirty="0">
                    <a:cs typeface="+mn-ea"/>
                    <a:sym typeface="+mn-lt"/>
                  </a:rPr>
                  <a:t>2008</a:t>
                </a:r>
                <a:r>
                  <a:rPr lang="en-US" altLang="zh-CN" sz="1000" baseline="30000" dirty="0">
                    <a:cs typeface="+mn-ea"/>
                    <a:sym typeface="+mn-lt"/>
                  </a:rPr>
                  <a:t>1</a:t>
                </a:r>
              </a:p>
            </p:txBody>
          </p:sp>
        </p:grpSp>
        <p:sp>
          <p:nvSpPr>
            <p:cNvPr id="180" name="文本框 179">
              <a:extLst>
                <a:ext uri="{FF2B5EF4-FFF2-40B4-BE49-F238E27FC236}">
                  <a16:creationId xmlns:a16="http://schemas.microsoft.com/office/drawing/2014/main" id="{2B35EC03-62E4-3CBA-4945-3320AE652D4A}"/>
                </a:ext>
              </a:extLst>
            </p:cNvPr>
            <p:cNvSpPr txBox="1"/>
            <p:nvPr/>
          </p:nvSpPr>
          <p:spPr>
            <a:xfrm>
              <a:off x="3515739" y="3156372"/>
              <a:ext cx="56388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solidFill>
                    <a:schemeClr val="bg1"/>
                  </a:solidFill>
                  <a:cs typeface="+mn-ea"/>
                  <a:sym typeface="+mn-lt"/>
                </a:rPr>
                <a:t>294</a:t>
              </a:r>
              <a:endParaRPr lang="zh-CN" altLang="en-US" sz="1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719D8D22-6E43-8138-D098-C77CC3575224}"/>
              </a:ext>
            </a:extLst>
          </p:cNvPr>
          <p:cNvGrpSpPr/>
          <p:nvPr/>
        </p:nvGrpSpPr>
        <p:grpSpPr>
          <a:xfrm>
            <a:off x="7342117" y="1466164"/>
            <a:ext cx="1480717" cy="1021140"/>
            <a:chOff x="2854288" y="1498237"/>
            <a:chExt cx="1480717" cy="1021140"/>
          </a:xfrm>
        </p:grpSpPr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D2057720-8647-C162-D7DB-D09E13E54079}"/>
                </a:ext>
              </a:extLst>
            </p:cNvPr>
            <p:cNvSpPr txBox="1"/>
            <p:nvPr/>
          </p:nvSpPr>
          <p:spPr>
            <a:xfrm>
              <a:off x="2854288" y="2119267"/>
              <a:ext cx="1480717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 err="1">
                  <a:cs typeface="+mn-ea"/>
                  <a:sym typeface="+mn-lt"/>
                </a:rPr>
                <a:t>LightMatter</a:t>
              </a:r>
              <a:endParaRPr lang="en-US" altLang="zh-CN" sz="1000" dirty="0">
                <a:cs typeface="+mn-ea"/>
                <a:sym typeface="+mn-lt"/>
              </a:endParaRPr>
            </a:p>
            <a:p>
              <a:pPr algn="ctr"/>
              <a:r>
                <a:rPr lang="en-US" altLang="zh-CN" sz="1000" dirty="0">
                  <a:cs typeface="+mn-ea"/>
                  <a:sym typeface="+mn-lt"/>
                </a:rPr>
                <a:t>2024 D</a:t>
              </a:r>
              <a:r>
                <a:rPr lang="zh-CN" altLang="en-US" sz="1000" dirty="0">
                  <a:cs typeface="+mn-ea"/>
                  <a:sym typeface="+mn-lt"/>
                </a:rPr>
                <a:t>轮</a:t>
              </a:r>
              <a:endParaRPr lang="en-US" altLang="zh-CN" sz="1000" dirty="0">
                <a:cs typeface="+mn-ea"/>
                <a:sym typeface="+mn-lt"/>
              </a:endParaRPr>
            </a:p>
          </p:txBody>
        </p:sp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045BDFD1-047E-3AC9-9666-9CF88163EA1E}"/>
                </a:ext>
              </a:extLst>
            </p:cNvPr>
            <p:cNvGrpSpPr/>
            <p:nvPr/>
          </p:nvGrpSpPr>
          <p:grpSpPr>
            <a:xfrm>
              <a:off x="3239844" y="1498237"/>
              <a:ext cx="684000" cy="684000"/>
              <a:chOff x="3749018" y="1403528"/>
              <a:chExt cx="684000" cy="684000"/>
            </a:xfrm>
          </p:grpSpPr>
          <p:sp>
            <p:nvSpPr>
              <p:cNvPr id="56" name="椭圆 55">
                <a:extLst>
                  <a:ext uri="{FF2B5EF4-FFF2-40B4-BE49-F238E27FC236}">
                    <a16:creationId xmlns:a16="http://schemas.microsoft.com/office/drawing/2014/main" id="{6E888A2D-7C24-3464-F071-59D009A78896}"/>
                  </a:ext>
                </a:extLst>
              </p:cNvPr>
              <p:cNvSpPr/>
              <p:nvPr/>
            </p:nvSpPr>
            <p:spPr>
              <a:xfrm>
                <a:off x="3749018" y="1403528"/>
                <a:ext cx="684000" cy="68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cs typeface="+mn-ea"/>
                  <a:sym typeface="+mn-lt"/>
                </a:endParaRPr>
              </a:p>
            </p:txBody>
          </p:sp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E25553AA-8FBC-CFE0-A0B5-06F72A7136DB}"/>
                  </a:ext>
                </a:extLst>
              </p:cNvPr>
              <p:cNvSpPr txBox="1"/>
              <p:nvPr/>
            </p:nvSpPr>
            <p:spPr>
              <a:xfrm>
                <a:off x="3809078" y="1622417"/>
                <a:ext cx="563880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solidFill>
                      <a:schemeClr val="accent6">
                        <a:lumMod val="10000"/>
                      </a:schemeClr>
                    </a:solidFill>
                    <a:cs typeface="+mn-ea"/>
                    <a:sym typeface="+mn-lt"/>
                  </a:rPr>
                  <a:t>4.4B</a:t>
                </a:r>
                <a:endParaRPr lang="zh-CN" altLang="en-US" sz="1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071474D3-1584-BCB1-6F7B-C9DF3CED2E14}"/>
              </a:ext>
            </a:extLst>
          </p:cNvPr>
          <p:cNvGrpSpPr/>
          <p:nvPr/>
        </p:nvGrpSpPr>
        <p:grpSpPr>
          <a:xfrm>
            <a:off x="7238044" y="3455964"/>
            <a:ext cx="1480717" cy="712522"/>
            <a:chOff x="2854288" y="1806855"/>
            <a:chExt cx="1480717" cy="712522"/>
          </a:xfrm>
        </p:grpSpPr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041DF03C-7F9E-2D12-E9DF-78979F8E6D54}"/>
                </a:ext>
              </a:extLst>
            </p:cNvPr>
            <p:cNvSpPr txBox="1"/>
            <p:nvPr/>
          </p:nvSpPr>
          <p:spPr>
            <a:xfrm>
              <a:off x="2854288" y="2119267"/>
              <a:ext cx="1480717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 err="1">
                  <a:cs typeface="+mn-ea"/>
                  <a:sym typeface="+mn-lt"/>
                </a:rPr>
                <a:t>AyarLabs</a:t>
              </a:r>
              <a:endParaRPr lang="en-US" altLang="zh-CN" sz="1000" dirty="0">
                <a:cs typeface="+mn-ea"/>
                <a:sym typeface="+mn-lt"/>
              </a:endParaRPr>
            </a:p>
            <a:p>
              <a:pPr algn="ctr"/>
              <a:r>
                <a:rPr lang="en-US" altLang="zh-CN" sz="1000" dirty="0">
                  <a:cs typeface="+mn-ea"/>
                  <a:sym typeface="+mn-lt"/>
                </a:rPr>
                <a:t>2024 D</a:t>
              </a:r>
              <a:r>
                <a:rPr lang="zh-CN" altLang="en-US" sz="1000" dirty="0">
                  <a:cs typeface="+mn-ea"/>
                  <a:sym typeface="+mn-lt"/>
                </a:rPr>
                <a:t>轮</a:t>
              </a:r>
              <a:endParaRPr lang="en-US" altLang="zh-CN" sz="1000" dirty="0">
                <a:cs typeface="+mn-ea"/>
                <a:sym typeface="+mn-lt"/>
              </a:endParaRP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3E00C53D-550A-0449-61D5-93B181545914}"/>
                </a:ext>
              </a:extLst>
            </p:cNvPr>
            <p:cNvGrpSpPr/>
            <p:nvPr/>
          </p:nvGrpSpPr>
          <p:grpSpPr>
            <a:xfrm>
              <a:off x="3299904" y="1806855"/>
              <a:ext cx="563880" cy="327600"/>
              <a:chOff x="3809078" y="1712146"/>
              <a:chExt cx="563880" cy="327600"/>
            </a:xfrm>
          </p:grpSpPr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AE1DB967-06E2-C9F8-F5BB-9AC980FB6662}"/>
                  </a:ext>
                </a:extLst>
              </p:cNvPr>
              <p:cNvSpPr/>
              <p:nvPr/>
            </p:nvSpPr>
            <p:spPr>
              <a:xfrm>
                <a:off x="3935825" y="1712146"/>
                <a:ext cx="327600" cy="327600"/>
              </a:xfrm>
              <a:prstGeom prst="ellipse">
                <a:avLst/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cs typeface="+mn-ea"/>
                  <a:sym typeface="+mn-lt"/>
                </a:endParaRPr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5BF3B015-06B4-4E21-8C05-EF5F6D82D47B}"/>
                  </a:ext>
                </a:extLst>
              </p:cNvPr>
              <p:cNvSpPr txBox="1"/>
              <p:nvPr/>
            </p:nvSpPr>
            <p:spPr>
              <a:xfrm>
                <a:off x="3809078" y="1750808"/>
                <a:ext cx="563880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solidFill>
                      <a:schemeClr val="bg1"/>
                    </a:solidFill>
                    <a:cs typeface="+mn-ea"/>
                    <a:sym typeface="+mn-lt"/>
                  </a:rPr>
                  <a:t>1B</a:t>
                </a:r>
                <a:endParaRPr lang="zh-CN" altLang="en-US" sz="1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71" name="组合 170">
            <a:extLst>
              <a:ext uri="{FF2B5EF4-FFF2-40B4-BE49-F238E27FC236}">
                <a16:creationId xmlns:a16="http://schemas.microsoft.com/office/drawing/2014/main" id="{9872BA1E-85BB-C62A-88FE-B0519CC259FB}"/>
              </a:ext>
            </a:extLst>
          </p:cNvPr>
          <p:cNvGrpSpPr/>
          <p:nvPr/>
        </p:nvGrpSpPr>
        <p:grpSpPr>
          <a:xfrm>
            <a:off x="3350315" y="2881245"/>
            <a:ext cx="1480717" cy="1018888"/>
            <a:chOff x="3057321" y="2954606"/>
            <a:chExt cx="1480717" cy="1018888"/>
          </a:xfrm>
        </p:grpSpPr>
        <p:grpSp>
          <p:nvGrpSpPr>
            <p:cNvPr id="152" name="组合 151">
              <a:extLst>
                <a:ext uri="{FF2B5EF4-FFF2-40B4-BE49-F238E27FC236}">
                  <a16:creationId xmlns:a16="http://schemas.microsoft.com/office/drawing/2014/main" id="{77621AF1-9C82-C981-030C-E6A977F0FC5D}"/>
                </a:ext>
              </a:extLst>
            </p:cNvPr>
            <p:cNvGrpSpPr/>
            <p:nvPr/>
          </p:nvGrpSpPr>
          <p:grpSpPr>
            <a:xfrm>
              <a:off x="3057321" y="2954606"/>
              <a:ext cx="1480717" cy="1018888"/>
              <a:chOff x="3041057" y="3875024"/>
              <a:chExt cx="1480717" cy="1018888"/>
            </a:xfrm>
          </p:grpSpPr>
          <p:sp>
            <p:nvSpPr>
              <p:cNvPr id="12" name="椭圆 11">
                <a:extLst>
                  <a:ext uri="{FF2B5EF4-FFF2-40B4-BE49-F238E27FC236}">
                    <a16:creationId xmlns:a16="http://schemas.microsoft.com/office/drawing/2014/main" id="{97C06EB8-FD88-22F9-C353-08C3495495B2}"/>
                  </a:ext>
                </a:extLst>
              </p:cNvPr>
              <p:cNvSpPr/>
              <p:nvPr/>
            </p:nvSpPr>
            <p:spPr>
              <a:xfrm>
                <a:off x="3472224" y="3875024"/>
                <a:ext cx="624038" cy="624038"/>
              </a:xfrm>
              <a:prstGeom prst="ellipse">
                <a:avLst/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987DD744-1279-D2A2-2768-6254C29CC9E6}"/>
                  </a:ext>
                </a:extLst>
              </p:cNvPr>
              <p:cNvSpPr txBox="1"/>
              <p:nvPr/>
            </p:nvSpPr>
            <p:spPr>
              <a:xfrm>
                <a:off x="3041057" y="4493802"/>
                <a:ext cx="148071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 dirty="0">
                    <a:cs typeface="+mn-ea"/>
                    <a:sym typeface="+mn-lt"/>
                  </a:rPr>
                  <a:t>中际旭创</a:t>
                </a:r>
                <a:endParaRPr lang="en-US" altLang="zh-CN" sz="1000" dirty="0">
                  <a:cs typeface="+mn-ea"/>
                  <a:sym typeface="+mn-lt"/>
                </a:endParaRPr>
              </a:p>
              <a:p>
                <a:pPr algn="ctr"/>
                <a:r>
                  <a:rPr lang="en-US" altLang="zh-CN" sz="1000" dirty="0">
                    <a:cs typeface="+mn-ea"/>
                    <a:sym typeface="+mn-lt"/>
                  </a:rPr>
                  <a:t>2008</a:t>
                </a:r>
                <a:r>
                  <a:rPr lang="en-US" altLang="zh-CN" sz="1000" baseline="30000" dirty="0">
                    <a:cs typeface="+mn-ea"/>
                    <a:sym typeface="+mn-lt"/>
                  </a:rPr>
                  <a:t>1</a:t>
                </a:r>
              </a:p>
            </p:txBody>
          </p:sp>
        </p:grpSp>
        <p:sp>
          <p:nvSpPr>
            <p:cNvPr id="169" name="文本框 168">
              <a:extLst>
                <a:ext uri="{FF2B5EF4-FFF2-40B4-BE49-F238E27FC236}">
                  <a16:creationId xmlns:a16="http://schemas.microsoft.com/office/drawing/2014/main" id="{80BA3FB8-B5C9-49AE-AF72-2EB77069E852}"/>
                </a:ext>
              </a:extLst>
            </p:cNvPr>
            <p:cNvSpPr txBox="1"/>
            <p:nvPr/>
          </p:nvSpPr>
          <p:spPr>
            <a:xfrm>
              <a:off x="3515739" y="3156372"/>
              <a:ext cx="56388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solidFill>
                    <a:schemeClr val="bg1"/>
                  </a:solidFill>
                  <a:cs typeface="+mn-ea"/>
                  <a:sym typeface="+mn-lt"/>
                </a:rPr>
                <a:t>356</a:t>
              </a:r>
              <a:endParaRPr lang="zh-CN" altLang="en-US" sz="1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2741E33D-4C1A-087D-3EF4-F5DCF13D57DD}"/>
              </a:ext>
            </a:extLst>
          </p:cNvPr>
          <p:cNvCxnSpPr/>
          <p:nvPr/>
        </p:nvCxnSpPr>
        <p:spPr>
          <a:xfrm flipV="1">
            <a:off x="3582182" y="1229210"/>
            <a:ext cx="1853989" cy="12637"/>
          </a:xfrm>
          <a:prstGeom prst="line">
            <a:avLst/>
          </a:prstGeom>
          <a:ln w="9525">
            <a:solidFill>
              <a:srgbClr val="CCD4EA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6D268B22-3EAF-1933-4115-BF6BB0FC43E7}"/>
              </a:ext>
            </a:extLst>
          </p:cNvPr>
          <p:cNvCxnSpPr>
            <a:cxnSpLocks/>
          </p:cNvCxnSpPr>
          <p:nvPr/>
        </p:nvCxnSpPr>
        <p:spPr>
          <a:xfrm flipV="1">
            <a:off x="7124896" y="1223335"/>
            <a:ext cx="1674011" cy="11410"/>
          </a:xfrm>
          <a:prstGeom prst="line">
            <a:avLst/>
          </a:prstGeom>
          <a:ln>
            <a:solidFill>
              <a:srgbClr val="CCD4EA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E3187ED2-1948-F696-AA6D-2F00191AC35D}"/>
              </a:ext>
            </a:extLst>
          </p:cNvPr>
          <p:cNvSpPr/>
          <p:nvPr/>
        </p:nvSpPr>
        <p:spPr>
          <a:xfrm>
            <a:off x="5436171" y="3508536"/>
            <a:ext cx="1696452" cy="508319"/>
          </a:xfrm>
          <a:prstGeom prst="rect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光芯片</a:t>
            </a: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+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光源</a:t>
            </a:r>
            <a:endParaRPr lang="en-US" alt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/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15%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5FDBCAE-7D21-6AD9-72CF-643FC3F3483C}"/>
              </a:ext>
            </a:extLst>
          </p:cNvPr>
          <p:cNvSpPr/>
          <p:nvPr/>
        </p:nvSpPr>
        <p:spPr>
          <a:xfrm>
            <a:off x="8798907" y="3138460"/>
            <a:ext cx="1696452" cy="878395"/>
          </a:xfrm>
          <a:prstGeom prst="rect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硅光芯片</a:t>
            </a: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+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光源</a:t>
            </a:r>
            <a:endParaRPr lang="en-US" alt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/>
            <a:endParaRPr lang="en-US" alt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/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20%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DEA29F5-B85E-9C3A-C776-CC26850F45F7}"/>
              </a:ext>
            </a:extLst>
          </p:cNvPr>
          <p:cNvSpPr/>
          <p:nvPr/>
        </p:nvSpPr>
        <p:spPr>
          <a:xfrm>
            <a:off x="1887060" y="4525527"/>
            <a:ext cx="1696452" cy="1360035"/>
          </a:xfrm>
          <a:prstGeom prst="rect">
            <a:avLst/>
          </a:prstGeom>
          <a:solidFill>
            <a:schemeClr val="tx2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周边硬件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30%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DAD96954-7025-3347-6507-86E08C12979D}"/>
              </a:ext>
            </a:extLst>
          </p:cNvPr>
          <p:cNvCxnSpPr>
            <a:cxnSpLocks/>
          </p:cNvCxnSpPr>
          <p:nvPr/>
        </p:nvCxnSpPr>
        <p:spPr>
          <a:xfrm flipV="1">
            <a:off x="1044399" y="5882580"/>
            <a:ext cx="10479997" cy="11896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0F287F89-B6AC-F19F-C067-2B014E2E84DA}"/>
              </a:ext>
            </a:extLst>
          </p:cNvPr>
          <p:cNvSpPr txBox="1"/>
          <p:nvPr/>
        </p:nvSpPr>
        <p:spPr>
          <a:xfrm>
            <a:off x="1594728" y="786008"/>
            <a:ext cx="2278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cs typeface="+mn-ea"/>
                <a:sym typeface="+mn-lt"/>
              </a:rPr>
              <a:t>铜互连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EF94ED-F03C-93FE-0760-B5F9FDFDDBB5}"/>
              </a:ext>
            </a:extLst>
          </p:cNvPr>
          <p:cNvSpPr txBox="1"/>
          <p:nvPr/>
        </p:nvSpPr>
        <p:spPr>
          <a:xfrm>
            <a:off x="4599165" y="786008"/>
            <a:ext cx="3257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cs typeface="+mn-ea"/>
                <a:sym typeface="+mn-lt"/>
              </a:rPr>
              <a:t>可插拔光模块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1B85036-4D9C-BABA-F3E6-1B0422DCF3C0}"/>
              </a:ext>
            </a:extLst>
          </p:cNvPr>
          <p:cNvSpPr txBox="1"/>
          <p:nvPr/>
        </p:nvSpPr>
        <p:spPr>
          <a:xfrm>
            <a:off x="8425868" y="773571"/>
            <a:ext cx="2442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CPO/OIO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6858BDA8-598E-7F0D-31B3-D9B5DB69D94D}"/>
              </a:ext>
            </a:extLst>
          </p:cNvPr>
          <p:cNvSpPr/>
          <p:nvPr/>
        </p:nvSpPr>
        <p:spPr>
          <a:xfrm>
            <a:off x="1885730" y="1241847"/>
            <a:ext cx="1696452" cy="17978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连接器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+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线缆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40%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E6C877AC-DFA1-B3A6-3BDD-197638C97CDF}"/>
              </a:ext>
            </a:extLst>
          </p:cNvPr>
          <p:cNvSpPr/>
          <p:nvPr/>
        </p:nvSpPr>
        <p:spPr>
          <a:xfrm>
            <a:off x="5436171" y="2993641"/>
            <a:ext cx="1696452" cy="465118"/>
          </a:xfrm>
          <a:prstGeom prst="rect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电光接口芯片</a:t>
            </a:r>
            <a:endParaRPr lang="en-US" alt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/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10%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F2C30F79-704D-EDCA-62DA-762FF5185B7A}"/>
              </a:ext>
            </a:extLst>
          </p:cNvPr>
          <p:cNvSpPr/>
          <p:nvPr/>
        </p:nvSpPr>
        <p:spPr>
          <a:xfrm>
            <a:off x="5436171" y="1229211"/>
            <a:ext cx="1696452" cy="17146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光模块盒子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+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封装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35%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E74B6B21-3EDF-5857-FF13-E9B3825AD96D}"/>
              </a:ext>
            </a:extLst>
          </p:cNvPr>
          <p:cNvSpPr/>
          <p:nvPr/>
        </p:nvSpPr>
        <p:spPr>
          <a:xfrm>
            <a:off x="5436171" y="4061552"/>
            <a:ext cx="1696452" cy="1824010"/>
          </a:xfrm>
          <a:prstGeom prst="rect">
            <a:avLst/>
          </a:prstGeom>
          <a:solidFill>
            <a:schemeClr val="tx2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周边硬件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40%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79507488-9579-D735-186F-A4B19598F8C3}"/>
              </a:ext>
            </a:extLst>
          </p:cNvPr>
          <p:cNvSpPr/>
          <p:nvPr/>
        </p:nvSpPr>
        <p:spPr>
          <a:xfrm>
            <a:off x="8798907" y="2430584"/>
            <a:ext cx="1696452" cy="653572"/>
          </a:xfrm>
          <a:prstGeom prst="rect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电光接口芯片</a:t>
            </a:r>
            <a:endParaRPr lang="en-US" alt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/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（高速接口）</a:t>
            </a:r>
            <a:endParaRPr lang="en-US" alt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/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15%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D458DE78-FF25-460B-DD9F-EB84CF8D3BFA}"/>
              </a:ext>
            </a:extLst>
          </p:cNvPr>
          <p:cNvSpPr/>
          <p:nvPr/>
        </p:nvSpPr>
        <p:spPr>
          <a:xfrm>
            <a:off x="8798907" y="4061552"/>
            <a:ext cx="1696452" cy="1824010"/>
          </a:xfrm>
          <a:prstGeom prst="rect">
            <a:avLst/>
          </a:prstGeom>
          <a:solidFill>
            <a:schemeClr val="tx2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周边硬件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40%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43BA684A-C8E7-351B-CD78-7657E05AFD99}"/>
              </a:ext>
            </a:extLst>
          </p:cNvPr>
          <p:cNvSpPr/>
          <p:nvPr/>
        </p:nvSpPr>
        <p:spPr>
          <a:xfrm>
            <a:off x="8798907" y="1229210"/>
            <a:ext cx="1696452" cy="115263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交换机芯片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+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光引擎封装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25%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8" name="标题 1">
            <a:extLst>
              <a:ext uri="{FF2B5EF4-FFF2-40B4-BE49-F238E27FC236}">
                <a16:creationId xmlns:a16="http://schemas.microsoft.com/office/drawing/2014/main" id="{EF5ABABB-ED9A-ABDA-9DE0-B0D64C9D8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" y="49990"/>
            <a:ext cx="9677146" cy="731520"/>
          </a:xfrm>
        </p:spPr>
        <p:txBody>
          <a:bodyPr vert="horz"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互连技术范式变革带来新的市场机会</a:t>
            </a:r>
          </a:p>
        </p:txBody>
      </p:sp>
      <p:sp>
        <p:nvSpPr>
          <p:cNvPr id="102" name="任意多边形: 形状 101">
            <a:extLst>
              <a:ext uri="{FF2B5EF4-FFF2-40B4-BE49-F238E27FC236}">
                <a16:creationId xmlns:a16="http://schemas.microsoft.com/office/drawing/2014/main" id="{1CB43920-42D5-86FB-D43B-7FED7D566651}"/>
              </a:ext>
            </a:extLst>
          </p:cNvPr>
          <p:cNvSpPr/>
          <p:nvPr/>
        </p:nvSpPr>
        <p:spPr>
          <a:xfrm>
            <a:off x="-585647" y="3643810"/>
            <a:ext cx="10346" cy="2367"/>
          </a:xfrm>
          <a:custGeom>
            <a:avLst/>
            <a:gdLst>
              <a:gd name="connsiteX0" fmla="*/ 10346 w 10346"/>
              <a:gd name="connsiteY0" fmla="*/ 0 h 2367"/>
              <a:gd name="connsiteX1" fmla="*/ 10346 w 10346"/>
              <a:gd name="connsiteY1" fmla="*/ 2250 h 2367"/>
              <a:gd name="connsiteX2" fmla="*/ 0 w 10346"/>
              <a:gd name="connsiteY2" fmla="*/ 2367 h 2367"/>
              <a:gd name="connsiteX3" fmla="*/ 10346 w 10346"/>
              <a:gd name="connsiteY3" fmla="*/ 0 h 2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46" h="2367">
                <a:moveTo>
                  <a:pt x="10346" y="0"/>
                </a:moveTo>
                <a:lnTo>
                  <a:pt x="10346" y="2250"/>
                </a:lnTo>
                <a:lnTo>
                  <a:pt x="0" y="2367"/>
                </a:lnTo>
                <a:lnTo>
                  <a:pt x="10346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40" name="组合 139">
            <a:extLst>
              <a:ext uri="{FF2B5EF4-FFF2-40B4-BE49-F238E27FC236}">
                <a16:creationId xmlns:a16="http://schemas.microsoft.com/office/drawing/2014/main" id="{DDC55DAB-922D-52D6-3B06-4F8C8CADAB19}"/>
              </a:ext>
            </a:extLst>
          </p:cNvPr>
          <p:cNvGrpSpPr/>
          <p:nvPr/>
        </p:nvGrpSpPr>
        <p:grpSpPr>
          <a:xfrm>
            <a:off x="4213318" y="5794529"/>
            <a:ext cx="1675054" cy="832663"/>
            <a:chOff x="3456969" y="5923128"/>
            <a:chExt cx="1675054" cy="832663"/>
          </a:xfrm>
        </p:grpSpPr>
        <p:cxnSp>
          <p:nvCxnSpPr>
            <p:cNvPr id="138" name="直接连接符 137">
              <a:extLst>
                <a:ext uri="{FF2B5EF4-FFF2-40B4-BE49-F238E27FC236}">
                  <a16:creationId xmlns:a16="http://schemas.microsoft.com/office/drawing/2014/main" id="{DBC73AFA-A015-A0D9-E1A9-5A96738DA8EA}"/>
                </a:ext>
              </a:extLst>
            </p:cNvPr>
            <p:cNvCxnSpPr/>
            <p:nvPr/>
          </p:nvCxnSpPr>
          <p:spPr>
            <a:xfrm>
              <a:off x="4294496" y="5923128"/>
              <a:ext cx="0" cy="145576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13E93844-E199-894B-3018-F62ED0A49D53}"/>
                </a:ext>
              </a:extLst>
            </p:cNvPr>
            <p:cNvSpPr txBox="1"/>
            <p:nvPr/>
          </p:nvSpPr>
          <p:spPr>
            <a:xfrm>
              <a:off x="3456969" y="6017127"/>
              <a:ext cx="167505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cs typeface="+mn-ea"/>
                  <a:sym typeface="+mn-lt"/>
                </a:rPr>
                <a:t>2010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200" dirty="0">
                  <a:solidFill>
                    <a:srgbClr val="000000"/>
                  </a:solidFill>
                  <a:cs typeface="+mn-ea"/>
                  <a:sym typeface="+mn-lt"/>
                </a:rPr>
                <a:t>光模块</a:t>
              </a:r>
              <a:r>
                <a:rPr lang="zh-CN" altLang="en-US" sz="1200" dirty="0">
                  <a:solidFill>
                    <a:srgbClr val="000000"/>
                  </a:solidFill>
                  <a:cs typeface="+mn-ea"/>
                  <a:sym typeface="+mn-lt"/>
                </a:rPr>
                <a:t>公司批量创立</a:t>
              </a:r>
              <a:endParaRPr lang="en-US" altLang="zh-CN" sz="1200" dirty="0">
                <a:solidFill>
                  <a:srgbClr val="000000"/>
                </a:solidFill>
                <a:cs typeface="+mn-ea"/>
                <a:sym typeface="+mn-lt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200" dirty="0">
                  <a:solidFill>
                    <a:srgbClr val="000000"/>
                  </a:solidFill>
                  <a:cs typeface="+mn-ea"/>
                  <a:sym typeface="+mn-lt"/>
                </a:rPr>
                <a:t>陆续成为行业龙头</a:t>
              </a:r>
              <a:endParaRPr lang="zh-CN" altLang="zh-CN" sz="1200" dirty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41" name="组合 140">
            <a:extLst>
              <a:ext uri="{FF2B5EF4-FFF2-40B4-BE49-F238E27FC236}">
                <a16:creationId xmlns:a16="http://schemas.microsoft.com/office/drawing/2014/main" id="{736FD4A2-0D97-C957-8CF1-A55E7DE80662}"/>
              </a:ext>
            </a:extLst>
          </p:cNvPr>
          <p:cNvGrpSpPr/>
          <p:nvPr/>
        </p:nvGrpSpPr>
        <p:grpSpPr>
          <a:xfrm>
            <a:off x="6763154" y="5798093"/>
            <a:ext cx="1352621" cy="842175"/>
            <a:chOff x="3616629" y="5923128"/>
            <a:chExt cx="1352621" cy="842175"/>
          </a:xfrm>
        </p:grpSpPr>
        <p:cxnSp>
          <p:nvCxnSpPr>
            <p:cNvPr id="142" name="直接连接符 141">
              <a:extLst>
                <a:ext uri="{FF2B5EF4-FFF2-40B4-BE49-F238E27FC236}">
                  <a16:creationId xmlns:a16="http://schemas.microsoft.com/office/drawing/2014/main" id="{61BBDB74-4FC1-8872-B09E-F468B6BD73CC}"/>
                </a:ext>
              </a:extLst>
            </p:cNvPr>
            <p:cNvCxnSpPr/>
            <p:nvPr/>
          </p:nvCxnSpPr>
          <p:spPr>
            <a:xfrm>
              <a:off x="4294496" y="5923128"/>
              <a:ext cx="0" cy="145576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3" name="文本框 142">
              <a:extLst>
                <a:ext uri="{FF2B5EF4-FFF2-40B4-BE49-F238E27FC236}">
                  <a16:creationId xmlns:a16="http://schemas.microsoft.com/office/drawing/2014/main" id="{3BDB373B-B879-9393-C6D9-61FED60A6FF9}"/>
                </a:ext>
              </a:extLst>
            </p:cNvPr>
            <p:cNvSpPr txBox="1"/>
            <p:nvPr/>
          </p:nvSpPr>
          <p:spPr>
            <a:xfrm>
              <a:off x="3616629" y="6026639"/>
              <a:ext cx="1352621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cs typeface="+mn-ea"/>
                  <a:sym typeface="+mn-lt"/>
                </a:rPr>
                <a:t>2020</a:t>
              </a:r>
            </a:p>
            <a:p>
              <a:pPr algn="ctr"/>
              <a:r>
                <a:rPr lang="zh-CN" altLang="en-US" sz="1200" dirty="0">
                  <a:solidFill>
                    <a:srgbClr val="000000"/>
                  </a:solidFill>
                  <a:cs typeface="+mn-ea"/>
                  <a:sym typeface="+mn-lt"/>
                </a:rPr>
                <a:t>巨头入局，相关初创获资本青睐</a:t>
              </a:r>
              <a:endParaRPr lang="zh-CN" altLang="en-US" dirty="0">
                <a:cs typeface="+mn-ea"/>
                <a:sym typeface="+mn-lt"/>
              </a:endParaRPr>
            </a:p>
          </p:txBody>
        </p: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6F761921-86DA-BE0F-CA00-6190FC8C2FC1}"/>
              </a:ext>
            </a:extLst>
          </p:cNvPr>
          <p:cNvGrpSpPr/>
          <p:nvPr/>
        </p:nvGrpSpPr>
        <p:grpSpPr>
          <a:xfrm>
            <a:off x="10374130" y="5794529"/>
            <a:ext cx="1352621" cy="530715"/>
            <a:chOff x="3618185" y="5923128"/>
            <a:chExt cx="1352621" cy="530715"/>
          </a:xfrm>
        </p:grpSpPr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9CCE399-5418-F28C-6F9D-CB74F57675AE}"/>
                </a:ext>
              </a:extLst>
            </p:cNvPr>
            <p:cNvCxnSpPr/>
            <p:nvPr/>
          </p:nvCxnSpPr>
          <p:spPr>
            <a:xfrm>
              <a:off x="4294496" y="5923128"/>
              <a:ext cx="0" cy="145576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47AD2A6B-1CD8-740B-F0A0-56331323BD0E}"/>
                </a:ext>
              </a:extLst>
            </p:cNvPr>
            <p:cNvSpPr txBox="1"/>
            <p:nvPr/>
          </p:nvSpPr>
          <p:spPr>
            <a:xfrm>
              <a:off x="3618185" y="6084511"/>
              <a:ext cx="13526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cs typeface="+mn-ea"/>
                  <a:sym typeface="+mn-lt"/>
                </a:rPr>
                <a:t>2030</a:t>
              </a:r>
              <a:endParaRPr lang="zh-CN" altLang="en-US" dirty="0">
                <a:cs typeface="+mn-ea"/>
                <a:sym typeface="+mn-lt"/>
              </a:endParaRPr>
            </a:p>
          </p:txBody>
        </p:sp>
      </p:grpSp>
      <p:sp>
        <p:nvSpPr>
          <p:cNvPr id="157" name="文本框 156">
            <a:extLst>
              <a:ext uri="{FF2B5EF4-FFF2-40B4-BE49-F238E27FC236}">
                <a16:creationId xmlns:a16="http://schemas.microsoft.com/office/drawing/2014/main" id="{36593CF7-F4B7-FCBA-D04F-0DBADBB67DFE}"/>
              </a:ext>
            </a:extLst>
          </p:cNvPr>
          <p:cNvSpPr txBox="1"/>
          <p:nvPr/>
        </p:nvSpPr>
        <p:spPr>
          <a:xfrm>
            <a:off x="310153" y="6491700"/>
            <a:ext cx="7396141" cy="27180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：日期为公司成立日</a:t>
            </a:r>
          </a:p>
        </p:txBody>
      </p:sp>
      <p:grpSp>
        <p:nvGrpSpPr>
          <p:cNvPr id="160" name="组合 159">
            <a:extLst>
              <a:ext uri="{FF2B5EF4-FFF2-40B4-BE49-F238E27FC236}">
                <a16:creationId xmlns:a16="http://schemas.microsoft.com/office/drawing/2014/main" id="{AF376F2D-4238-E92B-E360-E06A18F221AE}"/>
              </a:ext>
            </a:extLst>
          </p:cNvPr>
          <p:cNvGrpSpPr/>
          <p:nvPr/>
        </p:nvGrpSpPr>
        <p:grpSpPr>
          <a:xfrm>
            <a:off x="299389" y="1230174"/>
            <a:ext cx="1314896" cy="276999"/>
            <a:chOff x="301960" y="960085"/>
            <a:chExt cx="1314896" cy="276999"/>
          </a:xfrm>
        </p:grpSpPr>
        <p:sp>
          <p:nvSpPr>
            <p:cNvPr id="158" name="椭圆 157">
              <a:extLst>
                <a:ext uri="{FF2B5EF4-FFF2-40B4-BE49-F238E27FC236}">
                  <a16:creationId xmlns:a16="http://schemas.microsoft.com/office/drawing/2014/main" id="{9ED6EE5B-D0A8-EDCA-E1E0-1DA4EBC79000}"/>
                </a:ext>
              </a:extLst>
            </p:cNvPr>
            <p:cNvSpPr/>
            <p:nvPr/>
          </p:nvSpPr>
          <p:spPr>
            <a:xfrm>
              <a:off x="301960" y="1008464"/>
              <a:ext cx="191048" cy="191048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59" name="文本框 158">
              <a:extLst>
                <a:ext uri="{FF2B5EF4-FFF2-40B4-BE49-F238E27FC236}">
                  <a16:creationId xmlns:a16="http://schemas.microsoft.com/office/drawing/2014/main" id="{BC640DFA-62E4-CEB7-DCDE-D2181F343CC7}"/>
                </a:ext>
              </a:extLst>
            </p:cNvPr>
            <p:cNvSpPr txBox="1"/>
            <p:nvPr/>
          </p:nvSpPr>
          <p:spPr>
            <a:xfrm>
              <a:off x="470607" y="960085"/>
              <a:ext cx="1146249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市值（十亿元）</a:t>
              </a:r>
            </a:p>
          </p:txBody>
        </p:sp>
      </p:grpSp>
      <p:grpSp>
        <p:nvGrpSpPr>
          <p:cNvPr id="172" name="组合 171">
            <a:extLst>
              <a:ext uri="{FF2B5EF4-FFF2-40B4-BE49-F238E27FC236}">
                <a16:creationId xmlns:a16="http://schemas.microsoft.com/office/drawing/2014/main" id="{CDA6D744-A6A0-189E-13D9-35A8CFB36A71}"/>
              </a:ext>
            </a:extLst>
          </p:cNvPr>
          <p:cNvGrpSpPr/>
          <p:nvPr/>
        </p:nvGrpSpPr>
        <p:grpSpPr>
          <a:xfrm>
            <a:off x="3118448" y="2133406"/>
            <a:ext cx="1480717" cy="712522"/>
            <a:chOff x="2854288" y="1806855"/>
            <a:chExt cx="1480717" cy="712522"/>
          </a:xfrm>
        </p:grpSpPr>
        <p:sp>
          <p:nvSpPr>
            <p:cNvPr id="166" name="文本框 165">
              <a:extLst>
                <a:ext uri="{FF2B5EF4-FFF2-40B4-BE49-F238E27FC236}">
                  <a16:creationId xmlns:a16="http://schemas.microsoft.com/office/drawing/2014/main" id="{28CBCE1F-0CD1-1CE3-4AA2-90A455088810}"/>
                </a:ext>
              </a:extLst>
            </p:cNvPr>
            <p:cNvSpPr txBox="1"/>
            <p:nvPr/>
          </p:nvSpPr>
          <p:spPr>
            <a:xfrm>
              <a:off x="2854288" y="2119267"/>
              <a:ext cx="1480717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cs typeface="+mn-ea"/>
                  <a:sym typeface="+mn-lt"/>
                </a:rPr>
                <a:t>天孚通信</a:t>
              </a:r>
              <a:endParaRPr lang="en-US" altLang="zh-CN" sz="1000" dirty="0">
                <a:cs typeface="+mn-ea"/>
                <a:sym typeface="+mn-lt"/>
              </a:endParaRPr>
            </a:p>
            <a:p>
              <a:pPr algn="ctr"/>
              <a:r>
                <a:rPr lang="en-US" altLang="zh-CN" sz="1000" dirty="0">
                  <a:cs typeface="+mn-ea"/>
                  <a:sym typeface="+mn-lt"/>
                </a:rPr>
                <a:t>2005</a:t>
              </a:r>
              <a:r>
                <a:rPr lang="en-US" altLang="zh-CN" sz="1000" baseline="30000" dirty="0">
                  <a:cs typeface="+mn-ea"/>
                  <a:sym typeface="+mn-lt"/>
                </a:rPr>
                <a:t>1</a:t>
              </a:r>
            </a:p>
          </p:txBody>
        </p:sp>
        <p:grpSp>
          <p:nvGrpSpPr>
            <p:cNvPr id="168" name="组合 167">
              <a:extLst>
                <a:ext uri="{FF2B5EF4-FFF2-40B4-BE49-F238E27FC236}">
                  <a16:creationId xmlns:a16="http://schemas.microsoft.com/office/drawing/2014/main" id="{6709C6EA-64A7-1691-34CA-DCE9AACF3476}"/>
                </a:ext>
              </a:extLst>
            </p:cNvPr>
            <p:cNvGrpSpPr/>
            <p:nvPr/>
          </p:nvGrpSpPr>
          <p:grpSpPr>
            <a:xfrm>
              <a:off x="3299904" y="1806855"/>
              <a:ext cx="563880" cy="327600"/>
              <a:chOff x="3809078" y="1712146"/>
              <a:chExt cx="563880" cy="327600"/>
            </a:xfrm>
          </p:grpSpPr>
          <p:sp>
            <p:nvSpPr>
              <p:cNvPr id="165" name="椭圆 164">
                <a:extLst>
                  <a:ext uri="{FF2B5EF4-FFF2-40B4-BE49-F238E27FC236}">
                    <a16:creationId xmlns:a16="http://schemas.microsoft.com/office/drawing/2014/main" id="{42E463DA-43DF-2946-8741-8038DEE9660E}"/>
                  </a:ext>
                </a:extLst>
              </p:cNvPr>
              <p:cNvSpPr/>
              <p:nvPr/>
            </p:nvSpPr>
            <p:spPr>
              <a:xfrm>
                <a:off x="3935825" y="1712146"/>
                <a:ext cx="327600" cy="3276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cs typeface="+mn-ea"/>
                  <a:sym typeface="+mn-lt"/>
                </a:endParaRPr>
              </a:p>
            </p:txBody>
          </p:sp>
          <p:sp>
            <p:nvSpPr>
              <p:cNvPr id="167" name="文本框 166">
                <a:extLst>
                  <a:ext uri="{FF2B5EF4-FFF2-40B4-BE49-F238E27FC236}">
                    <a16:creationId xmlns:a16="http://schemas.microsoft.com/office/drawing/2014/main" id="{6C4EFD4E-A2CB-F52E-A8DB-25719E5FEB98}"/>
                  </a:ext>
                </a:extLst>
              </p:cNvPr>
              <p:cNvSpPr txBox="1"/>
              <p:nvPr/>
            </p:nvSpPr>
            <p:spPr>
              <a:xfrm>
                <a:off x="3809078" y="1750808"/>
                <a:ext cx="563880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solidFill>
                      <a:schemeClr val="accent6">
                        <a:lumMod val="10000"/>
                      </a:schemeClr>
                    </a:solidFill>
                    <a:cs typeface="+mn-ea"/>
                    <a:sym typeface="+mn-lt"/>
                  </a:rPr>
                  <a:t>100</a:t>
                </a:r>
                <a:endParaRPr lang="zh-CN" altLang="en-US" sz="1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73" name="组合 172">
            <a:extLst>
              <a:ext uri="{FF2B5EF4-FFF2-40B4-BE49-F238E27FC236}">
                <a16:creationId xmlns:a16="http://schemas.microsoft.com/office/drawing/2014/main" id="{9030235D-3962-E93B-7209-63EA4143648F}"/>
              </a:ext>
            </a:extLst>
          </p:cNvPr>
          <p:cNvGrpSpPr/>
          <p:nvPr/>
        </p:nvGrpSpPr>
        <p:grpSpPr>
          <a:xfrm>
            <a:off x="3224969" y="4884958"/>
            <a:ext cx="1480717" cy="639109"/>
            <a:chOff x="2865717" y="1835536"/>
            <a:chExt cx="1480717" cy="639109"/>
          </a:xfrm>
        </p:grpSpPr>
        <p:sp>
          <p:nvSpPr>
            <p:cNvPr id="174" name="文本框 173">
              <a:extLst>
                <a:ext uri="{FF2B5EF4-FFF2-40B4-BE49-F238E27FC236}">
                  <a16:creationId xmlns:a16="http://schemas.microsoft.com/office/drawing/2014/main" id="{F761F661-9F75-54D2-773E-C0C26FBF3422}"/>
                </a:ext>
              </a:extLst>
            </p:cNvPr>
            <p:cNvSpPr txBox="1"/>
            <p:nvPr/>
          </p:nvSpPr>
          <p:spPr>
            <a:xfrm>
              <a:off x="2865717" y="2074535"/>
              <a:ext cx="1480717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cs typeface="+mn-ea"/>
                  <a:sym typeface="+mn-lt"/>
                </a:rPr>
                <a:t>剑桥科技</a:t>
              </a:r>
              <a:endParaRPr lang="en-US" altLang="zh-CN" sz="1000" dirty="0">
                <a:cs typeface="+mn-ea"/>
                <a:sym typeface="+mn-lt"/>
              </a:endParaRPr>
            </a:p>
            <a:p>
              <a:pPr algn="ctr"/>
              <a:r>
                <a:rPr lang="en-US" altLang="zh-CN" sz="1000" dirty="0">
                  <a:cs typeface="+mn-ea"/>
                  <a:sym typeface="+mn-lt"/>
                </a:rPr>
                <a:t>2006</a:t>
              </a:r>
              <a:r>
                <a:rPr lang="en-US" altLang="zh-CN" sz="1000" baseline="30000" dirty="0">
                  <a:cs typeface="+mn-ea"/>
                  <a:sym typeface="+mn-lt"/>
                </a:rPr>
                <a:t>2</a:t>
              </a:r>
            </a:p>
          </p:txBody>
        </p:sp>
        <p:grpSp>
          <p:nvGrpSpPr>
            <p:cNvPr id="175" name="组合 174">
              <a:extLst>
                <a:ext uri="{FF2B5EF4-FFF2-40B4-BE49-F238E27FC236}">
                  <a16:creationId xmlns:a16="http://schemas.microsoft.com/office/drawing/2014/main" id="{9239C01C-E091-5BB3-F2BE-49CF09D60773}"/>
                </a:ext>
              </a:extLst>
            </p:cNvPr>
            <p:cNvGrpSpPr/>
            <p:nvPr/>
          </p:nvGrpSpPr>
          <p:grpSpPr>
            <a:xfrm>
              <a:off x="3324135" y="1835536"/>
              <a:ext cx="563880" cy="246221"/>
              <a:chOff x="3833309" y="1740827"/>
              <a:chExt cx="563880" cy="246221"/>
            </a:xfrm>
          </p:grpSpPr>
          <p:sp>
            <p:nvSpPr>
              <p:cNvPr id="176" name="椭圆 175">
                <a:extLst>
                  <a:ext uri="{FF2B5EF4-FFF2-40B4-BE49-F238E27FC236}">
                    <a16:creationId xmlns:a16="http://schemas.microsoft.com/office/drawing/2014/main" id="{79E6C63C-2331-A751-D9B7-F7337E062C7D}"/>
                  </a:ext>
                </a:extLst>
              </p:cNvPr>
              <p:cNvSpPr/>
              <p:nvPr/>
            </p:nvSpPr>
            <p:spPr>
              <a:xfrm>
                <a:off x="4031820" y="1778403"/>
                <a:ext cx="166861" cy="16686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cs typeface="+mn-ea"/>
                  <a:sym typeface="+mn-lt"/>
                </a:endParaRPr>
              </a:p>
            </p:txBody>
          </p:sp>
          <p:sp>
            <p:nvSpPr>
              <p:cNvPr id="177" name="文本框 176">
                <a:extLst>
                  <a:ext uri="{FF2B5EF4-FFF2-40B4-BE49-F238E27FC236}">
                    <a16:creationId xmlns:a16="http://schemas.microsoft.com/office/drawing/2014/main" id="{7E8AC346-F5A4-C03C-02F8-567D3A52D94F}"/>
                  </a:ext>
                </a:extLst>
              </p:cNvPr>
              <p:cNvSpPr txBox="1"/>
              <p:nvPr/>
            </p:nvSpPr>
            <p:spPr>
              <a:xfrm>
                <a:off x="3833309" y="1740827"/>
                <a:ext cx="563880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solidFill>
                      <a:schemeClr val="accent6">
                        <a:lumMod val="10000"/>
                      </a:schemeClr>
                    </a:solidFill>
                    <a:cs typeface="+mn-ea"/>
                    <a:sym typeface="+mn-lt"/>
                  </a:rPr>
                  <a:t>20</a:t>
                </a:r>
                <a:endParaRPr lang="zh-CN" altLang="en-US" sz="1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185" name="箭头: V 形 184">
            <a:extLst>
              <a:ext uri="{FF2B5EF4-FFF2-40B4-BE49-F238E27FC236}">
                <a16:creationId xmlns:a16="http://schemas.microsoft.com/office/drawing/2014/main" id="{4F46F690-1EE5-6A9D-785F-B194D55BD8BC}"/>
              </a:ext>
            </a:extLst>
          </p:cNvPr>
          <p:cNvSpPr/>
          <p:nvPr/>
        </p:nvSpPr>
        <p:spPr>
          <a:xfrm>
            <a:off x="3514491" y="804994"/>
            <a:ext cx="1951024" cy="331360"/>
          </a:xfrm>
          <a:prstGeom prst="chevron">
            <a:avLst/>
          </a:prstGeom>
          <a:solidFill>
            <a:schemeClr val="tx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云计算、移动互联网爆发</a:t>
            </a:r>
            <a:endParaRPr lang="en-US" altLang="zh-CN" sz="10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带宽需求持续放大</a:t>
            </a:r>
          </a:p>
        </p:txBody>
      </p:sp>
      <p:sp>
        <p:nvSpPr>
          <p:cNvPr id="186" name="箭头: V 形 185">
            <a:extLst>
              <a:ext uri="{FF2B5EF4-FFF2-40B4-BE49-F238E27FC236}">
                <a16:creationId xmlns:a16="http://schemas.microsoft.com/office/drawing/2014/main" id="{D204EDEF-0DF3-E76D-E557-F1047FFD574D}"/>
              </a:ext>
            </a:extLst>
          </p:cNvPr>
          <p:cNvSpPr/>
          <p:nvPr/>
        </p:nvSpPr>
        <p:spPr>
          <a:xfrm>
            <a:off x="7124897" y="807513"/>
            <a:ext cx="1951024" cy="326323"/>
          </a:xfrm>
          <a:prstGeom prst="chevron">
            <a:avLst/>
          </a:prstGeom>
          <a:solidFill>
            <a:schemeClr val="tx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000" dirty="0">
                <a:solidFill>
                  <a:srgbClr val="000000"/>
                </a:solidFill>
                <a:cs typeface="+mn-ea"/>
                <a:sym typeface="+mn-lt"/>
              </a:rPr>
              <a:t>AI爆发</a:t>
            </a:r>
            <a:endParaRPr lang="en-US" altLang="zh-CN" sz="1000" dirty="0">
              <a:solidFill>
                <a:srgbClr val="000000"/>
              </a:solidFill>
              <a:cs typeface="+mn-ea"/>
              <a:sym typeface="+mn-lt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>
                <a:solidFill>
                  <a:srgbClr val="000000"/>
                </a:solidFill>
                <a:cs typeface="+mn-ea"/>
                <a:sym typeface="+mn-lt"/>
              </a:rPr>
              <a:t>高速光模块需求持续放大</a:t>
            </a:r>
            <a:endParaRPr lang="en-US" altLang="zh-CN" sz="10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B571BFB-94C0-23CC-FB68-52E8955A83DE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A8AA9C9-D930-E4D6-0852-76F64C0F4888}"/>
              </a:ext>
            </a:extLst>
          </p:cNvPr>
          <p:cNvSpPr txBox="1"/>
          <p:nvPr/>
        </p:nvSpPr>
        <p:spPr>
          <a:xfrm>
            <a:off x="115880" y="1241847"/>
            <a:ext cx="563880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x</a:t>
            </a:r>
            <a:endParaRPr lang="zh-CN" altLang="en-US" sz="10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9555F512-9160-A4FD-ACE3-E48E2CE719B5}"/>
              </a:ext>
            </a:extLst>
          </p:cNvPr>
          <p:cNvGrpSpPr/>
          <p:nvPr/>
        </p:nvGrpSpPr>
        <p:grpSpPr>
          <a:xfrm>
            <a:off x="9889437" y="6426969"/>
            <a:ext cx="1327150" cy="475200"/>
            <a:chOff x="1351662" y="2960791"/>
            <a:chExt cx="1327328" cy="475200"/>
          </a:xfrm>
        </p:grpSpPr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336CC7C2-59BA-B834-8E8B-A08EDBB32F94}"/>
                </a:ext>
              </a:extLst>
            </p:cNvPr>
            <p:cNvSpPr/>
            <p:nvPr/>
          </p:nvSpPr>
          <p:spPr>
            <a:xfrm>
              <a:off x="1777726" y="2960791"/>
              <a:ext cx="475200" cy="47520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2FB7BFF2-D4C2-4E91-5868-13C542775260}"/>
                </a:ext>
              </a:extLst>
            </p:cNvPr>
            <p:cNvSpPr txBox="1"/>
            <p:nvPr/>
          </p:nvSpPr>
          <p:spPr>
            <a:xfrm>
              <a:off x="1351662" y="3053340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4.4B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391D3D7A-B9AA-FD1C-D3A1-9B43069C3F83}"/>
              </a:ext>
            </a:extLst>
          </p:cNvPr>
          <p:cNvGrpSpPr/>
          <p:nvPr/>
        </p:nvGrpSpPr>
        <p:grpSpPr>
          <a:xfrm>
            <a:off x="299389" y="1623892"/>
            <a:ext cx="1499275" cy="276999"/>
            <a:chOff x="301960" y="960085"/>
            <a:chExt cx="1499275" cy="276999"/>
          </a:xfrm>
        </p:grpSpPr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3F6B8640-A920-7B2A-23C7-628A5D5F28D6}"/>
                </a:ext>
              </a:extLst>
            </p:cNvPr>
            <p:cNvSpPr/>
            <p:nvPr/>
          </p:nvSpPr>
          <p:spPr>
            <a:xfrm>
              <a:off x="301960" y="1008464"/>
              <a:ext cx="191048" cy="191048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AFFA3FF0-CA0F-04C4-AE62-D3FFAAF45BEF}"/>
                </a:ext>
              </a:extLst>
            </p:cNvPr>
            <p:cNvSpPr txBox="1"/>
            <p:nvPr/>
          </p:nvSpPr>
          <p:spPr>
            <a:xfrm>
              <a:off x="470607" y="960085"/>
              <a:ext cx="133062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估值（十亿美元）</a:t>
              </a:r>
            </a:p>
          </p:txBody>
        </p:sp>
      </p:grpSp>
      <p:sp>
        <p:nvSpPr>
          <p:cNvPr id="31" name="文本框 30">
            <a:extLst>
              <a:ext uri="{FF2B5EF4-FFF2-40B4-BE49-F238E27FC236}">
                <a16:creationId xmlns:a16="http://schemas.microsoft.com/office/drawing/2014/main" id="{F7F3BCAE-39C4-8E7A-B7C2-9A3D5DA6926A}"/>
              </a:ext>
            </a:extLst>
          </p:cNvPr>
          <p:cNvSpPr txBox="1"/>
          <p:nvPr/>
        </p:nvSpPr>
        <p:spPr>
          <a:xfrm>
            <a:off x="117996" y="1639280"/>
            <a:ext cx="563880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xB</a:t>
            </a:r>
            <a:endParaRPr lang="zh-CN" altLang="en-US" sz="10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66CE72BB-1679-E7E0-1193-FA7A6A726BE9}"/>
              </a:ext>
            </a:extLst>
          </p:cNvPr>
          <p:cNvGrpSpPr/>
          <p:nvPr/>
        </p:nvGrpSpPr>
        <p:grpSpPr>
          <a:xfrm>
            <a:off x="7727602" y="2882025"/>
            <a:ext cx="1480717" cy="891820"/>
            <a:chOff x="2854288" y="1627557"/>
            <a:chExt cx="1480717" cy="891820"/>
          </a:xfrm>
        </p:grpSpPr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AAED42A9-93F9-2EF6-7CB6-A331EC10C5E3}"/>
                </a:ext>
              </a:extLst>
            </p:cNvPr>
            <p:cNvSpPr txBox="1"/>
            <p:nvPr/>
          </p:nvSpPr>
          <p:spPr>
            <a:xfrm>
              <a:off x="2854288" y="2119267"/>
              <a:ext cx="1480717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cs typeface="+mn-ea"/>
                  <a:sym typeface="+mn-lt"/>
                </a:rPr>
                <a:t>Celestial AI</a:t>
              </a:r>
            </a:p>
            <a:p>
              <a:pPr algn="ctr"/>
              <a:r>
                <a:rPr lang="en-US" altLang="zh-CN" sz="1000" dirty="0">
                  <a:cs typeface="+mn-ea"/>
                  <a:sym typeface="+mn-lt"/>
                </a:rPr>
                <a:t>2025 C</a:t>
              </a:r>
              <a:r>
                <a:rPr lang="zh-CN" altLang="en-US" sz="1000" dirty="0">
                  <a:cs typeface="+mn-ea"/>
                  <a:sym typeface="+mn-lt"/>
                </a:rPr>
                <a:t>轮</a:t>
              </a:r>
              <a:endParaRPr lang="en-US" altLang="zh-CN" sz="1000" dirty="0">
                <a:cs typeface="+mn-ea"/>
                <a:sym typeface="+mn-lt"/>
              </a:endParaRPr>
            </a:p>
          </p:txBody>
        </p: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798B39EC-96C8-1552-64A1-C3CFE70BAB64}"/>
                </a:ext>
              </a:extLst>
            </p:cNvPr>
            <p:cNvGrpSpPr/>
            <p:nvPr/>
          </p:nvGrpSpPr>
          <p:grpSpPr>
            <a:xfrm>
              <a:off x="3302218" y="1627557"/>
              <a:ext cx="563880" cy="514800"/>
              <a:chOff x="3811392" y="1532848"/>
              <a:chExt cx="563880" cy="514800"/>
            </a:xfrm>
          </p:grpSpPr>
          <p:sp>
            <p:nvSpPr>
              <p:cNvPr id="41" name="椭圆 40">
                <a:extLst>
                  <a:ext uri="{FF2B5EF4-FFF2-40B4-BE49-F238E27FC236}">
                    <a16:creationId xmlns:a16="http://schemas.microsoft.com/office/drawing/2014/main" id="{36E0C9F0-06C3-116B-BDB9-6B81F9D2D9E6}"/>
                  </a:ext>
                </a:extLst>
              </p:cNvPr>
              <p:cNvSpPr/>
              <p:nvPr/>
            </p:nvSpPr>
            <p:spPr>
              <a:xfrm>
                <a:off x="3846420" y="1532848"/>
                <a:ext cx="514800" cy="514800"/>
              </a:xfrm>
              <a:prstGeom prst="ellipse">
                <a:avLst/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cs typeface="+mn-ea"/>
                  <a:sym typeface="+mn-lt"/>
                </a:endParaRPr>
              </a:p>
            </p:txBody>
          </p: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758468C2-3CAA-B518-1D3E-C3962DEF62F2}"/>
                  </a:ext>
                </a:extLst>
              </p:cNvPr>
              <p:cNvSpPr txBox="1"/>
              <p:nvPr/>
            </p:nvSpPr>
            <p:spPr>
              <a:xfrm>
                <a:off x="3811392" y="1668796"/>
                <a:ext cx="563880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solidFill>
                      <a:schemeClr val="bg1"/>
                    </a:solidFill>
                    <a:cs typeface="+mn-ea"/>
                    <a:sym typeface="+mn-lt"/>
                  </a:rPr>
                  <a:t>2.5B</a:t>
                </a:r>
                <a:endParaRPr lang="zh-CN" altLang="en-US" sz="1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F1F40269-8EB9-75ED-BF17-F0DEC6B88679}"/>
              </a:ext>
            </a:extLst>
          </p:cNvPr>
          <p:cNvGrpSpPr/>
          <p:nvPr/>
        </p:nvGrpSpPr>
        <p:grpSpPr>
          <a:xfrm>
            <a:off x="6657290" y="1932011"/>
            <a:ext cx="1480717" cy="782538"/>
            <a:chOff x="2743937" y="1891061"/>
            <a:chExt cx="1480717" cy="782538"/>
          </a:xfrm>
        </p:grpSpPr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0AB92A23-CE73-C7BC-9000-C97559F394EB}"/>
                </a:ext>
              </a:extLst>
            </p:cNvPr>
            <p:cNvSpPr txBox="1"/>
            <p:nvPr/>
          </p:nvSpPr>
          <p:spPr>
            <a:xfrm>
              <a:off x="2743937" y="2119601"/>
              <a:ext cx="1480717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 err="1">
                  <a:cs typeface="+mn-ea"/>
                  <a:sym typeface="+mn-lt"/>
                </a:rPr>
                <a:t>FiconTec</a:t>
              </a:r>
              <a:endParaRPr lang="en-US" altLang="zh-CN" sz="1000" dirty="0">
                <a:cs typeface="+mn-ea"/>
                <a:sym typeface="+mn-lt"/>
              </a:endParaRPr>
            </a:p>
            <a:p>
              <a:pPr algn="ctr"/>
              <a:r>
                <a:rPr lang="en-US" altLang="zh-CN" sz="1000" dirty="0">
                  <a:cs typeface="+mn-ea"/>
                  <a:sym typeface="+mn-lt"/>
                </a:rPr>
                <a:t>2019</a:t>
              </a:r>
            </a:p>
            <a:p>
              <a:pPr algn="ctr"/>
              <a:r>
                <a:rPr lang="zh-CN" altLang="en-US" sz="1000" dirty="0">
                  <a:cs typeface="+mn-ea"/>
                  <a:sym typeface="+mn-lt"/>
                </a:rPr>
                <a:t>启动并购</a:t>
              </a:r>
              <a:endParaRPr lang="en-US" altLang="zh-CN" sz="1000" dirty="0">
                <a:cs typeface="+mn-ea"/>
                <a:sym typeface="+mn-lt"/>
              </a:endParaRPr>
            </a:p>
          </p:txBody>
        </p: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ECBD9CFD-9D1E-39A4-2546-4188DF98CD41}"/>
                </a:ext>
              </a:extLst>
            </p:cNvPr>
            <p:cNvGrpSpPr/>
            <p:nvPr/>
          </p:nvGrpSpPr>
          <p:grpSpPr>
            <a:xfrm>
              <a:off x="3180954" y="1891061"/>
              <a:ext cx="563880" cy="251296"/>
              <a:chOff x="3690128" y="1796352"/>
              <a:chExt cx="563880" cy="251296"/>
            </a:xfrm>
          </p:grpSpPr>
          <p:sp>
            <p:nvSpPr>
              <p:cNvPr id="46" name="椭圆 45">
                <a:extLst>
                  <a:ext uri="{FF2B5EF4-FFF2-40B4-BE49-F238E27FC236}">
                    <a16:creationId xmlns:a16="http://schemas.microsoft.com/office/drawing/2014/main" id="{91489960-0F1C-83D0-473C-2125F01F7ED5}"/>
                  </a:ext>
                </a:extLst>
              </p:cNvPr>
              <p:cNvSpPr/>
              <p:nvPr/>
            </p:nvSpPr>
            <p:spPr>
              <a:xfrm>
                <a:off x="3846420" y="1796352"/>
                <a:ext cx="251296" cy="25129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cs typeface="+mn-ea"/>
                  <a:sym typeface="+mn-lt"/>
                </a:endParaRPr>
              </a:p>
            </p:txBody>
          </p: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4FBD6DAD-39BD-692A-A5D0-069A9F5AC0D9}"/>
                  </a:ext>
                </a:extLst>
              </p:cNvPr>
              <p:cNvSpPr txBox="1"/>
              <p:nvPr/>
            </p:nvSpPr>
            <p:spPr>
              <a:xfrm>
                <a:off x="3690128" y="1820421"/>
                <a:ext cx="563880" cy="20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700" b="1" dirty="0">
                    <a:solidFill>
                      <a:schemeClr val="accent6">
                        <a:lumMod val="10000"/>
                      </a:schemeClr>
                    </a:solidFill>
                    <a:cs typeface="+mn-ea"/>
                    <a:sym typeface="+mn-lt"/>
                  </a:rPr>
                  <a:t>0.17B</a:t>
                </a:r>
                <a:endParaRPr lang="zh-CN" altLang="en-US" sz="7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51" name="矩形 50">
            <a:extLst>
              <a:ext uri="{FF2B5EF4-FFF2-40B4-BE49-F238E27FC236}">
                <a16:creationId xmlns:a16="http://schemas.microsoft.com/office/drawing/2014/main" id="{C51ED416-8324-95E0-84F5-A9E27B4B1437}"/>
              </a:ext>
            </a:extLst>
          </p:cNvPr>
          <p:cNvSpPr/>
          <p:nvPr/>
        </p:nvSpPr>
        <p:spPr>
          <a:xfrm>
            <a:off x="1887060" y="3099484"/>
            <a:ext cx="1696452" cy="1360035"/>
          </a:xfrm>
          <a:prstGeom prst="rect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物理层接口芯片</a:t>
            </a:r>
            <a:endParaRPr lang="en-US" alt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/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（高速传输接口）</a:t>
            </a:r>
            <a:endParaRPr lang="en-US" alt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/>
            <a:endParaRPr lang="en-US" alt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/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30%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2686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E3E33-58C7-09A1-04D7-3029A624B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5AE1A48-D8F9-D337-3C9A-0CE7F89E9D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620829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A1FEA3-C30C-92F6-5C30-9DC3EE72F6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EB3C5221-71B9-57B2-CA12-5D544CA09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关键模块：硅光芯片、电光芯片、交换机芯片及封装</a:t>
            </a:r>
          </a:p>
        </p:txBody>
      </p:sp>
      <p:sp>
        <p:nvSpPr>
          <p:cNvPr id="15" name="文本框 15">
            <a:extLst>
              <a:ext uri="{FF2B5EF4-FFF2-40B4-BE49-F238E27FC236}">
                <a16:creationId xmlns:a16="http://schemas.microsoft.com/office/drawing/2014/main" id="{94F0FB09-F514-6EA1-BC09-08785BA47F85}"/>
              </a:ext>
            </a:extLst>
          </p:cNvPr>
          <p:cNvSpPr txBox="1"/>
          <p:nvPr/>
        </p:nvSpPr>
        <p:spPr>
          <a:xfrm>
            <a:off x="617802" y="1358351"/>
            <a:ext cx="23000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>
                <a:cs typeface="+mn-ea"/>
                <a:sym typeface="+mn-lt"/>
              </a:rPr>
              <a:t>光的产生与接收</a:t>
            </a:r>
          </a:p>
        </p:txBody>
      </p:sp>
      <p:sp>
        <p:nvSpPr>
          <p:cNvPr id="16" name="文本框 16">
            <a:extLst>
              <a:ext uri="{FF2B5EF4-FFF2-40B4-BE49-F238E27FC236}">
                <a16:creationId xmlns:a16="http://schemas.microsoft.com/office/drawing/2014/main" id="{D4B15865-BD1B-8297-A007-A923B52173DE}"/>
              </a:ext>
            </a:extLst>
          </p:cNvPr>
          <p:cNvSpPr txBox="1"/>
          <p:nvPr/>
        </p:nvSpPr>
        <p:spPr>
          <a:xfrm>
            <a:off x="3621132" y="1362135"/>
            <a:ext cx="2424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>
                <a:cs typeface="+mn-ea"/>
                <a:sym typeface="+mn-lt"/>
              </a:rPr>
              <a:t>光信号中枢，光</a:t>
            </a:r>
            <a:r>
              <a:rPr lang="en-US" altLang="zh-CN" sz="1600" dirty="0">
                <a:cs typeface="+mn-ea"/>
                <a:sym typeface="Wingdings" panose="05000000000000000000" pitchFamily="2" charset="2"/>
              </a:rPr>
              <a:t></a:t>
            </a:r>
            <a:r>
              <a:rPr lang="zh-CN" altLang="en-US" sz="1600" dirty="0">
                <a:cs typeface="+mn-ea"/>
                <a:sym typeface="+mn-lt"/>
              </a:rPr>
              <a:t>电</a:t>
            </a:r>
          </a:p>
        </p:txBody>
      </p:sp>
      <p:sp>
        <p:nvSpPr>
          <p:cNvPr id="17" name="文本框 19">
            <a:extLst>
              <a:ext uri="{FF2B5EF4-FFF2-40B4-BE49-F238E27FC236}">
                <a16:creationId xmlns:a16="http://schemas.microsoft.com/office/drawing/2014/main" id="{9B069FB9-5C1E-2DB3-5143-941D14642AAE}"/>
              </a:ext>
            </a:extLst>
          </p:cNvPr>
          <p:cNvSpPr txBox="1"/>
          <p:nvPr/>
        </p:nvSpPr>
        <p:spPr>
          <a:xfrm>
            <a:off x="7036335" y="1367069"/>
            <a:ext cx="20092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>
                <a:cs typeface="+mn-ea"/>
                <a:sym typeface="+mn-lt"/>
              </a:rPr>
              <a:t>电信号控制中枢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2948327-BF01-8DDC-3F68-1FAA3942C651}"/>
              </a:ext>
            </a:extLst>
          </p:cNvPr>
          <p:cNvSpPr/>
          <p:nvPr/>
        </p:nvSpPr>
        <p:spPr>
          <a:xfrm>
            <a:off x="1409857" y="2448690"/>
            <a:ext cx="9540239" cy="3448407"/>
          </a:xfrm>
          <a:prstGeom prst="rect">
            <a:avLst/>
          </a:prstGeom>
          <a:noFill/>
          <a:ln>
            <a:solidFill>
              <a:schemeClr val="accent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3AB9DD8-1BA6-EED0-1DEC-F69E0D62279F}"/>
              </a:ext>
            </a:extLst>
          </p:cNvPr>
          <p:cNvSpPr/>
          <p:nvPr/>
        </p:nvSpPr>
        <p:spPr>
          <a:xfrm>
            <a:off x="2182085" y="3083560"/>
            <a:ext cx="3459485" cy="1213338"/>
          </a:xfrm>
          <a:prstGeom prst="rect">
            <a:avLst/>
          </a:prstGeom>
          <a:solidFill>
            <a:schemeClr val="bg2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FB6C53A-9695-D4C8-8827-7B9E8AF4DA96}"/>
              </a:ext>
            </a:extLst>
          </p:cNvPr>
          <p:cNvSpPr/>
          <p:nvPr/>
        </p:nvSpPr>
        <p:spPr>
          <a:xfrm>
            <a:off x="1593676" y="4993309"/>
            <a:ext cx="649525" cy="280678"/>
          </a:xfrm>
          <a:prstGeom prst="rect">
            <a:avLst/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3" name="文本框 20">
            <a:extLst>
              <a:ext uri="{FF2B5EF4-FFF2-40B4-BE49-F238E27FC236}">
                <a16:creationId xmlns:a16="http://schemas.microsoft.com/office/drawing/2014/main" id="{67084986-E3E2-1B36-CB83-52925B4C5234}"/>
              </a:ext>
            </a:extLst>
          </p:cNvPr>
          <p:cNvSpPr txBox="1"/>
          <p:nvPr/>
        </p:nvSpPr>
        <p:spPr>
          <a:xfrm>
            <a:off x="2243201" y="4948982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cs typeface="+mn-ea"/>
                <a:sym typeface="+mn-lt"/>
              </a:rPr>
              <a:t>激光器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DEDA2F7-DD0C-B6AF-FA4B-789F5380E082}"/>
              </a:ext>
            </a:extLst>
          </p:cNvPr>
          <p:cNvSpPr/>
          <p:nvPr/>
        </p:nvSpPr>
        <p:spPr>
          <a:xfrm>
            <a:off x="6432297" y="3109827"/>
            <a:ext cx="2175647" cy="1213338"/>
          </a:xfrm>
          <a:prstGeom prst="rect">
            <a:avLst/>
          </a:prstGeom>
          <a:solidFill>
            <a:schemeClr val="bg2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箭头: V 形 32">
            <a:extLst>
              <a:ext uri="{FF2B5EF4-FFF2-40B4-BE49-F238E27FC236}">
                <a16:creationId xmlns:a16="http://schemas.microsoft.com/office/drawing/2014/main" id="{0FAB6334-5ABE-7A88-A44F-64281F7BDDE0}"/>
              </a:ext>
            </a:extLst>
          </p:cNvPr>
          <p:cNvSpPr/>
          <p:nvPr/>
        </p:nvSpPr>
        <p:spPr>
          <a:xfrm>
            <a:off x="6928295" y="982651"/>
            <a:ext cx="1924628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放大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+ </a:t>
            </a:r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优化</a:t>
            </a:r>
          </a:p>
        </p:txBody>
      </p:sp>
      <p:sp>
        <p:nvSpPr>
          <p:cNvPr id="37" name="箭头: V 形 36">
            <a:extLst>
              <a:ext uri="{FF2B5EF4-FFF2-40B4-BE49-F238E27FC236}">
                <a16:creationId xmlns:a16="http://schemas.microsoft.com/office/drawing/2014/main" id="{A5DE1F38-4944-0B42-9D63-3C4E1D721242}"/>
              </a:ext>
            </a:extLst>
          </p:cNvPr>
          <p:cNvSpPr/>
          <p:nvPr/>
        </p:nvSpPr>
        <p:spPr>
          <a:xfrm>
            <a:off x="8947359" y="982651"/>
            <a:ext cx="2038857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交换机芯片</a:t>
            </a:r>
          </a:p>
        </p:txBody>
      </p:sp>
      <p:sp>
        <p:nvSpPr>
          <p:cNvPr id="39" name="箭头: 五边形 38">
            <a:extLst>
              <a:ext uri="{FF2B5EF4-FFF2-40B4-BE49-F238E27FC236}">
                <a16:creationId xmlns:a16="http://schemas.microsoft.com/office/drawing/2014/main" id="{7315768A-F489-4B69-3BFF-EF42D30BFF80}"/>
              </a:ext>
            </a:extLst>
          </p:cNvPr>
          <p:cNvSpPr/>
          <p:nvPr/>
        </p:nvSpPr>
        <p:spPr>
          <a:xfrm>
            <a:off x="747322" y="973707"/>
            <a:ext cx="1379386" cy="295991"/>
          </a:xfrm>
          <a:prstGeom prst="homePlat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出入口</a:t>
            </a:r>
          </a:p>
        </p:txBody>
      </p:sp>
      <p:sp>
        <p:nvSpPr>
          <p:cNvPr id="40" name="箭头: V 形 39">
            <a:extLst>
              <a:ext uri="{FF2B5EF4-FFF2-40B4-BE49-F238E27FC236}">
                <a16:creationId xmlns:a16="http://schemas.microsoft.com/office/drawing/2014/main" id="{25CB25BC-33E8-730C-C17D-A7B74A5E8B3C}"/>
              </a:ext>
            </a:extLst>
          </p:cNvPr>
          <p:cNvSpPr/>
          <p:nvPr/>
        </p:nvSpPr>
        <p:spPr>
          <a:xfrm>
            <a:off x="2221145" y="982651"/>
            <a:ext cx="4612713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行走通道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+ </a:t>
            </a:r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转换</a:t>
            </a:r>
          </a:p>
        </p:txBody>
      </p:sp>
      <p:sp>
        <p:nvSpPr>
          <p:cNvPr id="42" name="文本框 19">
            <a:extLst>
              <a:ext uri="{FF2B5EF4-FFF2-40B4-BE49-F238E27FC236}">
                <a16:creationId xmlns:a16="http://schemas.microsoft.com/office/drawing/2014/main" id="{2727B565-61FE-E172-9002-76B020FA46D1}"/>
              </a:ext>
            </a:extLst>
          </p:cNvPr>
          <p:cNvSpPr txBox="1"/>
          <p:nvPr/>
        </p:nvSpPr>
        <p:spPr>
          <a:xfrm>
            <a:off x="9409097" y="1358351"/>
            <a:ext cx="20092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>
                <a:cs typeface="+mn-ea"/>
                <a:sym typeface="+mn-lt"/>
              </a:rPr>
              <a:t>信号处理</a:t>
            </a:r>
          </a:p>
        </p:txBody>
      </p:sp>
      <p:sp>
        <p:nvSpPr>
          <p:cNvPr id="43" name="文本框 20">
            <a:extLst>
              <a:ext uri="{FF2B5EF4-FFF2-40B4-BE49-F238E27FC236}">
                <a16:creationId xmlns:a16="http://schemas.microsoft.com/office/drawing/2014/main" id="{3DADEF1A-A333-EBD7-DBB9-800B82D091AA}"/>
              </a:ext>
            </a:extLst>
          </p:cNvPr>
          <p:cNvSpPr txBox="1"/>
          <p:nvPr/>
        </p:nvSpPr>
        <p:spPr>
          <a:xfrm>
            <a:off x="589027" y="3516325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cs typeface="+mn-ea"/>
                <a:sym typeface="+mn-lt"/>
              </a:rPr>
              <a:t>光纤</a:t>
            </a:r>
          </a:p>
        </p:txBody>
      </p:sp>
      <p:sp>
        <p:nvSpPr>
          <p:cNvPr id="44" name="文本框 20">
            <a:extLst>
              <a:ext uri="{FF2B5EF4-FFF2-40B4-BE49-F238E27FC236}">
                <a16:creationId xmlns:a16="http://schemas.microsoft.com/office/drawing/2014/main" id="{7EB95528-BE38-31FE-D498-ED8A9AD5D0DE}"/>
              </a:ext>
            </a:extLst>
          </p:cNvPr>
          <p:cNvSpPr txBox="1"/>
          <p:nvPr/>
        </p:nvSpPr>
        <p:spPr>
          <a:xfrm>
            <a:off x="2521561" y="3500936"/>
            <a:ext cx="1266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硅光芯片</a:t>
            </a:r>
          </a:p>
        </p:txBody>
      </p:sp>
      <p:sp>
        <p:nvSpPr>
          <p:cNvPr id="45" name="文本框 20">
            <a:extLst>
              <a:ext uri="{FF2B5EF4-FFF2-40B4-BE49-F238E27FC236}">
                <a16:creationId xmlns:a16="http://schemas.microsoft.com/office/drawing/2014/main" id="{37BFB15D-02A7-38D1-4534-FAD88D98D71A}"/>
              </a:ext>
            </a:extLst>
          </p:cNvPr>
          <p:cNvSpPr txBox="1"/>
          <p:nvPr/>
        </p:nvSpPr>
        <p:spPr>
          <a:xfrm>
            <a:off x="6562627" y="3486810"/>
            <a:ext cx="1266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电光芯片</a:t>
            </a:r>
          </a:p>
        </p:txBody>
      </p:sp>
      <p:sp>
        <p:nvSpPr>
          <p:cNvPr id="47" name="文本框 20">
            <a:extLst>
              <a:ext uri="{FF2B5EF4-FFF2-40B4-BE49-F238E27FC236}">
                <a16:creationId xmlns:a16="http://schemas.microsoft.com/office/drawing/2014/main" id="{8CE53E9B-A40C-F4EE-67D8-64D988AE13F3}"/>
              </a:ext>
            </a:extLst>
          </p:cNvPr>
          <p:cNvSpPr txBox="1"/>
          <p:nvPr/>
        </p:nvSpPr>
        <p:spPr>
          <a:xfrm>
            <a:off x="10019156" y="2522284"/>
            <a:ext cx="89512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cs typeface="+mn-ea"/>
                <a:sym typeface="+mn-lt"/>
              </a:rPr>
              <a:t>中介层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5689421-5D02-C04E-BCB5-FD5BBA142849}"/>
              </a:ext>
            </a:extLst>
          </p:cNvPr>
          <p:cNvSpPr/>
          <p:nvPr/>
        </p:nvSpPr>
        <p:spPr>
          <a:xfrm>
            <a:off x="9173143" y="3109914"/>
            <a:ext cx="1325506" cy="1213336"/>
          </a:xfrm>
          <a:prstGeom prst="rect">
            <a:avLst/>
          </a:prstGeom>
          <a:solidFill>
            <a:srgbClr val="0052D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6E750E85-5EAD-83BD-32BF-03956365F6EB}"/>
              </a:ext>
            </a:extLst>
          </p:cNvPr>
          <p:cNvGrpSpPr/>
          <p:nvPr/>
        </p:nvGrpSpPr>
        <p:grpSpPr>
          <a:xfrm>
            <a:off x="1200681" y="3552248"/>
            <a:ext cx="951597" cy="275962"/>
            <a:chOff x="1264116" y="3092270"/>
            <a:chExt cx="951597" cy="275962"/>
          </a:xfrm>
        </p:grpSpPr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25AD28EC-69D7-E8CC-F854-B7560F73B44D}"/>
                </a:ext>
              </a:extLst>
            </p:cNvPr>
            <p:cNvCxnSpPr>
              <a:cxnSpLocks/>
            </p:cNvCxnSpPr>
            <p:nvPr/>
          </p:nvCxnSpPr>
          <p:spPr>
            <a:xfrm>
              <a:off x="1264116" y="3092270"/>
              <a:ext cx="951597" cy="0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42DD8AC4-36E8-0656-6597-D0E82B632B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64116" y="3368232"/>
              <a:ext cx="931629" cy="0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1EF942E8-363E-BB6C-8926-2CC6D54A4D13}"/>
              </a:ext>
            </a:extLst>
          </p:cNvPr>
          <p:cNvGrpSpPr/>
          <p:nvPr/>
        </p:nvGrpSpPr>
        <p:grpSpPr>
          <a:xfrm>
            <a:off x="5697698" y="3582692"/>
            <a:ext cx="701515" cy="215075"/>
            <a:chOff x="5867400" y="3121269"/>
            <a:chExt cx="470408" cy="215075"/>
          </a:xfrm>
        </p:grpSpPr>
        <p:cxnSp>
          <p:nvCxnSpPr>
            <p:cNvPr id="2055" name="直接箭头连接符 2054">
              <a:extLst>
                <a:ext uri="{FF2B5EF4-FFF2-40B4-BE49-F238E27FC236}">
                  <a16:creationId xmlns:a16="http://schemas.microsoft.com/office/drawing/2014/main" id="{7FBD8DBF-3536-067A-49D5-59958CB045AC}"/>
                </a:ext>
              </a:extLst>
            </p:cNvPr>
            <p:cNvCxnSpPr>
              <a:cxnSpLocks/>
            </p:cNvCxnSpPr>
            <p:nvPr/>
          </p:nvCxnSpPr>
          <p:spPr>
            <a:xfrm>
              <a:off x="5867400" y="3121269"/>
              <a:ext cx="470408" cy="0"/>
            </a:xfrm>
            <a:prstGeom prst="straightConnector1">
              <a:avLst/>
            </a:prstGeom>
            <a:ln>
              <a:solidFill>
                <a:srgbClr val="0052D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8" name="直接箭头连接符 2057">
              <a:extLst>
                <a:ext uri="{FF2B5EF4-FFF2-40B4-BE49-F238E27FC236}">
                  <a16:creationId xmlns:a16="http://schemas.microsoft.com/office/drawing/2014/main" id="{1DC1302F-98F2-11EC-F648-FEF89B479F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67400" y="3336344"/>
              <a:ext cx="446029" cy="0"/>
            </a:xfrm>
            <a:prstGeom prst="straightConnector1">
              <a:avLst/>
            </a:prstGeom>
            <a:ln>
              <a:solidFill>
                <a:srgbClr val="0052D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62" name="直接箭头连接符 2061">
            <a:extLst>
              <a:ext uri="{FF2B5EF4-FFF2-40B4-BE49-F238E27FC236}">
                <a16:creationId xmlns:a16="http://schemas.microsoft.com/office/drawing/2014/main" id="{AD1DD371-7967-C5F3-59FB-82B1D9CAB30E}"/>
              </a:ext>
            </a:extLst>
          </p:cNvPr>
          <p:cNvCxnSpPr>
            <a:cxnSpLocks/>
          </p:cNvCxnSpPr>
          <p:nvPr/>
        </p:nvCxnSpPr>
        <p:spPr>
          <a:xfrm>
            <a:off x="8646586" y="3709334"/>
            <a:ext cx="49347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5" name="连接符: 肘形 2074">
            <a:extLst>
              <a:ext uri="{FF2B5EF4-FFF2-40B4-BE49-F238E27FC236}">
                <a16:creationId xmlns:a16="http://schemas.microsoft.com/office/drawing/2014/main" id="{9ED28D06-04DF-D6FD-7DDF-5A0B2275ADB3}"/>
              </a:ext>
            </a:extLst>
          </p:cNvPr>
          <p:cNvCxnSpPr>
            <a:cxnSpLocks/>
            <a:stCxn id="24" idx="2"/>
            <a:endCxn id="22" idx="2"/>
          </p:cNvCxnSpPr>
          <p:nvPr/>
        </p:nvCxnSpPr>
        <p:spPr>
          <a:xfrm rot="5400000">
            <a:off x="4243869" y="1997735"/>
            <a:ext cx="950822" cy="5601682"/>
          </a:xfrm>
          <a:prstGeom prst="bentConnector3">
            <a:avLst>
              <a:gd name="adj1" fmla="val 136865"/>
            </a:avLst>
          </a:prstGeom>
          <a:ln w="19050">
            <a:solidFill>
              <a:srgbClr val="0052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7" name="连接符: 肘形 2076">
            <a:extLst>
              <a:ext uri="{FF2B5EF4-FFF2-40B4-BE49-F238E27FC236}">
                <a16:creationId xmlns:a16="http://schemas.microsoft.com/office/drawing/2014/main" id="{0AF81F08-9051-FE8D-26FF-20D5E94B76FF}"/>
              </a:ext>
            </a:extLst>
          </p:cNvPr>
          <p:cNvCxnSpPr>
            <a:cxnSpLocks/>
            <a:stCxn id="22" idx="0"/>
            <a:endCxn id="21" idx="2"/>
          </p:cNvCxnSpPr>
          <p:nvPr/>
        </p:nvCxnSpPr>
        <p:spPr>
          <a:xfrm rot="5400000" flipH="1" flipV="1">
            <a:off x="2566928" y="3648410"/>
            <a:ext cx="696411" cy="1993389"/>
          </a:xfrm>
          <a:prstGeom prst="bentConnector3">
            <a:avLst>
              <a:gd name="adj1" fmla="val 50000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>
            <a:extLst>
              <a:ext uri="{FF2B5EF4-FFF2-40B4-BE49-F238E27FC236}">
                <a16:creationId xmlns:a16="http://schemas.microsoft.com/office/drawing/2014/main" id="{02DB029A-34DC-7439-48BD-552FDD20957D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D0BCD0E5-ED24-574E-E257-2EF66AC7E5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1262" b="90140" l="10000" r="90000"/>
                    </a14:imgEffect>
                  </a14:imgLayer>
                </a14:imgProps>
              </a:ext>
            </a:extLst>
          </a:blip>
          <a:srcRect t="37052" b="1"/>
          <a:stretch/>
        </p:blipFill>
        <p:spPr>
          <a:xfrm>
            <a:off x="3788157" y="3464728"/>
            <a:ext cx="1504067" cy="514734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E1F0DD3D-EF20-CE96-BADF-B90BA34081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19401" y="3265683"/>
            <a:ext cx="515335" cy="852756"/>
          </a:xfrm>
          <a:prstGeom prst="rect">
            <a:avLst/>
          </a:prstGeom>
        </p:spPr>
      </p:pic>
      <p:pic>
        <p:nvPicPr>
          <p:cNvPr id="52" name="Picture 2">
            <a:extLst>
              <a:ext uri="{FF2B5EF4-FFF2-40B4-BE49-F238E27FC236}">
                <a16:creationId xmlns:a16="http://schemas.microsoft.com/office/drawing/2014/main" id="{5602C000-9232-4CA0-4CF1-B1F3AB9A9E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5722" y="4761053"/>
            <a:ext cx="936105" cy="657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EBD606B1-4B19-F639-D715-573EFB3F15F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5285" b="98374" l="3165" r="98418">
                        <a14:foregroundMark x1="12025" y1="22358" x2="34072" y2="16057"/>
                        <a14:foregroundMark x1="34072" y1="16057" x2="34072" y2="16057"/>
                        <a14:foregroundMark x1="33333" y1="17073" x2="64662" y2="9959"/>
                        <a14:foregroundMark x1="64662" y1="9959" x2="71941" y2="18902"/>
                        <a14:foregroundMark x1="71941" y1="18902" x2="91034" y2="68089"/>
                        <a14:foregroundMark x1="91034" y1="68089" x2="46519" y2="86179"/>
                        <a14:foregroundMark x1="46519" y1="86179" x2="32384" y2="85366"/>
                        <a14:foregroundMark x1="32384" y1="85366" x2="27321" y2="80081"/>
                        <a14:foregroundMark x1="27321" y1="80081" x2="10232" y2="29268"/>
                        <a14:foregroundMark x1="10232" y1="29268" x2="13608" y2="20935"/>
                        <a14:foregroundMark x1="13608" y1="20935" x2="13924" y2="20732"/>
                        <a14:foregroundMark x1="10021" y1="19919" x2="7122" y2="26946"/>
                        <a14:foregroundMark x1="4219" y1="21951" x2="5439" y2="27764"/>
                        <a14:foregroundMark x1="24684" y1="89634" x2="29114" y2="96545"/>
                        <a14:foregroundMark x1="49014" y1="91104" x2="92300" y2="79268"/>
                        <a14:foregroundMark x1="29114" y1="96545" x2="31385" y2="95924"/>
                        <a14:foregroundMark x1="92300" y1="79268" x2="95570" y2="69512"/>
                        <a14:foregroundMark x1="95570" y1="69512" x2="93882" y2="64837"/>
                        <a14:foregroundMark x1="23840" y1="91057" x2="31821" y2="97141"/>
                        <a14:foregroundMark x1="3165" y1="20935" x2="4642" y2="28554"/>
                        <a14:foregroundMark x1="6013" y1="18496" x2="47358" y2="9116"/>
                        <a14:foregroundMark x1="69890" y1="5829" x2="70570" y2="5894"/>
                        <a14:foregroundMark x1="70570" y1="7114" x2="97363" y2="71341"/>
                        <a14:backgroundMark x1="4536" y1="28659" x2="22890" y2="91260"/>
                        <a14:backgroundMark x1="50527" y1="95325" x2="32700" y2="99593"/>
                        <a14:backgroundMark x1="47046" y1="96341" x2="98734" y2="81504"/>
                        <a14:backgroundMark x1="47785" y1="7724" x2="70992" y2="22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45877" y="3826510"/>
            <a:ext cx="830218" cy="430873"/>
          </a:xfrm>
          <a:prstGeom prst="rect">
            <a:avLst/>
          </a:prstGeom>
        </p:spPr>
      </p:pic>
      <p:sp>
        <p:nvSpPr>
          <p:cNvPr id="57" name="文本框 20">
            <a:extLst>
              <a:ext uri="{FF2B5EF4-FFF2-40B4-BE49-F238E27FC236}">
                <a16:creationId xmlns:a16="http://schemas.microsoft.com/office/drawing/2014/main" id="{A707E005-0F5A-8BC3-6FB7-C00568D69008}"/>
              </a:ext>
            </a:extLst>
          </p:cNvPr>
          <p:cNvSpPr txBox="1"/>
          <p:nvPr/>
        </p:nvSpPr>
        <p:spPr>
          <a:xfrm>
            <a:off x="9200122" y="3161157"/>
            <a:ext cx="1266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dirty="0">
                <a:solidFill>
                  <a:schemeClr val="bg1"/>
                </a:solidFill>
                <a:cs typeface="+mn-ea"/>
                <a:sym typeface="+mn-lt"/>
              </a:rPr>
              <a:t>交换机</a:t>
            </a:r>
            <a:endParaRPr lang="en-US" altLang="zh-CN" sz="20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/>
            <a:r>
              <a:rPr lang="zh-CN" altLang="en-US" sz="2000" dirty="0">
                <a:solidFill>
                  <a:schemeClr val="bg1"/>
                </a:solidFill>
                <a:cs typeface="+mn-ea"/>
                <a:sym typeface="+mn-lt"/>
              </a:rPr>
              <a:t>芯片</a:t>
            </a:r>
          </a:p>
        </p:txBody>
      </p:sp>
      <p:sp>
        <p:nvSpPr>
          <p:cNvPr id="58" name="左大括号 57">
            <a:extLst>
              <a:ext uri="{FF2B5EF4-FFF2-40B4-BE49-F238E27FC236}">
                <a16:creationId xmlns:a16="http://schemas.microsoft.com/office/drawing/2014/main" id="{22734E28-4CAC-844F-BDBB-82EF12CDE189}"/>
              </a:ext>
            </a:extLst>
          </p:cNvPr>
          <p:cNvSpPr/>
          <p:nvPr/>
        </p:nvSpPr>
        <p:spPr>
          <a:xfrm rot="16200000">
            <a:off x="5578371" y="-2465666"/>
            <a:ext cx="238588" cy="8521301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文本框 16">
            <a:extLst>
              <a:ext uri="{FF2B5EF4-FFF2-40B4-BE49-F238E27FC236}">
                <a16:creationId xmlns:a16="http://schemas.microsoft.com/office/drawing/2014/main" id="{88423579-B8A0-659B-7469-A67344F6A24E}"/>
              </a:ext>
            </a:extLst>
          </p:cNvPr>
          <p:cNvSpPr txBox="1"/>
          <p:nvPr/>
        </p:nvSpPr>
        <p:spPr>
          <a:xfrm>
            <a:off x="4485223" y="2003710"/>
            <a:ext cx="2424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dirty="0">
                <a:cs typeface="+mn-ea"/>
                <a:sym typeface="+mn-lt"/>
              </a:rPr>
              <a:t>封装</a:t>
            </a:r>
          </a:p>
        </p:txBody>
      </p:sp>
    </p:spTree>
    <p:extLst>
      <p:ext uri="{BB962C8B-B14F-4D97-AF65-F5344CB8AC3E}">
        <p14:creationId xmlns:p14="http://schemas.microsoft.com/office/powerpoint/2010/main" val="15279190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9A1FEA3-C30C-92F6-5C30-9DC3EE72F61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235813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404" imgH="405" progId="TCLayout.ActiveDocument.1">
                  <p:embed/>
                </p:oleObj>
              </mc:Choice>
              <mc:Fallback>
                <p:oleObj name="think-cell 幻灯片" r:id="rId10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A39AD824-CE80-33BC-3477-49D09593F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产业链：集成交付环节、光电信号中枢优先关注</a:t>
            </a: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EB94D79-6AC1-FD22-C9E1-4BCB3FAD7C4C}"/>
              </a:ext>
            </a:extLst>
          </p:cNvPr>
          <p:cNvSpPr/>
          <p:nvPr/>
        </p:nvSpPr>
        <p:spPr>
          <a:xfrm>
            <a:off x="1189697" y="1029464"/>
            <a:ext cx="3219590" cy="387904"/>
          </a:xfrm>
          <a:prstGeom prst="homePlate">
            <a:avLst/>
          </a:prstGeom>
          <a:solidFill>
            <a:srgbClr val="DDE3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光信号中枢</a:t>
            </a:r>
          </a:p>
        </p:txBody>
      </p:sp>
      <p:sp>
        <p:nvSpPr>
          <p:cNvPr id="11" name="箭头: V 形 10">
            <a:extLst>
              <a:ext uri="{FF2B5EF4-FFF2-40B4-BE49-F238E27FC236}">
                <a16:creationId xmlns:a16="http://schemas.microsoft.com/office/drawing/2014/main" id="{2095B2AB-A5E4-A263-EA60-C4F7DA4AE67C}"/>
              </a:ext>
            </a:extLst>
          </p:cNvPr>
          <p:cNvSpPr/>
          <p:nvPr/>
        </p:nvSpPr>
        <p:spPr>
          <a:xfrm>
            <a:off x="4532548" y="1038407"/>
            <a:ext cx="2647705" cy="370017"/>
          </a:xfrm>
          <a:prstGeom prst="chevron">
            <a:avLst/>
          </a:prstGeom>
          <a:solidFill>
            <a:srgbClr val="DDE3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电信号中枢</a:t>
            </a:r>
          </a:p>
        </p:txBody>
      </p:sp>
      <p:sp>
        <p:nvSpPr>
          <p:cNvPr id="12" name="箭头: V 形 11">
            <a:extLst>
              <a:ext uri="{FF2B5EF4-FFF2-40B4-BE49-F238E27FC236}">
                <a16:creationId xmlns:a16="http://schemas.microsoft.com/office/drawing/2014/main" id="{10CDCBAC-5CB5-077F-719C-6EFB53F66B92}"/>
              </a:ext>
            </a:extLst>
          </p:cNvPr>
          <p:cNvSpPr/>
          <p:nvPr/>
        </p:nvSpPr>
        <p:spPr>
          <a:xfrm>
            <a:off x="7303515" y="1047351"/>
            <a:ext cx="2647705" cy="370017"/>
          </a:xfrm>
          <a:prstGeom prst="chevron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集成交付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FF8C7F5-E1FA-F8B4-3AFF-AF4DB968D28C}"/>
              </a:ext>
            </a:extLst>
          </p:cNvPr>
          <p:cNvSpPr txBox="1"/>
          <p:nvPr/>
        </p:nvSpPr>
        <p:spPr>
          <a:xfrm>
            <a:off x="240584" y="3652733"/>
            <a:ext cx="445216" cy="1041187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大厂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C27FDB3-6C32-9552-2CB8-9F66D8956BB0}"/>
              </a:ext>
            </a:extLst>
          </p:cNvPr>
          <p:cNvSpPr txBox="1"/>
          <p:nvPr/>
        </p:nvSpPr>
        <p:spPr>
          <a:xfrm>
            <a:off x="240584" y="4892050"/>
            <a:ext cx="936104" cy="1041187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全球</a:t>
            </a:r>
            <a:endParaRPr kumimoji="1" lang="en-US" altLang="zh-CN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初创</a:t>
            </a: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3BE8A2F9-6A41-EFC9-6A32-2A586A0D8C4C}"/>
              </a:ext>
            </a:extLst>
          </p:cNvPr>
          <p:cNvGrpSpPr/>
          <p:nvPr/>
        </p:nvGrpSpPr>
        <p:grpSpPr>
          <a:xfrm>
            <a:off x="1119726" y="1490343"/>
            <a:ext cx="1141776" cy="916619"/>
            <a:chOff x="331424" y="2282556"/>
            <a:chExt cx="1141776" cy="916619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834F6EE5-3C5F-CB90-31B5-E7EAE274DB4C}"/>
                </a:ext>
              </a:extLst>
            </p:cNvPr>
            <p:cNvSpPr txBox="1"/>
            <p:nvPr/>
          </p:nvSpPr>
          <p:spPr>
            <a:xfrm>
              <a:off x="331424" y="2891398"/>
              <a:ext cx="11417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cs typeface="+mn-ea"/>
                  <a:sym typeface="+mn-lt"/>
                </a:rPr>
                <a:t>外置激光器</a:t>
              </a:r>
            </a:p>
          </p:txBody>
        </p:sp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A063E6CD-A762-B27C-BDC3-5AD185D0DD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260" y="2282556"/>
              <a:ext cx="936105" cy="6579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0A09CA3B-900C-D3D8-4EE8-C50040D79793}"/>
              </a:ext>
            </a:extLst>
          </p:cNvPr>
          <p:cNvSpPr txBox="1"/>
          <p:nvPr/>
        </p:nvSpPr>
        <p:spPr>
          <a:xfrm>
            <a:off x="2310371" y="1505304"/>
            <a:ext cx="781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cs typeface="+mn-ea"/>
                <a:sym typeface="+mn-lt"/>
              </a:rPr>
              <a:t>光纤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E2EC28C-4DEF-A840-A33B-B608E4A221E9}"/>
              </a:ext>
            </a:extLst>
          </p:cNvPr>
          <p:cNvSpPr txBox="1"/>
          <p:nvPr/>
        </p:nvSpPr>
        <p:spPr>
          <a:xfrm>
            <a:off x="3218733" y="2089799"/>
            <a:ext cx="11417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0055E0"/>
                </a:solidFill>
                <a:cs typeface="+mn-ea"/>
                <a:sym typeface="+mn-lt"/>
              </a:rPr>
              <a:t>硅光芯片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6A2A7036-7763-DE9F-28E2-76D310EBEF8D}"/>
              </a:ext>
            </a:extLst>
          </p:cNvPr>
          <p:cNvCxnSpPr>
            <a:cxnSpLocks/>
            <a:stCxn id="2050" idx="3"/>
          </p:cNvCxnSpPr>
          <p:nvPr/>
        </p:nvCxnSpPr>
        <p:spPr>
          <a:xfrm>
            <a:off x="2158667" y="1819302"/>
            <a:ext cx="10751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图片 36">
            <a:extLst>
              <a:ext uri="{FF2B5EF4-FFF2-40B4-BE49-F238E27FC236}">
                <a16:creationId xmlns:a16="http://schemas.microsoft.com/office/drawing/2014/main" id="{18082D1E-4314-9FA9-2794-1F08741FFD3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23851" y="1605029"/>
            <a:ext cx="777859" cy="438723"/>
          </a:xfrm>
          <a:prstGeom prst="rect">
            <a:avLst/>
          </a:prstGeom>
        </p:spPr>
      </p:pic>
      <p:sp>
        <p:nvSpPr>
          <p:cNvPr id="38" name="文本框 37">
            <a:extLst>
              <a:ext uri="{FF2B5EF4-FFF2-40B4-BE49-F238E27FC236}">
                <a16:creationId xmlns:a16="http://schemas.microsoft.com/office/drawing/2014/main" id="{2FBB7D99-A1DB-A738-678B-AB64E3E6FAD5}"/>
              </a:ext>
            </a:extLst>
          </p:cNvPr>
          <p:cNvSpPr txBox="1"/>
          <p:nvPr/>
        </p:nvSpPr>
        <p:spPr>
          <a:xfrm>
            <a:off x="5147556" y="2152909"/>
            <a:ext cx="15492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cs typeface="+mn-ea"/>
                <a:sym typeface="+mn-lt"/>
              </a:rPr>
              <a:t>EIC</a:t>
            </a:r>
            <a:r>
              <a:rPr lang="zh-CN" altLang="en-US" sz="1400" dirty="0">
                <a:cs typeface="+mn-ea"/>
                <a:sym typeface="+mn-lt"/>
              </a:rPr>
              <a:t>（电光芯片）</a:t>
            </a:r>
          </a:p>
        </p:txBody>
      </p:sp>
      <p:pic>
        <p:nvPicPr>
          <p:cNvPr id="2056" name="Picture 8" descr="什么是交换机的光口与电口？光纤常用8种接口与5种连接器_山东科普">
            <a:extLst>
              <a:ext uri="{FF2B5EF4-FFF2-40B4-BE49-F238E27FC236}">
                <a16:creationId xmlns:a16="http://schemas.microsoft.com/office/drawing/2014/main" id="{482D47ED-F7B2-3B41-BA41-8ED0BEEFA3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378"/>
          <a:stretch/>
        </p:blipFill>
        <p:spPr bwMode="auto">
          <a:xfrm>
            <a:off x="2367949" y="1918537"/>
            <a:ext cx="673384" cy="325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像" descr="图像">
            <a:extLst>
              <a:ext uri="{FF2B5EF4-FFF2-40B4-BE49-F238E27FC236}">
                <a16:creationId xmlns:a16="http://schemas.microsoft.com/office/drawing/2014/main" id="{6FB2887F-EFDC-3542-64A6-258BB75BBB5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00162" y="3665662"/>
            <a:ext cx="558801" cy="444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图像" descr="图像">
            <a:extLst>
              <a:ext uri="{FF2B5EF4-FFF2-40B4-BE49-F238E27FC236}">
                <a16:creationId xmlns:a16="http://schemas.microsoft.com/office/drawing/2014/main" id="{A20DB015-8079-36A1-6ED6-D369A1546B4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45877" y="3748852"/>
            <a:ext cx="576840" cy="278120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箭头: V 形 6">
            <a:extLst>
              <a:ext uri="{FF2B5EF4-FFF2-40B4-BE49-F238E27FC236}">
                <a16:creationId xmlns:a16="http://schemas.microsoft.com/office/drawing/2014/main" id="{2944F56B-B007-2FEF-C46F-9CF60ECC962C}"/>
              </a:ext>
            </a:extLst>
          </p:cNvPr>
          <p:cNvSpPr/>
          <p:nvPr/>
        </p:nvSpPr>
        <p:spPr>
          <a:xfrm>
            <a:off x="10106478" y="1038407"/>
            <a:ext cx="1609803" cy="370017"/>
          </a:xfrm>
          <a:prstGeom prst="chevron">
            <a:avLst/>
          </a:prstGeom>
          <a:solidFill>
            <a:srgbClr val="DDE3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周边硬件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71EABA44-55F7-2866-FFF8-533EAFE642E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151299" y="4978156"/>
            <a:ext cx="908907" cy="23765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BD4B1F81-7D33-D40F-2752-DB51E1BEB901}"/>
              </a:ext>
            </a:extLst>
          </p:cNvPr>
          <p:cNvSpPr txBox="1"/>
          <p:nvPr/>
        </p:nvSpPr>
        <p:spPr>
          <a:xfrm>
            <a:off x="10140869" y="5226409"/>
            <a:ext cx="15492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cs typeface="+mn-ea"/>
                <a:sym typeface="+mn-lt"/>
              </a:rPr>
              <a:t>光电子封测隐形冠军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BFDC959-369A-FFC3-D4C3-D98DA786A392}"/>
              </a:ext>
            </a:extLst>
          </p:cNvPr>
          <p:cNvSpPr txBox="1"/>
          <p:nvPr/>
        </p:nvSpPr>
        <p:spPr>
          <a:xfrm>
            <a:off x="244608" y="1714347"/>
            <a:ext cx="931725" cy="877125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环节</a:t>
            </a:r>
            <a:endParaRPr kumimoji="1" lang="en-US" altLang="zh-CN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BOM</a:t>
            </a:r>
            <a:r>
              <a:rPr kumimoji="1" lang="en-US" altLang="zh-CN" sz="1400" b="1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766B2A0-F3D5-BC90-474C-40D5825F919C}"/>
              </a:ext>
            </a:extLst>
          </p:cNvPr>
          <p:cNvSpPr txBox="1"/>
          <p:nvPr/>
        </p:nvSpPr>
        <p:spPr>
          <a:xfrm>
            <a:off x="240584" y="2772715"/>
            <a:ext cx="936104" cy="751411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价值</a:t>
            </a:r>
            <a:r>
              <a:rPr kumimoji="1" lang="en-US" altLang="zh-CN" sz="1400" b="1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BA270F4-3CB0-4B5C-1C9B-E8570DB4FE6C}"/>
              </a:ext>
            </a:extLst>
          </p:cNvPr>
          <p:cNvSpPr txBox="1"/>
          <p:nvPr/>
        </p:nvSpPr>
        <p:spPr>
          <a:xfrm>
            <a:off x="2223600" y="2394300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0052D9"/>
                </a:solidFill>
                <a:cs typeface="+mn-ea"/>
                <a:sym typeface="+mn-lt"/>
              </a:rPr>
              <a:t>14%</a:t>
            </a:r>
            <a:endParaRPr lang="zh-CN" altLang="en-US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3222E30-5B06-C520-7AAA-1FABCBE91457}"/>
              </a:ext>
            </a:extLst>
          </p:cNvPr>
          <p:cNvSpPr txBox="1"/>
          <p:nvPr/>
        </p:nvSpPr>
        <p:spPr>
          <a:xfrm>
            <a:off x="5068541" y="2394300"/>
            <a:ext cx="1549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400">
                <a:solidFill>
                  <a:srgbClr val="0052D9"/>
                </a:solidFill>
              </a:defRPr>
            </a:lvl1pPr>
          </a:lstStyle>
          <a:p>
            <a:r>
              <a:rPr lang="en-US" altLang="zh-CN" sz="1800" dirty="0">
                <a:cs typeface="+mn-ea"/>
                <a:sym typeface="+mn-lt"/>
              </a:rPr>
              <a:t>14%</a:t>
            </a:r>
            <a:endParaRPr lang="zh-CN" altLang="en-US" sz="1800" dirty="0">
              <a:cs typeface="+mn-ea"/>
              <a:sym typeface="+mn-lt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14F6207-297E-DD41-92C8-FE805C76B3A7}"/>
              </a:ext>
            </a:extLst>
          </p:cNvPr>
          <p:cNvSpPr txBox="1"/>
          <p:nvPr/>
        </p:nvSpPr>
        <p:spPr>
          <a:xfrm>
            <a:off x="7863921" y="2402128"/>
            <a:ext cx="1549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400">
                <a:solidFill>
                  <a:srgbClr val="0052D9"/>
                </a:solidFill>
              </a:defRPr>
            </a:lvl1pPr>
          </a:lstStyle>
          <a:p>
            <a:r>
              <a:rPr lang="en-US" altLang="zh-CN" sz="1800" dirty="0">
                <a:cs typeface="+mn-ea"/>
                <a:sym typeface="+mn-lt"/>
              </a:rPr>
              <a:t>15%</a:t>
            </a:r>
            <a:endParaRPr lang="zh-CN" altLang="en-US" sz="1800" dirty="0">
              <a:cs typeface="+mn-ea"/>
              <a:sym typeface="+mn-lt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DB14EAD-FFB5-DC67-1805-790EFA47386E}"/>
              </a:ext>
            </a:extLst>
          </p:cNvPr>
          <p:cNvSpPr txBox="1"/>
          <p:nvPr/>
        </p:nvSpPr>
        <p:spPr>
          <a:xfrm>
            <a:off x="10171158" y="2394300"/>
            <a:ext cx="1549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400">
                <a:solidFill>
                  <a:srgbClr val="0052D9"/>
                </a:solidFill>
              </a:defRPr>
            </a:lvl1pPr>
          </a:lstStyle>
          <a:p>
            <a:r>
              <a:rPr lang="en-US" altLang="zh-CN" sz="1800" dirty="0">
                <a:cs typeface="+mn-ea"/>
                <a:sym typeface="+mn-lt"/>
              </a:rPr>
              <a:t>7%</a:t>
            </a:r>
            <a:endParaRPr lang="zh-CN" altLang="en-US" sz="1800" dirty="0">
              <a:cs typeface="+mn-ea"/>
              <a:sym typeface="+mn-lt"/>
            </a:endParaRP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72A42301-2F9B-5290-06B7-4F1F77DE5D6F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363663" y="3063875"/>
            <a:ext cx="215900" cy="215900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5" name="弧 155">
            <a:extLst>
              <a:ext uri="{FF2B5EF4-FFF2-40B4-BE49-F238E27FC236}">
                <a16:creationId xmlns:a16="http://schemas.microsoft.com/office/drawing/2014/main" id="{5AC23980-DD06-7632-BE6A-72E1FE17C0F4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1363663" y="3063875"/>
            <a:ext cx="215900" cy="215900"/>
          </a:xfrm>
          <a:prstGeom prst="arc">
            <a:avLst>
              <a:gd name="adj1" fmla="val 16200000"/>
              <a:gd name="adj2" fmla="val 108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9DD0B4C5-6F8E-EFF5-F02D-599D589610BF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4573588" y="3070225"/>
            <a:ext cx="215900" cy="215900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9" name="弧 155">
            <a:extLst>
              <a:ext uri="{FF2B5EF4-FFF2-40B4-BE49-F238E27FC236}">
                <a16:creationId xmlns:a16="http://schemas.microsoft.com/office/drawing/2014/main" id="{2D5766E9-E04E-47DF-B260-4EF35D9B4347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4573588" y="3070225"/>
            <a:ext cx="215900" cy="215900"/>
          </a:xfrm>
          <a:prstGeom prst="arc">
            <a:avLst>
              <a:gd name="adj1" fmla="val 16200000"/>
              <a:gd name="adj2" fmla="val 108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BBD61F91-E6A5-C742-DB7A-09CD67F77350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0110788" y="3074988"/>
            <a:ext cx="215900" cy="215900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1" name="弧 28">
            <a:extLst>
              <a:ext uri="{FF2B5EF4-FFF2-40B4-BE49-F238E27FC236}">
                <a16:creationId xmlns:a16="http://schemas.microsoft.com/office/drawing/2014/main" id="{6E41E0B2-1086-F700-5EC8-8411141379C6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10110788" y="3074988"/>
            <a:ext cx="215900" cy="215900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EB2A6734-33FF-4688-76C3-4E381BCEDDEF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7354888" y="3074988"/>
            <a:ext cx="215900" cy="215900"/>
          </a:xfrm>
          <a:prstGeom prst="ellipse">
            <a:avLst/>
          </a:prstGeom>
          <a:solidFill>
            <a:schemeClr val="accent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91E6B595-983E-90F2-D771-0EED19F03680}"/>
              </a:ext>
            </a:extLst>
          </p:cNvPr>
          <p:cNvSpPr txBox="1"/>
          <p:nvPr/>
        </p:nvSpPr>
        <p:spPr>
          <a:xfrm>
            <a:off x="1636712" y="2946400"/>
            <a:ext cx="26368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0055E0"/>
                </a:solidFill>
                <a:cs typeface="+mn-ea"/>
                <a:sym typeface="+mn-lt"/>
              </a:rPr>
              <a:t>中：</a:t>
            </a:r>
            <a:r>
              <a:rPr lang="zh-CN" altLang="zh-CN" sz="1200" dirty="0">
                <a:solidFill>
                  <a:srgbClr val="000000"/>
                </a:solidFill>
                <a:cs typeface="+mn-ea"/>
                <a:sym typeface="+mn-lt"/>
              </a:rPr>
              <a:t>门槛高</a:t>
            </a:r>
            <a:r>
              <a:rPr lang="zh-CN" altLang="en-US" sz="1200" dirty="0">
                <a:solidFill>
                  <a:srgbClr val="000000"/>
                </a:solidFill>
                <a:cs typeface="+mn-ea"/>
                <a:sym typeface="+mn-lt"/>
              </a:rPr>
              <a:t>，</a:t>
            </a:r>
            <a:r>
              <a:rPr lang="zh-CN" altLang="zh-CN" sz="1200" dirty="0">
                <a:solidFill>
                  <a:srgbClr val="000000"/>
                </a:solidFill>
                <a:cs typeface="+mn-ea"/>
                <a:sym typeface="+mn-lt"/>
              </a:rPr>
              <a:t>绑定硅光设计服务，毛利可</a:t>
            </a:r>
            <a:r>
              <a:rPr lang="zh-CN" altLang="en-US" sz="1200" dirty="0">
                <a:solidFill>
                  <a:srgbClr val="000000"/>
                </a:solidFill>
                <a:cs typeface="+mn-ea"/>
                <a:sym typeface="+mn-lt"/>
              </a:rPr>
              <a:t>达</a:t>
            </a:r>
            <a:r>
              <a:rPr lang="zh-CN" altLang="zh-CN" sz="1200" dirty="0">
                <a:solidFill>
                  <a:srgbClr val="000000"/>
                </a:solidFill>
                <a:cs typeface="+mn-ea"/>
                <a:sym typeface="+mn-lt"/>
              </a:rPr>
              <a:t> 55</a:t>
            </a: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+</a:t>
            </a:r>
            <a:r>
              <a:rPr lang="zh-CN" altLang="zh-CN" sz="1200" dirty="0">
                <a:solidFill>
                  <a:srgbClr val="000000"/>
                </a:solidFill>
                <a:cs typeface="+mn-ea"/>
                <a:sym typeface="+mn-lt"/>
              </a:rPr>
              <a:t>%</a:t>
            </a:r>
            <a:endParaRPr lang="zh-CN" altLang="zh-CN" sz="1200" dirty="0">
              <a:cs typeface="+mn-ea"/>
              <a:sym typeface="+mn-lt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7F916413-5861-A019-C796-D31CE1E70419}"/>
              </a:ext>
            </a:extLst>
          </p:cNvPr>
          <p:cNvSpPr txBox="1"/>
          <p:nvPr/>
        </p:nvSpPr>
        <p:spPr>
          <a:xfrm>
            <a:off x="4789488" y="2944813"/>
            <a:ext cx="22653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100" b="1">
                <a:solidFill>
                  <a:srgbClr val="0055E0"/>
                </a:solidFill>
                <a:latin typeface="+mn-ea"/>
              </a:defRPr>
            </a:lvl1pPr>
          </a:lstStyle>
          <a:p>
            <a:r>
              <a:rPr lang="zh-CN" altLang="en-US" sz="1200" dirty="0">
                <a:latin typeface="+mn-lt"/>
                <a:cs typeface="+mn-ea"/>
                <a:sym typeface="+mn-lt"/>
              </a:rPr>
              <a:t>中：</a:t>
            </a:r>
            <a:r>
              <a:rPr lang="zh-CN" altLang="zh-CN" sz="1200" b="0" dirty="0">
                <a:solidFill>
                  <a:schemeClr val="accent6">
                    <a:lumMod val="10000"/>
                  </a:schemeClr>
                </a:solidFill>
                <a:latin typeface="+mn-lt"/>
                <a:cs typeface="+mn-ea"/>
                <a:sym typeface="+mn-lt"/>
              </a:rPr>
              <a:t>国内无成熟 300mm SOI产线，政策补贴力度大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B7D164DD-89CD-C436-39A1-F490AE28BA33}"/>
              </a:ext>
            </a:extLst>
          </p:cNvPr>
          <p:cNvSpPr txBox="1"/>
          <p:nvPr/>
        </p:nvSpPr>
        <p:spPr>
          <a:xfrm>
            <a:off x="7641731" y="2881651"/>
            <a:ext cx="22653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100" b="1">
                <a:solidFill>
                  <a:srgbClr val="0055E0"/>
                </a:solidFill>
                <a:latin typeface="+mn-ea"/>
              </a:defRPr>
            </a:lvl1pPr>
          </a:lstStyle>
          <a:p>
            <a:r>
              <a:rPr lang="zh-CN" altLang="en-US" sz="1200" dirty="0">
                <a:latin typeface="+mn-lt"/>
                <a:cs typeface="+mn-ea"/>
                <a:sym typeface="+mn-lt"/>
              </a:rPr>
              <a:t>高：</a:t>
            </a:r>
            <a:r>
              <a:rPr lang="zh-CN" altLang="zh-CN" sz="1200" b="0" dirty="0">
                <a:solidFill>
                  <a:schemeClr val="accent6">
                    <a:lumMod val="10000"/>
                  </a:schemeClr>
                </a:solidFill>
                <a:latin typeface="+mn-lt"/>
                <a:cs typeface="+mn-ea"/>
                <a:sym typeface="+mn-lt"/>
              </a:rPr>
              <a:t>光电异构封装国内基本空白，有政策红利；一旦突破可锁核心环节</a:t>
            </a:r>
          </a:p>
          <a:p>
            <a:endParaRPr lang="zh-CN" altLang="zh-CN" sz="1200" b="0" dirty="0">
              <a:solidFill>
                <a:schemeClr val="accent6">
                  <a:lumMod val="10000"/>
                </a:schemeClr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9BA6FBA8-DA9B-131C-0536-D1055FCA0537}"/>
              </a:ext>
            </a:extLst>
          </p:cNvPr>
          <p:cNvSpPr txBox="1"/>
          <p:nvPr/>
        </p:nvSpPr>
        <p:spPr>
          <a:xfrm>
            <a:off x="10361268" y="2881651"/>
            <a:ext cx="1462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100" b="1">
                <a:solidFill>
                  <a:srgbClr val="0055E0"/>
                </a:solidFill>
                <a:latin typeface="+mn-ea"/>
              </a:defRPr>
            </a:lvl1pPr>
          </a:lstStyle>
          <a:p>
            <a:r>
              <a:rPr lang="zh-CN" altLang="en-US" sz="1200" dirty="0">
                <a:latin typeface="+mn-lt"/>
                <a:cs typeface="+mn-ea"/>
                <a:sym typeface="+mn-lt"/>
              </a:rPr>
              <a:t>低：</a:t>
            </a:r>
            <a:r>
              <a:rPr lang="zh-CN" altLang="zh-CN" sz="1200" b="0" dirty="0">
                <a:solidFill>
                  <a:schemeClr val="accent6">
                    <a:lumMod val="10000"/>
                  </a:schemeClr>
                </a:solidFill>
                <a:latin typeface="+mn-lt"/>
                <a:cs typeface="+mn-ea"/>
                <a:sym typeface="+mn-lt"/>
              </a:rPr>
              <a:t>资本密集+代工属性，低margin</a:t>
            </a:r>
            <a:r>
              <a:rPr lang="zh-CN" altLang="en-US" sz="1200" b="0" dirty="0">
                <a:solidFill>
                  <a:schemeClr val="accent6">
                    <a:lumMod val="10000"/>
                  </a:schemeClr>
                </a:solidFill>
                <a:latin typeface="+mn-lt"/>
                <a:cs typeface="+mn-ea"/>
                <a:sym typeface="+mn-lt"/>
              </a:rPr>
              <a:t>，</a:t>
            </a:r>
            <a:r>
              <a:rPr lang="zh-CN" altLang="zh-CN" sz="1200" b="0" dirty="0">
                <a:solidFill>
                  <a:schemeClr val="accent6">
                    <a:lumMod val="10000"/>
                  </a:schemeClr>
                </a:solidFill>
                <a:latin typeface="+mn-lt"/>
                <a:cs typeface="+mn-ea"/>
                <a:sym typeface="+mn-lt"/>
              </a:rPr>
              <a:t>国内产能稀缺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21E2431F-FB8D-4D8A-2957-A8DFE80AA1B1}"/>
              </a:ext>
            </a:extLst>
          </p:cNvPr>
          <p:cNvSpPr txBox="1"/>
          <p:nvPr/>
        </p:nvSpPr>
        <p:spPr>
          <a:xfrm>
            <a:off x="322592" y="6156830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BOM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bill of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meterial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，便于从环节价格角度来拆分评估收益空间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zh-CN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传统模块/不存在新技术和变量的部分，如集成框、高级面板等未单独列出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3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zh-CN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价值评分逻辑：0.4*margin+0.3*稀缺度+0.3*国产替代（国内缺口、政策/市场拉动强度、本土供应链成熟度）</a:t>
            </a:r>
          </a:p>
          <a:p>
            <a:pPr>
              <a:spcBef>
                <a:spcPts val="100"/>
              </a:spcBef>
            </a:pP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3696966E-FD59-D5B4-A168-51C92A99A090}"/>
              </a:ext>
            </a:extLst>
          </p:cNvPr>
          <p:cNvSpPr txBox="1"/>
          <p:nvPr/>
        </p:nvSpPr>
        <p:spPr>
          <a:xfrm>
            <a:off x="726350" y="3652733"/>
            <a:ext cx="445216" cy="475606"/>
          </a:xfrm>
          <a:prstGeom prst="rect">
            <a:avLst/>
          </a:prstGeom>
          <a:solidFill>
            <a:srgbClr val="C1E1FE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全球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8FD57385-92FC-7695-D49E-CF7FC0E3DDA6}"/>
              </a:ext>
            </a:extLst>
          </p:cNvPr>
          <p:cNvSpPr txBox="1"/>
          <p:nvPr/>
        </p:nvSpPr>
        <p:spPr>
          <a:xfrm>
            <a:off x="718416" y="4218314"/>
            <a:ext cx="453149" cy="475606"/>
          </a:xfrm>
          <a:prstGeom prst="rect">
            <a:avLst/>
          </a:prstGeom>
          <a:solidFill>
            <a:srgbClr val="C1E1FE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国产替代</a:t>
            </a:r>
          </a:p>
        </p:txBody>
      </p:sp>
      <p:sp>
        <p:nvSpPr>
          <p:cNvPr id="59" name="Rectangle 7">
            <a:extLst>
              <a:ext uri="{FF2B5EF4-FFF2-40B4-BE49-F238E27FC236}">
                <a16:creationId xmlns:a16="http://schemas.microsoft.com/office/drawing/2014/main" id="{908025EE-42A7-2008-1E6E-660274DE75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7075" y="4197552"/>
            <a:ext cx="3317875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熹联：100G/lane出货～10K 200G/lane出货～100K；</a:t>
            </a:r>
            <a:r>
              <a:rPr lang="zh-CN" altLang="zh-CN" sz="900" dirty="0">
                <a:solidFill>
                  <a:srgbClr val="000000"/>
                </a:solidFill>
                <a:cs typeface="+mn-ea"/>
                <a:sym typeface="+mn-lt"/>
              </a:rPr>
              <a:t>羲禾 ：100G/lane出货超百万</a:t>
            </a:r>
            <a:r>
              <a:rPr lang="en-US" altLang="zh-CN" sz="900" dirty="0">
                <a:solidFill>
                  <a:srgbClr val="000000"/>
                </a:solidFill>
                <a:cs typeface="+mn-ea"/>
                <a:sym typeface="+mn-lt"/>
              </a:rPr>
              <a:t>;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赛丽：100G/lane出货超百万 200G/lane小批量出货；(前两家为tx现有jdm合作方）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60" name="Rectangle 8">
            <a:extLst>
              <a:ext uri="{FF2B5EF4-FFF2-40B4-BE49-F238E27FC236}">
                <a16:creationId xmlns:a16="http://schemas.microsoft.com/office/drawing/2014/main" id="{08B321CB-7C00-D2A4-ECCD-3B8467EFE3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5500" y="4331498"/>
            <a:ext cx="219075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傲科、中晟：出样，需场景批量落地；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61" name="Rectangle 9">
            <a:extLst>
              <a:ext uri="{FF2B5EF4-FFF2-40B4-BE49-F238E27FC236}">
                <a16:creationId xmlns:a16="http://schemas.microsoft.com/office/drawing/2014/main" id="{43429E07-26F4-B895-DDEF-C3ADA94FB3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6352" y="4179208"/>
            <a:ext cx="2619544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中际旭创：对外宣布800 G 光学引擎年产&gt;100 K，CPO试线运行；Accelink/海信：对外宣布400 G批量，CPO工程团队组建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62" name="Rectangle 10">
            <a:extLst>
              <a:ext uri="{FF2B5EF4-FFF2-40B4-BE49-F238E27FC236}">
                <a16:creationId xmlns:a16="http://schemas.microsoft.com/office/drawing/2014/main" id="{8CC03B0D-6A2C-7E70-EBD8-04EBCF783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8513" y="3739540"/>
            <a:ext cx="2088269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Macom/Marvell / Semtech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63" name="Rectangle 11">
            <a:extLst>
              <a:ext uri="{FF2B5EF4-FFF2-40B4-BE49-F238E27FC236}">
                <a16:creationId xmlns:a16="http://schemas.microsoft.com/office/drawing/2014/main" id="{5906A869-E2CD-23DB-35FA-0BC5F45F2D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6352" y="3736141"/>
            <a:ext cx="2265363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Broadcom/Intel/Ranovus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2048" name="图片 2047">
            <a:extLst>
              <a:ext uri="{FF2B5EF4-FFF2-40B4-BE49-F238E27FC236}">
                <a16:creationId xmlns:a16="http://schemas.microsoft.com/office/drawing/2014/main" id="{E53E366E-5E59-7FA1-9018-2ACCC3C64E4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759560" y="5031114"/>
            <a:ext cx="775992" cy="216870"/>
          </a:xfrm>
          <a:prstGeom prst="rect">
            <a:avLst/>
          </a:prstGeom>
        </p:spPr>
      </p:pic>
      <p:sp>
        <p:nvSpPr>
          <p:cNvPr id="2051" name="文本框 2050">
            <a:extLst>
              <a:ext uri="{FF2B5EF4-FFF2-40B4-BE49-F238E27FC236}">
                <a16:creationId xmlns:a16="http://schemas.microsoft.com/office/drawing/2014/main" id="{62857581-4F3E-269A-1776-12E93A939F47}"/>
              </a:ext>
            </a:extLst>
          </p:cNvPr>
          <p:cNvSpPr txBox="1"/>
          <p:nvPr/>
        </p:nvSpPr>
        <p:spPr>
          <a:xfrm>
            <a:off x="4831785" y="5278330"/>
            <a:ext cx="15492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/>
            </a:lvl1pPr>
          </a:lstStyle>
          <a:p>
            <a:r>
              <a:rPr lang="zh-CN" altLang="en-US" dirty="0">
                <a:cs typeface="+mn-ea"/>
                <a:sym typeface="+mn-lt"/>
              </a:rPr>
              <a:t>光互连 </a:t>
            </a:r>
            <a:r>
              <a:rPr lang="en-US" altLang="zh-CN" dirty="0" err="1">
                <a:cs typeface="+mn-ea"/>
                <a:sym typeface="+mn-lt"/>
              </a:rPr>
              <a:t>Chiplet</a:t>
            </a:r>
            <a:r>
              <a:rPr lang="en-US" altLang="zh-CN" dirty="0">
                <a:cs typeface="+mn-ea"/>
                <a:sym typeface="+mn-lt"/>
              </a:rPr>
              <a:t> </a:t>
            </a:r>
            <a:r>
              <a:rPr lang="zh-CN" altLang="en-US" dirty="0">
                <a:cs typeface="+mn-ea"/>
                <a:sym typeface="+mn-lt"/>
              </a:rPr>
              <a:t>头部企业</a:t>
            </a:r>
          </a:p>
        </p:txBody>
      </p:sp>
      <p:sp>
        <p:nvSpPr>
          <p:cNvPr id="2052" name="Rectangle 13">
            <a:extLst>
              <a:ext uri="{FF2B5EF4-FFF2-40B4-BE49-F238E27FC236}">
                <a16:creationId xmlns:a16="http://schemas.microsoft.com/office/drawing/2014/main" id="{6A29D2DC-BD93-312D-1ADB-7DDAFD88B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50783" y="4967553"/>
            <a:ext cx="7500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200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r>
              <a:rPr lang="en-US" altLang="zh-CN" sz="12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</a:t>
            </a:r>
            <a:endParaRPr lang="zh-CN" altLang="zh-CN" sz="1200" baseline="-250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053" name="Rectangle 13">
            <a:extLst>
              <a:ext uri="{FF2B5EF4-FFF2-40B4-BE49-F238E27FC236}">
                <a16:creationId xmlns:a16="http://schemas.microsoft.com/office/drawing/2014/main" id="{DD6E1916-A421-AA04-B6BF-B4E0FB664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6398" y="5008973"/>
            <a:ext cx="7500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15</a:t>
            </a:r>
            <a:r>
              <a:rPr lang="en-US" altLang="zh-CN" sz="12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US</a:t>
            </a:r>
            <a:endParaRPr lang="zh-CN" altLang="zh-CN" sz="1200" baseline="-250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057" name="图片 2056">
            <a:extLst>
              <a:ext uri="{FF2B5EF4-FFF2-40B4-BE49-F238E27FC236}">
                <a16:creationId xmlns:a16="http://schemas.microsoft.com/office/drawing/2014/main" id="{00AE2D27-05FC-B693-7607-50E3CA97EFC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462838" y="4946475"/>
            <a:ext cx="1229948" cy="279934"/>
          </a:xfrm>
          <a:prstGeom prst="rect">
            <a:avLst/>
          </a:prstGeom>
        </p:spPr>
      </p:pic>
      <p:sp>
        <p:nvSpPr>
          <p:cNvPr id="2058" name="Rectangle 13">
            <a:extLst>
              <a:ext uri="{FF2B5EF4-FFF2-40B4-BE49-F238E27FC236}">
                <a16:creationId xmlns:a16="http://schemas.microsoft.com/office/drawing/2014/main" id="{C15BC35C-A3F6-051A-DC1A-4FF8BCC8FD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8534" y="4974803"/>
            <a:ext cx="7500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</a:t>
            </a:r>
            <a:r>
              <a:rPr lang="en-US" altLang="zh-CN" sz="12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US</a:t>
            </a:r>
            <a:endParaRPr lang="zh-CN" altLang="zh-CN" sz="1200" baseline="-250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061" name="图片 2060">
            <a:extLst>
              <a:ext uri="{FF2B5EF4-FFF2-40B4-BE49-F238E27FC236}">
                <a16:creationId xmlns:a16="http://schemas.microsoft.com/office/drawing/2014/main" id="{433C58BF-324A-3769-18C1-4559A3DC9D6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461028" y="4425304"/>
            <a:ext cx="908907" cy="237650"/>
          </a:xfrm>
          <a:prstGeom prst="rect">
            <a:avLst/>
          </a:prstGeom>
        </p:spPr>
      </p:pic>
      <p:sp>
        <p:nvSpPr>
          <p:cNvPr id="2062" name="文本框 2061">
            <a:extLst>
              <a:ext uri="{FF2B5EF4-FFF2-40B4-BE49-F238E27FC236}">
                <a16:creationId xmlns:a16="http://schemas.microsoft.com/office/drawing/2014/main" id="{0691C520-9669-2602-58CB-95C999DE7A9E}"/>
              </a:ext>
            </a:extLst>
          </p:cNvPr>
          <p:cNvSpPr txBox="1"/>
          <p:nvPr/>
        </p:nvSpPr>
        <p:spPr>
          <a:xfrm>
            <a:off x="7433086" y="5251802"/>
            <a:ext cx="18141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/>
            </a:lvl1pPr>
          </a:lstStyle>
          <a:p>
            <a:r>
              <a:rPr lang="zh-CN" altLang="zh-CN" dirty="0">
                <a:cs typeface="+mn-ea"/>
                <a:sym typeface="+mn-lt"/>
              </a:rPr>
              <a:t>scale-up场景下光学全栈</a:t>
            </a:r>
            <a:r>
              <a:rPr lang="zh-CN" altLang="en-US" dirty="0">
                <a:cs typeface="+mn-ea"/>
                <a:sym typeface="+mn-lt"/>
              </a:rPr>
              <a:t>供应商</a:t>
            </a:r>
            <a:endParaRPr lang="zh-CN" altLang="zh-CN" dirty="0">
              <a:cs typeface="+mn-ea"/>
              <a:sym typeface="+mn-lt"/>
            </a:endParaRPr>
          </a:p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065" name="文本框 2064">
            <a:extLst>
              <a:ext uri="{FF2B5EF4-FFF2-40B4-BE49-F238E27FC236}">
                <a16:creationId xmlns:a16="http://schemas.microsoft.com/office/drawing/2014/main" id="{303B213F-E597-656A-0A2C-E01CC33BBCCA}"/>
              </a:ext>
            </a:extLst>
          </p:cNvPr>
          <p:cNvSpPr txBox="1"/>
          <p:nvPr/>
        </p:nvSpPr>
        <p:spPr>
          <a:xfrm>
            <a:off x="1834344" y="5285972"/>
            <a:ext cx="15492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/>
            </a:lvl1pPr>
          </a:lstStyle>
          <a:p>
            <a:r>
              <a:rPr lang="zh-CN" altLang="en-US" dirty="0">
                <a:cs typeface="+mn-ea"/>
                <a:sym typeface="+mn-lt"/>
              </a:rPr>
              <a:t>硅光子 </a:t>
            </a:r>
            <a:r>
              <a:rPr lang="en-US" altLang="zh-CN" dirty="0">
                <a:cs typeface="+mn-ea"/>
                <a:sym typeface="+mn-lt"/>
              </a:rPr>
              <a:t>AI </a:t>
            </a:r>
            <a:r>
              <a:rPr lang="zh-CN" altLang="en-US" dirty="0">
                <a:cs typeface="+mn-ea"/>
                <a:sym typeface="+mn-lt"/>
              </a:rPr>
              <a:t>处理器前沿企业</a:t>
            </a:r>
          </a:p>
        </p:txBody>
      </p:sp>
      <p:grpSp>
        <p:nvGrpSpPr>
          <p:cNvPr id="2067" name="组合 2066">
            <a:extLst>
              <a:ext uri="{FF2B5EF4-FFF2-40B4-BE49-F238E27FC236}">
                <a16:creationId xmlns:a16="http://schemas.microsoft.com/office/drawing/2014/main" id="{6E74ECFD-F589-D155-3E51-8A7D7FD0B8CE}"/>
              </a:ext>
            </a:extLst>
          </p:cNvPr>
          <p:cNvGrpSpPr/>
          <p:nvPr/>
        </p:nvGrpSpPr>
        <p:grpSpPr>
          <a:xfrm>
            <a:off x="1765776" y="5001847"/>
            <a:ext cx="1887360" cy="276999"/>
            <a:chOff x="1471613" y="4870565"/>
            <a:chExt cx="1887360" cy="276999"/>
          </a:xfrm>
        </p:grpSpPr>
        <p:pic>
          <p:nvPicPr>
            <p:cNvPr id="2064" name="图片 2063">
              <a:extLst>
                <a:ext uri="{FF2B5EF4-FFF2-40B4-BE49-F238E27FC236}">
                  <a16:creationId xmlns:a16="http://schemas.microsoft.com/office/drawing/2014/main" id="{DA0172D4-6CDB-0579-FF63-7CB53AE0C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471613" y="4886103"/>
              <a:ext cx="1108830" cy="230637"/>
            </a:xfrm>
            <a:prstGeom prst="rect">
              <a:avLst/>
            </a:prstGeom>
          </p:spPr>
        </p:pic>
        <p:sp>
          <p:nvSpPr>
            <p:cNvPr id="2066" name="Rectangle 13">
              <a:extLst>
                <a:ext uri="{FF2B5EF4-FFF2-40B4-BE49-F238E27FC236}">
                  <a16:creationId xmlns:a16="http://schemas.microsoft.com/office/drawing/2014/main" id="{A581996D-7E5A-648F-FC48-B050726D65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957" y="4870565"/>
              <a:ext cx="75001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2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2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17</a:t>
              </a:r>
              <a:r>
                <a:rPr lang="en-US" altLang="zh-CN" sz="12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2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2068" name="矩形 2067">
            <a:extLst>
              <a:ext uri="{FF2B5EF4-FFF2-40B4-BE49-F238E27FC236}">
                <a16:creationId xmlns:a16="http://schemas.microsoft.com/office/drawing/2014/main" id="{E4C60512-68F3-7283-3BF6-268DDAD1AAF8}"/>
              </a:ext>
            </a:extLst>
          </p:cNvPr>
          <p:cNvSpPr/>
          <p:nvPr/>
        </p:nvSpPr>
        <p:spPr>
          <a:xfrm>
            <a:off x="12335442" y="3320942"/>
            <a:ext cx="2081026" cy="18676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为什么选特定链条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过渡到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为什么看那四家？（怎么写一句话？）</a:t>
            </a:r>
            <a:endParaRPr lang="en-US" altLang="zh-CN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069" name="图片 2068">
            <a:extLst>
              <a:ext uri="{FF2B5EF4-FFF2-40B4-BE49-F238E27FC236}">
                <a16:creationId xmlns:a16="http://schemas.microsoft.com/office/drawing/2014/main" id="{5D34643A-5962-8E37-F692-BC82446C64C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468972" y="3731820"/>
            <a:ext cx="908907" cy="23765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E3D6372B-3266-5710-EA96-F6F92D128304}"/>
              </a:ext>
            </a:extLst>
          </p:cNvPr>
          <p:cNvSpPr/>
          <p:nvPr/>
        </p:nvSpPr>
        <p:spPr>
          <a:xfrm>
            <a:off x="12417427" y="879249"/>
            <a:ext cx="2081026" cy="18676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重点讲博通（落脚点）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博通的布局，靠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从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NV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切份额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顺带提和</a:t>
            </a:r>
            <a:r>
              <a:rPr lang="en-US" altLang="zh-CN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tx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合作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5122" name="Picture 2" descr="System level 3D assembly packaging strategy showing an EIC bonded on a ...">
            <a:extLst>
              <a:ext uri="{FF2B5EF4-FFF2-40B4-BE49-F238E27FC236}">
                <a16:creationId xmlns:a16="http://schemas.microsoft.com/office/drawing/2014/main" id="{C5123D1C-B84C-3ED4-C846-FE17DFAEAF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737" t="1802" r="1544" b="3329"/>
          <a:stretch/>
        </p:blipFill>
        <p:spPr bwMode="auto">
          <a:xfrm>
            <a:off x="5454224" y="1568869"/>
            <a:ext cx="777859" cy="551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System level 3D assembly packaging strategy showing an EIC bonded on a ...">
            <a:extLst>
              <a:ext uri="{FF2B5EF4-FFF2-40B4-BE49-F238E27FC236}">
                <a16:creationId xmlns:a16="http://schemas.microsoft.com/office/drawing/2014/main" id="{AD41C849-D973-4FA9-3677-6EDE55CA10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04" t="3794" r="58994" b="52807"/>
          <a:stretch/>
        </p:blipFill>
        <p:spPr bwMode="auto">
          <a:xfrm>
            <a:off x="7354888" y="1527762"/>
            <a:ext cx="1140121" cy="550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锐捷发布首款CPO交换机 硅光+液冷引领下一代数据中心风向_天极网">
            <a:extLst>
              <a:ext uri="{FF2B5EF4-FFF2-40B4-BE49-F238E27FC236}">
                <a16:creationId xmlns:a16="http://schemas.microsoft.com/office/drawing/2014/main" id="{76595D61-845D-5488-BFF7-1B4E9F100E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8534" y="1556641"/>
            <a:ext cx="1230689" cy="559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B0B394DC-8733-D406-6358-4A4C830011D0}"/>
              </a:ext>
            </a:extLst>
          </p:cNvPr>
          <p:cNvSpPr txBox="1"/>
          <p:nvPr/>
        </p:nvSpPr>
        <p:spPr>
          <a:xfrm>
            <a:off x="7852754" y="2152908"/>
            <a:ext cx="15492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cs typeface="+mn-ea"/>
                <a:sym typeface="+mn-lt"/>
              </a:rPr>
              <a:t>光电异构封装</a:t>
            </a:r>
          </a:p>
        </p:txBody>
      </p:sp>
      <p:pic>
        <p:nvPicPr>
          <p:cNvPr id="5126" name="Picture 6" descr="新型液冷技术工作原理_腾讯视频">
            <a:extLst>
              <a:ext uri="{FF2B5EF4-FFF2-40B4-BE49-F238E27FC236}">
                <a16:creationId xmlns:a16="http://schemas.microsoft.com/office/drawing/2014/main" id="{12F7FCC0-49B3-BEF8-F6DE-F08AE08E64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0582" y="1560533"/>
            <a:ext cx="845686" cy="475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85A0C795-2F17-8202-F67A-BEAED2E6192E}"/>
              </a:ext>
            </a:extLst>
          </p:cNvPr>
          <p:cNvSpPr txBox="1"/>
          <p:nvPr/>
        </p:nvSpPr>
        <p:spPr>
          <a:xfrm>
            <a:off x="10106478" y="2120172"/>
            <a:ext cx="15492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cs typeface="+mn-ea"/>
                <a:sym typeface="+mn-lt"/>
              </a:rPr>
              <a:t>液冷、连接器等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0010253-CFE6-4DBB-BE40-73E91D0EA19A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5FB7D4F-6CAA-D3F1-8FB3-CF3F03CEF5BD}"/>
              </a:ext>
            </a:extLst>
          </p:cNvPr>
          <p:cNvSpPr/>
          <p:nvPr/>
        </p:nvSpPr>
        <p:spPr>
          <a:xfrm>
            <a:off x="7598021" y="7042929"/>
            <a:ext cx="2081026" cy="18676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集成：国内能做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OSAT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的公司（华进、中电）。中际旭创这些不一定能做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1D6F108-C088-F8C4-41B8-0718BFC535F5}"/>
              </a:ext>
            </a:extLst>
          </p:cNvPr>
          <p:cNvSpPr/>
          <p:nvPr/>
        </p:nvSpPr>
        <p:spPr>
          <a:xfrm>
            <a:off x="8795383" y="7151327"/>
            <a:ext cx="2081026" cy="18676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主要供应方：羲禾（最大）、熹联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0D40F11-15B1-E40E-C9EB-E3734C950B12}"/>
              </a:ext>
            </a:extLst>
          </p:cNvPr>
          <p:cNvSpPr/>
          <p:nvPr/>
        </p:nvSpPr>
        <p:spPr>
          <a:xfrm>
            <a:off x="12357182" y="5244552"/>
            <a:ext cx="2081026" cy="18676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价值这一行可以打开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价值的客观标准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可以放两页，很重要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638116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7EE77-1C8F-DB66-64C5-FA439EB9E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B6A44435-7579-619C-5697-A19EB91F307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201947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722B01-5C71-28E6-B385-632746D98F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6B26BEBA-45D4-5A9F-54A3-D5E29DFEE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博通：从芯片到设备全面布局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B64B2BB-02EB-F2EB-5E33-1AC45D0FCFFF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Broadcom</a:t>
            </a: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3410A5D5-BB0F-7315-4D10-D82A7FDF3CB0}"/>
              </a:ext>
            </a:extLst>
          </p:cNvPr>
          <p:cNvSpPr txBox="1"/>
          <p:nvPr/>
        </p:nvSpPr>
        <p:spPr>
          <a:xfrm>
            <a:off x="249937" y="799727"/>
            <a:ext cx="1169212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/>
              <a:t>全面参与</a:t>
            </a:r>
            <a:r>
              <a:rPr lang="en-US" altLang="zh-CN" sz="1600" dirty="0"/>
              <a:t>CPO</a:t>
            </a:r>
            <a:r>
              <a:rPr lang="zh-CN" altLang="en-US" sz="1600" dirty="0"/>
              <a:t>生态各个环节，以定制的合作模式推动</a:t>
            </a:r>
            <a:r>
              <a:rPr lang="en-US" altLang="zh-CN" sz="1600" dirty="0"/>
              <a:t>CPO</a:t>
            </a:r>
            <a:r>
              <a:rPr lang="zh-CN" altLang="en-US" sz="1600" dirty="0"/>
              <a:t>各环节成熟，同时布局了</a:t>
            </a:r>
            <a:r>
              <a:rPr lang="en-US" altLang="zh-CN" sz="1600" dirty="0"/>
              <a:t>IP</a:t>
            </a:r>
            <a:endParaRPr lang="zh-CN" alt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1ED49AF-BC4A-7485-F051-DB8ECFF48339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像" descr="图像">
            <a:extLst>
              <a:ext uri="{FF2B5EF4-FFF2-40B4-BE49-F238E27FC236}">
                <a16:creationId xmlns:a16="http://schemas.microsoft.com/office/drawing/2014/main" id="{BBD26E14-4CDD-302D-F65D-136D1C56D9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3513" y="4240526"/>
            <a:ext cx="689931" cy="1548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图像" descr="图像">
            <a:extLst>
              <a:ext uri="{FF2B5EF4-FFF2-40B4-BE49-F238E27FC236}">
                <a16:creationId xmlns:a16="http://schemas.microsoft.com/office/drawing/2014/main" id="{FE0193AE-9ECD-6C59-1CD3-7DFB441AA7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691" y="1993831"/>
            <a:ext cx="640576" cy="308849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图像" descr="图像">
            <a:extLst>
              <a:ext uri="{FF2B5EF4-FFF2-40B4-BE49-F238E27FC236}">
                <a16:creationId xmlns:a16="http://schemas.microsoft.com/office/drawing/2014/main" id="{E67EDC91-980D-2644-AFEE-3BA8BA7FC30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29736" b="29786"/>
          <a:stretch>
            <a:fillRect/>
          </a:stretch>
        </p:blipFill>
        <p:spPr>
          <a:xfrm>
            <a:off x="9582905" y="3194858"/>
            <a:ext cx="690031" cy="1250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686"/>
                </a:lnTo>
                <a:lnTo>
                  <a:pt x="4832" y="686"/>
                </a:lnTo>
                <a:cubicBezTo>
                  <a:pt x="9969" y="652"/>
                  <a:pt x="10193" y="636"/>
                  <a:pt x="9266" y="1166"/>
                </a:cubicBezTo>
                <a:cubicBezTo>
                  <a:pt x="8789" y="1438"/>
                  <a:pt x="8072" y="2110"/>
                  <a:pt x="7651" y="2674"/>
                </a:cubicBezTo>
                <a:lnTo>
                  <a:pt x="7316" y="3154"/>
                </a:lnTo>
                <a:lnTo>
                  <a:pt x="7266" y="4594"/>
                </a:lnTo>
                <a:cubicBezTo>
                  <a:pt x="7238" y="5380"/>
                  <a:pt x="7224" y="6007"/>
                  <a:pt x="7229" y="6034"/>
                </a:cubicBezTo>
                <a:cubicBezTo>
                  <a:pt x="7234" y="6062"/>
                  <a:pt x="7336" y="5958"/>
                  <a:pt x="7453" y="5760"/>
                </a:cubicBezTo>
                <a:cubicBezTo>
                  <a:pt x="7705" y="5332"/>
                  <a:pt x="8346" y="4367"/>
                  <a:pt x="8707" y="3909"/>
                </a:cubicBezTo>
                <a:cubicBezTo>
                  <a:pt x="9236" y="3238"/>
                  <a:pt x="10439" y="2121"/>
                  <a:pt x="10856" y="1920"/>
                </a:cubicBezTo>
                <a:cubicBezTo>
                  <a:pt x="10943" y="1878"/>
                  <a:pt x="11173" y="1815"/>
                  <a:pt x="11365" y="1714"/>
                </a:cubicBezTo>
                <a:cubicBezTo>
                  <a:pt x="11557" y="1614"/>
                  <a:pt x="11881" y="1486"/>
                  <a:pt x="12086" y="1440"/>
                </a:cubicBezTo>
                <a:cubicBezTo>
                  <a:pt x="12469" y="1354"/>
                  <a:pt x="12471" y="1240"/>
                  <a:pt x="12123" y="1029"/>
                </a:cubicBezTo>
                <a:cubicBezTo>
                  <a:pt x="12042" y="979"/>
                  <a:pt x="11974" y="891"/>
                  <a:pt x="11974" y="823"/>
                </a:cubicBezTo>
                <a:cubicBezTo>
                  <a:pt x="11974" y="700"/>
                  <a:pt x="13458" y="568"/>
                  <a:pt x="13514" y="686"/>
                </a:cubicBezTo>
                <a:cubicBezTo>
                  <a:pt x="13532" y="725"/>
                  <a:pt x="13526" y="934"/>
                  <a:pt x="13489" y="1440"/>
                </a:cubicBezTo>
                <a:cubicBezTo>
                  <a:pt x="13460" y="1837"/>
                  <a:pt x="13396" y="2762"/>
                  <a:pt x="13353" y="3429"/>
                </a:cubicBezTo>
                <a:lnTo>
                  <a:pt x="13278" y="4594"/>
                </a:lnTo>
                <a:lnTo>
                  <a:pt x="13986" y="4594"/>
                </a:lnTo>
                <a:lnTo>
                  <a:pt x="14694" y="4526"/>
                </a:lnTo>
                <a:lnTo>
                  <a:pt x="14731" y="3771"/>
                </a:lnTo>
                <a:cubicBezTo>
                  <a:pt x="14781" y="2480"/>
                  <a:pt x="14813" y="2644"/>
                  <a:pt x="14309" y="2606"/>
                </a:cubicBezTo>
                <a:cubicBezTo>
                  <a:pt x="13799" y="2567"/>
                  <a:pt x="13832" y="2667"/>
                  <a:pt x="13936" y="1371"/>
                </a:cubicBezTo>
                <a:lnTo>
                  <a:pt x="13986" y="617"/>
                </a:lnTo>
                <a:lnTo>
                  <a:pt x="14682" y="617"/>
                </a:lnTo>
                <a:cubicBezTo>
                  <a:pt x="15063" y="617"/>
                  <a:pt x="15384" y="653"/>
                  <a:pt x="15390" y="686"/>
                </a:cubicBezTo>
                <a:cubicBezTo>
                  <a:pt x="15399" y="738"/>
                  <a:pt x="15378" y="1498"/>
                  <a:pt x="15327" y="3086"/>
                </a:cubicBezTo>
                <a:lnTo>
                  <a:pt x="15315" y="3497"/>
                </a:lnTo>
                <a:lnTo>
                  <a:pt x="15539" y="3497"/>
                </a:lnTo>
                <a:lnTo>
                  <a:pt x="15762" y="3497"/>
                </a:lnTo>
                <a:lnTo>
                  <a:pt x="15824" y="2126"/>
                </a:lnTo>
                <a:lnTo>
                  <a:pt x="15899" y="686"/>
                </a:lnTo>
                <a:lnTo>
                  <a:pt x="16073" y="686"/>
                </a:lnTo>
                <a:cubicBezTo>
                  <a:pt x="16170" y="666"/>
                  <a:pt x="16260" y="690"/>
                  <a:pt x="16271" y="754"/>
                </a:cubicBezTo>
                <a:cubicBezTo>
                  <a:pt x="16285" y="827"/>
                  <a:pt x="16270" y="1350"/>
                  <a:pt x="16234" y="2126"/>
                </a:cubicBezTo>
                <a:cubicBezTo>
                  <a:pt x="16202" y="2811"/>
                  <a:pt x="16172" y="3390"/>
                  <a:pt x="16172" y="3429"/>
                </a:cubicBezTo>
                <a:cubicBezTo>
                  <a:pt x="16172" y="3467"/>
                  <a:pt x="16287" y="3498"/>
                  <a:pt x="16420" y="3497"/>
                </a:cubicBezTo>
                <a:lnTo>
                  <a:pt x="16656" y="3497"/>
                </a:lnTo>
                <a:lnTo>
                  <a:pt x="16743" y="2126"/>
                </a:lnTo>
                <a:lnTo>
                  <a:pt x="16843" y="686"/>
                </a:lnTo>
                <a:lnTo>
                  <a:pt x="17551" y="686"/>
                </a:lnTo>
                <a:lnTo>
                  <a:pt x="18259" y="686"/>
                </a:lnTo>
                <a:lnTo>
                  <a:pt x="18246" y="1029"/>
                </a:lnTo>
                <a:cubicBezTo>
                  <a:pt x="18242" y="1198"/>
                  <a:pt x="18223" y="1477"/>
                  <a:pt x="18209" y="1714"/>
                </a:cubicBezTo>
                <a:cubicBezTo>
                  <a:pt x="18180" y="2201"/>
                  <a:pt x="18224" y="2145"/>
                  <a:pt x="17725" y="2743"/>
                </a:cubicBezTo>
                <a:cubicBezTo>
                  <a:pt x="17542" y="2962"/>
                  <a:pt x="17369" y="3217"/>
                  <a:pt x="17352" y="3291"/>
                </a:cubicBezTo>
                <a:cubicBezTo>
                  <a:pt x="17326" y="3409"/>
                  <a:pt x="17228" y="5196"/>
                  <a:pt x="17228" y="5554"/>
                </a:cubicBezTo>
                <a:cubicBezTo>
                  <a:pt x="17228" y="5625"/>
                  <a:pt x="17387" y="5443"/>
                  <a:pt x="17576" y="5143"/>
                </a:cubicBezTo>
                <a:cubicBezTo>
                  <a:pt x="17956" y="4538"/>
                  <a:pt x="18085" y="4434"/>
                  <a:pt x="18072" y="4731"/>
                </a:cubicBezTo>
                <a:cubicBezTo>
                  <a:pt x="18068" y="4834"/>
                  <a:pt x="18047" y="5422"/>
                  <a:pt x="18023" y="6034"/>
                </a:cubicBezTo>
                <a:cubicBezTo>
                  <a:pt x="17999" y="6647"/>
                  <a:pt x="17964" y="7192"/>
                  <a:pt x="17948" y="7269"/>
                </a:cubicBezTo>
                <a:cubicBezTo>
                  <a:pt x="17933" y="7345"/>
                  <a:pt x="17792" y="7624"/>
                  <a:pt x="17638" y="7886"/>
                </a:cubicBezTo>
                <a:cubicBezTo>
                  <a:pt x="17483" y="8147"/>
                  <a:pt x="17341" y="8430"/>
                  <a:pt x="17327" y="8503"/>
                </a:cubicBezTo>
                <a:cubicBezTo>
                  <a:pt x="17299" y="8647"/>
                  <a:pt x="17198" y="10945"/>
                  <a:pt x="17215" y="11040"/>
                </a:cubicBezTo>
                <a:cubicBezTo>
                  <a:pt x="17221" y="11072"/>
                  <a:pt x="17358" y="10831"/>
                  <a:pt x="17514" y="10560"/>
                </a:cubicBezTo>
                <a:cubicBezTo>
                  <a:pt x="17669" y="10289"/>
                  <a:pt x="17794" y="10168"/>
                  <a:pt x="17799" y="10217"/>
                </a:cubicBezTo>
                <a:cubicBezTo>
                  <a:pt x="17805" y="10266"/>
                  <a:pt x="17771" y="11153"/>
                  <a:pt x="17725" y="12206"/>
                </a:cubicBezTo>
                <a:lnTo>
                  <a:pt x="17650" y="14126"/>
                </a:lnTo>
                <a:lnTo>
                  <a:pt x="17315" y="14194"/>
                </a:lnTo>
                <a:lnTo>
                  <a:pt x="16979" y="14194"/>
                </a:lnTo>
                <a:lnTo>
                  <a:pt x="16930" y="15291"/>
                </a:lnTo>
                <a:lnTo>
                  <a:pt x="16880" y="16389"/>
                </a:lnTo>
                <a:lnTo>
                  <a:pt x="17377" y="16389"/>
                </a:lnTo>
                <a:cubicBezTo>
                  <a:pt x="17926" y="16389"/>
                  <a:pt x="18001" y="16305"/>
                  <a:pt x="18072" y="15703"/>
                </a:cubicBezTo>
                <a:cubicBezTo>
                  <a:pt x="18094" y="15525"/>
                  <a:pt x="18229" y="12893"/>
                  <a:pt x="18371" y="9806"/>
                </a:cubicBezTo>
                <a:cubicBezTo>
                  <a:pt x="18512" y="6719"/>
                  <a:pt x="18639" y="4053"/>
                  <a:pt x="18656" y="3909"/>
                </a:cubicBezTo>
                <a:cubicBezTo>
                  <a:pt x="18680" y="3705"/>
                  <a:pt x="18731" y="3612"/>
                  <a:pt x="18867" y="3497"/>
                </a:cubicBezTo>
                <a:cubicBezTo>
                  <a:pt x="19492" y="2970"/>
                  <a:pt x="19789" y="2764"/>
                  <a:pt x="19811" y="2811"/>
                </a:cubicBezTo>
                <a:cubicBezTo>
                  <a:pt x="19840" y="2870"/>
                  <a:pt x="19822" y="3713"/>
                  <a:pt x="19787" y="3909"/>
                </a:cubicBezTo>
                <a:cubicBezTo>
                  <a:pt x="19776" y="3967"/>
                  <a:pt x="19586" y="4027"/>
                  <a:pt x="19364" y="4046"/>
                </a:cubicBezTo>
                <a:lnTo>
                  <a:pt x="18954" y="4046"/>
                </a:lnTo>
                <a:lnTo>
                  <a:pt x="18942" y="4389"/>
                </a:lnTo>
                <a:cubicBezTo>
                  <a:pt x="18934" y="4559"/>
                  <a:pt x="18913" y="4887"/>
                  <a:pt x="18905" y="5143"/>
                </a:cubicBezTo>
                <a:lnTo>
                  <a:pt x="18892" y="5623"/>
                </a:lnTo>
                <a:lnTo>
                  <a:pt x="19302" y="5623"/>
                </a:lnTo>
                <a:cubicBezTo>
                  <a:pt x="19525" y="5623"/>
                  <a:pt x="19706" y="5640"/>
                  <a:pt x="19712" y="5691"/>
                </a:cubicBezTo>
                <a:cubicBezTo>
                  <a:pt x="19718" y="5743"/>
                  <a:pt x="19716" y="5952"/>
                  <a:pt x="19700" y="6171"/>
                </a:cubicBezTo>
                <a:lnTo>
                  <a:pt x="19662" y="6583"/>
                </a:lnTo>
                <a:lnTo>
                  <a:pt x="19252" y="6651"/>
                </a:lnTo>
                <a:lnTo>
                  <a:pt x="18843" y="6651"/>
                </a:lnTo>
                <a:lnTo>
                  <a:pt x="18818" y="7131"/>
                </a:lnTo>
                <a:cubicBezTo>
                  <a:pt x="18804" y="7404"/>
                  <a:pt x="18789" y="7835"/>
                  <a:pt x="18780" y="8023"/>
                </a:cubicBezTo>
                <a:lnTo>
                  <a:pt x="18756" y="8297"/>
                </a:lnTo>
                <a:lnTo>
                  <a:pt x="19165" y="8297"/>
                </a:lnTo>
                <a:cubicBezTo>
                  <a:pt x="19507" y="8297"/>
                  <a:pt x="19577" y="8345"/>
                  <a:pt x="19588" y="8503"/>
                </a:cubicBezTo>
                <a:cubicBezTo>
                  <a:pt x="19595" y="8606"/>
                  <a:pt x="19591" y="8813"/>
                  <a:pt x="19575" y="8914"/>
                </a:cubicBezTo>
                <a:cubicBezTo>
                  <a:pt x="19553" y="9065"/>
                  <a:pt x="19464" y="9051"/>
                  <a:pt x="19128" y="9051"/>
                </a:cubicBezTo>
                <a:lnTo>
                  <a:pt x="18718" y="9051"/>
                </a:lnTo>
                <a:lnTo>
                  <a:pt x="18681" y="9874"/>
                </a:lnTo>
                <a:cubicBezTo>
                  <a:pt x="18661" y="10315"/>
                  <a:pt x="18644" y="10730"/>
                  <a:pt x="18644" y="10766"/>
                </a:cubicBezTo>
                <a:cubicBezTo>
                  <a:pt x="18644" y="10801"/>
                  <a:pt x="18828" y="10816"/>
                  <a:pt x="19054" y="10834"/>
                </a:cubicBezTo>
                <a:lnTo>
                  <a:pt x="19476" y="10903"/>
                </a:lnTo>
                <a:lnTo>
                  <a:pt x="19476" y="11177"/>
                </a:lnTo>
                <a:cubicBezTo>
                  <a:pt x="19476" y="11336"/>
                  <a:pt x="19446" y="12026"/>
                  <a:pt x="19414" y="12754"/>
                </a:cubicBezTo>
                <a:cubicBezTo>
                  <a:pt x="19358" y="14004"/>
                  <a:pt x="19353" y="14087"/>
                  <a:pt x="19302" y="14057"/>
                </a:cubicBezTo>
                <a:cubicBezTo>
                  <a:pt x="19272" y="14040"/>
                  <a:pt x="19201" y="13786"/>
                  <a:pt x="19153" y="13509"/>
                </a:cubicBezTo>
                <a:cubicBezTo>
                  <a:pt x="19064" y="12990"/>
                  <a:pt x="19067" y="12850"/>
                  <a:pt x="19116" y="11931"/>
                </a:cubicBezTo>
                <a:cubicBezTo>
                  <a:pt x="19126" y="11734"/>
                  <a:pt x="19101" y="11657"/>
                  <a:pt x="18867" y="11657"/>
                </a:cubicBezTo>
                <a:lnTo>
                  <a:pt x="18607" y="11657"/>
                </a:lnTo>
                <a:lnTo>
                  <a:pt x="18507" y="13920"/>
                </a:lnTo>
                <a:cubicBezTo>
                  <a:pt x="18450" y="15138"/>
                  <a:pt x="18395" y="16173"/>
                  <a:pt x="18395" y="16251"/>
                </a:cubicBezTo>
                <a:cubicBezTo>
                  <a:pt x="18395" y="16351"/>
                  <a:pt x="18472" y="16389"/>
                  <a:pt x="18644" y="16389"/>
                </a:cubicBezTo>
                <a:cubicBezTo>
                  <a:pt x="18889" y="16389"/>
                  <a:pt x="18896" y="16427"/>
                  <a:pt x="18917" y="16114"/>
                </a:cubicBezTo>
                <a:lnTo>
                  <a:pt x="18942" y="15771"/>
                </a:lnTo>
                <a:lnTo>
                  <a:pt x="19041" y="16114"/>
                </a:lnTo>
                <a:lnTo>
                  <a:pt x="19141" y="16389"/>
                </a:lnTo>
                <a:lnTo>
                  <a:pt x="19960" y="16389"/>
                </a:lnTo>
                <a:lnTo>
                  <a:pt x="20768" y="16320"/>
                </a:lnTo>
                <a:lnTo>
                  <a:pt x="20805" y="15497"/>
                </a:lnTo>
                <a:cubicBezTo>
                  <a:pt x="20825" y="15053"/>
                  <a:pt x="20852" y="14622"/>
                  <a:pt x="20867" y="14469"/>
                </a:cubicBezTo>
                <a:lnTo>
                  <a:pt x="20904" y="14194"/>
                </a:lnTo>
                <a:lnTo>
                  <a:pt x="20395" y="14194"/>
                </a:lnTo>
                <a:cubicBezTo>
                  <a:pt x="20113" y="14194"/>
                  <a:pt x="19881" y="14121"/>
                  <a:pt x="19873" y="14057"/>
                </a:cubicBezTo>
                <a:cubicBezTo>
                  <a:pt x="19866" y="13995"/>
                  <a:pt x="19874" y="13820"/>
                  <a:pt x="19886" y="13646"/>
                </a:cubicBezTo>
                <a:lnTo>
                  <a:pt x="19911" y="13303"/>
                </a:lnTo>
                <a:lnTo>
                  <a:pt x="20259" y="13234"/>
                </a:lnTo>
                <a:lnTo>
                  <a:pt x="20619" y="13234"/>
                </a:lnTo>
                <a:lnTo>
                  <a:pt x="20656" y="12480"/>
                </a:lnTo>
                <a:lnTo>
                  <a:pt x="20693" y="11726"/>
                </a:lnTo>
                <a:lnTo>
                  <a:pt x="20333" y="11657"/>
                </a:lnTo>
                <a:cubicBezTo>
                  <a:pt x="20002" y="11599"/>
                  <a:pt x="19987" y="11617"/>
                  <a:pt x="19985" y="11383"/>
                </a:cubicBezTo>
                <a:cubicBezTo>
                  <a:pt x="19981" y="10731"/>
                  <a:pt x="20003" y="10698"/>
                  <a:pt x="20358" y="10697"/>
                </a:cubicBezTo>
                <a:cubicBezTo>
                  <a:pt x="20779" y="10697"/>
                  <a:pt x="20800" y="10642"/>
                  <a:pt x="20880" y="9326"/>
                </a:cubicBezTo>
                <a:cubicBezTo>
                  <a:pt x="20934" y="8429"/>
                  <a:pt x="20943" y="8358"/>
                  <a:pt x="21029" y="8297"/>
                </a:cubicBezTo>
                <a:cubicBezTo>
                  <a:pt x="21111" y="8238"/>
                  <a:pt x="21113" y="8271"/>
                  <a:pt x="21140" y="7680"/>
                </a:cubicBezTo>
                <a:cubicBezTo>
                  <a:pt x="21185" y="6719"/>
                  <a:pt x="21183" y="6446"/>
                  <a:pt x="21116" y="6446"/>
                </a:cubicBezTo>
                <a:cubicBezTo>
                  <a:pt x="21084" y="6446"/>
                  <a:pt x="21047" y="6398"/>
                  <a:pt x="21041" y="6309"/>
                </a:cubicBezTo>
                <a:cubicBezTo>
                  <a:pt x="21035" y="6220"/>
                  <a:pt x="21053" y="5651"/>
                  <a:pt x="21078" y="5074"/>
                </a:cubicBezTo>
                <a:cubicBezTo>
                  <a:pt x="21103" y="4498"/>
                  <a:pt x="21128" y="4028"/>
                  <a:pt x="21128" y="3977"/>
                </a:cubicBezTo>
                <a:cubicBezTo>
                  <a:pt x="21128" y="3926"/>
                  <a:pt x="20946" y="3840"/>
                  <a:pt x="20731" y="3840"/>
                </a:cubicBezTo>
                <a:cubicBezTo>
                  <a:pt x="20499" y="3840"/>
                  <a:pt x="20329" y="3843"/>
                  <a:pt x="20321" y="3771"/>
                </a:cubicBezTo>
                <a:cubicBezTo>
                  <a:pt x="20297" y="3558"/>
                  <a:pt x="20361" y="2605"/>
                  <a:pt x="20408" y="2469"/>
                </a:cubicBezTo>
                <a:cubicBezTo>
                  <a:pt x="20435" y="2388"/>
                  <a:pt x="20665" y="2347"/>
                  <a:pt x="21016" y="2331"/>
                </a:cubicBezTo>
                <a:lnTo>
                  <a:pt x="21600" y="2331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783" y="1303"/>
                </a:moveTo>
                <a:lnTo>
                  <a:pt x="696" y="2400"/>
                </a:lnTo>
                <a:lnTo>
                  <a:pt x="609" y="3429"/>
                </a:lnTo>
                <a:lnTo>
                  <a:pt x="1851" y="3497"/>
                </a:lnTo>
                <a:cubicBezTo>
                  <a:pt x="3226" y="3566"/>
                  <a:pt x="3181" y="3534"/>
                  <a:pt x="3341" y="4389"/>
                </a:cubicBezTo>
                <a:cubicBezTo>
                  <a:pt x="3399" y="4696"/>
                  <a:pt x="3416" y="4902"/>
                  <a:pt x="3416" y="5280"/>
                </a:cubicBezTo>
                <a:cubicBezTo>
                  <a:pt x="3416" y="5684"/>
                  <a:pt x="3397" y="5834"/>
                  <a:pt x="3304" y="6377"/>
                </a:cubicBezTo>
                <a:cubicBezTo>
                  <a:pt x="3115" y="7478"/>
                  <a:pt x="2813" y="8359"/>
                  <a:pt x="2211" y="9463"/>
                </a:cubicBezTo>
                <a:lnTo>
                  <a:pt x="1888" y="10011"/>
                </a:lnTo>
                <a:lnTo>
                  <a:pt x="2372" y="12686"/>
                </a:lnTo>
                <a:lnTo>
                  <a:pt x="2869" y="15291"/>
                </a:lnTo>
                <a:lnTo>
                  <a:pt x="3403" y="15291"/>
                </a:lnTo>
                <a:cubicBezTo>
                  <a:pt x="3753" y="15294"/>
                  <a:pt x="3937" y="15237"/>
                  <a:pt x="3937" y="15154"/>
                </a:cubicBezTo>
                <a:cubicBezTo>
                  <a:pt x="3937" y="14929"/>
                  <a:pt x="3467" y="12404"/>
                  <a:pt x="3205" y="11246"/>
                </a:cubicBezTo>
                <a:cubicBezTo>
                  <a:pt x="3064" y="10627"/>
                  <a:pt x="2958" y="10137"/>
                  <a:pt x="2969" y="10080"/>
                </a:cubicBezTo>
                <a:cubicBezTo>
                  <a:pt x="2979" y="10023"/>
                  <a:pt x="3069" y="9874"/>
                  <a:pt x="3167" y="9806"/>
                </a:cubicBezTo>
                <a:cubicBezTo>
                  <a:pt x="3654" y="9466"/>
                  <a:pt x="4036" y="8338"/>
                  <a:pt x="4198" y="6720"/>
                </a:cubicBezTo>
                <a:cubicBezTo>
                  <a:pt x="4257" y="6130"/>
                  <a:pt x="4260" y="5943"/>
                  <a:pt x="4260" y="5006"/>
                </a:cubicBezTo>
                <a:cubicBezTo>
                  <a:pt x="4260" y="4075"/>
                  <a:pt x="4256" y="3862"/>
                  <a:pt x="4198" y="3291"/>
                </a:cubicBezTo>
                <a:cubicBezTo>
                  <a:pt x="4088" y="2194"/>
                  <a:pt x="3884" y="1595"/>
                  <a:pt x="3528" y="1371"/>
                </a:cubicBezTo>
                <a:cubicBezTo>
                  <a:pt x="3430" y="1310"/>
                  <a:pt x="3092" y="1307"/>
                  <a:pt x="2596" y="1303"/>
                </a:cubicBezTo>
                <a:cubicBezTo>
                  <a:pt x="2431" y="1301"/>
                  <a:pt x="2247" y="1297"/>
                  <a:pt x="2049" y="1303"/>
                </a:cubicBezTo>
                <a:lnTo>
                  <a:pt x="783" y="1303"/>
                </a:lnTo>
                <a:close/>
                <a:moveTo>
                  <a:pt x="14992" y="4114"/>
                </a:moveTo>
                <a:lnTo>
                  <a:pt x="14918" y="5897"/>
                </a:lnTo>
                <a:cubicBezTo>
                  <a:pt x="14831" y="7969"/>
                  <a:pt x="14731" y="10401"/>
                  <a:pt x="14731" y="10560"/>
                </a:cubicBezTo>
                <a:cubicBezTo>
                  <a:pt x="14731" y="10622"/>
                  <a:pt x="14946" y="10697"/>
                  <a:pt x="15216" y="10697"/>
                </a:cubicBezTo>
                <a:cubicBezTo>
                  <a:pt x="15481" y="10697"/>
                  <a:pt x="15706" y="10711"/>
                  <a:pt x="15712" y="10766"/>
                </a:cubicBezTo>
                <a:cubicBezTo>
                  <a:pt x="15719" y="10821"/>
                  <a:pt x="15711" y="11114"/>
                  <a:pt x="15700" y="11383"/>
                </a:cubicBezTo>
                <a:cubicBezTo>
                  <a:pt x="15689" y="11652"/>
                  <a:pt x="15682" y="12054"/>
                  <a:pt x="15675" y="12274"/>
                </a:cubicBezTo>
                <a:cubicBezTo>
                  <a:pt x="15668" y="12495"/>
                  <a:pt x="15631" y="13219"/>
                  <a:pt x="15601" y="13920"/>
                </a:cubicBezTo>
                <a:cubicBezTo>
                  <a:pt x="15533" y="15450"/>
                  <a:pt x="15533" y="16075"/>
                  <a:pt x="15588" y="16251"/>
                </a:cubicBezTo>
                <a:cubicBezTo>
                  <a:pt x="15612" y="16327"/>
                  <a:pt x="15840" y="16386"/>
                  <a:pt x="16160" y="16389"/>
                </a:cubicBezTo>
                <a:lnTo>
                  <a:pt x="16681" y="16389"/>
                </a:lnTo>
                <a:lnTo>
                  <a:pt x="16731" y="15497"/>
                </a:lnTo>
                <a:cubicBezTo>
                  <a:pt x="16753" y="15002"/>
                  <a:pt x="16787" y="14519"/>
                  <a:pt x="16806" y="14400"/>
                </a:cubicBezTo>
                <a:cubicBezTo>
                  <a:pt x="16838" y="14194"/>
                  <a:pt x="16816" y="14194"/>
                  <a:pt x="16495" y="14194"/>
                </a:cubicBezTo>
                <a:cubicBezTo>
                  <a:pt x="16308" y="14194"/>
                  <a:pt x="16153" y="14108"/>
                  <a:pt x="16147" y="14057"/>
                </a:cubicBezTo>
                <a:cubicBezTo>
                  <a:pt x="16132" y="13919"/>
                  <a:pt x="16244" y="11015"/>
                  <a:pt x="16271" y="10834"/>
                </a:cubicBezTo>
                <a:cubicBezTo>
                  <a:pt x="16285" y="10741"/>
                  <a:pt x="16350" y="10698"/>
                  <a:pt x="16433" y="10697"/>
                </a:cubicBezTo>
                <a:cubicBezTo>
                  <a:pt x="16615" y="10696"/>
                  <a:pt x="16720" y="10503"/>
                  <a:pt x="16793" y="10080"/>
                </a:cubicBezTo>
                <a:cubicBezTo>
                  <a:pt x="16843" y="9790"/>
                  <a:pt x="16863" y="9423"/>
                  <a:pt x="16917" y="7954"/>
                </a:cubicBezTo>
                <a:cubicBezTo>
                  <a:pt x="16960" y="6789"/>
                  <a:pt x="16971" y="6241"/>
                  <a:pt x="16955" y="6240"/>
                </a:cubicBezTo>
                <a:cubicBezTo>
                  <a:pt x="16926" y="6239"/>
                  <a:pt x="16509" y="6859"/>
                  <a:pt x="16495" y="6926"/>
                </a:cubicBezTo>
                <a:cubicBezTo>
                  <a:pt x="16490" y="6950"/>
                  <a:pt x="16466" y="7426"/>
                  <a:pt x="16445" y="7954"/>
                </a:cubicBezTo>
                <a:lnTo>
                  <a:pt x="16408" y="8914"/>
                </a:lnTo>
                <a:lnTo>
                  <a:pt x="15824" y="8983"/>
                </a:lnTo>
                <a:cubicBezTo>
                  <a:pt x="15423" y="9026"/>
                  <a:pt x="15223" y="9080"/>
                  <a:pt x="15178" y="9189"/>
                </a:cubicBezTo>
                <a:cubicBezTo>
                  <a:pt x="15136" y="9291"/>
                  <a:pt x="15105" y="9266"/>
                  <a:pt x="15091" y="9189"/>
                </a:cubicBezTo>
                <a:cubicBezTo>
                  <a:pt x="15077" y="9111"/>
                  <a:pt x="15112" y="8918"/>
                  <a:pt x="15191" y="8640"/>
                </a:cubicBezTo>
                <a:lnTo>
                  <a:pt x="15315" y="8229"/>
                </a:lnTo>
                <a:lnTo>
                  <a:pt x="15352" y="7200"/>
                </a:lnTo>
                <a:cubicBezTo>
                  <a:pt x="15375" y="6631"/>
                  <a:pt x="15403" y="6115"/>
                  <a:pt x="15414" y="6034"/>
                </a:cubicBezTo>
                <a:cubicBezTo>
                  <a:pt x="15428" y="5933"/>
                  <a:pt x="15564" y="5856"/>
                  <a:pt x="15837" y="5829"/>
                </a:cubicBezTo>
                <a:cubicBezTo>
                  <a:pt x="16212" y="5791"/>
                  <a:pt x="16241" y="5795"/>
                  <a:pt x="16358" y="5486"/>
                </a:cubicBezTo>
                <a:cubicBezTo>
                  <a:pt x="16460" y="5217"/>
                  <a:pt x="16623" y="4822"/>
                  <a:pt x="16942" y="4183"/>
                </a:cubicBezTo>
                <a:cubicBezTo>
                  <a:pt x="16961" y="4146"/>
                  <a:pt x="16531" y="4120"/>
                  <a:pt x="15986" y="4114"/>
                </a:cubicBezTo>
                <a:lnTo>
                  <a:pt x="14992" y="4114"/>
                </a:lnTo>
                <a:close/>
                <a:moveTo>
                  <a:pt x="4596" y="4457"/>
                </a:moveTo>
                <a:lnTo>
                  <a:pt x="4571" y="4937"/>
                </a:lnTo>
                <a:cubicBezTo>
                  <a:pt x="4436" y="7970"/>
                  <a:pt x="4245" y="12569"/>
                  <a:pt x="4236" y="13029"/>
                </a:cubicBezTo>
                <a:cubicBezTo>
                  <a:pt x="4214" y="14134"/>
                  <a:pt x="4360" y="14878"/>
                  <a:pt x="4633" y="15154"/>
                </a:cubicBezTo>
                <a:cubicBezTo>
                  <a:pt x="4790" y="15313"/>
                  <a:pt x="5685" y="15168"/>
                  <a:pt x="5912" y="14949"/>
                </a:cubicBezTo>
                <a:cubicBezTo>
                  <a:pt x="6018" y="14847"/>
                  <a:pt x="6148" y="14660"/>
                  <a:pt x="6198" y="14537"/>
                </a:cubicBezTo>
                <a:cubicBezTo>
                  <a:pt x="6303" y="14280"/>
                  <a:pt x="6422" y="13606"/>
                  <a:pt x="6471" y="12960"/>
                </a:cubicBezTo>
                <a:cubicBezTo>
                  <a:pt x="6518" y="12344"/>
                  <a:pt x="6696" y="8243"/>
                  <a:pt x="6832" y="4731"/>
                </a:cubicBezTo>
                <a:lnTo>
                  <a:pt x="6844" y="4457"/>
                </a:lnTo>
                <a:lnTo>
                  <a:pt x="6484" y="4457"/>
                </a:lnTo>
                <a:lnTo>
                  <a:pt x="6124" y="4457"/>
                </a:lnTo>
                <a:lnTo>
                  <a:pt x="6061" y="6309"/>
                </a:lnTo>
                <a:cubicBezTo>
                  <a:pt x="5893" y="11101"/>
                  <a:pt x="5818" y="12346"/>
                  <a:pt x="5627" y="12891"/>
                </a:cubicBezTo>
                <a:cubicBezTo>
                  <a:pt x="5525" y="13180"/>
                  <a:pt x="5296" y="13309"/>
                  <a:pt x="5180" y="13166"/>
                </a:cubicBezTo>
                <a:cubicBezTo>
                  <a:pt x="5044" y="12998"/>
                  <a:pt x="4993" y="12759"/>
                  <a:pt x="4993" y="12206"/>
                </a:cubicBezTo>
                <a:cubicBezTo>
                  <a:pt x="4993" y="11960"/>
                  <a:pt x="5068" y="10165"/>
                  <a:pt x="5155" y="8229"/>
                </a:cubicBezTo>
                <a:cubicBezTo>
                  <a:pt x="5241" y="6292"/>
                  <a:pt x="5304" y="4655"/>
                  <a:pt x="5304" y="4594"/>
                </a:cubicBezTo>
                <a:cubicBezTo>
                  <a:pt x="5304" y="4534"/>
                  <a:pt x="5153" y="4457"/>
                  <a:pt x="4956" y="4457"/>
                </a:cubicBezTo>
                <a:lnTo>
                  <a:pt x="4596" y="4457"/>
                </a:lnTo>
                <a:close/>
                <a:moveTo>
                  <a:pt x="11837" y="4457"/>
                </a:moveTo>
                <a:cubicBezTo>
                  <a:pt x="11532" y="4467"/>
                  <a:pt x="11316" y="4643"/>
                  <a:pt x="11092" y="5143"/>
                </a:cubicBezTo>
                <a:cubicBezTo>
                  <a:pt x="10625" y="6182"/>
                  <a:pt x="10303" y="8169"/>
                  <a:pt x="10235" y="10354"/>
                </a:cubicBezTo>
                <a:cubicBezTo>
                  <a:pt x="10158" y="12820"/>
                  <a:pt x="10471" y="14758"/>
                  <a:pt x="11017" y="15154"/>
                </a:cubicBezTo>
                <a:cubicBezTo>
                  <a:pt x="11309" y="15365"/>
                  <a:pt x="11858" y="14938"/>
                  <a:pt x="12185" y="14263"/>
                </a:cubicBezTo>
                <a:lnTo>
                  <a:pt x="12297" y="14057"/>
                </a:lnTo>
                <a:lnTo>
                  <a:pt x="12359" y="12754"/>
                </a:lnTo>
                <a:cubicBezTo>
                  <a:pt x="12389" y="12058"/>
                  <a:pt x="12411" y="11473"/>
                  <a:pt x="12409" y="11451"/>
                </a:cubicBezTo>
                <a:cubicBezTo>
                  <a:pt x="12406" y="11430"/>
                  <a:pt x="12336" y="11581"/>
                  <a:pt x="12259" y="11794"/>
                </a:cubicBezTo>
                <a:cubicBezTo>
                  <a:pt x="12071" y="12318"/>
                  <a:pt x="11686" y="13036"/>
                  <a:pt x="11514" y="13166"/>
                </a:cubicBezTo>
                <a:cubicBezTo>
                  <a:pt x="11349" y="13290"/>
                  <a:pt x="11201" y="13158"/>
                  <a:pt x="11117" y="12823"/>
                </a:cubicBezTo>
                <a:cubicBezTo>
                  <a:pt x="11043" y="12529"/>
                  <a:pt x="10964" y="11741"/>
                  <a:pt x="10993" y="11589"/>
                </a:cubicBezTo>
                <a:cubicBezTo>
                  <a:pt x="11004" y="11529"/>
                  <a:pt x="11265" y="11214"/>
                  <a:pt x="11576" y="10903"/>
                </a:cubicBezTo>
                <a:cubicBezTo>
                  <a:pt x="12174" y="10304"/>
                  <a:pt x="12335" y="10054"/>
                  <a:pt x="12483" y="9463"/>
                </a:cubicBezTo>
                <a:cubicBezTo>
                  <a:pt x="12582" y="9066"/>
                  <a:pt x="12630" y="8694"/>
                  <a:pt x="12669" y="7886"/>
                </a:cubicBezTo>
                <a:cubicBezTo>
                  <a:pt x="12732" y="6603"/>
                  <a:pt x="12564" y="5287"/>
                  <a:pt x="12272" y="4731"/>
                </a:cubicBezTo>
                <a:cubicBezTo>
                  <a:pt x="12138" y="4477"/>
                  <a:pt x="12078" y="4449"/>
                  <a:pt x="11837" y="4457"/>
                </a:cubicBezTo>
                <a:close/>
                <a:moveTo>
                  <a:pt x="10235" y="4800"/>
                </a:moveTo>
                <a:lnTo>
                  <a:pt x="10073" y="4937"/>
                </a:lnTo>
                <a:cubicBezTo>
                  <a:pt x="9985" y="4982"/>
                  <a:pt x="9820" y="5068"/>
                  <a:pt x="9713" y="5143"/>
                </a:cubicBezTo>
                <a:lnTo>
                  <a:pt x="9527" y="5280"/>
                </a:lnTo>
                <a:lnTo>
                  <a:pt x="9490" y="6171"/>
                </a:lnTo>
                <a:cubicBezTo>
                  <a:pt x="9470" y="6659"/>
                  <a:pt x="9403" y="7925"/>
                  <a:pt x="9353" y="9051"/>
                </a:cubicBezTo>
                <a:cubicBezTo>
                  <a:pt x="9302" y="10178"/>
                  <a:pt x="9253" y="11660"/>
                  <a:pt x="9229" y="12274"/>
                </a:cubicBezTo>
                <a:cubicBezTo>
                  <a:pt x="9205" y="12889"/>
                  <a:pt x="9165" y="13802"/>
                  <a:pt x="9142" y="14331"/>
                </a:cubicBezTo>
                <a:lnTo>
                  <a:pt x="9092" y="15291"/>
                </a:lnTo>
                <a:lnTo>
                  <a:pt x="9440" y="15291"/>
                </a:lnTo>
                <a:lnTo>
                  <a:pt x="9775" y="15291"/>
                </a:lnTo>
                <a:lnTo>
                  <a:pt x="9912" y="12274"/>
                </a:lnTo>
                <a:cubicBezTo>
                  <a:pt x="9983" y="10619"/>
                  <a:pt x="10082" y="8284"/>
                  <a:pt x="10135" y="7063"/>
                </a:cubicBezTo>
                <a:lnTo>
                  <a:pt x="10235" y="4800"/>
                </a:lnTo>
                <a:close/>
                <a:moveTo>
                  <a:pt x="1043" y="5006"/>
                </a:moveTo>
                <a:lnTo>
                  <a:pt x="981" y="6034"/>
                </a:lnTo>
                <a:cubicBezTo>
                  <a:pt x="942" y="6631"/>
                  <a:pt x="828" y="8304"/>
                  <a:pt x="733" y="9737"/>
                </a:cubicBezTo>
                <a:cubicBezTo>
                  <a:pt x="638" y="11171"/>
                  <a:pt x="526" y="12929"/>
                  <a:pt x="484" y="13577"/>
                </a:cubicBezTo>
                <a:cubicBezTo>
                  <a:pt x="443" y="14226"/>
                  <a:pt x="406" y="14828"/>
                  <a:pt x="397" y="14949"/>
                </a:cubicBezTo>
                <a:cubicBezTo>
                  <a:pt x="382" y="15155"/>
                  <a:pt x="400" y="15186"/>
                  <a:pt x="820" y="15154"/>
                </a:cubicBezTo>
                <a:lnTo>
                  <a:pt x="1267" y="15086"/>
                </a:lnTo>
                <a:lnTo>
                  <a:pt x="1391" y="13371"/>
                </a:lnTo>
                <a:cubicBezTo>
                  <a:pt x="1511" y="11576"/>
                  <a:pt x="1753" y="7833"/>
                  <a:pt x="1851" y="6309"/>
                </a:cubicBezTo>
                <a:cubicBezTo>
                  <a:pt x="1881" y="5831"/>
                  <a:pt x="1917" y="5331"/>
                  <a:pt x="1925" y="5211"/>
                </a:cubicBezTo>
                <a:cubicBezTo>
                  <a:pt x="1940" y="5009"/>
                  <a:pt x="1907" y="5005"/>
                  <a:pt x="1491" y="5006"/>
                </a:cubicBezTo>
                <a:lnTo>
                  <a:pt x="1043" y="5006"/>
                </a:lnTo>
                <a:close/>
                <a:moveTo>
                  <a:pt x="9055" y="5623"/>
                </a:moveTo>
                <a:cubicBezTo>
                  <a:pt x="9050" y="5595"/>
                  <a:pt x="8883" y="5664"/>
                  <a:pt x="8695" y="5829"/>
                </a:cubicBezTo>
                <a:lnTo>
                  <a:pt x="8359" y="6171"/>
                </a:lnTo>
                <a:lnTo>
                  <a:pt x="8173" y="10217"/>
                </a:lnTo>
                <a:cubicBezTo>
                  <a:pt x="7927" y="15628"/>
                  <a:pt x="7867" y="16689"/>
                  <a:pt x="7726" y="17554"/>
                </a:cubicBezTo>
                <a:cubicBezTo>
                  <a:pt x="7641" y="18075"/>
                  <a:pt x="7422" y="18721"/>
                  <a:pt x="7291" y="18857"/>
                </a:cubicBezTo>
                <a:cubicBezTo>
                  <a:pt x="7224" y="18927"/>
                  <a:pt x="7227" y="18960"/>
                  <a:pt x="7204" y="19611"/>
                </a:cubicBezTo>
                <a:cubicBezTo>
                  <a:pt x="7190" y="19997"/>
                  <a:pt x="7164" y="20469"/>
                  <a:pt x="7154" y="20640"/>
                </a:cubicBezTo>
                <a:lnTo>
                  <a:pt x="7142" y="20914"/>
                </a:lnTo>
                <a:lnTo>
                  <a:pt x="6695" y="20983"/>
                </a:lnTo>
                <a:cubicBezTo>
                  <a:pt x="6449" y="21001"/>
                  <a:pt x="6234" y="20974"/>
                  <a:pt x="6223" y="20914"/>
                </a:cubicBezTo>
                <a:cubicBezTo>
                  <a:pt x="6212" y="20853"/>
                  <a:pt x="6227" y="20690"/>
                  <a:pt x="6260" y="20571"/>
                </a:cubicBezTo>
                <a:cubicBezTo>
                  <a:pt x="6352" y="20241"/>
                  <a:pt x="6346" y="19742"/>
                  <a:pt x="6235" y="19337"/>
                </a:cubicBezTo>
                <a:cubicBezTo>
                  <a:pt x="6095" y="18826"/>
                  <a:pt x="6116" y="18555"/>
                  <a:pt x="6310" y="18583"/>
                </a:cubicBezTo>
                <a:cubicBezTo>
                  <a:pt x="6409" y="18597"/>
                  <a:pt x="6437" y="18583"/>
                  <a:pt x="6446" y="18377"/>
                </a:cubicBezTo>
                <a:cubicBezTo>
                  <a:pt x="6457" y="18149"/>
                  <a:pt x="6444" y="18170"/>
                  <a:pt x="6273" y="18171"/>
                </a:cubicBezTo>
                <a:cubicBezTo>
                  <a:pt x="6049" y="18174"/>
                  <a:pt x="5972" y="18314"/>
                  <a:pt x="5962" y="18857"/>
                </a:cubicBezTo>
                <a:cubicBezTo>
                  <a:pt x="5956" y="19198"/>
                  <a:pt x="5970" y="19254"/>
                  <a:pt x="6049" y="19543"/>
                </a:cubicBezTo>
                <a:cubicBezTo>
                  <a:pt x="6150" y="19910"/>
                  <a:pt x="6161" y="20000"/>
                  <a:pt x="6111" y="20229"/>
                </a:cubicBezTo>
                <a:cubicBezTo>
                  <a:pt x="6087" y="20337"/>
                  <a:pt x="6030" y="20355"/>
                  <a:pt x="5937" y="20297"/>
                </a:cubicBezTo>
                <a:cubicBezTo>
                  <a:pt x="5804" y="20214"/>
                  <a:pt x="5808" y="20226"/>
                  <a:pt x="5801" y="20571"/>
                </a:cubicBezTo>
                <a:cubicBezTo>
                  <a:pt x="5788" y="21178"/>
                  <a:pt x="5726" y="21093"/>
                  <a:pt x="5614" y="20229"/>
                </a:cubicBezTo>
                <a:cubicBezTo>
                  <a:pt x="5557" y="19786"/>
                  <a:pt x="5515" y="19368"/>
                  <a:pt x="5515" y="19337"/>
                </a:cubicBezTo>
                <a:cubicBezTo>
                  <a:pt x="5515" y="19306"/>
                  <a:pt x="5581" y="19018"/>
                  <a:pt x="5664" y="18720"/>
                </a:cubicBezTo>
                <a:lnTo>
                  <a:pt x="5813" y="18171"/>
                </a:lnTo>
                <a:lnTo>
                  <a:pt x="5714" y="18171"/>
                </a:lnTo>
                <a:cubicBezTo>
                  <a:pt x="5623" y="18139"/>
                  <a:pt x="5590" y="18187"/>
                  <a:pt x="5490" y="18583"/>
                </a:cubicBezTo>
                <a:cubicBezTo>
                  <a:pt x="5314" y="19280"/>
                  <a:pt x="5299" y="19045"/>
                  <a:pt x="5428" y="17349"/>
                </a:cubicBezTo>
                <a:cubicBezTo>
                  <a:pt x="5442" y="17161"/>
                  <a:pt x="5441" y="17143"/>
                  <a:pt x="5353" y="17143"/>
                </a:cubicBezTo>
                <a:lnTo>
                  <a:pt x="5242" y="17143"/>
                </a:lnTo>
                <a:lnTo>
                  <a:pt x="5192" y="18103"/>
                </a:lnTo>
                <a:cubicBezTo>
                  <a:pt x="5108" y="19428"/>
                  <a:pt x="5008" y="20654"/>
                  <a:pt x="4981" y="20846"/>
                </a:cubicBezTo>
                <a:cubicBezTo>
                  <a:pt x="4965" y="20957"/>
                  <a:pt x="4917" y="21008"/>
                  <a:pt x="4807" y="20983"/>
                </a:cubicBezTo>
                <a:lnTo>
                  <a:pt x="4645" y="20914"/>
                </a:lnTo>
                <a:lnTo>
                  <a:pt x="4658" y="20571"/>
                </a:lnTo>
                <a:cubicBezTo>
                  <a:pt x="4678" y="19543"/>
                  <a:pt x="4828" y="18557"/>
                  <a:pt x="4956" y="18651"/>
                </a:cubicBezTo>
                <a:cubicBezTo>
                  <a:pt x="5012" y="18693"/>
                  <a:pt x="5043" y="18555"/>
                  <a:pt x="5043" y="18240"/>
                </a:cubicBezTo>
                <a:cubicBezTo>
                  <a:pt x="5043" y="18180"/>
                  <a:pt x="4939" y="18157"/>
                  <a:pt x="4819" y="18171"/>
                </a:cubicBezTo>
                <a:lnTo>
                  <a:pt x="4608" y="18171"/>
                </a:lnTo>
                <a:lnTo>
                  <a:pt x="4558" y="18857"/>
                </a:lnTo>
                <a:cubicBezTo>
                  <a:pt x="4538" y="19233"/>
                  <a:pt x="4503" y="19905"/>
                  <a:pt x="4472" y="20297"/>
                </a:cubicBezTo>
                <a:lnTo>
                  <a:pt x="4409" y="20983"/>
                </a:lnTo>
                <a:lnTo>
                  <a:pt x="4298" y="20983"/>
                </a:lnTo>
                <a:cubicBezTo>
                  <a:pt x="4155" y="20983"/>
                  <a:pt x="4140" y="20809"/>
                  <a:pt x="4248" y="20503"/>
                </a:cubicBezTo>
                <a:cubicBezTo>
                  <a:pt x="4414" y="20031"/>
                  <a:pt x="4486" y="18952"/>
                  <a:pt x="4385" y="18446"/>
                </a:cubicBezTo>
                <a:cubicBezTo>
                  <a:pt x="4348" y="18262"/>
                  <a:pt x="4296" y="18206"/>
                  <a:pt x="4149" y="18171"/>
                </a:cubicBezTo>
                <a:cubicBezTo>
                  <a:pt x="3980" y="18132"/>
                  <a:pt x="3945" y="18156"/>
                  <a:pt x="3838" y="18446"/>
                </a:cubicBezTo>
                <a:cubicBezTo>
                  <a:pt x="3652" y="18947"/>
                  <a:pt x="3586" y="19984"/>
                  <a:pt x="3701" y="20571"/>
                </a:cubicBezTo>
                <a:cubicBezTo>
                  <a:pt x="3732" y="20729"/>
                  <a:pt x="3747" y="20870"/>
                  <a:pt x="3739" y="20914"/>
                </a:cubicBezTo>
                <a:cubicBezTo>
                  <a:pt x="3718" y="21027"/>
                  <a:pt x="3267" y="21028"/>
                  <a:pt x="3254" y="20914"/>
                </a:cubicBezTo>
                <a:cubicBezTo>
                  <a:pt x="3249" y="20863"/>
                  <a:pt x="3344" y="20191"/>
                  <a:pt x="3465" y="19474"/>
                </a:cubicBezTo>
                <a:lnTo>
                  <a:pt x="3689" y="18171"/>
                </a:lnTo>
                <a:lnTo>
                  <a:pt x="3590" y="18171"/>
                </a:lnTo>
                <a:cubicBezTo>
                  <a:pt x="3500" y="18133"/>
                  <a:pt x="3493" y="18142"/>
                  <a:pt x="3366" y="18926"/>
                </a:cubicBezTo>
                <a:cubicBezTo>
                  <a:pt x="3293" y="19374"/>
                  <a:pt x="3227" y="19713"/>
                  <a:pt x="3217" y="19680"/>
                </a:cubicBezTo>
                <a:cubicBezTo>
                  <a:pt x="3207" y="19647"/>
                  <a:pt x="3188" y="19268"/>
                  <a:pt x="3180" y="18857"/>
                </a:cubicBezTo>
                <a:lnTo>
                  <a:pt x="3167" y="18103"/>
                </a:lnTo>
                <a:lnTo>
                  <a:pt x="3068" y="18103"/>
                </a:lnTo>
                <a:cubicBezTo>
                  <a:pt x="2974" y="18103"/>
                  <a:pt x="2967" y="18157"/>
                  <a:pt x="2844" y="18994"/>
                </a:cubicBezTo>
                <a:cubicBezTo>
                  <a:pt x="2714" y="19886"/>
                  <a:pt x="2683" y="19994"/>
                  <a:pt x="2683" y="19406"/>
                </a:cubicBezTo>
                <a:cubicBezTo>
                  <a:pt x="2683" y="19222"/>
                  <a:pt x="2666" y="18839"/>
                  <a:pt x="2658" y="18583"/>
                </a:cubicBezTo>
                <a:cubicBezTo>
                  <a:pt x="2645" y="18139"/>
                  <a:pt x="2642" y="18103"/>
                  <a:pt x="2559" y="18103"/>
                </a:cubicBezTo>
                <a:cubicBezTo>
                  <a:pt x="2456" y="18103"/>
                  <a:pt x="2460" y="18130"/>
                  <a:pt x="2509" y="19680"/>
                </a:cubicBezTo>
                <a:cubicBezTo>
                  <a:pt x="2528" y="20279"/>
                  <a:pt x="2541" y="20780"/>
                  <a:pt x="2534" y="20846"/>
                </a:cubicBezTo>
                <a:cubicBezTo>
                  <a:pt x="2515" y="21011"/>
                  <a:pt x="2254" y="21013"/>
                  <a:pt x="2236" y="20846"/>
                </a:cubicBezTo>
                <a:cubicBezTo>
                  <a:pt x="2227" y="20772"/>
                  <a:pt x="2234" y="20647"/>
                  <a:pt x="2248" y="20571"/>
                </a:cubicBezTo>
                <a:cubicBezTo>
                  <a:pt x="2291" y="20337"/>
                  <a:pt x="2277" y="20224"/>
                  <a:pt x="2211" y="20297"/>
                </a:cubicBezTo>
                <a:cubicBezTo>
                  <a:pt x="2108" y="20411"/>
                  <a:pt x="2091" y="20200"/>
                  <a:pt x="2149" y="19406"/>
                </a:cubicBezTo>
                <a:cubicBezTo>
                  <a:pt x="2197" y="18748"/>
                  <a:pt x="2197" y="18688"/>
                  <a:pt x="2285" y="18651"/>
                </a:cubicBezTo>
                <a:cubicBezTo>
                  <a:pt x="2354" y="18623"/>
                  <a:pt x="2389" y="18558"/>
                  <a:pt x="2397" y="18377"/>
                </a:cubicBezTo>
                <a:cubicBezTo>
                  <a:pt x="2407" y="18174"/>
                  <a:pt x="2396" y="18103"/>
                  <a:pt x="2335" y="18103"/>
                </a:cubicBezTo>
                <a:cubicBezTo>
                  <a:pt x="2245" y="18103"/>
                  <a:pt x="2219" y="18059"/>
                  <a:pt x="2248" y="17760"/>
                </a:cubicBezTo>
                <a:cubicBezTo>
                  <a:pt x="2267" y="17565"/>
                  <a:pt x="2267" y="17484"/>
                  <a:pt x="2223" y="17486"/>
                </a:cubicBezTo>
                <a:cubicBezTo>
                  <a:pt x="2132" y="17489"/>
                  <a:pt x="2073" y="17655"/>
                  <a:pt x="2062" y="17897"/>
                </a:cubicBezTo>
                <a:cubicBezTo>
                  <a:pt x="2054" y="18053"/>
                  <a:pt x="2026" y="18103"/>
                  <a:pt x="1987" y="18103"/>
                </a:cubicBezTo>
                <a:cubicBezTo>
                  <a:pt x="1955" y="18103"/>
                  <a:pt x="1938" y="18143"/>
                  <a:pt x="1938" y="18171"/>
                </a:cubicBezTo>
                <a:cubicBezTo>
                  <a:pt x="1938" y="18200"/>
                  <a:pt x="1932" y="18347"/>
                  <a:pt x="1925" y="18446"/>
                </a:cubicBezTo>
                <a:cubicBezTo>
                  <a:pt x="1917" y="18558"/>
                  <a:pt x="1922" y="18610"/>
                  <a:pt x="1950" y="18651"/>
                </a:cubicBezTo>
                <a:cubicBezTo>
                  <a:pt x="1995" y="18716"/>
                  <a:pt x="2006" y="18713"/>
                  <a:pt x="1950" y="19474"/>
                </a:cubicBezTo>
                <a:cubicBezTo>
                  <a:pt x="1919" y="19899"/>
                  <a:pt x="1884" y="20392"/>
                  <a:pt x="1888" y="20571"/>
                </a:cubicBezTo>
                <a:cubicBezTo>
                  <a:pt x="1894" y="20869"/>
                  <a:pt x="1892" y="20947"/>
                  <a:pt x="1813" y="20983"/>
                </a:cubicBezTo>
                <a:cubicBezTo>
                  <a:pt x="1681" y="21043"/>
                  <a:pt x="1658" y="20941"/>
                  <a:pt x="1702" y="20571"/>
                </a:cubicBezTo>
                <a:lnTo>
                  <a:pt x="1739" y="20297"/>
                </a:lnTo>
                <a:lnTo>
                  <a:pt x="1565" y="20366"/>
                </a:lnTo>
                <a:cubicBezTo>
                  <a:pt x="1413" y="20429"/>
                  <a:pt x="1399" y="20408"/>
                  <a:pt x="1354" y="20160"/>
                </a:cubicBezTo>
                <a:cubicBezTo>
                  <a:pt x="1269" y="19689"/>
                  <a:pt x="1316" y="19514"/>
                  <a:pt x="1590" y="19474"/>
                </a:cubicBezTo>
                <a:lnTo>
                  <a:pt x="1838" y="19406"/>
                </a:lnTo>
                <a:lnTo>
                  <a:pt x="1838" y="18926"/>
                </a:lnTo>
                <a:cubicBezTo>
                  <a:pt x="1844" y="18567"/>
                  <a:pt x="1842" y="18426"/>
                  <a:pt x="1813" y="18309"/>
                </a:cubicBezTo>
                <a:cubicBezTo>
                  <a:pt x="1760" y="18092"/>
                  <a:pt x="1435" y="18089"/>
                  <a:pt x="1341" y="18309"/>
                </a:cubicBezTo>
                <a:cubicBezTo>
                  <a:pt x="1224" y="18586"/>
                  <a:pt x="1143" y="19186"/>
                  <a:pt x="1130" y="19817"/>
                </a:cubicBezTo>
                <a:cubicBezTo>
                  <a:pt x="1120" y="20313"/>
                  <a:pt x="1128" y="20382"/>
                  <a:pt x="1180" y="20571"/>
                </a:cubicBezTo>
                <a:cubicBezTo>
                  <a:pt x="1212" y="20688"/>
                  <a:pt x="1236" y="20785"/>
                  <a:pt x="1230" y="20846"/>
                </a:cubicBezTo>
                <a:cubicBezTo>
                  <a:pt x="1216" y="20967"/>
                  <a:pt x="940" y="21032"/>
                  <a:pt x="919" y="20914"/>
                </a:cubicBezTo>
                <a:cubicBezTo>
                  <a:pt x="904" y="20832"/>
                  <a:pt x="925" y="20501"/>
                  <a:pt x="1068" y="18514"/>
                </a:cubicBezTo>
                <a:lnTo>
                  <a:pt x="1168" y="17143"/>
                </a:lnTo>
                <a:lnTo>
                  <a:pt x="1068" y="17143"/>
                </a:lnTo>
                <a:cubicBezTo>
                  <a:pt x="984" y="17143"/>
                  <a:pt x="965" y="17187"/>
                  <a:pt x="944" y="17486"/>
                </a:cubicBezTo>
                <a:cubicBezTo>
                  <a:pt x="931" y="17673"/>
                  <a:pt x="903" y="18242"/>
                  <a:pt x="869" y="18720"/>
                </a:cubicBezTo>
                <a:cubicBezTo>
                  <a:pt x="836" y="19198"/>
                  <a:pt x="792" y="19622"/>
                  <a:pt x="783" y="19680"/>
                </a:cubicBezTo>
                <a:cubicBezTo>
                  <a:pt x="773" y="19738"/>
                  <a:pt x="716" y="19169"/>
                  <a:pt x="646" y="18446"/>
                </a:cubicBezTo>
                <a:lnTo>
                  <a:pt x="509" y="17143"/>
                </a:lnTo>
                <a:lnTo>
                  <a:pt x="385" y="17143"/>
                </a:lnTo>
                <a:lnTo>
                  <a:pt x="261" y="17143"/>
                </a:lnTo>
                <a:lnTo>
                  <a:pt x="186" y="18377"/>
                </a:lnTo>
                <a:cubicBezTo>
                  <a:pt x="80" y="20088"/>
                  <a:pt x="51" y="20386"/>
                  <a:pt x="25" y="20297"/>
                </a:cubicBezTo>
                <a:cubicBezTo>
                  <a:pt x="22" y="20289"/>
                  <a:pt x="27" y="21477"/>
                  <a:pt x="25" y="21600"/>
                </a:cubicBezTo>
                <a:lnTo>
                  <a:pt x="21600" y="21600"/>
                </a:lnTo>
                <a:lnTo>
                  <a:pt x="21600" y="20914"/>
                </a:lnTo>
                <a:lnTo>
                  <a:pt x="14545" y="20914"/>
                </a:lnTo>
                <a:cubicBezTo>
                  <a:pt x="9866" y="20914"/>
                  <a:pt x="7506" y="20860"/>
                  <a:pt x="7502" y="20777"/>
                </a:cubicBezTo>
                <a:cubicBezTo>
                  <a:pt x="7499" y="20709"/>
                  <a:pt x="7549" y="20593"/>
                  <a:pt x="7614" y="20503"/>
                </a:cubicBezTo>
                <a:cubicBezTo>
                  <a:pt x="7806" y="20237"/>
                  <a:pt x="8120" y="19356"/>
                  <a:pt x="8247" y="18720"/>
                </a:cubicBezTo>
                <a:cubicBezTo>
                  <a:pt x="8375" y="18083"/>
                  <a:pt x="8493" y="17116"/>
                  <a:pt x="8570" y="16046"/>
                </a:cubicBezTo>
                <a:cubicBezTo>
                  <a:pt x="8622" y="15338"/>
                  <a:pt x="9069" y="5712"/>
                  <a:pt x="9055" y="5623"/>
                </a:cubicBezTo>
                <a:close/>
                <a:moveTo>
                  <a:pt x="13241" y="5691"/>
                </a:moveTo>
                <a:lnTo>
                  <a:pt x="13203" y="6651"/>
                </a:lnTo>
                <a:cubicBezTo>
                  <a:pt x="13182" y="7146"/>
                  <a:pt x="13154" y="7560"/>
                  <a:pt x="13154" y="7611"/>
                </a:cubicBezTo>
                <a:cubicBezTo>
                  <a:pt x="13154" y="7663"/>
                  <a:pt x="13254" y="7680"/>
                  <a:pt x="13365" y="7680"/>
                </a:cubicBezTo>
                <a:cubicBezTo>
                  <a:pt x="13476" y="7680"/>
                  <a:pt x="13569" y="7755"/>
                  <a:pt x="13576" y="7817"/>
                </a:cubicBezTo>
                <a:cubicBezTo>
                  <a:pt x="13592" y="7957"/>
                  <a:pt x="13543" y="9182"/>
                  <a:pt x="13514" y="9394"/>
                </a:cubicBezTo>
                <a:cubicBezTo>
                  <a:pt x="13500" y="9499"/>
                  <a:pt x="13420" y="9600"/>
                  <a:pt x="13278" y="9600"/>
                </a:cubicBezTo>
                <a:lnTo>
                  <a:pt x="13067" y="9600"/>
                </a:lnTo>
                <a:lnTo>
                  <a:pt x="13054" y="10011"/>
                </a:lnTo>
                <a:cubicBezTo>
                  <a:pt x="13043" y="10267"/>
                  <a:pt x="13024" y="10715"/>
                  <a:pt x="13017" y="10971"/>
                </a:cubicBezTo>
                <a:lnTo>
                  <a:pt x="13005" y="11451"/>
                </a:lnTo>
                <a:lnTo>
                  <a:pt x="13203" y="11451"/>
                </a:lnTo>
                <a:cubicBezTo>
                  <a:pt x="13356" y="11451"/>
                  <a:pt x="13418" y="11456"/>
                  <a:pt x="13427" y="11589"/>
                </a:cubicBezTo>
                <a:cubicBezTo>
                  <a:pt x="13434" y="11685"/>
                  <a:pt x="13415" y="12307"/>
                  <a:pt x="13390" y="12960"/>
                </a:cubicBezTo>
                <a:cubicBezTo>
                  <a:pt x="13364" y="13613"/>
                  <a:pt x="13340" y="14514"/>
                  <a:pt x="13340" y="14949"/>
                </a:cubicBezTo>
                <a:cubicBezTo>
                  <a:pt x="13340" y="15616"/>
                  <a:pt x="13343" y="15769"/>
                  <a:pt x="13390" y="16046"/>
                </a:cubicBezTo>
                <a:lnTo>
                  <a:pt x="13452" y="16389"/>
                </a:lnTo>
                <a:lnTo>
                  <a:pt x="13874" y="16389"/>
                </a:lnTo>
                <a:lnTo>
                  <a:pt x="14309" y="16389"/>
                </a:lnTo>
                <a:lnTo>
                  <a:pt x="14346" y="15497"/>
                </a:lnTo>
                <a:cubicBezTo>
                  <a:pt x="14366" y="15002"/>
                  <a:pt x="14377" y="14519"/>
                  <a:pt x="14383" y="14400"/>
                </a:cubicBezTo>
                <a:cubicBezTo>
                  <a:pt x="14394" y="14202"/>
                  <a:pt x="14382" y="14194"/>
                  <a:pt x="14135" y="14194"/>
                </a:cubicBezTo>
                <a:cubicBezTo>
                  <a:pt x="13986" y="14194"/>
                  <a:pt x="13856" y="14117"/>
                  <a:pt x="13849" y="14057"/>
                </a:cubicBezTo>
                <a:cubicBezTo>
                  <a:pt x="13837" y="13951"/>
                  <a:pt x="13913" y="11726"/>
                  <a:pt x="13936" y="11520"/>
                </a:cubicBezTo>
                <a:cubicBezTo>
                  <a:pt x="13943" y="11463"/>
                  <a:pt x="14058" y="11451"/>
                  <a:pt x="14185" y="11451"/>
                </a:cubicBezTo>
                <a:lnTo>
                  <a:pt x="14408" y="11451"/>
                </a:lnTo>
                <a:lnTo>
                  <a:pt x="14433" y="10697"/>
                </a:lnTo>
                <a:cubicBezTo>
                  <a:pt x="14449" y="10285"/>
                  <a:pt x="14476" y="9837"/>
                  <a:pt x="14483" y="9737"/>
                </a:cubicBezTo>
                <a:cubicBezTo>
                  <a:pt x="14493" y="9586"/>
                  <a:pt x="14450" y="9600"/>
                  <a:pt x="14259" y="9600"/>
                </a:cubicBezTo>
                <a:cubicBezTo>
                  <a:pt x="14097" y="9600"/>
                  <a:pt x="14030" y="9505"/>
                  <a:pt x="14023" y="9394"/>
                </a:cubicBezTo>
                <a:cubicBezTo>
                  <a:pt x="14018" y="9309"/>
                  <a:pt x="14033" y="8912"/>
                  <a:pt x="14048" y="8503"/>
                </a:cubicBezTo>
                <a:lnTo>
                  <a:pt x="14073" y="7749"/>
                </a:lnTo>
                <a:lnTo>
                  <a:pt x="14321" y="7680"/>
                </a:lnTo>
                <a:lnTo>
                  <a:pt x="14557" y="7680"/>
                </a:lnTo>
                <a:lnTo>
                  <a:pt x="14607" y="6789"/>
                </a:lnTo>
                <a:cubicBezTo>
                  <a:pt x="14629" y="6311"/>
                  <a:pt x="14644" y="5880"/>
                  <a:pt x="14644" y="5829"/>
                </a:cubicBezTo>
                <a:cubicBezTo>
                  <a:pt x="14645" y="5777"/>
                  <a:pt x="14324" y="5691"/>
                  <a:pt x="13936" y="5691"/>
                </a:cubicBezTo>
                <a:lnTo>
                  <a:pt x="13241" y="5691"/>
                </a:lnTo>
                <a:close/>
                <a:moveTo>
                  <a:pt x="11837" y="6583"/>
                </a:moveTo>
                <a:cubicBezTo>
                  <a:pt x="11888" y="6587"/>
                  <a:pt x="11932" y="6702"/>
                  <a:pt x="11961" y="6857"/>
                </a:cubicBezTo>
                <a:cubicBezTo>
                  <a:pt x="12041" y="7270"/>
                  <a:pt x="12041" y="7669"/>
                  <a:pt x="11986" y="8297"/>
                </a:cubicBezTo>
                <a:cubicBezTo>
                  <a:pt x="11936" y="8869"/>
                  <a:pt x="11810" y="9503"/>
                  <a:pt x="11701" y="9737"/>
                </a:cubicBezTo>
                <a:cubicBezTo>
                  <a:pt x="11665" y="9814"/>
                  <a:pt x="11519" y="9984"/>
                  <a:pt x="11365" y="10149"/>
                </a:cubicBezTo>
                <a:cubicBezTo>
                  <a:pt x="11211" y="10313"/>
                  <a:pt x="11071" y="10423"/>
                  <a:pt x="11055" y="10423"/>
                </a:cubicBezTo>
                <a:cubicBezTo>
                  <a:pt x="10994" y="10423"/>
                  <a:pt x="10994" y="10069"/>
                  <a:pt x="11067" y="9394"/>
                </a:cubicBezTo>
                <a:cubicBezTo>
                  <a:pt x="11232" y="7883"/>
                  <a:pt x="11617" y="6564"/>
                  <a:pt x="11837" y="6583"/>
                </a:cubicBezTo>
                <a:close/>
                <a:moveTo>
                  <a:pt x="7862" y="6720"/>
                </a:moveTo>
                <a:cubicBezTo>
                  <a:pt x="7790" y="6704"/>
                  <a:pt x="7214" y="7221"/>
                  <a:pt x="7192" y="7337"/>
                </a:cubicBezTo>
                <a:cubicBezTo>
                  <a:pt x="7164" y="7479"/>
                  <a:pt x="6844" y="14684"/>
                  <a:pt x="6844" y="15154"/>
                </a:cubicBezTo>
                <a:cubicBezTo>
                  <a:pt x="6844" y="15210"/>
                  <a:pt x="6995" y="15291"/>
                  <a:pt x="7179" y="15291"/>
                </a:cubicBezTo>
                <a:lnTo>
                  <a:pt x="7502" y="15291"/>
                </a:lnTo>
                <a:lnTo>
                  <a:pt x="7602" y="13234"/>
                </a:lnTo>
                <a:cubicBezTo>
                  <a:pt x="7725" y="10425"/>
                  <a:pt x="7875" y="6810"/>
                  <a:pt x="7875" y="6720"/>
                </a:cubicBezTo>
                <a:cubicBezTo>
                  <a:pt x="7875" y="6714"/>
                  <a:pt x="7867" y="6721"/>
                  <a:pt x="7862" y="6720"/>
                </a:cubicBezTo>
                <a:close/>
                <a:moveTo>
                  <a:pt x="15054" y="11314"/>
                </a:moveTo>
                <a:lnTo>
                  <a:pt x="14980" y="12274"/>
                </a:lnTo>
                <a:cubicBezTo>
                  <a:pt x="14940" y="12803"/>
                  <a:pt x="14895" y="13407"/>
                  <a:pt x="14880" y="13646"/>
                </a:cubicBezTo>
                <a:lnTo>
                  <a:pt x="14855" y="14126"/>
                </a:lnTo>
                <a:lnTo>
                  <a:pt x="14694" y="14126"/>
                </a:lnTo>
                <a:lnTo>
                  <a:pt x="14532" y="14194"/>
                </a:lnTo>
                <a:lnTo>
                  <a:pt x="14508" y="14811"/>
                </a:lnTo>
                <a:cubicBezTo>
                  <a:pt x="14495" y="15167"/>
                  <a:pt x="14478" y="15653"/>
                  <a:pt x="14470" y="15909"/>
                </a:cubicBezTo>
                <a:lnTo>
                  <a:pt x="14458" y="16389"/>
                </a:lnTo>
                <a:lnTo>
                  <a:pt x="14744" y="16389"/>
                </a:lnTo>
                <a:cubicBezTo>
                  <a:pt x="14898" y="16389"/>
                  <a:pt x="15054" y="16324"/>
                  <a:pt x="15091" y="16251"/>
                </a:cubicBezTo>
                <a:cubicBezTo>
                  <a:pt x="15152" y="16135"/>
                  <a:pt x="15278" y="15361"/>
                  <a:pt x="15278" y="15086"/>
                </a:cubicBezTo>
                <a:cubicBezTo>
                  <a:pt x="15278" y="14904"/>
                  <a:pt x="15502" y="11609"/>
                  <a:pt x="15526" y="11451"/>
                </a:cubicBezTo>
                <a:cubicBezTo>
                  <a:pt x="15545" y="11327"/>
                  <a:pt x="15500" y="11314"/>
                  <a:pt x="15303" y="11314"/>
                </a:cubicBezTo>
                <a:lnTo>
                  <a:pt x="15054" y="11314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8" name="图像" descr="图像">
            <a:extLst>
              <a:ext uri="{FF2B5EF4-FFF2-40B4-BE49-F238E27FC236}">
                <a16:creationId xmlns:a16="http://schemas.microsoft.com/office/drawing/2014/main" id="{4F39512B-B284-D71D-F01B-262F5E8EDF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8227" y="3126189"/>
            <a:ext cx="675217" cy="24908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图像" descr="图像">
            <a:extLst>
              <a:ext uri="{FF2B5EF4-FFF2-40B4-BE49-F238E27FC236}">
                <a16:creationId xmlns:a16="http://schemas.microsoft.com/office/drawing/2014/main" id="{B55F81F4-980C-BD3F-D029-745F7864464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5842" y="1917804"/>
            <a:ext cx="585273" cy="460903"/>
          </a:xfrm>
          <a:prstGeom prst="rect">
            <a:avLst/>
          </a:prstGeom>
          <a:ln w="12700">
            <a:miter lim="400000"/>
          </a:ln>
        </p:spPr>
      </p:pic>
      <p:pic>
        <p:nvPicPr>
          <p:cNvPr id="13" name="图像" descr="图像">
            <a:extLst>
              <a:ext uri="{FF2B5EF4-FFF2-40B4-BE49-F238E27FC236}">
                <a16:creationId xmlns:a16="http://schemas.microsoft.com/office/drawing/2014/main" id="{6B683B03-F1C1-CE14-D5C2-829D0C6E46A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49403" y="4517196"/>
            <a:ext cx="543158" cy="4089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" name="图像" descr="图像">
            <a:extLst>
              <a:ext uri="{FF2B5EF4-FFF2-40B4-BE49-F238E27FC236}">
                <a16:creationId xmlns:a16="http://schemas.microsoft.com/office/drawing/2014/main" id="{17092819-61F8-958F-8B6C-9DC3FC8DDDF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5842" y="2987591"/>
            <a:ext cx="585273" cy="4609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图像" descr="图像">
            <a:extLst>
              <a:ext uri="{FF2B5EF4-FFF2-40B4-BE49-F238E27FC236}">
                <a16:creationId xmlns:a16="http://schemas.microsoft.com/office/drawing/2014/main" id="{3560F203-232C-CE9D-0D14-D0670C20F6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2894" y="5652182"/>
            <a:ext cx="640576" cy="30885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6" name="成组">
            <a:extLst>
              <a:ext uri="{FF2B5EF4-FFF2-40B4-BE49-F238E27FC236}">
                <a16:creationId xmlns:a16="http://schemas.microsoft.com/office/drawing/2014/main" id="{BDD0FD7E-35C8-65C1-93FD-95610624652F}"/>
              </a:ext>
            </a:extLst>
          </p:cNvPr>
          <p:cNvGrpSpPr/>
          <p:nvPr/>
        </p:nvGrpSpPr>
        <p:grpSpPr>
          <a:xfrm>
            <a:off x="2001499" y="1838431"/>
            <a:ext cx="1500841" cy="619649"/>
            <a:chOff x="0" y="0"/>
            <a:chExt cx="1500840" cy="619648"/>
          </a:xfrm>
        </p:grpSpPr>
        <p:sp>
          <p:nvSpPr>
            <p:cNvPr id="17" name="圆角矩形">
              <a:extLst>
                <a:ext uri="{FF2B5EF4-FFF2-40B4-BE49-F238E27FC236}">
                  <a16:creationId xmlns:a16="http://schemas.microsoft.com/office/drawing/2014/main" id="{B21BC5F5-F664-C942-FCE1-C0C950D56254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18" name="线条">
              <a:extLst>
                <a:ext uri="{FF2B5EF4-FFF2-40B4-BE49-F238E27FC236}">
                  <a16:creationId xmlns:a16="http://schemas.microsoft.com/office/drawing/2014/main" id="{ECB4DAAD-110F-C921-28F4-FF394C76D74C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19" name="成组">
            <a:extLst>
              <a:ext uri="{FF2B5EF4-FFF2-40B4-BE49-F238E27FC236}">
                <a16:creationId xmlns:a16="http://schemas.microsoft.com/office/drawing/2014/main" id="{3DB26431-27D7-0F8C-7233-A23834192AD6}"/>
              </a:ext>
            </a:extLst>
          </p:cNvPr>
          <p:cNvGrpSpPr/>
          <p:nvPr/>
        </p:nvGrpSpPr>
        <p:grpSpPr>
          <a:xfrm>
            <a:off x="2001499" y="2908217"/>
            <a:ext cx="1500841" cy="619650"/>
            <a:chOff x="0" y="0"/>
            <a:chExt cx="1500840" cy="619648"/>
          </a:xfrm>
        </p:grpSpPr>
        <p:sp>
          <p:nvSpPr>
            <p:cNvPr id="20" name="圆角矩形">
              <a:extLst>
                <a:ext uri="{FF2B5EF4-FFF2-40B4-BE49-F238E27FC236}">
                  <a16:creationId xmlns:a16="http://schemas.microsoft.com/office/drawing/2014/main" id="{1C15988C-BB6B-AC62-604C-BA339D45B508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1" name="线条">
              <a:extLst>
                <a:ext uri="{FF2B5EF4-FFF2-40B4-BE49-F238E27FC236}">
                  <a16:creationId xmlns:a16="http://schemas.microsoft.com/office/drawing/2014/main" id="{A2F7FF25-685F-9AF9-3761-8F4E029E3AD9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22" name="成组">
            <a:extLst>
              <a:ext uri="{FF2B5EF4-FFF2-40B4-BE49-F238E27FC236}">
                <a16:creationId xmlns:a16="http://schemas.microsoft.com/office/drawing/2014/main" id="{71C088CA-0059-C559-3D06-841EE84B503B}"/>
              </a:ext>
            </a:extLst>
          </p:cNvPr>
          <p:cNvGrpSpPr/>
          <p:nvPr/>
        </p:nvGrpSpPr>
        <p:grpSpPr>
          <a:xfrm>
            <a:off x="2001499" y="4008143"/>
            <a:ext cx="1500841" cy="619650"/>
            <a:chOff x="0" y="0"/>
            <a:chExt cx="1500840" cy="619648"/>
          </a:xfrm>
        </p:grpSpPr>
        <p:sp>
          <p:nvSpPr>
            <p:cNvPr id="23" name="圆角矩形">
              <a:extLst>
                <a:ext uri="{FF2B5EF4-FFF2-40B4-BE49-F238E27FC236}">
                  <a16:creationId xmlns:a16="http://schemas.microsoft.com/office/drawing/2014/main" id="{FB5820BC-A65B-6C41-80DB-6FB20AD43D65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4" name="线条">
              <a:extLst>
                <a:ext uri="{FF2B5EF4-FFF2-40B4-BE49-F238E27FC236}">
                  <a16:creationId xmlns:a16="http://schemas.microsoft.com/office/drawing/2014/main" id="{42C4FB13-8045-BEB8-961E-BDFF6763FDA2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25" name="成组">
            <a:extLst>
              <a:ext uri="{FF2B5EF4-FFF2-40B4-BE49-F238E27FC236}">
                <a16:creationId xmlns:a16="http://schemas.microsoft.com/office/drawing/2014/main" id="{3132D7F2-E062-EA13-D8EB-DCB831B3BD4D}"/>
              </a:ext>
            </a:extLst>
          </p:cNvPr>
          <p:cNvGrpSpPr/>
          <p:nvPr/>
        </p:nvGrpSpPr>
        <p:grpSpPr>
          <a:xfrm>
            <a:off x="4684689" y="2908217"/>
            <a:ext cx="1500841" cy="619650"/>
            <a:chOff x="0" y="0"/>
            <a:chExt cx="1500840" cy="619648"/>
          </a:xfrm>
        </p:grpSpPr>
        <p:sp>
          <p:nvSpPr>
            <p:cNvPr id="26" name="圆角矩形">
              <a:extLst>
                <a:ext uri="{FF2B5EF4-FFF2-40B4-BE49-F238E27FC236}">
                  <a16:creationId xmlns:a16="http://schemas.microsoft.com/office/drawing/2014/main" id="{127E5F11-C3FA-108C-458D-98CF60595C87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9" name="线条">
              <a:extLst>
                <a:ext uri="{FF2B5EF4-FFF2-40B4-BE49-F238E27FC236}">
                  <a16:creationId xmlns:a16="http://schemas.microsoft.com/office/drawing/2014/main" id="{C9EB55A6-7F31-9BB4-451C-109EE0C933C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0" name="成组">
            <a:extLst>
              <a:ext uri="{FF2B5EF4-FFF2-40B4-BE49-F238E27FC236}">
                <a16:creationId xmlns:a16="http://schemas.microsoft.com/office/drawing/2014/main" id="{E58D2A7A-B5A0-9640-28D6-F3D6EC00D079}"/>
              </a:ext>
            </a:extLst>
          </p:cNvPr>
          <p:cNvGrpSpPr/>
          <p:nvPr/>
        </p:nvGrpSpPr>
        <p:grpSpPr>
          <a:xfrm>
            <a:off x="9550515" y="2908217"/>
            <a:ext cx="1500842" cy="619650"/>
            <a:chOff x="0" y="0"/>
            <a:chExt cx="1500840" cy="619648"/>
          </a:xfrm>
        </p:grpSpPr>
        <p:sp>
          <p:nvSpPr>
            <p:cNvPr id="31" name="圆角矩形">
              <a:extLst>
                <a:ext uri="{FF2B5EF4-FFF2-40B4-BE49-F238E27FC236}">
                  <a16:creationId xmlns:a16="http://schemas.microsoft.com/office/drawing/2014/main" id="{86EA5054-28D7-28DD-4E45-41543B60A0B9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2" name="线条">
              <a:extLst>
                <a:ext uri="{FF2B5EF4-FFF2-40B4-BE49-F238E27FC236}">
                  <a16:creationId xmlns:a16="http://schemas.microsoft.com/office/drawing/2014/main" id="{13C44AEF-28C9-2732-C9E1-76996111413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3" name="成组">
            <a:extLst>
              <a:ext uri="{FF2B5EF4-FFF2-40B4-BE49-F238E27FC236}">
                <a16:creationId xmlns:a16="http://schemas.microsoft.com/office/drawing/2014/main" id="{23D40177-897B-0811-CB7C-6B2D00B62B15}"/>
              </a:ext>
            </a:extLst>
          </p:cNvPr>
          <p:cNvGrpSpPr/>
          <p:nvPr/>
        </p:nvGrpSpPr>
        <p:grpSpPr>
          <a:xfrm>
            <a:off x="6259571" y="4400094"/>
            <a:ext cx="1500842" cy="619650"/>
            <a:chOff x="0" y="0"/>
            <a:chExt cx="1500840" cy="619648"/>
          </a:xfrm>
        </p:grpSpPr>
        <p:sp>
          <p:nvSpPr>
            <p:cNvPr id="34" name="圆角矩形">
              <a:extLst>
                <a:ext uri="{FF2B5EF4-FFF2-40B4-BE49-F238E27FC236}">
                  <a16:creationId xmlns:a16="http://schemas.microsoft.com/office/drawing/2014/main" id="{A669F0D5-17E2-2C67-9670-4A449342EF05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5" name="线条">
              <a:extLst>
                <a:ext uri="{FF2B5EF4-FFF2-40B4-BE49-F238E27FC236}">
                  <a16:creationId xmlns:a16="http://schemas.microsoft.com/office/drawing/2014/main" id="{5D71E961-E677-2B71-475D-1FE069A5925C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6" name="成组">
            <a:extLst>
              <a:ext uri="{FF2B5EF4-FFF2-40B4-BE49-F238E27FC236}">
                <a16:creationId xmlns:a16="http://schemas.microsoft.com/office/drawing/2014/main" id="{6ED76F09-179C-7CDD-2B99-1F390A2E2D2A}"/>
              </a:ext>
            </a:extLst>
          </p:cNvPr>
          <p:cNvGrpSpPr/>
          <p:nvPr/>
        </p:nvGrpSpPr>
        <p:grpSpPr>
          <a:xfrm>
            <a:off x="6259571" y="5496782"/>
            <a:ext cx="1500842" cy="619650"/>
            <a:chOff x="0" y="0"/>
            <a:chExt cx="1500840" cy="619648"/>
          </a:xfrm>
        </p:grpSpPr>
        <p:sp>
          <p:nvSpPr>
            <p:cNvPr id="37" name="圆角矩形">
              <a:extLst>
                <a:ext uri="{FF2B5EF4-FFF2-40B4-BE49-F238E27FC236}">
                  <a16:creationId xmlns:a16="http://schemas.microsoft.com/office/drawing/2014/main" id="{B2D7A603-2FC9-1D2F-2665-D04FF7709F4D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8" name="线条">
              <a:extLst>
                <a:ext uri="{FF2B5EF4-FFF2-40B4-BE49-F238E27FC236}">
                  <a16:creationId xmlns:a16="http://schemas.microsoft.com/office/drawing/2014/main" id="{3DFA44C6-2038-AD64-7FCE-FEEBF94C23EF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pic>
        <p:nvPicPr>
          <p:cNvPr id="39" name="图像" descr="图像">
            <a:extLst>
              <a:ext uri="{FF2B5EF4-FFF2-40B4-BE49-F238E27FC236}">
                <a16:creationId xmlns:a16="http://schemas.microsoft.com/office/drawing/2014/main" id="{B84FC750-8B5A-049A-EBCD-1DB01437FDE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10581" y="3102740"/>
            <a:ext cx="711201" cy="2844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0" name="成组">
            <a:extLst>
              <a:ext uri="{FF2B5EF4-FFF2-40B4-BE49-F238E27FC236}">
                <a16:creationId xmlns:a16="http://schemas.microsoft.com/office/drawing/2014/main" id="{F1EF6F9F-BCEA-1941-C4D5-ECD486EA0833}"/>
              </a:ext>
            </a:extLst>
          </p:cNvPr>
          <p:cNvGrpSpPr/>
          <p:nvPr/>
        </p:nvGrpSpPr>
        <p:grpSpPr>
          <a:xfrm>
            <a:off x="7152846" y="2908217"/>
            <a:ext cx="1500842" cy="619650"/>
            <a:chOff x="0" y="0"/>
            <a:chExt cx="1500840" cy="619648"/>
          </a:xfrm>
        </p:grpSpPr>
        <p:sp>
          <p:nvSpPr>
            <p:cNvPr id="41" name="圆角矩形">
              <a:extLst>
                <a:ext uri="{FF2B5EF4-FFF2-40B4-BE49-F238E27FC236}">
                  <a16:creationId xmlns:a16="http://schemas.microsoft.com/office/drawing/2014/main" id="{0415A513-B67B-AF18-1C40-3703AFF2B8C4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42" name="线条">
              <a:extLst>
                <a:ext uri="{FF2B5EF4-FFF2-40B4-BE49-F238E27FC236}">
                  <a16:creationId xmlns:a16="http://schemas.microsoft.com/office/drawing/2014/main" id="{FDD34259-F5F6-10E9-4B93-A992395274A4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43" name="成组">
            <a:extLst>
              <a:ext uri="{FF2B5EF4-FFF2-40B4-BE49-F238E27FC236}">
                <a16:creationId xmlns:a16="http://schemas.microsoft.com/office/drawing/2014/main" id="{7D4F8195-21BD-D7C9-4C4B-CC09D42E6C87}"/>
              </a:ext>
            </a:extLst>
          </p:cNvPr>
          <p:cNvGrpSpPr/>
          <p:nvPr/>
        </p:nvGrpSpPr>
        <p:grpSpPr>
          <a:xfrm>
            <a:off x="3920828" y="5496809"/>
            <a:ext cx="1500841" cy="619650"/>
            <a:chOff x="0" y="0"/>
            <a:chExt cx="1500840" cy="619648"/>
          </a:xfrm>
        </p:grpSpPr>
        <p:sp>
          <p:nvSpPr>
            <p:cNvPr id="44" name="圆角矩形">
              <a:extLst>
                <a:ext uri="{FF2B5EF4-FFF2-40B4-BE49-F238E27FC236}">
                  <a16:creationId xmlns:a16="http://schemas.microsoft.com/office/drawing/2014/main" id="{A87B79DB-B3C4-885E-4C78-03415896FA60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45" name="线条">
              <a:extLst>
                <a:ext uri="{FF2B5EF4-FFF2-40B4-BE49-F238E27FC236}">
                  <a16:creationId xmlns:a16="http://schemas.microsoft.com/office/drawing/2014/main" id="{ED50CB0F-6F07-8079-B1F9-0C68B747757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sp>
        <p:nvSpPr>
          <p:cNvPr id="46" name="圆角矩形">
            <a:extLst>
              <a:ext uri="{FF2B5EF4-FFF2-40B4-BE49-F238E27FC236}">
                <a16:creationId xmlns:a16="http://schemas.microsoft.com/office/drawing/2014/main" id="{F3B16D33-0894-08E7-90E1-835C5E5EDBC5}"/>
              </a:ext>
            </a:extLst>
          </p:cNvPr>
          <p:cNvSpPr/>
          <p:nvPr/>
        </p:nvSpPr>
        <p:spPr>
          <a:xfrm>
            <a:off x="446664" y="1843508"/>
            <a:ext cx="750630" cy="609495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47" name="线条">
            <a:extLst>
              <a:ext uri="{FF2B5EF4-FFF2-40B4-BE49-F238E27FC236}">
                <a16:creationId xmlns:a16="http://schemas.microsoft.com/office/drawing/2014/main" id="{69EA68BD-01DA-79E5-94B2-4D22172AE6CD}"/>
              </a:ext>
            </a:extLst>
          </p:cNvPr>
          <p:cNvSpPr/>
          <p:nvPr/>
        </p:nvSpPr>
        <p:spPr>
          <a:xfrm flipV="1">
            <a:off x="11636373" y="1693320"/>
            <a:ext cx="1" cy="4436496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48" name="线条">
            <a:extLst>
              <a:ext uri="{FF2B5EF4-FFF2-40B4-BE49-F238E27FC236}">
                <a16:creationId xmlns:a16="http://schemas.microsoft.com/office/drawing/2014/main" id="{F9B64969-5977-B79B-EEDB-6D1FBACE9695}"/>
              </a:ext>
            </a:extLst>
          </p:cNvPr>
          <p:cNvSpPr/>
          <p:nvPr/>
        </p:nvSpPr>
        <p:spPr>
          <a:xfrm>
            <a:off x="1179334" y="2148255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49" name="线条">
            <a:extLst>
              <a:ext uri="{FF2B5EF4-FFF2-40B4-BE49-F238E27FC236}">
                <a16:creationId xmlns:a16="http://schemas.microsoft.com/office/drawing/2014/main" id="{4F9D8CD4-A283-252E-677C-C3E1AFD9DE57}"/>
              </a:ext>
            </a:extLst>
          </p:cNvPr>
          <p:cNvSpPr/>
          <p:nvPr/>
        </p:nvSpPr>
        <p:spPr>
          <a:xfrm>
            <a:off x="3496803" y="2123065"/>
            <a:ext cx="1197568" cy="1039288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0" name="线条">
            <a:extLst>
              <a:ext uri="{FF2B5EF4-FFF2-40B4-BE49-F238E27FC236}">
                <a16:creationId xmlns:a16="http://schemas.microsoft.com/office/drawing/2014/main" id="{B344E231-24DC-49AA-766E-B19FC93E49C1}"/>
              </a:ext>
            </a:extLst>
          </p:cNvPr>
          <p:cNvSpPr/>
          <p:nvPr/>
        </p:nvSpPr>
        <p:spPr>
          <a:xfrm flipV="1">
            <a:off x="3496702" y="3303523"/>
            <a:ext cx="1197816" cy="101361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1" name="线条">
            <a:extLst>
              <a:ext uri="{FF2B5EF4-FFF2-40B4-BE49-F238E27FC236}">
                <a16:creationId xmlns:a16="http://schemas.microsoft.com/office/drawing/2014/main" id="{7E7178DB-1510-4678-D362-8AAFF7E5A04B}"/>
              </a:ext>
            </a:extLst>
          </p:cNvPr>
          <p:cNvSpPr/>
          <p:nvPr/>
        </p:nvSpPr>
        <p:spPr>
          <a:xfrm>
            <a:off x="3493235" y="3244980"/>
            <a:ext cx="1200664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2" name="线条">
            <a:extLst>
              <a:ext uri="{FF2B5EF4-FFF2-40B4-BE49-F238E27FC236}">
                <a16:creationId xmlns:a16="http://schemas.microsoft.com/office/drawing/2014/main" id="{B8C06E0F-4039-82B1-E4D1-A4206B476862}"/>
              </a:ext>
            </a:extLst>
          </p:cNvPr>
          <p:cNvSpPr/>
          <p:nvPr/>
        </p:nvSpPr>
        <p:spPr>
          <a:xfrm>
            <a:off x="6186555" y="3244980"/>
            <a:ext cx="94733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3" name="线条">
            <a:extLst>
              <a:ext uri="{FF2B5EF4-FFF2-40B4-BE49-F238E27FC236}">
                <a16:creationId xmlns:a16="http://schemas.microsoft.com/office/drawing/2014/main" id="{43802721-9223-1D8C-2795-A36636E0C864}"/>
              </a:ext>
            </a:extLst>
          </p:cNvPr>
          <p:cNvSpPr/>
          <p:nvPr/>
        </p:nvSpPr>
        <p:spPr>
          <a:xfrm>
            <a:off x="8672640" y="3218042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4" name="线条">
            <a:extLst>
              <a:ext uri="{FF2B5EF4-FFF2-40B4-BE49-F238E27FC236}">
                <a16:creationId xmlns:a16="http://schemas.microsoft.com/office/drawing/2014/main" id="{08FD284D-DE0B-2983-4F55-3A3121E6B99E}"/>
              </a:ext>
            </a:extLst>
          </p:cNvPr>
          <p:cNvSpPr/>
          <p:nvPr/>
        </p:nvSpPr>
        <p:spPr>
          <a:xfrm>
            <a:off x="5415260" y="5817133"/>
            <a:ext cx="850720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5" name="线条">
            <a:extLst>
              <a:ext uri="{FF2B5EF4-FFF2-40B4-BE49-F238E27FC236}">
                <a16:creationId xmlns:a16="http://schemas.microsoft.com/office/drawing/2014/main" id="{08C58F7A-76B7-E391-8EF4-8ECD6283D51D}"/>
              </a:ext>
            </a:extLst>
          </p:cNvPr>
          <p:cNvSpPr/>
          <p:nvPr/>
        </p:nvSpPr>
        <p:spPr>
          <a:xfrm>
            <a:off x="7766237" y="5817133"/>
            <a:ext cx="3857962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6" name="线条">
            <a:extLst>
              <a:ext uri="{FF2B5EF4-FFF2-40B4-BE49-F238E27FC236}">
                <a16:creationId xmlns:a16="http://schemas.microsoft.com/office/drawing/2014/main" id="{8498752B-E99E-769A-AF7E-9654F728732D}"/>
              </a:ext>
            </a:extLst>
          </p:cNvPr>
          <p:cNvSpPr/>
          <p:nvPr/>
        </p:nvSpPr>
        <p:spPr>
          <a:xfrm>
            <a:off x="7773956" y="3405798"/>
            <a:ext cx="1732232" cy="12955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18555" y="21600"/>
                </a:lnTo>
                <a:lnTo>
                  <a:pt x="18555" y="0"/>
                </a:lnTo>
                <a:lnTo>
                  <a:pt x="21600" y="0"/>
                </a:lnTo>
              </a:path>
            </a:pathLst>
          </a:cu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7" name="终端用户">
            <a:extLst>
              <a:ext uri="{FF2B5EF4-FFF2-40B4-BE49-F238E27FC236}">
                <a16:creationId xmlns:a16="http://schemas.microsoft.com/office/drawing/2014/main" id="{B630544B-C738-0FF2-C48F-5134B0D13AE1}"/>
              </a:ext>
            </a:extLst>
          </p:cNvPr>
          <p:cNvSpPr txBox="1"/>
          <p:nvPr/>
        </p:nvSpPr>
        <p:spPr>
          <a:xfrm>
            <a:off x="11636373" y="3199913"/>
            <a:ext cx="305690" cy="954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chemeClr val="accent2"/>
                </a:solidFill>
              </a:defRPr>
            </a:lvl1pPr>
          </a:lstStyle>
          <a:p>
            <a:r>
              <a:rPr sz="1400"/>
              <a:t>终端用户</a:t>
            </a:r>
          </a:p>
        </p:txBody>
      </p:sp>
      <p:sp>
        <p:nvSpPr>
          <p:cNvPr id="58" name="线条">
            <a:extLst>
              <a:ext uri="{FF2B5EF4-FFF2-40B4-BE49-F238E27FC236}">
                <a16:creationId xmlns:a16="http://schemas.microsoft.com/office/drawing/2014/main" id="{28C4901F-C45B-B56F-0297-7AAD29F7407C}"/>
              </a:ext>
            </a:extLst>
          </p:cNvPr>
          <p:cNvSpPr/>
          <p:nvPr/>
        </p:nvSpPr>
        <p:spPr>
          <a:xfrm>
            <a:off x="11050826" y="3218042"/>
            <a:ext cx="53486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59" name="图像" descr="图像">
            <a:extLst>
              <a:ext uri="{FF2B5EF4-FFF2-40B4-BE49-F238E27FC236}">
                <a16:creationId xmlns:a16="http://schemas.microsoft.com/office/drawing/2014/main" id="{9FE71344-34C4-377C-82B8-85DF9CE93C9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6161" y="1956020"/>
            <a:ext cx="454026" cy="384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60" name="图像" descr="图像">
            <a:extLst>
              <a:ext uri="{FF2B5EF4-FFF2-40B4-BE49-F238E27FC236}">
                <a16:creationId xmlns:a16="http://schemas.microsoft.com/office/drawing/2014/main" id="{1E2877D0-A5C7-FBE2-3CF0-8A1636F6E0C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2029" y="3025807"/>
            <a:ext cx="454026" cy="384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61" name="图像" descr="图像">
            <a:extLst>
              <a:ext uri="{FF2B5EF4-FFF2-40B4-BE49-F238E27FC236}">
                <a16:creationId xmlns:a16="http://schemas.microsoft.com/office/drawing/2014/main" id="{6979870F-35B4-B673-412E-550DB4092E6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2029" y="4146394"/>
            <a:ext cx="454026" cy="384470"/>
          </a:xfrm>
          <a:prstGeom prst="rect">
            <a:avLst/>
          </a:prstGeom>
          <a:ln w="12700">
            <a:miter lim="400000"/>
          </a:ln>
        </p:spPr>
      </p:pic>
      <p:sp>
        <p:nvSpPr>
          <p:cNvPr id="62" name="交换机芯片晶圆">
            <a:extLst>
              <a:ext uri="{FF2B5EF4-FFF2-40B4-BE49-F238E27FC236}">
                <a16:creationId xmlns:a16="http://schemas.microsoft.com/office/drawing/2014/main" id="{25FB03BA-D7D0-F1EA-2D6C-C45B81B9DB13}"/>
              </a:ext>
            </a:extLst>
          </p:cNvPr>
          <p:cNvSpPr txBox="1"/>
          <p:nvPr/>
        </p:nvSpPr>
        <p:spPr>
          <a:xfrm>
            <a:off x="3495405" y="1849822"/>
            <a:ext cx="134908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/>
              <a:t>交换机芯片晶圆</a:t>
            </a:r>
          </a:p>
        </p:txBody>
      </p:sp>
      <p:sp>
        <p:nvSpPr>
          <p:cNvPr id="63" name="电芯片晶圆">
            <a:extLst>
              <a:ext uri="{FF2B5EF4-FFF2-40B4-BE49-F238E27FC236}">
                <a16:creationId xmlns:a16="http://schemas.microsoft.com/office/drawing/2014/main" id="{906D18B9-EDAB-57B8-B0F1-89AFCAECCCDE}"/>
              </a:ext>
            </a:extLst>
          </p:cNvPr>
          <p:cNvSpPr txBox="1"/>
          <p:nvPr/>
        </p:nvSpPr>
        <p:spPr>
          <a:xfrm>
            <a:off x="3495405" y="2952585"/>
            <a:ext cx="99001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/>
              <a:t>电芯片晶圆</a:t>
            </a:r>
          </a:p>
        </p:txBody>
      </p:sp>
      <p:sp>
        <p:nvSpPr>
          <p:cNvPr id="64" name="硅光芯片晶圆">
            <a:extLst>
              <a:ext uri="{FF2B5EF4-FFF2-40B4-BE49-F238E27FC236}">
                <a16:creationId xmlns:a16="http://schemas.microsoft.com/office/drawing/2014/main" id="{77927AFA-B705-91C6-A93A-0E70941E2E64}"/>
              </a:ext>
            </a:extLst>
          </p:cNvPr>
          <p:cNvSpPr txBox="1"/>
          <p:nvPr/>
        </p:nvSpPr>
        <p:spPr>
          <a:xfrm>
            <a:off x="3502339" y="4371295"/>
            <a:ext cx="1169549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/>
              <a:t>硅光芯片晶圆</a:t>
            </a:r>
          </a:p>
        </p:txBody>
      </p:sp>
      <p:pic>
        <p:nvPicPr>
          <p:cNvPr id="65" name="Gemini.jpg" descr="Gemini.jpg">
            <a:extLst>
              <a:ext uri="{FF2B5EF4-FFF2-40B4-BE49-F238E27FC236}">
                <a16:creationId xmlns:a16="http://schemas.microsoft.com/office/drawing/2014/main" id="{C4DB1939-0A4E-B318-00A6-9638B77FCDC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72795" y="3097421"/>
            <a:ext cx="620085" cy="295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图像" descr="图像">
            <a:extLst>
              <a:ext uri="{FF2B5EF4-FFF2-40B4-BE49-F238E27FC236}">
                <a16:creationId xmlns:a16="http://schemas.microsoft.com/office/drawing/2014/main" id="{65CD0739-4BDB-CE7B-2813-F247D10A697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48190" y="2994522"/>
            <a:ext cx="514685" cy="447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图像" descr="图像">
            <a:extLst>
              <a:ext uri="{FF2B5EF4-FFF2-40B4-BE49-F238E27FC236}">
                <a16:creationId xmlns:a16="http://schemas.microsoft.com/office/drawing/2014/main" id="{EA132C4D-D984-3E5B-C2D9-2CEA0DE3F85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21820" y="2991063"/>
            <a:ext cx="514685" cy="447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图像" descr="图像">
            <a:extLst>
              <a:ext uri="{FF2B5EF4-FFF2-40B4-BE49-F238E27FC236}">
                <a16:creationId xmlns:a16="http://schemas.microsoft.com/office/drawing/2014/main" id="{9F8D8865-6867-FD21-B861-CE11B034B0B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48823" y="5740587"/>
            <a:ext cx="454026" cy="153094"/>
          </a:xfrm>
          <a:prstGeom prst="rect">
            <a:avLst/>
          </a:prstGeom>
          <a:ln w="12700">
            <a:miter lim="400000"/>
          </a:ln>
        </p:spPr>
      </p:pic>
      <p:pic>
        <p:nvPicPr>
          <p:cNvPr id="69" name="图像" descr="图像">
            <a:extLst>
              <a:ext uri="{FF2B5EF4-FFF2-40B4-BE49-F238E27FC236}">
                <a16:creationId xmlns:a16="http://schemas.microsoft.com/office/drawing/2014/main" id="{1D54271D-F5BA-5763-B053-3D1AE42FF9C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95013" y="4606801"/>
            <a:ext cx="634615" cy="295409"/>
          </a:xfrm>
          <a:prstGeom prst="rect">
            <a:avLst/>
          </a:prstGeom>
          <a:ln w="12700">
            <a:miter lim="400000"/>
          </a:ln>
        </p:spPr>
      </p:pic>
      <p:pic>
        <p:nvPicPr>
          <p:cNvPr id="70" name="RLM_CUSTOMER_MODEL_REV_A 1.png" descr="RLM_CUSTOMER_MODEL_REV_A 1.png">
            <a:extLst>
              <a:ext uri="{FF2B5EF4-FFF2-40B4-BE49-F238E27FC236}">
                <a16:creationId xmlns:a16="http://schemas.microsoft.com/office/drawing/2014/main" id="{55A6E3CE-D5E4-343F-ADF5-1980CFC6B5A6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9276" t="8882" r="6682" b="11663"/>
          <a:stretch>
            <a:fillRect/>
          </a:stretch>
        </p:blipFill>
        <p:spPr>
          <a:xfrm>
            <a:off x="7080386" y="5656062"/>
            <a:ext cx="663870" cy="3353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9" h="21599" extrusionOk="0">
                <a:moveTo>
                  <a:pt x="19763" y="0"/>
                </a:moveTo>
                <a:cubicBezTo>
                  <a:pt x="19223" y="1"/>
                  <a:pt x="19110" y="69"/>
                  <a:pt x="16964" y="1738"/>
                </a:cubicBezTo>
                <a:cubicBezTo>
                  <a:pt x="15885" y="2576"/>
                  <a:pt x="14953" y="3295"/>
                  <a:pt x="14887" y="3348"/>
                </a:cubicBezTo>
                <a:cubicBezTo>
                  <a:pt x="14773" y="3439"/>
                  <a:pt x="14764" y="3460"/>
                  <a:pt x="14745" y="3732"/>
                </a:cubicBezTo>
                <a:cubicBezTo>
                  <a:pt x="14723" y="4047"/>
                  <a:pt x="14713" y="4077"/>
                  <a:pt x="14332" y="4345"/>
                </a:cubicBezTo>
                <a:lnTo>
                  <a:pt x="14177" y="4447"/>
                </a:lnTo>
                <a:lnTo>
                  <a:pt x="14087" y="4294"/>
                </a:lnTo>
                <a:lnTo>
                  <a:pt x="13997" y="4141"/>
                </a:lnTo>
                <a:lnTo>
                  <a:pt x="13300" y="4703"/>
                </a:lnTo>
                <a:cubicBezTo>
                  <a:pt x="12521" y="5312"/>
                  <a:pt x="12574" y="5286"/>
                  <a:pt x="12345" y="4907"/>
                </a:cubicBezTo>
                <a:cubicBezTo>
                  <a:pt x="12286" y="4809"/>
                  <a:pt x="11905" y="4289"/>
                  <a:pt x="11494" y="3757"/>
                </a:cubicBezTo>
                <a:lnTo>
                  <a:pt x="10746" y="2811"/>
                </a:lnTo>
                <a:lnTo>
                  <a:pt x="10552" y="2939"/>
                </a:lnTo>
                <a:cubicBezTo>
                  <a:pt x="10250" y="3163"/>
                  <a:pt x="1763" y="9772"/>
                  <a:pt x="1754" y="9789"/>
                </a:cubicBezTo>
                <a:cubicBezTo>
                  <a:pt x="1750" y="9798"/>
                  <a:pt x="1727" y="10227"/>
                  <a:pt x="1703" y="10761"/>
                </a:cubicBezTo>
                <a:cubicBezTo>
                  <a:pt x="1679" y="11294"/>
                  <a:pt x="1643" y="11773"/>
                  <a:pt x="1625" y="11809"/>
                </a:cubicBezTo>
                <a:cubicBezTo>
                  <a:pt x="1608" y="11844"/>
                  <a:pt x="1339" y="12055"/>
                  <a:pt x="1032" y="12294"/>
                </a:cubicBezTo>
                <a:lnTo>
                  <a:pt x="477" y="12729"/>
                </a:lnTo>
                <a:lnTo>
                  <a:pt x="490" y="13087"/>
                </a:lnTo>
                <a:cubicBezTo>
                  <a:pt x="497" y="13306"/>
                  <a:pt x="486" y="13471"/>
                  <a:pt x="464" y="13521"/>
                </a:cubicBezTo>
                <a:cubicBezTo>
                  <a:pt x="441" y="13578"/>
                  <a:pt x="434" y="13882"/>
                  <a:pt x="439" y="14492"/>
                </a:cubicBezTo>
                <a:cubicBezTo>
                  <a:pt x="442" y="14976"/>
                  <a:pt x="427" y="15625"/>
                  <a:pt x="413" y="15924"/>
                </a:cubicBezTo>
                <a:lnTo>
                  <a:pt x="387" y="16461"/>
                </a:lnTo>
                <a:lnTo>
                  <a:pt x="219" y="16588"/>
                </a:lnTo>
                <a:cubicBezTo>
                  <a:pt x="123" y="16665"/>
                  <a:pt x="38" y="16757"/>
                  <a:pt x="26" y="16793"/>
                </a:cubicBezTo>
                <a:cubicBezTo>
                  <a:pt x="14" y="16829"/>
                  <a:pt x="0" y="17012"/>
                  <a:pt x="0" y="17176"/>
                </a:cubicBezTo>
                <a:lnTo>
                  <a:pt x="0" y="17457"/>
                </a:lnTo>
                <a:lnTo>
                  <a:pt x="232" y="17815"/>
                </a:lnTo>
                <a:cubicBezTo>
                  <a:pt x="360" y="18011"/>
                  <a:pt x="464" y="18198"/>
                  <a:pt x="464" y="18224"/>
                </a:cubicBezTo>
                <a:cubicBezTo>
                  <a:pt x="464" y="18250"/>
                  <a:pt x="418" y="18305"/>
                  <a:pt x="361" y="18352"/>
                </a:cubicBezTo>
                <a:cubicBezTo>
                  <a:pt x="271" y="18427"/>
                  <a:pt x="263" y="18454"/>
                  <a:pt x="271" y="18608"/>
                </a:cubicBezTo>
                <a:cubicBezTo>
                  <a:pt x="279" y="18763"/>
                  <a:pt x="376" y="18947"/>
                  <a:pt x="1187" y="20192"/>
                </a:cubicBezTo>
                <a:cubicBezTo>
                  <a:pt x="1695" y="20973"/>
                  <a:pt x="2135" y="21599"/>
                  <a:pt x="2167" y="21598"/>
                </a:cubicBezTo>
                <a:cubicBezTo>
                  <a:pt x="2199" y="21597"/>
                  <a:pt x="2375" y="21471"/>
                  <a:pt x="2567" y="21317"/>
                </a:cubicBezTo>
                <a:cubicBezTo>
                  <a:pt x="2871" y="21074"/>
                  <a:pt x="2927" y="21042"/>
                  <a:pt x="2967" y="21113"/>
                </a:cubicBezTo>
                <a:cubicBezTo>
                  <a:pt x="3039" y="21239"/>
                  <a:pt x="3091" y="21228"/>
                  <a:pt x="3535" y="20883"/>
                </a:cubicBezTo>
                <a:lnTo>
                  <a:pt x="3947" y="20550"/>
                </a:lnTo>
                <a:lnTo>
                  <a:pt x="4051" y="20704"/>
                </a:lnTo>
                <a:cubicBezTo>
                  <a:pt x="4142" y="20842"/>
                  <a:pt x="4176" y="20866"/>
                  <a:pt x="4296" y="20831"/>
                </a:cubicBezTo>
                <a:cubicBezTo>
                  <a:pt x="4371" y="20810"/>
                  <a:pt x="4576" y="20669"/>
                  <a:pt x="4760" y="20525"/>
                </a:cubicBezTo>
                <a:cubicBezTo>
                  <a:pt x="4944" y="20381"/>
                  <a:pt x="5242" y="20174"/>
                  <a:pt x="5418" y="20039"/>
                </a:cubicBezTo>
                <a:cubicBezTo>
                  <a:pt x="5594" y="19905"/>
                  <a:pt x="6595" y="19123"/>
                  <a:pt x="7650" y="18301"/>
                </a:cubicBezTo>
                <a:cubicBezTo>
                  <a:pt x="10516" y="16067"/>
                  <a:pt x="11035" y="15667"/>
                  <a:pt x="12320" y="14671"/>
                </a:cubicBezTo>
                <a:lnTo>
                  <a:pt x="13494" y="13751"/>
                </a:lnTo>
                <a:lnTo>
                  <a:pt x="13584" y="13879"/>
                </a:lnTo>
                <a:cubicBezTo>
                  <a:pt x="13635" y="13954"/>
                  <a:pt x="13686" y="14032"/>
                  <a:pt x="13700" y="14032"/>
                </a:cubicBezTo>
                <a:cubicBezTo>
                  <a:pt x="13733" y="14032"/>
                  <a:pt x="14713" y="13254"/>
                  <a:pt x="14861" y="13112"/>
                </a:cubicBezTo>
                <a:cubicBezTo>
                  <a:pt x="14925" y="13051"/>
                  <a:pt x="15058" y="12932"/>
                  <a:pt x="15158" y="12857"/>
                </a:cubicBezTo>
                <a:cubicBezTo>
                  <a:pt x="15301" y="12749"/>
                  <a:pt x="15338" y="12704"/>
                  <a:pt x="15325" y="12627"/>
                </a:cubicBezTo>
                <a:cubicBezTo>
                  <a:pt x="15305" y="12497"/>
                  <a:pt x="15340" y="12446"/>
                  <a:pt x="15790" y="12090"/>
                </a:cubicBezTo>
                <a:cubicBezTo>
                  <a:pt x="16116" y="11832"/>
                  <a:pt x="16168" y="11778"/>
                  <a:pt x="16177" y="11655"/>
                </a:cubicBezTo>
                <a:cubicBezTo>
                  <a:pt x="16190" y="11459"/>
                  <a:pt x="16217" y="11425"/>
                  <a:pt x="16280" y="11502"/>
                </a:cubicBezTo>
                <a:cubicBezTo>
                  <a:pt x="16365" y="11606"/>
                  <a:pt x="16551" y="11430"/>
                  <a:pt x="16551" y="11246"/>
                </a:cubicBezTo>
                <a:cubicBezTo>
                  <a:pt x="16551" y="11050"/>
                  <a:pt x="16590" y="11004"/>
                  <a:pt x="16680" y="11144"/>
                </a:cubicBezTo>
                <a:lnTo>
                  <a:pt x="16757" y="11272"/>
                </a:lnTo>
                <a:lnTo>
                  <a:pt x="17067" y="11016"/>
                </a:lnTo>
                <a:cubicBezTo>
                  <a:pt x="17339" y="10796"/>
                  <a:pt x="17390" y="10748"/>
                  <a:pt x="17467" y="10531"/>
                </a:cubicBezTo>
                <a:lnTo>
                  <a:pt x="17557" y="10275"/>
                </a:lnTo>
                <a:lnTo>
                  <a:pt x="17570" y="9125"/>
                </a:lnTo>
                <a:cubicBezTo>
                  <a:pt x="17580" y="7809"/>
                  <a:pt x="17592" y="7609"/>
                  <a:pt x="17763" y="7284"/>
                </a:cubicBezTo>
                <a:cubicBezTo>
                  <a:pt x="17856" y="7110"/>
                  <a:pt x="18109" y="6913"/>
                  <a:pt x="19376" y="5930"/>
                </a:cubicBezTo>
                <a:cubicBezTo>
                  <a:pt x="20197" y="5293"/>
                  <a:pt x="20939" y="4686"/>
                  <a:pt x="21027" y="4601"/>
                </a:cubicBezTo>
                <a:cubicBezTo>
                  <a:pt x="21115" y="4515"/>
                  <a:pt x="21250" y="4349"/>
                  <a:pt x="21324" y="4217"/>
                </a:cubicBezTo>
                <a:lnTo>
                  <a:pt x="21453" y="3962"/>
                </a:lnTo>
                <a:lnTo>
                  <a:pt x="21517" y="3297"/>
                </a:lnTo>
                <a:cubicBezTo>
                  <a:pt x="21600" y="2415"/>
                  <a:pt x="21598" y="1836"/>
                  <a:pt x="21517" y="1508"/>
                </a:cubicBezTo>
                <a:cubicBezTo>
                  <a:pt x="21435" y="1170"/>
                  <a:pt x="21190" y="762"/>
                  <a:pt x="20950" y="536"/>
                </a:cubicBezTo>
                <a:cubicBezTo>
                  <a:pt x="20840" y="433"/>
                  <a:pt x="20732" y="310"/>
                  <a:pt x="20705" y="281"/>
                </a:cubicBezTo>
                <a:cubicBezTo>
                  <a:pt x="20585" y="153"/>
                  <a:pt x="20064" y="-1"/>
                  <a:pt x="19763" y="0"/>
                </a:cubicBezTo>
                <a:close/>
                <a:moveTo>
                  <a:pt x="19350" y="1636"/>
                </a:moveTo>
                <a:lnTo>
                  <a:pt x="19815" y="2351"/>
                </a:lnTo>
                <a:cubicBezTo>
                  <a:pt x="20411" y="3265"/>
                  <a:pt x="20429" y="3286"/>
                  <a:pt x="20382" y="3374"/>
                </a:cubicBezTo>
                <a:cubicBezTo>
                  <a:pt x="20362" y="3412"/>
                  <a:pt x="19512" y="4071"/>
                  <a:pt x="18499" y="4856"/>
                </a:cubicBezTo>
                <a:cubicBezTo>
                  <a:pt x="17485" y="5642"/>
                  <a:pt x="16640" y="6338"/>
                  <a:pt x="16615" y="6390"/>
                </a:cubicBezTo>
                <a:cubicBezTo>
                  <a:pt x="16574" y="6477"/>
                  <a:pt x="16533" y="6432"/>
                  <a:pt x="16138" y="5827"/>
                </a:cubicBezTo>
                <a:cubicBezTo>
                  <a:pt x="15825" y="5347"/>
                  <a:pt x="15712" y="5125"/>
                  <a:pt x="15712" y="5035"/>
                </a:cubicBezTo>
                <a:cubicBezTo>
                  <a:pt x="15712" y="4863"/>
                  <a:pt x="15850" y="4451"/>
                  <a:pt x="15945" y="4319"/>
                </a:cubicBezTo>
                <a:cubicBezTo>
                  <a:pt x="15988" y="4258"/>
                  <a:pt x="16696" y="3679"/>
                  <a:pt x="17518" y="3041"/>
                </a:cubicBezTo>
                <a:cubicBezTo>
                  <a:pt x="18341" y="2404"/>
                  <a:pt x="19088" y="1837"/>
                  <a:pt x="19182" y="1763"/>
                </a:cubicBezTo>
                <a:lnTo>
                  <a:pt x="19350" y="1636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71" name="交换机芯片+CPO">
            <a:extLst>
              <a:ext uri="{FF2B5EF4-FFF2-40B4-BE49-F238E27FC236}">
                <a16:creationId xmlns:a16="http://schemas.microsoft.com/office/drawing/2014/main" id="{5BDB8277-9C5B-9D40-0A4B-89C9E3719F59}"/>
              </a:ext>
            </a:extLst>
          </p:cNvPr>
          <p:cNvSpPr txBox="1"/>
          <p:nvPr/>
        </p:nvSpPr>
        <p:spPr>
          <a:xfrm>
            <a:off x="5137245" y="2551265"/>
            <a:ext cx="1483737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/>
              <a:t>交换机芯片+CPO</a:t>
            </a:r>
          </a:p>
        </p:txBody>
      </p:sp>
      <p:sp>
        <p:nvSpPr>
          <p:cNvPr id="72" name="交换机芯片+CPO+Lens">
            <a:extLst>
              <a:ext uri="{FF2B5EF4-FFF2-40B4-BE49-F238E27FC236}">
                <a16:creationId xmlns:a16="http://schemas.microsoft.com/office/drawing/2014/main" id="{B859D7AB-B097-27AB-D1B8-D09470D72729}"/>
              </a:ext>
            </a:extLst>
          </p:cNvPr>
          <p:cNvSpPr txBox="1"/>
          <p:nvPr/>
        </p:nvSpPr>
        <p:spPr>
          <a:xfrm>
            <a:off x="7348396" y="2551264"/>
            <a:ext cx="197586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 dirty="0" err="1"/>
              <a:t>交换机芯片+CPO+Lens</a:t>
            </a:r>
            <a:endParaRPr sz="1400" dirty="0"/>
          </a:p>
        </p:txBody>
      </p:sp>
      <p:sp>
        <p:nvSpPr>
          <p:cNvPr id="73" name="CPO交换机">
            <a:extLst>
              <a:ext uri="{FF2B5EF4-FFF2-40B4-BE49-F238E27FC236}">
                <a16:creationId xmlns:a16="http://schemas.microsoft.com/office/drawing/2014/main" id="{059CF1F5-84D4-E9BD-D876-48FE0522D7FE}"/>
              </a:ext>
            </a:extLst>
          </p:cNvPr>
          <p:cNvSpPr txBox="1"/>
          <p:nvPr/>
        </p:nvSpPr>
        <p:spPr>
          <a:xfrm>
            <a:off x="10172602" y="2557743"/>
            <a:ext cx="102047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/>
              <a:t>CPO交换机</a:t>
            </a:r>
          </a:p>
        </p:txBody>
      </p:sp>
      <p:sp>
        <p:nvSpPr>
          <p:cNvPr id="74" name="光源芯片">
            <a:extLst>
              <a:ext uri="{FF2B5EF4-FFF2-40B4-BE49-F238E27FC236}">
                <a16:creationId xmlns:a16="http://schemas.microsoft.com/office/drawing/2014/main" id="{39909BA5-F493-CA87-A719-C5B2B0F4B256}"/>
              </a:ext>
            </a:extLst>
          </p:cNvPr>
          <p:cNvSpPr txBox="1"/>
          <p:nvPr/>
        </p:nvSpPr>
        <p:spPr>
          <a:xfrm>
            <a:off x="4635367" y="5189775"/>
            <a:ext cx="810476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 dirty="0" err="1"/>
              <a:t>光源芯片</a:t>
            </a:r>
            <a:endParaRPr sz="1400" dirty="0"/>
          </a:p>
        </p:txBody>
      </p:sp>
      <p:sp>
        <p:nvSpPr>
          <p:cNvPr id="75" name="ELS光源模块">
            <a:extLst>
              <a:ext uri="{FF2B5EF4-FFF2-40B4-BE49-F238E27FC236}">
                <a16:creationId xmlns:a16="http://schemas.microsoft.com/office/drawing/2014/main" id="{3C434118-5C60-A7E0-5FF8-42865B31E5C5}"/>
              </a:ext>
            </a:extLst>
          </p:cNvPr>
          <p:cNvSpPr txBox="1"/>
          <p:nvPr/>
        </p:nvSpPr>
        <p:spPr>
          <a:xfrm>
            <a:off x="6837163" y="5181946"/>
            <a:ext cx="115031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/>
              <a:t>ELS光源模块</a:t>
            </a:r>
          </a:p>
        </p:txBody>
      </p:sp>
      <p:sp>
        <p:nvSpPr>
          <p:cNvPr id="76" name="光缆">
            <a:extLst>
              <a:ext uri="{FF2B5EF4-FFF2-40B4-BE49-F238E27FC236}">
                <a16:creationId xmlns:a16="http://schemas.microsoft.com/office/drawing/2014/main" id="{8D6B0C8B-E43E-4F43-C45C-BB28A62E8425}"/>
              </a:ext>
            </a:extLst>
          </p:cNvPr>
          <p:cNvSpPr txBox="1"/>
          <p:nvPr/>
        </p:nvSpPr>
        <p:spPr>
          <a:xfrm>
            <a:off x="7139661" y="4120693"/>
            <a:ext cx="451404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/>
              <a:t>光缆</a:t>
            </a:r>
          </a:p>
        </p:txBody>
      </p:sp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4126DE74-ED54-FF28-CE3E-4BF1C4C83C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495" y="3052687"/>
            <a:ext cx="640577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79" name="圆角矩形">
            <a:extLst>
              <a:ext uri="{FF2B5EF4-FFF2-40B4-BE49-F238E27FC236}">
                <a16:creationId xmlns:a16="http://schemas.microsoft.com/office/drawing/2014/main" id="{43B3D060-3C63-D883-BDD2-741CDF011B46}"/>
              </a:ext>
            </a:extLst>
          </p:cNvPr>
          <p:cNvSpPr/>
          <p:nvPr/>
        </p:nvSpPr>
        <p:spPr>
          <a:xfrm>
            <a:off x="428468" y="2902364"/>
            <a:ext cx="750631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80" name="线条">
            <a:extLst>
              <a:ext uri="{FF2B5EF4-FFF2-40B4-BE49-F238E27FC236}">
                <a16:creationId xmlns:a16="http://schemas.microsoft.com/office/drawing/2014/main" id="{97F5F0C1-3A29-DD4F-5029-86849558FF99}"/>
              </a:ext>
            </a:extLst>
          </p:cNvPr>
          <p:cNvSpPr/>
          <p:nvPr/>
        </p:nvSpPr>
        <p:spPr>
          <a:xfrm>
            <a:off x="1161139" y="3207111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81" name="图像" descr="图像">
            <a:extLst>
              <a:ext uri="{FF2B5EF4-FFF2-40B4-BE49-F238E27FC236}">
                <a16:creationId xmlns:a16="http://schemas.microsoft.com/office/drawing/2014/main" id="{49A305B1-4D96-80DB-523F-89CF9A91A7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154" y="4179221"/>
            <a:ext cx="640576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82" name="圆角矩形">
            <a:extLst>
              <a:ext uri="{FF2B5EF4-FFF2-40B4-BE49-F238E27FC236}">
                <a16:creationId xmlns:a16="http://schemas.microsoft.com/office/drawing/2014/main" id="{503F9F72-E0BC-8E5D-FE4A-BDA794B97C42}"/>
              </a:ext>
            </a:extLst>
          </p:cNvPr>
          <p:cNvSpPr/>
          <p:nvPr/>
        </p:nvSpPr>
        <p:spPr>
          <a:xfrm>
            <a:off x="434127" y="4028898"/>
            <a:ext cx="750630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83" name="线条">
            <a:extLst>
              <a:ext uri="{FF2B5EF4-FFF2-40B4-BE49-F238E27FC236}">
                <a16:creationId xmlns:a16="http://schemas.microsoft.com/office/drawing/2014/main" id="{54BEE894-C3DA-81F9-9441-88BBCACFF0B9}"/>
              </a:ext>
            </a:extLst>
          </p:cNvPr>
          <p:cNvSpPr/>
          <p:nvPr/>
        </p:nvSpPr>
        <p:spPr>
          <a:xfrm>
            <a:off x="1166797" y="4333645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4" name="线条">
            <a:extLst>
              <a:ext uri="{FF2B5EF4-FFF2-40B4-BE49-F238E27FC236}">
                <a16:creationId xmlns:a16="http://schemas.microsoft.com/office/drawing/2014/main" id="{9C7C610A-065D-F34F-AB0E-F5CB76599CD8}"/>
              </a:ext>
            </a:extLst>
          </p:cNvPr>
          <p:cNvSpPr/>
          <p:nvPr/>
        </p:nvSpPr>
        <p:spPr>
          <a:xfrm>
            <a:off x="2710186" y="2162415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5" name="线条">
            <a:extLst>
              <a:ext uri="{FF2B5EF4-FFF2-40B4-BE49-F238E27FC236}">
                <a16:creationId xmlns:a16="http://schemas.microsoft.com/office/drawing/2014/main" id="{7CEE02A9-4E03-A67A-5F91-2350A5FF842A}"/>
              </a:ext>
            </a:extLst>
          </p:cNvPr>
          <p:cNvSpPr/>
          <p:nvPr/>
        </p:nvSpPr>
        <p:spPr>
          <a:xfrm>
            <a:off x="2710350" y="3218042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6" name="线条">
            <a:extLst>
              <a:ext uri="{FF2B5EF4-FFF2-40B4-BE49-F238E27FC236}">
                <a16:creationId xmlns:a16="http://schemas.microsoft.com/office/drawing/2014/main" id="{19AB965B-F9BC-6F91-2CCB-CAEF23D793AA}"/>
              </a:ext>
            </a:extLst>
          </p:cNvPr>
          <p:cNvSpPr/>
          <p:nvPr/>
        </p:nvSpPr>
        <p:spPr>
          <a:xfrm>
            <a:off x="2710350" y="4336999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7" name="线条">
            <a:extLst>
              <a:ext uri="{FF2B5EF4-FFF2-40B4-BE49-F238E27FC236}">
                <a16:creationId xmlns:a16="http://schemas.microsoft.com/office/drawing/2014/main" id="{81342D89-D85F-6C24-8E00-0931111EE414}"/>
              </a:ext>
            </a:extLst>
          </p:cNvPr>
          <p:cNvSpPr/>
          <p:nvPr/>
        </p:nvSpPr>
        <p:spPr>
          <a:xfrm>
            <a:off x="5406845" y="322357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8" name="线条">
            <a:extLst>
              <a:ext uri="{FF2B5EF4-FFF2-40B4-BE49-F238E27FC236}">
                <a16:creationId xmlns:a16="http://schemas.microsoft.com/office/drawing/2014/main" id="{5F867F5A-B21C-0863-49E9-3D22C47E44F1}"/>
              </a:ext>
            </a:extLst>
          </p:cNvPr>
          <p:cNvSpPr/>
          <p:nvPr/>
        </p:nvSpPr>
        <p:spPr>
          <a:xfrm>
            <a:off x="7877867" y="322357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9" name="线条">
            <a:extLst>
              <a:ext uri="{FF2B5EF4-FFF2-40B4-BE49-F238E27FC236}">
                <a16:creationId xmlns:a16="http://schemas.microsoft.com/office/drawing/2014/main" id="{2CAF3A61-82BF-5636-5B5A-F0D925F3FD95}"/>
              </a:ext>
            </a:extLst>
          </p:cNvPr>
          <p:cNvSpPr/>
          <p:nvPr/>
        </p:nvSpPr>
        <p:spPr>
          <a:xfrm>
            <a:off x="6979472" y="4724445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0" name="线条">
            <a:extLst>
              <a:ext uri="{FF2B5EF4-FFF2-40B4-BE49-F238E27FC236}">
                <a16:creationId xmlns:a16="http://schemas.microsoft.com/office/drawing/2014/main" id="{93D38F5F-B272-A1F8-D5D1-145053E601AB}"/>
              </a:ext>
            </a:extLst>
          </p:cNvPr>
          <p:cNvSpPr/>
          <p:nvPr/>
        </p:nvSpPr>
        <p:spPr>
          <a:xfrm>
            <a:off x="6979472" y="5806606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1" name="线条">
            <a:extLst>
              <a:ext uri="{FF2B5EF4-FFF2-40B4-BE49-F238E27FC236}">
                <a16:creationId xmlns:a16="http://schemas.microsoft.com/office/drawing/2014/main" id="{50462EC7-9D93-2107-829A-4EBB92C3CAD8}"/>
              </a:ext>
            </a:extLst>
          </p:cNvPr>
          <p:cNvSpPr/>
          <p:nvPr/>
        </p:nvSpPr>
        <p:spPr>
          <a:xfrm>
            <a:off x="4643645" y="5824589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2" name="线条">
            <a:extLst>
              <a:ext uri="{FF2B5EF4-FFF2-40B4-BE49-F238E27FC236}">
                <a16:creationId xmlns:a16="http://schemas.microsoft.com/office/drawing/2014/main" id="{22D3443A-DC59-4FC7-AB6A-6893C04D7B56}"/>
              </a:ext>
            </a:extLst>
          </p:cNvPr>
          <p:cNvSpPr/>
          <p:nvPr/>
        </p:nvSpPr>
        <p:spPr>
          <a:xfrm>
            <a:off x="10285388" y="324369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93" name="图像" descr="图像">
            <a:extLst>
              <a:ext uri="{FF2B5EF4-FFF2-40B4-BE49-F238E27FC236}">
                <a16:creationId xmlns:a16="http://schemas.microsoft.com/office/drawing/2014/main" id="{08898D1B-FDD2-6721-BA6C-89494C84FB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9281" y="4550099"/>
            <a:ext cx="640576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94" name="圆角矩形">
            <a:extLst>
              <a:ext uri="{FF2B5EF4-FFF2-40B4-BE49-F238E27FC236}">
                <a16:creationId xmlns:a16="http://schemas.microsoft.com/office/drawing/2014/main" id="{E9EF0045-D1BA-A8A4-9599-B1C5EA8D1C49}"/>
              </a:ext>
            </a:extLst>
          </p:cNvPr>
          <p:cNvSpPr/>
          <p:nvPr/>
        </p:nvSpPr>
        <p:spPr>
          <a:xfrm>
            <a:off x="5104254" y="4399776"/>
            <a:ext cx="750630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95" name="线条">
            <a:extLst>
              <a:ext uri="{FF2B5EF4-FFF2-40B4-BE49-F238E27FC236}">
                <a16:creationId xmlns:a16="http://schemas.microsoft.com/office/drawing/2014/main" id="{C141C2E8-0DD4-EDFB-D7B7-F4CE47DFF16B}"/>
              </a:ext>
            </a:extLst>
          </p:cNvPr>
          <p:cNvSpPr/>
          <p:nvPr/>
        </p:nvSpPr>
        <p:spPr>
          <a:xfrm>
            <a:off x="5863644" y="4704524"/>
            <a:ext cx="40974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96" name="图像" descr="图像">
            <a:extLst>
              <a:ext uri="{FF2B5EF4-FFF2-40B4-BE49-F238E27FC236}">
                <a16:creationId xmlns:a16="http://schemas.microsoft.com/office/drawing/2014/main" id="{04BEF129-FEFF-1856-8FDA-1979A9FE70D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4000" y="5719926"/>
            <a:ext cx="597452" cy="191839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交换机芯片晶圆">
            <a:extLst>
              <a:ext uri="{FF2B5EF4-FFF2-40B4-BE49-F238E27FC236}">
                <a16:creationId xmlns:a16="http://schemas.microsoft.com/office/drawing/2014/main" id="{5499E43A-CE81-45D6-B9B8-2F27BFA3C927}"/>
              </a:ext>
            </a:extLst>
          </p:cNvPr>
          <p:cNvSpPr txBox="1"/>
          <p:nvPr/>
        </p:nvSpPr>
        <p:spPr>
          <a:xfrm>
            <a:off x="1338829" y="1401657"/>
            <a:ext cx="502700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zh-CN" altLang="en-US" sz="1600" dirty="0"/>
              <a:t>设计</a:t>
            </a:r>
            <a:endParaRPr sz="1600" dirty="0"/>
          </a:p>
        </p:txBody>
      </p:sp>
      <p:sp>
        <p:nvSpPr>
          <p:cNvPr id="98" name="交换机芯片晶圆">
            <a:extLst>
              <a:ext uri="{FF2B5EF4-FFF2-40B4-BE49-F238E27FC236}">
                <a16:creationId xmlns:a16="http://schemas.microsoft.com/office/drawing/2014/main" id="{C9208BC7-DD09-88BE-BF53-AE96EC853AD7}"/>
              </a:ext>
            </a:extLst>
          </p:cNvPr>
          <p:cNvSpPr txBox="1"/>
          <p:nvPr/>
        </p:nvSpPr>
        <p:spPr>
          <a:xfrm>
            <a:off x="2510959" y="1401657"/>
            <a:ext cx="502700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zh-CN" altLang="en-US" sz="1600" dirty="0"/>
              <a:t>代工</a:t>
            </a:r>
            <a:endParaRPr sz="1600" dirty="0"/>
          </a:p>
        </p:txBody>
      </p:sp>
      <p:sp>
        <p:nvSpPr>
          <p:cNvPr id="99" name="交换机芯片晶圆">
            <a:extLst>
              <a:ext uri="{FF2B5EF4-FFF2-40B4-BE49-F238E27FC236}">
                <a16:creationId xmlns:a16="http://schemas.microsoft.com/office/drawing/2014/main" id="{DB54E24A-1121-321E-AB7D-90687472E796}"/>
              </a:ext>
            </a:extLst>
          </p:cNvPr>
          <p:cNvSpPr txBox="1"/>
          <p:nvPr/>
        </p:nvSpPr>
        <p:spPr>
          <a:xfrm>
            <a:off x="5087926" y="1401657"/>
            <a:ext cx="913068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zh-CN" altLang="en-US" sz="1600" dirty="0"/>
              <a:t>集成封装</a:t>
            </a:r>
            <a:endParaRPr sz="1600" dirty="0"/>
          </a:p>
        </p:txBody>
      </p:sp>
      <p:sp>
        <p:nvSpPr>
          <p:cNvPr id="101" name="交换机芯片晶圆">
            <a:extLst>
              <a:ext uri="{FF2B5EF4-FFF2-40B4-BE49-F238E27FC236}">
                <a16:creationId xmlns:a16="http://schemas.microsoft.com/office/drawing/2014/main" id="{ABC92353-DE5C-4A15-47AA-54CCE1572C02}"/>
              </a:ext>
            </a:extLst>
          </p:cNvPr>
          <p:cNvSpPr txBox="1"/>
          <p:nvPr/>
        </p:nvSpPr>
        <p:spPr>
          <a:xfrm>
            <a:off x="7400043" y="1401657"/>
            <a:ext cx="1323437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zh-CN" altLang="en-US" sz="1600" dirty="0"/>
              <a:t>光学组件耦合</a:t>
            </a:r>
            <a:endParaRPr sz="1600" dirty="0"/>
          </a:p>
        </p:txBody>
      </p:sp>
      <p:sp>
        <p:nvSpPr>
          <p:cNvPr id="102" name="交换机芯片晶圆">
            <a:extLst>
              <a:ext uri="{FF2B5EF4-FFF2-40B4-BE49-F238E27FC236}">
                <a16:creationId xmlns:a16="http://schemas.microsoft.com/office/drawing/2014/main" id="{D63539C7-301C-68D9-0857-81A511AD973E}"/>
              </a:ext>
            </a:extLst>
          </p:cNvPr>
          <p:cNvSpPr txBox="1"/>
          <p:nvPr/>
        </p:nvSpPr>
        <p:spPr>
          <a:xfrm>
            <a:off x="9716068" y="1401657"/>
            <a:ext cx="913068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zh-CN" altLang="en-US" sz="1600" dirty="0"/>
              <a:t>成本拼装</a:t>
            </a:r>
            <a:endParaRPr sz="1600" dirty="0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024B5294-E9FE-7F35-4441-A572C7F94852}"/>
              </a:ext>
            </a:extLst>
          </p:cNvPr>
          <p:cNvSpPr/>
          <p:nvPr/>
        </p:nvSpPr>
        <p:spPr>
          <a:xfrm>
            <a:off x="12443250" y="1661501"/>
            <a:ext cx="3207820" cy="436391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eriod"/>
            </a:pP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342900" indent="-342900" algn="ctr">
              <a:buAutoNum type="arabicPeriod"/>
            </a:pP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驱动力，争夺制定权，打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NV</a:t>
            </a:r>
          </a:p>
          <a:p>
            <a:pPr marL="342900" indent="-342900" algn="ctr">
              <a:buAutoNum type="arabicPeriod"/>
            </a:pP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时间线，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TH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前几代的情况可以放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342900" indent="-342900" algn="ctr">
              <a:buAutoNum type="arabicPeriod"/>
            </a:pP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给具体的动作，从新闻和动向看出其站位，比如出货量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342900" indent="-342900" algn="ctr">
              <a:buAutoNum type="arabicPeriod"/>
            </a:pP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机构给博通的判断确保方向不错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342900" indent="-342900" algn="ctr">
              <a:buAutoNum type="arabicPeriod"/>
            </a:pP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410075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85219-A3EA-102C-35FE-28B42AC6A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E722B01-5C71-28E6-B385-632746D98F1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814591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48EFA6E-A2A4-CA1D-1B52-3BFFCCA39D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" name="文本框 94">
            <a:extLst>
              <a:ext uri="{FF2B5EF4-FFF2-40B4-BE49-F238E27FC236}">
                <a16:creationId xmlns:a16="http://schemas.microsoft.com/office/drawing/2014/main" id="{E3E93333-C2DA-51E9-F8F2-0D234A8DBA1C}"/>
              </a:ext>
            </a:extLst>
          </p:cNvPr>
          <p:cNvSpPr txBox="1"/>
          <p:nvPr/>
        </p:nvSpPr>
        <p:spPr>
          <a:xfrm>
            <a:off x="9418476" y="3743130"/>
            <a:ext cx="14995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0000"/>
                </a:solidFill>
                <a:cs typeface="+mn-ea"/>
                <a:sym typeface="+mn-lt"/>
              </a:rPr>
              <a:t>产能</a:t>
            </a:r>
            <a:r>
              <a:rPr lang="zh-CN" altLang="zh-CN" sz="1400" b="1" dirty="0">
                <a:solidFill>
                  <a:srgbClr val="0052D9"/>
                </a:solidFill>
                <a:cs typeface="+mn-ea"/>
                <a:sym typeface="+mn-lt"/>
              </a:rPr>
              <a:t>94</a:t>
            </a:r>
            <a:r>
              <a:rPr lang="zh-CN" altLang="zh-CN" sz="1200" dirty="0">
                <a:solidFill>
                  <a:srgbClr val="000000"/>
                </a:solidFill>
                <a:cs typeface="+mn-ea"/>
                <a:sym typeface="+mn-lt"/>
              </a:rPr>
              <a:t>台</a:t>
            </a:r>
            <a:endParaRPr lang="en-US" altLang="zh-CN" sz="1200" dirty="0">
              <a:solidFill>
                <a:srgbClr val="000000"/>
              </a:solidFill>
              <a:cs typeface="+mn-ea"/>
              <a:sym typeface="+mn-lt"/>
            </a:endParaRPr>
          </a:p>
          <a:p>
            <a:r>
              <a:rPr lang="zh-CN" altLang="zh-CN" sz="1200" dirty="0">
                <a:solidFill>
                  <a:srgbClr val="000000"/>
                </a:solidFill>
                <a:cs typeface="+mn-ea"/>
                <a:sym typeface="+mn-lt"/>
              </a:rPr>
              <a:t>产量</a:t>
            </a:r>
            <a:r>
              <a:rPr lang="zh-CN" altLang="zh-CN" sz="1400" b="1" dirty="0">
                <a:solidFill>
                  <a:srgbClr val="0052D9"/>
                </a:solidFill>
                <a:cs typeface="+mn-ea"/>
                <a:sym typeface="+mn-lt"/>
              </a:rPr>
              <a:t>80</a:t>
            </a:r>
            <a:r>
              <a:rPr lang="zh-CN" altLang="zh-CN" sz="1200" dirty="0">
                <a:solidFill>
                  <a:srgbClr val="000000"/>
                </a:solidFill>
                <a:cs typeface="+mn-ea"/>
                <a:sym typeface="+mn-lt"/>
              </a:rPr>
              <a:t>台</a:t>
            </a:r>
            <a:endParaRPr lang="en-US" altLang="zh-CN" sz="1200" dirty="0">
              <a:solidFill>
                <a:srgbClr val="000000"/>
              </a:solidFill>
              <a:cs typeface="+mn-ea"/>
              <a:sym typeface="+mn-lt"/>
            </a:endParaRPr>
          </a:p>
          <a:p>
            <a:r>
              <a:rPr lang="zh-CN" altLang="zh-CN" sz="1200" dirty="0">
                <a:solidFill>
                  <a:srgbClr val="000000"/>
                </a:solidFill>
                <a:cs typeface="+mn-ea"/>
                <a:sym typeface="+mn-lt"/>
              </a:rPr>
              <a:t>销量</a:t>
            </a:r>
            <a:r>
              <a:rPr lang="zh-CN" altLang="zh-CN" sz="1400" b="1" dirty="0">
                <a:solidFill>
                  <a:srgbClr val="0052D9"/>
                </a:solidFill>
                <a:cs typeface="+mn-ea"/>
                <a:sym typeface="+mn-lt"/>
              </a:rPr>
              <a:t>96</a:t>
            </a:r>
            <a:r>
              <a:rPr lang="zh-CN" altLang="zh-CN" sz="1200" dirty="0">
                <a:solidFill>
                  <a:srgbClr val="000000"/>
                </a:solidFill>
                <a:cs typeface="+mn-ea"/>
                <a:sym typeface="+mn-lt"/>
              </a:rPr>
              <a:t>台 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79D7DC7-C968-E660-FBE4-767DAA806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FiconTEC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：德国老牌光子装配测试龙头，中企收购卡位国产替代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E996DFD-DB9D-0F5C-9F6A-1AABD8A0CA33}"/>
              </a:ext>
            </a:extLst>
          </p:cNvPr>
          <p:cNvSpPr txBox="1"/>
          <p:nvPr/>
        </p:nvSpPr>
        <p:spPr>
          <a:xfrm>
            <a:off x="291221" y="6542459"/>
            <a:ext cx="2999995" cy="25259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公司官网、深交所最新文件</a:t>
            </a: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6EB19848-9D68-08F5-C2C7-2A996090D4E4}"/>
              </a:ext>
            </a:extLst>
          </p:cNvPr>
          <p:cNvGrpSpPr/>
          <p:nvPr/>
        </p:nvGrpSpPr>
        <p:grpSpPr>
          <a:xfrm>
            <a:off x="7429705" y="3799468"/>
            <a:ext cx="1733694" cy="727564"/>
            <a:chOff x="6959734" y="4207316"/>
            <a:chExt cx="1733694" cy="727564"/>
          </a:xfrm>
        </p:grpSpPr>
        <p:pic>
          <p:nvPicPr>
            <p:cNvPr id="49" name="图形 48" descr="USB 纯色填充">
              <a:extLst>
                <a:ext uri="{FF2B5EF4-FFF2-40B4-BE49-F238E27FC236}">
                  <a16:creationId xmlns:a16="http://schemas.microsoft.com/office/drawing/2014/main" id="{5CBB0C1F-1419-39CB-99F8-FD1C008D068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357255" y="4207316"/>
              <a:ext cx="472681" cy="472681"/>
            </a:xfrm>
            <a:prstGeom prst="rect">
              <a:avLst/>
            </a:prstGeom>
          </p:spPr>
        </p:pic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9A33FA5D-AF12-AEDE-BF2A-14A3F1F71718}"/>
                </a:ext>
              </a:extLst>
            </p:cNvPr>
            <p:cNvSpPr txBox="1"/>
            <p:nvPr/>
          </p:nvSpPr>
          <p:spPr>
            <a:xfrm>
              <a:off x="6959734" y="4657881"/>
              <a:ext cx="153628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cs typeface="+mn-ea"/>
                  <a:sym typeface="+mn-lt"/>
                </a:rPr>
                <a:t>全球交付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E1CC8B27-833B-CC11-9AAB-EB903FD5F1DA}"/>
                </a:ext>
              </a:extLst>
            </p:cNvPr>
            <p:cNvSpPr txBox="1"/>
            <p:nvPr/>
          </p:nvSpPr>
          <p:spPr>
            <a:xfrm>
              <a:off x="7817128" y="4341443"/>
              <a:ext cx="8763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zh-CN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700+</a:t>
              </a:r>
              <a:r>
                <a:rPr kumimoji="0" lang="zh-CN" altLang="en-US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cs typeface="+mn-ea"/>
                  <a:sym typeface="+mn-lt"/>
                </a:rPr>
                <a:t>台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608F035B-C693-C9D2-0CDA-B424A364E561}"/>
              </a:ext>
            </a:extLst>
          </p:cNvPr>
          <p:cNvGrpSpPr/>
          <p:nvPr/>
        </p:nvGrpSpPr>
        <p:grpSpPr>
          <a:xfrm>
            <a:off x="6270295" y="3739181"/>
            <a:ext cx="1975459" cy="787851"/>
            <a:chOff x="9332675" y="4153814"/>
            <a:chExt cx="1975459" cy="787851"/>
          </a:xfrm>
        </p:grpSpPr>
        <p:pic>
          <p:nvPicPr>
            <p:cNvPr id="55" name="图形 54" descr="标签 轮廓">
              <a:extLst>
                <a:ext uri="{FF2B5EF4-FFF2-40B4-BE49-F238E27FC236}">
                  <a16:creationId xmlns:a16="http://schemas.microsoft.com/office/drawing/2014/main" id="{1AEC6F0E-3F2B-217A-F3AA-113E3102C51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398197" y="4153814"/>
              <a:ext cx="510852" cy="510852"/>
            </a:xfrm>
            <a:prstGeom prst="rect">
              <a:avLst/>
            </a:prstGeom>
          </p:spPr>
        </p:pic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6D79BFB2-DC58-1312-158C-251EE0EE6A26}"/>
                </a:ext>
              </a:extLst>
            </p:cNvPr>
            <p:cNvSpPr txBox="1"/>
            <p:nvPr/>
          </p:nvSpPr>
          <p:spPr>
            <a:xfrm>
              <a:off x="9332675" y="4664666"/>
              <a:ext cx="100644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cs typeface="+mn-ea"/>
                  <a:sym typeface="+mn-lt"/>
                </a:rPr>
                <a:t>平均ASP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F3F49F91-9576-C1A5-7026-ED1C6C5C66D4}"/>
                </a:ext>
              </a:extLst>
            </p:cNvPr>
            <p:cNvSpPr txBox="1"/>
            <p:nvPr/>
          </p:nvSpPr>
          <p:spPr>
            <a:xfrm>
              <a:off x="9878454" y="4346175"/>
              <a:ext cx="142968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zh-CN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235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cs typeface="+mn-ea"/>
                  <a:sym typeface="+mn-lt"/>
                </a:rPr>
                <a:t>万/台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D919944B-853D-E731-257B-222A179CF891}"/>
              </a:ext>
            </a:extLst>
          </p:cNvPr>
          <p:cNvSpPr txBox="1"/>
          <p:nvPr/>
        </p:nvSpPr>
        <p:spPr>
          <a:xfrm>
            <a:off x="10407292" y="5349824"/>
            <a:ext cx="13437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Tech Group AS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+mn-ea"/>
              <a:sym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标准机硬件</a:t>
            </a: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长期委外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E1FCB49C-BE05-04CC-C65F-FB113715C03F}"/>
              </a:ext>
            </a:extLst>
          </p:cNvPr>
          <p:cNvSpPr txBox="1"/>
          <p:nvPr/>
        </p:nvSpPr>
        <p:spPr>
          <a:xfrm>
            <a:off x="249936" y="799727"/>
            <a:ext cx="117833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市场地位：</a:t>
            </a:r>
            <a:r>
              <a:rPr lang="zh-CN" altLang="en-US" sz="1600" u="sng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全球极少数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能够为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800G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以上硅光电子、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 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光模块提供</a:t>
            </a:r>
            <a:r>
              <a:rPr lang="zh-CN" altLang="en-US" sz="1600" u="sng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全自动封装耦合设备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的企业</a:t>
            </a: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前景：</a:t>
            </a:r>
            <a:r>
              <a:rPr lang="zh-CN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高精度封装能力的重要性在更重视光学的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  <a:r>
              <a:rPr lang="zh-CN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时代会提升</a:t>
            </a: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C3DA17BF-D6BA-66A2-06AF-C9AE7DFE0159}"/>
              </a:ext>
            </a:extLst>
          </p:cNvPr>
          <p:cNvSpPr txBox="1"/>
          <p:nvPr/>
        </p:nvSpPr>
        <p:spPr>
          <a:xfrm>
            <a:off x="6274160" y="3296273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交付：</a:t>
            </a:r>
            <a:r>
              <a:rPr kumimoji="1"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低量高价，重交付，</a:t>
            </a:r>
            <a:r>
              <a:rPr lang="zh-CN" altLang="zh-CN" sz="1600" dirty="0">
                <a:solidFill>
                  <a:srgbClr val="000000"/>
                </a:solidFill>
                <a:cs typeface="+mn-ea"/>
                <a:sym typeface="+mn-lt"/>
              </a:rPr>
              <a:t>产能利用率85%（销量&gt;产能，靠去库存发货，产能利用率大概率是交付节奏束缚）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D8F36E1-E717-FEC7-FD69-6C33AF472ACB}"/>
              </a:ext>
            </a:extLst>
          </p:cNvPr>
          <p:cNvSpPr/>
          <p:nvPr/>
        </p:nvSpPr>
        <p:spPr>
          <a:xfrm>
            <a:off x="11188364" y="386977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97600D4-8EFC-4BEB-F372-2AC496A90423}"/>
              </a:ext>
            </a:extLst>
          </p:cNvPr>
          <p:cNvSpPr txBox="1"/>
          <p:nvPr/>
        </p:nvSpPr>
        <p:spPr>
          <a:xfrm>
            <a:off x="238261" y="1610833"/>
            <a:ext cx="57684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中企收购弥补国内技术空白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+mn-ea"/>
              <a:sym typeface="+mn-lt"/>
            </a:endParaRP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6BDC90A3-7CAF-E5F6-70E3-C28E50B2F340}"/>
              </a:ext>
            </a:extLst>
          </p:cNvPr>
          <p:cNvGrpSpPr/>
          <p:nvPr/>
        </p:nvGrpSpPr>
        <p:grpSpPr>
          <a:xfrm>
            <a:off x="-26308" y="1967324"/>
            <a:ext cx="5948680" cy="1104923"/>
            <a:chOff x="27699" y="2598831"/>
            <a:chExt cx="5948680" cy="1104923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495F44A2-C061-5D7D-8391-320D4C0B5020}"/>
                </a:ext>
              </a:extLst>
            </p:cNvPr>
            <p:cNvGrpSpPr/>
            <p:nvPr/>
          </p:nvGrpSpPr>
          <p:grpSpPr>
            <a:xfrm>
              <a:off x="27699" y="2598831"/>
              <a:ext cx="5948680" cy="684606"/>
              <a:chOff x="-21769" y="3068770"/>
              <a:chExt cx="5948680" cy="684606"/>
            </a:xfrm>
          </p:grpSpPr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20678657-096D-B78D-191E-F3A961E120A8}"/>
                  </a:ext>
                </a:extLst>
              </p:cNvPr>
              <p:cNvSpPr txBox="1"/>
              <p:nvPr/>
            </p:nvSpPr>
            <p:spPr>
              <a:xfrm>
                <a:off x="3379076" y="3073288"/>
                <a:ext cx="254783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zh-CN" altLang="zh-CN" sz="1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+mn-ea"/>
                    <a:sym typeface="+mn-lt"/>
                  </a:rPr>
                  <a:t>被中国上市公司RoboTechnik以10.11亿</a:t>
                </a:r>
                <a:r>
                  <a:rPr kumimoji="0" lang="en-US" altLang="zh-CN" sz="1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+mn-ea"/>
                    <a:sym typeface="+mn-lt"/>
                  </a:rPr>
                  <a:t> RMB</a:t>
                </a:r>
                <a:r>
                  <a:rPr lang="en-US" altLang="zh-CN" sz="1400" dirty="0">
                    <a:solidFill>
                      <a:srgbClr val="000000"/>
                    </a:solidFill>
                    <a:cs typeface="+mn-ea"/>
                    <a:sym typeface="+mn-lt"/>
                  </a:rPr>
                  <a:t> 100%</a:t>
                </a:r>
                <a:r>
                  <a:rPr lang="zh-CN" altLang="en-US" sz="1400" dirty="0">
                    <a:solidFill>
                      <a:srgbClr val="000000"/>
                    </a:solidFill>
                    <a:cs typeface="+mn-ea"/>
                    <a:sym typeface="+mn-lt"/>
                  </a:rPr>
                  <a:t>收购</a:t>
                </a:r>
                <a:endPara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cs typeface="+mn-ea"/>
                  <a:sym typeface="+mn-lt"/>
                </a:endParaRP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80B5CBD8-B142-509A-526A-B947849110E3}"/>
                  </a:ext>
                </a:extLst>
              </p:cNvPr>
              <p:cNvSpPr txBox="1"/>
              <p:nvPr/>
            </p:nvSpPr>
            <p:spPr>
              <a:xfrm>
                <a:off x="1685745" y="3068770"/>
                <a:ext cx="139625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zh-CN" sz="1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+mn-ea"/>
                    <a:sym typeface="+mn-lt"/>
                  </a:rPr>
                  <a:t>获德国mic</a:t>
                </a:r>
                <a:r>
                  <a:rPr kumimoji="0" lang="en-US" altLang="zh-CN" sz="1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+mn-ea"/>
                    <a:sym typeface="+mn-lt"/>
                  </a:rPr>
                  <a:t> </a:t>
                </a:r>
                <a:r>
                  <a:rPr kumimoji="0" lang="zh-CN" altLang="zh-CN" sz="1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+mn-ea"/>
                    <a:sym typeface="+mn-lt"/>
                  </a:rPr>
                  <a:t>seed轮投资</a:t>
                </a:r>
                <a:endParaRPr lang="zh-CN" altLang="en-US" sz="1400" dirty="0">
                  <a:cs typeface="+mn-ea"/>
                  <a:sym typeface="+mn-lt"/>
                </a:endParaRPr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886D9C25-13C6-F2D7-5457-4E1AB9466572}"/>
                  </a:ext>
                </a:extLst>
              </p:cNvPr>
              <p:cNvSpPr txBox="1"/>
              <p:nvPr/>
            </p:nvSpPr>
            <p:spPr>
              <a:xfrm>
                <a:off x="-21769" y="3073404"/>
                <a:ext cx="220219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zh-CN" altLang="zh-CN" sz="1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+mn-ea"/>
                    <a:sym typeface="+mn-lt"/>
                  </a:rPr>
                  <a:t>于德国成立</a:t>
                </a:r>
                <a:endParaRPr kumimoji="0" lang="en-US" altLang="zh-CN" sz="1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cs typeface="+mn-ea"/>
                  <a:sym typeface="+mn-lt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zh-CN" altLang="zh-CN" sz="1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+mn-ea"/>
                    <a:sym typeface="+mn-lt"/>
                  </a:rPr>
                  <a:t>专用设备供应商</a:t>
                </a:r>
                <a:endPara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cs typeface="+mn-ea"/>
                  <a:sym typeface="+mn-lt"/>
                </a:endParaRPr>
              </a:p>
            </p:txBody>
          </p:sp>
          <p:cxnSp>
            <p:nvCxnSpPr>
              <p:cNvPr id="41" name="直接箭头连接符 40">
                <a:extLst>
                  <a:ext uri="{FF2B5EF4-FFF2-40B4-BE49-F238E27FC236}">
                    <a16:creationId xmlns:a16="http://schemas.microsoft.com/office/drawing/2014/main" id="{2733F027-A8A6-A925-8AD6-9E76BA7DC9A4}"/>
                  </a:ext>
                </a:extLst>
              </p:cNvPr>
              <p:cNvCxnSpPr/>
              <p:nvPr/>
            </p:nvCxnSpPr>
            <p:spPr>
              <a:xfrm>
                <a:off x="688894" y="3753376"/>
                <a:ext cx="498280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3B5D8CDE-AE66-371A-E90F-DA8720FF0DEE}"/>
                </a:ext>
              </a:extLst>
            </p:cNvPr>
            <p:cNvGrpSpPr/>
            <p:nvPr/>
          </p:nvGrpSpPr>
          <p:grpSpPr>
            <a:xfrm>
              <a:off x="799791" y="3181688"/>
              <a:ext cx="754380" cy="508801"/>
              <a:chOff x="2380429" y="5497808"/>
              <a:chExt cx="754380" cy="508801"/>
            </a:xfrm>
          </p:grpSpPr>
          <p:sp>
            <p:nvSpPr>
              <p:cNvPr id="19" name="iconfont-1018-792472">
                <a:extLst>
                  <a:ext uri="{FF2B5EF4-FFF2-40B4-BE49-F238E27FC236}">
                    <a16:creationId xmlns:a16="http://schemas.microsoft.com/office/drawing/2014/main" id="{EA814B08-CD52-C99A-FC8F-44F9D9CF41C3}"/>
                  </a:ext>
                </a:extLst>
              </p:cNvPr>
              <p:cNvSpPr/>
              <p:nvPr/>
            </p:nvSpPr>
            <p:spPr>
              <a:xfrm>
                <a:off x="2573461" y="5497808"/>
                <a:ext cx="205783" cy="205783"/>
              </a:xfrm>
              <a:custGeom>
                <a:avLst/>
                <a:gdLst>
                  <a:gd name="T0" fmla="*/ 1876 w 12800"/>
                  <a:gd name="T1" fmla="*/ 1876 h 12800"/>
                  <a:gd name="T2" fmla="*/ 6400 w 12800"/>
                  <a:gd name="T3" fmla="*/ 0 h 12800"/>
                  <a:gd name="T4" fmla="*/ 10924 w 12800"/>
                  <a:gd name="T5" fmla="*/ 1876 h 12800"/>
                  <a:gd name="T6" fmla="*/ 12800 w 12800"/>
                  <a:gd name="T7" fmla="*/ 6400 h 12800"/>
                  <a:gd name="T8" fmla="*/ 10924 w 12800"/>
                  <a:gd name="T9" fmla="*/ 10924 h 12800"/>
                  <a:gd name="T10" fmla="*/ 6400 w 12800"/>
                  <a:gd name="T11" fmla="*/ 12800 h 12800"/>
                  <a:gd name="T12" fmla="*/ 1876 w 12800"/>
                  <a:gd name="T13" fmla="*/ 10924 h 12800"/>
                  <a:gd name="T14" fmla="*/ 0 w 12800"/>
                  <a:gd name="T15" fmla="*/ 6400 h 12800"/>
                  <a:gd name="T16" fmla="*/ 1876 w 12800"/>
                  <a:gd name="T17" fmla="*/ 1876 h 12800"/>
                  <a:gd name="T18" fmla="*/ 6400 w 12800"/>
                  <a:gd name="T19" fmla="*/ 524 h 12800"/>
                  <a:gd name="T20" fmla="*/ 3446 w 12800"/>
                  <a:gd name="T21" fmla="*/ 1308 h 12800"/>
                  <a:gd name="T22" fmla="*/ 1308 w 12800"/>
                  <a:gd name="T23" fmla="*/ 3446 h 12800"/>
                  <a:gd name="T24" fmla="*/ 524 w 12800"/>
                  <a:gd name="T25" fmla="*/ 6400 h 12800"/>
                  <a:gd name="T26" fmla="*/ 2246 w 12800"/>
                  <a:gd name="T27" fmla="*/ 10554 h 12800"/>
                  <a:gd name="T28" fmla="*/ 6400 w 12800"/>
                  <a:gd name="T29" fmla="*/ 12276 h 12800"/>
                  <a:gd name="T30" fmla="*/ 10554 w 12800"/>
                  <a:gd name="T31" fmla="*/ 10554 h 12800"/>
                  <a:gd name="T32" fmla="*/ 12276 w 12800"/>
                  <a:gd name="T33" fmla="*/ 6400 h 12800"/>
                  <a:gd name="T34" fmla="*/ 10554 w 12800"/>
                  <a:gd name="T35" fmla="*/ 2246 h 12800"/>
                  <a:gd name="T36" fmla="*/ 6400 w 12800"/>
                  <a:gd name="T37" fmla="*/ 524 h 12800"/>
                  <a:gd name="T38" fmla="*/ 6400 w 12800"/>
                  <a:gd name="T39" fmla="*/ 3200 h 12800"/>
                  <a:gd name="T40" fmla="*/ 5123 w 12800"/>
                  <a:gd name="T41" fmla="*/ 3461 h 12800"/>
                  <a:gd name="T42" fmla="*/ 4061 w 12800"/>
                  <a:gd name="T43" fmla="*/ 4154 h 12800"/>
                  <a:gd name="T44" fmla="*/ 3369 w 12800"/>
                  <a:gd name="T45" fmla="*/ 5215 h 12800"/>
                  <a:gd name="T46" fmla="*/ 3108 w 12800"/>
                  <a:gd name="T47" fmla="*/ 6492 h 12800"/>
                  <a:gd name="T48" fmla="*/ 3369 w 12800"/>
                  <a:gd name="T49" fmla="*/ 7770 h 12800"/>
                  <a:gd name="T50" fmla="*/ 4061 w 12800"/>
                  <a:gd name="T51" fmla="*/ 8831 h 12800"/>
                  <a:gd name="T52" fmla="*/ 5123 w 12800"/>
                  <a:gd name="T53" fmla="*/ 9523 h 12800"/>
                  <a:gd name="T54" fmla="*/ 6400 w 12800"/>
                  <a:gd name="T55" fmla="*/ 9784 h 12800"/>
                  <a:gd name="T56" fmla="*/ 7677 w 12800"/>
                  <a:gd name="T57" fmla="*/ 9523 h 12800"/>
                  <a:gd name="T58" fmla="*/ 8739 w 12800"/>
                  <a:gd name="T59" fmla="*/ 8831 h 12800"/>
                  <a:gd name="T60" fmla="*/ 9431 w 12800"/>
                  <a:gd name="T61" fmla="*/ 7770 h 12800"/>
                  <a:gd name="T62" fmla="*/ 9692 w 12800"/>
                  <a:gd name="T63" fmla="*/ 6492 h 12800"/>
                  <a:gd name="T64" fmla="*/ 9431 w 12800"/>
                  <a:gd name="T65" fmla="*/ 5215 h 12800"/>
                  <a:gd name="T66" fmla="*/ 8739 w 12800"/>
                  <a:gd name="T67" fmla="*/ 4154 h 12800"/>
                  <a:gd name="T68" fmla="*/ 7677 w 12800"/>
                  <a:gd name="T69" fmla="*/ 3461 h 12800"/>
                  <a:gd name="T70" fmla="*/ 6400 w 12800"/>
                  <a:gd name="T71" fmla="*/ 3200 h 128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2800" h="12800">
                    <a:moveTo>
                      <a:pt x="1876" y="1876"/>
                    </a:moveTo>
                    <a:cubicBezTo>
                      <a:pt x="3128" y="626"/>
                      <a:pt x="4636" y="0"/>
                      <a:pt x="6400" y="0"/>
                    </a:cubicBezTo>
                    <a:cubicBezTo>
                      <a:pt x="8164" y="0"/>
                      <a:pt x="9672" y="626"/>
                      <a:pt x="10924" y="1876"/>
                    </a:cubicBezTo>
                    <a:cubicBezTo>
                      <a:pt x="12174" y="3128"/>
                      <a:pt x="12800" y="4636"/>
                      <a:pt x="12800" y="6400"/>
                    </a:cubicBezTo>
                    <a:cubicBezTo>
                      <a:pt x="12800" y="8165"/>
                      <a:pt x="12174" y="9673"/>
                      <a:pt x="10924" y="10924"/>
                    </a:cubicBezTo>
                    <a:cubicBezTo>
                      <a:pt x="9672" y="12174"/>
                      <a:pt x="8164" y="12800"/>
                      <a:pt x="6400" y="12800"/>
                    </a:cubicBezTo>
                    <a:cubicBezTo>
                      <a:pt x="4636" y="12800"/>
                      <a:pt x="3128" y="12174"/>
                      <a:pt x="1876" y="10924"/>
                    </a:cubicBezTo>
                    <a:cubicBezTo>
                      <a:pt x="626" y="9673"/>
                      <a:pt x="0" y="8165"/>
                      <a:pt x="0" y="6400"/>
                    </a:cubicBezTo>
                    <a:cubicBezTo>
                      <a:pt x="0" y="4636"/>
                      <a:pt x="626" y="3128"/>
                      <a:pt x="1876" y="1876"/>
                    </a:cubicBezTo>
                    <a:close/>
                    <a:moveTo>
                      <a:pt x="6400" y="524"/>
                    </a:moveTo>
                    <a:cubicBezTo>
                      <a:pt x="5334" y="524"/>
                      <a:pt x="4348" y="785"/>
                      <a:pt x="3446" y="1308"/>
                    </a:cubicBezTo>
                    <a:cubicBezTo>
                      <a:pt x="2543" y="1830"/>
                      <a:pt x="1830" y="2543"/>
                      <a:pt x="1308" y="3446"/>
                    </a:cubicBezTo>
                    <a:cubicBezTo>
                      <a:pt x="785" y="4349"/>
                      <a:pt x="524" y="5334"/>
                      <a:pt x="524" y="6400"/>
                    </a:cubicBezTo>
                    <a:cubicBezTo>
                      <a:pt x="524" y="8020"/>
                      <a:pt x="1098" y="9405"/>
                      <a:pt x="2246" y="10554"/>
                    </a:cubicBezTo>
                    <a:cubicBezTo>
                      <a:pt x="3395" y="11703"/>
                      <a:pt x="4780" y="12276"/>
                      <a:pt x="6400" y="12276"/>
                    </a:cubicBezTo>
                    <a:cubicBezTo>
                      <a:pt x="8020" y="12276"/>
                      <a:pt x="9405" y="11703"/>
                      <a:pt x="10554" y="10554"/>
                    </a:cubicBezTo>
                    <a:cubicBezTo>
                      <a:pt x="11703" y="9405"/>
                      <a:pt x="12276" y="8020"/>
                      <a:pt x="12276" y="6400"/>
                    </a:cubicBezTo>
                    <a:cubicBezTo>
                      <a:pt x="12276" y="4780"/>
                      <a:pt x="11702" y="3396"/>
                      <a:pt x="10554" y="2246"/>
                    </a:cubicBezTo>
                    <a:cubicBezTo>
                      <a:pt x="9405" y="1097"/>
                      <a:pt x="8020" y="524"/>
                      <a:pt x="6400" y="524"/>
                    </a:cubicBezTo>
                    <a:close/>
                    <a:moveTo>
                      <a:pt x="6400" y="3200"/>
                    </a:moveTo>
                    <a:cubicBezTo>
                      <a:pt x="5948" y="3200"/>
                      <a:pt x="5523" y="3288"/>
                      <a:pt x="5123" y="3461"/>
                    </a:cubicBezTo>
                    <a:cubicBezTo>
                      <a:pt x="4723" y="3636"/>
                      <a:pt x="4369" y="3867"/>
                      <a:pt x="4061" y="4154"/>
                    </a:cubicBezTo>
                    <a:cubicBezTo>
                      <a:pt x="3775" y="4461"/>
                      <a:pt x="3543" y="4815"/>
                      <a:pt x="3369" y="5215"/>
                    </a:cubicBezTo>
                    <a:cubicBezTo>
                      <a:pt x="3195" y="5614"/>
                      <a:pt x="3108" y="6042"/>
                      <a:pt x="3108" y="6492"/>
                    </a:cubicBezTo>
                    <a:cubicBezTo>
                      <a:pt x="3108" y="6944"/>
                      <a:pt x="3195" y="7369"/>
                      <a:pt x="3369" y="7770"/>
                    </a:cubicBezTo>
                    <a:cubicBezTo>
                      <a:pt x="3543" y="8170"/>
                      <a:pt x="3775" y="8524"/>
                      <a:pt x="4061" y="8831"/>
                    </a:cubicBezTo>
                    <a:cubicBezTo>
                      <a:pt x="4369" y="9119"/>
                      <a:pt x="4723" y="9349"/>
                      <a:pt x="5123" y="9523"/>
                    </a:cubicBezTo>
                    <a:cubicBezTo>
                      <a:pt x="5523" y="9697"/>
                      <a:pt x="5948" y="9784"/>
                      <a:pt x="6400" y="9784"/>
                    </a:cubicBezTo>
                    <a:cubicBezTo>
                      <a:pt x="6852" y="9784"/>
                      <a:pt x="7277" y="9697"/>
                      <a:pt x="7677" y="9523"/>
                    </a:cubicBezTo>
                    <a:cubicBezTo>
                      <a:pt x="8077" y="9349"/>
                      <a:pt x="8431" y="9119"/>
                      <a:pt x="8739" y="8831"/>
                    </a:cubicBezTo>
                    <a:cubicBezTo>
                      <a:pt x="9025" y="8524"/>
                      <a:pt x="9257" y="8169"/>
                      <a:pt x="9431" y="7770"/>
                    </a:cubicBezTo>
                    <a:cubicBezTo>
                      <a:pt x="9605" y="7370"/>
                      <a:pt x="9692" y="6944"/>
                      <a:pt x="9692" y="6492"/>
                    </a:cubicBezTo>
                    <a:cubicBezTo>
                      <a:pt x="9692" y="6042"/>
                      <a:pt x="9605" y="5615"/>
                      <a:pt x="9431" y="5215"/>
                    </a:cubicBezTo>
                    <a:cubicBezTo>
                      <a:pt x="9257" y="4814"/>
                      <a:pt x="9025" y="4462"/>
                      <a:pt x="8739" y="4154"/>
                    </a:cubicBezTo>
                    <a:cubicBezTo>
                      <a:pt x="8431" y="3867"/>
                      <a:pt x="8077" y="3636"/>
                      <a:pt x="7677" y="3461"/>
                    </a:cubicBezTo>
                    <a:cubicBezTo>
                      <a:pt x="7277" y="3288"/>
                      <a:pt x="6852" y="3200"/>
                      <a:pt x="6400" y="32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cs typeface="+mn-ea"/>
                  <a:sym typeface="+mn-lt"/>
                </a:endParaRPr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B13A64F3-F6F8-C5E7-1730-DC0120AEDA39}"/>
                  </a:ext>
                </a:extLst>
              </p:cNvPr>
              <p:cNvSpPr txBox="1"/>
              <p:nvPr/>
            </p:nvSpPr>
            <p:spPr>
              <a:xfrm>
                <a:off x="2380429" y="5698832"/>
                <a:ext cx="75438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>
                    <a:cs typeface="+mn-ea"/>
                    <a:sym typeface="+mn-lt"/>
                  </a:rPr>
                  <a:t>2001</a:t>
                </a:r>
                <a:endParaRPr lang="zh-CN" altLang="en-US" sz="1400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0F82009A-1C4D-7B9A-C8FC-7ED364E2601A}"/>
                </a:ext>
              </a:extLst>
            </p:cNvPr>
            <p:cNvGrpSpPr/>
            <p:nvPr/>
          </p:nvGrpSpPr>
          <p:grpSpPr>
            <a:xfrm>
              <a:off x="2079898" y="3180229"/>
              <a:ext cx="754380" cy="508801"/>
              <a:chOff x="2380429" y="5497808"/>
              <a:chExt cx="754380" cy="508801"/>
            </a:xfrm>
          </p:grpSpPr>
          <p:sp>
            <p:nvSpPr>
              <p:cNvPr id="23" name="iconfont-1018-792472">
                <a:extLst>
                  <a:ext uri="{FF2B5EF4-FFF2-40B4-BE49-F238E27FC236}">
                    <a16:creationId xmlns:a16="http://schemas.microsoft.com/office/drawing/2014/main" id="{519F1AE7-5299-0A4E-7D76-85AA281803A3}"/>
                  </a:ext>
                </a:extLst>
              </p:cNvPr>
              <p:cNvSpPr/>
              <p:nvPr/>
            </p:nvSpPr>
            <p:spPr>
              <a:xfrm>
                <a:off x="2573461" y="5497808"/>
                <a:ext cx="205783" cy="205783"/>
              </a:xfrm>
              <a:custGeom>
                <a:avLst/>
                <a:gdLst>
                  <a:gd name="T0" fmla="*/ 1876 w 12800"/>
                  <a:gd name="T1" fmla="*/ 1876 h 12800"/>
                  <a:gd name="T2" fmla="*/ 6400 w 12800"/>
                  <a:gd name="T3" fmla="*/ 0 h 12800"/>
                  <a:gd name="T4" fmla="*/ 10924 w 12800"/>
                  <a:gd name="T5" fmla="*/ 1876 h 12800"/>
                  <a:gd name="T6" fmla="*/ 12800 w 12800"/>
                  <a:gd name="T7" fmla="*/ 6400 h 12800"/>
                  <a:gd name="T8" fmla="*/ 10924 w 12800"/>
                  <a:gd name="T9" fmla="*/ 10924 h 12800"/>
                  <a:gd name="T10" fmla="*/ 6400 w 12800"/>
                  <a:gd name="T11" fmla="*/ 12800 h 12800"/>
                  <a:gd name="T12" fmla="*/ 1876 w 12800"/>
                  <a:gd name="T13" fmla="*/ 10924 h 12800"/>
                  <a:gd name="T14" fmla="*/ 0 w 12800"/>
                  <a:gd name="T15" fmla="*/ 6400 h 12800"/>
                  <a:gd name="T16" fmla="*/ 1876 w 12800"/>
                  <a:gd name="T17" fmla="*/ 1876 h 12800"/>
                  <a:gd name="T18" fmla="*/ 6400 w 12800"/>
                  <a:gd name="T19" fmla="*/ 524 h 12800"/>
                  <a:gd name="T20" fmla="*/ 3446 w 12800"/>
                  <a:gd name="T21" fmla="*/ 1308 h 12800"/>
                  <a:gd name="T22" fmla="*/ 1308 w 12800"/>
                  <a:gd name="T23" fmla="*/ 3446 h 12800"/>
                  <a:gd name="T24" fmla="*/ 524 w 12800"/>
                  <a:gd name="T25" fmla="*/ 6400 h 12800"/>
                  <a:gd name="T26" fmla="*/ 2246 w 12800"/>
                  <a:gd name="T27" fmla="*/ 10554 h 12800"/>
                  <a:gd name="T28" fmla="*/ 6400 w 12800"/>
                  <a:gd name="T29" fmla="*/ 12276 h 12800"/>
                  <a:gd name="T30" fmla="*/ 10554 w 12800"/>
                  <a:gd name="T31" fmla="*/ 10554 h 12800"/>
                  <a:gd name="T32" fmla="*/ 12276 w 12800"/>
                  <a:gd name="T33" fmla="*/ 6400 h 12800"/>
                  <a:gd name="T34" fmla="*/ 10554 w 12800"/>
                  <a:gd name="T35" fmla="*/ 2246 h 12800"/>
                  <a:gd name="T36" fmla="*/ 6400 w 12800"/>
                  <a:gd name="T37" fmla="*/ 524 h 12800"/>
                  <a:gd name="T38" fmla="*/ 6400 w 12800"/>
                  <a:gd name="T39" fmla="*/ 3200 h 12800"/>
                  <a:gd name="T40" fmla="*/ 5123 w 12800"/>
                  <a:gd name="T41" fmla="*/ 3461 h 12800"/>
                  <a:gd name="T42" fmla="*/ 4061 w 12800"/>
                  <a:gd name="T43" fmla="*/ 4154 h 12800"/>
                  <a:gd name="T44" fmla="*/ 3369 w 12800"/>
                  <a:gd name="T45" fmla="*/ 5215 h 12800"/>
                  <a:gd name="T46" fmla="*/ 3108 w 12800"/>
                  <a:gd name="T47" fmla="*/ 6492 h 12800"/>
                  <a:gd name="T48" fmla="*/ 3369 w 12800"/>
                  <a:gd name="T49" fmla="*/ 7770 h 12800"/>
                  <a:gd name="T50" fmla="*/ 4061 w 12800"/>
                  <a:gd name="T51" fmla="*/ 8831 h 12800"/>
                  <a:gd name="T52" fmla="*/ 5123 w 12800"/>
                  <a:gd name="T53" fmla="*/ 9523 h 12800"/>
                  <a:gd name="T54" fmla="*/ 6400 w 12800"/>
                  <a:gd name="T55" fmla="*/ 9784 h 12800"/>
                  <a:gd name="T56" fmla="*/ 7677 w 12800"/>
                  <a:gd name="T57" fmla="*/ 9523 h 12800"/>
                  <a:gd name="T58" fmla="*/ 8739 w 12800"/>
                  <a:gd name="T59" fmla="*/ 8831 h 12800"/>
                  <a:gd name="T60" fmla="*/ 9431 w 12800"/>
                  <a:gd name="T61" fmla="*/ 7770 h 12800"/>
                  <a:gd name="T62" fmla="*/ 9692 w 12800"/>
                  <a:gd name="T63" fmla="*/ 6492 h 12800"/>
                  <a:gd name="T64" fmla="*/ 9431 w 12800"/>
                  <a:gd name="T65" fmla="*/ 5215 h 12800"/>
                  <a:gd name="T66" fmla="*/ 8739 w 12800"/>
                  <a:gd name="T67" fmla="*/ 4154 h 12800"/>
                  <a:gd name="T68" fmla="*/ 7677 w 12800"/>
                  <a:gd name="T69" fmla="*/ 3461 h 12800"/>
                  <a:gd name="T70" fmla="*/ 6400 w 12800"/>
                  <a:gd name="T71" fmla="*/ 3200 h 128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2800" h="12800">
                    <a:moveTo>
                      <a:pt x="1876" y="1876"/>
                    </a:moveTo>
                    <a:cubicBezTo>
                      <a:pt x="3128" y="626"/>
                      <a:pt x="4636" y="0"/>
                      <a:pt x="6400" y="0"/>
                    </a:cubicBezTo>
                    <a:cubicBezTo>
                      <a:pt x="8164" y="0"/>
                      <a:pt x="9672" y="626"/>
                      <a:pt x="10924" y="1876"/>
                    </a:cubicBezTo>
                    <a:cubicBezTo>
                      <a:pt x="12174" y="3128"/>
                      <a:pt x="12800" y="4636"/>
                      <a:pt x="12800" y="6400"/>
                    </a:cubicBezTo>
                    <a:cubicBezTo>
                      <a:pt x="12800" y="8165"/>
                      <a:pt x="12174" y="9673"/>
                      <a:pt x="10924" y="10924"/>
                    </a:cubicBezTo>
                    <a:cubicBezTo>
                      <a:pt x="9672" y="12174"/>
                      <a:pt x="8164" y="12800"/>
                      <a:pt x="6400" y="12800"/>
                    </a:cubicBezTo>
                    <a:cubicBezTo>
                      <a:pt x="4636" y="12800"/>
                      <a:pt x="3128" y="12174"/>
                      <a:pt x="1876" y="10924"/>
                    </a:cubicBezTo>
                    <a:cubicBezTo>
                      <a:pt x="626" y="9673"/>
                      <a:pt x="0" y="8165"/>
                      <a:pt x="0" y="6400"/>
                    </a:cubicBezTo>
                    <a:cubicBezTo>
                      <a:pt x="0" y="4636"/>
                      <a:pt x="626" y="3128"/>
                      <a:pt x="1876" y="1876"/>
                    </a:cubicBezTo>
                    <a:close/>
                    <a:moveTo>
                      <a:pt x="6400" y="524"/>
                    </a:moveTo>
                    <a:cubicBezTo>
                      <a:pt x="5334" y="524"/>
                      <a:pt x="4348" y="785"/>
                      <a:pt x="3446" y="1308"/>
                    </a:cubicBezTo>
                    <a:cubicBezTo>
                      <a:pt x="2543" y="1830"/>
                      <a:pt x="1830" y="2543"/>
                      <a:pt x="1308" y="3446"/>
                    </a:cubicBezTo>
                    <a:cubicBezTo>
                      <a:pt x="785" y="4349"/>
                      <a:pt x="524" y="5334"/>
                      <a:pt x="524" y="6400"/>
                    </a:cubicBezTo>
                    <a:cubicBezTo>
                      <a:pt x="524" y="8020"/>
                      <a:pt x="1098" y="9405"/>
                      <a:pt x="2246" y="10554"/>
                    </a:cubicBezTo>
                    <a:cubicBezTo>
                      <a:pt x="3395" y="11703"/>
                      <a:pt x="4780" y="12276"/>
                      <a:pt x="6400" y="12276"/>
                    </a:cubicBezTo>
                    <a:cubicBezTo>
                      <a:pt x="8020" y="12276"/>
                      <a:pt x="9405" y="11703"/>
                      <a:pt x="10554" y="10554"/>
                    </a:cubicBezTo>
                    <a:cubicBezTo>
                      <a:pt x="11703" y="9405"/>
                      <a:pt x="12276" y="8020"/>
                      <a:pt x="12276" y="6400"/>
                    </a:cubicBezTo>
                    <a:cubicBezTo>
                      <a:pt x="12276" y="4780"/>
                      <a:pt x="11702" y="3396"/>
                      <a:pt x="10554" y="2246"/>
                    </a:cubicBezTo>
                    <a:cubicBezTo>
                      <a:pt x="9405" y="1097"/>
                      <a:pt x="8020" y="524"/>
                      <a:pt x="6400" y="524"/>
                    </a:cubicBezTo>
                    <a:close/>
                    <a:moveTo>
                      <a:pt x="6400" y="3200"/>
                    </a:moveTo>
                    <a:cubicBezTo>
                      <a:pt x="5948" y="3200"/>
                      <a:pt x="5523" y="3288"/>
                      <a:pt x="5123" y="3461"/>
                    </a:cubicBezTo>
                    <a:cubicBezTo>
                      <a:pt x="4723" y="3636"/>
                      <a:pt x="4369" y="3867"/>
                      <a:pt x="4061" y="4154"/>
                    </a:cubicBezTo>
                    <a:cubicBezTo>
                      <a:pt x="3775" y="4461"/>
                      <a:pt x="3543" y="4815"/>
                      <a:pt x="3369" y="5215"/>
                    </a:cubicBezTo>
                    <a:cubicBezTo>
                      <a:pt x="3195" y="5614"/>
                      <a:pt x="3108" y="6042"/>
                      <a:pt x="3108" y="6492"/>
                    </a:cubicBezTo>
                    <a:cubicBezTo>
                      <a:pt x="3108" y="6944"/>
                      <a:pt x="3195" y="7369"/>
                      <a:pt x="3369" y="7770"/>
                    </a:cubicBezTo>
                    <a:cubicBezTo>
                      <a:pt x="3543" y="8170"/>
                      <a:pt x="3775" y="8524"/>
                      <a:pt x="4061" y="8831"/>
                    </a:cubicBezTo>
                    <a:cubicBezTo>
                      <a:pt x="4369" y="9119"/>
                      <a:pt x="4723" y="9349"/>
                      <a:pt x="5123" y="9523"/>
                    </a:cubicBezTo>
                    <a:cubicBezTo>
                      <a:pt x="5523" y="9697"/>
                      <a:pt x="5948" y="9784"/>
                      <a:pt x="6400" y="9784"/>
                    </a:cubicBezTo>
                    <a:cubicBezTo>
                      <a:pt x="6852" y="9784"/>
                      <a:pt x="7277" y="9697"/>
                      <a:pt x="7677" y="9523"/>
                    </a:cubicBezTo>
                    <a:cubicBezTo>
                      <a:pt x="8077" y="9349"/>
                      <a:pt x="8431" y="9119"/>
                      <a:pt x="8739" y="8831"/>
                    </a:cubicBezTo>
                    <a:cubicBezTo>
                      <a:pt x="9025" y="8524"/>
                      <a:pt x="9257" y="8169"/>
                      <a:pt x="9431" y="7770"/>
                    </a:cubicBezTo>
                    <a:cubicBezTo>
                      <a:pt x="9605" y="7370"/>
                      <a:pt x="9692" y="6944"/>
                      <a:pt x="9692" y="6492"/>
                    </a:cubicBezTo>
                    <a:cubicBezTo>
                      <a:pt x="9692" y="6042"/>
                      <a:pt x="9605" y="5615"/>
                      <a:pt x="9431" y="5215"/>
                    </a:cubicBezTo>
                    <a:cubicBezTo>
                      <a:pt x="9257" y="4814"/>
                      <a:pt x="9025" y="4462"/>
                      <a:pt x="8739" y="4154"/>
                    </a:cubicBezTo>
                    <a:cubicBezTo>
                      <a:pt x="8431" y="3867"/>
                      <a:pt x="8077" y="3636"/>
                      <a:pt x="7677" y="3461"/>
                    </a:cubicBezTo>
                    <a:cubicBezTo>
                      <a:pt x="7277" y="3288"/>
                      <a:pt x="6852" y="3200"/>
                      <a:pt x="6400" y="32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cs typeface="+mn-ea"/>
                  <a:sym typeface="+mn-lt"/>
                </a:endParaRPr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CBD83B27-AFD4-55EA-5D0E-5F07B18765DA}"/>
                  </a:ext>
                </a:extLst>
              </p:cNvPr>
              <p:cNvSpPr txBox="1"/>
              <p:nvPr/>
            </p:nvSpPr>
            <p:spPr>
              <a:xfrm>
                <a:off x="2380429" y="5698832"/>
                <a:ext cx="75438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>
                    <a:cs typeface="+mn-ea"/>
                    <a:sym typeface="+mn-lt"/>
                  </a:rPr>
                  <a:t>2002</a:t>
                </a:r>
                <a:endParaRPr lang="zh-CN" altLang="en-US" sz="1400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D1114B66-5026-3686-F582-3B3346627BEE}"/>
                </a:ext>
              </a:extLst>
            </p:cNvPr>
            <p:cNvGrpSpPr/>
            <p:nvPr/>
          </p:nvGrpSpPr>
          <p:grpSpPr>
            <a:xfrm>
              <a:off x="4299663" y="3194953"/>
              <a:ext cx="754380" cy="508801"/>
              <a:chOff x="2380429" y="5497808"/>
              <a:chExt cx="754380" cy="508801"/>
            </a:xfrm>
          </p:grpSpPr>
          <p:sp>
            <p:nvSpPr>
              <p:cNvPr id="30" name="iconfont-1018-792472">
                <a:extLst>
                  <a:ext uri="{FF2B5EF4-FFF2-40B4-BE49-F238E27FC236}">
                    <a16:creationId xmlns:a16="http://schemas.microsoft.com/office/drawing/2014/main" id="{0BEE1C87-1BCF-4B35-4846-2AF0E32B8080}"/>
                  </a:ext>
                </a:extLst>
              </p:cNvPr>
              <p:cNvSpPr/>
              <p:nvPr/>
            </p:nvSpPr>
            <p:spPr>
              <a:xfrm>
                <a:off x="2573461" y="5497808"/>
                <a:ext cx="205783" cy="205783"/>
              </a:xfrm>
              <a:custGeom>
                <a:avLst/>
                <a:gdLst>
                  <a:gd name="T0" fmla="*/ 1876 w 12800"/>
                  <a:gd name="T1" fmla="*/ 1876 h 12800"/>
                  <a:gd name="T2" fmla="*/ 6400 w 12800"/>
                  <a:gd name="T3" fmla="*/ 0 h 12800"/>
                  <a:gd name="T4" fmla="*/ 10924 w 12800"/>
                  <a:gd name="T5" fmla="*/ 1876 h 12800"/>
                  <a:gd name="T6" fmla="*/ 12800 w 12800"/>
                  <a:gd name="T7" fmla="*/ 6400 h 12800"/>
                  <a:gd name="T8" fmla="*/ 10924 w 12800"/>
                  <a:gd name="T9" fmla="*/ 10924 h 12800"/>
                  <a:gd name="T10" fmla="*/ 6400 w 12800"/>
                  <a:gd name="T11" fmla="*/ 12800 h 12800"/>
                  <a:gd name="T12" fmla="*/ 1876 w 12800"/>
                  <a:gd name="T13" fmla="*/ 10924 h 12800"/>
                  <a:gd name="T14" fmla="*/ 0 w 12800"/>
                  <a:gd name="T15" fmla="*/ 6400 h 12800"/>
                  <a:gd name="T16" fmla="*/ 1876 w 12800"/>
                  <a:gd name="T17" fmla="*/ 1876 h 12800"/>
                  <a:gd name="T18" fmla="*/ 6400 w 12800"/>
                  <a:gd name="T19" fmla="*/ 524 h 12800"/>
                  <a:gd name="T20" fmla="*/ 3446 w 12800"/>
                  <a:gd name="T21" fmla="*/ 1308 h 12800"/>
                  <a:gd name="T22" fmla="*/ 1308 w 12800"/>
                  <a:gd name="T23" fmla="*/ 3446 h 12800"/>
                  <a:gd name="T24" fmla="*/ 524 w 12800"/>
                  <a:gd name="T25" fmla="*/ 6400 h 12800"/>
                  <a:gd name="T26" fmla="*/ 2246 w 12800"/>
                  <a:gd name="T27" fmla="*/ 10554 h 12800"/>
                  <a:gd name="T28" fmla="*/ 6400 w 12800"/>
                  <a:gd name="T29" fmla="*/ 12276 h 12800"/>
                  <a:gd name="T30" fmla="*/ 10554 w 12800"/>
                  <a:gd name="T31" fmla="*/ 10554 h 12800"/>
                  <a:gd name="T32" fmla="*/ 12276 w 12800"/>
                  <a:gd name="T33" fmla="*/ 6400 h 12800"/>
                  <a:gd name="T34" fmla="*/ 10554 w 12800"/>
                  <a:gd name="T35" fmla="*/ 2246 h 12800"/>
                  <a:gd name="T36" fmla="*/ 6400 w 12800"/>
                  <a:gd name="T37" fmla="*/ 524 h 12800"/>
                  <a:gd name="T38" fmla="*/ 6400 w 12800"/>
                  <a:gd name="T39" fmla="*/ 3200 h 12800"/>
                  <a:gd name="T40" fmla="*/ 5123 w 12800"/>
                  <a:gd name="T41" fmla="*/ 3461 h 12800"/>
                  <a:gd name="T42" fmla="*/ 4061 w 12800"/>
                  <a:gd name="T43" fmla="*/ 4154 h 12800"/>
                  <a:gd name="T44" fmla="*/ 3369 w 12800"/>
                  <a:gd name="T45" fmla="*/ 5215 h 12800"/>
                  <a:gd name="T46" fmla="*/ 3108 w 12800"/>
                  <a:gd name="T47" fmla="*/ 6492 h 12800"/>
                  <a:gd name="T48" fmla="*/ 3369 w 12800"/>
                  <a:gd name="T49" fmla="*/ 7770 h 12800"/>
                  <a:gd name="T50" fmla="*/ 4061 w 12800"/>
                  <a:gd name="T51" fmla="*/ 8831 h 12800"/>
                  <a:gd name="T52" fmla="*/ 5123 w 12800"/>
                  <a:gd name="T53" fmla="*/ 9523 h 12800"/>
                  <a:gd name="T54" fmla="*/ 6400 w 12800"/>
                  <a:gd name="T55" fmla="*/ 9784 h 12800"/>
                  <a:gd name="T56" fmla="*/ 7677 w 12800"/>
                  <a:gd name="T57" fmla="*/ 9523 h 12800"/>
                  <a:gd name="T58" fmla="*/ 8739 w 12800"/>
                  <a:gd name="T59" fmla="*/ 8831 h 12800"/>
                  <a:gd name="T60" fmla="*/ 9431 w 12800"/>
                  <a:gd name="T61" fmla="*/ 7770 h 12800"/>
                  <a:gd name="T62" fmla="*/ 9692 w 12800"/>
                  <a:gd name="T63" fmla="*/ 6492 h 12800"/>
                  <a:gd name="T64" fmla="*/ 9431 w 12800"/>
                  <a:gd name="T65" fmla="*/ 5215 h 12800"/>
                  <a:gd name="T66" fmla="*/ 8739 w 12800"/>
                  <a:gd name="T67" fmla="*/ 4154 h 12800"/>
                  <a:gd name="T68" fmla="*/ 7677 w 12800"/>
                  <a:gd name="T69" fmla="*/ 3461 h 12800"/>
                  <a:gd name="T70" fmla="*/ 6400 w 12800"/>
                  <a:gd name="T71" fmla="*/ 3200 h 128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2800" h="12800">
                    <a:moveTo>
                      <a:pt x="1876" y="1876"/>
                    </a:moveTo>
                    <a:cubicBezTo>
                      <a:pt x="3128" y="626"/>
                      <a:pt x="4636" y="0"/>
                      <a:pt x="6400" y="0"/>
                    </a:cubicBezTo>
                    <a:cubicBezTo>
                      <a:pt x="8164" y="0"/>
                      <a:pt x="9672" y="626"/>
                      <a:pt x="10924" y="1876"/>
                    </a:cubicBezTo>
                    <a:cubicBezTo>
                      <a:pt x="12174" y="3128"/>
                      <a:pt x="12800" y="4636"/>
                      <a:pt x="12800" y="6400"/>
                    </a:cubicBezTo>
                    <a:cubicBezTo>
                      <a:pt x="12800" y="8165"/>
                      <a:pt x="12174" y="9673"/>
                      <a:pt x="10924" y="10924"/>
                    </a:cubicBezTo>
                    <a:cubicBezTo>
                      <a:pt x="9672" y="12174"/>
                      <a:pt x="8164" y="12800"/>
                      <a:pt x="6400" y="12800"/>
                    </a:cubicBezTo>
                    <a:cubicBezTo>
                      <a:pt x="4636" y="12800"/>
                      <a:pt x="3128" y="12174"/>
                      <a:pt x="1876" y="10924"/>
                    </a:cubicBezTo>
                    <a:cubicBezTo>
                      <a:pt x="626" y="9673"/>
                      <a:pt x="0" y="8165"/>
                      <a:pt x="0" y="6400"/>
                    </a:cubicBezTo>
                    <a:cubicBezTo>
                      <a:pt x="0" y="4636"/>
                      <a:pt x="626" y="3128"/>
                      <a:pt x="1876" y="1876"/>
                    </a:cubicBezTo>
                    <a:close/>
                    <a:moveTo>
                      <a:pt x="6400" y="524"/>
                    </a:moveTo>
                    <a:cubicBezTo>
                      <a:pt x="5334" y="524"/>
                      <a:pt x="4348" y="785"/>
                      <a:pt x="3446" y="1308"/>
                    </a:cubicBezTo>
                    <a:cubicBezTo>
                      <a:pt x="2543" y="1830"/>
                      <a:pt x="1830" y="2543"/>
                      <a:pt x="1308" y="3446"/>
                    </a:cubicBezTo>
                    <a:cubicBezTo>
                      <a:pt x="785" y="4349"/>
                      <a:pt x="524" y="5334"/>
                      <a:pt x="524" y="6400"/>
                    </a:cubicBezTo>
                    <a:cubicBezTo>
                      <a:pt x="524" y="8020"/>
                      <a:pt x="1098" y="9405"/>
                      <a:pt x="2246" y="10554"/>
                    </a:cubicBezTo>
                    <a:cubicBezTo>
                      <a:pt x="3395" y="11703"/>
                      <a:pt x="4780" y="12276"/>
                      <a:pt x="6400" y="12276"/>
                    </a:cubicBezTo>
                    <a:cubicBezTo>
                      <a:pt x="8020" y="12276"/>
                      <a:pt x="9405" y="11703"/>
                      <a:pt x="10554" y="10554"/>
                    </a:cubicBezTo>
                    <a:cubicBezTo>
                      <a:pt x="11703" y="9405"/>
                      <a:pt x="12276" y="8020"/>
                      <a:pt x="12276" y="6400"/>
                    </a:cubicBezTo>
                    <a:cubicBezTo>
                      <a:pt x="12276" y="4780"/>
                      <a:pt x="11702" y="3396"/>
                      <a:pt x="10554" y="2246"/>
                    </a:cubicBezTo>
                    <a:cubicBezTo>
                      <a:pt x="9405" y="1097"/>
                      <a:pt x="8020" y="524"/>
                      <a:pt x="6400" y="524"/>
                    </a:cubicBezTo>
                    <a:close/>
                    <a:moveTo>
                      <a:pt x="6400" y="3200"/>
                    </a:moveTo>
                    <a:cubicBezTo>
                      <a:pt x="5948" y="3200"/>
                      <a:pt x="5523" y="3288"/>
                      <a:pt x="5123" y="3461"/>
                    </a:cubicBezTo>
                    <a:cubicBezTo>
                      <a:pt x="4723" y="3636"/>
                      <a:pt x="4369" y="3867"/>
                      <a:pt x="4061" y="4154"/>
                    </a:cubicBezTo>
                    <a:cubicBezTo>
                      <a:pt x="3775" y="4461"/>
                      <a:pt x="3543" y="4815"/>
                      <a:pt x="3369" y="5215"/>
                    </a:cubicBezTo>
                    <a:cubicBezTo>
                      <a:pt x="3195" y="5614"/>
                      <a:pt x="3108" y="6042"/>
                      <a:pt x="3108" y="6492"/>
                    </a:cubicBezTo>
                    <a:cubicBezTo>
                      <a:pt x="3108" y="6944"/>
                      <a:pt x="3195" y="7369"/>
                      <a:pt x="3369" y="7770"/>
                    </a:cubicBezTo>
                    <a:cubicBezTo>
                      <a:pt x="3543" y="8170"/>
                      <a:pt x="3775" y="8524"/>
                      <a:pt x="4061" y="8831"/>
                    </a:cubicBezTo>
                    <a:cubicBezTo>
                      <a:pt x="4369" y="9119"/>
                      <a:pt x="4723" y="9349"/>
                      <a:pt x="5123" y="9523"/>
                    </a:cubicBezTo>
                    <a:cubicBezTo>
                      <a:pt x="5523" y="9697"/>
                      <a:pt x="5948" y="9784"/>
                      <a:pt x="6400" y="9784"/>
                    </a:cubicBezTo>
                    <a:cubicBezTo>
                      <a:pt x="6852" y="9784"/>
                      <a:pt x="7277" y="9697"/>
                      <a:pt x="7677" y="9523"/>
                    </a:cubicBezTo>
                    <a:cubicBezTo>
                      <a:pt x="8077" y="9349"/>
                      <a:pt x="8431" y="9119"/>
                      <a:pt x="8739" y="8831"/>
                    </a:cubicBezTo>
                    <a:cubicBezTo>
                      <a:pt x="9025" y="8524"/>
                      <a:pt x="9257" y="8169"/>
                      <a:pt x="9431" y="7770"/>
                    </a:cubicBezTo>
                    <a:cubicBezTo>
                      <a:pt x="9605" y="7370"/>
                      <a:pt x="9692" y="6944"/>
                      <a:pt x="9692" y="6492"/>
                    </a:cubicBezTo>
                    <a:cubicBezTo>
                      <a:pt x="9692" y="6042"/>
                      <a:pt x="9605" y="5615"/>
                      <a:pt x="9431" y="5215"/>
                    </a:cubicBezTo>
                    <a:cubicBezTo>
                      <a:pt x="9257" y="4814"/>
                      <a:pt x="9025" y="4462"/>
                      <a:pt x="8739" y="4154"/>
                    </a:cubicBezTo>
                    <a:cubicBezTo>
                      <a:pt x="8431" y="3867"/>
                      <a:pt x="8077" y="3636"/>
                      <a:pt x="7677" y="3461"/>
                    </a:cubicBezTo>
                    <a:cubicBezTo>
                      <a:pt x="7277" y="3288"/>
                      <a:pt x="6852" y="3200"/>
                      <a:pt x="6400" y="32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cs typeface="+mn-ea"/>
                  <a:sym typeface="+mn-lt"/>
                </a:endParaRPr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D95C5602-CF13-CA75-F2EB-4D1EF5788514}"/>
                  </a:ext>
                </a:extLst>
              </p:cNvPr>
              <p:cNvSpPr txBox="1"/>
              <p:nvPr/>
            </p:nvSpPr>
            <p:spPr>
              <a:xfrm>
                <a:off x="2380429" y="5698832"/>
                <a:ext cx="75438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>
                    <a:cs typeface="+mn-ea"/>
                    <a:sym typeface="+mn-lt"/>
                  </a:rPr>
                  <a:t>2025</a:t>
                </a:r>
                <a:endParaRPr lang="zh-CN" altLang="en-US" sz="1400" dirty="0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9483532E-9B8E-1E85-4E93-4768BD7896E5}"/>
              </a:ext>
            </a:extLst>
          </p:cNvPr>
          <p:cNvGrpSpPr/>
          <p:nvPr/>
        </p:nvGrpSpPr>
        <p:grpSpPr>
          <a:xfrm>
            <a:off x="-1977" y="3623765"/>
            <a:ext cx="4395613" cy="2453028"/>
            <a:chOff x="1052162" y="4115937"/>
            <a:chExt cx="4395613" cy="2453028"/>
          </a:xfrm>
        </p:grpSpPr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CB5EBA0D-2B3A-290F-3741-98922B9DB6EE}"/>
                </a:ext>
              </a:extLst>
            </p:cNvPr>
            <p:cNvGrpSpPr/>
            <p:nvPr/>
          </p:nvGrpSpPr>
          <p:grpSpPr>
            <a:xfrm>
              <a:off x="1052162" y="4115937"/>
              <a:ext cx="3690025" cy="2453028"/>
              <a:chOff x="923365" y="3978459"/>
              <a:chExt cx="3690025" cy="2453028"/>
            </a:xfrm>
          </p:grpSpPr>
          <p:grpSp>
            <p:nvGrpSpPr>
              <p:cNvPr id="50" name="组合 49">
                <a:extLst>
                  <a:ext uri="{FF2B5EF4-FFF2-40B4-BE49-F238E27FC236}">
                    <a16:creationId xmlns:a16="http://schemas.microsoft.com/office/drawing/2014/main" id="{0A3DF5BA-B1FA-6BD0-9C7F-F1438270F2D9}"/>
                  </a:ext>
                </a:extLst>
              </p:cNvPr>
              <p:cNvGrpSpPr/>
              <p:nvPr/>
            </p:nvGrpSpPr>
            <p:grpSpPr>
              <a:xfrm>
                <a:off x="923365" y="4019930"/>
                <a:ext cx="2867096" cy="2411557"/>
                <a:chOff x="-606906" y="3683598"/>
                <a:chExt cx="4077225" cy="2411557"/>
              </a:xfrm>
            </p:grpSpPr>
            <p:graphicFrame>
              <p:nvGraphicFramePr>
                <p:cNvPr id="48" name="图表 47">
                  <a:extLst>
                    <a:ext uri="{FF2B5EF4-FFF2-40B4-BE49-F238E27FC236}">
                      <a16:creationId xmlns:a16="http://schemas.microsoft.com/office/drawing/2014/main" id="{9CA2B7F5-636B-74F6-F003-C7DBB258993A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454454941"/>
                    </p:ext>
                  </p:extLst>
                </p:nvPr>
              </p:nvGraphicFramePr>
              <p:xfrm>
                <a:off x="-606906" y="3683598"/>
                <a:ext cx="4077225" cy="2411557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10"/>
                </a:graphicData>
              </a:graphic>
            </p:graphicFrame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DA16EADF-E9DD-99F1-5404-4C1109ED7A7F}"/>
                    </a:ext>
                  </a:extLst>
                </p:cNvPr>
                <p:cNvSpPr txBox="1"/>
                <p:nvPr/>
              </p:nvSpPr>
              <p:spPr>
                <a:xfrm>
                  <a:off x="1594251" y="5046125"/>
                  <a:ext cx="1025489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kumimoji="0" lang="zh-CN" altLang="en-US" sz="1400" b="1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cs typeface="+mn-ea"/>
                      <a:sym typeface="+mn-lt"/>
                    </a:rPr>
                    <a:t>微组装</a:t>
                  </a:r>
                  <a:endParaRPr lang="zh-CN" altLang="en-US" sz="1400" b="1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0206B548-D3F7-F5B0-24B2-E58C56F958A0}"/>
                  </a:ext>
                </a:extLst>
              </p:cNvPr>
              <p:cNvSpPr txBox="1"/>
              <p:nvPr/>
            </p:nvSpPr>
            <p:spPr>
              <a:xfrm>
                <a:off x="1613395" y="3978459"/>
                <a:ext cx="2999995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0" lang="en-US" altLang="zh-CN" sz="1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+mn-ea"/>
                    <a:sym typeface="+mn-lt"/>
                  </a:rPr>
                  <a:t>2023A </a:t>
                </a:r>
                <a:r>
                  <a:rPr kumimoji="0" lang="zh-CN" altLang="en-US" sz="1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+mn-ea"/>
                    <a:sym typeface="+mn-lt"/>
                  </a:rPr>
                  <a:t>营收拆分</a:t>
                </a:r>
                <a:endParaRPr lang="zh-CN" altLang="en-US" sz="1400" dirty="0">
                  <a:cs typeface="+mn-ea"/>
                  <a:sym typeface="+mn-lt"/>
                </a:endParaRPr>
              </a:p>
            </p:txBody>
          </p:sp>
        </p:grpSp>
        <p:sp>
          <p:nvSpPr>
            <p:cNvPr id="54" name="Rectangle 1">
              <a:extLst>
                <a:ext uri="{FF2B5EF4-FFF2-40B4-BE49-F238E27FC236}">
                  <a16:creationId xmlns:a16="http://schemas.microsoft.com/office/drawing/2014/main" id="{238384CD-D569-DECA-49ED-B8DB7C347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0064" y="4679637"/>
              <a:ext cx="287771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测试设备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等</a:t>
              </a:r>
              <a:endParaRPr lang="en-US" altLang="zh-CN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857A45E6-15A6-97FB-DE1D-2FCB5BB56D57}"/>
              </a:ext>
            </a:extLst>
          </p:cNvPr>
          <p:cNvGrpSpPr/>
          <p:nvPr/>
        </p:nvGrpSpPr>
        <p:grpSpPr>
          <a:xfrm>
            <a:off x="3106241" y="3433912"/>
            <a:ext cx="3124462" cy="1391828"/>
            <a:chOff x="3402950" y="3532009"/>
            <a:chExt cx="3124462" cy="1391828"/>
          </a:xfrm>
        </p:grpSpPr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E39043B5-5736-EAAC-43D6-478C75A51656}"/>
                </a:ext>
              </a:extLst>
            </p:cNvPr>
            <p:cNvSpPr txBox="1"/>
            <p:nvPr/>
          </p:nvSpPr>
          <p:spPr>
            <a:xfrm>
              <a:off x="3402950" y="4547131"/>
              <a:ext cx="3124462" cy="3767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ts val="2475"/>
                </a:lnSpc>
                <a:spcAft>
                  <a:spcPts val="1125"/>
                </a:spcAft>
              </a:pPr>
              <a:r>
                <a:rPr lang="zh-CN" altLang="en-US" sz="1400" b="0" i="0" dirty="0">
                  <a:solidFill>
                    <a:srgbClr val="333333"/>
                  </a:solidFill>
                  <a:effectLst/>
                  <a:cs typeface="+mn-ea"/>
                  <a:sym typeface="+mn-lt"/>
                </a:rPr>
                <a:t>测试</a:t>
              </a:r>
              <a:r>
                <a:rPr lang="en-US" altLang="zh-CN" sz="1400" b="0" i="0" dirty="0">
                  <a:solidFill>
                    <a:srgbClr val="333333"/>
                  </a:solidFill>
                  <a:effectLst/>
                  <a:cs typeface="+mn-ea"/>
                  <a:sym typeface="+mn-lt"/>
                </a:rPr>
                <a:t>+</a:t>
              </a:r>
              <a:r>
                <a:rPr lang="zh-CN" altLang="en-US" sz="1400" dirty="0">
                  <a:solidFill>
                    <a:srgbClr val="333333"/>
                  </a:solidFill>
                  <a:cs typeface="+mn-ea"/>
                  <a:sym typeface="+mn-lt"/>
                </a:rPr>
                <a:t>清洁</a:t>
              </a:r>
              <a:r>
                <a:rPr lang="en-US" altLang="zh-CN" sz="1400" dirty="0">
                  <a:solidFill>
                    <a:srgbClr val="333333"/>
                  </a:solidFill>
                  <a:cs typeface="+mn-ea"/>
                  <a:sym typeface="+mn-lt"/>
                </a:rPr>
                <a:t>+</a:t>
              </a:r>
              <a:r>
                <a:rPr lang="zh-CN" altLang="en-US" sz="1400" dirty="0">
                  <a:solidFill>
                    <a:srgbClr val="333333"/>
                  </a:solidFill>
                  <a:cs typeface="+mn-ea"/>
                  <a:sym typeface="+mn-lt"/>
                </a:rPr>
                <a:t>修复三合一设备</a:t>
              </a:r>
              <a:endParaRPr lang="zh-CN" altLang="en-US" sz="1400" b="0" i="0" dirty="0">
                <a:solidFill>
                  <a:srgbClr val="333333"/>
                </a:solidFill>
                <a:effectLst/>
                <a:cs typeface="+mn-ea"/>
                <a:sym typeface="+mn-lt"/>
              </a:endParaRPr>
            </a:p>
          </p:txBody>
        </p: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6FDB0F42-0C94-1A8D-4A9A-2ED09947B9B1}"/>
                </a:ext>
              </a:extLst>
            </p:cNvPr>
            <p:cNvSpPr txBox="1"/>
            <p:nvPr/>
          </p:nvSpPr>
          <p:spPr>
            <a:xfrm>
              <a:off x="4457376" y="3532009"/>
              <a:ext cx="1778493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rgbClr val="333333"/>
                  </a:solidFill>
                  <a:cs typeface="+mn-ea"/>
                  <a:sym typeface="+mn-lt"/>
                </a:rPr>
                <a:t>硅光修复</a:t>
              </a:r>
              <a:r>
                <a:rPr lang="en-US" altLang="zh-CN" sz="1400" dirty="0">
                  <a:solidFill>
                    <a:srgbClr val="333333"/>
                  </a:solidFill>
                  <a:cs typeface="+mn-ea"/>
                  <a:sym typeface="+mn-lt"/>
                </a:rPr>
                <a:t>0-1</a:t>
              </a:r>
              <a:r>
                <a:rPr lang="zh-CN" altLang="en-US" sz="1400" dirty="0">
                  <a:solidFill>
                    <a:srgbClr val="333333"/>
                  </a:solidFill>
                  <a:cs typeface="+mn-ea"/>
                  <a:sym typeface="+mn-lt"/>
                </a:rPr>
                <a:t>突破</a:t>
              </a:r>
              <a:endParaRPr lang="en-US" altLang="zh-CN" sz="1400" dirty="0">
                <a:solidFill>
                  <a:srgbClr val="333333"/>
                </a:solidFill>
                <a:cs typeface="+mn-ea"/>
                <a:sym typeface="+mn-lt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1400" u="sng" dirty="0">
                  <a:solidFill>
                    <a:srgbClr val="333333"/>
                  </a:solidFill>
                  <a:cs typeface="+mn-ea"/>
                  <a:sym typeface="+mn-lt"/>
                </a:rPr>
                <a:t>台积电迫切想要但产能被英伟达包圆</a:t>
              </a:r>
              <a:endParaRPr lang="en-US" altLang="zh-CN" sz="1400" u="sng" dirty="0">
                <a:solidFill>
                  <a:srgbClr val="333333"/>
                </a:solidFill>
                <a:cs typeface="+mn-ea"/>
                <a:sym typeface="+mn-lt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zh-CN" altLang="en-US" sz="1400" dirty="0">
                <a:cs typeface="+mn-ea"/>
                <a:sym typeface="+mn-lt"/>
              </a:endParaRPr>
            </a:p>
          </p:txBody>
        </p:sp>
      </p:grpSp>
      <p:sp>
        <p:nvSpPr>
          <p:cNvPr id="76" name="箭头: 右 75">
            <a:extLst>
              <a:ext uri="{FF2B5EF4-FFF2-40B4-BE49-F238E27FC236}">
                <a16:creationId xmlns:a16="http://schemas.microsoft.com/office/drawing/2014/main" id="{04AA4F32-38A1-7B54-5FB8-4F12418B8799}"/>
              </a:ext>
            </a:extLst>
          </p:cNvPr>
          <p:cNvSpPr/>
          <p:nvPr/>
        </p:nvSpPr>
        <p:spPr>
          <a:xfrm>
            <a:off x="2603556" y="5276780"/>
            <a:ext cx="397658" cy="117520"/>
          </a:xfrm>
          <a:prstGeom prst="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7" name="箭头: 右 76">
            <a:extLst>
              <a:ext uri="{FF2B5EF4-FFF2-40B4-BE49-F238E27FC236}">
                <a16:creationId xmlns:a16="http://schemas.microsoft.com/office/drawing/2014/main" id="{7D79DE0E-2BDD-E994-D5C4-F6DB200F2D13}"/>
              </a:ext>
            </a:extLst>
          </p:cNvPr>
          <p:cNvSpPr/>
          <p:nvPr/>
        </p:nvSpPr>
        <p:spPr>
          <a:xfrm>
            <a:off x="2603556" y="4247623"/>
            <a:ext cx="395821" cy="117520"/>
          </a:xfrm>
          <a:prstGeom prst="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35EB4309-6DB0-3A01-8B1B-2E4EEAEBD593}"/>
              </a:ext>
            </a:extLst>
          </p:cNvPr>
          <p:cNvGrpSpPr/>
          <p:nvPr/>
        </p:nvGrpSpPr>
        <p:grpSpPr>
          <a:xfrm>
            <a:off x="3104432" y="4925713"/>
            <a:ext cx="2805323" cy="1229926"/>
            <a:chOff x="3613696" y="3795302"/>
            <a:chExt cx="2805323" cy="1229926"/>
          </a:xfrm>
        </p:grpSpPr>
        <p:pic>
          <p:nvPicPr>
            <p:cNvPr id="85" name="图片 84">
              <a:extLst>
                <a:ext uri="{FF2B5EF4-FFF2-40B4-BE49-F238E27FC236}">
                  <a16:creationId xmlns:a16="http://schemas.microsoft.com/office/drawing/2014/main" id="{F5E6549A-406A-1198-A9FE-001AA2FD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680668" y="3820493"/>
              <a:ext cx="794640" cy="838986"/>
            </a:xfrm>
            <a:prstGeom prst="rect">
              <a:avLst/>
            </a:prstGeom>
          </p:spPr>
        </p:pic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5BCA0442-1230-9A00-EB53-12F4962257B3}"/>
                </a:ext>
              </a:extLst>
            </p:cNvPr>
            <p:cNvSpPr txBox="1"/>
            <p:nvPr/>
          </p:nvSpPr>
          <p:spPr>
            <a:xfrm>
              <a:off x="3613696" y="4653523"/>
              <a:ext cx="2066744" cy="3717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ts val="2475"/>
                </a:lnSpc>
                <a:spcAft>
                  <a:spcPts val="1125"/>
                </a:spcAft>
              </a:pPr>
              <a:r>
                <a:rPr lang="en-US" altLang="zh-CN" sz="1400" b="0" i="0" dirty="0">
                  <a:solidFill>
                    <a:srgbClr val="333333"/>
                  </a:solidFill>
                  <a:effectLst/>
                  <a:cs typeface="+mn-ea"/>
                  <a:sym typeface="+mn-lt"/>
                </a:rPr>
                <a:t>ASSEMBLYLINE </a:t>
              </a:r>
              <a:r>
                <a:rPr lang="zh-CN" altLang="en-US" sz="1400" b="0" i="0" dirty="0">
                  <a:solidFill>
                    <a:srgbClr val="333333"/>
                  </a:solidFill>
                  <a:effectLst/>
                  <a:cs typeface="+mn-ea"/>
                  <a:sym typeface="+mn-lt"/>
                </a:rPr>
                <a:t>系列</a:t>
              </a:r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C449F9DE-04A3-C679-0A3E-51CD7E98111D}"/>
                </a:ext>
              </a:extLst>
            </p:cNvPr>
            <p:cNvSpPr txBox="1"/>
            <p:nvPr/>
          </p:nvSpPr>
          <p:spPr>
            <a:xfrm>
              <a:off x="4640526" y="3795302"/>
              <a:ext cx="1778493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1400" b="0" i="0" dirty="0">
                  <a:solidFill>
                    <a:srgbClr val="333333"/>
                  </a:solidFill>
                  <a:effectLst/>
                  <a:cs typeface="+mn-ea"/>
                  <a:sym typeface="+mn-lt"/>
                </a:rPr>
                <a:t>自动微光学组装</a:t>
              </a:r>
              <a:endParaRPr lang="en-US" altLang="zh-CN" sz="1400" b="0" i="0" dirty="0">
                <a:solidFill>
                  <a:srgbClr val="333333"/>
                </a:solidFill>
                <a:effectLst/>
                <a:cs typeface="+mn-ea"/>
                <a:sym typeface="+mn-lt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cs typeface="+mn-ea"/>
                  <a:sym typeface="+mn-lt"/>
                </a:rPr>
                <a:t>5nm</a:t>
              </a:r>
              <a:r>
                <a:rPr lang="zh-CN" altLang="en-US" sz="1400" dirty="0">
                  <a:cs typeface="+mn-ea"/>
                  <a:sym typeface="+mn-lt"/>
                </a:rPr>
                <a:t>精度光耦</a:t>
              </a:r>
              <a:endParaRPr lang="en-US" altLang="zh-CN" sz="1400" dirty="0">
                <a:cs typeface="+mn-ea"/>
                <a:sym typeface="+mn-lt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cs typeface="+mn-ea"/>
                  <a:sym typeface="+mn-lt"/>
                </a:rPr>
                <a:t>精度</a:t>
              </a:r>
              <a:r>
                <a:rPr lang="en-US" altLang="zh-CN" sz="1400" dirty="0">
                  <a:cs typeface="+mn-ea"/>
                  <a:sym typeface="+mn-lt"/>
                </a:rPr>
                <a:t>+</a:t>
              </a:r>
              <a:r>
                <a:rPr lang="zh-CN" altLang="en-US" sz="1400" dirty="0">
                  <a:cs typeface="+mn-ea"/>
                  <a:sym typeface="+mn-lt"/>
                </a:rPr>
                <a:t>集成度全球领先</a:t>
              </a:r>
            </a:p>
          </p:txBody>
        </p:sp>
      </p:grpSp>
      <p:pic>
        <p:nvPicPr>
          <p:cNvPr id="89" name="图片 88">
            <a:extLst>
              <a:ext uri="{FF2B5EF4-FFF2-40B4-BE49-F238E27FC236}">
                <a16:creationId xmlns:a16="http://schemas.microsoft.com/office/drawing/2014/main" id="{7ED8AD2C-D4AA-53A1-2423-BC0E4BAB4DD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68608" y="3866264"/>
            <a:ext cx="937518" cy="517588"/>
          </a:xfrm>
          <a:prstGeom prst="rect">
            <a:avLst/>
          </a:prstGeom>
        </p:spPr>
      </p:pic>
      <p:sp>
        <p:nvSpPr>
          <p:cNvPr id="91" name="文本框 90">
            <a:extLst>
              <a:ext uri="{FF2B5EF4-FFF2-40B4-BE49-F238E27FC236}">
                <a16:creationId xmlns:a16="http://schemas.microsoft.com/office/drawing/2014/main" id="{4B95D73D-B278-12E8-8578-B4E1B797A478}"/>
              </a:ext>
            </a:extLst>
          </p:cNvPr>
          <p:cNvSpPr txBox="1"/>
          <p:nvPr/>
        </p:nvSpPr>
        <p:spPr>
          <a:xfrm>
            <a:off x="3239082" y="3568429"/>
            <a:ext cx="9292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2025.06</a:t>
            </a:r>
            <a:endParaRPr lang="zh-CN" altLang="en-US" sz="1400" dirty="0">
              <a:cs typeface="+mn-ea"/>
              <a:sym typeface="+mn-lt"/>
            </a:endParaRPr>
          </a:p>
        </p:txBody>
      </p:sp>
      <p:graphicFrame>
        <p:nvGraphicFramePr>
          <p:cNvPr id="92" name="图表 91">
            <a:extLst>
              <a:ext uri="{FF2B5EF4-FFF2-40B4-BE49-F238E27FC236}">
                <a16:creationId xmlns:a16="http://schemas.microsoft.com/office/drawing/2014/main" id="{7BDE8422-A032-BADE-C38B-4A7C505B9E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01279378"/>
              </p:ext>
            </p:extLst>
          </p:nvPr>
        </p:nvGraphicFramePr>
        <p:xfrm>
          <a:off x="6458084" y="1974032"/>
          <a:ext cx="5129857" cy="12354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93" name="文本框 92">
            <a:extLst>
              <a:ext uri="{FF2B5EF4-FFF2-40B4-BE49-F238E27FC236}">
                <a16:creationId xmlns:a16="http://schemas.microsoft.com/office/drawing/2014/main" id="{CDB7C8FB-2497-6267-B3E8-7C588F7D8706}"/>
              </a:ext>
            </a:extLst>
          </p:cNvPr>
          <p:cNvSpPr txBox="1"/>
          <p:nvPr/>
        </p:nvSpPr>
        <p:spPr>
          <a:xfrm>
            <a:off x="6271284" y="1567676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盈利能力：</a:t>
            </a:r>
            <a:r>
              <a:rPr kumimoji="1"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毛利远超封测行业平均，亏损持续收窄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F30BF220-4359-8CC2-7E44-546FD86E08B1}"/>
              </a:ext>
            </a:extLst>
          </p:cNvPr>
          <p:cNvGrpSpPr/>
          <p:nvPr/>
        </p:nvGrpSpPr>
        <p:grpSpPr>
          <a:xfrm>
            <a:off x="10706523" y="3892105"/>
            <a:ext cx="1536288" cy="585101"/>
            <a:chOff x="10926477" y="4990752"/>
            <a:chExt cx="1536288" cy="585101"/>
          </a:xfrm>
        </p:grpSpPr>
        <p:sp>
          <p:nvSpPr>
            <p:cNvPr id="96" name="recycling_95966">
              <a:extLst>
                <a:ext uri="{FF2B5EF4-FFF2-40B4-BE49-F238E27FC236}">
                  <a16:creationId xmlns:a16="http://schemas.microsoft.com/office/drawing/2014/main" id="{9ACACC4B-4082-0599-A9C3-506CC36B5034}"/>
                </a:ext>
              </a:extLst>
            </p:cNvPr>
            <p:cNvSpPr/>
            <p:nvPr/>
          </p:nvSpPr>
          <p:spPr>
            <a:xfrm>
              <a:off x="11025775" y="4990752"/>
              <a:ext cx="341259" cy="307177"/>
            </a:xfrm>
            <a:custGeom>
              <a:avLst/>
              <a:gdLst>
                <a:gd name="connsiteX0" fmla="*/ 138150 w 606227"/>
                <a:gd name="connsiteY0" fmla="*/ 242463 h 545683"/>
                <a:gd name="connsiteX1" fmla="*/ 170297 w 606227"/>
                <a:gd name="connsiteY1" fmla="*/ 378135 h 545683"/>
                <a:gd name="connsiteX2" fmla="*/ 132533 w 606227"/>
                <a:gd name="connsiteY2" fmla="*/ 355702 h 545683"/>
                <a:gd name="connsiteX3" fmla="*/ 107556 w 606227"/>
                <a:gd name="connsiteY3" fmla="*/ 399256 h 545683"/>
                <a:gd name="connsiteX4" fmla="*/ 265185 w 606227"/>
                <a:gd name="connsiteY4" fmla="*/ 400568 h 545683"/>
                <a:gd name="connsiteX5" fmla="*/ 264348 w 606227"/>
                <a:gd name="connsiteY5" fmla="*/ 510824 h 545683"/>
                <a:gd name="connsiteX6" fmla="*/ 90705 w 606227"/>
                <a:gd name="connsiteY6" fmla="*/ 509631 h 545683"/>
                <a:gd name="connsiteX7" fmla="*/ 72899 w 606227"/>
                <a:gd name="connsiteY7" fmla="*/ 480396 h 545683"/>
                <a:gd name="connsiteX8" fmla="*/ 5258 w 606227"/>
                <a:gd name="connsiteY8" fmla="*/ 362265 h 545683"/>
                <a:gd name="connsiteX9" fmla="*/ 39676 w 606227"/>
                <a:gd name="connsiteY9" fmla="*/ 299858 h 545683"/>
                <a:gd name="connsiteX10" fmla="*/ 0 w 606227"/>
                <a:gd name="connsiteY10" fmla="*/ 275993 h 545683"/>
                <a:gd name="connsiteX11" fmla="*/ 522226 w 606227"/>
                <a:gd name="connsiteY11" fmla="*/ 201253 h 545683"/>
                <a:gd name="connsiteX12" fmla="*/ 606227 w 606227"/>
                <a:gd name="connsiteY12" fmla="*/ 352105 h 545683"/>
                <a:gd name="connsiteX13" fmla="*/ 587706 w 606227"/>
                <a:gd name="connsiteY13" fmla="*/ 383374 h 545683"/>
                <a:gd name="connsiteX14" fmla="*/ 516849 w 606227"/>
                <a:gd name="connsiteY14" fmla="*/ 499496 h 545683"/>
                <a:gd name="connsiteX15" fmla="*/ 445515 w 606227"/>
                <a:gd name="connsiteY15" fmla="*/ 499496 h 545683"/>
                <a:gd name="connsiteX16" fmla="*/ 443603 w 606227"/>
                <a:gd name="connsiteY16" fmla="*/ 545683 h 545683"/>
                <a:gd name="connsiteX17" fmla="*/ 347534 w 606227"/>
                <a:gd name="connsiteY17" fmla="*/ 441137 h 545683"/>
                <a:gd name="connsiteX18" fmla="*/ 451131 w 606227"/>
                <a:gd name="connsiteY18" fmla="*/ 347451 h 545683"/>
                <a:gd name="connsiteX19" fmla="*/ 449697 w 606227"/>
                <a:gd name="connsiteY19" fmla="*/ 391370 h 545683"/>
                <a:gd name="connsiteX20" fmla="*/ 499882 w 606227"/>
                <a:gd name="connsiteY20" fmla="*/ 392205 h 545683"/>
                <a:gd name="connsiteX21" fmla="*/ 424963 w 606227"/>
                <a:gd name="connsiteY21" fmla="*/ 253646 h 545683"/>
                <a:gd name="connsiteX22" fmla="*/ 224895 w 606227"/>
                <a:gd name="connsiteY22" fmla="*/ 0 h 545683"/>
                <a:gd name="connsiteX23" fmla="*/ 393884 w 606227"/>
                <a:gd name="connsiteY23" fmla="*/ 119 h 545683"/>
                <a:gd name="connsiteX24" fmla="*/ 430933 w 606227"/>
                <a:gd name="connsiteY24" fmla="*/ 60975 h 545683"/>
                <a:gd name="connsiteX25" fmla="*/ 471447 w 606227"/>
                <a:gd name="connsiteY25" fmla="*/ 38422 h 545683"/>
                <a:gd name="connsiteX26" fmla="*/ 432008 w 606227"/>
                <a:gd name="connsiteY26" fmla="*/ 174810 h 545683"/>
                <a:gd name="connsiteX27" fmla="*/ 298036 w 606227"/>
                <a:gd name="connsiteY27" fmla="*/ 135194 h 545683"/>
                <a:gd name="connsiteX28" fmla="*/ 336399 w 606227"/>
                <a:gd name="connsiteY28" fmla="*/ 113597 h 545683"/>
                <a:gd name="connsiteX29" fmla="*/ 310943 w 606227"/>
                <a:gd name="connsiteY29" fmla="*/ 70401 h 545683"/>
                <a:gd name="connsiteX30" fmla="*/ 231468 w 606227"/>
                <a:gd name="connsiteY30" fmla="*/ 206192 h 545683"/>
                <a:gd name="connsiteX31" fmla="*/ 135979 w 606227"/>
                <a:gd name="connsiteY31" fmla="*/ 150587 h 545683"/>
                <a:gd name="connsiteX32" fmla="*/ 211032 w 606227"/>
                <a:gd name="connsiteY32" fmla="*/ 22194 h 545683"/>
                <a:gd name="connsiteX33" fmla="*/ 224178 w 606227"/>
                <a:gd name="connsiteY33" fmla="*/ 1074 h 54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606227" h="545683">
                  <a:moveTo>
                    <a:pt x="138150" y="242463"/>
                  </a:moveTo>
                  <a:lnTo>
                    <a:pt x="170297" y="378135"/>
                  </a:lnTo>
                  <a:lnTo>
                    <a:pt x="132533" y="355702"/>
                  </a:lnTo>
                  <a:lnTo>
                    <a:pt x="107556" y="399256"/>
                  </a:lnTo>
                  <a:lnTo>
                    <a:pt x="265185" y="400568"/>
                  </a:lnTo>
                  <a:lnTo>
                    <a:pt x="264348" y="510824"/>
                  </a:lnTo>
                  <a:lnTo>
                    <a:pt x="90705" y="509631"/>
                  </a:lnTo>
                  <a:lnTo>
                    <a:pt x="72899" y="480396"/>
                  </a:lnTo>
                  <a:lnTo>
                    <a:pt x="5258" y="362265"/>
                  </a:lnTo>
                  <a:lnTo>
                    <a:pt x="39676" y="299858"/>
                  </a:lnTo>
                  <a:lnTo>
                    <a:pt x="0" y="275993"/>
                  </a:lnTo>
                  <a:close/>
                  <a:moveTo>
                    <a:pt x="522226" y="201253"/>
                  </a:moveTo>
                  <a:lnTo>
                    <a:pt x="606227" y="352105"/>
                  </a:lnTo>
                  <a:lnTo>
                    <a:pt x="587706" y="383374"/>
                  </a:lnTo>
                  <a:lnTo>
                    <a:pt x="516849" y="499496"/>
                  </a:lnTo>
                  <a:lnTo>
                    <a:pt x="445515" y="499496"/>
                  </a:lnTo>
                  <a:lnTo>
                    <a:pt x="443603" y="545683"/>
                  </a:lnTo>
                  <a:lnTo>
                    <a:pt x="347534" y="441137"/>
                  </a:lnTo>
                  <a:lnTo>
                    <a:pt x="451131" y="347451"/>
                  </a:lnTo>
                  <a:lnTo>
                    <a:pt x="449697" y="391370"/>
                  </a:lnTo>
                  <a:lnTo>
                    <a:pt x="499882" y="392205"/>
                  </a:lnTo>
                  <a:lnTo>
                    <a:pt x="424963" y="253646"/>
                  </a:lnTo>
                  <a:close/>
                  <a:moveTo>
                    <a:pt x="224895" y="0"/>
                  </a:moveTo>
                  <a:lnTo>
                    <a:pt x="393884" y="119"/>
                  </a:lnTo>
                  <a:lnTo>
                    <a:pt x="430933" y="60975"/>
                  </a:lnTo>
                  <a:lnTo>
                    <a:pt x="471447" y="38422"/>
                  </a:lnTo>
                  <a:lnTo>
                    <a:pt x="432008" y="174810"/>
                  </a:lnTo>
                  <a:lnTo>
                    <a:pt x="298036" y="135194"/>
                  </a:lnTo>
                  <a:lnTo>
                    <a:pt x="336399" y="113597"/>
                  </a:lnTo>
                  <a:lnTo>
                    <a:pt x="310943" y="70401"/>
                  </a:lnTo>
                  <a:lnTo>
                    <a:pt x="231468" y="206192"/>
                  </a:lnTo>
                  <a:lnTo>
                    <a:pt x="135979" y="150587"/>
                  </a:lnTo>
                  <a:lnTo>
                    <a:pt x="211032" y="22194"/>
                  </a:lnTo>
                  <a:cubicBezTo>
                    <a:pt x="218322" y="9785"/>
                    <a:pt x="224178" y="1074"/>
                    <a:pt x="224178" y="1074"/>
                  </a:cubicBezTo>
                  <a:close/>
                </a:path>
              </a:pathLst>
            </a:custGeom>
            <a:solidFill>
              <a:srgbClr val="0052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6432E317-E7B9-701E-A911-28C5ABBBBE35}"/>
                </a:ext>
              </a:extLst>
            </p:cNvPr>
            <p:cNvSpPr txBox="1"/>
            <p:nvPr/>
          </p:nvSpPr>
          <p:spPr>
            <a:xfrm>
              <a:off x="10926477" y="5298854"/>
              <a:ext cx="153628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zh-CN" altLang="en-US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cs typeface="+mn-ea"/>
                  <a:sym typeface="+mn-lt"/>
                </a:rPr>
                <a:t>产能利用率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8B1550BD-1D69-EC16-44B1-065FE1BB6B04}"/>
                </a:ext>
              </a:extLst>
            </p:cNvPr>
            <p:cNvSpPr txBox="1"/>
            <p:nvPr/>
          </p:nvSpPr>
          <p:spPr>
            <a:xfrm>
              <a:off x="11384413" y="4990752"/>
              <a:ext cx="8763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85%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</p:grpSp>
      <p:sp>
        <p:nvSpPr>
          <p:cNvPr id="101" name="流程图: 摘录 100">
            <a:extLst>
              <a:ext uri="{FF2B5EF4-FFF2-40B4-BE49-F238E27FC236}">
                <a16:creationId xmlns:a16="http://schemas.microsoft.com/office/drawing/2014/main" id="{306CD657-DB77-3194-3368-C2D64FB788C4}"/>
              </a:ext>
            </a:extLst>
          </p:cNvPr>
          <p:cNvSpPr/>
          <p:nvPr/>
        </p:nvSpPr>
        <p:spPr>
          <a:xfrm rot="16200000">
            <a:off x="8903129" y="4075628"/>
            <a:ext cx="508635" cy="141589"/>
          </a:xfrm>
          <a:prstGeom prst="flowChartExtra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102" name="箭头: 右 101">
            <a:extLst>
              <a:ext uri="{FF2B5EF4-FFF2-40B4-BE49-F238E27FC236}">
                <a16:creationId xmlns:a16="http://schemas.microsoft.com/office/drawing/2014/main" id="{FC442DF0-BADE-8275-3AB9-49B2EB9FACCE}"/>
              </a:ext>
            </a:extLst>
          </p:cNvPr>
          <p:cNvSpPr/>
          <p:nvPr/>
        </p:nvSpPr>
        <p:spPr>
          <a:xfrm>
            <a:off x="10350154" y="4093548"/>
            <a:ext cx="269664" cy="119318"/>
          </a:xfrm>
          <a:prstGeom prst="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010AC663-CC66-FF6B-3712-A1AFCCA8DBAD}"/>
              </a:ext>
            </a:extLst>
          </p:cNvPr>
          <p:cNvSpPr txBox="1"/>
          <p:nvPr/>
        </p:nvSpPr>
        <p:spPr>
          <a:xfrm>
            <a:off x="6271284" y="4692291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上下游：</a:t>
            </a:r>
            <a:r>
              <a:rPr kumimoji="1"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巨头客户占比大，供应商集中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6" name="圆角矩形 1636">
            <a:extLst>
              <a:ext uri="{FF2B5EF4-FFF2-40B4-BE49-F238E27FC236}">
                <a16:creationId xmlns:a16="http://schemas.microsoft.com/office/drawing/2014/main" id="{083FE0B3-A52B-9965-A9F0-9A5055540272}"/>
              </a:ext>
            </a:extLst>
          </p:cNvPr>
          <p:cNvSpPr/>
          <p:nvPr/>
        </p:nvSpPr>
        <p:spPr>
          <a:xfrm>
            <a:off x="238261" y="1473290"/>
            <a:ext cx="5712301" cy="4992746"/>
          </a:xfrm>
          <a:prstGeom prst="roundRect">
            <a:avLst>
              <a:gd name="adj" fmla="val 3523"/>
            </a:avLst>
          </a:prstGeom>
          <a:noFill/>
          <a:ln w="6350" cap="sq">
            <a:solidFill>
              <a:schemeClr val="tx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00763911-E411-2B21-6E2A-8FB9F5CBF7F9}"/>
              </a:ext>
            </a:extLst>
          </p:cNvPr>
          <p:cNvSpPr txBox="1"/>
          <p:nvPr/>
        </p:nvSpPr>
        <p:spPr>
          <a:xfrm>
            <a:off x="291221" y="3203909"/>
            <a:ext cx="90977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光电器件微组装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+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自动化测试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垄断地位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109" name="圆角矩形 1636">
            <a:extLst>
              <a:ext uri="{FF2B5EF4-FFF2-40B4-BE49-F238E27FC236}">
                <a16:creationId xmlns:a16="http://schemas.microsoft.com/office/drawing/2014/main" id="{AD0371B0-D2D6-0324-BB5A-277C944BF757}"/>
              </a:ext>
            </a:extLst>
          </p:cNvPr>
          <p:cNvSpPr/>
          <p:nvPr/>
        </p:nvSpPr>
        <p:spPr>
          <a:xfrm>
            <a:off x="6130599" y="1473290"/>
            <a:ext cx="5712301" cy="4992746"/>
          </a:xfrm>
          <a:prstGeom prst="roundRect">
            <a:avLst>
              <a:gd name="adj" fmla="val 3523"/>
            </a:avLst>
          </a:prstGeom>
          <a:noFill/>
          <a:ln w="6350" cap="sq">
            <a:solidFill>
              <a:schemeClr val="tx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E00BD308-531F-5D9B-D859-6BBCD44F85F2}"/>
              </a:ext>
            </a:extLst>
          </p:cNvPr>
          <p:cNvSpPr txBox="1"/>
          <p:nvPr/>
        </p:nvSpPr>
        <p:spPr>
          <a:xfrm>
            <a:off x="6297675" y="1782548"/>
            <a:ext cx="14296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100" b="1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cs typeface="+mn-ea"/>
                <a:sym typeface="+mn-lt"/>
              </a:rPr>
              <a:t>亿美元</a:t>
            </a:r>
            <a:endParaRPr lang="zh-CN" altLang="en-US" sz="105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F6E869D7-9532-DA1C-EE6B-46E52FFD3DF7}"/>
              </a:ext>
            </a:extLst>
          </p:cNvPr>
          <p:cNvGrpSpPr/>
          <p:nvPr/>
        </p:nvGrpSpPr>
        <p:grpSpPr>
          <a:xfrm>
            <a:off x="5844455" y="5023358"/>
            <a:ext cx="2508785" cy="1575336"/>
            <a:chOff x="5814358" y="4940035"/>
            <a:chExt cx="2508785" cy="1575336"/>
          </a:xfrm>
        </p:grpSpPr>
        <p:graphicFrame>
          <p:nvGraphicFramePr>
            <p:cNvPr id="111" name="图表 110">
              <a:extLst>
                <a:ext uri="{FF2B5EF4-FFF2-40B4-BE49-F238E27FC236}">
                  <a16:creationId xmlns:a16="http://schemas.microsoft.com/office/drawing/2014/main" id="{C62B12CD-DEA7-D4E4-84A2-81C21616FD18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300961070"/>
                </p:ext>
              </p:extLst>
            </p:nvPr>
          </p:nvGraphicFramePr>
          <p:xfrm>
            <a:off x="5814358" y="4940035"/>
            <a:ext cx="2326067" cy="157533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4"/>
            </a:graphicData>
          </a:graphic>
        </p:graphicFrame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0208D120-F248-D8FE-B872-D1C9ACC1571F}"/>
                </a:ext>
              </a:extLst>
            </p:cNvPr>
            <p:cNvSpPr txBox="1"/>
            <p:nvPr/>
          </p:nvSpPr>
          <p:spPr>
            <a:xfrm>
              <a:off x="6977391" y="5297086"/>
              <a:ext cx="134575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cs typeface="+mn-ea"/>
                  <a:sym typeface="+mn-lt"/>
                </a:rPr>
                <a:t>CR5</a:t>
              </a:r>
              <a:endParaRPr lang="zh-CN" altLang="en-US" sz="14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22" name="文本框 121">
            <a:extLst>
              <a:ext uri="{FF2B5EF4-FFF2-40B4-BE49-F238E27FC236}">
                <a16:creationId xmlns:a16="http://schemas.microsoft.com/office/drawing/2014/main" id="{EEEC84D2-0E0F-BC65-9770-3EB1A8687544}"/>
              </a:ext>
            </a:extLst>
          </p:cNvPr>
          <p:cNvSpPr txBox="1"/>
          <p:nvPr/>
        </p:nvSpPr>
        <p:spPr>
          <a:xfrm>
            <a:off x="6561747" y="4946889"/>
            <a:ext cx="13877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客户占比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23" name="左大括号 122">
            <a:extLst>
              <a:ext uri="{FF2B5EF4-FFF2-40B4-BE49-F238E27FC236}">
                <a16:creationId xmlns:a16="http://schemas.microsoft.com/office/drawing/2014/main" id="{2A01A2D0-1BA7-691B-2D62-0DE10A07590E}"/>
              </a:ext>
            </a:extLst>
          </p:cNvPr>
          <p:cNvSpPr/>
          <p:nvPr/>
        </p:nvSpPr>
        <p:spPr>
          <a:xfrm>
            <a:off x="7652532" y="5414281"/>
            <a:ext cx="244731" cy="790243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27" name="图像" descr="图像">
            <a:extLst>
              <a:ext uri="{FF2B5EF4-FFF2-40B4-BE49-F238E27FC236}">
                <a16:creationId xmlns:a16="http://schemas.microsoft.com/office/drawing/2014/main" id="{56711EB7-779D-687C-2D46-ACC9EBC20E1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56330" y="5693540"/>
            <a:ext cx="328497" cy="158383"/>
          </a:xfrm>
          <a:prstGeom prst="rect">
            <a:avLst/>
          </a:prstGeom>
          <a:ln w="12700">
            <a:miter lim="400000"/>
          </a:ln>
        </p:spPr>
      </p:pic>
      <p:pic>
        <p:nvPicPr>
          <p:cNvPr id="128" name="图像" descr="图像">
            <a:extLst>
              <a:ext uri="{FF2B5EF4-FFF2-40B4-BE49-F238E27FC236}">
                <a16:creationId xmlns:a16="http://schemas.microsoft.com/office/drawing/2014/main" id="{CCC31D5B-5C11-3CCA-5F1F-B960072E2B8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76483" y="5670621"/>
            <a:ext cx="349749" cy="18886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3" name="图片 132">
            <a:extLst>
              <a:ext uri="{FF2B5EF4-FFF2-40B4-BE49-F238E27FC236}">
                <a16:creationId xmlns:a16="http://schemas.microsoft.com/office/drawing/2014/main" id="{3505F9A0-8D42-91F8-00F6-D04A26784C4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65972" y="5272458"/>
            <a:ext cx="424641" cy="150013"/>
          </a:xfrm>
          <a:prstGeom prst="rect">
            <a:avLst/>
          </a:prstGeom>
        </p:spPr>
      </p:pic>
      <p:pic>
        <p:nvPicPr>
          <p:cNvPr id="134" name="图片 133">
            <a:extLst>
              <a:ext uri="{FF2B5EF4-FFF2-40B4-BE49-F238E27FC236}">
                <a16:creationId xmlns:a16="http://schemas.microsoft.com/office/drawing/2014/main" id="{7E52CD9D-56D1-36B2-1406-1B685F9A0A4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568343" y="5279508"/>
            <a:ext cx="283204" cy="181777"/>
          </a:xfrm>
          <a:prstGeom prst="rect">
            <a:avLst/>
          </a:prstGeom>
        </p:spPr>
      </p:pic>
      <p:pic>
        <p:nvPicPr>
          <p:cNvPr id="136" name="图片 135">
            <a:extLst>
              <a:ext uri="{FF2B5EF4-FFF2-40B4-BE49-F238E27FC236}">
                <a16:creationId xmlns:a16="http://schemas.microsoft.com/office/drawing/2014/main" id="{D2E31E35-034B-9EC4-2D14-AA717B9E047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96554" y="6012823"/>
            <a:ext cx="246629" cy="295634"/>
          </a:xfrm>
          <a:prstGeom prst="rect">
            <a:avLst/>
          </a:prstGeom>
        </p:spPr>
      </p:pic>
      <p:graphicFrame>
        <p:nvGraphicFramePr>
          <p:cNvPr id="142" name="图表 141">
            <a:extLst>
              <a:ext uri="{FF2B5EF4-FFF2-40B4-BE49-F238E27FC236}">
                <a16:creationId xmlns:a16="http://schemas.microsoft.com/office/drawing/2014/main" id="{34375ADA-0D9F-CA4A-2A46-8FBBB873A17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31643370"/>
              </p:ext>
            </p:extLst>
          </p:nvPr>
        </p:nvGraphicFramePr>
        <p:xfrm>
          <a:off x="8524091" y="5012895"/>
          <a:ext cx="2645530" cy="15873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  <p:sp>
        <p:nvSpPr>
          <p:cNvPr id="143" name="文本框 142">
            <a:extLst>
              <a:ext uri="{FF2B5EF4-FFF2-40B4-BE49-F238E27FC236}">
                <a16:creationId xmlns:a16="http://schemas.microsoft.com/office/drawing/2014/main" id="{9FA1ED81-34B6-8BDF-ED5A-0DF9E89CBF5B}"/>
              </a:ext>
            </a:extLst>
          </p:cNvPr>
          <p:cNvSpPr txBox="1"/>
          <p:nvPr/>
        </p:nvSpPr>
        <p:spPr>
          <a:xfrm>
            <a:off x="9317262" y="4957447"/>
            <a:ext cx="13877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供应商占比</a:t>
            </a:r>
            <a:endParaRPr lang="zh-CN" altLang="en-US" sz="1400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103437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hink-cell data - do not delete" hidden="1">
            <a:extLst>
              <a:ext uri="{FF2B5EF4-FFF2-40B4-BE49-F238E27FC236}">
                <a16:creationId xmlns:a16="http://schemas.microsoft.com/office/drawing/2014/main" id="{F48045EE-3F8C-A4F8-0B54-F9AE0FBB3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467434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401" imgH="401" progId="TCLayout.ActiveDocument.1">
                  <p:embed/>
                </p:oleObj>
              </mc:Choice>
              <mc:Fallback>
                <p:oleObj name="think-cell 幻灯片" r:id="rId10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41BFB9DB-E3DF-4C8C-3B60-3D8B55BD3164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58FC10A-6E48-BF6C-E338-E510C5B04ADC}"/>
              </a:ext>
            </a:extLst>
          </p:cNvPr>
          <p:cNvSpPr txBox="1"/>
          <p:nvPr/>
        </p:nvSpPr>
        <p:spPr>
          <a:xfrm>
            <a:off x="461963" y="1486366"/>
            <a:ext cx="936625" cy="112542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业务</a:t>
            </a:r>
            <a:endParaRPr kumimoji="1" lang="en-US" altLang="zh-CN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&amp;</a:t>
            </a:r>
          </a:p>
          <a:p>
            <a:pPr algn="ctr">
              <a:buNone/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核心产品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44DE523-707B-F6F1-6098-29369A44CF08}"/>
              </a:ext>
            </a:extLst>
          </p:cNvPr>
          <p:cNvSpPr txBox="1"/>
          <p:nvPr/>
        </p:nvSpPr>
        <p:spPr>
          <a:xfrm>
            <a:off x="461963" y="3850640"/>
            <a:ext cx="936625" cy="9604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核心优势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1194B2D-9F90-B8AC-9359-DF7456CD05EC}"/>
              </a:ext>
            </a:extLst>
          </p:cNvPr>
          <p:cNvSpPr txBox="1"/>
          <p:nvPr/>
        </p:nvSpPr>
        <p:spPr>
          <a:xfrm>
            <a:off x="461963" y="4875698"/>
            <a:ext cx="936625" cy="14943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落地进展</a:t>
            </a:r>
          </a:p>
        </p:txBody>
      </p:sp>
      <p:cxnSp>
        <p:nvCxnSpPr>
          <p:cNvPr id="21" name="直线连接符 8">
            <a:extLst>
              <a:ext uri="{FF2B5EF4-FFF2-40B4-BE49-F238E27FC236}">
                <a16:creationId xmlns:a16="http://schemas.microsoft.com/office/drawing/2014/main" id="{42B7A158-75DD-349F-D01C-DE1C1004D9D3}"/>
              </a:ext>
            </a:extLst>
          </p:cNvPr>
          <p:cNvCxnSpPr>
            <a:cxnSpLocks/>
          </p:cNvCxnSpPr>
          <p:nvPr/>
        </p:nvCxnSpPr>
        <p:spPr>
          <a:xfrm>
            <a:off x="1636713" y="1308628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A3064033-D000-FE10-E7DE-5DC21087055C}"/>
              </a:ext>
            </a:extLst>
          </p:cNvPr>
          <p:cNvSpPr txBox="1"/>
          <p:nvPr/>
        </p:nvSpPr>
        <p:spPr>
          <a:xfrm>
            <a:off x="1644650" y="5362143"/>
            <a:ext cx="3057525" cy="70127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2024.10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：过去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18 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个月已小批量出货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15k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颗芯粒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26E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：首批高量产客户（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AI 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加速卡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/ 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交换机）上机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4A1B8F5-D0BC-3FA4-D0DA-9ABACEB52E9C}"/>
              </a:ext>
            </a:extLst>
          </p:cNvPr>
          <p:cNvSpPr txBox="1"/>
          <p:nvPr/>
        </p:nvSpPr>
        <p:spPr>
          <a:xfrm>
            <a:off x="1636713" y="1486366"/>
            <a:ext cx="2376488" cy="3532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OIO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芯粒制造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75A6610-4812-1CF8-1C74-D7202344167B}"/>
              </a:ext>
            </a:extLst>
          </p:cNvPr>
          <p:cNvSpPr txBox="1"/>
          <p:nvPr/>
        </p:nvSpPr>
        <p:spPr>
          <a:xfrm>
            <a:off x="1644649" y="3934764"/>
            <a:ext cx="3154565" cy="1068002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硅光子单片集成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+ </a:t>
            </a:r>
            <a:r>
              <a:rPr lang="en-US" altLang="zh-CN" sz="14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Chiplet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标准化生态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技术被纳入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PCIe 6.0 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标准，形成生态壁垒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E2D226C5-B38E-E0E7-1A77-1F5FA7951C5A}"/>
              </a:ext>
            </a:extLst>
          </p:cNvPr>
          <p:cNvGrpSpPr/>
          <p:nvPr/>
        </p:nvGrpSpPr>
        <p:grpSpPr>
          <a:xfrm>
            <a:off x="1701800" y="915608"/>
            <a:ext cx="1779588" cy="338554"/>
            <a:chOff x="4871320" y="978623"/>
            <a:chExt cx="1779748" cy="338554"/>
          </a:xfrm>
        </p:grpSpPr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E774ABCF-B9C8-DEB5-E991-EFE99AFF9B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871320" y="1000764"/>
              <a:ext cx="775992" cy="216870"/>
            </a:xfrm>
            <a:prstGeom prst="rect">
              <a:avLst/>
            </a:prstGeom>
          </p:spPr>
        </p:pic>
        <p:sp>
          <p:nvSpPr>
            <p:cNvPr id="37" name="Rectangle 13">
              <a:extLst>
                <a:ext uri="{FF2B5EF4-FFF2-40B4-BE49-F238E27FC236}">
                  <a16:creationId xmlns:a16="http://schemas.microsoft.com/office/drawing/2014/main" id="{5933F121-97EB-551B-9981-34C7F0754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8157" y="978623"/>
              <a:ext cx="93291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15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40B2241A-E239-5296-5E0C-6CA6D4B1BE28}"/>
              </a:ext>
            </a:extLst>
          </p:cNvPr>
          <p:cNvGrpSpPr/>
          <p:nvPr/>
        </p:nvGrpSpPr>
        <p:grpSpPr>
          <a:xfrm>
            <a:off x="5105400" y="870274"/>
            <a:ext cx="2054225" cy="366882"/>
            <a:chOff x="7574598" y="916125"/>
            <a:chExt cx="2054042" cy="366882"/>
          </a:xfrm>
        </p:grpSpPr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6F3C28AB-26FD-E807-11D4-16D3A5BFD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574598" y="916125"/>
              <a:ext cx="1229948" cy="279934"/>
            </a:xfrm>
            <a:prstGeom prst="rect">
              <a:avLst/>
            </a:prstGeom>
          </p:spPr>
        </p:pic>
        <p:sp>
          <p:nvSpPr>
            <p:cNvPr id="39" name="Rectangle 13">
              <a:extLst>
                <a:ext uri="{FF2B5EF4-FFF2-40B4-BE49-F238E27FC236}">
                  <a16:creationId xmlns:a16="http://schemas.microsoft.com/office/drawing/2014/main" id="{1A493E5D-976D-1969-CD52-F15156262C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0294" y="944453"/>
              <a:ext cx="8783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D87C040F-25B6-0304-0507-B8FCC732CC67}"/>
              </a:ext>
            </a:extLst>
          </p:cNvPr>
          <p:cNvGrpSpPr/>
          <p:nvPr/>
        </p:nvGrpSpPr>
        <p:grpSpPr>
          <a:xfrm>
            <a:off x="8672513" y="894588"/>
            <a:ext cx="2016125" cy="338554"/>
            <a:chOff x="1471613" y="4870565"/>
            <a:chExt cx="2015690" cy="338554"/>
          </a:xfrm>
        </p:grpSpPr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7453A26C-8BE4-EA01-9579-8E86CCDCFE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471613" y="4886103"/>
              <a:ext cx="1108830" cy="230637"/>
            </a:xfrm>
            <a:prstGeom prst="rect">
              <a:avLst/>
            </a:prstGeom>
          </p:spPr>
        </p:pic>
        <p:sp>
          <p:nvSpPr>
            <p:cNvPr id="42" name="Rectangle 13">
              <a:extLst>
                <a:ext uri="{FF2B5EF4-FFF2-40B4-BE49-F238E27FC236}">
                  <a16:creationId xmlns:a16="http://schemas.microsoft.com/office/drawing/2014/main" id="{A06B55FA-4D2C-EDAE-36C9-3C12F2223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957" y="4870565"/>
              <a:ext cx="8783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17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45" name="文本框 44">
            <a:extLst>
              <a:ext uri="{FF2B5EF4-FFF2-40B4-BE49-F238E27FC236}">
                <a16:creationId xmlns:a16="http://schemas.microsoft.com/office/drawing/2014/main" id="{BB41C948-5BE5-98E3-AE9D-EFF7476EC14A}"/>
              </a:ext>
            </a:extLst>
          </p:cNvPr>
          <p:cNvSpPr txBox="1"/>
          <p:nvPr/>
        </p:nvSpPr>
        <p:spPr>
          <a:xfrm>
            <a:off x="461963" y="2724903"/>
            <a:ext cx="936625" cy="10088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估值</a:t>
            </a:r>
            <a:endParaRPr kumimoji="1" lang="en-US" altLang="zh-CN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&amp;</a:t>
            </a:r>
          </a:p>
          <a:p>
            <a:pPr algn="ctr">
              <a:buNone/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融资</a:t>
            </a:r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2740787D-1C41-228C-5546-E6DD974C012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00200" y="1768049"/>
            <a:ext cx="823913" cy="605005"/>
          </a:xfrm>
          <a:prstGeom prst="rect">
            <a:avLst/>
          </a:prstGeom>
        </p:spPr>
      </p:pic>
      <p:sp>
        <p:nvSpPr>
          <p:cNvPr id="51" name="文本框 50">
            <a:extLst>
              <a:ext uri="{FF2B5EF4-FFF2-40B4-BE49-F238E27FC236}">
                <a16:creationId xmlns:a16="http://schemas.microsoft.com/office/drawing/2014/main" id="{69AF700F-B4A4-6E59-D887-E8164F4034F3}"/>
              </a:ext>
            </a:extLst>
          </p:cNvPr>
          <p:cNvSpPr txBox="1"/>
          <p:nvPr/>
        </p:nvSpPr>
        <p:spPr>
          <a:xfrm>
            <a:off x="2592388" y="1836401"/>
            <a:ext cx="1949450" cy="60528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512Gbps 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光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I/O 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带宽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功耗低至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4.9pJ/bit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3" name="Rectangle 3">
            <a:extLst>
              <a:ext uri="{FF2B5EF4-FFF2-40B4-BE49-F238E27FC236}">
                <a16:creationId xmlns:a16="http://schemas.microsoft.com/office/drawing/2014/main" id="{419CFA3E-0A90-B5CC-D463-A5802821C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4650" y="3267610"/>
            <a:ext cx="3081338" cy="30777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产业资本：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Intel Capital、Nvidia、AMD、GlobalFoundries</a:t>
            </a: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25E24262-AB4B-C86E-19A4-9CC7609326E8}"/>
              </a:ext>
            </a:extLst>
          </p:cNvPr>
          <p:cNvGrpSpPr/>
          <p:nvPr/>
        </p:nvGrpSpPr>
        <p:grpSpPr>
          <a:xfrm>
            <a:off x="1037636" y="2930962"/>
            <a:ext cx="1327150" cy="276999"/>
            <a:chOff x="1273261" y="3094553"/>
            <a:chExt cx="1327328" cy="276999"/>
          </a:xfrm>
        </p:grpSpPr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09D56FF0-0966-1199-4264-B8CC4002FA50}"/>
                </a:ext>
              </a:extLst>
            </p:cNvPr>
            <p:cNvSpPr/>
            <p:nvPr/>
          </p:nvSpPr>
          <p:spPr>
            <a:xfrm>
              <a:off x="1822017" y="3112143"/>
              <a:ext cx="241271" cy="241271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322C58AC-E8A5-5485-3388-FC0E87A44BD1}"/>
                </a:ext>
              </a:extLst>
            </p:cNvPr>
            <p:cNvSpPr txBox="1"/>
            <p:nvPr/>
          </p:nvSpPr>
          <p:spPr>
            <a:xfrm>
              <a:off x="1273261" y="3094553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1B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8" name="文本框 57">
            <a:extLst>
              <a:ext uri="{FF2B5EF4-FFF2-40B4-BE49-F238E27FC236}">
                <a16:creationId xmlns:a16="http://schemas.microsoft.com/office/drawing/2014/main" id="{E18C78DE-9EA7-95F6-75F6-C9402BD3D9AC}"/>
              </a:ext>
            </a:extLst>
          </p:cNvPr>
          <p:cNvSpPr txBox="1"/>
          <p:nvPr/>
        </p:nvSpPr>
        <p:spPr>
          <a:xfrm>
            <a:off x="1858374" y="2899841"/>
            <a:ext cx="2428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2024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.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12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 D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轮，融资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$1.55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亿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189C4BBC-1B9A-3768-0BDA-3C0DE94B5E01}"/>
              </a:ext>
            </a:extLst>
          </p:cNvPr>
          <p:cNvSpPr txBox="1"/>
          <p:nvPr/>
        </p:nvSpPr>
        <p:spPr>
          <a:xfrm>
            <a:off x="1938338" y="4892075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POC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-&gt; 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量产之间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68987912-A982-02D0-2828-5A83FC0EF287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655763" y="49609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9" name="弧 155">
            <a:extLst>
              <a:ext uri="{FF2B5EF4-FFF2-40B4-BE49-F238E27FC236}">
                <a16:creationId xmlns:a16="http://schemas.microsoft.com/office/drawing/2014/main" id="{179DB382-7110-2064-3FD5-9E55A0AAECA0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1655763" y="4960938"/>
            <a:ext cx="187325" cy="187325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cxnSp>
        <p:nvCxnSpPr>
          <p:cNvPr id="71" name="直线连接符 8">
            <a:extLst>
              <a:ext uri="{FF2B5EF4-FFF2-40B4-BE49-F238E27FC236}">
                <a16:creationId xmlns:a16="http://schemas.microsoft.com/office/drawing/2014/main" id="{64344FB6-DFC6-B58F-3334-A76CC6193946}"/>
              </a:ext>
            </a:extLst>
          </p:cNvPr>
          <p:cNvCxnSpPr>
            <a:cxnSpLocks/>
          </p:cNvCxnSpPr>
          <p:nvPr/>
        </p:nvCxnSpPr>
        <p:spPr>
          <a:xfrm>
            <a:off x="5080000" y="1308628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连接符 8">
            <a:extLst>
              <a:ext uri="{FF2B5EF4-FFF2-40B4-BE49-F238E27FC236}">
                <a16:creationId xmlns:a16="http://schemas.microsoft.com/office/drawing/2014/main" id="{468BC916-BDF7-630D-6A02-4D900E2E7FCC}"/>
              </a:ext>
            </a:extLst>
          </p:cNvPr>
          <p:cNvCxnSpPr>
            <a:cxnSpLocks/>
          </p:cNvCxnSpPr>
          <p:nvPr/>
        </p:nvCxnSpPr>
        <p:spPr>
          <a:xfrm>
            <a:off x="8645525" y="1308628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69A26B94-4056-BC1F-E0A2-ABB627D795D3}"/>
              </a:ext>
            </a:extLst>
          </p:cNvPr>
          <p:cNvSpPr txBox="1"/>
          <p:nvPr/>
        </p:nvSpPr>
        <p:spPr>
          <a:xfrm>
            <a:off x="5094288" y="5362575"/>
            <a:ext cx="3057525" cy="7000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公司宣称已与匿名头部制造商开始设计导入阶段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2025 H2开始送样、2026年后见到搭载产品、2027年量产爬坡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44AF2211-68D9-70E5-9D3A-F7A1FB0D2150}"/>
              </a:ext>
            </a:extLst>
          </p:cNvPr>
          <p:cNvSpPr txBox="1"/>
          <p:nvPr/>
        </p:nvSpPr>
        <p:spPr>
          <a:xfrm>
            <a:off x="5094288" y="3935413"/>
            <a:ext cx="3081338" cy="1066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系统级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OIO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方案，验证周期长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跨越控制/交换芯片、硅光芯片、封装热-机械协同等多个环节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1" name="Rectangle 3">
            <a:extLst>
              <a:ext uri="{FF2B5EF4-FFF2-40B4-BE49-F238E27FC236}">
                <a16:creationId xmlns:a16="http://schemas.microsoft.com/office/drawing/2014/main" id="{5B80E58D-453E-F82F-6561-D8B2B87A1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1438" y="3379091"/>
            <a:ext cx="3624263" cy="3079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产业资本：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AMD Ventures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、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Samsung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EA941743-B058-8529-42C0-C198AB8446FD}"/>
              </a:ext>
            </a:extLst>
          </p:cNvPr>
          <p:cNvSpPr txBox="1"/>
          <p:nvPr/>
        </p:nvSpPr>
        <p:spPr>
          <a:xfrm>
            <a:off x="5567363" y="2916966"/>
            <a:ext cx="2428875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202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5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.02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C1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轮，融资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$2.5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亿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FD676E2D-99E8-7C9A-0B6F-398D345A1656}"/>
              </a:ext>
            </a:extLst>
          </p:cNvPr>
          <p:cNvSpPr txBox="1"/>
          <p:nvPr/>
        </p:nvSpPr>
        <p:spPr>
          <a:xfrm>
            <a:off x="5387975" y="4891981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验证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-&gt;</a:t>
            </a: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设计导入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/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早期送样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2D829332-790A-E490-D346-C1A4CC61A474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5105400" y="49609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5" name="弧 155">
            <a:extLst>
              <a:ext uri="{FF2B5EF4-FFF2-40B4-BE49-F238E27FC236}">
                <a16:creationId xmlns:a16="http://schemas.microsoft.com/office/drawing/2014/main" id="{8643D068-FE9C-2B31-B7A1-70D8909EB09F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5105400" y="4960938"/>
            <a:ext cx="187324" cy="187324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56A92FA1-6A3D-3E9A-217E-A6914A65D79D}"/>
              </a:ext>
            </a:extLst>
          </p:cNvPr>
          <p:cNvSpPr txBox="1"/>
          <p:nvPr/>
        </p:nvSpPr>
        <p:spPr>
          <a:xfrm>
            <a:off x="8661400" y="5362575"/>
            <a:ext cx="3057525" cy="7000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Passage中介层先行、与 OSAT/代工/SerDes伙伴协同推进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25年夏供货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；</a:t>
            </a: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2026 L200 CPO芯粒计划面向客户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B611AC5F-5F3B-E82A-F692-B854476F64C1}"/>
              </a:ext>
            </a:extLst>
          </p:cNvPr>
          <p:cNvSpPr txBox="1"/>
          <p:nvPr/>
        </p:nvSpPr>
        <p:spPr>
          <a:xfrm>
            <a:off x="8661400" y="3935413"/>
            <a:ext cx="3081338" cy="1066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>
                    <a:lumMod val="10000"/>
                  </a:schemeClr>
                </a:solidFill>
                <a:latin typeface="Inter"/>
              </a:defRPr>
            </a:lvl1pPr>
          </a:lstStyle>
          <a:p>
            <a:r>
              <a:rPr lang="zh-CN" altLang="zh-CN" dirty="0">
                <a:latin typeface="+mn-lt"/>
                <a:cs typeface="+mn-ea"/>
                <a:sym typeface="+mn-lt"/>
              </a:rPr>
              <a:t>兼容 Broadcom CPO 生态，链条成熟</a:t>
            </a:r>
            <a:endParaRPr lang="en-US" altLang="zh-CN" dirty="0">
              <a:latin typeface="+mn-lt"/>
              <a:cs typeface="+mn-ea"/>
              <a:sym typeface="+mn-lt"/>
            </a:endParaRPr>
          </a:p>
          <a:p>
            <a:r>
              <a:rPr lang="zh-CN" altLang="zh-CN" dirty="0">
                <a:latin typeface="+mn-lt"/>
                <a:cs typeface="+mn-ea"/>
                <a:sym typeface="+mn-lt"/>
              </a:rPr>
              <a:t>封装层抽</a:t>
            </a:r>
            <a:r>
              <a:rPr lang="zh-CN" altLang="en-US" dirty="0">
                <a:latin typeface="+mn-lt"/>
                <a:cs typeface="+mn-ea"/>
                <a:sym typeface="+mn-lt"/>
              </a:rPr>
              <a:t>象</a:t>
            </a:r>
            <a:r>
              <a:rPr lang="zh-CN" altLang="zh-CN" dirty="0">
                <a:latin typeface="+mn-lt"/>
                <a:cs typeface="+mn-ea"/>
                <a:sym typeface="+mn-lt"/>
              </a:rPr>
              <a:t>成硬件，</a:t>
            </a:r>
            <a:r>
              <a:rPr lang="zh-CN" altLang="en-US" dirty="0">
                <a:latin typeface="+mn-lt"/>
                <a:cs typeface="+mn-ea"/>
                <a:sym typeface="+mn-lt"/>
              </a:rPr>
              <a:t>交付</a:t>
            </a:r>
            <a:r>
              <a:rPr lang="zh-CN" altLang="zh-CN" dirty="0">
                <a:latin typeface="+mn-lt"/>
                <a:cs typeface="+mn-ea"/>
                <a:sym typeface="+mn-lt"/>
              </a:rPr>
              <a:t>更可控</a:t>
            </a:r>
          </a:p>
          <a:p>
            <a:endParaRPr lang="en-US" altLang="zh-CN" dirty="0">
              <a:latin typeface="+mn-lt"/>
              <a:cs typeface="+mn-ea"/>
              <a:sym typeface="+mn-lt"/>
            </a:endParaRPr>
          </a:p>
          <a:p>
            <a:endParaRPr lang="zh-CN" altLang="zh-CN" dirty="0">
              <a:latin typeface="+mn-lt"/>
              <a:cs typeface="+mn-ea"/>
              <a:sym typeface="+mn-lt"/>
            </a:endParaRPr>
          </a:p>
          <a:p>
            <a:endParaRPr lang="en-US" altLang="zh-CN" dirty="0">
              <a:latin typeface="+mn-lt"/>
              <a:cs typeface="+mn-ea"/>
              <a:sym typeface="+mn-lt"/>
            </a:endParaRPr>
          </a:p>
        </p:txBody>
      </p:sp>
      <p:sp>
        <p:nvSpPr>
          <p:cNvPr id="91" name="Rectangle 3">
            <a:extLst>
              <a:ext uri="{FF2B5EF4-FFF2-40B4-BE49-F238E27FC236}">
                <a16:creationId xmlns:a16="http://schemas.microsoft.com/office/drawing/2014/main" id="{341B75F0-F07E-E3EF-11C6-EA414970A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7438" y="3371204"/>
            <a:ext cx="3624263" cy="3079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产业资本：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Google Ventures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D9E7D85C-02C0-7F73-1270-C01EB70788B2}"/>
              </a:ext>
            </a:extLst>
          </p:cNvPr>
          <p:cNvSpPr txBox="1"/>
          <p:nvPr/>
        </p:nvSpPr>
        <p:spPr>
          <a:xfrm>
            <a:off x="9174163" y="2923330"/>
            <a:ext cx="2428875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2024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.10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 D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轮，融资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$4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亿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32A83826-B3F1-624C-0729-DB811B97141E}"/>
              </a:ext>
            </a:extLst>
          </p:cNvPr>
          <p:cNvSpPr txBox="1"/>
          <p:nvPr/>
        </p:nvSpPr>
        <p:spPr>
          <a:xfrm>
            <a:off x="8955088" y="4891980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验证 → 设计导入阶段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00469C01-E62F-C7FE-4E90-FCF2BFA040E9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8672513" y="49609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5" name="弧 155">
            <a:extLst>
              <a:ext uri="{FF2B5EF4-FFF2-40B4-BE49-F238E27FC236}">
                <a16:creationId xmlns:a16="http://schemas.microsoft.com/office/drawing/2014/main" id="{11EFAFA0-D9C9-C20C-4647-54BA0999893A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8672513" y="4960938"/>
            <a:ext cx="187324" cy="187324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ACDA7873-203F-94DB-9669-2A442C0F4343}"/>
              </a:ext>
            </a:extLst>
          </p:cNvPr>
          <p:cNvSpPr txBox="1"/>
          <p:nvPr/>
        </p:nvSpPr>
        <p:spPr>
          <a:xfrm>
            <a:off x="1571625" y="2388822"/>
            <a:ext cx="13271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TeraPHY芯粒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C5EA0FD5-41DB-BB51-A835-19A4FB8372E4}"/>
              </a:ext>
            </a:extLst>
          </p:cNvPr>
          <p:cNvSpPr txBox="1"/>
          <p:nvPr/>
        </p:nvSpPr>
        <p:spPr>
          <a:xfrm>
            <a:off x="5083175" y="1476692"/>
            <a:ext cx="2660650" cy="3532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>
              <a:spcBef>
                <a:spcPts val="300"/>
              </a:spcBef>
              <a:spcAft>
                <a:spcPts val="300"/>
              </a:spcAft>
              <a:defRPr sz="1400">
                <a:solidFill>
                  <a:schemeClr val="accent6">
                    <a:lumMod val="10000"/>
                  </a:schemeClr>
                </a:solidFill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S</a:t>
            </a:r>
            <a:r>
              <a:rPr lang="zh-CN" altLang="zh-CN" dirty="0">
                <a:cs typeface="+mn-ea"/>
                <a:sym typeface="+mn-lt"/>
              </a:rPr>
              <a:t>cale</a:t>
            </a:r>
            <a:r>
              <a:rPr lang="en-US" altLang="zh-CN" dirty="0">
                <a:cs typeface="+mn-ea"/>
                <a:sym typeface="+mn-lt"/>
              </a:rPr>
              <a:t> U</a:t>
            </a:r>
            <a:r>
              <a:rPr lang="zh-CN" altLang="zh-CN" dirty="0">
                <a:cs typeface="+mn-ea"/>
                <a:sym typeface="+mn-lt"/>
              </a:rPr>
              <a:t>p光学全栈</a:t>
            </a:r>
            <a:r>
              <a:rPr lang="zh-CN" altLang="en-US" dirty="0">
                <a:cs typeface="+mn-ea"/>
                <a:sym typeface="+mn-lt"/>
              </a:rPr>
              <a:t>供应</a:t>
            </a:r>
            <a:endParaRPr lang="zh-CN" altLang="zh-CN" dirty="0">
              <a:cs typeface="+mn-ea"/>
              <a:sym typeface="+mn-lt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422046B8-56DB-B1DE-F63D-EB7DDBE0B18D}"/>
              </a:ext>
            </a:extLst>
          </p:cNvPr>
          <p:cNvSpPr txBox="1"/>
          <p:nvPr/>
        </p:nvSpPr>
        <p:spPr>
          <a:xfrm>
            <a:off x="5843588" y="1803591"/>
            <a:ext cx="3019425" cy="60528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卡间：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PFLink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，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14.4 Tbps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/die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交换机：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PFSwitch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91531831-1D5B-F3AC-F72A-89CB663AF497}"/>
              </a:ext>
            </a:extLst>
          </p:cNvPr>
          <p:cNvSpPr txBox="1"/>
          <p:nvPr/>
        </p:nvSpPr>
        <p:spPr>
          <a:xfrm>
            <a:off x="4979988" y="2378171"/>
            <a:ext cx="19002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Photonic Fabric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方案</a:t>
            </a: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4556073A-01C0-DBC5-8B89-C9D4C5946C33}"/>
              </a:ext>
            </a:extLst>
          </p:cNvPr>
          <p:cNvSpPr txBox="1"/>
          <p:nvPr/>
        </p:nvSpPr>
        <p:spPr>
          <a:xfrm>
            <a:off x="8636000" y="1475715"/>
            <a:ext cx="2376488" cy="3532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CPO/OIO 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连接层光学硬件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562BAB08-826A-EB9F-5F5B-D2AA9A949795}"/>
              </a:ext>
            </a:extLst>
          </p:cNvPr>
          <p:cNvSpPr txBox="1"/>
          <p:nvPr/>
        </p:nvSpPr>
        <p:spPr>
          <a:xfrm>
            <a:off x="8564563" y="2405772"/>
            <a:ext cx="15462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Passage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系列</a:t>
            </a:r>
            <a:endParaRPr lang="zh-CN" altLang="en-US" sz="1400" dirty="0">
              <a:cs typeface="+mn-ea"/>
              <a:sym typeface="+mn-lt"/>
            </a:endParaRPr>
          </a:p>
        </p:txBody>
      </p:sp>
      <p:pic>
        <p:nvPicPr>
          <p:cNvPr id="108" name="图片 107" descr="图形用户界面&#10;&#10;AI 生成的内容可能不正确。">
            <a:extLst>
              <a:ext uri="{FF2B5EF4-FFF2-40B4-BE49-F238E27FC236}">
                <a16:creationId xmlns:a16="http://schemas.microsoft.com/office/drawing/2014/main" id="{7CE49E3B-AA16-B54A-2488-5DA1BC02F005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8" t="26750" r="64977" b="23516"/>
          <a:stretch/>
        </p:blipFill>
        <p:spPr>
          <a:xfrm>
            <a:off x="5153025" y="1813667"/>
            <a:ext cx="561975" cy="504264"/>
          </a:xfrm>
          <a:prstGeom prst="rect">
            <a:avLst/>
          </a:prstGeom>
        </p:spPr>
      </p:pic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D0317A9C-D233-0ECC-6C89-C86D1FC398AB}"/>
              </a:ext>
            </a:extLst>
          </p:cNvPr>
          <p:cNvGrpSpPr/>
          <p:nvPr/>
        </p:nvGrpSpPr>
        <p:grpSpPr>
          <a:xfrm>
            <a:off x="4649788" y="2893021"/>
            <a:ext cx="1327150" cy="360000"/>
            <a:chOff x="1356662" y="2963740"/>
            <a:chExt cx="1327328" cy="360000"/>
          </a:xfrm>
        </p:grpSpPr>
        <p:sp>
          <p:nvSpPr>
            <p:cNvPr id="112" name="椭圆 111">
              <a:extLst>
                <a:ext uri="{FF2B5EF4-FFF2-40B4-BE49-F238E27FC236}">
                  <a16:creationId xmlns:a16="http://schemas.microsoft.com/office/drawing/2014/main" id="{140F0C6F-6001-D662-0F30-93376921F213}"/>
                </a:ext>
              </a:extLst>
            </p:cNvPr>
            <p:cNvSpPr/>
            <p:nvPr/>
          </p:nvSpPr>
          <p:spPr>
            <a:xfrm>
              <a:off x="1840326" y="2963740"/>
              <a:ext cx="360000" cy="36000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EDFA2CFF-A692-CB23-28AD-ED488BB305F4}"/>
                </a:ext>
              </a:extLst>
            </p:cNvPr>
            <p:cNvSpPr txBox="1"/>
            <p:nvPr/>
          </p:nvSpPr>
          <p:spPr>
            <a:xfrm>
              <a:off x="1356662" y="3003174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2.5B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23" name="组合 122">
            <a:extLst>
              <a:ext uri="{FF2B5EF4-FFF2-40B4-BE49-F238E27FC236}">
                <a16:creationId xmlns:a16="http://schemas.microsoft.com/office/drawing/2014/main" id="{ECE36DD8-20E0-8AFB-2FF8-5AE5493152DF}"/>
              </a:ext>
            </a:extLst>
          </p:cNvPr>
          <p:cNvGrpSpPr/>
          <p:nvPr/>
        </p:nvGrpSpPr>
        <p:grpSpPr>
          <a:xfrm>
            <a:off x="8215313" y="2839904"/>
            <a:ext cx="1327150" cy="475200"/>
            <a:chOff x="1351662" y="2960791"/>
            <a:chExt cx="1327328" cy="475200"/>
          </a:xfrm>
        </p:grpSpPr>
        <p:sp>
          <p:nvSpPr>
            <p:cNvPr id="124" name="椭圆 123">
              <a:extLst>
                <a:ext uri="{FF2B5EF4-FFF2-40B4-BE49-F238E27FC236}">
                  <a16:creationId xmlns:a16="http://schemas.microsoft.com/office/drawing/2014/main" id="{F81E82B5-4E56-D670-69BD-78A21C96D3F0}"/>
                </a:ext>
              </a:extLst>
            </p:cNvPr>
            <p:cNvSpPr/>
            <p:nvPr/>
          </p:nvSpPr>
          <p:spPr>
            <a:xfrm>
              <a:off x="1777726" y="2960791"/>
              <a:ext cx="475200" cy="47520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8EB4E003-929A-2EFF-2140-D552D89CE73D}"/>
                </a:ext>
              </a:extLst>
            </p:cNvPr>
            <p:cNvSpPr txBox="1"/>
            <p:nvPr/>
          </p:nvSpPr>
          <p:spPr>
            <a:xfrm>
              <a:off x="1351662" y="3053340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4.4B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6163" name="Picture 19">
            <a:extLst>
              <a:ext uri="{FF2B5EF4-FFF2-40B4-BE49-F238E27FC236}">
                <a16:creationId xmlns:a16="http://schemas.microsoft.com/office/drawing/2014/main" id="{AE74D20E-4E5D-CEA7-1F06-A5BC86F90E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7438" y="1782164"/>
            <a:ext cx="509588" cy="614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5" name="Picture 21">
            <a:extLst>
              <a:ext uri="{FF2B5EF4-FFF2-40B4-BE49-F238E27FC236}">
                <a16:creationId xmlns:a16="http://schemas.microsoft.com/office/drawing/2014/main" id="{0109CB79-72CC-E638-67C3-318EF815C9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8475" y="1851597"/>
            <a:ext cx="593725" cy="50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50" name="Rectangle 23">
            <a:extLst>
              <a:ext uri="{FF2B5EF4-FFF2-40B4-BE49-F238E27FC236}">
                <a16:creationId xmlns:a16="http://schemas.microsoft.com/office/drawing/2014/main" id="{64885C04-A843-E56C-F1A9-6074FEF324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3650" y="1812402"/>
            <a:ext cx="1627188" cy="34008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可采购的中介层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自有硅光芯片 + 模块级封装方案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153" name="标题 1">
            <a:extLst>
              <a:ext uri="{FF2B5EF4-FFF2-40B4-BE49-F238E27FC236}">
                <a16:creationId xmlns:a16="http://schemas.microsoft.com/office/drawing/2014/main" id="{BC0FB846-1F99-DC19-E265-2614538284BB}"/>
              </a:ext>
            </a:extLst>
          </p:cNvPr>
          <p:cNvSpPr txBox="1">
            <a:spLocks/>
          </p:cNvSpPr>
          <p:nvPr/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AyarLabs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、</a:t>
            </a:r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Lightmatter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、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Celestial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0011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E15FAC44-04A3-F476-ECB1-114806092D1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533482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1" imgH="401" progId="TCLayout.ActiveDocument.1">
                  <p:embed/>
                </p:oleObj>
              </mc:Choice>
              <mc:Fallback>
                <p:oleObj name="think-cell 幻灯片" r:id="rId3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1A3F24D1-4A69-6A72-CF36-92B5FEA31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总结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4DDCB0A-C8C1-5B01-5B8E-CFE169B021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608386-93FF-A04C-41EB-AEBE44E0205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58750" y="2170800"/>
            <a:ext cx="2880641" cy="246221"/>
          </a:xfrm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A9AFA2C-107E-1D15-C507-81856CD320AF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931262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EC372D8E-1BE1-3AD0-3720-AA66F803D8A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74069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1" imgH="401" progId="TCLayout.ActiveDocument.1">
                  <p:embed/>
                </p:oleObj>
              </mc:Choice>
              <mc:Fallback>
                <p:oleObj name="think-cell 幻灯片" r:id="rId3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0DDED3A3-2FF3-D80A-0229-EDC87C2FA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附录：产业和公司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Map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5" name="图像" descr="图像">
            <a:extLst>
              <a:ext uri="{FF2B5EF4-FFF2-40B4-BE49-F238E27FC236}">
                <a16:creationId xmlns:a16="http://schemas.microsoft.com/office/drawing/2014/main" id="{10B9C398-0D29-FDF9-253D-E94BA659B4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6105" y="929335"/>
            <a:ext cx="10610274" cy="453108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Design House">
            <a:extLst>
              <a:ext uri="{FF2B5EF4-FFF2-40B4-BE49-F238E27FC236}">
                <a16:creationId xmlns:a16="http://schemas.microsoft.com/office/drawing/2014/main" id="{CADBE276-520A-8792-3762-C6BD2CFA051B}"/>
              </a:ext>
            </a:extLst>
          </p:cNvPr>
          <p:cNvSpPr txBox="1"/>
          <p:nvPr/>
        </p:nvSpPr>
        <p:spPr>
          <a:xfrm>
            <a:off x="1622857" y="929335"/>
            <a:ext cx="1540034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Design House</a:t>
            </a:r>
          </a:p>
        </p:txBody>
      </p:sp>
      <p:sp>
        <p:nvSpPr>
          <p:cNvPr id="7" name="Foundry">
            <a:extLst>
              <a:ext uri="{FF2B5EF4-FFF2-40B4-BE49-F238E27FC236}">
                <a16:creationId xmlns:a16="http://schemas.microsoft.com/office/drawing/2014/main" id="{A32CBAB7-DE28-0577-BDE6-B416B89B4D95}"/>
              </a:ext>
            </a:extLst>
          </p:cNvPr>
          <p:cNvSpPr txBox="1"/>
          <p:nvPr/>
        </p:nvSpPr>
        <p:spPr>
          <a:xfrm>
            <a:off x="3561005" y="929335"/>
            <a:ext cx="94275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Foundry</a:t>
            </a:r>
          </a:p>
        </p:txBody>
      </p:sp>
      <p:sp>
        <p:nvSpPr>
          <p:cNvPr id="8" name="OSAT">
            <a:extLst>
              <a:ext uri="{FF2B5EF4-FFF2-40B4-BE49-F238E27FC236}">
                <a16:creationId xmlns:a16="http://schemas.microsoft.com/office/drawing/2014/main" id="{231FDB93-E5F9-2B3D-9B40-6D5BF724A1E4}"/>
              </a:ext>
            </a:extLst>
          </p:cNvPr>
          <p:cNvSpPr txBox="1"/>
          <p:nvPr/>
        </p:nvSpPr>
        <p:spPr>
          <a:xfrm>
            <a:off x="5507117" y="970468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OSAT</a:t>
            </a:r>
          </a:p>
        </p:txBody>
      </p:sp>
      <p:sp>
        <p:nvSpPr>
          <p:cNvPr id="9" name="Transceiver">
            <a:extLst>
              <a:ext uri="{FF2B5EF4-FFF2-40B4-BE49-F238E27FC236}">
                <a16:creationId xmlns:a16="http://schemas.microsoft.com/office/drawing/2014/main" id="{18662E40-DEFF-3E1E-6434-F49932D26949}"/>
              </a:ext>
            </a:extLst>
          </p:cNvPr>
          <p:cNvSpPr txBox="1"/>
          <p:nvPr/>
        </p:nvSpPr>
        <p:spPr>
          <a:xfrm>
            <a:off x="6868839" y="929335"/>
            <a:ext cx="1289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Transceiver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2453646A-DC3B-986B-6CC0-4526166DF97F}"/>
              </a:ext>
            </a:extLst>
          </p:cNvPr>
          <p:cNvSpPr txBox="1"/>
          <p:nvPr/>
        </p:nvSpPr>
        <p:spPr>
          <a:xfrm>
            <a:off x="8561029" y="929335"/>
            <a:ext cx="1197023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Equipment</a:t>
            </a:r>
          </a:p>
        </p:txBody>
      </p:sp>
      <p:sp>
        <p:nvSpPr>
          <p:cNvPr id="11" name="Operator">
            <a:extLst>
              <a:ext uri="{FF2B5EF4-FFF2-40B4-BE49-F238E27FC236}">
                <a16:creationId xmlns:a16="http://schemas.microsoft.com/office/drawing/2014/main" id="{95622BB5-E3D0-DA7B-7977-81AC14B0C04A}"/>
              </a:ext>
            </a:extLst>
          </p:cNvPr>
          <p:cNvSpPr txBox="1"/>
          <p:nvPr/>
        </p:nvSpPr>
        <p:spPr>
          <a:xfrm>
            <a:off x="10523815" y="929335"/>
            <a:ext cx="100626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Operator</a:t>
            </a:r>
          </a:p>
        </p:txBody>
      </p:sp>
      <p:sp>
        <p:nvSpPr>
          <p:cNvPr id="12" name="圆角矩形">
            <a:extLst>
              <a:ext uri="{FF2B5EF4-FFF2-40B4-BE49-F238E27FC236}">
                <a16:creationId xmlns:a16="http://schemas.microsoft.com/office/drawing/2014/main" id="{B0888714-9FB4-4F09-6591-601238B11943}"/>
              </a:ext>
            </a:extLst>
          </p:cNvPr>
          <p:cNvSpPr/>
          <p:nvPr/>
        </p:nvSpPr>
        <p:spPr>
          <a:xfrm>
            <a:off x="58155" y="312148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5E5E5E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3" name="圆角矩形">
            <a:extLst>
              <a:ext uri="{FF2B5EF4-FFF2-40B4-BE49-F238E27FC236}">
                <a16:creationId xmlns:a16="http://schemas.microsoft.com/office/drawing/2014/main" id="{406A2D47-4B94-E322-EBFC-D8E2813F0303}"/>
              </a:ext>
            </a:extLst>
          </p:cNvPr>
          <p:cNvSpPr/>
          <p:nvPr/>
        </p:nvSpPr>
        <p:spPr>
          <a:xfrm>
            <a:off x="58155" y="1787773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4F8F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4" name="圆角矩形">
            <a:extLst>
              <a:ext uri="{FF2B5EF4-FFF2-40B4-BE49-F238E27FC236}">
                <a16:creationId xmlns:a16="http://schemas.microsoft.com/office/drawing/2014/main" id="{35CE7CDB-3169-93B9-8760-313546CE4F02}"/>
              </a:ext>
            </a:extLst>
          </p:cNvPr>
          <p:cNvSpPr/>
          <p:nvPr/>
        </p:nvSpPr>
        <p:spPr>
          <a:xfrm>
            <a:off x="58155" y="4407945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FF93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5" name="eIC">
            <a:extLst>
              <a:ext uri="{FF2B5EF4-FFF2-40B4-BE49-F238E27FC236}">
                <a16:creationId xmlns:a16="http://schemas.microsoft.com/office/drawing/2014/main" id="{A8E3AA0E-A5AF-DA4C-C1D9-D8DE57E716DB}"/>
              </a:ext>
            </a:extLst>
          </p:cNvPr>
          <p:cNvSpPr txBox="1"/>
          <p:nvPr/>
        </p:nvSpPr>
        <p:spPr>
          <a:xfrm>
            <a:off x="351861" y="3243109"/>
            <a:ext cx="60961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>
                <a:cs typeface="+mn-ea"/>
                <a:sym typeface="+mn-lt"/>
              </a:rPr>
              <a:t>eIC</a:t>
            </a:r>
            <a:endParaRPr dirty="0">
              <a:cs typeface="+mn-ea"/>
              <a:sym typeface="+mn-lt"/>
            </a:endParaRPr>
          </a:p>
        </p:txBody>
      </p:sp>
      <p:sp>
        <p:nvSpPr>
          <p:cNvPr id="16" name="Switch…">
            <a:extLst>
              <a:ext uri="{FF2B5EF4-FFF2-40B4-BE49-F238E27FC236}">
                <a16:creationId xmlns:a16="http://schemas.microsoft.com/office/drawing/2014/main" id="{5DEC8A1A-CFE9-4024-89E8-C8749EB994FC}"/>
              </a:ext>
            </a:extLst>
          </p:cNvPr>
          <p:cNvSpPr txBox="1"/>
          <p:nvPr/>
        </p:nvSpPr>
        <p:spPr>
          <a:xfrm>
            <a:off x="185291" y="1759185"/>
            <a:ext cx="942751" cy="614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>
                <a:cs typeface="+mn-ea"/>
                <a:sym typeface="+mn-lt"/>
              </a:rPr>
              <a:t>Switch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r>
              <a:rPr>
                <a:cs typeface="+mn-ea"/>
                <a:sym typeface="+mn-lt"/>
              </a:rPr>
              <a:t>ASIC</a:t>
            </a:r>
          </a:p>
        </p:txBody>
      </p:sp>
      <p:sp>
        <p:nvSpPr>
          <p:cNvPr id="17" name="SiPho">
            <a:extLst>
              <a:ext uri="{FF2B5EF4-FFF2-40B4-BE49-F238E27FC236}">
                <a16:creationId xmlns:a16="http://schemas.microsoft.com/office/drawing/2014/main" id="{E9CED6CE-5F2F-1D17-3779-E4AFC3245030}"/>
              </a:ext>
            </a:extLst>
          </p:cNvPr>
          <p:cNvSpPr txBox="1"/>
          <p:nvPr/>
        </p:nvSpPr>
        <p:spPr>
          <a:xfrm>
            <a:off x="301824" y="4529565"/>
            <a:ext cx="709685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>
                <a:cs typeface="+mn-ea"/>
                <a:sym typeface="+mn-lt"/>
              </a:rPr>
              <a:t>SiPho</a:t>
            </a:r>
            <a:endParaRPr dirty="0">
              <a:cs typeface="+mn-ea"/>
              <a:sym typeface="+mn-lt"/>
            </a:endParaRPr>
          </a:p>
        </p:txBody>
      </p:sp>
      <p:sp>
        <p:nvSpPr>
          <p:cNvPr id="18" name="圆角矩形">
            <a:extLst>
              <a:ext uri="{FF2B5EF4-FFF2-40B4-BE49-F238E27FC236}">
                <a16:creationId xmlns:a16="http://schemas.microsoft.com/office/drawing/2014/main" id="{E15A83F6-BE55-5DD4-A56C-6900621D013A}"/>
              </a:ext>
            </a:extLst>
          </p:cNvPr>
          <p:cNvSpPr/>
          <p:nvPr/>
        </p:nvSpPr>
        <p:spPr>
          <a:xfrm>
            <a:off x="1382155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9" name="圆角矩形">
            <a:extLst>
              <a:ext uri="{FF2B5EF4-FFF2-40B4-BE49-F238E27FC236}">
                <a16:creationId xmlns:a16="http://schemas.microsoft.com/office/drawing/2014/main" id="{42205C62-5834-9B9C-B493-6D45E83BE2AD}"/>
              </a:ext>
            </a:extLst>
          </p:cNvPr>
          <p:cNvSpPr/>
          <p:nvPr/>
        </p:nvSpPr>
        <p:spPr>
          <a:xfrm>
            <a:off x="1382155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0" name="圆角矩形">
            <a:extLst>
              <a:ext uri="{FF2B5EF4-FFF2-40B4-BE49-F238E27FC236}">
                <a16:creationId xmlns:a16="http://schemas.microsoft.com/office/drawing/2014/main" id="{BBD7338F-A5F5-0EEE-DD0A-4ED422B2C9A4}"/>
              </a:ext>
            </a:extLst>
          </p:cNvPr>
          <p:cNvSpPr/>
          <p:nvPr/>
        </p:nvSpPr>
        <p:spPr>
          <a:xfrm>
            <a:off x="1382155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1" name="圆角矩形">
            <a:extLst>
              <a:ext uri="{FF2B5EF4-FFF2-40B4-BE49-F238E27FC236}">
                <a16:creationId xmlns:a16="http://schemas.microsoft.com/office/drawing/2014/main" id="{00038B72-55D3-4F1C-2A10-F6DBD85EFA97}"/>
              </a:ext>
            </a:extLst>
          </p:cNvPr>
          <p:cNvSpPr/>
          <p:nvPr/>
        </p:nvSpPr>
        <p:spPr>
          <a:xfrm>
            <a:off x="3163831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2" name="圆角矩形">
            <a:extLst>
              <a:ext uri="{FF2B5EF4-FFF2-40B4-BE49-F238E27FC236}">
                <a16:creationId xmlns:a16="http://schemas.microsoft.com/office/drawing/2014/main" id="{24DDE7D5-BF1D-8427-669E-28ED14D24EB5}"/>
              </a:ext>
            </a:extLst>
          </p:cNvPr>
          <p:cNvSpPr/>
          <p:nvPr/>
        </p:nvSpPr>
        <p:spPr>
          <a:xfrm>
            <a:off x="3163831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3" name="圆角矩形">
            <a:extLst>
              <a:ext uri="{FF2B5EF4-FFF2-40B4-BE49-F238E27FC236}">
                <a16:creationId xmlns:a16="http://schemas.microsoft.com/office/drawing/2014/main" id="{191C9FAD-1280-BAEC-07C9-7BE41E259572}"/>
              </a:ext>
            </a:extLst>
          </p:cNvPr>
          <p:cNvSpPr/>
          <p:nvPr/>
        </p:nvSpPr>
        <p:spPr>
          <a:xfrm>
            <a:off x="3163831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4" name="圆角矩形">
            <a:extLst>
              <a:ext uri="{FF2B5EF4-FFF2-40B4-BE49-F238E27FC236}">
                <a16:creationId xmlns:a16="http://schemas.microsoft.com/office/drawing/2014/main" id="{37CC8CAC-E6BA-9E59-27CD-E91E7DCD7D73}"/>
              </a:ext>
            </a:extLst>
          </p:cNvPr>
          <p:cNvSpPr/>
          <p:nvPr/>
        </p:nvSpPr>
        <p:spPr>
          <a:xfrm>
            <a:off x="4933666" y="1456549"/>
            <a:ext cx="1726992" cy="1247941"/>
          </a:xfrm>
          <a:prstGeom prst="roundRect">
            <a:avLst>
              <a:gd name="adj" fmla="val 4676"/>
            </a:avLst>
          </a:prstGeom>
          <a:solidFill>
            <a:srgbClr val="929292">
              <a:alpha val="21970"/>
            </a:srgbClr>
          </a:solidFill>
          <a:ln w="25400">
            <a:solidFill>
              <a:srgbClr val="FF2600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5" name="圆角矩形">
            <a:extLst>
              <a:ext uri="{FF2B5EF4-FFF2-40B4-BE49-F238E27FC236}">
                <a16:creationId xmlns:a16="http://schemas.microsoft.com/office/drawing/2014/main" id="{B93E1D7F-8B33-AACD-5536-FFF149E31A65}"/>
              </a:ext>
            </a:extLst>
          </p:cNvPr>
          <p:cNvSpPr/>
          <p:nvPr/>
        </p:nvSpPr>
        <p:spPr>
          <a:xfrm>
            <a:off x="6689942" y="2784946"/>
            <a:ext cx="1726992" cy="3917255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6" name="圆角矩形">
            <a:extLst>
              <a:ext uri="{FF2B5EF4-FFF2-40B4-BE49-F238E27FC236}">
                <a16:creationId xmlns:a16="http://schemas.microsoft.com/office/drawing/2014/main" id="{FDEC3622-2BD8-6A63-B4C3-0EE84BC83CDB}"/>
              </a:ext>
            </a:extLst>
          </p:cNvPr>
          <p:cNvSpPr/>
          <p:nvPr/>
        </p:nvSpPr>
        <p:spPr>
          <a:xfrm>
            <a:off x="8471618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7" name="圆角矩形">
            <a:extLst>
              <a:ext uri="{FF2B5EF4-FFF2-40B4-BE49-F238E27FC236}">
                <a16:creationId xmlns:a16="http://schemas.microsoft.com/office/drawing/2014/main" id="{1783FF78-FD17-91C1-9239-9A5B26763E99}"/>
              </a:ext>
            </a:extLst>
          </p:cNvPr>
          <p:cNvSpPr/>
          <p:nvPr/>
        </p:nvSpPr>
        <p:spPr>
          <a:xfrm>
            <a:off x="10294695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pic>
        <p:nvPicPr>
          <p:cNvPr id="28" name="图像" descr="图像">
            <a:extLst>
              <a:ext uri="{FF2B5EF4-FFF2-40B4-BE49-F238E27FC236}">
                <a16:creationId xmlns:a16="http://schemas.microsoft.com/office/drawing/2014/main" id="{3AF9760E-1F13-0D7F-EEC4-13E6DC2ECD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9523" y="4683197"/>
            <a:ext cx="698501" cy="39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图像" descr="图像">
            <a:extLst>
              <a:ext uri="{FF2B5EF4-FFF2-40B4-BE49-F238E27FC236}">
                <a16:creationId xmlns:a16="http://schemas.microsoft.com/office/drawing/2014/main" id="{828E73D4-4482-0B53-EA2A-05E1F637A5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3519" y="1634934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图像" descr="图像">
            <a:extLst>
              <a:ext uri="{FF2B5EF4-FFF2-40B4-BE49-F238E27FC236}">
                <a16:creationId xmlns:a16="http://schemas.microsoft.com/office/drawing/2014/main" id="{8286DFCC-2E46-CB35-91D5-3765271303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7880" y="4177291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图像" descr="图像">
            <a:extLst>
              <a:ext uri="{FF2B5EF4-FFF2-40B4-BE49-F238E27FC236}">
                <a16:creationId xmlns:a16="http://schemas.microsoft.com/office/drawing/2014/main" id="{960DA03A-CA0F-772B-00A8-5A30468768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9031" y="2971082"/>
            <a:ext cx="419101" cy="241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图像" descr="图像">
            <a:extLst>
              <a:ext uri="{FF2B5EF4-FFF2-40B4-BE49-F238E27FC236}">
                <a16:creationId xmlns:a16="http://schemas.microsoft.com/office/drawing/2014/main" id="{A080EEA6-138A-1DA2-36E2-EBFBC56B1F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11619" y="2154616"/>
            <a:ext cx="540927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图像" descr="图像">
            <a:extLst>
              <a:ext uri="{FF2B5EF4-FFF2-40B4-BE49-F238E27FC236}">
                <a16:creationId xmlns:a16="http://schemas.microsoft.com/office/drawing/2014/main" id="{4D942B19-8258-9A54-2C80-F777C1E320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66882" y="1545539"/>
            <a:ext cx="685801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图像" descr="图像">
            <a:extLst>
              <a:ext uri="{FF2B5EF4-FFF2-40B4-BE49-F238E27FC236}">
                <a16:creationId xmlns:a16="http://schemas.microsoft.com/office/drawing/2014/main" id="{7AE3493F-CE17-705F-443A-439C885B8EC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34787" y="2195899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图像" descr="图像">
            <a:extLst>
              <a:ext uri="{FF2B5EF4-FFF2-40B4-BE49-F238E27FC236}">
                <a16:creationId xmlns:a16="http://schemas.microsoft.com/office/drawing/2014/main" id="{315948E3-E925-3CA3-0E3E-06D37DDC4AC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37005" y="4356962"/>
            <a:ext cx="622301" cy="139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图像" descr="图像">
            <a:extLst>
              <a:ext uri="{FF2B5EF4-FFF2-40B4-BE49-F238E27FC236}">
                <a16:creationId xmlns:a16="http://schemas.microsoft.com/office/drawing/2014/main" id="{8E558F5C-EA22-68EC-1915-B8C6432018D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4942625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图像" descr="图像">
            <a:extLst>
              <a:ext uri="{FF2B5EF4-FFF2-40B4-BE49-F238E27FC236}">
                <a16:creationId xmlns:a16="http://schemas.microsoft.com/office/drawing/2014/main" id="{AA7C27BF-7E9D-5A7E-B696-0A551174D40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00327" y="2892313"/>
            <a:ext cx="2540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图像" descr="图像">
            <a:extLst>
              <a:ext uri="{FF2B5EF4-FFF2-40B4-BE49-F238E27FC236}">
                <a16:creationId xmlns:a16="http://schemas.microsoft.com/office/drawing/2014/main" id="{992063A8-4ACB-B95C-8574-78150C2ADD2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3174357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图像" descr="图像">
            <a:extLst>
              <a:ext uri="{FF2B5EF4-FFF2-40B4-BE49-F238E27FC236}">
                <a16:creationId xmlns:a16="http://schemas.microsoft.com/office/drawing/2014/main" id="{A50B5F5A-0862-D0D3-C686-A18024E96B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146" y="3629223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图像" descr="图像">
            <a:extLst>
              <a:ext uri="{FF2B5EF4-FFF2-40B4-BE49-F238E27FC236}">
                <a16:creationId xmlns:a16="http://schemas.microsoft.com/office/drawing/2014/main" id="{7D044CB4-A90E-0579-DEDF-AB701C44126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34350" y="2932258"/>
            <a:ext cx="723901" cy="114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图像" descr="图像">
            <a:extLst>
              <a:ext uri="{FF2B5EF4-FFF2-40B4-BE49-F238E27FC236}">
                <a16:creationId xmlns:a16="http://schemas.microsoft.com/office/drawing/2014/main" id="{90B72798-09D8-414F-CC71-D9126A784ED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07541" y="4515063"/>
            <a:ext cx="434653" cy="345747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图像" descr="图像">
            <a:extLst>
              <a:ext uri="{FF2B5EF4-FFF2-40B4-BE49-F238E27FC236}">
                <a16:creationId xmlns:a16="http://schemas.microsoft.com/office/drawing/2014/main" id="{2C0062D5-D60A-3538-4F14-014269D6BB6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64136" y="3667059"/>
            <a:ext cx="431075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图像" descr="图像">
            <a:extLst>
              <a:ext uri="{FF2B5EF4-FFF2-40B4-BE49-F238E27FC236}">
                <a16:creationId xmlns:a16="http://schemas.microsoft.com/office/drawing/2014/main" id="{3493FA37-6997-F83C-D68B-351C97E43DE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19746" y="2262214"/>
            <a:ext cx="558801" cy="444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图像" descr="图像">
            <a:extLst>
              <a:ext uri="{FF2B5EF4-FFF2-40B4-BE49-F238E27FC236}">
                <a16:creationId xmlns:a16="http://schemas.microsoft.com/office/drawing/2014/main" id="{8C657CA5-844E-D1D5-92E1-FD718DC6BF7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10113" y="1825121"/>
            <a:ext cx="418403" cy="418402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图像" descr="图像">
            <a:extLst>
              <a:ext uri="{FF2B5EF4-FFF2-40B4-BE49-F238E27FC236}">
                <a16:creationId xmlns:a16="http://schemas.microsoft.com/office/drawing/2014/main" id="{4C609C41-B3FC-0AAD-EA5E-C9C2458F47A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14570" y="2686201"/>
            <a:ext cx="604702" cy="481013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图像" descr="图像">
            <a:extLst>
              <a:ext uri="{FF2B5EF4-FFF2-40B4-BE49-F238E27FC236}">
                <a16:creationId xmlns:a16="http://schemas.microsoft.com/office/drawing/2014/main" id="{588C1EBB-807B-6ECC-542E-9E036726EAF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74021" y="3603475"/>
            <a:ext cx="6858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图像" descr="图像">
            <a:extLst>
              <a:ext uri="{FF2B5EF4-FFF2-40B4-BE49-F238E27FC236}">
                <a16:creationId xmlns:a16="http://schemas.microsoft.com/office/drawing/2014/main" id="{87328D1E-0AFE-1E31-1E50-63CF3AA796B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26688" y="4360582"/>
            <a:ext cx="765879" cy="236383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图像" descr="图像">
            <a:extLst>
              <a:ext uri="{FF2B5EF4-FFF2-40B4-BE49-F238E27FC236}">
                <a16:creationId xmlns:a16="http://schemas.microsoft.com/office/drawing/2014/main" id="{D9F90C1C-BC4F-B5A9-47B7-C4EA68953BE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759523" y="5517657"/>
            <a:ext cx="1016001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图片 11" descr="图片 11">
            <a:extLst>
              <a:ext uri="{FF2B5EF4-FFF2-40B4-BE49-F238E27FC236}">
                <a16:creationId xmlns:a16="http://schemas.microsoft.com/office/drawing/2014/main" id="{7E128E1A-2EF7-3405-D471-3E5F7996F0C7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32043" r="50500"/>
          <a:stretch>
            <a:fillRect/>
          </a:stretch>
        </p:blipFill>
        <p:spPr>
          <a:xfrm>
            <a:off x="10624943" y="2463170"/>
            <a:ext cx="1009056" cy="241264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图像" descr="图像">
            <a:extLst>
              <a:ext uri="{FF2B5EF4-FFF2-40B4-BE49-F238E27FC236}">
                <a16:creationId xmlns:a16="http://schemas.microsoft.com/office/drawing/2014/main" id="{53389874-574F-76D3-14C6-67A216C7D188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24586" t="23091" r="24586" b="23090"/>
          <a:stretch>
            <a:fillRect/>
          </a:stretch>
        </p:blipFill>
        <p:spPr>
          <a:xfrm>
            <a:off x="10902557" y="3136717"/>
            <a:ext cx="454179" cy="48091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图像" descr="图像">
            <a:extLst>
              <a:ext uri="{FF2B5EF4-FFF2-40B4-BE49-F238E27FC236}">
                <a16:creationId xmlns:a16="http://schemas.microsoft.com/office/drawing/2014/main" id="{58EC1F7D-306C-A242-958F-88875368C3DF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t="29736" r="12" b="29739"/>
          <a:stretch>
            <a:fillRect/>
          </a:stretch>
        </p:blipFill>
        <p:spPr>
          <a:xfrm>
            <a:off x="8868904" y="5063009"/>
            <a:ext cx="1050132" cy="190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720"/>
                </a:lnTo>
                <a:lnTo>
                  <a:pt x="4833" y="675"/>
                </a:lnTo>
                <a:cubicBezTo>
                  <a:pt x="9972" y="641"/>
                  <a:pt x="10201" y="641"/>
                  <a:pt x="9273" y="1170"/>
                </a:cubicBezTo>
                <a:cubicBezTo>
                  <a:pt x="8796" y="1442"/>
                  <a:pt x="8070" y="2136"/>
                  <a:pt x="7649" y="2700"/>
                </a:cubicBezTo>
                <a:lnTo>
                  <a:pt x="7322" y="3150"/>
                </a:lnTo>
                <a:lnTo>
                  <a:pt x="7273" y="4545"/>
                </a:lnTo>
                <a:cubicBezTo>
                  <a:pt x="7246" y="5330"/>
                  <a:pt x="7228" y="6003"/>
                  <a:pt x="7233" y="6030"/>
                </a:cubicBezTo>
                <a:cubicBezTo>
                  <a:pt x="7238" y="6057"/>
                  <a:pt x="7337" y="5912"/>
                  <a:pt x="7453" y="5715"/>
                </a:cubicBezTo>
                <a:cubicBezTo>
                  <a:pt x="7705" y="5288"/>
                  <a:pt x="8349" y="4372"/>
                  <a:pt x="8710" y="3915"/>
                </a:cubicBezTo>
                <a:cubicBezTo>
                  <a:pt x="9240" y="3245"/>
                  <a:pt x="10440" y="2136"/>
                  <a:pt x="10857" y="1935"/>
                </a:cubicBezTo>
                <a:cubicBezTo>
                  <a:pt x="10944" y="1893"/>
                  <a:pt x="11171" y="1765"/>
                  <a:pt x="11363" y="1665"/>
                </a:cubicBezTo>
                <a:cubicBezTo>
                  <a:pt x="11555" y="1565"/>
                  <a:pt x="11877" y="1486"/>
                  <a:pt x="12082" y="1440"/>
                </a:cubicBezTo>
                <a:cubicBezTo>
                  <a:pt x="12465" y="1354"/>
                  <a:pt x="12478" y="1247"/>
                  <a:pt x="12131" y="1035"/>
                </a:cubicBezTo>
                <a:cubicBezTo>
                  <a:pt x="12050" y="986"/>
                  <a:pt x="11984" y="878"/>
                  <a:pt x="11984" y="810"/>
                </a:cubicBezTo>
                <a:cubicBezTo>
                  <a:pt x="11984" y="687"/>
                  <a:pt x="13463" y="557"/>
                  <a:pt x="13518" y="675"/>
                </a:cubicBezTo>
                <a:cubicBezTo>
                  <a:pt x="13537" y="714"/>
                  <a:pt x="13531" y="980"/>
                  <a:pt x="13494" y="1485"/>
                </a:cubicBezTo>
                <a:cubicBezTo>
                  <a:pt x="13465" y="1882"/>
                  <a:pt x="13399" y="2709"/>
                  <a:pt x="13355" y="3375"/>
                </a:cubicBezTo>
                <a:lnTo>
                  <a:pt x="13282" y="4590"/>
                </a:lnTo>
                <a:lnTo>
                  <a:pt x="13992" y="4590"/>
                </a:lnTo>
                <a:lnTo>
                  <a:pt x="14702" y="4545"/>
                </a:lnTo>
                <a:lnTo>
                  <a:pt x="14727" y="3780"/>
                </a:lnTo>
                <a:cubicBezTo>
                  <a:pt x="14776" y="2490"/>
                  <a:pt x="14823" y="2648"/>
                  <a:pt x="14318" y="2610"/>
                </a:cubicBezTo>
                <a:cubicBezTo>
                  <a:pt x="13809" y="2571"/>
                  <a:pt x="13839" y="2644"/>
                  <a:pt x="13943" y="1350"/>
                </a:cubicBezTo>
                <a:lnTo>
                  <a:pt x="14000" y="630"/>
                </a:lnTo>
                <a:lnTo>
                  <a:pt x="14694" y="630"/>
                </a:lnTo>
                <a:cubicBezTo>
                  <a:pt x="15076" y="630"/>
                  <a:pt x="15390" y="642"/>
                  <a:pt x="15396" y="675"/>
                </a:cubicBezTo>
                <a:cubicBezTo>
                  <a:pt x="15405" y="727"/>
                  <a:pt x="15389" y="1519"/>
                  <a:pt x="15339" y="3105"/>
                </a:cubicBezTo>
                <a:lnTo>
                  <a:pt x="15322" y="3510"/>
                </a:lnTo>
                <a:lnTo>
                  <a:pt x="15543" y="3510"/>
                </a:lnTo>
                <a:lnTo>
                  <a:pt x="15771" y="3510"/>
                </a:lnTo>
                <a:lnTo>
                  <a:pt x="15837" y="2115"/>
                </a:lnTo>
                <a:lnTo>
                  <a:pt x="15902" y="720"/>
                </a:lnTo>
                <a:lnTo>
                  <a:pt x="16082" y="675"/>
                </a:lnTo>
                <a:cubicBezTo>
                  <a:pt x="16179" y="655"/>
                  <a:pt x="16266" y="656"/>
                  <a:pt x="16278" y="720"/>
                </a:cubicBezTo>
                <a:cubicBezTo>
                  <a:pt x="16291" y="792"/>
                  <a:pt x="16273" y="1340"/>
                  <a:pt x="16237" y="2115"/>
                </a:cubicBezTo>
                <a:cubicBezTo>
                  <a:pt x="16205" y="2800"/>
                  <a:pt x="16180" y="3381"/>
                  <a:pt x="16180" y="3420"/>
                </a:cubicBezTo>
                <a:cubicBezTo>
                  <a:pt x="16180" y="3459"/>
                  <a:pt x="16291" y="3466"/>
                  <a:pt x="16424" y="3465"/>
                </a:cubicBezTo>
                <a:lnTo>
                  <a:pt x="16661" y="3465"/>
                </a:lnTo>
                <a:lnTo>
                  <a:pt x="16751" y="2070"/>
                </a:lnTo>
                <a:lnTo>
                  <a:pt x="16841" y="720"/>
                </a:lnTo>
                <a:lnTo>
                  <a:pt x="17551" y="720"/>
                </a:lnTo>
                <a:lnTo>
                  <a:pt x="18261" y="720"/>
                </a:lnTo>
                <a:lnTo>
                  <a:pt x="18253" y="990"/>
                </a:lnTo>
                <a:cubicBezTo>
                  <a:pt x="18249" y="1159"/>
                  <a:pt x="18235" y="1518"/>
                  <a:pt x="18220" y="1755"/>
                </a:cubicBezTo>
                <a:cubicBezTo>
                  <a:pt x="18191" y="2242"/>
                  <a:pt x="18222" y="2147"/>
                  <a:pt x="17722" y="2745"/>
                </a:cubicBezTo>
                <a:cubicBezTo>
                  <a:pt x="17540" y="2963"/>
                  <a:pt x="17380" y="3210"/>
                  <a:pt x="17363" y="3285"/>
                </a:cubicBezTo>
                <a:cubicBezTo>
                  <a:pt x="17337" y="3403"/>
                  <a:pt x="17241" y="5177"/>
                  <a:pt x="17241" y="5535"/>
                </a:cubicBezTo>
                <a:cubicBezTo>
                  <a:pt x="17241" y="5606"/>
                  <a:pt x="17395" y="5430"/>
                  <a:pt x="17584" y="5130"/>
                </a:cubicBezTo>
                <a:cubicBezTo>
                  <a:pt x="17964" y="4526"/>
                  <a:pt x="18086" y="4428"/>
                  <a:pt x="18073" y="4725"/>
                </a:cubicBezTo>
                <a:cubicBezTo>
                  <a:pt x="18069" y="4827"/>
                  <a:pt x="18048" y="5418"/>
                  <a:pt x="18024" y="6030"/>
                </a:cubicBezTo>
                <a:cubicBezTo>
                  <a:pt x="18001" y="6642"/>
                  <a:pt x="17966" y="7213"/>
                  <a:pt x="17951" y="7290"/>
                </a:cubicBezTo>
                <a:cubicBezTo>
                  <a:pt x="17936" y="7367"/>
                  <a:pt x="17796" y="7614"/>
                  <a:pt x="17641" y="7875"/>
                </a:cubicBezTo>
                <a:cubicBezTo>
                  <a:pt x="17486" y="8136"/>
                  <a:pt x="17353" y="8432"/>
                  <a:pt x="17339" y="8505"/>
                </a:cubicBezTo>
                <a:cubicBezTo>
                  <a:pt x="17311" y="8649"/>
                  <a:pt x="17207" y="10930"/>
                  <a:pt x="17224" y="11025"/>
                </a:cubicBezTo>
                <a:cubicBezTo>
                  <a:pt x="17230" y="11057"/>
                  <a:pt x="17362" y="10846"/>
                  <a:pt x="17518" y="10575"/>
                </a:cubicBezTo>
                <a:cubicBezTo>
                  <a:pt x="17674" y="10304"/>
                  <a:pt x="17807" y="10121"/>
                  <a:pt x="17812" y="10170"/>
                </a:cubicBezTo>
                <a:cubicBezTo>
                  <a:pt x="17818" y="10219"/>
                  <a:pt x="17785" y="11143"/>
                  <a:pt x="17739" y="12195"/>
                </a:cubicBezTo>
                <a:lnTo>
                  <a:pt x="17649" y="14085"/>
                </a:lnTo>
                <a:lnTo>
                  <a:pt x="17314" y="14130"/>
                </a:lnTo>
                <a:lnTo>
                  <a:pt x="16980" y="14220"/>
                </a:lnTo>
                <a:lnTo>
                  <a:pt x="16931" y="15300"/>
                </a:lnTo>
                <a:lnTo>
                  <a:pt x="16882" y="16380"/>
                </a:lnTo>
                <a:lnTo>
                  <a:pt x="17388" y="16380"/>
                </a:lnTo>
                <a:cubicBezTo>
                  <a:pt x="17937" y="16380"/>
                  <a:pt x="18010" y="16307"/>
                  <a:pt x="18082" y="15705"/>
                </a:cubicBezTo>
                <a:cubicBezTo>
                  <a:pt x="18103" y="15527"/>
                  <a:pt x="18234" y="12848"/>
                  <a:pt x="18376" y="9765"/>
                </a:cubicBezTo>
                <a:cubicBezTo>
                  <a:pt x="18517" y="6682"/>
                  <a:pt x="18653" y="4059"/>
                  <a:pt x="18669" y="3915"/>
                </a:cubicBezTo>
                <a:cubicBezTo>
                  <a:pt x="18693" y="3711"/>
                  <a:pt x="18737" y="3625"/>
                  <a:pt x="18873" y="3510"/>
                </a:cubicBezTo>
                <a:cubicBezTo>
                  <a:pt x="19498" y="2984"/>
                  <a:pt x="19798" y="2743"/>
                  <a:pt x="19820" y="2790"/>
                </a:cubicBezTo>
                <a:cubicBezTo>
                  <a:pt x="19849" y="2848"/>
                  <a:pt x="19823" y="3674"/>
                  <a:pt x="19788" y="3870"/>
                </a:cubicBezTo>
                <a:cubicBezTo>
                  <a:pt x="19777" y="3928"/>
                  <a:pt x="19585" y="3986"/>
                  <a:pt x="19363" y="4005"/>
                </a:cubicBezTo>
                <a:lnTo>
                  <a:pt x="18963" y="4050"/>
                </a:lnTo>
                <a:lnTo>
                  <a:pt x="18947" y="4365"/>
                </a:lnTo>
                <a:cubicBezTo>
                  <a:pt x="18939" y="4535"/>
                  <a:pt x="18923" y="4874"/>
                  <a:pt x="18914" y="5130"/>
                </a:cubicBezTo>
                <a:lnTo>
                  <a:pt x="18898" y="5580"/>
                </a:lnTo>
                <a:lnTo>
                  <a:pt x="19306" y="5580"/>
                </a:lnTo>
                <a:cubicBezTo>
                  <a:pt x="19529" y="5580"/>
                  <a:pt x="19717" y="5618"/>
                  <a:pt x="19722" y="5670"/>
                </a:cubicBezTo>
                <a:cubicBezTo>
                  <a:pt x="19728" y="5722"/>
                  <a:pt x="19715" y="5946"/>
                  <a:pt x="19698" y="6165"/>
                </a:cubicBezTo>
                <a:lnTo>
                  <a:pt x="19673" y="6570"/>
                </a:lnTo>
                <a:lnTo>
                  <a:pt x="19257" y="6615"/>
                </a:lnTo>
                <a:lnTo>
                  <a:pt x="18849" y="6660"/>
                </a:lnTo>
                <a:lnTo>
                  <a:pt x="18824" y="7155"/>
                </a:lnTo>
                <a:cubicBezTo>
                  <a:pt x="18810" y="7428"/>
                  <a:pt x="18792" y="7778"/>
                  <a:pt x="18784" y="7965"/>
                </a:cubicBezTo>
                <a:lnTo>
                  <a:pt x="18767" y="8325"/>
                </a:lnTo>
                <a:lnTo>
                  <a:pt x="19176" y="8325"/>
                </a:lnTo>
                <a:cubicBezTo>
                  <a:pt x="19517" y="8325"/>
                  <a:pt x="19581" y="8347"/>
                  <a:pt x="19592" y="8505"/>
                </a:cubicBezTo>
                <a:cubicBezTo>
                  <a:pt x="19599" y="8608"/>
                  <a:pt x="19591" y="8764"/>
                  <a:pt x="19576" y="8865"/>
                </a:cubicBezTo>
                <a:cubicBezTo>
                  <a:pt x="19553" y="9016"/>
                  <a:pt x="19471" y="9045"/>
                  <a:pt x="19135" y="9045"/>
                </a:cubicBezTo>
                <a:lnTo>
                  <a:pt x="18727" y="9045"/>
                </a:lnTo>
                <a:lnTo>
                  <a:pt x="18694" y="9855"/>
                </a:lnTo>
                <a:cubicBezTo>
                  <a:pt x="18674" y="10295"/>
                  <a:pt x="18653" y="10674"/>
                  <a:pt x="18653" y="10710"/>
                </a:cubicBezTo>
                <a:cubicBezTo>
                  <a:pt x="18653" y="10746"/>
                  <a:pt x="18844" y="10826"/>
                  <a:pt x="19069" y="10845"/>
                </a:cubicBezTo>
                <a:lnTo>
                  <a:pt x="19478" y="10845"/>
                </a:lnTo>
                <a:lnTo>
                  <a:pt x="19478" y="11160"/>
                </a:lnTo>
                <a:cubicBezTo>
                  <a:pt x="19478" y="11319"/>
                  <a:pt x="19453" y="12052"/>
                  <a:pt x="19420" y="12780"/>
                </a:cubicBezTo>
                <a:cubicBezTo>
                  <a:pt x="19365" y="14029"/>
                  <a:pt x="19357" y="14070"/>
                  <a:pt x="19306" y="14040"/>
                </a:cubicBezTo>
                <a:cubicBezTo>
                  <a:pt x="19276" y="14023"/>
                  <a:pt x="19215" y="13777"/>
                  <a:pt x="19167" y="13500"/>
                </a:cubicBezTo>
                <a:cubicBezTo>
                  <a:pt x="19078" y="12982"/>
                  <a:pt x="19069" y="12798"/>
                  <a:pt x="19118" y="11880"/>
                </a:cubicBezTo>
                <a:cubicBezTo>
                  <a:pt x="19129" y="11682"/>
                  <a:pt x="19108" y="11655"/>
                  <a:pt x="18873" y="11655"/>
                </a:cubicBezTo>
                <a:lnTo>
                  <a:pt x="18620" y="11655"/>
                </a:lnTo>
                <a:lnTo>
                  <a:pt x="18514" y="13860"/>
                </a:lnTo>
                <a:cubicBezTo>
                  <a:pt x="18457" y="15077"/>
                  <a:pt x="18408" y="16167"/>
                  <a:pt x="18408" y="16245"/>
                </a:cubicBezTo>
                <a:cubicBezTo>
                  <a:pt x="18408" y="16344"/>
                  <a:pt x="18481" y="16380"/>
                  <a:pt x="18653" y="16380"/>
                </a:cubicBezTo>
                <a:cubicBezTo>
                  <a:pt x="18898" y="16380"/>
                  <a:pt x="18901" y="16377"/>
                  <a:pt x="18922" y="16065"/>
                </a:cubicBezTo>
                <a:lnTo>
                  <a:pt x="18947" y="15750"/>
                </a:lnTo>
                <a:lnTo>
                  <a:pt x="19045" y="16065"/>
                </a:lnTo>
                <a:lnTo>
                  <a:pt x="19143" y="16380"/>
                </a:lnTo>
                <a:lnTo>
                  <a:pt x="19959" y="16335"/>
                </a:lnTo>
                <a:lnTo>
                  <a:pt x="20776" y="16335"/>
                </a:lnTo>
                <a:lnTo>
                  <a:pt x="20816" y="15525"/>
                </a:lnTo>
                <a:cubicBezTo>
                  <a:pt x="20837" y="15082"/>
                  <a:pt x="20867" y="14598"/>
                  <a:pt x="20882" y="14445"/>
                </a:cubicBezTo>
                <a:lnTo>
                  <a:pt x="20906" y="14130"/>
                </a:lnTo>
                <a:lnTo>
                  <a:pt x="20400" y="14130"/>
                </a:lnTo>
                <a:cubicBezTo>
                  <a:pt x="20118" y="14130"/>
                  <a:pt x="19893" y="14103"/>
                  <a:pt x="19886" y="14040"/>
                </a:cubicBezTo>
                <a:cubicBezTo>
                  <a:pt x="19879" y="13978"/>
                  <a:pt x="19882" y="13764"/>
                  <a:pt x="19894" y="13590"/>
                </a:cubicBezTo>
                <a:lnTo>
                  <a:pt x="19910" y="13275"/>
                </a:lnTo>
                <a:lnTo>
                  <a:pt x="20269" y="13275"/>
                </a:lnTo>
                <a:lnTo>
                  <a:pt x="20620" y="13230"/>
                </a:lnTo>
                <a:lnTo>
                  <a:pt x="20661" y="12465"/>
                </a:lnTo>
                <a:lnTo>
                  <a:pt x="20694" y="11745"/>
                </a:lnTo>
                <a:lnTo>
                  <a:pt x="20343" y="11655"/>
                </a:lnTo>
                <a:cubicBezTo>
                  <a:pt x="20012" y="11596"/>
                  <a:pt x="19993" y="11574"/>
                  <a:pt x="19992" y="11340"/>
                </a:cubicBezTo>
                <a:cubicBezTo>
                  <a:pt x="19988" y="10689"/>
                  <a:pt x="20004" y="10665"/>
                  <a:pt x="20359" y="10665"/>
                </a:cubicBezTo>
                <a:cubicBezTo>
                  <a:pt x="20781" y="10664"/>
                  <a:pt x="20810" y="10585"/>
                  <a:pt x="20890" y="9270"/>
                </a:cubicBezTo>
                <a:cubicBezTo>
                  <a:pt x="20944" y="8374"/>
                  <a:pt x="20943" y="8386"/>
                  <a:pt x="21029" y="8325"/>
                </a:cubicBezTo>
                <a:cubicBezTo>
                  <a:pt x="21111" y="8266"/>
                  <a:pt x="21115" y="8241"/>
                  <a:pt x="21143" y="7650"/>
                </a:cubicBezTo>
                <a:cubicBezTo>
                  <a:pt x="21188" y="6690"/>
                  <a:pt x="21185" y="6480"/>
                  <a:pt x="21118" y="6480"/>
                </a:cubicBezTo>
                <a:cubicBezTo>
                  <a:pt x="21087" y="6480"/>
                  <a:pt x="21059" y="6389"/>
                  <a:pt x="21053" y="6300"/>
                </a:cubicBezTo>
                <a:cubicBezTo>
                  <a:pt x="21047" y="6211"/>
                  <a:pt x="21061" y="5661"/>
                  <a:pt x="21086" y="5085"/>
                </a:cubicBezTo>
                <a:cubicBezTo>
                  <a:pt x="21111" y="4509"/>
                  <a:pt x="21126" y="4011"/>
                  <a:pt x="21127" y="3960"/>
                </a:cubicBezTo>
                <a:cubicBezTo>
                  <a:pt x="21127" y="3909"/>
                  <a:pt x="20951" y="3870"/>
                  <a:pt x="20735" y="3870"/>
                </a:cubicBezTo>
                <a:cubicBezTo>
                  <a:pt x="20504" y="3870"/>
                  <a:pt x="20343" y="3806"/>
                  <a:pt x="20335" y="3735"/>
                </a:cubicBezTo>
                <a:cubicBezTo>
                  <a:pt x="20311" y="3522"/>
                  <a:pt x="20362" y="2611"/>
                  <a:pt x="20408" y="2475"/>
                </a:cubicBezTo>
                <a:cubicBezTo>
                  <a:pt x="20435" y="2395"/>
                  <a:pt x="20677" y="2356"/>
                  <a:pt x="21029" y="2340"/>
                </a:cubicBezTo>
                <a:lnTo>
                  <a:pt x="21600" y="2295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2049" y="1260"/>
                </a:moveTo>
                <a:lnTo>
                  <a:pt x="784" y="1305"/>
                </a:lnTo>
                <a:lnTo>
                  <a:pt x="694" y="2385"/>
                </a:lnTo>
                <a:lnTo>
                  <a:pt x="612" y="3420"/>
                </a:lnTo>
                <a:lnTo>
                  <a:pt x="1853" y="3510"/>
                </a:lnTo>
                <a:cubicBezTo>
                  <a:pt x="3228" y="3579"/>
                  <a:pt x="3187" y="3511"/>
                  <a:pt x="3347" y="4365"/>
                </a:cubicBezTo>
                <a:cubicBezTo>
                  <a:pt x="3405" y="4673"/>
                  <a:pt x="3420" y="4887"/>
                  <a:pt x="3420" y="5265"/>
                </a:cubicBezTo>
                <a:cubicBezTo>
                  <a:pt x="3420" y="5669"/>
                  <a:pt x="3399" y="5848"/>
                  <a:pt x="3306" y="6390"/>
                </a:cubicBezTo>
                <a:cubicBezTo>
                  <a:pt x="3117" y="7489"/>
                  <a:pt x="2815" y="8347"/>
                  <a:pt x="2212" y="9450"/>
                </a:cubicBezTo>
                <a:lnTo>
                  <a:pt x="1886" y="10035"/>
                </a:lnTo>
                <a:lnTo>
                  <a:pt x="2376" y="12645"/>
                </a:lnTo>
                <a:lnTo>
                  <a:pt x="2865" y="15255"/>
                </a:lnTo>
                <a:lnTo>
                  <a:pt x="3404" y="15255"/>
                </a:lnTo>
                <a:cubicBezTo>
                  <a:pt x="3754" y="15258"/>
                  <a:pt x="3935" y="15203"/>
                  <a:pt x="3935" y="15120"/>
                </a:cubicBezTo>
                <a:cubicBezTo>
                  <a:pt x="3935" y="14895"/>
                  <a:pt x="3463" y="12407"/>
                  <a:pt x="3200" y="11250"/>
                </a:cubicBezTo>
                <a:cubicBezTo>
                  <a:pt x="3060" y="10632"/>
                  <a:pt x="2953" y="10092"/>
                  <a:pt x="2963" y="10035"/>
                </a:cubicBezTo>
                <a:cubicBezTo>
                  <a:pt x="2974" y="9978"/>
                  <a:pt x="3061" y="9879"/>
                  <a:pt x="3159" y="9810"/>
                </a:cubicBezTo>
                <a:cubicBezTo>
                  <a:pt x="3646" y="9471"/>
                  <a:pt x="4033" y="8321"/>
                  <a:pt x="4196" y="6705"/>
                </a:cubicBezTo>
                <a:cubicBezTo>
                  <a:pt x="4255" y="6116"/>
                  <a:pt x="4261" y="5931"/>
                  <a:pt x="4261" y="4995"/>
                </a:cubicBezTo>
                <a:cubicBezTo>
                  <a:pt x="4261" y="4065"/>
                  <a:pt x="4253" y="3855"/>
                  <a:pt x="4196" y="3285"/>
                </a:cubicBezTo>
                <a:cubicBezTo>
                  <a:pt x="4086" y="2189"/>
                  <a:pt x="3883" y="1619"/>
                  <a:pt x="3527" y="1395"/>
                </a:cubicBezTo>
                <a:cubicBezTo>
                  <a:pt x="3429" y="1334"/>
                  <a:pt x="3092" y="1264"/>
                  <a:pt x="2596" y="1260"/>
                </a:cubicBezTo>
                <a:cubicBezTo>
                  <a:pt x="2430" y="1259"/>
                  <a:pt x="2247" y="1254"/>
                  <a:pt x="2049" y="1260"/>
                </a:cubicBezTo>
                <a:close/>
                <a:moveTo>
                  <a:pt x="14996" y="4095"/>
                </a:moveTo>
                <a:lnTo>
                  <a:pt x="14922" y="5895"/>
                </a:lnTo>
                <a:cubicBezTo>
                  <a:pt x="14835" y="7965"/>
                  <a:pt x="14743" y="10416"/>
                  <a:pt x="14743" y="10575"/>
                </a:cubicBezTo>
                <a:cubicBezTo>
                  <a:pt x="14743" y="10637"/>
                  <a:pt x="14955" y="10665"/>
                  <a:pt x="15224" y="10665"/>
                </a:cubicBezTo>
                <a:cubicBezTo>
                  <a:pt x="15490" y="10665"/>
                  <a:pt x="15708" y="10700"/>
                  <a:pt x="15714" y="10755"/>
                </a:cubicBezTo>
                <a:cubicBezTo>
                  <a:pt x="15720" y="10810"/>
                  <a:pt x="15717" y="11116"/>
                  <a:pt x="15706" y="11385"/>
                </a:cubicBezTo>
                <a:cubicBezTo>
                  <a:pt x="15695" y="11654"/>
                  <a:pt x="15680" y="12020"/>
                  <a:pt x="15673" y="12240"/>
                </a:cubicBezTo>
                <a:cubicBezTo>
                  <a:pt x="15666" y="12460"/>
                  <a:pt x="15639" y="13250"/>
                  <a:pt x="15608" y="13950"/>
                </a:cubicBezTo>
                <a:cubicBezTo>
                  <a:pt x="15541" y="15478"/>
                  <a:pt x="15537" y="16069"/>
                  <a:pt x="15592" y="16245"/>
                </a:cubicBezTo>
                <a:cubicBezTo>
                  <a:pt x="15615" y="16321"/>
                  <a:pt x="15844" y="16378"/>
                  <a:pt x="16163" y="16380"/>
                </a:cubicBezTo>
                <a:lnTo>
                  <a:pt x="16694" y="16380"/>
                </a:lnTo>
                <a:lnTo>
                  <a:pt x="16735" y="15480"/>
                </a:lnTo>
                <a:cubicBezTo>
                  <a:pt x="16756" y="14986"/>
                  <a:pt x="16789" y="14474"/>
                  <a:pt x="16808" y="14355"/>
                </a:cubicBezTo>
                <a:cubicBezTo>
                  <a:pt x="16841" y="14150"/>
                  <a:pt x="16820" y="14130"/>
                  <a:pt x="16498" y="14130"/>
                </a:cubicBezTo>
                <a:cubicBezTo>
                  <a:pt x="16311" y="14130"/>
                  <a:pt x="16152" y="14091"/>
                  <a:pt x="16147" y="14040"/>
                </a:cubicBezTo>
                <a:cubicBezTo>
                  <a:pt x="16132" y="13902"/>
                  <a:pt x="16251" y="11026"/>
                  <a:pt x="16278" y="10845"/>
                </a:cubicBezTo>
                <a:cubicBezTo>
                  <a:pt x="16291" y="10752"/>
                  <a:pt x="16350" y="10665"/>
                  <a:pt x="16433" y="10665"/>
                </a:cubicBezTo>
                <a:cubicBezTo>
                  <a:pt x="16615" y="10664"/>
                  <a:pt x="16718" y="10502"/>
                  <a:pt x="16792" y="10080"/>
                </a:cubicBezTo>
                <a:cubicBezTo>
                  <a:pt x="16842" y="9790"/>
                  <a:pt x="16869" y="9432"/>
                  <a:pt x="16922" y="7965"/>
                </a:cubicBezTo>
                <a:cubicBezTo>
                  <a:pt x="16965" y="6801"/>
                  <a:pt x="16972" y="6211"/>
                  <a:pt x="16955" y="6210"/>
                </a:cubicBezTo>
                <a:cubicBezTo>
                  <a:pt x="16926" y="6209"/>
                  <a:pt x="16512" y="6864"/>
                  <a:pt x="16498" y="6930"/>
                </a:cubicBezTo>
                <a:cubicBezTo>
                  <a:pt x="16493" y="6954"/>
                  <a:pt x="16469" y="7392"/>
                  <a:pt x="16449" y="7920"/>
                </a:cubicBezTo>
                <a:lnTo>
                  <a:pt x="16416" y="8865"/>
                </a:lnTo>
                <a:lnTo>
                  <a:pt x="15829" y="8955"/>
                </a:lnTo>
                <a:cubicBezTo>
                  <a:pt x="15427" y="8999"/>
                  <a:pt x="15229" y="9071"/>
                  <a:pt x="15184" y="9180"/>
                </a:cubicBezTo>
                <a:cubicBezTo>
                  <a:pt x="15141" y="9282"/>
                  <a:pt x="15108" y="9302"/>
                  <a:pt x="15094" y="9225"/>
                </a:cubicBezTo>
                <a:cubicBezTo>
                  <a:pt x="15080" y="9148"/>
                  <a:pt x="15113" y="8918"/>
                  <a:pt x="15192" y="8640"/>
                </a:cubicBezTo>
                <a:lnTo>
                  <a:pt x="15314" y="8235"/>
                </a:lnTo>
                <a:lnTo>
                  <a:pt x="15355" y="7200"/>
                </a:lnTo>
                <a:cubicBezTo>
                  <a:pt x="15378" y="6632"/>
                  <a:pt x="15409" y="6066"/>
                  <a:pt x="15420" y="5985"/>
                </a:cubicBezTo>
                <a:cubicBezTo>
                  <a:pt x="15434" y="5884"/>
                  <a:pt x="15564" y="5832"/>
                  <a:pt x="15837" y="5805"/>
                </a:cubicBezTo>
                <a:cubicBezTo>
                  <a:pt x="16213" y="5768"/>
                  <a:pt x="16242" y="5754"/>
                  <a:pt x="16359" y="5445"/>
                </a:cubicBezTo>
                <a:cubicBezTo>
                  <a:pt x="16461" y="5176"/>
                  <a:pt x="16627" y="4823"/>
                  <a:pt x="16947" y="4185"/>
                </a:cubicBezTo>
                <a:cubicBezTo>
                  <a:pt x="16966" y="4148"/>
                  <a:pt x="16529" y="4100"/>
                  <a:pt x="15984" y="4095"/>
                </a:cubicBezTo>
                <a:lnTo>
                  <a:pt x="14996" y="4095"/>
                </a:lnTo>
                <a:close/>
                <a:moveTo>
                  <a:pt x="11837" y="4410"/>
                </a:moveTo>
                <a:cubicBezTo>
                  <a:pt x="11531" y="4420"/>
                  <a:pt x="11318" y="4631"/>
                  <a:pt x="11094" y="5130"/>
                </a:cubicBezTo>
                <a:cubicBezTo>
                  <a:pt x="10627" y="6168"/>
                  <a:pt x="10305" y="8167"/>
                  <a:pt x="10237" y="10350"/>
                </a:cubicBezTo>
                <a:cubicBezTo>
                  <a:pt x="10160" y="12813"/>
                  <a:pt x="10474" y="14725"/>
                  <a:pt x="11020" y="15120"/>
                </a:cubicBezTo>
                <a:cubicBezTo>
                  <a:pt x="11312" y="15331"/>
                  <a:pt x="11860" y="14940"/>
                  <a:pt x="12188" y="14265"/>
                </a:cubicBezTo>
                <a:lnTo>
                  <a:pt x="12310" y="13995"/>
                </a:lnTo>
                <a:lnTo>
                  <a:pt x="12359" y="12735"/>
                </a:lnTo>
                <a:cubicBezTo>
                  <a:pt x="12389" y="12039"/>
                  <a:pt x="12411" y="11452"/>
                  <a:pt x="12408" y="11430"/>
                </a:cubicBezTo>
                <a:cubicBezTo>
                  <a:pt x="12405" y="11408"/>
                  <a:pt x="12338" y="11577"/>
                  <a:pt x="12261" y="11790"/>
                </a:cubicBezTo>
                <a:cubicBezTo>
                  <a:pt x="12073" y="12313"/>
                  <a:pt x="11690" y="13010"/>
                  <a:pt x="11518" y="13140"/>
                </a:cubicBezTo>
                <a:cubicBezTo>
                  <a:pt x="11354" y="13264"/>
                  <a:pt x="11203" y="13115"/>
                  <a:pt x="11118" y="12780"/>
                </a:cubicBezTo>
                <a:cubicBezTo>
                  <a:pt x="11044" y="12487"/>
                  <a:pt x="10967" y="11717"/>
                  <a:pt x="10996" y="11565"/>
                </a:cubicBezTo>
                <a:cubicBezTo>
                  <a:pt x="11007" y="11505"/>
                  <a:pt x="11273" y="11201"/>
                  <a:pt x="11584" y="10890"/>
                </a:cubicBezTo>
                <a:cubicBezTo>
                  <a:pt x="12182" y="10292"/>
                  <a:pt x="12342" y="10041"/>
                  <a:pt x="12490" y="9450"/>
                </a:cubicBezTo>
                <a:cubicBezTo>
                  <a:pt x="12589" y="9053"/>
                  <a:pt x="12630" y="8682"/>
                  <a:pt x="12669" y="7875"/>
                </a:cubicBezTo>
                <a:cubicBezTo>
                  <a:pt x="12732" y="6594"/>
                  <a:pt x="12569" y="5280"/>
                  <a:pt x="12278" y="4725"/>
                </a:cubicBezTo>
                <a:cubicBezTo>
                  <a:pt x="12144" y="4470"/>
                  <a:pt x="12078" y="4402"/>
                  <a:pt x="11837" y="4410"/>
                </a:cubicBezTo>
                <a:close/>
                <a:moveTo>
                  <a:pt x="4596" y="4500"/>
                </a:moveTo>
                <a:lnTo>
                  <a:pt x="4571" y="4950"/>
                </a:lnTo>
                <a:cubicBezTo>
                  <a:pt x="4437" y="7980"/>
                  <a:pt x="4246" y="12545"/>
                  <a:pt x="4237" y="13005"/>
                </a:cubicBezTo>
                <a:cubicBezTo>
                  <a:pt x="4215" y="14109"/>
                  <a:pt x="4356" y="14889"/>
                  <a:pt x="4629" y="15165"/>
                </a:cubicBezTo>
                <a:cubicBezTo>
                  <a:pt x="4786" y="15324"/>
                  <a:pt x="5690" y="15159"/>
                  <a:pt x="5918" y="14940"/>
                </a:cubicBezTo>
                <a:cubicBezTo>
                  <a:pt x="6024" y="14838"/>
                  <a:pt x="6146" y="14657"/>
                  <a:pt x="6196" y="14535"/>
                </a:cubicBezTo>
                <a:cubicBezTo>
                  <a:pt x="6301" y="14278"/>
                  <a:pt x="6425" y="13605"/>
                  <a:pt x="6473" y="12960"/>
                </a:cubicBezTo>
                <a:cubicBezTo>
                  <a:pt x="6520" y="12345"/>
                  <a:pt x="6698" y="8277"/>
                  <a:pt x="6833" y="4770"/>
                </a:cubicBezTo>
                <a:lnTo>
                  <a:pt x="6841" y="4500"/>
                </a:lnTo>
                <a:lnTo>
                  <a:pt x="6490" y="4500"/>
                </a:lnTo>
                <a:lnTo>
                  <a:pt x="6131" y="4500"/>
                </a:lnTo>
                <a:lnTo>
                  <a:pt x="6065" y="6300"/>
                </a:lnTo>
                <a:cubicBezTo>
                  <a:pt x="5897" y="11087"/>
                  <a:pt x="5816" y="12280"/>
                  <a:pt x="5624" y="12825"/>
                </a:cubicBezTo>
                <a:cubicBezTo>
                  <a:pt x="5523" y="13114"/>
                  <a:pt x="5292" y="13284"/>
                  <a:pt x="5176" y="13140"/>
                </a:cubicBezTo>
                <a:cubicBezTo>
                  <a:pt x="5040" y="12972"/>
                  <a:pt x="4996" y="12748"/>
                  <a:pt x="4996" y="12195"/>
                </a:cubicBezTo>
                <a:cubicBezTo>
                  <a:pt x="4996" y="11950"/>
                  <a:pt x="5065" y="10169"/>
                  <a:pt x="5151" y="8235"/>
                </a:cubicBezTo>
                <a:cubicBezTo>
                  <a:pt x="5238" y="6301"/>
                  <a:pt x="5314" y="4650"/>
                  <a:pt x="5314" y="4590"/>
                </a:cubicBezTo>
                <a:cubicBezTo>
                  <a:pt x="5314" y="4530"/>
                  <a:pt x="5153" y="4500"/>
                  <a:pt x="4955" y="4500"/>
                </a:cubicBezTo>
                <a:lnTo>
                  <a:pt x="4596" y="4500"/>
                </a:lnTo>
                <a:close/>
                <a:moveTo>
                  <a:pt x="10237" y="4815"/>
                </a:moveTo>
                <a:lnTo>
                  <a:pt x="10073" y="4905"/>
                </a:lnTo>
                <a:cubicBezTo>
                  <a:pt x="9985" y="4950"/>
                  <a:pt x="9829" y="5056"/>
                  <a:pt x="9722" y="5130"/>
                </a:cubicBezTo>
                <a:lnTo>
                  <a:pt x="9527" y="5265"/>
                </a:lnTo>
                <a:lnTo>
                  <a:pt x="9486" y="6120"/>
                </a:lnTo>
                <a:cubicBezTo>
                  <a:pt x="9466" y="6607"/>
                  <a:pt x="9414" y="7920"/>
                  <a:pt x="9363" y="9045"/>
                </a:cubicBezTo>
                <a:cubicBezTo>
                  <a:pt x="9313" y="10170"/>
                  <a:pt x="9248" y="11626"/>
                  <a:pt x="9224" y="12240"/>
                </a:cubicBezTo>
                <a:cubicBezTo>
                  <a:pt x="9201" y="12854"/>
                  <a:pt x="9166" y="13782"/>
                  <a:pt x="9143" y="14310"/>
                </a:cubicBezTo>
                <a:lnTo>
                  <a:pt x="9094" y="15255"/>
                </a:lnTo>
                <a:lnTo>
                  <a:pt x="9437" y="15255"/>
                </a:lnTo>
                <a:lnTo>
                  <a:pt x="9780" y="15255"/>
                </a:lnTo>
                <a:lnTo>
                  <a:pt x="9910" y="12240"/>
                </a:lnTo>
                <a:cubicBezTo>
                  <a:pt x="9981" y="10587"/>
                  <a:pt x="10085" y="8239"/>
                  <a:pt x="10139" y="7020"/>
                </a:cubicBezTo>
                <a:lnTo>
                  <a:pt x="10237" y="4815"/>
                </a:lnTo>
                <a:close/>
                <a:moveTo>
                  <a:pt x="1045" y="4995"/>
                </a:moveTo>
                <a:lnTo>
                  <a:pt x="971" y="6075"/>
                </a:lnTo>
                <a:cubicBezTo>
                  <a:pt x="932" y="6671"/>
                  <a:pt x="830" y="8333"/>
                  <a:pt x="735" y="9765"/>
                </a:cubicBezTo>
                <a:cubicBezTo>
                  <a:pt x="640" y="11197"/>
                  <a:pt x="523" y="12897"/>
                  <a:pt x="482" y="13545"/>
                </a:cubicBezTo>
                <a:cubicBezTo>
                  <a:pt x="441" y="14193"/>
                  <a:pt x="401" y="14819"/>
                  <a:pt x="392" y="14940"/>
                </a:cubicBezTo>
                <a:cubicBezTo>
                  <a:pt x="377" y="15146"/>
                  <a:pt x="405" y="15152"/>
                  <a:pt x="824" y="15120"/>
                </a:cubicBezTo>
                <a:lnTo>
                  <a:pt x="1273" y="15075"/>
                </a:lnTo>
                <a:lnTo>
                  <a:pt x="1388" y="13320"/>
                </a:lnTo>
                <a:cubicBezTo>
                  <a:pt x="1508" y="11527"/>
                  <a:pt x="1755" y="7778"/>
                  <a:pt x="1853" y="6255"/>
                </a:cubicBezTo>
                <a:cubicBezTo>
                  <a:pt x="1884" y="5778"/>
                  <a:pt x="1918" y="5294"/>
                  <a:pt x="1927" y="5175"/>
                </a:cubicBezTo>
                <a:cubicBezTo>
                  <a:pt x="1941" y="4973"/>
                  <a:pt x="1910" y="4994"/>
                  <a:pt x="1494" y="4995"/>
                </a:cubicBezTo>
                <a:lnTo>
                  <a:pt x="1045" y="4995"/>
                </a:lnTo>
                <a:close/>
                <a:moveTo>
                  <a:pt x="9053" y="5625"/>
                </a:moveTo>
                <a:cubicBezTo>
                  <a:pt x="9049" y="5597"/>
                  <a:pt x="8891" y="5686"/>
                  <a:pt x="8702" y="5850"/>
                </a:cubicBezTo>
                <a:lnTo>
                  <a:pt x="8359" y="6165"/>
                </a:lnTo>
                <a:lnTo>
                  <a:pt x="8180" y="10170"/>
                </a:lnTo>
                <a:cubicBezTo>
                  <a:pt x="7933" y="15574"/>
                  <a:pt x="7864" y="16641"/>
                  <a:pt x="7722" y="17505"/>
                </a:cubicBezTo>
                <a:cubicBezTo>
                  <a:pt x="7637" y="18025"/>
                  <a:pt x="7429" y="18674"/>
                  <a:pt x="7298" y="18810"/>
                </a:cubicBezTo>
                <a:cubicBezTo>
                  <a:pt x="7231" y="18879"/>
                  <a:pt x="7223" y="18925"/>
                  <a:pt x="7200" y="19575"/>
                </a:cubicBezTo>
                <a:cubicBezTo>
                  <a:pt x="7186" y="19960"/>
                  <a:pt x="7169" y="20440"/>
                  <a:pt x="7159" y="20610"/>
                </a:cubicBezTo>
                <a:lnTo>
                  <a:pt x="7143" y="20925"/>
                </a:lnTo>
                <a:lnTo>
                  <a:pt x="6694" y="20925"/>
                </a:lnTo>
                <a:cubicBezTo>
                  <a:pt x="6448" y="20944"/>
                  <a:pt x="6239" y="20940"/>
                  <a:pt x="6229" y="20880"/>
                </a:cubicBezTo>
                <a:cubicBezTo>
                  <a:pt x="6217" y="20818"/>
                  <a:pt x="6237" y="20683"/>
                  <a:pt x="6269" y="20565"/>
                </a:cubicBezTo>
                <a:cubicBezTo>
                  <a:pt x="6361" y="20235"/>
                  <a:pt x="6348" y="19709"/>
                  <a:pt x="6237" y="19305"/>
                </a:cubicBezTo>
                <a:cubicBezTo>
                  <a:pt x="6097" y="18794"/>
                  <a:pt x="6116" y="18557"/>
                  <a:pt x="6310" y="18585"/>
                </a:cubicBezTo>
                <a:cubicBezTo>
                  <a:pt x="6409" y="18599"/>
                  <a:pt x="6431" y="18566"/>
                  <a:pt x="6441" y="18360"/>
                </a:cubicBezTo>
                <a:cubicBezTo>
                  <a:pt x="6452" y="18132"/>
                  <a:pt x="6441" y="18133"/>
                  <a:pt x="6269" y="18135"/>
                </a:cubicBezTo>
                <a:cubicBezTo>
                  <a:pt x="6046" y="18137"/>
                  <a:pt x="5977" y="18268"/>
                  <a:pt x="5967" y="18810"/>
                </a:cubicBezTo>
                <a:cubicBezTo>
                  <a:pt x="5961" y="19151"/>
                  <a:pt x="5970" y="19242"/>
                  <a:pt x="6049" y="19530"/>
                </a:cubicBezTo>
                <a:cubicBezTo>
                  <a:pt x="6150" y="19897"/>
                  <a:pt x="6156" y="19977"/>
                  <a:pt x="6106" y="20205"/>
                </a:cubicBezTo>
                <a:cubicBezTo>
                  <a:pt x="6082" y="20313"/>
                  <a:pt x="6036" y="20353"/>
                  <a:pt x="5943" y="20295"/>
                </a:cubicBezTo>
                <a:cubicBezTo>
                  <a:pt x="5810" y="20212"/>
                  <a:pt x="5811" y="20220"/>
                  <a:pt x="5804" y="20565"/>
                </a:cubicBezTo>
                <a:cubicBezTo>
                  <a:pt x="5791" y="21171"/>
                  <a:pt x="5728" y="21023"/>
                  <a:pt x="5616" y="20160"/>
                </a:cubicBezTo>
                <a:cubicBezTo>
                  <a:pt x="5559" y="19718"/>
                  <a:pt x="5510" y="19336"/>
                  <a:pt x="5510" y="19305"/>
                </a:cubicBezTo>
                <a:cubicBezTo>
                  <a:pt x="5510" y="19274"/>
                  <a:pt x="5582" y="19018"/>
                  <a:pt x="5665" y="18720"/>
                </a:cubicBezTo>
                <a:lnTo>
                  <a:pt x="5812" y="18180"/>
                </a:lnTo>
                <a:lnTo>
                  <a:pt x="5714" y="18135"/>
                </a:lnTo>
                <a:cubicBezTo>
                  <a:pt x="5624" y="18103"/>
                  <a:pt x="5594" y="18145"/>
                  <a:pt x="5494" y="18540"/>
                </a:cubicBezTo>
                <a:cubicBezTo>
                  <a:pt x="5318" y="19236"/>
                  <a:pt x="5308" y="19019"/>
                  <a:pt x="5437" y="17325"/>
                </a:cubicBezTo>
                <a:cubicBezTo>
                  <a:pt x="5451" y="17137"/>
                  <a:pt x="5434" y="17145"/>
                  <a:pt x="5347" y="17145"/>
                </a:cubicBezTo>
                <a:lnTo>
                  <a:pt x="5249" y="17145"/>
                </a:lnTo>
                <a:lnTo>
                  <a:pt x="5192" y="18090"/>
                </a:lnTo>
                <a:cubicBezTo>
                  <a:pt x="5108" y="19414"/>
                  <a:pt x="5014" y="20644"/>
                  <a:pt x="4988" y="20835"/>
                </a:cubicBezTo>
                <a:cubicBezTo>
                  <a:pt x="4972" y="20946"/>
                  <a:pt x="4919" y="20950"/>
                  <a:pt x="4808" y="20925"/>
                </a:cubicBezTo>
                <a:lnTo>
                  <a:pt x="4645" y="20925"/>
                </a:lnTo>
                <a:lnTo>
                  <a:pt x="4653" y="20565"/>
                </a:lnTo>
                <a:cubicBezTo>
                  <a:pt x="4673" y="19538"/>
                  <a:pt x="4827" y="18536"/>
                  <a:pt x="4955" y="18630"/>
                </a:cubicBezTo>
                <a:cubicBezTo>
                  <a:pt x="5012" y="18672"/>
                  <a:pt x="5037" y="18539"/>
                  <a:pt x="5037" y="18225"/>
                </a:cubicBezTo>
                <a:cubicBezTo>
                  <a:pt x="5037" y="18165"/>
                  <a:pt x="4945" y="18121"/>
                  <a:pt x="4824" y="18135"/>
                </a:cubicBezTo>
                <a:lnTo>
                  <a:pt x="4604" y="18180"/>
                </a:lnTo>
                <a:lnTo>
                  <a:pt x="4563" y="18855"/>
                </a:lnTo>
                <a:cubicBezTo>
                  <a:pt x="4542" y="19230"/>
                  <a:pt x="4505" y="19858"/>
                  <a:pt x="4473" y="20250"/>
                </a:cubicBezTo>
                <a:lnTo>
                  <a:pt x="4416" y="20970"/>
                </a:lnTo>
                <a:lnTo>
                  <a:pt x="4302" y="20970"/>
                </a:lnTo>
                <a:cubicBezTo>
                  <a:pt x="4159" y="20970"/>
                  <a:pt x="4137" y="20826"/>
                  <a:pt x="4245" y="20520"/>
                </a:cubicBezTo>
                <a:cubicBezTo>
                  <a:pt x="4411" y="20048"/>
                  <a:pt x="4485" y="18910"/>
                  <a:pt x="4384" y="18405"/>
                </a:cubicBezTo>
                <a:cubicBezTo>
                  <a:pt x="4347" y="18222"/>
                  <a:pt x="4294" y="18169"/>
                  <a:pt x="4147" y="18135"/>
                </a:cubicBezTo>
                <a:cubicBezTo>
                  <a:pt x="3979" y="18096"/>
                  <a:pt x="3944" y="18116"/>
                  <a:pt x="3837" y="18405"/>
                </a:cubicBezTo>
                <a:cubicBezTo>
                  <a:pt x="3651" y="18906"/>
                  <a:pt x="3583" y="19933"/>
                  <a:pt x="3698" y="20520"/>
                </a:cubicBezTo>
                <a:cubicBezTo>
                  <a:pt x="3729" y="20677"/>
                  <a:pt x="3747" y="20836"/>
                  <a:pt x="3739" y="20880"/>
                </a:cubicBezTo>
                <a:cubicBezTo>
                  <a:pt x="3718" y="20993"/>
                  <a:pt x="3270" y="20994"/>
                  <a:pt x="3257" y="20880"/>
                </a:cubicBezTo>
                <a:cubicBezTo>
                  <a:pt x="3252" y="20829"/>
                  <a:pt x="3348" y="20201"/>
                  <a:pt x="3469" y="19485"/>
                </a:cubicBezTo>
                <a:lnTo>
                  <a:pt x="3690" y="18180"/>
                </a:lnTo>
                <a:lnTo>
                  <a:pt x="3592" y="18135"/>
                </a:lnTo>
                <a:cubicBezTo>
                  <a:pt x="3502" y="18097"/>
                  <a:pt x="3498" y="18117"/>
                  <a:pt x="3371" y="18900"/>
                </a:cubicBezTo>
                <a:cubicBezTo>
                  <a:pt x="3299" y="19348"/>
                  <a:pt x="3226" y="19698"/>
                  <a:pt x="3216" y="19665"/>
                </a:cubicBezTo>
                <a:cubicBezTo>
                  <a:pt x="3207" y="19632"/>
                  <a:pt x="3192" y="19266"/>
                  <a:pt x="3184" y="18855"/>
                </a:cubicBezTo>
                <a:lnTo>
                  <a:pt x="3167" y="18135"/>
                </a:lnTo>
                <a:lnTo>
                  <a:pt x="3069" y="18135"/>
                </a:lnTo>
                <a:cubicBezTo>
                  <a:pt x="2976" y="18135"/>
                  <a:pt x="2972" y="18154"/>
                  <a:pt x="2849" y="18990"/>
                </a:cubicBezTo>
                <a:cubicBezTo>
                  <a:pt x="2718" y="19880"/>
                  <a:pt x="2678" y="19983"/>
                  <a:pt x="2678" y="19395"/>
                </a:cubicBezTo>
                <a:cubicBezTo>
                  <a:pt x="2677" y="19212"/>
                  <a:pt x="2669" y="18841"/>
                  <a:pt x="2661" y="18585"/>
                </a:cubicBezTo>
                <a:cubicBezTo>
                  <a:pt x="2648" y="18141"/>
                  <a:pt x="2646" y="18135"/>
                  <a:pt x="2563" y="18135"/>
                </a:cubicBezTo>
                <a:cubicBezTo>
                  <a:pt x="2461" y="18135"/>
                  <a:pt x="2457" y="18071"/>
                  <a:pt x="2506" y="19620"/>
                </a:cubicBezTo>
                <a:cubicBezTo>
                  <a:pt x="2525" y="20219"/>
                  <a:pt x="2538" y="20769"/>
                  <a:pt x="2531" y="20835"/>
                </a:cubicBezTo>
                <a:cubicBezTo>
                  <a:pt x="2512" y="21000"/>
                  <a:pt x="2255" y="21002"/>
                  <a:pt x="2237" y="20835"/>
                </a:cubicBezTo>
                <a:cubicBezTo>
                  <a:pt x="2228" y="20761"/>
                  <a:pt x="2231" y="20641"/>
                  <a:pt x="2245" y="20565"/>
                </a:cubicBezTo>
                <a:cubicBezTo>
                  <a:pt x="2287" y="20331"/>
                  <a:pt x="2278" y="20222"/>
                  <a:pt x="2212" y="20295"/>
                </a:cubicBezTo>
                <a:cubicBezTo>
                  <a:pt x="2109" y="20409"/>
                  <a:pt x="2089" y="20143"/>
                  <a:pt x="2147" y="19350"/>
                </a:cubicBezTo>
                <a:cubicBezTo>
                  <a:pt x="2195" y="18693"/>
                  <a:pt x="2197" y="18666"/>
                  <a:pt x="2286" y="18630"/>
                </a:cubicBezTo>
                <a:cubicBezTo>
                  <a:pt x="2355" y="18602"/>
                  <a:pt x="2383" y="18541"/>
                  <a:pt x="2392" y="18360"/>
                </a:cubicBezTo>
                <a:cubicBezTo>
                  <a:pt x="2401" y="18157"/>
                  <a:pt x="2396" y="18135"/>
                  <a:pt x="2335" y="18135"/>
                </a:cubicBezTo>
                <a:cubicBezTo>
                  <a:pt x="2245" y="18135"/>
                  <a:pt x="2224" y="18029"/>
                  <a:pt x="2253" y="17730"/>
                </a:cubicBezTo>
                <a:cubicBezTo>
                  <a:pt x="2272" y="17535"/>
                  <a:pt x="2264" y="17504"/>
                  <a:pt x="2220" y="17505"/>
                </a:cubicBezTo>
                <a:cubicBezTo>
                  <a:pt x="2129" y="17508"/>
                  <a:pt x="2077" y="17623"/>
                  <a:pt x="2065" y="17865"/>
                </a:cubicBezTo>
                <a:cubicBezTo>
                  <a:pt x="2058" y="18021"/>
                  <a:pt x="2030" y="18135"/>
                  <a:pt x="1992" y="18135"/>
                </a:cubicBezTo>
                <a:cubicBezTo>
                  <a:pt x="1960" y="18135"/>
                  <a:pt x="1935" y="18151"/>
                  <a:pt x="1935" y="18180"/>
                </a:cubicBezTo>
                <a:cubicBezTo>
                  <a:pt x="1935" y="18209"/>
                  <a:pt x="1933" y="18306"/>
                  <a:pt x="1927" y="18405"/>
                </a:cubicBezTo>
                <a:cubicBezTo>
                  <a:pt x="1919" y="18517"/>
                  <a:pt x="1931" y="18589"/>
                  <a:pt x="1959" y="18630"/>
                </a:cubicBezTo>
                <a:cubicBezTo>
                  <a:pt x="2004" y="18695"/>
                  <a:pt x="1999" y="18724"/>
                  <a:pt x="1943" y="19485"/>
                </a:cubicBezTo>
                <a:cubicBezTo>
                  <a:pt x="1912" y="19909"/>
                  <a:pt x="1890" y="20386"/>
                  <a:pt x="1894" y="20565"/>
                </a:cubicBezTo>
                <a:cubicBezTo>
                  <a:pt x="1900" y="20862"/>
                  <a:pt x="1891" y="20889"/>
                  <a:pt x="1812" y="20925"/>
                </a:cubicBezTo>
                <a:cubicBezTo>
                  <a:pt x="1679" y="20985"/>
                  <a:pt x="1654" y="20934"/>
                  <a:pt x="1698" y="20565"/>
                </a:cubicBezTo>
                <a:lnTo>
                  <a:pt x="1739" y="20250"/>
                </a:lnTo>
                <a:lnTo>
                  <a:pt x="1567" y="20295"/>
                </a:lnTo>
                <a:cubicBezTo>
                  <a:pt x="1416" y="20358"/>
                  <a:pt x="1400" y="20362"/>
                  <a:pt x="1355" y="20115"/>
                </a:cubicBezTo>
                <a:cubicBezTo>
                  <a:pt x="1270" y="19645"/>
                  <a:pt x="1318" y="19480"/>
                  <a:pt x="1592" y="19440"/>
                </a:cubicBezTo>
                <a:lnTo>
                  <a:pt x="1837" y="19395"/>
                </a:lnTo>
                <a:lnTo>
                  <a:pt x="1845" y="18945"/>
                </a:lnTo>
                <a:cubicBezTo>
                  <a:pt x="1850" y="18586"/>
                  <a:pt x="1841" y="18387"/>
                  <a:pt x="1812" y="18270"/>
                </a:cubicBezTo>
                <a:cubicBezTo>
                  <a:pt x="1759" y="18054"/>
                  <a:pt x="1440" y="18050"/>
                  <a:pt x="1347" y="18270"/>
                </a:cubicBezTo>
                <a:cubicBezTo>
                  <a:pt x="1229" y="18547"/>
                  <a:pt x="1148" y="19124"/>
                  <a:pt x="1135" y="19755"/>
                </a:cubicBezTo>
                <a:cubicBezTo>
                  <a:pt x="1125" y="20250"/>
                  <a:pt x="1123" y="20331"/>
                  <a:pt x="1176" y="20520"/>
                </a:cubicBezTo>
                <a:cubicBezTo>
                  <a:pt x="1208" y="20637"/>
                  <a:pt x="1231" y="20774"/>
                  <a:pt x="1224" y="20835"/>
                </a:cubicBezTo>
                <a:cubicBezTo>
                  <a:pt x="1211" y="20956"/>
                  <a:pt x="936" y="20997"/>
                  <a:pt x="914" y="20880"/>
                </a:cubicBezTo>
                <a:cubicBezTo>
                  <a:pt x="899" y="20798"/>
                  <a:pt x="918" y="20524"/>
                  <a:pt x="1061" y="18540"/>
                </a:cubicBezTo>
                <a:lnTo>
                  <a:pt x="1167" y="17145"/>
                </a:lnTo>
                <a:lnTo>
                  <a:pt x="1069" y="17145"/>
                </a:lnTo>
                <a:cubicBezTo>
                  <a:pt x="985" y="17145"/>
                  <a:pt x="968" y="17162"/>
                  <a:pt x="947" y="17460"/>
                </a:cubicBezTo>
                <a:cubicBezTo>
                  <a:pt x="934" y="17647"/>
                  <a:pt x="899" y="18198"/>
                  <a:pt x="865" y="18675"/>
                </a:cubicBezTo>
                <a:cubicBezTo>
                  <a:pt x="832" y="19152"/>
                  <a:pt x="793" y="19607"/>
                  <a:pt x="784" y="19665"/>
                </a:cubicBezTo>
                <a:cubicBezTo>
                  <a:pt x="774" y="19723"/>
                  <a:pt x="715" y="19172"/>
                  <a:pt x="645" y="18450"/>
                </a:cubicBezTo>
                <a:lnTo>
                  <a:pt x="514" y="17145"/>
                </a:lnTo>
                <a:lnTo>
                  <a:pt x="384" y="17145"/>
                </a:lnTo>
                <a:lnTo>
                  <a:pt x="261" y="17145"/>
                </a:lnTo>
                <a:lnTo>
                  <a:pt x="180" y="18315"/>
                </a:lnTo>
                <a:cubicBezTo>
                  <a:pt x="73" y="20024"/>
                  <a:pt x="51" y="20384"/>
                  <a:pt x="24" y="20295"/>
                </a:cubicBezTo>
                <a:cubicBezTo>
                  <a:pt x="22" y="20287"/>
                  <a:pt x="26" y="21476"/>
                  <a:pt x="24" y="21600"/>
                </a:cubicBezTo>
                <a:lnTo>
                  <a:pt x="21600" y="21600"/>
                </a:lnTo>
                <a:lnTo>
                  <a:pt x="21600" y="20925"/>
                </a:lnTo>
                <a:lnTo>
                  <a:pt x="14555" y="20925"/>
                </a:lnTo>
                <a:cubicBezTo>
                  <a:pt x="9875" y="20925"/>
                  <a:pt x="7506" y="20872"/>
                  <a:pt x="7502" y="20790"/>
                </a:cubicBezTo>
                <a:cubicBezTo>
                  <a:pt x="7499" y="20722"/>
                  <a:pt x="7543" y="20565"/>
                  <a:pt x="7608" y="20475"/>
                </a:cubicBezTo>
                <a:cubicBezTo>
                  <a:pt x="7800" y="20210"/>
                  <a:pt x="8126" y="19310"/>
                  <a:pt x="8253" y="18675"/>
                </a:cubicBezTo>
                <a:cubicBezTo>
                  <a:pt x="8381" y="18038"/>
                  <a:pt x="8494" y="17089"/>
                  <a:pt x="8571" y="16020"/>
                </a:cubicBezTo>
                <a:cubicBezTo>
                  <a:pt x="8623" y="15313"/>
                  <a:pt x="9068" y="5714"/>
                  <a:pt x="9053" y="5625"/>
                </a:cubicBezTo>
                <a:close/>
                <a:moveTo>
                  <a:pt x="13241" y="5715"/>
                </a:moveTo>
                <a:lnTo>
                  <a:pt x="13200" y="6615"/>
                </a:lnTo>
                <a:cubicBezTo>
                  <a:pt x="13179" y="7109"/>
                  <a:pt x="13167" y="7554"/>
                  <a:pt x="13167" y="7605"/>
                </a:cubicBezTo>
                <a:cubicBezTo>
                  <a:pt x="13168" y="7656"/>
                  <a:pt x="13253" y="7695"/>
                  <a:pt x="13363" y="7695"/>
                </a:cubicBezTo>
                <a:cubicBezTo>
                  <a:pt x="13474" y="7695"/>
                  <a:pt x="13569" y="7768"/>
                  <a:pt x="13576" y="7830"/>
                </a:cubicBezTo>
                <a:cubicBezTo>
                  <a:pt x="13591" y="7969"/>
                  <a:pt x="13548" y="9193"/>
                  <a:pt x="13518" y="9405"/>
                </a:cubicBezTo>
                <a:cubicBezTo>
                  <a:pt x="13504" y="9510"/>
                  <a:pt x="13432" y="9540"/>
                  <a:pt x="13290" y="9540"/>
                </a:cubicBezTo>
                <a:lnTo>
                  <a:pt x="13078" y="9540"/>
                </a:lnTo>
                <a:lnTo>
                  <a:pt x="13053" y="10035"/>
                </a:lnTo>
                <a:cubicBezTo>
                  <a:pt x="13041" y="10291"/>
                  <a:pt x="13027" y="10679"/>
                  <a:pt x="13020" y="10935"/>
                </a:cubicBezTo>
                <a:lnTo>
                  <a:pt x="13012" y="11430"/>
                </a:lnTo>
                <a:lnTo>
                  <a:pt x="13208" y="11430"/>
                </a:lnTo>
                <a:cubicBezTo>
                  <a:pt x="13361" y="11430"/>
                  <a:pt x="13419" y="11477"/>
                  <a:pt x="13429" y="11610"/>
                </a:cubicBezTo>
                <a:cubicBezTo>
                  <a:pt x="13435" y="11706"/>
                  <a:pt x="13413" y="12308"/>
                  <a:pt x="13388" y="12960"/>
                </a:cubicBezTo>
                <a:cubicBezTo>
                  <a:pt x="13362" y="13612"/>
                  <a:pt x="13347" y="14506"/>
                  <a:pt x="13347" y="14940"/>
                </a:cubicBezTo>
                <a:cubicBezTo>
                  <a:pt x="13347" y="15607"/>
                  <a:pt x="13349" y="15788"/>
                  <a:pt x="13396" y="16065"/>
                </a:cubicBezTo>
                <a:lnTo>
                  <a:pt x="13453" y="16380"/>
                </a:lnTo>
                <a:lnTo>
                  <a:pt x="13878" y="16380"/>
                </a:lnTo>
                <a:lnTo>
                  <a:pt x="14310" y="16380"/>
                </a:lnTo>
                <a:lnTo>
                  <a:pt x="14343" y="15480"/>
                </a:lnTo>
                <a:cubicBezTo>
                  <a:pt x="14363" y="14986"/>
                  <a:pt x="14385" y="14474"/>
                  <a:pt x="14392" y="14355"/>
                </a:cubicBezTo>
                <a:cubicBezTo>
                  <a:pt x="14403" y="14157"/>
                  <a:pt x="14377" y="14130"/>
                  <a:pt x="14131" y="14130"/>
                </a:cubicBezTo>
                <a:cubicBezTo>
                  <a:pt x="13982" y="14130"/>
                  <a:pt x="13860" y="14100"/>
                  <a:pt x="13853" y="14040"/>
                </a:cubicBezTo>
                <a:cubicBezTo>
                  <a:pt x="13841" y="13934"/>
                  <a:pt x="13920" y="11726"/>
                  <a:pt x="13943" y="11520"/>
                </a:cubicBezTo>
                <a:cubicBezTo>
                  <a:pt x="13949" y="11463"/>
                  <a:pt x="14061" y="11430"/>
                  <a:pt x="14188" y="11430"/>
                </a:cubicBezTo>
                <a:lnTo>
                  <a:pt x="14416" y="11430"/>
                </a:lnTo>
                <a:lnTo>
                  <a:pt x="14441" y="10665"/>
                </a:lnTo>
                <a:cubicBezTo>
                  <a:pt x="14456" y="10253"/>
                  <a:pt x="14475" y="9819"/>
                  <a:pt x="14482" y="9720"/>
                </a:cubicBezTo>
                <a:cubicBezTo>
                  <a:pt x="14492" y="9569"/>
                  <a:pt x="14460" y="9540"/>
                  <a:pt x="14269" y="9540"/>
                </a:cubicBezTo>
                <a:cubicBezTo>
                  <a:pt x="14107" y="9540"/>
                  <a:pt x="14039" y="9515"/>
                  <a:pt x="14033" y="9405"/>
                </a:cubicBezTo>
                <a:cubicBezTo>
                  <a:pt x="14027" y="9320"/>
                  <a:pt x="14034" y="8914"/>
                  <a:pt x="14049" y="8505"/>
                </a:cubicBezTo>
                <a:lnTo>
                  <a:pt x="14073" y="7785"/>
                </a:lnTo>
                <a:lnTo>
                  <a:pt x="14327" y="7695"/>
                </a:lnTo>
                <a:lnTo>
                  <a:pt x="14571" y="7650"/>
                </a:lnTo>
                <a:lnTo>
                  <a:pt x="14604" y="6750"/>
                </a:lnTo>
                <a:cubicBezTo>
                  <a:pt x="14626" y="6273"/>
                  <a:pt x="14645" y="5856"/>
                  <a:pt x="14645" y="5805"/>
                </a:cubicBezTo>
                <a:cubicBezTo>
                  <a:pt x="14645" y="5754"/>
                  <a:pt x="14330" y="5715"/>
                  <a:pt x="13943" y="5715"/>
                </a:cubicBezTo>
                <a:lnTo>
                  <a:pt x="13241" y="5715"/>
                </a:lnTo>
                <a:close/>
                <a:moveTo>
                  <a:pt x="11837" y="6615"/>
                </a:moveTo>
                <a:cubicBezTo>
                  <a:pt x="11888" y="6619"/>
                  <a:pt x="11929" y="6685"/>
                  <a:pt x="11959" y="6840"/>
                </a:cubicBezTo>
                <a:cubicBezTo>
                  <a:pt x="12039" y="7252"/>
                  <a:pt x="12047" y="7652"/>
                  <a:pt x="11992" y="8280"/>
                </a:cubicBezTo>
                <a:cubicBezTo>
                  <a:pt x="11942" y="8851"/>
                  <a:pt x="11824" y="9441"/>
                  <a:pt x="11714" y="9675"/>
                </a:cubicBezTo>
                <a:cubicBezTo>
                  <a:pt x="11678" y="9751"/>
                  <a:pt x="11517" y="9961"/>
                  <a:pt x="11363" y="10125"/>
                </a:cubicBezTo>
                <a:cubicBezTo>
                  <a:pt x="11209" y="10289"/>
                  <a:pt x="11069" y="10440"/>
                  <a:pt x="11053" y="10440"/>
                </a:cubicBezTo>
                <a:cubicBezTo>
                  <a:pt x="10992" y="10440"/>
                  <a:pt x="11004" y="10034"/>
                  <a:pt x="11078" y="9360"/>
                </a:cubicBezTo>
                <a:cubicBezTo>
                  <a:pt x="11242" y="7850"/>
                  <a:pt x="11616" y="6596"/>
                  <a:pt x="11837" y="6615"/>
                </a:cubicBezTo>
                <a:close/>
                <a:moveTo>
                  <a:pt x="7869" y="6705"/>
                </a:moveTo>
                <a:cubicBezTo>
                  <a:pt x="7797" y="6689"/>
                  <a:pt x="7214" y="7219"/>
                  <a:pt x="7192" y="7335"/>
                </a:cubicBezTo>
                <a:cubicBezTo>
                  <a:pt x="7164" y="7477"/>
                  <a:pt x="6841" y="14695"/>
                  <a:pt x="6841" y="15165"/>
                </a:cubicBezTo>
                <a:cubicBezTo>
                  <a:pt x="6841" y="15221"/>
                  <a:pt x="6991" y="15255"/>
                  <a:pt x="7176" y="15255"/>
                </a:cubicBezTo>
                <a:lnTo>
                  <a:pt x="7510" y="15255"/>
                </a:lnTo>
                <a:lnTo>
                  <a:pt x="7600" y="13185"/>
                </a:lnTo>
                <a:cubicBezTo>
                  <a:pt x="7723" y="10379"/>
                  <a:pt x="7878" y="6795"/>
                  <a:pt x="7878" y="6705"/>
                </a:cubicBezTo>
                <a:cubicBezTo>
                  <a:pt x="7878" y="6699"/>
                  <a:pt x="7874" y="6706"/>
                  <a:pt x="7869" y="6705"/>
                </a:cubicBezTo>
                <a:close/>
                <a:moveTo>
                  <a:pt x="15061" y="11295"/>
                </a:moveTo>
                <a:lnTo>
                  <a:pt x="14988" y="12240"/>
                </a:lnTo>
                <a:cubicBezTo>
                  <a:pt x="14948" y="12768"/>
                  <a:pt x="14905" y="13396"/>
                  <a:pt x="14890" y="13635"/>
                </a:cubicBezTo>
                <a:lnTo>
                  <a:pt x="14857" y="14085"/>
                </a:lnTo>
                <a:lnTo>
                  <a:pt x="14702" y="14130"/>
                </a:lnTo>
                <a:lnTo>
                  <a:pt x="14539" y="14175"/>
                </a:lnTo>
                <a:lnTo>
                  <a:pt x="14514" y="14805"/>
                </a:lnTo>
                <a:cubicBezTo>
                  <a:pt x="14502" y="15160"/>
                  <a:pt x="14490" y="15674"/>
                  <a:pt x="14482" y="15930"/>
                </a:cubicBezTo>
                <a:lnTo>
                  <a:pt x="14465" y="16380"/>
                </a:lnTo>
                <a:lnTo>
                  <a:pt x="14743" y="16380"/>
                </a:lnTo>
                <a:cubicBezTo>
                  <a:pt x="14897" y="16380"/>
                  <a:pt x="15056" y="16318"/>
                  <a:pt x="15094" y="16245"/>
                </a:cubicBezTo>
                <a:cubicBezTo>
                  <a:pt x="15154" y="16129"/>
                  <a:pt x="15282" y="15305"/>
                  <a:pt x="15282" y="15030"/>
                </a:cubicBezTo>
                <a:cubicBezTo>
                  <a:pt x="15282" y="14849"/>
                  <a:pt x="15511" y="11633"/>
                  <a:pt x="15535" y="11475"/>
                </a:cubicBezTo>
                <a:cubicBezTo>
                  <a:pt x="15553" y="11350"/>
                  <a:pt x="15504" y="11295"/>
                  <a:pt x="15306" y="11295"/>
                </a:cubicBezTo>
                <a:lnTo>
                  <a:pt x="15061" y="1129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52" name="图像" descr="图像">
            <a:extLst>
              <a:ext uri="{FF2B5EF4-FFF2-40B4-BE49-F238E27FC236}">
                <a16:creationId xmlns:a16="http://schemas.microsoft.com/office/drawing/2014/main" id="{267017E2-6C15-9C59-72F1-F873B319E8F0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 l="10181" t="33840" r="8725" b="35390"/>
          <a:stretch>
            <a:fillRect/>
          </a:stretch>
        </p:blipFill>
        <p:spPr>
          <a:xfrm>
            <a:off x="9119095" y="5721864"/>
            <a:ext cx="677466" cy="1710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3" extrusionOk="0">
                <a:moveTo>
                  <a:pt x="5049" y="0"/>
                </a:moveTo>
                <a:lnTo>
                  <a:pt x="5011" y="4287"/>
                </a:lnTo>
                <a:lnTo>
                  <a:pt x="4986" y="8623"/>
                </a:lnTo>
                <a:lnTo>
                  <a:pt x="3442" y="8623"/>
                </a:lnTo>
                <a:lnTo>
                  <a:pt x="1885" y="8623"/>
                </a:lnTo>
                <a:lnTo>
                  <a:pt x="1860" y="4337"/>
                </a:lnTo>
                <a:lnTo>
                  <a:pt x="1835" y="50"/>
                </a:lnTo>
                <a:lnTo>
                  <a:pt x="911" y="50"/>
                </a:lnTo>
                <a:lnTo>
                  <a:pt x="0" y="50"/>
                </a:lnTo>
                <a:lnTo>
                  <a:pt x="0" y="10767"/>
                </a:lnTo>
                <a:lnTo>
                  <a:pt x="0" y="21483"/>
                </a:lnTo>
                <a:lnTo>
                  <a:pt x="215" y="21234"/>
                </a:lnTo>
                <a:cubicBezTo>
                  <a:pt x="335" y="21107"/>
                  <a:pt x="754" y="21037"/>
                  <a:pt x="1139" y="21034"/>
                </a:cubicBezTo>
                <a:lnTo>
                  <a:pt x="1835" y="21034"/>
                </a:lnTo>
                <a:lnTo>
                  <a:pt x="1860" y="16349"/>
                </a:lnTo>
                <a:lnTo>
                  <a:pt x="1885" y="11664"/>
                </a:lnTo>
                <a:lnTo>
                  <a:pt x="3442" y="11664"/>
                </a:lnTo>
                <a:lnTo>
                  <a:pt x="4986" y="11664"/>
                </a:lnTo>
                <a:lnTo>
                  <a:pt x="5036" y="16399"/>
                </a:lnTo>
                <a:lnTo>
                  <a:pt x="5087" y="21134"/>
                </a:lnTo>
                <a:lnTo>
                  <a:pt x="5935" y="21084"/>
                </a:lnTo>
                <a:cubicBezTo>
                  <a:pt x="6401" y="21069"/>
                  <a:pt x="6817" y="21049"/>
                  <a:pt x="6858" y="21034"/>
                </a:cubicBezTo>
                <a:cubicBezTo>
                  <a:pt x="6900" y="21020"/>
                  <a:pt x="6936" y="16335"/>
                  <a:pt x="6934" y="10617"/>
                </a:cubicBezTo>
                <a:lnTo>
                  <a:pt x="6922" y="200"/>
                </a:lnTo>
                <a:lnTo>
                  <a:pt x="5985" y="100"/>
                </a:lnTo>
                <a:lnTo>
                  <a:pt x="5049" y="0"/>
                </a:lnTo>
                <a:close/>
                <a:moveTo>
                  <a:pt x="19133" y="150"/>
                </a:moveTo>
                <a:cubicBezTo>
                  <a:pt x="16416" y="502"/>
                  <a:pt x="15369" y="1877"/>
                  <a:pt x="14818" y="5782"/>
                </a:cubicBezTo>
                <a:cubicBezTo>
                  <a:pt x="14482" y="8159"/>
                  <a:pt x="14469" y="12782"/>
                  <a:pt x="14792" y="15302"/>
                </a:cubicBezTo>
                <a:cubicBezTo>
                  <a:pt x="15222" y="18658"/>
                  <a:pt x="16204" y="20412"/>
                  <a:pt x="17968" y="20985"/>
                </a:cubicBezTo>
                <a:cubicBezTo>
                  <a:pt x="19329" y="21426"/>
                  <a:pt x="19414" y="21411"/>
                  <a:pt x="20562" y="21134"/>
                </a:cubicBezTo>
                <a:lnTo>
                  <a:pt x="21600" y="20885"/>
                </a:lnTo>
                <a:lnTo>
                  <a:pt x="21600" y="19190"/>
                </a:lnTo>
                <a:cubicBezTo>
                  <a:pt x="21600" y="17723"/>
                  <a:pt x="21582" y="17511"/>
                  <a:pt x="21435" y="17745"/>
                </a:cubicBezTo>
                <a:cubicBezTo>
                  <a:pt x="21342" y="17894"/>
                  <a:pt x="20692" y="18131"/>
                  <a:pt x="19993" y="18243"/>
                </a:cubicBezTo>
                <a:cubicBezTo>
                  <a:pt x="18965" y="18408"/>
                  <a:pt x="18626" y="18303"/>
                  <a:pt x="18247" y="17795"/>
                </a:cubicBezTo>
                <a:cubicBezTo>
                  <a:pt x="17244" y="16449"/>
                  <a:pt x="16754" y="14186"/>
                  <a:pt x="16754" y="10816"/>
                </a:cubicBezTo>
                <a:cubicBezTo>
                  <a:pt x="16754" y="7277"/>
                  <a:pt x="17220" y="4684"/>
                  <a:pt x="18057" y="3589"/>
                </a:cubicBezTo>
                <a:cubicBezTo>
                  <a:pt x="18600" y="2878"/>
                  <a:pt x="19881" y="2708"/>
                  <a:pt x="20942" y="3190"/>
                </a:cubicBezTo>
                <a:lnTo>
                  <a:pt x="21600" y="3489"/>
                </a:lnTo>
                <a:lnTo>
                  <a:pt x="21600" y="1944"/>
                </a:lnTo>
                <a:cubicBezTo>
                  <a:pt x="21600" y="496"/>
                  <a:pt x="21585" y="450"/>
                  <a:pt x="21246" y="200"/>
                </a:cubicBezTo>
                <a:cubicBezTo>
                  <a:pt x="21050" y="55"/>
                  <a:pt x="20096" y="25"/>
                  <a:pt x="19133" y="150"/>
                </a:cubicBezTo>
                <a:close/>
                <a:moveTo>
                  <a:pt x="8693" y="200"/>
                </a:moveTo>
                <a:lnTo>
                  <a:pt x="7656" y="499"/>
                </a:lnTo>
                <a:lnTo>
                  <a:pt x="7656" y="1894"/>
                </a:lnTo>
                <a:lnTo>
                  <a:pt x="7656" y="3340"/>
                </a:lnTo>
                <a:lnTo>
                  <a:pt x="8162" y="3041"/>
                </a:lnTo>
                <a:cubicBezTo>
                  <a:pt x="8826" y="2626"/>
                  <a:pt x="10814" y="2523"/>
                  <a:pt x="11186" y="2891"/>
                </a:cubicBezTo>
                <a:cubicBezTo>
                  <a:pt x="11577" y="3278"/>
                  <a:pt x="11819" y="4137"/>
                  <a:pt x="11819" y="5184"/>
                </a:cubicBezTo>
                <a:cubicBezTo>
                  <a:pt x="11819" y="6644"/>
                  <a:pt x="11712" y="7298"/>
                  <a:pt x="11325" y="8075"/>
                </a:cubicBezTo>
                <a:cubicBezTo>
                  <a:pt x="11008" y="8711"/>
                  <a:pt x="10750" y="8823"/>
                  <a:pt x="9592" y="8823"/>
                </a:cubicBezTo>
                <a:lnTo>
                  <a:pt x="8238" y="8823"/>
                </a:lnTo>
                <a:lnTo>
                  <a:pt x="8238" y="10119"/>
                </a:lnTo>
                <a:lnTo>
                  <a:pt x="8238" y="11464"/>
                </a:lnTo>
                <a:lnTo>
                  <a:pt x="9667" y="11464"/>
                </a:lnTo>
                <a:cubicBezTo>
                  <a:pt x="11234" y="11465"/>
                  <a:pt x="11574" y="11811"/>
                  <a:pt x="11945" y="13807"/>
                </a:cubicBezTo>
                <a:cubicBezTo>
                  <a:pt x="12193" y="15139"/>
                  <a:pt x="12101" y="16496"/>
                  <a:pt x="11692" y="17645"/>
                </a:cubicBezTo>
                <a:cubicBezTo>
                  <a:pt x="11401" y="18464"/>
                  <a:pt x="11284" y="18542"/>
                  <a:pt x="10072" y="18542"/>
                </a:cubicBezTo>
                <a:cubicBezTo>
                  <a:pt x="9353" y="18542"/>
                  <a:pt x="8495" y="18397"/>
                  <a:pt x="8162" y="18243"/>
                </a:cubicBezTo>
                <a:lnTo>
                  <a:pt x="7554" y="17994"/>
                </a:lnTo>
                <a:lnTo>
                  <a:pt x="7554" y="19489"/>
                </a:lnTo>
                <a:lnTo>
                  <a:pt x="7554" y="20985"/>
                </a:lnTo>
                <a:lnTo>
                  <a:pt x="9123" y="21084"/>
                </a:lnTo>
                <a:cubicBezTo>
                  <a:pt x="12470" y="21307"/>
                  <a:pt x="13624" y="20424"/>
                  <a:pt x="13995" y="17346"/>
                </a:cubicBezTo>
                <a:cubicBezTo>
                  <a:pt x="14297" y="14837"/>
                  <a:pt x="14131" y="12601"/>
                  <a:pt x="13565" y="11464"/>
                </a:cubicBezTo>
                <a:cubicBezTo>
                  <a:pt x="13352" y="11036"/>
                  <a:pt x="13118" y="10717"/>
                  <a:pt x="13046" y="10717"/>
                </a:cubicBezTo>
                <a:cubicBezTo>
                  <a:pt x="12974" y="10717"/>
                  <a:pt x="12839" y="10495"/>
                  <a:pt x="12742" y="10218"/>
                </a:cubicBezTo>
                <a:cubicBezTo>
                  <a:pt x="12584" y="9761"/>
                  <a:pt x="12619" y="9589"/>
                  <a:pt x="13135" y="8573"/>
                </a:cubicBezTo>
                <a:cubicBezTo>
                  <a:pt x="13833" y="7199"/>
                  <a:pt x="14019" y="5978"/>
                  <a:pt x="13856" y="3838"/>
                </a:cubicBezTo>
                <a:cubicBezTo>
                  <a:pt x="13736" y="2268"/>
                  <a:pt x="13446" y="1501"/>
                  <a:pt x="12679" y="798"/>
                </a:cubicBezTo>
                <a:cubicBezTo>
                  <a:pt x="12027" y="200"/>
                  <a:pt x="9867" y="-117"/>
                  <a:pt x="8693" y="20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3" name="图像" descr="图像">
            <a:extLst>
              <a:ext uri="{FF2B5EF4-FFF2-40B4-BE49-F238E27FC236}">
                <a16:creationId xmlns:a16="http://schemas.microsoft.com/office/drawing/2014/main" id="{5F18D3AA-2BFF-A68C-7961-E5A1C105EF0A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l="24416" t="35734" r="24416" b="35734"/>
          <a:stretch>
            <a:fillRect/>
          </a:stretch>
        </p:blipFill>
        <p:spPr>
          <a:xfrm>
            <a:off x="7029320" y="3775009"/>
            <a:ext cx="652764" cy="36399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图像" descr="图像">
            <a:extLst>
              <a:ext uri="{FF2B5EF4-FFF2-40B4-BE49-F238E27FC236}">
                <a16:creationId xmlns:a16="http://schemas.microsoft.com/office/drawing/2014/main" id="{E2078D4C-909B-2AA8-4B38-D1AD957120DA}"/>
              </a:ext>
            </a:extLst>
          </p:cNvPr>
          <p:cNvPicPr>
            <a:picLocks noChangeAspect="1"/>
          </p:cNvPicPr>
          <p:nvPr/>
        </p:nvPicPr>
        <p:blipFill>
          <a:blip r:embed="rId25"/>
          <a:srcRect t="36420" b="42055"/>
          <a:stretch>
            <a:fillRect/>
          </a:stretch>
        </p:blipFill>
        <p:spPr>
          <a:xfrm>
            <a:off x="7364541" y="4394239"/>
            <a:ext cx="709865" cy="152794"/>
          </a:xfrm>
          <a:prstGeom prst="rect">
            <a:avLst/>
          </a:prstGeom>
          <a:ln w="12700">
            <a:miter lim="400000"/>
          </a:ln>
        </p:spPr>
      </p:pic>
      <p:pic>
        <p:nvPicPr>
          <p:cNvPr id="55" name="图像" descr="图像">
            <a:extLst>
              <a:ext uri="{FF2B5EF4-FFF2-40B4-BE49-F238E27FC236}">
                <a16:creationId xmlns:a16="http://schemas.microsoft.com/office/drawing/2014/main" id="{102642E8-D59B-9B67-1EFA-D140627314E0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17789" t="36468" r="16267" b="41526"/>
          <a:stretch>
            <a:fillRect/>
          </a:stretch>
        </p:blipFill>
        <p:spPr>
          <a:xfrm>
            <a:off x="7020893" y="4898937"/>
            <a:ext cx="685877" cy="128444"/>
          </a:xfrm>
          <a:prstGeom prst="rect">
            <a:avLst/>
          </a:prstGeom>
          <a:ln w="12700">
            <a:miter lim="400000"/>
          </a:ln>
        </p:spPr>
      </p:pic>
      <p:pic>
        <p:nvPicPr>
          <p:cNvPr id="56" name="图像" descr="图像">
            <a:extLst>
              <a:ext uri="{FF2B5EF4-FFF2-40B4-BE49-F238E27FC236}">
                <a16:creationId xmlns:a16="http://schemas.microsoft.com/office/drawing/2014/main" id="{D4E35147-0780-AFFC-DA00-D65BDCC9CA3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552541" y="3321050"/>
            <a:ext cx="410211" cy="215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图像" descr="图像">
            <a:extLst>
              <a:ext uri="{FF2B5EF4-FFF2-40B4-BE49-F238E27FC236}">
                <a16:creationId xmlns:a16="http://schemas.microsoft.com/office/drawing/2014/main" id="{2B22D3A9-0247-60CF-CAB5-20323DB4C34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3643" y="5629590"/>
            <a:ext cx="355601" cy="355601"/>
          </a:xfrm>
          <a:prstGeom prst="rect">
            <a:avLst/>
          </a:prstGeom>
          <a:ln w="12700">
            <a:miter lim="400000"/>
          </a:ln>
        </p:spPr>
      </p:pic>
      <p:sp>
        <p:nvSpPr>
          <p:cNvPr id="58" name="圆角矩形">
            <a:extLst>
              <a:ext uri="{FF2B5EF4-FFF2-40B4-BE49-F238E27FC236}">
                <a16:creationId xmlns:a16="http://schemas.microsoft.com/office/drawing/2014/main" id="{ABC4D325-9735-6CA0-FEC6-D45D60FDDCDC}"/>
              </a:ext>
            </a:extLst>
          </p:cNvPr>
          <p:cNvSpPr/>
          <p:nvPr/>
        </p:nvSpPr>
        <p:spPr>
          <a:xfrm>
            <a:off x="50923" y="577652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00919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59" name="Laser">
            <a:extLst>
              <a:ext uri="{FF2B5EF4-FFF2-40B4-BE49-F238E27FC236}">
                <a16:creationId xmlns:a16="http://schemas.microsoft.com/office/drawing/2014/main" id="{C8A8A99A-DD48-41DB-FC66-B4BFD0010791}"/>
              </a:ext>
            </a:extLst>
          </p:cNvPr>
          <p:cNvSpPr txBox="1"/>
          <p:nvPr/>
        </p:nvSpPr>
        <p:spPr>
          <a:xfrm>
            <a:off x="294591" y="5898149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Laser</a:t>
            </a:r>
          </a:p>
        </p:txBody>
      </p:sp>
      <p:sp>
        <p:nvSpPr>
          <p:cNvPr id="60" name="圆角矩形">
            <a:extLst>
              <a:ext uri="{FF2B5EF4-FFF2-40B4-BE49-F238E27FC236}">
                <a16:creationId xmlns:a16="http://schemas.microsoft.com/office/drawing/2014/main" id="{A5669F88-CD34-FCF2-ACBF-928D4936E24A}"/>
              </a:ext>
            </a:extLst>
          </p:cNvPr>
          <p:cNvSpPr/>
          <p:nvPr/>
        </p:nvSpPr>
        <p:spPr>
          <a:xfrm>
            <a:off x="1378177" y="5439516"/>
            <a:ext cx="5147865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pic>
        <p:nvPicPr>
          <p:cNvPr id="61" name="图像" descr="图像">
            <a:extLst>
              <a:ext uri="{FF2B5EF4-FFF2-40B4-BE49-F238E27FC236}">
                <a16:creationId xmlns:a16="http://schemas.microsoft.com/office/drawing/2014/main" id="{ADC5F1F2-A931-843E-BBF2-BFBC14F84E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9541" y="5562151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2" name="图像" descr="图像">
            <a:extLst>
              <a:ext uri="{FF2B5EF4-FFF2-40B4-BE49-F238E27FC236}">
                <a16:creationId xmlns:a16="http://schemas.microsoft.com/office/drawing/2014/main" id="{9172F245-E15E-D74E-4F64-85231162D7DE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688281" y="5941135"/>
            <a:ext cx="919749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3" name="图像" descr="图像">
            <a:extLst>
              <a:ext uri="{FF2B5EF4-FFF2-40B4-BE49-F238E27FC236}">
                <a16:creationId xmlns:a16="http://schemas.microsoft.com/office/drawing/2014/main" id="{5693C12B-2C09-BCC6-CCE0-394BAB4E54F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793013" y="5781255"/>
            <a:ext cx="325002" cy="171054"/>
          </a:xfrm>
          <a:prstGeom prst="rect">
            <a:avLst/>
          </a:prstGeom>
          <a:ln w="12700">
            <a:miter lim="400000"/>
          </a:ln>
        </p:spPr>
      </p:pic>
      <p:pic>
        <p:nvPicPr>
          <p:cNvPr id="64" name="图像" descr="图像">
            <a:extLst>
              <a:ext uri="{FF2B5EF4-FFF2-40B4-BE49-F238E27FC236}">
                <a16:creationId xmlns:a16="http://schemas.microsoft.com/office/drawing/2014/main" id="{8EA9B264-3618-11D1-3530-136939F755A1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11294" t="40160" r="11294" b="39725"/>
          <a:stretch>
            <a:fillRect/>
          </a:stretch>
        </p:blipFill>
        <p:spPr>
          <a:xfrm>
            <a:off x="2305037" y="6242645"/>
            <a:ext cx="988230" cy="171183"/>
          </a:xfrm>
          <a:prstGeom prst="rect">
            <a:avLst/>
          </a:prstGeom>
          <a:ln w="12700">
            <a:miter lim="400000"/>
          </a:ln>
        </p:spPr>
      </p:pic>
      <p:pic>
        <p:nvPicPr>
          <p:cNvPr id="65" name="图像" descr="图像">
            <a:extLst>
              <a:ext uri="{FF2B5EF4-FFF2-40B4-BE49-F238E27FC236}">
                <a16:creationId xmlns:a16="http://schemas.microsoft.com/office/drawing/2014/main" id="{89203286-A9D8-80B1-DB1F-BE3528DE7195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 l="4131" t="32380" b="31480"/>
          <a:stretch>
            <a:fillRect/>
          </a:stretch>
        </p:blipFill>
        <p:spPr>
          <a:xfrm>
            <a:off x="5243122" y="5684359"/>
            <a:ext cx="652908" cy="246124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图像" descr="图像">
            <a:extLst>
              <a:ext uri="{FF2B5EF4-FFF2-40B4-BE49-F238E27FC236}">
                <a16:creationId xmlns:a16="http://schemas.microsoft.com/office/drawing/2014/main" id="{69E2B6E5-9D6A-0D32-5417-5A8A6B055F9A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37939" y="1573884"/>
            <a:ext cx="368301" cy="400220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图像" descr="图像">
            <a:extLst>
              <a:ext uri="{FF2B5EF4-FFF2-40B4-BE49-F238E27FC236}">
                <a16:creationId xmlns:a16="http://schemas.microsoft.com/office/drawing/2014/main" id="{CDDB41AD-EFB9-1F0D-5FE4-FAE852BC28DD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095489" y="2064539"/>
            <a:ext cx="585272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图像" descr="图像">
            <a:extLst>
              <a:ext uri="{FF2B5EF4-FFF2-40B4-BE49-F238E27FC236}">
                <a16:creationId xmlns:a16="http://schemas.microsoft.com/office/drawing/2014/main" id="{1D5F9ACE-96AB-C396-ED27-B4F143A008A7}"/>
              </a:ext>
            </a:extLst>
          </p:cNvPr>
          <p:cNvPicPr>
            <a:picLocks noChangeAspect="1"/>
          </p:cNvPicPr>
          <p:nvPr/>
        </p:nvPicPr>
        <p:blipFill>
          <a:blip r:embed="rId33"/>
          <a:srcRect l="2824" t="16949" r="2856" b="16971"/>
          <a:stretch>
            <a:fillRect/>
          </a:stretch>
        </p:blipFill>
        <p:spPr>
          <a:xfrm>
            <a:off x="6038890" y="1686048"/>
            <a:ext cx="527051" cy="123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863" extrusionOk="0">
                <a:moveTo>
                  <a:pt x="3887" y="0"/>
                </a:moveTo>
                <a:lnTo>
                  <a:pt x="3855" y="8409"/>
                </a:lnTo>
                <a:lnTo>
                  <a:pt x="3822" y="16885"/>
                </a:lnTo>
                <a:lnTo>
                  <a:pt x="2521" y="16885"/>
                </a:lnTo>
                <a:lnTo>
                  <a:pt x="1236" y="16885"/>
                </a:lnTo>
                <a:lnTo>
                  <a:pt x="1187" y="14867"/>
                </a:lnTo>
                <a:cubicBezTo>
                  <a:pt x="1147" y="12874"/>
                  <a:pt x="1140" y="12849"/>
                  <a:pt x="569" y="12849"/>
                </a:cubicBezTo>
                <a:lnTo>
                  <a:pt x="0" y="12849"/>
                </a:lnTo>
                <a:lnTo>
                  <a:pt x="0" y="16011"/>
                </a:lnTo>
                <a:cubicBezTo>
                  <a:pt x="0" y="18691"/>
                  <a:pt x="50" y="19345"/>
                  <a:pt x="293" y="20047"/>
                </a:cubicBezTo>
                <a:cubicBezTo>
                  <a:pt x="523" y="20713"/>
                  <a:pt x="974" y="20854"/>
                  <a:pt x="2554" y="20854"/>
                </a:cubicBezTo>
                <a:cubicBezTo>
                  <a:pt x="5209" y="20854"/>
                  <a:pt x="5042" y="21600"/>
                  <a:pt x="5042" y="9351"/>
                </a:cubicBezTo>
                <a:lnTo>
                  <a:pt x="5042" y="0"/>
                </a:lnTo>
                <a:lnTo>
                  <a:pt x="4473" y="0"/>
                </a:lnTo>
                <a:lnTo>
                  <a:pt x="3887" y="0"/>
                </a:lnTo>
                <a:close/>
                <a:moveTo>
                  <a:pt x="8799" y="0"/>
                </a:moveTo>
                <a:cubicBezTo>
                  <a:pt x="6085" y="0"/>
                  <a:pt x="5946" y="449"/>
                  <a:pt x="5953" y="10562"/>
                </a:cubicBezTo>
                <a:cubicBezTo>
                  <a:pt x="5958" y="17276"/>
                  <a:pt x="6076" y="18868"/>
                  <a:pt x="6620" y="20114"/>
                </a:cubicBezTo>
                <a:cubicBezTo>
                  <a:pt x="6841" y="20621"/>
                  <a:pt x="7533" y="20841"/>
                  <a:pt x="9076" y="20854"/>
                </a:cubicBezTo>
                <a:lnTo>
                  <a:pt x="11239" y="20854"/>
                </a:lnTo>
                <a:lnTo>
                  <a:pt x="11288" y="18836"/>
                </a:lnTo>
                <a:lnTo>
                  <a:pt x="11320" y="16885"/>
                </a:lnTo>
                <a:lnTo>
                  <a:pt x="9271" y="16885"/>
                </a:lnTo>
                <a:lnTo>
                  <a:pt x="7205" y="16885"/>
                </a:lnTo>
                <a:lnTo>
                  <a:pt x="7222" y="10831"/>
                </a:lnTo>
                <a:cubicBezTo>
                  <a:pt x="7227" y="7519"/>
                  <a:pt x="7259" y="4599"/>
                  <a:pt x="7303" y="4305"/>
                </a:cubicBezTo>
                <a:cubicBezTo>
                  <a:pt x="7349" y="3997"/>
                  <a:pt x="8064" y="3767"/>
                  <a:pt x="8995" y="3767"/>
                </a:cubicBezTo>
                <a:lnTo>
                  <a:pt x="10605" y="3767"/>
                </a:lnTo>
                <a:lnTo>
                  <a:pt x="10605" y="1884"/>
                </a:lnTo>
                <a:lnTo>
                  <a:pt x="10605" y="0"/>
                </a:lnTo>
                <a:lnTo>
                  <a:pt x="8799" y="0"/>
                </a:lnTo>
                <a:close/>
                <a:moveTo>
                  <a:pt x="11320" y="16885"/>
                </a:moveTo>
                <a:lnTo>
                  <a:pt x="11971" y="16885"/>
                </a:lnTo>
                <a:lnTo>
                  <a:pt x="12622" y="16885"/>
                </a:lnTo>
                <a:lnTo>
                  <a:pt x="12654" y="18836"/>
                </a:lnTo>
                <a:lnTo>
                  <a:pt x="12703" y="20854"/>
                </a:lnTo>
                <a:lnTo>
                  <a:pt x="16428" y="20854"/>
                </a:lnTo>
                <a:lnTo>
                  <a:pt x="16428" y="19038"/>
                </a:lnTo>
                <a:lnTo>
                  <a:pt x="16428" y="17154"/>
                </a:lnTo>
                <a:lnTo>
                  <a:pt x="14590" y="17020"/>
                </a:lnTo>
                <a:lnTo>
                  <a:pt x="12752" y="16885"/>
                </a:lnTo>
                <a:lnTo>
                  <a:pt x="12670" y="14867"/>
                </a:lnTo>
                <a:cubicBezTo>
                  <a:pt x="12627" y="13766"/>
                  <a:pt x="12618" y="12729"/>
                  <a:pt x="12654" y="12580"/>
                </a:cubicBezTo>
                <a:cubicBezTo>
                  <a:pt x="12690" y="12430"/>
                  <a:pt x="13554" y="12311"/>
                  <a:pt x="14573" y="12311"/>
                </a:cubicBezTo>
                <a:lnTo>
                  <a:pt x="16428" y="12311"/>
                </a:lnTo>
                <a:lnTo>
                  <a:pt x="16428" y="10427"/>
                </a:lnTo>
                <a:lnTo>
                  <a:pt x="16428" y="8611"/>
                </a:lnTo>
                <a:lnTo>
                  <a:pt x="14525" y="8476"/>
                </a:lnTo>
                <a:lnTo>
                  <a:pt x="12622" y="8274"/>
                </a:lnTo>
                <a:lnTo>
                  <a:pt x="12654" y="6391"/>
                </a:lnTo>
                <a:cubicBezTo>
                  <a:pt x="12678" y="5361"/>
                  <a:pt x="12748" y="4396"/>
                  <a:pt x="12801" y="4171"/>
                </a:cubicBezTo>
                <a:cubicBezTo>
                  <a:pt x="12853" y="3945"/>
                  <a:pt x="14138" y="3823"/>
                  <a:pt x="15663" y="3902"/>
                </a:cubicBezTo>
                <a:lnTo>
                  <a:pt x="18445" y="4036"/>
                </a:lnTo>
                <a:lnTo>
                  <a:pt x="18477" y="12445"/>
                </a:lnTo>
                <a:lnTo>
                  <a:pt x="18510" y="20854"/>
                </a:lnTo>
                <a:lnTo>
                  <a:pt x="19664" y="20854"/>
                </a:lnTo>
                <a:lnTo>
                  <a:pt x="19697" y="12445"/>
                </a:lnTo>
                <a:lnTo>
                  <a:pt x="19730" y="4036"/>
                </a:lnTo>
                <a:lnTo>
                  <a:pt x="20673" y="3834"/>
                </a:lnTo>
                <a:lnTo>
                  <a:pt x="21600" y="3700"/>
                </a:lnTo>
                <a:lnTo>
                  <a:pt x="21600" y="1816"/>
                </a:lnTo>
                <a:lnTo>
                  <a:pt x="21600" y="0"/>
                </a:lnTo>
                <a:lnTo>
                  <a:pt x="16786" y="0"/>
                </a:lnTo>
                <a:lnTo>
                  <a:pt x="11955" y="0"/>
                </a:lnTo>
                <a:lnTo>
                  <a:pt x="11678" y="1211"/>
                </a:lnTo>
                <a:cubicBezTo>
                  <a:pt x="11428" y="2315"/>
                  <a:pt x="11386" y="3103"/>
                  <a:pt x="11353" y="9620"/>
                </a:cubicBezTo>
                <a:lnTo>
                  <a:pt x="11320" y="1688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69" name="图像" descr="图像">
            <a:extLst>
              <a:ext uri="{FF2B5EF4-FFF2-40B4-BE49-F238E27FC236}">
                <a16:creationId xmlns:a16="http://schemas.microsoft.com/office/drawing/2014/main" id="{9DC8309B-22DC-592A-3D95-15FBDC13D487}"/>
              </a:ext>
            </a:extLst>
          </p:cNvPr>
          <p:cNvPicPr>
            <a:picLocks noChangeAspect="1"/>
          </p:cNvPicPr>
          <p:nvPr/>
        </p:nvPicPr>
        <p:blipFill>
          <a:blip r:embed="rId34"/>
          <a:srcRect l="5884" t="22886" r="3998" b="18237"/>
          <a:stretch>
            <a:fillRect/>
          </a:stretch>
        </p:blipFill>
        <p:spPr>
          <a:xfrm>
            <a:off x="5859963" y="2112737"/>
            <a:ext cx="672204" cy="1284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0" h="21468" extrusionOk="0">
                <a:moveTo>
                  <a:pt x="531" y="115"/>
                </a:moveTo>
                <a:cubicBezTo>
                  <a:pt x="415" y="261"/>
                  <a:pt x="60" y="3352"/>
                  <a:pt x="60" y="4226"/>
                </a:cubicBezTo>
                <a:cubicBezTo>
                  <a:pt x="60" y="4413"/>
                  <a:pt x="292" y="4558"/>
                  <a:pt x="620" y="4558"/>
                </a:cubicBezTo>
                <a:cubicBezTo>
                  <a:pt x="1208" y="4558"/>
                  <a:pt x="1312" y="4802"/>
                  <a:pt x="1206" y="5818"/>
                </a:cubicBezTo>
                <a:cubicBezTo>
                  <a:pt x="1172" y="6144"/>
                  <a:pt x="1067" y="7352"/>
                  <a:pt x="964" y="8537"/>
                </a:cubicBezTo>
                <a:cubicBezTo>
                  <a:pt x="552" y="13282"/>
                  <a:pt x="168" y="17657"/>
                  <a:pt x="85" y="18484"/>
                </a:cubicBezTo>
                <a:cubicBezTo>
                  <a:pt x="-24" y="19570"/>
                  <a:pt x="-30" y="20065"/>
                  <a:pt x="73" y="20274"/>
                </a:cubicBezTo>
                <a:cubicBezTo>
                  <a:pt x="116" y="20364"/>
                  <a:pt x="407" y="20371"/>
                  <a:pt x="722" y="20274"/>
                </a:cubicBezTo>
                <a:cubicBezTo>
                  <a:pt x="1205" y="20126"/>
                  <a:pt x="1317" y="19940"/>
                  <a:pt x="1410" y="19346"/>
                </a:cubicBezTo>
                <a:cubicBezTo>
                  <a:pt x="1470" y="18958"/>
                  <a:pt x="1511" y="18545"/>
                  <a:pt x="1512" y="18351"/>
                </a:cubicBezTo>
                <a:cubicBezTo>
                  <a:pt x="1512" y="18158"/>
                  <a:pt x="1573" y="17411"/>
                  <a:pt x="1639" y="16693"/>
                </a:cubicBezTo>
                <a:cubicBezTo>
                  <a:pt x="1783" y="15126"/>
                  <a:pt x="2133" y="11114"/>
                  <a:pt x="2250" y="9730"/>
                </a:cubicBezTo>
                <a:cubicBezTo>
                  <a:pt x="2297" y="9184"/>
                  <a:pt x="2403" y="7989"/>
                  <a:pt x="2480" y="7078"/>
                </a:cubicBezTo>
                <a:cubicBezTo>
                  <a:pt x="2711" y="4315"/>
                  <a:pt x="2737" y="4194"/>
                  <a:pt x="3346" y="4293"/>
                </a:cubicBezTo>
                <a:cubicBezTo>
                  <a:pt x="3638" y="4340"/>
                  <a:pt x="3892" y="4503"/>
                  <a:pt x="3906" y="4624"/>
                </a:cubicBezTo>
                <a:cubicBezTo>
                  <a:pt x="3920" y="4745"/>
                  <a:pt x="3865" y="5612"/>
                  <a:pt x="3779" y="6547"/>
                </a:cubicBezTo>
                <a:cubicBezTo>
                  <a:pt x="3692" y="7483"/>
                  <a:pt x="3626" y="8333"/>
                  <a:pt x="3626" y="8470"/>
                </a:cubicBezTo>
                <a:cubicBezTo>
                  <a:pt x="3625" y="9195"/>
                  <a:pt x="3288" y="10546"/>
                  <a:pt x="2951" y="11189"/>
                </a:cubicBezTo>
                <a:cubicBezTo>
                  <a:pt x="2535" y="11984"/>
                  <a:pt x="2225" y="13290"/>
                  <a:pt x="2225" y="14240"/>
                </a:cubicBezTo>
                <a:cubicBezTo>
                  <a:pt x="2225" y="14960"/>
                  <a:pt x="2217" y="14984"/>
                  <a:pt x="2658" y="14372"/>
                </a:cubicBezTo>
                <a:cubicBezTo>
                  <a:pt x="2850" y="14107"/>
                  <a:pt x="3028" y="13976"/>
                  <a:pt x="3053" y="14107"/>
                </a:cubicBezTo>
                <a:cubicBezTo>
                  <a:pt x="3078" y="14238"/>
                  <a:pt x="3015" y="15281"/>
                  <a:pt x="2913" y="16428"/>
                </a:cubicBezTo>
                <a:cubicBezTo>
                  <a:pt x="2810" y="17575"/>
                  <a:pt x="2718" y="18898"/>
                  <a:pt x="2696" y="19346"/>
                </a:cubicBezTo>
                <a:lnTo>
                  <a:pt x="2645" y="20142"/>
                </a:lnTo>
                <a:lnTo>
                  <a:pt x="3282" y="20142"/>
                </a:lnTo>
                <a:cubicBezTo>
                  <a:pt x="3627" y="20139"/>
                  <a:pt x="3932" y="20010"/>
                  <a:pt x="3970" y="19876"/>
                </a:cubicBezTo>
                <a:cubicBezTo>
                  <a:pt x="4007" y="19743"/>
                  <a:pt x="4106" y="18931"/>
                  <a:pt x="4186" y="18020"/>
                </a:cubicBezTo>
                <a:cubicBezTo>
                  <a:pt x="4267" y="17108"/>
                  <a:pt x="4395" y="15703"/>
                  <a:pt x="4466" y="14903"/>
                </a:cubicBezTo>
                <a:lnTo>
                  <a:pt x="4594" y="13444"/>
                </a:lnTo>
                <a:lnTo>
                  <a:pt x="5192" y="13643"/>
                </a:lnTo>
                <a:cubicBezTo>
                  <a:pt x="6468" y="14039"/>
                  <a:pt x="7619" y="12127"/>
                  <a:pt x="7828" y="9266"/>
                </a:cubicBezTo>
                <a:cubicBezTo>
                  <a:pt x="7886" y="8477"/>
                  <a:pt x="7904" y="8451"/>
                  <a:pt x="7981" y="9001"/>
                </a:cubicBezTo>
                <a:cubicBezTo>
                  <a:pt x="8096" y="9816"/>
                  <a:pt x="8580" y="9435"/>
                  <a:pt x="8580" y="8537"/>
                </a:cubicBezTo>
                <a:cubicBezTo>
                  <a:pt x="8580" y="7810"/>
                  <a:pt x="8291" y="7423"/>
                  <a:pt x="7994" y="7741"/>
                </a:cubicBezTo>
                <a:cubicBezTo>
                  <a:pt x="7880" y="7863"/>
                  <a:pt x="7581" y="8501"/>
                  <a:pt x="7332" y="9134"/>
                </a:cubicBezTo>
                <a:cubicBezTo>
                  <a:pt x="6807" y="10465"/>
                  <a:pt x="6256" y="10955"/>
                  <a:pt x="5663" y="10659"/>
                </a:cubicBezTo>
                <a:cubicBezTo>
                  <a:pt x="5172" y="10413"/>
                  <a:pt x="4963" y="10055"/>
                  <a:pt x="4963" y="9465"/>
                </a:cubicBezTo>
                <a:cubicBezTo>
                  <a:pt x="4963" y="9228"/>
                  <a:pt x="5056" y="7957"/>
                  <a:pt x="5180" y="6614"/>
                </a:cubicBezTo>
                <a:lnTo>
                  <a:pt x="5409" y="4160"/>
                </a:lnTo>
                <a:lnTo>
                  <a:pt x="6479" y="4359"/>
                </a:lnTo>
                <a:lnTo>
                  <a:pt x="7548" y="4624"/>
                </a:lnTo>
                <a:lnTo>
                  <a:pt x="7727" y="2569"/>
                </a:lnTo>
                <a:cubicBezTo>
                  <a:pt x="7823" y="1451"/>
                  <a:pt x="7878" y="437"/>
                  <a:pt x="7854" y="314"/>
                </a:cubicBezTo>
                <a:cubicBezTo>
                  <a:pt x="7805" y="59"/>
                  <a:pt x="728" y="-132"/>
                  <a:pt x="531" y="115"/>
                </a:cubicBezTo>
                <a:close/>
                <a:moveTo>
                  <a:pt x="10108" y="248"/>
                </a:moveTo>
                <a:cubicBezTo>
                  <a:pt x="9939" y="248"/>
                  <a:pt x="9917" y="374"/>
                  <a:pt x="9917" y="1375"/>
                </a:cubicBezTo>
                <a:cubicBezTo>
                  <a:pt x="9917" y="2648"/>
                  <a:pt x="9870" y="3024"/>
                  <a:pt x="9764" y="2569"/>
                </a:cubicBezTo>
                <a:cubicBezTo>
                  <a:pt x="9724" y="2393"/>
                  <a:pt x="9592" y="2221"/>
                  <a:pt x="9471" y="2171"/>
                </a:cubicBezTo>
                <a:cubicBezTo>
                  <a:pt x="9290" y="2094"/>
                  <a:pt x="9255" y="2220"/>
                  <a:pt x="9255" y="2768"/>
                </a:cubicBezTo>
                <a:cubicBezTo>
                  <a:pt x="9255" y="3159"/>
                  <a:pt x="9329" y="3569"/>
                  <a:pt x="9433" y="3829"/>
                </a:cubicBezTo>
                <a:cubicBezTo>
                  <a:pt x="9529" y="4069"/>
                  <a:pt x="9599" y="4571"/>
                  <a:pt x="9599" y="4890"/>
                </a:cubicBezTo>
                <a:cubicBezTo>
                  <a:pt x="9599" y="5208"/>
                  <a:pt x="9634" y="5603"/>
                  <a:pt x="9675" y="5818"/>
                </a:cubicBezTo>
                <a:cubicBezTo>
                  <a:pt x="9779" y="6357"/>
                  <a:pt x="9577" y="7572"/>
                  <a:pt x="9395" y="7476"/>
                </a:cubicBezTo>
                <a:cubicBezTo>
                  <a:pt x="9269" y="7409"/>
                  <a:pt x="9252" y="7607"/>
                  <a:pt x="9191" y="10526"/>
                </a:cubicBezTo>
                <a:cubicBezTo>
                  <a:pt x="9155" y="12258"/>
                  <a:pt x="9104" y="13881"/>
                  <a:pt x="9077" y="14107"/>
                </a:cubicBezTo>
                <a:cubicBezTo>
                  <a:pt x="9010" y="14665"/>
                  <a:pt x="8754" y="13834"/>
                  <a:pt x="8656" y="12715"/>
                </a:cubicBezTo>
                <a:cubicBezTo>
                  <a:pt x="8613" y="12218"/>
                  <a:pt x="8533" y="11852"/>
                  <a:pt x="8453" y="11852"/>
                </a:cubicBezTo>
                <a:cubicBezTo>
                  <a:pt x="8334" y="11852"/>
                  <a:pt x="8322" y="12055"/>
                  <a:pt x="8338" y="13378"/>
                </a:cubicBezTo>
                <a:cubicBezTo>
                  <a:pt x="8348" y="14218"/>
                  <a:pt x="8317" y="15010"/>
                  <a:pt x="8274" y="15234"/>
                </a:cubicBezTo>
                <a:cubicBezTo>
                  <a:pt x="8136" y="15954"/>
                  <a:pt x="8197" y="16498"/>
                  <a:pt x="8440" y="16693"/>
                </a:cubicBezTo>
                <a:cubicBezTo>
                  <a:pt x="8758" y="16950"/>
                  <a:pt x="9560" y="17828"/>
                  <a:pt x="9955" y="18351"/>
                </a:cubicBezTo>
                <a:cubicBezTo>
                  <a:pt x="10130" y="18583"/>
                  <a:pt x="10336" y="18792"/>
                  <a:pt x="10414" y="18815"/>
                </a:cubicBezTo>
                <a:cubicBezTo>
                  <a:pt x="10632" y="18880"/>
                  <a:pt x="11390" y="17486"/>
                  <a:pt x="11611" y="16627"/>
                </a:cubicBezTo>
                <a:cubicBezTo>
                  <a:pt x="11719" y="16206"/>
                  <a:pt x="11859" y="15831"/>
                  <a:pt x="11917" y="15831"/>
                </a:cubicBezTo>
                <a:cubicBezTo>
                  <a:pt x="12051" y="15831"/>
                  <a:pt x="12049" y="15300"/>
                  <a:pt x="11917" y="15036"/>
                </a:cubicBezTo>
                <a:cubicBezTo>
                  <a:pt x="11861" y="14925"/>
                  <a:pt x="11604" y="14837"/>
                  <a:pt x="11331" y="14837"/>
                </a:cubicBezTo>
                <a:cubicBezTo>
                  <a:pt x="10667" y="14837"/>
                  <a:pt x="10662" y="14791"/>
                  <a:pt x="10656" y="9730"/>
                </a:cubicBezTo>
                <a:lnTo>
                  <a:pt x="10643" y="5752"/>
                </a:lnTo>
                <a:lnTo>
                  <a:pt x="10452" y="5420"/>
                </a:lnTo>
                <a:cubicBezTo>
                  <a:pt x="10346" y="5238"/>
                  <a:pt x="10253" y="4939"/>
                  <a:pt x="10248" y="4757"/>
                </a:cubicBezTo>
                <a:cubicBezTo>
                  <a:pt x="10243" y="4575"/>
                  <a:pt x="10354" y="3784"/>
                  <a:pt x="10490" y="3033"/>
                </a:cubicBezTo>
                <a:cubicBezTo>
                  <a:pt x="10626" y="2281"/>
                  <a:pt x="10717" y="1503"/>
                  <a:pt x="10694" y="1309"/>
                </a:cubicBezTo>
                <a:cubicBezTo>
                  <a:pt x="10634" y="804"/>
                  <a:pt x="10327" y="248"/>
                  <a:pt x="10108" y="248"/>
                </a:cubicBezTo>
                <a:close/>
                <a:moveTo>
                  <a:pt x="15623" y="579"/>
                </a:moveTo>
                <a:cubicBezTo>
                  <a:pt x="15490" y="579"/>
                  <a:pt x="15474" y="819"/>
                  <a:pt x="15444" y="2966"/>
                </a:cubicBezTo>
                <a:cubicBezTo>
                  <a:pt x="15424" y="4459"/>
                  <a:pt x="15371" y="5501"/>
                  <a:pt x="15304" y="5884"/>
                </a:cubicBezTo>
                <a:cubicBezTo>
                  <a:pt x="15247" y="6213"/>
                  <a:pt x="15202" y="6545"/>
                  <a:pt x="15202" y="6680"/>
                </a:cubicBezTo>
                <a:cubicBezTo>
                  <a:pt x="15202" y="6815"/>
                  <a:pt x="15137" y="7409"/>
                  <a:pt x="15049" y="8006"/>
                </a:cubicBezTo>
                <a:cubicBezTo>
                  <a:pt x="14962" y="8604"/>
                  <a:pt x="14884" y="9470"/>
                  <a:pt x="14884" y="9863"/>
                </a:cubicBezTo>
                <a:cubicBezTo>
                  <a:pt x="14884" y="10438"/>
                  <a:pt x="14920" y="10526"/>
                  <a:pt x="15075" y="10526"/>
                </a:cubicBezTo>
                <a:cubicBezTo>
                  <a:pt x="15182" y="10526"/>
                  <a:pt x="15285" y="10731"/>
                  <a:pt x="15304" y="10990"/>
                </a:cubicBezTo>
                <a:cubicBezTo>
                  <a:pt x="15347" y="11568"/>
                  <a:pt x="15203" y="13130"/>
                  <a:pt x="15024" y="13975"/>
                </a:cubicBezTo>
                <a:cubicBezTo>
                  <a:pt x="14950" y="14321"/>
                  <a:pt x="14884" y="14943"/>
                  <a:pt x="14884" y="15301"/>
                </a:cubicBezTo>
                <a:cubicBezTo>
                  <a:pt x="14884" y="15841"/>
                  <a:pt x="14917" y="15877"/>
                  <a:pt x="15062" y="15699"/>
                </a:cubicBezTo>
                <a:cubicBezTo>
                  <a:pt x="15435" y="15242"/>
                  <a:pt x="15432" y="15211"/>
                  <a:pt x="15432" y="17158"/>
                </a:cubicBezTo>
                <a:cubicBezTo>
                  <a:pt x="15432" y="18876"/>
                  <a:pt x="15441" y="18986"/>
                  <a:pt x="15597" y="19081"/>
                </a:cubicBezTo>
                <a:cubicBezTo>
                  <a:pt x="15729" y="19160"/>
                  <a:pt x="15773" y="19023"/>
                  <a:pt x="15826" y="18285"/>
                </a:cubicBezTo>
                <a:cubicBezTo>
                  <a:pt x="15863" y="17774"/>
                  <a:pt x="15901" y="16789"/>
                  <a:pt x="15903" y="16097"/>
                </a:cubicBezTo>
                <a:cubicBezTo>
                  <a:pt x="15905" y="15404"/>
                  <a:pt x="15920" y="14681"/>
                  <a:pt x="15941" y="14505"/>
                </a:cubicBezTo>
                <a:cubicBezTo>
                  <a:pt x="15997" y="14033"/>
                  <a:pt x="16094" y="14452"/>
                  <a:pt x="16094" y="15168"/>
                </a:cubicBezTo>
                <a:cubicBezTo>
                  <a:pt x="16094" y="15552"/>
                  <a:pt x="16148" y="15832"/>
                  <a:pt x="16234" y="15898"/>
                </a:cubicBezTo>
                <a:cubicBezTo>
                  <a:pt x="16413" y="16034"/>
                  <a:pt x="16489" y="17447"/>
                  <a:pt x="16438" y="19744"/>
                </a:cubicBezTo>
                <a:cubicBezTo>
                  <a:pt x="16399" y="21444"/>
                  <a:pt x="16406" y="21468"/>
                  <a:pt x="16565" y="21468"/>
                </a:cubicBezTo>
                <a:cubicBezTo>
                  <a:pt x="16692" y="21468"/>
                  <a:pt x="16738" y="21265"/>
                  <a:pt x="16769" y="20540"/>
                </a:cubicBezTo>
                <a:cubicBezTo>
                  <a:pt x="16796" y="19888"/>
                  <a:pt x="16908" y="19251"/>
                  <a:pt x="17151" y="18418"/>
                </a:cubicBezTo>
                <a:lnTo>
                  <a:pt x="17495" y="17224"/>
                </a:lnTo>
                <a:lnTo>
                  <a:pt x="17928" y="18351"/>
                </a:lnTo>
                <a:cubicBezTo>
                  <a:pt x="18406" y="19607"/>
                  <a:pt x="18394" y="19608"/>
                  <a:pt x="18513" y="19213"/>
                </a:cubicBezTo>
                <a:cubicBezTo>
                  <a:pt x="18651" y="18760"/>
                  <a:pt x="18532" y="17636"/>
                  <a:pt x="18272" y="16826"/>
                </a:cubicBezTo>
                <a:cubicBezTo>
                  <a:pt x="17806" y="15377"/>
                  <a:pt x="17773" y="15069"/>
                  <a:pt x="17788" y="12715"/>
                </a:cubicBezTo>
                <a:cubicBezTo>
                  <a:pt x="17797" y="11112"/>
                  <a:pt x="17840" y="10330"/>
                  <a:pt x="17940" y="9664"/>
                </a:cubicBezTo>
                <a:cubicBezTo>
                  <a:pt x="18014" y="9175"/>
                  <a:pt x="18068" y="8437"/>
                  <a:pt x="18068" y="8006"/>
                </a:cubicBezTo>
                <a:cubicBezTo>
                  <a:pt x="18068" y="7360"/>
                  <a:pt x="18044" y="7211"/>
                  <a:pt x="17889" y="7211"/>
                </a:cubicBezTo>
                <a:cubicBezTo>
                  <a:pt x="17786" y="7211"/>
                  <a:pt x="17682" y="7357"/>
                  <a:pt x="17660" y="7542"/>
                </a:cubicBezTo>
                <a:cubicBezTo>
                  <a:pt x="17638" y="7727"/>
                  <a:pt x="17583" y="7795"/>
                  <a:pt x="17546" y="7675"/>
                </a:cubicBezTo>
                <a:cubicBezTo>
                  <a:pt x="17500" y="7528"/>
                  <a:pt x="17493" y="6398"/>
                  <a:pt x="17520" y="4226"/>
                </a:cubicBezTo>
                <a:cubicBezTo>
                  <a:pt x="17546" y="2166"/>
                  <a:pt x="17535" y="909"/>
                  <a:pt x="17495" y="778"/>
                </a:cubicBezTo>
                <a:cubicBezTo>
                  <a:pt x="17384" y="420"/>
                  <a:pt x="17184" y="931"/>
                  <a:pt x="17164" y="1640"/>
                </a:cubicBezTo>
                <a:cubicBezTo>
                  <a:pt x="17150" y="2094"/>
                  <a:pt x="17063" y="2470"/>
                  <a:pt x="16896" y="2768"/>
                </a:cubicBezTo>
                <a:cubicBezTo>
                  <a:pt x="16595" y="3305"/>
                  <a:pt x="16540" y="3177"/>
                  <a:pt x="16540" y="1905"/>
                </a:cubicBezTo>
                <a:cubicBezTo>
                  <a:pt x="16540" y="1100"/>
                  <a:pt x="16512" y="911"/>
                  <a:pt x="16387" y="911"/>
                </a:cubicBezTo>
                <a:cubicBezTo>
                  <a:pt x="16133" y="911"/>
                  <a:pt x="16056" y="1774"/>
                  <a:pt x="16145" y="3497"/>
                </a:cubicBezTo>
                <a:cubicBezTo>
                  <a:pt x="16201" y="4591"/>
                  <a:pt x="16209" y="5113"/>
                  <a:pt x="16157" y="5619"/>
                </a:cubicBezTo>
                <a:cubicBezTo>
                  <a:pt x="16046" y="6699"/>
                  <a:pt x="15909" y="5713"/>
                  <a:pt x="15877" y="3563"/>
                </a:cubicBezTo>
                <a:cubicBezTo>
                  <a:pt x="15842" y="1176"/>
                  <a:pt x="15796" y="579"/>
                  <a:pt x="15623" y="579"/>
                </a:cubicBezTo>
                <a:close/>
                <a:moveTo>
                  <a:pt x="13254" y="712"/>
                </a:moveTo>
                <a:cubicBezTo>
                  <a:pt x="12917" y="383"/>
                  <a:pt x="12559" y="2006"/>
                  <a:pt x="12795" y="2768"/>
                </a:cubicBezTo>
                <a:cubicBezTo>
                  <a:pt x="12832" y="2886"/>
                  <a:pt x="12846" y="3167"/>
                  <a:pt x="12834" y="3364"/>
                </a:cubicBezTo>
                <a:cubicBezTo>
                  <a:pt x="12800" y="3889"/>
                  <a:pt x="12528" y="3883"/>
                  <a:pt x="12490" y="3364"/>
                </a:cubicBezTo>
                <a:cubicBezTo>
                  <a:pt x="12443" y="2726"/>
                  <a:pt x="12067" y="2809"/>
                  <a:pt x="11904" y="3497"/>
                </a:cubicBezTo>
                <a:cubicBezTo>
                  <a:pt x="11736" y="4207"/>
                  <a:pt x="11600" y="8504"/>
                  <a:pt x="11713" y="9598"/>
                </a:cubicBezTo>
                <a:cubicBezTo>
                  <a:pt x="11819" y="10628"/>
                  <a:pt x="12215" y="10326"/>
                  <a:pt x="12324" y="9134"/>
                </a:cubicBezTo>
                <a:cubicBezTo>
                  <a:pt x="12421" y="8072"/>
                  <a:pt x="12512" y="8038"/>
                  <a:pt x="12719" y="8868"/>
                </a:cubicBezTo>
                <a:lnTo>
                  <a:pt x="12872" y="9465"/>
                </a:lnTo>
                <a:lnTo>
                  <a:pt x="12630" y="10990"/>
                </a:lnTo>
                <a:cubicBezTo>
                  <a:pt x="12438" y="12300"/>
                  <a:pt x="12419" y="12685"/>
                  <a:pt x="12477" y="13245"/>
                </a:cubicBezTo>
                <a:cubicBezTo>
                  <a:pt x="12532" y="13785"/>
                  <a:pt x="12520" y="14045"/>
                  <a:pt x="12413" y="14638"/>
                </a:cubicBezTo>
                <a:cubicBezTo>
                  <a:pt x="12340" y="15042"/>
                  <a:pt x="12273" y="15820"/>
                  <a:pt x="12273" y="16296"/>
                </a:cubicBezTo>
                <a:cubicBezTo>
                  <a:pt x="12273" y="17350"/>
                  <a:pt x="12552" y="19085"/>
                  <a:pt x="12744" y="19280"/>
                </a:cubicBezTo>
                <a:cubicBezTo>
                  <a:pt x="12822" y="19358"/>
                  <a:pt x="13025" y="19454"/>
                  <a:pt x="13203" y="19479"/>
                </a:cubicBezTo>
                <a:cubicBezTo>
                  <a:pt x="13524" y="19523"/>
                  <a:pt x="13534" y="19490"/>
                  <a:pt x="13954" y="17224"/>
                </a:cubicBezTo>
                <a:cubicBezTo>
                  <a:pt x="14188" y="15965"/>
                  <a:pt x="14374" y="14803"/>
                  <a:pt x="14374" y="14638"/>
                </a:cubicBezTo>
                <a:cubicBezTo>
                  <a:pt x="14374" y="13880"/>
                  <a:pt x="14191" y="13145"/>
                  <a:pt x="13929" y="12914"/>
                </a:cubicBezTo>
                <a:cubicBezTo>
                  <a:pt x="13690" y="12703"/>
                  <a:pt x="13642" y="12530"/>
                  <a:pt x="13623" y="11852"/>
                </a:cubicBezTo>
                <a:cubicBezTo>
                  <a:pt x="13611" y="11406"/>
                  <a:pt x="13547" y="10893"/>
                  <a:pt x="13483" y="10659"/>
                </a:cubicBezTo>
                <a:cubicBezTo>
                  <a:pt x="13380" y="10284"/>
                  <a:pt x="13383" y="10077"/>
                  <a:pt x="13458" y="9333"/>
                </a:cubicBezTo>
                <a:cubicBezTo>
                  <a:pt x="13556" y="8344"/>
                  <a:pt x="13891" y="7023"/>
                  <a:pt x="14362" y="5752"/>
                </a:cubicBezTo>
                <a:cubicBezTo>
                  <a:pt x="14930" y="4217"/>
                  <a:pt x="14780" y="2900"/>
                  <a:pt x="14031" y="2900"/>
                </a:cubicBezTo>
                <a:cubicBezTo>
                  <a:pt x="13621" y="2900"/>
                  <a:pt x="13611" y="2930"/>
                  <a:pt x="13547" y="1972"/>
                </a:cubicBezTo>
                <a:cubicBezTo>
                  <a:pt x="13496" y="1217"/>
                  <a:pt x="13421" y="875"/>
                  <a:pt x="13254" y="712"/>
                </a:cubicBezTo>
                <a:close/>
                <a:moveTo>
                  <a:pt x="19940" y="1242"/>
                </a:moveTo>
                <a:cubicBezTo>
                  <a:pt x="19804" y="1264"/>
                  <a:pt x="19629" y="1515"/>
                  <a:pt x="19481" y="1972"/>
                </a:cubicBezTo>
                <a:cubicBezTo>
                  <a:pt x="18580" y="4768"/>
                  <a:pt x="18433" y="5479"/>
                  <a:pt x="18361" y="7542"/>
                </a:cubicBezTo>
                <a:cubicBezTo>
                  <a:pt x="18329" y="8443"/>
                  <a:pt x="18348" y="8925"/>
                  <a:pt x="18450" y="9598"/>
                </a:cubicBezTo>
                <a:cubicBezTo>
                  <a:pt x="18522" y="10077"/>
                  <a:pt x="18576" y="10978"/>
                  <a:pt x="18577" y="11587"/>
                </a:cubicBezTo>
                <a:cubicBezTo>
                  <a:pt x="18580" y="12941"/>
                  <a:pt x="18933" y="15131"/>
                  <a:pt x="19201" y="15500"/>
                </a:cubicBezTo>
                <a:cubicBezTo>
                  <a:pt x="19321" y="15664"/>
                  <a:pt x="19411" y="16126"/>
                  <a:pt x="19481" y="16892"/>
                </a:cubicBezTo>
                <a:cubicBezTo>
                  <a:pt x="19628" y="18491"/>
                  <a:pt x="19715" y="18802"/>
                  <a:pt x="20080" y="18948"/>
                </a:cubicBezTo>
                <a:cubicBezTo>
                  <a:pt x="20719" y="19205"/>
                  <a:pt x="20787" y="19151"/>
                  <a:pt x="20908" y="18683"/>
                </a:cubicBezTo>
                <a:cubicBezTo>
                  <a:pt x="21020" y="18248"/>
                  <a:pt x="21025" y="18172"/>
                  <a:pt x="20933" y="17688"/>
                </a:cubicBezTo>
                <a:cubicBezTo>
                  <a:pt x="20875" y="17378"/>
                  <a:pt x="20662" y="17029"/>
                  <a:pt x="20424" y="16892"/>
                </a:cubicBezTo>
                <a:cubicBezTo>
                  <a:pt x="19929" y="16608"/>
                  <a:pt x="19851" y="15944"/>
                  <a:pt x="20195" y="14837"/>
                </a:cubicBezTo>
                <a:cubicBezTo>
                  <a:pt x="20319" y="14436"/>
                  <a:pt x="20424" y="14049"/>
                  <a:pt x="20424" y="13908"/>
                </a:cubicBezTo>
                <a:cubicBezTo>
                  <a:pt x="20424" y="13767"/>
                  <a:pt x="20526" y="12918"/>
                  <a:pt x="20653" y="12051"/>
                </a:cubicBezTo>
                <a:cubicBezTo>
                  <a:pt x="20900" y="10366"/>
                  <a:pt x="20890" y="10070"/>
                  <a:pt x="20551" y="9664"/>
                </a:cubicBezTo>
                <a:cubicBezTo>
                  <a:pt x="20227" y="9276"/>
                  <a:pt x="20236" y="9332"/>
                  <a:pt x="20322" y="7807"/>
                </a:cubicBezTo>
                <a:cubicBezTo>
                  <a:pt x="20397" y="6468"/>
                  <a:pt x="20409" y="6437"/>
                  <a:pt x="20615" y="6481"/>
                </a:cubicBezTo>
                <a:cubicBezTo>
                  <a:pt x="20736" y="6507"/>
                  <a:pt x="20963" y="6612"/>
                  <a:pt x="21112" y="6746"/>
                </a:cubicBezTo>
                <a:cubicBezTo>
                  <a:pt x="21444" y="7048"/>
                  <a:pt x="21570" y="6588"/>
                  <a:pt x="21570" y="5088"/>
                </a:cubicBezTo>
                <a:cubicBezTo>
                  <a:pt x="21570" y="3771"/>
                  <a:pt x="21466" y="3263"/>
                  <a:pt x="21137" y="3033"/>
                </a:cubicBezTo>
                <a:cubicBezTo>
                  <a:pt x="20903" y="2869"/>
                  <a:pt x="20296" y="3561"/>
                  <a:pt x="20029" y="4293"/>
                </a:cubicBezTo>
                <a:cubicBezTo>
                  <a:pt x="19853" y="4775"/>
                  <a:pt x="19846" y="4064"/>
                  <a:pt x="20016" y="3232"/>
                </a:cubicBezTo>
                <a:cubicBezTo>
                  <a:pt x="20103" y="2809"/>
                  <a:pt x="20169" y="2238"/>
                  <a:pt x="20169" y="1905"/>
                </a:cubicBezTo>
                <a:cubicBezTo>
                  <a:pt x="20169" y="1472"/>
                  <a:pt x="20076" y="1221"/>
                  <a:pt x="19940" y="1242"/>
                </a:cubicBezTo>
                <a:close/>
                <a:moveTo>
                  <a:pt x="13903" y="3696"/>
                </a:moveTo>
                <a:cubicBezTo>
                  <a:pt x="13992" y="3872"/>
                  <a:pt x="13957" y="4202"/>
                  <a:pt x="13687" y="5553"/>
                </a:cubicBezTo>
                <a:cubicBezTo>
                  <a:pt x="13371" y="7127"/>
                  <a:pt x="13102" y="7705"/>
                  <a:pt x="13012" y="6945"/>
                </a:cubicBezTo>
                <a:cubicBezTo>
                  <a:pt x="12973" y="6616"/>
                  <a:pt x="13270" y="5221"/>
                  <a:pt x="13381" y="5221"/>
                </a:cubicBezTo>
                <a:cubicBezTo>
                  <a:pt x="13418" y="5221"/>
                  <a:pt x="13527" y="4838"/>
                  <a:pt x="13623" y="4359"/>
                </a:cubicBezTo>
                <a:cubicBezTo>
                  <a:pt x="13736" y="3794"/>
                  <a:pt x="13833" y="3556"/>
                  <a:pt x="13903" y="3696"/>
                </a:cubicBezTo>
                <a:close/>
                <a:moveTo>
                  <a:pt x="16043" y="10128"/>
                </a:moveTo>
                <a:cubicBezTo>
                  <a:pt x="16104" y="10444"/>
                  <a:pt x="16094" y="10653"/>
                  <a:pt x="16030" y="11057"/>
                </a:cubicBezTo>
                <a:cubicBezTo>
                  <a:pt x="15872" y="12048"/>
                  <a:pt x="15730" y="11364"/>
                  <a:pt x="15877" y="10327"/>
                </a:cubicBezTo>
                <a:cubicBezTo>
                  <a:pt x="15947" y="9835"/>
                  <a:pt x="15982" y="9815"/>
                  <a:pt x="16043" y="10128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0" name="图像" descr="图像">
            <a:extLst>
              <a:ext uri="{FF2B5EF4-FFF2-40B4-BE49-F238E27FC236}">
                <a16:creationId xmlns:a16="http://schemas.microsoft.com/office/drawing/2014/main" id="{E2D7CF9D-49E5-B327-04F1-B6A9FDDE7667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480644" y="2464862"/>
            <a:ext cx="646558" cy="152798"/>
          </a:xfrm>
          <a:prstGeom prst="rect">
            <a:avLst/>
          </a:prstGeom>
          <a:ln w="12700">
            <a:miter lim="400000"/>
          </a:ln>
        </p:spPr>
      </p:pic>
      <p:pic>
        <p:nvPicPr>
          <p:cNvPr id="71" name="图像" descr="图像">
            <a:extLst>
              <a:ext uri="{FF2B5EF4-FFF2-40B4-BE49-F238E27FC236}">
                <a16:creationId xmlns:a16="http://schemas.microsoft.com/office/drawing/2014/main" id="{482A1305-D556-711F-8923-8111C9BF0F0B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036673" y="1817131"/>
            <a:ext cx="585272" cy="194897"/>
          </a:xfrm>
          <a:prstGeom prst="rect">
            <a:avLst/>
          </a:prstGeom>
          <a:ln w="12700">
            <a:miter lim="400000"/>
          </a:ln>
        </p:spPr>
      </p:pic>
      <p:pic>
        <p:nvPicPr>
          <p:cNvPr id="72" name="图像" descr="图像">
            <a:extLst>
              <a:ext uri="{FF2B5EF4-FFF2-40B4-BE49-F238E27FC236}">
                <a16:creationId xmlns:a16="http://schemas.microsoft.com/office/drawing/2014/main" id="{750733ED-69C8-1880-8B1F-1BB9B0D89C17}"/>
              </a:ext>
            </a:extLst>
          </p:cNvPr>
          <p:cNvPicPr>
            <a:picLocks noChangeAspect="1"/>
          </p:cNvPicPr>
          <p:nvPr/>
        </p:nvPicPr>
        <p:blipFill>
          <a:blip r:embed="rId37"/>
          <a:srcRect l="27684" t="34270" r="28142" b="34717"/>
          <a:stretch>
            <a:fillRect/>
          </a:stretch>
        </p:blipFill>
        <p:spPr>
          <a:xfrm>
            <a:off x="3700686" y="2262566"/>
            <a:ext cx="537397" cy="2667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1" h="21365" extrusionOk="0">
                <a:moveTo>
                  <a:pt x="18425" y="9"/>
                </a:moveTo>
                <a:cubicBezTo>
                  <a:pt x="17995" y="54"/>
                  <a:pt x="17822" y="158"/>
                  <a:pt x="17421" y="549"/>
                </a:cubicBezTo>
                <a:cubicBezTo>
                  <a:pt x="17157" y="807"/>
                  <a:pt x="16878" y="1124"/>
                  <a:pt x="16800" y="1249"/>
                </a:cubicBezTo>
                <a:cubicBezTo>
                  <a:pt x="16660" y="1469"/>
                  <a:pt x="16671" y="1471"/>
                  <a:pt x="17278" y="1471"/>
                </a:cubicBezTo>
                <a:cubicBezTo>
                  <a:pt x="17840" y="1471"/>
                  <a:pt x="17934" y="1507"/>
                  <a:pt x="18202" y="1821"/>
                </a:cubicBezTo>
                <a:cubicBezTo>
                  <a:pt x="18619" y="2310"/>
                  <a:pt x="19062" y="3317"/>
                  <a:pt x="19222" y="4173"/>
                </a:cubicBezTo>
                <a:cubicBezTo>
                  <a:pt x="19388" y="5056"/>
                  <a:pt x="19495" y="6126"/>
                  <a:pt x="19429" y="6239"/>
                </a:cubicBezTo>
                <a:cubicBezTo>
                  <a:pt x="19403" y="6285"/>
                  <a:pt x="19137" y="6407"/>
                  <a:pt x="18840" y="6493"/>
                </a:cubicBezTo>
                <a:cubicBezTo>
                  <a:pt x="17294" y="6945"/>
                  <a:pt x="16274" y="8650"/>
                  <a:pt x="16274" y="10785"/>
                </a:cubicBezTo>
                <a:cubicBezTo>
                  <a:pt x="16274" y="12418"/>
                  <a:pt x="16837" y="13491"/>
                  <a:pt x="17899" y="13900"/>
                </a:cubicBezTo>
                <a:cubicBezTo>
                  <a:pt x="18110" y="13980"/>
                  <a:pt x="18304" y="14108"/>
                  <a:pt x="18330" y="14154"/>
                </a:cubicBezTo>
                <a:cubicBezTo>
                  <a:pt x="18413" y="14300"/>
                  <a:pt x="17586" y="16262"/>
                  <a:pt x="17134" y="16983"/>
                </a:cubicBezTo>
                <a:cubicBezTo>
                  <a:pt x="16348" y="18237"/>
                  <a:pt x="15721" y="18784"/>
                  <a:pt x="15030" y="18795"/>
                </a:cubicBezTo>
                <a:cubicBezTo>
                  <a:pt x="14346" y="18805"/>
                  <a:pt x="13751" y="18183"/>
                  <a:pt x="13373" y="17110"/>
                </a:cubicBezTo>
                <a:cubicBezTo>
                  <a:pt x="13133" y="16430"/>
                  <a:pt x="13084" y="16624"/>
                  <a:pt x="13198" y="17777"/>
                </a:cubicBezTo>
                <a:cubicBezTo>
                  <a:pt x="13395" y="19781"/>
                  <a:pt x="13911" y="20982"/>
                  <a:pt x="14680" y="21306"/>
                </a:cubicBezTo>
                <a:cubicBezTo>
                  <a:pt x="15192" y="21521"/>
                  <a:pt x="15929" y="21143"/>
                  <a:pt x="16608" y="20320"/>
                </a:cubicBezTo>
                <a:cubicBezTo>
                  <a:pt x="17399" y="19363"/>
                  <a:pt x="18502" y="16944"/>
                  <a:pt x="19063" y="14948"/>
                </a:cubicBezTo>
                <a:cubicBezTo>
                  <a:pt x="19261" y="14244"/>
                  <a:pt x="19316" y="14155"/>
                  <a:pt x="19525" y="14090"/>
                </a:cubicBezTo>
                <a:cubicBezTo>
                  <a:pt x="19962" y="13956"/>
                  <a:pt x="20457" y="13773"/>
                  <a:pt x="20465" y="13741"/>
                </a:cubicBezTo>
                <a:cubicBezTo>
                  <a:pt x="20528" y="13493"/>
                  <a:pt x="20795" y="12049"/>
                  <a:pt x="20784" y="12024"/>
                </a:cubicBezTo>
                <a:cubicBezTo>
                  <a:pt x="20776" y="12006"/>
                  <a:pt x="20636" y="12074"/>
                  <a:pt x="20481" y="12183"/>
                </a:cubicBezTo>
                <a:cubicBezTo>
                  <a:pt x="20326" y="12292"/>
                  <a:pt x="19997" y="12428"/>
                  <a:pt x="19732" y="12469"/>
                </a:cubicBezTo>
                <a:cubicBezTo>
                  <a:pt x="18236" y="12701"/>
                  <a:pt x="17618" y="10691"/>
                  <a:pt x="18632" y="8909"/>
                </a:cubicBezTo>
                <a:cubicBezTo>
                  <a:pt x="18800" y="8616"/>
                  <a:pt x="19052" y="8320"/>
                  <a:pt x="19238" y="8210"/>
                </a:cubicBezTo>
                <a:cubicBezTo>
                  <a:pt x="19650" y="7966"/>
                  <a:pt x="20453" y="7990"/>
                  <a:pt x="20784" y="8242"/>
                </a:cubicBezTo>
                <a:cubicBezTo>
                  <a:pt x="21178" y="8541"/>
                  <a:pt x="21186" y="8522"/>
                  <a:pt x="21390" y="7670"/>
                </a:cubicBezTo>
                <a:lnTo>
                  <a:pt x="21581" y="6875"/>
                </a:lnTo>
                <a:lnTo>
                  <a:pt x="21438" y="6748"/>
                </a:lnTo>
                <a:cubicBezTo>
                  <a:pt x="21356" y="6686"/>
                  <a:pt x="21148" y="6607"/>
                  <a:pt x="20975" y="6557"/>
                </a:cubicBezTo>
                <a:cubicBezTo>
                  <a:pt x="20803" y="6507"/>
                  <a:pt x="20621" y="6404"/>
                  <a:pt x="20577" y="6334"/>
                </a:cubicBezTo>
                <a:cubicBezTo>
                  <a:pt x="20528" y="6257"/>
                  <a:pt x="20497" y="5883"/>
                  <a:pt x="20497" y="5381"/>
                </a:cubicBezTo>
                <a:cubicBezTo>
                  <a:pt x="20497" y="4308"/>
                  <a:pt x="20324" y="2774"/>
                  <a:pt x="20131" y="2012"/>
                </a:cubicBezTo>
                <a:cubicBezTo>
                  <a:pt x="19747" y="503"/>
                  <a:pt x="19265" y="-79"/>
                  <a:pt x="18425" y="9"/>
                </a:cubicBezTo>
                <a:close/>
                <a:moveTo>
                  <a:pt x="6360" y="6493"/>
                </a:moveTo>
                <a:lnTo>
                  <a:pt x="6265" y="6907"/>
                </a:lnTo>
                <a:cubicBezTo>
                  <a:pt x="6213" y="7135"/>
                  <a:pt x="5909" y="8520"/>
                  <a:pt x="5595" y="9958"/>
                </a:cubicBezTo>
                <a:cubicBezTo>
                  <a:pt x="5282" y="11396"/>
                  <a:pt x="4955" y="12913"/>
                  <a:pt x="4862" y="13327"/>
                </a:cubicBezTo>
                <a:lnTo>
                  <a:pt x="4687" y="14058"/>
                </a:lnTo>
                <a:lnTo>
                  <a:pt x="5133" y="13995"/>
                </a:lnTo>
                <a:cubicBezTo>
                  <a:pt x="5372" y="13950"/>
                  <a:pt x="5704" y="13900"/>
                  <a:pt x="5882" y="13900"/>
                </a:cubicBezTo>
                <a:lnTo>
                  <a:pt x="6217" y="13900"/>
                </a:lnTo>
                <a:lnTo>
                  <a:pt x="6743" y="11198"/>
                </a:lnTo>
                <a:cubicBezTo>
                  <a:pt x="7037" y="9720"/>
                  <a:pt x="7304" y="8499"/>
                  <a:pt x="7332" y="8464"/>
                </a:cubicBezTo>
                <a:cubicBezTo>
                  <a:pt x="7417" y="8360"/>
                  <a:pt x="7441" y="8611"/>
                  <a:pt x="7540" y="11325"/>
                </a:cubicBezTo>
                <a:cubicBezTo>
                  <a:pt x="7592" y="12752"/>
                  <a:pt x="7649" y="13960"/>
                  <a:pt x="7667" y="13995"/>
                </a:cubicBezTo>
                <a:cubicBezTo>
                  <a:pt x="7685" y="14030"/>
                  <a:pt x="8009" y="14014"/>
                  <a:pt x="8400" y="13963"/>
                </a:cubicBezTo>
                <a:lnTo>
                  <a:pt x="9118" y="13868"/>
                </a:lnTo>
                <a:lnTo>
                  <a:pt x="9516" y="12819"/>
                </a:lnTo>
                <a:cubicBezTo>
                  <a:pt x="10535" y="10137"/>
                  <a:pt x="11114" y="8790"/>
                  <a:pt x="11174" y="8909"/>
                </a:cubicBezTo>
                <a:cubicBezTo>
                  <a:pt x="11214" y="8990"/>
                  <a:pt x="11091" y="9850"/>
                  <a:pt x="10839" y="11420"/>
                </a:cubicBezTo>
                <a:cubicBezTo>
                  <a:pt x="10625" y="12749"/>
                  <a:pt x="10456" y="13905"/>
                  <a:pt x="10456" y="13963"/>
                </a:cubicBezTo>
                <a:cubicBezTo>
                  <a:pt x="10456" y="14060"/>
                  <a:pt x="12111" y="13936"/>
                  <a:pt x="12162" y="13836"/>
                </a:cubicBezTo>
                <a:cubicBezTo>
                  <a:pt x="12174" y="13812"/>
                  <a:pt x="12340" y="12598"/>
                  <a:pt x="12528" y="11134"/>
                </a:cubicBezTo>
                <a:cubicBezTo>
                  <a:pt x="12717" y="9670"/>
                  <a:pt x="12933" y="8035"/>
                  <a:pt x="13006" y="7511"/>
                </a:cubicBezTo>
                <a:cubicBezTo>
                  <a:pt x="13080" y="6986"/>
                  <a:pt x="13134" y="6544"/>
                  <a:pt x="13134" y="6525"/>
                </a:cubicBezTo>
                <a:cubicBezTo>
                  <a:pt x="13134" y="6506"/>
                  <a:pt x="12603" y="6493"/>
                  <a:pt x="11939" y="6493"/>
                </a:cubicBezTo>
                <a:lnTo>
                  <a:pt x="10727" y="6493"/>
                </a:lnTo>
                <a:lnTo>
                  <a:pt x="9883" y="8718"/>
                </a:lnTo>
                <a:cubicBezTo>
                  <a:pt x="9417" y="9945"/>
                  <a:pt x="9005" y="10917"/>
                  <a:pt x="8974" y="10880"/>
                </a:cubicBezTo>
                <a:cubicBezTo>
                  <a:pt x="8944" y="10842"/>
                  <a:pt x="8926" y="10655"/>
                  <a:pt x="8926" y="10435"/>
                </a:cubicBezTo>
                <a:cubicBezTo>
                  <a:pt x="8926" y="10215"/>
                  <a:pt x="8887" y="9242"/>
                  <a:pt x="8847" y="8273"/>
                </a:cubicBezTo>
                <a:lnTo>
                  <a:pt x="8767" y="6493"/>
                </a:lnTo>
                <a:lnTo>
                  <a:pt x="7572" y="6493"/>
                </a:lnTo>
                <a:lnTo>
                  <a:pt x="6360" y="6493"/>
                </a:lnTo>
                <a:close/>
                <a:moveTo>
                  <a:pt x="14377" y="6493"/>
                </a:moveTo>
                <a:lnTo>
                  <a:pt x="14265" y="7225"/>
                </a:lnTo>
                <a:cubicBezTo>
                  <a:pt x="14202" y="7628"/>
                  <a:pt x="13893" y="9287"/>
                  <a:pt x="13580" y="10912"/>
                </a:cubicBezTo>
                <a:cubicBezTo>
                  <a:pt x="13268" y="12536"/>
                  <a:pt x="13006" y="13921"/>
                  <a:pt x="13006" y="13963"/>
                </a:cubicBezTo>
                <a:cubicBezTo>
                  <a:pt x="13006" y="14063"/>
                  <a:pt x="13619" y="14034"/>
                  <a:pt x="14345" y="13931"/>
                </a:cubicBezTo>
                <a:lnTo>
                  <a:pt x="14919" y="13868"/>
                </a:lnTo>
                <a:lnTo>
                  <a:pt x="15254" y="11929"/>
                </a:lnTo>
                <a:cubicBezTo>
                  <a:pt x="15438" y="10869"/>
                  <a:pt x="15751" y="9244"/>
                  <a:pt x="15939" y="8305"/>
                </a:cubicBezTo>
                <a:cubicBezTo>
                  <a:pt x="16127" y="7367"/>
                  <a:pt x="16274" y="6583"/>
                  <a:pt x="16274" y="6557"/>
                </a:cubicBezTo>
                <a:cubicBezTo>
                  <a:pt x="16274" y="6531"/>
                  <a:pt x="15854" y="6493"/>
                  <a:pt x="15333" y="6493"/>
                </a:cubicBezTo>
                <a:lnTo>
                  <a:pt x="14377" y="6493"/>
                </a:lnTo>
                <a:close/>
                <a:moveTo>
                  <a:pt x="1754" y="6652"/>
                </a:moveTo>
                <a:cubicBezTo>
                  <a:pt x="886" y="7189"/>
                  <a:pt x="471" y="8408"/>
                  <a:pt x="766" y="9545"/>
                </a:cubicBezTo>
                <a:cubicBezTo>
                  <a:pt x="870" y="9945"/>
                  <a:pt x="1257" y="10382"/>
                  <a:pt x="2057" y="10975"/>
                </a:cubicBezTo>
                <a:cubicBezTo>
                  <a:pt x="2635" y="11404"/>
                  <a:pt x="2781" y="11627"/>
                  <a:pt x="2679" y="11961"/>
                </a:cubicBezTo>
                <a:cubicBezTo>
                  <a:pt x="2433" y="12764"/>
                  <a:pt x="1329" y="12833"/>
                  <a:pt x="591" y="12088"/>
                </a:cubicBezTo>
                <a:cubicBezTo>
                  <a:pt x="455" y="11951"/>
                  <a:pt x="327" y="11843"/>
                  <a:pt x="320" y="11865"/>
                </a:cubicBezTo>
                <a:cubicBezTo>
                  <a:pt x="240" y="12107"/>
                  <a:pt x="-19" y="13454"/>
                  <a:pt x="1" y="13518"/>
                </a:cubicBezTo>
                <a:cubicBezTo>
                  <a:pt x="30" y="13612"/>
                  <a:pt x="952" y="13991"/>
                  <a:pt x="1308" y="14058"/>
                </a:cubicBezTo>
                <a:cubicBezTo>
                  <a:pt x="2406" y="14266"/>
                  <a:pt x="3539" y="13913"/>
                  <a:pt x="4113" y="13168"/>
                </a:cubicBezTo>
                <a:cubicBezTo>
                  <a:pt x="4395" y="12802"/>
                  <a:pt x="4639" y="12023"/>
                  <a:pt x="4639" y="11484"/>
                </a:cubicBezTo>
                <a:cubicBezTo>
                  <a:pt x="4639" y="10709"/>
                  <a:pt x="4178" y="10042"/>
                  <a:pt x="3268" y="9450"/>
                </a:cubicBezTo>
                <a:cubicBezTo>
                  <a:pt x="2498" y="8947"/>
                  <a:pt x="2325" y="8370"/>
                  <a:pt x="2822" y="7956"/>
                </a:cubicBezTo>
                <a:cubicBezTo>
                  <a:pt x="3134" y="7695"/>
                  <a:pt x="3681" y="7785"/>
                  <a:pt x="4209" y="8210"/>
                </a:cubicBezTo>
                <a:cubicBezTo>
                  <a:pt x="4424" y="8383"/>
                  <a:pt x="4600" y="8511"/>
                  <a:pt x="4607" y="8496"/>
                </a:cubicBezTo>
                <a:cubicBezTo>
                  <a:pt x="4649" y="8409"/>
                  <a:pt x="4959" y="6972"/>
                  <a:pt x="4942" y="6938"/>
                </a:cubicBezTo>
                <a:cubicBezTo>
                  <a:pt x="4931" y="6916"/>
                  <a:pt x="4738" y="6776"/>
                  <a:pt x="4511" y="6652"/>
                </a:cubicBezTo>
                <a:cubicBezTo>
                  <a:pt x="3931" y="6335"/>
                  <a:pt x="2262" y="6339"/>
                  <a:pt x="1754" y="6652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3" name="图像" descr="图像">
            <a:extLst>
              <a:ext uri="{FF2B5EF4-FFF2-40B4-BE49-F238E27FC236}">
                <a16:creationId xmlns:a16="http://schemas.microsoft.com/office/drawing/2014/main" id="{88536659-6C7D-2307-7E1D-C371E589F64A}"/>
              </a:ext>
            </a:extLst>
          </p:cNvPr>
          <p:cNvPicPr>
            <a:picLocks noChangeAspect="1"/>
          </p:cNvPicPr>
          <p:nvPr/>
        </p:nvPicPr>
        <p:blipFill>
          <a:blip r:embed="rId38"/>
          <a:srcRect t="35171" b="35171"/>
          <a:stretch>
            <a:fillRect/>
          </a:stretch>
        </p:blipFill>
        <p:spPr>
          <a:xfrm>
            <a:off x="7513080" y="5264080"/>
            <a:ext cx="685332" cy="203244"/>
          </a:xfrm>
          <a:prstGeom prst="rect">
            <a:avLst/>
          </a:prstGeom>
          <a:ln w="12700">
            <a:miter lim="400000"/>
          </a:ln>
        </p:spPr>
      </p:pic>
      <p:pic>
        <p:nvPicPr>
          <p:cNvPr id="74" name="图像" descr="图像">
            <a:extLst>
              <a:ext uri="{FF2B5EF4-FFF2-40B4-BE49-F238E27FC236}">
                <a16:creationId xmlns:a16="http://schemas.microsoft.com/office/drawing/2014/main" id="{6C079557-3240-A972-4257-37A1213BF888}"/>
              </a:ext>
            </a:extLst>
          </p:cNvPr>
          <p:cNvPicPr>
            <a:picLocks noChangeAspect="1"/>
          </p:cNvPicPr>
          <p:nvPr/>
        </p:nvPicPr>
        <p:blipFill>
          <a:blip r:embed="rId39"/>
          <a:srcRect t="18222" b="31569"/>
          <a:stretch>
            <a:fillRect/>
          </a:stretch>
        </p:blipFill>
        <p:spPr>
          <a:xfrm>
            <a:off x="2338212" y="4183000"/>
            <a:ext cx="531476" cy="2668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5" name="图像" descr="图像">
            <a:extLst>
              <a:ext uri="{FF2B5EF4-FFF2-40B4-BE49-F238E27FC236}">
                <a16:creationId xmlns:a16="http://schemas.microsoft.com/office/drawing/2014/main" id="{D9E40DF9-E615-4FAC-B810-62471940D7E2}"/>
              </a:ext>
            </a:extLst>
          </p:cNvPr>
          <p:cNvPicPr>
            <a:picLocks noChangeAspect="1"/>
          </p:cNvPicPr>
          <p:nvPr/>
        </p:nvPicPr>
        <p:blipFill>
          <a:blip r:embed="rId40"/>
          <a:srcRect t="38585" b="38585"/>
          <a:stretch>
            <a:fillRect/>
          </a:stretch>
        </p:blipFill>
        <p:spPr>
          <a:xfrm>
            <a:off x="1974825" y="4538428"/>
            <a:ext cx="750305" cy="171281"/>
          </a:xfrm>
          <a:prstGeom prst="rect">
            <a:avLst/>
          </a:prstGeom>
          <a:ln w="12700">
            <a:miter lim="400000"/>
          </a:ln>
        </p:spPr>
      </p:pic>
      <p:pic>
        <p:nvPicPr>
          <p:cNvPr id="76" name="图像" descr="图像">
            <a:extLst>
              <a:ext uri="{FF2B5EF4-FFF2-40B4-BE49-F238E27FC236}">
                <a16:creationId xmlns:a16="http://schemas.microsoft.com/office/drawing/2014/main" id="{D531A314-272E-13CE-18EC-E0C4011E6F7B}"/>
              </a:ext>
            </a:extLst>
          </p:cNvPr>
          <p:cNvPicPr>
            <a:picLocks noChangeAspect="1"/>
          </p:cNvPicPr>
          <p:nvPr/>
        </p:nvPicPr>
        <p:blipFill>
          <a:blip r:embed="rId41"/>
          <a:srcRect l="3322" t="22445" r="3246" b="22496"/>
          <a:stretch>
            <a:fillRect/>
          </a:stretch>
        </p:blipFill>
        <p:spPr>
          <a:xfrm>
            <a:off x="1485999" y="4944369"/>
            <a:ext cx="493316" cy="1526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1" extrusionOk="0">
                <a:moveTo>
                  <a:pt x="4692" y="0"/>
                </a:moveTo>
                <a:cubicBezTo>
                  <a:pt x="4450" y="40"/>
                  <a:pt x="4262" y="381"/>
                  <a:pt x="4153" y="1065"/>
                </a:cubicBezTo>
                <a:cubicBezTo>
                  <a:pt x="4097" y="1418"/>
                  <a:pt x="4084" y="1632"/>
                  <a:pt x="4084" y="2074"/>
                </a:cubicBezTo>
                <a:cubicBezTo>
                  <a:pt x="4084" y="2713"/>
                  <a:pt x="4133" y="3032"/>
                  <a:pt x="4257" y="3475"/>
                </a:cubicBezTo>
                <a:cubicBezTo>
                  <a:pt x="4347" y="3796"/>
                  <a:pt x="4436" y="3976"/>
                  <a:pt x="4553" y="4091"/>
                </a:cubicBezTo>
                <a:cubicBezTo>
                  <a:pt x="4656" y="4192"/>
                  <a:pt x="4854" y="4163"/>
                  <a:pt x="4970" y="4035"/>
                </a:cubicBezTo>
                <a:cubicBezTo>
                  <a:pt x="5125" y="3864"/>
                  <a:pt x="5287" y="3403"/>
                  <a:pt x="5352" y="2914"/>
                </a:cubicBezTo>
                <a:cubicBezTo>
                  <a:pt x="5417" y="2426"/>
                  <a:pt x="5404" y="1581"/>
                  <a:pt x="5335" y="1121"/>
                </a:cubicBezTo>
                <a:cubicBezTo>
                  <a:pt x="5232" y="436"/>
                  <a:pt x="5045" y="49"/>
                  <a:pt x="4796" y="0"/>
                </a:cubicBezTo>
                <a:lnTo>
                  <a:pt x="4692" y="0"/>
                </a:lnTo>
                <a:close/>
                <a:moveTo>
                  <a:pt x="11938" y="4876"/>
                </a:moveTo>
                <a:cubicBezTo>
                  <a:pt x="11699" y="4853"/>
                  <a:pt x="11418" y="4940"/>
                  <a:pt x="11243" y="5100"/>
                </a:cubicBezTo>
                <a:cubicBezTo>
                  <a:pt x="10541" y="5741"/>
                  <a:pt x="10096" y="7484"/>
                  <a:pt x="9975" y="9919"/>
                </a:cubicBezTo>
                <a:cubicBezTo>
                  <a:pt x="9936" y="10686"/>
                  <a:pt x="9962" y="12014"/>
                  <a:pt x="10027" y="12833"/>
                </a:cubicBezTo>
                <a:cubicBezTo>
                  <a:pt x="10201" y="15042"/>
                  <a:pt x="10658" y="16449"/>
                  <a:pt x="11417" y="16980"/>
                </a:cubicBezTo>
                <a:cubicBezTo>
                  <a:pt x="11640" y="17136"/>
                  <a:pt x="12012" y="17095"/>
                  <a:pt x="12268" y="16924"/>
                </a:cubicBezTo>
                <a:cubicBezTo>
                  <a:pt x="12966" y="16459"/>
                  <a:pt x="13503" y="14769"/>
                  <a:pt x="13659" y="12497"/>
                </a:cubicBezTo>
                <a:cubicBezTo>
                  <a:pt x="13699" y="11900"/>
                  <a:pt x="13702" y="11569"/>
                  <a:pt x="13693" y="10704"/>
                </a:cubicBezTo>
                <a:cubicBezTo>
                  <a:pt x="13680" y="9475"/>
                  <a:pt x="13652" y="9000"/>
                  <a:pt x="13502" y="8014"/>
                </a:cubicBezTo>
                <a:cubicBezTo>
                  <a:pt x="13251" y="6359"/>
                  <a:pt x="12758" y="5211"/>
                  <a:pt x="12164" y="4932"/>
                </a:cubicBezTo>
                <a:cubicBezTo>
                  <a:pt x="12098" y="4900"/>
                  <a:pt x="12018" y="4883"/>
                  <a:pt x="11938" y="4876"/>
                </a:cubicBezTo>
                <a:close/>
                <a:moveTo>
                  <a:pt x="19706" y="4876"/>
                </a:moveTo>
                <a:cubicBezTo>
                  <a:pt x="19608" y="4883"/>
                  <a:pt x="19511" y="4903"/>
                  <a:pt x="19445" y="4932"/>
                </a:cubicBezTo>
                <a:cubicBezTo>
                  <a:pt x="18896" y="5168"/>
                  <a:pt x="18595" y="5822"/>
                  <a:pt x="18385" y="7229"/>
                </a:cubicBezTo>
                <a:cubicBezTo>
                  <a:pt x="18269" y="8008"/>
                  <a:pt x="18265" y="8127"/>
                  <a:pt x="18333" y="8182"/>
                </a:cubicBezTo>
                <a:cubicBezTo>
                  <a:pt x="18409" y="8244"/>
                  <a:pt x="19082" y="8630"/>
                  <a:pt x="19115" y="8630"/>
                </a:cubicBezTo>
                <a:cubicBezTo>
                  <a:pt x="19129" y="8630"/>
                  <a:pt x="19163" y="8498"/>
                  <a:pt x="19185" y="8350"/>
                </a:cubicBezTo>
                <a:cubicBezTo>
                  <a:pt x="19248" y="7923"/>
                  <a:pt x="19382" y="7483"/>
                  <a:pt x="19497" y="7341"/>
                </a:cubicBezTo>
                <a:cubicBezTo>
                  <a:pt x="19582" y="7237"/>
                  <a:pt x="19664" y="7202"/>
                  <a:pt x="19880" y="7229"/>
                </a:cubicBezTo>
                <a:cubicBezTo>
                  <a:pt x="20155" y="7264"/>
                  <a:pt x="20227" y="7315"/>
                  <a:pt x="20331" y="7622"/>
                </a:cubicBezTo>
                <a:cubicBezTo>
                  <a:pt x="20462" y="8005"/>
                  <a:pt x="20506" y="9034"/>
                  <a:pt x="20401" y="9247"/>
                </a:cubicBezTo>
                <a:cubicBezTo>
                  <a:pt x="20333" y="9385"/>
                  <a:pt x="19947" y="9714"/>
                  <a:pt x="19532" y="9975"/>
                </a:cubicBezTo>
                <a:cubicBezTo>
                  <a:pt x="18920" y="10360"/>
                  <a:pt x="18619" y="10730"/>
                  <a:pt x="18420" y="11432"/>
                </a:cubicBezTo>
                <a:cubicBezTo>
                  <a:pt x="18261" y="11993"/>
                  <a:pt x="18208" y="12568"/>
                  <a:pt x="18194" y="13506"/>
                </a:cubicBezTo>
                <a:cubicBezTo>
                  <a:pt x="18185" y="14119"/>
                  <a:pt x="18185" y="14324"/>
                  <a:pt x="18229" y="14739"/>
                </a:cubicBezTo>
                <a:cubicBezTo>
                  <a:pt x="18361" y="16003"/>
                  <a:pt x="18637" y="16716"/>
                  <a:pt x="19115" y="17036"/>
                </a:cubicBezTo>
                <a:cubicBezTo>
                  <a:pt x="19142" y="17054"/>
                  <a:pt x="19256" y="17088"/>
                  <a:pt x="19376" y="17092"/>
                </a:cubicBezTo>
                <a:cubicBezTo>
                  <a:pt x="19742" y="17105"/>
                  <a:pt x="20054" y="16758"/>
                  <a:pt x="20349" y="16028"/>
                </a:cubicBezTo>
                <a:cubicBezTo>
                  <a:pt x="20441" y="15800"/>
                  <a:pt x="20531" y="15647"/>
                  <a:pt x="20540" y="15691"/>
                </a:cubicBezTo>
                <a:cubicBezTo>
                  <a:pt x="20548" y="15735"/>
                  <a:pt x="20579" y="16020"/>
                  <a:pt x="20609" y="16308"/>
                </a:cubicBezTo>
                <a:lnTo>
                  <a:pt x="20662" y="16812"/>
                </a:lnTo>
                <a:lnTo>
                  <a:pt x="21131" y="16812"/>
                </a:lnTo>
                <a:lnTo>
                  <a:pt x="21600" y="16868"/>
                </a:lnTo>
                <a:lnTo>
                  <a:pt x="21548" y="16420"/>
                </a:lnTo>
                <a:cubicBezTo>
                  <a:pt x="21413" y="15438"/>
                  <a:pt x="21410" y="15377"/>
                  <a:pt x="21391" y="11376"/>
                </a:cubicBezTo>
                <a:cubicBezTo>
                  <a:pt x="21373" y="7416"/>
                  <a:pt x="21366" y="7095"/>
                  <a:pt x="21252" y="6501"/>
                </a:cubicBezTo>
                <a:cubicBezTo>
                  <a:pt x="21129" y="5858"/>
                  <a:pt x="20836" y="5256"/>
                  <a:pt x="20540" y="5044"/>
                </a:cubicBezTo>
                <a:cubicBezTo>
                  <a:pt x="20369" y="4921"/>
                  <a:pt x="19998" y="4853"/>
                  <a:pt x="19706" y="4876"/>
                </a:cubicBezTo>
                <a:close/>
                <a:moveTo>
                  <a:pt x="1651" y="4932"/>
                </a:moveTo>
                <a:cubicBezTo>
                  <a:pt x="1391" y="4938"/>
                  <a:pt x="1136" y="4985"/>
                  <a:pt x="1008" y="5100"/>
                </a:cubicBezTo>
                <a:cubicBezTo>
                  <a:pt x="616" y="5449"/>
                  <a:pt x="352" y="6075"/>
                  <a:pt x="209" y="7061"/>
                </a:cubicBezTo>
                <a:cubicBezTo>
                  <a:pt x="132" y="7588"/>
                  <a:pt x="139" y="7697"/>
                  <a:pt x="139" y="8462"/>
                </a:cubicBezTo>
                <a:cubicBezTo>
                  <a:pt x="139" y="9220"/>
                  <a:pt x="138" y="9282"/>
                  <a:pt x="209" y="9751"/>
                </a:cubicBezTo>
                <a:cubicBezTo>
                  <a:pt x="306" y="10398"/>
                  <a:pt x="411" y="10808"/>
                  <a:pt x="591" y="11152"/>
                </a:cubicBezTo>
                <a:cubicBezTo>
                  <a:pt x="761" y="11477"/>
                  <a:pt x="1180" y="11928"/>
                  <a:pt x="1633" y="12273"/>
                </a:cubicBezTo>
                <a:cubicBezTo>
                  <a:pt x="2350" y="12819"/>
                  <a:pt x="2433" y="12935"/>
                  <a:pt x="2433" y="13618"/>
                </a:cubicBezTo>
                <a:cubicBezTo>
                  <a:pt x="2433" y="13945"/>
                  <a:pt x="2420" y="14051"/>
                  <a:pt x="2329" y="14346"/>
                </a:cubicBezTo>
                <a:cubicBezTo>
                  <a:pt x="2204" y="14749"/>
                  <a:pt x="2109" y="14856"/>
                  <a:pt x="1807" y="14907"/>
                </a:cubicBezTo>
                <a:cubicBezTo>
                  <a:pt x="1391" y="14977"/>
                  <a:pt x="1160" y="14593"/>
                  <a:pt x="1008" y="13618"/>
                </a:cubicBezTo>
                <a:lnTo>
                  <a:pt x="921" y="13057"/>
                </a:lnTo>
                <a:lnTo>
                  <a:pt x="678" y="13226"/>
                </a:lnTo>
                <a:cubicBezTo>
                  <a:pt x="539" y="13295"/>
                  <a:pt x="325" y="13396"/>
                  <a:pt x="209" y="13450"/>
                </a:cubicBezTo>
                <a:lnTo>
                  <a:pt x="0" y="13506"/>
                </a:lnTo>
                <a:lnTo>
                  <a:pt x="17" y="13786"/>
                </a:lnTo>
                <a:cubicBezTo>
                  <a:pt x="46" y="14207"/>
                  <a:pt x="180" y="14997"/>
                  <a:pt x="295" y="15411"/>
                </a:cubicBezTo>
                <a:cubicBezTo>
                  <a:pt x="505" y="16165"/>
                  <a:pt x="835" y="16748"/>
                  <a:pt x="1216" y="16980"/>
                </a:cubicBezTo>
                <a:cubicBezTo>
                  <a:pt x="1496" y="17150"/>
                  <a:pt x="2144" y="17087"/>
                  <a:pt x="2398" y="16868"/>
                </a:cubicBezTo>
                <a:cubicBezTo>
                  <a:pt x="2676" y="16629"/>
                  <a:pt x="2872" y="16230"/>
                  <a:pt x="3041" y="15691"/>
                </a:cubicBezTo>
                <a:cubicBezTo>
                  <a:pt x="3294" y="14885"/>
                  <a:pt x="3419" y="13946"/>
                  <a:pt x="3389" y="12889"/>
                </a:cubicBezTo>
                <a:cubicBezTo>
                  <a:pt x="3336" y="11075"/>
                  <a:pt x="3024" y="10286"/>
                  <a:pt x="1981" y="9471"/>
                </a:cubicBezTo>
                <a:cubicBezTo>
                  <a:pt x="1157" y="8827"/>
                  <a:pt x="1008" y="8659"/>
                  <a:pt x="1008" y="8070"/>
                </a:cubicBezTo>
                <a:cubicBezTo>
                  <a:pt x="1008" y="7397"/>
                  <a:pt x="1198" y="7117"/>
                  <a:pt x="1651" y="7117"/>
                </a:cubicBezTo>
                <a:cubicBezTo>
                  <a:pt x="1926" y="7117"/>
                  <a:pt x="1982" y="7136"/>
                  <a:pt x="2068" y="7285"/>
                </a:cubicBezTo>
                <a:cubicBezTo>
                  <a:pt x="2186" y="7489"/>
                  <a:pt x="2324" y="7960"/>
                  <a:pt x="2346" y="8238"/>
                </a:cubicBezTo>
                <a:cubicBezTo>
                  <a:pt x="2358" y="8396"/>
                  <a:pt x="2376" y="8438"/>
                  <a:pt x="2415" y="8406"/>
                </a:cubicBezTo>
                <a:cubicBezTo>
                  <a:pt x="2444" y="8384"/>
                  <a:pt x="2623" y="8293"/>
                  <a:pt x="2815" y="8182"/>
                </a:cubicBezTo>
                <a:cubicBezTo>
                  <a:pt x="3239" y="7938"/>
                  <a:pt x="3250" y="7938"/>
                  <a:pt x="3250" y="7790"/>
                </a:cubicBezTo>
                <a:cubicBezTo>
                  <a:pt x="3250" y="7535"/>
                  <a:pt x="3093" y="6591"/>
                  <a:pt x="2972" y="6164"/>
                </a:cubicBezTo>
                <a:cubicBezTo>
                  <a:pt x="2819" y="5629"/>
                  <a:pt x="2602" y="5250"/>
                  <a:pt x="2329" y="5044"/>
                </a:cubicBezTo>
                <a:cubicBezTo>
                  <a:pt x="2186" y="4936"/>
                  <a:pt x="1911" y="4925"/>
                  <a:pt x="1651" y="4932"/>
                </a:cubicBezTo>
                <a:close/>
                <a:moveTo>
                  <a:pt x="7785" y="4932"/>
                </a:moveTo>
                <a:cubicBezTo>
                  <a:pt x="7569" y="4932"/>
                  <a:pt x="7356" y="4946"/>
                  <a:pt x="7246" y="5044"/>
                </a:cubicBezTo>
                <a:cubicBezTo>
                  <a:pt x="6646" y="5576"/>
                  <a:pt x="6278" y="6850"/>
                  <a:pt x="6099" y="8910"/>
                </a:cubicBezTo>
                <a:cubicBezTo>
                  <a:pt x="6049" y="9494"/>
                  <a:pt x="6030" y="9749"/>
                  <a:pt x="6030" y="10984"/>
                </a:cubicBezTo>
                <a:cubicBezTo>
                  <a:pt x="6030" y="12219"/>
                  <a:pt x="6049" y="12474"/>
                  <a:pt x="6099" y="13057"/>
                </a:cubicBezTo>
                <a:cubicBezTo>
                  <a:pt x="6288" y="15227"/>
                  <a:pt x="6689" y="16478"/>
                  <a:pt x="7333" y="16924"/>
                </a:cubicBezTo>
                <a:cubicBezTo>
                  <a:pt x="7572" y="17090"/>
                  <a:pt x="7987" y="17102"/>
                  <a:pt x="8254" y="16924"/>
                </a:cubicBezTo>
                <a:cubicBezTo>
                  <a:pt x="8828" y="16543"/>
                  <a:pt x="9192" y="15462"/>
                  <a:pt x="9384" y="13618"/>
                </a:cubicBezTo>
                <a:cubicBezTo>
                  <a:pt x="9424" y="13235"/>
                  <a:pt x="9456" y="12898"/>
                  <a:pt x="9453" y="12889"/>
                </a:cubicBezTo>
                <a:cubicBezTo>
                  <a:pt x="9447" y="12869"/>
                  <a:pt x="8581" y="12441"/>
                  <a:pt x="8550" y="12441"/>
                </a:cubicBezTo>
                <a:cubicBezTo>
                  <a:pt x="8536" y="12441"/>
                  <a:pt x="8519" y="12596"/>
                  <a:pt x="8498" y="12833"/>
                </a:cubicBezTo>
                <a:cubicBezTo>
                  <a:pt x="8423" y="13655"/>
                  <a:pt x="8265" y="14271"/>
                  <a:pt x="8063" y="14515"/>
                </a:cubicBezTo>
                <a:cubicBezTo>
                  <a:pt x="7974" y="14623"/>
                  <a:pt x="7674" y="14625"/>
                  <a:pt x="7559" y="14515"/>
                </a:cubicBezTo>
                <a:cubicBezTo>
                  <a:pt x="7422" y="14382"/>
                  <a:pt x="7245" y="13909"/>
                  <a:pt x="7159" y="13450"/>
                </a:cubicBezTo>
                <a:cubicBezTo>
                  <a:pt x="7052" y="12870"/>
                  <a:pt x="7003" y="12045"/>
                  <a:pt x="7003" y="10872"/>
                </a:cubicBezTo>
                <a:cubicBezTo>
                  <a:pt x="7003" y="9312"/>
                  <a:pt x="7075" y="8553"/>
                  <a:pt x="7281" y="7902"/>
                </a:cubicBezTo>
                <a:cubicBezTo>
                  <a:pt x="7425" y="7448"/>
                  <a:pt x="7584" y="7277"/>
                  <a:pt x="7820" y="7285"/>
                </a:cubicBezTo>
                <a:cubicBezTo>
                  <a:pt x="8021" y="7293"/>
                  <a:pt x="8168" y="7457"/>
                  <a:pt x="8289" y="7846"/>
                </a:cubicBezTo>
                <a:cubicBezTo>
                  <a:pt x="8372" y="8114"/>
                  <a:pt x="8462" y="8618"/>
                  <a:pt x="8463" y="8854"/>
                </a:cubicBezTo>
                <a:cubicBezTo>
                  <a:pt x="8463" y="8927"/>
                  <a:pt x="8469" y="8999"/>
                  <a:pt x="8480" y="9023"/>
                </a:cubicBezTo>
                <a:cubicBezTo>
                  <a:pt x="8503" y="9068"/>
                  <a:pt x="9315" y="8669"/>
                  <a:pt x="9384" y="8574"/>
                </a:cubicBezTo>
                <a:cubicBezTo>
                  <a:pt x="9422" y="8522"/>
                  <a:pt x="9407" y="8460"/>
                  <a:pt x="9332" y="7902"/>
                </a:cubicBezTo>
                <a:cubicBezTo>
                  <a:pt x="9118" y="6321"/>
                  <a:pt x="8816" y="5427"/>
                  <a:pt x="8341" y="5044"/>
                </a:cubicBezTo>
                <a:cubicBezTo>
                  <a:pt x="8221" y="4947"/>
                  <a:pt x="8002" y="4931"/>
                  <a:pt x="7785" y="4932"/>
                </a:cubicBezTo>
                <a:close/>
                <a:moveTo>
                  <a:pt x="14545" y="5100"/>
                </a:moveTo>
                <a:cubicBezTo>
                  <a:pt x="14073" y="5100"/>
                  <a:pt x="14043" y="5141"/>
                  <a:pt x="14058" y="5268"/>
                </a:cubicBezTo>
                <a:cubicBezTo>
                  <a:pt x="14067" y="5343"/>
                  <a:pt x="14161" y="6108"/>
                  <a:pt x="14267" y="7005"/>
                </a:cubicBezTo>
                <a:cubicBezTo>
                  <a:pt x="14372" y="7902"/>
                  <a:pt x="14479" y="8878"/>
                  <a:pt x="14510" y="9135"/>
                </a:cubicBezTo>
                <a:cubicBezTo>
                  <a:pt x="14588" y="9774"/>
                  <a:pt x="15141" y="14462"/>
                  <a:pt x="15344" y="16196"/>
                </a:cubicBezTo>
                <a:lnTo>
                  <a:pt x="15431" y="16924"/>
                </a:lnTo>
                <a:lnTo>
                  <a:pt x="15379" y="17373"/>
                </a:lnTo>
                <a:cubicBezTo>
                  <a:pt x="15350" y="17627"/>
                  <a:pt x="15304" y="17945"/>
                  <a:pt x="15275" y="18101"/>
                </a:cubicBezTo>
                <a:cubicBezTo>
                  <a:pt x="15192" y="18534"/>
                  <a:pt x="15013" y="19012"/>
                  <a:pt x="14892" y="19110"/>
                </a:cubicBezTo>
                <a:cubicBezTo>
                  <a:pt x="14769" y="19210"/>
                  <a:pt x="14536" y="19202"/>
                  <a:pt x="14388" y="19110"/>
                </a:cubicBezTo>
                <a:cubicBezTo>
                  <a:pt x="14289" y="19048"/>
                  <a:pt x="14284" y="19025"/>
                  <a:pt x="14284" y="19222"/>
                </a:cubicBezTo>
                <a:cubicBezTo>
                  <a:pt x="14284" y="19334"/>
                  <a:pt x="14299" y="19888"/>
                  <a:pt x="14319" y="20399"/>
                </a:cubicBezTo>
                <a:cubicBezTo>
                  <a:pt x="14339" y="20910"/>
                  <a:pt x="14354" y="21321"/>
                  <a:pt x="14354" y="21351"/>
                </a:cubicBezTo>
                <a:cubicBezTo>
                  <a:pt x="14354" y="21382"/>
                  <a:pt x="14406" y="21423"/>
                  <a:pt x="14475" y="21464"/>
                </a:cubicBezTo>
                <a:cubicBezTo>
                  <a:pt x="14707" y="21600"/>
                  <a:pt x="15144" y="21573"/>
                  <a:pt x="15344" y="21407"/>
                </a:cubicBezTo>
                <a:cubicBezTo>
                  <a:pt x="15673" y="21136"/>
                  <a:pt x="15866" y="20806"/>
                  <a:pt x="16022" y="20063"/>
                </a:cubicBezTo>
                <a:cubicBezTo>
                  <a:pt x="16144" y="19480"/>
                  <a:pt x="16210" y="18920"/>
                  <a:pt x="16508" y="16308"/>
                </a:cubicBezTo>
                <a:cubicBezTo>
                  <a:pt x="16647" y="15090"/>
                  <a:pt x="16852" y="13325"/>
                  <a:pt x="16960" y="12385"/>
                </a:cubicBezTo>
                <a:cubicBezTo>
                  <a:pt x="17069" y="11445"/>
                  <a:pt x="17214" y="10098"/>
                  <a:pt x="17290" y="9415"/>
                </a:cubicBezTo>
                <a:cubicBezTo>
                  <a:pt x="17367" y="8731"/>
                  <a:pt x="17509" y="7532"/>
                  <a:pt x="17603" y="6725"/>
                </a:cubicBezTo>
                <a:cubicBezTo>
                  <a:pt x="17697" y="5918"/>
                  <a:pt x="17777" y="5192"/>
                  <a:pt x="17777" y="5156"/>
                </a:cubicBezTo>
                <a:cubicBezTo>
                  <a:pt x="17777" y="5119"/>
                  <a:pt x="17559" y="5099"/>
                  <a:pt x="17290" y="5100"/>
                </a:cubicBezTo>
                <a:lnTo>
                  <a:pt x="16804" y="5100"/>
                </a:lnTo>
                <a:lnTo>
                  <a:pt x="16387" y="9191"/>
                </a:lnTo>
                <a:cubicBezTo>
                  <a:pt x="16155" y="11443"/>
                  <a:pt x="15947" y="13282"/>
                  <a:pt x="15935" y="13282"/>
                </a:cubicBezTo>
                <a:cubicBezTo>
                  <a:pt x="15913" y="13282"/>
                  <a:pt x="15853" y="12784"/>
                  <a:pt x="15327" y="7790"/>
                </a:cubicBezTo>
                <a:lnTo>
                  <a:pt x="15049" y="5100"/>
                </a:lnTo>
                <a:lnTo>
                  <a:pt x="14545" y="5100"/>
                </a:lnTo>
                <a:close/>
                <a:moveTo>
                  <a:pt x="4310" y="5212"/>
                </a:moveTo>
                <a:cubicBezTo>
                  <a:pt x="4270" y="5162"/>
                  <a:pt x="4257" y="5460"/>
                  <a:pt x="4257" y="10984"/>
                </a:cubicBezTo>
                <a:lnTo>
                  <a:pt x="4257" y="16868"/>
                </a:lnTo>
                <a:lnTo>
                  <a:pt x="4744" y="16868"/>
                </a:lnTo>
                <a:lnTo>
                  <a:pt x="5231" y="16868"/>
                </a:lnTo>
                <a:lnTo>
                  <a:pt x="5231" y="10984"/>
                </a:lnTo>
                <a:cubicBezTo>
                  <a:pt x="5231" y="5464"/>
                  <a:pt x="5218" y="5171"/>
                  <a:pt x="5178" y="5212"/>
                </a:cubicBezTo>
                <a:cubicBezTo>
                  <a:pt x="4816" y="5578"/>
                  <a:pt x="4596" y="5570"/>
                  <a:pt x="4310" y="5212"/>
                </a:cubicBezTo>
                <a:close/>
                <a:moveTo>
                  <a:pt x="11782" y="7397"/>
                </a:moveTo>
                <a:cubicBezTo>
                  <a:pt x="11898" y="7378"/>
                  <a:pt x="12028" y="7387"/>
                  <a:pt x="12129" y="7509"/>
                </a:cubicBezTo>
                <a:cubicBezTo>
                  <a:pt x="12390" y="7825"/>
                  <a:pt x="12590" y="8602"/>
                  <a:pt x="12685" y="9639"/>
                </a:cubicBezTo>
                <a:cubicBezTo>
                  <a:pt x="12741" y="10249"/>
                  <a:pt x="12741" y="11587"/>
                  <a:pt x="12685" y="12273"/>
                </a:cubicBezTo>
                <a:cubicBezTo>
                  <a:pt x="12602" y="13303"/>
                  <a:pt x="12391" y="14087"/>
                  <a:pt x="12129" y="14402"/>
                </a:cubicBezTo>
                <a:cubicBezTo>
                  <a:pt x="11950" y="14619"/>
                  <a:pt x="11701" y="14628"/>
                  <a:pt x="11521" y="14402"/>
                </a:cubicBezTo>
                <a:cubicBezTo>
                  <a:pt x="11261" y="14075"/>
                  <a:pt x="11024" y="13108"/>
                  <a:pt x="10965" y="12105"/>
                </a:cubicBezTo>
                <a:cubicBezTo>
                  <a:pt x="10934" y="11574"/>
                  <a:pt x="10934" y="10393"/>
                  <a:pt x="10965" y="9863"/>
                </a:cubicBezTo>
                <a:cubicBezTo>
                  <a:pt x="11022" y="8902"/>
                  <a:pt x="11199" y="8035"/>
                  <a:pt x="11452" y="7622"/>
                </a:cubicBezTo>
                <a:cubicBezTo>
                  <a:pt x="11547" y="7466"/>
                  <a:pt x="11665" y="7417"/>
                  <a:pt x="11782" y="7397"/>
                </a:cubicBezTo>
                <a:close/>
                <a:moveTo>
                  <a:pt x="20401" y="11320"/>
                </a:moveTo>
                <a:cubicBezTo>
                  <a:pt x="20413" y="11323"/>
                  <a:pt x="20432" y="11308"/>
                  <a:pt x="20436" y="11320"/>
                </a:cubicBezTo>
                <a:cubicBezTo>
                  <a:pt x="20449" y="11364"/>
                  <a:pt x="20441" y="11776"/>
                  <a:pt x="20436" y="12329"/>
                </a:cubicBezTo>
                <a:cubicBezTo>
                  <a:pt x="20428" y="13205"/>
                  <a:pt x="20426" y="13346"/>
                  <a:pt x="20366" y="13674"/>
                </a:cubicBezTo>
                <a:cubicBezTo>
                  <a:pt x="20284" y="14126"/>
                  <a:pt x="20157" y="14513"/>
                  <a:pt x="20001" y="14739"/>
                </a:cubicBezTo>
                <a:cubicBezTo>
                  <a:pt x="19840" y="14971"/>
                  <a:pt x="19621" y="14997"/>
                  <a:pt x="19497" y="14851"/>
                </a:cubicBezTo>
                <a:cubicBezTo>
                  <a:pt x="19370" y="14700"/>
                  <a:pt x="19286" y="14504"/>
                  <a:pt x="19202" y="14122"/>
                </a:cubicBezTo>
                <a:cubicBezTo>
                  <a:pt x="19144" y="13860"/>
                  <a:pt x="19134" y="13718"/>
                  <a:pt x="19132" y="13338"/>
                </a:cubicBezTo>
                <a:cubicBezTo>
                  <a:pt x="19131" y="12931"/>
                  <a:pt x="19137" y="12870"/>
                  <a:pt x="19202" y="12609"/>
                </a:cubicBezTo>
                <a:cubicBezTo>
                  <a:pt x="19307" y="12187"/>
                  <a:pt x="19438" y="11999"/>
                  <a:pt x="19741" y="11769"/>
                </a:cubicBezTo>
                <a:cubicBezTo>
                  <a:pt x="19886" y="11657"/>
                  <a:pt x="20099" y="11461"/>
                  <a:pt x="20210" y="11376"/>
                </a:cubicBezTo>
                <a:cubicBezTo>
                  <a:pt x="20307" y="11302"/>
                  <a:pt x="20366" y="11312"/>
                  <a:pt x="20401" y="1132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F0FD71B9-D017-91DF-A2AD-F0C723F3B2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12212" y="4754989"/>
            <a:ext cx="609611" cy="180626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图像" descr="图像">
            <a:extLst>
              <a:ext uri="{FF2B5EF4-FFF2-40B4-BE49-F238E27FC236}">
                <a16:creationId xmlns:a16="http://schemas.microsoft.com/office/drawing/2014/main" id="{650513F6-ED76-707A-3E6B-74D2B587B4A8}"/>
              </a:ext>
            </a:extLst>
          </p:cNvPr>
          <p:cNvPicPr>
            <a:picLocks noChangeAspect="1"/>
          </p:cNvPicPr>
          <p:nvPr/>
        </p:nvPicPr>
        <p:blipFill>
          <a:blip r:embed="rId42"/>
          <a:srcRect l="10845" t="20224" r="9454" b="19637"/>
          <a:stretch>
            <a:fillRect/>
          </a:stretch>
        </p:blipFill>
        <p:spPr>
          <a:xfrm>
            <a:off x="8833387" y="6232862"/>
            <a:ext cx="877758" cy="224860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图像" descr="图像">
            <a:extLst>
              <a:ext uri="{FF2B5EF4-FFF2-40B4-BE49-F238E27FC236}">
                <a16:creationId xmlns:a16="http://schemas.microsoft.com/office/drawing/2014/main" id="{AB8B13A4-0E06-4AD9-16C0-20814152DC31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041038" y="1634866"/>
            <a:ext cx="353168" cy="278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80" name="图像" descr="图像">
            <a:extLst>
              <a:ext uri="{FF2B5EF4-FFF2-40B4-BE49-F238E27FC236}">
                <a16:creationId xmlns:a16="http://schemas.microsoft.com/office/drawing/2014/main" id="{613130EA-4EF5-7BA1-965B-192F7463CAC3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400274" y="1664071"/>
            <a:ext cx="419101" cy="330042"/>
          </a:xfrm>
          <a:prstGeom prst="rect">
            <a:avLst/>
          </a:prstGeom>
          <a:ln w="12700">
            <a:miter lim="400000"/>
          </a:ln>
        </p:spPr>
      </p:pic>
      <p:pic>
        <p:nvPicPr>
          <p:cNvPr id="81" name="图像" descr="图像">
            <a:extLst>
              <a:ext uri="{FF2B5EF4-FFF2-40B4-BE49-F238E27FC236}">
                <a16:creationId xmlns:a16="http://schemas.microsoft.com/office/drawing/2014/main" id="{57459ECC-52C3-C9C9-28EA-49188BC62ED2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248443" y="4333674"/>
            <a:ext cx="353168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82" name="图像" descr="图像">
            <a:extLst>
              <a:ext uri="{FF2B5EF4-FFF2-40B4-BE49-F238E27FC236}">
                <a16:creationId xmlns:a16="http://schemas.microsoft.com/office/drawing/2014/main" id="{00F19A80-AF57-C17D-74C0-2D8F451374C7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111982" y="3276129"/>
            <a:ext cx="434654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3" name="图像" descr="图像">
            <a:extLst>
              <a:ext uri="{FF2B5EF4-FFF2-40B4-BE49-F238E27FC236}">
                <a16:creationId xmlns:a16="http://schemas.microsoft.com/office/drawing/2014/main" id="{307D2B9A-23AA-50BE-0450-190E74FFB8A5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660754" y="5941135"/>
            <a:ext cx="4064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4" name="图像" descr="图像">
            <a:extLst>
              <a:ext uri="{FF2B5EF4-FFF2-40B4-BE49-F238E27FC236}">
                <a16:creationId xmlns:a16="http://schemas.microsoft.com/office/drawing/2014/main" id="{602A6950-B4AA-B227-6551-AC39E50EC4CC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631768" y="5128538"/>
            <a:ext cx="60325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5" name="图像" descr="图像">
            <a:extLst>
              <a:ext uri="{FF2B5EF4-FFF2-40B4-BE49-F238E27FC236}">
                <a16:creationId xmlns:a16="http://schemas.microsoft.com/office/drawing/2014/main" id="{A338611A-FA0C-5ABC-3704-9150E8698432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2206329" y="4968025"/>
            <a:ext cx="77470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6" name="图像" descr="图像">
            <a:extLst>
              <a:ext uri="{FF2B5EF4-FFF2-40B4-BE49-F238E27FC236}">
                <a16:creationId xmlns:a16="http://schemas.microsoft.com/office/drawing/2014/main" id="{83281EAF-8233-0811-69BD-6D0F23BE915C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529277" y="3122272"/>
            <a:ext cx="677053" cy="128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87" name="图像" descr="图像">
            <a:extLst>
              <a:ext uri="{FF2B5EF4-FFF2-40B4-BE49-F238E27FC236}">
                <a16:creationId xmlns:a16="http://schemas.microsoft.com/office/drawing/2014/main" id="{C96D0178-3D6A-E196-AEFD-3B944FA0A3ED}"/>
              </a:ext>
            </a:extLst>
          </p:cNvPr>
          <p:cNvPicPr>
            <a:picLocks noChangeAspect="1"/>
          </p:cNvPicPr>
          <p:nvPr/>
        </p:nvPicPr>
        <p:blipFill>
          <a:blip r:embed="rId49"/>
          <a:srcRect l="6527" t="39090" r="6527" b="39090"/>
          <a:stretch>
            <a:fillRect/>
          </a:stretch>
        </p:blipFill>
        <p:spPr>
          <a:xfrm>
            <a:off x="1504371" y="3385639"/>
            <a:ext cx="759251" cy="190531"/>
          </a:xfrm>
          <a:prstGeom prst="rect">
            <a:avLst/>
          </a:prstGeom>
          <a:ln w="12700">
            <a:miter lim="400000"/>
          </a:ln>
        </p:spPr>
      </p:pic>
      <p:pic>
        <p:nvPicPr>
          <p:cNvPr id="88" name="图像" descr="图像">
            <a:extLst>
              <a:ext uri="{FF2B5EF4-FFF2-40B4-BE49-F238E27FC236}">
                <a16:creationId xmlns:a16="http://schemas.microsoft.com/office/drawing/2014/main" id="{021675B9-6F55-149F-6E54-EBDD917E7253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2316657" y="2968367"/>
            <a:ext cx="673108" cy="208781"/>
          </a:xfrm>
          <a:prstGeom prst="rect">
            <a:avLst/>
          </a:prstGeom>
          <a:ln w="12700">
            <a:miter lim="400000"/>
          </a:ln>
        </p:spPr>
      </p:pic>
      <p:pic>
        <p:nvPicPr>
          <p:cNvPr id="89" name="图像" descr="图像">
            <a:extLst>
              <a:ext uri="{FF2B5EF4-FFF2-40B4-BE49-F238E27FC236}">
                <a16:creationId xmlns:a16="http://schemas.microsoft.com/office/drawing/2014/main" id="{65772F15-3F83-D21A-7F08-57A59A5BDD67}"/>
              </a:ext>
            </a:extLst>
          </p:cNvPr>
          <p:cNvPicPr>
            <a:picLocks noChangeAspect="1"/>
          </p:cNvPicPr>
          <p:nvPr/>
        </p:nvPicPr>
        <p:blipFill>
          <a:blip r:embed="rId51"/>
          <a:srcRect l="22811" t="36117" r="22811" b="36117"/>
          <a:stretch>
            <a:fillRect/>
          </a:stretch>
        </p:blipFill>
        <p:spPr>
          <a:xfrm>
            <a:off x="2286146" y="3188332"/>
            <a:ext cx="651122" cy="222755"/>
          </a:xfrm>
          <a:prstGeom prst="rect">
            <a:avLst/>
          </a:prstGeom>
          <a:ln w="12700">
            <a:miter lim="400000"/>
          </a:ln>
        </p:spPr>
      </p:pic>
      <p:pic>
        <p:nvPicPr>
          <p:cNvPr id="90" name="线条 线条" descr="线条 线条">
            <a:extLst>
              <a:ext uri="{FF2B5EF4-FFF2-40B4-BE49-F238E27FC236}">
                <a16:creationId xmlns:a16="http://schemas.microsoft.com/office/drawing/2014/main" id="{38600CAB-5DDC-E40E-302F-61065B9F986D}"/>
              </a:ext>
            </a:extLst>
          </p:cNvPr>
          <p:cNvPicPr>
            <a:picLocks/>
          </p:cNvPicPr>
          <p:nvPr/>
        </p:nvPicPr>
        <p:blipFill>
          <a:blip r:embed="rId52"/>
          <a:stretch>
            <a:fillRect/>
          </a:stretch>
        </p:blipFill>
        <p:spPr>
          <a:xfrm>
            <a:off x="6391283" y="6010872"/>
            <a:ext cx="460263" cy="216127"/>
          </a:xfrm>
          <a:prstGeom prst="rect">
            <a:avLst/>
          </a:prstGeom>
        </p:spPr>
      </p:pic>
      <p:pic>
        <p:nvPicPr>
          <p:cNvPr id="91" name="线条 线条" descr="线条 线条">
            <a:extLst>
              <a:ext uri="{FF2B5EF4-FFF2-40B4-BE49-F238E27FC236}">
                <a16:creationId xmlns:a16="http://schemas.microsoft.com/office/drawing/2014/main" id="{ACE46E4B-FD78-5D1A-FB7B-A8947985B084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3020903" y="1983451"/>
            <a:ext cx="308861" cy="216127"/>
          </a:xfrm>
          <a:prstGeom prst="rect">
            <a:avLst/>
          </a:prstGeom>
        </p:spPr>
      </p:pic>
      <p:pic>
        <p:nvPicPr>
          <p:cNvPr id="92" name="线条 线条" descr="线条 线条">
            <a:extLst>
              <a:ext uri="{FF2B5EF4-FFF2-40B4-BE49-F238E27FC236}">
                <a16:creationId xmlns:a16="http://schemas.microsoft.com/office/drawing/2014/main" id="{46374897-9985-F9C2-B0A6-ABD2BE1397DC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4815069" y="1963839"/>
            <a:ext cx="308861" cy="216127"/>
          </a:xfrm>
          <a:prstGeom prst="rect">
            <a:avLst/>
          </a:prstGeom>
        </p:spPr>
      </p:pic>
      <p:pic>
        <p:nvPicPr>
          <p:cNvPr id="93" name="线条 线条" descr="线条 线条">
            <a:extLst>
              <a:ext uri="{FF2B5EF4-FFF2-40B4-BE49-F238E27FC236}">
                <a16:creationId xmlns:a16="http://schemas.microsoft.com/office/drawing/2014/main" id="{4016990F-4344-CDB3-C2FB-DD8308A40819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2999103" y="3331932"/>
            <a:ext cx="308861" cy="216126"/>
          </a:xfrm>
          <a:prstGeom prst="rect">
            <a:avLst/>
          </a:prstGeom>
        </p:spPr>
      </p:pic>
      <p:pic>
        <p:nvPicPr>
          <p:cNvPr id="94" name="线条 线条" descr="线条 线条">
            <a:extLst>
              <a:ext uri="{FF2B5EF4-FFF2-40B4-BE49-F238E27FC236}">
                <a16:creationId xmlns:a16="http://schemas.microsoft.com/office/drawing/2014/main" id="{5759A6A6-8438-94C6-D1BA-8609EA104F06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3020903" y="4674689"/>
            <a:ext cx="308861" cy="216126"/>
          </a:xfrm>
          <a:prstGeom prst="rect">
            <a:avLst/>
          </a:prstGeom>
        </p:spPr>
      </p:pic>
      <p:pic>
        <p:nvPicPr>
          <p:cNvPr id="95" name="线条 形状" descr="线条 形状">
            <a:extLst>
              <a:ext uri="{FF2B5EF4-FFF2-40B4-BE49-F238E27FC236}">
                <a16:creationId xmlns:a16="http://schemas.microsoft.com/office/drawing/2014/main" id="{22790694-FC8A-FC8C-811B-4C5565FC9336}"/>
              </a:ext>
            </a:extLst>
          </p:cNvPr>
          <p:cNvPicPr>
            <a:picLocks/>
          </p:cNvPicPr>
          <p:nvPr/>
        </p:nvPicPr>
        <p:blipFill>
          <a:blip r:embed="rId55"/>
          <a:stretch>
            <a:fillRect/>
          </a:stretch>
        </p:blipFill>
        <p:spPr>
          <a:xfrm>
            <a:off x="4865043" y="2698499"/>
            <a:ext cx="1044563" cy="2018517"/>
          </a:xfrm>
          <a:prstGeom prst="rect">
            <a:avLst/>
          </a:prstGeom>
        </p:spPr>
      </p:pic>
      <p:pic>
        <p:nvPicPr>
          <p:cNvPr id="96" name="线条 形状" descr="线条 形状">
            <a:extLst>
              <a:ext uri="{FF2B5EF4-FFF2-40B4-BE49-F238E27FC236}">
                <a16:creationId xmlns:a16="http://schemas.microsoft.com/office/drawing/2014/main" id="{6D5937AE-CAA6-E2DD-2D94-E988E052784E}"/>
              </a:ext>
            </a:extLst>
          </p:cNvPr>
          <p:cNvPicPr>
            <a:picLocks/>
          </p:cNvPicPr>
          <p:nvPr/>
        </p:nvPicPr>
        <p:blipFill>
          <a:blip r:embed="rId56"/>
          <a:stretch>
            <a:fillRect/>
          </a:stretch>
        </p:blipFill>
        <p:spPr>
          <a:xfrm>
            <a:off x="4858855" y="2695084"/>
            <a:ext cx="1046104" cy="789064"/>
          </a:xfrm>
          <a:prstGeom prst="rect">
            <a:avLst/>
          </a:prstGeom>
        </p:spPr>
      </p:pic>
      <p:pic>
        <p:nvPicPr>
          <p:cNvPr id="97" name="线条 形状" descr="线条 形状">
            <a:extLst>
              <a:ext uri="{FF2B5EF4-FFF2-40B4-BE49-F238E27FC236}">
                <a16:creationId xmlns:a16="http://schemas.microsoft.com/office/drawing/2014/main" id="{F6899338-49B6-DD98-8D59-958FB63B51AD}"/>
              </a:ext>
            </a:extLst>
          </p:cNvPr>
          <p:cNvPicPr>
            <a:picLocks/>
          </p:cNvPicPr>
          <p:nvPr/>
        </p:nvPicPr>
        <p:blipFill>
          <a:blip r:embed="rId57"/>
          <a:stretch>
            <a:fillRect/>
          </a:stretch>
        </p:blipFill>
        <p:spPr>
          <a:xfrm rot="358425">
            <a:off x="7575405" y="6331394"/>
            <a:ext cx="3679479" cy="669601"/>
          </a:xfrm>
          <a:prstGeom prst="rect">
            <a:avLst/>
          </a:prstGeom>
        </p:spPr>
      </p:pic>
      <p:pic>
        <p:nvPicPr>
          <p:cNvPr id="98" name="线条 线条" descr="线条 线条">
            <a:extLst>
              <a:ext uri="{FF2B5EF4-FFF2-40B4-BE49-F238E27FC236}">
                <a16:creationId xmlns:a16="http://schemas.microsoft.com/office/drawing/2014/main" id="{AF829367-591E-3ABF-1BE6-28DDE715A902}"/>
              </a:ext>
            </a:extLst>
          </p:cNvPr>
          <p:cNvPicPr>
            <a:picLocks/>
          </p:cNvPicPr>
          <p:nvPr/>
        </p:nvPicPr>
        <p:blipFill>
          <a:blip r:embed="rId58"/>
          <a:stretch>
            <a:fillRect/>
          </a:stretch>
        </p:blipFill>
        <p:spPr>
          <a:xfrm>
            <a:off x="6648920" y="1927557"/>
            <a:ext cx="1887678" cy="308752"/>
          </a:xfrm>
          <a:prstGeom prst="rect">
            <a:avLst/>
          </a:prstGeom>
        </p:spPr>
      </p:pic>
      <p:pic>
        <p:nvPicPr>
          <p:cNvPr id="99" name="线条 线条" descr="线条 线条">
            <a:extLst>
              <a:ext uri="{FF2B5EF4-FFF2-40B4-BE49-F238E27FC236}">
                <a16:creationId xmlns:a16="http://schemas.microsoft.com/office/drawing/2014/main" id="{352D06B2-4427-CAEE-529E-43F3587A32B1}"/>
              </a:ext>
            </a:extLst>
          </p:cNvPr>
          <p:cNvPicPr>
            <a:picLocks/>
          </p:cNvPicPr>
          <p:nvPr/>
        </p:nvPicPr>
        <p:blipFill>
          <a:blip r:embed="rId59"/>
          <a:stretch>
            <a:fillRect/>
          </a:stretch>
        </p:blipFill>
        <p:spPr>
          <a:xfrm>
            <a:off x="10089589" y="3939236"/>
            <a:ext cx="444501" cy="308752"/>
          </a:xfrm>
          <a:prstGeom prst="rect">
            <a:avLst/>
          </a:prstGeom>
        </p:spPr>
      </p:pic>
      <p:pic>
        <p:nvPicPr>
          <p:cNvPr id="100" name="图像" descr="图像">
            <a:extLst>
              <a:ext uri="{FF2B5EF4-FFF2-40B4-BE49-F238E27FC236}">
                <a16:creationId xmlns:a16="http://schemas.microsoft.com/office/drawing/2014/main" id="{003E041E-5810-6FDC-9EC0-E344609F4A1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58787" y="3590741"/>
            <a:ext cx="609612" cy="18062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图像" descr="图像">
            <a:extLst>
              <a:ext uri="{FF2B5EF4-FFF2-40B4-BE49-F238E27FC236}">
                <a16:creationId xmlns:a16="http://schemas.microsoft.com/office/drawing/2014/main" id="{F6909B18-AA8B-FB31-AEBF-09F9A562783D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6976540" y="6394017"/>
            <a:ext cx="711201" cy="18301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" name="图像" descr="图像">
            <a:extLst>
              <a:ext uri="{FF2B5EF4-FFF2-40B4-BE49-F238E27FC236}">
                <a16:creationId xmlns:a16="http://schemas.microsoft.com/office/drawing/2014/main" id="{5224AC44-DCC9-278C-A61D-F2A9F31453B6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2548684" y="1783150"/>
            <a:ext cx="448663" cy="51247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" name="图像" descr="图像">
            <a:extLst>
              <a:ext uri="{FF2B5EF4-FFF2-40B4-BE49-F238E27FC236}">
                <a16:creationId xmlns:a16="http://schemas.microsoft.com/office/drawing/2014/main" id="{1B5FF2FC-0E41-65CC-416B-A8A48EED1B29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3524881" y="3587696"/>
            <a:ext cx="377464" cy="35898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" name="图像" descr="图像">
            <a:extLst>
              <a:ext uri="{FF2B5EF4-FFF2-40B4-BE49-F238E27FC236}">
                <a16:creationId xmlns:a16="http://schemas.microsoft.com/office/drawing/2014/main" id="{1F23C48F-9CA4-E5D6-7C6D-03EC04A6B817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4074179" y="4624152"/>
            <a:ext cx="377463" cy="358985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" name="图像" descr="图像">
            <a:extLst>
              <a:ext uri="{FF2B5EF4-FFF2-40B4-BE49-F238E27FC236}">
                <a16:creationId xmlns:a16="http://schemas.microsoft.com/office/drawing/2014/main" id="{B68A75FF-AE0D-15D2-905E-A4CA9D21AB6D}"/>
              </a:ext>
            </a:extLst>
          </p:cNvPr>
          <p:cNvPicPr>
            <a:picLocks noChangeAspect="1"/>
          </p:cNvPicPr>
          <p:nvPr/>
        </p:nvPicPr>
        <p:blipFill>
          <a:blip r:embed="rId63"/>
          <a:srcRect t="30546" b="40315"/>
          <a:stretch>
            <a:fillRect/>
          </a:stretch>
        </p:blipFill>
        <p:spPr>
          <a:xfrm>
            <a:off x="4105493" y="3706223"/>
            <a:ext cx="555557" cy="1596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" name="图像" descr="图像">
            <a:extLst>
              <a:ext uri="{FF2B5EF4-FFF2-40B4-BE49-F238E27FC236}">
                <a16:creationId xmlns:a16="http://schemas.microsoft.com/office/drawing/2014/main" id="{4D7FA93A-D498-0DD8-6D18-E0C7E500DB21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41978" t="5748" r="32632" b="49892"/>
          <a:stretch>
            <a:fillRect/>
          </a:stretch>
        </p:blipFill>
        <p:spPr>
          <a:xfrm>
            <a:off x="4443985" y="2822705"/>
            <a:ext cx="377614" cy="38563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" name="图像" descr="图像">
            <a:extLst>
              <a:ext uri="{FF2B5EF4-FFF2-40B4-BE49-F238E27FC236}">
                <a16:creationId xmlns:a16="http://schemas.microsoft.com/office/drawing/2014/main" id="{0D6BF4C3-D708-C1EA-DB86-7BB35017155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62397" y="6288226"/>
            <a:ext cx="723901" cy="114301"/>
          </a:xfrm>
          <a:prstGeom prst="rect">
            <a:avLst/>
          </a:prstGeom>
          <a:ln w="12700">
            <a:miter lim="400000"/>
          </a:ln>
        </p:spPr>
      </p:pic>
      <p:sp>
        <p:nvSpPr>
          <p:cNvPr id="108" name="矩形 107">
            <a:extLst>
              <a:ext uri="{FF2B5EF4-FFF2-40B4-BE49-F238E27FC236}">
                <a16:creationId xmlns:a16="http://schemas.microsoft.com/office/drawing/2014/main" id="{144F7BF4-72B1-7488-8630-4693F68E0990}"/>
              </a:ext>
            </a:extLst>
          </p:cNvPr>
          <p:cNvSpPr/>
          <p:nvPr/>
        </p:nvSpPr>
        <p:spPr>
          <a:xfrm>
            <a:off x="-2397904" y="1010331"/>
            <a:ext cx="2081026" cy="7196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为什么选特定链条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过渡到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为什么看那四家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9C47217-AE45-D9DC-B66D-5FF91E2E5A6C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542498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图片 326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227" cy="15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76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#m/%#d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3&quot;&gt;&lt;elem m_fUsage=&quot;5.90203417167100052865E+00&quot;&gt;&lt;m_msothmcolidx val=&quot;0&quot;/&gt;&lt;m_rgb r=&quot;00&quot; g=&quot;52&quot; b=&quot;D9&quot;/&gt;&lt;/elem&gt;&lt;elem m_fUsage=&quot;9.00000000000000022204E-01&quot;&gt;&lt;m_msothmcolidx val=&quot;0&quot;/&gt;&lt;m_rgb r=&quot;C1&quot; g=&quot;E1&quot; b=&quot;FE&quot;/&gt;&lt;/elem&gt;&lt;elem m_fUsage=&quot;6.56100000000000127542E-01&quot;&gt;&lt;m_msothmcolidx val=&quot;0&quot;/&gt;&lt;m_rgb r=&quot;F3&quot; g=&quot;9B&quot; b=&quot;00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JeucMBsUjwUsZnWwv3v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Myeq5NkA4exYvPiptqTw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AfzcKw3iHuXeXx11ylZaQ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jIfMePetepor.EpMvLIlA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bIzA774DUydItlCnvpx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sY.y7jpg.WzYRzLKQCV6Q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Ck_PjbItYHeX_A2bLX9Tw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nbNGgSTxv0oId7mjIhqAQ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Xq7aEz7UCVsxWGuJokqeg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F91vvfWEuXHI8p2ss1XXg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8zMdU9kvYUCATFna9sn2w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pqm0vI1V49ST3h9Q7pCwA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pvHWTMhowxUONXR_hekNw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ohRW1xOBkvVqwAAFnWNkQ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boPQvrzd9YC8KfbLMrdHA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znxdmp91xG5TXX7.jsvtQ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Z5ILBKezJ1c7qvroj_YlQ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FoLUs26IP2FZ9q1xYdvR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IoIlM.sW33F1_2stjYc8A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QJzYEC.Sl_fndokAHD3Z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gMHR9LOnyO0qZ8BEE1f0A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2ydvwTDNnGhVswObjsFq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zbP0TCfz8QT7cQyOnma6g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MqL52dYY8TxLU9YY67OiA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tdoysm5N.Ur8DTLHFXbhQ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sAyVTLvxVwnGtdPylDrHg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nF32_dXScAbrpEPSe0HjA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2CERrkVG7Wl8ybPDAFwng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98241CGGGD9.0f6KL.QTg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hFPjfi5NcaF8vWC7hsE0w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sfHUlm.9WQpq9ykvzoU.w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6gWc73Dbls8NwEOMv9Mo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6zKy9Ca9e9p40r5qy0hEA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1sXZ7CwQoMy2ztWQLodw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60GeuDc1gEqYzYhfCBh2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s2WKoKyPKMPXtVm.nY1S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Vrz3l7cKKg0tn90KREFvQ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UR4u7OtvHDoAHTWd6mrTA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V79biq0PN128j_OTunEAQ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5ty79CieRekgxjVnIRLAA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F9DOt8naUP48FH0QikmeA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ba0BPHJx82cX3rpLknbkw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gxm8ZyDIweUFRe83hrKuA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mbuQZ54bw6ea1sSoJPRuA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et4kR9_0FPjsO7h97E0ug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M2Rx6nbaMzuYgnuB6SfJA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fo7JrO.uxEJX5VxABEyQ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ZBwdgkHM2DOVeyParyjLQ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AwcI1L8XN5YV6itP2JmaQ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UL0GzAgPuDQRLftYLeFZA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White">
  <a:themeElements>
    <a:clrScheme name="Scheme1">
      <a:dk1>
        <a:srgbClr val="53585F"/>
      </a:dk1>
      <a:lt1>
        <a:srgbClr val="FFFFFF"/>
      </a:lt1>
      <a:dk2>
        <a:srgbClr val="FFFFFF"/>
      </a:dk2>
      <a:lt2>
        <a:srgbClr val="FFFFFF"/>
      </a:lt2>
      <a:accent1>
        <a:srgbClr val="0256FF"/>
      </a:accent1>
      <a:accent2>
        <a:srgbClr val="0365C0"/>
      </a:accent2>
      <a:accent3>
        <a:srgbClr val="0030B5"/>
      </a:accent3>
      <a:accent4>
        <a:srgbClr val="AAB8DC"/>
      </a:accent4>
      <a:accent5>
        <a:srgbClr val="00882B"/>
      </a:accent5>
      <a:accent6>
        <a:srgbClr val="DCDEE0"/>
      </a:accent6>
      <a:hlink>
        <a:srgbClr val="0000FF"/>
      </a:hlink>
      <a:folHlink>
        <a:srgbClr val="800080"/>
      </a:folHlink>
    </a:clrScheme>
    <a:fontScheme name="ab221536-0281-41d6-9fe9-601c1f06870a">
      <a:majorFont>
        <a:latin typeface="Arial"/>
        <a:ea typeface="楷体"/>
        <a:cs typeface=""/>
      </a:majorFont>
      <a:minorFont>
        <a:latin typeface="Arial"/>
        <a:ea typeface="楷体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24505</TotalTime>
  <Words>3692</Words>
  <Application>Microsoft Office PowerPoint</Application>
  <PresentationFormat>宽屏</PresentationFormat>
  <Paragraphs>735</Paragraphs>
  <Slides>20</Slides>
  <Notes>15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等线</vt:lpstr>
      <vt:lpstr>微软雅黑</vt:lpstr>
      <vt:lpstr>Arial</vt:lpstr>
      <vt:lpstr>Georgia</vt:lpstr>
      <vt:lpstr>Segoe UI</vt:lpstr>
      <vt:lpstr>Wingdings</vt:lpstr>
      <vt:lpstr>1_White</vt:lpstr>
      <vt:lpstr>think-cell 幻灯片</vt:lpstr>
      <vt:lpstr>CPO</vt:lpstr>
      <vt:lpstr>互连技术变革：铜互连、可插拔光模块、CPO、OIO</vt:lpstr>
      <vt:lpstr>铜互连速率成为IDC算力释放瓶颈，光互连突破速率极限</vt:lpstr>
      <vt:lpstr>PowerPoint 演示文稿</vt:lpstr>
      <vt:lpstr>PowerPoint 演示文稿</vt:lpstr>
      <vt:lpstr>光互连技术路径：可插拔仍为主流，巨头将商业落地 CPO，OIO初创处于技术验证期</vt:lpstr>
      <vt:lpstr>PowerPoint 演示文稿</vt:lpstr>
      <vt:lpstr>IDC互连按照距离可分为 Scale Up与 Scale Out</vt:lpstr>
      <vt:lpstr>国内Scale Up受限于GPU带宽限制，CPO优先落地于Scale Up</vt:lpstr>
      <vt:lpstr>海外巨头并行布局 Scale Out与 Scale Up，CPO落地1-2年内看Scale Out</vt:lpstr>
      <vt:lpstr>PowerPoint 演示文稿</vt:lpstr>
      <vt:lpstr>互连技术范式变革带来新的市场机会</vt:lpstr>
      <vt:lpstr>CPO关键模块：硅光芯片、电光芯片、交换机芯片及封装</vt:lpstr>
      <vt:lpstr>产业链：集成交付环节、光电信号中枢优先关注</vt:lpstr>
      <vt:lpstr>博通：从芯片到设备全面布局CPO</vt:lpstr>
      <vt:lpstr>FiconTEC：德国老牌光子装配测试龙头，中企收购卡位国产替代</vt:lpstr>
      <vt:lpstr>PowerPoint 演示文稿</vt:lpstr>
      <vt:lpstr>总结</vt:lpstr>
      <vt:lpstr>附录：产业和公司Map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Tencent_GO</dc:creator>
  <cp:lastModifiedBy>Deng Kunyu</cp:lastModifiedBy>
  <cp:revision>2413</cp:revision>
  <dcterms:created xsi:type="dcterms:W3CDTF">2025-06-16T21:28:33Z</dcterms:created>
  <dcterms:modified xsi:type="dcterms:W3CDTF">2025-09-01T06:28:42Z</dcterms:modified>
</cp:coreProperties>
</file>