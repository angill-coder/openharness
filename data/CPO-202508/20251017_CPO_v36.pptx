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notesSlides/notesSlide12.xml" ContentType="application/vnd.openxmlformats-officedocument.presentationml.notesSlide+xml"/>
  <Override PartName="/ppt/tags/tag57.xml" ContentType="application/vnd.openxmlformats-officedocument.presentationml.tags+xml"/>
  <Override PartName="/ppt/notesSlides/notesSlide1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18.xml" ContentType="application/vnd.openxmlformats-officedocument.presentationml.notesSlide+xml"/>
  <Override PartName="/ppt/tags/tag120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21.xml" ContentType="application/vnd.openxmlformats-officedocument.presentationml.tags+xml"/>
  <Override PartName="/ppt/notesSlides/notesSlide20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59.xml" ContentType="application/vnd.openxmlformats-officedocument.presentationml.tags+xml"/>
  <Override PartName="/ppt/notesSlides/notesSlide22.xml" ContentType="application/vnd.openxmlformats-officedocument.presentationml.notesSlide+xml"/>
  <Override PartName="/ppt/tags/tag160.xml" ContentType="application/vnd.openxmlformats-officedocument.presentationml.tags+xml"/>
  <Override PartName="/ppt/notesSlides/notesSlide23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24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tags/tag186.xml" ContentType="application/vnd.openxmlformats-officedocument.presentationml.tags+xml"/>
  <Override PartName="/ppt/notesSlides/notesSlide26.xml" ContentType="application/vnd.openxmlformats-officedocument.presentationml.notesSlide+xml"/>
  <Override PartName="/ppt/tags/tag187.xml" ContentType="application/vnd.openxmlformats-officedocument.presentationml.tags+xml"/>
  <Override PartName="/ppt/notesSlides/notesSlide27.xml" ContentType="application/vnd.openxmlformats-officedocument.presentationml.notesSlide+xml"/>
  <Override PartName="/ppt/tags/tag1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2147473083" r:id="rId15"/>
    <p:sldId id="2147473088" r:id="rId16"/>
    <p:sldId id="344" r:id="rId17"/>
    <p:sldId id="370" r:id="rId18"/>
    <p:sldId id="372" r:id="rId19"/>
    <p:sldId id="2147473084" r:id="rId20"/>
    <p:sldId id="327" r:id="rId21"/>
    <p:sldId id="331" r:id="rId22"/>
    <p:sldId id="283" r:id="rId23"/>
    <p:sldId id="364" r:id="rId24"/>
    <p:sldId id="326" r:id="rId25"/>
    <p:sldId id="315" r:id="rId26"/>
    <p:sldId id="367" r:id="rId27"/>
    <p:sldId id="339" r:id="rId28"/>
    <p:sldId id="363" r:id="rId29"/>
    <p:sldId id="2147473077" r:id="rId30"/>
    <p:sldId id="341" r:id="rId31"/>
    <p:sldId id="322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2147473088"/>
            <p14:sldId id="344"/>
          </p14:sldIdLst>
        </p14:section>
        <p14:section name="6. Key players to watch: Broadcom and ficonTEC" id="{2FC5CD99-587C-4ED3-8213-2F2A4313F971}">
          <p14:sldIdLst>
            <p14:sldId id="370"/>
            <p14:sldId id="372"/>
            <p14:sldId id="2147473084"/>
            <p14:sldId id="327"/>
            <p14:sldId id="331"/>
            <p14:sldId id="283"/>
          </p14:sldIdLst>
        </p14:section>
        <p14:section name="Appendix" id="{8B5E7F54-8D61-4CE1-89AB-837BCD335EC0}">
          <p14:sldIdLst>
            <p14:sldId id="364"/>
            <p14:sldId id="326"/>
            <p14:sldId id="315"/>
            <p14:sldId id="367"/>
            <p14:sldId id="339"/>
            <p14:sldId id="363"/>
            <p14:sldId id="2147473077"/>
            <p14:sldId id="34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052D9"/>
    <a:srgbClr val="EEF1F8"/>
    <a:srgbClr val="A6A6A6"/>
    <a:srgbClr val="53585F"/>
    <a:srgbClr val="0256FF"/>
    <a:srgbClr val="E94D12"/>
    <a:srgbClr val="ECF6FF"/>
    <a:srgbClr val="DDE3F1"/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2" autoAdjust="0"/>
    <p:restoredTop sz="84268" autoAdjust="0"/>
  </p:normalViewPr>
  <p:slideViewPr>
    <p:cSldViewPr snapToGrid="0">
      <p:cViewPr>
        <p:scale>
          <a:sx n="100" d="100"/>
          <a:sy n="100" d="100"/>
        </p:scale>
        <p:origin x="2932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'P5 铜到光'!$J$2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35-4111-8788-A0F2F6D5ECF1}"/>
            </c:ext>
          </c:extLst>
        </c:ser>
        <c:ser>
          <c:idx val="1"/>
          <c:order val="1"/>
          <c:tx>
            <c:strRef>
              <c:f>'P5 铜到光'!$J$3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35-4111-8788-A0F2F6D5ECF1}"/>
            </c:ext>
          </c:extLst>
        </c:ser>
        <c:ser>
          <c:idx val="2"/>
          <c:order val="2"/>
          <c:tx>
            <c:strRef>
              <c:f>'P5 铜到光'!$J$4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'P5 铜到光'!$K$4:$O$4</c:f>
              <c:numCache>
                <c:formatCode>General</c:formatCode>
                <c:ptCount val="5"/>
                <c:pt idx="2">
                  <c:v>620</c:v>
                </c:pt>
                <c:pt idx="3">
                  <c:v>930</c:v>
                </c:pt>
                <c:pt idx="4">
                  <c:v>1860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35-4111-8788-A0F2F6D5EC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01-4F32-B4D6-304B313EE203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01-4F32-B4D6-304B313EE203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01-4F32-B4D6-304B313EE2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483807"/>
        <c:axId val="1"/>
      </c:lineChart>
      <c:catAx>
        <c:axId val="1304838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483807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869239013933547E-2"/>
          <c:y val="5.2504038772213248E-2"/>
          <c:w val="0.90219721329046088"/>
          <c:h val="0.8949919224555734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24.657534246575342</c:v>
                </c:pt>
                <c:pt idx="1">
                  <c:v>25.531914893617021</c:v>
                </c:pt>
                <c:pt idx="2">
                  <c:v>27.900000000000002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B-4AEF-9E62-8AD8F62CE161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13.698630136986299</c:v>
                </c:pt>
                <c:pt idx="1">
                  <c:v>15.957446808510639</c:v>
                </c:pt>
                <c:pt idx="2">
                  <c:v>17.099999999999998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5B-4AEF-9E62-8AD8F62CE1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215962767"/>
        <c:axId val="1"/>
      </c:barChart>
      <c:catAx>
        <c:axId val="2159627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5962767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Sheet1!$B$1:$B$10</c:f>
              <c:numCache>
                <c:formatCode>General</c:formatCode>
                <c:ptCount val="10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4F5-4E21-9159-47298C2BC4BB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Sheet1!$A$1:$A$10</c:f>
              <c:numCache>
                <c:formatCode>General</c:formatCode>
                <c:ptCount val="10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Sheet1!$C$1:$C$10</c:f>
              <c:numCache>
                <c:formatCode>General</c:formatCode>
                <c:ptCount val="10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4F5-4E21-9159-47298C2BC4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8818703"/>
        <c:axId val="1"/>
      </c:scatterChart>
      <c:valAx>
        <c:axId val="428818703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8818703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12155757974144671"/>
                  <c:y val="-0.1946544213083433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248825578903519"/>
                      <c:h val="0.1816873838113706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7.701240756926743E-2"/>
                  <c:y val="0.174784340735626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46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9.774977328017645E-3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Ficontec!$F$8:$H$8</c:f>
              <c:numCache>
                <c:formatCode>_(* #,##0.00_);_(* \(#,##0.00\);_(* "-"??_);_(@_)</c:formatCode>
                <c:ptCount val="3"/>
                <c:pt idx="0">
                  <c:v>2.87</c:v>
                </c:pt>
                <c:pt idx="1">
                  <c:v>3.8243999999999998</c:v>
                </c:pt>
                <c:pt idx="2">
                  <c:v>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1-47D7-8A8A-519DA28A7FF9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8770528184642702E-3"/>
                  <c:y val="0.115741105278506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91-47D7-8A8A-519DA28A7FF9}"/>
                </c:ext>
              </c:extLst>
            </c:dLbl>
            <c:dLbl>
              <c:idx val="1"/>
              <c:layout>
                <c:manualLayout>
                  <c:x val="8.8770528184642702E-3"/>
                  <c:y val="4.62962962962954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91-47D7-8A8A-519DA28A7FF9}"/>
                </c:ext>
              </c:extLst>
            </c:dLbl>
            <c:dLbl>
              <c:idx val="2"/>
              <c:layout>
                <c:manualLayout>
                  <c:x val="2.885042225785437E-2"/>
                  <c:y val="1.41373150952879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Ficontec!$F$10:$H$10</c:f>
              <c:numCache>
                <c:formatCode>_(* #,##0.00_);_(* \(#,##0.00\);_(* "-"??_);_(@_)</c:formatCode>
                <c:ptCount val="3"/>
                <c:pt idx="0">
                  <c:v>-6.3E-3</c:v>
                </c:pt>
                <c:pt idx="1">
                  <c:v>0.28999999999999998</c:v>
                </c:pt>
                <c:pt idx="2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1543653644074988E-2"/>
                  <c:y val="-3.01892174574498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91-47D7-8A8A-519DA28A7FF9}"/>
                </c:ext>
              </c:extLst>
            </c:dLbl>
            <c:dLbl>
              <c:idx val="1"/>
              <c:layout>
                <c:manualLayout>
                  <c:x val="3.1768676316057252E-2"/>
                  <c:y val="-3.8814708159578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91-47D7-8A8A-519DA28A7FF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Ficontec!$F$9:$H$9</c:f>
              <c:numCache>
                <c:formatCode>0.0%</c:formatCode>
                <c:ptCount val="3"/>
                <c:pt idx="0">
                  <c:v>0.4163</c:v>
                </c:pt>
                <c:pt idx="1">
                  <c:v>0.41620000000000001</c:v>
                </c:pt>
                <c:pt idx="2">
                  <c:v>0.401980198019802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91-47D7-8A8A-519DA28A7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952858637036635"/>
          <c:w val="1"/>
          <c:h val="0.178837664189950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右边的铜为无源铜缆（安费诺、立讯）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上限目前看为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，顶多一百多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dsf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全部用光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功耗测算逻辑：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9216 GPU -&gt; 9216 800G</a:t>
            </a:r>
            <a:r>
              <a:rPr lang="zh-CN" altLang="en-US" dirty="0"/>
              <a:t>光模块 </a:t>
            </a:r>
            <a:r>
              <a:rPr lang="en-US" altLang="zh-CN" dirty="0"/>
              <a:t>+ 14400 1.6T</a:t>
            </a:r>
            <a:r>
              <a:rPr lang="zh-CN" altLang="en-US" dirty="0"/>
              <a:t>光模块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光模块</a:t>
            </a:r>
            <a:r>
              <a:rPr lang="en-US" altLang="zh-CN" dirty="0"/>
              <a:t>-&gt;CPO</a:t>
            </a:r>
            <a:r>
              <a:rPr lang="zh-CN" altLang="en-US" dirty="0"/>
              <a:t>的系统级功耗节约（考虑交换机）：</a:t>
            </a:r>
            <a:r>
              <a:rPr lang="en-US" altLang="zh-CN" dirty="0"/>
              <a:t>800G 22W</a:t>
            </a:r>
            <a:r>
              <a:rPr lang="zh-CN" altLang="en-US" dirty="0"/>
              <a:t>，</a:t>
            </a:r>
            <a:r>
              <a:rPr lang="en-US" altLang="zh-CN" dirty="0"/>
              <a:t>1.6T 48W </a:t>
            </a:r>
            <a:r>
              <a:rPr lang="zh-CN" altLang="en-US" dirty="0"/>
              <a:t>（）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总功耗节约：</a:t>
            </a:r>
            <a:r>
              <a:rPr lang="en-US" altLang="zh-CN" dirty="0"/>
              <a:t>900 kW</a:t>
            </a:r>
          </a:p>
          <a:p>
            <a:pPr marL="0" indent="0">
              <a:buNone/>
            </a:pPr>
            <a:r>
              <a:rPr lang="zh-CN" altLang="en-US" dirty="0"/>
              <a:t>年电费节约：</a:t>
            </a:r>
            <a:r>
              <a:rPr lang="en-US" altLang="zh-CN" dirty="0"/>
              <a:t>5.5 </a:t>
            </a:r>
            <a:r>
              <a:rPr lang="en-US" altLang="zh-CN" dirty="0" err="1"/>
              <a:t>mn</a:t>
            </a:r>
            <a:r>
              <a:rPr lang="en-US" altLang="zh-CN" dirty="0"/>
              <a:t> RMB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OCS</a:t>
            </a:r>
            <a:r>
              <a:rPr lang="zh-CN" altLang="en-US" dirty="0"/>
              <a:t>很难用，需要对模型流量和卡非常了解，技术难点太高。单层级非常大的组网规模可用（可以看一下量）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Scale up</a:t>
            </a:r>
            <a:r>
              <a:rPr lang="zh-CN" altLang="en-US" dirty="0"/>
              <a:t>以后从铜转光的重要原因：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面板上无法容纳光模块过多数量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GPU</a:t>
            </a:r>
            <a:r>
              <a:rPr lang="zh-CN" altLang="en-US" dirty="0"/>
              <a:t>功耗很高，无法容纳高能耗的互联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时延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Sitrus</a:t>
            </a:r>
            <a:r>
              <a:rPr lang="zh-CN" altLang="en-US" dirty="0"/>
              <a:t>、盛科备注</a:t>
            </a:r>
            <a:endParaRPr lang="en-US" altLang="zh-CN" dirty="0"/>
          </a:p>
          <a:p>
            <a:r>
              <a:rPr lang="en-US" altLang="zh-CN" dirty="0"/>
              <a:t>CPO</a:t>
            </a:r>
            <a:r>
              <a:rPr lang="zh-CN" altLang="en-US" dirty="0"/>
              <a:t>线性对</a:t>
            </a:r>
            <a:r>
              <a:rPr lang="en-US" altLang="zh-CN" dirty="0" err="1"/>
              <a:t>serdes</a:t>
            </a:r>
            <a:r>
              <a:rPr lang="zh-CN" altLang="en-US" dirty="0"/>
              <a:t>要求更高</a:t>
            </a:r>
            <a:endParaRPr lang="en-US" altLang="zh-CN" dirty="0"/>
          </a:p>
          <a:p>
            <a:r>
              <a:rPr lang="en-US" altLang="zh-CN" dirty="0"/>
              <a:t>Scale up</a:t>
            </a:r>
            <a:r>
              <a:rPr lang="zh-CN" altLang="en-US" dirty="0"/>
              <a:t>的光可能更快发生：</a:t>
            </a:r>
            <a:r>
              <a:rPr lang="en-US" altLang="zh-CN" dirty="0"/>
              <a:t>OCP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60%</a:t>
            </a:r>
            <a:r>
              <a:rPr lang="zh-CN" altLang="en-US" dirty="0"/>
              <a:t>以上（份额预计长期保持）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C84D3-6AEB-B5B1-E63A-3274C0BC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C4DDD3-778D-186E-B1B8-B1B4294E0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725EA9-92DD-030F-5836-836B2A79B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D64274-41A6-1302-4E8B-01B7B5746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004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第一代样机</a:t>
            </a:r>
            <a:r>
              <a:rPr lang="en-US" altLang="zh-CN" dirty="0"/>
              <a:t>TH4</a:t>
            </a:r>
            <a:r>
              <a:rPr lang="zh-CN" altLang="en-US" dirty="0"/>
              <a:t>已在机房跑测试</a:t>
            </a:r>
            <a:endParaRPr lang="en-US" altLang="zh-CN" dirty="0"/>
          </a:p>
          <a:p>
            <a:r>
              <a:rPr lang="en-US" altLang="zh-CN" dirty="0"/>
              <a:t>TH5</a:t>
            </a:r>
            <a:r>
              <a:rPr lang="zh-CN" altLang="en-US" dirty="0"/>
              <a:t>正在测试，还没测完，</a:t>
            </a:r>
            <a:r>
              <a:rPr lang="en-US" altLang="zh-CN" dirty="0"/>
              <a:t>Meta</a:t>
            </a:r>
            <a:r>
              <a:rPr lang="zh-CN" altLang="en-US" dirty="0"/>
              <a:t>的数据来看还需要打磨稳定性（误码率</a:t>
            </a:r>
            <a:r>
              <a:rPr lang="en-US" altLang="zh-CN" dirty="0"/>
              <a:t>1e-9</a:t>
            </a:r>
            <a:r>
              <a:rPr lang="zh-CN" altLang="en-US" dirty="0"/>
              <a:t>、误码分布是否在纠错码的纠错范围内</a:t>
            </a:r>
            <a:r>
              <a:rPr lang="en-US" altLang="zh-CN" dirty="0"/>
              <a:t>+Buff</a:t>
            </a:r>
          </a:p>
          <a:p>
            <a:r>
              <a:rPr lang="en-US" altLang="zh-CN" dirty="0"/>
              <a:t>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ASIC 43%</a:t>
            </a:r>
            <a:r>
              <a:rPr lang="zh-CN" altLang="en-US" dirty="0"/>
              <a:t>的</a:t>
            </a:r>
            <a:r>
              <a:rPr lang="en-US" altLang="zh-CN" dirty="0"/>
              <a:t>share</a:t>
            </a:r>
            <a:r>
              <a:rPr lang="zh-CN" altLang="en-US" dirty="0"/>
              <a:t>在</a:t>
            </a:r>
            <a:r>
              <a:rPr lang="en-US" altLang="zh-CN" dirty="0"/>
              <a:t>26</a:t>
            </a:r>
            <a:r>
              <a:rPr lang="zh-CN" altLang="en-US" dirty="0"/>
              <a:t>年比较</a:t>
            </a:r>
            <a:r>
              <a:rPr lang="en-US" altLang="zh-CN" dirty="0"/>
              <a:t>fair</a:t>
            </a:r>
          </a:p>
          <a:p>
            <a:endParaRPr lang="en-US" altLang="zh-CN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计算卡出货量（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2025E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550</a:t>
            </a:r>
            <a:r>
              <a:rPr lang="en-US" altLang="zh-CN" dirty="0"/>
              <a:t> </a:t>
            </a:r>
          </a:p>
          <a:p>
            <a:r>
              <a:rPr lang="en-US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ASIC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390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</a:p>
          <a:p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-US" altLang="zh-CN" dirty="0"/>
              <a:t>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博通：通过</a:t>
            </a:r>
            <a:r>
              <a:rPr lang="en-US" altLang="zh-CN" dirty="0"/>
              <a:t>CPO</a:t>
            </a:r>
            <a:r>
              <a:rPr lang="zh-CN" altLang="en-US" dirty="0"/>
              <a:t>绑定光、电芯片，产业链绑定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25.png"/><Relationship Id="rId3" Type="http://schemas.openxmlformats.org/officeDocument/2006/relationships/tags" Target="../tags/tag36.xml"/><Relationship Id="rId21" Type="http://schemas.openxmlformats.org/officeDocument/2006/relationships/notesSlide" Target="../notesSlides/notesSlide8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image" Target="../media/image24.png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slideLayout" Target="../slideLayouts/slideLayout2.xml"/><Relationship Id="rId29" Type="http://schemas.openxmlformats.org/officeDocument/2006/relationships/image" Target="../media/image28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image" Target="../media/image23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8.emf"/><Relationship Id="rId28" Type="http://schemas.openxmlformats.org/officeDocument/2006/relationships/image" Target="../media/image27.jpe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26.png"/><Relationship Id="rId30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7.emf"/><Relationship Id="rId3" Type="http://schemas.openxmlformats.org/officeDocument/2006/relationships/tags" Target="../tags/tag60.xml"/><Relationship Id="rId21" Type="http://schemas.openxmlformats.org/officeDocument/2006/relationships/image" Target="../media/image25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59.xml"/><Relationship Id="rId16" Type="http://schemas.openxmlformats.org/officeDocument/2006/relationships/notesSlide" Target="../notesSlides/notesSlide14.xml"/><Relationship Id="rId20" Type="http://schemas.openxmlformats.org/officeDocument/2006/relationships/image" Target="../media/image10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chart" Target="../charts/chart5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5.jpeg"/><Relationship Id="rId10" Type="http://schemas.openxmlformats.org/officeDocument/2006/relationships/tags" Target="../tags/tag67.xml"/><Relationship Id="rId19" Type="http://schemas.openxmlformats.org/officeDocument/2006/relationships/image" Target="../media/image9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image" Target="../media/image55.png"/><Relationship Id="rId42" Type="http://schemas.microsoft.com/office/2007/relationships/hdphoto" Target="../media/hdphoto18.wdp"/><Relationship Id="rId47" Type="http://schemas.openxmlformats.org/officeDocument/2006/relationships/image" Target="../media/image71.png"/><Relationship Id="rId63" Type="http://schemas.microsoft.com/office/2007/relationships/hdphoto" Target="../media/hdphoto27.wdp"/><Relationship Id="rId68" Type="http://schemas.openxmlformats.org/officeDocument/2006/relationships/image" Target="../media/image36.png"/><Relationship Id="rId16" Type="http://schemas.openxmlformats.org/officeDocument/2006/relationships/image" Target="../media/image52.png"/><Relationship Id="rId11" Type="http://schemas.microsoft.com/office/2007/relationships/hdphoto" Target="../media/hdphoto9.wdp"/><Relationship Id="rId32" Type="http://schemas.openxmlformats.org/officeDocument/2006/relationships/image" Target="../media/image62.png"/><Relationship Id="rId37" Type="http://schemas.openxmlformats.org/officeDocument/2006/relationships/image" Target="../media/image66.png"/><Relationship Id="rId53" Type="http://schemas.openxmlformats.org/officeDocument/2006/relationships/image" Target="../media/image73.png"/><Relationship Id="rId58" Type="http://schemas.openxmlformats.org/officeDocument/2006/relationships/image" Target="../media/image76.png"/><Relationship Id="rId74" Type="http://schemas.microsoft.com/office/2007/relationships/hdphoto" Target="../media/hdphoto31.wdp"/><Relationship Id="rId79" Type="http://schemas.openxmlformats.org/officeDocument/2006/relationships/image" Target="../media/image87.png"/><Relationship Id="rId5" Type="http://schemas.openxmlformats.org/officeDocument/2006/relationships/image" Target="../media/image46.png"/><Relationship Id="rId61" Type="http://schemas.microsoft.com/office/2007/relationships/hdphoto" Target="../media/hdphoto26.wdp"/><Relationship Id="rId82" Type="http://schemas.microsoft.com/office/2007/relationships/hdphoto" Target="../media/hdphoto35.wdp"/><Relationship Id="rId19" Type="http://schemas.openxmlformats.org/officeDocument/2006/relationships/image" Target="../media/image24.png"/><Relationship Id="rId14" Type="http://schemas.openxmlformats.org/officeDocument/2006/relationships/image" Target="../media/image51.png"/><Relationship Id="rId22" Type="http://schemas.openxmlformats.org/officeDocument/2006/relationships/image" Target="../media/image56.png"/><Relationship Id="rId27" Type="http://schemas.openxmlformats.org/officeDocument/2006/relationships/image" Target="../media/image59.png"/><Relationship Id="rId30" Type="http://schemas.openxmlformats.org/officeDocument/2006/relationships/image" Target="../media/image61.png"/><Relationship Id="rId35" Type="http://schemas.openxmlformats.org/officeDocument/2006/relationships/image" Target="../media/image64.png"/><Relationship Id="rId43" Type="http://schemas.openxmlformats.org/officeDocument/2006/relationships/image" Target="../media/image69.png"/><Relationship Id="rId48" Type="http://schemas.microsoft.com/office/2007/relationships/hdphoto" Target="../media/hdphoto21.wdp"/><Relationship Id="rId56" Type="http://schemas.openxmlformats.org/officeDocument/2006/relationships/image" Target="../media/image75.png"/><Relationship Id="rId64" Type="http://schemas.openxmlformats.org/officeDocument/2006/relationships/image" Target="../media/image79.png"/><Relationship Id="rId69" Type="http://schemas.openxmlformats.org/officeDocument/2006/relationships/image" Target="../media/image81.png"/><Relationship Id="rId77" Type="http://schemas.openxmlformats.org/officeDocument/2006/relationships/image" Target="../media/image86.png"/><Relationship Id="rId8" Type="http://schemas.openxmlformats.org/officeDocument/2006/relationships/image" Target="../media/image48.png"/><Relationship Id="rId51" Type="http://schemas.openxmlformats.org/officeDocument/2006/relationships/image" Target="../media/image72.png"/><Relationship Id="rId72" Type="http://schemas.microsoft.com/office/2007/relationships/hdphoto" Target="../media/hdphoto30.wdp"/><Relationship Id="rId80" Type="http://schemas.microsoft.com/office/2007/relationships/hdphoto" Target="../media/hdphoto34.wdp"/><Relationship Id="rId3" Type="http://schemas.openxmlformats.org/officeDocument/2006/relationships/oleObject" Target="../embeddings/oleObject17.bin"/><Relationship Id="rId12" Type="http://schemas.openxmlformats.org/officeDocument/2006/relationships/image" Target="../media/image50.png"/><Relationship Id="rId17" Type="http://schemas.microsoft.com/office/2007/relationships/hdphoto" Target="../media/hdphoto11.wdp"/><Relationship Id="rId25" Type="http://schemas.microsoft.com/office/2007/relationships/hdphoto" Target="../media/hdphoto13.wdp"/><Relationship Id="rId33" Type="http://schemas.microsoft.com/office/2007/relationships/hdphoto" Target="../media/hdphoto16.wdp"/><Relationship Id="rId38" Type="http://schemas.openxmlformats.org/officeDocument/2006/relationships/image" Target="../media/image67.png"/><Relationship Id="rId46" Type="http://schemas.microsoft.com/office/2007/relationships/hdphoto" Target="../media/hdphoto20.wdp"/><Relationship Id="rId59" Type="http://schemas.microsoft.com/office/2007/relationships/hdphoto" Target="../media/hdphoto25.wdp"/><Relationship Id="rId67" Type="http://schemas.microsoft.com/office/2007/relationships/hdphoto" Target="../media/hdphoto29.wdp"/><Relationship Id="rId20" Type="http://schemas.openxmlformats.org/officeDocument/2006/relationships/image" Target="../media/image54.png"/><Relationship Id="rId41" Type="http://schemas.openxmlformats.org/officeDocument/2006/relationships/image" Target="../media/image68.png"/><Relationship Id="rId54" Type="http://schemas.openxmlformats.org/officeDocument/2006/relationships/image" Target="../media/image74.png"/><Relationship Id="rId62" Type="http://schemas.openxmlformats.org/officeDocument/2006/relationships/image" Target="../media/image78.png"/><Relationship Id="rId70" Type="http://schemas.openxmlformats.org/officeDocument/2006/relationships/image" Target="../media/image82.png"/><Relationship Id="rId75" Type="http://schemas.openxmlformats.org/officeDocument/2006/relationships/image" Target="../media/image85.png"/><Relationship Id="rId83" Type="http://schemas.openxmlformats.org/officeDocument/2006/relationships/image" Target="../media/image89.png"/><Relationship Id="rId1" Type="http://schemas.openxmlformats.org/officeDocument/2006/relationships/tags" Target="../tags/tag73.xml"/><Relationship Id="rId6" Type="http://schemas.microsoft.com/office/2007/relationships/hdphoto" Target="../media/hdphoto7.wdp"/><Relationship Id="rId15" Type="http://schemas.microsoft.com/office/2007/relationships/hdphoto" Target="../media/hdphoto10.wdp"/><Relationship Id="rId23" Type="http://schemas.microsoft.com/office/2007/relationships/hdphoto" Target="../media/hdphoto12.wdp"/><Relationship Id="rId28" Type="http://schemas.microsoft.com/office/2007/relationships/hdphoto" Target="../media/hdphoto14.wdp"/><Relationship Id="rId36" Type="http://schemas.openxmlformats.org/officeDocument/2006/relationships/image" Target="../media/image65.png"/><Relationship Id="rId49" Type="http://schemas.openxmlformats.org/officeDocument/2006/relationships/image" Target="../media/image28.png"/><Relationship Id="rId57" Type="http://schemas.microsoft.com/office/2007/relationships/hdphoto" Target="../media/hdphoto24.wdp"/><Relationship Id="rId10" Type="http://schemas.openxmlformats.org/officeDocument/2006/relationships/image" Target="../media/image49.png"/><Relationship Id="rId31" Type="http://schemas.microsoft.com/office/2007/relationships/hdphoto" Target="../media/hdphoto15.wdp"/><Relationship Id="rId44" Type="http://schemas.microsoft.com/office/2007/relationships/hdphoto" Target="../media/hdphoto19.wdp"/><Relationship Id="rId52" Type="http://schemas.microsoft.com/office/2007/relationships/hdphoto" Target="../media/hdphoto22.wdp"/><Relationship Id="rId60" Type="http://schemas.openxmlformats.org/officeDocument/2006/relationships/image" Target="../media/image77.png"/><Relationship Id="rId65" Type="http://schemas.microsoft.com/office/2007/relationships/hdphoto" Target="../media/hdphoto28.wdp"/><Relationship Id="rId73" Type="http://schemas.openxmlformats.org/officeDocument/2006/relationships/image" Target="../media/image84.png"/><Relationship Id="rId78" Type="http://schemas.microsoft.com/office/2007/relationships/hdphoto" Target="../media/hdphoto33.wdp"/><Relationship Id="rId81" Type="http://schemas.openxmlformats.org/officeDocument/2006/relationships/image" Target="../media/image88.png"/><Relationship Id="rId4" Type="http://schemas.openxmlformats.org/officeDocument/2006/relationships/image" Target="../media/image8.emf"/><Relationship Id="rId9" Type="http://schemas.microsoft.com/office/2007/relationships/hdphoto" Target="../media/hdphoto8.wdp"/><Relationship Id="rId13" Type="http://schemas.openxmlformats.org/officeDocument/2006/relationships/image" Target="../media/image23.png"/><Relationship Id="rId18" Type="http://schemas.openxmlformats.org/officeDocument/2006/relationships/image" Target="../media/image53.png"/><Relationship Id="rId39" Type="http://schemas.microsoft.com/office/2007/relationships/hdphoto" Target="../media/hdphoto17.wdp"/><Relationship Id="rId34" Type="http://schemas.openxmlformats.org/officeDocument/2006/relationships/image" Target="../media/image63.png"/><Relationship Id="rId50" Type="http://schemas.microsoft.com/office/2007/relationships/hdphoto" Target="../media/hdphoto3.wdp"/><Relationship Id="rId55" Type="http://schemas.microsoft.com/office/2007/relationships/hdphoto" Target="../media/hdphoto23.wdp"/><Relationship Id="rId76" Type="http://schemas.microsoft.com/office/2007/relationships/hdphoto" Target="../media/hdphoto32.wdp"/><Relationship Id="rId7" Type="http://schemas.openxmlformats.org/officeDocument/2006/relationships/image" Target="../media/image47.png"/><Relationship Id="rId71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0.png"/><Relationship Id="rId24" Type="http://schemas.openxmlformats.org/officeDocument/2006/relationships/image" Target="../media/image57.png"/><Relationship Id="rId40" Type="http://schemas.openxmlformats.org/officeDocument/2006/relationships/image" Target="../media/image35.png"/><Relationship Id="rId45" Type="http://schemas.openxmlformats.org/officeDocument/2006/relationships/image" Target="../media/image70.png"/><Relationship Id="rId66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18.emf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oleObject" Target="../embeddings/oleObject18.bin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78.xml"/><Relationship Id="rId15" Type="http://schemas.openxmlformats.org/officeDocument/2006/relationships/image" Target="../media/image23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tags" Target="../tags/tag108.xml"/><Relationship Id="rId3" Type="http://schemas.openxmlformats.org/officeDocument/2006/relationships/tags" Target="../tags/tag85.xml"/><Relationship Id="rId21" Type="http://schemas.openxmlformats.org/officeDocument/2006/relationships/tags" Target="../tags/tag103.xml"/><Relationship Id="rId34" Type="http://schemas.openxmlformats.org/officeDocument/2006/relationships/image" Target="../media/image18.emf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tags" Target="../tags/tag107.xml"/><Relationship Id="rId33" Type="http://schemas.openxmlformats.org/officeDocument/2006/relationships/oleObject" Target="../embeddings/oleObject19.bin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tags" Target="../tags/tag111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32" Type="http://schemas.openxmlformats.org/officeDocument/2006/relationships/notesSlide" Target="../notesSlides/notesSlide17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openxmlformats.org/officeDocument/2006/relationships/tags" Target="../tags/tag110.xml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tags" Target="../tags/tag109.xml"/><Relationship Id="rId30" Type="http://schemas.openxmlformats.org/officeDocument/2006/relationships/tags" Target="../tags/tag112.xml"/><Relationship Id="rId35" Type="http://schemas.openxmlformats.org/officeDocument/2006/relationships/chart" Target="../charts/chart7.xml"/><Relationship Id="rId8" Type="http://schemas.openxmlformats.org/officeDocument/2006/relationships/tags" Target="../tags/tag9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tags" Target="../tags/tag115.xml"/><Relationship Id="rId21" Type="http://schemas.openxmlformats.org/officeDocument/2006/relationships/image" Target="../media/image97.png"/><Relationship Id="rId7" Type="http://schemas.openxmlformats.org/officeDocument/2006/relationships/tags" Target="../tags/tag119.xml"/><Relationship Id="rId12" Type="http://schemas.openxmlformats.org/officeDocument/2006/relationships/image" Target="../media/image47.png"/><Relationship Id="rId17" Type="http://schemas.openxmlformats.org/officeDocument/2006/relationships/image" Target="../media/image94.png"/><Relationship Id="rId25" Type="http://schemas.openxmlformats.org/officeDocument/2006/relationships/image" Target="../media/image100.png"/><Relationship Id="rId2" Type="http://schemas.openxmlformats.org/officeDocument/2006/relationships/tags" Target="../tags/tag114.xml"/><Relationship Id="rId16" Type="http://schemas.openxmlformats.org/officeDocument/2006/relationships/image" Target="../media/image93.jpeg"/><Relationship Id="rId20" Type="http://schemas.openxmlformats.org/officeDocument/2006/relationships/image" Target="../media/image50.png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image" Target="../media/image18.emf"/><Relationship Id="rId24" Type="http://schemas.openxmlformats.org/officeDocument/2006/relationships/image" Target="../media/image99.png"/><Relationship Id="rId5" Type="http://schemas.openxmlformats.org/officeDocument/2006/relationships/tags" Target="../tags/tag117.xml"/><Relationship Id="rId15" Type="http://schemas.openxmlformats.org/officeDocument/2006/relationships/image" Target="../media/image92.png"/><Relationship Id="rId23" Type="http://schemas.microsoft.com/office/2007/relationships/hdphoto" Target="../media/hdphoto36.wdp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96.png"/><Relationship Id="rId4" Type="http://schemas.openxmlformats.org/officeDocument/2006/relationships/tags" Target="../tags/tag116.xml"/><Relationship Id="rId9" Type="http://schemas.openxmlformats.org/officeDocument/2006/relationships/notesSlide" Target="../notesSlides/notesSlide18.xml"/><Relationship Id="rId14" Type="http://schemas.openxmlformats.org/officeDocument/2006/relationships/image" Target="../media/image91.png"/><Relationship Id="rId22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9.wdp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1.png"/><Relationship Id="rId12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Relationship Id="rId6" Type="http://schemas.openxmlformats.org/officeDocument/2006/relationships/chart" Target="../charts/chart8.xml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6.png"/><Relationship Id="rId14" Type="http://schemas.openxmlformats.org/officeDocument/2006/relationships/chart" Target="../charts/chart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Relationship Id="rId6" Type="http://schemas.openxmlformats.org/officeDocument/2006/relationships/image" Target="../media/image103.png"/><Relationship Id="rId11" Type="http://schemas.openxmlformats.org/officeDocument/2006/relationships/image" Target="../media/image108.svg"/><Relationship Id="rId5" Type="http://schemas.openxmlformats.org/officeDocument/2006/relationships/image" Target="../media/image18.emf"/><Relationship Id="rId10" Type="http://schemas.openxmlformats.org/officeDocument/2006/relationships/image" Target="../media/image107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06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26" Type="http://schemas.openxmlformats.org/officeDocument/2006/relationships/tags" Target="../tags/tag147.xml"/><Relationship Id="rId39" Type="http://schemas.openxmlformats.org/officeDocument/2006/relationships/notesSlide" Target="../notesSlides/notesSlide21.xml"/><Relationship Id="rId21" Type="http://schemas.openxmlformats.org/officeDocument/2006/relationships/tags" Target="../tags/tag142.xml"/><Relationship Id="rId34" Type="http://schemas.openxmlformats.org/officeDocument/2006/relationships/tags" Target="../tags/tag155.xml"/><Relationship Id="rId42" Type="http://schemas.openxmlformats.org/officeDocument/2006/relationships/chart" Target="../charts/chart10.xml"/><Relationship Id="rId47" Type="http://schemas.openxmlformats.org/officeDocument/2006/relationships/chart" Target="../charts/chart13.xml"/><Relationship Id="rId7" Type="http://schemas.openxmlformats.org/officeDocument/2006/relationships/tags" Target="../tags/tag12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9" Type="http://schemas.openxmlformats.org/officeDocument/2006/relationships/tags" Target="../tags/tag150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24" Type="http://schemas.openxmlformats.org/officeDocument/2006/relationships/tags" Target="../tags/tag145.xml"/><Relationship Id="rId32" Type="http://schemas.openxmlformats.org/officeDocument/2006/relationships/tags" Target="../tags/tag153.xml"/><Relationship Id="rId37" Type="http://schemas.openxmlformats.org/officeDocument/2006/relationships/tags" Target="../tags/tag158.xml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110.png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23" Type="http://schemas.openxmlformats.org/officeDocument/2006/relationships/tags" Target="../tags/tag144.xml"/><Relationship Id="rId28" Type="http://schemas.openxmlformats.org/officeDocument/2006/relationships/tags" Target="../tags/tag149.xml"/><Relationship Id="rId36" Type="http://schemas.openxmlformats.org/officeDocument/2006/relationships/tags" Target="../tags/tag157.xml"/><Relationship Id="rId10" Type="http://schemas.openxmlformats.org/officeDocument/2006/relationships/tags" Target="../tags/tag131.xml"/><Relationship Id="rId19" Type="http://schemas.openxmlformats.org/officeDocument/2006/relationships/tags" Target="../tags/tag140.xml"/><Relationship Id="rId31" Type="http://schemas.openxmlformats.org/officeDocument/2006/relationships/tags" Target="../tags/tag152.xml"/><Relationship Id="rId44" Type="http://schemas.openxmlformats.org/officeDocument/2006/relationships/chart" Target="../charts/chart12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Relationship Id="rId22" Type="http://schemas.openxmlformats.org/officeDocument/2006/relationships/tags" Target="../tags/tag143.xml"/><Relationship Id="rId27" Type="http://schemas.openxmlformats.org/officeDocument/2006/relationships/tags" Target="../tags/tag148.xml"/><Relationship Id="rId30" Type="http://schemas.openxmlformats.org/officeDocument/2006/relationships/tags" Target="../tags/tag151.xml"/><Relationship Id="rId35" Type="http://schemas.openxmlformats.org/officeDocument/2006/relationships/tags" Target="../tags/tag156.xml"/><Relationship Id="rId43" Type="http://schemas.openxmlformats.org/officeDocument/2006/relationships/chart" Target="../charts/chart11.xml"/><Relationship Id="rId8" Type="http://schemas.openxmlformats.org/officeDocument/2006/relationships/tags" Target="../tags/tag129.xml"/><Relationship Id="rId3" Type="http://schemas.openxmlformats.org/officeDocument/2006/relationships/tags" Target="../tags/tag124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5" Type="http://schemas.openxmlformats.org/officeDocument/2006/relationships/tags" Target="../tags/tag146.xml"/><Relationship Id="rId33" Type="http://schemas.openxmlformats.org/officeDocument/2006/relationships/tags" Target="../tags/tag154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37.wdp"/><Relationship Id="rId20" Type="http://schemas.openxmlformats.org/officeDocument/2006/relationships/tags" Target="../tags/tag141.xml"/><Relationship Id="rId41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notesSlide" Target="../notesSlides/notesSlide22.xml"/><Relationship Id="rId7" Type="http://schemas.microsoft.com/office/2007/relationships/hdphoto" Target="../media/hdphoto3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Relationship Id="rId6" Type="http://schemas.openxmlformats.org/officeDocument/2006/relationships/image" Target="../media/image111.png"/><Relationship Id="rId11" Type="http://schemas.microsoft.com/office/2007/relationships/hdphoto" Target="../media/hdphoto39.wdp"/><Relationship Id="rId5" Type="http://schemas.openxmlformats.org/officeDocument/2006/relationships/image" Target="../media/image8.e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17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6.png"/><Relationship Id="rId12" Type="http://schemas.openxmlformats.org/officeDocument/2006/relationships/image" Target="../media/image1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98.png"/><Relationship Id="rId26" Type="http://schemas.openxmlformats.org/officeDocument/2006/relationships/image" Target="../media/image71.png"/><Relationship Id="rId3" Type="http://schemas.openxmlformats.org/officeDocument/2006/relationships/tags" Target="../tags/tag163.xml"/><Relationship Id="rId21" Type="http://schemas.microsoft.com/office/2007/relationships/hdphoto" Target="../media/hdphoto40.wdp"/><Relationship Id="rId7" Type="http://schemas.openxmlformats.org/officeDocument/2006/relationships/image" Target="../media/image66.png"/><Relationship Id="rId12" Type="http://schemas.openxmlformats.org/officeDocument/2006/relationships/image" Target="../media/image50.png"/><Relationship Id="rId17" Type="http://schemas.openxmlformats.org/officeDocument/2006/relationships/image" Target="../media/image35.png"/><Relationship Id="rId25" Type="http://schemas.openxmlformats.org/officeDocument/2006/relationships/image" Target="../media/image120.png"/><Relationship Id="rId2" Type="http://schemas.openxmlformats.org/officeDocument/2006/relationships/tags" Target="../tags/tag162.xml"/><Relationship Id="rId16" Type="http://schemas.microsoft.com/office/2007/relationships/hdphoto" Target="../media/hdphoto19.wdp"/><Relationship Id="rId20" Type="http://schemas.openxmlformats.org/officeDocument/2006/relationships/image" Target="../media/image119.png"/><Relationship Id="rId1" Type="http://schemas.openxmlformats.org/officeDocument/2006/relationships/tags" Target="../tags/tag161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63.png"/><Relationship Id="rId5" Type="http://schemas.openxmlformats.org/officeDocument/2006/relationships/oleObject" Target="../embeddings/oleObject26.bin"/><Relationship Id="rId15" Type="http://schemas.openxmlformats.org/officeDocument/2006/relationships/image" Target="../media/image69.png"/><Relationship Id="rId23" Type="http://schemas.microsoft.com/office/2007/relationships/hdphoto" Target="../media/hdphoto32.wdp"/><Relationship Id="rId10" Type="http://schemas.openxmlformats.org/officeDocument/2006/relationships/image" Target="../media/image81.png"/><Relationship Id="rId19" Type="http://schemas.microsoft.com/office/2007/relationships/hdphoto" Target="../media/hdphoto36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8.png"/><Relationship Id="rId14" Type="http://schemas.microsoft.com/office/2007/relationships/hdphoto" Target="../media/hdphoto18.wdp"/><Relationship Id="rId22" Type="http://schemas.openxmlformats.org/officeDocument/2006/relationships/image" Target="../media/image85.png"/><Relationship Id="rId27" Type="http://schemas.microsoft.com/office/2007/relationships/hdphoto" Target="../media/hdphoto21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2.png"/><Relationship Id="rId12" Type="http://schemas.openxmlformats.org/officeDocument/2006/relationships/image" Target="../media/image1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Relationship Id="rId6" Type="http://schemas.openxmlformats.org/officeDocument/2006/relationships/image" Target="../media/image121.png"/><Relationship Id="rId11" Type="http://schemas.openxmlformats.org/officeDocument/2006/relationships/image" Target="../media/image124.png"/><Relationship Id="rId5" Type="http://schemas.openxmlformats.org/officeDocument/2006/relationships/image" Target="../media/image8.emf"/><Relationship Id="rId10" Type="http://schemas.openxmlformats.org/officeDocument/2006/relationships/image" Target="../media/image123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tags" Target="../tags/tag182.xml"/><Relationship Id="rId26" Type="http://schemas.openxmlformats.org/officeDocument/2006/relationships/chart" Target="../charts/chart14.xml"/><Relationship Id="rId3" Type="http://schemas.openxmlformats.org/officeDocument/2006/relationships/tags" Target="../tags/tag167.xml"/><Relationship Id="rId21" Type="http://schemas.openxmlformats.org/officeDocument/2006/relationships/tags" Target="../tags/tag185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5" Type="http://schemas.openxmlformats.org/officeDocument/2006/relationships/image" Target="../media/image8.emf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20" Type="http://schemas.openxmlformats.org/officeDocument/2006/relationships/tags" Target="../tags/tag184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23" Type="http://schemas.openxmlformats.org/officeDocument/2006/relationships/notesSlide" Target="../notesSlides/notesSlide25.xml"/><Relationship Id="rId10" Type="http://schemas.openxmlformats.org/officeDocument/2006/relationships/tags" Target="../tags/tag174.xml"/><Relationship Id="rId19" Type="http://schemas.openxmlformats.org/officeDocument/2006/relationships/tags" Target="../tags/tag183.xml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3.png"/><Relationship Id="rId12" Type="http://schemas.openxmlformats.org/officeDocument/2006/relationships/image" Target="../media/image118.png"/><Relationship Id="rId1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png"/><Relationship Id="rId1" Type="http://schemas.openxmlformats.org/officeDocument/2006/relationships/tags" Target="../tags/tag187.xml"/><Relationship Id="rId6" Type="http://schemas.openxmlformats.org/officeDocument/2006/relationships/image" Target="../media/image126.png"/><Relationship Id="rId11" Type="http://schemas.openxmlformats.org/officeDocument/2006/relationships/image" Target="../media/image127.png"/><Relationship Id="rId5" Type="http://schemas.openxmlformats.org/officeDocument/2006/relationships/image" Target="../media/image18.emf"/><Relationship Id="rId15" Type="http://schemas.openxmlformats.org/officeDocument/2006/relationships/image" Target="../media/image130.png"/><Relationship Id="rId10" Type="http://schemas.openxmlformats.org/officeDocument/2006/relationships/image" Target="../media/image66.png"/><Relationship Id="rId19" Type="http://schemas.openxmlformats.org/officeDocument/2006/relationships/image" Target="../media/image134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64.png"/><Relationship Id="rId14" Type="http://schemas.openxmlformats.org/officeDocument/2006/relationships/image" Target="../media/image129.jpe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65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54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64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5.png"/><Relationship Id="rId61" Type="http://schemas.openxmlformats.org/officeDocument/2006/relationships/image" Target="../media/image53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1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66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7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6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0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188.xml"/><Relationship Id="rId6" Type="http://schemas.openxmlformats.org/officeDocument/2006/relationships/image" Target="../media/image136.png"/><Relationship Id="rId15" Type="http://schemas.openxmlformats.org/officeDocument/2006/relationships/image" Target="../media/image55.png"/><Relationship Id="rId23" Type="http://schemas.openxmlformats.org/officeDocument/2006/relationships/image" Target="../media/image82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58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63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8558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1738571"/>
            <a:ext cx="8960418" cy="2031325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 (CPO): an intro to AIDC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and emerging players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4301759" y="1296324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Mar. 2025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296324"/>
            <a:ext cx="4031564" cy="4705923"/>
            <a:chOff x="8206661" y="1337390"/>
            <a:chExt cx="4031564" cy="4705923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115416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enhance energy efficiency (published in May 2025)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614233" y="1342044"/>
            <a:ext cx="4049178" cy="4661720"/>
            <a:chOff x="4154770" y="1381593"/>
            <a:chExt cx="4049178" cy="4661720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520221"/>
              <a:chOff x="4154770" y="1523092"/>
              <a:chExt cx="3657269" cy="4520221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115416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sampling and testing in Oct. 2025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rgbClr val="0052D9"/>
                </a:solidFill>
              </a:rPr>
              <a:t>among speed, distance and power</a:t>
            </a: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distance, power and speed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736DF8D-83B2-DAA8-7F17-E9DA338888C1}"/>
              </a:ext>
            </a:extLst>
          </p:cNvPr>
          <p:cNvSpPr/>
          <p:nvPr/>
        </p:nvSpPr>
        <p:spPr>
          <a:xfrm>
            <a:off x="8269905" y="4082965"/>
            <a:ext cx="3147481" cy="460134"/>
          </a:xfrm>
          <a:prstGeom prst="wedgeRoundRectCallout">
            <a:avLst>
              <a:gd name="adj1" fmla="val -35726"/>
              <a:gd name="adj2" fmla="val 85652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markets prioritize speed over power (not a constraint).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1123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295570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270192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20198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34473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468097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61214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8988438"/>
              </p:ext>
            </p:extLst>
          </p:nvPr>
        </p:nvGraphicFramePr>
        <p:xfrm>
          <a:off x="6656932" y="276894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225533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421715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79862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237244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Optical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8569" y="258575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6226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457774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59510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94270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1410013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Optics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significantly</a:t>
              </a:r>
              <a:r>
                <a:rPr kumimoji="1" lang="zh-CN" altLang="en-US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increases effective reach</a:t>
              </a:r>
              <a:endPara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34315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258947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17363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295592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360521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18293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568704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271748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2469069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465020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71107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5733188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 Broadcom.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146070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~40%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system-level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5- </a:t>
            </a:r>
            <a:r>
              <a:rPr kumimoji="1"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5986117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Consider GB200 NVL72 cluster with 9,216 B200 GPUs with 2-layer interconnect.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3: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At the 2025 Optica Executive Forum held in March, Broadcom demonstrated power savings of CPO in full 64-port system tests.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by CPO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12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135005"/>
              </p:ext>
            </p:extLst>
          </p:nvPr>
        </p:nvGraphicFramePr>
        <p:xfrm>
          <a:off x="233588" y="192946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Optical interconnect is expected to surpass copper in transmission rate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145746"/>
              </p:ext>
            </p:extLst>
          </p:nvPr>
        </p:nvGraphicFramePr>
        <p:xfrm>
          <a:off x="6388302" y="217934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275762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2881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39439" y="5889478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bandwidth per card.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21221" y="1376906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2208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67707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375240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E16986-4D40-A41A-E6B6-A05C05606FD1}"/>
              </a:ext>
            </a:extLst>
          </p:cNvPr>
          <p:cNvSpPr txBox="1"/>
          <p:nvPr/>
        </p:nvSpPr>
        <p:spPr>
          <a:xfrm>
            <a:off x="6319506" y="1164944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at 448Gbps vs </a:t>
            </a:r>
            <a:r>
              <a:rPr kumimoji="1"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at 224Gbps</a:t>
            </a:r>
            <a:endParaRPr kumimoji="1"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932CE7E-7053-F560-8F79-599E34A7B976}"/>
              </a:ext>
            </a:extLst>
          </p:cNvPr>
          <p:cNvSpPr txBox="1"/>
          <p:nvPr/>
        </p:nvSpPr>
        <p:spPr>
          <a:xfrm>
            <a:off x="6165433" y="134167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2459047-D2F5-6A93-6043-F65FE093ABAC}"/>
              </a:ext>
            </a:extLst>
          </p:cNvPr>
          <p:cNvCxnSpPr>
            <a:cxnSpLocks/>
          </p:cNvCxnSpPr>
          <p:nvPr/>
        </p:nvCxnSpPr>
        <p:spPr>
          <a:xfrm>
            <a:off x="631950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2C7B039-FE12-C778-F388-F1495DFAED31}"/>
              </a:ext>
            </a:extLst>
          </p:cNvPr>
          <p:cNvSpPr txBox="1"/>
          <p:nvPr/>
        </p:nvSpPr>
        <p:spPr>
          <a:xfrm>
            <a:off x="370058" y="1139544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Transmission rate growth lags compute</a:t>
            </a:r>
            <a:endParaRPr kumimoji="1" lang="en-US" altLang="zh-CN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26374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35798" y="3329351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07539" y="4394955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3x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19531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198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06899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45218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07664" y="4511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289660" y="39285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44553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8462" y="46299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1800GB/s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57147" y="4922496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900GB/s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499968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600GB/s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61705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06654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50899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295631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43992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190753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707002-0D03-6E32-A47C-AAFABBC1C2F1}"/>
              </a:ext>
            </a:extLst>
          </p:cNvPr>
          <p:cNvSpPr txBox="1"/>
          <p:nvPr/>
        </p:nvSpPr>
        <p:spPr>
          <a:xfrm>
            <a:off x="1678408" y="5126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300GB/s</a:t>
            </a:r>
          </a:p>
        </p:txBody>
      </p:sp>
      <p:cxnSp>
        <p:nvCxnSpPr>
          <p:cNvPr id="43" name="直线连接符 38">
            <a:extLst>
              <a:ext uri="{FF2B5EF4-FFF2-40B4-BE49-F238E27FC236}">
                <a16:creationId xmlns:a16="http://schemas.microsoft.com/office/drawing/2014/main" id="{DAB85C9D-4D05-701D-D6C8-7FF0C32CBB64}"/>
              </a:ext>
            </a:extLst>
          </p:cNvPr>
          <p:cNvCxnSpPr>
            <a:cxnSpLocks/>
          </p:cNvCxnSpPr>
          <p:nvPr/>
        </p:nvCxnSpPr>
        <p:spPr>
          <a:xfrm>
            <a:off x="372826" y="1484306"/>
            <a:ext cx="5459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2" imgW="401" imgH="401" progId="TCLayout.ActiveDocument.1">
                  <p:embed/>
                </p:oleObj>
              </mc:Choice>
              <mc:Fallback>
                <p:oleObj name="think-cell 幻灯片" r:id="rId2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535117"/>
            <a:ext cx="1189919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TextBox 40">
            <a:extLst>
              <a:ext uri="{FF2B5EF4-FFF2-40B4-BE49-F238E27FC236}">
                <a16:creationId xmlns:a16="http://schemas.microsoft.com/office/drawing/2014/main" id="{B60BE343-79D9-0D53-8A84-AE008C14AF2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4725172" y="3781358"/>
            <a:ext cx="2481256" cy="20005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CPC + LPO 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Co-Packaged Copper</a:t>
            </a:r>
          </a:p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200" dirty="0">
                <a:ea typeface="Verdana" pitchFamily="34" charset="0"/>
              </a:rPr>
              <a:t>Linear-drive Pluggable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BCF3334-8686-B869-5F7A-13596D197ADD}"/>
              </a:ext>
            </a:extLst>
          </p:cNvPr>
          <p:cNvSpPr txBox="1"/>
          <p:nvPr/>
        </p:nvSpPr>
        <p:spPr>
          <a:xfrm>
            <a:off x="4625524" y="4265801"/>
            <a:ext cx="1398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1400" dirty="0">
                <a:ea typeface="Verdana" pitchFamily="34" charset="0"/>
              </a:rPr>
              <a:t>~10W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9460069" y="1253308"/>
            <a:ext cx="869462" cy="2241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Time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7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2874422" y="2027928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3767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91796" y="3527439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0039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7058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567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310076" y="3276108"/>
            <a:ext cx="278765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2082044" y="2141975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396857" y="5247289"/>
            <a:ext cx="2787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634884" y="2677662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421039" y="3270913"/>
            <a:ext cx="1361697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646035" y="5231900"/>
            <a:ext cx="911703" cy="307777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044630"/>
            <a:ext cx="10132483" cy="9459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 bypassing PCB traces, it reduces loss from ​22 dB to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cuts power by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​~60%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(port-level)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224 Gbps/line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345878" y="359245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4893483" y="2141975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234352" y="2831587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>
                    <a:cs typeface="+mn-ea"/>
                    <a:sym typeface="+mn-lt"/>
                  </a:rPr>
                  <a:t>ASIC</a:t>
                </a:r>
                <a:endParaRPr lang="zh-CN" altLang="en-US" sz="9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219027" y="4750207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792034" y="5228270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985505" y="3340880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115223" y="354976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10033494" y="355058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807135" y="3300315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771299" y="3540673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534272" y="2141975"/>
            <a:ext cx="245623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4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Side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view</a:t>
            </a: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375876" y="3611097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575324" y="3345082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572562" y="3324043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777855" y="315074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550647" y="3109941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195477" y="3425151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392390" y="3487261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609251" y="3396746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684943" y="2845582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2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2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348375" y="3316076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346441" y="3385658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591294" y="3382454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589706" y="3626971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10059385" y="3555352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807135" y="5232535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771299" y="5472893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345878" y="552467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375876" y="5543317"/>
            <a:ext cx="90137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2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2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575324" y="5277302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572562" y="5256263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9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777855" y="508296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537340" y="5049379"/>
            <a:ext cx="1080498" cy="230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 algn="ctr"/>
            <a:r>
              <a:rPr lang="en-US" altLang="zh-CN" sz="9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214575" y="5341020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332355" y="5421811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609251" y="5328966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458685" y="4875289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348375" y="5248296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346441" y="5317878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819895" y="5229480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784350" y="5110352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472386" y="4633670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2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979930" y="5177336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335530" y="5170210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181832" y="5394136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807881" y="3624298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10019124" y="3426542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301119" y="354854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219390" y="354937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138260" y="3625019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248297" y="355340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141935" y="3554649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290524" y="4326084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6393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324922" y="532486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 and power consumption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5A1EFA71-FBF8-12A8-E6FB-6978EB42174F}"/>
              </a:ext>
            </a:extLst>
          </p:cNvPr>
          <p:cNvSpPr/>
          <p:nvPr/>
        </p:nvSpPr>
        <p:spPr>
          <a:xfrm>
            <a:off x="7326253" y="6088202"/>
            <a:ext cx="4141402" cy="408293"/>
          </a:xfrm>
          <a:prstGeom prst="wedgeRoundRectCallout">
            <a:avLst>
              <a:gd name="adj1" fmla="val -21167"/>
              <a:gd name="adj2" fmla="val -85426"/>
              <a:gd name="adj3" fmla="val 16667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Co-packaging adds expense and maintenance challenges</a:t>
            </a: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404547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viewed as 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for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422969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3249614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1286114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2006839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1287702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1984375" y="205049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530975" y="2049702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584689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1990725" y="2673589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563761" y="2673589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mn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15241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415835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5154263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451" y="3964485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921903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7537" y="3984025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064984" y="4569758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236111" y="4253758"/>
            <a:ext cx="799571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4207589"/>
            <a:ext cx="475508" cy="314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485109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526980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526980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480018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537190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998756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5160345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5154262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106258" y="4411902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becomes mainstream, global giants are expected to gain even greater influence in the new value chain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can be categorized into scale-up and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723372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342030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959732" y="1274753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06517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099097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051564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711701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036369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711701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5647221" y="3825777"/>
            <a:ext cx="3130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Transmission reach matters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 dirty="0"/>
              <a:t>Easier to commercialize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5" y="6287653"/>
            <a:ext cx="11497549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Sitrus Official Web Site.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Note 1: Sitrus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are two leading Chinese companies specializing in high-speed DSP chips and switch chips, respectively. 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713222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742479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r>
              <a:rPr lang="en-US" altLang="zh-CN" sz="1400" baseline="30000" dirty="0"/>
              <a:t>1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87385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495573" y="5064870"/>
            <a:ext cx="51220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Chip limitations drive longer-reach scale-up solutions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optical essential for scale-up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50815" y="5064870"/>
            <a:ext cx="385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Starting testing of optical in IDCs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still dominates in the short-term 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67583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7" y="3527875"/>
            <a:ext cx="10624673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  <a:endCxn id="56" idx="3"/>
          </p:cNvCxnSpPr>
          <p:nvPr/>
        </p:nvCxnSpPr>
        <p:spPr>
          <a:xfrm>
            <a:off x="992937" y="4647822"/>
            <a:ext cx="1062467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342030" y="3916683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Initial adoption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356839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Acceleration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652395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757340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794952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​Optical interconnect adoption is prioritized in scale-out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D902A4C-B64C-5B72-01E5-249A0DD391EE}"/>
              </a:ext>
            </a:extLst>
          </p:cNvPr>
          <p:cNvSpPr txBox="1"/>
          <p:nvPr/>
        </p:nvSpPr>
        <p:spPr>
          <a:xfrm>
            <a:off x="6396136" y="4734728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b="1" dirty="0">
                <a:solidFill>
                  <a:srgbClr val="0052D9"/>
                </a:solidFill>
                <a:latin typeface="Arial"/>
                <a:sym typeface="Futura"/>
              </a:rPr>
              <a:t>Aggressive push</a:t>
            </a:r>
            <a:endParaRPr lang="en-US" altLang="zh-CN" sz="1800" b="1" dirty="0">
              <a:solidFill>
                <a:srgbClr val="0052D9"/>
              </a:solidFill>
              <a:latin typeface="Arial"/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532468" y="4150344"/>
            <a:ext cx="9841468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828011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1442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5141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011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7708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4095911" y="4332214"/>
            <a:ext cx="673878" cy="4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4753113" y="4312418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2303719" y="428636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4747497" y="4781281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2288484" y="4755223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1701073" y="4350647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521286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764749" y="2840012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Oct.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may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941151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players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15" name="直线连接符 30">
            <a:extLst>
              <a:ext uri="{FF2B5EF4-FFF2-40B4-BE49-F238E27FC236}">
                <a16:creationId xmlns:a16="http://schemas.microsoft.com/office/drawing/2014/main" id="{C94A70D6-4F6E-E7E0-3074-52D3CD4F5781}"/>
              </a:ext>
            </a:extLst>
          </p:cNvPr>
          <p:cNvCxnSpPr>
            <a:cxnSpLocks/>
          </p:cNvCxnSpPr>
          <p:nvPr/>
        </p:nvCxnSpPr>
        <p:spPr>
          <a:xfrm>
            <a:off x="1542305" y="2687148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28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7" name="Textplatzhalter 9">
            <a:extLst>
              <a:ext uri="{FF2B5EF4-FFF2-40B4-BE49-F238E27FC236}">
                <a16:creationId xmlns:a16="http://schemas.microsoft.com/office/drawing/2014/main" id="{F1AA5767-C3B1-190C-FB29-D68B3867C869}"/>
              </a:ext>
            </a:extLst>
          </p:cNvPr>
          <p:cNvSpPr txBox="1">
            <a:spLocks/>
          </p:cNvSpPr>
          <p:nvPr/>
        </p:nvSpPr>
        <p:spPr bwMode="gray">
          <a:xfrm>
            <a:off x="1527175" y="1930400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8" name="Textplatzhalter 9">
            <a:extLst>
              <a:ext uri="{FF2B5EF4-FFF2-40B4-BE49-F238E27FC236}">
                <a16:creationId xmlns:a16="http://schemas.microsoft.com/office/drawing/2014/main" id="{F10F0791-C3AE-497A-1C7D-1DC07E35C3B2}"/>
              </a:ext>
            </a:extLst>
          </p:cNvPr>
          <p:cNvSpPr txBox="1">
            <a:spLocks/>
          </p:cNvSpPr>
          <p:nvPr/>
        </p:nvSpPr>
        <p:spPr bwMode="gray">
          <a:xfrm>
            <a:off x="1527175" y="4111625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89" name="Textplatzhalter 9">
            <a:extLst>
              <a:ext uri="{FF2B5EF4-FFF2-40B4-BE49-F238E27FC236}">
                <a16:creationId xmlns:a16="http://schemas.microsoft.com/office/drawing/2014/main" id="{EAF70CB0-9EFB-5CAE-7CE2-16709086E9DA}"/>
              </a:ext>
            </a:extLst>
          </p:cNvPr>
          <p:cNvSpPr txBox="1">
            <a:spLocks/>
          </p:cNvSpPr>
          <p:nvPr/>
        </p:nvSpPr>
        <p:spPr bwMode="gray">
          <a:xfrm>
            <a:off x="1527175" y="5424488"/>
            <a:ext cx="2425700" cy="24606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6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390" name="文本框 1389">
            <a:extLst>
              <a:ext uri="{FF2B5EF4-FFF2-40B4-BE49-F238E27FC236}">
                <a16:creationId xmlns:a16="http://schemas.microsoft.com/office/drawing/2014/main" id="{EB242B47-4000-582B-BBCD-85BADA26C0B9}"/>
              </a:ext>
            </a:extLst>
          </p:cNvPr>
          <p:cNvSpPr txBox="1"/>
          <p:nvPr/>
        </p:nvSpPr>
        <p:spPr>
          <a:xfrm>
            <a:off x="727075" y="1117600"/>
            <a:ext cx="1231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1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391" name="文本框 1390">
            <a:extLst>
              <a:ext uri="{FF2B5EF4-FFF2-40B4-BE49-F238E27FC236}">
                <a16:creationId xmlns:a16="http://schemas.microsoft.com/office/drawing/2014/main" id="{747EDC4D-0EC5-E158-C861-A1675D8A35E1}"/>
              </a:ext>
            </a:extLst>
          </p:cNvPr>
          <p:cNvSpPr txBox="1"/>
          <p:nvPr/>
        </p:nvSpPr>
        <p:spPr>
          <a:xfrm>
            <a:off x="1679575" y="1111250"/>
            <a:ext cx="199866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1392" name="连接符: 肘形 1391">
            <a:extLst>
              <a:ext uri="{FF2B5EF4-FFF2-40B4-BE49-F238E27FC236}">
                <a16:creationId xmlns:a16="http://schemas.microsoft.com/office/drawing/2014/main" id="{62D04A46-BFF4-D397-4D01-7594DE1115C2}"/>
              </a:ext>
            </a:extLst>
          </p:cNvPr>
          <p:cNvCxnSpPr>
            <a:cxnSpLocks/>
            <a:stCxn id="1390" idx="2"/>
            <a:endCxn id="1387" idx="1"/>
          </p:cNvCxnSpPr>
          <p:nvPr/>
        </p:nvCxnSpPr>
        <p:spPr>
          <a:xfrm rot="16200000" flipH="1">
            <a:off x="1131491" y="1657747"/>
            <a:ext cx="607219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连接符: 肘形 1393">
            <a:extLst>
              <a:ext uri="{FF2B5EF4-FFF2-40B4-BE49-F238E27FC236}">
                <a16:creationId xmlns:a16="http://schemas.microsoft.com/office/drawing/2014/main" id="{1EC5009C-66EE-19E3-0C14-F9534DFE8127}"/>
              </a:ext>
            </a:extLst>
          </p:cNvPr>
          <p:cNvCxnSpPr>
            <a:cxnSpLocks/>
            <a:stCxn id="1390" idx="2"/>
            <a:endCxn id="1388" idx="1"/>
          </p:cNvCxnSpPr>
          <p:nvPr/>
        </p:nvCxnSpPr>
        <p:spPr>
          <a:xfrm rot="16200000" flipH="1">
            <a:off x="40878" y="2748360"/>
            <a:ext cx="2788444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连接符: 肘形 1394">
            <a:extLst>
              <a:ext uri="{FF2B5EF4-FFF2-40B4-BE49-F238E27FC236}">
                <a16:creationId xmlns:a16="http://schemas.microsoft.com/office/drawing/2014/main" id="{62D3C7F8-8782-560F-8582-278202F8C896}"/>
              </a:ext>
            </a:extLst>
          </p:cNvPr>
          <p:cNvCxnSpPr>
            <a:cxnSpLocks/>
            <a:stCxn id="1390" idx="2"/>
            <a:endCxn id="1389" idx="1"/>
          </p:cNvCxnSpPr>
          <p:nvPr/>
        </p:nvCxnSpPr>
        <p:spPr>
          <a:xfrm rot="16200000" flipH="1">
            <a:off x="-615553" y="3404791"/>
            <a:ext cx="4101307" cy="184150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6" name="文本框 1395">
            <a:extLst>
              <a:ext uri="{FF2B5EF4-FFF2-40B4-BE49-F238E27FC236}">
                <a16:creationId xmlns:a16="http://schemas.microsoft.com/office/drawing/2014/main" id="{E3DD09DE-A7DF-5221-0067-149ADB8BA771}"/>
              </a:ext>
            </a:extLst>
          </p:cNvPr>
          <p:cNvSpPr txBox="1"/>
          <p:nvPr/>
        </p:nvSpPr>
        <p:spPr>
          <a:xfrm>
            <a:off x="1663700" y="2220913"/>
            <a:ext cx="1997075" cy="5222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7" name="Textplatzhalter 9">
            <a:extLst>
              <a:ext uri="{FF2B5EF4-FFF2-40B4-BE49-F238E27FC236}">
                <a16:creationId xmlns:a16="http://schemas.microsoft.com/office/drawing/2014/main" id="{9F0ACECA-B650-4903-BF26-69A29C9B24F5}"/>
              </a:ext>
            </a:extLst>
          </p:cNvPr>
          <p:cNvSpPr txBox="1">
            <a:spLocks/>
          </p:cNvSpPr>
          <p:nvPr/>
        </p:nvSpPr>
        <p:spPr bwMode="gray">
          <a:xfrm>
            <a:off x="4659313" y="1871663"/>
            <a:ext cx="192246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98" name="Textplatzhalter 9">
            <a:extLst>
              <a:ext uri="{FF2B5EF4-FFF2-40B4-BE49-F238E27FC236}">
                <a16:creationId xmlns:a16="http://schemas.microsoft.com/office/drawing/2014/main" id="{16613BED-01DA-2195-569B-E554B01B411F}"/>
              </a:ext>
            </a:extLst>
          </p:cNvPr>
          <p:cNvSpPr txBox="1">
            <a:spLocks/>
          </p:cNvSpPr>
          <p:nvPr/>
        </p:nvSpPr>
        <p:spPr bwMode="gray">
          <a:xfrm>
            <a:off x="4659313" y="3195638"/>
            <a:ext cx="3148013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1399" name="连接符: 肘形 1398">
            <a:extLst>
              <a:ext uri="{FF2B5EF4-FFF2-40B4-BE49-F238E27FC236}">
                <a16:creationId xmlns:a16="http://schemas.microsoft.com/office/drawing/2014/main" id="{C9256714-B85D-2349-8F2C-7BCEBE8772C6}"/>
              </a:ext>
            </a:extLst>
          </p:cNvPr>
          <p:cNvCxnSpPr>
            <a:cxnSpLocks/>
            <a:stCxn id="1396" idx="1"/>
            <a:endCxn id="1410" idx="1"/>
          </p:cNvCxnSpPr>
          <p:nvPr/>
        </p:nvCxnSpPr>
        <p:spPr>
          <a:xfrm>
            <a:off x="3654238" y="2220913"/>
            <a:ext cx="801875" cy="64055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0" name="组合 1399">
            <a:extLst>
              <a:ext uri="{FF2B5EF4-FFF2-40B4-BE49-F238E27FC236}">
                <a16:creationId xmlns:a16="http://schemas.microsoft.com/office/drawing/2014/main" id="{03E729F7-5DD7-88B6-1C9F-7284F6170396}"/>
              </a:ext>
            </a:extLst>
          </p:cNvPr>
          <p:cNvGrpSpPr/>
          <p:nvPr/>
        </p:nvGrpSpPr>
        <p:grpSpPr>
          <a:xfrm>
            <a:off x="5449888" y="1408113"/>
            <a:ext cx="887413" cy="258763"/>
            <a:chOff x="5019885" y="4088857"/>
            <a:chExt cx="969121" cy="350678"/>
          </a:xfrm>
        </p:grpSpPr>
        <p:pic>
          <p:nvPicPr>
            <p:cNvPr id="1401" name="图片 1400">
              <a:extLst>
                <a:ext uri="{FF2B5EF4-FFF2-40B4-BE49-F238E27FC236}">
                  <a16:creationId xmlns:a16="http://schemas.microsoft.com/office/drawing/2014/main" id="{68317D66-12E6-B5D0-F5CD-42913A0C4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1402" name="图片 1401">
              <a:extLst>
                <a:ext uri="{FF2B5EF4-FFF2-40B4-BE49-F238E27FC236}">
                  <a16:creationId xmlns:a16="http://schemas.microsoft.com/office/drawing/2014/main" id="{CAC6DD95-C822-E899-858F-FBC3B44F1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403" name="Textplatzhalter 9">
            <a:extLst>
              <a:ext uri="{FF2B5EF4-FFF2-40B4-BE49-F238E27FC236}">
                <a16:creationId xmlns:a16="http://schemas.microsoft.com/office/drawing/2014/main" id="{EA764E57-925F-570A-EB1A-F368F015C986}"/>
              </a:ext>
            </a:extLst>
          </p:cNvPr>
          <p:cNvSpPr txBox="1">
            <a:spLocks/>
          </p:cNvSpPr>
          <p:nvPr/>
        </p:nvSpPr>
        <p:spPr bwMode="gray">
          <a:xfrm>
            <a:off x="4659313" y="2312988"/>
            <a:ext cx="3302000" cy="18415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404" name="组合 1403">
            <a:extLst>
              <a:ext uri="{FF2B5EF4-FFF2-40B4-BE49-F238E27FC236}">
                <a16:creationId xmlns:a16="http://schemas.microsoft.com/office/drawing/2014/main" id="{522532FF-3127-8AEA-05DD-510B3C05E401}"/>
              </a:ext>
            </a:extLst>
          </p:cNvPr>
          <p:cNvGrpSpPr/>
          <p:nvPr/>
        </p:nvGrpSpPr>
        <p:grpSpPr>
          <a:xfrm>
            <a:off x="5483225" y="2744788"/>
            <a:ext cx="1123950" cy="255588"/>
            <a:chOff x="4391911" y="2529715"/>
            <a:chExt cx="1124028" cy="256470"/>
          </a:xfrm>
        </p:grpSpPr>
        <p:pic>
          <p:nvPicPr>
            <p:cNvPr id="1405" name="Picture 2">
              <a:extLst>
                <a:ext uri="{FF2B5EF4-FFF2-40B4-BE49-F238E27FC236}">
                  <a16:creationId xmlns:a16="http://schemas.microsoft.com/office/drawing/2014/main" id="{8211F662-0C6E-5017-ABB5-6DA257A428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6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84FE8021-0FF0-5A5F-69DB-9BF5BCC20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7" name="Picture 6" descr="Google Cloud Logo - Significado, História e PNG">
              <a:extLst>
                <a:ext uri="{FF2B5EF4-FFF2-40B4-BE49-F238E27FC236}">
                  <a16:creationId xmlns:a16="http://schemas.microsoft.com/office/drawing/2014/main" id="{18886AD4-28FE-552D-3B9A-2F67DF8D27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08" name="Textplatzhalter 9">
            <a:extLst>
              <a:ext uri="{FF2B5EF4-FFF2-40B4-BE49-F238E27FC236}">
                <a16:creationId xmlns:a16="http://schemas.microsoft.com/office/drawing/2014/main" id="{5F3D983E-EB14-A418-08B7-E97C6511E8B1}"/>
              </a:ext>
            </a:extLst>
          </p:cNvPr>
          <p:cNvSpPr txBox="1">
            <a:spLocks/>
          </p:cNvSpPr>
          <p:nvPr/>
        </p:nvSpPr>
        <p:spPr bwMode="gray">
          <a:xfrm>
            <a:off x="4659313" y="3635375"/>
            <a:ext cx="3302000" cy="18573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09" name="Textplatzhalter 9">
            <a:extLst>
              <a:ext uri="{FF2B5EF4-FFF2-40B4-BE49-F238E27FC236}">
                <a16:creationId xmlns:a16="http://schemas.microsoft.com/office/drawing/2014/main" id="{A9F654BE-F0DA-B8D1-B3FA-F9320B7E041C}"/>
              </a:ext>
            </a:extLst>
          </p:cNvPr>
          <p:cNvSpPr txBox="1">
            <a:spLocks/>
          </p:cNvSpPr>
          <p:nvPr/>
        </p:nvSpPr>
        <p:spPr bwMode="gray">
          <a:xfrm>
            <a:off x="4452938" y="1430338"/>
            <a:ext cx="954088" cy="2159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410" name="Textplatzhalter 9">
            <a:extLst>
              <a:ext uri="{FF2B5EF4-FFF2-40B4-BE49-F238E27FC236}">
                <a16:creationId xmlns:a16="http://schemas.microsoft.com/office/drawing/2014/main" id="{5B2C3355-5A5C-48D5-C65E-15F42F14FF9C}"/>
              </a:ext>
            </a:extLst>
          </p:cNvPr>
          <p:cNvSpPr txBox="1">
            <a:spLocks/>
          </p:cNvSpPr>
          <p:nvPr/>
        </p:nvSpPr>
        <p:spPr bwMode="gray">
          <a:xfrm>
            <a:off x="4456113" y="2754313"/>
            <a:ext cx="969963" cy="21431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411" name="连接符: 肘形 1410">
            <a:extLst>
              <a:ext uri="{FF2B5EF4-FFF2-40B4-BE49-F238E27FC236}">
                <a16:creationId xmlns:a16="http://schemas.microsoft.com/office/drawing/2014/main" id="{176651E9-7E49-9E42-CA3C-0F2316F55C6E}"/>
              </a:ext>
            </a:extLst>
          </p:cNvPr>
          <p:cNvCxnSpPr>
            <a:cxnSpLocks/>
            <a:stCxn id="1396" idx="1"/>
            <a:endCxn id="1409" idx="1"/>
          </p:cNvCxnSpPr>
          <p:nvPr/>
        </p:nvCxnSpPr>
        <p:spPr>
          <a:xfrm flipV="1">
            <a:off x="3654238" y="1538288"/>
            <a:ext cx="798700" cy="6826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4" name="Chart 3">
            <a:extLst>
              <a:ext uri="{FF2B5EF4-FFF2-40B4-BE49-F238E27FC236}">
                <a16:creationId xmlns:a16="http://schemas.microsoft.com/office/drawing/2014/main" id="{F96090E8-A0AD-01F5-DD7D-E38709D8696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4487925"/>
              </p:ext>
            </p:extLst>
          </p:nvPr>
        </p:nvGraphicFramePr>
        <p:xfrm>
          <a:off x="4435475" y="415131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413" name="Text Placeholder 4">
            <a:extLst>
              <a:ext uri="{FF2B5EF4-FFF2-40B4-BE49-F238E27FC236}">
                <a16:creationId xmlns:a16="http://schemas.microsoft.com/office/drawing/2014/main" id="{FBFB7213-CBD7-DE45-432A-A372CEC0420D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43388" y="489108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6FE5113-0210-46DD-867E-EF96C17807F8}" type="datetime'''''0'''''''''''''''''''''''''''''''''">
              <a:rPr lang="en-US" altLang="en-US" sz="1400" smtClean="0">
                <a:cs typeface="+mn-cs"/>
              </a:rPr>
              <a:pPr/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414" name="Text Placeholder 4">
            <a:extLst>
              <a:ext uri="{FF2B5EF4-FFF2-40B4-BE49-F238E27FC236}">
                <a16:creationId xmlns:a16="http://schemas.microsoft.com/office/drawing/2014/main" id="{F8874D96-401C-37D7-A28E-EAAC1A1161D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44963" y="45100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134EEDA4-C57D-4E3E-98A4-C474F13D4585}" type="datetime'''''''''''''''''''''''''''''''''''''''''10'''''''''''''''">
              <a:rPr lang="en-US" altLang="en-US" sz="1400" smtClean="0">
                <a:cs typeface="+mn-cs"/>
              </a:rPr>
              <a:pPr/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415" name="Text Placeholder 4">
            <a:extLst>
              <a:ext uri="{FF2B5EF4-FFF2-40B4-BE49-F238E27FC236}">
                <a16:creationId xmlns:a16="http://schemas.microsoft.com/office/drawing/2014/main" id="{D4735798-ECD9-C96E-7D9B-95DA3531A1D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986213" y="41275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C037253-83FD-4C05-BA2C-9EB93CF0F1A9}" type="datetime'2''''''''''''0'''''''''''''''''''''''''''''''''''''''''''''''">
              <a:rPr lang="en-US" altLang="en-US" sz="1400" smtClean="0">
                <a:cs typeface="+mn-cs"/>
              </a:rPr>
              <a:pPr/>
              <a:t>20</a:t>
            </a:fld>
            <a:r>
              <a:rPr lang="en-US" altLang="en-US" sz="140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422" name="Text Placeholder 4">
            <a:extLst>
              <a:ext uri="{FF2B5EF4-FFF2-40B4-BE49-F238E27FC236}">
                <a16:creationId xmlns:a16="http://schemas.microsoft.com/office/drawing/2014/main" id="{26BEA46B-F84F-C1B1-E1DB-B4077DE0937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54513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7E9AB6B-AED5-4989-80F2-B00C0F8FFBB7}" type="datetime'''''''''''''''''''''''''''''''''''2''6''E'''''''''''''">
              <a:rPr lang="en-US" altLang="en-US" sz="1400" smtClean="0">
                <a:cs typeface="+mn-cs"/>
              </a:rPr>
              <a:pPr/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425" name="Text Placeholder 4">
            <a:extLst>
              <a:ext uri="{FF2B5EF4-FFF2-40B4-BE49-F238E27FC236}">
                <a16:creationId xmlns:a16="http://schemas.microsoft.com/office/drawing/2014/main" id="{260DCF94-A67F-A051-2326-04AEDB9FA4AB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3975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6A0894C-D2F7-4F71-8111-F9C66CE83905}" type="datetime'2''''''''''''''''7E'''''''''''''">
              <a:rPr lang="en-US" altLang="en-US" sz="1400" smtClean="0">
                <a:cs typeface="+mn-cs"/>
              </a:rPr>
              <a:pPr/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426" name="Text Placeholder 4">
            <a:extLst>
              <a:ext uri="{FF2B5EF4-FFF2-40B4-BE49-F238E27FC236}">
                <a16:creationId xmlns:a16="http://schemas.microsoft.com/office/drawing/2014/main" id="{789C8F66-69AA-1D93-3383-062C75DB003E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6448425" y="48529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9DD1B3-BA0B-43E1-8849-0C02258FFE44}" type="datetime'''''''''''''''''''''''''''''''1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427" name="Text Placeholder 4">
            <a:extLst>
              <a:ext uri="{FF2B5EF4-FFF2-40B4-BE49-F238E27FC236}">
                <a16:creationId xmlns:a16="http://schemas.microsoft.com/office/drawing/2014/main" id="{9B25B4A6-4275-9C84-0F58-BE43E0E3932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6448425" y="45862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FC0665D-B063-4850-B12C-9ED24FAB4E11}" type="datetime'''''''''''8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29" name="Text Placeholder 4">
            <a:extLst>
              <a:ext uri="{FF2B5EF4-FFF2-40B4-BE49-F238E27FC236}">
                <a16:creationId xmlns:a16="http://schemas.microsoft.com/office/drawing/2014/main" id="{2AFD4170-D175-5BF4-5A2C-C5886FC5AEEA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399213" y="415290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75B0ABA-583D-427D-B2B3-76EE3A7BCEE8}" type="datetime'''''''''''1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430" name="Text Placeholder 4">
            <a:extLst>
              <a:ext uri="{FF2B5EF4-FFF2-40B4-BE49-F238E27FC236}">
                <a16:creationId xmlns:a16="http://schemas.microsoft.com/office/drawing/2014/main" id="{0195472A-19CC-87DE-E781-C564ADC5D6C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438900" y="512445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B629FA-6B17-4ED8-8E9A-5B6EFE342258}" type="datetime'''''''''2''''''''''8''''''''''''''''''''E'''''''''''''''''''">
              <a:rPr lang="en-US" altLang="en-US" sz="1400" smtClean="0">
                <a:cs typeface="+mn-cs"/>
              </a:rPr>
              <a:pPr/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431" name="Text Placeholder 4">
            <a:extLst>
              <a:ext uri="{FF2B5EF4-FFF2-40B4-BE49-F238E27FC236}">
                <a16:creationId xmlns:a16="http://schemas.microsoft.com/office/drawing/2014/main" id="{CD843854-562C-D299-99A6-AADA2314B6C9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948488" y="47593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056E814-3E32-4F13-A75D-26EA28FB411A}" type="datetime'''''''''80''''''''''''''''''''''''''''''''''''''''0G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432" name="Text Placeholder 4">
            <a:extLst>
              <a:ext uri="{FF2B5EF4-FFF2-40B4-BE49-F238E27FC236}">
                <a16:creationId xmlns:a16="http://schemas.microsoft.com/office/drawing/2014/main" id="{D03AFBA1-008A-17A7-293F-8B90471A35E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948488" y="44958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01933D4-9C1F-4F55-B684-C4B13A82FA02}" type="datetime'''''''''''''''1.''6''''''''''''''''''T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433" name="Text Placeholder 4">
            <a:extLst>
              <a:ext uri="{FF2B5EF4-FFF2-40B4-BE49-F238E27FC236}">
                <a16:creationId xmlns:a16="http://schemas.microsoft.com/office/drawing/2014/main" id="{CA9F22E8-3AB0-7626-CC0F-F2C109A72E64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948488" y="42322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34DC2B7-0738-4155-8EF8-DB7C64A9AA63}" type="datetime'''''3''''''.''''''''''''''''''''''''''2''''''''''''''T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434" name="文本框 1433">
            <a:extLst>
              <a:ext uri="{FF2B5EF4-FFF2-40B4-BE49-F238E27FC236}">
                <a16:creationId xmlns:a16="http://schemas.microsoft.com/office/drawing/2014/main" id="{977F2327-63BF-71DD-543F-53761CD76AC2}"/>
              </a:ext>
            </a:extLst>
          </p:cNvPr>
          <p:cNvSpPr txBox="1"/>
          <p:nvPr/>
        </p:nvSpPr>
        <p:spPr>
          <a:xfrm>
            <a:off x="1663700" y="4405313"/>
            <a:ext cx="1997075" cy="5238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5" name="文本框 1434">
            <a:extLst>
              <a:ext uri="{FF2B5EF4-FFF2-40B4-BE49-F238E27FC236}">
                <a16:creationId xmlns:a16="http://schemas.microsoft.com/office/drawing/2014/main" id="{1A24FF55-8D07-0994-8912-6B20E3BCFD9B}"/>
              </a:ext>
            </a:extLst>
          </p:cNvPr>
          <p:cNvSpPr txBox="1"/>
          <p:nvPr/>
        </p:nvSpPr>
        <p:spPr>
          <a:xfrm>
            <a:off x="1663700" y="5699125"/>
            <a:ext cx="2111375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36" name="Textplatzhalter 9">
            <a:extLst>
              <a:ext uri="{FF2B5EF4-FFF2-40B4-BE49-F238E27FC236}">
                <a16:creationId xmlns:a16="http://schemas.microsoft.com/office/drawing/2014/main" id="{C0F94439-DC7D-8640-1D0E-67F196557AEA}"/>
              </a:ext>
            </a:extLst>
          </p:cNvPr>
          <p:cNvSpPr txBox="1">
            <a:spLocks/>
          </p:cNvSpPr>
          <p:nvPr/>
        </p:nvSpPr>
        <p:spPr bwMode="gray">
          <a:xfrm>
            <a:off x="7798263" y="5349353"/>
            <a:ext cx="4040811" cy="105157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~$900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Rate 2x -&gt; price 2x;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437" name="文本框 1436">
            <a:extLst>
              <a:ext uri="{FF2B5EF4-FFF2-40B4-BE49-F238E27FC236}">
                <a16:creationId xmlns:a16="http://schemas.microsoft.com/office/drawing/2014/main" id="{DC911E28-30C5-4722-83E5-6FBFC054E366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2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3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38" name="Textplatzhalter 9">
            <a:extLst>
              <a:ext uri="{FF2B5EF4-FFF2-40B4-BE49-F238E27FC236}">
                <a16:creationId xmlns:a16="http://schemas.microsoft.com/office/drawing/2014/main" id="{F20ECEAD-DA35-9C4C-D55B-F4E44DD4B118}"/>
              </a:ext>
            </a:extLst>
          </p:cNvPr>
          <p:cNvSpPr txBox="1">
            <a:spLocks/>
          </p:cNvSpPr>
          <p:nvPr/>
        </p:nvSpPr>
        <p:spPr bwMode="gray">
          <a:xfrm>
            <a:off x="7798263" y="4476761"/>
            <a:ext cx="3972517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439" name="Textplatzhalter 9">
            <a:extLst>
              <a:ext uri="{FF2B5EF4-FFF2-40B4-BE49-F238E27FC236}">
                <a16:creationId xmlns:a16="http://schemas.microsoft.com/office/drawing/2014/main" id="{8B54E0EE-7744-600F-E4A7-BF4BB4F08691}"/>
              </a:ext>
            </a:extLst>
          </p:cNvPr>
          <p:cNvSpPr txBox="1">
            <a:spLocks/>
          </p:cNvSpPr>
          <p:nvPr/>
        </p:nvSpPr>
        <p:spPr bwMode="gray">
          <a:xfrm>
            <a:off x="7798263" y="1850697"/>
            <a:ext cx="4040811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440" name="文本框 1439">
            <a:extLst>
              <a:ext uri="{FF2B5EF4-FFF2-40B4-BE49-F238E27FC236}">
                <a16:creationId xmlns:a16="http://schemas.microsoft.com/office/drawing/2014/main" id="{27E9DECE-2FC1-59B6-43DA-8749AD5DC605}"/>
              </a:ext>
            </a:extLst>
          </p:cNvPr>
          <p:cNvSpPr txBox="1"/>
          <p:nvPr/>
        </p:nvSpPr>
        <p:spPr>
          <a:xfrm>
            <a:off x="2959100" y="1909763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1" name="文本框 1440">
            <a:extLst>
              <a:ext uri="{FF2B5EF4-FFF2-40B4-BE49-F238E27FC236}">
                <a16:creationId xmlns:a16="http://schemas.microsoft.com/office/drawing/2014/main" id="{B40DE99B-CDD4-D6BC-F9F0-5E412E8AF681}"/>
              </a:ext>
            </a:extLst>
          </p:cNvPr>
          <p:cNvSpPr txBox="1"/>
          <p:nvPr/>
        </p:nvSpPr>
        <p:spPr>
          <a:xfrm>
            <a:off x="3195638" y="4083050"/>
            <a:ext cx="1997075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2" name="文本框 1441">
            <a:extLst>
              <a:ext uri="{FF2B5EF4-FFF2-40B4-BE49-F238E27FC236}">
                <a16:creationId xmlns:a16="http://schemas.microsoft.com/office/drawing/2014/main" id="{CD60B7EC-3107-E2E5-D13E-23E96FE8B69F}"/>
              </a:ext>
            </a:extLst>
          </p:cNvPr>
          <p:cNvSpPr txBox="1"/>
          <p:nvPr/>
        </p:nvSpPr>
        <p:spPr>
          <a:xfrm>
            <a:off x="2582863" y="5389563"/>
            <a:ext cx="782638" cy="306388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443" name="文本框 1442">
            <a:extLst>
              <a:ext uri="{FF2B5EF4-FFF2-40B4-BE49-F238E27FC236}">
                <a16:creationId xmlns:a16="http://schemas.microsoft.com/office/drawing/2014/main" id="{A59A707E-2595-B2E3-0CB5-A62040826D2D}"/>
              </a:ext>
            </a:extLst>
          </p:cNvPr>
          <p:cNvSpPr txBox="1"/>
          <p:nvPr/>
        </p:nvSpPr>
        <p:spPr>
          <a:xfrm>
            <a:off x="6005513" y="1824038"/>
            <a:ext cx="8572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4" name="文本框 1443">
            <a:extLst>
              <a:ext uri="{FF2B5EF4-FFF2-40B4-BE49-F238E27FC236}">
                <a16:creationId xmlns:a16="http://schemas.microsoft.com/office/drawing/2014/main" id="{6E731C7D-7489-7FB3-23A1-E40293ED0FB2}"/>
              </a:ext>
            </a:extLst>
          </p:cNvPr>
          <p:cNvSpPr txBox="1"/>
          <p:nvPr/>
        </p:nvSpPr>
        <p:spPr>
          <a:xfrm>
            <a:off x="6484938" y="2247900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5" name="文本框 1444">
            <a:extLst>
              <a:ext uri="{FF2B5EF4-FFF2-40B4-BE49-F238E27FC236}">
                <a16:creationId xmlns:a16="http://schemas.microsoft.com/office/drawing/2014/main" id="{32DB798C-0AEF-C7B9-EF5F-4570BA2DB6E7}"/>
              </a:ext>
            </a:extLst>
          </p:cNvPr>
          <p:cNvSpPr txBox="1"/>
          <p:nvPr/>
        </p:nvSpPr>
        <p:spPr>
          <a:xfrm>
            <a:off x="6005513" y="3149383"/>
            <a:ext cx="857250" cy="277813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46" name="文本框 1445">
            <a:extLst>
              <a:ext uri="{FF2B5EF4-FFF2-40B4-BE49-F238E27FC236}">
                <a16:creationId xmlns:a16="http://schemas.microsoft.com/office/drawing/2014/main" id="{A273CBD3-2C88-98A5-2E1D-ECEC31BA3E86}"/>
              </a:ext>
            </a:extLst>
          </p:cNvPr>
          <p:cNvSpPr txBox="1"/>
          <p:nvPr/>
        </p:nvSpPr>
        <p:spPr>
          <a:xfrm>
            <a:off x="6537325" y="3586163"/>
            <a:ext cx="1530350" cy="27622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47" name="Textplatzhalter 9">
            <a:extLst>
              <a:ext uri="{FF2B5EF4-FFF2-40B4-BE49-F238E27FC236}">
                <a16:creationId xmlns:a16="http://schemas.microsoft.com/office/drawing/2014/main" id="{7444545F-D854-8627-3DA0-C894B3AF6DB9}"/>
              </a:ext>
            </a:extLst>
          </p:cNvPr>
          <p:cNvSpPr txBox="1">
            <a:spLocks/>
          </p:cNvSpPr>
          <p:nvPr/>
        </p:nvSpPr>
        <p:spPr bwMode="gray">
          <a:xfrm>
            <a:off x="7798263" y="2279235"/>
            <a:ext cx="4040812" cy="55399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48" name="Textplatzhalter 9">
            <a:extLst>
              <a:ext uri="{FF2B5EF4-FFF2-40B4-BE49-F238E27FC236}">
                <a16:creationId xmlns:a16="http://schemas.microsoft.com/office/drawing/2014/main" id="{B827B430-14FD-3DFA-E1F4-3A0F2CECA873}"/>
              </a:ext>
            </a:extLst>
          </p:cNvPr>
          <p:cNvSpPr txBox="1">
            <a:spLocks/>
          </p:cNvSpPr>
          <p:nvPr/>
        </p:nvSpPr>
        <p:spPr bwMode="gray">
          <a:xfrm>
            <a:off x="7798263" y="3611089"/>
            <a:ext cx="4040812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49" name="Textplatzhalter 9">
            <a:extLst>
              <a:ext uri="{FF2B5EF4-FFF2-40B4-BE49-F238E27FC236}">
                <a16:creationId xmlns:a16="http://schemas.microsoft.com/office/drawing/2014/main" id="{B646EBF2-EABE-1FC8-2743-0118153B2477}"/>
              </a:ext>
            </a:extLst>
          </p:cNvPr>
          <p:cNvSpPr txBox="1">
            <a:spLocks/>
          </p:cNvSpPr>
          <p:nvPr/>
        </p:nvSpPr>
        <p:spPr bwMode="gray">
          <a:xfrm>
            <a:off x="7798263" y="3163729"/>
            <a:ext cx="4072684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50" name="文本框 1449">
            <a:extLst>
              <a:ext uri="{FF2B5EF4-FFF2-40B4-BE49-F238E27FC236}">
                <a16:creationId xmlns:a16="http://schemas.microsoft.com/office/drawing/2014/main" id="{87DDA19C-4815-B515-BBB8-F6EB0B654C0E}"/>
              </a:ext>
            </a:extLst>
          </p:cNvPr>
          <p:cNvSpPr txBox="1"/>
          <p:nvPr/>
        </p:nvSpPr>
        <p:spPr>
          <a:xfrm>
            <a:off x="6369050" y="1392238"/>
            <a:ext cx="1998663" cy="307975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1" name="文本框 1450">
            <a:extLst>
              <a:ext uri="{FF2B5EF4-FFF2-40B4-BE49-F238E27FC236}">
                <a16:creationId xmlns:a16="http://schemas.microsoft.com/office/drawing/2014/main" id="{EF7348D2-94AC-16A8-C879-B0DAF6D52802}"/>
              </a:ext>
            </a:extLst>
          </p:cNvPr>
          <p:cNvSpPr txBox="1"/>
          <p:nvPr/>
        </p:nvSpPr>
        <p:spPr>
          <a:xfrm>
            <a:off x="6654475" y="27117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52" name="文本框 1451">
            <a:extLst>
              <a:ext uri="{FF2B5EF4-FFF2-40B4-BE49-F238E27FC236}">
                <a16:creationId xmlns:a16="http://schemas.microsoft.com/office/drawing/2014/main" id="{82204CCB-6A99-AD18-8749-29ECEEC211DB}"/>
              </a:ext>
            </a:extLst>
          </p:cNvPr>
          <p:cNvSpPr txBox="1"/>
          <p:nvPr/>
        </p:nvSpPr>
        <p:spPr>
          <a:xfrm>
            <a:off x="7601086" y="1170724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454" name="箭头: V 形 16">
            <a:extLst>
              <a:ext uri="{FF2B5EF4-FFF2-40B4-BE49-F238E27FC236}">
                <a16:creationId xmlns:a16="http://schemas.microsoft.com/office/drawing/2014/main" id="{5A4B73DD-4289-96BC-4397-DB839DB09308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5" name="箭头: V 形 26">
            <a:extLst>
              <a:ext uri="{FF2B5EF4-FFF2-40B4-BE49-F238E27FC236}">
                <a16:creationId xmlns:a16="http://schemas.microsoft.com/office/drawing/2014/main" id="{5028A8F8-0B79-0FA0-BAFD-2A0A7DB3D86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6" name="箭头: V 形 38">
            <a:extLst>
              <a:ext uri="{FF2B5EF4-FFF2-40B4-BE49-F238E27FC236}">
                <a16:creationId xmlns:a16="http://schemas.microsoft.com/office/drawing/2014/main" id="{4BFE644B-FF24-FE83-4432-F30D1EAA11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7" name="箭头: V 形 26">
            <a:extLst>
              <a:ext uri="{FF2B5EF4-FFF2-40B4-BE49-F238E27FC236}">
                <a16:creationId xmlns:a16="http://schemas.microsoft.com/office/drawing/2014/main" id="{69F64DD4-A91E-C721-5688-B3F4E3A98C8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8" name="箭头: V 形 38">
            <a:extLst>
              <a:ext uri="{FF2B5EF4-FFF2-40B4-BE49-F238E27FC236}">
                <a16:creationId xmlns:a16="http://schemas.microsoft.com/office/drawing/2014/main" id="{03ACB343-7599-D3DD-8CAB-227393836AF8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59" name="箭头: V 形 38">
            <a:extLst>
              <a:ext uri="{FF2B5EF4-FFF2-40B4-BE49-F238E27FC236}">
                <a16:creationId xmlns:a16="http://schemas.microsoft.com/office/drawing/2014/main" id="{F6FABFF3-9861-6482-A5A7-28BCCAE19E9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60" name="箭头: V 形 38">
            <a:extLst>
              <a:ext uri="{FF2B5EF4-FFF2-40B4-BE49-F238E27FC236}">
                <a16:creationId xmlns:a16="http://schemas.microsoft.com/office/drawing/2014/main" id="{13A24C74-1C72-03EC-29CE-B920460C2F95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61" name="箭头: V 形 38">
            <a:extLst>
              <a:ext uri="{FF2B5EF4-FFF2-40B4-BE49-F238E27FC236}">
                <a16:creationId xmlns:a16="http://schemas.microsoft.com/office/drawing/2014/main" id="{632CC3EC-21D4-8ED2-65DF-BBD599006C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462" name="标题 1">
            <a:extLst>
              <a:ext uri="{FF2B5EF4-FFF2-40B4-BE49-F238E27FC236}">
                <a16:creationId xmlns:a16="http://schemas.microsoft.com/office/drawing/2014/main" id="{B03756F3-6A8B-F757-4708-044CE3632633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082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Estimating the CPO market: driven by port growth and data rate scaling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BD534C-0CD8-AC47-C27F-164761BD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C7EBD1A-5B2A-3C1C-D8DD-26C0D74C29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080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矩形 2053">
            <a:extLst>
              <a:ext uri="{FF2B5EF4-FFF2-40B4-BE49-F238E27FC236}">
                <a16:creationId xmlns:a16="http://schemas.microsoft.com/office/drawing/2014/main" id="{5E171FB4-2F94-8E92-30CD-493324D3B123}"/>
              </a:ext>
            </a:extLst>
          </p:cNvPr>
          <p:cNvSpPr/>
          <p:nvPr/>
        </p:nvSpPr>
        <p:spPr>
          <a:xfrm>
            <a:off x="3615007" y="2848302"/>
            <a:ext cx="4144994" cy="56543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grpSp>
        <p:nvGrpSpPr>
          <p:cNvPr id="2171" name="组合 2170">
            <a:extLst>
              <a:ext uri="{FF2B5EF4-FFF2-40B4-BE49-F238E27FC236}">
                <a16:creationId xmlns:a16="http://schemas.microsoft.com/office/drawing/2014/main" id="{E1D46175-7E4A-FE75-1E6B-88D9C38620BC}"/>
              </a:ext>
            </a:extLst>
          </p:cNvPr>
          <p:cNvGrpSpPr/>
          <p:nvPr/>
        </p:nvGrpSpPr>
        <p:grpSpPr>
          <a:xfrm>
            <a:off x="6453113" y="3301171"/>
            <a:ext cx="926906" cy="155590"/>
            <a:chOff x="3848423" y="6738126"/>
            <a:chExt cx="926906" cy="155590"/>
          </a:xfrm>
          <a:solidFill>
            <a:schemeClr val="bg1">
              <a:lumMod val="65000"/>
            </a:schemeClr>
          </a:solidFill>
        </p:grpSpPr>
        <p:sp>
          <p:nvSpPr>
            <p:cNvPr id="2172" name="椭圆 2171">
              <a:extLst>
                <a:ext uri="{FF2B5EF4-FFF2-40B4-BE49-F238E27FC236}">
                  <a16:creationId xmlns:a16="http://schemas.microsoft.com/office/drawing/2014/main" id="{C042C700-0DA3-D1B1-CEC0-2AEC928BB4C2}"/>
                </a:ext>
              </a:extLst>
            </p:cNvPr>
            <p:cNvSpPr/>
            <p:nvPr/>
          </p:nvSpPr>
          <p:spPr>
            <a:xfrm>
              <a:off x="3848423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73" name="椭圆 2172">
              <a:extLst>
                <a:ext uri="{FF2B5EF4-FFF2-40B4-BE49-F238E27FC236}">
                  <a16:creationId xmlns:a16="http://schemas.microsoft.com/office/drawing/2014/main" id="{B232D8D0-7C71-BA3F-33DC-A0FB2833038D}"/>
                </a:ext>
              </a:extLst>
            </p:cNvPr>
            <p:cNvSpPr/>
            <p:nvPr/>
          </p:nvSpPr>
          <p:spPr>
            <a:xfrm>
              <a:off x="4234081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74" name="椭圆 2173">
              <a:extLst>
                <a:ext uri="{FF2B5EF4-FFF2-40B4-BE49-F238E27FC236}">
                  <a16:creationId xmlns:a16="http://schemas.microsoft.com/office/drawing/2014/main" id="{E9F1C6BD-94C3-681D-3937-32A531559D1F}"/>
                </a:ext>
              </a:extLst>
            </p:cNvPr>
            <p:cNvSpPr/>
            <p:nvPr/>
          </p:nvSpPr>
          <p:spPr>
            <a:xfrm>
              <a:off x="4619739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170" name="组合 2169">
            <a:extLst>
              <a:ext uri="{FF2B5EF4-FFF2-40B4-BE49-F238E27FC236}">
                <a16:creationId xmlns:a16="http://schemas.microsoft.com/office/drawing/2014/main" id="{376CE010-CD31-75EA-6398-9E3F51309D4E}"/>
              </a:ext>
            </a:extLst>
          </p:cNvPr>
          <p:cNvGrpSpPr/>
          <p:nvPr/>
        </p:nvGrpSpPr>
        <p:grpSpPr>
          <a:xfrm>
            <a:off x="4035355" y="3301171"/>
            <a:ext cx="926906" cy="155590"/>
            <a:chOff x="3848423" y="6738126"/>
            <a:chExt cx="926906" cy="155590"/>
          </a:xfrm>
          <a:solidFill>
            <a:schemeClr val="bg1">
              <a:lumMod val="65000"/>
            </a:schemeClr>
          </a:solidFill>
        </p:grpSpPr>
        <p:sp>
          <p:nvSpPr>
            <p:cNvPr id="2165" name="椭圆 2164">
              <a:extLst>
                <a:ext uri="{FF2B5EF4-FFF2-40B4-BE49-F238E27FC236}">
                  <a16:creationId xmlns:a16="http://schemas.microsoft.com/office/drawing/2014/main" id="{929F2BE6-E54B-0DFF-6E12-82C6B23924D0}"/>
                </a:ext>
              </a:extLst>
            </p:cNvPr>
            <p:cNvSpPr/>
            <p:nvPr/>
          </p:nvSpPr>
          <p:spPr>
            <a:xfrm>
              <a:off x="3848423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66" name="椭圆 2165">
              <a:extLst>
                <a:ext uri="{FF2B5EF4-FFF2-40B4-BE49-F238E27FC236}">
                  <a16:creationId xmlns:a16="http://schemas.microsoft.com/office/drawing/2014/main" id="{F40F55A9-9C28-961C-3B93-A05F02B97263}"/>
                </a:ext>
              </a:extLst>
            </p:cNvPr>
            <p:cNvSpPr/>
            <p:nvPr/>
          </p:nvSpPr>
          <p:spPr>
            <a:xfrm>
              <a:off x="4234081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68" name="椭圆 2167">
              <a:extLst>
                <a:ext uri="{FF2B5EF4-FFF2-40B4-BE49-F238E27FC236}">
                  <a16:creationId xmlns:a16="http://schemas.microsoft.com/office/drawing/2014/main" id="{C93A76C5-006B-FD9C-99E4-3C16856DC04B}"/>
                </a:ext>
              </a:extLst>
            </p:cNvPr>
            <p:cNvSpPr/>
            <p:nvPr/>
          </p:nvSpPr>
          <p:spPr>
            <a:xfrm>
              <a:off x="4619739" y="6738126"/>
              <a:ext cx="155590" cy="1555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grpSp>
        <p:nvGrpSpPr>
          <p:cNvPr id="2129" name="组合 2128">
            <a:extLst>
              <a:ext uri="{FF2B5EF4-FFF2-40B4-BE49-F238E27FC236}">
                <a16:creationId xmlns:a16="http://schemas.microsoft.com/office/drawing/2014/main" id="{19250404-5A18-E176-8F2D-2959B31E872F}"/>
              </a:ext>
            </a:extLst>
          </p:cNvPr>
          <p:cNvGrpSpPr/>
          <p:nvPr/>
        </p:nvGrpSpPr>
        <p:grpSpPr>
          <a:xfrm>
            <a:off x="9008144" y="3301171"/>
            <a:ext cx="1698218" cy="155590"/>
            <a:chOff x="7867918" y="2835520"/>
            <a:chExt cx="565185" cy="51782"/>
          </a:xfrm>
          <a:solidFill>
            <a:schemeClr val="bg1">
              <a:lumMod val="65000"/>
            </a:schemeClr>
          </a:solidFill>
        </p:grpSpPr>
        <p:sp>
          <p:nvSpPr>
            <p:cNvPr id="2130" name="椭圆 2129">
              <a:extLst>
                <a:ext uri="{FF2B5EF4-FFF2-40B4-BE49-F238E27FC236}">
                  <a16:creationId xmlns:a16="http://schemas.microsoft.com/office/drawing/2014/main" id="{D63E8017-BE2C-57D6-1724-5A76E445CEB3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1" name="椭圆 2130">
              <a:extLst>
                <a:ext uri="{FF2B5EF4-FFF2-40B4-BE49-F238E27FC236}">
                  <a16:creationId xmlns:a16="http://schemas.microsoft.com/office/drawing/2014/main" id="{BE3C62C9-1773-B4FB-235D-F1F2B10D23BE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2" name="椭圆 2131">
              <a:extLst>
                <a:ext uri="{FF2B5EF4-FFF2-40B4-BE49-F238E27FC236}">
                  <a16:creationId xmlns:a16="http://schemas.microsoft.com/office/drawing/2014/main" id="{6FF091C2-A810-5B07-8358-99B14A23A568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3" name="椭圆 2132">
              <a:extLst>
                <a:ext uri="{FF2B5EF4-FFF2-40B4-BE49-F238E27FC236}">
                  <a16:creationId xmlns:a16="http://schemas.microsoft.com/office/drawing/2014/main" id="{4175CC4A-1048-D6FA-1606-29014DDCF014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2134" name="椭圆 2133">
              <a:extLst>
                <a:ext uri="{FF2B5EF4-FFF2-40B4-BE49-F238E27FC236}">
                  <a16:creationId xmlns:a16="http://schemas.microsoft.com/office/drawing/2014/main" id="{022A331E-0C03-4D14-D95E-A755A577446D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</p:grpSp>
      <p:sp>
        <p:nvSpPr>
          <p:cNvPr id="15" name="文本框 15">
            <a:extLst>
              <a:ext uri="{FF2B5EF4-FFF2-40B4-BE49-F238E27FC236}">
                <a16:creationId xmlns:a16="http://schemas.microsoft.com/office/drawing/2014/main" id="{E04BEC92-42D7-D3DA-C273-8EAFD1342C30}"/>
              </a:ext>
            </a:extLst>
          </p:cNvPr>
          <p:cNvSpPr txBox="1"/>
          <p:nvPr/>
        </p:nvSpPr>
        <p:spPr>
          <a:xfrm>
            <a:off x="553356" y="2223688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Fiber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BAE914C3-32C8-C509-AE45-87585ACA1627}"/>
              </a:ext>
            </a:extLst>
          </p:cNvPr>
          <p:cNvSpPr txBox="1"/>
          <p:nvPr/>
        </p:nvSpPr>
        <p:spPr>
          <a:xfrm>
            <a:off x="2782853" y="2223688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Optical ↔ electrical signal conversion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D4E1E63D-5610-2233-1B78-758774686D71}"/>
              </a:ext>
            </a:extLst>
          </p:cNvPr>
          <p:cNvSpPr txBox="1"/>
          <p:nvPr/>
        </p:nvSpPr>
        <p:spPr>
          <a:xfrm>
            <a:off x="5963327" y="2223688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2F5D24BD-3391-45F0-E65C-75ABEF21CA2C}"/>
              </a:ext>
            </a:extLst>
          </p:cNvPr>
          <p:cNvSpPr/>
          <p:nvPr/>
        </p:nvSpPr>
        <p:spPr>
          <a:xfrm>
            <a:off x="5999937" y="1804976"/>
            <a:ext cx="278297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Engine: EIC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0E2D8155-2EF2-B2DD-52E3-508790B5624F}"/>
              </a:ext>
            </a:extLst>
          </p:cNvPr>
          <p:cNvSpPr/>
          <p:nvPr/>
        </p:nvSpPr>
        <p:spPr>
          <a:xfrm>
            <a:off x="8932734" y="1804976"/>
            <a:ext cx="1938466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3A549949-3BF0-6801-84E8-B2940869F49A}"/>
              </a:ext>
            </a:extLst>
          </p:cNvPr>
          <p:cNvSpPr/>
          <p:nvPr/>
        </p:nvSpPr>
        <p:spPr>
          <a:xfrm>
            <a:off x="594856" y="1800503"/>
            <a:ext cx="2135244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FA450CFE-BE81-4DBD-A737-86750B1590A6}"/>
              </a:ext>
            </a:extLst>
          </p:cNvPr>
          <p:cNvSpPr/>
          <p:nvPr/>
        </p:nvSpPr>
        <p:spPr>
          <a:xfrm>
            <a:off x="2885694" y="1804976"/>
            <a:ext cx="2958649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Engine: </a:t>
            </a:r>
            <a:r>
              <a:rPr lang="en-US" altLang="zh-CN" dirty="0" err="1">
                <a:solidFill>
                  <a:schemeClr val="bg1"/>
                </a:solidFill>
                <a:cs typeface="+mn-ea"/>
                <a:sym typeface="+mn-lt"/>
              </a:rPr>
              <a:t>SiPh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C5B2C54C-61B3-D3A5-871E-6AEA20AE8F02}"/>
              </a:ext>
            </a:extLst>
          </p:cNvPr>
          <p:cNvSpPr txBox="1"/>
          <p:nvPr/>
        </p:nvSpPr>
        <p:spPr>
          <a:xfrm>
            <a:off x="8880674" y="2223688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C5297109-BC70-9090-2EBD-015570BD2EE8}"/>
              </a:ext>
            </a:extLst>
          </p:cNvPr>
          <p:cNvSpPr/>
          <p:nvPr/>
        </p:nvSpPr>
        <p:spPr>
          <a:xfrm rot="16200000">
            <a:off x="6015036" y="-342137"/>
            <a:ext cx="256715" cy="10623016"/>
          </a:xfrm>
          <a:prstGeom prst="leftBrace">
            <a:avLst/>
          </a:prstGeom>
          <a:ln w="127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C55D76BC-6CD8-248D-ECB0-45F46D34D674}"/>
              </a:ext>
            </a:extLst>
          </p:cNvPr>
          <p:cNvSpPr txBox="1"/>
          <p:nvPr/>
        </p:nvSpPr>
        <p:spPr>
          <a:xfrm>
            <a:off x="2765604" y="5249815"/>
            <a:ext cx="6647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Integration: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advanced packaging + system integration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7C141E8-1274-F16B-8905-2A26A6E0820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F2C8CB77-B283-2291-51F6-3ABB84EB145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5EA4DCEE-C701-754E-14FA-BF268C28F9CF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728D0C1-7CFC-323D-9450-9590AEAF60BE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0DE1550-48E8-AF35-444D-A6E284AC267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23AF6AD-43C9-7BD0-90E0-A935C1EF07B4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3F729709-B5F7-3498-E950-5120B847623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2E0ADF9A-9911-7B2E-3397-3D9EC002E36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D4E6372-238C-71B9-9886-728FEC3A26B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AD695FB-639E-0D5C-43FC-00A541E7EEA7}"/>
              </a:ext>
            </a:extLst>
          </p:cNvPr>
          <p:cNvSpPr/>
          <p:nvPr/>
        </p:nvSpPr>
        <p:spPr>
          <a:xfrm>
            <a:off x="594856" y="3862878"/>
            <a:ext cx="11089142" cy="486179"/>
          </a:xfrm>
          <a:prstGeom prst="roundRect">
            <a:avLst>
              <a:gd name="adj" fmla="val 2414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AF5775D-3501-E332-4284-164EDB296BA8}"/>
              </a:ext>
            </a:extLst>
          </p:cNvPr>
          <p:cNvSpPr/>
          <p:nvPr/>
        </p:nvSpPr>
        <p:spPr>
          <a:xfrm>
            <a:off x="2806772" y="3432112"/>
            <a:ext cx="8238170" cy="417314"/>
          </a:xfrm>
          <a:prstGeom prst="roundRect">
            <a:avLst>
              <a:gd name="adj" fmla="val 2414"/>
            </a:avLst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591CEEC2-EFE3-22BF-6287-0C02F786822A}"/>
              </a:ext>
            </a:extLst>
          </p:cNvPr>
          <p:cNvSpPr/>
          <p:nvPr/>
        </p:nvSpPr>
        <p:spPr>
          <a:xfrm>
            <a:off x="8893698" y="2814615"/>
            <a:ext cx="1887075" cy="523270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ASIC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D6E668E-337E-D0C3-C537-2661486912A7}"/>
              </a:ext>
            </a:extLst>
          </p:cNvPr>
          <p:cNvSpPr/>
          <p:nvPr/>
        </p:nvSpPr>
        <p:spPr>
          <a:xfrm>
            <a:off x="1550728" y="3291780"/>
            <a:ext cx="493982" cy="547077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048" name="直接连接符 2047">
            <a:extLst>
              <a:ext uri="{FF2B5EF4-FFF2-40B4-BE49-F238E27FC236}">
                <a16:creationId xmlns:a16="http://schemas.microsoft.com/office/drawing/2014/main" id="{D92EA24E-4D0C-A316-A3EE-D97251BA2683}"/>
              </a:ext>
            </a:extLst>
          </p:cNvPr>
          <p:cNvCxnSpPr>
            <a:cxnSpLocks/>
          </p:cNvCxnSpPr>
          <p:nvPr/>
        </p:nvCxnSpPr>
        <p:spPr>
          <a:xfrm>
            <a:off x="292100" y="3564290"/>
            <a:ext cx="202993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直接连接符 2056">
            <a:extLst>
              <a:ext uri="{FF2B5EF4-FFF2-40B4-BE49-F238E27FC236}">
                <a16:creationId xmlns:a16="http://schemas.microsoft.com/office/drawing/2014/main" id="{F5D6322D-2970-45FC-17D9-E1B38E0DFD43}"/>
              </a:ext>
            </a:extLst>
          </p:cNvPr>
          <p:cNvCxnSpPr>
            <a:cxnSpLocks/>
            <a:endCxn id="2162" idx="1"/>
          </p:cNvCxnSpPr>
          <p:nvPr/>
        </p:nvCxnSpPr>
        <p:spPr>
          <a:xfrm>
            <a:off x="2322028" y="3175893"/>
            <a:ext cx="1467809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直接连接符 2058">
            <a:extLst>
              <a:ext uri="{FF2B5EF4-FFF2-40B4-BE49-F238E27FC236}">
                <a16:creationId xmlns:a16="http://schemas.microsoft.com/office/drawing/2014/main" id="{7403D9F6-DA6F-F85E-88FE-30218BABA991}"/>
              </a:ext>
            </a:extLst>
          </p:cNvPr>
          <p:cNvCxnSpPr>
            <a:cxnSpLocks/>
          </p:cNvCxnSpPr>
          <p:nvPr/>
        </p:nvCxnSpPr>
        <p:spPr>
          <a:xfrm>
            <a:off x="2322030" y="3166365"/>
            <a:ext cx="0" cy="4140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2" name="矩形 2161">
            <a:extLst>
              <a:ext uri="{FF2B5EF4-FFF2-40B4-BE49-F238E27FC236}">
                <a16:creationId xmlns:a16="http://schemas.microsoft.com/office/drawing/2014/main" id="{718F6718-849F-F6C4-E69D-3B3DB1121808}"/>
              </a:ext>
            </a:extLst>
          </p:cNvPr>
          <p:cNvSpPr/>
          <p:nvPr/>
        </p:nvSpPr>
        <p:spPr>
          <a:xfrm>
            <a:off x="3789837" y="3035554"/>
            <a:ext cx="1372286" cy="28067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cs typeface="+mn-ea"/>
                <a:sym typeface="+mn-lt"/>
              </a:rPr>
              <a:t>SiPh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63" name="矩形 2162">
            <a:extLst>
              <a:ext uri="{FF2B5EF4-FFF2-40B4-BE49-F238E27FC236}">
                <a16:creationId xmlns:a16="http://schemas.microsoft.com/office/drawing/2014/main" id="{BAF8A8C5-C75B-AEA2-6BB9-A1EE78F42C75}"/>
              </a:ext>
            </a:extLst>
          </p:cNvPr>
          <p:cNvSpPr/>
          <p:nvPr/>
        </p:nvSpPr>
        <p:spPr>
          <a:xfrm>
            <a:off x="6230423" y="3035554"/>
            <a:ext cx="1372286" cy="280678"/>
          </a:xfrm>
          <a:prstGeom prst="rect">
            <a:avLst/>
          </a:prstGeom>
          <a:solidFill>
            <a:srgbClr val="0052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EIC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75" name="矩形 2174">
            <a:extLst>
              <a:ext uri="{FF2B5EF4-FFF2-40B4-BE49-F238E27FC236}">
                <a16:creationId xmlns:a16="http://schemas.microsoft.com/office/drawing/2014/main" id="{B292F71B-8E88-1231-2250-C42C44718C14}"/>
              </a:ext>
            </a:extLst>
          </p:cNvPr>
          <p:cNvSpPr/>
          <p:nvPr/>
        </p:nvSpPr>
        <p:spPr>
          <a:xfrm>
            <a:off x="1438129" y="3491078"/>
            <a:ext cx="752870" cy="15661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176" name="椭圆 2175">
            <a:extLst>
              <a:ext uri="{FF2B5EF4-FFF2-40B4-BE49-F238E27FC236}">
                <a16:creationId xmlns:a16="http://schemas.microsoft.com/office/drawing/2014/main" id="{C4DF7B41-BFC6-D430-D6CA-DB0B0A4674B4}"/>
              </a:ext>
            </a:extLst>
          </p:cNvPr>
          <p:cNvSpPr/>
          <p:nvPr/>
        </p:nvSpPr>
        <p:spPr>
          <a:xfrm>
            <a:off x="616483" y="3396924"/>
            <a:ext cx="565126" cy="336788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2186" name="直接连接符 2185">
            <a:extLst>
              <a:ext uri="{FF2B5EF4-FFF2-40B4-BE49-F238E27FC236}">
                <a16:creationId xmlns:a16="http://schemas.microsoft.com/office/drawing/2014/main" id="{70D488DA-84D6-2A0D-48CE-EC4A91703C21}"/>
              </a:ext>
            </a:extLst>
          </p:cNvPr>
          <p:cNvCxnSpPr>
            <a:cxnSpLocks/>
          </p:cNvCxnSpPr>
          <p:nvPr/>
        </p:nvCxnSpPr>
        <p:spPr>
          <a:xfrm>
            <a:off x="4877261" y="3640769"/>
            <a:ext cx="1664827" cy="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3" name="直接连接符 2192">
            <a:extLst>
              <a:ext uri="{FF2B5EF4-FFF2-40B4-BE49-F238E27FC236}">
                <a16:creationId xmlns:a16="http://schemas.microsoft.com/office/drawing/2014/main" id="{71A7BF27-E34E-4369-D426-ECC94193C82E}"/>
              </a:ext>
            </a:extLst>
          </p:cNvPr>
          <p:cNvCxnSpPr>
            <a:cxnSpLocks/>
          </p:cNvCxnSpPr>
          <p:nvPr/>
        </p:nvCxnSpPr>
        <p:spPr>
          <a:xfrm>
            <a:off x="4881494" y="3324698"/>
            <a:ext cx="0" cy="324537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直接连接符 2197">
            <a:extLst>
              <a:ext uri="{FF2B5EF4-FFF2-40B4-BE49-F238E27FC236}">
                <a16:creationId xmlns:a16="http://schemas.microsoft.com/office/drawing/2014/main" id="{5D6774E9-C522-27D9-F3F6-5AF38883DCE8}"/>
              </a:ext>
            </a:extLst>
          </p:cNvPr>
          <p:cNvCxnSpPr>
            <a:cxnSpLocks/>
          </p:cNvCxnSpPr>
          <p:nvPr/>
        </p:nvCxnSpPr>
        <p:spPr>
          <a:xfrm>
            <a:off x="6529474" y="3318909"/>
            <a:ext cx="0" cy="324537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直接连接符 2198">
            <a:extLst>
              <a:ext uri="{FF2B5EF4-FFF2-40B4-BE49-F238E27FC236}">
                <a16:creationId xmlns:a16="http://schemas.microsoft.com/office/drawing/2014/main" id="{EF781D47-EAA8-3B1D-35A8-B49BCE3016B7}"/>
              </a:ext>
            </a:extLst>
          </p:cNvPr>
          <p:cNvCxnSpPr>
            <a:cxnSpLocks/>
          </p:cNvCxnSpPr>
          <p:nvPr/>
        </p:nvCxnSpPr>
        <p:spPr>
          <a:xfrm>
            <a:off x="7289800" y="3640769"/>
            <a:ext cx="1806575" cy="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0" name="直接连接符 2199">
            <a:extLst>
              <a:ext uri="{FF2B5EF4-FFF2-40B4-BE49-F238E27FC236}">
                <a16:creationId xmlns:a16="http://schemas.microsoft.com/office/drawing/2014/main" id="{B1E838CE-5FFB-6170-755D-773D9F3319B9}"/>
              </a:ext>
            </a:extLst>
          </p:cNvPr>
          <p:cNvCxnSpPr>
            <a:cxnSpLocks/>
          </p:cNvCxnSpPr>
          <p:nvPr/>
        </p:nvCxnSpPr>
        <p:spPr>
          <a:xfrm>
            <a:off x="7303471" y="3324698"/>
            <a:ext cx="0" cy="324537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" name="直接连接符 2200">
            <a:extLst>
              <a:ext uri="{FF2B5EF4-FFF2-40B4-BE49-F238E27FC236}">
                <a16:creationId xmlns:a16="http://schemas.microsoft.com/office/drawing/2014/main" id="{054B2A62-2104-82FC-FFBF-C29BD17AD524}"/>
              </a:ext>
            </a:extLst>
          </p:cNvPr>
          <p:cNvCxnSpPr>
            <a:cxnSpLocks/>
          </p:cNvCxnSpPr>
          <p:nvPr/>
        </p:nvCxnSpPr>
        <p:spPr>
          <a:xfrm>
            <a:off x="9083642" y="3337885"/>
            <a:ext cx="0" cy="305561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5" name="文本框 2204">
            <a:extLst>
              <a:ext uri="{FF2B5EF4-FFF2-40B4-BE49-F238E27FC236}">
                <a16:creationId xmlns:a16="http://schemas.microsoft.com/office/drawing/2014/main" id="{9BE42F70-4DAC-A527-CDBE-ACE8CE71F576}"/>
              </a:ext>
            </a:extLst>
          </p:cNvPr>
          <p:cNvSpPr txBox="1"/>
          <p:nvPr/>
        </p:nvSpPr>
        <p:spPr>
          <a:xfrm>
            <a:off x="2782853" y="3446916"/>
            <a:ext cx="21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 substrate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249" name="直接连接符 2248">
            <a:extLst>
              <a:ext uri="{FF2B5EF4-FFF2-40B4-BE49-F238E27FC236}">
                <a16:creationId xmlns:a16="http://schemas.microsoft.com/office/drawing/2014/main" id="{42F4AF3B-EFB5-F2D0-6A4B-80BBBA5FC6A2}"/>
              </a:ext>
            </a:extLst>
          </p:cNvPr>
          <p:cNvCxnSpPr>
            <a:cxnSpLocks/>
          </p:cNvCxnSpPr>
          <p:nvPr/>
        </p:nvCxnSpPr>
        <p:spPr>
          <a:xfrm>
            <a:off x="661754" y="5869962"/>
            <a:ext cx="1039709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2" name="文本框 15">
            <a:extLst>
              <a:ext uri="{FF2B5EF4-FFF2-40B4-BE49-F238E27FC236}">
                <a16:creationId xmlns:a16="http://schemas.microsoft.com/office/drawing/2014/main" id="{38FE75D9-9951-990E-EEEE-12AB6FEF8BDC}"/>
              </a:ext>
            </a:extLst>
          </p:cNvPr>
          <p:cNvSpPr txBox="1"/>
          <p:nvPr/>
        </p:nvSpPr>
        <p:spPr>
          <a:xfrm>
            <a:off x="1829132" y="5711486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cs typeface="+mn-ea"/>
                <a:sym typeface="+mn-lt"/>
              </a:rPr>
              <a:t>Optical signal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2253" name="直接连接符 2252">
            <a:extLst>
              <a:ext uri="{FF2B5EF4-FFF2-40B4-BE49-F238E27FC236}">
                <a16:creationId xmlns:a16="http://schemas.microsoft.com/office/drawing/2014/main" id="{D9B41795-724E-A55A-E41C-49BE0F6965D1}"/>
              </a:ext>
            </a:extLst>
          </p:cNvPr>
          <p:cNvCxnSpPr>
            <a:cxnSpLocks/>
          </p:cNvCxnSpPr>
          <p:nvPr/>
        </p:nvCxnSpPr>
        <p:spPr>
          <a:xfrm>
            <a:off x="661754" y="6173328"/>
            <a:ext cx="1039709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" name="文本框 15">
            <a:extLst>
              <a:ext uri="{FF2B5EF4-FFF2-40B4-BE49-F238E27FC236}">
                <a16:creationId xmlns:a16="http://schemas.microsoft.com/office/drawing/2014/main" id="{056AA862-710F-A048-DEB8-A66F4C251782}"/>
              </a:ext>
            </a:extLst>
          </p:cNvPr>
          <p:cNvSpPr txBox="1"/>
          <p:nvPr/>
        </p:nvSpPr>
        <p:spPr>
          <a:xfrm>
            <a:off x="1829132" y="6014852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cs typeface="+mn-ea"/>
                <a:sym typeface="+mn-lt"/>
              </a:rPr>
              <a:t>Electrical signal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256" name="文本框 15">
            <a:extLst>
              <a:ext uri="{FF2B5EF4-FFF2-40B4-BE49-F238E27FC236}">
                <a16:creationId xmlns:a16="http://schemas.microsoft.com/office/drawing/2014/main" id="{C4C7F73B-8AE0-ED2D-FF6E-73EE540DADA4}"/>
              </a:ext>
            </a:extLst>
          </p:cNvPr>
          <p:cNvSpPr txBox="1"/>
          <p:nvPr/>
        </p:nvSpPr>
        <p:spPr>
          <a:xfrm>
            <a:off x="1550728" y="2869532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Port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57" name="文本框 15">
            <a:extLst>
              <a:ext uri="{FF2B5EF4-FFF2-40B4-BE49-F238E27FC236}">
                <a16:creationId xmlns:a16="http://schemas.microsoft.com/office/drawing/2014/main" id="{247D2A9C-E391-FD63-6A9C-4CF7A50E7FCC}"/>
              </a:ext>
            </a:extLst>
          </p:cNvPr>
          <p:cNvSpPr txBox="1"/>
          <p:nvPr/>
        </p:nvSpPr>
        <p:spPr>
          <a:xfrm>
            <a:off x="3476911" y="2533315"/>
            <a:ext cx="2043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Engine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58" name="文本框 2257">
            <a:extLst>
              <a:ext uri="{FF2B5EF4-FFF2-40B4-BE49-F238E27FC236}">
                <a16:creationId xmlns:a16="http://schemas.microsoft.com/office/drawing/2014/main" id="{CF09DE55-FC26-BABC-AD2A-BE050321F57C}"/>
              </a:ext>
            </a:extLst>
          </p:cNvPr>
          <p:cNvSpPr txBox="1"/>
          <p:nvPr/>
        </p:nvSpPr>
        <p:spPr>
          <a:xfrm>
            <a:off x="346802" y="649748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This is a simplified schematic emphasizing spatial relationships, not drawn to scale. The actual structure is more complex.​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726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Engine: 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Engine: EIC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9119" y="6046099"/>
            <a:ext cx="110839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 on POs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3086548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supply chain is in early stage, with most players in initial strategic development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60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77" name="Chart 3">
            <a:extLst>
              <a:ext uri="{FF2B5EF4-FFF2-40B4-BE49-F238E27FC236}">
                <a16:creationId xmlns:a16="http://schemas.microsoft.com/office/drawing/2014/main" id="{0660BF01-A0B9-0C16-613E-B99CAF9BF0D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9054829"/>
              </p:ext>
            </p:extLst>
          </p:nvPr>
        </p:nvGraphicFramePr>
        <p:xfrm>
          <a:off x="966788" y="2209800"/>
          <a:ext cx="5924550" cy="3930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3B11290-C5E8-00BB-FCCF-F66A1471E35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149475" y="59928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1E04587-2444-4732-96DC-933860662048}" type="datetime'2''''''''''''''0''''''''2''''''''''''''4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54E640D-9272-F000-B549-355CD09B77E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873500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704AF08-5A73-4172-8450-A64C7A53E8C5}" type="datetime'2''''''0''''''''''''''''2''''''''''5''''''''''''''''E'''">
              <a:rPr lang="en-US" altLang="en-US" sz="1400" smtClean="0">
                <a:cs typeface="+mn-cs"/>
              </a:rPr>
              <a:pPr/>
              <a:t>2025E</a:t>
            </a:fld>
            <a:endParaRPr lang="zh-CN" altLang="en-US" sz="1400" dirty="0">
              <a:cs typeface="+mn-cs"/>
            </a:endParaRP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757F8F91-D215-3247-2FEE-04319649C05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54675" y="599281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71BE698-5314-42A0-BD12-BD2606CC9883}" type="datetime'2''''''0''''''''''''''2''''''''6''E'''''''''''''''''''''''">
              <a:rPr lang="en-US" altLang="en-US" sz="1400" smtClean="0">
                <a:cs typeface="+mn-cs"/>
              </a:rPr>
              <a:pPr/>
              <a:t>2026E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33DB20-BC15-83FB-CF23-93FAD05D020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228850" y="3446463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E5D9EC6-2255-44FD-94F4-6097D973709B}" type="datetime'''''''''''''''''3''''''8'''''''''''''''">
              <a:rPr lang="zh-CN" altLang="en-US" sz="1400" smtClean="0">
                <a:cs typeface="+mn-cs"/>
              </a:rPr>
              <a:pPr/>
              <a:t>38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4A7B7F2-4B74-4B2A-AE0C-719D8345B6C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11613" y="3263900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664D29-F59F-40B0-B461-2618CBEC2152}" type="datetime'''''''''4''''''1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 sz="1400" dirty="0">
              <a:cs typeface="+mn-cs"/>
            </a:endParaRPr>
          </a:p>
        </p:txBody>
      </p:sp>
      <p:sp>
        <p:nvSpPr>
          <p:cNvPr id="148" name="Text Placeholder 4">
            <a:extLst>
              <a:ext uri="{FF2B5EF4-FFF2-40B4-BE49-F238E27FC236}">
                <a16:creationId xmlns:a16="http://schemas.microsoft.com/office/drawing/2014/main" id="{4ACE41F6-3F39-0B4B-67D9-2CAA4D12AB5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5792788" y="3057525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4D5E66F-9534-4A49-9DA4-43101394A066}" type="datetime'''''4''''''''5'''''''''''''''''''''''''''''">
              <a:rPr lang="zh-CN" altLang="en-US" sz="1400" smtClean="0">
                <a:cs typeface="+mn-cs"/>
              </a:rPr>
              <a:pPr/>
              <a:t>45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469900" y="1416050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ASIC shipment unit share </a:t>
            </a:r>
            <a:r>
              <a:rPr lang="zh-CN" altLang="en-US" sz="1600" b="1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b="1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546685" y="1809750"/>
            <a:ext cx="709633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E31EFFF-B49B-448C-7CC3-DDDB0395575F}"/>
              </a:ext>
            </a:extLst>
          </p:cNvPr>
          <p:cNvGrpSpPr/>
          <p:nvPr/>
        </p:nvGrpSpPr>
        <p:grpSpPr>
          <a:xfrm>
            <a:off x="7934720" y="3330257"/>
            <a:ext cx="4353799" cy="914896"/>
            <a:chOff x="8330962" y="3369711"/>
            <a:chExt cx="4353799" cy="91494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012A1E5-C527-E5DF-0FC8-3D86F59979D3}"/>
                </a:ext>
              </a:extLst>
            </p:cNvPr>
            <p:cNvSpPr txBox="1"/>
            <p:nvPr/>
          </p:nvSpPr>
          <p:spPr>
            <a:xfrm>
              <a:off x="8330962" y="3735758"/>
              <a:ext cx="4353799" cy="54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​ASIC: High costs,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limited TSMC supply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​Nvidia continues to dominate 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AI cloud compute.​</a:t>
              </a:r>
              <a:endPara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endParaRPr>
            </a:p>
          </p:txBody>
        </p:sp>
        <p:sp>
          <p:nvSpPr>
            <p:cNvPr id="964" name="文本框 963">
              <a:extLst>
                <a:ext uri="{FF2B5EF4-FFF2-40B4-BE49-F238E27FC236}">
                  <a16:creationId xmlns:a16="http://schemas.microsoft.com/office/drawing/2014/main" id="{FA12F98D-AFB1-F69C-EB36-438FF7419D87}"/>
                </a:ext>
              </a:extLst>
            </p:cNvPr>
            <p:cNvSpPr txBox="1"/>
            <p:nvPr/>
          </p:nvSpPr>
          <p:spPr>
            <a:xfrm>
              <a:off x="8330962" y="3369711"/>
              <a:ext cx="34736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Pessimistic scenario</a:t>
              </a:r>
              <a:endParaRPr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7730347-D337-A98D-9983-B7999340FB78}"/>
              </a:ext>
            </a:extLst>
          </p:cNvPr>
          <p:cNvGrpSpPr/>
          <p:nvPr/>
        </p:nvGrpSpPr>
        <p:grpSpPr>
          <a:xfrm>
            <a:off x="7934721" y="2023688"/>
            <a:ext cx="6114326" cy="1177925"/>
            <a:chOff x="8330962" y="1990805"/>
            <a:chExt cx="6114326" cy="1177637"/>
          </a:xfrm>
        </p:grpSpPr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A7C07FBA-FD55-123B-6CC2-D48F932459CC}"/>
                </a:ext>
              </a:extLst>
            </p:cNvPr>
            <p:cNvSpPr txBox="1"/>
            <p:nvPr/>
          </p:nvSpPr>
          <p:spPr>
            <a:xfrm>
              <a:off x="8330962" y="1990805"/>
              <a:ext cx="6114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6">
                      <a:lumMod val="10000"/>
                    </a:schemeClr>
                  </a:solidFill>
                </a:rPr>
                <a:t>Optimistic scenario</a:t>
              </a:r>
              <a:endParaRPr lang="zh-CN" altLang="en-US" b="1" dirty="0"/>
            </a:p>
          </p:txBody>
        </p:sp>
        <p:sp>
          <p:nvSpPr>
            <p:cNvPr id="966" name="文本框 965">
              <a:extLst>
                <a:ext uri="{FF2B5EF4-FFF2-40B4-BE49-F238E27FC236}">
                  <a16:creationId xmlns:a16="http://schemas.microsoft.com/office/drawing/2014/main" id="{3EA0C51F-3CA4-A0C8-3FC9-3D399000562D}"/>
                </a:ext>
              </a:extLst>
            </p:cNvPr>
            <p:cNvSpPr txBox="1"/>
            <p:nvPr/>
          </p:nvSpPr>
          <p:spPr>
            <a:xfrm>
              <a:off x="8330962" y="2404130"/>
              <a:ext cx="4099800" cy="764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New orders from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OpenAI &amp; </a:t>
              </a:r>
              <a:r>
                <a:rPr lang="en-US" altLang="zh-CN" sz="1400" b="1" dirty="0" err="1">
                  <a:solidFill>
                    <a:srgbClr val="0052D9"/>
                  </a:solidFill>
                  <a:latin typeface="PingFang SC"/>
                </a:rPr>
                <a:t>xAI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;</a:t>
              </a:r>
            </a:p>
            <a:p>
              <a:pPr marL="285750" indent="-285750">
                <a:spcBef>
                  <a:spcPts val="140"/>
                </a:spcBef>
                <a:spcAft>
                  <a:spcPts val="140"/>
                </a:spcAft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PingFang SC"/>
                </a:rPr>
                <a:t>Bring forward the “ASIC &gt; GPU” inflection point </a:t>
              </a:r>
              <a:r>
                <a:rPr lang="en-US" altLang="zh-CN" sz="1400" b="1" dirty="0">
                  <a:solidFill>
                    <a:srgbClr val="0052D9"/>
                  </a:solidFill>
                  <a:latin typeface="PingFang SC"/>
                </a:rPr>
                <a:t>from 2027–2028 to 2026.</a:t>
              </a:r>
            </a:p>
          </p:txBody>
        </p:sp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becomes the long-term trend, and Broadcom plays a central role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B9E3F1A7-F673-1C4B-A38A-552D5172A78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11957" y="5089610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文本框 120">
            <a:extLst>
              <a:ext uri="{FF2B5EF4-FFF2-40B4-BE49-F238E27FC236}">
                <a16:creationId xmlns:a16="http://schemas.microsoft.com/office/drawing/2014/main" id="{10A4028A-9D6D-42FE-027C-827646C8FD32}"/>
              </a:ext>
            </a:extLst>
          </p:cNvPr>
          <p:cNvSpPr txBox="1"/>
          <p:nvPr/>
        </p:nvSpPr>
        <p:spPr>
          <a:xfrm>
            <a:off x="5677358" y="2085975"/>
            <a:ext cx="4769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53585F"/>
                </a:solidFill>
                <a:cs typeface="+mn-ea"/>
                <a:sym typeface="+mn-lt"/>
              </a:rPr>
              <a:t>60</a:t>
            </a:r>
            <a:endParaRPr lang="zh-CN" altLang="en-US" sz="1400" dirty="0">
              <a:solidFill>
                <a:srgbClr val="53585F"/>
              </a:solidFill>
            </a:endParaRPr>
          </a:p>
        </p:txBody>
      </p:sp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125F3C94-F330-B60B-017B-F4824B0726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4719" y="5066556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2588948" y="5066100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64%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CEC1B2B-95E8-C9DA-834B-D0929E37A03C}"/>
              </a:ext>
            </a:extLst>
          </p:cNvPr>
          <p:cNvSpPr txBox="1"/>
          <p:nvPr/>
        </p:nvSpPr>
        <p:spPr>
          <a:xfrm>
            <a:off x="4392600" y="5043046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62%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pic>
        <p:nvPicPr>
          <p:cNvPr id="140" name="图像" descr="图像">
            <a:extLst>
              <a:ext uri="{FF2B5EF4-FFF2-40B4-BE49-F238E27FC236}">
                <a16:creationId xmlns:a16="http://schemas.microsoft.com/office/drawing/2014/main" id="{2C9EE6E8-6397-5ADF-71AC-39CD9F948A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78910" y="4973563"/>
            <a:ext cx="476991" cy="229979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矩形 151">
            <a:extLst>
              <a:ext uri="{FF2B5EF4-FFF2-40B4-BE49-F238E27FC236}">
                <a16:creationId xmlns:a16="http://schemas.microsoft.com/office/drawing/2014/main" id="{63C863ED-281D-79C8-8479-E8741DEE6FF8}"/>
              </a:ext>
            </a:extLst>
          </p:cNvPr>
          <p:cNvSpPr/>
          <p:nvPr/>
        </p:nvSpPr>
        <p:spPr>
          <a:xfrm>
            <a:off x="5671780" y="2403944"/>
            <a:ext cx="488149" cy="896786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6FC1481D-0EE6-05EA-1135-2AF4B9064C35}"/>
              </a:ext>
            </a:extLst>
          </p:cNvPr>
          <p:cNvSpPr txBox="1"/>
          <p:nvPr/>
        </p:nvSpPr>
        <p:spPr>
          <a:xfrm>
            <a:off x="6196252" y="4950053"/>
            <a:ext cx="1275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pPr marL="0" indent="0">
              <a:buNone/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</a:rPr>
              <a:t>60-70% </a:t>
            </a:r>
            <a:r>
              <a:rPr lang="en-US" altLang="zh-CN" sz="1200" dirty="0">
                <a:latin typeface="+mn-lt"/>
              </a:rPr>
              <a:t>of ASIC</a:t>
            </a:r>
            <a:endParaRPr lang="zh-CN" altLang="en-US" sz="1200" dirty="0">
              <a:latin typeface="+mn-lt"/>
            </a:endParaRPr>
          </a:p>
        </p:txBody>
      </p: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994D21CE-3AEC-0AB1-2EA5-ACB676D607D0}"/>
              </a:ext>
            </a:extLst>
          </p:cNvPr>
          <p:cNvCxnSpPr>
            <a:endCxn id="114" idx="1"/>
          </p:cNvCxnSpPr>
          <p:nvPr/>
        </p:nvCxnSpPr>
        <p:spPr>
          <a:xfrm flipV="1">
            <a:off x="6154349" y="2208399"/>
            <a:ext cx="1780372" cy="195545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9EBAC6A6-816F-D55E-671A-B10C072287F8}"/>
              </a:ext>
            </a:extLst>
          </p:cNvPr>
          <p:cNvCxnSpPr>
            <a:cxnSpLocks/>
            <a:endCxn id="964" idx="1"/>
          </p:cNvCxnSpPr>
          <p:nvPr/>
        </p:nvCxnSpPr>
        <p:spPr>
          <a:xfrm>
            <a:off x="6159929" y="3300730"/>
            <a:ext cx="1774791" cy="214184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0829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401" imgH="401" progId="TCLayout.ActiveDocument.1">
                  <p:embed/>
                </p:oleObj>
              </mc:Choice>
              <mc:Fallback>
                <p:oleObj name="think-cell 幻灯片" r:id="rId3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1211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6443663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11093450" y="55880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Chart 3">
            <a:extLst>
              <a:ext uri="{FF2B5EF4-FFF2-40B4-BE49-F238E27FC236}">
                <a16:creationId xmlns:a16="http://schemas.microsoft.com/office/drawing/2014/main" id="{C0A767B3-2338-0361-EC04-BF84DF39E4A4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015472557"/>
              </p:ext>
            </p:extLst>
          </p:nvPr>
        </p:nvGraphicFramePr>
        <p:xfrm>
          <a:off x="1057275" y="25971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603375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924300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6246813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575675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20</a:t>
            </a: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0896600" y="57054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20</a:t>
            </a: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2654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959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385300" y="60610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81100" y="23415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9213850" y="31734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6508750" y="44767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4187825" y="45831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1865313" y="45783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1865313" y="535305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8837613" y="44275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6508750" y="5072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4351338" y="54022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9955213" y="48895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148138" y="51657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3173413" y="2428875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962400" y="2428875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3394075" y="2374900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4183063" y="2374900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721225"/>
            <a:ext cx="683287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752850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8085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664844" y="1356058"/>
            <a:ext cx="10751185" cy="871523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Weaker per-card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performance, requiring optical interconnect  (CPO)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</a:rPr>
              <a:t>of same‑gen GPU throughput​; Cloud ASICs could drive ​</a:t>
            </a:r>
            <a:r>
              <a:rPr lang="en-US" altLang="zh-CN" sz="1600" b="1" dirty="0">
                <a:solidFill>
                  <a:srgbClr val="0052D9"/>
                </a:solidFill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</a:rPr>
              <a:t>;</a:t>
            </a: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6743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5680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264695"/>
            <a:ext cx="282576" cy="1254125"/>
          </a:xfrm>
          <a:prstGeom prst="bentConnector3">
            <a:avLst>
              <a:gd name="adj1" fmla="val -808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ASIC relies more on optical interconnect, and Broadcom attempts to lock in the data center ecosystem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72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536699"/>
            <a:ext cx="1239838" cy="1125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75088"/>
            <a:ext cx="1239838" cy="96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926013"/>
            <a:ext cx="1239838" cy="14954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Dec.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536700"/>
            <a:ext cx="2376488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86213"/>
            <a:ext cx="3154565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66788"/>
            <a:ext cx="1779588" cy="338138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920751"/>
            <a:ext cx="2054225" cy="366713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946150"/>
            <a:ext cx="2137727" cy="338138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59074"/>
            <a:ext cx="1239838" cy="419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819275"/>
            <a:ext cx="823686" cy="604838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54200"/>
            <a:ext cx="2284413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830513"/>
            <a:ext cx="1327150" cy="276225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4" y="50117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58900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4133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4133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862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814638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9434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50117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5011738"/>
            <a:ext cx="187325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419350"/>
            <a:ext cx="132715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527175"/>
            <a:ext cx="2660650" cy="3540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54200"/>
            <a:ext cx="3019425" cy="604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428875"/>
            <a:ext cx="190023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527175"/>
            <a:ext cx="2376488" cy="3524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55863"/>
            <a:ext cx="154622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4" y="1863725"/>
            <a:ext cx="562600" cy="504825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89238"/>
            <a:ext cx="1327150" cy="360363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732089"/>
            <a:ext cx="1327150" cy="474663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833563"/>
            <a:ext cx="509472" cy="61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901825"/>
            <a:ext cx="593795" cy="50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54200"/>
            <a:ext cx="1751013" cy="3397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62313"/>
            <a:ext cx="1239838" cy="522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0" y="3362325"/>
            <a:ext cx="578224" cy="3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349625"/>
            <a:ext cx="437061" cy="347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84550"/>
            <a:ext cx="972347" cy="27781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433763"/>
            <a:ext cx="1062777" cy="17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97250"/>
            <a:ext cx="407038" cy="252413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55975"/>
            <a:ext cx="59511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915988"/>
            <a:ext cx="1000138" cy="25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Startups with a long-term vision in optical: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94272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Supply chain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The only supplier in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fully-automated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substitution: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Fully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acquired by Chinese listed company 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Robotechnik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2025.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8" name="图表 47">
            <a:extLst>
              <a:ext uri="{FF2B5EF4-FFF2-40B4-BE49-F238E27FC236}">
                <a16:creationId xmlns:a16="http://schemas.microsoft.com/office/drawing/2014/main" id="{9CA2B7F5-636B-74F6-F003-C7DBB2589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844640"/>
              </p:ext>
            </p:extLst>
          </p:nvPr>
        </p:nvGraphicFramePr>
        <p:xfrm>
          <a:off x="454479" y="3586145"/>
          <a:ext cx="2076555" cy="174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664059" y="5272220"/>
            <a:ext cx="16573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400" i="0" u="none" strike="noStrike" cap="none" normalizeH="0" baseline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cs typeface="+mn-ea"/>
                <a:sym typeface="+mn-lt"/>
              </a:rPr>
              <a:t>Micro-assembly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306300" y="2809593"/>
            <a:ext cx="2372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Revenue </a:t>
            </a:r>
            <a:r>
              <a:rPr lang="en-US" altLang="zh-CN" sz="1600" b="1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reakdown </a:t>
            </a:r>
          </a:p>
          <a:p>
            <a:pPr algn="ctr"/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(23A)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238384CD-D569-DECA-49ED-B8DB7C347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10" y="3422704"/>
            <a:ext cx="2191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Test equipment, etc.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2215615" y="3846837"/>
            <a:ext cx="1428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Test-to-repair </a:t>
            </a:r>
          </a:p>
          <a:p>
            <a:pPr algn="ctr"/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All-in-one</a:t>
            </a: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3564491" y="3494016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191" y="4869452"/>
            <a:ext cx="1003077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2371036" y="5757070"/>
            <a:ext cx="1117386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AL-Series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970" y="3321827"/>
            <a:ext cx="937518" cy="5175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3AB8744-1816-94B2-9C00-3E25E0082394}"/>
              </a:ext>
            </a:extLst>
          </p:cNvPr>
          <p:cNvSpPr txBox="1"/>
          <p:nvPr/>
        </p:nvSpPr>
        <p:spPr>
          <a:xfrm>
            <a:off x="619191" y="1679564"/>
            <a:ext cx="5555903" cy="30499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Business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28D85-5C03-3A81-8A26-60B62060D3FB}"/>
              </a:ext>
            </a:extLst>
          </p:cNvPr>
          <p:cNvSpPr txBox="1"/>
          <p:nvPr/>
        </p:nvSpPr>
        <p:spPr>
          <a:xfrm>
            <a:off x="465118" y="188506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线连接符 38">
            <a:extLst>
              <a:ext uri="{FF2B5EF4-FFF2-40B4-BE49-F238E27FC236}">
                <a16:creationId xmlns:a16="http://schemas.microsoft.com/office/drawing/2014/main" id="{4D397C5B-EA4A-5BFE-EB62-89221C1A0084}"/>
              </a:ext>
            </a:extLst>
          </p:cNvPr>
          <p:cNvCxnSpPr>
            <a:cxnSpLocks/>
          </p:cNvCxnSpPr>
          <p:nvPr/>
        </p:nvCxnSpPr>
        <p:spPr>
          <a:xfrm>
            <a:off x="619191" y="20183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 is a globally dominant player in 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 packaging and testing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678FAE-C347-7B5C-0805-B89964F8FE4C}"/>
              </a:ext>
            </a:extLst>
          </p:cNvPr>
          <p:cNvSpPr txBox="1"/>
          <p:nvPr/>
        </p:nvSpPr>
        <p:spPr>
          <a:xfrm>
            <a:off x="6457309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 gross margin,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exceeding the industry average for assembly and testing (~30%).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3CEA30-6FF6-E99F-B83F-76C060C9C17E}"/>
              </a:ext>
            </a:extLst>
          </p:cNvPr>
          <p:cNvSpPr txBox="1"/>
          <p:nvPr/>
        </p:nvSpPr>
        <p:spPr>
          <a:xfrm>
            <a:off x="6312916" y="284316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100mn RMB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35FE7AD-C3DF-BB72-4506-BA46CA52D535}"/>
              </a:ext>
            </a:extLst>
          </p:cNvPr>
          <p:cNvSpPr txBox="1"/>
          <p:nvPr/>
        </p:nvSpPr>
        <p:spPr>
          <a:xfrm>
            <a:off x="6353683" y="1679563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Financials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56" name="直线连接符 38">
            <a:extLst>
              <a:ext uri="{FF2B5EF4-FFF2-40B4-BE49-F238E27FC236}">
                <a16:creationId xmlns:a16="http://schemas.microsoft.com/office/drawing/2014/main" id="{2473AB42-4AAF-1784-7998-36E88874E9D2}"/>
              </a:ext>
            </a:extLst>
          </p:cNvPr>
          <p:cNvCxnSpPr>
            <a:cxnSpLocks/>
          </p:cNvCxnSpPr>
          <p:nvPr/>
        </p:nvCxnSpPr>
        <p:spPr>
          <a:xfrm>
            <a:off x="6353683" y="2024325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50B53C94-13C7-3956-68E8-7877258C5FDD}"/>
              </a:ext>
            </a:extLst>
          </p:cNvPr>
          <p:cNvGrpSpPr/>
          <p:nvPr/>
        </p:nvGrpSpPr>
        <p:grpSpPr>
          <a:xfrm>
            <a:off x="3802430" y="3069550"/>
            <a:ext cx="2511560" cy="936606"/>
            <a:chOff x="3647918" y="2836213"/>
            <a:chExt cx="2511560" cy="936606"/>
          </a:xfrm>
        </p:grpSpPr>
        <p:pic>
          <p:nvPicPr>
            <p:cNvPr id="38" name="图像" descr="图像">
              <a:extLst>
                <a:ext uri="{FF2B5EF4-FFF2-40B4-BE49-F238E27FC236}">
                  <a16:creationId xmlns:a16="http://schemas.microsoft.com/office/drawing/2014/main" id="{A8B61700-E71E-052A-6BA8-41360A55A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45104" y="2867316"/>
              <a:ext cx="419582" cy="330421"/>
            </a:xfrm>
            <a:prstGeom prst="rect">
              <a:avLst/>
            </a:prstGeom>
            <a:ln w="12700">
              <a:noFill/>
              <a:miter lim="400000"/>
            </a:ln>
          </p:spPr>
        </p:pic>
        <p:pic>
          <p:nvPicPr>
            <p:cNvPr id="39" name="图像" descr="图像">
              <a:extLst>
                <a:ext uri="{FF2B5EF4-FFF2-40B4-BE49-F238E27FC236}">
                  <a16:creationId xmlns:a16="http://schemas.microsoft.com/office/drawing/2014/main" id="{CE367E1B-9DAB-ED02-2FC5-BCEB6D4E8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20822" y="2836213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F728610D-0DBA-4F08-274B-62B2F3CFAFA8}"/>
                </a:ext>
              </a:extLst>
            </p:cNvPr>
            <p:cNvSpPr txBox="1"/>
            <p:nvPr/>
          </p:nvSpPr>
          <p:spPr>
            <a:xfrm>
              <a:off x="3647918" y="3249599"/>
              <a:ext cx="25115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rgbClr val="0052D9"/>
                  </a:solidFill>
                  <a:cs typeface="+mn-ea"/>
                </a:defRPr>
              </a:lvl1pPr>
            </a:lstStyle>
            <a:p>
              <a:r>
                <a:rPr lang="en-US" altLang="zh-CN" dirty="0"/>
                <a:t>Vied for</a:t>
              </a:r>
              <a:r>
                <a:rPr lang="en-US" altLang="zh-CN" b="0" dirty="0">
                  <a:solidFill>
                    <a:schemeClr val="accent6">
                      <a:lumMod val="10000"/>
                    </a:schemeClr>
                  </a:solidFill>
                </a:rPr>
                <a:t> by Nvidia and TSMC</a:t>
              </a:r>
              <a:endParaRPr lang="zh-CN" altLang="en-US" b="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65" name="箭头: 右 64">
            <a:extLst>
              <a:ext uri="{FF2B5EF4-FFF2-40B4-BE49-F238E27FC236}">
                <a16:creationId xmlns:a16="http://schemas.microsoft.com/office/drawing/2014/main" id="{65240450-F863-2893-1A9F-B2636C5A03C8}"/>
              </a:ext>
            </a:extLst>
          </p:cNvPr>
          <p:cNvSpPr/>
          <p:nvPr/>
        </p:nvSpPr>
        <p:spPr>
          <a:xfrm>
            <a:off x="3564491" y="5335404"/>
            <a:ext cx="196986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E3C97A-979B-FBF5-2F6D-9B167B435D75}"/>
              </a:ext>
            </a:extLst>
          </p:cNvPr>
          <p:cNvSpPr txBox="1"/>
          <p:nvPr/>
        </p:nvSpPr>
        <p:spPr>
          <a:xfrm>
            <a:off x="717530" y="2190355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FiconTEC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is the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key supplier of Nvidia, TSMC, and Broadcom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/CPO assembly &amp; testing. 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8EB3B42-288D-39FE-3D08-3B0C280A9685}"/>
              </a:ext>
            </a:extLst>
          </p:cNvPr>
          <p:cNvGrpSpPr/>
          <p:nvPr/>
        </p:nvGrpSpPr>
        <p:grpSpPr>
          <a:xfrm>
            <a:off x="3802430" y="4951015"/>
            <a:ext cx="2352330" cy="1134285"/>
            <a:chOff x="3802430" y="4806337"/>
            <a:chExt cx="2352330" cy="1134285"/>
          </a:xfrm>
        </p:grpSpPr>
        <p:pic>
          <p:nvPicPr>
            <p:cNvPr id="13" name="图像" descr="图像">
              <a:extLst>
                <a:ext uri="{FF2B5EF4-FFF2-40B4-BE49-F238E27FC236}">
                  <a16:creationId xmlns:a16="http://schemas.microsoft.com/office/drawing/2014/main" id="{0F55D439-9AF4-9096-3A8C-049DE507D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67728" y="4806337"/>
              <a:ext cx="480351" cy="382097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C032225-D2D2-9620-A8A2-3A2DA8D0F752}"/>
                </a:ext>
              </a:extLst>
            </p:cNvPr>
            <p:cNvGrpSpPr/>
            <p:nvPr/>
          </p:nvGrpSpPr>
          <p:grpSpPr>
            <a:xfrm>
              <a:off x="3802430" y="4813250"/>
              <a:ext cx="2352330" cy="1127372"/>
              <a:chOff x="3802430" y="4813250"/>
              <a:chExt cx="2352330" cy="1127372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00CB502-63EF-FBC8-D378-1D3CD4CB83AB}"/>
                  </a:ext>
                </a:extLst>
              </p:cNvPr>
              <p:cNvGrpSpPr/>
              <p:nvPr/>
            </p:nvGrpSpPr>
            <p:grpSpPr>
              <a:xfrm>
                <a:off x="3802430" y="4813250"/>
                <a:ext cx="2352330" cy="1127372"/>
                <a:chOff x="3413830" y="4553687"/>
                <a:chExt cx="2352330" cy="1127372"/>
              </a:xfrm>
            </p:grpSpPr>
            <p:pic>
              <p:nvPicPr>
                <p:cNvPr id="35" name="图像" descr="图像">
                  <a:extLst>
                    <a:ext uri="{FF2B5EF4-FFF2-40B4-BE49-F238E27FC236}">
                      <a16:creationId xmlns:a16="http://schemas.microsoft.com/office/drawing/2014/main" id="{4E2D8880-945C-EBA6-EF8B-5FF6C5004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530" y="4553687"/>
                  <a:ext cx="717208" cy="345798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7412890-DF33-E443-4B29-DF265BEB8374}"/>
                    </a:ext>
                  </a:extLst>
                </p:cNvPr>
                <p:cNvSpPr txBox="1"/>
                <p:nvPr/>
              </p:nvSpPr>
              <p:spPr>
                <a:xfrm>
                  <a:off x="3413830" y="4942395"/>
                  <a:ext cx="2352330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rgbClr val="0052D9"/>
                      </a:solidFill>
                      <a:cs typeface="+mn-ea"/>
                      <a:sym typeface="+mn-lt"/>
                    </a:rPr>
                    <a:t>Sole supplier </a:t>
                  </a:r>
                  <a:r>
                    <a:rPr lang="en-US" altLang="zh-CN" sz="1400" dirty="0">
                      <a:solidFill>
                        <a:srgbClr val="333333"/>
                      </a:solidFill>
                      <a:cs typeface="+mn-ea"/>
                      <a:sym typeface="+mn-lt"/>
                    </a:rPr>
                    <a:t>of Broadcom and Nvidia’s CPO optical coupling equipment</a:t>
                  </a:r>
                  <a:endParaRPr lang="zh-CN" altLang="en-US" sz="1400" dirty="0"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62894F22-D52A-A819-1E38-4BB559596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9804" b="89542" l="9690" r="91860">
                            <a14:foregroundMark x1="10078" y1="40523" x2="10078" y2="40523"/>
                            <a14:foregroundMark x1="20930" y1="37255" x2="20930" y2="37255"/>
                            <a14:foregroundMark x1="32171" y1="35948" x2="32171" y2="35948"/>
                            <a14:foregroundMark x1="40698" y1="37255" x2="40698" y2="37255"/>
                            <a14:foregroundMark x1="52713" y1="39869" x2="52713" y2="39869"/>
                            <a14:foregroundMark x1="60465" y1="35948" x2="60465" y2="35948"/>
                            <a14:foregroundMark x1="72093" y1="30719" x2="72093" y2="30719"/>
                            <a14:foregroundMark x1="81783" y1="36601" x2="81783" y2="36601"/>
                            <a14:foregroundMark x1="91860" y1="40523" x2="91860" y2="40523"/>
                            <a14:foregroundMark x1="23643" y1="68627" x2="23643" y2="68627"/>
                            <a14:foregroundMark x1="35271" y1="75163" x2="35271" y2="75163"/>
                            <a14:foregroundMark x1="45349" y1="71242" x2="45349" y2="71242"/>
                            <a14:foregroundMark x1="58140" y1="73203" x2="58140" y2="7320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433714" y="4846088"/>
                <a:ext cx="482359" cy="286050"/>
              </a:xfrm>
              <a:prstGeom prst="rect">
                <a:avLst/>
              </a:prstGeom>
            </p:spPr>
          </p:pic>
        </p:grpSp>
      </p:grp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6829841"/>
              </p:ext>
            </p:extLst>
          </p:nvPr>
        </p:nvGraphicFramePr>
        <p:xfrm>
          <a:off x="6513081" y="3181720"/>
          <a:ext cx="5196943" cy="294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0771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30864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圆角矩形 17">
            <a:extLst>
              <a:ext uri="{FF2B5EF4-FFF2-40B4-BE49-F238E27FC236}">
                <a16:creationId xmlns:a16="http://schemas.microsoft.com/office/drawing/2014/main" id="{8C490B1B-238E-017E-D669-07006FE3DA26}"/>
              </a:ext>
            </a:extLst>
          </p:cNvPr>
          <p:cNvSpPr/>
          <p:nvPr/>
        </p:nvSpPr>
        <p:spPr>
          <a:xfrm>
            <a:off x="1486342" y="1458410"/>
            <a:ext cx="9219315" cy="4074289"/>
          </a:xfrm>
          <a:prstGeom prst="roundRect">
            <a:avLst>
              <a:gd name="adj" fmla="val 5634"/>
            </a:avLst>
          </a:prstGeom>
          <a:noFill/>
          <a:ln w="1270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DE03AA-E419-63A9-32E6-F52C6D09B996}"/>
              </a:ext>
            </a:extLst>
          </p:cNvPr>
          <p:cNvSpPr txBox="1"/>
          <p:nvPr/>
        </p:nvSpPr>
        <p:spPr>
          <a:xfrm>
            <a:off x="3161911" y="1898188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Trend: </a:t>
            </a:r>
            <a:r>
              <a:rPr kumimoji="1" lang="en-US" altLang="zh-CN" b="1" dirty="0">
                <a:solidFill>
                  <a:srgbClr val="0052D9"/>
                </a:solidFill>
              </a:rPr>
              <a:t>"Optics-in, Copper-out"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is the established path for high-speed AIDC interconnects</a:t>
            </a:r>
          </a:p>
        </p:txBody>
      </p:sp>
      <p:pic>
        <p:nvPicPr>
          <p:cNvPr id="10" name="图形 9" descr="共享 纯色填充">
            <a:extLst>
              <a:ext uri="{FF2B5EF4-FFF2-40B4-BE49-F238E27FC236}">
                <a16:creationId xmlns:a16="http://schemas.microsoft.com/office/drawing/2014/main" id="{1A0AA4FC-5BC2-4A38-F831-60802C5A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6966" y="1818371"/>
            <a:ext cx="699894" cy="699894"/>
          </a:xfrm>
          <a:prstGeom prst="rect">
            <a:avLst/>
          </a:prstGeom>
        </p:spPr>
      </p:pic>
      <p:pic>
        <p:nvPicPr>
          <p:cNvPr id="12" name="图形 11" descr="用路劲指引两个插针 纯色填充">
            <a:extLst>
              <a:ext uri="{FF2B5EF4-FFF2-40B4-BE49-F238E27FC236}">
                <a16:creationId xmlns:a16="http://schemas.microsoft.com/office/drawing/2014/main" id="{C170A57E-BDAC-393D-8725-B1F6AAC50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6965" y="4429110"/>
            <a:ext cx="699896" cy="699896"/>
          </a:xfrm>
          <a:prstGeom prst="rect">
            <a:avLst/>
          </a:prstGeom>
        </p:spPr>
      </p:pic>
      <p:pic>
        <p:nvPicPr>
          <p:cNvPr id="14" name="图形 13" descr="标尺 纯色填充">
            <a:extLst>
              <a:ext uri="{FF2B5EF4-FFF2-40B4-BE49-F238E27FC236}">
                <a16:creationId xmlns:a16="http://schemas.microsoft.com/office/drawing/2014/main" id="{5E661328-186A-EA23-E764-AA71D103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6966" y="3181982"/>
            <a:ext cx="699895" cy="6998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0E636E7-928B-BDEA-FCE7-9E42F07C3B03}"/>
              </a:ext>
            </a:extLst>
          </p:cNvPr>
          <p:cNvSpPr txBox="1"/>
          <p:nvPr/>
        </p:nvSpPr>
        <p:spPr>
          <a:xfrm>
            <a:off x="3161911" y="3169436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Scenario: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Optical interconnect gets </a:t>
            </a:r>
            <a:r>
              <a:rPr kumimoji="1" lang="en-US" altLang="zh-CN" b="1" dirty="0">
                <a:solidFill>
                  <a:srgbClr val="0052D9"/>
                </a:solidFill>
              </a:rPr>
              <a:t>adopted first</a:t>
            </a: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scale-out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with </a:t>
            </a:r>
            <a:r>
              <a:rPr kumimoji="1" lang="en-US" altLang="zh-CN" b="1" dirty="0">
                <a:solidFill>
                  <a:srgbClr val="0052D9"/>
                </a:solidFill>
              </a:rPr>
              <a:t>accelerated penetration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in </a:t>
            </a:r>
            <a:r>
              <a:rPr kumimoji="1" lang="en-US" altLang="zh-CN" b="1" dirty="0">
                <a:solidFill>
                  <a:srgbClr val="0052D9"/>
                </a:solidFill>
              </a:rPr>
              <a:t>scale-up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DDAE0B-118D-4952-45B8-0152E35B8061}"/>
              </a:ext>
            </a:extLst>
          </p:cNvPr>
          <p:cNvSpPr txBox="1"/>
          <p:nvPr/>
        </p:nvSpPr>
        <p:spPr>
          <a:xfrm>
            <a:off x="3161911" y="4440684"/>
            <a:ext cx="7475221" cy="58458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</a:rPr>
              <a:t>Roadmap: </a:t>
            </a:r>
            <a:r>
              <a:rPr kumimoji="1" lang="en-US" altLang="zh-CN" b="1" dirty="0">
                <a:solidFill>
                  <a:srgbClr val="0052D9"/>
                </a:solidFill>
              </a:rPr>
              <a:t>CPO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is the </a:t>
            </a:r>
            <a:r>
              <a:rPr kumimoji="1" lang="en-US" altLang="zh-CN" b="1" dirty="0">
                <a:solidFill>
                  <a:srgbClr val="0052D9"/>
                </a:solidFill>
              </a:rPr>
              <a:t>long-term bet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, while near-term solution </a:t>
            </a:r>
            <a:r>
              <a:rPr kumimoji="1" lang="en-US" altLang="zh-CN">
                <a:solidFill>
                  <a:schemeClr val="accent6">
                    <a:lumMod val="10000"/>
                  </a:schemeClr>
                </a:solidFill>
              </a:rPr>
              <a:t>is still not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determined.​</a:t>
            </a:r>
            <a:endParaRPr kumimoji="1"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58946765093549302605E+00&quot;&gt;&lt;m_msothmcolidx val=&quot;0&quot;/&gt;&lt;m_rgb r=&quot;00&quot; g=&quot;52&quot; b=&quot;D9&quot;/&gt;&lt;/elem&gt;&lt;elem m_fUsage=&quot;2.88523421035825233805E-01&quot;&gt;&lt;m_msothmcolidx val=&quot;0&quot;/&gt;&lt;m_rgb r=&quot;C1&quot; g=&quot;E1&quot; b=&quot;FE&quot;/&gt;&lt;/elem&gt;&lt;elem m_fUsage=&quot;2.50315550499324440681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JUTQzoBhYfKti.S8bqS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PbmvvwCBeA25eeGBGVj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67FhgdV43web0IvejAt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lve0.sbqzKr0TGexKu5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leF9BCCx5wZgEvMMmVe6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00ipfqNQf0eKt9E4K6I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glj20eGuyFnCPGw2tT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ROSLTjkZmXwbOMRJJz6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xqA8Hyh_Dx7QO7Lblny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VUFVBgcMdLpo2LdhDMb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oYHXtmpOF9WJvf7wP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C6dv41d8cxAEJ7O8tVt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1isQJ8P1QkT9LX5tyA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UCi9eY7gNLWFBUd_J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2ivospCuo22Xw_JiRA_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Ut2Mtmg1.kZ6dZzXrpP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Fhllhrvd6V41kLH8Zmb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1A72f0cVKodMbyCYFic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R3xfsd18NGxgnxdTL46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52129</TotalTime>
  <Words>4090</Words>
  <Application>Microsoft Office PowerPoint</Application>
  <PresentationFormat>宽屏</PresentationFormat>
  <Paragraphs>1023</Paragraphs>
  <Slides>31</Slides>
  <Notes>27</Notes>
  <HiddenSlides>4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 (CPO): an intro to AIDC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6042</cp:revision>
  <dcterms:created xsi:type="dcterms:W3CDTF">2025-06-16T21:28:33Z</dcterms:created>
  <dcterms:modified xsi:type="dcterms:W3CDTF">2025-10-17T03:21:34Z</dcterms:modified>
</cp:coreProperties>
</file>